
<file path=[Content_Types].xml><?xml version="1.0" encoding="utf-8"?>
<Types xmlns="http://schemas.openxmlformats.org/package/2006/content-types">
  <Default Extension="avi" ContentType="video/x-msvideo"/>
  <Default Extension="bin" ContentType="application/vnd.openxmlformats-officedocument.oleObject"/>
  <Default Extension="emf" ContentType="image/x-emf"/>
  <Default Extension="gif" ContentType="image/gif"/>
  <Default Extension="jpeg" ContentType="image/jpeg"/>
  <Default Extension="mp4" ContentType="video/mp4"/>
  <Default Extension="png" ContentType="image/png"/>
  <Default Extension="rels" ContentType="application/vnd.openxmlformats-package.relationships+xml"/>
  <Default Extension="wav" ContentType="audio/x-wav"/>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slideLayouts/slideLayout1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2" r:id="rId1"/>
    <p:sldMasterId id="2147483676" r:id="rId2"/>
    <p:sldMasterId id="2147483678" r:id="rId3"/>
  </p:sldMasterIdLst>
  <p:notesMasterIdLst>
    <p:notesMasterId r:id="rId68"/>
  </p:notesMasterIdLst>
  <p:sldIdLst>
    <p:sldId id="803" r:id="rId4"/>
    <p:sldId id="804" r:id="rId5"/>
    <p:sldId id="602" r:id="rId6"/>
    <p:sldId id="808" r:id="rId7"/>
    <p:sldId id="806" r:id="rId8"/>
    <p:sldId id="802" r:id="rId9"/>
    <p:sldId id="809" r:id="rId10"/>
    <p:sldId id="810" r:id="rId11"/>
    <p:sldId id="811" r:id="rId12"/>
    <p:sldId id="814" r:id="rId13"/>
    <p:sldId id="815" r:id="rId14"/>
    <p:sldId id="817" r:id="rId15"/>
    <p:sldId id="818" r:id="rId16"/>
    <p:sldId id="819" r:id="rId17"/>
    <p:sldId id="820" r:id="rId18"/>
    <p:sldId id="821" r:id="rId19"/>
    <p:sldId id="822" r:id="rId20"/>
    <p:sldId id="823" r:id="rId21"/>
    <p:sldId id="824" r:id="rId22"/>
    <p:sldId id="825" r:id="rId23"/>
    <p:sldId id="826" r:id="rId24"/>
    <p:sldId id="828" r:id="rId25"/>
    <p:sldId id="827" r:id="rId26"/>
    <p:sldId id="870" r:id="rId27"/>
    <p:sldId id="872" r:id="rId28"/>
    <p:sldId id="871" r:id="rId29"/>
    <p:sldId id="829" r:id="rId30"/>
    <p:sldId id="833" r:id="rId31"/>
    <p:sldId id="835" r:id="rId32"/>
    <p:sldId id="837" r:id="rId33"/>
    <p:sldId id="838" r:id="rId34"/>
    <p:sldId id="839" r:id="rId35"/>
    <p:sldId id="840" r:id="rId36"/>
    <p:sldId id="841" r:id="rId37"/>
    <p:sldId id="842" r:id="rId38"/>
    <p:sldId id="843" r:id="rId39"/>
    <p:sldId id="834" r:id="rId40"/>
    <p:sldId id="844" r:id="rId41"/>
    <p:sldId id="845" r:id="rId42"/>
    <p:sldId id="846" r:id="rId43"/>
    <p:sldId id="847" r:id="rId44"/>
    <p:sldId id="848" r:id="rId45"/>
    <p:sldId id="849" r:id="rId46"/>
    <p:sldId id="850" r:id="rId47"/>
    <p:sldId id="851" r:id="rId48"/>
    <p:sldId id="852" r:id="rId49"/>
    <p:sldId id="831" r:id="rId50"/>
    <p:sldId id="853" r:id="rId51"/>
    <p:sldId id="854" r:id="rId52"/>
    <p:sldId id="855" r:id="rId53"/>
    <p:sldId id="856" r:id="rId54"/>
    <p:sldId id="857" r:id="rId55"/>
    <p:sldId id="858" r:id="rId56"/>
    <p:sldId id="859" r:id="rId57"/>
    <p:sldId id="860" r:id="rId58"/>
    <p:sldId id="861" r:id="rId59"/>
    <p:sldId id="862" r:id="rId60"/>
    <p:sldId id="863" r:id="rId61"/>
    <p:sldId id="864" r:id="rId62"/>
    <p:sldId id="865" r:id="rId63"/>
    <p:sldId id="866" r:id="rId64"/>
    <p:sldId id="867" r:id="rId65"/>
    <p:sldId id="868" r:id="rId66"/>
    <p:sldId id="869" r:id="rId67"/>
  </p:sldIdLst>
  <p:sldSz cx="12192000" cy="6858000"/>
  <p:notesSz cx="6858000" cy="9144000"/>
  <p:defaultTextStyle>
    <a:defPPr>
      <a:defRPr lang="zh-CN"/>
    </a:defPPr>
    <a:lvl1pPr algn="l" rtl="0" fontAlgn="base">
      <a:spcBef>
        <a:spcPct val="0"/>
      </a:spcBef>
      <a:spcAft>
        <a:spcPct val="0"/>
      </a:spcAft>
      <a:defRPr sz="2400" b="1" i="1" kern="1200">
        <a:solidFill>
          <a:srgbClr val="FF00FF"/>
        </a:solidFill>
        <a:latin typeface="Times New Roman" pitchFamily="18" charset="0"/>
        <a:ea typeface="宋体" pitchFamily="2" charset="-122"/>
        <a:cs typeface="+mn-cs"/>
      </a:defRPr>
    </a:lvl1pPr>
    <a:lvl2pPr marL="457200" algn="l" rtl="0" fontAlgn="base">
      <a:spcBef>
        <a:spcPct val="0"/>
      </a:spcBef>
      <a:spcAft>
        <a:spcPct val="0"/>
      </a:spcAft>
      <a:defRPr sz="2400" b="1" i="1" kern="1200">
        <a:solidFill>
          <a:srgbClr val="FF00FF"/>
        </a:solidFill>
        <a:latin typeface="Times New Roman" pitchFamily="18" charset="0"/>
        <a:ea typeface="宋体" pitchFamily="2" charset="-122"/>
        <a:cs typeface="+mn-cs"/>
      </a:defRPr>
    </a:lvl2pPr>
    <a:lvl3pPr marL="914400" algn="l" rtl="0" fontAlgn="base">
      <a:spcBef>
        <a:spcPct val="0"/>
      </a:spcBef>
      <a:spcAft>
        <a:spcPct val="0"/>
      </a:spcAft>
      <a:defRPr sz="2400" b="1" i="1" kern="1200">
        <a:solidFill>
          <a:srgbClr val="FF00FF"/>
        </a:solidFill>
        <a:latin typeface="Times New Roman" pitchFamily="18" charset="0"/>
        <a:ea typeface="宋体" pitchFamily="2" charset="-122"/>
        <a:cs typeface="+mn-cs"/>
      </a:defRPr>
    </a:lvl3pPr>
    <a:lvl4pPr marL="1371600" algn="l" rtl="0" fontAlgn="base">
      <a:spcBef>
        <a:spcPct val="0"/>
      </a:spcBef>
      <a:spcAft>
        <a:spcPct val="0"/>
      </a:spcAft>
      <a:defRPr sz="2400" b="1" i="1" kern="1200">
        <a:solidFill>
          <a:srgbClr val="FF00FF"/>
        </a:solidFill>
        <a:latin typeface="Times New Roman" pitchFamily="18" charset="0"/>
        <a:ea typeface="宋体" pitchFamily="2" charset="-122"/>
        <a:cs typeface="+mn-cs"/>
      </a:defRPr>
    </a:lvl4pPr>
    <a:lvl5pPr marL="1828800" algn="l" rtl="0" fontAlgn="base">
      <a:spcBef>
        <a:spcPct val="0"/>
      </a:spcBef>
      <a:spcAft>
        <a:spcPct val="0"/>
      </a:spcAft>
      <a:defRPr sz="2400" b="1" i="1" kern="1200">
        <a:solidFill>
          <a:srgbClr val="FF00FF"/>
        </a:solidFill>
        <a:latin typeface="Times New Roman" pitchFamily="18" charset="0"/>
        <a:ea typeface="宋体" pitchFamily="2" charset="-122"/>
        <a:cs typeface="+mn-cs"/>
      </a:defRPr>
    </a:lvl5pPr>
    <a:lvl6pPr marL="2286000" algn="l" defTabSz="914400" rtl="0" eaLnBrk="1" latinLnBrk="0" hangingPunct="1">
      <a:defRPr sz="2400" b="1" i="1" kern="1200">
        <a:solidFill>
          <a:srgbClr val="FF00FF"/>
        </a:solidFill>
        <a:latin typeface="Times New Roman" pitchFamily="18" charset="0"/>
        <a:ea typeface="宋体" pitchFamily="2" charset="-122"/>
        <a:cs typeface="+mn-cs"/>
      </a:defRPr>
    </a:lvl6pPr>
    <a:lvl7pPr marL="2743200" algn="l" defTabSz="914400" rtl="0" eaLnBrk="1" latinLnBrk="0" hangingPunct="1">
      <a:defRPr sz="2400" b="1" i="1" kern="1200">
        <a:solidFill>
          <a:srgbClr val="FF00FF"/>
        </a:solidFill>
        <a:latin typeface="Times New Roman" pitchFamily="18" charset="0"/>
        <a:ea typeface="宋体" pitchFamily="2" charset="-122"/>
        <a:cs typeface="+mn-cs"/>
      </a:defRPr>
    </a:lvl7pPr>
    <a:lvl8pPr marL="3200400" algn="l" defTabSz="914400" rtl="0" eaLnBrk="1" latinLnBrk="0" hangingPunct="1">
      <a:defRPr sz="2400" b="1" i="1" kern="1200">
        <a:solidFill>
          <a:srgbClr val="FF00FF"/>
        </a:solidFill>
        <a:latin typeface="Times New Roman" pitchFamily="18" charset="0"/>
        <a:ea typeface="宋体" pitchFamily="2" charset="-122"/>
        <a:cs typeface="+mn-cs"/>
      </a:defRPr>
    </a:lvl8pPr>
    <a:lvl9pPr marL="3657600" algn="l" defTabSz="914400" rtl="0" eaLnBrk="1" latinLnBrk="0" hangingPunct="1">
      <a:defRPr sz="2400" b="1" i="1" kern="1200">
        <a:solidFill>
          <a:srgbClr val="FF00FF"/>
        </a:solidFill>
        <a:latin typeface="Times New Roman" pitchFamily="18" charset="0"/>
        <a:ea typeface="宋体"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FF"/>
    <a:srgbClr val="008000"/>
    <a:srgbClr val="EEEEEE"/>
    <a:srgbClr val="B9CDE5"/>
    <a:srgbClr val="993300"/>
    <a:srgbClr val="996633"/>
    <a:srgbClr val="4F81BD"/>
    <a:srgbClr val="0000FF"/>
    <a:srgbClr val="E9EDF4"/>
    <a:srgbClr val="CC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13" autoAdjust="0"/>
    <p:restoredTop sz="87237" autoAdjust="0"/>
  </p:normalViewPr>
  <p:slideViewPr>
    <p:cSldViewPr>
      <p:cViewPr varScale="1">
        <p:scale>
          <a:sx n="89" d="100"/>
          <a:sy n="89" d="100"/>
        </p:scale>
        <p:origin x="76" y="140"/>
      </p:cViewPr>
      <p:guideLst>
        <p:guide orient="horz" pos="2160"/>
        <p:guide pos="3840"/>
      </p:guideLst>
    </p:cSldViewPr>
  </p:slideViewPr>
  <p:notesTextViewPr>
    <p:cViewPr>
      <p:scale>
        <a:sx n="100" d="100"/>
        <a:sy n="100" d="100"/>
      </p:scale>
      <p:origin x="0" y="0"/>
    </p:cViewPr>
  </p:notesTextViewPr>
  <p:sorterViewPr>
    <p:cViewPr>
      <p:scale>
        <a:sx n="66" d="100"/>
        <a:sy n="66" d="100"/>
      </p:scale>
      <p:origin x="0" y="4338"/>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notesMaster" Target="notesMasters/notesMaster1.xml"/><Relationship Id="rId7" Type="http://schemas.openxmlformats.org/officeDocument/2006/relationships/slide" Target="slides/slide4.xml"/><Relationship Id="rId71"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slide" Target="slides/slide63.xml"/><Relationship Id="rId5" Type="http://schemas.openxmlformats.org/officeDocument/2006/relationships/slide" Target="slides/slide2.xml"/><Relationship Id="rId61" Type="http://schemas.openxmlformats.org/officeDocument/2006/relationships/slide" Target="slides/slide58.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presProps" Target="presProps.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tableStyles" Target="tableStyle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390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b="0" i="0" smtClean="0">
                <a:solidFill>
                  <a:schemeClr val="tx1"/>
                </a:solidFill>
                <a:latin typeface="Arial" charset="0"/>
              </a:defRPr>
            </a:lvl1pPr>
          </a:lstStyle>
          <a:p>
            <a:pPr>
              <a:defRPr/>
            </a:pPr>
            <a:endParaRPr lang="en-US" altLang="zh-CN"/>
          </a:p>
        </p:txBody>
      </p:sp>
      <p:sp>
        <p:nvSpPr>
          <p:cNvPr id="123907"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b="0" i="0" smtClean="0">
                <a:solidFill>
                  <a:schemeClr val="tx1"/>
                </a:solidFill>
                <a:latin typeface="Arial" charset="0"/>
              </a:defRPr>
            </a:lvl1pPr>
          </a:lstStyle>
          <a:p>
            <a:pPr>
              <a:defRPr/>
            </a:pPr>
            <a:endParaRPr lang="en-US" altLang="zh-CN"/>
          </a:p>
        </p:txBody>
      </p:sp>
      <p:sp>
        <p:nvSpPr>
          <p:cNvPr id="46084"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23909"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23910"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b="0" i="0" smtClean="0">
                <a:solidFill>
                  <a:schemeClr val="tx1"/>
                </a:solidFill>
                <a:latin typeface="Arial" charset="0"/>
              </a:defRPr>
            </a:lvl1pPr>
          </a:lstStyle>
          <a:p>
            <a:pPr>
              <a:defRPr/>
            </a:pPr>
            <a:endParaRPr lang="en-US" altLang="zh-CN"/>
          </a:p>
        </p:txBody>
      </p:sp>
      <p:sp>
        <p:nvSpPr>
          <p:cNvPr id="123911"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b="0" i="0" smtClean="0">
                <a:solidFill>
                  <a:schemeClr val="tx1"/>
                </a:solidFill>
                <a:latin typeface="Arial" charset="0"/>
              </a:defRPr>
            </a:lvl1pPr>
          </a:lstStyle>
          <a:p>
            <a:pPr>
              <a:defRPr/>
            </a:pPr>
            <a:fld id="{0DFEE44B-64F7-4F5D-B160-0DBA82F94B7E}" type="slidenum">
              <a:rPr lang="en-US" altLang="zh-CN"/>
              <a:pPr>
                <a:defRPr/>
              </a:pPr>
              <a:t>‹#›</a:t>
            </a:fld>
            <a:endParaRPr lang="en-US" altLang="zh-CN"/>
          </a:p>
        </p:txBody>
      </p:sp>
    </p:spTree>
    <p:extLst>
      <p:ext uri="{BB962C8B-B14F-4D97-AF65-F5344CB8AC3E}">
        <p14:creationId xmlns:p14="http://schemas.microsoft.com/office/powerpoint/2010/main" val="15802379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1</a:t>
            </a:fld>
            <a:endParaRPr lang="en-US" altLang="zh-CN"/>
          </a:p>
        </p:txBody>
      </p:sp>
    </p:spTree>
    <p:extLst>
      <p:ext uri="{BB962C8B-B14F-4D97-AF65-F5344CB8AC3E}">
        <p14:creationId xmlns:p14="http://schemas.microsoft.com/office/powerpoint/2010/main" val="15773435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2</a:t>
            </a:fld>
            <a:endParaRPr lang="en-US" altLang="zh-CN"/>
          </a:p>
        </p:txBody>
      </p:sp>
    </p:spTree>
    <p:extLst>
      <p:ext uri="{BB962C8B-B14F-4D97-AF65-F5344CB8AC3E}">
        <p14:creationId xmlns:p14="http://schemas.microsoft.com/office/powerpoint/2010/main" val="17838174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3</a:t>
            </a:fld>
            <a:endParaRPr lang="en-US" altLang="zh-CN"/>
          </a:p>
        </p:txBody>
      </p:sp>
    </p:spTree>
    <p:extLst>
      <p:ext uri="{BB962C8B-B14F-4D97-AF65-F5344CB8AC3E}">
        <p14:creationId xmlns:p14="http://schemas.microsoft.com/office/powerpoint/2010/main" val="23961684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4</a:t>
            </a:fld>
            <a:endParaRPr lang="en-US" altLang="zh-CN"/>
          </a:p>
        </p:txBody>
      </p:sp>
    </p:spTree>
    <p:extLst>
      <p:ext uri="{BB962C8B-B14F-4D97-AF65-F5344CB8AC3E}">
        <p14:creationId xmlns:p14="http://schemas.microsoft.com/office/powerpoint/2010/main" val="1731658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5</a:t>
            </a:fld>
            <a:endParaRPr lang="en-US" altLang="zh-CN"/>
          </a:p>
        </p:txBody>
      </p:sp>
    </p:spTree>
    <p:extLst>
      <p:ext uri="{BB962C8B-B14F-4D97-AF65-F5344CB8AC3E}">
        <p14:creationId xmlns:p14="http://schemas.microsoft.com/office/powerpoint/2010/main" val="17822651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6</a:t>
            </a:fld>
            <a:endParaRPr lang="en-US" altLang="zh-CN"/>
          </a:p>
        </p:txBody>
      </p:sp>
    </p:spTree>
    <p:extLst>
      <p:ext uri="{BB962C8B-B14F-4D97-AF65-F5344CB8AC3E}">
        <p14:creationId xmlns:p14="http://schemas.microsoft.com/office/powerpoint/2010/main" val="25509002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7</a:t>
            </a:fld>
            <a:endParaRPr lang="en-US" altLang="zh-CN"/>
          </a:p>
        </p:txBody>
      </p:sp>
    </p:spTree>
    <p:extLst>
      <p:ext uri="{BB962C8B-B14F-4D97-AF65-F5344CB8AC3E}">
        <p14:creationId xmlns:p14="http://schemas.microsoft.com/office/powerpoint/2010/main" val="11750493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8</a:t>
            </a:fld>
            <a:endParaRPr lang="en-US" altLang="zh-CN"/>
          </a:p>
        </p:txBody>
      </p:sp>
    </p:spTree>
    <p:extLst>
      <p:ext uri="{BB962C8B-B14F-4D97-AF65-F5344CB8AC3E}">
        <p14:creationId xmlns:p14="http://schemas.microsoft.com/office/powerpoint/2010/main" val="40095479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9</a:t>
            </a:fld>
            <a:endParaRPr lang="en-US" altLang="zh-CN"/>
          </a:p>
        </p:txBody>
      </p:sp>
    </p:spTree>
    <p:extLst>
      <p:ext uri="{BB962C8B-B14F-4D97-AF65-F5344CB8AC3E}">
        <p14:creationId xmlns:p14="http://schemas.microsoft.com/office/powerpoint/2010/main" val="40723074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10</a:t>
            </a:fld>
            <a:endParaRPr lang="en-US" altLang="zh-CN"/>
          </a:p>
        </p:txBody>
      </p:sp>
    </p:spTree>
    <p:extLst>
      <p:ext uri="{BB962C8B-B14F-4D97-AF65-F5344CB8AC3E}">
        <p14:creationId xmlns:p14="http://schemas.microsoft.com/office/powerpoint/2010/main" val="23118347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11</a:t>
            </a:fld>
            <a:endParaRPr lang="en-US" altLang="zh-CN"/>
          </a:p>
        </p:txBody>
      </p:sp>
    </p:spTree>
    <p:extLst>
      <p:ext uri="{BB962C8B-B14F-4D97-AF65-F5344CB8AC3E}">
        <p14:creationId xmlns:p14="http://schemas.microsoft.com/office/powerpoint/2010/main" val="9023363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12</a:t>
            </a:fld>
            <a:endParaRPr lang="en-US" altLang="zh-CN"/>
          </a:p>
        </p:txBody>
      </p:sp>
    </p:spTree>
    <p:extLst>
      <p:ext uri="{BB962C8B-B14F-4D97-AF65-F5344CB8AC3E}">
        <p14:creationId xmlns:p14="http://schemas.microsoft.com/office/powerpoint/2010/main" val="716134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13</a:t>
            </a:fld>
            <a:endParaRPr lang="en-US" altLang="zh-CN"/>
          </a:p>
        </p:txBody>
      </p:sp>
    </p:spTree>
    <p:extLst>
      <p:ext uri="{BB962C8B-B14F-4D97-AF65-F5344CB8AC3E}">
        <p14:creationId xmlns:p14="http://schemas.microsoft.com/office/powerpoint/2010/main" val="18568447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14</a:t>
            </a:fld>
            <a:endParaRPr lang="en-US" altLang="zh-CN"/>
          </a:p>
        </p:txBody>
      </p:sp>
    </p:spTree>
    <p:extLst>
      <p:ext uri="{BB962C8B-B14F-4D97-AF65-F5344CB8AC3E}">
        <p14:creationId xmlns:p14="http://schemas.microsoft.com/office/powerpoint/2010/main" val="18390899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15</a:t>
            </a:fld>
            <a:endParaRPr lang="en-US" altLang="zh-CN"/>
          </a:p>
        </p:txBody>
      </p:sp>
    </p:spTree>
    <p:extLst>
      <p:ext uri="{BB962C8B-B14F-4D97-AF65-F5344CB8AC3E}">
        <p14:creationId xmlns:p14="http://schemas.microsoft.com/office/powerpoint/2010/main" val="8881453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16</a:t>
            </a:fld>
            <a:endParaRPr lang="en-US" altLang="zh-CN"/>
          </a:p>
        </p:txBody>
      </p:sp>
    </p:spTree>
    <p:extLst>
      <p:ext uri="{BB962C8B-B14F-4D97-AF65-F5344CB8AC3E}">
        <p14:creationId xmlns:p14="http://schemas.microsoft.com/office/powerpoint/2010/main" val="117577526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17</a:t>
            </a:fld>
            <a:endParaRPr lang="en-US" altLang="zh-CN"/>
          </a:p>
        </p:txBody>
      </p:sp>
    </p:spTree>
    <p:extLst>
      <p:ext uri="{BB962C8B-B14F-4D97-AF65-F5344CB8AC3E}">
        <p14:creationId xmlns:p14="http://schemas.microsoft.com/office/powerpoint/2010/main" val="168120005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18</a:t>
            </a:fld>
            <a:endParaRPr lang="en-US" altLang="zh-CN"/>
          </a:p>
        </p:txBody>
      </p:sp>
    </p:spTree>
    <p:extLst>
      <p:ext uri="{BB962C8B-B14F-4D97-AF65-F5344CB8AC3E}">
        <p14:creationId xmlns:p14="http://schemas.microsoft.com/office/powerpoint/2010/main" val="330372638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19</a:t>
            </a:fld>
            <a:endParaRPr lang="en-US" altLang="zh-CN"/>
          </a:p>
        </p:txBody>
      </p:sp>
    </p:spTree>
    <p:extLst>
      <p:ext uri="{BB962C8B-B14F-4D97-AF65-F5344CB8AC3E}">
        <p14:creationId xmlns:p14="http://schemas.microsoft.com/office/powerpoint/2010/main" val="53509455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20</a:t>
            </a:fld>
            <a:endParaRPr lang="en-US" altLang="zh-CN"/>
          </a:p>
        </p:txBody>
      </p:sp>
    </p:spTree>
    <p:extLst>
      <p:ext uri="{BB962C8B-B14F-4D97-AF65-F5344CB8AC3E}">
        <p14:creationId xmlns:p14="http://schemas.microsoft.com/office/powerpoint/2010/main" val="310930227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21</a:t>
            </a:fld>
            <a:endParaRPr lang="en-US" altLang="zh-CN"/>
          </a:p>
        </p:txBody>
      </p:sp>
    </p:spTree>
    <p:extLst>
      <p:ext uri="{BB962C8B-B14F-4D97-AF65-F5344CB8AC3E}">
        <p14:creationId xmlns:p14="http://schemas.microsoft.com/office/powerpoint/2010/main" val="190535239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22</a:t>
            </a:fld>
            <a:endParaRPr lang="en-US" altLang="zh-CN"/>
          </a:p>
        </p:txBody>
      </p:sp>
    </p:spTree>
    <p:extLst>
      <p:ext uri="{BB962C8B-B14F-4D97-AF65-F5344CB8AC3E}">
        <p14:creationId xmlns:p14="http://schemas.microsoft.com/office/powerpoint/2010/main" val="354798156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23</a:t>
            </a:fld>
            <a:endParaRPr lang="en-US" altLang="zh-CN"/>
          </a:p>
        </p:txBody>
      </p:sp>
    </p:spTree>
    <p:extLst>
      <p:ext uri="{BB962C8B-B14F-4D97-AF65-F5344CB8AC3E}">
        <p14:creationId xmlns:p14="http://schemas.microsoft.com/office/powerpoint/2010/main" val="121257310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24</a:t>
            </a:fld>
            <a:endParaRPr lang="en-US" altLang="zh-CN"/>
          </a:p>
        </p:txBody>
      </p:sp>
    </p:spTree>
    <p:extLst>
      <p:ext uri="{BB962C8B-B14F-4D97-AF65-F5344CB8AC3E}">
        <p14:creationId xmlns:p14="http://schemas.microsoft.com/office/powerpoint/2010/main" val="339037186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25</a:t>
            </a:fld>
            <a:endParaRPr lang="en-US" altLang="zh-CN"/>
          </a:p>
        </p:txBody>
      </p:sp>
    </p:spTree>
    <p:extLst>
      <p:ext uri="{BB962C8B-B14F-4D97-AF65-F5344CB8AC3E}">
        <p14:creationId xmlns:p14="http://schemas.microsoft.com/office/powerpoint/2010/main" val="311591340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26</a:t>
            </a:fld>
            <a:endParaRPr lang="en-US" altLang="zh-CN"/>
          </a:p>
        </p:txBody>
      </p:sp>
    </p:spTree>
    <p:extLst>
      <p:ext uri="{BB962C8B-B14F-4D97-AF65-F5344CB8AC3E}">
        <p14:creationId xmlns:p14="http://schemas.microsoft.com/office/powerpoint/2010/main" val="23089667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27</a:t>
            </a:fld>
            <a:endParaRPr lang="en-US" altLang="zh-CN"/>
          </a:p>
        </p:txBody>
      </p:sp>
    </p:spTree>
    <p:extLst>
      <p:ext uri="{BB962C8B-B14F-4D97-AF65-F5344CB8AC3E}">
        <p14:creationId xmlns:p14="http://schemas.microsoft.com/office/powerpoint/2010/main" val="386731610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28</a:t>
            </a:fld>
            <a:endParaRPr lang="en-US" altLang="zh-CN"/>
          </a:p>
        </p:txBody>
      </p:sp>
    </p:spTree>
    <p:extLst>
      <p:ext uri="{BB962C8B-B14F-4D97-AF65-F5344CB8AC3E}">
        <p14:creationId xmlns:p14="http://schemas.microsoft.com/office/powerpoint/2010/main" val="248655215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29</a:t>
            </a:fld>
            <a:endParaRPr lang="en-US" altLang="zh-CN"/>
          </a:p>
        </p:txBody>
      </p:sp>
    </p:spTree>
    <p:extLst>
      <p:ext uri="{BB962C8B-B14F-4D97-AF65-F5344CB8AC3E}">
        <p14:creationId xmlns:p14="http://schemas.microsoft.com/office/powerpoint/2010/main" val="231459647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30</a:t>
            </a:fld>
            <a:endParaRPr lang="en-US" altLang="zh-CN"/>
          </a:p>
        </p:txBody>
      </p:sp>
    </p:spTree>
    <p:extLst>
      <p:ext uri="{BB962C8B-B14F-4D97-AF65-F5344CB8AC3E}">
        <p14:creationId xmlns:p14="http://schemas.microsoft.com/office/powerpoint/2010/main" val="6357145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31</a:t>
            </a:fld>
            <a:endParaRPr lang="en-US" altLang="zh-CN"/>
          </a:p>
        </p:txBody>
      </p:sp>
    </p:spTree>
    <p:extLst>
      <p:ext uri="{BB962C8B-B14F-4D97-AF65-F5344CB8AC3E}">
        <p14:creationId xmlns:p14="http://schemas.microsoft.com/office/powerpoint/2010/main" val="343077785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32</a:t>
            </a:fld>
            <a:endParaRPr lang="en-US" altLang="zh-CN"/>
          </a:p>
        </p:txBody>
      </p:sp>
    </p:spTree>
    <p:extLst>
      <p:ext uri="{BB962C8B-B14F-4D97-AF65-F5344CB8AC3E}">
        <p14:creationId xmlns:p14="http://schemas.microsoft.com/office/powerpoint/2010/main" val="244196350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33</a:t>
            </a:fld>
            <a:endParaRPr lang="en-US" altLang="zh-CN"/>
          </a:p>
        </p:txBody>
      </p:sp>
    </p:spTree>
    <p:extLst>
      <p:ext uri="{BB962C8B-B14F-4D97-AF65-F5344CB8AC3E}">
        <p14:creationId xmlns:p14="http://schemas.microsoft.com/office/powerpoint/2010/main" val="204904296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34</a:t>
            </a:fld>
            <a:endParaRPr lang="en-US" altLang="zh-CN"/>
          </a:p>
        </p:txBody>
      </p:sp>
    </p:spTree>
    <p:extLst>
      <p:ext uri="{BB962C8B-B14F-4D97-AF65-F5344CB8AC3E}">
        <p14:creationId xmlns:p14="http://schemas.microsoft.com/office/powerpoint/2010/main" val="407747692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35</a:t>
            </a:fld>
            <a:endParaRPr lang="en-US" altLang="zh-CN"/>
          </a:p>
        </p:txBody>
      </p:sp>
    </p:spTree>
    <p:extLst>
      <p:ext uri="{BB962C8B-B14F-4D97-AF65-F5344CB8AC3E}">
        <p14:creationId xmlns:p14="http://schemas.microsoft.com/office/powerpoint/2010/main" val="258869012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36</a:t>
            </a:fld>
            <a:endParaRPr lang="en-US" altLang="zh-CN"/>
          </a:p>
        </p:txBody>
      </p:sp>
    </p:spTree>
    <p:extLst>
      <p:ext uri="{BB962C8B-B14F-4D97-AF65-F5344CB8AC3E}">
        <p14:creationId xmlns:p14="http://schemas.microsoft.com/office/powerpoint/2010/main" val="71275647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37</a:t>
            </a:fld>
            <a:endParaRPr lang="en-US" altLang="zh-CN"/>
          </a:p>
        </p:txBody>
      </p:sp>
    </p:spTree>
    <p:extLst>
      <p:ext uri="{BB962C8B-B14F-4D97-AF65-F5344CB8AC3E}">
        <p14:creationId xmlns:p14="http://schemas.microsoft.com/office/powerpoint/2010/main" val="121944203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38</a:t>
            </a:fld>
            <a:endParaRPr lang="en-US" altLang="zh-CN"/>
          </a:p>
        </p:txBody>
      </p:sp>
    </p:spTree>
    <p:extLst>
      <p:ext uri="{BB962C8B-B14F-4D97-AF65-F5344CB8AC3E}">
        <p14:creationId xmlns:p14="http://schemas.microsoft.com/office/powerpoint/2010/main" val="289216991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39</a:t>
            </a:fld>
            <a:endParaRPr lang="en-US" altLang="zh-CN"/>
          </a:p>
        </p:txBody>
      </p:sp>
    </p:spTree>
    <p:extLst>
      <p:ext uri="{BB962C8B-B14F-4D97-AF65-F5344CB8AC3E}">
        <p14:creationId xmlns:p14="http://schemas.microsoft.com/office/powerpoint/2010/main" val="167524442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40</a:t>
            </a:fld>
            <a:endParaRPr lang="en-US" altLang="zh-CN"/>
          </a:p>
        </p:txBody>
      </p:sp>
    </p:spTree>
    <p:extLst>
      <p:ext uri="{BB962C8B-B14F-4D97-AF65-F5344CB8AC3E}">
        <p14:creationId xmlns:p14="http://schemas.microsoft.com/office/powerpoint/2010/main" val="386095268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41</a:t>
            </a:fld>
            <a:endParaRPr lang="en-US" altLang="zh-CN"/>
          </a:p>
        </p:txBody>
      </p:sp>
    </p:spTree>
    <p:extLst>
      <p:ext uri="{BB962C8B-B14F-4D97-AF65-F5344CB8AC3E}">
        <p14:creationId xmlns:p14="http://schemas.microsoft.com/office/powerpoint/2010/main" val="219639590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42</a:t>
            </a:fld>
            <a:endParaRPr lang="en-US" altLang="zh-CN"/>
          </a:p>
        </p:txBody>
      </p:sp>
    </p:spTree>
    <p:extLst>
      <p:ext uri="{BB962C8B-B14F-4D97-AF65-F5344CB8AC3E}">
        <p14:creationId xmlns:p14="http://schemas.microsoft.com/office/powerpoint/2010/main" val="11067711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43</a:t>
            </a:fld>
            <a:endParaRPr lang="en-US" altLang="zh-CN"/>
          </a:p>
        </p:txBody>
      </p:sp>
    </p:spTree>
    <p:extLst>
      <p:ext uri="{BB962C8B-B14F-4D97-AF65-F5344CB8AC3E}">
        <p14:creationId xmlns:p14="http://schemas.microsoft.com/office/powerpoint/2010/main" val="416697993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44</a:t>
            </a:fld>
            <a:endParaRPr lang="en-US" altLang="zh-CN"/>
          </a:p>
        </p:txBody>
      </p:sp>
    </p:spTree>
    <p:extLst>
      <p:ext uri="{BB962C8B-B14F-4D97-AF65-F5344CB8AC3E}">
        <p14:creationId xmlns:p14="http://schemas.microsoft.com/office/powerpoint/2010/main" val="13051873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45</a:t>
            </a:fld>
            <a:endParaRPr lang="en-US" altLang="zh-CN"/>
          </a:p>
        </p:txBody>
      </p:sp>
    </p:spTree>
    <p:extLst>
      <p:ext uri="{BB962C8B-B14F-4D97-AF65-F5344CB8AC3E}">
        <p14:creationId xmlns:p14="http://schemas.microsoft.com/office/powerpoint/2010/main" val="90856789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46</a:t>
            </a:fld>
            <a:endParaRPr lang="en-US" altLang="zh-CN"/>
          </a:p>
        </p:txBody>
      </p:sp>
    </p:spTree>
    <p:extLst>
      <p:ext uri="{BB962C8B-B14F-4D97-AF65-F5344CB8AC3E}">
        <p14:creationId xmlns:p14="http://schemas.microsoft.com/office/powerpoint/2010/main" val="8388195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47</a:t>
            </a:fld>
            <a:endParaRPr lang="en-US" altLang="zh-CN"/>
          </a:p>
        </p:txBody>
      </p:sp>
    </p:spTree>
    <p:extLst>
      <p:ext uri="{BB962C8B-B14F-4D97-AF65-F5344CB8AC3E}">
        <p14:creationId xmlns:p14="http://schemas.microsoft.com/office/powerpoint/2010/main" val="130347031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48</a:t>
            </a:fld>
            <a:endParaRPr lang="en-US" altLang="zh-CN"/>
          </a:p>
        </p:txBody>
      </p:sp>
    </p:spTree>
    <p:extLst>
      <p:ext uri="{BB962C8B-B14F-4D97-AF65-F5344CB8AC3E}">
        <p14:creationId xmlns:p14="http://schemas.microsoft.com/office/powerpoint/2010/main" val="229673241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49</a:t>
            </a:fld>
            <a:endParaRPr lang="en-US" altLang="zh-CN"/>
          </a:p>
        </p:txBody>
      </p:sp>
    </p:spTree>
    <p:extLst>
      <p:ext uri="{BB962C8B-B14F-4D97-AF65-F5344CB8AC3E}">
        <p14:creationId xmlns:p14="http://schemas.microsoft.com/office/powerpoint/2010/main" val="70851758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50</a:t>
            </a:fld>
            <a:endParaRPr lang="en-US" altLang="zh-CN"/>
          </a:p>
        </p:txBody>
      </p:sp>
    </p:spTree>
    <p:extLst>
      <p:ext uri="{BB962C8B-B14F-4D97-AF65-F5344CB8AC3E}">
        <p14:creationId xmlns:p14="http://schemas.microsoft.com/office/powerpoint/2010/main" val="130876277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51</a:t>
            </a:fld>
            <a:endParaRPr lang="en-US" altLang="zh-CN"/>
          </a:p>
        </p:txBody>
      </p:sp>
    </p:spTree>
    <p:extLst>
      <p:ext uri="{BB962C8B-B14F-4D97-AF65-F5344CB8AC3E}">
        <p14:creationId xmlns:p14="http://schemas.microsoft.com/office/powerpoint/2010/main" val="98705424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52</a:t>
            </a:fld>
            <a:endParaRPr lang="en-US" altLang="zh-CN"/>
          </a:p>
        </p:txBody>
      </p:sp>
    </p:spTree>
    <p:extLst>
      <p:ext uri="{BB962C8B-B14F-4D97-AF65-F5344CB8AC3E}">
        <p14:creationId xmlns:p14="http://schemas.microsoft.com/office/powerpoint/2010/main" val="53133491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53</a:t>
            </a:fld>
            <a:endParaRPr lang="en-US" altLang="zh-CN"/>
          </a:p>
        </p:txBody>
      </p:sp>
    </p:spTree>
    <p:extLst>
      <p:ext uri="{BB962C8B-B14F-4D97-AF65-F5344CB8AC3E}">
        <p14:creationId xmlns:p14="http://schemas.microsoft.com/office/powerpoint/2010/main" val="40493349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54</a:t>
            </a:fld>
            <a:endParaRPr lang="en-US" altLang="zh-CN"/>
          </a:p>
        </p:txBody>
      </p:sp>
    </p:spTree>
    <p:extLst>
      <p:ext uri="{BB962C8B-B14F-4D97-AF65-F5344CB8AC3E}">
        <p14:creationId xmlns:p14="http://schemas.microsoft.com/office/powerpoint/2010/main" val="40216739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55</a:t>
            </a:fld>
            <a:endParaRPr lang="en-US" altLang="zh-CN"/>
          </a:p>
        </p:txBody>
      </p:sp>
    </p:spTree>
    <p:extLst>
      <p:ext uri="{BB962C8B-B14F-4D97-AF65-F5344CB8AC3E}">
        <p14:creationId xmlns:p14="http://schemas.microsoft.com/office/powerpoint/2010/main" val="282662025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56</a:t>
            </a:fld>
            <a:endParaRPr lang="en-US" altLang="zh-CN"/>
          </a:p>
        </p:txBody>
      </p:sp>
    </p:spTree>
    <p:extLst>
      <p:ext uri="{BB962C8B-B14F-4D97-AF65-F5344CB8AC3E}">
        <p14:creationId xmlns:p14="http://schemas.microsoft.com/office/powerpoint/2010/main" val="380535131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57</a:t>
            </a:fld>
            <a:endParaRPr lang="en-US" altLang="zh-CN"/>
          </a:p>
        </p:txBody>
      </p:sp>
    </p:spTree>
    <p:extLst>
      <p:ext uri="{BB962C8B-B14F-4D97-AF65-F5344CB8AC3E}">
        <p14:creationId xmlns:p14="http://schemas.microsoft.com/office/powerpoint/2010/main" val="340862598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58</a:t>
            </a:fld>
            <a:endParaRPr lang="en-US" altLang="zh-CN"/>
          </a:p>
        </p:txBody>
      </p:sp>
    </p:spTree>
    <p:extLst>
      <p:ext uri="{BB962C8B-B14F-4D97-AF65-F5344CB8AC3E}">
        <p14:creationId xmlns:p14="http://schemas.microsoft.com/office/powerpoint/2010/main" val="340068260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59</a:t>
            </a:fld>
            <a:endParaRPr lang="en-US" altLang="zh-CN"/>
          </a:p>
        </p:txBody>
      </p:sp>
    </p:spTree>
    <p:extLst>
      <p:ext uri="{BB962C8B-B14F-4D97-AF65-F5344CB8AC3E}">
        <p14:creationId xmlns:p14="http://schemas.microsoft.com/office/powerpoint/2010/main" val="52224540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60</a:t>
            </a:fld>
            <a:endParaRPr lang="en-US" altLang="zh-CN"/>
          </a:p>
        </p:txBody>
      </p:sp>
    </p:spTree>
    <p:extLst>
      <p:ext uri="{BB962C8B-B14F-4D97-AF65-F5344CB8AC3E}">
        <p14:creationId xmlns:p14="http://schemas.microsoft.com/office/powerpoint/2010/main" val="335020013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61</a:t>
            </a:fld>
            <a:endParaRPr lang="en-US" altLang="zh-CN"/>
          </a:p>
        </p:txBody>
      </p:sp>
    </p:spTree>
    <p:extLst>
      <p:ext uri="{BB962C8B-B14F-4D97-AF65-F5344CB8AC3E}">
        <p14:creationId xmlns:p14="http://schemas.microsoft.com/office/powerpoint/2010/main" val="118802698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62</a:t>
            </a:fld>
            <a:endParaRPr lang="en-US" altLang="zh-CN"/>
          </a:p>
        </p:txBody>
      </p:sp>
    </p:spTree>
    <p:extLst>
      <p:ext uri="{BB962C8B-B14F-4D97-AF65-F5344CB8AC3E}">
        <p14:creationId xmlns:p14="http://schemas.microsoft.com/office/powerpoint/2010/main" val="293283247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63</a:t>
            </a:fld>
            <a:endParaRPr lang="en-US" altLang="zh-CN"/>
          </a:p>
        </p:txBody>
      </p:sp>
    </p:spTree>
    <p:extLst>
      <p:ext uri="{BB962C8B-B14F-4D97-AF65-F5344CB8AC3E}">
        <p14:creationId xmlns:p14="http://schemas.microsoft.com/office/powerpoint/2010/main" val="378452646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64</a:t>
            </a:fld>
            <a:endParaRPr lang="en-US" altLang="zh-CN"/>
          </a:p>
        </p:txBody>
      </p:sp>
    </p:spTree>
    <p:extLst>
      <p:ext uri="{BB962C8B-B14F-4D97-AF65-F5344CB8AC3E}">
        <p14:creationId xmlns:p14="http://schemas.microsoft.com/office/powerpoint/2010/main" val="5459603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a:prstGeom prst="rect">
            <a:avLst/>
          </a:prstGeom>
        </p:spPr>
        <p:txBody>
          <a:bodyPr/>
          <a:lstStyle>
            <a:lvl1pPr algn="ctr">
              <a:defRPr/>
            </a:lvl1p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Tree>
    <p:extLst>
      <p:ext uri="{BB962C8B-B14F-4D97-AF65-F5344CB8AC3E}">
        <p14:creationId xmlns:p14="http://schemas.microsoft.com/office/powerpoint/2010/main" val="2927003882"/>
      </p:ext>
    </p:extLst>
  </p:cSld>
  <p:clrMapOvr>
    <a:masterClrMapping/>
  </p:clrMapOvr>
  <p:transition spd="slow"/>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960000" y="1080000"/>
            <a:ext cx="10560000" cy="1080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960000" y="2160000"/>
            <a:ext cx="10560000" cy="41400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946798571"/>
      </p:ext>
    </p:extLst>
  </p:cSld>
  <p:clrMapOvr>
    <a:masterClrMapping/>
  </p:clrMapOvr>
  <p:transition spd="slow"/>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728925802"/>
      </p:ext>
    </p:extLst>
  </p:cSld>
  <p:clrMapOvr>
    <a:masterClrMapping/>
  </p:clrMapOvr>
  <p:transition spd="slow"/>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960000" y="1080000"/>
            <a:ext cx="10560000" cy="1080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960000" y="2213865"/>
            <a:ext cx="5280000" cy="408613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6314120" y="2213866"/>
            <a:ext cx="5220581" cy="409545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2702511005"/>
      </p:ext>
    </p:extLst>
  </p:cSld>
  <p:clrMapOvr>
    <a:masterClrMapping/>
  </p:clrMapOvr>
  <p:transition spd="slow"/>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960000" y="1080000"/>
            <a:ext cx="10560000" cy="1080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995434" y="2213325"/>
            <a:ext cx="522058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995434" y="2933946"/>
            <a:ext cx="5220580" cy="333037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nvPr>
        </p:nvSpPr>
        <p:spPr>
          <a:xfrm>
            <a:off x="6370635" y="2213325"/>
            <a:ext cx="516057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6" name="内容占位符 5"/>
          <p:cNvSpPr>
            <a:spLocks noGrp="1"/>
          </p:cNvSpPr>
          <p:nvPr>
            <p:ph sz="quarter" idx="4"/>
          </p:nvPr>
        </p:nvSpPr>
        <p:spPr>
          <a:xfrm>
            <a:off x="6396034" y="2933945"/>
            <a:ext cx="5160573" cy="333037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4099860088"/>
      </p:ext>
    </p:extLst>
  </p:cSld>
  <p:clrMapOvr>
    <a:masterClrMapping/>
  </p:clrMapOvr>
  <p:transition spd="slow"/>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960000" y="1080000"/>
            <a:ext cx="10560000" cy="1080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923023355"/>
      </p:ext>
    </p:extLst>
  </p:cSld>
  <p:clrMapOvr>
    <a:masterClrMapping/>
  </p:clrMapOvr>
  <p:transition spd="slow"/>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06993251"/>
      </p:ext>
    </p:extLst>
  </p:cSld>
  <p:clrMapOvr>
    <a:masterClrMapping/>
  </p:clrMapOvr>
  <p:transition spd="slow"/>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960000" y="1080000"/>
            <a:ext cx="3840000" cy="1080000"/>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895867" y="1088740"/>
            <a:ext cx="6686533" cy="522058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982733" y="2213865"/>
            <a:ext cx="3840427" cy="4095454"/>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4018620146"/>
      </p:ext>
    </p:extLst>
  </p:cSld>
  <p:clrMapOvr>
    <a:masterClrMapping/>
  </p:clrMapOvr>
  <p:transition spd="slow"/>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69160"/>
            <a:ext cx="7315200" cy="566738"/>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1043735"/>
            <a:ext cx="7315200" cy="377595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459453"/>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630399069"/>
      </p:ext>
    </p:extLst>
  </p:cSld>
  <p:clrMapOvr>
    <a:masterClrMapping/>
  </p:clrMapOvr>
  <p:transition spd="slow"/>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960000" y="1080000"/>
            <a:ext cx="10560000" cy="1080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960000" y="2258871"/>
            <a:ext cx="10560000" cy="4041129"/>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440425338"/>
      </p:ext>
    </p:extLst>
  </p:cSld>
  <p:clrMapOvr>
    <a:masterClrMapping/>
  </p:clrMapOvr>
  <p:transition spd="slow"/>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256240" y="1072310"/>
            <a:ext cx="3360373" cy="5237010"/>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960000" y="1080000"/>
            <a:ext cx="7200000" cy="52200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682278293"/>
      </p:ext>
    </p:extLst>
  </p:cSld>
  <p:clrMapOvr>
    <a:masterClrMapping/>
  </p:clrMapOvr>
  <p:transition spd="slow"/>
</p:sldLayout>
</file>

<file path=ppt/slideLayouts/slideLayout12.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960000" y="1080000"/>
            <a:ext cx="10560000" cy="1080000"/>
          </a:xfrm>
          <a:prstGeom prst="rect">
            <a:avLst/>
          </a:prstGeom>
        </p:spPr>
        <p:txBody>
          <a:bodyPr/>
          <a:lstStyle/>
          <a:p>
            <a:r>
              <a:rPr lang="zh-CN" altLang="en-US" dirty="0"/>
              <a:t>单击此处编辑母版标题样式</a:t>
            </a:r>
          </a:p>
        </p:txBody>
      </p:sp>
      <p:sp>
        <p:nvSpPr>
          <p:cNvPr id="3" name="内容占位符 2"/>
          <p:cNvSpPr>
            <a:spLocks noGrp="1"/>
          </p:cNvSpPr>
          <p:nvPr>
            <p:ph sz="quarter" idx="1"/>
          </p:nvPr>
        </p:nvSpPr>
        <p:spPr>
          <a:xfrm>
            <a:off x="960826" y="2213866"/>
            <a:ext cx="5315193" cy="1935215"/>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quarter" idx="2"/>
          </p:nvPr>
        </p:nvSpPr>
        <p:spPr>
          <a:xfrm>
            <a:off x="6456040" y="2213865"/>
            <a:ext cx="5100568" cy="1957802"/>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内容占位符 4"/>
          <p:cNvSpPr>
            <a:spLocks noGrp="1"/>
          </p:cNvSpPr>
          <p:nvPr>
            <p:ph sz="quarter" idx="3"/>
          </p:nvPr>
        </p:nvSpPr>
        <p:spPr>
          <a:xfrm>
            <a:off x="978790" y="4265046"/>
            <a:ext cx="5297231" cy="20442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内容占位符 5"/>
          <p:cNvSpPr>
            <a:spLocks noGrp="1"/>
          </p:cNvSpPr>
          <p:nvPr>
            <p:ph sz="quarter" idx="4"/>
          </p:nvPr>
        </p:nvSpPr>
        <p:spPr>
          <a:xfrm>
            <a:off x="6456041" y="4284095"/>
            <a:ext cx="5100567" cy="198022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722978828"/>
      </p:ext>
    </p:extLst>
  </p:cSld>
  <p:clrMapOvr>
    <a:masterClrMapping/>
  </p:clrMapOvr>
  <p:transition spd="slow"/>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960000" y="1080001"/>
            <a:ext cx="10560000" cy="518431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4194604936"/>
      </p:ext>
    </p:extLst>
  </p:cSld>
  <p:clrMapOvr>
    <a:masterClrMapping/>
  </p:clrMapOvr>
  <p:transition spd="slow"/>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2" name="Text Box 12"/>
          <p:cNvSpPr txBox="1">
            <a:spLocks noChangeArrowheads="1"/>
          </p:cNvSpPr>
          <p:nvPr userDrawn="1"/>
        </p:nvSpPr>
        <p:spPr bwMode="auto">
          <a:xfrm>
            <a:off x="2855640" y="1916832"/>
            <a:ext cx="6732748" cy="1107996"/>
          </a:xfrm>
          <a:prstGeom prst="rect">
            <a:avLst/>
          </a:prstGeom>
          <a:noFill/>
          <a:ln w="9525">
            <a:noFill/>
            <a:miter lim="800000"/>
            <a:headEnd/>
            <a:tailEnd/>
          </a:ln>
          <a:effectLst/>
        </p:spPr>
        <p:txBody>
          <a:bodyPr wrap="square">
            <a:spAutoFit/>
          </a:bodyPr>
          <a:lstStyle/>
          <a:p>
            <a:pPr>
              <a:defRPr/>
            </a:pPr>
            <a:r>
              <a:rPr kumimoji="1" lang="zh-CN" altLang="en-US" sz="6600" i="0" kern="2000" spc="600" baseline="0" dirty="0">
                <a:solidFill>
                  <a:srgbClr val="FF0000"/>
                </a:solidFill>
                <a:effectLst>
                  <a:outerShdw blurRad="38100" dist="38100" dir="2700000" algn="tl">
                    <a:srgbClr val="000000">
                      <a:alpha val="43137"/>
                    </a:srgbClr>
                  </a:outerShdw>
                </a:effectLst>
                <a:latin typeface="华文彩云" pitchFamily="2" charset="-122"/>
                <a:ea typeface="黑体" pitchFamily="2" charset="-122"/>
              </a:rPr>
              <a:t>工   程   力   学</a:t>
            </a:r>
            <a:endParaRPr kumimoji="1" lang="zh-CN" altLang="en-US" sz="6600" i="0" kern="2000" spc="600" baseline="0" dirty="0">
              <a:solidFill>
                <a:srgbClr val="FF0000"/>
              </a:solidFill>
              <a:effectLst>
                <a:outerShdw blurRad="38100" dist="38100" dir="2700000" algn="tl">
                  <a:srgbClr val="000000">
                    <a:alpha val="43137"/>
                  </a:srgbClr>
                </a:outerShdw>
              </a:effectLst>
              <a:ea typeface="黑体" pitchFamily="2" charset="-122"/>
            </a:endParaRPr>
          </a:p>
        </p:txBody>
      </p:sp>
      <p:sp>
        <p:nvSpPr>
          <p:cNvPr id="3" name="Text Box 12"/>
          <p:cNvSpPr txBox="1">
            <a:spLocks noChangeArrowheads="1"/>
          </p:cNvSpPr>
          <p:nvPr userDrawn="1"/>
        </p:nvSpPr>
        <p:spPr bwMode="auto">
          <a:xfrm>
            <a:off x="3071664" y="3356992"/>
            <a:ext cx="5868652"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Char char="•"/>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Char char="•"/>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Char char="•"/>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Char char="•"/>
              <a:defRPr sz="2800">
                <a:solidFill>
                  <a:schemeClr val="tx1"/>
                </a:solidFill>
                <a:latin typeface="Times New Roman" pitchFamily="18" charset="0"/>
                <a:ea typeface="宋体" pitchFamily="2" charset="-122"/>
              </a:defRPr>
            </a:lvl9pPr>
          </a:lstStyle>
          <a:p>
            <a:pPr eaLnBrk="1" hangingPunct="1">
              <a:defRPr/>
            </a:pPr>
            <a:r>
              <a:rPr kumimoji="1" lang="en-US" altLang="zh-CN" sz="5400" dirty="0">
                <a:solidFill>
                  <a:srgbClr val="0000FF"/>
                </a:solidFill>
                <a:latin typeface="Monotype Corsiva" pitchFamily="66" charset="0"/>
                <a:ea typeface="华文琥珀" pitchFamily="2" charset="-122"/>
              </a:rPr>
              <a:t>Engineering</a:t>
            </a:r>
            <a:r>
              <a:rPr kumimoji="1" lang="en-US" altLang="zh-CN" sz="5400" baseline="0" dirty="0">
                <a:solidFill>
                  <a:srgbClr val="0000FF"/>
                </a:solidFill>
                <a:latin typeface="Monotype Corsiva" pitchFamily="66" charset="0"/>
                <a:ea typeface="华文琥珀" pitchFamily="2" charset="-122"/>
              </a:rPr>
              <a:t> </a:t>
            </a:r>
            <a:r>
              <a:rPr kumimoji="1" lang="en-US" altLang="zh-CN" sz="5400" dirty="0">
                <a:solidFill>
                  <a:srgbClr val="0000FF"/>
                </a:solidFill>
                <a:latin typeface="Monotype Corsiva" pitchFamily="66" charset="0"/>
                <a:ea typeface="华文琥珀" pitchFamily="2" charset="-122"/>
              </a:rPr>
              <a:t>Mechanics</a:t>
            </a:r>
          </a:p>
        </p:txBody>
      </p:sp>
    </p:spTree>
    <p:extLst>
      <p:ext uri="{BB962C8B-B14F-4D97-AF65-F5344CB8AC3E}">
        <p14:creationId xmlns:p14="http://schemas.microsoft.com/office/powerpoint/2010/main" val="35296533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20535427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2.xml"/><Relationship Id="rId1" Type="http://schemas.openxmlformats.org/officeDocument/2006/relationships/slideLayout" Target="../slideLayouts/slideLayout14.xml"/><Relationship Id="rId4" Type="http://schemas.openxmlformats.org/officeDocument/2006/relationships/image" Target="../media/image3.png"/></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3.xml"/><Relationship Id="rId1"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31" name="Text Box 12"/>
          <p:cNvSpPr txBox="1">
            <a:spLocks noChangeArrowheads="1"/>
          </p:cNvSpPr>
          <p:nvPr/>
        </p:nvSpPr>
        <p:spPr bwMode="auto">
          <a:xfrm>
            <a:off x="1390651" y="1125538"/>
            <a:ext cx="10081683" cy="4679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lgn="ctr">
                <a:solidFill>
                  <a:srgbClr val="FF0000"/>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buChar char="•"/>
              <a:defRPr>
                <a:solidFill>
                  <a:schemeClr val="tx1"/>
                </a:solidFill>
                <a:latin typeface="Arial" charset="0"/>
                <a:ea typeface="宋体" pitchFamily="2" charset="-122"/>
              </a:defRPr>
            </a:lvl6pPr>
            <a:lvl7pPr marL="2971800" indent="-228600" algn="ctr" eaLnBrk="0" fontAlgn="base" hangingPunct="0">
              <a:spcBef>
                <a:spcPct val="0"/>
              </a:spcBef>
              <a:spcAft>
                <a:spcPct val="0"/>
              </a:spcAft>
              <a:buChar char="•"/>
              <a:defRPr>
                <a:solidFill>
                  <a:schemeClr val="tx1"/>
                </a:solidFill>
                <a:latin typeface="Arial" charset="0"/>
                <a:ea typeface="宋体" pitchFamily="2" charset="-122"/>
              </a:defRPr>
            </a:lvl7pPr>
            <a:lvl8pPr marL="3429000" indent="-228600" algn="ctr" eaLnBrk="0" fontAlgn="base" hangingPunct="0">
              <a:spcBef>
                <a:spcPct val="0"/>
              </a:spcBef>
              <a:spcAft>
                <a:spcPct val="0"/>
              </a:spcAft>
              <a:buChar char="•"/>
              <a:defRPr>
                <a:solidFill>
                  <a:schemeClr val="tx1"/>
                </a:solidFill>
                <a:latin typeface="Arial" charset="0"/>
                <a:ea typeface="宋体" pitchFamily="2" charset="-122"/>
              </a:defRPr>
            </a:lvl8pPr>
            <a:lvl9pPr marL="3886200" indent="-228600" algn="ctr" eaLnBrk="0" fontAlgn="base" hangingPunct="0">
              <a:spcBef>
                <a:spcPct val="0"/>
              </a:spcBef>
              <a:spcAft>
                <a:spcPct val="0"/>
              </a:spcAft>
              <a:buChar char="•"/>
              <a:defRPr>
                <a:solidFill>
                  <a:schemeClr val="tx1"/>
                </a:solidFill>
                <a:latin typeface="Arial" charset="0"/>
                <a:ea typeface="宋体" pitchFamily="2" charset="-122"/>
              </a:defRPr>
            </a:lvl9pPr>
          </a:lstStyle>
          <a:p>
            <a:pPr>
              <a:spcBef>
                <a:spcPct val="50000"/>
              </a:spcBef>
              <a:defRPr/>
            </a:pPr>
            <a:endParaRPr lang="zh-CN" altLang="zh-CN" sz="2400">
              <a:latin typeface="Times" pitchFamily="18" charset="0"/>
            </a:endParaRPr>
          </a:p>
        </p:txBody>
      </p:sp>
      <p:sp>
        <p:nvSpPr>
          <p:cNvPr id="1027" name="Rectangle 16"/>
          <p:cNvSpPr>
            <a:spLocks noGrp="1" noChangeArrowheads="1"/>
          </p:cNvSpPr>
          <p:nvPr>
            <p:ph type="body" idx="1"/>
          </p:nvPr>
        </p:nvSpPr>
        <p:spPr bwMode="auto">
          <a:xfrm>
            <a:off x="960967" y="1079500"/>
            <a:ext cx="10560051" cy="5221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6" name="矩形 15"/>
          <p:cNvSpPr/>
          <p:nvPr userDrawn="1"/>
        </p:nvSpPr>
        <p:spPr bwMode="auto">
          <a:xfrm>
            <a:off x="-2117" y="6308726"/>
            <a:ext cx="12194117" cy="549275"/>
          </a:xfrm>
          <a:prstGeom prst="rect">
            <a:avLst/>
          </a:prstGeom>
          <a:solidFill>
            <a:srgbClr val="4F81B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21349" fontAlgn="auto">
              <a:spcBef>
                <a:spcPts val="0"/>
              </a:spcBef>
              <a:spcAft>
                <a:spcPts val="0"/>
              </a:spcAft>
              <a:defRPr/>
            </a:pPr>
            <a:endParaRPr lang="zh-CN" altLang="en-US" sz="2400"/>
          </a:p>
        </p:txBody>
      </p:sp>
      <p:sp>
        <p:nvSpPr>
          <p:cNvPr id="24" name="矩形 23"/>
          <p:cNvSpPr/>
          <p:nvPr userDrawn="1"/>
        </p:nvSpPr>
        <p:spPr bwMode="auto">
          <a:xfrm>
            <a:off x="1" y="-11113"/>
            <a:ext cx="8909550" cy="796907"/>
          </a:xfrm>
          <a:prstGeom prst="rect">
            <a:avLst/>
          </a:prstGeom>
          <a:solidFill>
            <a:srgbClr val="4F81B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21349" fontAlgn="auto">
              <a:spcBef>
                <a:spcPts val="0"/>
              </a:spcBef>
              <a:spcAft>
                <a:spcPts val="0"/>
              </a:spcAft>
              <a:defRPr/>
            </a:pPr>
            <a:endParaRPr lang="zh-CN" altLang="en-US" sz="2400"/>
          </a:p>
        </p:txBody>
      </p:sp>
      <p:sp>
        <p:nvSpPr>
          <p:cNvPr id="27" name="Text Box 12"/>
          <p:cNvSpPr txBox="1">
            <a:spLocks noChangeArrowheads="1"/>
          </p:cNvSpPr>
          <p:nvPr userDrawn="1"/>
        </p:nvSpPr>
        <p:spPr bwMode="auto">
          <a:xfrm>
            <a:off x="20520" y="50348"/>
            <a:ext cx="7011616" cy="714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Times New Roman" pitchFamily="18" charset="0"/>
                <a:ea typeface="宋体" pitchFamily="2" charset="-122"/>
              </a:defRPr>
            </a:lvl1pPr>
            <a:lvl2pPr marL="742950" indent="-285750" eaLnBrk="0" hangingPunct="0">
              <a:defRPr>
                <a:solidFill>
                  <a:schemeClr val="tx1"/>
                </a:solidFill>
                <a:latin typeface="Times New Roman" pitchFamily="18" charset="0"/>
                <a:ea typeface="宋体" pitchFamily="2" charset="-122"/>
              </a:defRPr>
            </a:lvl2pPr>
            <a:lvl3pPr marL="1143000" indent="-228600" eaLnBrk="0" hangingPunct="0">
              <a:defRPr>
                <a:solidFill>
                  <a:schemeClr val="tx1"/>
                </a:solidFill>
                <a:latin typeface="Times New Roman" pitchFamily="18" charset="0"/>
                <a:ea typeface="宋体" pitchFamily="2" charset="-122"/>
              </a:defRPr>
            </a:lvl3pPr>
            <a:lvl4pPr marL="1600200" indent="-228600" eaLnBrk="0" hangingPunct="0">
              <a:defRPr>
                <a:solidFill>
                  <a:schemeClr val="tx1"/>
                </a:solidFill>
                <a:latin typeface="Times New Roman" pitchFamily="18" charset="0"/>
                <a:ea typeface="宋体" pitchFamily="2" charset="-122"/>
              </a:defRPr>
            </a:lvl4pPr>
            <a:lvl5pPr marL="2057400" indent="-228600" eaLnBrk="0" hangingPunct="0">
              <a:defRPr>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a:solidFill>
                  <a:schemeClr val="tx1"/>
                </a:solidFill>
                <a:latin typeface="Times New Roman" pitchFamily="18" charset="0"/>
                <a:ea typeface="宋体" pitchFamily="2" charset="-122"/>
              </a:defRPr>
            </a:lvl9pPr>
          </a:lstStyle>
          <a:p>
            <a:pPr algn="l" eaLnBrk="1" hangingPunct="1">
              <a:defRPr/>
            </a:pPr>
            <a:r>
              <a:rPr kumimoji="1" lang="zh-CN" altLang="en-US" sz="3200" i="0" dirty="0">
                <a:solidFill>
                  <a:srgbClr val="FFFFFF"/>
                </a:solidFill>
                <a:ea typeface="黑体" pitchFamily="49" charset="-122"/>
              </a:rPr>
              <a:t>      </a:t>
            </a:r>
            <a:endParaRPr kumimoji="1" lang="zh-CN" altLang="en-US" sz="3200" i="0" dirty="0">
              <a:solidFill>
                <a:srgbClr val="FFFFFF"/>
              </a:solidFill>
              <a:latin typeface="微软雅黑" panose="020B0503020204020204" pitchFamily="34" charset="-122"/>
              <a:ea typeface="微软雅黑" panose="020B0503020204020204" pitchFamily="34" charset="-122"/>
            </a:endParaRPr>
          </a:p>
        </p:txBody>
      </p:sp>
      <p:cxnSp>
        <p:nvCxnSpPr>
          <p:cNvPr id="15" name="直接连接符 14"/>
          <p:cNvCxnSpPr/>
          <p:nvPr userDrawn="1"/>
        </p:nvCxnSpPr>
        <p:spPr bwMode="auto">
          <a:xfrm>
            <a:off x="-2117" y="785794"/>
            <a:ext cx="12194117" cy="0"/>
          </a:xfrm>
          <a:prstGeom prst="line">
            <a:avLst/>
          </a:prstGeom>
          <a:solidFill>
            <a:srgbClr val="3366CC"/>
          </a:solidFill>
          <a:ln w="38100">
            <a:solidFill>
              <a:srgbClr val="4F81BD"/>
            </a:solidFill>
          </a:ln>
        </p:spPr>
        <p:style>
          <a:lnRef idx="1">
            <a:schemeClr val="accent1"/>
          </a:lnRef>
          <a:fillRef idx="0">
            <a:schemeClr val="accent1"/>
          </a:fillRef>
          <a:effectRef idx="0">
            <a:schemeClr val="accent1"/>
          </a:effectRef>
          <a:fontRef idx="minor">
            <a:schemeClr val="tx1"/>
          </a:fontRef>
        </p:style>
      </p:cxnSp>
      <p:pic>
        <p:nvPicPr>
          <p:cNvPr id="17" name="Picture 2" descr="http://www.jdxy.zjut.edu.cn/images/img_02.jpg"/>
          <p:cNvPicPr/>
          <p:nvPr userDrawn="1"/>
        </p:nvPicPr>
        <p:blipFill rotWithShape="1">
          <a:blip r:embed="rId15" cstate="print"/>
          <a:srcRect l="3571" r="6619"/>
          <a:stretch/>
        </p:blipFill>
        <p:spPr bwMode="auto">
          <a:xfrm>
            <a:off x="7183971" y="-16198"/>
            <a:ext cx="5000625" cy="785495"/>
          </a:xfrm>
          <a:prstGeom prst="rect">
            <a:avLst/>
          </a:prstGeom>
          <a:noFill/>
          <a:ln>
            <a:noFill/>
          </a:ln>
          <a:extLst>
            <a:ext uri="{53640926-AAD7-44D8-BBD7-CCE9431645EC}">
              <a14:shadowObscured xmlns:a14="http://schemas.microsoft.com/office/drawing/2010/main"/>
            </a:ext>
          </a:extLst>
        </p:spPr>
      </p:pic>
    </p:spTree>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 id="2147483692" r:id="rId12"/>
    <p:sldLayoutId id="2147483693" r:id="rId13"/>
  </p:sldLayoutIdLst>
  <p:transition spd="slow"/>
  <p:txStyles>
    <p:titleStyle>
      <a:lvl1pPr marL="442913" indent="-442913" algn="l" rtl="0" eaLnBrk="0" fontAlgn="base" hangingPunct="0">
        <a:spcBef>
          <a:spcPct val="0"/>
        </a:spcBef>
        <a:spcAft>
          <a:spcPct val="0"/>
        </a:spcAft>
        <a:defRPr sz="3200" b="1">
          <a:solidFill>
            <a:srgbClr val="3333FF"/>
          </a:solidFill>
          <a:latin typeface="+mj-lt"/>
          <a:ea typeface="+mj-ea"/>
          <a:cs typeface="+mj-cs"/>
        </a:defRPr>
      </a:lvl1pPr>
      <a:lvl2pPr marL="442913" indent="-442913" algn="l" rtl="0" eaLnBrk="0" fontAlgn="base" hangingPunct="0">
        <a:spcBef>
          <a:spcPct val="0"/>
        </a:spcBef>
        <a:spcAft>
          <a:spcPct val="0"/>
        </a:spcAft>
        <a:defRPr sz="3200" b="1">
          <a:solidFill>
            <a:srgbClr val="3333FF"/>
          </a:solidFill>
          <a:latin typeface="Times New Roman" pitchFamily="18" charset="0"/>
          <a:ea typeface="宋体" pitchFamily="2" charset="-122"/>
        </a:defRPr>
      </a:lvl2pPr>
      <a:lvl3pPr marL="442913" indent="-442913" algn="l" rtl="0" eaLnBrk="0" fontAlgn="base" hangingPunct="0">
        <a:spcBef>
          <a:spcPct val="0"/>
        </a:spcBef>
        <a:spcAft>
          <a:spcPct val="0"/>
        </a:spcAft>
        <a:defRPr sz="3200" b="1">
          <a:solidFill>
            <a:srgbClr val="3333FF"/>
          </a:solidFill>
          <a:latin typeface="Times New Roman" pitchFamily="18" charset="0"/>
          <a:ea typeface="宋体" pitchFamily="2" charset="-122"/>
        </a:defRPr>
      </a:lvl3pPr>
      <a:lvl4pPr marL="442913" indent="-442913" algn="l" rtl="0" eaLnBrk="0" fontAlgn="base" hangingPunct="0">
        <a:spcBef>
          <a:spcPct val="0"/>
        </a:spcBef>
        <a:spcAft>
          <a:spcPct val="0"/>
        </a:spcAft>
        <a:defRPr sz="3200" b="1">
          <a:solidFill>
            <a:srgbClr val="3333FF"/>
          </a:solidFill>
          <a:latin typeface="Times New Roman" pitchFamily="18" charset="0"/>
          <a:ea typeface="宋体" pitchFamily="2" charset="-122"/>
        </a:defRPr>
      </a:lvl4pPr>
      <a:lvl5pPr marL="442913" indent="-442913" algn="l" rtl="0" eaLnBrk="0" fontAlgn="base" hangingPunct="0">
        <a:spcBef>
          <a:spcPct val="0"/>
        </a:spcBef>
        <a:spcAft>
          <a:spcPct val="0"/>
        </a:spcAft>
        <a:defRPr sz="3200" b="1">
          <a:solidFill>
            <a:srgbClr val="3333FF"/>
          </a:solidFill>
          <a:latin typeface="Times New Roman" pitchFamily="18" charset="0"/>
          <a:ea typeface="宋体" pitchFamily="2" charset="-122"/>
        </a:defRPr>
      </a:lvl5pPr>
      <a:lvl6pPr marL="900113" algn="l" rtl="0" fontAlgn="base">
        <a:spcBef>
          <a:spcPct val="0"/>
        </a:spcBef>
        <a:spcAft>
          <a:spcPct val="0"/>
        </a:spcAft>
        <a:defRPr sz="3200" b="1">
          <a:solidFill>
            <a:srgbClr val="3333FF"/>
          </a:solidFill>
          <a:latin typeface="Times New Roman" pitchFamily="18" charset="0"/>
          <a:ea typeface="宋体" pitchFamily="2" charset="-122"/>
        </a:defRPr>
      </a:lvl6pPr>
      <a:lvl7pPr marL="1357313" algn="l" rtl="0" fontAlgn="base">
        <a:spcBef>
          <a:spcPct val="0"/>
        </a:spcBef>
        <a:spcAft>
          <a:spcPct val="0"/>
        </a:spcAft>
        <a:defRPr sz="3200" b="1">
          <a:solidFill>
            <a:srgbClr val="3333FF"/>
          </a:solidFill>
          <a:latin typeface="Times New Roman" pitchFamily="18" charset="0"/>
          <a:ea typeface="宋体" pitchFamily="2" charset="-122"/>
        </a:defRPr>
      </a:lvl7pPr>
      <a:lvl8pPr marL="1814513" algn="l" rtl="0" fontAlgn="base">
        <a:spcBef>
          <a:spcPct val="0"/>
        </a:spcBef>
        <a:spcAft>
          <a:spcPct val="0"/>
        </a:spcAft>
        <a:defRPr sz="3200" b="1">
          <a:solidFill>
            <a:srgbClr val="3333FF"/>
          </a:solidFill>
          <a:latin typeface="Times New Roman" pitchFamily="18" charset="0"/>
          <a:ea typeface="宋体" pitchFamily="2" charset="-122"/>
        </a:defRPr>
      </a:lvl8pPr>
      <a:lvl9pPr marL="2271713" algn="l" rtl="0" fontAlgn="base">
        <a:spcBef>
          <a:spcPct val="0"/>
        </a:spcBef>
        <a:spcAft>
          <a:spcPct val="0"/>
        </a:spcAft>
        <a:defRPr sz="3200" b="1">
          <a:solidFill>
            <a:srgbClr val="3333FF"/>
          </a:solidFill>
          <a:latin typeface="Times New Roman" pitchFamily="18" charset="0"/>
          <a:ea typeface="宋体" pitchFamily="2" charset="-122"/>
        </a:defRPr>
      </a:lvl9pPr>
    </p:titleStyle>
    <p:bodyStyle>
      <a:lvl1pPr marL="342900" indent="-342900" algn="l" rtl="0" eaLnBrk="0" fontAlgn="base" hangingPunct="0">
        <a:spcBef>
          <a:spcPct val="30000"/>
        </a:spcBef>
        <a:spcAft>
          <a:spcPct val="0"/>
        </a:spcAft>
        <a:buClr>
          <a:schemeClr val="hlink"/>
        </a:buClr>
        <a:buSzPct val="62000"/>
        <a:buFont typeface="Wingdings" pitchFamily="2" charset="2"/>
        <a:buChar char="n"/>
        <a:defRPr sz="2000">
          <a:solidFill>
            <a:schemeClr val="tx1"/>
          </a:solidFill>
          <a:latin typeface="+mn-lt"/>
          <a:ea typeface="+mn-ea"/>
          <a:cs typeface="+mn-cs"/>
        </a:defRPr>
      </a:lvl1pPr>
      <a:lvl2pPr marL="742950" indent="-285750" algn="l" rtl="0" eaLnBrk="0" fontAlgn="base" hangingPunct="0">
        <a:spcBef>
          <a:spcPct val="30000"/>
        </a:spcBef>
        <a:spcAft>
          <a:spcPct val="0"/>
        </a:spcAft>
        <a:buClr>
          <a:schemeClr val="hlink"/>
        </a:buClr>
        <a:buSzPct val="62000"/>
        <a:buFont typeface="Wingdings" pitchFamily="2" charset="2"/>
        <a:buChar char="l"/>
        <a:defRPr sz="20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75000"/>
        <a:buFont typeface="Wingdings" pitchFamily="2" charset="2"/>
        <a:buChar char="à"/>
        <a:defRPr sz="2000">
          <a:solidFill>
            <a:schemeClr val="tx1"/>
          </a:solidFill>
          <a:latin typeface="+mn-lt"/>
          <a:ea typeface="+mn-ea"/>
        </a:defRPr>
      </a:lvl3pPr>
      <a:lvl4pPr marL="1600200" indent="-228600" algn="l" rtl="0" eaLnBrk="0" fontAlgn="base" hangingPunct="0">
        <a:spcBef>
          <a:spcPct val="20000"/>
        </a:spcBef>
        <a:spcAft>
          <a:spcPct val="0"/>
        </a:spcAft>
        <a:buSzPct val="100000"/>
        <a:buChar char="–"/>
        <a:defRPr sz="2000">
          <a:solidFill>
            <a:schemeClr val="tx1"/>
          </a:solidFill>
          <a:latin typeface="+mn-lt"/>
          <a:ea typeface="+mn-ea"/>
        </a:defRPr>
      </a:lvl4pPr>
      <a:lvl5pPr marL="2057400" indent="-228600" algn="l" rtl="0" eaLnBrk="0" fontAlgn="base" hangingPunct="0">
        <a:spcBef>
          <a:spcPct val="20000"/>
        </a:spcBef>
        <a:spcAft>
          <a:spcPct val="0"/>
        </a:spcAft>
        <a:buSzPct val="100000"/>
        <a:buChar char="»"/>
        <a:defRPr sz="2000">
          <a:solidFill>
            <a:schemeClr val="tx1"/>
          </a:solidFill>
          <a:latin typeface="+mn-lt"/>
          <a:ea typeface="+mn-ea"/>
        </a:defRPr>
      </a:lvl5pPr>
      <a:lvl6pPr marL="2514600" indent="-228600" algn="l" rtl="0" fontAlgn="base">
        <a:spcBef>
          <a:spcPct val="20000"/>
        </a:spcBef>
        <a:spcAft>
          <a:spcPct val="0"/>
        </a:spcAft>
        <a:buSzPct val="100000"/>
        <a:buChar char="»"/>
        <a:defRPr sz="2000">
          <a:solidFill>
            <a:schemeClr val="tx1"/>
          </a:solidFill>
          <a:latin typeface="+mn-lt"/>
          <a:ea typeface="+mn-ea"/>
        </a:defRPr>
      </a:lvl6pPr>
      <a:lvl7pPr marL="2971800" indent="-228600" algn="l" rtl="0" fontAlgn="base">
        <a:spcBef>
          <a:spcPct val="20000"/>
        </a:spcBef>
        <a:spcAft>
          <a:spcPct val="0"/>
        </a:spcAft>
        <a:buSzPct val="100000"/>
        <a:buChar char="»"/>
        <a:defRPr sz="2000">
          <a:solidFill>
            <a:schemeClr val="tx1"/>
          </a:solidFill>
          <a:latin typeface="+mn-lt"/>
          <a:ea typeface="+mn-ea"/>
        </a:defRPr>
      </a:lvl7pPr>
      <a:lvl8pPr marL="3429000" indent="-228600" algn="l" rtl="0" fontAlgn="base">
        <a:spcBef>
          <a:spcPct val="20000"/>
        </a:spcBef>
        <a:spcAft>
          <a:spcPct val="0"/>
        </a:spcAft>
        <a:buSzPct val="100000"/>
        <a:buChar char="»"/>
        <a:defRPr sz="2000">
          <a:solidFill>
            <a:schemeClr val="tx1"/>
          </a:solidFill>
          <a:latin typeface="+mn-lt"/>
          <a:ea typeface="+mn-ea"/>
        </a:defRPr>
      </a:lvl8pPr>
      <a:lvl9pPr marL="3886200" indent="-228600" algn="l" rtl="0" fontAlgn="base">
        <a:spcBef>
          <a:spcPct val="20000"/>
        </a:spcBef>
        <a:spcAft>
          <a:spcPct val="0"/>
        </a:spcAft>
        <a:buSzPct val="100000"/>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75FE3E41-3E3A-4598-854A-0ADDC3E3F895}" type="datetimeFigureOut">
              <a:rPr lang="zh-CN" altLang="en-US"/>
              <a:pPr>
                <a:defRPr/>
              </a:pPr>
              <a:t>2023-11-29</a:t>
            </a:fld>
            <a:endParaRPr lang="zh-CN" altLang="en-US"/>
          </a:p>
        </p:txBody>
      </p:sp>
      <p:sp>
        <p:nvSpPr>
          <p:cNvPr id="5" name="页脚占位符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zh-CN" altLang="en-US"/>
          </a:p>
        </p:txBody>
      </p:sp>
      <p:sp>
        <p:nvSpPr>
          <p:cNvPr id="6" name="灯片编号占位符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A7D69B51-3C8E-4B0D-9184-6356F897FB91}" type="slidenum">
              <a:rPr lang="zh-CN" altLang="en-US"/>
              <a:pPr>
                <a:defRPr/>
              </a:pPr>
              <a:t>‹#›</a:t>
            </a:fld>
            <a:endParaRPr lang="zh-CN" altLang="en-US"/>
          </a:p>
        </p:txBody>
      </p:sp>
      <p:pic>
        <p:nvPicPr>
          <p:cNvPr id="2053" name="Picture 63" descr="图片1"/>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t="36037" b="11566"/>
          <a:stretch>
            <a:fillRect/>
          </a:stretch>
        </p:blipFill>
        <p:spPr bwMode="auto">
          <a:xfrm>
            <a:off x="-8467" y="4579938"/>
            <a:ext cx="12200467" cy="2278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reeform 29"/>
          <p:cNvSpPr>
            <a:spLocks/>
          </p:cNvSpPr>
          <p:nvPr userDrawn="1"/>
        </p:nvSpPr>
        <p:spPr bwMode="gray">
          <a:xfrm>
            <a:off x="-2117" y="-1588"/>
            <a:ext cx="12206817" cy="4641851"/>
          </a:xfrm>
          <a:custGeom>
            <a:avLst/>
            <a:gdLst>
              <a:gd name="T0" fmla="*/ 2147483647 w 5767"/>
              <a:gd name="T1" fmla="*/ 2147483647 h 3128"/>
              <a:gd name="T2" fmla="*/ 2147483647 w 5767"/>
              <a:gd name="T3" fmla="*/ 2147483647 h 3128"/>
              <a:gd name="T4" fmla="*/ 2147483647 w 5767"/>
              <a:gd name="T5" fmla="*/ 2147483647 h 3128"/>
              <a:gd name="T6" fmla="*/ 2147483647 w 5767"/>
              <a:gd name="T7" fmla="*/ 2147483647 h 3128"/>
              <a:gd name="T8" fmla="*/ 2147483647 w 5767"/>
              <a:gd name="T9" fmla="*/ 2147483647 h 3128"/>
              <a:gd name="T10" fmla="*/ 2147483647 w 5767"/>
              <a:gd name="T11" fmla="*/ 2147483647 h 3128"/>
              <a:gd name="T12" fmla="*/ 2147483647 w 5767"/>
              <a:gd name="T13" fmla="*/ 0 h 3128"/>
              <a:gd name="T14" fmla="*/ 0 w 5767"/>
              <a:gd name="T15" fmla="*/ 2147483647 h 3128"/>
              <a:gd name="T16" fmla="*/ 2147483647 w 5767"/>
              <a:gd name="T17" fmla="*/ 2147483647 h 31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767" h="3128">
                <a:moveTo>
                  <a:pt x="8" y="3103"/>
                </a:moveTo>
                <a:lnTo>
                  <a:pt x="2913" y="3102"/>
                </a:lnTo>
                <a:cubicBezTo>
                  <a:pt x="3054" y="3102"/>
                  <a:pt x="3012" y="3128"/>
                  <a:pt x="3143" y="3022"/>
                </a:cubicBezTo>
                <a:lnTo>
                  <a:pt x="3668" y="2460"/>
                </a:lnTo>
                <a:cubicBezTo>
                  <a:pt x="3832" y="2329"/>
                  <a:pt x="3809" y="2215"/>
                  <a:pt x="4129" y="2235"/>
                </a:cubicBezTo>
                <a:lnTo>
                  <a:pt x="5761" y="2235"/>
                </a:lnTo>
                <a:lnTo>
                  <a:pt x="5767" y="0"/>
                </a:lnTo>
                <a:lnTo>
                  <a:pt x="0" y="1"/>
                </a:lnTo>
                <a:lnTo>
                  <a:pt x="8" y="3103"/>
                </a:lnTo>
                <a:close/>
              </a:path>
            </a:pathLst>
          </a:custGeom>
          <a:solidFill>
            <a:schemeClr val="bg2">
              <a:alpha val="89803"/>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400"/>
          </a:p>
        </p:txBody>
      </p:sp>
      <p:sp>
        <p:nvSpPr>
          <p:cNvPr id="12" name="Freeform 28"/>
          <p:cNvSpPr>
            <a:spLocks/>
          </p:cNvSpPr>
          <p:nvPr userDrawn="1"/>
        </p:nvSpPr>
        <p:spPr bwMode="gray">
          <a:xfrm>
            <a:off x="1" y="-1588"/>
            <a:ext cx="12206817" cy="4581526"/>
          </a:xfrm>
          <a:custGeom>
            <a:avLst/>
            <a:gdLst/>
            <a:ahLst/>
            <a:cxnLst>
              <a:cxn ang="0">
                <a:pos x="8" y="2730"/>
              </a:cxn>
              <a:cxn ang="0">
                <a:pos x="3040" y="2726"/>
              </a:cxn>
              <a:cxn ang="0">
                <a:pos x="3347" y="2630"/>
              </a:cxn>
              <a:cxn ang="0">
                <a:pos x="3795" y="2170"/>
              </a:cxn>
              <a:cxn ang="0">
                <a:pos x="4115" y="2080"/>
              </a:cxn>
              <a:cxn ang="0">
                <a:pos x="5760" y="2093"/>
              </a:cxn>
              <a:cxn ang="0">
                <a:pos x="5767" y="0"/>
              </a:cxn>
              <a:cxn ang="0">
                <a:pos x="0" y="1"/>
              </a:cxn>
              <a:cxn ang="0">
                <a:pos x="8" y="2730"/>
              </a:cxn>
            </a:cxnLst>
            <a:rect l="0" t="0" r="r" b="b"/>
            <a:pathLst>
              <a:path w="5767" h="2730">
                <a:moveTo>
                  <a:pt x="8" y="2730"/>
                </a:moveTo>
                <a:lnTo>
                  <a:pt x="3040" y="2726"/>
                </a:lnTo>
                <a:cubicBezTo>
                  <a:pt x="3181" y="2726"/>
                  <a:pt x="3224" y="2728"/>
                  <a:pt x="3347" y="2630"/>
                </a:cubicBezTo>
                <a:lnTo>
                  <a:pt x="3795" y="2170"/>
                </a:lnTo>
                <a:cubicBezTo>
                  <a:pt x="3923" y="2078"/>
                  <a:pt x="3942" y="2074"/>
                  <a:pt x="4115" y="2080"/>
                </a:cubicBezTo>
                <a:lnTo>
                  <a:pt x="5760" y="2093"/>
                </a:lnTo>
                <a:lnTo>
                  <a:pt x="5767" y="0"/>
                </a:lnTo>
                <a:lnTo>
                  <a:pt x="0" y="1"/>
                </a:lnTo>
                <a:lnTo>
                  <a:pt x="8" y="2730"/>
                </a:lnTo>
                <a:close/>
              </a:path>
            </a:pathLst>
          </a:custGeom>
          <a:gradFill rotWithShape="1">
            <a:gsLst>
              <a:gs pos="0">
                <a:schemeClr val="bg1">
                  <a:gamma/>
                  <a:tint val="0"/>
                  <a:invGamma/>
                </a:schemeClr>
              </a:gs>
              <a:gs pos="100000">
                <a:schemeClr val="bg1">
                  <a:alpha val="89999"/>
                </a:schemeClr>
              </a:gs>
            </a:gsLst>
            <a:lin ang="0" scaled="1"/>
          </a:gradFill>
          <a:ln w="9525">
            <a:noFill/>
            <a:round/>
            <a:headEnd/>
            <a:tailEnd/>
          </a:ln>
          <a:effectLst/>
        </p:spPr>
        <p:txBody>
          <a:bodyPr/>
          <a:lstStyle/>
          <a:p>
            <a:pPr>
              <a:defRPr/>
            </a:pPr>
            <a:endParaRPr lang="zh-CN" altLang="en-US" sz="2400">
              <a:latin typeface="Arial" charset="0"/>
              <a:ea typeface="宋体" charset="-122"/>
            </a:endParaRPr>
          </a:p>
        </p:txBody>
      </p:sp>
      <p:sp>
        <p:nvSpPr>
          <p:cNvPr id="2056" name="Freeform 30"/>
          <p:cNvSpPr>
            <a:spLocks/>
          </p:cNvSpPr>
          <p:nvPr userDrawn="1"/>
        </p:nvSpPr>
        <p:spPr bwMode="gray">
          <a:xfrm>
            <a:off x="1" y="0"/>
            <a:ext cx="12204700" cy="1600200"/>
          </a:xfrm>
          <a:custGeom>
            <a:avLst/>
            <a:gdLst>
              <a:gd name="T0" fmla="*/ 0 w 5766"/>
              <a:gd name="T1" fmla="*/ 2147483647 h 1008"/>
              <a:gd name="T2" fmla="*/ 2147483647 w 5766"/>
              <a:gd name="T3" fmla="*/ 2147483647 h 1008"/>
              <a:gd name="T4" fmla="*/ 2147483647 w 5766"/>
              <a:gd name="T5" fmla="*/ 2147483647 h 1008"/>
              <a:gd name="T6" fmla="*/ 2147483647 w 5766"/>
              <a:gd name="T7" fmla="*/ 2147483647 h 1008"/>
              <a:gd name="T8" fmla="*/ 2147483647 w 5766"/>
              <a:gd name="T9" fmla="*/ 2147483647 h 1008"/>
              <a:gd name="T10" fmla="*/ 2147483647 w 5766"/>
              <a:gd name="T11" fmla="*/ 2147483647 h 1008"/>
              <a:gd name="T12" fmla="*/ 2147483647 w 5766"/>
              <a:gd name="T13" fmla="*/ 0 h 1008"/>
              <a:gd name="T14" fmla="*/ 0 w 5766"/>
              <a:gd name="T15" fmla="*/ 2147483647 h 1008"/>
              <a:gd name="T16" fmla="*/ 0 w 5766"/>
              <a:gd name="T17" fmla="*/ 2147483647 h 100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766" h="1008">
                <a:moveTo>
                  <a:pt x="0" y="1008"/>
                </a:moveTo>
                <a:lnTo>
                  <a:pt x="1884" y="1008"/>
                </a:lnTo>
                <a:cubicBezTo>
                  <a:pt x="2088" y="990"/>
                  <a:pt x="2034" y="1005"/>
                  <a:pt x="2152" y="921"/>
                </a:cubicBezTo>
                <a:lnTo>
                  <a:pt x="2560" y="531"/>
                </a:lnTo>
                <a:cubicBezTo>
                  <a:pt x="2683" y="452"/>
                  <a:pt x="2611" y="454"/>
                  <a:pt x="2892" y="448"/>
                </a:cubicBezTo>
                <a:lnTo>
                  <a:pt x="5766" y="461"/>
                </a:lnTo>
                <a:lnTo>
                  <a:pt x="5758" y="0"/>
                </a:lnTo>
                <a:lnTo>
                  <a:pt x="0" y="2"/>
                </a:lnTo>
                <a:lnTo>
                  <a:pt x="0" y="1008"/>
                </a:lnTo>
                <a:close/>
              </a:path>
            </a:pathLst>
          </a:custGeom>
          <a:gradFill rotWithShape="1">
            <a:gsLst>
              <a:gs pos="0">
                <a:schemeClr val="bg1"/>
              </a:gs>
              <a:gs pos="100000">
                <a:schemeClr val="bg2"/>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400"/>
          </a:p>
        </p:txBody>
      </p:sp>
      <p:pic>
        <p:nvPicPr>
          <p:cNvPr id="10" name="Picture 2" descr="C:\Users\LibeR\Desktop\学院设计\部分素材\标志.png">
            <a:extLst>
              <a:ext uri="{FF2B5EF4-FFF2-40B4-BE49-F238E27FC236}">
                <a16:creationId xmlns:a16="http://schemas.microsoft.com/office/drawing/2014/main" id="{0FD5FD62-6A64-4DAD-8F38-E1AD4CEA33BF}"/>
              </a:ext>
            </a:extLst>
          </p:cNvPr>
          <p:cNvPicPr>
            <a:picLocks noChangeAspect="1" noChangeArrowheads="1"/>
          </p:cNvPicPr>
          <p:nvPr userDrawn="1"/>
        </p:nvPicPr>
        <p:blipFill rotWithShape="1">
          <a:blip r:embed="rId4">
            <a:extLst>
              <a:ext uri="{28A0092B-C50C-407E-A947-70E740481C1C}">
                <a14:useLocalDpi xmlns:a14="http://schemas.microsoft.com/office/drawing/2010/main"/>
              </a:ext>
            </a:extLst>
          </a:blip>
          <a:srcRect l="3956" t="26667" r="5834" b="39999"/>
          <a:stretch/>
        </p:blipFill>
        <p:spPr bwMode="auto">
          <a:xfrm>
            <a:off x="4170622" y="-19186"/>
            <a:ext cx="7920880" cy="1042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95" r:id="rId1"/>
  </p:sldLayoutIdLs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pitchFamily="2" charset="-122"/>
        </a:defRPr>
      </a:lvl2pPr>
      <a:lvl3pPr algn="ctr" rtl="0" eaLnBrk="0" fontAlgn="base" hangingPunct="0">
        <a:spcBef>
          <a:spcPct val="0"/>
        </a:spcBef>
        <a:spcAft>
          <a:spcPct val="0"/>
        </a:spcAft>
        <a:defRPr sz="4400">
          <a:solidFill>
            <a:schemeClr val="tx1"/>
          </a:solidFill>
          <a:latin typeface="Calibri" pitchFamily="34" charset="0"/>
          <a:ea typeface="宋体" pitchFamily="2" charset="-122"/>
        </a:defRPr>
      </a:lvl3pPr>
      <a:lvl4pPr algn="ctr" rtl="0" eaLnBrk="0" fontAlgn="base" hangingPunct="0">
        <a:spcBef>
          <a:spcPct val="0"/>
        </a:spcBef>
        <a:spcAft>
          <a:spcPct val="0"/>
        </a:spcAft>
        <a:defRPr sz="4400">
          <a:solidFill>
            <a:schemeClr val="tx1"/>
          </a:solidFill>
          <a:latin typeface="Calibri" pitchFamily="34" charset="0"/>
          <a:ea typeface="宋体" pitchFamily="2" charset="-122"/>
        </a:defRPr>
      </a:lvl4pPr>
      <a:lvl5pPr algn="ctr" rtl="0" eaLnBrk="0" fontAlgn="base" hangingPunct="0">
        <a:spcBef>
          <a:spcPct val="0"/>
        </a:spcBef>
        <a:spcAft>
          <a:spcPct val="0"/>
        </a:spcAft>
        <a:defRPr sz="4400">
          <a:solidFill>
            <a:schemeClr val="tx1"/>
          </a:solidFill>
          <a:latin typeface="Calibri" pitchFamily="34" charset="0"/>
          <a:ea typeface="宋体" pitchFamily="2" charset="-122"/>
        </a:defRPr>
      </a:lvl5pPr>
      <a:lvl6pPr marL="457200" algn="ctr" rtl="0" fontAlgn="base">
        <a:spcBef>
          <a:spcPct val="0"/>
        </a:spcBef>
        <a:spcAft>
          <a:spcPct val="0"/>
        </a:spcAft>
        <a:defRPr sz="4400">
          <a:solidFill>
            <a:schemeClr val="tx1"/>
          </a:solidFill>
          <a:latin typeface="Calibri" pitchFamily="34" charset="0"/>
          <a:ea typeface="宋体" pitchFamily="2" charset="-122"/>
        </a:defRPr>
      </a:lvl6pPr>
      <a:lvl7pPr marL="914400" algn="ctr" rtl="0" fontAlgn="base">
        <a:spcBef>
          <a:spcPct val="0"/>
        </a:spcBef>
        <a:spcAft>
          <a:spcPct val="0"/>
        </a:spcAft>
        <a:defRPr sz="4400">
          <a:solidFill>
            <a:schemeClr val="tx1"/>
          </a:solidFill>
          <a:latin typeface="Calibri" pitchFamily="34" charset="0"/>
          <a:ea typeface="宋体" pitchFamily="2" charset="-122"/>
        </a:defRPr>
      </a:lvl7pPr>
      <a:lvl8pPr marL="1371600" algn="ctr" rtl="0" fontAlgn="base">
        <a:spcBef>
          <a:spcPct val="0"/>
        </a:spcBef>
        <a:spcAft>
          <a:spcPct val="0"/>
        </a:spcAft>
        <a:defRPr sz="4400">
          <a:solidFill>
            <a:schemeClr val="tx1"/>
          </a:solidFill>
          <a:latin typeface="Calibri" pitchFamily="34" charset="0"/>
          <a:ea typeface="宋体" pitchFamily="2" charset="-122"/>
        </a:defRPr>
      </a:lvl8pPr>
      <a:lvl9pPr marL="1828800" algn="ctr" rtl="0" fontAlgn="base">
        <a:spcBef>
          <a:spcPct val="0"/>
        </a:spcBef>
        <a:spcAft>
          <a:spcPct val="0"/>
        </a:spcAft>
        <a:defRPr sz="4400">
          <a:solidFill>
            <a:schemeClr val="tx1"/>
          </a:solidFill>
          <a:latin typeface="Calibri" pitchFamily="34" charset="0"/>
          <a:ea typeface="宋体" pitchFamily="2" charset="-122"/>
        </a:defRPr>
      </a:lvl9pPr>
    </p:titleStyle>
    <p:body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3074" name="Picture 2" descr="图片1"/>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t="37930" b="14191"/>
          <a:stretch>
            <a:fillRect/>
          </a:stretch>
        </p:blipFill>
        <p:spPr bwMode="auto">
          <a:xfrm>
            <a:off x="-16933" y="-98425"/>
            <a:ext cx="12247033" cy="2089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 bg1="lt1" tx1="dk1" bg2="lt2" tx2="dk2" accent1="accent1" accent2="accent2" accent3="accent3" accent4="accent4" accent5="accent5" accent6="accent6" hlink="hlink" folHlink="folHlink"/>
  <p:sldLayoutIdLst>
    <p:sldLayoutId id="2147483694" r:id="rId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pitchFamily="2" charset="-122"/>
        </a:defRPr>
      </a:lvl2pPr>
      <a:lvl3pPr algn="ctr" rtl="0" eaLnBrk="0" fontAlgn="base" hangingPunct="0">
        <a:spcBef>
          <a:spcPct val="0"/>
        </a:spcBef>
        <a:spcAft>
          <a:spcPct val="0"/>
        </a:spcAft>
        <a:defRPr sz="4400">
          <a:solidFill>
            <a:schemeClr val="tx1"/>
          </a:solidFill>
          <a:latin typeface="Calibri" pitchFamily="34" charset="0"/>
          <a:ea typeface="宋体" pitchFamily="2" charset="-122"/>
        </a:defRPr>
      </a:lvl3pPr>
      <a:lvl4pPr algn="ctr" rtl="0" eaLnBrk="0" fontAlgn="base" hangingPunct="0">
        <a:spcBef>
          <a:spcPct val="0"/>
        </a:spcBef>
        <a:spcAft>
          <a:spcPct val="0"/>
        </a:spcAft>
        <a:defRPr sz="4400">
          <a:solidFill>
            <a:schemeClr val="tx1"/>
          </a:solidFill>
          <a:latin typeface="Calibri" pitchFamily="34" charset="0"/>
          <a:ea typeface="宋体" pitchFamily="2" charset="-122"/>
        </a:defRPr>
      </a:lvl4pPr>
      <a:lvl5pPr algn="ctr" rtl="0" eaLnBrk="0" fontAlgn="base" hangingPunct="0">
        <a:spcBef>
          <a:spcPct val="0"/>
        </a:spcBef>
        <a:spcAft>
          <a:spcPct val="0"/>
        </a:spcAft>
        <a:defRPr sz="4400">
          <a:solidFill>
            <a:schemeClr val="tx1"/>
          </a:solidFill>
          <a:latin typeface="Calibri" pitchFamily="34" charset="0"/>
          <a:ea typeface="宋体" pitchFamily="2" charset="-122"/>
        </a:defRPr>
      </a:lvl5pPr>
      <a:lvl6pPr marL="457200" algn="ctr" rtl="0" fontAlgn="base">
        <a:spcBef>
          <a:spcPct val="0"/>
        </a:spcBef>
        <a:spcAft>
          <a:spcPct val="0"/>
        </a:spcAft>
        <a:defRPr sz="4400">
          <a:solidFill>
            <a:schemeClr val="tx1"/>
          </a:solidFill>
          <a:latin typeface="Calibri" pitchFamily="34" charset="0"/>
          <a:ea typeface="宋体" pitchFamily="2" charset="-122"/>
        </a:defRPr>
      </a:lvl6pPr>
      <a:lvl7pPr marL="914400" algn="ctr" rtl="0" fontAlgn="base">
        <a:spcBef>
          <a:spcPct val="0"/>
        </a:spcBef>
        <a:spcAft>
          <a:spcPct val="0"/>
        </a:spcAft>
        <a:defRPr sz="4400">
          <a:solidFill>
            <a:schemeClr val="tx1"/>
          </a:solidFill>
          <a:latin typeface="Calibri" pitchFamily="34" charset="0"/>
          <a:ea typeface="宋体" pitchFamily="2" charset="-122"/>
        </a:defRPr>
      </a:lvl7pPr>
      <a:lvl8pPr marL="1371600" algn="ctr" rtl="0" fontAlgn="base">
        <a:spcBef>
          <a:spcPct val="0"/>
        </a:spcBef>
        <a:spcAft>
          <a:spcPct val="0"/>
        </a:spcAft>
        <a:defRPr sz="4400">
          <a:solidFill>
            <a:schemeClr val="tx1"/>
          </a:solidFill>
          <a:latin typeface="Calibri" pitchFamily="34" charset="0"/>
          <a:ea typeface="宋体" pitchFamily="2" charset="-122"/>
        </a:defRPr>
      </a:lvl8pPr>
      <a:lvl9pPr marL="1828800" algn="ctr" rtl="0" fontAlgn="base">
        <a:spcBef>
          <a:spcPct val="0"/>
        </a:spcBef>
        <a:spcAft>
          <a:spcPct val="0"/>
        </a:spcAft>
        <a:defRPr sz="4400">
          <a:solidFill>
            <a:schemeClr val="tx1"/>
          </a:solidFill>
          <a:latin typeface="Calibri" pitchFamily="34" charset="0"/>
          <a:ea typeface="宋体" pitchFamily="2" charset="-122"/>
        </a:defRPr>
      </a:lvl9pPr>
    </p:titleStyle>
    <p:body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3.xml.rels><?xml version="1.0" encoding="UTF-8" standalone="yes"?>
<Relationships xmlns="http://schemas.openxmlformats.org/package/2006/relationships"><Relationship Id="rId8" Type="http://schemas.openxmlformats.org/officeDocument/2006/relationships/notesSlide" Target="../notesSlides/notesSlide3.xml"/><Relationship Id="rId3" Type="http://schemas.microsoft.com/office/2007/relationships/media" Target="../media/media2.avi"/><Relationship Id="rId7"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video" Target="../media/media3.mp4"/><Relationship Id="rId11" Type="http://schemas.openxmlformats.org/officeDocument/2006/relationships/image" Target="../media/image16.png"/><Relationship Id="rId5" Type="http://schemas.microsoft.com/office/2007/relationships/media" Target="../media/media3.mp4"/><Relationship Id="rId10" Type="http://schemas.openxmlformats.org/officeDocument/2006/relationships/image" Target="../media/image15.png"/><Relationship Id="rId4" Type="http://schemas.openxmlformats.org/officeDocument/2006/relationships/video" Target="../media/media2.avi"/><Relationship Id="rId9" Type="http://schemas.openxmlformats.org/officeDocument/2006/relationships/image" Target="../media/image14.png"/></Relationships>
</file>

<file path=ppt/slides/_rels/slide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jpeg"/><Relationship Id="rId4" Type="http://schemas.openxmlformats.org/officeDocument/2006/relationships/image" Target="../media/image18.jpeg"/></Relationships>
</file>

<file path=ppt/slides/_rels/slide5.xml.rels><?xml version="1.0" encoding="UTF-8" standalone="yes"?>
<Relationships xmlns="http://schemas.openxmlformats.org/package/2006/relationships"><Relationship Id="rId8" Type="http://schemas.openxmlformats.org/officeDocument/2006/relationships/video" Target="../media/media7.mp4"/><Relationship Id="rId13" Type="http://schemas.openxmlformats.org/officeDocument/2006/relationships/image" Target="../media/image23.png"/><Relationship Id="rId3" Type="http://schemas.microsoft.com/office/2007/relationships/media" Target="../media/media5.mp4"/><Relationship Id="rId7" Type="http://schemas.microsoft.com/office/2007/relationships/media" Target="../media/media7.mp4"/><Relationship Id="rId12" Type="http://schemas.openxmlformats.org/officeDocument/2006/relationships/image" Target="../media/image22.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video" Target="../media/media6.mp4"/><Relationship Id="rId11" Type="http://schemas.openxmlformats.org/officeDocument/2006/relationships/image" Target="../media/image21.png"/><Relationship Id="rId5" Type="http://schemas.microsoft.com/office/2007/relationships/media" Target="../media/media6.mp4"/><Relationship Id="rId10" Type="http://schemas.openxmlformats.org/officeDocument/2006/relationships/notesSlide" Target="../notesSlides/notesSlide5.xml"/><Relationship Id="rId4" Type="http://schemas.openxmlformats.org/officeDocument/2006/relationships/video" Target="../media/media5.mp4"/><Relationship Id="rId9" Type="http://schemas.openxmlformats.org/officeDocument/2006/relationships/slideLayout" Target="../slideLayouts/slideLayout7.xml"/><Relationship Id="rId14" Type="http://schemas.openxmlformats.org/officeDocument/2006/relationships/image" Target="../media/image24.png"/></Relationships>
</file>

<file path=ppt/slides/_rels/slide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audio" Target="../media/audio3.wav"/><Relationship Id="rId4" Type="http://schemas.openxmlformats.org/officeDocument/2006/relationships/audio" Target="../media/audio2.wav"/></Relationships>
</file>

<file path=ppt/slides/_rels/slide7.xml.rels><?xml version="1.0" encoding="UTF-8" standalone="yes"?>
<Relationships xmlns="http://schemas.openxmlformats.org/package/2006/relationships"><Relationship Id="rId8" Type="http://schemas.openxmlformats.org/officeDocument/2006/relationships/image" Target="../media/image27.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26.wmf"/><Relationship Id="rId5" Type="http://schemas.openxmlformats.org/officeDocument/2006/relationships/oleObject" Target="../embeddings/oleObject2.bin"/><Relationship Id="rId10" Type="http://schemas.openxmlformats.org/officeDocument/2006/relationships/image" Target="../media/image28.wmf"/><Relationship Id="rId4" Type="http://schemas.openxmlformats.org/officeDocument/2006/relationships/image" Target="../media/image25.wmf"/><Relationship Id="rId9" Type="http://schemas.openxmlformats.org/officeDocument/2006/relationships/oleObject" Target="../embeddings/oleObject4.bin"/></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audio" Target="../media/audio3.wav"/><Relationship Id="rId7" Type="http://schemas.openxmlformats.org/officeDocument/2006/relationships/image" Target="../media/image32.wmf"/><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31.wmf"/><Relationship Id="rId5" Type="http://schemas.openxmlformats.org/officeDocument/2006/relationships/image" Target="../media/image30.wmf"/><Relationship Id="rId4" Type="http://schemas.openxmlformats.org/officeDocument/2006/relationships/image" Target="../media/image29.wmf"/></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34.wmf"/><Relationship Id="rId5" Type="http://schemas.openxmlformats.org/officeDocument/2006/relationships/oleObject" Target="../embeddings/oleObject6.bin"/><Relationship Id="rId4" Type="http://schemas.openxmlformats.org/officeDocument/2006/relationships/image" Target="../media/image33.wmf"/></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36.wmf"/><Relationship Id="rId5" Type="http://schemas.openxmlformats.org/officeDocument/2006/relationships/oleObject" Target="../embeddings/oleObject8.bin"/><Relationship Id="rId4" Type="http://schemas.openxmlformats.org/officeDocument/2006/relationships/image" Target="../media/image35.wmf"/></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8.AVI"/><Relationship Id="rId1" Type="http://schemas.microsoft.com/office/2007/relationships/media" Target="../media/media8.AVI"/><Relationship Id="rId5" Type="http://schemas.openxmlformats.org/officeDocument/2006/relationships/image" Target="../media/image37.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3" Type="http://schemas.openxmlformats.org/officeDocument/2006/relationships/audio" Target="../media/audio4.wav"/><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38.emf"/><Relationship Id="rId5" Type="http://schemas.openxmlformats.org/officeDocument/2006/relationships/oleObject" Target="../embeddings/oleObject9.bin"/><Relationship Id="rId4" Type="http://schemas.openxmlformats.org/officeDocument/2006/relationships/audio" Target="../media/audio3.wav"/></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39.wmf"/></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image" Target="../media/image41.wmf"/><Relationship Id="rId5" Type="http://schemas.openxmlformats.org/officeDocument/2006/relationships/oleObject" Target="../embeddings/oleObject12.bin"/><Relationship Id="rId4" Type="http://schemas.openxmlformats.org/officeDocument/2006/relationships/image" Target="../media/image40.wmf"/></Relationships>
</file>

<file path=ppt/slides/_rels/slide20.xml.rels><?xml version="1.0" encoding="UTF-8" standalone="yes"?>
<Relationships xmlns="http://schemas.openxmlformats.org/package/2006/relationships"><Relationship Id="rId8" Type="http://schemas.openxmlformats.org/officeDocument/2006/relationships/image" Target="../media/image44.wmf"/><Relationship Id="rId3" Type="http://schemas.openxmlformats.org/officeDocument/2006/relationships/oleObject" Target="../embeddings/oleObject13.bin"/><Relationship Id="rId7" Type="http://schemas.openxmlformats.org/officeDocument/2006/relationships/oleObject" Target="../embeddings/oleObject15.bin"/><Relationship Id="rId12" Type="http://schemas.openxmlformats.org/officeDocument/2006/relationships/image" Target="../media/image46.wmf"/><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image" Target="../media/image43.wmf"/><Relationship Id="rId11" Type="http://schemas.openxmlformats.org/officeDocument/2006/relationships/oleObject" Target="../embeddings/oleObject17.bin"/><Relationship Id="rId5" Type="http://schemas.openxmlformats.org/officeDocument/2006/relationships/oleObject" Target="../embeddings/oleObject14.bin"/><Relationship Id="rId10" Type="http://schemas.openxmlformats.org/officeDocument/2006/relationships/image" Target="../media/image45.wmf"/><Relationship Id="rId4" Type="http://schemas.openxmlformats.org/officeDocument/2006/relationships/image" Target="../media/image42.wmf"/><Relationship Id="rId9" Type="http://schemas.openxmlformats.org/officeDocument/2006/relationships/oleObject" Target="../embeddings/oleObject16.bin"/></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image" Target="../media/image47.wmf"/></Relationships>
</file>

<file path=ppt/slides/_rels/slide22.xml.rels><?xml version="1.0" encoding="UTF-8" standalone="yes"?>
<Relationships xmlns="http://schemas.openxmlformats.org/package/2006/relationships"><Relationship Id="rId8" Type="http://schemas.openxmlformats.org/officeDocument/2006/relationships/image" Target="../media/image50.wmf"/><Relationship Id="rId3" Type="http://schemas.openxmlformats.org/officeDocument/2006/relationships/oleObject" Target="../embeddings/oleObject19.bin"/><Relationship Id="rId7" Type="http://schemas.openxmlformats.org/officeDocument/2006/relationships/oleObject" Target="../embeddings/oleObject21.bin"/><Relationship Id="rId12" Type="http://schemas.openxmlformats.org/officeDocument/2006/relationships/image" Target="../media/image52.wmf"/><Relationship Id="rId2" Type="http://schemas.openxmlformats.org/officeDocument/2006/relationships/notesSlide" Target="../notesSlides/notesSlide22.xml"/><Relationship Id="rId1" Type="http://schemas.openxmlformats.org/officeDocument/2006/relationships/slideLayout" Target="../slideLayouts/slideLayout7.xml"/><Relationship Id="rId6" Type="http://schemas.openxmlformats.org/officeDocument/2006/relationships/image" Target="../media/image49.wmf"/><Relationship Id="rId11" Type="http://schemas.openxmlformats.org/officeDocument/2006/relationships/oleObject" Target="../embeddings/oleObject23.bin"/><Relationship Id="rId5" Type="http://schemas.openxmlformats.org/officeDocument/2006/relationships/oleObject" Target="../embeddings/oleObject20.bin"/><Relationship Id="rId10" Type="http://schemas.openxmlformats.org/officeDocument/2006/relationships/image" Target="../media/image51.wmf"/><Relationship Id="rId4" Type="http://schemas.openxmlformats.org/officeDocument/2006/relationships/image" Target="../media/image48.wmf"/><Relationship Id="rId9" Type="http://schemas.openxmlformats.org/officeDocument/2006/relationships/oleObject" Target="../embeddings/oleObject22.bin"/></Relationships>
</file>

<file path=ppt/slides/_rels/slide23.xml.rels><?xml version="1.0" encoding="UTF-8" standalone="yes"?>
<Relationships xmlns="http://schemas.openxmlformats.org/package/2006/relationships"><Relationship Id="rId8" Type="http://schemas.openxmlformats.org/officeDocument/2006/relationships/image" Target="../media/image55.wmf"/><Relationship Id="rId3" Type="http://schemas.openxmlformats.org/officeDocument/2006/relationships/oleObject" Target="../embeddings/oleObject24.bin"/><Relationship Id="rId7" Type="http://schemas.openxmlformats.org/officeDocument/2006/relationships/oleObject" Target="../embeddings/oleObject26.bin"/><Relationship Id="rId12" Type="http://schemas.openxmlformats.org/officeDocument/2006/relationships/image" Target="../media/image57.wmf"/><Relationship Id="rId2" Type="http://schemas.openxmlformats.org/officeDocument/2006/relationships/notesSlide" Target="../notesSlides/notesSlide23.xml"/><Relationship Id="rId1" Type="http://schemas.openxmlformats.org/officeDocument/2006/relationships/slideLayout" Target="../slideLayouts/slideLayout7.xml"/><Relationship Id="rId6" Type="http://schemas.openxmlformats.org/officeDocument/2006/relationships/image" Target="../media/image54.wmf"/><Relationship Id="rId11" Type="http://schemas.openxmlformats.org/officeDocument/2006/relationships/oleObject" Target="../embeddings/oleObject28.bin"/><Relationship Id="rId5" Type="http://schemas.openxmlformats.org/officeDocument/2006/relationships/oleObject" Target="../embeddings/oleObject25.bin"/><Relationship Id="rId10" Type="http://schemas.openxmlformats.org/officeDocument/2006/relationships/image" Target="../media/image56.wmf"/><Relationship Id="rId4" Type="http://schemas.openxmlformats.org/officeDocument/2006/relationships/image" Target="../media/image53.wmf"/><Relationship Id="rId9" Type="http://schemas.openxmlformats.org/officeDocument/2006/relationships/oleObject" Target="../embeddings/oleObject27.bin"/></Relationships>
</file>

<file path=ppt/slides/_rels/slide24.xml.rels><?xml version="1.0" encoding="UTF-8" standalone="yes"?>
<Relationships xmlns="http://schemas.openxmlformats.org/package/2006/relationships"><Relationship Id="rId8" Type="http://schemas.openxmlformats.org/officeDocument/2006/relationships/image" Target="../media/image59.wmf"/><Relationship Id="rId3" Type="http://schemas.openxmlformats.org/officeDocument/2006/relationships/audio" Target="../media/audio3.wav"/><Relationship Id="rId7" Type="http://schemas.openxmlformats.org/officeDocument/2006/relationships/oleObject" Target="../embeddings/oleObject30.bin"/><Relationship Id="rId2" Type="http://schemas.openxmlformats.org/officeDocument/2006/relationships/notesSlide" Target="../notesSlides/notesSlide24.xml"/><Relationship Id="rId1" Type="http://schemas.openxmlformats.org/officeDocument/2006/relationships/slideLayout" Target="../slideLayouts/slideLayout7.xml"/><Relationship Id="rId6" Type="http://schemas.openxmlformats.org/officeDocument/2006/relationships/image" Target="../media/image58.wmf"/><Relationship Id="rId5" Type="http://schemas.openxmlformats.org/officeDocument/2006/relationships/oleObject" Target="../embeddings/oleObject29.bin"/><Relationship Id="rId10" Type="http://schemas.openxmlformats.org/officeDocument/2006/relationships/image" Target="../media/image60.wmf"/><Relationship Id="rId4" Type="http://schemas.openxmlformats.org/officeDocument/2006/relationships/audio" Target="../media/audio2.wav"/><Relationship Id="rId9" Type="http://schemas.openxmlformats.org/officeDocument/2006/relationships/oleObject" Target="../embeddings/oleObject31.bin"/></Relationships>
</file>

<file path=ppt/slides/_rels/slide25.xml.rels><?xml version="1.0" encoding="UTF-8" standalone="yes"?>
<Relationships xmlns="http://schemas.openxmlformats.org/package/2006/relationships"><Relationship Id="rId8" Type="http://schemas.openxmlformats.org/officeDocument/2006/relationships/image" Target="../media/image63.wmf"/><Relationship Id="rId3" Type="http://schemas.openxmlformats.org/officeDocument/2006/relationships/oleObject" Target="../embeddings/oleObject32.bin"/><Relationship Id="rId7" Type="http://schemas.openxmlformats.org/officeDocument/2006/relationships/oleObject" Target="../embeddings/oleObject34.bin"/><Relationship Id="rId2" Type="http://schemas.openxmlformats.org/officeDocument/2006/relationships/notesSlide" Target="../notesSlides/notesSlide25.xml"/><Relationship Id="rId1" Type="http://schemas.openxmlformats.org/officeDocument/2006/relationships/slideLayout" Target="../slideLayouts/slideLayout7.xml"/><Relationship Id="rId6" Type="http://schemas.openxmlformats.org/officeDocument/2006/relationships/image" Target="../media/image62.wmf"/><Relationship Id="rId5" Type="http://schemas.openxmlformats.org/officeDocument/2006/relationships/oleObject" Target="../embeddings/oleObject33.bin"/><Relationship Id="rId10" Type="http://schemas.openxmlformats.org/officeDocument/2006/relationships/image" Target="../media/image64.wmf"/><Relationship Id="rId4" Type="http://schemas.openxmlformats.org/officeDocument/2006/relationships/image" Target="../media/image61.wmf"/><Relationship Id="rId9" Type="http://schemas.openxmlformats.org/officeDocument/2006/relationships/oleObject" Target="../embeddings/oleObject35.bin"/></Relationships>
</file>

<file path=ppt/slides/_rels/slide26.xml.rels><?xml version="1.0" encoding="UTF-8" standalone="yes"?>
<Relationships xmlns="http://schemas.openxmlformats.org/package/2006/relationships"><Relationship Id="rId8" Type="http://schemas.openxmlformats.org/officeDocument/2006/relationships/image" Target="../media/image67.wmf"/><Relationship Id="rId13" Type="http://schemas.openxmlformats.org/officeDocument/2006/relationships/oleObject" Target="../embeddings/oleObject41.bin"/><Relationship Id="rId18" Type="http://schemas.openxmlformats.org/officeDocument/2006/relationships/image" Target="../media/image72.wmf"/><Relationship Id="rId3" Type="http://schemas.openxmlformats.org/officeDocument/2006/relationships/oleObject" Target="../embeddings/oleObject36.bin"/><Relationship Id="rId21" Type="http://schemas.openxmlformats.org/officeDocument/2006/relationships/oleObject" Target="../embeddings/oleObject45.bin"/><Relationship Id="rId7" Type="http://schemas.openxmlformats.org/officeDocument/2006/relationships/oleObject" Target="../embeddings/oleObject38.bin"/><Relationship Id="rId12" Type="http://schemas.openxmlformats.org/officeDocument/2006/relationships/image" Target="../media/image69.wmf"/><Relationship Id="rId17" Type="http://schemas.openxmlformats.org/officeDocument/2006/relationships/oleObject" Target="../embeddings/oleObject43.bin"/><Relationship Id="rId2" Type="http://schemas.openxmlformats.org/officeDocument/2006/relationships/notesSlide" Target="../notesSlides/notesSlide26.xml"/><Relationship Id="rId16" Type="http://schemas.openxmlformats.org/officeDocument/2006/relationships/image" Target="../media/image71.emf"/><Relationship Id="rId20" Type="http://schemas.openxmlformats.org/officeDocument/2006/relationships/image" Target="../media/image73.emf"/><Relationship Id="rId1" Type="http://schemas.openxmlformats.org/officeDocument/2006/relationships/slideLayout" Target="../slideLayouts/slideLayout7.xml"/><Relationship Id="rId6" Type="http://schemas.openxmlformats.org/officeDocument/2006/relationships/image" Target="../media/image66.wmf"/><Relationship Id="rId11" Type="http://schemas.openxmlformats.org/officeDocument/2006/relationships/oleObject" Target="../embeddings/oleObject40.bin"/><Relationship Id="rId24" Type="http://schemas.openxmlformats.org/officeDocument/2006/relationships/image" Target="../media/image75.wmf"/><Relationship Id="rId5" Type="http://schemas.openxmlformats.org/officeDocument/2006/relationships/oleObject" Target="../embeddings/oleObject37.bin"/><Relationship Id="rId15" Type="http://schemas.openxmlformats.org/officeDocument/2006/relationships/oleObject" Target="../embeddings/oleObject42.bin"/><Relationship Id="rId23" Type="http://schemas.openxmlformats.org/officeDocument/2006/relationships/oleObject" Target="../embeddings/oleObject46.bin"/><Relationship Id="rId10" Type="http://schemas.openxmlformats.org/officeDocument/2006/relationships/image" Target="../media/image68.wmf"/><Relationship Id="rId19" Type="http://schemas.openxmlformats.org/officeDocument/2006/relationships/oleObject" Target="../embeddings/oleObject44.bin"/><Relationship Id="rId4" Type="http://schemas.openxmlformats.org/officeDocument/2006/relationships/image" Target="../media/image65.wmf"/><Relationship Id="rId9" Type="http://schemas.openxmlformats.org/officeDocument/2006/relationships/oleObject" Target="../embeddings/oleObject39.bin"/><Relationship Id="rId14" Type="http://schemas.openxmlformats.org/officeDocument/2006/relationships/image" Target="../media/image70.wmf"/><Relationship Id="rId22" Type="http://schemas.openxmlformats.org/officeDocument/2006/relationships/image" Target="../media/image74.wmf"/></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audio" Target="../media/audio4.wav"/><Relationship Id="rId7" Type="http://schemas.openxmlformats.org/officeDocument/2006/relationships/image" Target="../media/image77.wmf"/><Relationship Id="rId2" Type="http://schemas.openxmlformats.org/officeDocument/2006/relationships/notesSlide" Target="../notesSlides/notesSlide28.xml"/><Relationship Id="rId1" Type="http://schemas.openxmlformats.org/officeDocument/2006/relationships/slideLayout" Target="../slideLayouts/slideLayout7.xml"/><Relationship Id="rId6" Type="http://schemas.openxmlformats.org/officeDocument/2006/relationships/oleObject" Target="../embeddings/oleObject48.bin"/><Relationship Id="rId5" Type="http://schemas.openxmlformats.org/officeDocument/2006/relationships/image" Target="../media/image76.wmf"/><Relationship Id="rId4" Type="http://schemas.openxmlformats.org/officeDocument/2006/relationships/oleObject" Target="../embeddings/oleObject47.bin"/></Relationships>
</file>

<file path=ppt/slides/_rels/slide29.xml.rels><?xml version="1.0" encoding="UTF-8" standalone="yes"?>
<Relationships xmlns="http://schemas.openxmlformats.org/package/2006/relationships"><Relationship Id="rId8" Type="http://schemas.openxmlformats.org/officeDocument/2006/relationships/audio" Target="../media/audio6.wav"/><Relationship Id="rId13" Type="http://schemas.openxmlformats.org/officeDocument/2006/relationships/image" Target="../media/image78.png"/><Relationship Id="rId3" Type="http://schemas.openxmlformats.org/officeDocument/2006/relationships/video" Target="file:///F:\&#20020;&#26102;2\&#25289;&#20280;&#21464;&#24418;e.avi" TargetMode="External"/><Relationship Id="rId7" Type="http://schemas.openxmlformats.org/officeDocument/2006/relationships/audio" Target="../media/audio5.wav"/><Relationship Id="rId12" Type="http://schemas.openxmlformats.org/officeDocument/2006/relationships/audio" Target="../media/audio8.wav"/><Relationship Id="rId2" Type="http://schemas.openxmlformats.org/officeDocument/2006/relationships/video" Target="file:///L:\UU\U\&#24037;&#22823;&#30456;&#20851;\&#25945;&#23398;&#30456;&#20851;\&#24037;&#31243;&#21147;&#23398;&#65288;&#26426;&#22120;&#20154;&#65289;\&#24037;&#31243;&#21147;&#23398;&#35838;&#20214;PPT\&#24037;&#31243;&#21147;&#23398;(&#31532;4&#29256;)&#22810;&#23186;&#20307;&#35838;&#20214;(&#26032;)\&#25289;&#20280;&#21464;&#24418;.avi" TargetMode="External"/><Relationship Id="rId1" Type="http://schemas.microsoft.com/office/2007/relationships/media" Target="file:///L:\UU\U\&#24037;&#22823;&#30456;&#20851;\&#25945;&#23398;&#30456;&#20851;\&#24037;&#31243;&#21147;&#23398;&#65288;&#26426;&#22120;&#20154;&#65289;\&#24037;&#31243;&#21147;&#23398;&#35838;&#20214;PPT\&#24037;&#31243;&#21147;&#23398;(&#31532;4&#29256;)&#22810;&#23186;&#20307;&#35838;&#20214;(&#26032;)\&#25289;&#20280;&#21464;&#24418;.avi" TargetMode="External"/><Relationship Id="rId6" Type="http://schemas.openxmlformats.org/officeDocument/2006/relationships/audio" Target="../media/audio1.wav"/><Relationship Id="rId11" Type="http://schemas.openxmlformats.org/officeDocument/2006/relationships/audio" Target="../media/audio4.wav"/><Relationship Id="rId5" Type="http://schemas.openxmlformats.org/officeDocument/2006/relationships/notesSlide" Target="../notesSlides/notesSlide29.xml"/><Relationship Id="rId10" Type="http://schemas.openxmlformats.org/officeDocument/2006/relationships/audio" Target="../media/audio2.wav"/><Relationship Id="rId4" Type="http://schemas.openxmlformats.org/officeDocument/2006/relationships/slideLayout" Target="../slideLayouts/slideLayout7.xml"/><Relationship Id="rId9" Type="http://schemas.openxmlformats.org/officeDocument/2006/relationships/audio" Target="../media/audio7.wav"/><Relationship Id="rId14" Type="http://schemas.openxmlformats.org/officeDocument/2006/relationships/image" Target="../media/image79.png"/></Relationships>
</file>

<file path=ppt/slides/_rels/slide30.xml.rels><?xml version="1.0" encoding="UTF-8" standalone="yes"?>
<Relationships xmlns="http://schemas.openxmlformats.org/package/2006/relationships"><Relationship Id="rId3" Type="http://schemas.openxmlformats.org/officeDocument/2006/relationships/audio" Target="../media/audio6.wav"/><Relationship Id="rId2" Type="http://schemas.openxmlformats.org/officeDocument/2006/relationships/notesSlide" Target="../notesSlides/notesSlide30.xml"/><Relationship Id="rId1" Type="http://schemas.openxmlformats.org/officeDocument/2006/relationships/slideLayout" Target="../slideLayouts/slideLayout7.xml"/><Relationship Id="rId5" Type="http://schemas.openxmlformats.org/officeDocument/2006/relationships/image" Target="../media/image80.wmf"/><Relationship Id="rId4" Type="http://schemas.openxmlformats.org/officeDocument/2006/relationships/oleObject" Target="../embeddings/oleObject49.bin"/></Relationships>
</file>

<file path=ppt/slides/_rels/slide31.xml.rels><?xml version="1.0" encoding="UTF-8" standalone="yes"?>
<Relationships xmlns="http://schemas.openxmlformats.org/package/2006/relationships"><Relationship Id="rId3" Type="http://schemas.openxmlformats.org/officeDocument/2006/relationships/audio" Target="../media/audio6.wav"/><Relationship Id="rId2" Type="http://schemas.openxmlformats.org/officeDocument/2006/relationships/notesSlide" Target="../notesSlides/notesSlide31.xml"/><Relationship Id="rId1" Type="http://schemas.openxmlformats.org/officeDocument/2006/relationships/slideLayout" Target="../slideLayouts/slideLayout7.xml"/><Relationship Id="rId4" Type="http://schemas.openxmlformats.org/officeDocument/2006/relationships/image" Target="../media/image81.png"/></Relationships>
</file>

<file path=ppt/slides/_rels/slide32.xml.rels><?xml version="1.0" encoding="UTF-8" standalone="yes"?>
<Relationships xmlns="http://schemas.openxmlformats.org/package/2006/relationships"><Relationship Id="rId3" Type="http://schemas.openxmlformats.org/officeDocument/2006/relationships/audio" Target="../media/audio6.wav"/><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audio" Target="../media/audio6.wav"/><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8" Type="http://schemas.openxmlformats.org/officeDocument/2006/relationships/image" Target="../media/image83.wmf"/><Relationship Id="rId3" Type="http://schemas.openxmlformats.org/officeDocument/2006/relationships/audio" Target="../media/audio6.wav"/><Relationship Id="rId7" Type="http://schemas.openxmlformats.org/officeDocument/2006/relationships/oleObject" Target="../embeddings/oleObject51.bin"/><Relationship Id="rId2" Type="http://schemas.openxmlformats.org/officeDocument/2006/relationships/notesSlide" Target="../notesSlides/notesSlide34.xml"/><Relationship Id="rId1" Type="http://schemas.openxmlformats.org/officeDocument/2006/relationships/slideLayout" Target="../slideLayouts/slideLayout7.xml"/><Relationship Id="rId6" Type="http://schemas.openxmlformats.org/officeDocument/2006/relationships/image" Target="../media/image82.wmf"/><Relationship Id="rId5" Type="http://schemas.openxmlformats.org/officeDocument/2006/relationships/oleObject" Target="../embeddings/oleObject50.bin"/><Relationship Id="rId4" Type="http://schemas.openxmlformats.org/officeDocument/2006/relationships/audio" Target="../media/audio9.wav"/></Relationships>
</file>

<file path=ppt/slides/_rels/slide35.xml.rels><?xml version="1.0" encoding="UTF-8" standalone="yes"?>
<Relationships xmlns="http://schemas.openxmlformats.org/package/2006/relationships"><Relationship Id="rId3" Type="http://schemas.openxmlformats.org/officeDocument/2006/relationships/audio" Target="../media/audio6.wav"/><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7" Type="http://schemas.openxmlformats.org/officeDocument/2006/relationships/image" Target="../media/image79.png"/><Relationship Id="rId2" Type="http://schemas.openxmlformats.org/officeDocument/2006/relationships/slideLayout" Target="../slideLayouts/slideLayout7.xml"/><Relationship Id="rId1" Type="http://schemas.openxmlformats.org/officeDocument/2006/relationships/video" Target="file:///F:\&#20020;&#26102;2\&#25289;&#20280;&#21464;&#24418;e.avi" TargetMode="External"/><Relationship Id="rId6" Type="http://schemas.openxmlformats.org/officeDocument/2006/relationships/audio" Target="../media/audio7.wav"/><Relationship Id="rId5" Type="http://schemas.openxmlformats.org/officeDocument/2006/relationships/audio" Target="../media/audio10.wav"/><Relationship Id="rId4" Type="http://schemas.openxmlformats.org/officeDocument/2006/relationships/audio" Target="../media/audio6.wav"/></Relationships>
</file>

<file path=ppt/slides/_rels/slide37.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8" Type="http://schemas.openxmlformats.org/officeDocument/2006/relationships/image" Target="../media/image86.emf"/><Relationship Id="rId3" Type="http://schemas.openxmlformats.org/officeDocument/2006/relationships/oleObject" Target="../embeddings/oleObject52.bin"/><Relationship Id="rId7" Type="http://schemas.openxmlformats.org/officeDocument/2006/relationships/oleObject" Target="../embeddings/oleObject54.bin"/><Relationship Id="rId12" Type="http://schemas.openxmlformats.org/officeDocument/2006/relationships/image" Target="../media/image88.emf"/><Relationship Id="rId2" Type="http://schemas.openxmlformats.org/officeDocument/2006/relationships/notesSlide" Target="../notesSlides/notesSlide38.xml"/><Relationship Id="rId1" Type="http://schemas.openxmlformats.org/officeDocument/2006/relationships/slideLayout" Target="../slideLayouts/slideLayout7.xml"/><Relationship Id="rId6" Type="http://schemas.openxmlformats.org/officeDocument/2006/relationships/image" Target="../media/image85.emf"/><Relationship Id="rId11" Type="http://schemas.openxmlformats.org/officeDocument/2006/relationships/oleObject" Target="../embeddings/oleObject56.bin"/><Relationship Id="rId5" Type="http://schemas.openxmlformats.org/officeDocument/2006/relationships/oleObject" Target="../embeddings/oleObject53.bin"/><Relationship Id="rId10" Type="http://schemas.openxmlformats.org/officeDocument/2006/relationships/image" Target="../media/image87.emf"/><Relationship Id="rId4" Type="http://schemas.openxmlformats.org/officeDocument/2006/relationships/image" Target="../media/image84.emf"/><Relationship Id="rId9" Type="http://schemas.openxmlformats.org/officeDocument/2006/relationships/oleObject" Target="../embeddings/oleObject55.bin"/></Relationships>
</file>

<file path=ppt/slides/_rels/slide39.xml.rels><?xml version="1.0" encoding="UTF-8" standalone="yes"?>
<Relationships xmlns="http://schemas.openxmlformats.org/package/2006/relationships"><Relationship Id="rId8" Type="http://schemas.openxmlformats.org/officeDocument/2006/relationships/image" Target="../media/image89.png"/><Relationship Id="rId3" Type="http://schemas.openxmlformats.org/officeDocument/2006/relationships/slideLayout" Target="../slideLayouts/slideLayout7.xml"/><Relationship Id="rId7" Type="http://schemas.openxmlformats.org/officeDocument/2006/relationships/audio" Target="../media/audio4.wav"/><Relationship Id="rId2" Type="http://schemas.openxmlformats.org/officeDocument/2006/relationships/video" Target="file:///L:\UU\U\&#24037;&#22823;&#30456;&#20851;\&#25945;&#23398;&#30456;&#20851;\&#24037;&#31243;&#21147;&#23398;&#65288;&#26426;&#22120;&#20154;&#65289;\&#24037;&#31243;&#21147;&#23398;&#35838;&#20214;PPT\&#24037;&#31243;&#21147;&#23398;(&#31532;4&#29256;)&#22810;&#23186;&#20307;&#35838;&#20214;(&#26032;)\&#38136;&#38081;&#25289;&#20280;.avi" TargetMode="External"/><Relationship Id="rId1" Type="http://schemas.microsoft.com/office/2007/relationships/media" Target="file:///L:\UU\U\&#24037;&#22823;&#30456;&#20851;\&#25945;&#23398;&#30456;&#20851;\&#24037;&#31243;&#21147;&#23398;&#65288;&#26426;&#22120;&#20154;&#65289;\&#24037;&#31243;&#21147;&#23398;&#35838;&#20214;PPT\&#24037;&#31243;&#21147;&#23398;(&#31532;4&#29256;)&#22810;&#23186;&#20307;&#35838;&#20214;(&#26032;)\&#38136;&#38081;&#25289;&#20280;.avi" TargetMode="External"/><Relationship Id="rId6" Type="http://schemas.openxmlformats.org/officeDocument/2006/relationships/audio" Target="../media/audio2.wav"/><Relationship Id="rId5" Type="http://schemas.openxmlformats.org/officeDocument/2006/relationships/audio" Target="../media/audio5.wav"/><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40.xml"/><Relationship Id="rId1" Type="http://schemas.openxmlformats.org/officeDocument/2006/relationships/slideLayout" Target="../slideLayouts/slideLayout7.xml"/><Relationship Id="rId4" Type="http://schemas.openxmlformats.org/officeDocument/2006/relationships/audio" Target="../media/audio7.wav"/></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90.jpeg"/><Relationship Id="rId2" Type="http://schemas.openxmlformats.org/officeDocument/2006/relationships/notesSlide" Target="../notesSlides/notesSlide42.xml"/><Relationship Id="rId1" Type="http://schemas.openxmlformats.org/officeDocument/2006/relationships/slideLayout" Target="../slideLayouts/slideLayout7.xml"/><Relationship Id="rId4" Type="http://schemas.openxmlformats.org/officeDocument/2006/relationships/image" Target="../media/image91.jpeg"/></Relationships>
</file>

<file path=ppt/slides/_rels/slide43.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43.xml"/><Relationship Id="rId1" Type="http://schemas.openxmlformats.org/officeDocument/2006/relationships/slideLayout" Target="../slideLayouts/slideLayout7.xml"/><Relationship Id="rId5" Type="http://schemas.openxmlformats.org/officeDocument/2006/relationships/audio" Target="../media/audio10.wav"/><Relationship Id="rId4" Type="http://schemas.openxmlformats.org/officeDocument/2006/relationships/audio" Target="../media/audio4.wav"/></Relationships>
</file>

<file path=ppt/slides/_rels/slide44.xml.rels><?xml version="1.0" encoding="UTF-8" standalone="yes"?>
<Relationships xmlns="http://schemas.openxmlformats.org/package/2006/relationships"><Relationship Id="rId8" Type="http://schemas.openxmlformats.org/officeDocument/2006/relationships/audio" Target="../media/audio1.wav"/><Relationship Id="rId3" Type="http://schemas.openxmlformats.org/officeDocument/2006/relationships/audio" Target="../media/audio2.wav"/><Relationship Id="rId7" Type="http://schemas.openxmlformats.org/officeDocument/2006/relationships/audio" Target="../media/audio9.wav"/><Relationship Id="rId2" Type="http://schemas.openxmlformats.org/officeDocument/2006/relationships/notesSlide" Target="../notesSlides/notesSlide44.xml"/><Relationship Id="rId1" Type="http://schemas.openxmlformats.org/officeDocument/2006/relationships/slideLayout" Target="../slideLayouts/slideLayout7.xml"/><Relationship Id="rId6" Type="http://schemas.openxmlformats.org/officeDocument/2006/relationships/audio" Target="../media/audio5.wav"/><Relationship Id="rId5" Type="http://schemas.openxmlformats.org/officeDocument/2006/relationships/audio" Target="../media/audio10.wav"/><Relationship Id="rId4" Type="http://schemas.openxmlformats.org/officeDocument/2006/relationships/audio" Target="../media/audio4.wav"/></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57.bin"/><Relationship Id="rId2" Type="http://schemas.openxmlformats.org/officeDocument/2006/relationships/notesSlide" Target="../notesSlides/notesSlide45.xml"/><Relationship Id="rId1" Type="http://schemas.openxmlformats.org/officeDocument/2006/relationships/slideLayout" Target="../slideLayouts/slideLayout7.xml"/><Relationship Id="rId4" Type="http://schemas.openxmlformats.org/officeDocument/2006/relationships/image" Target="../media/image92.wmf"/></Relationships>
</file>

<file path=ppt/slides/_rels/slide46.xml.rels><?xml version="1.0" encoding="UTF-8" standalone="yes"?>
<Relationships xmlns="http://schemas.openxmlformats.org/package/2006/relationships"><Relationship Id="rId8" Type="http://schemas.openxmlformats.org/officeDocument/2006/relationships/image" Target="../media/image95.wmf"/><Relationship Id="rId3" Type="http://schemas.openxmlformats.org/officeDocument/2006/relationships/oleObject" Target="../embeddings/oleObject58.bin"/><Relationship Id="rId7" Type="http://schemas.openxmlformats.org/officeDocument/2006/relationships/oleObject" Target="../embeddings/oleObject60.bin"/><Relationship Id="rId2" Type="http://schemas.openxmlformats.org/officeDocument/2006/relationships/notesSlide" Target="../notesSlides/notesSlide46.xml"/><Relationship Id="rId1" Type="http://schemas.openxmlformats.org/officeDocument/2006/relationships/slideLayout" Target="../slideLayouts/slideLayout7.xml"/><Relationship Id="rId6" Type="http://schemas.openxmlformats.org/officeDocument/2006/relationships/image" Target="../media/image94.wmf"/><Relationship Id="rId5" Type="http://schemas.openxmlformats.org/officeDocument/2006/relationships/oleObject" Target="../embeddings/oleObject59.bin"/><Relationship Id="rId4" Type="http://schemas.openxmlformats.org/officeDocument/2006/relationships/image" Target="../media/image93.wmf"/></Relationships>
</file>

<file path=ppt/slides/_rels/slide47.xml.rels><?xml version="1.0" encoding="UTF-8" standalone="yes"?>
<Relationships xmlns="http://schemas.openxmlformats.org/package/2006/relationships"><Relationship Id="rId8" Type="http://schemas.openxmlformats.org/officeDocument/2006/relationships/oleObject" Target="../embeddings/oleObject63.bin"/><Relationship Id="rId3" Type="http://schemas.openxmlformats.org/officeDocument/2006/relationships/image" Target="../media/image96.png"/><Relationship Id="rId7" Type="http://schemas.openxmlformats.org/officeDocument/2006/relationships/image" Target="../media/image98.wmf"/><Relationship Id="rId2" Type="http://schemas.openxmlformats.org/officeDocument/2006/relationships/notesSlide" Target="../notesSlides/notesSlide47.xml"/><Relationship Id="rId1" Type="http://schemas.openxmlformats.org/officeDocument/2006/relationships/slideLayout" Target="../slideLayouts/slideLayout7.xml"/><Relationship Id="rId6" Type="http://schemas.openxmlformats.org/officeDocument/2006/relationships/oleObject" Target="../embeddings/oleObject62.bin"/><Relationship Id="rId5" Type="http://schemas.openxmlformats.org/officeDocument/2006/relationships/image" Target="../media/image97.wmf"/><Relationship Id="rId4" Type="http://schemas.openxmlformats.org/officeDocument/2006/relationships/oleObject" Target="../embeddings/oleObject61.bin"/><Relationship Id="rId9" Type="http://schemas.openxmlformats.org/officeDocument/2006/relationships/image" Target="../media/image99.wmf"/></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64.bin"/><Relationship Id="rId7" Type="http://schemas.openxmlformats.org/officeDocument/2006/relationships/image" Target="../media/image101.wmf"/><Relationship Id="rId2" Type="http://schemas.openxmlformats.org/officeDocument/2006/relationships/notesSlide" Target="../notesSlides/notesSlide48.xml"/><Relationship Id="rId1" Type="http://schemas.openxmlformats.org/officeDocument/2006/relationships/slideLayout" Target="../slideLayouts/slideLayout7.xml"/><Relationship Id="rId6" Type="http://schemas.openxmlformats.org/officeDocument/2006/relationships/oleObject" Target="../embeddings/oleObject65.bin"/><Relationship Id="rId5" Type="http://schemas.openxmlformats.org/officeDocument/2006/relationships/image" Target="../media/image96.png"/><Relationship Id="rId4" Type="http://schemas.openxmlformats.org/officeDocument/2006/relationships/image" Target="../media/image100.wmf"/></Relationships>
</file>

<file path=ppt/slides/_rels/slide49.xml.rels><?xml version="1.0" encoding="UTF-8" standalone="yes"?>
<Relationships xmlns="http://schemas.openxmlformats.org/package/2006/relationships"><Relationship Id="rId8" Type="http://schemas.openxmlformats.org/officeDocument/2006/relationships/oleObject" Target="../embeddings/oleObject67.bin"/><Relationship Id="rId13" Type="http://schemas.openxmlformats.org/officeDocument/2006/relationships/image" Target="../media/image107.wmf"/><Relationship Id="rId3" Type="http://schemas.openxmlformats.org/officeDocument/2006/relationships/audio" Target="../media/audio2.wav"/><Relationship Id="rId7" Type="http://schemas.openxmlformats.org/officeDocument/2006/relationships/image" Target="../media/image104.wmf"/><Relationship Id="rId12" Type="http://schemas.openxmlformats.org/officeDocument/2006/relationships/oleObject" Target="../embeddings/oleObject69.bin"/><Relationship Id="rId2" Type="http://schemas.openxmlformats.org/officeDocument/2006/relationships/notesSlide" Target="../notesSlides/notesSlide49.xml"/><Relationship Id="rId1" Type="http://schemas.openxmlformats.org/officeDocument/2006/relationships/slideLayout" Target="../slideLayouts/slideLayout7.xml"/><Relationship Id="rId6" Type="http://schemas.openxmlformats.org/officeDocument/2006/relationships/oleObject" Target="../embeddings/oleObject66.bin"/><Relationship Id="rId11" Type="http://schemas.openxmlformats.org/officeDocument/2006/relationships/image" Target="../media/image106.wmf"/><Relationship Id="rId5" Type="http://schemas.openxmlformats.org/officeDocument/2006/relationships/image" Target="../media/image103.jpeg"/><Relationship Id="rId15" Type="http://schemas.openxmlformats.org/officeDocument/2006/relationships/image" Target="../media/image108.wmf"/><Relationship Id="rId10" Type="http://schemas.openxmlformats.org/officeDocument/2006/relationships/oleObject" Target="../embeddings/oleObject68.bin"/><Relationship Id="rId4" Type="http://schemas.openxmlformats.org/officeDocument/2006/relationships/image" Target="../media/image102.jpeg"/><Relationship Id="rId9" Type="http://schemas.openxmlformats.org/officeDocument/2006/relationships/image" Target="../media/image105.wmf"/><Relationship Id="rId14" Type="http://schemas.openxmlformats.org/officeDocument/2006/relationships/oleObject" Target="../embeddings/oleObject70.bin"/></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audio" Target="../media/audio3.wav"/><Relationship Id="rId7" Type="http://schemas.openxmlformats.org/officeDocument/2006/relationships/image" Target="../media/image110.wmf"/><Relationship Id="rId2" Type="http://schemas.openxmlformats.org/officeDocument/2006/relationships/notesSlide" Target="../notesSlides/notesSlide51.xml"/><Relationship Id="rId1" Type="http://schemas.openxmlformats.org/officeDocument/2006/relationships/slideLayout" Target="../slideLayouts/slideLayout7.xml"/><Relationship Id="rId6" Type="http://schemas.openxmlformats.org/officeDocument/2006/relationships/oleObject" Target="../embeddings/oleObject72.bin"/><Relationship Id="rId5" Type="http://schemas.openxmlformats.org/officeDocument/2006/relationships/image" Target="../media/image109.wmf"/><Relationship Id="rId4" Type="http://schemas.openxmlformats.org/officeDocument/2006/relationships/oleObject" Target="../embeddings/oleObject71.bin"/></Relationships>
</file>

<file path=ppt/slides/_rels/slide52.xml.rels><?xml version="1.0" encoding="UTF-8" standalone="yes"?>
<Relationships xmlns="http://schemas.openxmlformats.org/package/2006/relationships"><Relationship Id="rId8" Type="http://schemas.openxmlformats.org/officeDocument/2006/relationships/oleObject" Target="../embeddings/oleObject75.bin"/><Relationship Id="rId3" Type="http://schemas.openxmlformats.org/officeDocument/2006/relationships/audio" Target="../media/audio3.wav"/><Relationship Id="rId7" Type="http://schemas.openxmlformats.org/officeDocument/2006/relationships/image" Target="../media/image112.wmf"/><Relationship Id="rId2" Type="http://schemas.openxmlformats.org/officeDocument/2006/relationships/notesSlide" Target="../notesSlides/notesSlide52.xml"/><Relationship Id="rId1" Type="http://schemas.openxmlformats.org/officeDocument/2006/relationships/slideLayout" Target="../slideLayouts/slideLayout7.xml"/><Relationship Id="rId6" Type="http://schemas.openxmlformats.org/officeDocument/2006/relationships/oleObject" Target="../embeddings/oleObject74.bin"/><Relationship Id="rId5" Type="http://schemas.openxmlformats.org/officeDocument/2006/relationships/image" Target="../media/image111.wmf"/><Relationship Id="rId4" Type="http://schemas.openxmlformats.org/officeDocument/2006/relationships/oleObject" Target="../embeddings/oleObject73.bin"/><Relationship Id="rId9" Type="http://schemas.openxmlformats.org/officeDocument/2006/relationships/image" Target="../media/image113.wmf"/></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114.png"/><Relationship Id="rId7" Type="http://schemas.openxmlformats.org/officeDocument/2006/relationships/image" Target="../media/image118.png"/><Relationship Id="rId2" Type="http://schemas.openxmlformats.org/officeDocument/2006/relationships/notesSlide" Target="../notesSlides/notesSlide56.xml"/><Relationship Id="rId1" Type="http://schemas.openxmlformats.org/officeDocument/2006/relationships/slideLayout" Target="../slideLayouts/slideLayout7.xml"/><Relationship Id="rId6" Type="http://schemas.openxmlformats.org/officeDocument/2006/relationships/image" Target="../media/image117.png"/><Relationship Id="rId5" Type="http://schemas.openxmlformats.org/officeDocument/2006/relationships/image" Target="../media/image116.png"/><Relationship Id="rId4" Type="http://schemas.openxmlformats.org/officeDocument/2006/relationships/image" Target="../media/image115.png"/></Relationships>
</file>

<file path=ppt/slides/_rels/slide57.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57.xml"/><Relationship Id="rId1" Type="http://schemas.openxmlformats.org/officeDocument/2006/relationships/slideLayout" Target="../slideLayouts/slideLayout7.xml"/><Relationship Id="rId5" Type="http://schemas.openxmlformats.org/officeDocument/2006/relationships/image" Target="../media/image119.gif"/><Relationship Id="rId4" Type="http://schemas.openxmlformats.org/officeDocument/2006/relationships/audio" Target="../media/audio11.wav"/></Relationships>
</file>

<file path=ppt/slides/_rels/slide58.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58.xml"/><Relationship Id="rId1" Type="http://schemas.openxmlformats.org/officeDocument/2006/relationships/slideLayout" Target="../slideLayouts/slideLayout7.xml"/><Relationship Id="rId4" Type="http://schemas.openxmlformats.org/officeDocument/2006/relationships/audio" Target="../media/audio6.wav"/></Relationships>
</file>

<file path=ppt/slides/_rels/slide59.xml.rels><?xml version="1.0" encoding="UTF-8" standalone="yes"?>
<Relationships xmlns="http://schemas.openxmlformats.org/package/2006/relationships"><Relationship Id="rId3" Type="http://schemas.openxmlformats.org/officeDocument/2006/relationships/oleObject" Target="../embeddings/oleObject76.bin"/><Relationship Id="rId2" Type="http://schemas.openxmlformats.org/officeDocument/2006/relationships/notesSlide" Target="../notesSlides/notesSlide59.xml"/><Relationship Id="rId1" Type="http://schemas.openxmlformats.org/officeDocument/2006/relationships/slideLayout" Target="../slideLayouts/slideLayout7.xml"/><Relationship Id="rId4" Type="http://schemas.openxmlformats.org/officeDocument/2006/relationships/image" Target="../media/image120.wmf"/></Relationships>
</file>

<file path=ppt/slides/_rels/slide60.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notesSlide" Target="../notesSlides/notesSlide60.xml"/><Relationship Id="rId1" Type="http://schemas.openxmlformats.org/officeDocument/2006/relationships/slideLayout" Target="../slideLayouts/slideLayout7.xml"/><Relationship Id="rId5" Type="http://schemas.openxmlformats.org/officeDocument/2006/relationships/image" Target="../media/image121.wmf"/><Relationship Id="rId4" Type="http://schemas.openxmlformats.org/officeDocument/2006/relationships/oleObject" Target="../embeddings/oleObject77.bin"/></Relationships>
</file>

<file path=ppt/slides/_rels/slide61.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61.xml"/><Relationship Id="rId1" Type="http://schemas.openxmlformats.org/officeDocument/2006/relationships/slideLayout" Target="../slideLayouts/slideLayout7.xml"/><Relationship Id="rId5" Type="http://schemas.openxmlformats.org/officeDocument/2006/relationships/image" Target="../media/image122.emf"/><Relationship Id="rId4" Type="http://schemas.openxmlformats.org/officeDocument/2006/relationships/oleObject" Target="../embeddings/oleObject78.bin"/></Relationships>
</file>

<file path=ppt/slides/_rels/slide62.xml.rels><?xml version="1.0" encoding="UTF-8" standalone="yes"?>
<Relationships xmlns="http://schemas.openxmlformats.org/package/2006/relationships"><Relationship Id="rId3" Type="http://schemas.openxmlformats.org/officeDocument/2006/relationships/oleObject" Target="../embeddings/oleObject79.bin"/><Relationship Id="rId2" Type="http://schemas.openxmlformats.org/officeDocument/2006/relationships/notesSlide" Target="../notesSlides/notesSlide62.xml"/><Relationship Id="rId1" Type="http://schemas.openxmlformats.org/officeDocument/2006/relationships/slideLayout" Target="../slideLayouts/slideLayout7.xml"/><Relationship Id="rId6" Type="http://schemas.openxmlformats.org/officeDocument/2006/relationships/image" Target="../media/image124.emf"/><Relationship Id="rId5" Type="http://schemas.openxmlformats.org/officeDocument/2006/relationships/oleObject" Target="../embeddings/oleObject80.bin"/><Relationship Id="rId4" Type="http://schemas.openxmlformats.org/officeDocument/2006/relationships/image" Target="../media/image123.wmf"/></Relationships>
</file>

<file path=ppt/slides/_rels/slide63.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notesSlide" Target="../notesSlides/notesSlide63.xml"/><Relationship Id="rId1" Type="http://schemas.openxmlformats.org/officeDocument/2006/relationships/slideLayout" Target="../slideLayouts/slideLayout7.xml"/><Relationship Id="rId5" Type="http://schemas.openxmlformats.org/officeDocument/2006/relationships/image" Target="../media/image125.wmf"/><Relationship Id="rId4" Type="http://schemas.openxmlformats.org/officeDocument/2006/relationships/oleObject" Target="../embeddings/oleObject81.bin"/></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1">
            <a:extLst>
              <a:ext uri="{FF2B5EF4-FFF2-40B4-BE49-F238E27FC236}">
                <a16:creationId xmlns:a16="http://schemas.microsoft.com/office/drawing/2014/main" id="{C1834BF7-FAF6-B26C-EE54-A28B03B153E9}"/>
              </a:ext>
            </a:extLst>
          </p:cNvPr>
          <p:cNvSpPr>
            <a:spLocks noChangeArrowheads="1"/>
          </p:cNvSpPr>
          <p:nvPr/>
        </p:nvSpPr>
        <p:spPr bwMode="auto">
          <a:xfrm>
            <a:off x="725141" y="1628800"/>
            <a:ext cx="10915476" cy="3682281"/>
          </a:xfrm>
          <a:prstGeom prst="rect">
            <a:avLst/>
          </a:prstGeom>
          <a:solidFill>
            <a:srgbClr val="B9CDE5"/>
          </a:solidFill>
          <a:ln>
            <a:noFill/>
          </a:ln>
          <a:effectLst/>
        </p:spPr>
        <p:txBody>
          <a:bodyPr wrap="none" anchor="ctr"/>
          <a:lstStyle/>
          <a:p>
            <a:endParaRPr lang="zh-CN" altLang="en-US"/>
          </a:p>
        </p:txBody>
      </p:sp>
      <p:sp>
        <p:nvSpPr>
          <p:cNvPr id="7" name="矩形 6"/>
          <p:cNvSpPr/>
          <p:nvPr/>
        </p:nvSpPr>
        <p:spPr>
          <a:xfrm>
            <a:off x="20960" y="91693"/>
            <a:ext cx="3877985"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材料力学的研究对象</a:t>
            </a:r>
          </a:p>
        </p:txBody>
      </p:sp>
      <p:sp>
        <p:nvSpPr>
          <p:cNvPr id="52" name="Text Box 1032"/>
          <p:cNvSpPr txBox="1">
            <a:spLocks noChangeArrowheads="1"/>
          </p:cNvSpPr>
          <p:nvPr/>
        </p:nvSpPr>
        <p:spPr bwMode="auto">
          <a:xfrm>
            <a:off x="969545" y="908620"/>
            <a:ext cx="10196755" cy="609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pPr>
            <a:r>
              <a:rPr lang="zh-CN" altLang="en-US" sz="2800" i="0" dirty="0">
                <a:solidFill>
                  <a:schemeClr val="accent6">
                    <a:lumMod val="75000"/>
                  </a:schemeClr>
                </a:solidFill>
                <a:latin typeface="微软雅黑" panose="020B0503020204020204" pitchFamily="34" charset="-122"/>
                <a:ea typeface="微软雅黑" panose="020B0503020204020204" pitchFamily="34" charset="-122"/>
              </a:rPr>
              <a:t>荷载作用下</a:t>
            </a:r>
            <a:r>
              <a:rPr lang="zh-CN" altLang="en-US" sz="2800" i="0" dirty="0">
                <a:solidFill>
                  <a:srgbClr val="FF0000"/>
                </a:solidFill>
                <a:latin typeface="微软雅黑" panose="020B0503020204020204" pitchFamily="34" charset="-122"/>
                <a:ea typeface="微软雅黑" panose="020B0503020204020204" pitchFamily="34" charset="-122"/>
              </a:rPr>
              <a:t>杆件</a:t>
            </a:r>
            <a:r>
              <a:rPr lang="zh-CN" altLang="en-US" sz="2800" i="0" dirty="0">
                <a:solidFill>
                  <a:srgbClr val="FF00FF"/>
                </a:solidFill>
                <a:latin typeface="微软雅黑" panose="020B0503020204020204" pitchFamily="34" charset="-122"/>
                <a:ea typeface="微软雅黑" panose="020B0503020204020204" pitchFamily="34" charset="-122"/>
              </a:rPr>
              <a:t>强度</a:t>
            </a:r>
            <a:r>
              <a:rPr lang="zh-CN" altLang="en-US" sz="2800" i="0" dirty="0">
                <a:solidFill>
                  <a:schemeClr val="accent6">
                    <a:lumMod val="75000"/>
                  </a:schemeClr>
                </a:solidFill>
                <a:latin typeface="微软雅黑" panose="020B0503020204020204" pitchFamily="34" charset="-122"/>
                <a:ea typeface="微软雅黑" panose="020B0503020204020204" pitchFamily="34" charset="-122"/>
              </a:rPr>
              <a:t>、</a:t>
            </a:r>
            <a:r>
              <a:rPr lang="zh-CN" altLang="en-US" sz="2800" i="0" dirty="0">
                <a:solidFill>
                  <a:srgbClr val="FF00FF"/>
                </a:solidFill>
                <a:latin typeface="微软雅黑" panose="020B0503020204020204" pitchFamily="34" charset="-122"/>
                <a:ea typeface="微软雅黑" panose="020B0503020204020204" pitchFamily="34" charset="-122"/>
              </a:rPr>
              <a:t>刚度</a:t>
            </a:r>
            <a:r>
              <a:rPr lang="zh-CN" altLang="en-US" sz="2800" i="0" dirty="0">
                <a:solidFill>
                  <a:schemeClr val="accent6">
                    <a:lumMod val="75000"/>
                  </a:schemeClr>
                </a:solidFill>
                <a:latin typeface="微软雅黑" panose="020B0503020204020204" pitchFamily="34" charset="-122"/>
                <a:ea typeface="微软雅黑" panose="020B0503020204020204" pitchFamily="34" charset="-122"/>
              </a:rPr>
              <a:t>以及</a:t>
            </a:r>
            <a:r>
              <a:rPr lang="zh-CN" altLang="en-US" sz="2800" i="0" dirty="0">
                <a:solidFill>
                  <a:srgbClr val="FF00FF"/>
                </a:solidFill>
                <a:latin typeface="微软雅黑" panose="020B0503020204020204" pitchFamily="34" charset="-122"/>
                <a:ea typeface="微软雅黑" panose="020B0503020204020204" pitchFamily="34" charset="-122"/>
              </a:rPr>
              <a:t>稳定性</a:t>
            </a:r>
            <a:r>
              <a:rPr lang="zh-CN" altLang="en-US" sz="2800" i="0" dirty="0">
                <a:solidFill>
                  <a:schemeClr val="accent6">
                    <a:lumMod val="75000"/>
                  </a:schemeClr>
                </a:solidFill>
                <a:latin typeface="微软雅黑" panose="020B0503020204020204" pitchFamily="34" charset="-122"/>
                <a:ea typeface="微软雅黑" panose="020B0503020204020204" pitchFamily="34" charset="-122"/>
              </a:rPr>
              <a:t>分析</a:t>
            </a:r>
            <a:endParaRPr lang="zh-CN" altLang="en-US" sz="2800" i="0" dirty="0">
              <a:latin typeface="微软雅黑" panose="020B0503020204020204" pitchFamily="34" charset="-122"/>
              <a:ea typeface="微软雅黑" panose="020B0503020204020204" pitchFamily="34" charset="-122"/>
            </a:endParaRPr>
          </a:p>
        </p:txBody>
      </p:sp>
      <p:sp>
        <p:nvSpPr>
          <p:cNvPr id="14" name="Text Box 1032"/>
          <p:cNvSpPr txBox="1">
            <a:spLocks noChangeArrowheads="1"/>
          </p:cNvSpPr>
          <p:nvPr/>
        </p:nvSpPr>
        <p:spPr bwMode="auto">
          <a:xfrm>
            <a:off x="2141471" y="3400870"/>
            <a:ext cx="913988" cy="565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pPr>
            <a:r>
              <a:rPr lang="zh-CN" altLang="en-US" sz="2800" i="0" dirty="0">
                <a:latin typeface="微软雅黑" panose="020B0503020204020204" pitchFamily="34" charset="-122"/>
                <a:ea typeface="微软雅黑" panose="020B0503020204020204" pitchFamily="34" charset="-122"/>
              </a:rPr>
              <a:t>板</a:t>
            </a:r>
            <a:endParaRPr lang="zh-CN" altLang="en-US" sz="2800" b="0" i="0" dirty="0">
              <a:latin typeface="+mj-lt"/>
              <a:ea typeface="微软雅黑" panose="020B0503020204020204" pitchFamily="34" charset="-122"/>
            </a:endParaRPr>
          </a:p>
        </p:txBody>
      </p:sp>
      <p:sp>
        <p:nvSpPr>
          <p:cNvPr id="8" name="AutoShape 7"/>
          <p:cNvSpPr>
            <a:spLocks noChangeArrowheads="1"/>
          </p:cNvSpPr>
          <p:nvPr/>
        </p:nvSpPr>
        <p:spPr bwMode="auto">
          <a:xfrm>
            <a:off x="1416522" y="2549549"/>
            <a:ext cx="2547937" cy="738188"/>
          </a:xfrm>
          <a:prstGeom prst="cube">
            <a:avLst>
              <a:gd name="adj" fmla="val 84088"/>
            </a:avLst>
          </a:prstGeom>
          <a:solidFill>
            <a:srgbClr val="00B0F0"/>
          </a:solidFill>
          <a:ln w="9525">
            <a:solidFill>
              <a:srgbClr val="B2B2B2"/>
            </a:solidFill>
            <a:miter lim="800000"/>
            <a:headEnd/>
            <a:tailEnd/>
          </a:ln>
          <a:effectLst/>
        </p:spPr>
        <p:txBody>
          <a:bodyPr wrap="none" anchor="ctr"/>
          <a:lstStyle/>
          <a:p>
            <a:endParaRPr lang="zh-CN" altLang="en-US"/>
          </a:p>
        </p:txBody>
      </p:sp>
      <p:sp>
        <p:nvSpPr>
          <p:cNvPr id="9" name="AutoShape 9"/>
          <p:cNvSpPr>
            <a:spLocks noChangeArrowheads="1"/>
          </p:cNvSpPr>
          <p:nvPr/>
        </p:nvSpPr>
        <p:spPr bwMode="auto">
          <a:xfrm flipV="1">
            <a:off x="8555831" y="2432237"/>
            <a:ext cx="1214438" cy="914400"/>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rgbClr val="FFCC99"/>
          </a:solidFill>
          <a:ln w="9525">
            <a:round/>
            <a:headEnd/>
            <a:tailEnd/>
          </a:ln>
          <a:effectLst/>
          <a:scene3d>
            <a:camera prst="legacyObliqueTopRight"/>
            <a:lightRig rig="legacyFlat3" dir="r"/>
          </a:scene3d>
          <a:sp3d extrusionH="1801800" prstMaterial="legacyPlastic">
            <a:bevelT w="13500" h="13500" prst="angle"/>
            <a:bevelB w="13500" h="13500" prst="angle"/>
            <a:extrusionClr>
              <a:srgbClr val="FFCC99"/>
            </a:extrusion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endParaRPr lang="zh-CN" altLang="en-US"/>
          </a:p>
        </p:txBody>
      </p:sp>
      <p:sp>
        <p:nvSpPr>
          <p:cNvPr id="10" name="AutoShape 8"/>
          <p:cNvSpPr>
            <a:spLocks noChangeArrowheads="1"/>
          </p:cNvSpPr>
          <p:nvPr/>
        </p:nvSpPr>
        <p:spPr bwMode="auto">
          <a:xfrm>
            <a:off x="4896347" y="3019601"/>
            <a:ext cx="2343150" cy="1428750"/>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0 60000 65536"/>
              <a:gd name="T9" fmla="*/ 0 60000 65536"/>
              <a:gd name="T10" fmla="*/ 0 60000 65536"/>
              <a:gd name="T11" fmla="*/ 0 60000 65536"/>
              <a:gd name="T12" fmla="*/ 297 w 21600"/>
              <a:gd name="T13" fmla="*/ 0 h 21600"/>
              <a:gd name="T14" fmla="*/ 21303 w 21600"/>
              <a:gd name="T15" fmla="*/ 8381 h 21600"/>
            </a:gdLst>
            <a:ahLst/>
            <a:cxnLst>
              <a:cxn ang="T8">
                <a:pos x="T0" y="T1"/>
              </a:cxn>
              <a:cxn ang="T9">
                <a:pos x="T2" y="T3"/>
              </a:cxn>
              <a:cxn ang="T10">
                <a:pos x="T4" y="T5"/>
              </a:cxn>
              <a:cxn ang="T11">
                <a:pos x="T6" y="T7"/>
              </a:cxn>
            </a:cxnLst>
            <a:rect l="T12" t="T13" r="T14" b="T15"/>
            <a:pathLst>
              <a:path w="21600" h="21600">
                <a:moveTo>
                  <a:pt x="1595" y="6000"/>
                </a:moveTo>
                <a:cubicBezTo>
                  <a:pt x="3383" y="2570"/>
                  <a:pt x="6931" y="418"/>
                  <a:pt x="10800" y="419"/>
                </a:cubicBezTo>
                <a:cubicBezTo>
                  <a:pt x="14668" y="419"/>
                  <a:pt x="18216" y="2570"/>
                  <a:pt x="20004" y="6000"/>
                </a:cubicBezTo>
                <a:lnTo>
                  <a:pt x="20376" y="5806"/>
                </a:lnTo>
                <a:cubicBezTo>
                  <a:pt x="18515" y="2237"/>
                  <a:pt x="14824" y="-1"/>
                  <a:pt x="10799" y="0"/>
                </a:cubicBezTo>
                <a:cubicBezTo>
                  <a:pt x="6775" y="0"/>
                  <a:pt x="3084" y="2237"/>
                  <a:pt x="1223" y="5806"/>
                </a:cubicBezTo>
                <a:lnTo>
                  <a:pt x="1595" y="6000"/>
                </a:lnTo>
                <a:close/>
              </a:path>
            </a:pathLst>
          </a:custGeom>
          <a:solidFill>
            <a:srgbClr val="993300"/>
          </a:solidFill>
          <a:ln w="38100">
            <a:solidFill>
              <a:schemeClr val="tx1"/>
            </a:solidFill>
            <a:round/>
            <a:headEnd/>
            <a:tailEnd/>
          </a:ln>
          <a:effectLst/>
          <a:scene3d>
            <a:camera prst="legacyObliqueTopRight">
              <a:rot lat="20999991" lon="20699991" rev="0"/>
            </a:camera>
            <a:lightRig rig="legacyFlat4" dir="b"/>
          </a:scene3d>
          <a:sp3d extrusionH="3630600" prstMaterial="legacyMetal">
            <a:bevelT w="13500" h="13500" prst="angle"/>
            <a:bevelB w="13500" h="13500" prst="angle"/>
            <a:extrusionClr>
              <a:srgbClr val="CCECFF"/>
            </a:extrusionClr>
          </a:sp3d>
        </p:spPr>
        <p:txBody>
          <a:bodyPr wrap="none" anchor="ctr">
            <a:flatTx/>
          </a:bodyPr>
          <a:lstStyle/>
          <a:p>
            <a:endParaRPr lang="zh-CN" altLang="en-US"/>
          </a:p>
        </p:txBody>
      </p:sp>
      <p:sp>
        <p:nvSpPr>
          <p:cNvPr id="11" name="AutoShape 10"/>
          <p:cNvSpPr>
            <a:spLocks noChangeArrowheads="1"/>
          </p:cNvSpPr>
          <p:nvPr/>
        </p:nvSpPr>
        <p:spPr bwMode="auto">
          <a:xfrm>
            <a:off x="8400256" y="4129077"/>
            <a:ext cx="311150" cy="406400"/>
          </a:xfrm>
          <a:custGeom>
            <a:avLst/>
            <a:gdLst>
              <a:gd name="T0" fmla="*/ 2147483647 w 21600"/>
              <a:gd name="T1" fmla="*/ 0 h 21600"/>
              <a:gd name="T2" fmla="*/ 1959099939 w 21600"/>
              <a:gd name="T3" fmla="*/ 2147483647 h 21600"/>
              <a:gd name="T4" fmla="*/ 0 w 21600"/>
              <a:gd name="T5" fmla="*/ 2147483647 h 21600"/>
              <a:gd name="T6" fmla="*/ 1959099939 w 21600"/>
              <a:gd name="T7" fmla="*/ 2147483647 h 21600"/>
              <a:gd name="T8" fmla="*/ 2147483647 w 21600"/>
              <a:gd name="T9" fmla="*/ 2147483647 h 21600"/>
              <a:gd name="T10" fmla="*/ 2147483647 w 21600"/>
              <a:gd name="T11" fmla="*/ 2147483647 h 21600"/>
              <a:gd name="T12" fmla="*/ 2147483647 w 21600"/>
              <a:gd name="T13" fmla="*/ 2147483647 h 21600"/>
              <a:gd name="T14" fmla="*/ 2147483647 w 21600"/>
              <a:gd name="T15" fmla="*/ 2147483647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chemeClr val="tx1"/>
          </a:solidFill>
          <a:ln w="9525">
            <a:round/>
            <a:headEnd/>
            <a:tailEnd/>
          </a:ln>
          <a:effectLst/>
          <a:scene3d>
            <a:camera prst="legacyPerspectiveFront">
              <a:rot lat="0" lon="16800000" rev="0"/>
            </a:camera>
            <a:lightRig rig="legacyHarsh2" dir="t"/>
          </a:scene3d>
          <a:sp3d extrusionH="4900600" prstMaterial="legacyPlastic">
            <a:bevelT w="13500" h="13500" prst="angle"/>
            <a:bevelB w="13500" h="13500" prst="angle"/>
            <a:extrusionClr>
              <a:srgbClr val="CCECFF"/>
            </a:extrusion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endParaRPr lang="zh-CN" altLang="en-US"/>
          </a:p>
        </p:txBody>
      </p:sp>
      <p:sp>
        <p:nvSpPr>
          <p:cNvPr id="12" name="Text Box 1032"/>
          <p:cNvSpPr txBox="1">
            <a:spLocks noChangeArrowheads="1"/>
          </p:cNvSpPr>
          <p:nvPr/>
        </p:nvSpPr>
        <p:spPr bwMode="auto">
          <a:xfrm>
            <a:off x="5725364" y="3400870"/>
            <a:ext cx="913988" cy="565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pPr>
            <a:r>
              <a:rPr lang="zh-CN" altLang="en-US" sz="2800" i="0" dirty="0">
                <a:latin typeface="微软雅黑" panose="020B0503020204020204" pitchFamily="34" charset="-122"/>
                <a:ea typeface="微软雅黑" panose="020B0503020204020204" pitchFamily="34" charset="-122"/>
              </a:rPr>
              <a:t>壳</a:t>
            </a:r>
          </a:p>
        </p:txBody>
      </p:sp>
      <p:sp>
        <p:nvSpPr>
          <p:cNvPr id="13" name="Text Box 1032"/>
          <p:cNvSpPr txBox="1">
            <a:spLocks noChangeArrowheads="1"/>
          </p:cNvSpPr>
          <p:nvPr/>
        </p:nvSpPr>
        <p:spPr bwMode="auto">
          <a:xfrm>
            <a:off x="8832304" y="3400870"/>
            <a:ext cx="913988" cy="565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pPr>
            <a:r>
              <a:rPr lang="zh-CN" altLang="en-US" sz="2800" i="0" dirty="0">
                <a:latin typeface="微软雅黑" panose="020B0503020204020204" pitchFamily="34" charset="-122"/>
                <a:ea typeface="微软雅黑" panose="020B0503020204020204" pitchFamily="34" charset="-122"/>
              </a:rPr>
              <a:t>块</a:t>
            </a:r>
            <a:endParaRPr lang="zh-CN" altLang="en-US" sz="2800" b="0" i="0" dirty="0">
              <a:latin typeface="+mj-lt"/>
              <a:ea typeface="微软雅黑" panose="020B0503020204020204" pitchFamily="34" charset="-122"/>
            </a:endParaRPr>
          </a:p>
        </p:txBody>
      </p:sp>
      <p:sp>
        <p:nvSpPr>
          <p:cNvPr id="15" name="Text Box 1032"/>
          <p:cNvSpPr txBox="1">
            <a:spLocks noChangeArrowheads="1"/>
          </p:cNvSpPr>
          <p:nvPr/>
        </p:nvSpPr>
        <p:spPr bwMode="auto">
          <a:xfrm>
            <a:off x="5725364" y="4535477"/>
            <a:ext cx="913988" cy="565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pPr>
            <a:r>
              <a:rPr lang="zh-CN" altLang="en-US" sz="2800" i="0" dirty="0">
                <a:latin typeface="微软雅黑" panose="020B0503020204020204" pitchFamily="34" charset="-122"/>
                <a:ea typeface="微软雅黑" panose="020B0503020204020204" pitchFamily="34" charset="-122"/>
              </a:rPr>
              <a:t>杆件</a:t>
            </a:r>
            <a:endParaRPr lang="zh-CN" altLang="en-US" sz="2800" b="0" i="0" dirty="0">
              <a:latin typeface="+mj-lt"/>
              <a:ea typeface="微软雅黑" panose="020B0503020204020204" pitchFamily="34" charset="-122"/>
            </a:endParaRPr>
          </a:p>
        </p:txBody>
      </p:sp>
      <p:sp>
        <p:nvSpPr>
          <p:cNvPr id="16" name="Text Box 1032"/>
          <p:cNvSpPr txBox="1">
            <a:spLocks noChangeArrowheads="1"/>
          </p:cNvSpPr>
          <p:nvPr/>
        </p:nvSpPr>
        <p:spPr bwMode="auto">
          <a:xfrm>
            <a:off x="969545" y="5542215"/>
            <a:ext cx="10196755" cy="609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pPr>
            <a:r>
              <a:rPr lang="zh-CN" altLang="en-US" sz="2800" i="0" dirty="0">
                <a:latin typeface="微软雅黑" panose="020B0503020204020204" pitchFamily="34" charset="-122"/>
                <a:ea typeface="微软雅黑" panose="020B0503020204020204" pitchFamily="34" charset="-122"/>
              </a:rPr>
              <a:t>长度远大与其他两个方面尺寸的构件称之为</a:t>
            </a:r>
            <a:r>
              <a:rPr lang="zh-CN" altLang="en-US" sz="2800" i="0" dirty="0">
                <a:solidFill>
                  <a:srgbClr val="FF0000"/>
                </a:solidFill>
                <a:latin typeface="微软雅黑" panose="020B0503020204020204" pitchFamily="34" charset="-122"/>
                <a:ea typeface="微软雅黑" panose="020B0503020204020204" pitchFamily="34" charset="-122"/>
              </a:rPr>
              <a:t>杆件</a:t>
            </a:r>
            <a:r>
              <a:rPr lang="zh-CN" altLang="en-US" sz="2800" i="0" dirty="0">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3301270983"/>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499"/>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2" grpId="0" autoUpdateAnimBg="0"/>
      <p:bldP spid="14" grpId="0"/>
      <p:bldP spid="8" grpId="0" animBg="1"/>
      <p:bldP spid="9" grpId="0" animBg="1"/>
      <p:bldP spid="10" grpId="0" animBg="1"/>
      <p:bldP spid="11" grpId="0" animBg="1"/>
      <p:bldP spid="12" grpId="0"/>
      <p:bldP spid="13" grpId="0"/>
      <p:bldP spid="15" grpId="0"/>
      <p:bldP spid="16" grpId="0" autoUpdateAnimBg="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77985"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材料力学的研究对象</a:t>
            </a:r>
          </a:p>
        </p:txBody>
      </p:sp>
      <p:sp>
        <p:nvSpPr>
          <p:cNvPr id="17" name="Rectangle 2"/>
          <p:cNvSpPr>
            <a:spLocks noChangeArrowheads="1"/>
          </p:cNvSpPr>
          <p:nvPr/>
        </p:nvSpPr>
        <p:spPr bwMode="auto">
          <a:xfrm>
            <a:off x="1541487" y="2043907"/>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pic>
        <p:nvPicPr>
          <p:cNvPr id="18" name="Picture 18"/>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37475" y="5260182"/>
            <a:ext cx="18542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矩形 3"/>
          <p:cNvSpPr>
            <a:spLocks noChangeArrowheads="1"/>
          </p:cNvSpPr>
          <p:nvPr/>
        </p:nvSpPr>
        <p:spPr bwMode="auto">
          <a:xfrm>
            <a:off x="4992712" y="5795169"/>
            <a:ext cx="249299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buFontTx/>
              <a:buNone/>
            </a:pPr>
            <a:r>
              <a:rPr lang="zh-CN" altLang="en-US" sz="2000" i="0" dirty="0">
                <a:solidFill>
                  <a:schemeClr val="tx1"/>
                </a:solidFill>
                <a:latin typeface="微软雅黑" panose="020B0503020204020204" pitchFamily="34" charset="-122"/>
                <a:ea typeface="微软雅黑" panose="020B0503020204020204" pitchFamily="34" charset="-122"/>
              </a:rPr>
              <a:t>内燃叉车结构示意图</a:t>
            </a:r>
          </a:p>
        </p:txBody>
      </p:sp>
      <p:pic>
        <p:nvPicPr>
          <p:cNvPr id="20"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59025" y="1124744"/>
            <a:ext cx="2668587" cy="185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13237" y="2220119"/>
            <a:ext cx="3786188" cy="3575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 name="Picture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83250" y="954882"/>
            <a:ext cx="2143125" cy="1409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 name="Picture 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47850" y="3401219"/>
            <a:ext cx="2500312" cy="174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4" name="直接连接符 23"/>
          <p:cNvCxnSpPr/>
          <p:nvPr/>
        </p:nvCxnSpPr>
        <p:spPr>
          <a:xfrm>
            <a:off x="3903687" y="2715419"/>
            <a:ext cx="923925" cy="1147763"/>
          </a:xfrm>
          <a:prstGeom prst="line">
            <a:avLst/>
          </a:prstGeom>
        </p:spPr>
        <p:style>
          <a:lnRef idx="1">
            <a:schemeClr val="dk1"/>
          </a:lnRef>
          <a:fillRef idx="0">
            <a:schemeClr val="dk1"/>
          </a:fillRef>
          <a:effectRef idx="0">
            <a:schemeClr val="dk1"/>
          </a:effectRef>
          <a:fontRef idx="minor">
            <a:schemeClr val="tx1"/>
          </a:fontRef>
        </p:style>
      </p:cxnSp>
      <p:cxnSp>
        <p:nvCxnSpPr>
          <p:cNvPr id="25" name="直接连接符 24"/>
          <p:cNvCxnSpPr/>
          <p:nvPr/>
        </p:nvCxnSpPr>
        <p:spPr>
          <a:xfrm>
            <a:off x="3684612" y="4506119"/>
            <a:ext cx="1000125" cy="285750"/>
          </a:xfrm>
          <a:prstGeom prst="line">
            <a:avLst/>
          </a:prstGeom>
        </p:spPr>
        <p:style>
          <a:lnRef idx="1">
            <a:schemeClr val="dk1"/>
          </a:lnRef>
          <a:fillRef idx="0">
            <a:schemeClr val="dk1"/>
          </a:fillRef>
          <a:effectRef idx="0">
            <a:schemeClr val="dk1"/>
          </a:effectRef>
          <a:fontRef idx="minor">
            <a:schemeClr val="tx1"/>
          </a:fontRef>
        </p:style>
      </p:cxnSp>
      <p:pic>
        <p:nvPicPr>
          <p:cNvPr id="26" name="Picture 1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037537" y="983457"/>
            <a:ext cx="2381250" cy="200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7" name="直接连接符 26"/>
          <p:cNvCxnSpPr/>
          <p:nvPr/>
        </p:nvCxnSpPr>
        <p:spPr>
          <a:xfrm flipV="1">
            <a:off x="6756425" y="2648744"/>
            <a:ext cx="1714500" cy="642938"/>
          </a:xfrm>
          <a:prstGeom prst="line">
            <a:avLst/>
          </a:prstGeom>
        </p:spPr>
        <p:style>
          <a:lnRef idx="1">
            <a:schemeClr val="dk1"/>
          </a:lnRef>
          <a:fillRef idx="0">
            <a:schemeClr val="dk1"/>
          </a:fillRef>
          <a:effectRef idx="0">
            <a:schemeClr val="dk1"/>
          </a:effectRef>
          <a:fontRef idx="minor">
            <a:schemeClr val="tx1"/>
          </a:fontRef>
        </p:style>
      </p:cxnSp>
      <p:sp>
        <p:nvSpPr>
          <p:cNvPr id="28" name="矩形 3"/>
          <p:cNvSpPr>
            <a:spLocks noChangeArrowheads="1"/>
          </p:cNvSpPr>
          <p:nvPr/>
        </p:nvSpPr>
        <p:spPr bwMode="auto">
          <a:xfrm>
            <a:off x="8513787" y="2986882"/>
            <a:ext cx="126188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buFontTx/>
              <a:buNone/>
            </a:pPr>
            <a:r>
              <a:rPr lang="zh-CN" altLang="en-US" sz="1400" i="0" dirty="0">
                <a:solidFill>
                  <a:schemeClr val="tx1"/>
                </a:solidFill>
                <a:latin typeface="微软雅黑" panose="020B0503020204020204" pitchFamily="34" charset="-122"/>
                <a:ea typeface="微软雅黑" panose="020B0503020204020204" pitchFamily="34" charset="-122"/>
              </a:rPr>
              <a:t>悬浮式护顶架</a:t>
            </a:r>
          </a:p>
        </p:txBody>
      </p:sp>
      <p:sp>
        <p:nvSpPr>
          <p:cNvPr id="29" name="矩形 3"/>
          <p:cNvSpPr>
            <a:spLocks noChangeArrowheads="1"/>
          </p:cNvSpPr>
          <p:nvPr/>
        </p:nvSpPr>
        <p:spPr bwMode="auto">
          <a:xfrm>
            <a:off x="2646387" y="2724944"/>
            <a:ext cx="5429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buFontTx/>
              <a:buNone/>
            </a:pPr>
            <a:r>
              <a:rPr lang="zh-CN" altLang="en-US" sz="1400" i="0" dirty="0">
                <a:solidFill>
                  <a:schemeClr val="tx1"/>
                </a:solidFill>
                <a:latin typeface="微软雅黑" panose="020B0503020204020204" pitchFamily="34" charset="-122"/>
                <a:ea typeface="微软雅黑" panose="020B0503020204020204" pitchFamily="34" charset="-122"/>
              </a:rPr>
              <a:t>货叉</a:t>
            </a:r>
          </a:p>
        </p:txBody>
      </p:sp>
      <p:sp>
        <p:nvSpPr>
          <p:cNvPr id="30" name="矩形 3"/>
          <p:cNvSpPr>
            <a:spLocks noChangeArrowheads="1"/>
          </p:cNvSpPr>
          <p:nvPr/>
        </p:nvSpPr>
        <p:spPr bwMode="auto">
          <a:xfrm>
            <a:off x="2468587" y="5534819"/>
            <a:ext cx="8572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buFontTx/>
              <a:buNone/>
            </a:pPr>
            <a:r>
              <a:rPr lang="zh-CN" altLang="en-US" sz="1400" i="0" dirty="0">
                <a:solidFill>
                  <a:schemeClr val="tx1"/>
                </a:solidFill>
                <a:latin typeface="微软雅黑" panose="020B0503020204020204" pitchFamily="34" charset="-122"/>
                <a:ea typeface="微软雅黑" panose="020B0503020204020204" pitchFamily="34" charset="-122"/>
              </a:rPr>
              <a:t>方向盘</a:t>
            </a:r>
          </a:p>
        </p:txBody>
      </p:sp>
      <p:sp>
        <p:nvSpPr>
          <p:cNvPr id="31" name="矩形 3"/>
          <p:cNvSpPr>
            <a:spLocks noChangeArrowheads="1"/>
          </p:cNvSpPr>
          <p:nvPr/>
        </p:nvSpPr>
        <p:spPr bwMode="auto">
          <a:xfrm>
            <a:off x="8470925" y="5839619"/>
            <a:ext cx="114776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buFontTx/>
              <a:buNone/>
            </a:pPr>
            <a:r>
              <a:rPr lang="zh-CN" altLang="en-US" sz="1400" i="0" dirty="0">
                <a:solidFill>
                  <a:schemeClr val="tx1"/>
                </a:solidFill>
                <a:latin typeface="微软雅黑" panose="020B0503020204020204" pitchFamily="34" charset="-122"/>
                <a:ea typeface="微软雅黑" panose="020B0503020204020204" pitchFamily="34" charset="-122"/>
              </a:rPr>
              <a:t>车轮轴</a:t>
            </a:r>
          </a:p>
        </p:txBody>
      </p:sp>
      <p:sp>
        <p:nvSpPr>
          <p:cNvPr id="32" name="矩形 3"/>
          <p:cNvSpPr>
            <a:spLocks noChangeArrowheads="1"/>
          </p:cNvSpPr>
          <p:nvPr/>
        </p:nvSpPr>
        <p:spPr bwMode="auto">
          <a:xfrm>
            <a:off x="6189687" y="1191419"/>
            <a:ext cx="121443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buFontTx/>
              <a:buNone/>
            </a:pPr>
            <a:r>
              <a:rPr lang="zh-CN" altLang="en-US" sz="1400" i="0" dirty="0">
                <a:solidFill>
                  <a:schemeClr val="tx1"/>
                </a:solidFill>
                <a:latin typeface="微软雅黑" panose="020B0503020204020204" pitchFamily="34" charset="-122"/>
                <a:ea typeface="微软雅黑" panose="020B0503020204020204" pitchFamily="34" charset="-122"/>
              </a:rPr>
              <a:t>举升油缸</a:t>
            </a:r>
          </a:p>
        </p:txBody>
      </p:sp>
      <p:cxnSp>
        <p:nvCxnSpPr>
          <p:cNvPr id="33" name="直接连接符 32"/>
          <p:cNvCxnSpPr/>
          <p:nvPr/>
        </p:nvCxnSpPr>
        <p:spPr>
          <a:xfrm flipV="1">
            <a:off x="6113487" y="1659732"/>
            <a:ext cx="130175" cy="846137"/>
          </a:xfrm>
          <a:prstGeom prst="line">
            <a:avLst/>
          </a:prstGeom>
        </p:spPr>
        <p:style>
          <a:lnRef idx="1">
            <a:schemeClr val="dk1"/>
          </a:lnRef>
          <a:fillRef idx="0">
            <a:schemeClr val="dk1"/>
          </a:fillRef>
          <a:effectRef idx="0">
            <a:schemeClr val="dk1"/>
          </a:effectRef>
          <a:fontRef idx="minor">
            <a:schemeClr val="tx1"/>
          </a:fontRef>
        </p:style>
      </p:cxnSp>
      <p:sp>
        <p:nvSpPr>
          <p:cNvPr id="34" name="矩形 3"/>
          <p:cNvSpPr>
            <a:spLocks noChangeArrowheads="1"/>
          </p:cNvSpPr>
          <p:nvPr/>
        </p:nvSpPr>
        <p:spPr bwMode="auto">
          <a:xfrm>
            <a:off x="2227287" y="4577557"/>
            <a:ext cx="16430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buFontTx/>
              <a:buNone/>
            </a:pPr>
            <a:r>
              <a:rPr lang="zh-CN" altLang="en-US" sz="1400" i="0" dirty="0">
                <a:solidFill>
                  <a:schemeClr val="tx1"/>
                </a:solidFill>
                <a:latin typeface="微软雅黑" panose="020B0503020204020204" pitchFamily="34" charset="-122"/>
                <a:ea typeface="微软雅黑" panose="020B0503020204020204" pitchFamily="34" charset="-122"/>
              </a:rPr>
              <a:t>从动轮</a:t>
            </a:r>
          </a:p>
        </p:txBody>
      </p:sp>
      <p:pic>
        <p:nvPicPr>
          <p:cNvPr id="35" name="Picture 20"/>
          <p:cNvPicPr>
            <a:picLocks noChangeAspect="1" noChangeArrowheads="1"/>
          </p:cNvPicPr>
          <p:nvPr/>
        </p:nvPicPr>
        <p:blipFill>
          <a:blip r:embed="rId9" cstate="print">
            <a:extLst>
              <a:ext uri="{28A0092B-C50C-407E-A947-70E740481C1C}">
                <a14:useLocalDpi xmlns:a14="http://schemas.microsoft.com/office/drawing/2010/main" val="0"/>
              </a:ext>
            </a:extLst>
          </a:blip>
          <a:srcRect l="15356"/>
          <a:stretch>
            <a:fillRect/>
          </a:stretch>
        </p:blipFill>
        <p:spPr bwMode="auto">
          <a:xfrm>
            <a:off x="8904312" y="3815557"/>
            <a:ext cx="1428750"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 name="矩形 3"/>
          <p:cNvSpPr>
            <a:spLocks noChangeArrowheads="1"/>
          </p:cNvSpPr>
          <p:nvPr/>
        </p:nvSpPr>
        <p:spPr bwMode="auto">
          <a:xfrm>
            <a:off x="8424887" y="5004594"/>
            <a:ext cx="16430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buFontTx/>
              <a:buNone/>
            </a:pPr>
            <a:r>
              <a:rPr lang="zh-CN" altLang="en-US" sz="1400" i="0" dirty="0">
                <a:solidFill>
                  <a:schemeClr val="tx1"/>
                </a:solidFill>
                <a:latin typeface="微软雅黑" panose="020B0503020204020204" pitchFamily="34" charset="-122"/>
                <a:ea typeface="微软雅黑" panose="020B0503020204020204" pitchFamily="34" charset="-122"/>
              </a:rPr>
              <a:t>局部螺栓连接</a:t>
            </a:r>
          </a:p>
        </p:txBody>
      </p:sp>
      <p:pic>
        <p:nvPicPr>
          <p:cNvPr id="37" name="Picture 21"/>
          <p:cNvPicPr>
            <a:picLocks noChangeAspect="1" noChangeArrowheads="1"/>
          </p:cNvPicPr>
          <p:nvPr/>
        </p:nvPicPr>
        <p:blipFill>
          <a:blip r:embed="rId10">
            <a:extLst>
              <a:ext uri="{28A0092B-C50C-407E-A947-70E740481C1C}">
                <a14:useLocalDpi xmlns:a14="http://schemas.microsoft.com/office/drawing/2010/main" val="0"/>
              </a:ext>
            </a:extLst>
          </a:blip>
          <a:srcRect l="9572" t="6609" r="32997"/>
          <a:stretch>
            <a:fillRect/>
          </a:stretch>
        </p:blipFill>
        <p:spPr bwMode="auto">
          <a:xfrm>
            <a:off x="7975625" y="3282157"/>
            <a:ext cx="857250" cy="100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 name="Picture 22"/>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7975625" y="4353719"/>
            <a:ext cx="857250" cy="65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 name="Line 26"/>
          <p:cNvSpPr>
            <a:spLocks noChangeShapeType="1"/>
          </p:cNvSpPr>
          <p:nvPr/>
        </p:nvSpPr>
        <p:spPr bwMode="auto">
          <a:xfrm>
            <a:off x="7050112" y="5447507"/>
            <a:ext cx="1354138" cy="2397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pic>
        <p:nvPicPr>
          <p:cNvPr id="40" name="Picture 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132162" y="4815682"/>
            <a:ext cx="1476375" cy="1285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41" name="直接连接符 40"/>
          <p:cNvCxnSpPr/>
          <p:nvPr/>
        </p:nvCxnSpPr>
        <p:spPr>
          <a:xfrm flipH="1">
            <a:off x="4148162" y="3791744"/>
            <a:ext cx="1536700" cy="158115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482700912"/>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blinds(horizontal)">
                                      <p:cBhvr>
                                        <p:cTn id="7" dur="500"/>
                                        <p:tgtEl>
                                          <p:spTgt spid="19"/>
                                        </p:tgtEl>
                                      </p:cBhvr>
                                    </p:animEffect>
                                  </p:childTnLst>
                                </p:cTn>
                              </p:par>
                              <p:par>
                                <p:cTn id="8" presetID="3" presetClass="entr" presetSubtype="10" fill="hold"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blinds(horizontal)">
                                      <p:cBhvr>
                                        <p:cTn id="10" dur="5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anim calcmode="lin" valueType="num">
                                      <p:cBhvr additive="base">
                                        <p:cTn id="15" dur="500" fill="hold"/>
                                        <p:tgtEl>
                                          <p:spTgt spid="22"/>
                                        </p:tgtEl>
                                        <p:attrNameLst>
                                          <p:attrName>ppt_x</p:attrName>
                                        </p:attrNameLst>
                                      </p:cBhvr>
                                      <p:tavLst>
                                        <p:tav tm="0">
                                          <p:val>
                                            <p:strVal val="#ppt_x"/>
                                          </p:val>
                                        </p:tav>
                                        <p:tav tm="100000">
                                          <p:val>
                                            <p:strVal val="#ppt_x"/>
                                          </p:val>
                                        </p:tav>
                                      </p:tavLst>
                                    </p:anim>
                                    <p:anim calcmode="lin" valueType="num">
                                      <p:cBhvr additive="base">
                                        <p:cTn id="16" dur="500" fill="hold"/>
                                        <p:tgtEl>
                                          <p:spTgt spid="22"/>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3"/>
                                        </p:tgtEl>
                                        <p:attrNameLst>
                                          <p:attrName>style.visibility</p:attrName>
                                        </p:attrNameLst>
                                      </p:cBhvr>
                                      <p:to>
                                        <p:strVal val="visible"/>
                                      </p:to>
                                    </p:set>
                                    <p:anim calcmode="lin" valueType="num">
                                      <p:cBhvr additive="base">
                                        <p:cTn id="19" dur="500" fill="hold"/>
                                        <p:tgtEl>
                                          <p:spTgt spid="33"/>
                                        </p:tgtEl>
                                        <p:attrNameLst>
                                          <p:attrName>ppt_x</p:attrName>
                                        </p:attrNameLst>
                                      </p:cBhvr>
                                      <p:tavLst>
                                        <p:tav tm="0">
                                          <p:val>
                                            <p:strVal val="#ppt_x"/>
                                          </p:val>
                                        </p:tav>
                                        <p:tav tm="100000">
                                          <p:val>
                                            <p:strVal val="#ppt_x"/>
                                          </p:val>
                                        </p:tav>
                                      </p:tavLst>
                                    </p:anim>
                                    <p:anim calcmode="lin" valueType="num">
                                      <p:cBhvr additive="base">
                                        <p:cTn id="20" dur="500" fill="hold"/>
                                        <p:tgtEl>
                                          <p:spTgt spid="33"/>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2"/>
                                        </p:tgtEl>
                                        <p:attrNameLst>
                                          <p:attrName>style.visibility</p:attrName>
                                        </p:attrNameLst>
                                      </p:cBhvr>
                                      <p:to>
                                        <p:strVal val="visible"/>
                                      </p:to>
                                    </p:set>
                                    <p:anim calcmode="lin" valueType="num">
                                      <p:cBhvr additive="base">
                                        <p:cTn id="23" dur="500" fill="hold"/>
                                        <p:tgtEl>
                                          <p:spTgt spid="32"/>
                                        </p:tgtEl>
                                        <p:attrNameLst>
                                          <p:attrName>ppt_x</p:attrName>
                                        </p:attrNameLst>
                                      </p:cBhvr>
                                      <p:tavLst>
                                        <p:tav tm="0">
                                          <p:val>
                                            <p:strVal val="#ppt_x"/>
                                          </p:val>
                                        </p:tav>
                                        <p:tav tm="100000">
                                          <p:val>
                                            <p:strVal val="#ppt_x"/>
                                          </p:val>
                                        </p:tav>
                                      </p:tavLst>
                                    </p:anim>
                                    <p:anim calcmode="lin" valueType="num">
                                      <p:cBhvr additive="base">
                                        <p:cTn id="24"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9" fill="hold" grpId="0" nodeType="clickEffect">
                                  <p:stCondLst>
                                    <p:cond delay="0"/>
                                  </p:stCondLst>
                                  <p:childTnLst>
                                    <p:set>
                                      <p:cBhvr>
                                        <p:cTn id="28" dur="1" fill="hold">
                                          <p:stCondLst>
                                            <p:cond delay="0"/>
                                          </p:stCondLst>
                                        </p:cTn>
                                        <p:tgtEl>
                                          <p:spTgt spid="39"/>
                                        </p:tgtEl>
                                        <p:attrNameLst>
                                          <p:attrName>style.visibility</p:attrName>
                                        </p:attrNameLst>
                                      </p:cBhvr>
                                      <p:to>
                                        <p:strVal val="visible"/>
                                      </p:to>
                                    </p:set>
                                    <p:anim calcmode="lin" valueType="num">
                                      <p:cBhvr additive="base">
                                        <p:cTn id="29" dur="500" fill="hold"/>
                                        <p:tgtEl>
                                          <p:spTgt spid="39"/>
                                        </p:tgtEl>
                                        <p:attrNameLst>
                                          <p:attrName>ppt_x</p:attrName>
                                        </p:attrNameLst>
                                      </p:cBhvr>
                                      <p:tavLst>
                                        <p:tav tm="0">
                                          <p:val>
                                            <p:strVal val="0-#ppt_w/2"/>
                                          </p:val>
                                        </p:tav>
                                        <p:tav tm="100000">
                                          <p:val>
                                            <p:strVal val="#ppt_x"/>
                                          </p:val>
                                        </p:tav>
                                      </p:tavLst>
                                    </p:anim>
                                    <p:anim calcmode="lin" valueType="num">
                                      <p:cBhvr additive="base">
                                        <p:cTn id="30" dur="500" fill="hold"/>
                                        <p:tgtEl>
                                          <p:spTgt spid="39"/>
                                        </p:tgtEl>
                                        <p:attrNameLst>
                                          <p:attrName>ppt_y</p:attrName>
                                        </p:attrNameLst>
                                      </p:cBhvr>
                                      <p:tavLst>
                                        <p:tav tm="0">
                                          <p:val>
                                            <p:strVal val="0-#ppt_h/2"/>
                                          </p:val>
                                        </p:tav>
                                        <p:tav tm="100000">
                                          <p:val>
                                            <p:strVal val="#ppt_y"/>
                                          </p:val>
                                        </p:tav>
                                      </p:tavLst>
                                    </p:anim>
                                  </p:childTnLst>
                                </p:cTn>
                              </p:par>
                              <p:par>
                                <p:cTn id="31" presetID="2" presetClass="entr" presetSubtype="9" fill="hold" nodeType="withEffect">
                                  <p:stCondLst>
                                    <p:cond delay="0"/>
                                  </p:stCondLst>
                                  <p:childTnLst>
                                    <p:set>
                                      <p:cBhvr>
                                        <p:cTn id="32" dur="1" fill="hold">
                                          <p:stCondLst>
                                            <p:cond delay="0"/>
                                          </p:stCondLst>
                                        </p:cTn>
                                        <p:tgtEl>
                                          <p:spTgt spid="18"/>
                                        </p:tgtEl>
                                        <p:attrNameLst>
                                          <p:attrName>style.visibility</p:attrName>
                                        </p:attrNameLst>
                                      </p:cBhvr>
                                      <p:to>
                                        <p:strVal val="visible"/>
                                      </p:to>
                                    </p:set>
                                    <p:anim calcmode="lin" valueType="num">
                                      <p:cBhvr additive="base">
                                        <p:cTn id="33" dur="500" fill="hold"/>
                                        <p:tgtEl>
                                          <p:spTgt spid="18"/>
                                        </p:tgtEl>
                                        <p:attrNameLst>
                                          <p:attrName>ppt_x</p:attrName>
                                        </p:attrNameLst>
                                      </p:cBhvr>
                                      <p:tavLst>
                                        <p:tav tm="0">
                                          <p:val>
                                            <p:strVal val="0-#ppt_w/2"/>
                                          </p:val>
                                        </p:tav>
                                        <p:tav tm="100000">
                                          <p:val>
                                            <p:strVal val="#ppt_x"/>
                                          </p:val>
                                        </p:tav>
                                      </p:tavLst>
                                    </p:anim>
                                    <p:anim calcmode="lin" valueType="num">
                                      <p:cBhvr additive="base">
                                        <p:cTn id="34" dur="500" fill="hold"/>
                                        <p:tgtEl>
                                          <p:spTgt spid="18"/>
                                        </p:tgtEl>
                                        <p:attrNameLst>
                                          <p:attrName>ppt_y</p:attrName>
                                        </p:attrNameLst>
                                      </p:cBhvr>
                                      <p:tavLst>
                                        <p:tav tm="0">
                                          <p:val>
                                            <p:strVal val="0-#ppt_h/2"/>
                                          </p:val>
                                        </p:tav>
                                        <p:tav tm="100000">
                                          <p:val>
                                            <p:strVal val="#ppt_y"/>
                                          </p:val>
                                        </p:tav>
                                      </p:tavLst>
                                    </p:anim>
                                  </p:childTnLst>
                                </p:cTn>
                              </p:par>
                              <p:par>
                                <p:cTn id="35" presetID="2" presetClass="entr" presetSubtype="9" fill="hold" grpId="0" nodeType="withEffect">
                                  <p:stCondLst>
                                    <p:cond delay="0"/>
                                  </p:stCondLst>
                                  <p:childTnLst>
                                    <p:set>
                                      <p:cBhvr>
                                        <p:cTn id="36" dur="1" fill="hold">
                                          <p:stCondLst>
                                            <p:cond delay="0"/>
                                          </p:stCondLst>
                                        </p:cTn>
                                        <p:tgtEl>
                                          <p:spTgt spid="31"/>
                                        </p:tgtEl>
                                        <p:attrNameLst>
                                          <p:attrName>style.visibility</p:attrName>
                                        </p:attrNameLst>
                                      </p:cBhvr>
                                      <p:to>
                                        <p:strVal val="visible"/>
                                      </p:to>
                                    </p:set>
                                    <p:anim calcmode="lin" valueType="num">
                                      <p:cBhvr additive="base">
                                        <p:cTn id="37" dur="500" fill="hold"/>
                                        <p:tgtEl>
                                          <p:spTgt spid="31"/>
                                        </p:tgtEl>
                                        <p:attrNameLst>
                                          <p:attrName>ppt_x</p:attrName>
                                        </p:attrNameLst>
                                      </p:cBhvr>
                                      <p:tavLst>
                                        <p:tav tm="0">
                                          <p:val>
                                            <p:strVal val="0-#ppt_w/2"/>
                                          </p:val>
                                        </p:tav>
                                        <p:tav tm="100000">
                                          <p:val>
                                            <p:strVal val="#ppt_x"/>
                                          </p:val>
                                        </p:tav>
                                      </p:tavLst>
                                    </p:anim>
                                    <p:anim calcmode="lin" valueType="num">
                                      <p:cBhvr additive="base">
                                        <p:cTn id="38" dur="500" fill="hold"/>
                                        <p:tgtEl>
                                          <p:spTgt spid="31"/>
                                        </p:tgtEl>
                                        <p:attrNameLst>
                                          <p:attrName>ppt_y</p:attrName>
                                        </p:attrNameLst>
                                      </p:cBhvr>
                                      <p:tavLst>
                                        <p:tav tm="0">
                                          <p:val>
                                            <p:strVal val="0-#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2" fill="hold" nodeType="clickEffect">
                                  <p:stCondLst>
                                    <p:cond delay="0"/>
                                  </p:stCondLst>
                                  <p:childTnLst>
                                    <p:set>
                                      <p:cBhvr>
                                        <p:cTn id="42" dur="1" fill="hold">
                                          <p:stCondLst>
                                            <p:cond delay="0"/>
                                          </p:stCondLst>
                                        </p:cTn>
                                        <p:tgtEl>
                                          <p:spTgt spid="23"/>
                                        </p:tgtEl>
                                        <p:attrNameLst>
                                          <p:attrName>style.visibility</p:attrName>
                                        </p:attrNameLst>
                                      </p:cBhvr>
                                      <p:to>
                                        <p:strVal val="visible"/>
                                      </p:to>
                                    </p:set>
                                    <p:anim calcmode="lin" valueType="num">
                                      <p:cBhvr additive="base">
                                        <p:cTn id="43" dur="500" fill="hold"/>
                                        <p:tgtEl>
                                          <p:spTgt spid="23"/>
                                        </p:tgtEl>
                                        <p:attrNameLst>
                                          <p:attrName>ppt_x</p:attrName>
                                        </p:attrNameLst>
                                      </p:cBhvr>
                                      <p:tavLst>
                                        <p:tav tm="0">
                                          <p:val>
                                            <p:strVal val="1+#ppt_w/2"/>
                                          </p:val>
                                        </p:tav>
                                        <p:tav tm="100000">
                                          <p:val>
                                            <p:strVal val="#ppt_x"/>
                                          </p:val>
                                        </p:tav>
                                      </p:tavLst>
                                    </p:anim>
                                    <p:anim calcmode="lin" valueType="num">
                                      <p:cBhvr additive="base">
                                        <p:cTn id="44" dur="500" fill="hold"/>
                                        <p:tgtEl>
                                          <p:spTgt spid="23"/>
                                        </p:tgtEl>
                                        <p:attrNameLst>
                                          <p:attrName>ppt_y</p:attrName>
                                        </p:attrNameLst>
                                      </p:cBhvr>
                                      <p:tavLst>
                                        <p:tav tm="0">
                                          <p:val>
                                            <p:strVal val="#ppt_y"/>
                                          </p:val>
                                        </p:tav>
                                        <p:tav tm="100000">
                                          <p:val>
                                            <p:strVal val="#ppt_y"/>
                                          </p:val>
                                        </p:tav>
                                      </p:tavLst>
                                    </p:anim>
                                  </p:childTnLst>
                                </p:cTn>
                              </p:par>
                              <p:par>
                                <p:cTn id="45" presetID="2" presetClass="entr" presetSubtype="2" fill="hold" nodeType="withEffect">
                                  <p:stCondLst>
                                    <p:cond delay="0"/>
                                  </p:stCondLst>
                                  <p:childTnLst>
                                    <p:set>
                                      <p:cBhvr>
                                        <p:cTn id="46" dur="1" fill="hold">
                                          <p:stCondLst>
                                            <p:cond delay="0"/>
                                          </p:stCondLst>
                                        </p:cTn>
                                        <p:tgtEl>
                                          <p:spTgt spid="25"/>
                                        </p:tgtEl>
                                        <p:attrNameLst>
                                          <p:attrName>style.visibility</p:attrName>
                                        </p:attrNameLst>
                                      </p:cBhvr>
                                      <p:to>
                                        <p:strVal val="visible"/>
                                      </p:to>
                                    </p:set>
                                    <p:anim calcmode="lin" valueType="num">
                                      <p:cBhvr additive="base">
                                        <p:cTn id="47" dur="500" fill="hold"/>
                                        <p:tgtEl>
                                          <p:spTgt spid="25"/>
                                        </p:tgtEl>
                                        <p:attrNameLst>
                                          <p:attrName>ppt_x</p:attrName>
                                        </p:attrNameLst>
                                      </p:cBhvr>
                                      <p:tavLst>
                                        <p:tav tm="0">
                                          <p:val>
                                            <p:strVal val="1+#ppt_w/2"/>
                                          </p:val>
                                        </p:tav>
                                        <p:tav tm="100000">
                                          <p:val>
                                            <p:strVal val="#ppt_x"/>
                                          </p:val>
                                        </p:tav>
                                      </p:tavLst>
                                    </p:anim>
                                    <p:anim calcmode="lin" valueType="num">
                                      <p:cBhvr additive="base">
                                        <p:cTn id="48" dur="500" fill="hold"/>
                                        <p:tgtEl>
                                          <p:spTgt spid="25"/>
                                        </p:tgtEl>
                                        <p:attrNameLst>
                                          <p:attrName>ppt_y</p:attrName>
                                        </p:attrNameLst>
                                      </p:cBhvr>
                                      <p:tavLst>
                                        <p:tav tm="0">
                                          <p:val>
                                            <p:strVal val="#ppt_y"/>
                                          </p:val>
                                        </p:tav>
                                        <p:tav tm="100000">
                                          <p:val>
                                            <p:strVal val="#ppt_y"/>
                                          </p:val>
                                        </p:tav>
                                      </p:tavLst>
                                    </p:anim>
                                  </p:childTnLst>
                                </p:cTn>
                              </p:par>
                              <p:par>
                                <p:cTn id="49" presetID="2" presetClass="entr" presetSubtype="2" fill="hold" grpId="0" nodeType="withEffect">
                                  <p:stCondLst>
                                    <p:cond delay="0"/>
                                  </p:stCondLst>
                                  <p:childTnLst>
                                    <p:set>
                                      <p:cBhvr>
                                        <p:cTn id="50" dur="1" fill="hold">
                                          <p:stCondLst>
                                            <p:cond delay="0"/>
                                          </p:stCondLst>
                                        </p:cTn>
                                        <p:tgtEl>
                                          <p:spTgt spid="34"/>
                                        </p:tgtEl>
                                        <p:attrNameLst>
                                          <p:attrName>style.visibility</p:attrName>
                                        </p:attrNameLst>
                                      </p:cBhvr>
                                      <p:to>
                                        <p:strVal val="visible"/>
                                      </p:to>
                                    </p:set>
                                    <p:anim calcmode="lin" valueType="num">
                                      <p:cBhvr additive="base">
                                        <p:cTn id="51" dur="500" fill="hold"/>
                                        <p:tgtEl>
                                          <p:spTgt spid="34"/>
                                        </p:tgtEl>
                                        <p:attrNameLst>
                                          <p:attrName>ppt_x</p:attrName>
                                        </p:attrNameLst>
                                      </p:cBhvr>
                                      <p:tavLst>
                                        <p:tav tm="0">
                                          <p:val>
                                            <p:strVal val="1+#ppt_w/2"/>
                                          </p:val>
                                        </p:tav>
                                        <p:tav tm="100000">
                                          <p:val>
                                            <p:strVal val="#ppt_x"/>
                                          </p:val>
                                        </p:tav>
                                      </p:tavLst>
                                    </p:anim>
                                    <p:anim calcmode="lin" valueType="num">
                                      <p:cBhvr additive="base">
                                        <p:cTn id="52" dur="500" fill="hold"/>
                                        <p:tgtEl>
                                          <p:spTgt spid="34"/>
                                        </p:tgtEl>
                                        <p:attrNameLst>
                                          <p:attrName>ppt_y</p:attrName>
                                        </p:attrNameLst>
                                      </p:cBhvr>
                                      <p:tavLst>
                                        <p:tav tm="0">
                                          <p:val>
                                            <p:strVal val="#ppt_y"/>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3" fill="hold" nodeType="clickEffect">
                                  <p:stCondLst>
                                    <p:cond delay="0"/>
                                  </p:stCondLst>
                                  <p:childTnLst>
                                    <p:set>
                                      <p:cBhvr>
                                        <p:cTn id="56" dur="1" fill="hold">
                                          <p:stCondLst>
                                            <p:cond delay="0"/>
                                          </p:stCondLst>
                                        </p:cTn>
                                        <p:tgtEl>
                                          <p:spTgt spid="41"/>
                                        </p:tgtEl>
                                        <p:attrNameLst>
                                          <p:attrName>style.visibility</p:attrName>
                                        </p:attrNameLst>
                                      </p:cBhvr>
                                      <p:to>
                                        <p:strVal val="visible"/>
                                      </p:to>
                                    </p:set>
                                    <p:anim calcmode="lin" valueType="num">
                                      <p:cBhvr additive="base">
                                        <p:cTn id="57" dur="500" fill="hold"/>
                                        <p:tgtEl>
                                          <p:spTgt spid="41"/>
                                        </p:tgtEl>
                                        <p:attrNameLst>
                                          <p:attrName>ppt_x</p:attrName>
                                        </p:attrNameLst>
                                      </p:cBhvr>
                                      <p:tavLst>
                                        <p:tav tm="0">
                                          <p:val>
                                            <p:strVal val="1+#ppt_w/2"/>
                                          </p:val>
                                        </p:tav>
                                        <p:tav tm="100000">
                                          <p:val>
                                            <p:strVal val="#ppt_x"/>
                                          </p:val>
                                        </p:tav>
                                      </p:tavLst>
                                    </p:anim>
                                    <p:anim calcmode="lin" valueType="num">
                                      <p:cBhvr additive="base">
                                        <p:cTn id="58" dur="500" fill="hold"/>
                                        <p:tgtEl>
                                          <p:spTgt spid="41"/>
                                        </p:tgtEl>
                                        <p:attrNameLst>
                                          <p:attrName>ppt_y</p:attrName>
                                        </p:attrNameLst>
                                      </p:cBhvr>
                                      <p:tavLst>
                                        <p:tav tm="0">
                                          <p:val>
                                            <p:strVal val="0-#ppt_h/2"/>
                                          </p:val>
                                        </p:tav>
                                        <p:tav tm="100000">
                                          <p:val>
                                            <p:strVal val="#ppt_y"/>
                                          </p:val>
                                        </p:tav>
                                      </p:tavLst>
                                    </p:anim>
                                  </p:childTnLst>
                                </p:cTn>
                              </p:par>
                              <p:par>
                                <p:cTn id="59" presetID="2" presetClass="entr" presetSubtype="3" fill="hold" nodeType="withEffect">
                                  <p:stCondLst>
                                    <p:cond delay="0"/>
                                  </p:stCondLst>
                                  <p:childTnLst>
                                    <p:set>
                                      <p:cBhvr>
                                        <p:cTn id="60" dur="1" fill="hold">
                                          <p:stCondLst>
                                            <p:cond delay="0"/>
                                          </p:stCondLst>
                                        </p:cTn>
                                        <p:tgtEl>
                                          <p:spTgt spid="40"/>
                                        </p:tgtEl>
                                        <p:attrNameLst>
                                          <p:attrName>style.visibility</p:attrName>
                                        </p:attrNameLst>
                                      </p:cBhvr>
                                      <p:to>
                                        <p:strVal val="visible"/>
                                      </p:to>
                                    </p:set>
                                    <p:anim calcmode="lin" valueType="num">
                                      <p:cBhvr additive="base">
                                        <p:cTn id="61" dur="500" fill="hold"/>
                                        <p:tgtEl>
                                          <p:spTgt spid="40"/>
                                        </p:tgtEl>
                                        <p:attrNameLst>
                                          <p:attrName>ppt_x</p:attrName>
                                        </p:attrNameLst>
                                      </p:cBhvr>
                                      <p:tavLst>
                                        <p:tav tm="0">
                                          <p:val>
                                            <p:strVal val="1+#ppt_w/2"/>
                                          </p:val>
                                        </p:tav>
                                        <p:tav tm="100000">
                                          <p:val>
                                            <p:strVal val="#ppt_x"/>
                                          </p:val>
                                        </p:tav>
                                      </p:tavLst>
                                    </p:anim>
                                    <p:anim calcmode="lin" valueType="num">
                                      <p:cBhvr additive="base">
                                        <p:cTn id="62" dur="500" fill="hold"/>
                                        <p:tgtEl>
                                          <p:spTgt spid="40"/>
                                        </p:tgtEl>
                                        <p:attrNameLst>
                                          <p:attrName>ppt_y</p:attrName>
                                        </p:attrNameLst>
                                      </p:cBhvr>
                                      <p:tavLst>
                                        <p:tav tm="0">
                                          <p:val>
                                            <p:strVal val="0-#ppt_h/2"/>
                                          </p:val>
                                        </p:tav>
                                        <p:tav tm="100000">
                                          <p:val>
                                            <p:strVal val="#ppt_y"/>
                                          </p:val>
                                        </p:tav>
                                      </p:tavLst>
                                    </p:anim>
                                  </p:childTnLst>
                                </p:cTn>
                              </p:par>
                              <p:par>
                                <p:cTn id="63" presetID="2" presetClass="entr" presetSubtype="3" fill="hold" grpId="0" nodeType="withEffect">
                                  <p:stCondLst>
                                    <p:cond delay="0"/>
                                  </p:stCondLst>
                                  <p:childTnLst>
                                    <p:set>
                                      <p:cBhvr>
                                        <p:cTn id="64" dur="1" fill="hold">
                                          <p:stCondLst>
                                            <p:cond delay="0"/>
                                          </p:stCondLst>
                                        </p:cTn>
                                        <p:tgtEl>
                                          <p:spTgt spid="30"/>
                                        </p:tgtEl>
                                        <p:attrNameLst>
                                          <p:attrName>style.visibility</p:attrName>
                                        </p:attrNameLst>
                                      </p:cBhvr>
                                      <p:to>
                                        <p:strVal val="visible"/>
                                      </p:to>
                                    </p:set>
                                    <p:anim calcmode="lin" valueType="num">
                                      <p:cBhvr additive="base">
                                        <p:cTn id="65" dur="500" fill="hold"/>
                                        <p:tgtEl>
                                          <p:spTgt spid="30"/>
                                        </p:tgtEl>
                                        <p:attrNameLst>
                                          <p:attrName>ppt_x</p:attrName>
                                        </p:attrNameLst>
                                      </p:cBhvr>
                                      <p:tavLst>
                                        <p:tav tm="0">
                                          <p:val>
                                            <p:strVal val="1+#ppt_w/2"/>
                                          </p:val>
                                        </p:tav>
                                        <p:tav tm="100000">
                                          <p:val>
                                            <p:strVal val="#ppt_x"/>
                                          </p:val>
                                        </p:tav>
                                      </p:tavLst>
                                    </p:anim>
                                    <p:anim calcmode="lin" valueType="num">
                                      <p:cBhvr additive="base">
                                        <p:cTn id="66" dur="500" fill="hold"/>
                                        <p:tgtEl>
                                          <p:spTgt spid="30"/>
                                        </p:tgtEl>
                                        <p:attrNameLst>
                                          <p:attrName>ppt_y</p:attrName>
                                        </p:attrNameLst>
                                      </p:cBhvr>
                                      <p:tavLst>
                                        <p:tav tm="0">
                                          <p:val>
                                            <p:strVal val="0-#ppt_h/2"/>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2" presetClass="entr" presetSubtype="6" fill="hold" grpId="0" nodeType="clickEffect">
                                  <p:stCondLst>
                                    <p:cond delay="0"/>
                                  </p:stCondLst>
                                  <p:childTnLst>
                                    <p:set>
                                      <p:cBhvr>
                                        <p:cTn id="70" dur="1" fill="hold">
                                          <p:stCondLst>
                                            <p:cond delay="0"/>
                                          </p:stCondLst>
                                        </p:cTn>
                                        <p:tgtEl>
                                          <p:spTgt spid="29"/>
                                        </p:tgtEl>
                                        <p:attrNameLst>
                                          <p:attrName>style.visibility</p:attrName>
                                        </p:attrNameLst>
                                      </p:cBhvr>
                                      <p:to>
                                        <p:strVal val="visible"/>
                                      </p:to>
                                    </p:set>
                                    <p:anim calcmode="lin" valueType="num">
                                      <p:cBhvr additive="base">
                                        <p:cTn id="71" dur="500" fill="hold"/>
                                        <p:tgtEl>
                                          <p:spTgt spid="29"/>
                                        </p:tgtEl>
                                        <p:attrNameLst>
                                          <p:attrName>ppt_x</p:attrName>
                                        </p:attrNameLst>
                                      </p:cBhvr>
                                      <p:tavLst>
                                        <p:tav tm="0">
                                          <p:val>
                                            <p:strVal val="1+#ppt_w/2"/>
                                          </p:val>
                                        </p:tav>
                                        <p:tav tm="100000">
                                          <p:val>
                                            <p:strVal val="#ppt_x"/>
                                          </p:val>
                                        </p:tav>
                                      </p:tavLst>
                                    </p:anim>
                                    <p:anim calcmode="lin" valueType="num">
                                      <p:cBhvr additive="base">
                                        <p:cTn id="72" dur="500" fill="hold"/>
                                        <p:tgtEl>
                                          <p:spTgt spid="29"/>
                                        </p:tgtEl>
                                        <p:attrNameLst>
                                          <p:attrName>ppt_y</p:attrName>
                                        </p:attrNameLst>
                                      </p:cBhvr>
                                      <p:tavLst>
                                        <p:tav tm="0">
                                          <p:val>
                                            <p:strVal val="1+#ppt_h/2"/>
                                          </p:val>
                                        </p:tav>
                                        <p:tav tm="100000">
                                          <p:val>
                                            <p:strVal val="#ppt_y"/>
                                          </p:val>
                                        </p:tav>
                                      </p:tavLst>
                                    </p:anim>
                                  </p:childTnLst>
                                </p:cTn>
                              </p:par>
                              <p:par>
                                <p:cTn id="73" presetID="2" presetClass="entr" presetSubtype="6" fill="hold" nodeType="withEffect">
                                  <p:stCondLst>
                                    <p:cond delay="0"/>
                                  </p:stCondLst>
                                  <p:childTnLst>
                                    <p:set>
                                      <p:cBhvr>
                                        <p:cTn id="74" dur="1" fill="hold">
                                          <p:stCondLst>
                                            <p:cond delay="0"/>
                                          </p:stCondLst>
                                        </p:cTn>
                                        <p:tgtEl>
                                          <p:spTgt spid="24"/>
                                        </p:tgtEl>
                                        <p:attrNameLst>
                                          <p:attrName>style.visibility</p:attrName>
                                        </p:attrNameLst>
                                      </p:cBhvr>
                                      <p:to>
                                        <p:strVal val="visible"/>
                                      </p:to>
                                    </p:set>
                                    <p:anim calcmode="lin" valueType="num">
                                      <p:cBhvr additive="base">
                                        <p:cTn id="75" dur="500" fill="hold"/>
                                        <p:tgtEl>
                                          <p:spTgt spid="24"/>
                                        </p:tgtEl>
                                        <p:attrNameLst>
                                          <p:attrName>ppt_x</p:attrName>
                                        </p:attrNameLst>
                                      </p:cBhvr>
                                      <p:tavLst>
                                        <p:tav tm="0">
                                          <p:val>
                                            <p:strVal val="1+#ppt_w/2"/>
                                          </p:val>
                                        </p:tav>
                                        <p:tav tm="100000">
                                          <p:val>
                                            <p:strVal val="#ppt_x"/>
                                          </p:val>
                                        </p:tav>
                                      </p:tavLst>
                                    </p:anim>
                                    <p:anim calcmode="lin" valueType="num">
                                      <p:cBhvr additive="base">
                                        <p:cTn id="76" dur="500" fill="hold"/>
                                        <p:tgtEl>
                                          <p:spTgt spid="24"/>
                                        </p:tgtEl>
                                        <p:attrNameLst>
                                          <p:attrName>ppt_y</p:attrName>
                                        </p:attrNameLst>
                                      </p:cBhvr>
                                      <p:tavLst>
                                        <p:tav tm="0">
                                          <p:val>
                                            <p:strVal val="1+#ppt_h/2"/>
                                          </p:val>
                                        </p:tav>
                                        <p:tav tm="100000">
                                          <p:val>
                                            <p:strVal val="#ppt_y"/>
                                          </p:val>
                                        </p:tav>
                                      </p:tavLst>
                                    </p:anim>
                                  </p:childTnLst>
                                </p:cTn>
                              </p:par>
                              <p:par>
                                <p:cTn id="77" presetID="2" presetClass="entr" presetSubtype="6" fill="hold" nodeType="withEffect">
                                  <p:stCondLst>
                                    <p:cond delay="0"/>
                                  </p:stCondLst>
                                  <p:childTnLst>
                                    <p:set>
                                      <p:cBhvr>
                                        <p:cTn id="78" dur="1" fill="hold">
                                          <p:stCondLst>
                                            <p:cond delay="0"/>
                                          </p:stCondLst>
                                        </p:cTn>
                                        <p:tgtEl>
                                          <p:spTgt spid="20"/>
                                        </p:tgtEl>
                                        <p:attrNameLst>
                                          <p:attrName>style.visibility</p:attrName>
                                        </p:attrNameLst>
                                      </p:cBhvr>
                                      <p:to>
                                        <p:strVal val="visible"/>
                                      </p:to>
                                    </p:set>
                                    <p:anim calcmode="lin" valueType="num">
                                      <p:cBhvr additive="base">
                                        <p:cTn id="79" dur="500" fill="hold"/>
                                        <p:tgtEl>
                                          <p:spTgt spid="20"/>
                                        </p:tgtEl>
                                        <p:attrNameLst>
                                          <p:attrName>ppt_x</p:attrName>
                                        </p:attrNameLst>
                                      </p:cBhvr>
                                      <p:tavLst>
                                        <p:tav tm="0">
                                          <p:val>
                                            <p:strVal val="1+#ppt_w/2"/>
                                          </p:val>
                                        </p:tav>
                                        <p:tav tm="100000">
                                          <p:val>
                                            <p:strVal val="#ppt_x"/>
                                          </p:val>
                                        </p:tav>
                                      </p:tavLst>
                                    </p:anim>
                                    <p:anim calcmode="lin" valueType="num">
                                      <p:cBhvr additive="base">
                                        <p:cTn id="80"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12" fill="hold" nodeType="clickEffect">
                                  <p:stCondLst>
                                    <p:cond delay="0"/>
                                  </p:stCondLst>
                                  <p:childTnLst>
                                    <p:set>
                                      <p:cBhvr>
                                        <p:cTn id="84" dur="1" fill="hold">
                                          <p:stCondLst>
                                            <p:cond delay="0"/>
                                          </p:stCondLst>
                                        </p:cTn>
                                        <p:tgtEl>
                                          <p:spTgt spid="26"/>
                                        </p:tgtEl>
                                        <p:attrNameLst>
                                          <p:attrName>style.visibility</p:attrName>
                                        </p:attrNameLst>
                                      </p:cBhvr>
                                      <p:to>
                                        <p:strVal val="visible"/>
                                      </p:to>
                                    </p:set>
                                    <p:anim calcmode="lin" valueType="num">
                                      <p:cBhvr additive="base">
                                        <p:cTn id="85" dur="500" fill="hold"/>
                                        <p:tgtEl>
                                          <p:spTgt spid="26"/>
                                        </p:tgtEl>
                                        <p:attrNameLst>
                                          <p:attrName>ppt_x</p:attrName>
                                        </p:attrNameLst>
                                      </p:cBhvr>
                                      <p:tavLst>
                                        <p:tav tm="0">
                                          <p:val>
                                            <p:strVal val="0-#ppt_w/2"/>
                                          </p:val>
                                        </p:tav>
                                        <p:tav tm="100000">
                                          <p:val>
                                            <p:strVal val="#ppt_x"/>
                                          </p:val>
                                        </p:tav>
                                      </p:tavLst>
                                    </p:anim>
                                    <p:anim calcmode="lin" valueType="num">
                                      <p:cBhvr additive="base">
                                        <p:cTn id="86" dur="500" fill="hold"/>
                                        <p:tgtEl>
                                          <p:spTgt spid="26"/>
                                        </p:tgtEl>
                                        <p:attrNameLst>
                                          <p:attrName>ppt_y</p:attrName>
                                        </p:attrNameLst>
                                      </p:cBhvr>
                                      <p:tavLst>
                                        <p:tav tm="0">
                                          <p:val>
                                            <p:strVal val="1+#ppt_h/2"/>
                                          </p:val>
                                        </p:tav>
                                        <p:tav tm="100000">
                                          <p:val>
                                            <p:strVal val="#ppt_y"/>
                                          </p:val>
                                        </p:tav>
                                      </p:tavLst>
                                    </p:anim>
                                  </p:childTnLst>
                                </p:cTn>
                              </p:par>
                              <p:par>
                                <p:cTn id="87" presetID="2" presetClass="entr" presetSubtype="12" fill="hold" nodeType="withEffect">
                                  <p:stCondLst>
                                    <p:cond delay="0"/>
                                  </p:stCondLst>
                                  <p:childTnLst>
                                    <p:set>
                                      <p:cBhvr>
                                        <p:cTn id="88" dur="1" fill="hold">
                                          <p:stCondLst>
                                            <p:cond delay="0"/>
                                          </p:stCondLst>
                                        </p:cTn>
                                        <p:tgtEl>
                                          <p:spTgt spid="27"/>
                                        </p:tgtEl>
                                        <p:attrNameLst>
                                          <p:attrName>style.visibility</p:attrName>
                                        </p:attrNameLst>
                                      </p:cBhvr>
                                      <p:to>
                                        <p:strVal val="visible"/>
                                      </p:to>
                                    </p:set>
                                    <p:anim calcmode="lin" valueType="num">
                                      <p:cBhvr additive="base">
                                        <p:cTn id="89" dur="500" fill="hold"/>
                                        <p:tgtEl>
                                          <p:spTgt spid="27"/>
                                        </p:tgtEl>
                                        <p:attrNameLst>
                                          <p:attrName>ppt_x</p:attrName>
                                        </p:attrNameLst>
                                      </p:cBhvr>
                                      <p:tavLst>
                                        <p:tav tm="0">
                                          <p:val>
                                            <p:strVal val="0-#ppt_w/2"/>
                                          </p:val>
                                        </p:tav>
                                        <p:tav tm="100000">
                                          <p:val>
                                            <p:strVal val="#ppt_x"/>
                                          </p:val>
                                        </p:tav>
                                      </p:tavLst>
                                    </p:anim>
                                    <p:anim calcmode="lin" valueType="num">
                                      <p:cBhvr additive="base">
                                        <p:cTn id="90" dur="500" fill="hold"/>
                                        <p:tgtEl>
                                          <p:spTgt spid="27"/>
                                        </p:tgtEl>
                                        <p:attrNameLst>
                                          <p:attrName>ppt_y</p:attrName>
                                        </p:attrNameLst>
                                      </p:cBhvr>
                                      <p:tavLst>
                                        <p:tav tm="0">
                                          <p:val>
                                            <p:strVal val="1+#ppt_h/2"/>
                                          </p:val>
                                        </p:tav>
                                        <p:tav tm="100000">
                                          <p:val>
                                            <p:strVal val="#ppt_y"/>
                                          </p:val>
                                        </p:tav>
                                      </p:tavLst>
                                    </p:anim>
                                  </p:childTnLst>
                                </p:cTn>
                              </p:par>
                              <p:par>
                                <p:cTn id="91" presetID="2" presetClass="entr" presetSubtype="12" fill="hold" grpId="0" nodeType="withEffect">
                                  <p:stCondLst>
                                    <p:cond delay="0"/>
                                  </p:stCondLst>
                                  <p:childTnLst>
                                    <p:set>
                                      <p:cBhvr>
                                        <p:cTn id="92" dur="1" fill="hold">
                                          <p:stCondLst>
                                            <p:cond delay="0"/>
                                          </p:stCondLst>
                                        </p:cTn>
                                        <p:tgtEl>
                                          <p:spTgt spid="28"/>
                                        </p:tgtEl>
                                        <p:attrNameLst>
                                          <p:attrName>style.visibility</p:attrName>
                                        </p:attrNameLst>
                                      </p:cBhvr>
                                      <p:to>
                                        <p:strVal val="visible"/>
                                      </p:to>
                                    </p:set>
                                    <p:anim calcmode="lin" valueType="num">
                                      <p:cBhvr additive="base">
                                        <p:cTn id="93" dur="500" fill="hold"/>
                                        <p:tgtEl>
                                          <p:spTgt spid="28"/>
                                        </p:tgtEl>
                                        <p:attrNameLst>
                                          <p:attrName>ppt_x</p:attrName>
                                        </p:attrNameLst>
                                      </p:cBhvr>
                                      <p:tavLst>
                                        <p:tav tm="0">
                                          <p:val>
                                            <p:strVal val="0-#ppt_w/2"/>
                                          </p:val>
                                        </p:tav>
                                        <p:tav tm="100000">
                                          <p:val>
                                            <p:strVal val="#ppt_x"/>
                                          </p:val>
                                        </p:tav>
                                      </p:tavLst>
                                    </p:anim>
                                    <p:anim calcmode="lin" valueType="num">
                                      <p:cBhvr additive="base">
                                        <p:cTn id="94"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95" fill="hold">
                      <p:stCondLst>
                        <p:cond delay="indefinite"/>
                      </p:stCondLst>
                      <p:childTnLst>
                        <p:par>
                          <p:cTn id="96" fill="hold">
                            <p:stCondLst>
                              <p:cond delay="0"/>
                            </p:stCondLst>
                            <p:childTnLst>
                              <p:par>
                                <p:cTn id="97" presetID="2" presetClass="entr" presetSubtype="8" fill="hold" nodeType="clickEffect">
                                  <p:stCondLst>
                                    <p:cond delay="0"/>
                                  </p:stCondLst>
                                  <p:childTnLst>
                                    <p:set>
                                      <p:cBhvr>
                                        <p:cTn id="98" dur="1" fill="hold">
                                          <p:stCondLst>
                                            <p:cond delay="0"/>
                                          </p:stCondLst>
                                        </p:cTn>
                                        <p:tgtEl>
                                          <p:spTgt spid="37"/>
                                        </p:tgtEl>
                                        <p:attrNameLst>
                                          <p:attrName>style.visibility</p:attrName>
                                        </p:attrNameLst>
                                      </p:cBhvr>
                                      <p:to>
                                        <p:strVal val="visible"/>
                                      </p:to>
                                    </p:set>
                                    <p:anim calcmode="lin" valueType="num">
                                      <p:cBhvr additive="base">
                                        <p:cTn id="99" dur="500" fill="hold"/>
                                        <p:tgtEl>
                                          <p:spTgt spid="37"/>
                                        </p:tgtEl>
                                        <p:attrNameLst>
                                          <p:attrName>ppt_x</p:attrName>
                                        </p:attrNameLst>
                                      </p:cBhvr>
                                      <p:tavLst>
                                        <p:tav tm="0">
                                          <p:val>
                                            <p:strVal val="0-#ppt_w/2"/>
                                          </p:val>
                                        </p:tav>
                                        <p:tav tm="100000">
                                          <p:val>
                                            <p:strVal val="#ppt_x"/>
                                          </p:val>
                                        </p:tav>
                                      </p:tavLst>
                                    </p:anim>
                                    <p:anim calcmode="lin" valueType="num">
                                      <p:cBhvr additive="base">
                                        <p:cTn id="100" dur="500" fill="hold"/>
                                        <p:tgtEl>
                                          <p:spTgt spid="37"/>
                                        </p:tgtEl>
                                        <p:attrNameLst>
                                          <p:attrName>ppt_y</p:attrName>
                                        </p:attrNameLst>
                                      </p:cBhvr>
                                      <p:tavLst>
                                        <p:tav tm="0">
                                          <p:val>
                                            <p:strVal val="#ppt_y"/>
                                          </p:val>
                                        </p:tav>
                                        <p:tav tm="100000">
                                          <p:val>
                                            <p:strVal val="#ppt_y"/>
                                          </p:val>
                                        </p:tav>
                                      </p:tavLst>
                                    </p:anim>
                                  </p:childTnLst>
                                </p:cTn>
                              </p:par>
                              <p:par>
                                <p:cTn id="101" presetID="2" presetClass="entr" presetSubtype="8" fill="hold" nodeType="withEffect">
                                  <p:stCondLst>
                                    <p:cond delay="0"/>
                                  </p:stCondLst>
                                  <p:childTnLst>
                                    <p:set>
                                      <p:cBhvr>
                                        <p:cTn id="102" dur="1" fill="hold">
                                          <p:stCondLst>
                                            <p:cond delay="0"/>
                                          </p:stCondLst>
                                        </p:cTn>
                                        <p:tgtEl>
                                          <p:spTgt spid="35"/>
                                        </p:tgtEl>
                                        <p:attrNameLst>
                                          <p:attrName>style.visibility</p:attrName>
                                        </p:attrNameLst>
                                      </p:cBhvr>
                                      <p:to>
                                        <p:strVal val="visible"/>
                                      </p:to>
                                    </p:set>
                                    <p:anim calcmode="lin" valueType="num">
                                      <p:cBhvr additive="base">
                                        <p:cTn id="103" dur="500" fill="hold"/>
                                        <p:tgtEl>
                                          <p:spTgt spid="35"/>
                                        </p:tgtEl>
                                        <p:attrNameLst>
                                          <p:attrName>ppt_x</p:attrName>
                                        </p:attrNameLst>
                                      </p:cBhvr>
                                      <p:tavLst>
                                        <p:tav tm="0">
                                          <p:val>
                                            <p:strVal val="0-#ppt_w/2"/>
                                          </p:val>
                                        </p:tav>
                                        <p:tav tm="100000">
                                          <p:val>
                                            <p:strVal val="#ppt_x"/>
                                          </p:val>
                                        </p:tav>
                                      </p:tavLst>
                                    </p:anim>
                                    <p:anim calcmode="lin" valueType="num">
                                      <p:cBhvr additive="base">
                                        <p:cTn id="104" dur="500" fill="hold"/>
                                        <p:tgtEl>
                                          <p:spTgt spid="35"/>
                                        </p:tgtEl>
                                        <p:attrNameLst>
                                          <p:attrName>ppt_y</p:attrName>
                                        </p:attrNameLst>
                                      </p:cBhvr>
                                      <p:tavLst>
                                        <p:tav tm="0">
                                          <p:val>
                                            <p:strVal val="#ppt_y"/>
                                          </p:val>
                                        </p:tav>
                                        <p:tav tm="100000">
                                          <p:val>
                                            <p:strVal val="#ppt_y"/>
                                          </p:val>
                                        </p:tav>
                                      </p:tavLst>
                                    </p:anim>
                                  </p:childTnLst>
                                </p:cTn>
                              </p:par>
                              <p:par>
                                <p:cTn id="105" presetID="2" presetClass="entr" presetSubtype="8" fill="hold" nodeType="withEffect">
                                  <p:stCondLst>
                                    <p:cond delay="0"/>
                                  </p:stCondLst>
                                  <p:childTnLst>
                                    <p:set>
                                      <p:cBhvr>
                                        <p:cTn id="106" dur="1" fill="hold">
                                          <p:stCondLst>
                                            <p:cond delay="0"/>
                                          </p:stCondLst>
                                        </p:cTn>
                                        <p:tgtEl>
                                          <p:spTgt spid="38"/>
                                        </p:tgtEl>
                                        <p:attrNameLst>
                                          <p:attrName>style.visibility</p:attrName>
                                        </p:attrNameLst>
                                      </p:cBhvr>
                                      <p:to>
                                        <p:strVal val="visible"/>
                                      </p:to>
                                    </p:set>
                                    <p:anim calcmode="lin" valueType="num">
                                      <p:cBhvr additive="base">
                                        <p:cTn id="107" dur="500" fill="hold"/>
                                        <p:tgtEl>
                                          <p:spTgt spid="38"/>
                                        </p:tgtEl>
                                        <p:attrNameLst>
                                          <p:attrName>ppt_x</p:attrName>
                                        </p:attrNameLst>
                                      </p:cBhvr>
                                      <p:tavLst>
                                        <p:tav tm="0">
                                          <p:val>
                                            <p:strVal val="0-#ppt_w/2"/>
                                          </p:val>
                                        </p:tav>
                                        <p:tav tm="100000">
                                          <p:val>
                                            <p:strVal val="#ppt_x"/>
                                          </p:val>
                                        </p:tav>
                                      </p:tavLst>
                                    </p:anim>
                                    <p:anim calcmode="lin" valueType="num">
                                      <p:cBhvr additive="base">
                                        <p:cTn id="108" dur="500" fill="hold"/>
                                        <p:tgtEl>
                                          <p:spTgt spid="38"/>
                                        </p:tgtEl>
                                        <p:attrNameLst>
                                          <p:attrName>ppt_y</p:attrName>
                                        </p:attrNameLst>
                                      </p:cBhvr>
                                      <p:tavLst>
                                        <p:tav tm="0">
                                          <p:val>
                                            <p:strVal val="#ppt_y"/>
                                          </p:val>
                                        </p:tav>
                                        <p:tav tm="100000">
                                          <p:val>
                                            <p:strVal val="#ppt_y"/>
                                          </p:val>
                                        </p:tav>
                                      </p:tavLst>
                                    </p:anim>
                                  </p:childTnLst>
                                </p:cTn>
                              </p:par>
                              <p:par>
                                <p:cTn id="109" presetID="2" presetClass="entr" presetSubtype="8" fill="hold" grpId="0" nodeType="withEffect">
                                  <p:stCondLst>
                                    <p:cond delay="0"/>
                                  </p:stCondLst>
                                  <p:childTnLst>
                                    <p:set>
                                      <p:cBhvr>
                                        <p:cTn id="110" dur="1" fill="hold">
                                          <p:stCondLst>
                                            <p:cond delay="0"/>
                                          </p:stCondLst>
                                        </p:cTn>
                                        <p:tgtEl>
                                          <p:spTgt spid="36"/>
                                        </p:tgtEl>
                                        <p:attrNameLst>
                                          <p:attrName>style.visibility</p:attrName>
                                        </p:attrNameLst>
                                      </p:cBhvr>
                                      <p:to>
                                        <p:strVal val="visible"/>
                                      </p:to>
                                    </p:set>
                                    <p:anim calcmode="lin" valueType="num">
                                      <p:cBhvr additive="base">
                                        <p:cTn id="111" dur="500" fill="hold"/>
                                        <p:tgtEl>
                                          <p:spTgt spid="36"/>
                                        </p:tgtEl>
                                        <p:attrNameLst>
                                          <p:attrName>ppt_x</p:attrName>
                                        </p:attrNameLst>
                                      </p:cBhvr>
                                      <p:tavLst>
                                        <p:tav tm="0">
                                          <p:val>
                                            <p:strVal val="0-#ppt_w/2"/>
                                          </p:val>
                                        </p:tav>
                                        <p:tav tm="100000">
                                          <p:val>
                                            <p:strVal val="#ppt_x"/>
                                          </p:val>
                                        </p:tav>
                                      </p:tavLst>
                                    </p:anim>
                                    <p:anim calcmode="lin" valueType="num">
                                      <p:cBhvr additive="base">
                                        <p:cTn id="112" dur="500" fill="hold"/>
                                        <p:tgtEl>
                                          <p:spTgt spid="3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8" grpId="0"/>
      <p:bldP spid="29" grpId="0"/>
      <p:bldP spid="30" grpId="0"/>
      <p:bldP spid="31" grpId="0"/>
      <p:bldP spid="32" grpId="0"/>
      <p:bldP spid="34" grpId="0"/>
      <p:bldP spid="36" grpId="0"/>
      <p:bldP spid="39"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057247"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材料力学的任务</a:t>
            </a:r>
          </a:p>
        </p:txBody>
      </p:sp>
      <p:sp>
        <p:nvSpPr>
          <p:cNvPr id="2" name="Rectangle 61">
            <a:extLst>
              <a:ext uri="{FF2B5EF4-FFF2-40B4-BE49-F238E27FC236}">
                <a16:creationId xmlns:a16="http://schemas.microsoft.com/office/drawing/2014/main" id="{C1834BF7-FAF6-B26C-EE54-A28B03B153E9}"/>
              </a:ext>
            </a:extLst>
          </p:cNvPr>
          <p:cNvSpPr>
            <a:spLocks noChangeArrowheads="1"/>
          </p:cNvSpPr>
          <p:nvPr/>
        </p:nvSpPr>
        <p:spPr bwMode="auto">
          <a:xfrm>
            <a:off x="725140" y="2094669"/>
            <a:ext cx="11448941" cy="3682281"/>
          </a:xfrm>
          <a:prstGeom prst="rect">
            <a:avLst/>
          </a:prstGeom>
          <a:solidFill>
            <a:srgbClr val="B9CDE5"/>
          </a:solidFill>
          <a:ln>
            <a:noFill/>
          </a:ln>
          <a:effectLst/>
        </p:spPr>
        <p:txBody>
          <a:bodyPr wrap="none" anchor="ctr"/>
          <a:lstStyle/>
          <a:p>
            <a:endParaRPr lang="zh-CN" altLang="en-US"/>
          </a:p>
        </p:txBody>
      </p:sp>
      <p:pic>
        <p:nvPicPr>
          <p:cNvPr id="4" name="WENDING2">
            <a:hlinkClick r:id="" action="ppaction://media"/>
            <a:extLst>
              <a:ext uri="{FF2B5EF4-FFF2-40B4-BE49-F238E27FC236}">
                <a16:creationId xmlns:a16="http://schemas.microsoft.com/office/drawing/2014/main" id="{D829C9FB-5BDC-55E3-EE86-60AC4DA29CE6}"/>
              </a:ext>
            </a:extLst>
          </p:cNvPr>
          <p:cNvPicPr>
            <a:picLocks noChangeAspect="1"/>
          </p:cNvPicPr>
          <p:nvPr>
            <a:videoFile r:link="rId2"/>
            <p:extLst>
              <p:ext uri="{DAA4B4D4-6D71-4841-9C94-3DE7FCFB9230}">
                <p14:media xmlns:p14="http://schemas.microsoft.com/office/powerpoint/2010/main" r:embed="rId1"/>
              </p:ext>
            </p:extLst>
          </p:nvPr>
        </p:nvPicPr>
        <p:blipFill>
          <a:blip r:embed="rId9"/>
          <a:stretch>
            <a:fillRect/>
          </a:stretch>
        </p:blipFill>
        <p:spPr>
          <a:xfrm>
            <a:off x="8544272" y="2546279"/>
            <a:ext cx="3499113" cy="2624335"/>
          </a:xfrm>
          <a:prstGeom prst="rect">
            <a:avLst/>
          </a:prstGeom>
        </p:spPr>
      </p:pic>
      <p:sp>
        <p:nvSpPr>
          <p:cNvPr id="9" name="Text Box 1032"/>
          <p:cNvSpPr txBox="1">
            <a:spLocks noChangeArrowheads="1"/>
          </p:cNvSpPr>
          <p:nvPr/>
        </p:nvSpPr>
        <p:spPr bwMode="auto">
          <a:xfrm>
            <a:off x="9780000" y="5314630"/>
            <a:ext cx="128455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pPr>
            <a:r>
              <a:rPr lang="zh-CN" altLang="en-US" sz="2000" i="0" dirty="0">
                <a:latin typeface="微软雅黑" panose="020B0503020204020204" pitchFamily="34" charset="-122"/>
                <a:ea typeface="微软雅黑" panose="020B0503020204020204" pitchFamily="34" charset="-122"/>
              </a:rPr>
              <a:t>稳定性</a:t>
            </a:r>
            <a:endParaRPr lang="zh-CN" altLang="en-US" sz="2000" b="0" i="0" dirty="0">
              <a:latin typeface="+mj-lt"/>
              <a:ea typeface="微软雅黑" panose="020B0503020204020204" pitchFamily="34" charset="-122"/>
            </a:endParaRPr>
          </a:p>
        </p:txBody>
      </p:sp>
      <p:sp>
        <p:nvSpPr>
          <p:cNvPr id="10" name="Text Box 1032"/>
          <p:cNvSpPr txBox="1">
            <a:spLocks noChangeArrowheads="1"/>
          </p:cNvSpPr>
          <p:nvPr/>
        </p:nvSpPr>
        <p:spPr bwMode="auto">
          <a:xfrm>
            <a:off x="6203311" y="5314630"/>
            <a:ext cx="1284551" cy="430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pPr>
            <a:r>
              <a:rPr lang="zh-CN" altLang="en-US" sz="2000" i="0" dirty="0">
                <a:latin typeface="微软雅黑" panose="020B0503020204020204" pitchFamily="34" charset="-122"/>
                <a:ea typeface="微软雅黑" panose="020B0503020204020204" pitchFamily="34" charset="-122"/>
              </a:rPr>
              <a:t>刚度</a:t>
            </a:r>
            <a:endParaRPr lang="zh-CN" altLang="en-US" sz="2000" b="0" i="0" dirty="0">
              <a:latin typeface="+mj-lt"/>
              <a:ea typeface="微软雅黑" panose="020B0503020204020204" pitchFamily="34" charset="-122"/>
            </a:endParaRPr>
          </a:p>
        </p:txBody>
      </p:sp>
      <p:sp>
        <p:nvSpPr>
          <p:cNvPr id="11" name="Text Box 1032"/>
          <p:cNvSpPr txBox="1">
            <a:spLocks noChangeArrowheads="1"/>
          </p:cNvSpPr>
          <p:nvPr/>
        </p:nvSpPr>
        <p:spPr bwMode="auto">
          <a:xfrm>
            <a:off x="2567608" y="5314630"/>
            <a:ext cx="1284551" cy="429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pPr>
            <a:r>
              <a:rPr lang="zh-CN" altLang="en-US" sz="2000" i="0" dirty="0">
                <a:latin typeface="微软雅黑" panose="020B0503020204020204" pitchFamily="34" charset="-122"/>
                <a:ea typeface="微软雅黑" panose="020B0503020204020204" pitchFamily="34" charset="-122"/>
              </a:rPr>
              <a:t>强度</a:t>
            </a:r>
          </a:p>
        </p:txBody>
      </p:sp>
      <p:pic>
        <p:nvPicPr>
          <p:cNvPr id="3" name="田径世锦赛撑杆跳断杆惨剧">
            <a:hlinkClick r:id="" action="ppaction://media"/>
            <a:extLst>
              <a:ext uri="{FF2B5EF4-FFF2-40B4-BE49-F238E27FC236}">
                <a16:creationId xmlns:a16="http://schemas.microsoft.com/office/drawing/2014/main" id="{3AEBEF19-BF9D-761F-B63D-64AA8BBCE38F}"/>
              </a:ext>
            </a:extLst>
          </p:cNvPr>
          <p:cNvPicPr>
            <a:picLocks noChangeAspect="1"/>
          </p:cNvPicPr>
          <p:nvPr>
            <a:videoFile r:link="rId4"/>
            <p:extLst>
              <p:ext uri="{DAA4B4D4-6D71-4841-9C94-3DE7FCFB9230}">
                <p14:media xmlns:p14="http://schemas.microsoft.com/office/powerpoint/2010/main" r:embed="rId3"/>
              </p:ext>
            </p:extLst>
          </p:nvPr>
        </p:nvPicPr>
        <p:blipFill>
          <a:blip r:embed="rId10"/>
          <a:stretch>
            <a:fillRect/>
          </a:stretch>
        </p:blipFill>
        <p:spPr>
          <a:xfrm>
            <a:off x="983432" y="2546279"/>
            <a:ext cx="3499113" cy="2624335"/>
          </a:xfrm>
          <a:prstGeom prst="rect">
            <a:avLst/>
          </a:prstGeom>
        </p:spPr>
      </p:pic>
      <p:pic>
        <p:nvPicPr>
          <p:cNvPr id="5" name="XULUN101">
            <a:hlinkClick r:id="" action="ppaction://media"/>
            <a:extLst>
              <a:ext uri="{FF2B5EF4-FFF2-40B4-BE49-F238E27FC236}">
                <a16:creationId xmlns:a16="http://schemas.microsoft.com/office/drawing/2014/main" id="{3B7FA0D2-CD09-E367-4170-39BC82CFFEA5}"/>
              </a:ext>
            </a:extLst>
          </p:cNvPr>
          <p:cNvPicPr>
            <a:picLocks noChangeAspect="1"/>
          </p:cNvPicPr>
          <p:nvPr>
            <a:videoFile r:link="rId6"/>
            <p:extLst>
              <p:ext uri="{DAA4B4D4-6D71-4841-9C94-3DE7FCFB9230}">
                <p14:media xmlns:p14="http://schemas.microsoft.com/office/powerpoint/2010/main" r:embed="rId5"/>
              </p:ext>
            </p:extLst>
          </p:nvPr>
        </p:nvPicPr>
        <p:blipFill>
          <a:blip r:embed="rId11"/>
          <a:stretch>
            <a:fillRect/>
          </a:stretch>
        </p:blipFill>
        <p:spPr>
          <a:xfrm>
            <a:off x="4799856" y="2546279"/>
            <a:ext cx="3499113" cy="2624335"/>
          </a:xfrm>
          <a:prstGeom prst="rect">
            <a:avLst/>
          </a:prstGeom>
        </p:spPr>
      </p:pic>
    </p:spTree>
    <p:extLst>
      <p:ext uri="{BB962C8B-B14F-4D97-AF65-F5344CB8AC3E}">
        <p14:creationId xmlns:p14="http://schemas.microsoft.com/office/powerpoint/2010/main" val="504319100"/>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39706" fill="hold"/>
                                        <p:tgtEl>
                                          <p:spTgt spid="3"/>
                                        </p:tgtEl>
                                      </p:cBhvr>
                                    </p:cmd>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mediacall" presetSubtype="0" fill="hold" nodeType="clickEffect">
                                  <p:stCondLst>
                                    <p:cond delay="0"/>
                                  </p:stCondLst>
                                  <p:childTnLst>
                                    <p:cmd type="call" cmd="playFrom(0.0)">
                                      <p:cBhvr>
                                        <p:cTn id="18" dur="9041" fill="hold"/>
                                        <p:tgtEl>
                                          <p:spTgt spid="5"/>
                                        </p:tgtEl>
                                      </p:cBhvr>
                                    </p:cmd>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mediacall" presetSubtype="0" fill="hold" nodeType="clickEffect">
                                  <p:stCondLst>
                                    <p:cond delay="0"/>
                                  </p:stCondLst>
                                  <p:childTnLst>
                                    <p:cmd type="call" cmd="playFrom(0.0)">
                                      <p:cBhvr>
                                        <p:cTn id="26" dur="25041" fill="hold"/>
                                        <p:tgtEl>
                                          <p:spTgt spid="4"/>
                                        </p:tgtEl>
                                      </p:cBhvr>
                                    </p:cmd>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31" fill="hold" display="0">
                  <p:stCondLst>
                    <p:cond delay="indefinite"/>
                  </p:stCondLst>
                </p:cTn>
                <p:tgtEl>
                  <p:spTgt spid="4"/>
                </p:tgtEl>
              </p:cMediaNode>
            </p:video>
            <p:video>
              <p:cMediaNode vol="80000">
                <p:cTn id="32" fill="hold" display="0">
                  <p:stCondLst>
                    <p:cond delay="indefinite"/>
                  </p:stCondLst>
                </p:cTn>
                <p:tgtEl>
                  <p:spTgt spid="3"/>
                </p:tgtEl>
              </p:cMediaNode>
            </p:video>
            <p:video>
              <p:cMediaNode vol="80000">
                <p:cTn id="33" fill="hold" display="0">
                  <p:stCondLst>
                    <p:cond delay="indefinite"/>
                  </p:stCondLst>
                </p:cTn>
                <p:tgtEl>
                  <p:spTgt spid="5"/>
                </p:tgtEl>
              </p:cMediaNode>
            </p:video>
          </p:childTnLst>
        </p:cTn>
      </p:par>
    </p:tnLst>
    <p:bldLst>
      <p:bldP spid="2" grpId="0" animBg="1"/>
      <p:bldP spid="9" grpId="0" autoUpdateAnimBg="0"/>
      <p:bldP spid="10" grpId="0" autoUpdateAnimBg="0"/>
      <p:bldP spid="11" grpId="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77985" cy="1077218"/>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材料力学的基本假设</a:t>
            </a:r>
          </a:p>
          <a:p>
            <a:pPr>
              <a:defRPr/>
            </a:pPr>
            <a:endParaRPr kumimoji="1" lang="zh-CN" altLang="en-US" sz="3200" i="0" dirty="0">
              <a:solidFill>
                <a:srgbClr val="FFFFFF"/>
              </a:solidFill>
              <a:latin typeface="微软雅黑" panose="020B0503020204020204" pitchFamily="34" charset="-122"/>
              <a:ea typeface="微软雅黑" panose="020B0503020204020204" pitchFamily="34" charset="-122"/>
            </a:endParaRPr>
          </a:p>
        </p:txBody>
      </p:sp>
      <p:sp>
        <p:nvSpPr>
          <p:cNvPr id="2" name="Rectangle 61">
            <a:extLst>
              <a:ext uri="{FF2B5EF4-FFF2-40B4-BE49-F238E27FC236}">
                <a16:creationId xmlns:a16="http://schemas.microsoft.com/office/drawing/2014/main" id="{C1834BF7-FAF6-B26C-EE54-A28B03B153E9}"/>
              </a:ext>
            </a:extLst>
          </p:cNvPr>
          <p:cNvSpPr>
            <a:spLocks noChangeArrowheads="1"/>
          </p:cNvSpPr>
          <p:nvPr/>
        </p:nvSpPr>
        <p:spPr bwMode="auto">
          <a:xfrm>
            <a:off x="119336" y="2630194"/>
            <a:ext cx="11953328" cy="3146756"/>
          </a:xfrm>
          <a:prstGeom prst="rect">
            <a:avLst/>
          </a:prstGeom>
          <a:solidFill>
            <a:srgbClr val="B9CDE5"/>
          </a:solidFill>
          <a:ln>
            <a:noFill/>
          </a:ln>
          <a:effectLst/>
        </p:spPr>
        <p:txBody>
          <a:bodyPr wrap="none" anchor="ctr"/>
          <a:lstStyle/>
          <a:p>
            <a:endParaRPr lang="zh-CN" altLang="en-US"/>
          </a:p>
        </p:txBody>
      </p:sp>
      <p:sp>
        <p:nvSpPr>
          <p:cNvPr id="9" name="Text Box 1032"/>
          <p:cNvSpPr txBox="1">
            <a:spLocks noChangeArrowheads="1"/>
          </p:cNvSpPr>
          <p:nvPr/>
        </p:nvSpPr>
        <p:spPr bwMode="auto">
          <a:xfrm>
            <a:off x="6312024" y="5314630"/>
            <a:ext cx="205544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pPr>
            <a:r>
              <a:rPr lang="zh-CN" altLang="en-US" sz="2000" i="0" dirty="0">
                <a:latin typeface="微软雅黑" panose="020B0503020204020204" pitchFamily="34" charset="-122"/>
                <a:ea typeface="微软雅黑" panose="020B0503020204020204" pitchFamily="34" charset="-122"/>
              </a:rPr>
              <a:t>各向异性材料</a:t>
            </a:r>
            <a:endParaRPr lang="zh-CN" altLang="en-US" sz="2000" b="0" i="0" dirty="0">
              <a:latin typeface="+mj-lt"/>
              <a:ea typeface="微软雅黑" panose="020B0503020204020204" pitchFamily="34" charset="-122"/>
            </a:endParaRPr>
          </a:p>
        </p:txBody>
      </p:sp>
      <p:sp>
        <p:nvSpPr>
          <p:cNvPr id="10" name="Text Box 1032"/>
          <p:cNvSpPr txBox="1">
            <a:spLocks noChangeArrowheads="1"/>
          </p:cNvSpPr>
          <p:nvPr/>
        </p:nvSpPr>
        <p:spPr bwMode="auto">
          <a:xfrm>
            <a:off x="3212300" y="5314630"/>
            <a:ext cx="295232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pPr>
            <a:r>
              <a:rPr lang="zh-CN" altLang="en-US" sz="2000" i="0" dirty="0">
                <a:latin typeface="微软雅黑" panose="020B0503020204020204" pitchFamily="34" charset="-122"/>
                <a:ea typeface="微软雅黑" panose="020B0503020204020204" pitchFamily="34" charset="-122"/>
              </a:rPr>
              <a:t>优质钢材的显微组织</a:t>
            </a:r>
          </a:p>
        </p:txBody>
      </p:sp>
      <p:sp>
        <p:nvSpPr>
          <p:cNvPr id="11" name="Text Box 1032"/>
          <p:cNvSpPr txBox="1">
            <a:spLocks noChangeArrowheads="1"/>
          </p:cNvSpPr>
          <p:nvPr/>
        </p:nvSpPr>
        <p:spPr bwMode="auto">
          <a:xfrm>
            <a:off x="375985" y="5314630"/>
            <a:ext cx="259228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pPr>
            <a:r>
              <a:rPr lang="zh-CN" altLang="en-US" sz="2000" i="0" dirty="0">
                <a:latin typeface="微软雅黑" panose="020B0503020204020204" pitchFamily="34" charset="-122"/>
                <a:ea typeface="微软雅黑" panose="020B0503020204020204" pitchFamily="34" charset="-122"/>
              </a:rPr>
              <a:t>普通钢材的显微组织</a:t>
            </a:r>
          </a:p>
        </p:txBody>
      </p:sp>
      <p:sp>
        <p:nvSpPr>
          <p:cNvPr id="8" name="Text Box 1032"/>
          <p:cNvSpPr txBox="1">
            <a:spLocks noChangeArrowheads="1"/>
          </p:cNvSpPr>
          <p:nvPr/>
        </p:nvSpPr>
        <p:spPr bwMode="auto">
          <a:xfrm>
            <a:off x="479376" y="979350"/>
            <a:ext cx="11420891" cy="609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pPr>
            <a:r>
              <a:rPr lang="zh-CN" altLang="en-US" sz="2800" i="0" dirty="0">
                <a:solidFill>
                  <a:srgbClr val="FF0000"/>
                </a:solidFill>
                <a:latin typeface="微软雅黑" panose="020B0503020204020204" pitchFamily="34" charset="-122"/>
                <a:ea typeface="微软雅黑" panose="020B0503020204020204" pitchFamily="34" charset="-122"/>
              </a:rPr>
              <a:t>均匀连续性假设 </a:t>
            </a:r>
            <a:r>
              <a:rPr lang="zh-CN" altLang="en-US" sz="2800" i="0" dirty="0">
                <a:latin typeface="+mj-lt"/>
                <a:ea typeface="微软雅黑" panose="020B0503020204020204" pitchFamily="34" charset="-122"/>
              </a:rPr>
              <a:t>物质不留空隙、均匀充满了整个固体，各部分性质相同。</a:t>
            </a:r>
            <a:endParaRPr lang="zh-CN" altLang="en-US" sz="2800" i="0" dirty="0">
              <a:latin typeface="微软雅黑" panose="020B0503020204020204" pitchFamily="34" charset="-122"/>
              <a:ea typeface="微软雅黑" panose="020B0503020204020204" pitchFamily="34" charset="-122"/>
            </a:endParaRPr>
          </a:p>
        </p:txBody>
      </p:sp>
      <p:sp>
        <p:nvSpPr>
          <p:cNvPr id="12" name="Text Box 1032"/>
          <p:cNvSpPr txBox="1">
            <a:spLocks noChangeArrowheads="1"/>
          </p:cNvSpPr>
          <p:nvPr/>
        </p:nvSpPr>
        <p:spPr bwMode="auto">
          <a:xfrm>
            <a:off x="479376" y="1500073"/>
            <a:ext cx="11420891" cy="609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pPr>
            <a:r>
              <a:rPr lang="zh-CN" altLang="en-US" sz="2800" i="0" dirty="0">
                <a:solidFill>
                  <a:srgbClr val="FF0000"/>
                </a:solidFill>
                <a:latin typeface="微软雅黑" panose="020B0503020204020204" pitchFamily="34" charset="-122"/>
                <a:ea typeface="微软雅黑" panose="020B0503020204020204" pitchFamily="34" charset="-122"/>
              </a:rPr>
              <a:t>各向同性假设 </a:t>
            </a:r>
            <a:r>
              <a:rPr lang="zh-CN" altLang="en-US" sz="2800" i="0" dirty="0">
                <a:latin typeface="+mj-lt"/>
                <a:ea typeface="微软雅黑" panose="020B0503020204020204" pitchFamily="34" charset="-122"/>
              </a:rPr>
              <a:t>固体内各点沿各方向的力学性质完全相同。</a:t>
            </a:r>
          </a:p>
        </p:txBody>
      </p:sp>
      <p:pic>
        <p:nvPicPr>
          <p:cNvPr id="13" name="Picture 2" descr="https://timgsa.baidu.com/timg?image&amp;quality=80&amp;size=b9999_10000&amp;sec=1580839964104&amp;di=7110115fa98b8e36b066ece385448e94&amp;imgtype=0&amp;src=http%3A%2F%2Fhbimg.b0.upaiyun.com%2F2520172cf706f4c7b3a28136a9c4ef8868e5fa692310d-MDo4XZ_fw65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66450" y="3062703"/>
            <a:ext cx="2848887" cy="2022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2" descr="P9"/>
          <p:cNvPicPr>
            <a:picLocks noChangeAspect="1" noChangeArrowheads="1"/>
          </p:cNvPicPr>
          <p:nvPr/>
        </p:nvPicPr>
        <p:blipFill>
          <a:blip r:embed="rId4">
            <a:extLst>
              <a:ext uri="{28A0092B-C50C-407E-A947-70E740481C1C}">
                <a14:useLocalDpi xmlns:a14="http://schemas.microsoft.com/office/drawing/2010/main" val="0"/>
              </a:ext>
            </a:extLst>
          </a:blip>
          <a:srcRect l="4819" t="18750" r="4094" b="3125"/>
          <a:stretch>
            <a:fillRect/>
          </a:stretch>
        </p:blipFill>
        <p:spPr bwMode="auto">
          <a:xfrm>
            <a:off x="323855" y="3057899"/>
            <a:ext cx="2696548" cy="2027285"/>
          </a:xfrm>
          <a:prstGeom prst="rect">
            <a:avLst/>
          </a:prstGeom>
          <a:noFill/>
          <a:ln w="9525">
            <a:solidFill>
              <a:srgbClr val="99CCFF"/>
            </a:solidFill>
            <a:miter lim="800000"/>
            <a:headEnd/>
            <a:tailEnd/>
          </a:ln>
          <a:extLst>
            <a:ext uri="{909E8E84-426E-40DD-AFC4-6F175D3DCCD1}">
              <a14:hiddenFill xmlns:a14="http://schemas.microsoft.com/office/drawing/2010/main">
                <a:solidFill>
                  <a:srgbClr val="FFFFFF"/>
                </a:solidFill>
              </a14:hiddenFill>
            </a:ext>
          </a:extLst>
        </p:spPr>
      </p:pic>
      <p:pic>
        <p:nvPicPr>
          <p:cNvPr id="16" name="Picture 2" descr="p10"/>
          <p:cNvPicPr>
            <a:picLocks noChangeAspect="1" noChangeArrowheads="1"/>
          </p:cNvPicPr>
          <p:nvPr/>
        </p:nvPicPr>
        <p:blipFill>
          <a:blip r:embed="rId5">
            <a:extLst>
              <a:ext uri="{28A0092B-C50C-407E-A947-70E740481C1C}">
                <a14:useLocalDpi xmlns:a14="http://schemas.microsoft.com/office/drawing/2010/main" val="0"/>
              </a:ext>
            </a:extLst>
          </a:blip>
          <a:srcRect t="16228"/>
          <a:stretch>
            <a:fillRect/>
          </a:stretch>
        </p:blipFill>
        <p:spPr bwMode="auto">
          <a:xfrm>
            <a:off x="3117628" y="3057899"/>
            <a:ext cx="2809177" cy="2027286"/>
          </a:xfrm>
          <a:prstGeom prst="rect">
            <a:avLst/>
          </a:prstGeom>
          <a:noFill/>
          <a:ln w="9525">
            <a:solidFill>
              <a:srgbClr val="99CCFF"/>
            </a:solidFill>
            <a:miter lim="800000"/>
            <a:headEnd/>
            <a:tailEnd/>
          </a:ln>
          <a:extLst>
            <a:ext uri="{909E8E84-426E-40DD-AFC4-6F175D3DCCD1}">
              <a14:hiddenFill xmlns:a14="http://schemas.microsoft.com/office/drawing/2010/main">
                <a:solidFill>
                  <a:srgbClr val="FFFFFF"/>
                </a:solidFill>
              </a14:hiddenFill>
            </a:ext>
          </a:extLst>
        </p:spPr>
      </p:pic>
      <p:sp>
        <p:nvSpPr>
          <p:cNvPr id="17" name="Text Box 1032"/>
          <p:cNvSpPr txBox="1">
            <a:spLocks noChangeArrowheads="1"/>
          </p:cNvSpPr>
          <p:nvPr/>
        </p:nvSpPr>
        <p:spPr bwMode="auto">
          <a:xfrm>
            <a:off x="479376" y="1987889"/>
            <a:ext cx="11420891" cy="565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pPr>
            <a:r>
              <a:rPr lang="zh-CN" altLang="en-US" sz="2800" i="0" dirty="0">
                <a:solidFill>
                  <a:srgbClr val="FF0000"/>
                </a:solidFill>
                <a:latin typeface="微软雅黑" panose="020B0503020204020204" pitchFamily="34" charset="-122"/>
                <a:ea typeface="微软雅黑" panose="020B0503020204020204" pitchFamily="34" charset="-122"/>
              </a:rPr>
              <a:t>小变形假设 </a:t>
            </a:r>
            <a:r>
              <a:rPr lang="zh-CN" altLang="en-US" sz="2800" i="0" dirty="0">
                <a:latin typeface="+mj-lt"/>
                <a:ea typeface="微软雅黑" panose="020B0503020204020204" pitchFamily="34" charset="-122"/>
              </a:rPr>
              <a:t>外力作用下的材料变形量与本身尺寸相比极小，忽略其影响。</a:t>
            </a:r>
          </a:p>
        </p:txBody>
      </p:sp>
      <p:pic>
        <p:nvPicPr>
          <p:cNvPr id="3" name="图片 2"/>
          <p:cNvPicPr>
            <a:picLocks noChangeAspect="1"/>
          </p:cNvPicPr>
          <p:nvPr/>
        </p:nvPicPr>
        <p:blipFill>
          <a:blip r:embed="rId6"/>
          <a:stretch>
            <a:fillRect/>
          </a:stretch>
        </p:blipFill>
        <p:spPr>
          <a:xfrm>
            <a:off x="9250737" y="3057899"/>
            <a:ext cx="2649530" cy="2544463"/>
          </a:xfrm>
          <a:prstGeom prst="rect">
            <a:avLst/>
          </a:prstGeom>
        </p:spPr>
      </p:pic>
      <p:sp>
        <p:nvSpPr>
          <p:cNvPr id="47" name="Text Box 1032"/>
          <p:cNvSpPr txBox="1">
            <a:spLocks noChangeArrowheads="1"/>
          </p:cNvSpPr>
          <p:nvPr/>
        </p:nvSpPr>
        <p:spPr bwMode="auto">
          <a:xfrm>
            <a:off x="9623235" y="5314630"/>
            <a:ext cx="2055444" cy="430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pPr>
            <a:r>
              <a:rPr lang="zh-CN" altLang="en-US" sz="2000" i="0" dirty="0">
                <a:latin typeface="微软雅黑" panose="020B0503020204020204" pitchFamily="34" charset="-122"/>
                <a:ea typeface="微软雅黑" panose="020B0503020204020204" pitchFamily="34" charset="-122"/>
              </a:rPr>
              <a:t>小变形假设</a:t>
            </a:r>
            <a:endParaRPr lang="zh-CN" altLang="en-US" sz="2000" b="0" i="0" dirty="0">
              <a:latin typeface="+mj-lt"/>
              <a:ea typeface="微软雅黑" panose="020B0503020204020204" pitchFamily="34" charset="-122"/>
            </a:endParaRPr>
          </a:p>
        </p:txBody>
      </p:sp>
    </p:spTree>
    <p:extLst>
      <p:ext uri="{BB962C8B-B14F-4D97-AF65-F5344CB8AC3E}">
        <p14:creationId xmlns:p14="http://schemas.microsoft.com/office/powerpoint/2010/main" val="1786118994"/>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1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499"/>
                                          </p:stCondLst>
                                        </p:cTn>
                                        <p:tgtEl>
                                          <p:spTgt spid="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499"/>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9" grpId="0" autoUpdateAnimBg="0"/>
      <p:bldP spid="10" grpId="0" autoUpdateAnimBg="0"/>
      <p:bldP spid="11" grpId="0" autoUpdateAnimBg="0"/>
      <p:bldP spid="8" grpId="0" autoUpdateAnimBg="0"/>
      <p:bldP spid="12" grpId="0" autoUpdateAnimBg="0"/>
      <p:bldP spid="17" grpId="0" autoUpdateAnimBg="0"/>
      <p:bldP spid="47" grpId="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467616"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杆件变形基本形式</a:t>
            </a:r>
          </a:p>
        </p:txBody>
      </p:sp>
      <p:sp>
        <p:nvSpPr>
          <p:cNvPr id="2" name="Rectangle 61">
            <a:extLst>
              <a:ext uri="{FF2B5EF4-FFF2-40B4-BE49-F238E27FC236}">
                <a16:creationId xmlns:a16="http://schemas.microsoft.com/office/drawing/2014/main" id="{C1834BF7-FAF6-B26C-EE54-A28B03B153E9}"/>
              </a:ext>
            </a:extLst>
          </p:cNvPr>
          <p:cNvSpPr>
            <a:spLocks noChangeArrowheads="1"/>
          </p:cNvSpPr>
          <p:nvPr/>
        </p:nvSpPr>
        <p:spPr bwMode="auto">
          <a:xfrm>
            <a:off x="1487488" y="857134"/>
            <a:ext cx="9145016" cy="5380178"/>
          </a:xfrm>
          <a:prstGeom prst="rect">
            <a:avLst/>
          </a:prstGeom>
          <a:solidFill>
            <a:srgbClr val="B9CDE5"/>
          </a:solidFill>
          <a:ln>
            <a:noFill/>
          </a:ln>
          <a:effectLst/>
        </p:spPr>
        <p:txBody>
          <a:bodyPr wrap="none" anchor="ctr"/>
          <a:lstStyle/>
          <a:p>
            <a:endParaRPr lang="zh-CN" altLang="en-US"/>
          </a:p>
        </p:txBody>
      </p:sp>
      <p:sp>
        <p:nvSpPr>
          <p:cNvPr id="8" name="Text Box 1032"/>
          <p:cNvSpPr txBox="1">
            <a:spLocks noChangeArrowheads="1"/>
          </p:cNvSpPr>
          <p:nvPr/>
        </p:nvSpPr>
        <p:spPr bwMode="auto">
          <a:xfrm>
            <a:off x="2142782" y="922418"/>
            <a:ext cx="2736304" cy="609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pPr>
            <a:r>
              <a:rPr lang="zh-CN" altLang="en-US" sz="2800" i="0" dirty="0">
                <a:solidFill>
                  <a:srgbClr val="FF0000"/>
                </a:solidFill>
                <a:latin typeface="微软雅黑" panose="020B0503020204020204" pitchFamily="34" charset="-122"/>
                <a:ea typeface="微软雅黑" panose="020B0503020204020204" pitchFamily="34" charset="-122"/>
              </a:rPr>
              <a:t>轴向拉伸与压缩</a:t>
            </a:r>
            <a:endParaRPr lang="zh-CN" altLang="en-US" sz="2800" i="0" dirty="0">
              <a:latin typeface="微软雅黑" panose="020B0503020204020204" pitchFamily="34" charset="-122"/>
              <a:ea typeface="微软雅黑" panose="020B0503020204020204" pitchFamily="34" charset="-122"/>
            </a:endParaRPr>
          </a:p>
        </p:txBody>
      </p:sp>
      <p:pic>
        <p:nvPicPr>
          <p:cNvPr id="28" name="LASHEN1">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11"/>
          <a:stretch>
            <a:fillRect/>
          </a:stretch>
        </p:blipFill>
        <p:spPr>
          <a:xfrm>
            <a:off x="1948775" y="1474853"/>
            <a:ext cx="3124318" cy="1974569"/>
          </a:xfrm>
          <a:prstGeom prst="rect">
            <a:avLst/>
          </a:prstGeom>
        </p:spPr>
      </p:pic>
      <p:pic>
        <p:nvPicPr>
          <p:cNvPr id="31" name="dh1_4">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12"/>
          <a:stretch>
            <a:fillRect/>
          </a:stretch>
        </p:blipFill>
        <p:spPr>
          <a:xfrm>
            <a:off x="6689382" y="4028209"/>
            <a:ext cx="2958674" cy="2192899"/>
          </a:xfrm>
          <a:prstGeom prst="rect">
            <a:avLst/>
          </a:prstGeom>
        </p:spPr>
      </p:pic>
      <p:sp>
        <p:nvSpPr>
          <p:cNvPr id="32" name="Text Box 1032"/>
          <p:cNvSpPr txBox="1">
            <a:spLocks noChangeArrowheads="1"/>
          </p:cNvSpPr>
          <p:nvPr/>
        </p:nvSpPr>
        <p:spPr bwMode="auto">
          <a:xfrm>
            <a:off x="7680176" y="3480154"/>
            <a:ext cx="1158475" cy="609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pPr>
            <a:r>
              <a:rPr lang="zh-CN" altLang="en-US" sz="2800" i="0" dirty="0">
                <a:solidFill>
                  <a:srgbClr val="FF0000"/>
                </a:solidFill>
                <a:latin typeface="微软雅黑" panose="020B0503020204020204" pitchFamily="34" charset="-122"/>
                <a:ea typeface="微软雅黑" panose="020B0503020204020204" pitchFamily="34" charset="-122"/>
              </a:rPr>
              <a:t>弯曲</a:t>
            </a:r>
            <a:endParaRPr lang="zh-CN" altLang="en-US" sz="2800" i="0" dirty="0">
              <a:latin typeface="微软雅黑" panose="020B0503020204020204" pitchFamily="34" charset="-122"/>
              <a:ea typeface="微软雅黑" panose="020B0503020204020204" pitchFamily="34" charset="-122"/>
            </a:endParaRPr>
          </a:p>
        </p:txBody>
      </p:sp>
      <p:sp>
        <p:nvSpPr>
          <p:cNvPr id="33" name="Text Box 1032"/>
          <p:cNvSpPr txBox="1">
            <a:spLocks noChangeArrowheads="1"/>
          </p:cNvSpPr>
          <p:nvPr/>
        </p:nvSpPr>
        <p:spPr bwMode="auto">
          <a:xfrm>
            <a:off x="7824192" y="959799"/>
            <a:ext cx="1368152" cy="5656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pPr>
            <a:r>
              <a:rPr lang="zh-CN" altLang="en-US" sz="2800" i="0" dirty="0">
                <a:solidFill>
                  <a:srgbClr val="FF0000"/>
                </a:solidFill>
                <a:latin typeface="微软雅黑" panose="020B0503020204020204" pitchFamily="34" charset="-122"/>
                <a:ea typeface="微软雅黑" panose="020B0503020204020204" pitchFamily="34" charset="-122"/>
              </a:rPr>
              <a:t>扭转</a:t>
            </a:r>
            <a:endParaRPr lang="zh-CN" altLang="en-US" sz="2800" i="0" dirty="0">
              <a:latin typeface="微软雅黑" panose="020B0503020204020204" pitchFamily="34" charset="-122"/>
              <a:ea typeface="微软雅黑" panose="020B0503020204020204" pitchFamily="34" charset="-122"/>
            </a:endParaRPr>
          </a:p>
        </p:txBody>
      </p:sp>
      <p:sp>
        <p:nvSpPr>
          <p:cNvPr id="3" name="Text Box 1032">
            <a:extLst>
              <a:ext uri="{FF2B5EF4-FFF2-40B4-BE49-F238E27FC236}">
                <a16:creationId xmlns:a16="http://schemas.microsoft.com/office/drawing/2014/main" id="{36B8B8E5-A2D8-357C-1693-4854266C0321}"/>
              </a:ext>
            </a:extLst>
          </p:cNvPr>
          <p:cNvSpPr txBox="1">
            <a:spLocks noChangeArrowheads="1"/>
          </p:cNvSpPr>
          <p:nvPr/>
        </p:nvSpPr>
        <p:spPr bwMode="auto">
          <a:xfrm>
            <a:off x="2990136" y="3480154"/>
            <a:ext cx="1158475" cy="5656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pPr>
            <a:r>
              <a:rPr lang="zh-CN" altLang="en-US" sz="2800" i="0" dirty="0">
                <a:solidFill>
                  <a:srgbClr val="FF0000"/>
                </a:solidFill>
                <a:latin typeface="微软雅黑" panose="020B0503020204020204" pitchFamily="34" charset="-122"/>
                <a:ea typeface="微软雅黑" panose="020B0503020204020204" pitchFamily="34" charset="-122"/>
              </a:rPr>
              <a:t>剪切</a:t>
            </a:r>
            <a:endParaRPr lang="zh-CN" altLang="en-US" sz="2800" i="0" dirty="0">
              <a:latin typeface="微软雅黑" panose="020B0503020204020204" pitchFamily="34" charset="-122"/>
              <a:ea typeface="微软雅黑" panose="020B0503020204020204" pitchFamily="34" charset="-122"/>
            </a:endParaRPr>
          </a:p>
        </p:txBody>
      </p:sp>
      <p:pic>
        <p:nvPicPr>
          <p:cNvPr id="4" name="剪切变形">
            <a:hlinkClick r:id="" action="ppaction://media"/>
            <a:extLst>
              <a:ext uri="{FF2B5EF4-FFF2-40B4-BE49-F238E27FC236}">
                <a16:creationId xmlns:a16="http://schemas.microsoft.com/office/drawing/2014/main" id="{842838A4-9EB3-25D3-3697-FD58D10D5191}"/>
              </a:ext>
            </a:extLst>
          </p:cNvPr>
          <p:cNvPicPr>
            <a:picLocks noChangeAspect="1"/>
          </p:cNvPicPr>
          <p:nvPr>
            <a:videoFile r:link="rId6"/>
            <p:extLst>
              <p:ext uri="{DAA4B4D4-6D71-4841-9C94-3DE7FCFB9230}">
                <p14:media xmlns:p14="http://schemas.microsoft.com/office/powerpoint/2010/main" r:embed="rId5"/>
              </p:ext>
            </p:extLst>
          </p:nvPr>
        </p:nvPicPr>
        <p:blipFill>
          <a:blip r:embed="rId13"/>
          <a:stretch>
            <a:fillRect/>
          </a:stretch>
        </p:blipFill>
        <p:spPr>
          <a:xfrm>
            <a:off x="1948775" y="4067141"/>
            <a:ext cx="3067106" cy="2113961"/>
          </a:xfrm>
          <a:prstGeom prst="rect">
            <a:avLst/>
          </a:prstGeom>
        </p:spPr>
      </p:pic>
      <p:pic>
        <p:nvPicPr>
          <p:cNvPr id="5" name="扭转变形">
            <a:hlinkClick r:id="" action="ppaction://media"/>
            <a:extLst>
              <a:ext uri="{FF2B5EF4-FFF2-40B4-BE49-F238E27FC236}">
                <a16:creationId xmlns:a16="http://schemas.microsoft.com/office/drawing/2014/main" id="{606F05B8-0EC3-C304-6DF5-C037845379EC}"/>
              </a:ext>
            </a:extLst>
          </p:cNvPr>
          <p:cNvPicPr>
            <a:picLocks noChangeAspect="1"/>
          </p:cNvPicPr>
          <p:nvPr>
            <a:videoFile r:link="rId8"/>
            <p:extLst>
              <p:ext uri="{DAA4B4D4-6D71-4841-9C94-3DE7FCFB9230}">
                <p14:media xmlns:p14="http://schemas.microsoft.com/office/powerpoint/2010/main" r:embed="rId7"/>
              </p:ext>
            </p:extLst>
          </p:nvPr>
        </p:nvPicPr>
        <p:blipFill rotWithShape="1">
          <a:blip r:embed="rId14"/>
          <a:srcRect b="13623"/>
          <a:stretch/>
        </p:blipFill>
        <p:spPr>
          <a:xfrm>
            <a:off x="6600056" y="1472282"/>
            <a:ext cx="3048000" cy="1974569"/>
          </a:xfrm>
          <a:prstGeom prst="rect">
            <a:avLst/>
          </a:prstGeom>
        </p:spPr>
      </p:pic>
    </p:spTree>
    <p:extLst>
      <p:ext uri="{BB962C8B-B14F-4D97-AF65-F5344CB8AC3E}">
        <p14:creationId xmlns:p14="http://schemas.microsoft.com/office/powerpoint/2010/main" val="310188438"/>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3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3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31"/>
                                        </p:tgtEl>
                                        <p:attrNameLst>
                                          <p:attrName>style.visibility</p:attrName>
                                        </p:attrNameLst>
                                      </p:cBhvr>
                                      <p:to>
                                        <p:strVal val="visible"/>
                                      </p:to>
                                    </p:set>
                                    <p:animEffect transition="in" filter="fade">
                                      <p:cBhvr>
                                        <p:cTn id="35"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36" fill="hold" display="0">
                  <p:stCondLst>
                    <p:cond delay="indefinite"/>
                  </p:stCondLst>
                </p:cTn>
                <p:tgtEl>
                  <p:spTgt spid="28"/>
                </p:tgtEl>
              </p:cMediaNode>
            </p:video>
            <p:video>
              <p:cMediaNode vol="80000">
                <p:cTn id="37" fill="hold" display="0">
                  <p:stCondLst>
                    <p:cond delay="indefinite"/>
                  </p:stCondLst>
                </p:cTn>
                <p:tgtEl>
                  <p:spTgt spid="31"/>
                </p:tgtEl>
              </p:cMediaNode>
            </p:video>
            <p:video>
              <p:cMediaNode vol="80000">
                <p:cTn id="38" fill="hold" display="0">
                  <p:stCondLst>
                    <p:cond delay="indefinite"/>
                  </p:stCondLst>
                </p:cTn>
                <p:tgtEl>
                  <p:spTgt spid="4"/>
                </p:tgtEl>
              </p:cMediaNode>
            </p:video>
            <p:video>
              <p:cMediaNode vol="80000">
                <p:cTn id="39" fill="hold" display="0">
                  <p:stCondLst>
                    <p:cond delay="indefinite"/>
                  </p:stCondLst>
                </p:cTn>
                <p:tgtEl>
                  <p:spTgt spid="5"/>
                </p:tgtEl>
              </p:cMediaNode>
            </p:video>
          </p:childTnLst>
        </p:cTn>
      </p:par>
    </p:tnLst>
    <p:bldLst>
      <p:bldP spid="8" grpId="0" autoUpdateAnimBg="0"/>
      <p:bldP spid="32" grpId="0" autoUpdateAnimBg="0"/>
      <p:bldP spid="33" grpId="0" autoUpdateAnimBg="0"/>
      <p:bldP spid="3" grpId="0"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711605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第八章   拉压、剪切与挤压的强度计算</a:t>
            </a:r>
          </a:p>
        </p:txBody>
      </p:sp>
      <p:sp>
        <p:nvSpPr>
          <p:cNvPr id="5" name="Rectangle 2"/>
          <p:cNvSpPr>
            <a:spLocks noChangeArrowheads="1"/>
          </p:cNvSpPr>
          <p:nvPr/>
        </p:nvSpPr>
        <p:spPr bwMode="auto">
          <a:xfrm>
            <a:off x="164442" y="928670"/>
            <a:ext cx="9747982"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3000" i="0" dirty="0">
                <a:solidFill>
                  <a:schemeClr val="accent6">
                    <a:lumMod val="75000"/>
                  </a:schemeClr>
                </a:solidFill>
                <a:latin typeface="+mn-lt"/>
                <a:ea typeface="微软雅黑" panose="020B0503020204020204" pitchFamily="34" charset="-122"/>
              </a:rPr>
              <a:t>§8-1  </a:t>
            </a:r>
            <a:r>
              <a:rPr lang="zh-CN" altLang="en-US" sz="3000" i="0" dirty="0">
                <a:solidFill>
                  <a:schemeClr val="accent6">
                    <a:lumMod val="75000"/>
                  </a:schemeClr>
                </a:solidFill>
                <a:latin typeface="+mn-lt"/>
                <a:ea typeface="微软雅黑" panose="020B0503020204020204" pitchFamily="34" charset="-122"/>
              </a:rPr>
              <a:t>轴向拉伸与压缩的概念、截面法、轴力与轴力图 </a:t>
            </a:r>
          </a:p>
        </p:txBody>
      </p:sp>
      <p:sp>
        <p:nvSpPr>
          <p:cNvPr id="14" name="Text Box 1032"/>
          <p:cNvSpPr txBox="1">
            <a:spLocks noChangeArrowheads="1"/>
          </p:cNvSpPr>
          <p:nvPr/>
        </p:nvSpPr>
        <p:spPr bwMode="auto">
          <a:xfrm>
            <a:off x="335361" y="1482668"/>
            <a:ext cx="10801199" cy="1126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pPr>
            <a:r>
              <a:rPr lang="zh-CN" altLang="en-US" sz="2800" i="0" dirty="0">
                <a:latin typeface="+mj-lt"/>
                <a:ea typeface="微软雅黑" panose="020B0503020204020204" pitchFamily="34" charset="-122"/>
              </a:rPr>
              <a:t>图示的起重机吊架中，</a:t>
            </a:r>
            <a:r>
              <a:rPr lang="en-US" altLang="zh-CN" sz="2800" b="0" dirty="0">
                <a:latin typeface="+mj-lt"/>
                <a:ea typeface="微软雅黑" panose="020B0503020204020204" pitchFamily="34" charset="-122"/>
              </a:rPr>
              <a:t>BC </a:t>
            </a:r>
            <a:r>
              <a:rPr lang="zh-CN" altLang="en-US" sz="2800" i="0" dirty="0">
                <a:latin typeface="+mj-lt"/>
                <a:ea typeface="微软雅黑" panose="020B0503020204020204" pitchFamily="34" charset="-122"/>
              </a:rPr>
              <a:t>杆受到轴向拉伸，使轴线产生伸长变形；而</a:t>
            </a:r>
            <a:r>
              <a:rPr lang="en-US" altLang="zh-CN" sz="2800" b="0" dirty="0">
                <a:latin typeface="+mj-lt"/>
                <a:ea typeface="微软雅黑" panose="020B0503020204020204" pitchFamily="34" charset="-122"/>
              </a:rPr>
              <a:t>AB</a:t>
            </a:r>
            <a:r>
              <a:rPr lang="zh-CN" altLang="en-US" sz="2800" i="0" dirty="0">
                <a:latin typeface="+mj-lt"/>
                <a:ea typeface="微软雅黑" panose="020B0503020204020204" pitchFamily="34" charset="-122"/>
              </a:rPr>
              <a:t>杆则受到轴向压缩，使轴线产生缩短变形。</a:t>
            </a:r>
          </a:p>
        </p:txBody>
      </p:sp>
      <p:sp>
        <p:nvSpPr>
          <p:cNvPr id="9" name="Rectangle 61"/>
          <p:cNvSpPr>
            <a:spLocks noChangeArrowheads="1"/>
          </p:cNvSpPr>
          <p:nvPr/>
        </p:nvSpPr>
        <p:spPr bwMode="auto">
          <a:xfrm>
            <a:off x="983432" y="2586255"/>
            <a:ext cx="9577064" cy="3682281"/>
          </a:xfrm>
          <a:prstGeom prst="rect">
            <a:avLst/>
          </a:prstGeom>
          <a:solidFill>
            <a:srgbClr val="B9CDE5"/>
          </a:solidFill>
          <a:ln>
            <a:noFill/>
          </a:ln>
          <a:effectLst/>
        </p:spPr>
        <p:txBody>
          <a:bodyPr wrap="none" anchor="ctr"/>
          <a:lstStyle/>
          <a:p>
            <a:endParaRPr lang="zh-CN" altLang="en-US"/>
          </a:p>
        </p:txBody>
      </p:sp>
      <p:sp>
        <p:nvSpPr>
          <p:cNvPr id="67" name="Line 51"/>
          <p:cNvSpPr>
            <a:spLocks noChangeAspect="1" noChangeShapeType="1"/>
          </p:cNvSpPr>
          <p:nvPr/>
        </p:nvSpPr>
        <p:spPr bwMode="auto">
          <a:xfrm>
            <a:off x="8720262" y="4898507"/>
            <a:ext cx="631825" cy="336550"/>
          </a:xfrm>
          <a:prstGeom prst="line">
            <a:avLst/>
          </a:prstGeom>
          <a:noFill/>
          <a:ln w="4127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68" name="Line 52"/>
          <p:cNvSpPr>
            <a:spLocks noChangeAspect="1" noChangeShapeType="1"/>
          </p:cNvSpPr>
          <p:nvPr/>
        </p:nvSpPr>
        <p:spPr bwMode="auto">
          <a:xfrm flipH="1" flipV="1">
            <a:off x="5361112" y="3064945"/>
            <a:ext cx="642937" cy="346075"/>
          </a:xfrm>
          <a:prstGeom prst="line">
            <a:avLst/>
          </a:prstGeom>
          <a:noFill/>
          <a:ln w="4127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69" name="Text Box 53"/>
          <p:cNvSpPr txBox="1">
            <a:spLocks noChangeAspect="1" noChangeArrowheads="1"/>
          </p:cNvSpPr>
          <p:nvPr/>
        </p:nvSpPr>
        <p:spPr bwMode="auto">
          <a:xfrm>
            <a:off x="8559924" y="4365107"/>
            <a:ext cx="63182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hangingPunct="1"/>
            <a:r>
              <a:rPr lang="en-US" altLang="zh-CN" b="0" i="1" dirty="0">
                <a:solidFill>
                  <a:schemeClr val="tx1"/>
                </a:solidFill>
                <a:ea typeface="宋体" panose="02010600030101010101" pitchFamily="2" charset="-122"/>
              </a:rPr>
              <a:t>B</a:t>
            </a:r>
          </a:p>
        </p:txBody>
      </p:sp>
      <p:sp>
        <p:nvSpPr>
          <p:cNvPr id="70" name="Text Box 54"/>
          <p:cNvSpPr txBox="1">
            <a:spLocks noChangeAspect="1" noChangeArrowheads="1"/>
          </p:cNvSpPr>
          <p:nvPr/>
        </p:nvSpPr>
        <p:spPr bwMode="auto">
          <a:xfrm>
            <a:off x="5248399" y="2655370"/>
            <a:ext cx="76835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hangingPunct="1"/>
            <a:r>
              <a:rPr lang="en-US" altLang="zh-CN" b="1" i="1" dirty="0">
                <a:solidFill>
                  <a:schemeClr val="tx1"/>
                </a:solidFill>
                <a:ea typeface="宋体" panose="02010600030101010101" pitchFamily="2" charset="-122"/>
              </a:rPr>
              <a:t>F</a:t>
            </a:r>
            <a:r>
              <a:rPr lang="en-US" altLang="zh-CN" b="0" i="1" baseline="-25000" dirty="0">
                <a:solidFill>
                  <a:schemeClr val="tx1"/>
                </a:solidFill>
                <a:ea typeface="宋体" panose="02010600030101010101" pitchFamily="2" charset="-122"/>
              </a:rPr>
              <a:t>CB</a:t>
            </a:r>
            <a:endParaRPr lang="en-US" altLang="zh-CN" b="0" baseline="-25000" dirty="0">
              <a:solidFill>
                <a:schemeClr val="tx1"/>
              </a:solidFill>
              <a:ea typeface="宋体" panose="02010600030101010101" pitchFamily="2" charset="-122"/>
            </a:endParaRPr>
          </a:p>
        </p:txBody>
      </p:sp>
      <p:sp>
        <p:nvSpPr>
          <p:cNvPr id="71" name="Text Box 55"/>
          <p:cNvSpPr txBox="1">
            <a:spLocks noChangeAspect="1" noChangeArrowheads="1"/>
          </p:cNvSpPr>
          <p:nvPr/>
        </p:nvSpPr>
        <p:spPr bwMode="auto">
          <a:xfrm>
            <a:off x="9099674" y="4706420"/>
            <a:ext cx="768350"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hangingPunct="1"/>
            <a:r>
              <a:rPr lang="en-US" altLang="zh-CN" b="1" i="1" dirty="0">
                <a:solidFill>
                  <a:schemeClr val="tx1"/>
                </a:solidFill>
                <a:ea typeface="宋体" panose="02010600030101010101" pitchFamily="2" charset="-122"/>
              </a:rPr>
              <a:t>F</a:t>
            </a:r>
            <a:r>
              <a:rPr lang="en-US" altLang="zh-CN" b="0" i="1" baseline="-25000" dirty="0">
                <a:solidFill>
                  <a:schemeClr val="tx1"/>
                </a:solidFill>
                <a:ea typeface="宋体" panose="02010600030101010101" pitchFamily="2" charset="-122"/>
              </a:rPr>
              <a:t>BC</a:t>
            </a:r>
            <a:endParaRPr lang="en-US" altLang="zh-CN" b="0" baseline="-25000" dirty="0">
              <a:solidFill>
                <a:schemeClr val="tx1"/>
              </a:solidFill>
              <a:ea typeface="宋体" panose="02010600030101010101" pitchFamily="2" charset="-122"/>
            </a:endParaRPr>
          </a:p>
        </p:txBody>
      </p:sp>
      <p:sp>
        <p:nvSpPr>
          <p:cNvPr id="72" name="Text Box 56"/>
          <p:cNvSpPr txBox="1">
            <a:spLocks noChangeAspect="1" noChangeArrowheads="1"/>
          </p:cNvSpPr>
          <p:nvPr/>
        </p:nvSpPr>
        <p:spPr bwMode="auto">
          <a:xfrm>
            <a:off x="4232399" y="5565257"/>
            <a:ext cx="768350" cy="531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hangingPunct="1"/>
            <a:r>
              <a:rPr lang="en-US" altLang="zh-CN" b="1" i="1" dirty="0">
                <a:solidFill>
                  <a:schemeClr val="tx1"/>
                </a:solidFill>
                <a:ea typeface="宋体" panose="02010600030101010101" pitchFamily="2" charset="-122"/>
              </a:rPr>
              <a:t>F</a:t>
            </a:r>
            <a:r>
              <a:rPr lang="en-US" altLang="zh-CN" b="0" i="1" baseline="-25000" dirty="0">
                <a:solidFill>
                  <a:schemeClr val="tx1"/>
                </a:solidFill>
                <a:ea typeface="宋体" panose="02010600030101010101" pitchFamily="2" charset="-122"/>
              </a:rPr>
              <a:t>AB</a:t>
            </a:r>
            <a:endParaRPr lang="en-US" altLang="zh-CN" b="0" baseline="-25000" dirty="0">
              <a:solidFill>
                <a:schemeClr val="tx1"/>
              </a:solidFill>
              <a:ea typeface="宋体" panose="02010600030101010101" pitchFamily="2" charset="-122"/>
            </a:endParaRPr>
          </a:p>
        </p:txBody>
      </p:sp>
      <p:sp>
        <p:nvSpPr>
          <p:cNvPr id="73" name="Text Box 57"/>
          <p:cNvSpPr txBox="1">
            <a:spLocks noChangeAspect="1" noChangeArrowheads="1"/>
          </p:cNvSpPr>
          <p:nvPr/>
        </p:nvSpPr>
        <p:spPr bwMode="auto">
          <a:xfrm>
            <a:off x="8509124" y="5576370"/>
            <a:ext cx="76835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hangingPunct="1"/>
            <a:r>
              <a:rPr lang="en-US" altLang="zh-CN" b="1" i="1" dirty="0">
                <a:solidFill>
                  <a:schemeClr val="tx1"/>
                </a:solidFill>
                <a:ea typeface="宋体" panose="02010600030101010101" pitchFamily="2" charset="-122"/>
              </a:rPr>
              <a:t>F</a:t>
            </a:r>
            <a:r>
              <a:rPr lang="en-US" altLang="zh-CN" b="0" i="1" baseline="-25000" dirty="0">
                <a:solidFill>
                  <a:schemeClr val="tx1"/>
                </a:solidFill>
                <a:ea typeface="宋体" panose="02010600030101010101" pitchFamily="2" charset="-122"/>
              </a:rPr>
              <a:t>BA</a:t>
            </a:r>
            <a:endParaRPr lang="en-US" altLang="zh-CN" b="0" baseline="-25000" dirty="0">
              <a:solidFill>
                <a:schemeClr val="tx1"/>
              </a:solidFill>
              <a:ea typeface="宋体" panose="02010600030101010101" pitchFamily="2" charset="-122"/>
            </a:endParaRPr>
          </a:p>
        </p:txBody>
      </p:sp>
      <p:sp>
        <p:nvSpPr>
          <p:cNvPr id="74" name="Text Box 58"/>
          <p:cNvSpPr txBox="1">
            <a:spLocks noChangeAspect="1" noChangeArrowheads="1"/>
          </p:cNvSpPr>
          <p:nvPr/>
        </p:nvSpPr>
        <p:spPr bwMode="auto">
          <a:xfrm rot="1800000">
            <a:off x="6475537" y="3504134"/>
            <a:ext cx="32464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l" eaLnBrk="1" hangingPunct="1"/>
            <a:r>
              <a:rPr lang="zh-CN" altLang="en-US" sz="2800" i="0" dirty="0">
                <a:solidFill>
                  <a:schemeClr val="tx1"/>
                </a:solidFill>
              </a:rPr>
              <a:t>轴向拉压（拉伸）</a:t>
            </a:r>
          </a:p>
        </p:txBody>
      </p:sp>
      <p:sp>
        <p:nvSpPr>
          <p:cNvPr id="75" name="Text Box 59"/>
          <p:cNvSpPr txBox="1">
            <a:spLocks noChangeAspect="1" noChangeArrowheads="1"/>
          </p:cNvSpPr>
          <p:nvPr/>
        </p:nvSpPr>
        <p:spPr bwMode="auto">
          <a:xfrm>
            <a:off x="5362699" y="5058845"/>
            <a:ext cx="324643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l" eaLnBrk="1" hangingPunct="1"/>
            <a:r>
              <a:rPr lang="zh-CN" altLang="en-US" sz="2800" i="0" dirty="0">
                <a:solidFill>
                  <a:schemeClr val="tx1"/>
                </a:solidFill>
              </a:rPr>
              <a:t>轴向拉压（压缩）</a:t>
            </a:r>
          </a:p>
        </p:txBody>
      </p:sp>
      <p:sp>
        <p:nvSpPr>
          <p:cNvPr id="76" name="Line 60"/>
          <p:cNvSpPr>
            <a:spLocks noChangeAspect="1" noChangeShapeType="1"/>
          </p:cNvSpPr>
          <p:nvPr/>
        </p:nvSpPr>
        <p:spPr bwMode="auto">
          <a:xfrm>
            <a:off x="4529262" y="6060557"/>
            <a:ext cx="706437" cy="0"/>
          </a:xfrm>
          <a:prstGeom prst="line">
            <a:avLst/>
          </a:prstGeom>
          <a:noFill/>
          <a:ln w="4127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77" name="Line 61"/>
          <p:cNvSpPr>
            <a:spLocks noChangeAspect="1" noChangeShapeType="1"/>
          </p:cNvSpPr>
          <p:nvPr/>
        </p:nvSpPr>
        <p:spPr bwMode="auto">
          <a:xfrm flipH="1">
            <a:off x="8137649" y="6060557"/>
            <a:ext cx="804863" cy="0"/>
          </a:xfrm>
          <a:prstGeom prst="line">
            <a:avLst/>
          </a:prstGeom>
          <a:noFill/>
          <a:ln w="4127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grpSp>
        <p:nvGrpSpPr>
          <p:cNvPr id="78" name="Group 62"/>
          <p:cNvGrpSpPr>
            <a:grpSpLocks/>
          </p:cNvGrpSpPr>
          <p:nvPr/>
        </p:nvGrpSpPr>
        <p:grpSpPr bwMode="auto">
          <a:xfrm>
            <a:off x="5151562" y="5514457"/>
            <a:ext cx="3273425" cy="693738"/>
            <a:chOff x="2771" y="3314"/>
            <a:chExt cx="2062" cy="437"/>
          </a:xfrm>
        </p:grpSpPr>
        <p:sp>
          <p:nvSpPr>
            <p:cNvPr id="79" name="Text Box 63"/>
            <p:cNvSpPr txBox="1">
              <a:spLocks noChangeAspect="1" noChangeArrowheads="1"/>
            </p:cNvSpPr>
            <p:nvPr/>
          </p:nvSpPr>
          <p:spPr bwMode="auto">
            <a:xfrm>
              <a:off x="2771" y="3314"/>
              <a:ext cx="398"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hangingPunct="1"/>
              <a:r>
                <a:rPr lang="en-US" altLang="zh-CN" b="0" i="1" dirty="0">
                  <a:solidFill>
                    <a:schemeClr val="tx1"/>
                  </a:solidFill>
                  <a:ea typeface="宋体" panose="02010600030101010101" pitchFamily="2" charset="-122"/>
                </a:rPr>
                <a:t>A</a:t>
              </a:r>
            </a:p>
          </p:txBody>
        </p:sp>
        <p:sp>
          <p:nvSpPr>
            <p:cNvPr id="80" name="Text Box 64"/>
            <p:cNvSpPr txBox="1">
              <a:spLocks noChangeAspect="1" noChangeArrowheads="1"/>
            </p:cNvSpPr>
            <p:nvPr/>
          </p:nvSpPr>
          <p:spPr bwMode="auto">
            <a:xfrm>
              <a:off x="4435" y="3322"/>
              <a:ext cx="398"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hangingPunct="1"/>
              <a:r>
                <a:rPr lang="en-US" altLang="zh-CN" b="0" i="1" dirty="0">
                  <a:solidFill>
                    <a:schemeClr val="tx1"/>
                  </a:solidFill>
                  <a:ea typeface="宋体" panose="02010600030101010101" pitchFamily="2" charset="-122"/>
                </a:rPr>
                <a:t>B</a:t>
              </a:r>
            </a:p>
          </p:txBody>
        </p:sp>
        <p:sp>
          <p:nvSpPr>
            <p:cNvPr id="81" name="Rectangle 65"/>
            <p:cNvSpPr>
              <a:spLocks noChangeAspect="1" noChangeArrowheads="1"/>
            </p:cNvSpPr>
            <p:nvPr/>
          </p:nvSpPr>
          <p:spPr bwMode="auto">
            <a:xfrm>
              <a:off x="2816" y="3580"/>
              <a:ext cx="1836" cy="171"/>
            </a:xfrm>
            <a:prstGeom prst="rect">
              <a:avLst/>
            </a:prstGeom>
            <a:gradFill rotWithShape="0">
              <a:gsLst>
                <a:gs pos="0">
                  <a:srgbClr val="CCECFF"/>
                </a:gs>
                <a:gs pos="50000">
                  <a:srgbClr val="CCFFFF"/>
                </a:gs>
                <a:gs pos="100000">
                  <a:srgbClr val="CCECFF"/>
                </a:gs>
              </a:gsLst>
              <a:lin ang="5400000" scaled="1"/>
            </a:gradFill>
            <a:ln w="19050">
              <a:solidFill>
                <a:srgbClr val="000000"/>
              </a:solidFill>
              <a:miter lim="800000"/>
              <a:headEnd/>
              <a:tailEnd/>
            </a:ln>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82" name="Line 66"/>
            <p:cNvSpPr>
              <a:spLocks noChangeAspect="1" noChangeShapeType="1"/>
            </p:cNvSpPr>
            <p:nvPr/>
          </p:nvSpPr>
          <p:spPr bwMode="auto">
            <a:xfrm>
              <a:off x="2809" y="3611"/>
              <a:ext cx="1851"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 name="Line 67"/>
            <p:cNvSpPr>
              <a:spLocks noChangeAspect="1" noChangeShapeType="1"/>
            </p:cNvSpPr>
            <p:nvPr/>
          </p:nvSpPr>
          <p:spPr bwMode="auto">
            <a:xfrm>
              <a:off x="2816" y="3720"/>
              <a:ext cx="1844"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4" name="Oval 68"/>
            <p:cNvSpPr>
              <a:spLocks noChangeAspect="1" noChangeArrowheads="1"/>
            </p:cNvSpPr>
            <p:nvPr/>
          </p:nvSpPr>
          <p:spPr bwMode="auto">
            <a:xfrm>
              <a:off x="4550" y="3650"/>
              <a:ext cx="39" cy="31"/>
            </a:xfrm>
            <a:prstGeom prst="ellipse">
              <a:avLst/>
            </a:prstGeom>
            <a:solidFill>
              <a:srgbClr val="FF0000"/>
            </a:solidFill>
            <a:ln w="19050">
              <a:solidFill>
                <a:srgbClr val="000000"/>
              </a:solidFill>
              <a:round/>
              <a:headEnd/>
              <a:tailEnd/>
            </a:ln>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85" name="Oval 69"/>
            <p:cNvSpPr>
              <a:spLocks noChangeAspect="1" noChangeArrowheads="1"/>
            </p:cNvSpPr>
            <p:nvPr/>
          </p:nvSpPr>
          <p:spPr bwMode="auto">
            <a:xfrm>
              <a:off x="2855" y="3650"/>
              <a:ext cx="39" cy="31"/>
            </a:xfrm>
            <a:prstGeom prst="ellipse">
              <a:avLst/>
            </a:prstGeom>
            <a:solidFill>
              <a:srgbClr val="FF0000"/>
            </a:solidFill>
            <a:ln w="19050">
              <a:solidFill>
                <a:srgbClr val="000000"/>
              </a:solidFill>
              <a:round/>
              <a:headEnd/>
              <a:tailEnd/>
            </a:ln>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86" name="Line 70"/>
            <p:cNvSpPr>
              <a:spLocks noChangeAspect="1" noChangeShapeType="1"/>
            </p:cNvSpPr>
            <p:nvPr/>
          </p:nvSpPr>
          <p:spPr bwMode="auto">
            <a:xfrm>
              <a:off x="2848" y="3658"/>
              <a:ext cx="1796" cy="0"/>
            </a:xfrm>
            <a:prstGeom prst="line">
              <a:avLst/>
            </a:prstGeom>
            <a:noFill/>
            <a:ln w="3175">
              <a:solidFill>
                <a:srgbClr val="000000"/>
              </a:solidFill>
              <a:prstDash val="lgDashDot"/>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87" name="Group 77"/>
          <p:cNvGrpSpPr>
            <a:grpSpLocks/>
          </p:cNvGrpSpPr>
          <p:nvPr/>
        </p:nvGrpSpPr>
        <p:grpSpPr bwMode="auto">
          <a:xfrm>
            <a:off x="1703512" y="2798245"/>
            <a:ext cx="3887787" cy="2890837"/>
            <a:chOff x="598" y="1048"/>
            <a:chExt cx="2449" cy="1821"/>
          </a:xfrm>
        </p:grpSpPr>
        <p:sp>
          <p:nvSpPr>
            <p:cNvPr id="88" name="Rectangle 78" descr="宽上对角线"/>
            <p:cNvSpPr>
              <a:spLocks noChangeAspect="1" noChangeArrowheads="1"/>
            </p:cNvSpPr>
            <p:nvPr/>
          </p:nvSpPr>
          <p:spPr bwMode="auto">
            <a:xfrm>
              <a:off x="598" y="1048"/>
              <a:ext cx="171" cy="1578"/>
            </a:xfrm>
            <a:prstGeom prst="rect">
              <a:avLst/>
            </a:prstGeom>
            <a:pattFill prst="wdUpDiag">
              <a:fgClr>
                <a:srgbClr val="000000"/>
              </a:fgClr>
              <a:bgClr>
                <a:srgbClr val="FFFF99"/>
              </a:bgClr>
            </a:pattFill>
            <a:ln>
              <a:noFill/>
            </a:ln>
            <a:extLst>
              <a:ext uri="{91240B29-F687-4F45-9708-019B960494DF}">
                <a14:hiddenLine xmlns:a14="http://schemas.microsoft.com/office/drawing/2010/main" w="19050">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89" name="Line 79"/>
            <p:cNvSpPr>
              <a:spLocks noChangeAspect="1" noChangeShapeType="1"/>
            </p:cNvSpPr>
            <p:nvPr/>
          </p:nvSpPr>
          <p:spPr bwMode="auto">
            <a:xfrm flipH="1">
              <a:off x="769" y="1048"/>
              <a:ext cx="0" cy="1594"/>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0" name="Rectangle 80"/>
            <p:cNvSpPr>
              <a:spLocks noChangeAspect="1" noChangeArrowheads="1"/>
            </p:cNvSpPr>
            <p:nvPr/>
          </p:nvSpPr>
          <p:spPr bwMode="auto">
            <a:xfrm>
              <a:off x="769" y="1220"/>
              <a:ext cx="47" cy="343"/>
            </a:xfrm>
            <a:prstGeom prst="rect">
              <a:avLst/>
            </a:prstGeom>
            <a:solidFill>
              <a:srgbClr val="FF66FF"/>
            </a:solidFill>
            <a:ln w="19050">
              <a:solidFill>
                <a:srgbClr val="000000"/>
              </a:solidFill>
              <a:miter lim="800000"/>
              <a:headEnd/>
              <a:tailEnd/>
            </a:ln>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91" name="Rectangle 81"/>
            <p:cNvSpPr>
              <a:spLocks noChangeAspect="1" noChangeArrowheads="1"/>
            </p:cNvSpPr>
            <p:nvPr/>
          </p:nvSpPr>
          <p:spPr bwMode="auto">
            <a:xfrm>
              <a:off x="816" y="1267"/>
              <a:ext cx="117" cy="250"/>
            </a:xfrm>
            <a:prstGeom prst="rect">
              <a:avLst/>
            </a:prstGeom>
            <a:solidFill>
              <a:schemeClr val="hlink"/>
            </a:solidFill>
            <a:ln w="19050">
              <a:solidFill>
                <a:srgbClr val="000000"/>
              </a:solidFill>
              <a:miter lim="800000"/>
              <a:headEnd/>
              <a:tailEnd/>
            </a:ln>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92" name="Line 82"/>
            <p:cNvSpPr>
              <a:spLocks noChangeAspect="1" noChangeShapeType="1"/>
            </p:cNvSpPr>
            <p:nvPr/>
          </p:nvSpPr>
          <p:spPr bwMode="auto">
            <a:xfrm>
              <a:off x="871" y="1360"/>
              <a:ext cx="1586" cy="860"/>
            </a:xfrm>
            <a:prstGeom prst="line">
              <a:avLst/>
            </a:prstGeom>
            <a:noFill/>
            <a:ln w="3175">
              <a:solidFill>
                <a:srgbClr val="000000"/>
              </a:solidFill>
              <a:prstDash val="lgDash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3" name="Text Box 83"/>
            <p:cNvSpPr txBox="1">
              <a:spLocks noChangeAspect="1" noChangeArrowheads="1"/>
            </p:cNvSpPr>
            <p:nvPr/>
          </p:nvSpPr>
          <p:spPr bwMode="auto">
            <a:xfrm>
              <a:off x="871" y="1095"/>
              <a:ext cx="398"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hangingPunct="1"/>
              <a:r>
                <a:rPr lang="en-US" altLang="zh-CN" b="0" dirty="0">
                  <a:solidFill>
                    <a:schemeClr val="tx1"/>
                  </a:solidFill>
                  <a:ea typeface="宋体" panose="02010600030101010101" pitchFamily="2" charset="-122"/>
                </a:rPr>
                <a:t>C</a:t>
              </a:r>
            </a:p>
          </p:txBody>
        </p:sp>
        <p:sp>
          <p:nvSpPr>
            <p:cNvPr id="94" name="Text Box 84"/>
            <p:cNvSpPr txBox="1">
              <a:spLocks noChangeAspect="1" noChangeArrowheads="1"/>
            </p:cNvSpPr>
            <p:nvPr/>
          </p:nvSpPr>
          <p:spPr bwMode="auto">
            <a:xfrm>
              <a:off x="723" y="1900"/>
              <a:ext cx="398"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hangingPunct="1"/>
              <a:r>
                <a:rPr lang="en-US" altLang="zh-CN" b="0" i="1" dirty="0">
                  <a:solidFill>
                    <a:schemeClr val="tx1"/>
                  </a:solidFill>
                  <a:ea typeface="宋体" panose="02010600030101010101" pitchFamily="2" charset="-122"/>
                </a:rPr>
                <a:t>A</a:t>
              </a:r>
            </a:p>
          </p:txBody>
        </p:sp>
        <p:sp>
          <p:nvSpPr>
            <p:cNvPr id="95" name="Text Box 85"/>
            <p:cNvSpPr txBox="1">
              <a:spLocks noChangeAspect="1" noChangeArrowheads="1"/>
            </p:cNvSpPr>
            <p:nvPr/>
          </p:nvSpPr>
          <p:spPr bwMode="auto">
            <a:xfrm>
              <a:off x="2402" y="1931"/>
              <a:ext cx="398"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hangingPunct="1"/>
              <a:r>
                <a:rPr lang="en-US" altLang="zh-CN" b="0" i="1" dirty="0">
                  <a:solidFill>
                    <a:schemeClr val="tx1"/>
                  </a:solidFill>
                  <a:ea typeface="宋体" panose="02010600030101010101" pitchFamily="2" charset="-122"/>
                </a:rPr>
                <a:t>B</a:t>
              </a:r>
            </a:p>
          </p:txBody>
        </p:sp>
        <p:sp>
          <p:nvSpPr>
            <p:cNvPr id="96" name="Text Box 86"/>
            <p:cNvSpPr txBox="1">
              <a:spLocks noChangeAspect="1" noChangeArrowheads="1"/>
            </p:cNvSpPr>
            <p:nvPr/>
          </p:nvSpPr>
          <p:spPr bwMode="auto">
            <a:xfrm>
              <a:off x="2563" y="2534"/>
              <a:ext cx="484" cy="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lg"/>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hangingPunct="1"/>
              <a:r>
                <a:rPr lang="en-US" altLang="zh-CN" dirty="0">
                  <a:solidFill>
                    <a:schemeClr val="tx1"/>
                  </a:solidFill>
                  <a:ea typeface="宋体" panose="02010600030101010101" pitchFamily="2" charset="-122"/>
                </a:rPr>
                <a:t>F</a:t>
              </a:r>
              <a:r>
                <a:rPr lang="en-US" altLang="zh-CN" b="0" baseline="-25000" dirty="0">
                  <a:solidFill>
                    <a:schemeClr val="tx1"/>
                  </a:solidFill>
                  <a:ea typeface="宋体" panose="02010600030101010101" pitchFamily="2" charset="-122"/>
                </a:rPr>
                <a:t>P</a:t>
              </a:r>
            </a:p>
          </p:txBody>
        </p:sp>
        <p:sp>
          <p:nvSpPr>
            <p:cNvPr id="97" name="Rectangle 87"/>
            <p:cNvSpPr>
              <a:spLocks noChangeAspect="1" noChangeArrowheads="1"/>
            </p:cNvSpPr>
            <p:nvPr/>
          </p:nvSpPr>
          <p:spPr bwMode="auto">
            <a:xfrm rot="1703556">
              <a:off x="734" y="1765"/>
              <a:ext cx="1952" cy="99"/>
            </a:xfrm>
            <a:prstGeom prst="rect">
              <a:avLst/>
            </a:prstGeom>
            <a:gradFill rotWithShape="0">
              <a:gsLst>
                <a:gs pos="0">
                  <a:srgbClr val="CC99FF"/>
                </a:gs>
                <a:gs pos="50000">
                  <a:srgbClr val="FF66FF"/>
                </a:gs>
                <a:gs pos="100000">
                  <a:srgbClr val="CC99FF"/>
                </a:gs>
              </a:gsLst>
              <a:lin ang="18900000" scaled="1"/>
            </a:gradFill>
            <a:ln w="19050">
              <a:solidFill>
                <a:srgbClr val="000000"/>
              </a:solidFill>
              <a:miter lim="800000"/>
              <a:headEnd/>
              <a:tailEnd/>
            </a:ln>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98" name="Rectangle 88"/>
            <p:cNvSpPr>
              <a:spLocks noChangeAspect="1" noChangeArrowheads="1"/>
            </p:cNvSpPr>
            <p:nvPr/>
          </p:nvSpPr>
          <p:spPr bwMode="auto">
            <a:xfrm>
              <a:off x="816" y="2205"/>
              <a:ext cx="1836" cy="171"/>
            </a:xfrm>
            <a:prstGeom prst="rect">
              <a:avLst/>
            </a:prstGeom>
            <a:gradFill rotWithShape="0">
              <a:gsLst>
                <a:gs pos="0">
                  <a:srgbClr val="CCECFF"/>
                </a:gs>
                <a:gs pos="50000">
                  <a:srgbClr val="CCFFFF"/>
                </a:gs>
                <a:gs pos="100000">
                  <a:srgbClr val="CCECFF"/>
                </a:gs>
              </a:gsLst>
              <a:lin ang="5400000" scaled="1"/>
            </a:gradFill>
            <a:ln w="19050">
              <a:solidFill>
                <a:srgbClr val="000000"/>
              </a:solidFill>
              <a:miter lim="800000"/>
              <a:headEnd/>
              <a:tailEnd/>
            </a:ln>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99" name="Line 89"/>
            <p:cNvSpPr>
              <a:spLocks noChangeAspect="1" noChangeShapeType="1"/>
            </p:cNvSpPr>
            <p:nvPr/>
          </p:nvSpPr>
          <p:spPr bwMode="auto">
            <a:xfrm>
              <a:off x="2558" y="2283"/>
              <a:ext cx="0" cy="460"/>
            </a:xfrm>
            <a:prstGeom prst="line">
              <a:avLst/>
            </a:prstGeom>
            <a:noFill/>
            <a:ln w="4127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100" name="Rectangle 90"/>
            <p:cNvSpPr>
              <a:spLocks noChangeAspect="1" noChangeArrowheads="1"/>
            </p:cNvSpPr>
            <p:nvPr/>
          </p:nvSpPr>
          <p:spPr bwMode="auto">
            <a:xfrm>
              <a:off x="762" y="2127"/>
              <a:ext cx="46" cy="343"/>
            </a:xfrm>
            <a:prstGeom prst="rect">
              <a:avLst/>
            </a:prstGeom>
            <a:solidFill>
              <a:srgbClr val="FF66FF"/>
            </a:solidFill>
            <a:ln w="19050">
              <a:solidFill>
                <a:srgbClr val="000000"/>
              </a:solidFill>
              <a:miter lim="800000"/>
              <a:headEnd/>
              <a:tailEnd/>
            </a:ln>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101" name="Line 91"/>
            <p:cNvSpPr>
              <a:spLocks noChangeAspect="1" noChangeShapeType="1"/>
            </p:cNvSpPr>
            <p:nvPr/>
          </p:nvSpPr>
          <p:spPr bwMode="auto">
            <a:xfrm>
              <a:off x="816" y="2345"/>
              <a:ext cx="1828"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 name="Oval 92"/>
            <p:cNvSpPr>
              <a:spLocks noChangeAspect="1" noChangeArrowheads="1"/>
            </p:cNvSpPr>
            <p:nvPr/>
          </p:nvSpPr>
          <p:spPr bwMode="auto">
            <a:xfrm>
              <a:off x="2550" y="2275"/>
              <a:ext cx="39" cy="31"/>
            </a:xfrm>
            <a:prstGeom prst="ellipse">
              <a:avLst/>
            </a:prstGeom>
            <a:solidFill>
              <a:srgbClr val="FF0000"/>
            </a:solidFill>
            <a:ln w="19050">
              <a:solidFill>
                <a:srgbClr val="000000"/>
              </a:solidFill>
              <a:round/>
              <a:headEnd/>
              <a:tailEnd/>
            </a:ln>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103" name="Line 93"/>
            <p:cNvSpPr>
              <a:spLocks noChangeAspect="1" noChangeShapeType="1"/>
            </p:cNvSpPr>
            <p:nvPr/>
          </p:nvSpPr>
          <p:spPr bwMode="auto">
            <a:xfrm>
              <a:off x="816" y="2236"/>
              <a:ext cx="1851"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 name="Line 94"/>
            <p:cNvSpPr>
              <a:spLocks noChangeAspect="1" noChangeShapeType="1"/>
            </p:cNvSpPr>
            <p:nvPr/>
          </p:nvSpPr>
          <p:spPr bwMode="auto">
            <a:xfrm>
              <a:off x="848" y="2283"/>
              <a:ext cx="1796" cy="0"/>
            </a:xfrm>
            <a:prstGeom prst="line">
              <a:avLst/>
            </a:prstGeom>
            <a:noFill/>
            <a:ln w="3175">
              <a:solidFill>
                <a:srgbClr val="000000"/>
              </a:solidFill>
              <a:prstDash val="lgDash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5" name="Rectangle 95"/>
            <p:cNvSpPr>
              <a:spLocks noChangeAspect="1" noChangeArrowheads="1"/>
            </p:cNvSpPr>
            <p:nvPr/>
          </p:nvSpPr>
          <p:spPr bwMode="auto">
            <a:xfrm>
              <a:off x="808" y="2173"/>
              <a:ext cx="118" cy="250"/>
            </a:xfrm>
            <a:prstGeom prst="rect">
              <a:avLst/>
            </a:prstGeom>
            <a:solidFill>
              <a:schemeClr val="hlink"/>
            </a:solidFill>
            <a:ln w="19050">
              <a:solidFill>
                <a:srgbClr val="000000"/>
              </a:solidFill>
              <a:miter lim="800000"/>
              <a:headEnd/>
              <a:tailEnd/>
            </a:ln>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106" name="Oval 96"/>
            <p:cNvSpPr>
              <a:spLocks noChangeAspect="1" noChangeArrowheads="1"/>
            </p:cNvSpPr>
            <p:nvPr/>
          </p:nvSpPr>
          <p:spPr bwMode="auto">
            <a:xfrm>
              <a:off x="879" y="1360"/>
              <a:ext cx="39" cy="32"/>
            </a:xfrm>
            <a:prstGeom prst="ellipse">
              <a:avLst/>
            </a:prstGeom>
            <a:solidFill>
              <a:srgbClr val="FF0000"/>
            </a:solidFill>
            <a:ln w="19050">
              <a:solidFill>
                <a:srgbClr val="000000"/>
              </a:solidFill>
              <a:round/>
              <a:headEnd/>
              <a:tailEnd/>
            </a:ln>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107" name="Oval 97"/>
            <p:cNvSpPr>
              <a:spLocks noChangeAspect="1" noChangeArrowheads="1"/>
            </p:cNvSpPr>
            <p:nvPr/>
          </p:nvSpPr>
          <p:spPr bwMode="auto">
            <a:xfrm>
              <a:off x="855" y="2275"/>
              <a:ext cx="39" cy="31"/>
            </a:xfrm>
            <a:prstGeom prst="ellipse">
              <a:avLst/>
            </a:prstGeom>
            <a:solidFill>
              <a:srgbClr val="FF0000"/>
            </a:solidFill>
            <a:ln w="19050">
              <a:solidFill>
                <a:srgbClr val="000000"/>
              </a:solidFill>
              <a:round/>
              <a:headEnd/>
              <a:tailEnd/>
            </a:ln>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eaLnBrk="1" hangingPunct="1"/>
              <a:endParaRPr lang="zh-CN" altLang="en-US"/>
            </a:p>
          </p:txBody>
        </p:sp>
      </p:grpSp>
      <p:grpSp>
        <p:nvGrpSpPr>
          <p:cNvPr id="108" name="Group 71"/>
          <p:cNvGrpSpPr>
            <a:grpSpLocks/>
          </p:cNvGrpSpPr>
          <p:nvPr/>
        </p:nvGrpSpPr>
        <p:grpSpPr bwMode="auto">
          <a:xfrm>
            <a:off x="5773862" y="2964932"/>
            <a:ext cx="3219450" cy="1962150"/>
            <a:chOff x="3181" y="1006"/>
            <a:chExt cx="2028" cy="1236"/>
          </a:xfrm>
        </p:grpSpPr>
        <p:sp>
          <p:nvSpPr>
            <p:cNvPr id="109" name="Rectangle 72"/>
            <p:cNvSpPr>
              <a:spLocks noChangeAspect="1" noChangeArrowheads="1"/>
            </p:cNvSpPr>
            <p:nvPr/>
          </p:nvSpPr>
          <p:spPr bwMode="auto">
            <a:xfrm rot="1703556">
              <a:off x="3181" y="1716"/>
              <a:ext cx="2028" cy="102"/>
            </a:xfrm>
            <a:prstGeom prst="rect">
              <a:avLst/>
            </a:prstGeom>
            <a:gradFill rotWithShape="0">
              <a:gsLst>
                <a:gs pos="0">
                  <a:srgbClr val="CC99FF"/>
                </a:gs>
                <a:gs pos="50000">
                  <a:srgbClr val="FF66FF"/>
                </a:gs>
                <a:gs pos="100000">
                  <a:srgbClr val="CC99FF"/>
                </a:gs>
              </a:gsLst>
              <a:lin ang="18900000" scaled="1"/>
            </a:gradFill>
            <a:ln w="19050">
              <a:solidFill>
                <a:srgbClr val="000000"/>
              </a:solidFill>
              <a:miter lim="800000"/>
              <a:headEnd/>
              <a:tailEnd/>
            </a:ln>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110" name="Oval 73"/>
            <p:cNvSpPr>
              <a:spLocks noChangeAspect="1" noChangeArrowheads="1"/>
            </p:cNvSpPr>
            <p:nvPr/>
          </p:nvSpPr>
          <p:spPr bwMode="auto">
            <a:xfrm>
              <a:off x="5003" y="2211"/>
              <a:ext cx="39" cy="31"/>
            </a:xfrm>
            <a:prstGeom prst="ellipse">
              <a:avLst/>
            </a:prstGeom>
            <a:solidFill>
              <a:srgbClr val="FF0000"/>
            </a:solidFill>
            <a:ln w="19050">
              <a:solidFill>
                <a:srgbClr val="000000"/>
              </a:solidFill>
              <a:round/>
              <a:headEnd/>
              <a:tailEnd/>
            </a:ln>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111" name="Line 74"/>
            <p:cNvSpPr>
              <a:spLocks noChangeAspect="1" noChangeShapeType="1"/>
            </p:cNvSpPr>
            <p:nvPr/>
          </p:nvSpPr>
          <p:spPr bwMode="auto">
            <a:xfrm>
              <a:off x="3324" y="1296"/>
              <a:ext cx="1682" cy="912"/>
            </a:xfrm>
            <a:prstGeom prst="line">
              <a:avLst/>
            </a:prstGeom>
            <a:noFill/>
            <a:ln w="3175">
              <a:solidFill>
                <a:srgbClr val="000000"/>
              </a:solidFill>
              <a:prstDash val="lgDash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 name="Text Box 75"/>
            <p:cNvSpPr txBox="1">
              <a:spLocks noChangeAspect="1" noChangeArrowheads="1"/>
            </p:cNvSpPr>
            <p:nvPr/>
          </p:nvSpPr>
          <p:spPr bwMode="auto">
            <a:xfrm>
              <a:off x="3264" y="1006"/>
              <a:ext cx="398"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hangingPunct="1"/>
              <a:r>
                <a:rPr lang="en-US" altLang="zh-CN" b="0" i="1" dirty="0">
                  <a:solidFill>
                    <a:schemeClr val="tx1"/>
                  </a:solidFill>
                  <a:ea typeface="宋体" panose="02010600030101010101" pitchFamily="2" charset="-122"/>
                </a:rPr>
                <a:t>C</a:t>
              </a:r>
            </a:p>
          </p:txBody>
        </p:sp>
        <p:sp>
          <p:nvSpPr>
            <p:cNvPr id="113" name="Oval 76"/>
            <p:cNvSpPr>
              <a:spLocks noChangeAspect="1" noChangeArrowheads="1"/>
            </p:cNvSpPr>
            <p:nvPr/>
          </p:nvSpPr>
          <p:spPr bwMode="auto">
            <a:xfrm>
              <a:off x="3334" y="1296"/>
              <a:ext cx="39" cy="31"/>
            </a:xfrm>
            <a:prstGeom prst="ellipse">
              <a:avLst/>
            </a:prstGeom>
            <a:solidFill>
              <a:srgbClr val="FF0000"/>
            </a:solidFill>
            <a:ln w="19050">
              <a:solidFill>
                <a:srgbClr val="000000"/>
              </a:solidFill>
              <a:round/>
              <a:headEnd/>
              <a:tailEnd/>
            </a:ln>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eaLnBrk="1" hangingPunct="1"/>
              <a:endParaRPr lang="zh-CN" altLang="en-US"/>
            </a:p>
          </p:txBody>
        </p:sp>
      </p:grpSp>
    </p:spTree>
    <p:extLst>
      <p:ext uri="{BB962C8B-B14F-4D97-AF65-F5344CB8AC3E}">
        <p14:creationId xmlns:p14="http://schemas.microsoft.com/office/powerpoint/2010/main" val="975555934"/>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4"/>
                                        </p:tgtEl>
                                        <p:attrNameLst>
                                          <p:attrName>style.visibility</p:attrName>
                                        </p:attrNameLst>
                                      </p:cBhvr>
                                      <p:to>
                                        <p:strVal val="visible"/>
                                      </p:to>
                                    </p:set>
                                  </p:childTnLst>
                                </p:cTn>
                              </p:par>
                              <p:par>
                                <p:cTn id="11" presetID="23" presetClass="entr" presetSubtype="16" fill="hold" nodeType="withEffect">
                                  <p:stCondLst>
                                    <p:cond delay="0"/>
                                  </p:stCondLst>
                                  <p:childTnLst>
                                    <p:set>
                                      <p:cBhvr>
                                        <p:cTn id="12" dur="1" fill="hold">
                                          <p:stCondLst>
                                            <p:cond delay="0"/>
                                          </p:stCondLst>
                                        </p:cTn>
                                        <p:tgtEl>
                                          <p:spTgt spid="87"/>
                                        </p:tgtEl>
                                        <p:attrNameLst>
                                          <p:attrName>style.visibility</p:attrName>
                                        </p:attrNameLst>
                                      </p:cBhvr>
                                      <p:to>
                                        <p:strVal val="visible"/>
                                      </p:to>
                                    </p:set>
                                    <p:anim calcmode="lin" valueType="num">
                                      <p:cBhvr>
                                        <p:cTn id="13" dur="3000" fill="hold"/>
                                        <p:tgtEl>
                                          <p:spTgt spid="87"/>
                                        </p:tgtEl>
                                        <p:attrNameLst>
                                          <p:attrName>ppt_w</p:attrName>
                                        </p:attrNameLst>
                                      </p:cBhvr>
                                      <p:tavLst>
                                        <p:tav tm="0">
                                          <p:val>
                                            <p:fltVal val="0"/>
                                          </p:val>
                                        </p:tav>
                                        <p:tav tm="100000">
                                          <p:val>
                                            <p:strVal val="#ppt_w"/>
                                          </p:val>
                                        </p:tav>
                                      </p:tavLst>
                                    </p:anim>
                                    <p:anim calcmode="lin" valueType="num">
                                      <p:cBhvr>
                                        <p:cTn id="14" dur="3000" fill="hold"/>
                                        <p:tgtEl>
                                          <p:spTgt spid="87"/>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11"/>
                                            </p:cond>
                                          </p:stCondLst>
                                          <p:endCondLst>
                                            <p:cond evt="onStopAudio" delay="0">
                                              <p:tgtEl>
                                                <p:sldTgt/>
                                              </p:tgtEl>
                                            </p:cond>
                                          </p:endCondLst>
                                        </p:cTn>
                                        <p:tgtEl>
                                          <p:sndTgt r:embed="rId3" name="CASHREG.WAV"/>
                                        </p:tgtEl>
                                      </p:cMediaNode>
                                    </p:audio>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8"/>
                                        </p:tgtEl>
                                        <p:attrNameLst>
                                          <p:attrName>style.visibility</p:attrName>
                                        </p:attrNameLst>
                                      </p:cBhvr>
                                      <p:to>
                                        <p:strVal val="visible"/>
                                      </p:to>
                                    </p:set>
                                  </p:childTnLst>
                                  <p:subTnLst>
                                    <p:audio>
                                      <p:cMediaNode>
                                        <p:cTn display="0" masterRel="sameClick">
                                          <p:stCondLst>
                                            <p:cond evt="begin" delay="0">
                                              <p:tn val="17"/>
                                            </p:cond>
                                          </p:stCondLst>
                                          <p:endCondLst>
                                            <p:cond evt="onStopAudio" delay="0">
                                              <p:tgtEl>
                                                <p:sldTgt/>
                                              </p:tgtEl>
                                            </p:cond>
                                          </p:endCondLst>
                                        </p:cTn>
                                        <p:tgtEl>
                                          <p:sndTgt r:embed="rId3" name="CASHREG.WAV"/>
                                        </p:tgtEl>
                                      </p:cMediaNode>
                                    </p:audio>
                                  </p:subTnLst>
                                </p:cTn>
                              </p:par>
                              <p:par>
                                <p:cTn id="19" presetID="0" presetClass="path" presetSubtype="0" accel="50000" decel="50000" fill="hold" nodeType="withEffect">
                                  <p:stCondLst>
                                    <p:cond delay="0"/>
                                  </p:stCondLst>
                                  <p:childTnLst>
                                    <p:animMotion origin="layout" path="M 1.04167E-6 -2.96296E-6 L -0.31823 -0.01852 " pathEditMode="relative" rAng="0" ptsTypes="AA">
                                      <p:cBhvr>
                                        <p:cTn id="20" dur="5000" spd="-100000" fill="hold"/>
                                        <p:tgtEl>
                                          <p:spTgt spid="108"/>
                                        </p:tgtEl>
                                        <p:attrNameLst>
                                          <p:attrName>ppt_x</p:attrName>
                                          <p:attrName>ppt_y</p:attrName>
                                        </p:attrNameLst>
                                      </p:cBhvr>
                                      <p:rCtr x="-15911" y="-926"/>
                                    </p:animMotion>
                                  </p:childTnLst>
                                </p:cTn>
                              </p:par>
                            </p:childTnLst>
                          </p:cTn>
                        </p:par>
                        <p:par>
                          <p:cTn id="21" fill="hold">
                            <p:stCondLst>
                              <p:cond delay="5000"/>
                            </p:stCondLst>
                            <p:childTnLst>
                              <p:par>
                                <p:cTn id="22" presetID="1" presetClass="entr" presetSubtype="0" fill="hold" grpId="0" nodeType="afterEffect">
                                  <p:stCondLst>
                                    <p:cond delay="0"/>
                                  </p:stCondLst>
                                  <p:childTnLst>
                                    <p:set>
                                      <p:cBhvr>
                                        <p:cTn id="23" dur="1" fill="hold">
                                          <p:stCondLst>
                                            <p:cond delay="499"/>
                                          </p:stCondLst>
                                        </p:cTn>
                                        <p:tgtEl>
                                          <p:spTgt spid="69"/>
                                        </p:tgtEl>
                                        <p:attrNameLst>
                                          <p:attrName>style.visibility</p:attrName>
                                        </p:attrNameLst>
                                      </p:cBhvr>
                                      <p:to>
                                        <p:strVal val="visible"/>
                                      </p:to>
                                    </p:set>
                                  </p:childTnLst>
                                </p:cTn>
                              </p:par>
                            </p:childTnLst>
                          </p:cTn>
                        </p:par>
                        <p:par>
                          <p:cTn id="24" fill="hold">
                            <p:stCondLst>
                              <p:cond delay="5500"/>
                            </p:stCondLst>
                            <p:childTnLst>
                              <p:par>
                                <p:cTn id="25" presetID="18" presetClass="entr" presetSubtype="9" fill="hold" grpId="0" nodeType="afterEffect">
                                  <p:stCondLst>
                                    <p:cond delay="1000"/>
                                  </p:stCondLst>
                                  <p:childTnLst>
                                    <p:set>
                                      <p:cBhvr>
                                        <p:cTn id="26" dur="1" fill="hold">
                                          <p:stCondLst>
                                            <p:cond delay="0"/>
                                          </p:stCondLst>
                                        </p:cTn>
                                        <p:tgtEl>
                                          <p:spTgt spid="68"/>
                                        </p:tgtEl>
                                        <p:attrNameLst>
                                          <p:attrName>style.visibility</p:attrName>
                                        </p:attrNameLst>
                                      </p:cBhvr>
                                      <p:to>
                                        <p:strVal val="visible"/>
                                      </p:to>
                                    </p:set>
                                    <p:animEffect transition="in" filter="strips(upLeft)">
                                      <p:cBhvr>
                                        <p:cTn id="27" dur="3000"/>
                                        <p:tgtEl>
                                          <p:spTgt spid="68"/>
                                        </p:tgtEl>
                                      </p:cBhvr>
                                    </p:animEffect>
                                  </p:childTnLst>
                                  <p:subTnLst>
                                    <p:audio>
                                      <p:cMediaNode>
                                        <p:cTn display="0" masterRel="sameClick">
                                          <p:stCondLst>
                                            <p:cond evt="begin" delay="0">
                                              <p:tn val="25"/>
                                            </p:cond>
                                          </p:stCondLst>
                                          <p:endCondLst>
                                            <p:cond evt="onStopAudio" delay="0">
                                              <p:tgtEl>
                                                <p:sldTgt/>
                                              </p:tgtEl>
                                            </p:cond>
                                          </p:endCondLst>
                                        </p:cTn>
                                        <p:tgtEl>
                                          <p:sndTgt r:embed="rId4" name="CHIMES.WAV"/>
                                        </p:tgtEl>
                                      </p:cMediaNode>
                                    </p:audio>
                                  </p:subTnLst>
                                </p:cTn>
                              </p:par>
                            </p:childTnLst>
                          </p:cTn>
                        </p:par>
                        <p:par>
                          <p:cTn id="28" fill="hold">
                            <p:stCondLst>
                              <p:cond delay="9500"/>
                            </p:stCondLst>
                            <p:childTnLst>
                              <p:par>
                                <p:cTn id="29" presetID="17" presetClass="entr" presetSubtype="10" fill="hold" grpId="0" nodeType="afterEffect">
                                  <p:stCondLst>
                                    <p:cond delay="1000"/>
                                  </p:stCondLst>
                                  <p:childTnLst>
                                    <p:set>
                                      <p:cBhvr>
                                        <p:cTn id="30" dur="1" fill="hold">
                                          <p:stCondLst>
                                            <p:cond delay="0"/>
                                          </p:stCondLst>
                                        </p:cTn>
                                        <p:tgtEl>
                                          <p:spTgt spid="70"/>
                                        </p:tgtEl>
                                        <p:attrNameLst>
                                          <p:attrName>style.visibility</p:attrName>
                                        </p:attrNameLst>
                                      </p:cBhvr>
                                      <p:to>
                                        <p:strVal val="visible"/>
                                      </p:to>
                                    </p:set>
                                    <p:anim calcmode="lin" valueType="num">
                                      <p:cBhvr>
                                        <p:cTn id="31" dur="3000" fill="hold"/>
                                        <p:tgtEl>
                                          <p:spTgt spid="70"/>
                                        </p:tgtEl>
                                        <p:attrNameLst>
                                          <p:attrName>ppt_w</p:attrName>
                                        </p:attrNameLst>
                                      </p:cBhvr>
                                      <p:tavLst>
                                        <p:tav tm="0">
                                          <p:val>
                                            <p:fltVal val="0"/>
                                          </p:val>
                                        </p:tav>
                                        <p:tav tm="100000">
                                          <p:val>
                                            <p:strVal val="#ppt_w"/>
                                          </p:val>
                                        </p:tav>
                                      </p:tavLst>
                                    </p:anim>
                                    <p:anim calcmode="lin" valueType="num">
                                      <p:cBhvr>
                                        <p:cTn id="32" dur="3000" fill="hold"/>
                                        <p:tgtEl>
                                          <p:spTgt spid="70"/>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9"/>
                                            </p:cond>
                                          </p:stCondLst>
                                          <p:endCondLst>
                                            <p:cond evt="onStopAudio" delay="0">
                                              <p:tgtEl>
                                                <p:sldTgt/>
                                              </p:tgtEl>
                                            </p:cond>
                                          </p:endCondLst>
                                        </p:cTn>
                                        <p:tgtEl>
                                          <p:sndTgt r:embed="rId4" name="CHIMES.WAV"/>
                                        </p:tgtEl>
                                      </p:cMediaNode>
                                    </p:audio>
                                  </p:subTnLst>
                                </p:cTn>
                              </p:par>
                            </p:childTnLst>
                          </p:cTn>
                        </p:par>
                        <p:par>
                          <p:cTn id="33" fill="hold">
                            <p:stCondLst>
                              <p:cond delay="13500"/>
                            </p:stCondLst>
                            <p:childTnLst>
                              <p:par>
                                <p:cTn id="34" presetID="18" presetClass="entr" presetSubtype="6" fill="hold" grpId="0" nodeType="afterEffect">
                                  <p:stCondLst>
                                    <p:cond delay="1000"/>
                                  </p:stCondLst>
                                  <p:childTnLst>
                                    <p:set>
                                      <p:cBhvr>
                                        <p:cTn id="35" dur="1" fill="hold">
                                          <p:stCondLst>
                                            <p:cond delay="0"/>
                                          </p:stCondLst>
                                        </p:cTn>
                                        <p:tgtEl>
                                          <p:spTgt spid="67"/>
                                        </p:tgtEl>
                                        <p:attrNameLst>
                                          <p:attrName>style.visibility</p:attrName>
                                        </p:attrNameLst>
                                      </p:cBhvr>
                                      <p:to>
                                        <p:strVal val="visible"/>
                                      </p:to>
                                    </p:set>
                                    <p:animEffect transition="in" filter="strips(downRight)">
                                      <p:cBhvr>
                                        <p:cTn id="36" dur="3000"/>
                                        <p:tgtEl>
                                          <p:spTgt spid="67"/>
                                        </p:tgtEl>
                                      </p:cBhvr>
                                    </p:animEffect>
                                  </p:childTnLst>
                                  <p:subTnLst>
                                    <p:audio>
                                      <p:cMediaNode>
                                        <p:cTn display="0" masterRel="sameClick">
                                          <p:stCondLst>
                                            <p:cond evt="begin" delay="0">
                                              <p:tn val="34"/>
                                            </p:cond>
                                          </p:stCondLst>
                                          <p:endCondLst>
                                            <p:cond evt="onStopAudio" delay="0">
                                              <p:tgtEl>
                                                <p:sldTgt/>
                                              </p:tgtEl>
                                            </p:cond>
                                          </p:endCondLst>
                                        </p:cTn>
                                        <p:tgtEl>
                                          <p:sndTgt r:embed="rId4" name="CHIMES.WAV"/>
                                        </p:tgtEl>
                                      </p:cMediaNode>
                                    </p:audio>
                                  </p:subTnLst>
                                </p:cTn>
                              </p:par>
                            </p:childTnLst>
                          </p:cTn>
                        </p:par>
                        <p:par>
                          <p:cTn id="37" fill="hold">
                            <p:stCondLst>
                              <p:cond delay="17500"/>
                            </p:stCondLst>
                            <p:childTnLst>
                              <p:par>
                                <p:cTn id="38" presetID="17" presetClass="entr" presetSubtype="10" fill="hold" grpId="0" nodeType="afterEffect">
                                  <p:stCondLst>
                                    <p:cond delay="1000"/>
                                  </p:stCondLst>
                                  <p:childTnLst>
                                    <p:set>
                                      <p:cBhvr>
                                        <p:cTn id="39" dur="1" fill="hold">
                                          <p:stCondLst>
                                            <p:cond delay="0"/>
                                          </p:stCondLst>
                                        </p:cTn>
                                        <p:tgtEl>
                                          <p:spTgt spid="71"/>
                                        </p:tgtEl>
                                        <p:attrNameLst>
                                          <p:attrName>style.visibility</p:attrName>
                                        </p:attrNameLst>
                                      </p:cBhvr>
                                      <p:to>
                                        <p:strVal val="visible"/>
                                      </p:to>
                                    </p:set>
                                    <p:anim calcmode="lin" valueType="num">
                                      <p:cBhvr>
                                        <p:cTn id="40" dur="3000" fill="hold"/>
                                        <p:tgtEl>
                                          <p:spTgt spid="71"/>
                                        </p:tgtEl>
                                        <p:attrNameLst>
                                          <p:attrName>ppt_w</p:attrName>
                                        </p:attrNameLst>
                                      </p:cBhvr>
                                      <p:tavLst>
                                        <p:tav tm="0">
                                          <p:val>
                                            <p:fltVal val="0"/>
                                          </p:val>
                                        </p:tav>
                                        <p:tav tm="100000">
                                          <p:val>
                                            <p:strVal val="#ppt_w"/>
                                          </p:val>
                                        </p:tav>
                                      </p:tavLst>
                                    </p:anim>
                                    <p:anim calcmode="lin" valueType="num">
                                      <p:cBhvr>
                                        <p:cTn id="41" dur="3000" fill="hold"/>
                                        <p:tgtEl>
                                          <p:spTgt spid="71"/>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8"/>
                                            </p:cond>
                                          </p:stCondLst>
                                          <p:endCondLst>
                                            <p:cond evt="onStopAudio" delay="0">
                                              <p:tgtEl>
                                                <p:sldTgt/>
                                              </p:tgtEl>
                                            </p:cond>
                                          </p:endCondLst>
                                        </p:cTn>
                                        <p:tgtEl>
                                          <p:sndTgt r:embed="rId4" name="CHIMES.WAV"/>
                                        </p:tgtEl>
                                      </p:cMediaNode>
                                    </p:audio>
                                  </p:subTnLst>
                                </p:cTn>
                              </p:par>
                            </p:childTnLst>
                          </p:cTn>
                        </p:par>
                        <p:par>
                          <p:cTn id="42" fill="hold">
                            <p:stCondLst>
                              <p:cond delay="21500"/>
                            </p:stCondLst>
                            <p:childTnLst>
                              <p:par>
                                <p:cTn id="43" presetID="18" presetClass="entr" presetSubtype="6" fill="hold" grpId="0" nodeType="afterEffect">
                                  <p:stCondLst>
                                    <p:cond delay="1000"/>
                                  </p:stCondLst>
                                  <p:childTnLst>
                                    <p:set>
                                      <p:cBhvr>
                                        <p:cTn id="44" dur="1" fill="hold">
                                          <p:stCondLst>
                                            <p:cond delay="0"/>
                                          </p:stCondLst>
                                        </p:cTn>
                                        <p:tgtEl>
                                          <p:spTgt spid="74"/>
                                        </p:tgtEl>
                                        <p:attrNameLst>
                                          <p:attrName>style.visibility</p:attrName>
                                        </p:attrNameLst>
                                      </p:cBhvr>
                                      <p:to>
                                        <p:strVal val="visible"/>
                                      </p:to>
                                    </p:set>
                                    <p:animEffect transition="in" filter="strips(downRight)">
                                      <p:cBhvr>
                                        <p:cTn id="45" dur="500"/>
                                        <p:tgtEl>
                                          <p:spTgt spid="74"/>
                                        </p:tgtEl>
                                      </p:cBhvr>
                                    </p:animEffect>
                                  </p:childTnLst>
                                  <p:subTnLst>
                                    <p:audio>
                                      <p:cMediaNode>
                                        <p:cTn display="0" masterRel="sameClick">
                                          <p:stCondLst>
                                            <p:cond evt="begin" delay="0">
                                              <p:tn val="43"/>
                                            </p:cond>
                                          </p:stCondLst>
                                          <p:endCondLst>
                                            <p:cond evt="onStopAudio" delay="0">
                                              <p:tgtEl>
                                                <p:sldTgt/>
                                              </p:tgtEl>
                                            </p:cond>
                                          </p:endCondLst>
                                        </p:cTn>
                                        <p:tgtEl>
                                          <p:sndTgt r:embed="rId5" name="CAMERA.WAV"/>
                                        </p:tgtEl>
                                      </p:cMediaNode>
                                    </p:audio>
                                  </p:subTnLst>
                                </p:cTn>
                              </p:par>
                            </p:childTnLst>
                          </p:cTn>
                        </p:par>
                      </p:childTnLst>
                    </p:cTn>
                  </p:par>
                  <p:par>
                    <p:cTn id="46" fill="hold">
                      <p:stCondLst>
                        <p:cond delay="indefinite"/>
                      </p:stCondLst>
                      <p:childTnLst>
                        <p:par>
                          <p:cTn id="47" fill="hold">
                            <p:stCondLst>
                              <p:cond delay="0"/>
                            </p:stCondLst>
                            <p:childTnLst>
                              <p:par>
                                <p:cTn id="48" presetID="1" presetClass="entr" presetSubtype="0" fill="hold" nodeType="clickEffect">
                                  <p:stCondLst>
                                    <p:cond delay="0"/>
                                  </p:stCondLst>
                                  <p:childTnLst>
                                    <p:set>
                                      <p:cBhvr>
                                        <p:cTn id="49" dur="1" fill="hold">
                                          <p:stCondLst>
                                            <p:cond delay="0"/>
                                          </p:stCondLst>
                                        </p:cTn>
                                        <p:tgtEl>
                                          <p:spTgt spid="78"/>
                                        </p:tgtEl>
                                        <p:attrNameLst>
                                          <p:attrName>style.visibility</p:attrName>
                                        </p:attrNameLst>
                                      </p:cBhvr>
                                      <p:to>
                                        <p:strVal val="visible"/>
                                      </p:to>
                                    </p:set>
                                  </p:childTnLst>
                                  <p:subTnLst>
                                    <p:audio>
                                      <p:cMediaNode>
                                        <p:cTn display="0" masterRel="sameClick">
                                          <p:stCondLst>
                                            <p:cond evt="begin" delay="0">
                                              <p:tn val="48"/>
                                            </p:cond>
                                          </p:stCondLst>
                                          <p:endCondLst>
                                            <p:cond evt="onStopAudio" delay="0">
                                              <p:tgtEl>
                                                <p:sldTgt/>
                                              </p:tgtEl>
                                            </p:cond>
                                          </p:endCondLst>
                                        </p:cTn>
                                        <p:tgtEl>
                                          <p:sndTgt r:embed="rId3" name="CASHREG.WAV"/>
                                        </p:tgtEl>
                                      </p:cMediaNode>
                                    </p:audio>
                                  </p:subTnLst>
                                </p:cTn>
                              </p:par>
                              <p:par>
                                <p:cTn id="50" presetID="0" presetClass="path" presetSubtype="0" accel="50000" decel="50000" fill="hold" nodeType="withEffect">
                                  <p:stCondLst>
                                    <p:cond delay="0"/>
                                  </p:stCondLst>
                                  <p:childTnLst>
                                    <p:animMotion origin="layout" path="M -8.33333E-7 3.7037E-7 L -0.26198 -0.18889 " pathEditMode="relative" rAng="0" ptsTypes="AA">
                                      <p:cBhvr>
                                        <p:cTn id="51" dur="5000" spd="-100000" fill="hold"/>
                                        <p:tgtEl>
                                          <p:spTgt spid="78"/>
                                        </p:tgtEl>
                                        <p:attrNameLst>
                                          <p:attrName>ppt_x</p:attrName>
                                          <p:attrName>ppt_y</p:attrName>
                                        </p:attrNameLst>
                                      </p:cBhvr>
                                      <p:rCtr x="-13099" y="-9444"/>
                                    </p:animMotion>
                                  </p:childTnLst>
                                </p:cTn>
                              </p:par>
                            </p:childTnLst>
                          </p:cTn>
                        </p:par>
                        <p:par>
                          <p:cTn id="52" fill="hold">
                            <p:stCondLst>
                              <p:cond delay="5000"/>
                            </p:stCondLst>
                            <p:childTnLst>
                              <p:par>
                                <p:cTn id="53" presetID="12" presetClass="entr" presetSubtype="8" fill="hold" grpId="0" nodeType="afterEffect">
                                  <p:stCondLst>
                                    <p:cond delay="1000"/>
                                  </p:stCondLst>
                                  <p:childTnLst>
                                    <p:set>
                                      <p:cBhvr>
                                        <p:cTn id="54" dur="1" fill="hold">
                                          <p:stCondLst>
                                            <p:cond delay="0"/>
                                          </p:stCondLst>
                                        </p:cTn>
                                        <p:tgtEl>
                                          <p:spTgt spid="76"/>
                                        </p:tgtEl>
                                        <p:attrNameLst>
                                          <p:attrName>style.visibility</p:attrName>
                                        </p:attrNameLst>
                                      </p:cBhvr>
                                      <p:to>
                                        <p:strVal val="visible"/>
                                      </p:to>
                                    </p:set>
                                    <p:animEffect transition="in" filter="slide(fromLeft)">
                                      <p:cBhvr>
                                        <p:cTn id="55" dur="3000"/>
                                        <p:tgtEl>
                                          <p:spTgt spid="76"/>
                                        </p:tgtEl>
                                      </p:cBhvr>
                                    </p:animEffect>
                                  </p:childTnLst>
                                  <p:subTnLst>
                                    <p:audio>
                                      <p:cMediaNode>
                                        <p:cTn display="0" masterRel="sameClick">
                                          <p:stCondLst>
                                            <p:cond evt="begin" delay="0">
                                              <p:tn val="53"/>
                                            </p:cond>
                                          </p:stCondLst>
                                          <p:endCondLst>
                                            <p:cond evt="onStopAudio" delay="0">
                                              <p:tgtEl>
                                                <p:sldTgt/>
                                              </p:tgtEl>
                                            </p:cond>
                                          </p:endCondLst>
                                        </p:cTn>
                                        <p:tgtEl>
                                          <p:sndTgt r:embed="rId4" name="CHIMES.WAV"/>
                                        </p:tgtEl>
                                      </p:cMediaNode>
                                    </p:audio>
                                  </p:subTnLst>
                                </p:cTn>
                              </p:par>
                            </p:childTnLst>
                          </p:cTn>
                        </p:par>
                        <p:par>
                          <p:cTn id="56" fill="hold">
                            <p:stCondLst>
                              <p:cond delay="9000"/>
                            </p:stCondLst>
                            <p:childTnLst>
                              <p:par>
                                <p:cTn id="57" presetID="17" presetClass="entr" presetSubtype="10" fill="hold" grpId="0" nodeType="afterEffect">
                                  <p:stCondLst>
                                    <p:cond delay="1000"/>
                                  </p:stCondLst>
                                  <p:childTnLst>
                                    <p:set>
                                      <p:cBhvr>
                                        <p:cTn id="58" dur="1" fill="hold">
                                          <p:stCondLst>
                                            <p:cond delay="0"/>
                                          </p:stCondLst>
                                        </p:cTn>
                                        <p:tgtEl>
                                          <p:spTgt spid="72"/>
                                        </p:tgtEl>
                                        <p:attrNameLst>
                                          <p:attrName>style.visibility</p:attrName>
                                        </p:attrNameLst>
                                      </p:cBhvr>
                                      <p:to>
                                        <p:strVal val="visible"/>
                                      </p:to>
                                    </p:set>
                                    <p:anim calcmode="lin" valueType="num">
                                      <p:cBhvr>
                                        <p:cTn id="59" dur="3000" fill="hold"/>
                                        <p:tgtEl>
                                          <p:spTgt spid="72"/>
                                        </p:tgtEl>
                                        <p:attrNameLst>
                                          <p:attrName>ppt_w</p:attrName>
                                        </p:attrNameLst>
                                      </p:cBhvr>
                                      <p:tavLst>
                                        <p:tav tm="0">
                                          <p:val>
                                            <p:fltVal val="0"/>
                                          </p:val>
                                        </p:tav>
                                        <p:tav tm="100000">
                                          <p:val>
                                            <p:strVal val="#ppt_w"/>
                                          </p:val>
                                        </p:tav>
                                      </p:tavLst>
                                    </p:anim>
                                    <p:anim calcmode="lin" valueType="num">
                                      <p:cBhvr>
                                        <p:cTn id="60" dur="3000" fill="hold"/>
                                        <p:tgtEl>
                                          <p:spTgt spid="72"/>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57"/>
                                            </p:cond>
                                          </p:stCondLst>
                                          <p:endCondLst>
                                            <p:cond evt="onStopAudio" delay="0">
                                              <p:tgtEl>
                                                <p:sldTgt/>
                                              </p:tgtEl>
                                            </p:cond>
                                          </p:endCondLst>
                                        </p:cTn>
                                        <p:tgtEl>
                                          <p:sndTgt r:embed="rId4" name="CHIMES.WAV"/>
                                        </p:tgtEl>
                                      </p:cMediaNode>
                                    </p:audio>
                                  </p:subTnLst>
                                </p:cTn>
                              </p:par>
                            </p:childTnLst>
                          </p:cTn>
                        </p:par>
                        <p:par>
                          <p:cTn id="61" fill="hold">
                            <p:stCondLst>
                              <p:cond delay="13000"/>
                            </p:stCondLst>
                            <p:childTnLst>
                              <p:par>
                                <p:cTn id="62" presetID="12" presetClass="entr" presetSubtype="2" fill="hold" grpId="0" nodeType="afterEffect">
                                  <p:stCondLst>
                                    <p:cond delay="1000"/>
                                  </p:stCondLst>
                                  <p:childTnLst>
                                    <p:set>
                                      <p:cBhvr>
                                        <p:cTn id="63" dur="1" fill="hold">
                                          <p:stCondLst>
                                            <p:cond delay="0"/>
                                          </p:stCondLst>
                                        </p:cTn>
                                        <p:tgtEl>
                                          <p:spTgt spid="77"/>
                                        </p:tgtEl>
                                        <p:attrNameLst>
                                          <p:attrName>style.visibility</p:attrName>
                                        </p:attrNameLst>
                                      </p:cBhvr>
                                      <p:to>
                                        <p:strVal val="visible"/>
                                      </p:to>
                                    </p:set>
                                    <p:animEffect transition="in" filter="slide(fromRight)">
                                      <p:cBhvr>
                                        <p:cTn id="64" dur="3000"/>
                                        <p:tgtEl>
                                          <p:spTgt spid="77"/>
                                        </p:tgtEl>
                                      </p:cBhvr>
                                    </p:animEffect>
                                  </p:childTnLst>
                                  <p:subTnLst>
                                    <p:audio>
                                      <p:cMediaNode>
                                        <p:cTn display="0" masterRel="sameClick">
                                          <p:stCondLst>
                                            <p:cond evt="begin" delay="0">
                                              <p:tn val="62"/>
                                            </p:cond>
                                          </p:stCondLst>
                                          <p:endCondLst>
                                            <p:cond evt="onStopAudio" delay="0">
                                              <p:tgtEl>
                                                <p:sldTgt/>
                                              </p:tgtEl>
                                            </p:cond>
                                          </p:endCondLst>
                                        </p:cTn>
                                        <p:tgtEl>
                                          <p:sndTgt r:embed="rId4" name="CHIMES.WAV"/>
                                        </p:tgtEl>
                                      </p:cMediaNode>
                                    </p:audio>
                                  </p:subTnLst>
                                </p:cTn>
                              </p:par>
                            </p:childTnLst>
                          </p:cTn>
                        </p:par>
                        <p:par>
                          <p:cTn id="65" fill="hold">
                            <p:stCondLst>
                              <p:cond delay="17000"/>
                            </p:stCondLst>
                            <p:childTnLst>
                              <p:par>
                                <p:cTn id="66" presetID="17" presetClass="entr" presetSubtype="10" fill="hold" grpId="0" nodeType="afterEffect">
                                  <p:stCondLst>
                                    <p:cond delay="1000"/>
                                  </p:stCondLst>
                                  <p:childTnLst>
                                    <p:set>
                                      <p:cBhvr>
                                        <p:cTn id="67" dur="1" fill="hold">
                                          <p:stCondLst>
                                            <p:cond delay="0"/>
                                          </p:stCondLst>
                                        </p:cTn>
                                        <p:tgtEl>
                                          <p:spTgt spid="73"/>
                                        </p:tgtEl>
                                        <p:attrNameLst>
                                          <p:attrName>style.visibility</p:attrName>
                                        </p:attrNameLst>
                                      </p:cBhvr>
                                      <p:to>
                                        <p:strVal val="visible"/>
                                      </p:to>
                                    </p:set>
                                    <p:anim calcmode="lin" valueType="num">
                                      <p:cBhvr>
                                        <p:cTn id="68" dur="3000" fill="hold"/>
                                        <p:tgtEl>
                                          <p:spTgt spid="73"/>
                                        </p:tgtEl>
                                        <p:attrNameLst>
                                          <p:attrName>ppt_w</p:attrName>
                                        </p:attrNameLst>
                                      </p:cBhvr>
                                      <p:tavLst>
                                        <p:tav tm="0">
                                          <p:val>
                                            <p:fltVal val="0"/>
                                          </p:val>
                                        </p:tav>
                                        <p:tav tm="100000">
                                          <p:val>
                                            <p:strVal val="#ppt_w"/>
                                          </p:val>
                                        </p:tav>
                                      </p:tavLst>
                                    </p:anim>
                                    <p:anim calcmode="lin" valueType="num">
                                      <p:cBhvr>
                                        <p:cTn id="69" dur="3000" fill="hold"/>
                                        <p:tgtEl>
                                          <p:spTgt spid="73"/>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66"/>
                                            </p:cond>
                                          </p:stCondLst>
                                          <p:endCondLst>
                                            <p:cond evt="onStopAudio" delay="0">
                                              <p:tgtEl>
                                                <p:sldTgt/>
                                              </p:tgtEl>
                                            </p:cond>
                                          </p:endCondLst>
                                        </p:cTn>
                                        <p:tgtEl>
                                          <p:sndTgt r:embed="rId4" name="CHIMES.WAV"/>
                                        </p:tgtEl>
                                      </p:cMediaNode>
                                    </p:audio>
                                  </p:subTnLst>
                                </p:cTn>
                              </p:par>
                            </p:childTnLst>
                          </p:cTn>
                        </p:par>
                        <p:par>
                          <p:cTn id="70" fill="hold">
                            <p:stCondLst>
                              <p:cond delay="21000"/>
                            </p:stCondLst>
                            <p:childTnLst>
                              <p:par>
                                <p:cTn id="71" presetID="22" presetClass="entr" presetSubtype="8" fill="hold" grpId="0" nodeType="afterEffect">
                                  <p:stCondLst>
                                    <p:cond delay="1000"/>
                                  </p:stCondLst>
                                  <p:childTnLst>
                                    <p:set>
                                      <p:cBhvr>
                                        <p:cTn id="72" dur="1" fill="hold">
                                          <p:stCondLst>
                                            <p:cond delay="0"/>
                                          </p:stCondLst>
                                        </p:cTn>
                                        <p:tgtEl>
                                          <p:spTgt spid="75"/>
                                        </p:tgtEl>
                                        <p:attrNameLst>
                                          <p:attrName>style.visibility</p:attrName>
                                        </p:attrNameLst>
                                      </p:cBhvr>
                                      <p:to>
                                        <p:strVal val="visible"/>
                                      </p:to>
                                    </p:set>
                                    <p:animEffect transition="in" filter="wipe(left)">
                                      <p:cBhvr>
                                        <p:cTn id="73" dur="3000"/>
                                        <p:tgtEl>
                                          <p:spTgt spid="75"/>
                                        </p:tgtEl>
                                      </p:cBhvr>
                                    </p:animEffect>
                                  </p:childTnLst>
                                  <p:subTnLst>
                                    <p:audio>
                                      <p:cMediaNode>
                                        <p:cTn display="0" masterRel="sameClick">
                                          <p:stCondLst>
                                            <p:cond evt="begin" delay="0">
                                              <p:tn val="71"/>
                                            </p:cond>
                                          </p:stCondLst>
                                          <p:endCondLst>
                                            <p:cond evt="onStopAudio" delay="0">
                                              <p:tgtEl>
                                                <p:sldTgt/>
                                              </p:tgtEl>
                                            </p:cond>
                                          </p:endCondLst>
                                        </p:cTn>
                                        <p:tgtEl>
                                          <p:sndTgt r:embed="rId5"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utoUpdateAnimBg="0"/>
      <p:bldP spid="9" grpId="0" animBg="1"/>
      <p:bldP spid="67" grpId="0" animBg="1"/>
      <p:bldP spid="68" grpId="0" animBg="1"/>
      <p:bldP spid="69" grpId="0" autoUpdateAnimBg="0"/>
      <p:bldP spid="70" grpId="0" autoUpdateAnimBg="0"/>
      <p:bldP spid="71" grpId="0" autoUpdateAnimBg="0"/>
      <p:bldP spid="72" grpId="0" autoUpdateAnimBg="0"/>
      <p:bldP spid="73" grpId="0" autoUpdateAnimBg="0"/>
      <p:bldP spid="74" grpId="0" autoUpdateAnimBg="0"/>
      <p:bldP spid="75" grpId="0" autoUpdateAnimBg="0"/>
      <p:bldP spid="76" grpId="0" animBg="1"/>
      <p:bldP spid="7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711605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第八章   拉压、剪切与挤压的强度计算</a:t>
            </a:r>
          </a:p>
        </p:txBody>
      </p:sp>
      <p:sp>
        <p:nvSpPr>
          <p:cNvPr id="14" name="Text Box 1032"/>
          <p:cNvSpPr txBox="1">
            <a:spLocks noChangeArrowheads="1"/>
          </p:cNvSpPr>
          <p:nvPr/>
        </p:nvSpPr>
        <p:spPr bwMode="auto">
          <a:xfrm>
            <a:off x="983432" y="866940"/>
            <a:ext cx="10801199" cy="1126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pPr>
            <a:r>
              <a:rPr lang="zh-CN" altLang="en-US" sz="2800" i="0" dirty="0">
                <a:solidFill>
                  <a:srgbClr val="FF0000"/>
                </a:solidFill>
                <a:latin typeface="微软雅黑" panose="020B0503020204020204" pitchFamily="34" charset="-122"/>
                <a:ea typeface="微软雅黑" panose="020B0503020204020204" pitchFamily="34" charset="-122"/>
              </a:rPr>
              <a:t>外力特点</a:t>
            </a:r>
            <a:r>
              <a:rPr lang="zh-CN" altLang="en-US" sz="2800" i="0" dirty="0">
                <a:latin typeface="+mj-lt"/>
                <a:ea typeface="微软雅黑" panose="020B0503020204020204" pitchFamily="34" charset="-122"/>
              </a:rPr>
              <a:t>：外力合力作用线与杆的轴线重合。</a:t>
            </a:r>
            <a:endParaRPr lang="en-US" altLang="zh-CN" sz="2800" i="0" dirty="0">
              <a:latin typeface="+mj-lt"/>
              <a:ea typeface="微软雅黑" panose="020B0503020204020204" pitchFamily="34" charset="-122"/>
            </a:endParaRPr>
          </a:p>
          <a:p>
            <a:pPr>
              <a:lnSpc>
                <a:spcPct val="120000"/>
              </a:lnSpc>
            </a:pPr>
            <a:r>
              <a:rPr lang="zh-CN" altLang="en-US" sz="2800" i="0" dirty="0">
                <a:solidFill>
                  <a:srgbClr val="FF0000"/>
                </a:solidFill>
                <a:latin typeface="微软雅黑" panose="020B0503020204020204" pitchFamily="34" charset="-122"/>
                <a:ea typeface="微软雅黑" panose="020B0503020204020204" pitchFamily="34" charset="-122"/>
              </a:rPr>
              <a:t>变形特点</a:t>
            </a:r>
            <a:r>
              <a:rPr lang="zh-CN" altLang="en-US" sz="2800" i="0" dirty="0">
                <a:latin typeface="+mj-lt"/>
                <a:ea typeface="微软雅黑" panose="020B0503020204020204" pitchFamily="34" charset="-122"/>
              </a:rPr>
              <a:t>：杆的变形是沿轴向的拉伸与压缩。</a:t>
            </a:r>
          </a:p>
        </p:txBody>
      </p:sp>
      <p:sp>
        <p:nvSpPr>
          <p:cNvPr id="9" name="Rectangle 61"/>
          <p:cNvSpPr>
            <a:spLocks noChangeArrowheads="1"/>
          </p:cNvSpPr>
          <p:nvPr/>
        </p:nvSpPr>
        <p:spPr bwMode="auto">
          <a:xfrm>
            <a:off x="983432" y="2276872"/>
            <a:ext cx="9577064" cy="3991664"/>
          </a:xfrm>
          <a:prstGeom prst="rect">
            <a:avLst/>
          </a:prstGeom>
          <a:solidFill>
            <a:srgbClr val="B9CDE5"/>
          </a:solidFill>
          <a:ln>
            <a:noFill/>
          </a:ln>
          <a:effectLst/>
        </p:spPr>
        <p:txBody>
          <a:bodyPr wrap="none" anchor="ctr"/>
          <a:lstStyle/>
          <a:p>
            <a:endParaRPr lang="zh-CN" altLang="en-US"/>
          </a:p>
        </p:txBody>
      </p:sp>
      <p:sp>
        <p:nvSpPr>
          <p:cNvPr id="144" name="Rectangle 2"/>
          <p:cNvSpPr>
            <a:spLocks noChangeArrowheads="1"/>
          </p:cNvSpPr>
          <p:nvPr/>
        </p:nvSpPr>
        <p:spPr bwMode="auto">
          <a:xfrm>
            <a:off x="3343385" y="5480139"/>
            <a:ext cx="5741988"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r>
              <a:rPr lang="zh-CN" altLang="en-US" i="0" dirty="0">
                <a:solidFill>
                  <a:schemeClr val="tx1"/>
                </a:solidFill>
                <a:latin typeface="+mj-lt"/>
                <a:ea typeface="微软雅黑" panose="020B0503020204020204" pitchFamily="34" charset="-122"/>
              </a:rPr>
              <a:t>轴向压缩：轴向缩短，横向变粗。</a:t>
            </a:r>
          </a:p>
        </p:txBody>
      </p:sp>
      <p:sp>
        <p:nvSpPr>
          <p:cNvPr id="145" name="Rectangle 3"/>
          <p:cNvSpPr>
            <a:spLocks noChangeArrowheads="1"/>
          </p:cNvSpPr>
          <p:nvPr/>
        </p:nvSpPr>
        <p:spPr bwMode="auto">
          <a:xfrm>
            <a:off x="3257660" y="3611698"/>
            <a:ext cx="6038850"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r>
              <a:rPr lang="zh-CN" altLang="en-US" i="0" dirty="0">
                <a:solidFill>
                  <a:schemeClr val="tx1"/>
                </a:solidFill>
                <a:latin typeface="+mj-lt"/>
                <a:ea typeface="微软雅黑" panose="020B0503020204020204" pitchFamily="34" charset="-122"/>
              </a:rPr>
              <a:t>轴向拉伸：轴向伸长，横向缩短。</a:t>
            </a:r>
          </a:p>
        </p:txBody>
      </p:sp>
      <p:grpSp>
        <p:nvGrpSpPr>
          <p:cNvPr id="146" name="Group 4"/>
          <p:cNvGrpSpPr>
            <a:grpSpLocks/>
          </p:cNvGrpSpPr>
          <p:nvPr/>
        </p:nvGrpSpPr>
        <p:grpSpPr bwMode="auto">
          <a:xfrm>
            <a:off x="1631504" y="4463368"/>
            <a:ext cx="7920038" cy="673100"/>
            <a:chOff x="350" y="2562"/>
            <a:chExt cx="4989" cy="424"/>
          </a:xfrm>
        </p:grpSpPr>
        <p:grpSp>
          <p:nvGrpSpPr>
            <p:cNvPr id="147" name="Group 5"/>
            <p:cNvGrpSpPr>
              <a:grpSpLocks/>
            </p:cNvGrpSpPr>
            <p:nvPr/>
          </p:nvGrpSpPr>
          <p:grpSpPr bwMode="auto">
            <a:xfrm>
              <a:off x="997" y="2678"/>
              <a:ext cx="3645" cy="218"/>
              <a:chOff x="986" y="3603"/>
              <a:chExt cx="3645" cy="218"/>
            </a:xfrm>
          </p:grpSpPr>
          <p:sp>
            <p:nvSpPr>
              <p:cNvPr id="159" name="Rectangle 6"/>
              <p:cNvSpPr>
                <a:spLocks noChangeArrowheads="1"/>
              </p:cNvSpPr>
              <p:nvPr/>
            </p:nvSpPr>
            <p:spPr bwMode="auto">
              <a:xfrm>
                <a:off x="1311" y="3603"/>
                <a:ext cx="3085" cy="218"/>
              </a:xfrm>
              <a:prstGeom prst="rect">
                <a:avLst/>
              </a:prstGeom>
              <a:noFill/>
              <a:ln w="39688">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pPr eaLnBrk="1" hangingPunct="1">
                  <a:buFontTx/>
                  <a:buChar char="•"/>
                </a:pPr>
                <a:endParaRPr lang="zh-CN" altLang="en-US"/>
              </a:p>
            </p:txBody>
          </p:sp>
          <p:sp>
            <p:nvSpPr>
              <p:cNvPr id="160" name="Line 7"/>
              <p:cNvSpPr>
                <a:spLocks noChangeShapeType="1"/>
              </p:cNvSpPr>
              <p:nvPr/>
            </p:nvSpPr>
            <p:spPr bwMode="auto">
              <a:xfrm>
                <a:off x="986" y="3713"/>
                <a:ext cx="3645" cy="15"/>
              </a:xfrm>
              <a:prstGeom prst="line">
                <a:avLst/>
              </a:prstGeom>
              <a:noFill/>
              <a:ln w="19050">
                <a:solidFill>
                  <a:schemeClr val="tx1"/>
                </a:solidFill>
                <a:prstDash val="dash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48" name="Group 8"/>
            <p:cNvGrpSpPr>
              <a:grpSpLocks/>
            </p:cNvGrpSpPr>
            <p:nvPr/>
          </p:nvGrpSpPr>
          <p:grpSpPr bwMode="auto">
            <a:xfrm>
              <a:off x="350" y="2562"/>
              <a:ext cx="4989" cy="424"/>
              <a:chOff x="350" y="2562"/>
              <a:chExt cx="4989" cy="424"/>
            </a:xfrm>
          </p:grpSpPr>
          <p:grpSp>
            <p:nvGrpSpPr>
              <p:cNvPr id="149" name="Group 9"/>
              <p:cNvGrpSpPr>
                <a:grpSpLocks/>
              </p:cNvGrpSpPr>
              <p:nvPr/>
            </p:nvGrpSpPr>
            <p:grpSpPr bwMode="auto">
              <a:xfrm>
                <a:off x="693" y="2588"/>
                <a:ext cx="4189" cy="398"/>
                <a:chOff x="659" y="2573"/>
                <a:chExt cx="4189" cy="398"/>
              </a:xfrm>
            </p:grpSpPr>
            <p:sp>
              <p:nvSpPr>
                <p:cNvPr id="152" name="Rectangle 10"/>
                <p:cNvSpPr>
                  <a:spLocks noChangeArrowheads="1"/>
                </p:cNvSpPr>
                <p:nvPr/>
              </p:nvSpPr>
              <p:spPr bwMode="auto">
                <a:xfrm>
                  <a:off x="1573" y="2573"/>
                  <a:ext cx="2374" cy="398"/>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lstStyle/>
                <a:p>
                  <a:pPr eaLnBrk="1" hangingPunct="1">
                    <a:buFontTx/>
                    <a:buChar char="•"/>
                  </a:pPr>
                  <a:endParaRPr lang="zh-CN" altLang="en-US"/>
                </a:p>
              </p:txBody>
            </p:sp>
            <p:grpSp>
              <p:nvGrpSpPr>
                <p:cNvPr id="153" name="Group 11"/>
                <p:cNvGrpSpPr>
                  <a:grpSpLocks/>
                </p:cNvGrpSpPr>
                <p:nvPr/>
              </p:nvGrpSpPr>
              <p:grpSpPr bwMode="auto">
                <a:xfrm>
                  <a:off x="3954" y="2670"/>
                  <a:ext cx="894" cy="204"/>
                  <a:chOff x="4021" y="2662"/>
                  <a:chExt cx="665" cy="204"/>
                </a:xfrm>
              </p:grpSpPr>
              <p:sp>
                <p:nvSpPr>
                  <p:cNvPr id="157" name="Line 12"/>
                  <p:cNvSpPr>
                    <a:spLocks noChangeShapeType="1"/>
                  </p:cNvSpPr>
                  <p:nvPr/>
                </p:nvSpPr>
                <p:spPr bwMode="auto">
                  <a:xfrm flipH="1">
                    <a:off x="4221" y="2765"/>
                    <a:ext cx="465" cy="1"/>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8" name="Freeform 13"/>
                  <p:cNvSpPr>
                    <a:spLocks/>
                  </p:cNvSpPr>
                  <p:nvPr/>
                </p:nvSpPr>
                <p:spPr bwMode="auto">
                  <a:xfrm>
                    <a:off x="4021" y="2662"/>
                    <a:ext cx="204" cy="204"/>
                  </a:xfrm>
                  <a:custGeom>
                    <a:avLst/>
                    <a:gdLst>
                      <a:gd name="T0" fmla="*/ 204 w 204"/>
                      <a:gd name="T1" fmla="*/ 0 h 204"/>
                      <a:gd name="T2" fmla="*/ 0 w 204"/>
                      <a:gd name="T3" fmla="*/ 103 h 204"/>
                      <a:gd name="T4" fmla="*/ 204 w 204"/>
                      <a:gd name="T5" fmla="*/ 204 h 204"/>
                      <a:gd name="T6" fmla="*/ 204 w 204"/>
                      <a:gd name="T7" fmla="*/ 0 h 204"/>
                      <a:gd name="T8" fmla="*/ 0 60000 65536"/>
                      <a:gd name="T9" fmla="*/ 0 60000 65536"/>
                      <a:gd name="T10" fmla="*/ 0 60000 65536"/>
                      <a:gd name="T11" fmla="*/ 0 60000 65536"/>
                      <a:gd name="T12" fmla="*/ 0 w 204"/>
                      <a:gd name="T13" fmla="*/ 0 h 204"/>
                      <a:gd name="T14" fmla="*/ 204 w 204"/>
                      <a:gd name="T15" fmla="*/ 204 h 204"/>
                    </a:gdLst>
                    <a:ahLst/>
                    <a:cxnLst>
                      <a:cxn ang="T8">
                        <a:pos x="T0" y="T1"/>
                      </a:cxn>
                      <a:cxn ang="T9">
                        <a:pos x="T2" y="T3"/>
                      </a:cxn>
                      <a:cxn ang="T10">
                        <a:pos x="T4" y="T5"/>
                      </a:cxn>
                      <a:cxn ang="T11">
                        <a:pos x="T6" y="T7"/>
                      </a:cxn>
                    </a:cxnLst>
                    <a:rect l="T12" t="T13" r="T14" b="T15"/>
                    <a:pathLst>
                      <a:path w="204" h="204">
                        <a:moveTo>
                          <a:pt x="204" y="0"/>
                        </a:moveTo>
                        <a:lnTo>
                          <a:pt x="0" y="103"/>
                        </a:lnTo>
                        <a:lnTo>
                          <a:pt x="204" y="204"/>
                        </a:lnTo>
                        <a:lnTo>
                          <a:pt x="204" y="0"/>
                        </a:lnTo>
                        <a:close/>
                      </a:path>
                    </a:pathLst>
                  </a:custGeom>
                  <a:solidFill>
                    <a:srgbClr val="FF0000"/>
                  </a:solidFill>
                  <a:ln w="9525">
                    <a:solidFill>
                      <a:srgbClr val="FF0000"/>
                    </a:solidFill>
                    <a:round/>
                    <a:headEnd/>
                    <a:tailEnd/>
                  </a:ln>
                </p:spPr>
                <p:txBody>
                  <a:bodyPr/>
                  <a:lstStyle/>
                  <a:p>
                    <a:endParaRPr lang="zh-CN" altLang="en-US"/>
                  </a:p>
                </p:txBody>
              </p:sp>
            </p:grpSp>
            <p:grpSp>
              <p:nvGrpSpPr>
                <p:cNvPr id="154" name="Group 14"/>
                <p:cNvGrpSpPr>
                  <a:grpSpLocks/>
                </p:cNvGrpSpPr>
                <p:nvPr/>
              </p:nvGrpSpPr>
              <p:grpSpPr bwMode="auto">
                <a:xfrm>
                  <a:off x="659" y="2664"/>
                  <a:ext cx="893" cy="204"/>
                  <a:chOff x="659" y="2664"/>
                  <a:chExt cx="893" cy="204"/>
                </a:xfrm>
              </p:grpSpPr>
              <p:sp>
                <p:nvSpPr>
                  <p:cNvPr id="155" name="Line 15"/>
                  <p:cNvSpPr>
                    <a:spLocks noChangeShapeType="1"/>
                  </p:cNvSpPr>
                  <p:nvPr/>
                </p:nvSpPr>
                <p:spPr bwMode="auto">
                  <a:xfrm flipH="1">
                    <a:off x="659" y="2765"/>
                    <a:ext cx="694" cy="1"/>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6" name="Freeform 16"/>
                  <p:cNvSpPr>
                    <a:spLocks/>
                  </p:cNvSpPr>
                  <p:nvPr/>
                </p:nvSpPr>
                <p:spPr bwMode="auto">
                  <a:xfrm>
                    <a:off x="1349" y="2664"/>
                    <a:ext cx="203" cy="204"/>
                  </a:xfrm>
                  <a:custGeom>
                    <a:avLst/>
                    <a:gdLst>
                      <a:gd name="T0" fmla="*/ 0 w 203"/>
                      <a:gd name="T1" fmla="*/ 204 h 204"/>
                      <a:gd name="T2" fmla="*/ 203 w 203"/>
                      <a:gd name="T3" fmla="*/ 101 h 204"/>
                      <a:gd name="T4" fmla="*/ 0 w 203"/>
                      <a:gd name="T5" fmla="*/ 0 h 204"/>
                      <a:gd name="T6" fmla="*/ 0 w 203"/>
                      <a:gd name="T7" fmla="*/ 204 h 204"/>
                      <a:gd name="T8" fmla="*/ 0 60000 65536"/>
                      <a:gd name="T9" fmla="*/ 0 60000 65536"/>
                      <a:gd name="T10" fmla="*/ 0 60000 65536"/>
                      <a:gd name="T11" fmla="*/ 0 60000 65536"/>
                      <a:gd name="T12" fmla="*/ 0 w 203"/>
                      <a:gd name="T13" fmla="*/ 0 h 204"/>
                      <a:gd name="T14" fmla="*/ 203 w 203"/>
                      <a:gd name="T15" fmla="*/ 204 h 204"/>
                    </a:gdLst>
                    <a:ahLst/>
                    <a:cxnLst>
                      <a:cxn ang="T8">
                        <a:pos x="T0" y="T1"/>
                      </a:cxn>
                      <a:cxn ang="T9">
                        <a:pos x="T2" y="T3"/>
                      </a:cxn>
                      <a:cxn ang="T10">
                        <a:pos x="T4" y="T5"/>
                      </a:cxn>
                      <a:cxn ang="T11">
                        <a:pos x="T6" y="T7"/>
                      </a:cxn>
                    </a:cxnLst>
                    <a:rect l="T12" t="T13" r="T14" b="T15"/>
                    <a:pathLst>
                      <a:path w="203" h="204">
                        <a:moveTo>
                          <a:pt x="0" y="204"/>
                        </a:moveTo>
                        <a:lnTo>
                          <a:pt x="203" y="101"/>
                        </a:lnTo>
                        <a:lnTo>
                          <a:pt x="0" y="0"/>
                        </a:lnTo>
                        <a:lnTo>
                          <a:pt x="0" y="204"/>
                        </a:lnTo>
                        <a:close/>
                      </a:path>
                    </a:pathLst>
                  </a:custGeom>
                  <a:solidFill>
                    <a:srgbClr val="FF0000"/>
                  </a:solidFill>
                  <a:ln w="9525">
                    <a:solidFill>
                      <a:srgbClr val="FF0000"/>
                    </a:solidFill>
                    <a:round/>
                    <a:headEnd/>
                    <a:tailEnd/>
                  </a:ln>
                </p:spPr>
                <p:txBody>
                  <a:bodyPr/>
                  <a:lstStyle/>
                  <a:p>
                    <a:endParaRPr lang="zh-CN" altLang="en-US"/>
                  </a:p>
                </p:txBody>
              </p:sp>
            </p:grpSp>
          </p:grpSp>
          <p:graphicFrame>
            <p:nvGraphicFramePr>
              <p:cNvPr id="150" name="Object 17"/>
              <p:cNvGraphicFramePr>
                <a:graphicFrameLocks noChangeAspect="1"/>
              </p:cNvGraphicFramePr>
              <p:nvPr/>
            </p:nvGraphicFramePr>
            <p:xfrm>
              <a:off x="4958" y="2578"/>
              <a:ext cx="381" cy="381"/>
            </p:xfrm>
            <a:graphic>
              <a:graphicData uri="http://schemas.openxmlformats.org/presentationml/2006/ole">
                <mc:AlternateContent xmlns:mc="http://schemas.openxmlformats.org/markup-compatibility/2006">
                  <mc:Choice xmlns:v="urn:schemas-microsoft-com:vml" Requires="v">
                    <p:oleObj name="公式" r:id="rId3" imgW="164885" imgH="164885" progId="Equation.3">
                      <p:embed/>
                    </p:oleObj>
                  </mc:Choice>
                  <mc:Fallback>
                    <p:oleObj name="公式" r:id="rId3" imgW="164885" imgH="164885" progId="Equation.3">
                      <p:embed/>
                      <p:pic>
                        <p:nvPicPr>
                          <p:cNvPr id="150" name="Object 1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58" y="2578"/>
                            <a:ext cx="381" cy="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1" name="Object 18"/>
              <p:cNvGraphicFramePr>
                <a:graphicFrameLocks noChangeAspect="1"/>
              </p:cNvGraphicFramePr>
              <p:nvPr/>
            </p:nvGraphicFramePr>
            <p:xfrm>
              <a:off x="350" y="2562"/>
              <a:ext cx="381" cy="381"/>
            </p:xfrm>
            <a:graphic>
              <a:graphicData uri="http://schemas.openxmlformats.org/presentationml/2006/ole">
                <mc:AlternateContent xmlns:mc="http://schemas.openxmlformats.org/markup-compatibility/2006">
                  <mc:Choice xmlns:v="urn:schemas-microsoft-com:vml" Requires="v">
                    <p:oleObj name="公式" r:id="rId5" imgW="164885" imgH="164885" progId="Equation.3">
                      <p:embed/>
                    </p:oleObj>
                  </mc:Choice>
                  <mc:Fallback>
                    <p:oleObj name="公式" r:id="rId5" imgW="164885" imgH="164885" progId="Equation.3">
                      <p:embed/>
                      <p:pic>
                        <p:nvPicPr>
                          <p:cNvPr id="151" name="Object 1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0" y="2562"/>
                            <a:ext cx="381" cy="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grpSp>
        <p:nvGrpSpPr>
          <p:cNvPr id="161" name="Group 19"/>
          <p:cNvGrpSpPr>
            <a:grpSpLocks/>
          </p:cNvGrpSpPr>
          <p:nvPr/>
        </p:nvGrpSpPr>
        <p:grpSpPr bwMode="auto">
          <a:xfrm>
            <a:off x="1469579" y="2406786"/>
            <a:ext cx="8466138" cy="762000"/>
            <a:chOff x="226" y="922"/>
            <a:chExt cx="5333" cy="480"/>
          </a:xfrm>
        </p:grpSpPr>
        <p:grpSp>
          <p:nvGrpSpPr>
            <p:cNvPr id="162" name="Group 20"/>
            <p:cNvGrpSpPr>
              <a:grpSpLocks/>
            </p:cNvGrpSpPr>
            <p:nvPr/>
          </p:nvGrpSpPr>
          <p:grpSpPr bwMode="auto">
            <a:xfrm>
              <a:off x="983" y="1056"/>
              <a:ext cx="3578" cy="346"/>
              <a:chOff x="933" y="1714"/>
              <a:chExt cx="3578" cy="346"/>
            </a:xfrm>
          </p:grpSpPr>
          <p:sp>
            <p:nvSpPr>
              <p:cNvPr id="174" name="Rectangle 21"/>
              <p:cNvSpPr>
                <a:spLocks noChangeArrowheads="1"/>
              </p:cNvSpPr>
              <p:nvPr/>
            </p:nvSpPr>
            <p:spPr bwMode="auto">
              <a:xfrm>
                <a:off x="1279" y="1714"/>
                <a:ext cx="2849" cy="346"/>
              </a:xfrm>
              <a:prstGeom prst="rect">
                <a:avLst/>
              </a:prstGeom>
              <a:noFill/>
              <a:ln w="36513">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pPr eaLnBrk="1" hangingPunct="1">
                  <a:buFontTx/>
                  <a:buChar char="•"/>
                </a:pPr>
                <a:endParaRPr lang="zh-CN" altLang="en-US"/>
              </a:p>
            </p:txBody>
          </p:sp>
          <p:sp>
            <p:nvSpPr>
              <p:cNvPr id="175" name="Line 22"/>
              <p:cNvSpPr>
                <a:spLocks noChangeShapeType="1"/>
              </p:cNvSpPr>
              <p:nvPr/>
            </p:nvSpPr>
            <p:spPr bwMode="auto">
              <a:xfrm>
                <a:off x="933" y="1888"/>
                <a:ext cx="3578" cy="8"/>
              </a:xfrm>
              <a:prstGeom prst="line">
                <a:avLst/>
              </a:prstGeom>
              <a:noFill/>
              <a:ln w="19050">
                <a:solidFill>
                  <a:schemeClr val="tx1"/>
                </a:solidFill>
                <a:prstDash val="dash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63" name="Group 23"/>
            <p:cNvGrpSpPr>
              <a:grpSpLocks/>
            </p:cNvGrpSpPr>
            <p:nvPr/>
          </p:nvGrpSpPr>
          <p:grpSpPr bwMode="auto">
            <a:xfrm>
              <a:off x="226" y="922"/>
              <a:ext cx="5333" cy="446"/>
              <a:chOff x="203" y="934"/>
              <a:chExt cx="5333" cy="446"/>
            </a:xfrm>
          </p:grpSpPr>
          <p:grpSp>
            <p:nvGrpSpPr>
              <p:cNvPr id="164" name="Group 24"/>
              <p:cNvGrpSpPr>
                <a:grpSpLocks/>
              </p:cNvGrpSpPr>
              <p:nvPr/>
            </p:nvGrpSpPr>
            <p:grpSpPr bwMode="auto">
              <a:xfrm>
                <a:off x="525" y="1130"/>
                <a:ext cx="4571" cy="202"/>
                <a:chOff x="519" y="3669"/>
                <a:chExt cx="4571" cy="202"/>
              </a:xfrm>
            </p:grpSpPr>
            <p:sp>
              <p:nvSpPr>
                <p:cNvPr id="167" name="Rectangle 25"/>
                <p:cNvSpPr>
                  <a:spLocks noChangeArrowheads="1"/>
                </p:cNvSpPr>
                <p:nvPr/>
              </p:nvSpPr>
              <p:spPr bwMode="auto">
                <a:xfrm>
                  <a:off x="1135" y="3681"/>
                  <a:ext cx="3330" cy="190"/>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lstStyle/>
                <a:p>
                  <a:pPr eaLnBrk="1" hangingPunct="1">
                    <a:buFontTx/>
                    <a:buChar char="•"/>
                  </a:pPr>
                  <a:endParaRPr lang="zh-CN" altLang="en-US"/>
                </a:p>
              </p:txBody>
            </p:sp>
            <p:grpSp>
              <p:nvGrpSpPr>
                <p:cNvPr id="168" name="Group 26"/>
                <p:cNvGrpSpPr>
                  <a:grpSpLocks/>
                </p:cNvGrpSpPr>
                <p:nvPr/>
              </p:nvGrpSpPr>
              <p:grpSpPr bwMode="auto">
                <a:xfrm>
                  <a:off x="519" y="3669"/>
                  <a:ext cx="631" cy="194"/>
                  <a:chOff x="519" y="3669"/>
                  <a:chExt cx="631" cy="194"/>
                </a:xfrm>
              </p:grpSpPr>
              <p:sp>
                <p:nvSpPr>
                  <p:cNvPr id="172" name="Freeform 27"/>
                  <p:cNvSpPr>
                    <a:spLocks/>
                  </p:cNvSpPr>
                  <p:nvPr/>
                </p:nvSpPr>
                <p:spPr bwMode="auto">
                  <a:xfrm>
                    <a:off x="708" y="3759"/>
                    <a:ext cx="442" cy="17"/>
                  </a:xfrm>
                  <a:custGeom>
                    <a:avLst/>
                    <a:gdLst>
                      <a:gd name="T0" fmla="*/ 442 w 442"/>
                      <a:gd name="T1" fmla="*/ 16 h 17"/>
                      <a:gd name="T2" fmla="*/ 442 w 442"/>
                      <a:gd name="T3" fmla="*/ 0 h 17"/>
                      <a:gd name="T4" fmla="*/ 0 w 442"/>
                      <a:gd name="T5" fmla="*/ 1 h 17"/>
                      <a:gd name="T6" fmla="*/ 0 w 442"/>
                      <a:gd name="T7" fmla="*/ 17 h 17"/>
                      <a:gd name="T8" fmla="*/ 442 w 442"/>
                      <a:gd name="T9" fmla="*/ 16 h 17"/>
                      <a:gd name="T10" fmla="*/ 0 60000 65536"/>
                      <a:gd name="T11" fmla="*/ 0 60000 65536"/>
                      <a:gd name="T12" fmla="*/ 0 60000 65536"/>
                      <a:gd name="T13" fmla="*/ 0 60000 65536"/>
                      <a:gd name="T14" fmla="*/ 0 60000 65536"/>
                      <a:gd name="T15" fmla="*/ 0 w 442"/>
                      <a:gd name="T16" fmla="*/ 0 h 17"/>
                      <a:gd name="T17" fmla="*/ 442 w 442"/>
                      <a:gd name="T18" fmla="*/ 17 h 17"/>
                    </a:gdLst>
                    <a:ahLst/>
                    <a:cxnLst>
                      <a:cxn ang="T10">
                        <a:pos x="T0" y="T1"/>
                      </a:cxn>
                      <a:cxn ang="T11">
                        <a:pos x="T2" y="T3"/>
                      </a:cxn>
                      <a:cxn ang="T12">
                        <a:pos x="T4" y="T5"/>
                      </a:cxn>
                      <a:cxn ang="T13">
                        <a:pos x="T6" y="T7"/>
                      </a:cxn>
                      <a:cxn ang="T14">
                        <a:pos x="T8" y="T9"/>
                      </a:cxn>
                    </a:cxnLst>
                    <a:rect l="T15" t="T16" r="T17" b="T18"/>
                    <a:pathLst>
                      <a:path w="442" h="17">
                        <a:moveTo>
                          <a:pt x="442" y="16"/>
                        </a:moveTo>
                        <a:lnTo>
                          <a:pt x="442" y="0"/>
                        </a:lnTo>
                        <a:lnTo>
                          <a:pt x="0" y="1"/>
                        </a:lnTo>
                        <a:lnTo>
                          <a:pt x="0" y="17"/>
                        </a:lnTo>
                        <a:lnTo>
                          <a:pt x="442" y="16"/>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3" name="Freeform 28"/>
                  <p:cNvSpPr>
                    <a:spLocks/>
                  </p:cNvSpPr>
                  <p:nvPr/>
                </p:nvSpPr>
                <p:spPr bwMode="auto">
                  <a:xfrm>
                    <a:off x="519" y="3669"/>
                    <a:ext cx="193" cy="194"/>
                  </a:xfrm>
                  <a:custGeom>
                    <a:avLst/>
                    <a:gdLst>
                      <a:gd name="T0" fmla="*/ 193 w 193"/>
                      <a:gd name="T1" fmla="*/ 0 h 194"/>
                      <a:gd name="T2" fmla="*/ 0 w 193"/>
                      <a:gd name="T3" fmla="*/ 98 h 194"/>
                      <a:gd name="T4" fmla="*/ 193 w 193"/>
                      <a:gd name="T5" fmla="*/ 194 h 194"/>
                      <a:gd name="T6" fmla="*/ 193 w 193"/>
                      <a:gd name="T7" fmla="*/ 0 h 194"/>
                      <a:gd name="T8" fmla="*/ 0 60000 65536"/>
                      <a:gd name="T9" fmla="*/ 0 60000 65536"/>
                      <a:gd name="T10" fmla="*/ 0 60000 65536"/>
                      <a:gd name="T11" fmla="*/ 0 60000 65536"/>
                      <a:gd name="T12" fmla="*/ 0 w 193"/>
                      <a:gd name="T13" fmla="*/ 0 h 194"/>
                      <a:gd name="T14" fmla="*/ 193 w 193"/>
                      <a:gd name="T15" fmla="*/ 194 h 194"/>
                    </a:gdLst>
                    <a:ahLst/>
                    <a:cxnLst>
                      <a:cxn ang="T8">
                        <a:pos x="T0" y="T1"/>
                      </a:cxn>
                      <a:cxn ang="T9">
                        <a:pos x="T2" y="T3"/>
                      </a:cxn>
                      <a:cxn ang="T10">
                        <a:pos x="T4" y="T5"/>
                      </a:cxn>
                      <a:cxn ang="T11">
                        <a:pos x="T6" y="T7"/>
                      </a:cxn>
                    </a:cxnLst>
                    <a:rect l="T12" t="T13" r="T14" b="T15"/>
                    <a:pathLst>
                      <a:path w="193" h="194">
                        <a:moveTo>
                          <a:pt x="193" y="0"/>
                        </a:moveTo>
                        <a:lnTo>
                          <a:pt x="0" y="98"/>
                        </a:lnTo>
                        <a:lnTo>
                          <a:pt x="193" y="194"/>
                        </a:lnTo>
                        <a:lnTo>
                          <a:pt x="193" y="0"/>
                        </a:lnTo>
                        <a:close/>
                      </a:path>
                    </a:pathLst>
                  </a:custGeom>
                  <a:solidFill>
                    <a:srgbClr val="FF0000"/>
                  </a:solidFill>
                  <a:ln w="9525">
                    <a:solidFill>
                      <a:srgbClr val="FF0000"/>
                    </a:solidFill>
                    <a:round/>
                    <a:headEnd/>
                    <a:tailEnd/>
                  </a:ln>
                </p:spPr>
                <p:txBody>
                  <a:bodyPr/>
                  <a:lstStyle/>
                  <a:p>
                    <a:endParaRPr lang="zh-CN" altLang="en-US"/>
                  </a:p>
                </p:txBody>
              </p:sp>
            </p:grpSp>
            <p:grpSp>
              <p:nvGrpSpPr>
                <p:cNvPr id="169" name="Group 29"/>
                <p:cNvGrpSpPr>
                  <a:grpSpLocks/>
                </p:cNvGrpSpPr>
                <p:nvPr/>
              </p:nvGrpSpPr>
              <p:grpSpPr bwMode="auto">
                <a:xfrm>
                  <a:off x="4459" y="3677"/>
                  <a:ext cx="631" cy="194"/>
                  <a:chOff x="4466" y="3655"/>
                  <a:chExt cx="631" cy="194"/>
                </a:xfrm>
              </p:grpSpPr>
              <p:sp>
                <p:nvSpPr>
                  <p:cNvPr id="170" name="Freeform 30"/>
                  <p:cNvSpPr>
                    <a:spLocks/>
                  </p:cNvSpPr>
                  <p:nvPr/>
                </p:nvSpPr>
                <p:spPr bwMode="auto">
                  <a:xfrm>
                    <a:off x="4466" y="3743"/>
                    <a:ext cx="442" cy="17"/>
                  </a:xfrm>
                  <a:custGeom>
                    <a:avLst/>
                    <a:gdLst>
                      <a:gd name="T0" fmla="*/ 442 w 442"/>
                      <a:gd name="T1" fmla="*/ 16 h 17"/>
                      <a:gd name="T2" fmla="*/ 442 w 442"/>
                      <a:gd name="T3" fmla="*/ 0 h 17"/>
                      <a:gd name="T4" fmla="*/ 0 w 442"/>
                      <a:gd name="T5" fmla="*/ 1 h 17"/>
                      <a:gd name="T6" fmla="*/ 0 w 442"/>
                      <a:gd name="T7" fmla="*/ 17 h 17"/>
                      <a:gd name="T8" fmla="*/ 442 w 442"/>
                      <a:gd name="T9" fmla="*/ 16 h 17"/>
                      <a:gd name="T10" fmla="*/ 0 60000 65536"/>
                      <a:gd name="T11" fmla="*/ 0 60000 65536"/>
                      <a:gd name="T12" fmla="*/ 0 60000 65536"/>
                      <a:gd name="T13" fmla="*/ 0 60000 65536"/>
                      <a:gd name="T14" fmla="*/ 0 60000 65536"/>
                      <a:gd name="T15" fmla="*/ 0 w 442"/>
                      <a:gd name="T16" fmla="*/ 0 h 17"/>
                      <a:gd name="T17" fmla="*/ 442 w 442"/>
                      <a:gd name="T18" fmla="*/ 17 h 17"/>
                    </a:gdLst>
                    <a:ahLst/>
                    <a:cxnLst>
                      <a:cxn ang="T10">
                        <a:pos x="T0" y="T1"/>
                      </a:cxn>
                      <a:cxn ang="T11">
                        <a:pos x="T2" y="T3"/>
                      </a:cxn>
                      <a:cxn ang="T12">
                        <a:pos x="T4" y="T5"/>
                      </a:cxn>
                      <a:cxn ang="T13">
                        <a:pos x="T6" y="T7"/>
                      </a:cxn>
                      <a:cxn ang="T14">
                        <a:pos x="T8" y="T9"/>
                      </a:cxn>
                    </a:cxnLst>
                    <a:rect l="T15" t="T16" r="T17" b="T18"/>
                    <a:pathLst>
                      <a:path w="442" h="17">
                        <a:moveTo>
                          <a:pt x="442" y="16"/>
                        </a:moveTo>
                        <a:lnTo>
                          <a:pt x="442" y="0"/>
                        </a:lnTo>
                        <a:lnTo>
                          <a:pt x="0" y="1"/>
                        </a:lnTo>
                        <a:lnTo>
                          <a:pt x="0" y="17"/>
                        </a:lnTo>
                        <a:lnTo>
                          <a:pt x="442" y="16"/>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1" name="Freeform 31"/>
                  <p:cNvSpPr>
                    <a:spLocks/>
                  </p:cNvSpPr>
                  <p:nvPr/>
                </p:nvSpPr>
                <p:spPr bwMode="auto">
                  <a:xfrm>
                    <a:off x="4904" y="3655"/>
                    <a:ext cx="193" cy="194"/>
                  </a:xfrm>
                  <a:custGeom>
                    <a:avLst/>
                    <a:gdLst>
                      <a:gd name="T0" fmla="*/ 0 w 193"/>
                      <a:gd name="T1" fmla="*/ 194 h 194"/>
                      <a:gd name="T2" fmla="*/ 193 w 193"/>
                      <a:gd name="T3" fmla="*/ 96 h 194"/>
                      <a:gd name="T4" fmla="*/ 0 w 193"/>
                      <a:gd name="T5" fmla="*/ 0 h 194"/>
                      <a:gd name="T6" fmla="*/ 0 w 193"/>
                      <a:gd name="T7" fmla="*/ 194 h 194"/>
                      <a:gd name="T8" fmla="*/ 0 60000 65536"/>
                      <a:gd name="T9" fmla="*/ 0 60000 65536"/>
                      <a:gd name="T10" fmla="*/ 0 60000 65536"/>
                      <a:gd name="T11" fmla="*/ 0 60000 65536"/>
                      <a:gd name="T12" fmla="*/ 0 w 193"/>
                      <a:gd name="T13" fmla="*/ 0 h 194"/>
                      <a:gd name="T14" fmla="*/ 193 w 193"/>
                      <a:gd name="T15" fmla="*/ 194 h 194"/>
                    </a:gdLst>
                    <a:ahLst/>
                    <a:cxnLst>
                      <a:cxn ang="T8">
                        <a:pos x="T0" y="T1"/>
                      </a:cxn>
                      <a:cxn ang="T9">
                        <a:pos x="T2" y="T3"/>
                      </a:cxn>
                      <a:cxn ang="T10">
                        <a:pos x="T4" y="T5"/>
                      </a:cxn>
                      <a:cxn ang="T11">
                        <a:pos x="T6" y="T7"/>
                      </a:cxn>
                    </a:cxnLst>
                    <a:rect l="T12" t="T13" r="T14" b="T15"/>
                    <a:pathLst>
                      <a:path w="193" h="194">
                        <a:moveTo>
                          <a:pt x="0" y="194"/>
                        </a:moveTo>
                        <a:lnTo>
                          <a:pt x="193" y="96"/>
                        </a:lnTo>
                        <a:lnTo>
                          <a:pt x="0" y="0"/>
                        </a:lnTo>
                        <a:lnTo>
                          <a:pt x="0" y="194"/>
                        </a:lnTo>
                        <a:close/>
                      </a:path>
                    </a:pathLst>
                  </a:custGeom>
                  <a:solidFill>
                    <a:srgbClr val="FF0000"/>
                  </a:solidFill>
                  <a:ln w="9525">
                    <a:solidFill>
                      <a:srgbClr val="FF0000"/>
                    </a:solidFill>
                    <a:round/>
                    <a:headEnd/>
                    <a:tailEnd/>
                  </a:ln>
                </p:spPr>
                <p:txBody>
                  <a:bodyPr/>
                  <a:lstStyle/>
                  <a:p>
                    <a:endParaRPr lang="zh-CN" altLang="en-US"/>
                  </a:p>
                </p:txBody>
              </p:sp>
            </p:grpSp>
          </p:grpSp>
          <p:graphicFrame>
            <p:nvGraphicFramePr>
              <p:cNvPr id="165" name="Object 32"/>
              <p:cNvGraphicFramePr>
                <a:graphicFrameLocks noChangeAspect="1"/>
              </p:cNvGraphicFramePr>
              <p:nvPr/>
            </p:nvGraphicFramePr>
            <p:xfrm>
              <a:off x="5155" y="999"/>
              <a:ext cx="381" cy="381"/>
            </p:xfrm>
            <a:graphic>
              <a:graphicData uri="http://schemas.openxmlformats.org/presentationml/2006/ole">
                <mc:AlternateContent xmlns:mc="http://schemas.openxmlformats.org/markup-compatibility/2006">
                  <mc:Choice xmlns:v="urn:schemas-microsoft-com:vml" Requires="v">
                    <p:oleObj name="公式" r:id="rId7" imgW="164885" imgH="164885" progId="Equation.3">
                      <p:embed/>
                    </p:oleObj>
                  </mc:Choice>
                  <mc:Fallback>
                    <p:oleObj name="公式" r:id="rId7" imgW="164885" imgH="164885" progId="Equation.3">
                      <p:embed/>
                      <p:pic>
                        <p:nvPicPr>
                          <p:cNvPr id="165" name="Object 3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155" y="999"/>
                            <a:ext cx="381" cy="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6" name="Object 33"/>
              <p:cNvGraphicFramePr>
                <a:graphicFrameLocks noChangeAspect="1"/>
              </p:cNvGraphicFramePr>
              <p:nvPr/>
            </p:nvGraphicFramePr>
            <p:xfrm>
              <a:off x="203" y="934"/>
              <a:ext cx="381" cy="381"/>
            </p:xfrm>
            <a:graphic>
              <a:graphicData uri="http://schemas.openxmlformats.org/presentationml/2006/ole">
                <mc:AlternateContent xmlns:mc="http://schemas.openxmlformats.org/markup-compatibility/2006">
                  <mc:Choice xmlns:v="urn:schemas-microsoft-com:vml" Requires="v">
                    <p:oleObj name="公式" r:id="rId9" imgW="164885" imgH="164885" progId="Equation.3">
                      <p:embed/>
                    </p:oleObj>
                  </mc:Choice>
                  <mc:Fallback>
                    <p:oleObj name="公式" r:id="rId9" imgW="164885" imgH="164885" progId="Equation.3">
                      <p:embed/>
                      <p:pic>
                        <p:nvPicPr>
                          <p:cNvPr id="166" name="Object 3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03" y="934"/>
                            <a:ext cx="381" cy="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spTree>
    <p:extLst>
      <p:ext uri="{BB962C8B-B14F-4D97-AF65-F5344CB8AC3E}">
        <p14:creationId xmlns:p14="http://schemas.microsoft.com/office/powerpoint/2010/main" val="4137676013"/>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161"/>
                                        </p:tgtEl>
                                        <p:attrNameLst>
                                          <p:attrName>style.visibility</p:attrName>
                                        </p:attrNameLst>
                                      </p:cBhvr>
                                      <p:to>
                                        <p:strVal val="visible"/>
                                      </p:to>
                                    </p:set>
                                    <p:animEffect transition="in" filter="blinds(horizontal)">
                                      <p:cBhvr>
                                        <p:cTn id="13" dur="500"/>
                                        <p:tgtEl>
                                          <p:spTgt spid="16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45">
                                            <p:txEl>
                                              <p:pRg st="0" end="0"/>
                                            </p:txEl>
                                          </p:spTgt>
                                        </p:tgtEl>
                                        <p:attrNameLst>
                                          <p:attrName>style.visibility</p:attrName>
                                        </p:attrNameLst>
                                      </p:cBhvr>
                                      <p:to>
                                        <p:strVal val="visible"/>
                                      </p:to>
                                    </p:set>
                                    <p:animEffect transition="in" filter="wipe(left)">
                                      <p:cBhvr>
                                        <p:cTn id="18" dur="500"/>
                                        <p:tgtEl>
                                          <p:spTgt spid="145">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146"/>
                                        </p:tgtEl>
                                        <p:attrNameLst>
                                          <p:attrName>style.visibility</p:attrName>
                                        </p:attrNameLst>
                                      </p:cBhvr>
                                      <p:to>
                                        <p:strVal val="visible"/>
                                      </p:to>
                                    </p:set>
                                    <p:animEffect transition="in" filter="blinds(horizontal)">
                                      <p:cBhvr>
                                        <p:cTn id="23" dur="500"/>
                                        <p:tgtEl>
                                          <p:spTgt spid="146"/>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44">
                                            <p:txEl>
                                              <p:pRg st="0" end="0"/>
                                            </p:txEl>
                                          </p:spTgt>
                                        </p:tgtEl>
                                        <p:attrNameLst>
                                          <p:attrName>style.visibility</p:attrName>
                                        </p:attrNameLst>
                                      </p:cBhvr>
                                      <p:to>
                                        <p:strVal val="visible"/>
                                      </p:to>
                                    </p:set>
                                    <p:animEffect transition="in" filter="wipe(left)">
                                      <p:cBhvr>
                                        <p:cTn id="28" dur="500"/>
                                        <p:tgtEl>
                                          <p:spTgt spid="14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utoUpdateAnimBg="0"/>
      <p:bldP spid="9" grpId="0" animBg="1"/>
      <p:bldP spid="144" grpId="0" build="p" autoUpdateAnimBg="0"/>
      <p:bldP spid="145" grpId="0" build="p"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61"/>
          <p:cNvSpPr>
            <a:spLocks noChangeArrowheads="1"/>
          </p:cNvSpPr>
          <p:nvPr/>
        </p:nvSpPr>
        <p:spPr bwMode="auto">
          <a:xfrm>
            <a:off x="6816080" y="1529084"/>
            <a:ext cx="4968552" cy="4745915"/>
          </a:xfrm>
          <a:prstGeom prst="rect">
            <a:avLst/>
          </a:prstGeom>
          <a:solidFill>
            <a:srgbClr val="B9CDE5"/>
          </a:solidFill>
          <a:ln>
            <a:noFill/>
          </a:ln>
          <a:effectLst/>
        </p:spPr>
        <p:txBody>
          <a:bodyPr wrap="none" anchor="ctr"/>
          <a:lstStyle/>
          <a:p>
            <a:endParaRPr lang="zh-CN" altLang="en-US"/>
          </a:p>
        </p:txBody>
      </p:sp>
      <p:sp>
        <p:nvSpPr>
          <p:cNvPr id="7" name="矩形 6"/>
          <p:cNvSpPr/>
          <p:nvPr/>
        </p:nvSpPr>
        <p:spPr>
          <a:xfrm>
            <a:off x="20960" y="91693"/>
            <a:ext cx="711605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第八章   拉压、剪切与挤压的强度计算</a:t>
            </a:r>
          </a:p>
        </p:txBody>
      </p:sp>
      <p:sp>
        <p:nvSpPr>
          <p:cNvPr id="14" name="Text Box 1032"/>
          <p:cNvSpPr txBox="1">
            <a:spLocks noChangeArrowheads="1"/>
          </p:cNvSpPr>
          <p:nvPr/>
        </p:nvSpPr>
        <p:spPr bwMode="auto">
          <a:xfrm>
            <a:off x="623393" y="1700896"/>
            <a:ext cx="5466950" cy="4228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pPr>
            <a:r>
              <a:rPr lang="zh-CN" altLang="en-US" sz="2800" i="0" dirty="0">
                <a:latin typeface="+mj-lt"/>
                <a:ea typeface="微软雅黑" panose="020B0503020204020204" pitchFamily="34" charset="-122"/>
              </a:rPr>
              <a:t>构件在受外力前，其内各部分之间存在着相互作用的内力，它维持着构件的形状和尺寸。当构件受到外力作用时，将发生变形，构件内各部分之间相互作用的力也将随之改变，这个因变形而引起构件内部的附加内力，才是材料力学中所称的</a:t>
            </a:r>
            <a:r>
              <a:rPr lang="zh-CN" altLang="en-US" sz="2800" i="0" dirty="0">
                <a:solidFill>
                  <a:srgbClr val="FF00FF"/>
                </a:solidFill>
                <a:latin typeface="+mj-lt"/>
                <a:ea typeface="微软雅黑" panose="020B0503020204020204" pitchFamily="34" charset="-122"/>
              </a:rPr>
              <a:t>内力</a:t>
            </a:r>
            <a:r>
              <a:rPr lang="zh-CN" altLang="en-US" sz="2800" i="0" dirty="0">
                <a:latin typeface="+mj-lt"/>
                <a:ea typeface="微软雅黑" panose="020B0503020204020204" pitchFamily="34" charset="-122"/>
              </a:rPr>
              <a:t>。</a:t>
            </a:r>
          </a:p>
        </p:txBody>
      </p:sp>
      <p:sp>
        <p:nvSpPr>
          <p:cNvPr id="37" name="矩形 36"/>
          <p:cNvSpPr/>
          <p:nvPr/>
        </p:nvSpPr>
        <p:spPr>
          <a:xfrm>
            <a:off x="3439199" y="826472"/>
            <a:ext cx="4145687" cy="646331"/>
          </a:xfrm>
          <a:prstGeom prst="rect">
            <a:avLst/>
          </a:prstGeom>
        </p:spPr>
        <p:txBody>
          <a:bodyPr wrap="none">
            <a:spAutoFit/>
          </a:bodyPr>
          <a:lstStyle/>
          <a:p>
            <a:pPr>
              <a:lnSpc>
                <a:spcPct val="120000"/>
              </a:lnSpc>
            </a:pPr>
            <a:r>
              <a:rPr lang="zh-CN" altLang="en-US" sz="3000" i="0" dirty="0">
                <a:solidFill>
                  <a:srgbClr val="4F81BD"/>
                </a:solidFill>
                <a:latin typeface="微软雅黑" panose="020B0503020204020204" pitchFamily="34" charset="-122"/>
                <a:ea typeface="微软雅黑" panose="020B0503020204020204" pitchFamily="34" charset="-122"/>
              </a:rPr>
              <a:t>内力与用截面法求内力 </a:t>
            </a:r>
          </a:p>
        </p:txBody>
      </p:sp>
      <p:sp>
        <p:nvSpPr>
          <p:cNvPr id="39" name="Rectangle 5"/>
          <p:cNvSpPr>
            <a:spLocks noChangeArrowheads="1"/>
          </p:cNvSpPr>
          <p:nvPr/>
        </p:nvSpPr>
        <p:spPr bwMode="auto">
          <a:xfrm>
            <a:off x="8008837" y="1683513"/>
            <a:ext cx="2447925" cy="1235868"/>
          </a:xfrm>
          <a:prstGeom prst="rect">
            <a:avLst/>
          </a:prstGeom>
          <a:solidFill>
            <a:srgbClr val="CCFFCC"/>
          </a:solidFill>
          <a:ln w="9525">
            <a:solidFill>
              <a:srgbClr val="00FF00"/>
            </a:solidFill>
            <a:miter lim="800000"/>
            <a:headEnd/>
            <a:tailEnd/>
          </a:ln>
        </p:spPr>
        <p:txBody>
          <a:bodyPr wrap="none" anchor="ctr">
            <a:noAutofit/>
          </a:bodyPr>
          <a:lstStyle/>
          <a:p>
            <a:pPr eaLnBrk="1" hangingPunct="1">
              <a:buFontTx/>
              <a:buChar char="•"/>
            </a:pPr>
            <a:endParaRPr lang="zh-CN" altLang="en-US"/>
          </a:p>
        </p:txBody>
      </p:sp>
      <p:grpSp>
        <p:nvGrpSpPr>
          <p:cNvPr id="40" name="Group 6"/>
          <p:cNvGrpSpPr>
            <a:grpSpLocks/>
          </p:cNvGrpSpPr>
          <p:nvPr/>
        </p:nvGrpSpPr>
        <p:grpSpPr bwMode="auto">
          <a:xfrm>
            <a:off x="7645299" y="1639458"/>
            <a:ext cx="3175000" cy="1317625"/>
            <a:chOff x="364" y="1109"/>
            <a:chExt cx="2000" cy="830"/>
          </a:xfrm>
        </p:grpSpPr>
        <p:grpSp>
          <p:nvGrpSpPr>
            <p:cNvPr id="41" name="Group 7"/>
            <p:cNvGrpSpPr>
              <a:grpSpLocks/>
            </p:cNvGrpSpPr>
            <p:nvPr/>
          </p:nvGrpSpPr>
          <p:grpSpPr bwMode="auto">
            <a:xfrm>
              <a:off x="364" y="1109"/>
              <a:ext cx="2000" cy="830"/>
              <a:chOff x="364" y="1109"/>
              <a:chExt cx="2000" cy="830"/>
            </a:xfrm>
          </p:grpSpPr>
          <p:sp>
            <p:nvSpPr>
              <p:cNvPr id="46" name="Rectangle 8"/>
              <p:cNvSpPr>
                <a:spLocks noChangeArrowheads="1"/>
              </p:cNvSpPr>
              <p:nvPr/>
            </p:nvSpPr>
            <p:spPr bwMode="auto">
              <a:xfrm>
                <a:off x="364" y="1122"/>
                <a:ext cx="739" cy="809"/>
              </a:xfrm>
              <a:prstGeom prst="rect">
                <a:avLst/>
              </a:prstGeom>
              <a:solidFill>
                <a:srgbClr val="CCFFCC"/>
              </a:solidFill>
              <a:ln w="9525">
                <a:solidFill>
                  <a:srgbClr val="00FF00"/>
                </a:solidFill>
                <a:miter lim="800000"/>
                <a:headEnd/>
                <a:tailEnd/>
              </a:ln>
            </p:spPr>
            <p:txBody>
              <a:bodyPr wrap="none" anchor="ctr">
                <a:spAutoFit/>
              </a:bodyPr>
              <a:lstStyle/>
              <a:p>
                <a:pPr eaLnBrk="1" hangingPunct="1">
                  <a:buFontTx/>
                  <a:buChar char="•"/>
                </a:pPr>
                <a:endParaRPr lang="zh-CN" altLang="en-US"/>
              </a:p>
            </p:txBody>
          </p:sp>
          <p:sp>
            <p:nvSpPr>
              <p:cNvPr id="47" name="Rectangle 9"/>
              <p:cNvSpPr>
                <a:spLocks noChangeArrowheads="1"/>
              </p:cNvSpPr>
              <p:nvPr/>
            </p:nvSpPr>
            <p:spPr bwMode="auto">
              <a:xfrm>
                <a:off x="1625" y="1130"/>
                <a:ext cx="739" cy="809"/>
              </a:xfrm>
              <a:prstGeom prst="rect">
                <a:avLst/>
              </a:prstGeom>
              <a:solidFill>
                <a:srgbClr val="CCFFCC"/>
              </a:solidFill>
              <a:ln w="9525">
                <a:solidFill>
                  <a:srgbClr val="00FF00"/>
                </a:solidFill>
                <a:miter lim="800000"/>
                <a:headEnd/>
                <a:tailEnd/>
              </a:ln>
            </p:spPr>
            <p:txBody>
              <a:bodyPr wrap="none" anchor="ctr">
                <a:spAutoFit/>
              </a:bodyPr>
              <a:lstStyle/>
              <a:p>
                <a:pPr eaLnBrk="1" hangingPunct="1">
                  <a:buFontTx/>
                  <a:buChar char="•"/>
                </a:pPr>
                <a:endParaRPr lang="zh-CN" altLang="en-US"/>
              </a:p>
            </p:txBody>
          </p:sp>
          <p:sp>
            <p:nvSpPr>
              <p:cNvPr id="48" name="Rectangle 10"/>
              <p:cNvSpPr>
                <a:spLocks noChangeArrowheads="1"/>
              </p:cNvSpPr>
              <p:nvPr/>
            </p:nvSpPr>
            <p:spPr bwMode="auto">
              <a:xfrm>
                <a:off x="1111" y="1109"/>
                <a:ext cx="513" cy="810"/>
              </a:xfrm>
              <a:prstGeom prst="rect">
                <a:avLst/>
              </a:prstGeom>
              <a:solidFill>
                <a:srgbClr val="B9CDE5"/>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1" hangingPunct="1">
                  <a:buFontTx/>
                  <a:buChar char="•"/>
                </a:pPr>
                <a:endParaRPr lang="zh-CN" altLang="en-US"/>
              </a:p>
            </p:txBody>
          </p:sp>
        </p:grpSp>
        <p:grpSp>
          <p:nvGrpSpPr>
            <p:cNvPr id="42" name="Group 11"/>
            <p:cNvGrpSpPr>
              <a:grpSpLocks/>
            </p:cNvGrpSpPr>
            <p:nvPr/>
          </p:nvGrpSpPr>
          <p:grpSpPr bwMode="auto">
            <a:xfrm>
              <a:off x="1130" y="1369"/>
              <a:ext cx="508" cy="214"/>
              <a:chOff x="1193" y="1900"/>
              <a:chExt cx="508" cy="214"/>
            </a:xfrm>
          </p:grpSpPr>
          <p:sp>
            <p:nvSpPr>
              <p:cNvPr id="43" name="Rectangle 12"/>
              <p:cNvSpPr>
                <a:spLocks noChangeArrowheads="1"/>
              </p:cNvSpPr>
              <p:nvPr/>
            </p:nvSpPr>
            <p:spPr bwMode="auto">
              <a:xfrm>
                <a:off x="1339" y="1900"/>
                <a:ext cx="184" cy="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lIns="12700" tIns="12700" rIns="12700" bIns="12700"/>
              <a:lstStyle/>
              <a:p>
                <a:pPr algn="just"/>
                <a:r>
                  <a:rPr kumimoji="1" lang="en-US" altLang="zh-CN" sz="1800" i="1">
                    <a:solidFill>
                      <a:srgbClr val="FF0000"/>
                    </a:solidFill>
                  </a:rPr>
                  <a:t>F</a:t>
                </a:r>
                <a:endParaRPr kumimoji="1" lang="en-US" altLang="zh-CN" sz="1800" i="1"/>
              </a:p>
            </p:txBody>
          </p:sp>
          <p:sp>
            <p:nvSpPr>
              <p:cNvPr id="44" name="Line 13"/>
              <p:cNvSpPr>
                <a:spLocks noChangeShapeType="1"/>
              </p:cNvSpPr>
              <p:nvPr/>
            </p:nvSpPr>
            <p:spPr bwMode="auto">
              <a:xfrm>
                <a:off x="1193" y="2113"/>
                <a:ext cx="220" cy="1"/>
              </a:xfrm>
              <a:prstGeom prst="line">
                <a:avLst/>
              </a:prstGeom>
              <a:noFill/>
              <a:ln w="28575">
                <a:solidFill>
                  <a:srgbClr val="FF0000"/>
                </a:solidFill>
                <a:round/>
                <a:headEnd type="none" w="sm" len="me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45" name="Line 14"/>
              <p:cNvSpPr>
                <a:spLocks noChangeShapeType="1"/>
              </p:cNvSpPr>
              <p:nvPr/>
            </p:nvSpPr>
            <p:spPr bwMode="auto">
              <a:xfrm flipH="1">
                <a:off x="1452" y="2113"/>
                <a:ext cx="249" cy="1"/>
              </a:xfrm>
              <a:prstGeom prst="line">
                <a:avLst/>
              </a:prstGeom>
              <a:noFill/>
              <a:ln w="28575">
                <a:solidFill>
                  <a:srgbClr val="FF0000"/>
                </a:solidFill>
                <a:round/>
                <a:headEnd type="none" w="sm" len="med"/>
                <a:tailEnd type="triangle" w="med" len="lg"/>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49" name="Group 16"/>
          <p:cNvGrpSpPr>
            <a:grpSpLocks/>
          </p:cNvGrpSpPr>
          <p:nvPr/>
        </p:nvGrpSpPr>
        <p:grpSpPr bwMode="auto">
          <a:xfrm>
            <a:off x="7574656" y="3313079"/>
            <a:ext cx="3132137" cy="2430463"/>
            <a:chOff x="2975" y="734"/>
            <a:chExt cx="1973" cy="1531"/>
          </a:xfrm>
        </p:grpSpPr>
        <p:sp>
          <p:nvSpPr>
            <p:cNvPr id="50" name="Line 17"/>
            <p:cNvSpPr>
              <a:spLocks noChangeShapeType="1"/>
            </p:cNvSpPr>
            <p:nvPr/>
          </p:nvSpPr>
          <p:spPr bwMode="auto">
            <a:xfrm>
              <a:off x="3444" y="782"/>
              <a:ext cx="319" cy="321"/>
            </a:xfrm>
            <a:prstGeom prst="line">
              <a:avLst/>
            </a:prstGeom>
            <a:noFill/>
            <a:ln w="28575">
              <a:solidFill>
                <a:srgbClr val="FF0000"/>
              </a:solidFill>
              <a:round/>
              <a:headEnd type="none" w="sm" len="me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51" name="Line 18"/>
            <p:cNvSpPr>
              <a:spLocks noChangeShapeType="1"/>
            </p:cNvSpPr>
            <p:nvPr/>
          </p:nvSpPr>
          <p:spPr bwMode="auto">
            <a:xfrm flipH="1">
              <a:off x="4462" y="734"/>
              <a:ext cx="391" cy="371"/>
            </a:xfrm>
            <a:prstGeom prst="line">
              <a:avLst/>
            </a:prstGeom>
            <a:noFill/>
            <a:ln w="28575">
              <a:solidFill>
                <a:srgbClr val="FF0000"/>
              </a:solidFill>
              <a:round/>
              <a:headEnd type="none" w="sm" len="me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52" name="Line 19"/>
            <p:cNvSpPr>
              <a:spLocks noChangeShapeType="1"/>
            </p:cNvSpPr>
            <p:nvPr/>
          </p:nvSpPr>
          <p:spPr bwMode="auto">
            <a:xfrm flipH="1" flipV="1">
              <a:off x="4570" y="1905"/>
              <a:ext cx="285" cy="227"/>
            </a:xfrm>
            <a:prstGeom prst="line">
              <a:avLst/>
            </a:prstGeom>
            <a:noFill/>
            <a:ln w="28575">
              <a:solidFill>
                <a:srgbClr val="FF0000"/>
              </a:solidFill>
              <a:round/>
              <a:headEnd type="none" w="sm" len="me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53" name="Line 20"/>
            <p:cNvSpPr>
              <a:spLocks noChangeShapeType="1"/>
            </p:cNvSpPr>
            <p:nvPr/>
          </p:nvSpPr>
          <p:spPr bwMode="auto">
            <a:xfrm flipV="1">
              <a:off x="2975" y="1870"/>
              <a:ext cx="419" cy="247"/>
            </a:xfrm>
            <a:prstGeom prst="line">
              <a:avLst/>
            </a:prstGeom>
            <a:noFill/>
            <a:ln w="28575">
              <a:solidFill>
                <a:srgbClr val="FF0000"/>
              </a:solidFill>
              <a:round/>
              <a:headEnd type="none" w="sm" len="me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54" name="Line 21"/>
            <p:cNvSpPr>
              <a:spLocks noChangeShapeType="1"/>
            </p:cNvSpPr>
            <p:nvPr/>
          </p:nvSpPr>
          <p:spPr bwMode="auto">
            <a:xfrm flipV="1">
              <a:off x="4017" y="1892"/>
              <a:ext cx="55" cy="373"/>
            </a:xfrm>
            <a:prstGeom prst="line">
              <a:avLst/>
            </a:prstGeom>
            <a:noFill/>
            <a:ln w="28575">
              <a:solidFill>
                <a:srgbClr val="FF0000"/>
              </a:solidFill>
              <a:round/>
              <a:headEnd type="none" w="sm" len="me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55" name="Line 22"/>
            <p:cNvSpPr>
              <a:spLocks noChangeShapeType="1"/>
            </p:cNvSpPr>
            <p:nvPr/>
          </p:nvSpPr>
          <p:spPr bwMode="auto">
            <a:xfrm>
              <a:off x="3058" y="1525"/>
              <a:ext cx="337" cy="1"/>
            </a:xfrm>
            <a:prstGeom prst="line">
              <a:avLst/>
            </a:prstGeom>
            <a:noFill/>
            <a:ln w="28575">
              <a:solidFill>
                <a:srgbClr val="FF0000"/>
              </a:solidFill>
              <a:round/>
              <a:headEnd type="none" w="sm" len="me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56" name="Rectangle 23"/>
            <p:cNvSpPr>
              <a:spLocks noChangeArrowheads="1"/>
            </p:cNvSpPr>
            <p:nvPr/>
          </p:nvSpPr>
          <p:spPr bwMode="auto">
            <a:xfrm>
              <a:off x="3406" y="1100"/>
              <a:ext cx="1542" cy="802"/>
            </a:xfrm>
            <a:prstGeom prst="rect">
              <a:avLst/>
            </a:prstGeom>
            <a:solidFill>
              <a:srgbClr val="CCFFCC"/>
            </a:solidFill>
            <a:ln w="9525">
              <a:solidFill>
                <a:srgbClr val="00FF00"/>
              </a:solidFill>
              <a:miter lim="800000"/>
              <a:headEnd/>
              <a:tailEnd/>
            </a:ln>
          </p:spPr>
          <p:txBody>
            <a:bodyPr wrap="none" anchor="ctr">
              <a:spAutoFit/>
            </a:bodyPr>
            <a:lstStyle/>
            <a:p>
              <a:pPr eaLnBrk="1" hangingPunct="1">
                <a:buFontTx/>
                <a:buChar char="•"/>
              </a:pPr>
              <a:endParaRPr lang="zh-CN" altLang="en-US"/>
            </a:p>
          </p:txBody>
        </p:sp>
      </p:grpSp>
      <p:grpSp>
        <p:nvGrpSpPr>
          <p:cNvPr id="57" name="Group 24"/>
          <p:cNvGrpSpPr>
            <a:grpSpLocks/>
          </p:cNvGrpSpPr>
          <p:nvPr/>
        </p:nvGrpSpPr>
        <p:grpSpPr bwMode="auto">
          <a:xfrm>
            <a:off x="7310337" y="3306729"/>
            <a:ext cx="3924300" cy="2474913"/>
            <a:chOff x="-1532" y="2328"/>
            <a:chExt cx="2472" cy="1559"/>
          </a:xfrm>
        </p:grpSpPr>
        <p:sp>
          <p:nvSpPr>
            <p:cNvPr id="58" name="Rectangle 25"/>
            <p:cNvSpPr>
              <a:spLocks noChangeArrowheads="1"/>
            </p:cNvSpPr>
            <p:nvPr/>
          </p:nvSpPr>
          <p:spPr bwMode="auto">
            <a:xfrm>
              <a:off x="-1532" y="2328"/>
              <a:ext cx="2472" cy="1531"/>
            </a:xfrm>
            <a:prstGeom prst="rect">
              <a:avLst/>
            </a:prstGeom>
            <a:solidFill>
              <a:srgbClr val="B9CDE5"/>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buFontTx/>
                <a:buChar char="•"/>
              </a:pPr>
              <a:endParaRPr lang="zh-CN" altLang="zh-CN">
                <a:latin typeface="Arial" pitchFamily="34" charset="0"/>
              </a:endParaRPr>
            </a:p>
          </p:txBody>
        </p:sp>
        <p:sp>
          <p:nvSpPr>
            <p:cNvPr id="59" name="Rectangle 26"/>
            <p:cNvSpPr>
              <a:spLocks noChangeArrowheads="1"/>
            </p:cNvSpPr>
            <p:nvPr/>
          </p:nvSpPr>
          <p:spPr bwMode="auto">
            <a:xfrm>
              <a:off x="-1072" y="2725"/>
              <a:ext cx="739" cy="784"/>
            </a:xfrm>
            <a:prstGeom prst="rect">
              <a:avLst/>
            </a:prstGeom>
            <a:solidFill>
              <a:srgbClr val="CCFFCC"/>
            </a:solidFill>
            <a:ln w="9525">
              <a:solidFill>
                <a:srgbClr val="00FF00"/>
              </a:solidFill>
              <a:miter lim="800000"/>
              <a:headEnd/>
              <a:tailEnd/>
            </a:ln>
          </p:spPr>
          <p:txBody>
            <a:bodyPr anchor="ctr">
              <a:spAutoFit/>
            </a:bodyPr>
            <a:lstStyle/>
            <a:p>
              <a:pPr eaLnBrk="1" hangingPunct="1">
                <a:buFontTx/>
                <a:buChar char="•"/>
              </a:pPr>
              <a:endParaRPr lang="zh-CN" altLang="en-US"/>
            </a:p>
          </p:txBody>
        </p:sp>
        <p:sp>
          <p:nvSpPr>
            <p:cNvPr id="60" name="Rectangle 27"/>
            <p:cNvSpPr>
              <a:spLocks noChangeArrowheads="1"/>
            </p:cNvSpPr>
            <p:nvPr/>
          </p:nvSpPr>
          <p:spPr bwMode="auto">
            <a:xfrm>
              <a:off x="217" y="2724"/>
              <a:ext cx="675" cy="773"/>
            </a:xfrm>
            <a:prstGeom prst="rect">
              <a:avLst/>
            </a:prstGeom>
            <a:solidFill>
              <a:srgbClr val="CCFFCC"/>
            </a:solidFill>
            <a:ln w="9525">
              <a:solidFill>
                <a:srgbClr val="00FF00"/>
              </a:solidFill>
              <a:miter lim="800000"/>
              <a:headEnd/>
              <a:tailEnd/>
            </a:ln>
          </p:spPr>
          <p:txBody>
            <a:bodyPr wrap="none" anchor="ctr"/>
            <a:lstStyle/>
            <a:p>
              <a:pPr algn="ctr" eaLnBrk="1" hangingPunct="1">
                <a:buFontTx/>
                <a:buChar char="•"/>
              </a:pPr>
              <a:endParaRPr lang="zh-CN" altLang="zh-CN">
                <a:latin typeface="Arial" pitchFamily="34" charset="0"/>
              </a:endParaRPr>
            </a:p>
          </p:txBody>
        </p:sp>
        <p:grpSp>
          <p:nvGrpSpPr>
            <p:cNvPr id="61" name="Group 28"/>
            <p:cNvGrpSpPr>
              <a:grpSpLocks/>
            </p:cNvGrpSpPr>
            <p:nvPr/>
          </p:nvGrpSpPr>
          <p:grpSpPr bwMode="auto">
            <a:xfrm>
              <a:off x="-313" y="2908"/>
              <a:ext cx="508" cy="201"/>
              <a:chOff x="-965" y="3263"/>
              <a:chExt cx="508" cy="201"/>
            </a:xfrm>
          </p:grpSpPr>
          <p:sp>
            <p:nvSpPr>
              <p:cNvPr id="68" name="Rectangle 29"/>
              <p:cNvSpPr>
                <a:spLocks noChangeArrowheads="1"/>
              </p:cNvSpPr>
              <p:nvPr/>
            </p:nvSpPr>
            <p:spPr bwMode="auto">
              <a:xfrm>
                <a:off x="-872" y="3263"/>
                <a:ext cx="347"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lIns="12700" tIns="12700" rIns="12700" bIns="12700"/>
              <a:lstStyle/>
              <a:p>
                <a:pPr algn="just"/>
                <a:r>
                  <a:rPr kumimoji="1" lang="en-US" altLang="zh-CN" sz="1800" i="1">
                    <a:solidFill>
                      <a:srgbClr val="FF0000"/>
                    </a:solidFill>
                  </a:rPr>
                  <a:t>F+F'</a:t>
                </a:r>
              </a:p>
            </p:txBody>
          </p:sp>
          <p:sp>
            <p:nvSpPr>
              <p:cNvPr id="69" name="Line 30"/>
              <p:cNvSpPr>
                <a:spLocks noChangeShapeType="1"/>
              </p:cNvSpPr>
              <p:nvPr/>
            </p:nvSpPr>
            <p:spPr bwMode="auto">
              <a:xfrm>
                <a:off x="-965" y="3463"/>
                <a:ext cx="220" cy="1"/>
              </a:xfrm>
              <a:prstGeom prst="line">
                <a:avLst/>
              </a:prstGeom>
              <a:noFill/>
              <a:ln w="28575">
                <a:solidFill>
                  <a:srgbClr val="FF0000"/>
                </a:solidFill>
                <a:round/>
                <a:headEnd type="none" w="sm" len="me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70" name="Line 31"/>
              <p:cNvSpPr>
                <a:spLocks noChangeShapeType="1"/>
              </p:cNvSpPr>
              <p:nvPr/>
            </p:nvSpPr>
            <p:spPr bwMode="auto">
              <a:xfrm flipH="1">
                <a:off x="-706" y="3463"/>
                <a:ext cx="249" cy="1"/>
              </a:xfrm>
              <a:prstGeom prst="line">
                <a:avLst/>
              </a:prstGeom>
              <a:noFill/>
              <a:ln w="28575">
                <a:solidFill>
                  <a:srgbClr val="FF0000"/>
                </a:solidFill>
                <a:round/>
                <a:headEnd type="none" w="sm" len="med"/>
                <a:tailEnd type="triangle" w="med" len="lg"/>
              </a:ln>
              <a:extLst>
                <a:ext uri="{909E8E84-426E-40DD-AFC4-6F175D3DCCD1}">
                  <a14:hiddenFill xmlns:a14="http://schemas.microsoft.com/office/drawing/2010/main">
                    <a:noFill/>
                  </a14:hiddenFill>
                </a:ext>
              </a:extLst>
            </p:spPr>
            <p:txBody>
              <a:bodyPr/>
              <a:lstStyle/>
              <a:p>
                <a:endParaRPr lang="zh-CN" altLang="en-US"/>
              </a:p>
            </p:txBody>
          </p:sp>
        </p:grpSp>
        <p:sp>
          <p:nvSpPr>
            <p:cNvPr id="62" name="Line 32"/>
            <p:cNvSpPr>
              <a:spLocks noChangeShapeType="1"/>
            </p:cNvSpPr>
            <p:nvPr/>
          </p:nvSpPr>
          <p:spPr bwMode="auto">
            <a:xfrm>
              <a:off x="-1034" y="2401"/>
              <a:ext cx="319" cy="321"/>
            </a:xfrm>
            <a:prstGeom prst="line">
              <a:avLst/>
            </a:prstGeom>
            <a:noFill/>
            <a:ln w="28575">
              <a:solidFill>
                <a:srgbClr val="FF0000"/>
              </a:solidFill>
              <a:round/>
              <a:headEnd type="none" w="sm" len="me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63" name="Line 33"/>
            <p:cNvSpPr>
              <a:spLocks noChangeShapeType="1"/>
            </p:cNvSpPr>
            <p:nvPr/>
          </p:nvSpPr>
          <p:spPr bwMode="auto">
            <a:xfrm flipH="1">
              <a:off x="442" y="2370"/>
              <a:ext cx="391" cy="371"/>
            </a:xfrm>
            <a:prstGeom prst="line">
              <a:avLst/>
            </a:prstGeom>
            <a:noFill/>
            <a:ln w="28575">
              <a:solidFill>
                <a:srgbClr val="FF0000"/>
              </a:solidFill>
              <a:round/>
              <a:headEnd type="none" w="sm" len="me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64" name="Line 34"/>
            <p:cNvSpPr>
              <a:spLocks noChangeShapeType="1"/>
            </p:cNvSpPr>
            <p:nvPr/>
          </p:nvSpPr>
          <p:spPr bwMode="auto">
            <a:xfrm flipH="1" flipV="1">
              <a:off x="476" y="3505"/>
              <a:ext cx="285" cy="227"/>
            </a:xfrm>
            <a:prstGeom prst="line">
              <a:avLst/>
            </a:prstGeom>
            <a:noFill/>
            <a:ln w="28575">
              <a:solidFill>
                <a:srgbClr val="FF0000"/>
              </a:solidFill>
              <a:round/>
              <a:headEnd type="none" w="sm" len="me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65" name="Line 35"/>
            <p:cNvSpPr>
              <a:spLocks noChangeShapeType="1"/>
            </p:cNvSpPr>
            <p:nvPr/>
          </p:nvSpPr>
          <p:spPr bwMode="auto">
            <a:xfrm flipV="1">
              <a:off x="-1484" y="3443"/>
              <a:ext cx="419" cy="247"/>
            </a:xfrm>
            <a:prstGeom prst="line">
              <a:avLst/>
            </a:prstGeom>
            <a:noFill/>
            <a:ln w="28575">
              <a:solidFill>
                <a:srgbClr val="FF0000"/>
              </a:solidFill>
              <a:round/>
              <a:headEnd type="none" w="sm" len="me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66" name="Line 36"/>
            <p:cNvSpPr>
              <a:spLocks noChangeShapeType="1"/>
            </p:cNvSpPr>
            <p:nvPr/>
          </p:nvSpPr>
          <p:spPr bwMode="auto">
            <a:xfrm>
              <a:off x="-1392" y="3134"/>
              <a:ext cx="337" cy="1"/>
            </a:xfrm>
            <a:prstGeom prst="line">
              <a:avLst/>
            </a:prstGeom>
            <a:noFill/>
            <a:ln w="28575">
              <a:solidFill>
                <a:srgbClr val="FF0000"/>
              </a:solidFill>
              <a:round/>
              <a:headEnd type="none" w="sm" len="me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67" name="Line 37"/>
            <p:cNvSpPr>
              <a:spLocks noChangeShapeType="1"/>
            </p:cNvSpPr>
            <p:nvPr/>
          </p:nvSpPr>
          <p:spPr bwMode="auto">
            <a:xfrm flipV="1">
              <a:off x="-452" y="3514"/>
              <a:ext cx="55" cy="373"/>
            </a:xfrm>
            <a:prstGeom prst="line">
              <a:avLst/>
            </a:prstGeom>
            <a:noFill/>
            <a:ln w="28575">
              <a:solidFill>
                <a:srgbClr val="FF0000"/>
              </a:solidFill>
              <a:round/>
              <a:headEnd type="none" w="sm" len="med"/>
              <a:tailEnd type="triangle" w="med" len="lg"/>
            </a:ln>
            <a:extLst>
              <a:ext uri="{909E8E84-426E-40DD-AFC4-6F175D3DCCD1}">
                <a14:hiddenFill xmlns:a14="http://schemas.microsoft.com/office/drawing/2010/main">
                  <a:noFill/>
                </a14:hiddenFill>
              </a:ext>
            </a:extLst>
          </p:spPr>
          <p:txBody>
            <a:bodyPr/>
            <a:lstStyle/>
            <a:p>
              <a:endParaRPr lang="zh-CN" altLang="en-US"/>
            </a:p>
          </p:txBody>
        </p:sp>
      </p:grpSp>
      <p:sp>
        <p:nvSpPr>
          <p:cNvPr id="71" name="Rectangle 38"/>
          <p:cNvSpPr>
            <a:spLocks noChangeArrowheads="1"/>
          </p:cNvSpPr>
          <p:nvPr/>
        </p:nvSpPr>
        <p:spPr bwMode="auto">
          <a:xfrm>
            <a:off x="8158036" y="5813392"/>
            <a:ext cx="266226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kumimoji="1" lang="en-US" altLang="zh-CN" sz="2400" i="1" dirty="0">
                <a:solidFill>
                  <a:schemeClr val="tx1"/>
                </a:solidFill>
              </a:rPr>
              <a:t>F</a:t>
            </a:r>
            <a:r>
              <a:rPr kumimoji="1" lang="en-US" altLang="zh-CN" sz="2400" dirty="0">
                <a:solidFill>
                  <a:schemeClr val="tx1"/>
                </a:solidFill>
              </a:rPr>
              <a:t>' </a:t>
            </a:r>
            <a:r>
              <a:rPr kumimoji="1" lang="zh-CN" altLang="en-US" i="0" dirty="0">
                <a:solidFill>
                  <a:schemeClr val="tx1"/>
                </a:solidFill>
                <a:latin typeface="微软雅黑" panose="020B0503020204020204" pitchFamily="34" charset="-122"/>
                <a:ea typeface="微软雅黑" panose="020B0503020204020204" pitchFamily="34" charset="-122"/>
              </a:rPr>
              <a:t>附加内力</a:t>
            </a:r>
          </a:p>
        </p:txBody>
      </p:sp>
      <p:sp>
        <p:nvSpPr>
          <p:cNvPr id="38" name="Text Box 2"/>
          <p:cNvSpPr txBox="1">
            <a:spLocks noChangeArrowheads="1"/>
          </p:cNvSpPr>
          <p:nvPr/>
        </p:nvSpPr>
        <p:spPr bwMode="auto">
          <a:xfrm>
            <a:off x="8316527" y="3020369"/>
            <a:ext cx="1875658"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nchorCtr="1">
            <a:spAutoFit/>
          </a:bodyPr>
          <a:lstStyle>
            <a:lvl1pPr>
              <a:defRPr sz="2000">
                <a:solidFill>
                  <a:schemeClr val="tx1"/>
                </a:solidFill>
                <a:latin typeface="Times New Roman" pitchFamily="18" charset="0"/>
                <a:ea typeface="宋体" pitchFamily="2" charset="-122"/>
              </a:defRPr>
            </a:lvl1pPr>
            <a:lvl2pPr>
              <a:defRPr sz="2000">
                <a:solidFill>
                  <a:schemeClr val="tx1"/>
                </a:solidFill>
                <a:latin typeface="Times New Roman" pitchFamily="18" charset="0"/>
                <a:ea typeface="宋体" pitchFamily="2" charset="-122"/>
              </a:defRPr>
            </a:lvl2pPr>
            <a:lvl3pPr>
              <a:defRPr sz="2000">
                <a:solidFill>
                  <a:schemeClr val="tx1"/>
                </a:solidFill>
                <a:latin typeface="Times New Roman" pitchFamily="18" charset="0"/>
                <a:ea typeface="宋体" pitchFamily="2" charset="-122"/>
              </a:defRPr>
            </a:lvl3pPr>
            <a:lvl4pPr>
              <a:defRPr sz="2000">
                <a:solidFill>
                  <a:schemeClr val="tx1"/>
                </a:solidFill>
                <a:latin typeface="Times New Roman" pitchFamily="18" charset="0"/>
                <a:ea typeface="宋体" pitchFamily="2" charset="-122"/>
              </a:defRPr>
            </a:lvl4pPr>
            <a:lvl5pPr>
              <a:defRPr sz="2000">
                <a:solidFill>
                  <a:schemeClr val="tx1"/>
                </a:solidFill>
                <a:latin typeface="Times New Roman" pitchFamily="18" charset="0"/>
                <a:ea typeface="宋体" pitchFamily="2" charset="-122"/>
              </a:defRPr>
            </a:lvl5pPr>
            <a:lvl6pPr eaLnBrk="0" hangingPunct="0">
              <a:defRPr sz="2000">
                <a:solidFill>
                  <a:schemeClr val="tx1"/>
                </a:solidFill>
                <a:latin typeface="Times New Roman" pitchFamily="18" charset="0"/>
                <a:ea typeface="宋体" pitchFamily="2" charset="-122"/>
              </a:defRPr>
            </a:lvl6pPr>
            <a:lvl7pPr eaLnBrk="0" hangingPunct="0">
              <a:defRPr sz="2000">
                <a:solidFill>
                  <a:schemeClr val="tx1"/>
                </a:solidFill>
                <a:latin typeface="Times New Roman" pitchFamily="18" charset="0"/>
                <a:ea typeface="宋体" pitchFamily="2" charset="-122"/>
              </a:defRPr>
            </a:lvl7pPr>
            <a:lvl8pPr eaLnBrk="0" hangingPunct="0">
              <a:defRPr sz="2000">
                <a:solidFill>
                  <a:schemeClr val="tx1"/>
                </a:solidFill>
                <a:latin typeface="Times New Roman" pitchFamily="18" charset="0"/>
                <a:ea typeface="宋体" pitchFamily="2" charset="-122"/>
              </a:defRPr>
            </a:lvl8pPr>
            <a:lvl9pPr eaLnBrk="0" hangingPunct="0">
              <a:defRPr sz="2000">
                <a:solidFill>
                  <a:schemeClr val="tx1"/>
                </a:solidFill>
                <a:latin typeface="Times New Roman" pitchFamily="18" charset="0"/>
                <a:ea typeface="宋体" pitchFamily="2" charset="-122"/>
              </a:defRPr>
            </a:lvl9pPr>
          </a:lstStyle>
          <a:p>
            <a:pPr algn="ctr" eaLnBrk="1" hangingPunct="1">
              <a:lnSpc>
                <a:spcPct val="90000"/>
              </a:lnSpc>
              <a:spcBef>
                <a:spcPct val="50000"/>
              </a:spcBef>
            </a:pPr>
            <a:r>
              <a:rPr kumimoji="1" lang="en-US" altLang="zh-CN" sz="2400" i="1" dirty="0"/>
              <a:t>F  </a:t>
            </a:r>
            <a:r>
              <a:rPr kumimoji="1" lang="zh-CN" altLang="en-US" sz="2400" i="0" dirty="0">
                <a:latin typeface="微软雅黑" panose="020B0503020204020204" pitchFamily="34" charset="-122"/>
                <a:ea typeface="微软雅黑" panose="020B0503020204020204" pitchFamily="34" charset="-122"/>
              </a:rPr>
              <a:t>原有内力</a:t>
            </a:r>
          </a:p>
        </p:txBody>
      </p:sp>
    </p:spTree>
    <p:extLst>
      <p:ext uri="{BB962C8B-B14F-4D97-AF65-F5344CB8AC3E}">
        <p14:creationId xmlns:p14="http://schemas.microsoft.com/office/powerpoint/2010/main" val="3752895120"/>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5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4" grpId="0" autoUpdateAnimBg="0"/>
      <p:bldP spid="39" grpId="0" animBg="1"/>
      <p:bldP spid="71" grpId="0"/>
      <p:bldP spid="3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711605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第八章   拉压、剪切与挤压的强度计算</a:t>
            </a:r>
          </a:p>
        </p:txBody>
      </p:sp>
      <p:sp>
        <p:nvSpPr>
          <p:cNvPr id="14" name="Text Box 1032"/>
          <p:cNvSpPr txBox="1">
            <a:spLocks noChangeArrowheads="1"/>
          </p:cNvSpPr>
          <p:nvPr/>
        </p:nvSpPr>
        <p:spPr bwMode="auto">
          <a:xfrm>
            <a:off x="172440" y="743696"/>
            <a:ext cx="11900223" cy="341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10000"/>
              </a:lnSpc>
            </a:pPr>
            <a:r>
              <a:rPr lang="zh-CN" altLang="en-US" sz="2800" i="0" dirty="0">
                <a:solidFill>
                  <a:srgbClr val="FF00FF"/>
                </a:solidFill>
                <a:latin typeface="+mj-lt"/>
                <a:ea typeface="微软雅黑" panose="020B0503020204020204" pitchFamily="34" charset="-122"/>
              </a:rPr>
              <a:t>通常采用截面法求构件的内力</a:t>
            </a:r>
            <a:endParaRPr lang="en-US" altLang="zh-CN" sz="2800" i="0" dirty="0">
              <a:solidFill>
                <a:srgbClr val="FF00FF"/>
              </a:solidFill>
              <a:latin typeface="+mj-lt"/>
              <a:ea typeface="微软雅黑" panose="020B0503020204020204" pitchFamily="34" charset="-122"/>
            </a:endParaRPr>
          </a:p>
          <a:p>
            <a:pPr>
              <a:lnSpc>
                <a:spcPct val="110000"/>
              </a:lnSpc>
            </a:pPr>
            <a:r>
              <a:rPr lang="en-US" altLang="zh-CN" sz="2800" i="0" dirty="0">
                <a:latin typeface="+mj-lt"/>
                <a:ea typeface="微软雅黑" panose="020B0503020204020204" pitchFamily="34" charset="-122"/>
              </a:rPr>
              <a:t>1</a:t>
            </a:r>
            <a:r>
              <a:rPr lang="zh-CN" altLang="en-US" sz="2800" i="0" dirty="0">
                <a:latin typeface="+mj-lt"/>
                <a:ea typeface="微软雅黑" panose="020B0503020204020204" pitchFamily="34" charset="-122"/>
              </a:rPr>
              <a:t>）在求内力处，假想地用一个垂直于轴线的截面将构件切开，分成两部分。</a:t>
            </a:r>
            <a:endParaRPr lang="en-US" altLang="zh-CN" sz="2800" i="0" dirty="0">
              <a:latin typeface="+mj-lt"/>
              <a:ea typeface="微软雅黑" panose="020B0503020204020204" pitchFamily="34" charset="-122"/>
            </a:endParaRPr>
          </a:p>
          <a:p>
            <a:pPr>
              <a:lnSpc>
                <a:spcPct val="110000"/>
              </a:lnSpc>
            </a:pPr>
            <a:r>
              <a:rPr lang="en-US" altLang="zh-CN" sz="2800" i="0" dirty="0">
                <a:latin typeface="+mj-lt"/>
                <a:ea typeface="微软雅黑" panose="020B0503020204020204" pitchFamily="34" charset="-122"/>
              </a:rPr>
              <a:t>2</a:t>
            </a:r>
            <a:r>
              <a:rPr lang="zh-CN" altLang="en-US" sz="2800" i="0" dirty="0">
                <a:latin typeface="+mj-lt"/>
                <a:ea typeface="微软雅黑" panose="020B0503020204020204" pitchFamily="34" charset="-122"/>
              </a:rPr>
              <a:t>）任取一部分（一般取受力情况较简单的部分）作为研究对象，在截面上用内力代替弃去部分对保留部分的作用。</a:t>
            </a:r>
          </a:p>
          <a:p>
            <a:pPr>
              <a:lnSpc>
                <a:spcPct val="110000"/>
              </a:lnSpc>
            </a:pPr>
            <a:r>
              <a:rPr lang="zh-CN" altLang="en-US" sz="2800" i="0" dirty="0">
                <a:latin typeface="+mj-lt"/>
                <a:ea typeface="微软雅黑" panose="020B0503020204020204" pitchFamily="34" charset="-122"/>
              </a:rPr>
              <a:t> </a:t>
            </a:r>
            <a:r>
              <a:rPr lang="en-US" altLang="zh-CN" sz="2800" i="0" dirty="0">
                <a:latin typeface="+mj-lt"/>
                <a:ea typeface="微软雅黑" panose="020B0503020204020204" pitchFamily="34" charset="-122"/>
              </a:rPr>
              <a:t>3</a:t>
            </a:r>
            <a:r>
              <a:rPr lang="zh-CN" altLang="en-US" sz="2800" i="0" dirty="0">
                <a:latin typeface="+mj-lt"/>
                <a:ea typeface="微软雅黑" panose="020B0503020204020204" pitchFamily="34" charset="-122"/>
              </a:rPr>
              <a:t>）对保留部分建立平衡方程，由已知外力求出该截面上内力的大小和符号。</a:t>
            </a:r>
            <a:endParaRPr lang="en-US" altLang="zh-CN" sz="2800" i="0" dirty="0">
              <a:latin typeface="+mj-lt"/>
              <a:ea typeface="微软雅黑" panose="020B0503020204020204" pitchFamily="34" charset="-122"/>
            </a:endParaRPr>
          </a:p>
          <a:p>
            <a:pPr>
              <a:lnSpc>
                <a:spcPct val="110000"/>
              </a:lnSpc>
            </a:pPr>
            <a:r>
              <a:rPr lang="zh-CN" altLang="en-US" sz="2800" i="0" dirty="0">
                <a:solidFill>
                  <a:srgbClr val="FF0000"/>
                </a:solidFill>
                <a:ea typeface="微软雅黑" panose="020B0503020204020204" pitchFamily="34" charset="-122"/>
              </a:rPr>
              <a:t>必须注意</a:t>
            </a:r>
            <a:r>
              <a:rPr lang="zh-CN" altLang="en-US" sz="2800" i="0" dirty="0">
                <a:ea typeface="微软雅黑" panose="020B0503020204020204" pitchFamily="34" charset="-122"/>
              </a:rPr>
              <a:t>，在使用截面法求内力时，构件在被截开前，第一章中所述刚体中力系的等效代换（包括力的可传性原理）是不适用的。 </a:t>
            </a:r>
            <a:endParaRPr lang="zh-CN" altLang="en-US" sz="2800" i="0" dirty="0">
              <a:latin typeface="+mj-lt"/>
              <a:ea typeface="微软雅黑" panose="020B0503020204020204" pitchFamily="34" charset="-122"/>
            </a:endParaRPr>
          </a:p>
        </p:txBody>
      </p:sp>
      <p:sp>
        <p:nvSpPr>
          <p:cNvPr id="48" name="Rectangle 61"/>
          <p:cNvSpPr>
            <a:spLocks noChangeArrowheads="1"/>
          </p:cNvSpPr>
          <p:nvPr/>
        </p:nvSpPr>
        <p:spPr bwMode="auto">
          <a:xfrm>
            <a:off x="335360" y="4077073"/>
            <a:ext cx="11449272" cy="2232248"/>
          </a:xfrm>
          <a:prstGeom prst="rect">
            <a:avLst/>
          </a:prstGeom>
          <a:solidFill>
            <a:srgbClr val="B9CDE5"/>
          </a:solidFill>
          <a:ln>
            <a:noFill/>
          </a:ln>
          <a:effectLst/>
        </p:spPr>
        <p:txBody>
          <a:bodyPr wrap="none" anchor="ctr"/>
          <a:lstStyle/>
          <a:p>
            <a:endParaRPr lang="zh-CN" altLang="en-US"/>
          </a:p>
        </p:txBody>
      </p:sp>
      <p:pic>
        <p:nvPicPr>
          <p:cNvPr id="49" name="Picture 4">
            <a:extLst>
              <a:ext uri="{FF2B5EF4-FFF2-40B4-BE49-F238E27FC236}">
                <a16:creationId xmlns:a16="http://schemas.microsoft.com/office/drawing/2014/main" id="{DB701A14-120F-DC4E-4AD2-308B08AC9F88}"/>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l="945" t="1953" r="945" b="68373"/>
          <a:stretch>
            <a:fillRect/>
          </a:stretch>
        </p:blipFill>
        <p:spPr bwMode="auto">
          <a:xfrm>
            <a:off x="1716212" y="4025532"/>
            <a:ext cx="8226425" cy="12049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0" name="Picture 5">
            <a:extLst>
              <a:ext uri="{FF2B5EF4-FFF2-40B4-BE49-F238E27FC236}">
                <a16:creationId xmlns:a16="http://schemas.microsoft.com/office/drawing/2014/main" id="{598BD953-CAEF-8DF0-3B11-197D01CF5A6B}"/>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l="945" t="1953" r="945" b="68373"/>
          <a:stretch>
            <a:fillRect/>
          </a:stretch>
        </p:blipFill>
        <p:spPr bwMode="auto">
          <a:xfrm>
            <a:off x="1703512" y="4038232"/>
            <a:ext cx="8226425" cy="12049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 name="Picture 6">
            <a:extLst>
              <a:ext uri="{FF2B5EF4-FFF2-40B4-BE49-F238E27FC236}">
                <a16:creationId xmlns:a16="http://schemas.microsoft.com/office/drawing/2014/main" id="{60A1759E-A938-2F83-402D-EAF54EC56A8B}"/>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l="945" t="48837" r="945" b="1953"/>
          <a:stretch>
            <a:fillRect/>
          </a:stretch>
        </p:blipFill>
        <p:spPr bwMode="auto">
          <a:xfrm>
            <a:off x="1703512" y="4614028"/>
            <a:ext cx="8226425" cy="1997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2" name="Picture 7">
            <a:extLst>
              <a:ext uri="{FF2B5EF4-FFF2-40B4-BE49-F238E27FC236}">
                <a16:creationId xmlns:a16="http://schemas.microsoft.com/office/drawing/2014/main" id="{43BD9CAA-0529-359D-8B15-42D4AF473BD3}"/>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l="945" t="48837" r="945" b="1953"/>
          <a:stretch>
            <a:fillRect/>
          </a:stretch>
        </p:blipFill>
        <p:spPr bwMode="auto">
          <a:xfrm>
            <a:off x="1703512" y="4581128"/>
            <a:ext cx="8226425" cy="1997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69553257"/>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4" presetClass="entr" presetSubtype="32" fill="hold" nodeType="clickEffect">
                                  <p:stCondLst>
                                    <p:cond delay="0"/>
                                  </p:stCondLst>
                                  <p:childTnLst>
                                    <p:set>
                                      <p:cBhvr>
                                        <p:cTn id="12" dur="1" fill="hold">
                                          <p:stCondLst>
                                            <p:cond delay="0"/>
                                          </p:stCondLst>
                                        </p:cTn>
                                        <p:tgtEl>
                                          <p:spTgt spid="49"/>
                                        </p:tgtEl>
                                        <p:attrNameLst>
                                          <p:attrName>style.visibility</p:attrName>
                                        </p:attrNameLst>
                                      </p:cBhvr>
                                      <p:to>
                                        <p:strVal val="visible"/>
                                      </p:to>
                                    </p:set>
                                    <p:animEffect transition="in" filter="box(out)">
                                      <p:cBhvr>
                                        <p:cTn id="13" dur="500"/>
                                        <p:tgtEl>
                                          <p:spTgt spid="49"/>
                                        </p:tgtEl>
                                      </p:cBhvr>
                                    </p:animEffec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nodeType="clickEffect">
                                  <p:stCondLst>
                                    <p:cond delay="0"/>
                                  </p:stCondLst>
                                  <p:childTnLst>
                                    <p:set>
                                      <p:cBhvr>
                                        <p:cTn id="17" dur="1" fill="hold">
                                          <p:stCondLst>
                                            <p:cond delay="0"/>
                                          </p:stCondLst>
                                        </p:cTn>
                                        <p:tgtEl>
                                          <p:spTgt spid="50"/>
                                        </p:tgtEl>
                                        <p:attrNameLst>
                                          <p:attrName>style.visibility</p:attrName>
                                        </p:attrNameLst>
                                      </p:cBhvr>
                                      <p:to>
                                        <p:strVal val="visible"/>
                                      </p:to>
                                    </p:set>
                                    <p:animEffect transition="in" filter="box(out)">
                                      <p:cBhvr>
                                        <p:cTn id="18" dur="500"/>
                                        <p:tgtEl>
                                          <p:spTgt spid="50"/>
                                        </p:tgtEl>
                                      </p:cBhvr>
                                    </p:animEffect>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childTnLst>
                    </p:cTn>
                  </p:par>
                  <p:par>
                    <p:cTn id="19" fill="hold">
                      <p:stCondLst>
                        <p:cond delay="indefinite"/>
                      </p:stCondLst>
                      <p:childTnLst>
                        <p:par>
                          <p:cTn id="20" fill="hold">
                            <p:stCondLst>
                              <p:cond delay="0"/>
                            </p:stCondLst>
                            <p:childTnLst>
                              <p:par>
                                <p:cTn id="21" presetID="4" presetClass="entr" presetSubtype="32" fill="hold" nodeType="clickEffect">
                                  <p:stCondLst>
                                    <p:cond delay="0"/>
                                  </p:stCondLst>
                                  <p:childTnLst>
                                    <p:set>
                                      <p:cBhvr>
                                        <p:cTn id="22" dur="1" fill="hold">
                                          <p:stCondLst>
                                            <p:cond delay="0"/>
                                          </p:stCondLst>
                                        </p:cTn>
                                        <p:tgtEl>
                                          <p:spTgt spid="51"/>
                                        </p:tgtEl>
                                        <p:attrNameLst>
                                          <p:attrName>style.visibility</p:attrName>
                                        </p:attrNameLst>
                                      </p:cBhvr>
                                      <p:to>
                                        <p:strVal val="visible"/>
                                      </p:to>
                                    </p:set>
                                    <p:animEffect transition="in" filter="box(out)">
                                      <p:cBhvr>
                                        <p:cTn id="23" dur="500"/>
                                        <p:tgtEl>
                                          <p:spTgt spid="51"/>
                                        </p:tgtEl>
                                      </p:cBhvr>
                                    </p:animEffect>
                                  </p:childTnLst>
                                  <p:subTnLst>
                                    <p:audio>
                                      <p:cMediaNode>
                                        <p:cTn display="0" masterRel="sameClick">
                                          <p:stCondLst>
                                            <p:cond evt="begin" delay="0">
                                              <p:tn val="21"/>
                                            </p:cond>
                                          </p:stCondLst>
                                          <p:endCondLst>
                                            <p:cond evt="onStopAudio" delay="0">
                                              <p:tgtEl>
                                                <p:sldTgt/>
                                              </p:tgtEl>
                                            </p:cond>
                                          </p:endCondLst>
                                        </p:cTn>
                                        <p:tgtEl>
                                          <p:sndTgt r:embed="rId3" name="CAMERA.WAV"/>
                                        </p:tgtEl>
                                      </p:cMediaNode>
                                    </p:audio>
                                  </p:subTnLst>
                                </p:cTn>
                              </p:par>
                            </p:childTnLst>
                          </p:cTn>
                        </p:par>
                      </p:childTnLst>
                    </p:cTn>
                  </p:par>
                  <p:par>
                    <p:cTn id="24" fill="hold">
                      <p:stCondLst>
                        <p:cond delay="indefinite"/>
                      </p:stCondLst>
                      <p:childTnLst>
                        <p:par>
                          <p:cTn id="25" fill="hold">
                            <p:stCondLst>
                              <p:cond delay="0"/>
                            </p:stCondLst>
                            <p:childTnLst>
                              <p:par>
                                <p:cTn id="26" presetID="4" presetClass="entr" presetSubtype="32" fill="hold" nodeType="clickEffect">
                                  <p:stCondLst>
                                    <p:cond delay="0"/>
                                  </p:stCondLst>
                                  <p:childTnLst>
                                    <p:set>
                                      <p:cBhvr>
                                        <p:cTn id="27" dur="1" fill="hold">
                                          <p:stCondLst>
                                            <p:cond delay="0"/>
                                          </p:stCondLst>
                                        </p:cTn>
                                        <p:tgtEl>
                                          <p:spTgt spid="52"/>
                                        </p:tgtEl>
                                        <p:attrNameLst>
                                          <p:attrName>style.visibility</p:attrName>
                                        </p:attrNameLst>
                                      </p:cBhvr>
                                      <p:to>
                                        <p:strVal val="visible"/>
                                      </p:to>
                                    </p:set>
                                    <p:animEffect transition="in" filter="box(out)">
                                      <p:cBhvr>
                                        <p:cTn id="28" dur="500"/>
                                        <p:tgtEl>
                                          <p:spTgt spid="52"/>
                                        </p:tgtEl>
                                      </p:cBhvr>
                                    </p:animEffect>
                                  </p:childTnLst>
                                  <p:subTnLst>
                                    <p:audio>
                                      <p:cMediaNode>
                                        <p:cTn display="0" masterRel="sameClick">
                                          <p:stCondLst>
                                            <p:cond evt="begin" delay="0">
                                              <p:tn val="26"/>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utoUpdateAnimBg="0"/>
      <p:bldP spid="4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711605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第八章   拉压、剪切与挤压的强度计算</a:t>
            </a:r>
          </a:p>
        </p:txBody>
      </p:sp>
      <p:sp>
        <p:nvSpPr>
          <p:cNvPr id="14" name="Text Box 1032"/>
          <p:cNvSpPr txBox="1">
            <a:spLocks noChangeArrowheads="1"/>
          </p:cNvSpPr>
          <p:nvPr/>
        </p:nvSpPr>
        <p:spPr bwMode="auto">
          <a:xfrm>
            <a:off x="119336" y="1375864"/>
            <a:ext cx="6566421" cy="2462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10000"/>
              </a:lnSpc>
            </a:pPr>
            <a:r>
              <a:rPr lang="zh-CN" altLang="en-US" sz="2800" i="0" dirty="0">
                <a:latin typeface="+mj-lt"/>
                <a:ea typeface="微软雅黑" panose="020B0503020204020204" pitchFamily="34" charset="-122"/>
              </a:rPr>
              <a:t>两端受轴向力</a:t>
            </a:r>
            <a:r>
              <a:rPr lang="en-US" altLang="zh-CN" sz="2800" dirty="0">
                <a:latin typeface="+mj-lt"/>
                <a:ea typeface="微软雅黑" panose="020B0503020204020204" pitchFamily="34" charset="-122"/>
              </a:rPr>
              <a:t>F </a:t>
            </a:r>
            <a:r>
              <a:rPr lang="zh-CN" altLang="en-US" sz="2800" i="0" dirty="0">
                <a:latin typeface="+mj-lt"/>
                <a:ea typeface="微软雅黑" panose="020B0503020204020204" pitchFamily="34" charset="-122"/>
              </a:rPr>
              <a:t>的拉杆，欲求杆中任一横截面上的内力。</a:t>
            </a:r>
            <a:endParaRPr lang="en-US" altLang="zh-CN" sz="2800" i="0" dirty="0">
              <a:latin typeface="+mj-lt"/>
              <a:ea typeface="微软雅黑" panose="020B0503020204020204" pitchFamily="34" charset="-122"/>
            </a:endParaRPr>
          </a:p>
          <a:p>
            <a:pPr>
              <a:lnSpc>
                <a:spcPct val="110000"/>
              </a:lnSpc>
            </a:pPr>
            <a:r>
              <a:rPr lang="zh-CN" altLang="en-US" sz="2800" i="0" dirty="0">
                <a:latin typeface="+mj-lt"/>
                <a:ea typeface="微软雅黑" panose="020B0503020204020204" pitchFamily="34" charset="-122"/>
              </a:rPr>
              <a:t>第一步：在需求内力处，假想地用一个垂直于轴线的截面将构件切开，分成两部分。</a:t>
            </a:r>
            <a:endParaRPr lang="en-US" altLang="zh-CN" sz="2800" i="0" dirty="0">
              <a:latin typeface="+mj-lt"/>
              <a:ea typeface="微软雅黑" panose="020B0503020204020204" pitchFamily="34" charset="-122"/>
            </a:endParaRPr>
          </a:p>
        </p:txBody>
      </p:sp>
      <p:sp>
        <p:nvSpPr>
          <p:cNvPr id="37" name="矩形 36"/>
          <p:cNvSpPr/>
          <p:nvPr/>
        </p:nvSpPr>
        <p:spPr>
          <a:xfrm>
            <a:off x="3439199" y="826472"/>
            <a:ext cx="2492990" cy="646331"/>
          </a:xfrm>
          <a:prstGeom prst="rect">
            <a:avLst/>
          </a:prstGeom>
        </p:spPr>
        <p:txBody>
          <a:bodyPr wrap="none">
            <a:spAutoFit/>
          </a:bodyPr>
          <a:lstStyle/>
          <a:p>
            <a:pPr>
              <a:lnSpc>
                <a:spcPct val="120000"/>
              </a:lnSpc>
            </a:pPr>
            <a:r>
              <a:rPr lang="zh-CN" altLang="en-US" sz="3000" i="0" dirty="0">
                <a:solidFill>
                  <a:srgbClr val="4F81BD"/>
                </a:solidFill>
                <a:latin typeface="微软雅黑" panose="020B0503020204020204" pitchFamily="34" charset="-122"/>
                <a:ea typeface="微软雅黑" panose="020B0503020204020204" pitchFamily="34" charset="-122"/>
              </a:rPr>
              <a:t>轴力与轴力图</a:t>
            </a:r>
          </a:p>
        </p:txBody>
      </p:sp>
      <p:sp>
        <p:nvSpPr>
          <p:cNvPr id="135" name="Rectangle 61"/>
          <p:cNvSpPr>
            <a:spLocks noChangeArrowheads="1"/>
          </p:cNvSpPr>
          <p:nvPr/>
        </p:nvSpPr>
        <p:spPr bwMode="auto">
          <a:xfrm>
            <a:off x="6888088" y="960163"/>
            <a:ext cx="5125145" cy="5205141"/>
          </a:xfrm>
          <a:prstGeom prst="rect">
            <a:avLst/>
          </a:prstGeom>
          <a:solidFill>
            <a:srgbClr val="B9CDE5"/>
          </a:solidFill>
          <a:ln>
            <a:noFill/>
          </a:ln>
          <a:effectLst/>
        </p:spPr>
        <p:txBody>
          <a:bodyPr wrap="none" anchor="ctr"/>
          <a:lstStyle/>
          <a:p>
            <a:endParaRPr lang="zh-CN" altLang="en-US" dirty="0"/>
          </a:p>
        </p:txBody>
      </p:sp>
      <p:grpSp>
        <p:nvGrpSpPr>
          <p:cNvPr id="136" name="Group 4"/>
          <p:cNvGrpSpPr>
            <a:grpSpLocks/>
          </p:cNvGrpSpPr>
          <p:nvPr/>
        </p:nvGrpSpPr>
        <p:grpSpPr bwMode="auto">
          <a:xfrm>
            <a:off x="7128670" y="2541990"/>
            <a:ext cx="2520950" cy="1338263"/>
            <a:chOff x="998" y="1504"/>
            <a:chExt cx="1588" cy="843"/>
          </a:xfrm>
        </p:grpSpPr>
        <p:sp>
          <p:nvSpPr>
            <p:cNvPr id="137" name="Line 5"/>
            <p:cNvSpPr>
              <a:spLocks noChangeShapeType="1"/>
            </p:cNvSpPr>
            <p:nvPr/>
          </p:nvSpPr>
          <p:spPr bwMode="auto">
            <a:xfrm flipH="1">
              <a:off x="998" y="1919"/>
              <a:ext cx="579" cy="1"/>
            </a:xfrm>
            <a:prstGeom prst="line">
              <a:avLst/>
            </a:prstGeom>
            <a:noFill/>
            <a:ln w="28575">
              <a:solidFill>
                <a:srgbClr val="FF0000"/>
              </a:solidFill>
              <a:round/>
              <a:headEnd type="none" w="sm" len="med"/>
              <a:tailEnd type="triangle" w="med" len="lg"/>
            </a:ln>
            <a:extLst>
              <a:ext uri="{909E8E84-426E-40DD-AFC4-6F175D3DCCD1}">
                <a14:hiddenFill xmlns:a14="http://schemas.microsoft.com/office/drawing/2010/main">
                  <a:noFill/>
                </a14:hiddenFill>
              </a:ext>
            </a:extLst>
          </p:spPr>
          <p:txBody>
            <a:bodyPr/>
            <a:lstStyle/>
            <a:p>
              <a:endParaRPr lang="zh-CN" altLang="en-US"/>
            </a:p>
          </p:txBody>
        </p:sp>
        <p:grpSp>
          <p:nvGrpSpPr>
            <p:cNvPr id="138" name="Group 6"/>
            <p:cNvGrpSpPr>
              <a:grpSpLocks/>
            </p:cNvGrpSpPr>
            <p:nvPr/>
          </p:nvGrpSpPr>
          <p:grpSpPr bwMode="auto">
            <a:xfrm>
              <a:off x="1079" y="1504"/>
              <a:ext cx="1507" cy="843"/>
              <a:chOff x="1079" y="1504"/>
              <a:chExt cx="1507" cy="843"/>
            </a:xfrm>
          </p:grpSpPr>
          <p:sp>
            <p:nvSpPr>
              <p:cNvPr id="139" name="Rectangle 7"/>
              <p:cNvSpPr>
                <a:spLocks noChangeArrowheads="1"/>
              </p:cNvSpPr>
              <p:nvPr/>
            </p:nvSpPr>
            <p:spPr bwMode="auto">
              <a:xfrm>
                <a:off x="1583" y="1626"/>
                <a:ext cx="889" cy="584"/>
              </a:xfrm>
              <a:prstGeom prst="rect">
                <a:avLst/>
              </a:prstGeom>
              <a:solidFill>
                <a:srgbClr val="00FFFF"/>
              </a:solidFill>
              <a:ln w="3175">
                <a:solidFill>
                  <a:srgbClr val="000000"/>
                </a:solidFill>
                <a:miter lim="800000"/>
                <a:headEnd/>
                <a:tailEnd/>
              </a:ln>
            </p:spPr>
            <p:txBody>
              <a:bodyPr/>
              <a:lstStyle/>
              <a:p>
                <a:pPr eaLnBrk="1" hangingPunct="1">
                  <a:buFontTx/>
                  <a:buChar char="•"/>
                </a:pPr>
                <a:endParaRPr lang="zh-CN" altLang="en-US"/>
              </a:p>
            </p:txBody>
          </p:sp>
          <p:sp>
            <p:nvSpPr>
              <p:cNvPr id="140" name="Rectangle 8"/>
              <p:cNvSpPr>
                <a:spLocks noChangeArrowheads="1"/>
              </p:cNvSpPr>
              <p:nvPr/>
            </p:nvSpPr>
            <p:spPr bwMode="auto">
              <a:xfrm>
                <a:off x="1079" y="1717"/>
                <a:ext cx="584" cy="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lIns="12700" tIns="12700" rIns="12700" bIns="12700"/>
              <a:lstStyle/>
              <a:p>
                <a:pPr algn="just"/>
                <a:r>
                  <a:rPr kumimoji="1" lang="en-US" altLang="zh-CN" sz="1800" i="1">
                    <a:solidFill>
                      <a:srgbClr val="FF0000"/>
                    </a:solidFill>
                  </a:rPr>
                  <a:t>F</a:t>
                </a:r>
                <a:endParaRPr kumimoji="1" lang="en-US" altLang="zh-CN" sz="1800" i="1"/>
              </a:p>
            </p:txBody>
          </p:sp>
          <p:sp>
            <p:nvSpPr>
              <p:cNvPr id="141" name="Line 9"/>
              <p:cNvSpPr>
                <a:spLocks noChangeShapeType="1"/>
              </p:cNvSpPr>
              <p:nvPr/>
            </p:nvSpPr>
            <p:spPr bwMode="auto">
              <a:xfrm>
                <a:off x="2472" y="1504"/>
                <a:ext cx="1" cy="843"/>
              </a:xfrm>
              <a:prstGeom prst="line">
                <a:avLst/>
              </a:prstGeom>
              <a:noFill/>
              <a:ln w="3175">
                <a:solidFill>
                  <a:srgbClr val="0000FF"/>
                </a:solidFill>
                <a:round/>
                <a:headEnd type="none" w="sm" len="me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142" name="Line 10"/>
              <p:cNvSpPr>
                <a:spLocks noChangeShapeType="1"/>
              </p:cNvSpPr>
              <p:nvPr/>
            </p:nvSpPr>
            <p:spPr bwMode="auto">
              <a:xfrm>
                <a:off x="1422" y="1921"/>
                <a:ext cx="1164" cy="1"/>
              </a:xfrm>
              <a:prstGeom prst="line">
                <a:avLst/>
              </a:prstGeom>
              <a:noFill/>
              <a:ln w="3175">
                <a:solidFill>
                  <a:srgbClr val="0000FF"/>
                </a:solidFill>
                <a:prstDash val="sysDashDot"/>
                <a:round/>
                <a:headEnd type="none" w="sm" len="me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143" name="Rectangle 11"/>
              <p:cNvSpPr>
                <a:spLocks noChangeArrowheads="1"/>
              </p:cNvSpPr>
              <p:nvPr/>
            </p:nvSpPr>
            <p:spPr bwMode="auto">
              <a:xfrm>
                <a:off x="2001" y="1785"/>
                <a:ext cx="307" cy="5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lIns="12700" tIns="12700" rIns="12700" bIns="12700"/>
              <a:lstStyle/>
              <a:p>
                <a:pPr algn="just"/>
                <a:r>
                  <a:rPr kumimoji="1" lang="en-US" altLang="zh-CN" i="0" dirty="0">
                    <a:solidFill>
                      <a:schemeClr val="tx1"/>
                    </a:solidFill>
                  </a:rPr>
                  <a:t>I</a:t>
                </a:r>
              </a:p>
            </p:txBody>
          </p:sp>
        </p:grpSp>
      </p:grpSp>
      <p:sp>
        <p:nvSpPr>
          <p:cNvPr id="144" name="Rectangle 12"/>
          <p:cNvSpPr>
            <a:spLocks noChangeArrowheads="1"/>
          </p:cNvSpPr>
          <p:nvPr/>
        </p:nvSpPr>
        <p:spPr bwMode="auto">
          <a:xfrm>
            <a:off x="8031957" y="1197378"/>
            <a:ext cx="2803525" cy="928687"/>
          </a:xfrm>
          <a:prstGeom prst="rect">
            <a:avLst/>
          </a:prstGeom>
          <a:solidFill>
            <a:srgbClr val="00FFFF"/>
          </a:solidFill>
          <a:ln w="3175">
            <a:solidFill>
              <a:srgbClr val="000000"/>
            </a:solidFill>
            <a:miter lim="800000"/>
            <a:headEnd/>
            <a:tailEnd/>
          </a:ln>
        </p:spPr>
        <p:txBody>
          <a:bodyPr/>
          <a:lstStyle/>
          <a:p>
            <a:pPr eaLnBrk="1" hangingPunct="1">
              <a:buFontTx/>
              <a:buChar char="•"/>
            </a:pPr>
            <a:endParaRPr lang="zh-CN" altLang="en-US"/>
          </a:p>
        </p:txBody>
      </p:sp>
      <p:grpSp>
        <p:nvGrpSpPr>
          <p:cNvPr id="145" name="Group 13"/>
          <p:cNvGrpSpPr>
            <a:grpSpLocks/>
          </p:cNvGrpSpPr>
          <p:nvPr/>
        </p:nvGrpSpPr>
        <p:grpSpPr bwMode="auto">
          <a:xfrm>
            <a:off x="7106445" y="1330728"/>
            <a:ext cx="5337175" cy="785812"/>
            <a:chOff x="984" y="741"/>
            <a:chExt cx="3362" cy="495"/>
          </a:xfrm>
        </p:grpSpPr>
        <p:sp>
          <p:nvSpPr>
            <p:cNvPr id="146" name="Line 14"/>
            <p:cNvSpPr>
              <a:spLocks noChangeShapeType="1"/>
            </p:cNvSpPr>
            <p:nvPr/>
          </p:nvSpPr>
          <p:spPr bwMode="auto">
            <a:xfrm>
              <a:off x="1336" y="948"/>
              <a:ext cx="2213" cy="1"/>
            </a:xfrm>
            <a:prstGeom prst="line">
              <a:avLst/>
            </a:prstGeom>
            <a:noFill/>
            <a:ln w="3175">
              <a:solidFill>
                <a:srgbClr val="0000FF"/>
              </a:solidFill>
              <a:prstDash val="sysDashDot"/>
              <a:round/>
              <a:headEnd type="none" w="sm" len="med"/>
              <a:tailEnd type="none" w="sm" len="med"/>
            </a:ln>
            <a:extLst>
              <a:ext uri="{909E8E84-426E-40DD-AFC4-6F175D3DCCD1}">
                <a14:hiddenFill xmlns:a14="http://schemas.microsoft.com/office/drawing/2010/main">
                  <a:noFill/>
                </a14:hiddenFill>
              </a:ext>
            </a:extLst>
          </p:spPr>
          <p:txBody>
            <a:bodyPr/>
            <a:lstStyle/>
            <a:p>
              <a:endParaRPr lang="zh-CN" altLang="en-US"/>
            </a:p>
          </p:txBody>
        </p:sp>
        <p:grpSp>
          <p:nvGrpSpPr>
            <p:cNvPr id="147" name="Group 15"/>
            <p:cNvGrpSpPr>
              <a:grpSpLocks/>
            </p:cNvGrpSpPr>
            <p:nvPr/>
          </p:nvGrpSpPr>
          <p:grpSpPr bwMode="auto">
            <a:xfrm>
              <a:off x="984" y="741"/>
              <a:ext cx="3362" cy="495"/>
              <a:chOff x="984" y="741"/>
              <a:chExt cx="3362" cy="495"/>
            </a:xfrm>
          </p:grpSpPr>
          <p:sp>
            <p:nvSpPr>
              <p:cNvPr id="148" name="Rectangle 16"/>
              <p:cNvSpPr>
                <a:spLocks noChangeArrowheads="1"/>
              </p:cNvSpPr>
              <p:nvPr/>
            </p:nvSpPr>
            <p:spPr bwMode="auto">
              <a:xfrm>
                <a:off x="3762" y="748"/>
                <a:ext cx="584" cy="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lIns="12700" tIns="12700" rIns="12700" bIns="12700"/>
              <a:lstStyle/>
              <a:p>
                <a:pPr algn="just"/>
                <a:r>
                  <a:rPr kumimoji="1" lang="en-US" altLang="zh-CN" sz="1800" i="1">
                    <a:solidFill>
                      <a:srgbClr val="FF0000"/>
                    </a:solidFill>
                  </a:rPr>
                  <a:t>F</a:t>
                </a:r>
                <a:endParaRPr kumimoji="1" lang="en-US" altLang="zh-CN" sz="1800" i="1"/>
              </a:p>
            </p:txBody>
          </p:sp>
          <p:sp>
            <p:nvSpPr>
              <p:cNvPr id="149" name="Line 17"/>
              <p:cNvSpPr>
                <a:spLocks noChangeShapeType="1"/>
              </p:cNvSpPr>
              <p:nvPr/>
            </p:nvSpPr>
            <p:spPr bwMode="auto">
              <a:xfrm>
                <a:off x="3338" y="948"/>
                <a:ext cx="579" cy="1"/>
              </a:xfrm>
              <a:prstGeom prst="line">
                <a:avLst/>
              </a:prstGeom>
              <a:noFill/>
              <a:ln w="28575">
                <a:solidFill>
                  <a:srgbClr val="FF0000"/>
                </a:solidFill>
                <a:round/>
                <a:headEnd type="none" w="sm" len="me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50" name="Line 18"/>
              <p:cNvSpPr>
                <a:spLocks noChangeShapeType="1"/>
              </p:cNvSpPr>
              <p:nvPr/>
            </p:nvSpPr>
            <p:spPr bwMode="auto">
              <a:xfrm flipH="1">
                <a:off x="984" y="948"/>
                <a:ext cx="579" cy="1"/>
              </a:xfrm>
              <a:prstGeom prst="line">
                <a:avLst/>
              </a:prstGeom>
              <a:noFill/>
              <a:ln w="28575">
                <a:solidFill>
                  <a:srgbClr val="FF0000"/>
                </a:solidFill>
                <a:round/>
                <a:headEnd type="none" w="sm" len="me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51" name="Rectangle 19"/>
              <p:cNvSpPr>
                <a:spLocks noChangeArrowheads="1"/>
              </p:cNvSpPr>
              <p:nvPr/>
            </p:nvSpPr>
            <p:spPr bwMode="auto">
              <a:xfrm>
                <a:off x="1060" y="741"/>
                <a:ext cx="584" cy="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lIns="12700" tIns="12700" rIns="12700" bIns="12700"/>
              <a:lstStyle/>
              <a:p>
                <a:pPr algn="just"/>
                <a:r>
                  <a:rPr kumimoji="1" lang="en-US" altLang="zh-CN" sz="1800" i="1">
                    <a:solidFill>
                      <a:srgbClr val="FF0000"/>
                    </a:solidFill>
                  </a:rPr>
                  <a:t>F</a:t>
                </a:r>
                <a:endParaRPr kumimoji="1" lang="en-US" altLang="zh-CN" sz="1800" i="1"/>
              </a:p>
            </p:txBody>
          </p:sp>
        </p:grpSp>
      </p:grpSp>
      <p:grpSp>
        <p:nvGrpSpPr>
          <p:cNvPr id="152" name="Group 20"/>
          <p:cNvGrpSpPr>
            <a:grpSpLocks/>
          </p:cNvGrpSpPr>
          <p:nvPr/>
        </p:nvGrpSpPr>
        <p:grpSpPr bwMode="auto">
          <a:xfrm>
            <a:off x="8628857" y="992590"/>
            <a:ext cx="2220913" cy="1800225"/>
            <a:chOff x="1943" y="528"/>
            <a:chExt cx="1399" cy="1134"/>
          </a:xfrm>
        </p:grpSpPr>
        <p:sp>
          <p:nvSpPr>
            <p:cNvPr id="153" name="Line 21"/>
            <p:cNvSpPr>
              <a:spLocks noChangeShapeType="1"/>
            </p:cNvSpPr>
            <p:nvPr/>
          </p:nvSpPr>
          <p:spPr bwMode="auto">
            <a:xfrm>
              <a:off x="2455" y="528"/>
              <a:ext cx="2" cy="844"/>
            </a:xfrm>
            <a:prstGeom prst="line">
              <a:avLst/>
            </a:prstGeom>
            <a:noFill/>
            <a:ln w="3175">
              <a:solidFill>
                <a:srgbClr val="0000FF"/>
              </a:solidFill>
              <a:round/>
              <a:headEnd type="none" w="sm" len="me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154" name="Rectangle 22"/>
            <p:cNvSpPr>
              <a:spLocks noChangeArrowheads="1"/>
            </p:cNvSpPr>
            <p:nvPr/>
          </p:nvSpPr>
          <p:spPr bwMode="auto">
            <a:xfrm>
              <a:off x="1943" y="811"/>
              <a:ext cx="492" cy="7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lIns="12700" tIns="12700" rIns="12700" bIns="12700"/>
            <a:lstStyle/>
            <a:p>
              <a:pPr algn="just"/>
              <a:r>
                <a:rPr kumimoji="1" lang="en-US" altLang="zh-CN" sz="2400" i="0" dirty="0">
                  <a:solidFill>
                    <a:schemeClr val="tx1"/>
                  </a:solidFill>
                </a:rPr>
                <a:t>I</a:t>
              </a:r>
            </a:p>
          </p:txBody>
        </p:sp>
        <p:sp>
          <p:nvSpPr>
            <p:cNvPr id="155" name="Rectangle 23"/>
            <p:cNvSpPr>
              <a:spLocks noChangeArrowheads="1"/>
            </p:cNvSpPr>
            <p:nvPr/>
          </p:nvSpPr>
          <p:spPr bwMode="auto">
            <a:xfrm>
              <a:off x="2785" y="806"/>
              <a:ext cx="557" cy="8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lIns="12700" tIns="12700" rIns="12700" bIns="12700"/>
            <a:lstStyle/>
            <a:p>
              <a:pPr algn="just"/>
              <a:r>
                <a:rPr kumimoji="1" lang="en-US" altLang="zh-CN" i="0" dirty="0">
                  <a:solidFill>
                    <a:schemeClr val="tx1"/>
                  </a:solidFill>
                </a:rPr>
                <a:t>II</a:t>
              </a:r>
            </a:p>
          </p:txBody>
        </p:sp>
      </p:grpSp>
      <p:grpSp>
        <p:nvGrpSpPr>
          <p:cNvPr id="156" name="Group 24"/>
          <p:cNvGrpSpPr>
            <a:grpSpLocks/>
          </p:cNvGrpSpPr>
          <p:nvPr/>
        </p:nvGrpSpPr>
        <p:grpSpPr bwMode="auto">
          <a:xfrm>
            <a:off x="9106695" y="3778653"/>
            <a:ext cx="3424237" cy="1652587"/>
            <a:chOff x="2244" y="2427"/>
            <a:chExt cx="2157" cy="1041"/>
          </a:xfrm>
        </p:grpSpPr>
        <p:sp>
          <p:nvSpPr>
            <p:cNvPr id="157" name="Line 25"/>
            <p:cNvSpPr>
              <a:spLocks noChangeShapeType="1"/>
            </p:cNvSpPr>
            <p:nvPr/>
          </p:nvSpPr>
          <p:spPr bwMode="auto">
            <a:xfrm>
              <a:off x="2466" y="2427"/>
              <a:ext cx="1" cy="844"/>
            </a:xfrm>
            <a:prstGeom prst="line">
              <a:avLst/>
            </a:prstGeom>
            <a:noFill/>
            <a:ln w="3175">
              <a:solidFill>
                <a:srgbClr val="0000FF"/>
              </a:solidFill>
              <a:round/>
              <a:headEnd type="none" w="sm" len="med"/>
              <a:tailEnd type="none" w="sm" len="med"/>
            </a:ln>
            <a:extLst>
              <a:ext uri="{909E8E84-426E-40DD-AFC4-6F175D3DCCD1}">
                <a14:hiddenFill xmlns:a14="http://schemas.microsoft.com/office/drawing/2010/main">
                  <a:noFill/>
                </a14:hiddenFill>
              </a:ext>
            </a:extLst>
          </p:spPr>
          <p:txBody>
            <a:bodyPr/>
            <a:lstStyle/>
            <a:p>
              <a:endParaRPr lang="zh-CN" altLang="en-US"/>
            </a:p>
          </p:txBody>
        </p:sp>
        <p:grpSp>
          <p:nvGrpSpPr>
            <p:cNvPr id="158" name="Group 26"/>
            <p:cNvGrpSpPr>
              <a:grpSpLocks/>
            </p:cNvGrpSpPr>
            <p:nvPr/>
          </p:nvGrpSpPr>
          <p:grpSpPr bwMode="auto">
            <a:xfrm>
              <a:off x="2244" y="2559"/>
              <a:ext cx="2157" cy="909"/>
              <a:chOff x="2244" y="2559"/>
              <a:chExt cx="2157" cy="909"/>
            </a:xfrm>
          </p:grpSpPr>
          <p:grpSp>
            <p:nvGrpSpPr>
              <p:cNvPr id="159" name="Group 27"/>
              <p:cNvGrpSpPr>
                <a:grpSpLocks/>
              </p:cNvGrpSpPr>
              <p:nvPr/>
            </p:nvGrpSpPr>
            <p:grpSpPr bwMode="auto">
              <a:xfrm>
                <a:off x="2244" y="2559"/>
                <a:ext cx="2157" cy="909"/>
                <a:chOff x="2244" y="2559"/>
                <a:chExt cx="2157" cy="909"/>
              </a:xfrm>
            </p:grpSpPr>
            <p:sp>
              <p:nvSpPr>
                <p:cNvPr id="161" name="Rectangle 28"/>
                <p:cNvSpPr>
                  <a:spLocks noChangeArrowheads="1"/>
                </p:cNvSpPr>
                <p:nvPr/>
              </p:nvSpPr>
              <p:spPr bwMode="auto">
                <a:xfrm>
                  <a:off x="3817" y="2642"/>
                  <a:ext cx="584" cy="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lIns="12700" tIns="12700" rIns="12700" bIns="12700"/>
                <a:lstStyle/>
                <a:p>
                  <a:pPr algn="just"/>
                  <a:r>
                    <a:rPr kumimoji="1" lang="en-US" altLang="zh-CN" sz="1800" i="1">
                      <a:solidFill>
                        <a:srgbClr val="FF0000"/>
                      </a:solidFill>
                    </a:rPr>
                    <a:t>F</a:t>
                  </a:r>
                  <a:endParaRPr kumimoji="1" lang="en-US" altLang="zh-CN" sz="1800" i="1"/>
                </a:p>
              </p:txBody>
            </p:sp>
            <p:sp>
              <p:nvSpPr>
                <p:cNvPr id="162" name="Rectangle 29"/>
                <p:cNvSpPr>
                  <a:spLocks noChangeArrowheads="1"/>
                </p:cNvSpPr>
                <p:nvPr/>
              </p:nvSpPr>
              <p:spPr bwMode="auto">
                <a:xfrm>
                  <a:off x="2471" y="2559"/>
                  <a:ext cx="878" cy="585"/>
                </a:xfrm>
                <a:prstGeom prst="rect">
                  <a:avLst/>
                </a:prstGeom>
                <a:solidFill>
                  <a:srgbClr val="00FFFF"/>
                </a:solidFill>
                <a:ln w="3175">
                  <a:solidFill>
                    <a:srgbClr val="000000"/>
                  </a:solidFill>
                  <a:miter lim="800000"/>
                  <a:headEnd/>
                  <a:tailEnd/>
                </a:ln>
              </p:spPr>
              <p:txBody>
                <a:bodyPr/>
                <a:lstStyle/>
                <a:p>
                  <a:pPr eaLnBrk="1" hangingPunct="1">
                    <a:buFontTx/>
                    <a:buChar char="•"/>
                  </a:pPr>
                  <a:endParaRPr lang="zh-CN" altLang="en-US"/>
                </a:p>
              </p:txBody>
            </p:sp>
            <p:sp>
              <p:nvSpPr>
                <p:cNvPr id="163" name="Line 30"/>
                <p:cNvSpPr>
                  <a:spLocks noChangeShapeType="1"/>
                </p:cNvSpPr>
                <p:nvPr/>
              </p:nvSpPr>
              <p:spPr bwMode="auto">
                <a:xfrm>
                  <a:off x="2244" y="2844"/>
                  <a:ext cx="1249" cy="1"/>
                </a:xfrm>
                <a:prstGeom prst="line">
                  <a:avLst/>
                </a:prstGeom>
                <a:noFill/>
                <a:ln w="3175">
                  <a:solidFill>
                    <a:srgbClr val="0000FF"/>
                  </a:solidFill>
                  <a:prstDash val="sysDashDot"/>
                  <a:round/>
                  <a:headEnd type="none" w="sm" len="me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164" name="Rectangle 31"/>
                <p:cNvSpPr>
                  <a:spLocks noChangeArrowheads="1"/>
                </p:cNvSpPr>
                <p:nvPr/>
              </p:nvSpPr>
              <p:spPr bwMode="auto">
                <a:xfrm>
                  <a:off x="2807" y="2717"/>
                  <a:ext cx="455" cy="7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lIns="12700" tIns="12700" rIns="12700" bIns="12700"/>
                <a:lstStyle/>
                <a:p>
                  <a:pPr algn="just"/>
                  <a:r>
                    <a:rPr kumimoji="1" lang="en-US" altLang="zh-CN" i="0" dirty="0">
                      <a:solidFill>
                        <a:schemeClr val="tx1"/>
                      </a:solidFill>
                    </a:rPr>
                    <a:t>II</a:t>
                  </a:r>
                </a:p>
              </p:txBody>
            </p:sp>
          </p:grpSp>
          <p:sp>
            <p:nvSpPr>
              <p:cNvPr id="160" name="Line 32"/>
              <p:cNvSpPr>
                <a:spLocks noChangeShapeType="1"/>
              </p:cNvSpPr>
              <p:nvPr/>
            </p:nvSpPr>
            <p:spPr bwMode="auto">
              <a:xfrm>
                <a:off x="3348" y="2850"/>
                <a:ext cx="588" cy="0"/>
              </a:xfrm>
              <a:prstGeom prst="line">
                <a:avLst/>
              </a:prstGeom>
              <a:noFill/>
              <a:ln w="28575">
                <a:solidFill>
                  <a:srgbClr val="FF0000"/>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165" name="Group 33"/>
          <p:cNvGrpSpPr>
            <a:grpSpLocks/>
          </p:cNvGrpSpPr>
          <p:nvPr/>
        </p:nvGrpSpPr>
        <p:grpSpPr bwMode="auto">
          <a:xfrm>
            <a:off x="9471820" y="2873778"/>
            <a:ext cx="1619250" cy="773112"/>
            <a:chOff x="2474" y="1713"/>
            <a:chExt cx="1020" cy="487"/>
          </a:xfrm>
        </p:grpSpPr>
        <p:sp>
          <p:nvSpPr>
            <p:cNvPr id="166" name="Rectangle 34"/>
            <p:cNvSpPr>
              <a:spLocks noChangeArrowheads="1"/>
            </p:cNvSpPr>
            <p:nvPr/>
          </p:nvSpPr>
          <p:spPr bwMode="auto">
            <a:xfrm>
              <a:off x="2910" y="1713"/>
              <a:ext cx="584" cy="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lIns="12700" tIns="12700" rIns="12700" bIns="12700"/>
            <a:lstStyle/>
            <a:p>
              <a:pPr algn="just"/>
              <a:r>
                <a:rPr kumimoji="1" lang="en-US" altLang="zh-CN" sz="1800" i="1" dirty="0">
                  <a:solidFill>
                    <a:srgbClr val="FF0000"/>
                  </a:solidFill>
                </a:rPr>
                <a:t>F</a:t>
              </a:r>
              <a:r>
                <a:rPr kumimoji="1" lang="en-US" altLang="zh-CN" sz="1800" i="0" baseline="-25000" dirty="0">
                  <a:solidFill>
                    <a:srgbClr val="FF0000"/>
                  </a:solidFill>
                </a:rPr>
                <a:t>N</a:t>
              </a:r>
            </a:p>
          </p:txBody>
        </p:sp>
        <p:sp>
          <p:nvSpPr>
            <p:cNvPr id="167" name="Line 35"/>
            <p:cNvSpPr>
              <a:spLocks noChangeShapeType="1"/>
            </p:cNvSpPr>
            <p:nvPr/>
          </p:nvSpPr>
          <p:spPr bwMode="auto">
            <a:xfrm>
              <a:off x="2474" y="1919"/>
              <a:ext cx="578" cy="1"/>
            </a:xfrm>
            <a:prstGeom prst="line">
              <a:avLst/>
            </a:prstGeom>
            <a:noFill/>
            <a:ln w="28575">
              <a:solidFill>
                <a:srgbClr val="FF0000"/>
              </a:solidFill>
              <a:round/>
              <a:headEnd type="none" w="sm" len="med"/>
              <a:tailEnd type="triangle" w="med" len="lg"/>
            </a:ln>
            <a:extLst>
              <a:ext uri="{909E8E84-426E-40DD-AFC4-6F175D3DCCD1}">
                <a14:hiddenFill xmlns:a14="http://schemas.microsoft.com/office/drawing/2010/main">
                  <a:noFill/>
                </a14:hiddenFill>
              </a:ext>
            </a:extLst>
          </p:spPr>
          <p:txBody>
            <a:bodyPr/>
            <a:lstStyle/>
            <a:p>
              <a:endParaRPr lang="zh-CN" altLang="en-US"/>
            </a:p>
          </p:txBody>
        </p:sp>
      </p:grpSp>
      <p:grpSp>
        <p:nvGrpSpPr>
          <p:cNvPr id="168" name="Group 36"/>
          <p:cNvGrpSpPr>
            <a:grpSpLocks/>
          </p:cNvGrpSpPr>
          <p:nvPr/>
        </p:nvGrpSpPr>
        <p:grpSpPr bwMode="auto">
          <a:xfrm>
            <a:off x="10290970" y="2889653"/>
            <a:ext cx="839787" cy="725487"/>
            <a:chOff x="3077" y="1714"/>
            <a:chExt cx="599" cy="457"/>
          </a:xfrm>
        </p:grpSpPr>
        <p:sp>
          <p:nvSpPr>
            <p:cNvPr id="169" name="Line 37"/>
            <p:cNvSpPr>
              <a:spLocks noChangeShapeType="1"/>
            </p:cNvSpPr>
            <p:nvPr/>
          </p:nvSpPr>
          <p:spPr bwMode="auto">
            <a:xfrm>
              <a:off x="3077" y="1914"/>
              <a:ext cx="482" cy="1"/>
            </a:xfrm>
            <a:prstGeom prst="line">
              <a:avLst/>
            </a:prstGeom>
            <a:noFill/>
            <a:ln w="6350">
              <a:solidFill>
                <a:srgbClr val="0000FF"/>
              </a:solidFill>
              <a:round/>
              <a:headEnd type="none" w="sm" len="me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70" name="Rectangle 38"/>
            <p:cNvSpPr>
              <a:spLocks noChangeArrowheads="1"/>
            </p:cNvSpPr>
            <p:nvPr/>
          </p:nvSpPr>
          <p:spPr bwMode="auto">
            <a:xfrm>
              <a:off x="3414" y="1714"/>
              <a:ext cx="262" cy="4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lIns="12700" tIns="12700" rIns="12700" bIns="12700"/>
            <a:lstStyle/>
            <a:p>
              <a:pPr algn="just"/>
              <a:r>
                <a:rPr kumimoji="1" lang="en-US" altLang="zh-CN" sz="1800">
                  <a:solidFill>
                    <a:srgbClr val="0000FF"/>
                  </a:solidFill>
                </a:rPr>
                <a:t>x</a:t>
              </a:r>
            </a:p>
          </p:txBody>
        </p:sp>
      </p:grpSp>
      <p:grpSp>
        <p:nvGrpSpPr>
          <p:cNvPr id="171" name="Group 39"/>
          <p:cNvGrpSpPr>
            <a:grpSpLocks/>
          </p:cNvGrpSpPr>
          <p:nvPr/>
        </p:nvGrpSpPr>
        <p:grpSpPr bwMode="auto">
          <a:xfrm>
            <a:off x="10642031" y="4112028"/>
            <a:ext cx="779462" cy="725487"/>
            <a:chOff x="3948" y="2637"/>
            <a:chExt cx="491" cy="457"/>
          </a:xfrm>
        </p:grpSpPr>
        <p:sp>
          <p:nvSpPr>
            <p:cNvPr id="172" name="Line 40"/>
            <p:cNvSpPr>
              <a:spLocks noChangeShapeType="1"/>
            </p:cNvSpPr>
            <p:nvPr/>
          </p:nvSpPr>
          <p:spPr bwMode="auto">
            <a:xfrm>
              <a:off x="3948" y="2849"/>
              <a:ext cx="392" cy="1"/>
            </a:xfrm>
            <a:prstGeom prst="line">
              <a:avLst/>
            </a:prstGeom>
            <a:noFill/>
            <a:ln w="6350">
              <a:solidFill>
                <a:srgbClr val="0000FF"/>
              </a:solidFill>
              <a:round/>
              <a:headEnd type="none" w="sm" len="me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73" name="Rectangle 41"/>
            <p:cNvSpPr>
              <a:spLocks noChangeArrowheads="1"/>
            </p:cNvSpPr>
            <p:nvPr/>
          </p:nvSpPr>
          <p:spPr bwMode="auto">
            <a:xfrm>
              <a:off x="4177" y="2637"/>
              <a:ext cx="262" cy="4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lIns="12700" tIns="12700" rIns="12700" bIns="12700"/>
            <a:lstStyle/>
            <a:p>
              <a:pPr algn="just"/>
              <a:r>
                <a:rPr kumimoji="1" lang="en-US" altLang="zh-CN" sz="1800">
                  <a:solidFill>
                    <a:srgbClr val="0000FF"/>
                  </a:solidFill>
                </a:rPr>
                <a:t>x</a:t>
              </a:r>
              <a:endParaRPr kumimoji="1" lang="en-US" altLang="zh-CN" sz="1800"/>
            </a:p>
          </p:txBody>
        </p:sp>
      </p:grpSp>
      <p:grpSp>
        <p:nvGrpSpPr>
          <p:cNvPr id="174" name="Group 43"/>
          <p:cNvGrpSpPr>
            <a:grpSpLocks/>
          </p:cNvGrpSpPr>
          <p:nvPr/>
        </p:nvGrpSpPr>
        <p:grpSpPr bwMode="auto">
          <a:xfrm>
            <a:off x="8524082" y="4081865"/>
            <a:ext cx="990600" cy="774700"/>
            <a:chOff x="1885" y="2618"/>
            <a:chExt cx="624" cy="488"/>
          </a:xfrm>
        </p:grpSpPr>
        <p:sp>
          <p:nvSpPr>
            <p:cNvPr id="175" name="Line 44"/>
            <p:cNvSpPr>
              <a:spLocks noChangeShapeType="1"/>
            </p:cNvSpPr>
            <p:nvPr/>
          </p:nvSpPr>
          <p:spPr bwMode="auto">
            <a:xfrm flipH="1">
              <a:off x="1885" y="2843"/>
              <a:ext cx="579" cy="1"/>
            </a:xfrm>
            <a:prstGeom prst="line">
              <a:avLst/>
            </a:prstGeom>
            <a:noFill/>
            <a:ln w="28575">
              <a:solidFill>
                <a:srgbClr val="FF0000"/>
              </a:solidFill>
              <a:round/>
              <a:headEnd type="none" w="sm" len="me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76" name="Rectangle 45"/>
            <p:cNvSpPr>
              <a:spLocks noChangeArrowheads="1"/>
            </p:cNvSpPr>
            <p:nvPr/>
          </p:nvSpPr>
          <p:spPr bwMode="auto">
            <a:xfrm>
              <a:off x="1925" y="2618"/>
              <a:ext cx="584" cy="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lIns="12700" tIns="12700" rIns="12700" bIns="12700"/>
            <a:lstStyle/>
            <a:p>
              <a:pPr algn="just"/>
              <a:r>
                <a:rPr kumimoji="1" lang="en-US" altLang="zh-CN" sz="1800" i="1" dirty="0">
                  <a:solidFill>
                    <a:srgbClr val="FF3300"/>
                  </a:solidFill>
                </a:rPr>
                <a:t>F</a:t>
              </a:r>
              <a:r>
                <a:rPr kumimoji="1" lang="en-US" altLang="zh-CN" sz="1800" i="0" baseline="-25000" dirty="0">
                  <a:solidFill>
                    <a:srgbClr val="FF3300"/>
                  </a:solidFill>
                </a:rPr>
                <a:t>N</a:t>
              </a:r>
              <a:r>
                <a:rPr kumimoji="1" lang="en-US" altLang="zh-CN" i="1" baseline="-25000" dirty="0">
                  <a:solidFill>
                    <a:srgbClr val="FF0000"/>
                  </a:solidFill>
                  <a:latin typeface="Arial" pitchFamily="34" charset="0"/>
                </a:rPr>
                <a:t>'</a:t>
              </a:r>
            </a:p>
          </p:txBody>
        </p:sp>
      </p:grpSp>
      <p:sp>
        <p:nvSpPr>
          <p:cNvPr id="177" name="Text Box 2"/>
          <p:cNvSpPr txBox="1">
            <a:spLocks noChangeArrowheads="1"/>
          </p:cNvSpPr>
          <p:nvPr/>
        </p:nvSpPr>
        <p:spPr bwMode="auto">
          <a:xfrm>
            <a:off x="7777453" y="5171864"/>
            <a:ext cx="3865497" cy="461665"/>
          </a:xfrm>
          <a:prstGeom prst="rect">
            <a:avLst/>
          </a:prstGeom>
          <a:solidFill>
            <a:srgbClr val="B9CDE5"/>
          </a:solidFill>
          <a:ln>
            <a:noFill/>
          </a:ln>
        </p:spPr>
        <p:txBody>
          <a:bodyPr wrap="square" anchor="ctr">
            <a:spAutoFit/>
          </a:bodyPr>
          <a:lstStyle>
            <a:lvl1pPr>
              <a:defRPr sz="2000">
                <a:solidFill>
                  <a:schemeClr val="tx1"/>
                </a:solidFill>
                <a:latin typeface="Times New Roman" pitchFamily="18" charset="0"/>
                <a:ea typeface="宋体" pitchFamily="2" charset="-122"/>
              </a:defRPr>
            </a:lvl1pPr>
            <a:lvl2pPr>
              <a:defRPr sz="2000">
                <a:solidFill>
                  <a:schemeClr val="tx1"/>
                </a:solidFill>
                <a:latin typeface="Times New Roman" pitchFamily="18" charset="0"/>
                <a:ea typeface="宋体" pitchFamily="2" charset="-122"/>
              </a:defRPr>
            </a:lvl2pPr>
            <a:lvl3pPr>
              <a:defRPr sz="2000">
                <a:solidFill>
                  <a:schemeClr val="tx1"/>
                </a:solidFill>
                <a:latin typeface="Times New Roman" pitchFamily="18" charset="0"/>
                <a:ea typeface="宋体" pitchFamily="2" charset="-122"/>
              </a:defRPr>
            </a:lvl3pPr>
            <a:lvl4pPr>
              <a:defRPr sz="2000">
                <a:solidFill>
                  <a:schemeClr val="tx1"/>
                </a:solidFill>
                <a:latin typeface="Times New Roman" pitchFamily="18" charset="0"/>
                <a:ea typeface="宋体" pitchFamily="2" charset="-122"/>
              </a:defRPr>
            </a:lvl4pPr>
            <a:lvl5pPr>
              <a:defRPr sz="2000">
                <a:solidFill>
                  <a:schemeClr val="tx1"/>
                </a:solidFill>
                <a:latin typeface="Times New Roman" pitchFamily="18" charset="0"/>
                <a:ea typeface="宋体" pitchFamily="2" charset="-122"/>
              </a:defRPr>
            </a:lvl5pPr>
            <a:lvl6pPr eaLnBrk="0" hangingPunct="0">
              <a:defRPr sz="2000">
                <a:solidFill>
                  <a:schemeClr val="tx1"/>
                </a:solidFill>
                <a:latin typeface="Times New Roman" pitchFamily="18" charset="0"/>
                <a:ea typeface="宋体" pitchFamily="2" charset="-122"/>
              </a:defRPr>
            </a:lvl6pPr>
            <a:lvl7pPr eaLnBrk="0" hangingPunct="0">
              <a:defRPr sz="2000">
                <a:solidFill>
                  <a:schemeClr val="tx1"/>
                </a:solidFill>
                <a:latin typeface="Times New Roman" pitchFamily="18" charset="0"/>
                <a:ea typeface="宋体" pitchFamily="2" charset="-122"/>
              </a:defRPr>
            </a:lvl7pPr>
            <a:lvl8pPr eaLnBrk="0" hangingPunct="0">
              <a:defRPr sz="2000">
                <a:solidFill>
                  <a:schemeClr val="tx1"/>
                </a:solidFill>
                <a:latin typeface="Times New Roman" pitchFamily="18" charset="0"/>
                <a:ea typeface="宋体" pitchFamily="2" charset="-122"/>
              </a:defRPr>
            </a:lvl8pPr>
            <a:lvl9pPr eaLnBrk="0" hangingPunct="0">
              <a:defRPr sz="2000">
                <a:solidFill>
                  <a:schemeClr val="tx1"/>
                </a:solidFill>
                <a:latin typeface="Times New Roman" pitchFamily="18" charset="0"/>
                <a:ea typeface="宋体" pitchFamily="2" charset="-122"/>
              </a:defRPr>
            </a:lvl9pPr>
          </a:lstStyle>
          <a:p>
            <a:pPr eaLnBrk="1" hangingPunct="1">
              <a:spcBef>
                <a:spcPct val="50000"/>
              </a:spcBef>
            </a:pPr>
            <a:r>
              <a:rPr kumimoji="1" lang="en-US" altLang="zh-CN" sz="2400" i="0" dirty="0" err="1">
                <a:latin typeface="Symbol" pitchFamily="18" charset="2"/>
              </a:rPr>
              <a:t>S</a:t>
            </a:r>
            <a:r>
              <a:rPr kumimoji="1" lang="en-US" altLang="zh-CN" sz="2400" i="1" dirty="0" err="1"/>
              <a:t>F</a:t>
            </a:r>
            <a:r>
              <a:rPr kumimoji="1" lang="en-US" altLang="zh-CN" sz="2400" b="0" baseline="-25000" dirty="0" err="1"/>
              <a:t>x</a:t>
            </a:r>
            <a:r>
              <a:rPr kumimoji="1" lang="en-US" altLang="zh-CN" sz="2400" b="0" i="0" dirty="0"/>
              <a:t>=0</a:t>
            </a:r>
            <a:r>
              <a:rPr kumimoji="1" lang="zh-CN" altLang="en-US" sz="2400" b="0" i="0" dirty="0"/>
              <a:t>：</a:t>
            </a:r>
            <a:r>
              <a:rPr kumimoji="1" lang="en-US" altLang="zh-CN" sz="2400" i="1" dirty="0"/>
              <a:t>F</a:t>
            </a:r>
            <a:r>
              <a:rPr kumimoji="1" lang="en-US" altLang="zh-CN" sz="2400" b="0" i="0" baseline="-25000" dirty="0"/>
              <a:t>N</a:t>
            </a:r>
            <a:r>
              <a:rPr kumimoji="1" lang="en-US" altLang="zh-CN" sz="2400" dirty="0">
                <a:latin typeface="Symbol" pitchFamily="18" charset="2"/>
              </a:rPr>
              <a:t>-</a:t>
            </a:r>
            <a:r>
              <a:rPr kumimoji="1" lang="en-US" altLang="zh-CN" sz="2400" i="1" dirty="0"/>
              <a:t>F</a:t>
            </a:r>
            <a:r>
              <a:rPr kumimoji="1" lang="en-US" altLang="zh-CN" sz="2400" b="0" i="0" dirty="0"/>
              <a:t>=0</a:t>
            </a:r>
            <a:r>
              <a:rPr kumimoji="1" lang="zh-CN" altLang="en-US" sz="2400" b="0" i="0" dirty="0"/>
              <a:t>；</a:t>
            </a:r>
            <a:r>
              <a:rPr kumimoji="1" lang="zh-CN" altLang="en-US" sz="2400" dirty="0"/>
              <a:t> </a:t>
            </a:r>
            <a:r>
              <a:rPr kumimoji="1" lang="en-US" altLang="zh-CN" sz="2400" i="1" dirty="0"/>
              <a:t>F</a:t>
            </a:r>
            <a:r>
              <a:rPr kumimoji="1" lang="en-US" altLang="zh-CN" sz="2400" b="0" i="0" baseline="-25000" dirty="0"/>
              <a:t>N</a:t>
            </a:r>
            <a:r>
              <a:rPr kumimoji="1" lang="en-US" altLang="zh-CN" sz="2400" i="0" dirty="0">
                <a:latin typeface="Symbol" pitchFamily="18" charset="2"/>
              </a:rPr>
              <a:t>=</a:t>
            </a:r>
            <a:r>
              <a:rPr kumimoji="1" lang="en-US" altLang="zh-CN" sz="2400" i="1" dirty="0"/>
              <a:t>F</a:t>
            </a:r>
          </a:p>
        </p:txBody>
      </p:sp>
      <p:sp>
        <p:nvSpPr>
          <p:cNvPr id="178" name="Text Box 2">
            <a:extLst>
              <a:ext uri="{FF2B5EF4-FFF2-40B4-BE49-F238E27FC236}">
                <a16:creationId xmlns:a16="http://schemas.microsoft.com/office/drawing/2014/main" id="{9BB70BEE-AF77-89C7-A64A-DEEFAA5120C6}"/>
              </a:ext>
            </a:extLst>
          </p:cNvPr>
          <p:cNvSpPr txBox="1">
            <a:spLocks noChangeArrowheads="1"/>
          </p:cNvSpPr>
          <p:nvPr/>
        </p:nvSpPr>
        <p:spPr bwMode="auto">
          <a:xfrm>
            <a:off x="7777453" y="5699325"/>
            <a:ext cx="3865497" cy="461665"/>
          </a:xfrm>
          <a:prstGeom prst="rect">
            <a:avLst/>
          </a:prstGeom>
          <a:solidFill>
            <a:srgbClr val="B9CDE5"/>
          </a:solidFill>
          <a:ln>
            <a:noFill/>
          </a:ln>
        </p:spPr>
        <p:txBody>
          <a:bodyPr wrap="square" anchor="ctr">
            <a:spAutoFit/>
          </a:bodyPr>
          <a:lstStyle>
            <a:lvl1pPr>
              <a:defRPr sz="2000">
                <a:solidFill>
                  <a:schemeClr val="tx1"/>
                </a:solidFill>
                <a:latin typeface="Times New Roman" pitchFamily="18" charset="0"/>
                <a:ea typeface="宋体" pitchFamily="2" charset="-122"/>
              </a:defRPr>
            </a:lvl1pPr>
            <a:lvl2pPr>
              <a:defRPr sz="2000">
                <a:solidFill>
                  <a:schemeClr val="tx1"/>
                </a:solidFill>
                <a:latin typeface="Times New Roman" pitchFamily="18" charset="0"/>
                <a:ea typeface="宋体" pitchFamily="2" charset="-122"/>
              </a:defRPr>
            </a:lvl2pPr>
            <a:lvl3pPr>
              <a:defRPr sz="2000">
                <a:solidFill>
                  <a:schemeClr val="tx1"/>
                </a:solidFill>
                <a:latin typeface="Times New Roman" pitchFamily="18" charset="0"/>
                <a:ea typeface="宋体" pitchFamily="2" charset="-122"/>
              </a:defRPr>
            </a:lvl3pPr>
            <a:lvl4pPr>
              <a:defRPr sz="2000">
                <a:solidFill>
                  <a:schemeClr val="tx1"/>
                </a:solidFill>
                <a:latin typeface="Times New Roman" pitchFamily="18" charset="0"/>
                <a:ea typeface="宋体" pitchFamily="2" charset="-122"/>
              </a:defRPr>
            </a:lvl4pPr>
            <a:lvl5pPr>
              <a:defRPr sz="2000">
                <a:solidFill>
                  <a:schemeClr val="tx1"/>
                </a:solidFill>
                <a:latin typeface="Times New Roman" pitchFamily="18" charset="0"/>
                <a:ea typeface="宋体" pitchFamily="2" charset="-122"/>
              </a:defRPr>
            </a:lvl5pPr>
            <a:lvl6pPr eaLnBrk="0" hangingPunct="0">
              <a:defRPr sz="2000">
                <a:solidFill>
                  <a:schemeClr val="tx1"/>
                </a:solidFill>
                <a:latin typeface="Times New Roman" pitchFamily="18" charset="0"/>
                <a:ea typeface="宋体" pitchFamily="2" charset="-122"/>
              </a:defRPr>
            </a:lvl6pPr>
            <a:lvl7pPr eaLnBrk="0" hangingPunct="0">
              <a:defRPr sz="2000">
                <a:solidFill>
                  <a:schemeClr val="tx1"/>
                </a:solidFill>
                <a:latin typeface="Times New Roman" pitchFamily="18" charset="0"/>
                <a:ea typeface="宋体" pitchFamily="2" charset="-122"/>
              </a:defRPr>
            </a:lvl7pPr>
            <a:lvl8pPr eaLnBrk="0" hangingPunct="0">
              <a:defRPr sz="2000">
                <a:solidFill>
                  <a:schemeClr val="tx1"/>
                </a:solidFill>
                <a:latin typeface="Times New Roman" pitchFamily="18" charset="0"/>
                <a:ea typeface="宋体" pitchFamily="2" charset="-122"/>
              </a:defRPr>
            </a:lvl8pPr>
            <a:lvl9pPr eaLnBrk="0" hangingPunct="0">
              <a:defRPr sz="2000">
                <a:solidFill>
                  <a:schemeClr val="tx1"/>
                </a:solidFill>
                <a:latin typeface="Times New Roman" pitchFamily="18" charset="0"/>
                <a:ea typeface="宋体" pitchFamily="2" charset="-122"/>
              </a:defRPr>
            </a:lvl9pPr>
          </a:lstStyle>
          <a:p>
            <a:pPr>
              <a:spcBef>
                <a:spcPct val="50000"/>
              </a:spcBef>
            </a:pPr>
            <a:r>
              <a:rPr kumimoji="1" lang="en-US" altLang="zh-CN" sz="2400" i="0" dirty="0" err="1">
                <a:latin typeface="Symbol" pitchFamily="18" charset="2"/>
              </a:rPr>
              <a:t>S</a:t>
            </a:r>
            <a:r>
              <a:rPr kumimoji="1" lang="en-US" altLang="zh-CN" sz="2400" i="1" dirty="0" err="1"/>
              <a:t>F</a:t>
            </a:r>
            <a:r>
              <a:rPr kumimoji="1" lang="en-US" altLang="zh-CN" sz="2400" b="0" baseline="-25000" dirty="0" err="1"/>
              <a:t>x</a:t>
            </a:r>
            <a:r>
              <a:rPr kumimoji="1" lang="en-US" altLang="zh-CN" sz="2400" b="0" i="0" dirty="0"/>
              <a:t>=0</a:t>
            </a:r>
            <a:r>
              <a:rPr kumimoji="1" lang="zh-CN" altLang="en-US" sz="2400" b="0" i="0" dirty="0"/>
              <a:t>：</a:t>
            </a:r>
            <a:r>
              <a:rPr kumimoji="1" lang="en-US" altLang="zh-CN" sz="2400" dirty="0"/>
              <a:t>F</a:t>
            </a:r>
            <a:r>
              <a:rPr kumimoji="1" lang="en-US" altLang="zh-CN" sz="2400" dirty="0">
                <a:latin typeface="Symbol" pitchFamily="18" charset="2"/>
              </a:rPr>
              <a:t>-</a:t>
            </a:r>
            <a:r>
              <a:rPr kumimoji="1" lang="en-US" altLang="zh-CN" sz="2400" dirty="0"/>
              <a:t>F</a:t>
            </a:r>
            <a:r>
              <a:rPr kumimoji="1" lang="en-US" altLang="zh-CN" sz="2400" b="0" i="0" baseline="-25000" dirty="0"/>
              <a:t>N</a:t>
            </a:r>
            <a:r>
              <a:rPr kumimoji="1" lang="en-US" altLang="zh-CN" sz="2400" b="0" baseline="-25000" dirty="0">
                <a:latin typeface="Arial" pitchFamily="34" charset="0"/>
              </a:rPr>
              <a:t>'</a:t>
            </a:r>
            <a:r>
              <a:rPr kumimoji="1" lang="en-US" altLang="zh-CN" sz="2400" b="0" i="0" dirty="0"/>
              <a:t>=0</a:t>
            </a:r>
            <a:r>
              <a:rPr kumimoji="1" lang="zh-CN" altLang="en-US" sz="2400" b="0" i="0" dirty="0"/>
              <a:t>；</a:t>
            </a:r>
            <a:r>
              <a:rPr kumimoji="1" lang="zh-CN" altLang="en-US" sz="2400" dirty="0"/>
              <a:t> </a:t>
            </a:r>
            <a:r>
              <a:rPr kumimoji="1" lang="en-US" altLang="zh-CN" sz="2400" dirty="0"/>
              <a:t>F</a:t>
            </a:r>
            <a:r>
              <a:rPr kumimoji="1" lang="en-US" altLang="zh-CN" sz="2400" b="0" i="0" baseline="-25000" dirty="0"/>
              <a:t>N</a:t>
            </a:r>
            <a:r>
              <a:rPr kumimoji="1" lang="en-US" altLang="zh-CN" sz="2400" b="0" baseline="-25000" dirty="0">
                <a:latin typeface="Arial" pitchFamily="34" charset="0"/>
              </a:rPr>
              <a:t>’ </a:t>
            </a:r>
            <a:r>
              <a:rPr kumimoji="1" lang="en-US" altLang="zh-CN" sz="2400" i="0" dirty="0">
                <a:latin typeface="Symbol" pitchFamily="18" charset="2"/>
              </a:rPr>
              <a:t>=</a:t>
            </a:r>
            <a:r>
              <a:rPr kumimoji="1" lang="en-US" altLang="zh-CN" sz="2400" i="1" dirty="0"/>
              <a:t>F</a:t>
            </a:r>
          </a:p>
        </p:txBody>
      </p:sp>
      <p:sp>
        <p:nvSpPr>
          <p:cNvPr id="49" name="Text Box 1032"/>
          <p:cNvSpPr txBox="1">
            <a:spLocks noChangeArrowheads="1"/>
          </p:cNvSpPr>
          <p:nvPr/>
        </p:nvSpPr>
        <p:spPr bwMode="auto">
          <a:xfrm>
            <a:off x="127484" y="3733871"/>
            <a:ext cx="6566421" cy="10070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10000"/>
              </a:lnSpc>
            </a:pPr>
            <a:r>
              <a:rPr lang="zh-CN" altLang="en-US" sz="2800" i="0" dirty="0">
                <a:latin typeface="+mj-lt"/>
                <a:ea typeface="微软雅黑" panose="020B0503020204020204" pitchFamily="34" charset="-122"/>
              </a:rPr>
              <a:t>第二步：取任意一段作为研究对象，标上内力。</a:t>
            </a:r>
            <a:endParaRPr lang="en-US" altLang="zh-CN" sz="2800" i="0" dirty="0">
              <a:latin typeface="+mj-lt"/>
              <a:ea typeface="微软雅黑" panose="020B0503020204020204" pitchFamily="34" charset="-122"/>
            </a:endParaRPr>
          </a:p>
        </p:txBody>
      </p:sp>
      <p:sp>
        <p:nvSpPr>
          <p:cNvPr id="50" name="Text Box 1032"/>
          <p:cNvSpPr txBox="1">
            <a:spLocks noChangeArrowheads="1"/>
          </p:cNvSpPr>
          <p:nvPr/>
        </p:nvSpPr>
        <p:spPr bwMode="auto">
          <a:xfrm>
            <a:off x="127484" y="4740878"/>
            <a:ext cx="6566421" cy="14809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10000"/>
              </a:lnSpc>
            </a:pPr>
            <a:r>
              <a:rPr lang="zh-CN" altLang="en-US" sz="2800" i="0" dirty="0">
                <a:latin typeface="+mj-lt"/>
                <a:ea typeface="微软雅黑" panose="020B0503020204020204" pitchFamily="34" charset="-122"/>
              </a:rPr>
              <a:t>第三步：列</a:t>
            </a:r>
            <a:r>
              <a:rPr lang="zh-CN" altLang="en-US" sz="2800" i="0" dirty="0">
                <a:latin typeface="+mn-lt"/>
                <a:ea typeface="微软雅黑" panose="020B0503020204020204" pitchFamily="34" charset="-122"/>
              </a:rPr>
              <a:t>平衡方程，由于外力</a:t>
            </a:r>
            <a:r>
              <a:rPr lang="en-US" altLang="zh-CN" sz="2800" dirty="0">
                <a:latin typeface="+mn-lt"/>
                <a:ea typeface="微软雅黑" panose="020B0503020204020204" pitchFamily="34" charset="-122"/>
              </a:rPr>
              <a:t>F </a:t>
            </a:r>
            <a:r>
              <a:rPr lang="zh-CN" altLang="en-US" sz="2800" i="0" dirty="0">
                <a:latin typeface="+mn-lt"/>
                <a:ea typeface="微软雅黑" panose="020B0503020204020204" pitchFamily="34" charset="-122"/>
              </a:rPr>
              <a:t>的作用线是沿着杆的轴线，内力</a:t>
            </a:r>
            <a:r>
              <a:rPr lang="en-US" altLang="zh-CN" sz="2800" dirty="0">
                <a:latin typeface="+mn-lt"/>
                <a:ea typeface="微软雅黑" panose="020B0503020204020204" pitchFamily="34" charset="-122"/>
              </a:rPr>
              <a:t>F</a:t>
            </a:r>
            <a:r>
              <a:rPr lang="en-US" altLang="zh-CN" sz="2800" b="0" i="0" baseline="-25000" dirty="0">
                <a:latin typeface="+mn-lt"/>
                <a:ea typeface="微软雅黑" panose="020B0503020204020204" pitchFamily="34" charset="-122"/>
              </a:rPr>
              <a:t>N</a:t>
            </a:r>
            <a:r>
              <a:rPr lang="zh-CN" altLang="en-US" sz="2800" i="0" dirty="0">
                <a:latin typeface="+mn-lt"/>
                <a:ea typeface="微软雅黑" panose="020B0503020204020204" pitchFamily="34" charset="-122"/>
              </a:rPr>
              <a:t>的作用线必通过杆的轴线，故内力</a:t>
            </a:r>
            <a:r>
              <a:rPr lang="en-US" altLang="zh-CN" sz="2800" dirty="0">
                <a:latin typeface="+mn-lt"/>
                <a:ea typeface="微软雅黑" panose="020B0503020204020204" pitchFamily="34" charset="-122"/>
              </a:rPr>
              <a:t>F</a:t>
            </a:r>
            <a:r>
              <a:rPr lang="en-US" altLang="zh-CN" sz="2800" b="0" i="0" baseline="-25000" dirty="0">
                <a:latin typeface="+mn-lt"/>
                <a:ea typeface="微软雅黑" panose="020B0503020204020204" pitchFamily="34" charset="-122"/>
              </a:rPr>
              <a:t>N</a:t>
            </a:r>
            <a:r>
              <a:rPr lang="zh-CN" altLang="en-US" sz="2800" i="0" dirty="0">
                <a:latin typeface="+mn-lt"/>
                <a:ea typeface="微软雅黑" panose="020B0503020204020204" pitchFamily="34" charset="-122"/>
              </a:rPr>
              <a:t>又称之为轴力。</a:t>
            </a:r>
            <a:endParaRPr lang="zh-CN" altLang="en-US" sz="2800" i="0" dirty="0">
              <a:latin typeface="+mj-lt"/>
              <a:ea typeface="微软雅黑" panose="020B0503020204020204" pitchFamily="34" charset="-122"/>
            </a:endParaRPr>
          </a:p>
        </p:txBody>
      </p:sp>
    </p:spTree>
    <p:extLst>
      <p:ext uri="{BB962C8B-B14F-4D97-AF65-F5344CB8AC3E}">
        <p14:creationId xmlns:p14="http://schemas.microsoft.com/office/powerpoint/2010/main" val="1678773397"/>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3" presetClass="entr" presetSubtype="5" fill="hold" grpId="0" nodeType="clickEffect">
                                  <p:stCondLst>
                                    <p:cond delay="0"/>
                                  </p:stCondLst>
                                  <p:childTnLst>
                                    <p:set>
                                      <p:cBhvr>
                                        <p:cTn id="12" dur="1" fill="hold">
                                          <p:stCondLst>
                                            <p:cond delay="0"/>
                                          </p:stCondLst>
                                        </p:cTn>
                                        <p:tgtEl>
                                          <p:spTgt spid="144"/>
                                        </p:tgtEl>
                                        <p:attrNameLst>
                                          <p:attrName>style.visibility</p:attrName>
                                        </p:attrNameLst>
                                      </p:cBhvr>
                                      <p:to>
                                        <p:strVal val="visible"/>
                                      </p:to>
                                    </p:set>
                                    <p:animEffect transition="in" filter="blinds(vertical)">
                                      <p:cBhvr>
                                        <p:cTn id="13" dur="500"/>
                                        <p:tgtEl>
                                          <p:spTgt spid="144"/>
                                        </p:tgtEl>
                                      </p:cBhvr>
                                    </p:animEffect>
                                  </p:childTnLst>
                                </p:cTn>
                              </p:par>
                            </p:childTnLst>
                          </p:cTn>
                        </p:par>
                      </p:childTnLst>
                    </p:cTn>
                  </p:par>
                  <p:par>
                    <p:cTn id="14" fill="hold">
                      <p:stCondLst>
                        <p:cond delay="indefinite"/>
                      </p:stCondLst>
                      <p:childTnLst>
                        <p:par>
                          <p:cTn id="15" fill="hold">
                            <p:stCondLst>
                              <p:cond delay="0"/>
                            </p:stCondLst>
                            <p:childTnLst>
                              <p:par>
                                <p:cTn id="16" presetID="16" presetClass="entr" presetSubtype="37" fill="hold" nodeType="clickEffect">
                                  <p:stCondLst>
                                    <p:cond delay="0"/>
                                  </p:stCondLst>
                                  <p:childTnLst>
                                    <p:set>
                                      <p:cBhvr>
                                        <p:cTn id="17" dur="1" fill="hold">
                                          <p:stCondLst>
                                            <p:cond delay="0"/>
                                          </p:stCondLst>
                                        </p:cTn>
                                        <p:tgtEl>
                                          <p:spTgt spid="145"/>
                                        </p:tgtEl>
                                        <p:attrNameLst>
                                          <p:attrName>style.visibility</p:attrName>
                                        </p:attrNameLst>
                                      </p:cBhvr>
                                      <p:to>
                                        <p:strVal val="visible"/>
                                      </p:to>
                                    </p:set>
                                    <p:animEffect transition="in" filter="barn(outVertical)">
                                      <p:cBhvr>
                                        <p:cTn id="18" dur="500"/>
                                        <p:tgtEl>
                                          <p:spTgt spid="145"/>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272" fill="hold" nodeType="clickEffect">
                                  <p:stCondLst>
                                    <p:cond delay="0"/>
                                  </p:stCondLst>
                                  <p:childTnLst>
                                    <p:set>
                                      <p:cBhvr>
                                        <p:cTn id="22" dur="1" fill="hold">
                                          <p:stCondLst>
                                            <p:cond delay="0"/>
                                          </p:stCondLst>
                                        </p:cTn>
                                        <p:tgtEl>
                                          <p:spTgt spid="152"/>
                                        </p:tgtEl>
                                        <p:attrNameLst>
                                          <p:attrName>style.visibility</p:attrName>
                                        </p:attrNameLst>
                                      </p:cBhvr>
                                      <p:to>
                                        <p:strVal val="visible"/>
                                      </p:to>
                                    </p:set>
                                    <p:anim calcmode="lin" valueType="num">
                                      <p:cBhvr>
                                        <p:cTn id="23" dur="500" fill="hold"/>
                                        <p:tgtEl>
                                          <p:spTgt spid="152"/>
                                        </p:tgtEl>
                                        <p:attrNameLst>
                                          <p:attrName>ppt_w</p:attrName>
                                        </p:attrNameLst>
                                      </p:cBhvr>
                                      <p:tavLst>
                                        <p:tav tm="0">
                                          <p:val>
                                            <p:strVal val="2/3*#ppt_w"/>
                                          </p:val>
                                        </p:tav>
                                        <p:tav tm="100000">
                                          <p:val>
                                            <p:strVal val="#ppt_w"/>
                                          </p:val>
                                        </p:tav>
                                      </p:tavLst>
                                    </p:anim>
                                    <p:anim calcmode="lin" valueType="num">
                                      <p:cBhvr>
                                        <p:cTn id="24" dur="500" fill="hold"/>
                                        <p:tgtEl>
                                          <p:spTgt spid="152"/>
                                        </p:tgtEl>
                                        <p:attrNameLst>
                                          <p:attrName>ppt_h</p:attrName>
                                        </p:attrNameLst>
                                      </p:cBhvr>
                                      <p:tavLst>
                                        <p:tav tm="0">
                                          <p:val>
                                            <p:strVal val="2/3*#ppt_h"/>
                                          </p:val>
                                        </p:tav>
                                        <p:tav tm="100000">
                                          <p:val>
                                            <p:strVal val="#ppt_h"/>
                                          </p:val>
                                        </p:tav>
                                      </p:tavLst>
                                    </p:anim>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499"/>
                                          </p:stCondLst>
                                        </p:cTn>
                                        <p:tgtEl>
                                          <p:spTgt spid="4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7" presetClass="entr" presetSubtype="1" fill="hold" nodeType="clickEffect">
                                  <p:stCondLst>
                                    <p:cond delay="0"/>
                                  </p:stCondLst>
                                  <p:childTnLst>
                                    <p:set>
                                      <p:cBhvr>
                                        <p:cTn id="32" dur="1" fill="hold">
                                          <p:stCondLst>
                                            <p:cond delay="0"/>
                                          </p:stCondLst>
                                        </p:cTn>
                                        <p:tgtEl>
                                          <p:spTgt spid="136"/>
                                        </p:tgtEl>
                                        <p:attrNameLst>
                                          <p:attrName>style.visibility</p:attrName>
                                        </p:attrNameLst>
                                      </p:cBhvr>
                                      <p:to>
                                        <p:strVal val="visible"/>
                                      </p:to>
                                    </p:set>
                                    <p:anim calcmode="lin" valueType="num">
                                      <p:cBhvr>
                                        <p:cTn id="33" dur="500" fill="hold"/>
                                        <p:tgtEl>
                                          <p:spTgt spid="136"/>
                                        </p:tgtEl>
                                        <p:attrNameLst>
                                          <p:attrName>ppt_x</p:attrName>
                                        </p:attrNameLst>
                                      </p:cBhvr>
                                      <p:tavLst>
                                        <p:tav tm="0">
                                          <p:val>
                                            <p:strVal val="#ppt_x"/>
                                          </p:val>
                                        </p:tav>
                                        <p:tav tm="100000">
                                          <p:val>
                                            <p:strVal val="#ppt_x"/>
                                          </p:val>
                                        </p:tav>
                                      </p:tavLst>
                                    </p:anim>
                                    <p:anim calcmode="lin" valueType="num">
                                      <p:cBhvr>
                                        <p:cTn id="34" dur="500" fill="hold"/>
                                        <p:tgtEl>
                                          <p:spTgt spid="136"/>
                                        </p:tgtEl>
                                        <p:attrNameLst>
                                          <p:attrName>ppt_y</p:attrName>
                                        </p:attrNameLst>
                                      </p:cBhvr>
                                      <p:tavLst>
                                        <p:tav tm="0">
                                          <p:val>
                                            <p:strVal val="#ppt_y-#ppt_h/2"/>
                                          </p:val>
                                        </p:tav>
                                        <p:tav tm="100000">
                                          <p:val>
                                            <p:strVal val="#ppt_y"/>
                                          </p:val>
                                        </p:tav>
                                      </p:tavLst>
                                    </p:anim>
                                    <p:anim calcmode="lin" valueType="num">
                                      <p:cBhvr>
                                        <p:cTn id="35" dur="500" fill="hold"/>
                                        <p:tgtEl>
                                          <p:spTgt spid="136"/>
                                        </p:tgtEl>
                                        <p:attrNameLst>
                                          <p:attrName>ppt_w</p:attrName>
                                        </p:attrNameLst>
                                      </p:cBhvr>
                                      <p:tavLst>
                                        <p:tav tm="0">
                                          <p:val>
                                            <p:strVal val="#ppt_w"/>
                                          </p:val>
                                        </p:tav>
                                        <p:tav tm="100000">
                                          <p:val>
                                            <p:strVal val="#ppt_w"/>
                                          </p:val>
                                        </p:tav>
                                      </p:tavLst>
                                    </p:anim>
                                    <p:anim calcmode="lin" valueType="num">
                                      <p:cBhvr>
                                        <p:cTn id="36" dur="500" fill="hold"/>
                                        <p:tgtEl>
                                          <p:spTgt spid="136"/>
                                        </p:tgtEl>
                                        <p:attrNameLst>
                                          <p:attrName>ppt_h</p:attrName>
                                        </p:attrNameLst>
                                      </p:cBhvr>
                                      <p:tavLst>
                                        <p:tav tm="0">
                                          <p:val>
                                            <p:fltVal val="0"/>
                                          </p:val>
                                        </p:tav>
                                        <p:tav tm="100000">
                                          <p:val>
                                            <p:strVal val="#ppt_h"/>
                                          </p:val>
                                        </p:tav>
                                      </p:tavLst>
                                    </p:anim>
                                  </p:childTnLst>
                                </p:cTn>
                              </p:par>
                            </p:childTnLst>
                          </p:cTn>
                        </p:par>
                      </p:childTnLst>
                    </p:cTn>
                  </p:par>
                  <p:par>
                    <p:cTn id="37" fill="hold">
                      <p:stCondLst>
                        <p:cond delay="indefinite"/>
                      </p:stCondLst>
                      <p:childTnLst>
                        <p:par>
                          <p:cTn id="38" fill="hold">
                            <p:stCondLst>
                              <p:cond delay="0"/>
                            </p:stCondLst>
                            <p:childTnLst>
                              <p:par>
                                <p:cTn id="39" presetID="17" presetClass="entr" presetSubtype="8" fill="hold" nodeType="clickEffect">
                                  <p:stCondLst>
                                    <p:cond delay="0"/>
                                  </p:stCondLst>
                                  <p:childTnLst>
                                    <p:set>
                                      <p:cBhvr>
                                        <p:cTn id="40" dur="1" fill="hold">
                                          <p:stCondLst>
                                            <p:cond delay="0"/>
                                          </p:stCondLst>
                                        </p:cTn>
                                        <p:tgtEl>
                                          <p:spTgt spid="165"/>
                                        </p:tgtEl>
                                        <p:attrNameLst>
                                          <p:attrName>style.visibility</p:attrName>
                                        </p:attrNameLst>
                                      </p:cBhvr>
                                      <p:to>
                                        <p:strVal val="visible"/>
                                      </p:to>
                                    </p:set>
                                    <p:anim calcmode="lin" valueType="num">
                                      <p:cBhvr>
                                        <p:cTn id="41" dur="500" fill="hold"/>
                                        <p:tgtEl>
                                          <p:spTgt spid="165"/>
                                        </p:tgtEl>
                                        <p:attrNameLst>
                                          <p:attrName>ppt_x</p:attrName>
                                        </p:attrNameLst>
                                      </p:cBhvr>
                                      <p:tavLst>
                                        <p:tav tm="0">
                                          <p:val>
                                            <p:strVal val="#ppt_x-#ppt_w/2"/>
                                          </p:val>
                                        </p:tav>
                                        <p:tav tm="100000">
                                          <p:val>
                                            <p:strVal val="#ppt_x"/>
                                          </p:val>
                                        </p:tav>
                                      </p:tavLst>
                                    </p:anim>
                                    <p:anim calcmode="lin" valueType="num">
                                      <p:cBhvr>
                                        <p:cTn id="42" dur="500" fill="hold"/>
                                        <p:tgtEl>
                                          <p:spTgt spid="165"/>
                                        </p:tgtEl>
                                        <p:attrNameLst>
                                          <p:attrName>ppt_y</p:attrName>
                                        </p:attrNameLst>
                                      </p:cBhvr>
                                      <p:tavLst>
                                        <p:tav tm="0">
                                          <p:val>
                                            <p:strVal val="#ppt_y"/>
                                          </p:val>
                                        </p:tav>
                                        <p:tav tm="100000">
                                          <p:val>
                                            <p:strVal val="#ppt_y"/>
                                          </p:val>
                                        </p:tav>
                                      </p:tavLst>
                                    </p:anim>
                                    <p:anim calcmode="lin" valueType="num">
                                      <p:cBhvr>
                                        <p:cTn id="43" dur="500" fill="hold"/>
                                        <p:tgtEl>
                                          <p:spTgt spid="165"/>
                                        </p:tgtEl>
                                        <p:attrNameLst>
                                          <p:attrName>ppt_w</p:attrName>
                                        </p:attrNameLst>
                                      </p:cBhvr>
                                      <p:tavLst>
                                        <p:tav tm="0">
                                          <p:val>
                                            <p:fltVal val="0"/>
                                          </p:val>
                                        </p:tav>
                                        <p:tav tm="100000">
                                          <p:val>
                                            <p:strVal val="#ppt_w"/>
                                          </p:val>
                                        </p:tav>
                                      </p:tavLst>
                                    </p:anim>
                                    <p:anim calcmode="lin" valueType="num">
                                      <p:cBhvr>
                                        <p:cTn id="44" dur="500" fill="hold"/>
                                        <p:tgtEl>
                                          <p:spTgt spid="165"/>
                                        </p:tgtEl>
                                        <p:attrNameLst>
                                          <p:attrName>ppt_h</p:attrName>
                                        </p:attrNameLst>
                                      </p:cBhvr>
                                      <p:tavLst>
                                        <p:tav tm="0">
                                          <p:val>
                                            <p:strVal val="#ppt_h"/>
                                          </p:val>
                                        </p:tav>
                                        <p:tav tm="100000">
                                          <p:val>
                                            <p:strVal val="#ppt_h"/>
                                          </p:val>
                                        </p:tav>
                                      </p:tavLst>
                                    </p:anim>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nodeType="clickEffect">
                                  <p:stCondLst>
                                    <p:cond delay="0"/>
                                  </p:stCondLst>
                                  <p:childTnLst>
                                    <p:set>
                                      <p:cBhvr>
                                        <p:cTn id="48" dur="1" fill="hold">
                                          <p:stCondLst>
                                            <p:cond delay="0"/>
                                          </p:stCondLst>
                                        </p:cTn>
                                        <p:tgtEl>
                                          <p:spTgt spid="168"/>
                                        </p:tgtEl>
                                        <p:attrNameLst>
                                          <p:attrName>style.visibility</p:attrName>
                                        </p:attrNameLst>
                                      </p:cBhvr>
                                      <p:to>
                                        <p:strVal val="visible"/>
                                      </p:to>
                                    </p:set>
                                    <p:animEffect transition="in" filter="wipe(left)">
                                      <p:cBhvr>
                                        <p:cTn id="49" dur="500"/>
                                        <p:tgtEl>
                                          <p:spTgt spid="168"/>
                                        </p:tgtEl>
                                      </p:cBhvr>
                                    </p:animEffect>
                                  </p:childTnLst>
                                </p:cTn>
                              </p:par>
                            </p:childTnLst>
                          </p:cTn>
                        </p:par>
                      </p:childTnLst>
                    </p:cTn>
                  </p:par>
                  <p:par>
                    <p:cTn id="50" fill="hold">
                      <p:stCondLst>
                        <p:cond delay="indefinite"/>
                      </p:stCondLst>
                      <p:childTnLst>
                        <p:par>
                          <p:cTn id="51" fill="hold">
                            <p:stCondLst>
                              <p:cond delay="0"/>
                            </p:stCondLst>
                            <p:childTnLst>
                              <p:par>
                                <p:cTn id="52" presetID="17" presetClass="entr" presetSubtype="1" fill="hold" nodeType="clickEffect">
                                  <p:stCondLst>
                                    <p:cond delay="0"/>
                                  </p:stCondLst>
                                  <p:childTnLst>
                                    <p:set>
                                      <p:cBhvr>
                                        <p:cTn id="53" dur="1" fill="hold">
                                          <p:stCondLst>
                                            <p:cond delay="0"/>
                                          </p:stCondLst>
                                        </p:cTn>
                                        <p:tgtEl>
                                          <p:spTgt spid="156"/>
                                        </p:tgtEl>
                                        <p:attrNameLst>
                                          <p:attrName>style.visibility</p:attrName>
                                        </p:attrNameLst>
                                      </p:cBhvr>
                                      <p:to>
                                        <p:strVal val="visible"/>
                                      </p:to>
                                    </p:set>
                                    <p:anim calcmode="lin" valueType="num">
                                      <p:cBhvr>
                                        <p:cTn id="54" dur="500" fill="hold"/>
                                        <p:tgtEl>
                                          <p:spTgt spid="156"/>
                                        </p:tgtEl>
                                        <p:attrNameLst>
                                          <p:attrName>ppt_x</p:attrName>
                                        </p:attrNameLst>
                                      </p:cBhvr>
                                      <p:tavLst>
                                        <p:tav tm="0">
                                          <p:val>
                                            <p:strVal val="#ppt_x"/>
                                          </p:val>
                                        </p:tav>
                                        <p:tav tm="100000">
                                          <p:val>
                                            <p:strVal val="#ppt_x"/>
                                          </p:val>
                                        </p:tav>
                                      </p:tavLst>
                                    </p:anim>
                                    <p:anim calcmode="lin" valueType="num">
                                      <p:cBhvr>
                                        <p:cTn id="55" dur="500" fill="hold"/>
                                        <p:tgtEl>
                                          <p:spTgt spid="156"/>
                                        </p:tgtEl>
                                        <p:attrNameLst>
                                          <p:attrName>ppt_y</p:attrName>
                                        </p:attrNameLst>
                                      </p:cBhvr>
                                      <p:tavLst>
                                        <p:tav tm="0">
                                          <p:val>
                                            <p:strVal val="#ppt_y-#ppt_h/2"/>
                                          </p:val>
                                        </p:tav>
                                        <p:tav tm="100000">
                                          <p:val>
                                            <p:strVal val="#ppt_y"/>
                                          </p:val>
                                        </p:tav>
                                      </p:tavLst>
                                    </p:anim>
                                    <p:anim calcmode="lin" valueType="num">
                                      <p:cBhvr>
                                        <p:cTn id="56" dur="500" fill="hold"/>
                                        <p:tgtEl>
                                          <p:spTgt spid="156"/>
                                        </p:tgtEl>
                                        <p:attrNameLst>
                                          <p:attrName>ppt_w</p:attrName>
                                        </p:attrNameLst>
                                      </p:cBhvr>
                                      <p:tavLst>
                                        <p:tav tm="0">
                                          <p:val>
                                            <p:strVal val="#ppt_w"/>
                                          </p:val>
                                        </p:tav>
                                        <p:tav tm="100000">
                                          <p:val>
                                            <p:strVal val="#ppt_w"/>
                                          </p:val>
                                        </p:tav>
                                      </p:tavLst>
                                    </p:anim>
                                    <p:anim calcmode="lin" valueType="num">
                                      <p:cBhvr>
                                        <p:cTn id="57" dur="500" fill="hold"/>
                                        <p:tgtEl>
                                          <p:spTgt spid="156"/>
                                        </p:tgtEl>
                                        <p:attrNameLst>
                                          <p:attrName>ppt_h</p:attrName>
                                        </p:attrNameLst>
                                      </p:cBhvr>
                                      <p:tavLst>
                                        <p:tav tm="0">
                                          <p:val>
                                            <p:fltVal val="0"/>
                                          </p:val>
                                        </p:tav>
                                        <p:tav tm="100000">
                                          <p:val>
                                            <p:strVal val="#ppt_h"/>
                                          </p:val>
                                        </p:tav>
                                      </p:tavLst>
                                    </p:anim>
                                  </p:childTnLst>
                                </p:cTn>
                              </p:par>
                            </p:childTnLst>
                          </p:cTn>
                        </p:par>
                      </p:childTnLst>
                    </p:cTn>
                  </p:par>
                  <p:par>
                    <p:cTn id="58" fill="hold">
                      <p:stCondLst>
                        <p:cond delay="indefinite"/>
                      </p:stCondLst>
                      <p:childTnLst>
                        <p:par>
                          <p:cTn id="59" fill="hold">
                            <p:stCondLst>
                              <p:cond delay="0"/>
                            </p:stCondLst>
                            <p:childTnLst>
                              <p:par>
                                <p:cTn id="60" presetID="17" presetClass="entr" presetSubtype="2" fill="hold" nodeType="clickEffect">
                                  <p:stCondLst>
                                    <p:cond delay="0"/>
                                  </p:stCondLst>
                                  <p:childTnLst>
                                    <p:set>
                                      <p:cBhvr>
                                        <p:cTn id="61" dur="1" fill="hold">
                                          <p:stCondLst>
                                            <p:cond delay="0"/>
                                          </p:stCondLst>
                                        </p:cTn>
                                        <p:tgtEl>
                                          <p:spTgt spid="174"/>
                                        </p:tgtEl>
                                        <p:attrNameLst>
                                          <p:attrName>style.visibility</p:attrName>
                                        </p:attrNameLst>
                                      </p:cBhvr>
                                      <p:to>
                                        <p:strVal val="visible"/>
                                      </p:to>
                                    </p:set>
                                    <p:anim calcmode="lin" valueType="num">
                                      <p:cBhvr>
                                        <p:cTn id="62" dur="500" fill="hold"/>
                                        <p:tgtEl>
                                          <p:spTgt spid="174"/>
                                        </p:tgtEl>
                                        <p:attrNameLst>
                                          <p:attrName>ppt_x</p:attrName>
                                        </p:attrNameLst>
                                      </p:cBhvr>
                                      <p:tavLst>
                                        <p:tav tm="0">
                                          <p:val>
                                            <p:strVal val="#ppt_x+#ppt_w/2"/>
                                          </p:val>
                                        </p:tav>
                                        <p:tav tm="100000">
                                          <p:val>
                                            <p:strVal val="#ppt_x"/>
                                          </p:val>
                                        </p:tav>
                                      </p:tavLst>
                                    </p:anim>
                                    <p:anim calcmode="lin" valueType="num">
                                      <p:cBhvr>
                                        <p:cTn id="63" dur="500" fill="hold"/>
                                        <p:tgtEl>
                                          <p:spTgt spid="174"/>
                                        </p:tgtEl>
                                        <p:attrNameLst>
                                          <p:attrName>ppt_y</p:attrName>
                                        </p:attrNameLst>
                                      </p:cBhvr>
                                      <p:tavLst>
                                        <p:tav tm="0">
                                          <p:val>
                                            <p:strVal val="#ppt_y"/>
                                          </p:val>
                                        </p:tav>
                                        <p:tav tm="100000">
                                          <p:val>
                                            <p:strVal val="#ppt_y"/>
                                          </p:val>
                                        </p:tav>
                                      </p:tavLst>
                                    </p:anim>
                                    <p:anim calcmode="lin" valueType="num">
                                      <p:cBhvr>
                                        <p:cTn id="64" dur="500" fill="hold"/>
                                        <p:tgtEl>
                                          <p:spTgt spid="174"/>
                                        </p:tgtEl>
                                        <p:attrNameLst>
                                          <p:attrName>ppt_w</p:attrName>
                                        </p:attrNameLst>
                                      </p:cBhvr>
                                      <p:tavLst>
                                        <p:tav tm="0">
                                          <p:val>
                                            <p:fltVal val="0"/>
                                          </p:val>
                                        </p:tav>
                                        <p:tav tm="100000">
                                          <p:val>
                                            <p:strVal val="#ppt_w"/>
                                          </p:val>
                                        </p:tav>
                                      </p:tavLst>
                                    </p:anim>
                                    <p:anim calcmode="lin" valueType="num">
                                      <p:cBhvr>
                                        <p:cTn id="65" dur="500" fill="hold"/>
                                        <p:tgtEl>
                                          <p:spTgt spid="174"/>
                                        </p:tgtEl>
                                        <p:attrNameLst>
                                          <p:attrName>ppt_h</p:attrName>
                                        </p:attrNameLst>
                                      </p:cBhvr>
                                      <p:tavLst>
                                        <p:tav tm="0">
                                          <p:val>
                                            <p:strVal val="#ppt_h"/>
                                          </p:val>
                                        </p:tav>
                                        <p:tav tm="100000">
                                          <p:val>
                                            <p:strVal val="#ppt_h"/>
                                          </p:val>
                                        </p:tav>
                                      </p:tavLst>
                                    </p:anim>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nodeType="clickEffect">
                                  <p:stCondLst>
                                    <p:cond delay="0"/>
                                  </p:stCondLst>
                                  <p:childTnLst>
                                    <p:set>
                                      <p:cBhvr>
                                        <p:cTn id="69" dur="1" fill="hold">
                                          <p:stCondLst>
                                            <p:cond delay="0"/>
                                          </p:stCondLst>
                                        </p:cTn>
                                        <p:tgtEl>
                                          <p:spTgt spid="171"/>
                                        </p:tgtEl>
                                        <p:attrNameLst>
                                          <p:attrName>style.visibility</p:attrName>
                                        </p:attrNameLst>
                                      </p:cBhvr>
                                      <p:to>
                                        <p:strVal val="visible"/>
                                      </p:to>
                                    </p:set>
                                    <p:animEffect transition="in" filter="wipe(left)">
                                      <p:cBhvr>
                                        <p:cTn id="70" dur="500"/>
                                        <p:tgtEl>
                                          <p:spTgt spid="171"/>
                                        </p:tgtEl>
                                      </p:cBhvr>
                                    </p:animEffec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499"/>
                                          </p:stCondLst>
                                        </p:cTn>
                                        <p:tgtEl>
                                          <p:spTgt spid="50"/>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23" presetClass="entr" presetSubtype="288" fill="hold" grpId="0" nodeType="clickEffect">
                                  <p:stCondLst>
                                    <p:cond delay="0"/>
                                  </p:stCondLst>
                                  <p:childTnLst>
                                    <p:set>
                                      <p:cBhvr>
                                        <p:cTn id="78" dur="1" fill="hold">
                                          <p:stCondLst>
                                            <p:cond delay="0"/>
                                          </p:stCondLst>
                                        </p:cTn>
                                        <p:tgtEl>
                                          <p:spTgt spid="177"/>
                                        </p:tgtEl>
                                        <p:attrNameLst>
                                          <p:attrName>style.visibility</p:attrName>
                                        </p:attrNameLst>
                                      </p:cBhvr>
                                      <p:to>
                                        <p:strVal val="visible"/>
                                      </p:to>
                                    </p:set>
                                    <p:anim calcmode="lin" valueType="num">
                                      <p:cBhvr>
                                        <p:cTn id="79" dur="500" fill="hold"/>
                                        <p:tgtEl>
                                          <p:spTgt spid="177"/>
                                        </p:tgtEl>
                                        <p:attrNameLst>
                                          <p:attrName>ppt_w</p:attrName>
                                        </p:attrNameLst>
                                      </p:cBhvr>
                                      <p:tavLst>
                                        <p:tav tm="0">
                                          <p:val>
                                            <p:strVal val="4/3*#ppt_w"/>
                                          </p:val>
                                        </p:tav>
                                        <p:tav tm="100000">
                                          <p:val>
                                            <p:strVal val="#ppt_w"/>
                                          </p:val>
                                        </p:tav>
                                      </p:tavLst>
                                    </p:anim>
                                    <p:anim calcmode="lin" valueType="num">
                                      <p:cBhvr>
                                        <p:cTn id="80" dur="500" fill="hold"/>
                                        <p:tgtEl>
                                          <p:spTgt spid="177"/>
                                        </p:tgtEl>
                                        <p:attrNameLst>
                                          <p:attrName>ppt_h</p:attrName>
                                        </p:attrNameLst>
                                      </p:cBhvr>
                                      <p:tavLst>
                                        <p:tav tm="0">
                                          <p:val>
                                            <p:strVal val="4/3*#ppt_h"/>
                                          </p:val>
                                        </p:tav>
                                        <p:tav tm="100000">
                                          <p:val>
                                            <p:strVal val="#ppt_h"/>
                                          </p:val>
                                        </p:tav>
                                      </p:tavLst>
                                    </p:anim>
                                  </p:childTnLst>
                                </p:cTn>
                              </p:par>
                            </p:childTnLst>
                          </p:cTn>
                        </p:par>
                      </p:childTnLst>
                    </p:cTn>
                  </p:par>
                  <p:par>
                    <p:cTn id="81" fill="hold">
                      <p:stCondLst>
                        <p:cond delay="indefinite"/>
                      </p:stCondLst>
                      <p:childTnLst>
                        <p:par>
                          <p:cTn id="82" fill="hold">
                            <p:stCondLst>
                              <p:cond delay="0"/>
                            </p:stCondLst>
                            <p:childTnLst>
                              <p:par>
                                <p:cTn id="83" presetID="23" presetClass="entr" presetSubtype="288" fill="hold" grpId="0" nodeType="clickEffect">
                                  <p:stCondLst>
                                    <p:cond delay="0"/>
                                  </p:stCondLst>
                                  <p:childTnLst>
                                    <p:set>
                                      <p:cBhvr>
                                        <p:cTn id="84" dur="1" fill="hold">
                                          <p:stCondLst>
                                            <p:cond delay="0"/>
                                          </p:stCondLst>
                                        </p:cTn>
                                        <p:tgtEl>
                                          <p:spTgt spid="178"/>
                                        </p:tgtEl>
                                        <p:attrNameLst>
                                          <p:attrName>style.visibility</p:attrName>
                                        </p:attrNameLst>
                                      </p:cBhvr>
                                      <p:to>
                                        <p:strVal val="visible"/>
                                      </p:to>
                                    </p:set>
                                    <p:anim calcmode="lin" valueType="num">
                                      <p:cBhvr>
                                        <p:cTn id="85" dur="500" fill="hold"/>
                                        <p:tgtEl>
                                          <p:spTgt spid="178"/>
                                        </p:tgtEl>
                                        <p:attrNameLst>
                                          <p:attrName>ppt_w</p:attrName>
                                        </p:attrNameLst>
                                      </p:cBhvr>
                                      <p:tavLst>
                                        <p:tav tm="0">
                                          <p:val>
                                            <p:strVal val="4/3*#ppt_w"/>
                                          </p:val>
                                        </p:tav>
                                        <p:tav tm="100000">
                                          <p:val>
                                            <p:strVal val="#ppt_w"/>
                                          </p:val>
                                        </p:tav>
                                      </p:tavLst>
                                    </p:anim>
                                    <p:anim calcmode="lin" valueType="num">
                                      <p:cBhvr>
                                        <p:cTn id="86" dur="500" fill="hold"/>
                                        <p:tgtEl>
                                          <p:spTgt spid="178"/>
                                        </p:tgtEl>
                                        <p:attrNameLst>
                                          <p:attrName>ppt_h</p:attrName>
                                        </p:attrNameLst>
                                      </p:cBhvr>
                                      <p:tavLst>
                                        <p:tav tm="0">
                                          <p:val>
                                            <p:strVal val="4/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utoUpdateAnimBg="0"/>
      <p:bldP spid="135" grpId="0" animBg="1"/>
      <p:bldP spid="144" grpId="0" animBg="1"/>
      <p:bldP spid="177" grpId="0" animBg="1" autoUpdateAnimBg="0"/>
      <p:bldP spid="178" grpId="0" animBg="1" autoUpdateAnimBg="0"/>
      <p:bldP spid="49" grpId="0" autoUpdateAnimBg="0"/>
      <p:bldP spid="50"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61"/>
          <p:cNvSpPr>
            <a:spLocks noChangeArrowheads="1"/>
          </p:cNvSpPr>
          <p:nvPr/>
        </p:nvSpPr>
        <p:spPr bwMode="auto">
          <a:xfrm>
            <a:off x="1703512" y="4302081"/>
            <a:ext cx="8928992" cy="1943726"/>
          </a:xfrm>
          <a:prstGeom prst="rect">
            <a:avLst/>
          </a:prstGeom>
          <a:solidFill>
            <a:srgbClr val="B9CDE5"/>
          </a:solidFill>
          <a:ln>
            <a:noFill/>
          </a:ln>
          <a:effectLst/>
        </p:spPr>
        <p:txBody>
          <a:bodyPr wrap="none" anchor="ctr"/>
          <a:lstStyle/>
          <a:p>
            <a:endParaRPr lang="zh-CN" altLang="en-US" dirty="0"/>
          </a:p>
        </p:txBody>
      </p:sp>
      <p:sp>
        <p:nvSpPr>
          <p:cNvPr id="7" name="矩形 6"/>
          <p:cNvSpPr/>
          <p:nvPr/>
        </p:nvSpPr>
        <p:spPr>
          <a:xfrm>
            <a:off x="20960" y="91693"/>
            <a:ext cx="711605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第八章   拉压、剪切与挤压的强度计算</a:t>
            </a:r>
          </a:p>
        </p:txBody>
      </p:sp>
      <p:sp>
        <p:nvSpPr>
          <p:cNvPr id="14" name="Text Box 1032"/>
          <p:cNvSpPr txBox="1">
            <a:spLocks noChangeArrowheads="1"/>
          </p:cNvSpPr>
          <p:nvPr/>
        </p:nvSpPr>
        <p:spPr bwMode="auto">
          <a:xfrm>
            <a:off x="479376" y="891917"/>
            <a:ext cx="11233248" cy="341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10000"/>
              </a:lnSpc>
            </a:pPr>
            <a:r>
              <a:rPr lang="zh-CN" altLang="en-US" sz="2800" i="0" dirty="0">
                <a:latin typeface="+mj-lt"/>
                <a:ea typeface="微软雅黑" panose="020B0503020204020204" pitchFamily="34" charset="-122"/>
              </a:rPr>
              <a:t>轴力的正负由杆的变形确定。当轴力的方向与横截面的外法线方向一致时，杆件</a:t>
            </a:r>
            <a:r>
              <a:rPr lang="zh-CN" altLang="en-US" sz="2800" i="0" dirty="0">
                <a:solidFill>
                  <a:srgbClr val="FF0000"/>
                </a:solidFill>
                <a:latin typeface="+mj-lt"/>
                <a:ea typeface="微软雅黑" panose="020B0503020204020204" pitchFamily="34" charset="-122"/>
              </a:rPr>
              <a:t>受拉</a:t>
            </a:r>
            <a:r>
              <a:rPr lang="zh-CN" altLang="en-US" sz="2800" i="0" dirty="0">
                <a:latin typeface="+mj-lt"/>
                <a:ea typeface="微软雅黑" panose="020B0503020204020204" pitchFamily="34" charset="-122"/>
              </a:rPr>
              <a:t>伸长，其</a:t>
            </a:r>
            <a:r>
              <a:rPr lang="zh-CN" altLang="en-US" sz="2800" i="0" dirty="0">
                <a:solidFill>
                  <a:srgbClr val="FF0000"/>
                </a:solidFill>
                <a:latin typeface="+mj-lt"/>
                <a:ea typeface="微软雅黑" panose="020B0503020204020204" pitchFamily="34" charset="-122"/>
              </a:rPr>
              <a:t>轴力为正</a:t>
            </a:r>
            <a:r>
              <a:rPr lang="zh-CN" altLang="en-US" sz="2800" i="0" dirty="0">
                <a:latin typeface="+mj-lt"/>
                <a:ea typeface="微软雅黑" panose="020B0503020204020204" pitchFamily="34" charset="-122"/>
              </a:rPr>
              <a:t>；反之，杆件</a:t>
            </a:r>
            <a:r>
              <a:rPr lang="zh-CN" altLang="en-US" sz="2800" i="0" dirty="0">
                <a:solidFill>
                  <a:srgbClr val="FF0000"/>
                </a:solidFill>
                <a:latin typeface="+mj-lt"/>
                <a:ea typeface="微软雅黑" panose="020B0503020204020204" pitchFamily="34" charset="-122"/>
              </a:rPr>
              <a:t>受压</a:t>
            </a:r>
            <a:r>
              <a:rPr lang="zh-CN" altLang="en-US" sz="2800" i="0" dirty="0">
                <a:latin typeface="+mj-lt"/>
                <a:ea typeface="微软雅黑" panose="020B0503020204020204" pitchFamily="34" charset="-122"/>
              </a:rPr>
              <a:t>缩短，其</a:t>
            </a:r>
            <a:r>
              <a:rPr lang="zh-CN" altLang="en-US" sz="2800" i="0" dirty="0">
                <a:solidFill>
                  <a:srgbClr val="FF0000"/>
                </a:solidFill>
                <a:latin typeface="+mj-lt"/>
                <a:ea typeface="微软雅黑" panose="020B0503020204020204" pitchFamily="34" charset="-122"/>
              </a:rPr>
              <a:t>轴力为负</a:t>
            </a:r>
            <a:r>
              <a:rPr lang="zh-CN" altLang="en-US" sz="2800" i="0" dirty="0">
                <a:latin typeface="+mj-lt"/>
                <a:ea typeface="微软雅黑" panose="020B0503020204020204" pitchFamily="34" charset="-122"/>
              </a:rPr>
              <a:t>。通常未知轴力均按正向假设。</a:t>
            </a:r>
            <a:endParaRPr lang="en-US" altLang="zh-CN" sz="2800" i="0" dirty="0">
              <a:latin typeface="+mj-lt"/>
              <a:ea typeface="微软雅黑" panose="020B0503020204020204" pitchFamily="34" charset="-122"/>
            </a:endParaRPr>
          </a:p>
          <a:p>
            <a:pPr>
              <a:lnSpc>
                <a:spcPct val="110000"/>
              </a:lnSpc>
            </a:pPr>
            <a:r>
              <a:rPr lang="zh-CN" altLang="en-US" sz="2800" i="0" dirty="0">
                <a:latin typeface="+mj-lt"/>
                <a:ea typeface="微软雅黑" panose="020B0503020204020204" pitchFamily="34" charset="-122"/>
              </a:rPr>
              <a:t>实际问题中，杆件所受外力可能很复杂，这时直杆各段的内力将不相同。为了表示轴力随横截面位置的变化情况，用平行于杆件轴线的坐标表示各横截面的位置，以垂直于杆轴线的坐标表示的轴力的数值</a:t>
            </a:r>
            <a:r>
              <a:rPr kumimoji="1" lang="en-US" altLang="zh-CN" sz="2800" dirty="0"/>
              <a:t>F</a:t>
            </a:r>
            <a:r>
              <a:rPr kumimoji="1" lang="en-US" altLang="zh-CN" sz="2800" b="0" i="0" baseline="-25000" dirty="0"/>
              <a:t>N</a:t>
            </a:r>
            <a:r>
              <a:rPr kumimoji="1" lang="en-US" altLang="zh-CN" sz="2800" b="0" i="0" dirty="0"/>
              <a:t> (x) </a:t>
            </a:r>
            <a:r>
              <a:rPr lang="zh-CN" altLang="en-US" sz="2800" i="0" dirty="0">
                <a:latin typeface="+mj-lt"/>
                <a:ea typeface="微软雅黑" panose="020B0503020204020204" pitchFamily="34" charset="-122"/>
              </a:rPr>
              <a:t>，这样的图称为</a:t>
            </a:r>
            <a:r>
              <a:rPr lang="zh-CN" altLang="en-US" sz="2800" i="0" dirty="0">
                <a:solidFill>
                  <a:srgbClr val="FF0000"/>
                </a:solidFill>
                <a:latin typeface="+mj-lt"/>
                <a:ea typeface="微软雅黑" panose="020B0503020204020204" pitchFamily="34" charset="-122"/>
              </a:rPr>
              <a:t>轴力图</a:t>
            </a:r>
            <a:r>
              <a:rPr lang="zh-CN" altLang="en-US" sz="2800" i="0" dirty="0">
                <a:latin typeface="+mj-lt"/>
                <a:ea typeface="微软雅黑" panose="020B0503020204020204" pitchFamily="34" charset="-122"/>
              </a:rPr>
              <a:t>。  </a:t>
            </a:r>
          </a:p>
        </p:txBody>
      </p:sp>
      <p:grpSp>
        <p:nvGrpSpPr>
          <p:cNvPr id="48" name="Group 3"/>
          <p:cNvGrpSpPr>
            <a:grpSpLocks/>
          </p:cNvGrpSpPr>
          <p:nvPr/>
        </p:nvGrpSpPr>
        <p:grpSpPr bwMode="auto">
          <a:xfrm>
            <a:off x="2553846" y="4812414"/>
            <a:ext cx="3492500" cy="1171575"/>
            <a:chOff x="3633" y="816"/>
            <a:chExt cx="1871" cy="528"/>
          </a:xfrm>
        </p:grpSpPr>
        <p:sp>
          <p:nvSpPr>
            <p:cNvPr id="49" name="Text Box 4"/>
            <p:cNvSpPr txBox="1">
              <a:spLocks noChangeArrowheads="1"/>
            </p:cNvSpPr>
            <p:nvPr/>
          </p:nvSpPr>
          <p:spPr bwMode="auto">
            <a:xfrm>
              <a:off x="4944" y="960"/>
              <a:ext cx="560" cy="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lg"/>
                </a14:hiddenLine>
              </a:ext>
            </a:extLst>
          </p:spPr>
          <p:txBody>
            <a:bodyPr>
              <a:spAutoFit/>
            </a:bodyPr>
            <a:lstStyle>
              <a:lvl1pPr>
                <a:defRPr sz="2000">
                  <a:solidFill>
                    <a:schemeClr val="tx1"/>
                  </a:solidFill>
                  <a:latin typeface="Times New Roman" pitchFamily="18" charset="0"/>
                  <a:ea typeface="宋体" pitchFamily="2" charset="-122"/>
                </a:defRPr>
              </a:lvl1pPr>
              <a:lvl2pPr>
                <a:defRPr sz="2000">
                  <a:solidFill>
                    <a:schemeClr val="tx1"/>
                  </a:solidFill>
                  <a:latin typeface="Times New Roman" pitchFamily="18" charset="0"/>
                  <a:ea typeface="宋体" pitchFamily="2" charset="-122"/>
                </a:defRPr>
              </a:lvl2pPr>
              <a:lvl3pPr>
                <a:defRPr sz="2000">
                  <a:solidFill>
                    <a:schemeClr val="tx1"/>
                  </a:solidFill>
                  <a:latin typeface="Times New Roman" pitchFamily="18" charset="0"/>
                  <a:ea typeface="宋体" pitchFamily="2" charset="-122"/>
                </a:defRPr>
              </a:lvl3pPr>
              <a:lvl4pPr>
                <a:defRPr sz="2000">
                  <a:solidFill>
                    <a:schemeClr val="tx1"/>
                  </a:solidFill>
                  <a:latin typeface="Times New Roman" pitchFamily="18" charset="0"/>
                  <a:ea typeface="宋体" pitchFamily="2" charset="-122"/>
                </a:defRPr>
              </a:lvl4pPr>
              <a:lvl5pPr>
                <a:defRPr sz="2000">
                  <a:solidFill>
                    <a:schemeClr val="tx1"/>
                  </a:solidFill>
                  <a:latin typeface="Times New Roman" pitchFamily="18" charset="0"/>
                  <a:ea typeface="宋体" pitchFamily="2" charset="-122"/>
                </a:defRPr>
              </a:lvl5pPr>
              <a:lvl6pPr eaLnBrk="0" hangingPunct="0">
                <a:defRPr sz="2000">
                  <a:solidFill>
                    <a:schemeClr val="tx1"/>
                  </a:solidFill>
                  <a:latin typeface="Times New Roman" pitchFamily="18" charset="0"/>
                  <a:ea typeface="宋体" pitchFamily="2" charset="-122"/>
                </a:defRPr>
              </a:lvl6pPr>
              <a:lvl7pPr eaLnBrk="0" hangingPunct="0">
                <a:defRPr sz="2000">
                  <a:solidFill>
                    <a:schemeClr val="tx1"/>
                  </a:solidFill>
                  <a:latin typeface="Times New Roman" pitchFamily="18" charset="0"/>
                  <a:ea typeface="宋体" pitchFamily="2" charset="-122"/>
                </a:defRPr>
              </a:lvl7pPr>
              <a:lvl8pPr eaLnBrk="0" hangingPunct="0">
                <a:defRPr sz="2000">
                  <a:solidFill>
                    <a:schemeClr val="tx1"/>
                  </a:solidFill>
                  <a:latin typeface="Times New Roman" pitchFamily="18" charset="0"/>
                  <a:ea typeface="宋体" pitchFamily="2" charset="-122"/>
                </a:defRPr>
              </a:lvl8pPr>
              <a:lvl9pPr eaLnBrk="0" hangingPunct="0">
                <a:defRPr sz="2000">
                  <a:solidFill>
                    <a:schemeClr val="tx1"/>
                  </a:solidFill>
                  <a:latin typeface="Times New Roman" pitchFamily="18" charset="0"/>
                  <a:ea typeface="宋体" pitchFamily="2" charset="-122"/>
                </a:defRPr>
              </a:lvl9pPr>
            </a:lstStyle>
            <a:p>
              <a:pPr algn="dist">
                <a:spcBef>
                  <a:spcPct val="50000"/>
                </a:spcBef>
              </a:pPr>
              <a:r>
                <a:rPr kumimoji="1" lang="en-US" altLang="zh-CN" sz="2400" i="1" dirty="0">
                  <a:solidFill>
                    <a:schemeClr val="accent2"/>
                  </a:solidFill>
                </a:rPr>
                <a:t>F</a:t>
              </a:r>
              <a:r>
                <a:rPr kumimoji="1" lang="en-US" altLang="zh-CN" sz="2400" b="0" i="0" baseline="-25000" dirty="0">
                  <a:solidFill>
                    <a:schemeClr val="accent2"/>
                  </a:solidFill>
                </a:rPr>
                <a:t>N</a:t>
              </a:r>
              <a:r>
                <a:rPr kumimoji="1" lang="en-US" altLang="zh-CN" sz="2400" dirty="0">
                  <a:solidFill>
                    <a:schemeClr val="accent2"/>
                  </a:solidFill>
                </a:rPr>
                <a:t>&gt;</a:t>
              </a:r>
              <a:r>
                <a:rPr kumimoji="1" lang="en-US" altLang="zh-CN" sz="2400" i="0" dirty="0">
                  <a:solidFill>
                    <a:schemeClr val="accent2"/>
                  </a:solidFill>
                </a:rPr>
                <a:t>0</a:t>
              </a:r>
            </a:p>
          </p:txBody>
        </p:sp>
        <p:sp>
          <p:nvSpPr>
            <p:cNvPr id="50" name="Rectangle 5" descr="浅色上对角线"/>
            <p:cNvSpPr>
              <a:spLocks noChangeArrowheads="1"/>
            </p:cNvSpPr>
            <p:nvPr/>
          </p:nvSpPr>
          <p:spPr bwMode="auto">
            <a:xfrm>
              <a:off x="4080" y="816"/>
              <a:ext cx="192" cy="528"/>
            </a:xfrm>
            <a:prstGeom prst="rect">
              <a:avLst/>
            </a:prstGeom>
            <a:pattFill prst="ltUpDiag">
              <a:fgClr>
                <a:schemeClr val="tx1"/>
              </a:fgClr>
              <a:bgClr>
                <a:srgbClr val="FFFFFF"/>
              </a:bgClr>
            </a:pattFill>
            <a:ln w="9525">
              <a:solidFill>
                <a:schemeClr val="tx1"/>
              </a:solidFill>
              <a:miter lim="800000"/>
              <a:headEnd/>
              <a:tailEnd/>
            </a:ln>
          </p:spPr>
          <p:txBody>
            <a:bodyPr wrap="none" anchor="ctr"/>
            <a:lstStyle/>
            <a:p>
              <a:pPr eaLnBrk="1" hangingPunct="1">
                <a:buFontTx/>
                <a:buChar char="•"/>
              </a:pPr>
              <a:endParaRPr lang="zh-CN" altLang="en-US"/>
            </a:p>
          </p:txBody>
        </p:sp>
        <p:sp>
          <p:nvSpPr>
            <p:cNvPr id="51" name="Line 6"/>
            <p:cNvSpPr>
              <a:spLocks noChangeShapeType="1"/>
            </p:cNvSpPr>
            <p:nvPr/>
          </p:nvSpPr>
          <p:spPr bwMode="auto">
            <a:xfrm>
              <a:off x="4272" y="1104"/>
              <a:ext cx="384" cy="0"/>
            </a:xfrm>
            <a:prstGeom prst="line">
              <a:avLst/>
            </a:prstGeom>
            <a:noFill/>
            <a:ln w="38100">
              <a:solidFill>
                <a:schemeClr val="accent2"/>
              </a:solidFill>
              <a:round/>
              <a:headEnd/>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 name="Rectangle 7"/>
            <p:cNvSpPr>
              <a:spLocks noChangeArrowheads="1"/>
            </p:cNvSpPr>
            <p:nvPr/>
          </p:nvSpPr>
          <p:spPr bwMode="auto">
            <a:xfrm>
              <a:off x="4416" y="816"/>
              <a:ext cx="288" cy="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kumimoji="1" lang="en-US" altLang="zh-CN" sz="2400" i="1" dirty="0">
                  <a:solidFill>
                    <a:schemeClr val="accent2"/>
                  </a:solidFill>
                </a:rPr>
                <a:t>F</a:t>
              </a:r>
              <a:r>
                <a:rPr kumimoji="1" lang="en-US" altLang="zh-CN" sz="2400" b="0" i="0" baseline="-25000" dirty="0">
                  <a:solidFill>
                    <a:schemeClr val="accent2"/>
                  </a:solidFill>
                </a:rPr>
                <a:t>N</a:t>
              </a:r>
            </a:p>
          </p:txBody>
        </p:sp>
        <p:sp>
          <p:nvSpPr>
            <p:cNvPr id="53" name="Line 8"/>
            <p:cNvSpPr>
              <a:spLocks noChangeShapeType="1"/>
            </p:cNvSpPr>
            <p:nvPr/>
          </p:nvSpPr>
          <p:spPr bwMode="auto">
            <a:xfrm flipH="1">
              <a:off x="3696" y="1104"/>
              <a:ext cx="384" cy="0"/>
            </a:xfrm>
            <a:prstGeom prst="line">
              <a:avLst/>
            </a:prstGeom>
            <a:noFill/>
            <a:ln w="38100">
              <a:solidFill>
                <a:schemeClr val="accent2"/>
              </a:solidFill>
              <a:round/>
              <a:headEnd/>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 name="Rectangle 9"/>
            <p:cNvSpPr>
              <a:spLocks noChangeArrowheads="1"/>
            </p:cNvSpPr>
            <p:nvPr/>
          </p:nvSpPr>
          <p:spPr bwMode="auto">
            <a:xfrm>
              <a:off x="3633" y="816"/>
              <a:ext cx="288" cy="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kumimoji="1" lang="en-US" altLang="zh-CN" sz="2400" i="1" dirty="0">
                  <a:solidFill>
                    <a:schemeClr val="accent2"/>
                  </a:solidFill>
                </a:rPr>
                <a:t>F</a:t>
              </a:r>
              <a:r>
                <a:rPr kumimoji="1" lang="en-US" altLang="zh-CN" sz="2400" b="0" i="0" baseline="-25000" dirty="0">
                  <a:solidFill>
                    <a:schemeClr val="accent2"/>
                  </a:solidFill>
                </a:rPr>
                <a:t>N</a:t>
              </a:r>
            </a:p>
          </p:txBody>
        </p:sp>
      </p:grpSp>
      <p:grpSp>
        <p:nvGrpSpPr>
          <p:cNvPr id="55" name="Group 10"/>
          <p:cNvGrpSpPr>
            <a:grpSpLocks/>
          </p:cNvGrpSpPr>
          <p:nvPr/>
        </p:nvGrpSpPr>
        <p:grpSpPr bwMode="auto">
          <a:xfrm>
            <a:off x="6384032" y="4709226"/>
            <a:ext cx="3513137" cy="1377950"/>
            <a:chOff x="3648" y="1584"/>
            <a:chExt cx="1856" cy="576"/>
          </a:xfrm>
        </p:grpSpPr>
        <p:sp>
          <p:nvSpPr>
            <p:cNvPr id="56" name="Text Box 11"/>
            <p:cNvSpPr txBox="1">
              <a:spLocks noChangeArrowheads="1"/>
            </p:cNvSpPr>
            <p:nvPr/>
          </p:nvSpPr>
          <p:spPr bwMode="auto">
            <a:xfrm>
              <a:off x="4944" y="1728"/>
              <a:ext cx="560" cy="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lg"/>
                </a14:hiddenLine>
              </a:ext>
            </a:extLst>
          </p:spPr>
          <p:txBody>
            <a:bodyPr>
              <a:spAutoFit/>
            </a:bodyPr>
            <a:lstStyle>
              <a:lvl1pPr>
                <a:defRPr sz="2000">
                  <a:solidFill>
                    <a:schemeClr val="tx1"/>
                  </a:solidFill>
                  <a:latin typeface="Times New Roman" pitchFamily="18" charset="0"/>
                  <a:ea typeface="宋体" pitchFamily="2" charset="-122"/>
                </a:defRPr>
              </a:lvl1pPr>
              <a:lvl2pPr>
                <a:defRPr sz="2000">
                  <a:solidFill>
                    <a:schemeClr val="tx1"/>
                  </a:solidFill>
                  <a:latin typeface="Times New Roman" pitchFamily="18" charset="0"/>
                  <a:ea typeface="宋体" pitchFamily="2" charset="-122"/>
                </a:defRPr>
              </a:lvl2pPr>
              <a:lvl3pPr>
                <a:defRPr sz="2000">
                  <a:solidFill>
                    <a:schemeClr val="tx1"/>
                  </a:solidFill>
                  <a:latin typeface="Times New Roman" pitchFamily="18" charset="0"/>
                  <a:ea typeface="宋体" pitchFamily="2" charset="-122"/>
                </a:defRPr>
              </a:lvl3pPr>
              <a:lvl4pPr>
                <a:defRPr sz="2000">
                  <a:solidFill>
                    <a:schemeClr val="tx1"/>
                  </a:solidFill>
                  <a:latin typeface="Times New Roman" pitchFamily="18" charset="0"/>
                  <a:ea typeface="宋体" pitchFamily="2" charset="-122"/>
                </a:defRPr>
              </a:lvl4pPr>
              <a:lvl5pPr>
                <a:defRPr sz="2000">
                  <a:solidFill>
                    <a:schemeClr val="tx1"/>
                  </a:solidFill>
                  <a:latin typeface="Times New Roman" pitchFamily="18" charset="0"/>
                  <a:ea typeface="宋体" pitchFamily="2" charset="-122"/>
                </a:defRPr>
              </a:lvl5pPr>
              <a:lvl6pPr eaLnBrk="0" hangingPunct="0">
                <a:defRPr sz="2000">
                  <a:solidFill>
                    <a:schemeClr val="tx1"/>
                  </a:solidFill>
                  <a:latin typeface="Times New Roman" pitchFamily="18" charset="0"/>
                  <a:ea typeface="宋体" pitchFamily="2" charset="-122"/>
                </a:defRPr>
              </a:lvl6pPr>
              <a:lvl7pPr eaLnBrk="0" hangingPunct="0">
                <a:defRPr sz="2000">
                  <a:solidFill>
                    <a:schemeClr val="tx1"/>
                  </a:solidFill>
                  <a:latin typeface="Times New Roman" pitchFamily="18" charset="0"/>
                  <a:ea typeface="宋体" pitchFamily="2" charset="-122"/>
                </a:defRPr>
              </a:lvl7pPr>
              <a:lvl8pPr eaLnBrk="0" hangingPunct="0">
                <a:defRPr sz="2000">
                  <a:solidFill>
                    <a:schemeClr val="tx1"/>
                  </a:solidFill>
                  <a:latin typeface="Times New Roman" pitchFamily="18" charset="0"/>
                  <a:ea typeface="宋体" pitchFamily="2" charset="-122"/>
                </a:defRPr>
              </a:lvl8pPr>
              <a:lvl9pPr eaLnBrk="0" hangingPunct="0">
                <a:defRPr sz="2000">
                  <a:solidFill>
                    <a:schemeClr val="tx1"/>
                  </a:solidFill>
                  <a:latin typeface="Times New Roman" pitchFamily="18" charset="0"/>
                  <a:ea typeface="宋体" pitchFamily="2" charset="-122"/>
                </a:defRPr>
              </a:lvl9pPr>
            </a:lstStyle>
            <a:p>
              <a:pPr algn="dist">
                <a:spcBef>
                  <a:spcPct val="50000"/>
                </a:spcBef>
              </a:pPr>
              <a:r>
                <a:rPr kumimoji="1" lang="en-US" altLang="zh-CN" sz="2400" i="1" dirty="0">
                  <a:solidFill>
                    <a:schemeClr val="accent2"/>
                  </a:solidFill>
                </a:rPr>
                <a:t>F</a:t>
              </a:r>
              <a:r>
                <a:rPr kumimoji="1" lang="en-US" altLang="zh-CN" sz="2400" b="0" i="0" baseline="-25000" dirty="0">
                  <a:solidFill>
                    <a:schemeClr val="accent2"/>
                  </a:solidFill>
                </a:rPr>
                <a:t>N</a:t>
              </a:r>
              <a:r>
                <a:rPr kumimoji="1" lang="en-US" altLang="zh-CN" sz="2400" i="1" dirty="0">
                  <a:solidFill>
                    <a:schemeClr val="accent2"/>
                  </a:solidFill>
                </a:rPr>
                <a:t>&lt;</a:t>
              </a:r>
              <a:r>
                <a:rPr kumimoji="1" lang="en-US" altLang="zh-CN" sz="2400" i="0" dirty="0">
                  <a:solidFill>
                    <a:schemeClr val="accent2"/>
                  </a:solidFill>
                </a:rPr>
                <a:t>0</a:t>
              </a:r>
            </a:p>
          </p:txBody>
        </p:sp>
        <p:sp>
          <p:nvSpPr>
            <p:cNvPr id="57" name="Rectangle 12" descr="浅色上对角线"/>
            <p:cNvSpPr>
              <a:spLocks noChangeArrowheads="1"/>
            </p:cNvSpPr>
            <p:nvPr/>
          </p:nvSpPr>
          <p:spPr bwMode="auto">
            <a:xfrm>
              <a:off x="4080" y="1632"/>
              <a:ext cx="192" cy="528"/>
            </a:xfrm>
            <a:prstGeom prst="rect">
              <a:avLst/>
            </a:prstGeom>
            <a:pattFill prst="ltUpDiag">
              <a:fgClr>
                <a:schemeClr val="tx1"/>
              </a:fgClr>
              <a:bgClr>
                <a:srgbClr val="FFFFFF"/>
              </a:bgClr>
            </a:pattFill>
            <a:ln w="9525">
              <a:solidFill>
                <a:schemeClr val="tx1"/>
              </a:solidFill>
              <a:miter lim="800000"/>
              <a:headEnd/>
              <a:tailEnd/>
            </a:ln>
          </p:spPr>
          <p:txBody>
            <a:bodyPr wrap="none" anchor="ctr"/>
            <a:lstStyle/>
            <a:p>
              <a:pPr eaLnBrk="1" hangingPunct="1">
                <a:buFontTx/>
                <a:buChar char="•"/>
              </a:pPr>
              <a:endParaRPr lang="zh-CN" altLang="en-US"/>
            </a:p>
          </p:txBody>
        </p:sp>
        <p:sp>
          <p:nvSpPr>
            <p:cNvPr id="58" name="Line 13"/>
            <p:cNvSpPr>
              <a:spLocks noChangeShapeType="1"/>
            </p:cNvSpPr>
            <p:nvPr/>
          </p:nvSpPr>
          <p:spPr bwMode="auto">
            <a:xfrm flipH="1">
              <a:off x="4287" y="1872"/>
              <a:ext cx="384" cy="0"/>
            </a:xfrm>
            <a:prstGeom prst="line">
              <a:avLst/>
            </a:prstGeom>
            <a:noFill/>
            <a:ln w="38100">
              <a:solidFill>
                <a:schemeClr val="accent2"/>
              </a:solidFill>
              <a:round/>
              <a:headEnd/>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 name="Rectangle 14"/>
            <p:cNvSpPr>
              <a:spLocks noChangeArrowheads="1"/>
            </p:cNvSpPr>
            <p:nvPr/>
          </p:nvSpPr>
          <p:spPr bwMode="auto">
            <a:xfrm>
              <a:off x="4431" y="1584"/>
              <a:ext cx="284" cy="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kumimoji="1" lang="en-US" altLang="zh-CN" sz="2400" i="1" dirty="0">
                  <a:solidFill>
                    <a:schemeClr val="accent2"/>
                  </a:solidFill>
                </a:rPr>
                <a:t>F</a:t>
              </a:r>
              <a:r>
                <a:rPr kumimoji="1" lang="en-US" altLang="zh-CN" sz="2400" b="0" i="0" baseline="-25000" dirty="0">
                  <a:solidFill>
                    <a:schemeClr val="accent2"/>
                  </a:solidFill>
                </a:rPr>
                <a:t>N</a:t>
              </a:r>
            </a:p>
          </p:txBody>
        </p:sp>
        <p:sp>
          <p:nvSpPr>
            <p:cNvPr id="60" name="Line 15"/>
            <p:cNvSpPr>
              <a:spLocks noChangeShapeType="1"/>
            </p:cNvSpPr>
            <p:nvPr/>
          </p:nvSpPr>
          <p:spPr bwMode="auto">
            <a:xfrm>
              <a:off x="3711" y="1872"/>
              <a:ext cx="384" cy="0"/>
            </a:xfrm>
            <a:prstGeom prst="line">
              <a:avLst/>
            </a:prstGeom>
            <a:noFill/>
            <a:ln w="38100">
              <a:solidFill>
                <a:schemeClr val="accent2"/>
              </a:solidFill>
              <a:round/>
              <a:headEnd/>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 name="Rectangle 16"/>
            <p:cNvSpPr>
              <a:spLocks noChangeArrowheads="1"/>
            </p:cNvSpPr>
            <p:nvPr/>
          </p:nvSpPr>
          <p:spPr bwMode="auto">
            <a:xfrm>
              <a:off x="3648" y="1584"/>
              <a:ext cx="284" cy="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kumimoji="1" lang="en-US" altLang="zh-CN" sz="2400" i="1" dirty="0">
                  <a:solidFill>
                    <a:schemeClr val="accent2"/>
                  </a:solidFill>
                </a:rPr>
                <a:t>F</a:t>
              </a:r>
              <a:r>
                <a:rPr kumimoji="1" lang="en-US" altLang="zh-CN" sz="2400" b="0" i="0" baseline="-25000" dirty="0">
                  <a:solidFill>
                    <a:schemeClr val="accent2"/>
                  </a:solidFill>
                </a:rPr>
                <a:t>N</a:t>
              </a:r>
            </a:p>
          </p:txBody>
        </p:sp>
      </p:grpSp>
    </p:spTree>
    <p:extLst>
      <p:ext uri="{BB962C8B-B14F-4D97-AF65-F5344CB8AC3E}">
        <p14:creationId xmlns:p14="http://schemas.microsoft.com/office/powerpoint/2010/main" val="2079796979"/>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par>
                          <p:cTn id="9" fill="hold">
                            <p:stCondLst>
                              <p:cond delay="500"/>
                            </p:stCondLst>
                            <p:childTnLst>
                              <p:par>
                                <p:cTn id="10" presetID="22" presetClass="entr" presetSubtype="8" fill="hold" nodeType="afterEffect">
                                  <p:stCondLst>
                                    <p:cond delay="0"/>
                                  </p:stCondLst>
                                  <p:childTnLst>
                                    <p:set>
                                      <p:cBhvr>
                                        <p:cTn id="11" dur="1" fill="hold">
                                          <p:stCondLst>
                                            <p:cond delay="0"/>
                                          </p:stCondLst>
                                        </p:cTn>
                                        <p:tgtEl>
                                          <p:spTgt spid="48"/>
                                        </p:tgtEl>
                                        <p:attrNameLst>
                                          <p:attrName>style.visibility</p:attrName>
                                        </p:attrNameLst>
                                      </p:cBhvr>
                                      <p:to>
                                        <p:strVal val="visible"/>
                                      </p:to>
                                    </p:set>
                                    <p:animEffect transition="in" filter="wipe(left)">
                                      <p:cBhvr>
                                        <p:cTn id="12" dur="500"/>
                                        <p:tgtEl>
                                          <p:spTgt spid="48"/>
                                        </p:tgtEl>
                                      </p:cBhvr>
                                    </p:animEffect>
                                  </p:childTnLst>
                                </p:cTn>
                              </p:par>
                            </p:childTnLst>
                          </p:cTn>
                        </p:par>
                        <p:par>
                          <p:cTn id="13" fill="hold">
                            <p:stCondLst>
                              <p:cond delay="1000"/>
                            </p:stCondLst>
                            <p:childTnLst>
                              <p:par>
                                <p:cTn id="14" presetID="22" presetClass="entr" presetSubtype="8" fill="hold" nodeType="afterEffect">
                                  <p:stCondLst>
                                    <p:cond delay="0"/>
                                  </p:stCondLst>
                                  <p:childTnLst>
                                    <p:set>
                                      <p:cBhvr>
                                        <p:cTn id="15" dur="1" fill="hold">
                                          <p:stCondLst>
                                            <p:cond delay="0"/>
                                          </p:stCondLst>
                                        </p:cTn>
                                        <p:tgtEl>
                                          <p:spTgt spid="55"/>
                                        </p:tgtEl>
                                        <p:attrNameLst>
                                          <p:attrName>style.visibility</p:attrName>
                                        </p:attrNameLst>
                                      </p:cBhvr>
                                      <p:to>
                                        <p:strVal val="visible"/>
                                      </p:to>
                                    </p:set>
                                    <p:animEffect transition="in" filter="wipe(left)">
                                      <p:cBhvr>
                                        <p:cTn id="16"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4"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61"/>
          <p:cNvSpPr>
            <a:spLocks noChangeArrowheads="1"/>
          </p:cNvSpPr>
          <p:nvPr/>
        </p:nvSpPr>
        <p:spPr bwMode="auto">
          <a:xfrm>
            <a:off x="5735960" y="1340768"/>
            <a:ext cx="6264696" cy="4959328"/>
          </a:xfrm>
          <a:prstGeom prst="rect">
            <a:avLst/>
          </a:prstGeom>
          <a:solidFill>
            <a:srgbClr val="B9CDE5"/>
          </a:solidFill>
          <a:ln>
            <a:noFill/>
          </a:ln>
          <a:effectLst/>
        </p:spPr>
        <p:txBody>
          <a:bodyPr wrap="none" anchor="ctr"/>
          <a:lstStyle/>
          <a:p>
            <a:endParaRPr lang="zh-CN" altLang="en-US" dirty="0"/>
          </a:p>
        </p:txBody>
      </p:sp>
      <p:sp>
        <p:nvSpPr>
          <p:cNvPr id="7" name="矩形 6"/>
          <p:cNvSpPr/>
          <p:nvPr/>
        </p:nvSpPr>
        <p:spPr>
          <a:xfrm>
            <a:off x="20960" y="91693"/>
            <a:ext cx="711605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第八章   拉压、剪切与挤压的强度计算</a:t>
            </a:r>
          </a:p>
        </p:txBody>
      </p:sp>
      <p:sp>
        <p:nvSpPr>
          <p:cNvPr id="19" name="矩形 18">
            <a:extLst>
              <a:ext uri="{FF2B5EF4-FFF2-40B4-BE49-F238E27FC236}">
                <a16:creationId xmlns:a16="http://schemas.microsoft.com/office/drawing/2014/main" id="{396E3A4E-3DCE-51D1-DE56-78AC0CFE008B}"/>
              </a:ext>
            </a:extLst>
          </p:cNvPr>
          <p:cNvSpPr/>
          <p:nvPr/>
        </p:nvSpPr>
        <p:spPr>
          <a:xfrm>
            <a:off x="551384" y="820392"/>
            <a:ext cx="10873208" cy="465448"/>
          </a:xfrm>
          <a:prstGeom prst="rect">
            <a:avLst/>
          </a:prstGeom>
        </p:spPr>
        <p:txBody>
          <a:bodyPr wrap="square">
            <a:spAutoFit/>
          </a:bodyPr>
          <a:lstStyle/>
          <a:p>
            <a:pPr>
              <a:lnSpc>
                <a:spcPct val="110000"/>
              </a:lnSpc>
            </a:pPr>
            <a:r>
              <a:rPr lang="zh-CN" altLang="en-US" i="0" dirty="0">
                <a:solidFill>
                  <a:srgbClr val="0033CC"/>
                </a:solidFill>
                <a:ea typeface="黑体" panose="02010609060101010101" pitchFamily="49" charset="-122"/>
              </a:rPr>
              <a:t>例  </a:t>
            </a:r>
            <a:r>
              <a:rPr lang="zh-CN" altLang="en-US" i="0" dirty="0">
                <a:solidFill>
                  <a:schemeClr val="tx1"/>
                </a:solidFill>
                <a:latin typeface="+mn-lt"/>
                <a:ea typeface="黑体" panose="02010609060101010101" pitchFamily="49" charset="-122"/>
              </a:rPr>
              <a:t>试画出图示直杆的轴力图。已知</a:t>
            </a:r>
            <a:r>
              <a:rPr lang="en-US" altLang="zh-CN" dirty="0">
                <a:solidFill>
                  <a:schemeClr val="tx1"/>
                </a:solidFill>
                <a:latin typeface="+mn-lt"/>
                <a:ea typeface="黑体" panose="02010609060101010101" pitchFamily="49" charset="-122"/>
              </a:rPr>
              <a:t>F</a:t>
            </a:r>
            <a:r>
              <a:rPr lang="en-US" altLang="zh-CN" b="0" i="0" baseline="-25000" dirty="0">
                <a:solidFill>
                  <a:schemeClr val="tx1"/>
                </a:solidFill>
                <a:latin typeface="+mn-lt"/>
                <a:ea typeface="黑体" panose="02010609060101010101" pitchFamily="49" charset="-122"/>
              </a:rPr>
              <a:t>1</a:t>
            </a:r>
            <a:r>
              <a:rPr lang="en-US" altLang="zh-CN" b="0" i="0" dirty="0">
                <a:solidFill>
                  <a:schemeClr val="tx1"/>
                </a:solidFill>
                <a:latin typeface="+mn-lt"/>
                <a:ea typeface="黑体" panose="02010609060101010101" pitchFamily="49" charset="-122"/>
              </a:rPr>
              <a:t>=16kN</a:t>
            </a:r>
            <a:r>
              <a:rPr lang="zh-CN" altLang="en-US" b="0" i="0" dirty="0">
                <a:solidFill>
                  <a:schemeClr val="tx1"/>
                </a:solidFill>
                <a:latin typeface="+mn-lt"/>
                <a:ea typeface="黑体" panose="02010609060101010101" pitchFamily="49" charset="-122"/>
              </a:rPr>
              <a:t>，</a:t>
            </a:r>
            <a:r>
              <a:rPr lang="en-US" altLang="zh-CN" dirty="0">
                <a:solidFill>
                  <a:schemeClr val="tx1"/>
                </a:solidFill>
                <a:latin typeface="+mn-lt"/>
                <a:ea typeface="黑体" panose="02010609060101010101" pitchFamily="49" charset="-122"/>
              </a:rPr>
              <a:t>F</a:t>
            </a:r>
            <a:r>
              <a:rPr lang="en-US" altLang="zh-CN" b="0" i="0" baseline="-25000" dirty="0">
                <a:solidFill>
                  <a:schemeClr val="tx1"/>
                </a:solidFill>
                <a:latin typeface="+mn-lt"/>
                <a:ea typeface="黑体" panose="02010609060101010101" pitchFamily="49" charset="-122"/>
              </a:rPr>
              <a:t>2</a:t>
            </a:r>
            <a:r>
              <a:rPr lang="en-US" altLang="zh-CN" b="0" i="0" dirty="0">
                <a:solidFill>
                  <a:schemeClr val="tx1"/>
                </a:solidFill>
                <a:latin typeface="+mn-lt"/>
                <a:ea typeface="黑体" panose="02010609060101010101" pitchFamily="49" charset="-122"/>
              </a:rPr>
              <a:t>=10kN</a:t>
            </a:r>
            <a:r>
              <a:rPr lang="zh-CN" altLang="en-US" b="0" i="0" dirty="0">
                <a:solidFill>
                  <a:schemeClr val="tx1"/>
                </a:solidFill>
                <a:latin typeface="+mn-lt"/>
                <a:ea typeface="黑体" panose="02010609060101010101" pitchFamily="49" charset="-122"/>
              </a:rPr>
              <a:t>，</a:t>
            </a:r>
            <a:r>
              <a:rPr lang="en-US" altLang="zh-CN" dirty="0">
                <a:solidFill>
                  <a:schemeClr val="tx1"/>
                </a:solidFill>
                <a:latin typeface="+mn-lt"/>
                <a:ea typeface="黑体" panose="02010609060101010101" pitchFamily="49" charset="-122"/>
              </a:rPr>
              <a:t>F</a:t>
            </a:r>
            <a:r>
              <a:rPr lang="en-US" altLang="zh-CN" b="0" i="0" baseline="-25000" dirty="0">
                <a:solidFill>
                  <a:schemeClr val="tx1"/>
                </a:solidFill>
                <a:latin typeface="+mn-lt"/>
                <a:ea typeface="黑体" panose="02010609060101010101" pitchFamily="49" charset="-122"/>
              </a:rPr>
              <a:t>3</a:t>
            </a:r>
            <a:r>
              <a:rPr lang="en-US" altLang="zh-CN" b="0" i="0" dirty="0">
                <a:solidFill>
                  <a:schemeClr val="tx1"/>
                </a:solidFill>
                <a:latin typeface="+mn-lt"/>
                <a:ea typeface="黑体" panose="02010609060101010101" pitchFamily="49" charset="-122"/>
              </a:rPr>
              <a:t>=20kN</a:t>
            </a:r>
            <a:r>
              <a:rPr lang="zh-CN" altLang="en-US" i="0" dirty="0">
                <a:solidFill>
                  <a:schemeClr val="tx1"/>
                </a:solidFill>
                <a:latin typeface="+mn-lt"/>
                <a:ea typeface="黑体" panose="02010609060101010101" pitchFamily="49" charset="-122"/>
              </a:rPr>
              <a:t>。</a:t>
            </a:r>
          </a:p>
        </p:txBody>
      </p:sp>
      <p:grpSp>
        <p:nvGrpSpPr>
          <p:cNvPr id="75" name="Group 76"/>
          <p:cNvGrpSpPr>
            <a:grpSpLocks/>
          </p:cNvGrpSpPr>
          <p:nvPr/>
        </p:nvGrpSpPr>
        <p:grpSpPr bwMode="auto">
          <a:xfrm>
            <a:off x="7905488" y="3001562"/>
            <a:ext cx="2981325" cy="714375"/>
            <a:chOff x="3990" y="1224"/>
            <a:chExt cx="1878" cy="450"/>
          </a:xfrm>
        </p:grpSpPr>
        <p:sp>
          <p:nvSpPr>
            <p:cNvPr id="76" name="Rectangle 77"/>
            <p:cNvSpPr>
              <a:spLocks noChangeAspect="1" noChangeArrowheads="1"/>
            </p:cNvSpPr>
            <p:nvPr/>
          </p:nvSpPr>
          <p:spPr bwMode="auto">
            <a:xfrm flipV="1">
              <a:off x="4149" y="1498"/>
              <a:ext cx="1318" cy="173"/>
            </a:xfrm>
            <a:prstGeom prst="rect">
              <a:avLst/>
            </a:prstGeom>
            <a:gradFill rotWithShape="1">
              <a:gsLst>
                <a:gs pos="0">
                  <a:srgbClr val="767676"/>
                </a:gs>
                <a:gs pos="50000">
                  <a:srgbClr val="FFFFFF"/>
                </a:gs>
                <a:gs pos="100000">
                  <a:srgbClr val="767676"/>
                </a:gs>
              </a:gsLst>
              <a:lin ang="5400000" scaled="1"/>
            </a:gradFill>
            <a:ln w="28575">
              <a:solidFill>
                <a:srgbClr val="000000"/>
              </a:solidFill>
              <a:miter lim="800000"/>
              <a:headEnd/>
              <a:tailEnd type="none" w="sm" len="sm"/>
            </a:ln>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77" name="Text Box 78"/>
            <p:cNvSpPr txBox="1">
              <a:spLocks noChangeAspect="1" noChangeArrowheads="1"/>
            </p:cNvSpPr>
            <p:nvPr/>
          </p:nvSpPr>
          <p:spPr bwMode="auto">
            <a:xfrm>
              <a:off x="5531" y="1300"/>
              <a:ext cx="337"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F</a:t>
              </a:r>
              <a:r>
                <a:rPr kumimoji="1" lang="en-US" altLang="zh-CN" sz="2400" b="0" i="0" u="none" strike="noStrike" kern="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rPr>
                <a:t>1</a:t>
              </a:r>
            </a:p>
          </p:txBody>
        </p:sp>
        <p:sp>
          <p:nvSpPr>
            <p:cNvPr id="78" name="Text Box 79"/>
            <p:cNvSpPr txBox="1">
              <a:spLocks noChangeAspect="1" noChangeArrowheads="1"/>
            </p:cNvSpPr>
            <p:nvPr/>
          </p:nvSpPr>
          <p:spPr bwMode="auto">
            <a:xfrm>
              <a:off x="4614" y="1224"/>
              <a:ext cx="333" cy="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9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F</a:t>
              </a:r>
              <a:r>
                <a:rPr kumimoji="1" lang="en-US" altLang="zh-CN" sz="2400" b="0" i="0" u="none" strike="noStrike" kern="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rPr>
                <a:t>2</a:t>
              </a:r>
            </a:p>
          </p:txBody>
        </p:sp>
        <p:sp>
          <p:nvSpPr>
            <p:cNvPr id="79" name="Text Box 80"/>
            <p:cNvSpPr txBox="1">
              <a:spLocks noChangeAspect="1" noChangeArrowheads="1"/>
            </p:cNvSpPr>
            <p:nvPr/>
          </p:nvSpPr>
          <p:spPr bwMode="auto">
            <a:xfrm>
              <a:off x="5358" y="1229"/>
              <a:ext cx="300"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a:t>
              </a:r>
            </a:p>
          </p:txBody>
        </p:sp>
        <p:sp>
          <p:nvSpPr>
            <p:cNvPr id="80" name="Text Box 81"/>
            <p:cNvSpPr txBox="1">
              <a:spLocks noChangeAspect="1" noChangeArrowheads="1"/>
            </p:cNvSpPr>
            <p:nvPr/>
          </p:nvSpPr>
          <p:spPr bwMode="auto">
            <a:xfrm>
              <a:off x="4378" y="1248"/>
              <a:ext cx="253"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B</a:t>
              </a:r>
            </a:p>
          </p:txBody>
        </p:sp>
        <p:sp>
          <p:nvSpPr>
            <p:cNvPr id="81" name="Line 82"/>
            <p:cNvSpPr>
              <a:spLocks noChangeShapeType="1"/>
            </p:cNvSpPr>
            <p:nvPr/>
          </p:nvSpPr>
          <p:spPr bwMode="auto">
            <a:xfrm>
              <a:off x="3990" y="1587"/>
              <a:ext cx="1782" cy="0"/>
            </a:xfrm>
            <a:prstGeom prst="line">
              <a:avLst/>
            </a:prstGeom>
            <a:noFill/>
            <a:ln w="9525">
              <a:solidFill>
                <a:srgbClr val="000000"/>
              </a:solidFill>
              <a:prstDash val="lgDashDot"/>
              <a:round/>
              <a:headEnd/>
              <a:tailE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82" name="Line 83"/>
            <p:cNvSpPr>
              <a:spLocks noChangeAspect="1" noChangeShapeType="1"/>
            </p:cNvSpPr>
            <p:nvPr/>
          </p:nvSpPr>
          <p:spPr bwMode="auto">
            <a:xfrm>
              <a:off x="4502" y="1492"/>
              <a:ext cx="0" cy="182"/>
            </a:xfrm>
            <a:prstGeom prst="line">
              <a:avLst/>
            </a:prstGeom>
            <a:noFill/>
            <a:ln w="19050">
              <a:solidFill>
                <a:srgbClr val="000000"/>
              </a:solidFill>
              <a:round/>
              <a:headEnd/>
              <a:tailEnd type="none" w="sm" len="sm"/>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83" name="Line 84"/>
            <p:cNvSpPr>
              <a:spLocks noChangeAspect="1" noChangeShapeType="1"/>
            </p:cNvSpPr>
            <p:nvPr/>
          </p:nvSpPr>
          <p:spPr bwMode="auto">
            <a:xfrm flipH="1">
              <a:off x="4490" y="1583"/>
              <a:ext cx="434" cy="0"/>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84" name="Line 85"/>
            <p:cNvSpPr>
              <a:spLocks noChangeAspect="1" noChangeShapeType="1"/>
            </p:cNvSpPr>
            <p:nvPr/>
          </p:nvSpPr>
          <p:spPr bwMode="auto">
            <a:xfrm>
              <a:off x="5469" y="1583"/>
              <a:ext cx="319" cy="1"/>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85" name="Text Box 86"/>
          <p:cNvSpPr txBox="1">
            <a:spLocks noChangeAspect="1" noChangeArrowheads="1"/>
          </p:cNvSpPr>
          <p:nvPr/>
        </p:nvSpPr>
        <p:spPr bwMode="auto">
          <a:xfrm>
            <a:off x="7360976" y="3077762"/>
            <a:ext cx="623887" cy="547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hangingPunct="1">
              <a:lnSpc>
                <a:spcPct val="90000"/>
              </a:lnSpc>
            </a:pPr>
            <a:r>
              <a:rPr lang="en-US" altLang="zh-CN" b="0">
                <a:solidFill>
                  <a:srgbClr val="FF0000"/>
                </a:solidFill>
                <a:ea typeface="宋体" panose="02010600030101010101" pitchFamily="2" charset="-122"/>
              </a:rPr>
              <a:t>F</a:t>
            </a:r>
            <a:r>
              <a:rPr lang="en-US" altLang="zh-CN" b="0" i="0" baseline="-25000">
                <a:solidFill>
                  <a:srgbClr val="FF0000"/>
                </a:solidFill>
                <a:ea typeface="宋体" panose="02010600030101010101" pitchFamily="2" charset="-122"/>
              </a:rPr>
              <a:t>N2</a:t>
            </a:r>
          </a:p>
        </p:txBody>
      </p:sp>
      <p:sp>
        <p:nvSpPr>
          <p:cNvPr id="86" name="Line 87"/>
          <p:cNvSpPr>
            <a:spLocks noChangeAspect="1" noChangeShapeType="1"/>
          </p:cNvSpPr>
          <p:nvPr/>
        </p:nvSpPr>
        <p:spPr bwMode="auto">
          <a:xfrm flipH="1">
            <a:off x="7468926" y="3571475"/>
            <a:ext cx="688975" cy="0"/>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algn="ctr"/>
            <a:endParaRPr kumimoji="1" lang="zh-CN" altLang="en-US" b="0" i="0">
              <a:solidFill>
                <a:srgbClr val="FFFFFF"/>
              </a:solidFill>
              <a:ea typeface="黑体" panose="02010609060101010101" pitchFamily="49" charset="-122"/>
            </a:endParaRPr>
          </a:p>
        </p:txBody>
      </p:sp>
      <p:grpSp>
        <p:nvGrpSpPr>
          <p:cNvPr id="87" name="Group 88"/>
          <p:cNvGrpSpPr>
            <a:grpSpLocks/>
          </p:cNvGrpSpPr>
          <p:nvPr/>
        </p:nvGrpSpPr>
        <p:grpSpPr bwMode="auto">
          <a:xfrm>
            <a:off x="5990997" y="3699941"/>
            <a:ext cx="1398588" cy="665163"/>
            <a:chOff x="4473" y="1900"/>
            <a:chExt cx="881" cy="419"/>
          </a:xfrm>
        </p:grpSpPr>
        <p:sp>
          <p:nvSpPr>
            <p:cNvPr id="88" name="Text Box 89"/>
            <p:cNvSpPr txBox="1">
              <a:spLocks noChangeAspect="1" noChangeArrowheads="1"/>
            </p:cNvSpPr>
            <p:nvPr/>
          </p:nvSpPr>
          <p:spPr bwMode="auto">
            <a:xfrm>
              <a:off x="4836" y="1900"/>
              <a:ext cx="258"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D</a:t>
              </a:r>
            </a:p>
          </p:txBody>
        </p:sp>
        <p:sp>
          <p:nvSpPr>
            <p:cNvPr id="89" name="Rectangle 90"/>
            <p:cNvSpPr>
              <a:spLocks noChangeAspect="1" noChangeArrowheads="1"/>
            </p:cNvSpPr>
            <p:nvPr/>
          </p:nvSpPr>
          <p:spPr bwMode="auto">
            <a:xfrm flipV="1">
              <a:off x="4895" y="2146"/>
              <a:ext cx="459" cy="173"/>
            </a:xfrm>
            <a:prstGeom prst="rect">
              <a:avLst/>
            </a:prstGeom>
            <a:gradFill rotWithShape="1">
              <a:gsLst>
                <a:gs pos="0">
                  <a:srgbClr val="767676"/>
                </a:gs>
                <a:gs pos="50000">
                  <a:srgbClr val="FFFFFF"/>
                </a:gs>
                <a:gs pos="100000">
                  <a:srgbClr val="767676"/>
                </a:gs>
              </a:gsLst>
              <a:lin ang="5400000" scaled="1"/>
            </a:gradFill>
            <a:ln w="28575">
              <a:solidFill>
                <a:srgbClr val="000000"/>
              </a:solidFill>
              <a:miter lim="800000"/>
              <a:headEnd/>
              <a:tailEnd type="none" w="sm" len="sm"/>
            </a:ln>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90" name="Text Box 91"/>
            <p:cNvSpPr txBox="1">
              <a:spLocks noChangeAspect="1" noChangeArrowheads="1"/>
            </p:cNvSpPr>
            <p:nvPr/>
          </p:nvSpPr>
          <p:spPr bwMode="auto">
            <a:xfrm>
              <a:off x="4473" y="1905"/>
              <a:ext cx="326"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F</a:t>
              </a:r>
              <a:r>
                <a:rPr kumimoji="1" lang="en-US" altLang="zh-CN" sz="2400" b="0" u="none" strike="noStrike" kern="0" cap="none" spc="0" normalizeH="0" baseline="-25000" noProof="0" dirty="0">
                  <a:ln>
                    <a:noFill/>
                  </a:ln>
                  <a:solidFill>
                    <a:srgbClr val="FF0000"/>
                  </a:solidFill>
                  <a:effectLst/>
                  <a:uLnTx/>
                  <a:uFillTx/>
                  <a:latin typeface="Times New Roman" panose="02020603050405020304" pitchFamily="18" charset="0"/>
                  <a:ea typeface="宋体" panose="02010600030101010101" pitchFamily="2" charset="-122"/>
                </a:rPr>
                <a:t>D</a:t>
              </a:r>
            </a:p>
          </p:txBody>
        </p:sp>
        <p:sp>
          <p:nvSpPr>
            <p:cNvPr id="91" name="Line 92"/>
            <p:cNvSpPr>
              <a:spLocks noChangeAspect="1" noChangeShapeType="1"/>
            </p:cNvSpPr>
            <p:nvPr/>
          </p:nvSpPr>
          <p:spPr bwMode="auto">
            <a:xfrm>
              <a:off x="4578" y="2229"/>
              <a:ext cx="319" cy="1"/>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92" name="Line 93"/>
          <p:cNvSpPr>
            <a:spLocks noChangeShapeType="1"/>
          </p:cNvSpPr>
          <p:nvPr/>
        </p:nvSpPr>
        <p:spPr bwMode="auto">
          <a:xfrm>
            <a:off x="6654572" y="4225404"/>
            <a:ext cx="914400" cy="0"/>
          </a:xfrm>
          <a:prstGeom prst="line">
            <a:avLst/>
          </a:prstGeom>
          <a:noFill/>
          <a:ln w="9525">
            <a:solidFill>
              <a:srgbClr val="000000"/>
            </a:solidFill>
            <a:prstDash val="lgDashDotDot"/>
            <a:round/>
            <a:headEnd/>
            <a:tailE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93" name="Text Box 94"/>
          <p:cNvSpPr txBox="1">
            <a:spLocks noChangeAspect="1" noChangeArrowheads="1"/>
          </p:cNvSpPr>
          <p:nvPr/>
        </p:nvSpPr>
        <p:spPr bwMode="auto">
          <a:xfrm>
            <a:off x="7654697" y="3706291"/>
            <a:ext cx="623888" cy="547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hangingPunct="1">
              <a:lnSpc>
                <a:spcPct val="90000"/>
              </a:lnSpc>
            </a:pPr>
            <a:r>
              <a:rPr lang="en-US" altLang="zh-CN" b="0">
                <a:solidFill>
                  <a:srgbClr val="FF0000"/>
                </a:solidFill>
                <a:ea typeface="宋体" panose="02010600030101010101" pitchFamily="2" charset="-122"/>
              </a:rPr>
              <a:t>F</a:t>
            </a:r>
            <a:r>
              <a:rPr lang="en-US" altLang="zh-CN" b="0" i="0" baseline="-25000">
                <a:solidFill>
                  <a:srgbClr val="FF0000"/>
                </a:solidFill>
                <a:ea typeface="宋体" panose="02010600030101010101" pitchFamily="2" charset="-122"/>
              </a:rPr>
              <a:t>N3</a:t>
            </a:r>
          </a:p>
        </p:txBody>
      </p:sp>
      <p:sp>
        <p:nvSpPr>
          <p:cNvPr id="94" name="Line 95"/>
          <p:cNvSpPr>
            <a:spLocks noChangeAspect="1" noChangeShapeType="1"/>
          </p:cNvSpPr>
          <p:nvPr/>
        </p:nvSpPr>
        <p:spPr bwMode="auto">
          <a:xfrm>
            <a:off x="7399110" y="4228579"/>
            <a:ext cx="688975" cy="0"/>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algn="ctr"/>
            <a:endParaRPr kumimoji="1" lang="zh-CN" altLang="en-US" b="0" i="0">
              <a:solidFill>
                <a:srgbClr val="FFFFFF"/>
              </a:solidFill>
              <a:ea typeface="黑体" panose="02010609060101010101" pitchFamily="49" charset="-122"/>
            </a:endParaRPr>
          </a:p>
        </p:txBody>
      </p:sp>
      <p:grpSp>
        <p:nvGrpSpPr>
          <p:cNvPr id="96" name="Group 34"/>
          <p:cNvGrpSpPr>
            <a:grpSpLocks/>
          </p:cNvGrpSpPr>
          <p:nvPr/>
        </p:nvGrpSpPr>
        <p:grpSpPr bwMode="auto">
          <a:xfrm>
            <a:off x="6673849" y="1340974"/>
            <a:ext cx="4960937" cy="749300"/>
            <a:chOff x="2475" y="601"/>
            <a:chExt cx="3125" cy="472"/>
          </a:xfrm>
        </p:grpSpPr>
        <p:sp>
          <p:nvSpPr>
            <p:cNvPr id="97" name="Rectangle 35"/>
            <p:cNvSpPr>
              <a:spLocks noChangeAspect="1" noChangeArrowheads="1"/>
            </p:cNvSpPr>
            <p:nvPr/>
          </p:nvSpPr>
          <p:spPr bwMode="auto">
            <a:xfrm flipV="1">
              <a:off x="2505" y="892"/>
              <a:ext cx="2694" cy="173"/>
            </a:xfrm>
            <a:prstGeom prst="rect">
              <a:avLst/>
            </a:prstGeom>
            <a:gradFill rotWithShape="1">
              <a:gsLst>
                <a:gs pos="0">
                  <a:srgbClr val="767676"/>
                </a:gs>
                <a:gs pos="50000">
                  <a:srgbClr val="FFFFFF"/>
                </a:gs>
                <a:gs pos="100000">
                  <a:srgbClr val="767676"/>
                </a:gs>
              </a:gsLst>
              <a:lin ang="5400000" scaled="1"/>
            </a:gradFill>
            <a:ln w="28575">
              <a:solidFill>
                <a:srgbClr val="000000"/>
              </a:solidFill>
              <a:miter lim="800000"/>
              <a:headEnd/>
              <a:tailEnd type="none" w="sm" len="sm"/>
            </a:ln>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98" name="Text Box 36"/>
            <p:cNvSpPr txBox="1">
              <a:spLocks noChangeAspect="1" noChangeArrowheads="1"/>
            </p:cNvSpPr>
            <p:nvPr/>
          </p:nvSpPr>
          <p:spPr bwMode="auto">
            <a:xfrm>
              <a:off x="5263" y="694"/>
              <a:ext cx="337"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F</a:t>
              </a:r>
              <a:r>
                <a:rPr kumimoji="1" lang="en-US" altLang="zh-CN" sz="2400" b="0" i="0" u="none" strike="noStrike" kern="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rPr>
                <a:t>1</a:t>
              </a:r>
            </a:p>
          </p:txBody>
        </p:sp>
        <p:sp>
          <p:nvSpPr>
            <p:cNvPr id="99" name="Text Box 37"/>
            <p:cNvSpPr txBox="1">
              <a:spLocks noChangeAspect="1" noChangeArrowheads="1"/>
            </p:cNvSpPr>
            <p:nvPr/>
          </p:nvSpPr>
          <p:spPr bwMode="auto">
            <a:xfrm>
              <a:off x="4346" y="618"/>
              <a:ext cx="333" cy="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9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F</a:t>
              </a:r>
              <a:r>
                <a:rPr kumimoji="1" lang="en-US" altLang="zh-CN" sz="2400" b="0" i="0" u="none" strike="noStrike" kern="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rPr>
                <a:t>2</a:t>
              </a:r>
            </a:p>
          </p:txBody>
        </p:sp>
        <p:sp>
          <p:nvSpPr>
            <p:cNvPr id="100" name="Text Box 38"/>
            <p:cNvSpPr txBox="1">
              <a:spLocks noChangeAspect="1" noChangeArrowheads="1"/>
            </p:cNvSpPr>
            <p:nvPr/>
          </p:nvSpPr>
          <p:spPr bwMode="auto">
            <a:xfrm>
              <a:off x="5090" y="623"/>
              <a:ext cx="300"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a:t>
              </a:r>
            </a:p>
          </p:txBody>
        </p:sp>
        <p:sp>
          <p:nvSpPr>
            <p:cNvPr id="101" name="Text Box 39"/>
            <p:cNvSpPr txBox="1">
              <a:spLocks noChangeAspect="1" noChangeArrowheads="1"/>
            </p:cNvSpPr>
            <p:nvPr/>
          </p:nvSpPr>
          <p:spPr bwMode="auto">
            <a:xfrm>
              <a:off x="4110" y="642"/>
              <a:ext cx="253"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B</a:t>
              </a:r>
            </a:p>
          </p:txBody>
        </p:sp>
        <p:sp>
          <p:nvSpPr>
            <p:cNvPr id="102" name="Line 40"/>
            <p:cNvSpPr>
              <a:spLocks noChangeShapeType="1"/>
            </p:cNvSpPr>
            <p:nvPr/>
          </p:nvSpPr>
          <p:spPr bwMode="auto">
            <a:xfrm>
              <a:off x="2514" y="981"/>
              <a:ext cx="2990" cy="0"/>
            </a:xfrm>
            <a:prstGeom prst="line">
              <a:avLst/>
            </a:prstGeom>
            <a:noFill/>
            <a:ln w="9525">
              <a:solidFill>
                <a:srgbClr val="000000"/>
              </a:solidFill>
              <a:prstDash val="lgDashDot"/>
              <a:round/>
              <a:headEnd/>
              <a:tailE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03" name="Line 41"/>
            <p:cNvSpPr>
              <a:spLocks noChangeAspect="1" noChangeShapeType="1"/>
            </p:cNvSpPr>
            <p:nvPr/>
          </p:nvSpPr>
          <p:spPr bwMode="auto">
            <a:xfrm>
              <a:off x="4234" y="886"/>
              <a:ext cx="0" cy="182"/>
            </a:xfrm>
            <a:prstGeom prst="line">
              <a:avLst/>
            </a:prstGeom>
            <a:noFill/>
            <a:ln w="19050">
              <a:solidFill>
                <a:srgbClr val="000000"/>
              </a:solidFill>
              <a:round/>
              <a:headEnd/>
              <a:tailEnd type="none" w="sm" len="sm"/>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04" name="Text Box 42"/>
            <p:cNvSpPr txBox="1">
              <a:spLocks noChangeAspect="1" noChangeArrowheads="1"/>
            </p:cNvSpPr>
            <p:nvPr/>
          </p:nvSpPr>
          <p:spPr bwMode="auto">
            <a:xfrm>
              <a:off x="2475" y="654"/>
              <a:ext cx="258"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D</a:t>
              </a:r>
            </a:p>
          </p:txBody>
        </p:sp>
        <p:sp>
          <p:nvSpPr>
            <p:cNvPr id="105" name="Text Box 43"/>
            <p:cNvSpPr txBox="1">
              <a:spLocks noChangeAspect="1" noChangeArrowheads="1"/>
            </p:cNvSpPr>
            <p:nvPr/>
          </p:nvSpPr>
          <p:spPr bwMode="auto">
            <a:xfrm>
              <a:off x="3460" y="601"/>
              <a:ext cx="351"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F</a:t>
              </a:r>
              <a:r>
                <a:rPr kumimoji="1" lang="en-US" altLang="zh-CN" sz="2400" b="0" i="0" u="none" strike="noStrike" kern="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rPr>
                <a:t>3</a:t>
              </a:r>
            </a:p>
          </p:txBody>
        </p:sp>
        <p:sp>
          <p:nvSpPr>
            <p:cNvPr id="106" name="Line 44"/>
            <p:cNvSpPr>
              <a:spLocks noChangeAspect="1" noChangeShapeType="1"/>
            </p:cNvSpPr>
            <p:nvPr/>
          </p:nvSpPr>
          <p:spPr bwMode="auto">
            <a:xfrm flipH="1">
              <a:off x="4222" y="977"/>
              <a:ext cx="434" cy="0"/>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07" name="Line 45"/>
            <p:cNvSpPr>
              <a:spLocks noChangeAspect="1" noChangeShapeType="1"/>
            </p:cNvSpPr>
            <p:nvPr/>
          </p:nvSpPr>
          <p:spPr bwMode="auto">
            <a:xfrm>
              <a:off x="3321" y="891"/>
              <a:ext cx="0" cy="182"/>
            </a:xfrm>
            <a:prstGeom prst="line">
              <a:avLst/>
            </a:prstGeom>
            <a:noFill/>
            <a:ln w="19050">
              <a:solidFill>
                <a:srgbClr val="000000"/>
              </a:solidFill>
              <a:round/>
              <a:headEnd/>
              <a:tailEnd type="none" w="sm" len="sm"/>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08" name="Line 46"/>
            <p:cNvSpPr>
              <a:spLocks noChangeAspect="1" noChangeShapeType="1"/>
            </p:cNvSpPr>
            <p:nvPr/>
          </p:nvSpPr>
          <p:spPr bwMode="auto">
            <a:xfrm flipH="1">
              <a:off x="3318" y="978"/>
              <a:ext cx="434" cy="0"/>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09" name="Text Box 47"/>
            <p:cNvSpPr txBox="1">
              <a:spLocks noChangeAspect="1" noChangeArrowheads="1"/>
            </p:cNvSpPr>
            <p:nvPr/>
          </p:nvSpPr>
          <p:spPr bwMode="auto">
            <a:xfrm>
              <a:off x="3227" y="655"/>
              <a:ext cx="258"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C</a:t>
              </a:r>
            </a:p>
          </p:txBody>
        </p:sp>
        <p:sp>
          <p:nvSpPr>
            <p:cNvPr id="110" name="Line 48"/>
            <p:cNvSpPr>
              <a:spLocks noChangeAspect="1" noChangeShapeType="1"/>
            </p:cNvSpPr>
            <p:nvPr/>
          </p:nvSpPr>
          <p:spPr bwMode="auto">
            <a:xfrm>
              <a:off x="5201" y="977"/>
              <a:ext cx="319" cy="1"/>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111" name="Text Box 50"/>
          <p:cNvSpPr txBox="1">
            <a:spLocks noChangeAspect="1" noChangeArrowheads="1"/>
          </p:cNvSpPr>
          <p:nvPr/>
        </p:nvSpPr>
        <p:spPr bwMode="auto">
          <a:xfrm>
            <a:off x="6088061" y="1437811"/>
            <a:ext cx="51752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hangingPunct="1"/>
            <a:r>
              <a:rPr lang="en-US" altLang="zh-CN" b="0" dirty="0">
                <a:solidFill>
                  <a:srgbClr val="FF0000"/>
                </a:solidFill>
                <a:ea typeface="宋体" panose="02010600030101010101" pitchFamily="2" charset="-122"/>
              </a:rPr>
              <a:t>F</a:t>
            </a:r>
            <a:r>
              <a:rPr lang="en-US" altLang="zh-CN" b="0" baseline="-25000" dirty="0">
                <a:solidFill>
                  <a:srgbClr val="FF0000"/>
                </a:solidFill>
                <a:ea typeface="宋体" panose="02010600030101010101" pitchFamily="2" charset="-122"/>
              </a:rPr>
              <a:t>D</a:t>
            </a:r>
          </a:p>
        </p:txBody>
      </p:sp>
      <p:grpSp>
        <p:nvGrpSpPr>
          <p:cNvPr id="112" name="Group 51"/>
          <p:cNvGrpSpPr>
            <a:grpSpLocks/>
          </p:cNvGrpSpPr>
          <p:nvPr/>
        </p:nvGrpSpPr>
        <p:grpSpPr bwMode="auto">
          <a:xfrm>
            <a:off x="6562724" y="1577511"/>
            <a:ext cx="187325" cy="725488"/>
            <a:chOff x="2405" y="750"/>
            <a:chExt cx="118" cy="530"/>
          </a:xfrm>
        </p:grpSpPr>
        <p:sp>
          <p:nvSpPr>
            <p:cNvPr id="113" name="Rectangle 52" descr="宽上对角线"/>
            <p:cNvSpPr>
              <a:spLocks noChangeArrowheads="1"/>
            </p:cNvSpPr>
            <p:nvPr/>
          </p:nvSpPr>
          <p:spPr bwMode="auto">
            <a:xfrm>
              <a:off x="2405" y="750"/>
              <a:ext cx="118" cy="530"/>
            </a:xfrm>
            <a:prstGeom prst="rect">
              <a:avLst/>
            </a:prstGeom>
            <a:pattFill prst="wdUpDiag">
              <a:fgClr>
                <a:srgbClr val="000000"/>
              </a:fgClr>
              <a:bgClr>
                <a:srgbClr val="FFFF66"/>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14" name="Line 53"/>
            <p:cNvSpPr>
              <a:spLocks noChangeShapeType="1"/>
            </p:cNvSpPr>
            <p:nvPr/>
          </p:nvSpPr>
          <p:spPr bwMode="auto">
            <a:xfrm>
              <a:off x="2514" y="750"/>
              <a:ext cx="0" cy="521"/>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115" name="Line 54"/>
          <p:cNvSpPr>
            <a:spLocks noChangeAspect="1" noChangeShapeType="1"/>
          </p:cNvSpPr>
          <p:nvPr/>
        </p:nvSpPr>
        <p:spPr bwMode="auto">
          <a:xfrm>
            <a:off x="6254749" y="1952161"/>
            <a:ext cx="506412" cy="1588"/>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algn="ctr"/>
            <a:endParaRPr kumimoji="1" lang="zh-CN" altLang="en-US" b="0" i="0">
              <a:solidFill>
                <a:srgbClr val="FFFFFF"/>
              </a:solidFill>
              <a:ea typeface="黑体" panose="02010609060101010101" pitchFamily="49" charset="-122"/>
            </a:endParaRPr>
          </a:p>
        </p:txBody>
      </p:sp>
      <p:grpSp>
        <p:nvGrpSpPr>
          <p:cNvPr id="116" name="Group 56"/>
          <p:cNvGrpSpPr>
            <a:grpSpLocks noChangeAspect="1"/>
          </p:cNvGrpSpPr>
          <p:nvPr/>
        </p:nvGrpSpPr>
        <p:grpSpPr bwMode="auto">
          <a:xfrm>
            <a:off x="10320336" y="1198098"/>
            <a:ext cx="641350" cy="1389063"/>
            <a:chOff x="1690" y="1572"/>
            <a:chExt cx="336" cy="541"/>
          </a:xfrm>
        </p:grpSpPr>
        <p:sp>
          <p:nvSpPr>
            <p:cNvPr id="117" name="Line 57"/>
            <p:cNvSpPr>
              <a:spLocks noChangeAspect="1" noChangeShapeType="1"/>
            </p:cNvSpPr>
            <p:nvPr/>
          </p:nvSpPr>
          <p:spPr bwMode="auto">
            <a:xfrm>
              <a:off x="1750" y="1740"/>
              <a:ext cx="0" cy="241"/>
            </a:xfrm>
            <a:prstGeom prst="line">
              <a:avLst/>
            </a:prstGeom>
            <a:noFill/>
            <a:ln w="12700">
              <a:solidFill>
                <a:srgbClr val="000000"/>
              </a:solidFill>
              <a:round/>
              <a:headEnd/>
              <a:tailEnd type="none" w="sm" len="sm"/>
            </a:ln>
            <a:extLst>
              <a:ext uri="{909E8E84-426E-40DD-AFC4-6F175D3DCCD1}">
                <a14:hiddenFill xmlns:a14="http://schemas.microsoft.com/office/drawing/2010/main">
                  <a:noFill/>
                </a14:hiddenFill>
              </a:ext>
            </a:extLst>
          </p:spPr>
          <p:txBody>
            <a:bodyPr/>
            <a:lstStyle/>
            <a:p>
              <a:pPr algn="ctr"/>
              <a:endParaRPr kumimoji="1" lang="zh-CN" altLang="en-US" b="0" i="0">
                <a:solidFill>
                  <a:srgbClr val="FFFFFF"/>
                </a:solidFill>
                <a:ea typeface="黑体" panose="02010609060101010101" pitchFamily="49" charset="-122"/>
              </a:endParaRPr>
            </a:p>
          </p:txBody>
        </p:sp>
        <p:sp>
          <p:nvSpPr>
            <p:cNvPr id="118" name="Text Box 58"/>
            <p:cNvSpPr txBox="1">
              <a:spLocks noChangeAspect="1" noChangeArrowheads="1"/>
            </p:cNvSpPr>
            <p:nvPr/>
          </p:nvSpPr>
          <p:spPr bwMode="auto">
            <a:xfrm>
              <a:off x="1690" y="1572"/>
              <a:ext cx="312"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hangingPunct="1">
                <a:lnSpc>
                  <a:spcPct val="20000"/>
                </a:lnSpc>
              </a:pPr>
              <a:endParaRPr lang="en-US" altLang="zh-CN" sz="2800" b="0">
                <a:solidFill>
                  <a:srgbClr val="000000"/>
                </a:solidFill>
                <a:ea typeface="宋体" panose="02010600030101010101" pitchFamily="2" charset="-122"/>
              </a:endParaRPr>
            </a:p>
            <a:p>
              <a:pPr algn="just" eaLnBrk="1" hangingPunct="1"/>
              <a:r>
                <a:rPr lang="en-US" altLang="zh-CN" sz="1200" b="0" i="0">
                  <a:solidFill>
                    <a:srgbClr val="000000"/>
                  </a:solidFill>
                  <a:ea typeface="宋体" panose="02010600030101010101" pitchFamily="2" charset="-122"/>
                </a:rPr>
                <a:t> </a:t>
              </a:r>
              <a:r>
                <a:rPr lang="en-US" altLang="zh-CN" b="0" i="0">
                  <a:solidFill>
                    <a:srgbClr val="000000"/>
                  </a:solidFill>
                  <a:ea typeface="宋体" panose="02010600030101010101" pitchFamily="2" charset="-122"/>
                </a:rPr>
                <a:t>1</a:t>
              </a:r>
            </a:p>
          </p:txBody>
        </p:sp>
        <p:sp>
          <p:nvSpPr>
            <p:cNvPr id="119" name="Text Box 59"/>
            <p:cNvSpPr txBox="1">
              <a:spLocks noChangeAspect="1" noChangeArrowheads="1"/>
            </p:cNvSpPr>
            <p:nvPr/>
          </p:nvSpPr>
          <p:spPr bwMode="auto">
            <a:xfrm>
              <a:off x="1714" y="1849"/>
              <a:ext cx="312"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hangingPunct="1">
                <a:lnSpc>
                  <a:spcPct val="150000"/>
                </a:lnSpc>
              </a:pPr>
              <a:r>
                <a:rPr lang="en-US" altLang="zh-CN" b="0" i="0">
                  <a:solidFill>
                    <a:srgbClr val="000000"/>
                  </a:solidFill>
                  <a:ea typeface="宋体" panose="02010600030101010101" pitchFamily="2" charset="-122"/>
                </a:rPr>
                <a:t>1</a:t>
              </a:r>
            </a:p>
          </p:txBody>
        </p:sp>
      </p:grpSp>
      <p:grpSp>
        <p:nvGrpSpPr>
          <p:cNvPr id="120" name="Group 60"/>
          <p:cNvGrpSpPr>
            <a:grpSpLocks noChangeAspect="1"/>
          </p:cNvGrpSpPr>
          <p:nvPr/>
        </p:nvGrpSpPr>
        <p:grpSpPr bwMode="auto">
          <a:xfrm>
            <a:off x="8794749" y="1240961"/>
            <a:ext cx="641350" cy="1389063"/>
            <a:chOff x="1690" y="1572"/>
            <a:chExt cx="336" cy="541"/>
          </a:xfrm>
        </p:grpSpPr>
        <p:sp>
          <p:nvSpPr>
            <p:cNvPr id="121" name="Line 61"/>
            <p:cNvSpPr>
              <a:spLocks noChangeAspect="1" noChangeShapeType="1"/>
            </p:cNvSpPr>
            <p:nvPr/>
          </p:nvSpPr>
          <p:spPr bwMode="auto">
            <a:xfrm>
              <a:off x="1750" y="1740"/>
              <a:ext cx="0" cy="241"/>
            </a:xfrm>
            <a:prstGeom prst="line">
              <a:avLst/>
            </a:prstGeom>
            <a:noFill/>
            <a:ln w="12700">
              <a:solidFill>
                <a:srgbClr val="000000"/>
              </a:solidFill>
              <a:round/>
              <a:headEnd/>
              <a:tailEnd type="none" w="sm" len="sm"/>
            </a:ln>
            <a:extLst>
              <a:ext uri="{909E8E84-426E-40DD-AFC4-6F175D3DCCD1}">
                <a14:hiddenFill xmlns:a14="http://schemas.microsoft.com/office/drawing/2010/main">
                  <a:noFill/>
                </a14:hiddenFill>
              </a:ext>
            </a:extLst>
          </p:spPr>
          <p:txBody>
            <a:bodyPr/>
            <a:lstStyle/>
            <a:p>
              <a:pPr algn="ctr"/>
              <a:endParaRPr kumimoji="1" lang="zh-CN" altLang="en-US" b="0" i="0">
                <a:solidFill>
                  <a:srgbClr val="FFFFFF"/>
                </a:solidFill>
                <a:ea typeface="黑体" panose="02010609060101010101" pitchFamily="49" charset="-122"/>
              </a:endParaRPr>
            </a:p>
          </p:txBody>
        </p:sp>
        <p:sp>
          <p:nvSpPr>
            <p:cNvPr id="122" name="Text Box 62"/>
            <p:cNvSpPr txBox="1">
              <a:spLocks noChangeAspect="1" noChangeArrowheads="1"/>
            </p:cNvSpPr>
            <p:nvPr/>
          </p:nvSpPr>
          <p:spPr bwMode="auto">
            <a:xfrm>
              <a:off x="1690" y="1572"/>
              <a:ext cx="312"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hangingPunct="1">
                <a:lnSpc>
                  <a:spcPct val="20000"/>
                </a:lnSpc>
              </a:pPr>
              <a:endParaRPr lang="en-US" altLang="zh-CN" sz="2800" b="0" dirty="0">
                <a:solidFill>
                  <a:srgbClr val="000000"/>
                </a:solidFill>
                <a:ea typeface="宋体" panose="02010600030101010101" pitchFamily="2" charset="-122"/>
              </a:endParaRPr>
            </a:p>
            <a:p>
              <a:pPr algn="just" eaLnBrk="1" hangingPunct="1"/>
              <a:r>
                <a:rPr lang="en-US" altLang="zh-CN" sz="1200" b="0" i="0" dirty="0">
                  <a:solidFill>
                    <a:srgbClr val="000000"/>
                  </a:solidFill>
                  <a:ea typeface="宋体" panose="02010600030101010101" pitchFamily="2" charset="-122"/>
                </a:rPr>
                <a:t> </a:t>
              </a:r>
              <a:r>
                <a:rPr lang="en-US" altLang="zh-CN" b="0" i="0" dirty="0">
                  <a:solidFill>
                    <a:srgbClr val="000000"/>
                  </a:solidFill>
                  <a:ea typeface="宋体" panose="02010600030101010101" pitchFamily="2" charset="-122"/>
                </a:rPr>
                <a:t>2</a:t>
              </a:r>
            </a:p>
          </p:txBody>
        </p:sp>
        <p:sp>
          <p:nvSpPr>
            <p:cNvPr id="123" name="Text Box 63"/>
            <p:cNvSpPr txBox="1">
              <a:spLocks noChangeAspect="1" noChangeArrowheads="1"/>
            </p:cNvSpPr>
            <p:nvPr/>
          </p:nvSpPr>
          <p:spPr bwMode="auto">
            <a:xfrm>
              <a:off x="1714" y="1849"/>
              <a:ext cx="312"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hangingPunct="1">
                <a:lnSpc>
                  <a:spcPct val="150000"/>
                </a:lnSpc>
              </a:pPr>
              <a:r>
                <a:rPr lang="en-US" altLang="zh-CN" b="0" i="0">
                  <a:solidFill>
                    <a:srgbClr val="000000"/>
                  </a:solidFill>
                  <a:ea typeface="宋体" panose="02010600030101010101" pitchFamily="2" charset="-122"/>
                </a:rPr>
                <a:t>2</a:t>
              </a:r>
            </a:p>
          </p:txBody>
        </p:sp>
      </p:grpSp>
      <p:grpSp>
        <p:nvGrpSpPr>
          <p:cNvPr id="124" name="Group 64"/>
          <p:cNvGrpSpPr>
            <a:grpSpLocks noChangeAspect="1"/>
          </p:cNvGrpSpPr>
          <p:nvPr/>
        </p:nvGrpSpPr>
        <p:grpSpPr bwMode="auto">
          <a:xfrm>
            <a:off x="7343774" y="1240961"/>
            <a:ext cx="641350" cy="1389063"/>
            <a:chOff x="1690" y="1572"/>
            <a:chExt cx="336" cy="541"/>
          </a:xfrm>
        </p:grpSpPr>
        <p:sp>
          <p:nvSpPr>
            <p:cNvPr id="125" name="Line 65"/>
            <p:cNvSpPr>
              <a:spLocks noChangeAspect="1" noChangeShapeType="1"/>
            </p:cNvSpPr>
            <p:nvPr/>
          </p:nvSpPr>
          <p:spPr bwMode="auto">
            <a:xfrm>
              <a:off x="1750" y="1740"/>
              <a:ext cx="0" cy="241"/>
            </a:xfrm>
            <a:prstGeom prst="line">
              <a:avLst/>
            </a:prstGeom>
            <a:noFill/>
            <a:ln w="12700">
              <a:solidFill>
                <a:srgbClr val="000000"/>
              </a:solidFill>
              <a:round/>
              <a:headEnd/>
              <a:tailEnd type="none" w="sm" len="sm"/>
            </a:ln>
            <a:extLst>
              <a:ext uri="{909E8E84-426E-40DD-AFC4-6F175D3DCCD1}">
                <a14:hiddenFill xmlns:a14="http://schemas.microsoft.com/office/drawing/2010/main">
                  <a:noFill/>
                </a14:hiddenFill>
              </a:ext>
            </a:extLst>
          </p:spPr>
          <p:txBody>
            <a:bodyPr/>
            <a:lstStyle/>
            <a:p>
              <a:pPr algn="ctr"/>
              <a:endParaRPr kumimoji="1" lang="zh-CN" altLang="en-US" b="0" i="0">
                <a:solidFill>
                  <a:srgbClr val="FFFFFF"/>
                </a:solidFill>
                <a:ea typeface="黑体" panose="02010609060101010101" pitchFamily="49" charset="-122"/>
              </a:endParaRPr>
            </a:p>
          </p:txBody>
        </p:sp>
        <p:sp>
          <p:nvSpPr>
            <p:cNvPr id="126" name="Text Box 66"/>
            <p:cNvSpPr txBox="1">
              <a:spLocks noChangeAspect="1" noChangeArrowheads="1"/>
            </p:cNvSpPr>
            <p:nvPr/>
          </p:nvSpPr>
          <p:spPr bwMode="auto">
            <a:xfrm>
              <a:off x="1690" y="1572"/>
              <a:ext cx="312"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hangingPunct="1">
                <a:lnSpc>
                  <a:spcPct val="20000"/>
                </a:lnSpc>
              </a:pPr>
              <a:endParaRPr lang="en-US" altLang="zh-CN" sz="2800" b="0">
                <a:solidFill>
                  <a:srgbClr val="000000"/>
                </a:solidFill>
                <a:ea typeface="宋体" panose="02010600030101010101" pitchFamily="2" charset="-122"/>
              </a:endParaRPr>
            </a:p>
            <a:p>
              <a:pPr algn="just" eaLnBrk="1" hangingPunct="1"/>
              <a:r>
                <a:rPr lang="en-US" altLang="zh-CN" sz="1200" b="0" i="0">
                  <a:solidFill>
                    <a:srgbClr val="000000"/>
                  </a:solidFill>
                  <a:ea typeface="宋体" panose="02010600030101010101" pitchFamily="2" charset="-122"/>
                </a:rPr>
                <a:t> </a:t>
              </a:r>
              <a:r>
                <a:rPr lang="en-US" altLang="zh-CN" b="0" i="0">
                  <a:solidFill>
                    <a:srgbClr val="000000"/>
                  </a:solidFill>
                  <a:ea typeface="宋体" panose="02010600030101010101" pitchFamily="2" charset="-122"/>
                </a:rPr>
                <a:t>3</a:t>
              </a:r>
            </a:p>
          </p:txBody>
        </p:sp>
        <p:sp>
          <p:nvSpPr>
            <p:cNvPr id="127" name="Text Box 67"/>
            <p:cNvSpPr txBox="1">
              <a:spLocks noChangeAspect="1" noChangeArrowheads="1"/>
            </p:cNvSpPr>
            <p:nvPr/>
          </p:nvSpPr>
          <p:spPr bwMode="auto">
            <a:xfrm>
              <a:off x="1714" y="1849"/>
              <a:ext cx="312"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hangingPunct="1">
                <a:lnSpc>
                  <a:spcPct val="150000"/>
                </a:lnSpc>
              </a:pPr>
              <a:r>
                <a:rPr lang="en-US" altLang="zh-CN" b="0" i="0">
                  <a:solidFill>
                    <a:srgbClr val="000000"/>
                  </a:solidFill>
                  <a:ea typeface="宋体" panose="02010600030101010101" pitchFamily="2" charset="-122"/>
                </a:rPr>
                <a:t>3</a:t>
              </a:r>
            </a:p>
          </p:txBody>
        </p:sp>
      </p:grpSp>
      <p:sp>
        <p:nvSpPr>
          <p:cNvPr id="128" name="Text Box 68"/>
          <p:cNvSpPr txBox="1">
            <a:spLocks noChangeAspect="1" noChangeArrowheads="1"/>
          </p:cNvSpPr>
          <p:nvPr/>
        </p:nvSpPr>
        <p:spPr bwMode="auto">
          <a:xfrm>
            <a:off x="9653586" y="2344853"/>
            <a:ext cx="623888" cy="547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hangingPunct="1">
              <a:lnSpc>
                <a:spcPct val="90000"/>
              </a:lnSpc>
            </a:pPr>
            <a:r>
              <a:rPr lang="en-US" altLang="zh-CN" b="0">
                <a:solidFill>
                  <a:srgbClr val="FF0000"/>
                </a:solidFill>
                <a:ea typeface="宋体" panose="02010600030101010101" pitchFamily="2" charset="-122"/>
              </a:rPr>
              <a:t>F</a:t>
            </a:r>
            <a:r>
              <a:rPr lang="en-US" altLang="zh-CN" b="0" i="0" baseline="-25000">
                <a:solidFill>
                  <a:srgbClr val="FF0000"/>
                </a:solidFill>
                <a:ea typeface="宋体" panose="02010600030101010101" pitchFamily="2" charset="-122"/>
              </a:rPr>
              <a:t>N1</a:t>
            </a:r>
          </a:p>
        </p:txBody>
      </p:sp>
      <p:sp>
        <p:nvSpPr>
          <p:cNvPr id="129" name="Line 69"/>
          <p:cNvSpPr>
            <a:spLocks noChangeAspect="1" noChangeShapeType="1"/>
          </p:cNvSpPr>
          <p:nvPr/>
        </p:nvSpPr>
        <p:spPr bwMode="auto">
          <a:xfrm flipH="1">
            <a:off x="9761536" y="2838565"/>
            <a:ext cx="688975" cy="0"/>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algn="ctr"/>
            <a:endParaRPr kumimoji="1" lang="zh-CN" altLang="en-US" b="0" i="0">
              <a:solidFill>
                <a:srgbClr val="FFFFFF"/>
              </a:solidFill>
              <a:ea typeface="黑体" panose="02010609060101010101" pitchFamily="49" charset="-122"/>
            </a:endParaRPr>
          </a:p>
        </p:txBody>
      </p:sp>
      <p:grpSp>
        <p:nvGrpSpPr>
          <p:cNvPr id="130" name="Group 70"/>
          <p:cNvGrpSpPr>
            <a:grpSpLocks/>
          </p:cNvGrpSpPr>
          <p:nvPr/>
        </p:nvGrpSpPr>
        <p:grpSpPr bwMode="auto">
          <a:xfrm>
            <a:off x="10326686" y="2298815"/>
            <a:ext cx="1330325" cy="673100"/>
            <a:chOff x="4922" y="1199"/>
            <a:chExt cx="838" cy="424"/>
          </a:xfrm>
        </p:grpSpPr>
        <p:sp>
          <p:nvSpPr>
            <p:cNvPr id="131" name="Rectangle 71"/>
            <p:cNvSpPr>
              <a:spLocks noChangeAspect="1" noChangeArrowheads="1"/>
            </p:cNvSpPr>
            <p:nvPr/>
          </p:nvSpPr>
          <p:spPr bwMode="auto">
            <a:xfrm flipV="1">
              <a:off x="5009" y="1450"/>
              <a:ext cx="350" cy="173"/>
            </a:xfrm>
            <a:prstGeom prst="rect">
              <a:avLst/>
            </a:prstGeom>
            <a:gradFill rotWithShape="1">
              <a:gsLst>
                <a:gs pos="0">
                  <a:srgbClr val="767676"/>
                </a:gs>
                <a:gs pos="50000">
                  <a:srgbClr val="FFFFFF"/>
                </a:gs>
                <a:gs pos="100000">
                  <a:srgbClr val="767676"/>
                </a:gs>
              </a:gsLst>
              <a:lin ang="5400000" scaled="1"/>
            </a:gradFill>
            <a:ln w="28575">
              <a:solidFill>
                <a:srgbClr val="000000"/>
              </a:solidFill>
              <a:miter lim="800000"/>
              <a:headEnd/>
              <a:tailEnd type="none" w="sm" len="sm"/>
            </a:ln>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32" name="Text Box 72"/>
            <p:cNvSpPr txBox="1">
              <a:spLocks noChangeAspect="1" noChangeArrowheads="1"/>
            </p:cNvSpPr>
            <p:nvPr/>
          </p:nvSpPr>
          <p:spPr bwMode="auto">
            <a:xfrm>
              <a:off x="5423" y="1244"/>
              <a:ext cx="337"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F</a:t>
              </a:r>
              <a:r>
                <a:rPr kumimoji="1" lang="en-US" altLang="zh-CN" sz="2400" b="0" i="0" u="none" strike="noStrike" kern="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rPr>
                <a:t>1</a:t>
              </a:r>
            </a:p>
          </p:txBody>
        </p:sp>
        <p:sp>
          <p:nvSpPr>
            <p:cNvPr id="133" name="Text Box 73"/>
            <p:cNvSpPr txBox="1">
              <a:spLocks noChangeAspect="1" noChangeArrowheads="1"/>
            </p:cNvSpPr>
            <p:nvPr/>
          </p:nvSpPr>
          <p:spPr bwMode="auto">
            <a:xfrm>
              <a:off x="5232" y="1199"/>
              <a:ext cx="300"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a:t>
              </a:r>
            </a:p>
          </p:txBody>
        </p:sp>
        <p:sp>
          <p:nvSpPr>
            <p:cNvPr id="134" name="Line 74"/>
            <p:cNvSpPr>
              <a:spLocks noChangeShapeType="1"/>
            </p:cNvSpPr>
            <p:nvPr/>
          </p:nvSpPr>
          <p:spPr bwMode="auto">
            <a:xfrm>
              <a:off x="4922" y="1539"/>
              <a:ext cx="742" cy="0"/>
            </a:xfrm>
            <a:prstGeom prst="line">
              <a:avLst/>
            </a:prstGeom>
            <a:noFill/>
            <a:ln w="9525">
              <a:solidFill>
                <a:srgbClr val="000000"/>
              </a:solidFill>
              <a:prstDash val="lgDashDot"/>
              <a:round/>
              <a:headEnd/>
              <a:tailE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35" name="Line 75"/>
            <p:cNvSpPr>
              <a:spLocks noChangeAspect="1" noChangeShapeType="1"/>
            </p:cNvSpPr>
            <p:nvPr/>
          </p:nvSpPr>
          <p:spPr bwMode="auto">
            <a:xfrm>
              <a:off x="5361" y="1535"/>
              <a:ext cx="319" cy="1"/>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136" name="矩形 135">
            <a:extLst>
              <a:ext uri="{FF2B5EF4-FFF2-40B4-BE49-F238E27FC236}">
                <a16:creationId xmlns:a16="http://schemas.microsoft.com/office/drawing/2014/main" id="{396E3A4E-3DCE-51D1-DE56-78AC0CFE008B}"/>
              </a:ext>
            </a:extLst>
          </p:cNvPr>
          <p:cNvSpPr/>
          <p:nvPr/>
        </p:nvSpPr>
        <p:spPr>
          <a:xfrm>
            <a:off x="551384" y="1240961"/>
            <a:ext cx="5127330" cy="1865126"/>
          </a:xfrm>
          <a:prstGeom prst="rect">
            <a:avLst/>
          </a:prstGeom>
        </p:spPr>
        <p:txBody>
          <a:bodyPr wrap="square">
            <a:spAutoFit/>
          </a:bodyPr>
          <a:lstStyle/>
          <a:p>
            <a:pPr lvl="0">
              <a:lnSpc>
                <a:spcPct val="120000"/>
              </a:lnSpc>
            </a:pPr>
            <a:r>
              <a:rPr lang="zh-CN" altLang="en-US" i="0" dirty="0">
                <a:solidFill>
                  <a:srgbClr val="0033CC"/>
                </a:solidFill>
                <a:ea typeface="黑体" panose="02010609060101010101" pitchFamily="49" charset="-122"/>
              </a:rPr>
              <a:t>解  </a:t>
            </a:r>
            <a:r>
              <a:rPr kumimoji="1" lang="en-US" altLang="zh-CN" i="0" dirty="0">
                <a:solidFill>
                  <a:schemeClr val="tx1"/>
                </a:solidFill>
                <a:latin typeface="+mn-lt"/>
                <a:ea typeface="黑体" panose="02010609060101010101" pitchFamily="49" charset="-122"/>
              </a:rPr>
              <a:t>1</a:t>
            </a:r>
            <a:r>
              <a:rPr kumimoji="1" lang="zh-CN" altLang="en-US" i="0" dirty="0">
                <a:solidFill>
                  <a:schemeClr val="tx1"/>
                </a:solidFill>
                <a:latin typeface="+mn-lt"/>
                <a:ea typeface="黑体" panose="02010609060101010101" pitchFamily="49" charset="-122"/>
              </a:rPr>
              <a:t>）计算</a:t>
            </a:r>
            <a:r>
              <a:rPr kumimoji="1" lang="en-US" altLang="zh-CN" b="0" dirty="0">
                <a:solidFill>
                  <a:schemeClr val="tx1"/>
                </a:solidFill>
                <a:latin typeface="+mn-lt"/>
                <a:ea typeface="黑体" panose="02010609060101010101" pitchFamily="49" charset="-122"/>
              </a:rPr>
              <a:t>D</a:t>
            </a:r>
            <a:r>
              <a:rPr kumimoji="1" lang="en-US" altLang="zh-CN" dirty="0">
                <a:solidFill>
                  <a:schemeClr val="tx1"/>
                </a:solidFill>
                <a:latin typeface="+mn-lt"/>
                <a:ea typeface="黑体" panose="02010609060101010101" pitchFamily="49" charset="-122"/>
              </a:rPr>
              <a:t> </a:t>
            </a:r>
            <a:r>
              <a:rPr kumimoji="1" lang="zh-CN" altLang="en-US" i="0" dirty="0">
                <a:solidFill>
                  <a:schemeClr val="tx1"/>
                </a:solidFill>
                <a:latin typeface="+mn-lt"/>
                <a:ea typeface="黑体" panose="02010609060101010101" pitchFamily="49" charset="-122"/>
              </a:rPr>
              <a:t>端支反力，</a:t>
            </a:r>
          </a:p>
          <a:p>
            <a:pPr lvl="0">
              <a:lnSpc>
                <a:spcPct val="120000"/>
              </a:lnSpc>
            </a:pPr>
            <a:r>
              <a:rPr kumimoji="1" lang="zh-CN" altLang="en-US" i="0" dirty="0">
                <a:solidFill>
                  <a:schemeClr val="tx1"/>
                </a:solidFill>
                <a:latin typeface="+mn-lt"/>
                <a:ea typeface="黑体" panose="02010609060101010101" pitchFamily="49" charset="-122"/>
              </a:rPr>
              <a:t>      由整体平衡方程             ∑</a:t>
            </a:r>
            <a:r>
              <a:rPr kumimoji="1" lang="en-US" altLang="zh-CN" b="0" dirty="0" err="1">
                <a:solidFill>
                  <a:schemeClr val="tx1"/>
                </a:solidFill>
                <a:latin typeface="+mn-lt"/>
                <a:ea typeface="黑体" panose="02010609060101010101" pitchFamily="49" charset="-122"/>
              </a:rPr>
              <a:t>F</a:t>
            </a:r>
            <a:r>
              <a:rPr kumimoji="1" lang="en-US" altLang="zh-CN" b="0" baseline="-25000" dirty="0" err="1">
                <a:solidFill>
                  <a:schemeClr val="tx1"/>
                </a:solidFill>
                <a:latin typeface="+mn-lt"/>
                <a:ea typeface="黑体" panose="02010609060101010101" pitchFamily="49" charset="-122"/>
              </a:rPr>
              <a:t>x</a:t>
            </a:r>
            <a:r>
              <a:rPr kumimoji="1" lang="zh-CN" altLang="en-US" b="0" i="0" dirty="0">
                <a:solidFill>
                  <a:schemeClr val="tx1"/>
                </a:solidFill>
                <a:latin typeface="+mn-lt"/>
                <a:ea typeface="黑体" panose="02010609060101010101" pitchFamily="49" charset="-122"/>
              </a:rPr>
              <a:t>＝</a:t>
            </a:r>
            <a:r>
              <a:rPr kumimoji="1" lang="en-US" altLang="zh-CN" b="0" i="0" dirty="0">
                <a:solidFill>
                  <a:schemeClr val="tx1"/>
                </a:solidFill>
                <a:latin typeface="+mn-lt"/>
                <a:ea typeface="黑体" panose="02010609060101010101" pitchFamily="49" charset="-122"/>
              </a:rPr>
              <a:t>0</a:t>
            </a:r>
            <a:r>
              <a:rPr kumimoji="1" lang="zh-CN" altLang="en-US" i="0" dirty="0">
                <a:solidFill>
                  <a:schemeClr val="tx1"/>
                </a:solidFill>
                <a:latin typeface="+mn-lt"/>
                <a:ea typeface="黑体" panose="02010609060101010101" pitchFamily="49" charset="-122"/>
              </a:rPr>
              <a:t>，</a:t>
            </a:r>
          </a:p>
          <a:p>
            <a:pPr lvl="0">
              <a:lnSpc>
                <a:spcPct val="120000"/>
              </a:lnSpc>
            </a:pPr>
            <a:r>
              <a:rPr kumimoji="1" lang="zh-CN" altLang="en-US" dirty="0">
                <a:solidFill>
                  <a:schemeClr val="tx1"/>
                </a:solidFill>
                <a:latin typeface="+mn-lt"/>
                <a:ea typeface="黑体" panose="02010609060101010101" pitchFamily="49" charset="-122"/>
              </a:rPr>
              <a:t>                </a:t>
            </a:r>
            <a:r>
              <a:rPr kumimoji="1" lang="en-US" altLang="zh-CN" b="0" dirty="0">
                <a:solidFill>
                  <a:schemeClr val="tx1"/>
                </a:solidFill>
                <a:latin typeface="+mn-lt"/>
                <a:ea typeface="黑体" panose="02010609060101010101" pitchFamily="49" charset="-122"/>
              </a:rPr>
              <a:t>F</a:t>
            </a:r>
            <a:r>
              <a:rPr kumimoji="1" lang="en-US" altLang="zh-CN" b="0" baseline="-25000" dirty="0">
                <a:solidFill>
                  <a:schemeClr val="tx1"/>
                </a:solidFill>
                <a:latin typeface="+mn-lt"/>
                <a:ea typeface="黑体" panose="02010609060101010101" pitchFamily="49" charset="-122"/>
              </a:rPr>
              <a:t>D</a:t>
            </a:r>
            <a:r>
              <a:rPr kumimoji="1" lang="en-US" altLang="zh-CN" b="0" i="0" dirty="0">
                <a:solidFill>
                  <a:schemeClr val="tx1"/>
                </a:solidFill>
                <a:latin typeface="+mn-lt"/>
                <a:ea typeface="黑体" panose="02010609060101010101" pitchFamily="49" charset="-122"/>
              </a:rPr>
              <a:t>+</a:t>
            </a:r>
            <a:r>
              <a:rPr kumimoji="1" lang="en-US" altLang="zh-CN" b="0" dirty="0">
                <a:solidFill>
                  <a:schemeClr val="tx1"/>
                </a:solidFill>
                <a:latin typeface="+mn-lt"/>
                <a:ea typeface="黑体" panose="02010609060101010101" pitchFamily="49" charset="-122"/>
              </a:rPr>
              <a:t>F</a:t>
            </a:r>
            <a:r>
              <a:rPr kumimoji="1" lang="en-US" altLang="zh-CN" b="0" i="0" baseline="-25000" dirty="0">
                <a:solidFill>
                  <a:schemeClr val="tx1"/>
                </a:solidFill>
                <a:latin typeface="+mn-lt"/>
                <a:ea typeface="黑体" panose="02010609060101010101" pitchFamily="49" charset="-122"/>
              </a:rPr>
              <a:t>1</a:t>
            </a:r>
            <a:r>
              <a:rPr kumimoji="1" lang="en-US" altLang="zh-CN" dirty="0">
                <a:solidFill>
                  <a:schemeClr val="tx1"/>
                </a:solidFill>
                <a:latin typeface="Symbol" pitchFamily="18" charset="2"/>
              </a:rPr>
              <a:t>-</a:t>
            </a:r>
            <a:r>
              <a:rPr kumimoji="1" lang="en-US" altLang="zh-CN" b="0" dirty="0">
                <a:solidFill>
                  <a:schemeClr val="tx1"/>
                </a:solidFill>
                <a:latin typeface="+mn-lt"/>
                <a:ea typeface="黑体" panose="02010609060101010101" pitchFamily="49" charset="-122"/>
              </a:rPr>
              <a:t>F</a:t>
            </a:r>
            <a:r>
              <a:rPr kumimoji="1" lang="en-US" altLang="zh-CN" b="0" i="0" baseline="-25000" dirty="0">
                <a:solidFill>
                  <a:schemeClr val="tx1"/>
                </a:solidFill>
                <a:latin typeface="+mn-lt"/>
                <a:ea typeface="黑体" panose="02010609060101010101" pitchFamily="49" charset="-122"/>
              </a:rPr>
              <a:t>2</a:t>
            </a:r>
            <a:r>
              <a:rPr kumimoji="1" lang="en-US" altLang="zh-CN" dirty="0">
                <a:solidFill>
                  <a:schemeClr val="tx1"/>
                </a:solidFill>
                <a:latin typeface="Symbol" pitchFamily="18" charset="2"/>
              </a:rPr>
              <a:t>-</a:t>
            </a:r>
            <a:r>
              <a:rPr kumimoji="1" lang="en-US" altLang="zh-CN" b="0" dirty="0">
                <a:solidFill>
                  <a:schemeClr val="tx1"/>
                </a:solidFill>
                <a:latin typeface="+mn-lt"/>
                <a:ea typeface="黑体" panose="02010609060101010101" pitchFamily="49" charset="-122"/>
              </a:rPr>
              <a:t>F</a:t>
            </a:r>
            <a:r>
              <a:rPr kumimoji="1" lang="en-US" altLang="zh-CN" b="0" i="0" baseline="-25000" dirty="0">
                <a:solidFill>
                  <a:schemeClr val="tx1"/>
                </a:solidFill>
                <a:latin typeface="+mn-lt"/>
                <a:ea typeface="黑体" panose="02010609060101010101" pitchFamily="49" charset="-122"/>
              </a:rPr>
              <a:t>3</a:t>
            </a:r>
            <a:r>
              <a:rPr kumimoji="1" lang="en-US" altLang="zh-CN" b="0" i="0" dirty="0">
                <a:solidFill>
                  <a:schemeClr val="tx1"/>
                </a:solidFill>
                <a:latin typeface="+mn-lt"/>
                <a:ea typeface="黑体" panose="02010609060101010101" pitchFamily="49" charset="-122"/>
              </a:rPr>
              <a:t>=0</a:t>
            </a:r>
          </a:p>
          <a:p>
            <a:pPr lvl="0">
              <a:lnSpc>
                <a:spcPct val="120000"/>
              </a:lnSpc>
            </a:pPr>
            <a:r>
              <a:rPr kumimoji="1" lang="en-US" altLang="zh-CN" i="0" dirty="0">
                <a:solidFill>
                  <a:schemeClr val="tx1"/>
                </a:solidFill>
                <a:latin typeface="+mn-lt"/>
                <a:ea typeface="黑体" panose="02010609060101010101" pitchFamily="49" charset="-122"/>
              </a:rPr>
              <a:t>     </a:t>
            </a:r>
            <a:r>
              <a:rPr kumimoji="1" lang="zh-CN" altLang="en-US" i="0" dirty="0">
                <a:solidFill>
                  <a:schemeClr val="tx1"/>
                </a:solidFill>
                <a:latin typeface="+mn-lt"/>
                <a:ea typeface="黑体" panose="02010609060101010101" pitchFamily="49" charset="-122"/>
              </a:rPr>
              <a:t>得</a:t>
            </a:r>
            <a:r>
              <a:rPr kumimoji="1" lang="zh-CN" altLang="en-US" b="0" i="0" dirty="0">
                <a:solidFill>
                  <a:schemeClr val="tx1"/>
                </a:solidFill>
                <a:latin typeface="+mn-lt"/>
                <a:ea typeface="黑体" panose="02010609060101010101" pitchFamily="49" charset="-122"/>
              </a:rPr>
              <a:t>      </a:t>
            </a:r>
            <a:r>
              <a:rPr kumimoji="1" lang="en-US" altLang="zh-CN" b="0" dirty="0">
                <a:solidFill>
                  <a:schemeClr val="tx1"/>
                </a:solidFill>
                <a:latin typeface="+mn-lt"/>
                <a:ea typeface="黑体" panose="02010609060101010101" pitchFamily="49" charset="-122"/>
              </a:rPr>
              <a:t>F</a:t>
            </a:r>
            <a:r>
              <a:rPr kumimoji="1" lang="en-US" altLang="zh-CN" b="0" baseline="-25000" dirty="0">
                <a:solidFill>
                  <a:schemeClr val="tx1"/>
                </a:solidFill>
                <a:latin typeface="+mn-lt"/>
                <a:ea typeface="黑体" panose="02010609060101010101" pitchFamily="49" charset="-122"/>
              </a:rPr>
              <a:t>D</a:t>
            </a:r>
            <a:r>
              <a:rPr kumimoji="1" lang="en-US" altLang="zh-CN" b="0" i="0" dirty="0">
                <a:solidFill>
                  <a:schemeClr val="tx1"/>
                </a:solidFill>
                <a:latin typeface="+mn-lt"/>
                <a:ea typeface="黑体" panose="02010609060101010101" pitchFamily="49" charset="-122"/>
              </a:rPr>
              <a:t>=</a:t>
            </a:r>
            <a:r>
              <a:rPr kumimoji="1" lang="en-US" altLang="zh-CN" b="0" dirty="0">
                <a:solidFill>
                  <a:schemeClr val="tx1"/>
                </a:solidFill>
                <a:latin typeface="+mn-lt"/>
                <a:ea typeface="黑体" panose="02010609060101010101" pitchFamily="49" charset="-122"/>
              </a:rPr>
              <a:t>F</a:t>
            </a:r>
            <a:r>
              <a:rPr kumimoji="1" lang="en-US" altLang="zh-CN" b="0" i="0" baseline="-25000" dirty="0">
                <a:solidFill>
                  <a:schemeClr val="tx1"/>
                </a:solidFill>
                <a:latin typeface="+mn-lt"/>
                <a:ea typeface="黑体" panose="02010609060101010101" pitchFamily="49" charset="-122"/>
              </a:rPr>
              <a:t>2</a:t>
            </a:r>
            <a:r>
              <a:rPr kumimoji="1" lang="en-US" altLang="zh-CN" b="0" i="0" dirty="0">
                <a:solidFill>
                  <a:schemeClr val="tx1"/>
                </a:solidFill>
                <a:latin typeface="+mn-lt"/>
                <a:ea typeface="黑体" panose="02010609060101010101" pitchFamily="49" charset="-122"/>
              </a:rPr>
              <a:t>+</a:t>
            </a:r>
            <a:r>
              <a:rPr kumimoji="1" lang="en-US" altLang="zh-CN" b="0" dirty="0">
                <a:solidFill>
                  <a:schemeClr val="tx1"/>
                </a:solidFill>
                <a:latin typeface="+mn-lt"/>
                <a:ea typeface="黑体" panose="02010609060101010101" pitchFamily="49" charset="-122"/>
              </a:rPr>
              <a:t>F</a:t>
            </a:r>
            <a:r>
              <a:rPr kumimoji="1" lang="en-US" altLang="zh-CN" b="0" i="0" baseline="-25000" dirty="0">
                <a:solidFill>
                  <a:schemeClr val="tx1"/>
                </a:solidFill>
                <a:latin typeface="+mn-lt"/>
                <a:ea typeface="黑体" panose="02010609060101010101" pitchFamily="49" charset="-122"/>
              </a:rPr>
              <a:t>3</a:t>
            </a:r>
            <a:r>
              <a:rPr kumimoji="1" lang="en-US" altLang="zh-CN" dirty="0">
                <a:solidFill>
                  <a:schemeClr val="tx1"/>
                </a:solidFill>
                <a:latin typeface="Symbol" pitchFamily="18" charset="2"/>
              </a:rPr>
              <a:t>-</a:t>
            </a:r>
            <a:r>
              <a:rPr kumimoji="1" lang="en-US" altLang="zh-CN" b="0" dirty="0">
                <a:solidFill>
                  <a:schemeClr val="tx1"/>
                </a:solidFill>
                <a:latin typeface="+mn-lt"/>
                <a:ea typeface="黑体" panose="02010609060101010101" pitchFamily="49" charset="-122"/>
              </a:rPr>
              <a:t>F</a:t>
            </a:r>
            <a:r>
              <a:rPr kumimoji="1" lang="en-US" altLang="zh-CN" b="0" i="0" baseline="-25000" dirty="0">
                <a:solidFill>
                  <a:schemeClr val="tx1"/>
                </a:solidFill>
                <a:latin typeface="+mn-lt"/>
                <a:ea typeface="黑体" panose="02010609060101010101" pitchFamily="49" charset="-122"/>
              </a:rPr>
              <a:t>1</a:t>
            </a:r>
            <a:r>
              <a:rPr kumimoji="1" lang="en-US" altLang="zh-CN" b="0" i="0" dirty="0">
                <a:solidFill>
                  <a:schemeClr val="tx1"/>
                </a:solidFill>
                <a:latin typeface="+mn-lt"/>
                <a:ea typeface="黑体" panose="02010609060101010101" pitchFamily="49" charset="-122"/>
              </a:rPr>
              <a:t>=14kN</a:t>
            </a:r>
          </a:p>
        </p:txBody>
      </p:sp>
      <p:sp>
        <p:nvSpPr>
          <p:cNvPr id="137" name="Freeform 108" descr="浅色竖线"/>
          <p:cNvSpPr>
            <a:spLocks/>
          </p:cNvSpPr>
          <p:nvPr/>
        </p:nvSpPr>
        <p:spPr bwMode="auto">
          <a:xfrm>
            <a:off x="6666138" y="4751260"/>
            <a:ext cx="4248150" cy="1184275"/>
          </a:xfrm>
          <a:custGeom>
            <a:avLst/>
            <a:gdLst>
              <a:gd name="T0" fmla="*/ 0 w 2676"/>
              <a:gd name="T1" fmla="*/ 432 h 746"/>
              <a:gd name="T2" fmla="*/ 0 w 2676"/>
              <a:gd name="T3" fmla="*/ 746 h 746"/>
              <a:gd name="T4" fmla="*/ 821 w 2676"/>
              <a:gd name="T5" fmla="*/ 746 h 746"/>
              <a:gd name="T6" fmla="*/ 821 w 2676"/>
              <a:gd name="T7" fmla="*/ 288 h 746"/>
              <a:gd name="T8" fmla="*/ 1736 w 2676"/>
              <a:gd name="T9" fmla="*/ 288 h 746"/>
              <a:gd name="T10" fmla="*/ 1736 w 2676"/>
              <a:gd name="T11" fmla="*/ 0 h 746"/>
              <a:gd name="T12" fmla="*/ 2676 w 2676"/>
              <a:gd name="T13" fmla="*/ 0 h 746"/>
              <a:gd name="T14" fmla="*/ 2668 w 2676"/>
              <a:gd name="T15" fmla="*/ 432 h 746"/>
              <a:gd name="T16" fmla="*/ 0 w 2676"/>
              <a:gd name="T17" fmla="*/ 432 h 74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676"/>
              <a:gd name="T28" fmla="*/ 0 h 746"/>
              <a:gd name="T29" fmla="*/ 2676 w 2676"/>
              <a:gd name="T30" fmla="*/ 746 h 74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676" h="746">
                <a:moveTo>
                  <a:pt x="0" y="432"/>
                </a:moveTo>
                <a:lnTo>
                  <a:pt x="0" y="746"/>
                </a:lnTo>
                <a:lnTo>
                  <a:pt x="821" y="746"/>
                </a:lnTo>
                <a:lnTo>
                  <a:pt x="821" y="288"/>
                </a:lnTo>
                <a:lnTo>
                  <a:pt x="1736" y="288"/>
                </a:lnTo>
                <a:lnTo>
                  <a:pt x="1736" y="0"/>
                </a:lnTo>
                <a:lnTo>
                  <a:pt x="2676" y="0"/>
                </a:lnTo>
                <a:lnTo>
                  <a:pt x="2668" y="432"/>
                </a:lnTo>
                <a:lnTo>
                  <a:pt x="0" y="432"/>
                </a:lnTo>
                <a:close/>
              </a:path>
            </a:pathLst>
          </a:custGeom>
          <a:pattFill prst="ltVert">
            <a:fgClr>
              <a:srgbClr val="000000"/>
            </a:fgClr>
            <a:bgClr>
              <a:srgbClr val="CCFF99"/>
            </a:bgClr>
          </a:patt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38" name="Line 99"/>
          <p:cNvSpPr>
            <a:spLocks noChangeShapeType="1"/>
          </p:cNvSpPr>
          <p:nvPr/>
        </p:nvSpPr>
        <p:spPr bwMode="auto">
          <a:xfrm>
            <a:off x="6678838" y="5448172"/>
            <a:ext cx="4892675" cy="0"/>
          </a:xfrm>
          <a:prstGeom prst="line">
            <a:avLst/>
          </a:prstGeom>
          <a:noFill/>
          <a:ln w="9525">
            <a:solidFill>
              <a:srgbClr val="000000"/>
            </a:solidFill>
            <a:round/>
            <a:headEnd/>
            <a:tailEnd type="stealth" w="sm" len="lg"/>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39" name="Line 100"/>
          <p:cNvSpPr>
            <a:spLocks noChangeShapeType="1"/>
          </p:cNvSpPr>
          <p:nvPr/>
        </p:nvSpPr>
        <p:spPr bwMode="auto">
          <a:xfrm flipV="1">
            <a:off x="6666138" y="4665535"/>
            <a:ext cx="0" cy="1406525"/>
          </a:xfrm>
          <a:prstGeom prst="line">
            <a:avLst/>
          </a:prstGeom>
          <a:noFill/>
          <a:ln w="9525">
            <a:solidFill>
              <a:srgbClr val="000000"/>
            </a:solidFill>
            <a:round/>
            <a:headEnd/>
            <a:tailEnd type="stealth" w="sm" len="lg"/>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40" name="Line 79"/>
          <p:cNvSpPr>
            <a:spLocks noChangeAspect="1" noChangeShapeType="1"/>
          </p:cNvSpPr>
          <p:nvPr/>
        </p:nvSpPr>
        <p:spPr bwMode="auto">
          <a:xfrm flipV="1">
            <a:off x="6688363" y="5941885"/>
            <a:ext cx="1296987" cy="0"/>
          </a:xfrm>
          <a:prstGeom prst="line">
            <a:avLst/>
          </a:prstGeom>
          <a:noFill/>
          <a:ln w="19050">
            <a:solidFill>
              <a:srgbClr val="000000"/>
            </a:solidFill>
            <a:round/>
            <a:headEnd/>
            <a:tailEnd type="none" w="sm" len="sm"/>
          </a:ln>
          <a:extLst>
            <a:ext uri="{909E8E84-426E-40DD-AFC4-6F175D3DCCD1}">
              <a14:hiddenFill xmlns:a14="http://schemas.microsoft.com/office/drawing/2010/main">
                <a:noFill/>
              </a14:hiddenFill>
            </a:ext>
          </a:extLst>
        </p:spPr>
        <p:txBody>
          <a:bodyPr/>
          <a:lstStyle/>
          <a:p>
            <a:pPr algn="ctr"/>
            <a:endParaRPr kumimoji="1" lang="zh-CN" altLang="en-US" b="0" i="0">
              <a:solidFill>
                <a:srgbClr val="FFFFFF"/>
              </a:solidFill>
              <a:ea typeface="黑体" panose="02010609060101010101" pitchFamily="49" charset="-122"/>
            </a:endParaRPr>
          </a:p>
        </p:txBody>
      </p:sp>
      <p:sp>
        <p:nvSpPr>
          <p:cNvPr id="141" name="Line 82"/>
          <p:cNvSpPr>
            <a:spLocks noChangeAspect="1" noChangeShapeType="1"/>
          </p:cNvSpPr>
          <p:nvPr/>
        </p:nvSpPr>
        <p:spPr bwMode="auto">
          <a:xfrm flipH="1">
            <a:off x="7977413" y="5210047"/>
            <a:ext cx="0" cy="731838"/>
          </a:xfrm>
          <a:prstGeom prst="line">
            <a:avLst/>
          </a:prstGeom>
          <a:noFill/>
          <a:ln w="19050">
            <a:solidFill>
              <a:srgbClr val="000000"/>
            </a:solidFill>
            <a:round/>
            <a:headEnd/>
            <a:tailEnd type="none" w="sm" len="sm"/>
          </a:ln>
          <a:extLst>
            <a:ext uri="{909E8E84-426E-40DD-AFC4-6F175D3DCCD1}">
              <a14:hiddenFill xmlns:a14="http://schemas.microsoft.com/office/drawing/2010/main">
                <a:noFill/>
              </a14:hiddenFill>
            </a:ext>
          </a:extLst>
        </p:spPr>
        <p:txBody>
          <a:bodyPr/>
          <a:lstStyle/>
          <a:p>
            <a:pPr algn="ctr"/>
            <a:endParaRPr kumimoji="1" lang="zh-CN" altLang="en-US" b="0" i="0">
              <a:solidFill>
                <a:srgbClr val="FFFFFF"/>
              </a:solidFill>
              <a:ea typeface="黑体" panose="02010609060101010101" pitchFamily="49" charset="-122"/>
            </a:endParaRPr>
          </a:p>
        </p:txBody>
      </p:sp>
      <p:sp>
        <p:nvSpPr>
          <p:cNvPr id="142" name="Line 93"/>
          <p:cNvSpPr>
            <a:spLocks noChangeAspect="1" noChangeShapeType="1"/>
          </p:cNvSpPr>
          <p:nvPr/>
        </p:nvSpPr>
        <p:spPr bwMode="auto">
          <a:xfrm>
            <a:off x="9417275" y="4746497"/>
            <a:ext cx="0" cy="469900"/>
          </a:xfrm>
          <a:prstGeom prst="line">
            <a:avLst/>
          </a:prstGeom>
          <a:noFill/>
          <a:ln w="19050">
            <a:solidFill>
              <a:srgbClr val="000000"/>
            </a:solidFill>
            <a:round/>
            <a:headEnd/>
            <a:tailEnd type="none" w="sm" len="sm"/>
          </a:ln>
          <a:extLst>
            <a:ext uri="{909E8E84-426E-40DD-AFC4-6F175D3DCCD1}">
              <a14:hiddenFill xmlns:a14="http://schemas.microsoft.com/office/drawing/2010/main">
                <a:noFill/>
              </a14:hiddenFill>
            </a:ext>
          </a:extLst>
        </p:spPr>
        <p:txBody>
          <a:bodyPr/>
          <a:lstStyle/>
          <a:p>
            <a:pPr algn="ctr"/>
            <a:endParaRPr kumimoji="1" lang="zh-CN" altLang="en-US" b="0" i="0">
              <a:solidFill>
                <a:srgbClr val="FFFFFF"/>
              </a:solidFill>
              <a:ea typeface="黑体" panose="02010609060101010101" pitchFamily="49" charset="-122"/>
            </a:endParaRPr>
          </a:p>
        </p:txBody>
      </p:sp>
      <p:sp>
        <p:nvSpPr>
          <p:cNvPr id="143" name="Text Box 94"/>
          <p:cNvSpPr txBox="1">
            <a:spLocks noChangeAspect="1" noChangeArrowheads="1"/>
          </p:cNvSpPr>
          <p:nvPr/>
        </p:nvSpPr>
        <p:spPr bwMode="auto">
          <a:xfrm>
            <a:off x="6197825" y="4444872"/>
            <a:ext cx="600075"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F</a:t>
            </a:r>
            <a:r>
              <a:rPr kumimoji="1" lang="en-US" altLang="zh-CN" sz="2400" b="0" i="0" u="none" strike="noStrike" kern="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rPr>
              <a:t>N</a:t>
            </a:r>
            <a:endParaRPr kumimoji="1"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144" name="Text Box 95"/>
          <p:cNvSpPr txBox="1">
            <a:spLocks noChangeAspect="1" noChangeArrowheads="1"/>
          </p:cNvSpPr>
          <p:nvPr/>
        </p:nvSpPr>
        <p:spPr bwMode="auto">
          <a:xfrm>
            <a:off x="8326663" y="4802060"/>
            <a:ext cx="914400"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hangingPunct="1"/>
            <a:r>
              <a:rPr lang="en-US" altLang="zh-CN" b="0" i="0">
                <a:solidFill>
                  <a:srgbClr val="000000"/>
                </a:solidFill>
                <a:ea typeface="宋体" panose="02010600030101010101" pitchFamily="2" charset="-122"/>
              </a:rPr>
              <a:t>6kN</a:t>
            </a:r>
          </a:p>
        </p:txBody>
      </p:sp>
      <p:sp>
        <p:nvSpPr>
          <p:cNvPr id="145" name="Text Box 96"/>
          <p:cNvSpPr txBox="1">
            <a:spLocks noChangeAspect="1" noChangeArrowheads="1"/>
          </p:cNvSpPr>
          <p:nvPr/>
        </p:nvSpPr>
        <p:spPr bwMode="auto">
          <a:xfrm>
            <a:off x="6913788" y="5873622"/>
            <a:ext cx="915987"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hangingPunct="1"/>
            <a:r>
              <a:rPr lang="en-US" altLang="zh-CN" b="0" i="0" dirty="0">
                <a:solidFill>
                  <a:srgbClr val="000000"/>
                </a:solidFill>
                <a:ea typeface="宋体" panose="02010600030101010101" pitchFamily="2" charset="-122"/>
              </a:rPr>
              <a:t>14kN</a:t>
            </a:r>
          </a:p>
        </p:txBody>
      </p:sp>
      <p:sp>
        <p:nvSpPr>
          <p:cNvPr id="146" name="Oval 97"/>
          <p:cNvSpPr>
            <a:spLocks noChangeArrowheads="1"/>
          </p:cNvSpPr>
          <p:nvPr/>
        </p:nvSpPr>
        <p:spPr bwMode="auto">
          <a:xfrm>
            <a:off x="6639150" y="5908547"/>
            <a:ext cx="74613" cy="74613"/>
          </a:xfrm>
          <a:prstGeom prst="ellipse">
            <a:avLst/>
          </a:prstGeom>
          <a:solidFill>
            <a:srgbClr val="FF0000"/>
          </a:solidFill>
          <a:ln w="9525">
            <a:solidFill>
              <a:srgbClr val="000000"/>
            </a:solidFill>
            <a:round/>
            <a:headEnd/>
            <a:tailEnd/>
          </a:ln>
        </p:spPr>
        <p:txBody>
          <a:bodyPr wrap="none" anchor="ct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47" name="Oval 98"/>
          <p:cNvSpPr>
            <a:spLocks noChangeArrowheads="1"/>
          </p:cNvSpPr>
          <p:nvPr/>
        </p:nvSpPr>
        <p:spPr bwMode="auto">
          <a:xfrm>
            <a:off x="7944075" y="5167185"/>
            <a:ext cx="74613" cy="74612"/>
          </a:xfrm>
          <a:prstGeom prst="ellipse">
            <a:avLst/>
          </a:prstGeom>
          <a:solidFill>
            <a:srgbClr val="FF0000"/>
          </a:solidFill>
          <a:ln w="9525">
            <a:solidFill>
              <a:srgbClr val="000000"/>
            </a:solidFill>
            <a:round/>
            <a:headEnd/>
            <a:tailEnd/>
          </a:ln>
        </p:spPr>
        <p:txBody>
          <a:bodyPr wrap="none" anchor="ct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48" name="Line 101"/>
          <p:cNvSpPr>
            <a:spLocks noChangeAspect="1" noChangeShapeType="1"/>
          </p:cNvSpPr>
          <p:nvPr/>
        </p:nvSpPr>
        <p:spPr bwMode="auto">
          <a:xfrm flipV="1">
            <a:off x="7972650" y="5210047"/>
            <a:ext cx="1439863" cy="0"/>
          </a:xfrm>
          <a:prstGeom prst="line">
            <a:avLst/>
          </a:prstGeom>
          <a:noFill/>
          <a:ln w="19050">
            <a:solidFill>
              <a:srgbClr val="000000"/>
            </a:solidFill>
            <a:round/>
            <a:headEnd/>
            <a:tailEnd type="none" w="sm" len="sm"/>
          </a:ln>
          <a:extLst>
            <a:ext uri="{909E8E84-426E-40DD-AFC4-6F175D3DCCD1}">
              <a14:hiddenFill xmlns:a14="http://schemas.microsoft.com/office/drawing/2010/main">
                <a:noFill/>
              </a14:hiddenFill>
            </a:ext>
          </a:extLst>
        </p:spPr>
        <p:txBody>
          <a:bodyPr/>
          <a:lstStyle/>
          <a:p>
            <a:pPr algn="ctr"/>
            <a:endParaRPr kumimoji="1" lang="zh-CN" altLang="en-US" b="0" i="0">
              <a:solidFill>
                <a:srgbClr val="FFFFFF"/>
              </a:solidFill>
              <a:ea typeface="黑体" panose="02010609060101010101" pitchFamily="49" charset="-122"/>
            </a:endParaRPr>
          </a:p>
        </p:txBody>
      </p:sp>
      <p:sp>
        <p:nvSpPr>
          <p:cNvPr id="149" name="Line 102"/>
          <p:cNvSpPr>
            <a:spLocks noChangeAspect="1" noChangeShapeType="1"/>
          </p:cNvSpPr>
          <p:nvPr/>
        </p:nvSpPr>
        <p:spPr bwMode="auto">
          <a:xfrm flipV="1">
            <a:off x="9412513" y="4746497"/>
            <a:ext cx="1503362" cy="0"/>
          </a:xfrm>
          <a:prstGeom prst="line">
            <a:avLst/>
          </a:prstGeom>
          <a:noFill/>
          <a:ln w="19050">
            <a:solidFill>
              <a:srgbClr val="000000"/>
            </a:solidFill>
            <a:round/>
            <a:headEnd/>
            <a:tailEnd type="none" w="sm" len="sm"/>
          </a:ln>
          <a:extLst>
            <a:ext uri="{909E8E84-426E-40DD-AFC4-6F175D3DCCD1}">
              <a14:hiddenFill xmlns:a14="http://schemas.microsoft.com/office/drawing/2010/main">
                <a:noFill/>
              </a14:hiddenFill>
            </a:ext>
          </a:extLst>
        </p:spPr>
        <p:txBody>
          <a:bodyPr/>
          <a:lstStyle/>
          <a:p>
            <a:pPr algn="ctr"/>
            <a:endParaRPr kumimoji="1" lang="zh-CN" altLang="en-US" b="0" i="0">
              <a:solidFill>
                <a:srgbClr val="FFFFFF"/>
              </a:solidFill>
              <a:ea typeface="黑体" panose="02010609060101010101" pitchFamily="49" charset="-122"/>
            </a:endParaRPr>
          </a:p>
        </p:txBody>
      </p:sp>
      <p:sp>
        <p:nvSpPr>
          <p:cNvPr id="150" name="Line 103"/>
          <p:cNvSpPr>
            <a:spLocks noChangeAspect="1" noChangeShapeType="1"/>
          </p:cNvSpPr>
          <p:nvPr/>
        </p:nvSpPr>
        <p:spPr bwMode="auto">
          <a:xfrm flipH="1">
            <a:off x="10909525" y="4740147"/>
            <a:ext cx="0" cy="704850"/>
          </a:xfrm>
          <a:prstGeom prst="line">
            <a:avLst/>
          </a:prstGeom>
          <a:noFill/>
          <a:ln w="19050">
            <a:solidFill>
              <a:srgbClr val="000000"/>
            </a:solidFill>
            <a:round/>
            <a:headEnd/>
            <a:tailEnd type="none" w="sm" len="sm"/>
          </a:ln>
          <a:extLst>
            <a:ext uri="{909E8E84-426E-40DD-AFC4-6F175D3DCCD1}">
              <a14:hiddenFill xmlns:a14="http://schemas.microsoft.com/office/drawing/2010/main">
                <a:noFill/>
              </a14:hiddenFill>
            </a:ext>
          </a:extLst>
        </p:spPr>
        <p:txBody>
          <a:bodyPr/>
          <a:lstStyle/>
          <a:p>
            <a:pPr algn="ctr"/>
            <a:endParaRPr kumimoji="1" lang="zh-CN" altLang="en-US" b="0" i="0">
              <a:solidFill>
                <a:srgbClr val="FFFFFF"/>
              </a:solidFill>
              <a:ea typeface="黑体" panose="02010609060101010101" pitchFamily="49" charset="-122"/>
            </a:endParaRPr>
          </a:p>
        </p:txBody>
      </p:sp>
      <p:sp>
        <p:nvSpPr>
          <p:cNvPr id="151" name="Text Box 104"/>
          <p:cNvSpPr txBox="1">
            <a:spLocks noChangeAspect="1" noChangeArrowheads="1"/>
          </p:cNvSpPr>
          <p:nvPr/>
        </p:nvSpPr>
        <p:spPr bwMode="auto">
          <a:xfrm>
            <a:off x="9712550" y="4317872"/>
            <a:ext cx="914400"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hangingPunct="1"/>
            <a:r>
              <a:rPr lang="en-US" altLang="zh-CN" b="0" i="0" dirty="0">
                <a:solidFill>
                  <a:srgbClr val="000000"/>
                </a:solidFill>
                <a:ea typeface="宋体" panose="02010600030101010101" pitchFamily="2" charset="-122"/>
              </a:rPr>
              <a:t>16kN</a:t>
            </a:r>
          </a:p>
        </p:txBody>
      </p:sp>
      <p:sp>
        <p:nvSpPr>
          <p:cNvPr id="152" name="Oval 105"/>
          <p:cNvSpPr>
            <a:spLocks noChangeArrowheads="1"/>
          </p:cNvSpPr>
          <p:nvPr/>
        </p:nvSpPr>
        <p:spPr bwMode="auto">
          <a:xfrm>
            <a:off x="9383938" y="4697285"/>
            <a:ext cx="74612" cy="74612"/>
          </a:xfrm>
          <a:prstGeom prst="ellipse">
            <a:avLst/>
          </a:prstGeom>
          <a:solidFill>
            <a:srgbClr val="FF0000"/>
          </a:solidFill>
          <a:ln w="9525">
            <a:solidFill>
              <a:srgbClr val="000000"/>
            </a:solidFill>
            <a:round/>
            <a:headEnd/>
            <a:tailEnd/>
          </a:ln>
        </p:spPr>
        <p:txBody>
          <a:bodyPr wrap="none" anchor="ct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53" name="Text Box 106"/>
          <p:cNvSpPr txBox="1">
            <a:spLocks noChangeAspect="1" noChangeArrowheads="1"/>
          </p:cNvSpPr>
          <p:nvPr/>
        </p:nvSpPr>
        <p:spPr bwMode="auto">
          <a:xfrm>
            <a:off x="11201625" y="5294185"/>
            <a:ext cx="398463" cy="57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x</a:t>
            </a:r>
            <a:endPar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ndParaRPr>
          </a:p>
        </p:txBody>
      </p:sp>
      <p:sp>
        <p:nvSpPr>
          <p:cNvPr id="155" name="Text Box 96"/>
          <p:cNvSpPr txBox="1">
            <a:spLocks noChangeAspect="1" noChangeArrowheads="1"/>
          </p:cNvSpPr>
          <p:nvPr/>
        </p:nvSpPr>
        <p:spPr bwMode="auto">
          <a:xfrm>
            <a:off x="8783069" y="5873622"/>
            <a:ext cx="1201363"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hangingPunct="1"/>
            <a:r>
              <a:rPr lang="zh-CN" altLang="en-US" i="0" dirty="0">
                <a:solidFill>
                  <a:srgbClr val="FF00FF"/>
                </a:solidFill>
                <a:latin typeface="黑体" panose="02010609060101010101" pitchFamily="49" charset="-122"/>
              </a:rPr>
              <a:t>轴力图</a:t>
            </a:r>
            <a:endParaRPr lang="en-US" altLang="zh-CN" i="0" dirty="0">
              <a:solidFill>
                <a:srgbClr val="FF00FF"/>
              </a:solidFill>
              <a:latin typeface="黑体" panose="02010609060101010101" pitchFamily="49" charset="-122"/>
            </a:endParaRPr>
          </a:p>
        </p:txBody>
      </p:sp>
      <p:sp>
        <p:nvSpPr>
          <p:cNvPr id="156" name="矩形 155">
            <a:extLst>
              <a:ext uri="{FF2B5EF4-FFF2-40B4-BE49-F238E27FC236}">
                <a16:creationId xmlns:a16="http://schemas.microsoft.com/office/drawing/2014/main" id="{396E3A4E-3DCE-51D1-DE56-78AC0CFE008B}"/>
              </a:ext>
            </a:extLst>
          </p:cNvPr>
          <p:cNvSpPr/>
          <p:nvPr/>
        </p:nvSpPr>
        <p:spPr>
          <a:xfrm>
            <a:off x="551384" y="3106087"/>
            <a:ext cx="5127330" cy="3194721"/>
          </a:xfrm>
          <a:prstGeom prst="rect">
            <a:avLst/>
          </a:prstGeom>
        </p:spPr>
        <p:txBody>
          <a:bodyPr wrap="square">
            <a:spAutoFit/>
          </a:bodyPr>
          <a:lstStyle/>
          <a:p>
            <a:pPr lvl="0">
              <a:lnSpc>
                <a:spcPct val="120000"/>
              </a:lnSpc>
            </a:pPr>
            <a:r>
              <a:rPr kumimoji="1" lang="en-US" altLang="zh-CN" i="0" dirty="0">
                <a:solidFill>
                  <a:schemeClr val="tx1"/>
                </a:solidFill>
                <a:ea typeface="黑体" panose="02010609060101010101" pitchFamily="49" charset="-122"/>
              </a:rPr>
              <a:t>     2</a:t>
            </a:r>
            <a:r>
              <a:rPr kumimoji="1" lang="zh-CN" altLang="en-US" i="0" dirty="0">
                <a:solidFill>
                  <a:schemeClr val="tx1"/>
                </a:solidFill>
                <a:ea typeface="黑体" panose="02010609060101010101" pitchFamily="49" charset="-122"/>
              </a:rPr>
              <a:t>）分段计算轴力。由于在横截面</a:t>
            </a:r>
            <a:r>
              <a:rPr kumimoji="1" lang="en-US" altLang="zh-CN" b="0" dirty="0">
                <a:solidFill>
                  <a:schemeClr val="tx1"/>
                </a:solidFill>
                <a:ea typeface="黑体" panose="02010609060101010101" pitchFamily="49" charset="-122"/>
              </a:rPr>
              <a:t>B</a:t>
            </a:r>
            <a:r>
              <a:rPr kumimoji="1" lang="zh-CN" altLang="en-US" i="0" dirty="0">
                <a:solidFill>
                  <a:schemeClr val="tx1"/>
                </a:solidFill>
                <a:ea typeface="黑体" panose="02010609060101010101" pitchFamily="49" charset="-122"/>
              </a:rPr>
              <a:t>和</a:t>
            </a:r>
            <a:r>
              <a:rPr kumimoji="1" lang="en-US" altLang="zh-CN" b="0" dirty="0">
                <a:solidFill>
                  <a:schemeClr val="tx1"/>
                </a:solidFill>
                <a:ea typeface="黑体" panose="02010609060101010101" pitchFamily="49" charset="-122"/>
              </a:rPr>
              <a:t>C</a:t>
            </a:r>
            <a:r>
              <a:rPr kumimoji="1" lang="zh-CN" altLang="en-US" i="0" dirty="0">
                <a:solidFill>
                  <a:schemeClr val="tx1"/>
                </a:solidFill>
                <a:ea typeface="黑体" panose="02010609060101010101" pitchFamily="49" charset="-122"/>
              </a:rPr>
              <a:t>上有外力作用，故将杆分为</a:t>
            </a:r>
            <a:r>
              <a:rPr kumimoji="1" lang="en-US" altLang="zh-CN" b="0" i="0" dirty="0">
                <a:solidFill>
                  <a:schemeClr val="tx1"/>
                </a:solidFill>
                <a:ea typeface="黑体" panose="02010609060101010101" pitchFamily="49" charset="-122"/>
              </a:rPr>
              <a:t>3</a:t>
            </a:r>
            <a:r>
              <a:rPr kumimoji="1" lang="zh-CN" altLang="en-US" i="0" dirty="0">
                <a:solidFill>
                  <a:schemeClr val="tx1"/>
                </a:solidFill>
                <a:ea typeface="黑体" panose="02010609060101010101" pitchFamily="49" charset="-122"/>
              </a:rPr>
              <a:t>段。</a:t>
            </a:r>
          </a:p>
          <a:p>
            <a:pPr algn="just" eaLnBrk="1" hangingPunct="1">
              <a:lnSpc>
                <a:spcPct val="120000"/>
              </a:lnSpc>
            </a:pPr>
            <a:r>
              <a:rPr kumimoji="1" lang="zh-CN" altLang="en-US" i="0" dirty="0">
                <a:solidFill>
                  <a:schemeClr val="tx1"/>
                </a:solidFill>
                <a:ea typeface="黑体" panose="02010609060101010101" pitchFamily="49" charset="-122"/>
              </a:rPr>
              <a:t>用截面法截取如图的研究对象后，得 </a:t>
            </a:r>
          </a:p>
          <a:p>
            <a:pPr lvl="0">
              <a:lnSpc>
                <a:spcPct val="120000"/>
              </a:lnSpc>
            </a:pPr>
            <a:r>
              <a:rPr lang="en-US" altLang="zh-CN" dirty="0">
                <a:solidFill>
                  <a:schemeClr val="tx1"/>
                </a:solidFill>
              </a:rPr>
              <a:t> </a:t>
            </a:r>
            <a:r>
              <a:rPr kumimoji="1" lang="en-US" altLang="zh-CN" b="0" dirty="0">
                <a:solidFill>
                  <a:schemeClr val="tx1"/>
                </a:solidFill>
                <a:ea typeface="黑体" panose="02010609060101010101" pitchFamily="49" charset="-122"/>
              </a:rPr>
              <a:t>   F</a:t>
            </a:r>
            <a:r>
              <a:rPr kumimoji="1" lang="en-US" altLang="zh-CN" b="0" i="0" baseline="-25000" dirty="0">
                <a:solidFill>
                  <a:schemeClr val="tx1"/>
                </a:solidFill>
                <a:ea typeface="黑体" panose="02010609060101010101" pitchFamily="49" charset="-122"/>
              </a:rPr>
              <a:t>N1</a:t>
            </a:r>
            <a:r>
              <a:rPr kumimoji="1" lang="zh-CN" altLang="en-US" b="0"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rPr>
              <a:t>F</a:t>
            </a:r>
            <a:r>
              <a:rPr kumimoji="1" lang="en-US" altLang="zh-CN" b="0" i="0" baseline="-25000" dirty="0">
                <a:solidFill>
                  <a:schemeClr val="tx1"/>
                </a:solidFill>
                <a:ea typeface="黑体" panose="02010609060101010101" pitchFamily="49" charset="-122"/>
              </a:rPr>
              <a:t>1</a:t>
            </a:r>
            <a:r>
              <a:rPr kumimoji="1" lang="zh-CN" altLang="en-US" b="0" i="0" dirty="0">
                <a:solidFill>
                  <a:schemeClr val="tx1"/>
                </a:solidFill>
                <a:ea typeface="黑体" panose="02010609060101010101" pitchFamily="49" charset="-122"/>
              </a:rPr>
              <a:t>＝</a:t>
            </a:r>
            <a:r>
              <a:rPr kumimoji="1" lang="en-US" altLang="zh-CN" b="0" i="0" dirty="0">
                <a:solidFill>
                  <a:schemeClr val="tx1"/>
                </a:solidFill>
                <a:ea typeface="黑体" panose="02010609060101010101" pitchFamily="49" charset="-122"/>
              </a:rPr>
              <a:t>16kN</a:t>
            </a:r>
            <a:r>
              <a:rPr kumimoji="1" lang="zh-CN" altLang="en-US" b="0"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rPr>
              <a:t>F</a:t>
            </a:r>
            <a:r>
              <a:rPr kumimoji="1" lang="en-US" altLang="zh-CN" b="0" i="0" baseline="-25000" dirty="0">
                <a:solidFill>
                  <a:schemeClr val="tx1"/>
                </a:solidFill>
                <a:ea typeface="黑体" panose="02010609060101010101" pitchFamily="49" charset="-122"/>
              </a:rPr>
              <a:t>N2</a:t>
            </a:r>
            <a:r>
              <a:rPr kumimoji="1" lang="zh-CN" altLang="en-US" b="0"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rPr>
              <a:t>F</a:t>
            </a:r>
            <a:r>
              <a:rPr kumimoji="1" lang="en-US" altLang="zh-CN" b="0" i="0" baseline="-25000" dirty="0">
                <a:solidFill>
                  <a:schemeClr val="tx1"/>
                </a:solidFill>
                <a:ea typeface="黑体" panose="02010609060101010101" pitchFamily="49" charset="-122"/>
              </a:rPr>
              <a:t>1</a:t>
            </a:r>
            <a:r>
              <a:rPr kumimoji="1" lang="en-US" altLang="zh-CN" b="0" i="0" dirty="0">
                <a:solidFill>
                  <a:schemeClr val="tx1"/>
                </a:solidFill>
                <a:latin typeface="宋体" panose="02010600030101010101" pitchFamily="2" charset="-122"/>
              </a:rPr>
              <a:t>-</a:t>
            </a:r>
            <a:r>
              <a:rPr kumimoji="1" lang="en-US" altLang="zh-CN" b="0" dirty="0">
                <a:solidFill>
                  <a:schemeClr val="tx1"/>
                </a:solidFill>
                <a:ea typeface="黑体" panose="02010609060101010101" pitchFamily="49" charset="-122"/>
              </a:rPr>
              <a:t>F</a:t>
            </a:r>
            <a:r>
              <a:rPr kumimoji="1" lang="en-US" altLang="zh-CN" b="0" i="0" baseline="-25000" dirty="0">
                <a:solidFill>
                  <a:schemeClr val="tx1"/>
                </a:solidFill>
                <a:ea typeface="黑体" panose="02010609060101010101" pitchFamily="49" charset="-122"/>
              </a:rPr>
              <a:t>2</a:t>
            </a:r>
            <a:r>
              <a:rPr kumimoji="1" lang="zh-CN" altLang="en-US" b="0" i="0" dirty="0">
                <a:solidFill>
                  <a:schemeClr val="tx1"/>
                </a:solidFill>
                <a:ea typeface="黑体" panose="02010609060101010101" pitchFamily="49" charset="-122"/>
              </a:rPr>
              <a:t>＝</a:t>
            </a:r>
            <a:r>
              <a:rPr kumimoji="1" lang="en-US" altLang="zh-CN" b="0" i="0" dirty="0">
                <a:solidFill>
                  <a:schemeClr val="tx1"/>
                </a:solidFill>
                <a:ea typeface="黑体" panose="02010609060101010101" pitchFamily="49" charset="-122"/>
              </a:rPr>
              <a:t>6kN</a:t>
            </a:r>
          </a:p>
          <a:p>
            <a:pPr lvl="0">
              <a:lnSpc>
                <a:spcPct val="120000"/>
              </a:lnSpc>
            </a:pPr>
            <a:r>
              <a:rPr kumimoji="1" lang="en-US" altLang="zh-CN" b="0" i="0" dirty="0">
                <a:solidFill>
                  <a:schemeClr val="tx1"/>
                </a:solidFill>
                <a:ea typeface="黑体" panose="02010609060101010101" pitchFamily="49" charset="-122"/>
              </a:rPr>
              <a:t>   </a:t>
            </a:r>
            <a:r>
              <a:rPr kumimoji="1" lang="en-US" altLang="zh-CN" b="0" dirty="0">
                <a:solidFill>
                  <a:schemeClr val="tx1"/>
                </a:solidFill>
                <a:ea typeface="黑体" panose="02010609060101010101" pitchFamily="49" charset="-122"/>
              </a:rPr>
              <a:t>F</a:t>
            </a:r>
            <a:r>
              <a:rPr kumimoji="1" lang="en-US" altLang="zh-CN" b="0" i="0" baseline="-25000" dirty="0">
                <a:solidFill>
                  <a:schemeClr val="tx1"/>
                </a:solidFill>
                <a:ea typeface="黑体" panose="02010609060101010101" pitchFamily="49" charset="-122"/>
              </a:rPr>
              <a:t>N3</a:t>
            </a:r>
            <a:r>
              <a:rPr kumimoji="1" lang="zh-CN" altLang="en-US" b="0" i="0" dirty="0">
                <a:solidFill>
                  <a:schemeClr val="tx1"/>
                </a:solidFill>
                <a:ea typeface="黑体" panose="02010609060101010101" pitchFamily="49" charset="-122"/>
              </a:rPr>
              <a:t>＝</a:t>
            </a:r>
            <a:r>
              <a:rPr kumimoji="1" lang="en-US" altLang="zh-CN" b="0" i="0" dirty="0">
                <a:solidFill>
                  <a:schemeClr val="tx1"/>
                </a:solidFill>
                <a:latin typeface="宋体" panose="02010600030101010101" pitchFamily="2" charset="-122"/>
              </a:rPr>
              <a:t>-</a:t>
            </a:r>
            <a:r>
              <a:rPr kumimoji="1" lang="en-US" altLang="zh-CN" b="0" dirty="0">
                <a:solidFill>
                  <a:schemeClr val="tx1"/>
                </a:solidFill>
                <a:ea typeface="黑体" panose="02010609060101010101" pitchFamily="49" charset="-122"/>
              </a:rPr>
              <a:t>F</a:t>
            </a:r>
            <a:r>
              <a:rPr kumimoji="1" lang="en-US" altLang="zh-CN" b="0" baseline="-25000" dirty="0">
                <a:solidFill>
                  <a:schemeClr val="tx1"/>
                </a:solidFill>
                <a:ea typeface="黑体" panose="02010609060101010101" pitchFamily="49" charset="-122"/>
              </a:rPr>
              <a:t>D</a:t>
            </a:r>
            <a:r>
              <a:rPr kumimoji="1" lang="zh-CN" altLang="en-US" b="0" i="0" dirty="0">
                <a:solidFill>
                  <a:schemeClr val="tx1"/>
                </a:solidFill>
                <a:ea typeface="黑体" panose="02010609060101010101" pitchFamily="49" charset="-122"/>
              </a:rPr>
              <a:t>＝</a:t>
            </a:r>
            <a:r>
              <a:rPr kumimoji="1" lang="en-US" altLang="zh-CN" b="0" i="0" dirty="0">
                <a:solidFill>
                  <a:schemeClr val="tx1"/>
                </a:solidFill>
                <a:latin typeface="宋体" panose="02010600030101010101" pitchFamily="2" charset="-122"/>
              </a:rPr>
              <a:t>-1</a:t>
            </a:r>
            <a:r>
              <a:rPr kumimoji="1" lang="en-US" altLang="zh-CN" b="0" i="0" dirty="0">
                <a:solidFill>
                  <a:schemeClr val="tx1"/>
                </a:solidFill>
                <a:ea typeface="黑体" panose="02010609060101010101" pitchFamily="49" charset="-122"/>
              </a:rPr>
              <a:t>4kN</a:t>
            </a:r>
          </a:p>
          <a:p>
            <a:pPr lvl="0">
              <a:lnSpc>
                <a:spcPct val="120000"/>
              </a:lnSpc>
            </a:pPr>
            <a:r>
              <a:rPr kumimoji="1" lang="en-US" altLang="zh-CN" b="0" dirty="0">
                <a:solidFill>
                  <a:schemeClr val="tx1"/>
                </a:solidFill>
                <a:ea typeface="黑体" panose="02010609060101010101" pitchFamily="49" charset="-122"/>
              </a:rPr>
              <a:t>   F</a:t>
            </a:r>
            <a:r>
              <a:rPr kumimoji="1" lang="en-US" altLang="zh-CN" b="0" i="0" baseline="-25000" dirty="0">
                <a:solidFill>
                  <a:schemeClr val="tx1"/>
                </a:solidFill>
                <a:ea typeface="黑体" panose="02010609060101010101" pitchFamily="49" charset="-122"/>
              </a:rPr>
              <a:t>N3</a:t>
            </a:r>
            <a:r>
              <a:rPr kumimoji="1" lang="zh-CN" altLang="en-US" i="0" dirty="0">
                <a:solidFill>
                  <a:schemeClr val="tx1"/>
                </a:solidFill>
                <a:ea typeface="黑体" panose="02010609060101010101" pitchFamily="49" charset="-122"/>
              </a:rPr>
              <a:t>为负值，说明实际情况与图中所设</a:t>
            </a:r>
            <a:r>
              <a:rPr kumimoji="1" lang="en-US" altLang="zh-CN" b="0" dirty="0">
                <a:solidFill>
                  <a:schemeClr val="tx1"/>
                </a:solidFill>
                <a:ea typeface="黑体" panose="02010609060101010101" pitchFamily="49" charset="-122"/>
              </a:rPr>
              <a:t>F</a:t>
            </a:r>
            <a:r>
              <a:rPr kumimoji="1" lang="en-US" altLang="zh-CN" b="0" i="0" baseline="-25000" dirty="0">
                <a:solidFill>
                  <a:schemeClr val="tx1"/>
                </a:solidFill>
                <a:ea typeface="黑体" panose="02010609060101010101" pitchFamily="49" charset="-122"/>
              </a:rPr>
              <a:t>N3</a:t>
            </a:r>
            <a:r>
              <a:rPr kumimoji="1" lang="zh-CN" altLang="en-US" i="0" dirty="0">
                <a:solidFill>
                  <a:schemeClr val="tx1"/>
                </a:solidFill>
                <a:ea typeface="黑体" panose="02010609060101010101" pitchFamily="49" charset="-122"/>
              </a:rPr>
              <a:t>的方向相反，应为压力。</a:t>
            </a:r>
            <a:endParaRPr kumimoji="1" lang="en-US" altLang="zh-CN" i="0" dirty="0">
              <a:solidFill>
                <a:schemeClr val="tx1"/>
              </a:solidFill>
              <a:ea typeface="黑体" panose="02010609060101010101" pitchFamily="49" charset="-122"/>
            </a:endParaRPr>
          </a:p>
        </p:txBody>
      </p:sp>
    </p:spTree>
    <p:extLst>
      <p:ext uri="{BB962C8B-B14F-4D97-AF65-F5344CB8AC3E}">
        <p14:creationId xmlns:p14="http://schemas.microsoft.com/office/powerpoint/2010/main" val="3951598342"/>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29"/>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3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86"/>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8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9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8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94"/>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93"/>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37"/>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38"/>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39"/>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40"/>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141"/>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42"/>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143"/>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144"/>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145"/>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146"/>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147"/>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148"/>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149"/>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150"/>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152"/>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153"/>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155"/>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1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 grpId="0"/>
      <p:bldP spid="86" grpId="0" animBg="1"/>
      <p:bldP spid="92" grpId="0" animBg="1"/>
      <p:bldP spid="93" grpId="0"/>
      <p:bldP spid="94" grpId="0" animBg="1"/>
      <p:bldP spid="111" grpId="0"/>
      <p:bldP spid="115" grpId="0" animBg="1"/>
      <p:bldP spid="128" grpId="0"/>
      <p:bldP spid="129" grpId="0" animBg="1"/>
      <p:bldP spid="136" grpId="0"/>
      <p:bldP spid="137" grpId="0" animBg="1"/>
      <p:bldP spid="138" grpId="0" animBg="1"/>
      <p:bldP spid="139" grpId="0" animBg="1"/>
      <p:bldP spid="140" grpId="0" animBg="1"/>
      <p:bldP spid="141" grpId="0" animBg="1"/>
      <p:bldP spid="142" grpId="0" animBg="1"/>
      <p:bldP spid="143" grpId="0"/>
      <p:bldP spid="144" grpId="0"/>
      <p:bldP spid="145" grpId="0"/>
      <p:bldP spid="146" grpId="0" animBg="1"/>
      <p:bldP spid="147" grpId="0" animBg="1"/>
      <p:bldP spid="148" grpId="0" animBg="1"/>
      <p:bldP spid="149" grpId="0" animBg="1"/>
      <p:bldP spid="150" grpId="0" animBg="1"/>
      <p:bldP spid="151" grpId="0"/>
      <p:bldP spid="152" grpId="0" animBg="1"/>
      <p:bldP spid="153" grpId="0"/>
      <p:bldP spid="155" grpId="0"/>
      <p:bldP spid="15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711605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第八章   拉压、剪切与挤压的强度计算</a:t>
            </a:r>
          </a:p>
        </p:txBody>
      </p:sp>
      <p:sp>
        <p:nvSpPr>
          <p:cNvPr id="5" name="Rectangle 2"/>
          <p:cNvSpPr>
            <a:spLocks noChangeArrowheads="1"/>
          </p:cNvSpPr>
          <p:nvPr/>
        </p:nvSpPr>
        <p:spPr bwMode="auto">
          <a:xfrm>
            <a:off x="164442" y="928670"/>
            <a:ext cx="9747982"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3000" i="0" dirty="0">
                <a:solidFill>
                  <a:schemeClr val="accent6">
                    <a:lumMod val="75000"/>
                  </a:schemeClr>
                </a:solidFill>
                <a:latin typeface="+mn-lt"/>
                <a:ea typeface="微软雅黑" panose="020B0503020204020204" pitchFamily="34" charset="-122"/>
              </a:rPr>
              <a:t>§8-2  </a:t>
            </a:r>
            <a:r>
              <a:rPr lang="zh-CN" altLang="en-US" sz="3000" i="0" dirty="0">
                <a:solidFill>
                  <a:schemeClr val="accent6">
                    <a:lumMod val="75000"/>
                  </a:schemeClr>
                </a:solidFill>
                <a:latin typeface="+mn-lt"/>
                <a:ea typeface="微软雅黑" panose="020B0503020204020204" pitchFamily="34" charset="-122"/>
              </a:rPr>
              <a:t>拉、压杆横截面上的应力、应变及胡克定律 </a:t>
            </a:r>
          </a:p>
        </p:txBody>
      </p:sp>
      <p:sp>
        <p:nvSpPr>
          <p:cNvPr id="9" name="Rectangle 61"/>
          <p:cNvSpPr>
            <a:spLocks noChangeArrowheads="1"/>
          </p:cNvSpPr>
          <p:nvPr/>
        </p:nvSpPr>
        <p:spPr bwMode="auto">
          <a:xfrm>
            <a:off x="1127448" y="4117856"/>
            <a:ext cx="9577064" cy="2119456"/>
          </a:xfrm>
          <a:prstGeom prst="rect">
            <a:avLst/>
          </a:prstGeom>
          <a:solidFill>
            <a:srgbClr val="B9CDE5"/>
          </a:solidFill>
          <a:ln>
            <a:noFill/>
          </a:ln>
          <a:effectLst/>
        </p:spPr>
        <p:txBody>
          <a:bodyPr wrap="none" anchor="ctr"/>
          <a:lstStyle/>
          <a:p>
            <a:endParaRPr lang="zh-CN" altLang="en-US"/>
          </a:p>
        </p:txBody>
      </p:sp>
      <p:sp>
        <p:nvSpPr>
          <p:cNvPr id="53" name="Text Box 1032"/>
          <p:cNvSpPr txBox="1">
            <a:spLocks noChangeArrowheads="1"/>
          </p:cNvSpPr>
          <p:nvPr/>
        </p:nvSpPr>
        <p:spPr bwMode="auto">
          <a:xfrm>
            <a:off x="335361" y="1888523"/>
            <a:ext cx="11665295" cy="21165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pPr>
            <a:r>
              <a:rPr lang="zh-CN" altLang="en-US" sz="2800" i="0" dirty="0">
                <a:latin typeface="+mj-lt"/>
                <a:ea typeface="微软雅黑" panose="020B0503020204020204" pitchFamily="34" charset="-122"/>
              </a:rPr>
              <a:t>用同一材料制成而横截面积不同的两杆，在相同拉力的作用下，随着拉力的增大，横截面小的杆件必然先被拉断。这说明，杆的强度不仅与轴力的大小有关，而且还与横截面的大小有关，即杆的强度取决于内力在横截面上分布的密集程度。分布内力在某点处的集度，即为该点处的</a:t>
            </a:r>
            <a:r>
              <a:rPr lang="zh-CN" altLang="en-US" sz="2800" i="0" dirty="0">
                <a:solidFill>
                  <a:srgbClr val="FF0000"/>
                </a:solidFill>
                <a:latin typeface="+mj-lt"/>
                <a:ea typeface="微软雅黑" panose="020B0503020204020204" pitchFamily="34" charset="-122"/>
              </a:rPr>
              <a:t>应力</a:t>
            </a:r>
            <a:r>
              <a:rPr lang="zh-CN" altLang="en-US" sz="2800" i="0" dirty="0">
                <a:latin typeface="+mj-lt"/>
                <a:ea typeface="微软雅黑" panose="020B0503020204020204" pitchFamily="34" charset="-122"/>
              </a:rPr>
              <a:t>。</a:t>
            </a:r>
          </a:p>
        </p:txBody>
      </p:sp>
      <p:sp>
        <p:nvSpPr>
          <p:cNvPr id="2" name="矩形 1"/>
          <p:cNvSpPr/>
          <p:nvPr/>
        </p:nvSpPr>
        <p:spPr>
          <a:xfrm>
            <a:off x="2850501" y="1416220"/>
            <a:ext cx="5299849" cy="599331"/>
          </a:xfrm>
          <a:prstGeom prst="rect">
            <a:avLst/>
          </a:prstGeom>
        </p:spPr>
        <p:txBody>
          <a:bodyPr wrap="none">
            <a:spAutoFit/>
          </a:bodyPr>
          <a:lstStyle/>
          <a:p>
            <a:pPr>
              <a:lnSpc>
                <a:spcPct val="120000"/>
              </a:lnSpc>
            </a:pPr>
            <a:r>
              <a:rPr lang="zh-CN" altLang="en-US" sz="3000" i="0" dirty="0">
                <a:solidFill>
                  <a:srgbClr val="4F81BD"/>
                </a:solidFill>
                <a:latin typeface="微软雅黑" panose="020B0503020204020204" pitchFamily="34" charset="-122"/>
                <a:ea typeface="微软雅黑" panose="020B0503020204020204" pitchFamily="34" charset="-122"/>
              </a:rPr>
              <a:t>杆件在一般情况下应力的概念 </a:t>
            </a:r>
          </a:p>
        </p:txBody>
      </p:sp>
      <p:grpSp>
        <p:nvGrpSpPr>
          <p:cNvPr id="114" name="Group 12"/>
          <p:cNvGrpSpPr>
            <a:grpSpLocks/>
          </p:cNvGrpSpPr>
          <p:nvPr/>
        </p:nvGrpSpPr>
        <p:grpSpPr bwMode="auto">
          <a:xfrm>
            <a:off x="3428529" y="4307976"/>
            <a:ext cx="5195888" cy="461177"/>
            <a:chOff x="1648" y="888"/>
            <a:chExt cx="2976" cy="193"/>
          </a:xfrm>
        </p:grpSpPr>
        <p:sp>
          <p:nvSpPr>
            <p:cNvPr id="115" name="Rectangle 13"/>
            <p:cNvSpPr>
              <a:spLocks noChangeArrowheads="1"/>
            </p:cNvSpPr>
            <p:nvPr/>
          </p:nvSpPr>
          <p:spPr bwMode="auto">
            <a:xfrm>
              <a:off x="2224" y="984"/>
              <a:ext cx="1584" cy="96"/>
            </a:xfrm>
            <a:prstGeom prst="rect">
              <a:avLst/>
            </a:prstGeom>
            <a:solidFill>
              <a:schemeClr val="accent1"/>
            </a:solidFill>
            <a:ln w="9525">
              <a:solidFill>
                <a:schemeClr val="tx1"/>
              </a:solidFill>
              <a:miter lim="800000"/>
              <a:headEnd/>
              <a:tailEnd/>
            </a:ln>
          </p:spPr>
          <p:txBody>
            <a:bodyPr wrap="none" anchor="ctr"/>
            <a:lstStyle/>
            <a:p>
              <a:pPr eaLnBrk="1" hangingPunct="1">
                <a:buFontTx/>
                <a:buChar char="•"/>
              </a:pPr>
              <a:endParaRPr lang="zh-CN" altLang="en-US"/>
            </a:p>
          </p:txBody>
        </p:sp>
        <p:sp>
          <p:nvSpPr>
            <p:cNvPr id="116" name="Line 14"/>
            <p:cNvSpPr>
              <a:spLocks noChangeShapeType="1"/>
            </p:cNvSpPr>
            <p:nvPr/>
          </p:nvSpPr>
          <p:spPr bwMode="auto">
            <a:xfrm flipH="1">
              <a:off x="1888" y="1032"/>
              <a:ext cx="336" cy="0"/>
            </a:xfrm>
            <a:prstGeom prst="line">
              <a:avLst/>
            </a:prstGeom>
            <a:noFill/>
            <a:ln w="38100">
              <a:solidFill>
                <a:schemeClr val="tx1"/>
              </a:solidFill>
              <a:round/>
              <a:headEnd/>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7" name="Line 15"/>
            <p:cNvSpPr>
              <a:spLocks noChangeShapeType="1"/>
            </p:cNvSpPr>
            <p:nvPr/>
          </p:nvSpPr>
          <p:spPr bwMode="auto">
            <a:xfrm>
              <a:off x="3808" y="1032"/>
              <a:ext cx="336" cy="0"/>
            </a:xfrm>
            <a:prstGeom prst="line">
              <a:avLst/>
            </a:prstGeom>
            <a:noFill/>
            <a:ln w="38100">
              <a:solidFill>
                <a:schemeClr val="tx1"/>
              </a:solidFill>
              <a:round/>
              <a:headEnd/>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8" name="Text Box 16"/>
            <p:cNvSpPr txBox="1">
              <a:spLocks noChangeArrowheads="1"/>
            </p:cNvSpPr>
            <p:nvPr/>
          </p:nvSpPr>
          <p:spPr bwMode="auto">
            <a:xfrm>
              <a:off x="1648" y="888"/>
              <a:ext cx="288" cy="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Times New Roman" pitchFamily="18" charset="0"/>
                  <a:ea typeface="宋体" pitchFamily="2" charset="-122"/>
                </a:defRPr>
              </a:lvl1pPr>
              <a:lvl2pPr>
                <a:defRPr sz="2000">
                  <a:solidFill>
                    <a:schemeClr val="tx1"/>
                  </a:solidFill>
                  <a:latin typeface="Times New Roman" pitchFamily="18" charset="0"/>
                  <a:ea typeface="宋体" pitchFamily="2" charset="-122"/>
                </a:defRPr>
              </a:lvl2pPr>
              <a:lvl3pPr>
                <a:defRPr sz="2000">
                  <a:solidFill>
                    <a:schemeClr val="tx1"/>
                  </a:solidFill>
                  <a:latin typeface="Times New Roman" pitchFamily="18" charset="0"/>
                  <a:ea typeface="宋体" pitchFamily="2" charset="-122"/>
                </a:defRPr>
              </a:lvl3pPr>
              <a:lvl4pPr>
                <a:defRPr sz="2000">
                  <a:solidFill>
                    <a:schemeClr val="tx1"/>
                  </a:solidFill>
                  <a:latin typeface="Times New Roman" pitchFamily="18" charset="0"/>
                  <a:ea typeface="宋体" pitchFamily="2" charset="-122"/>
                </a:defRPr>
              </a:lvl4pPr>
              <a:lvl5pPr>
                <a:defRPr sz="2000">
                  <a:solidFill>
                    <a:schemeClr val="tx1"/>
                  </a:solidFill>
                  <a:latin typeface="Times New Roman" pitchFamily="18" charset="0"/>
                  <a:ea typeface="宋体" pitchFamily="2" charset="-122"/>
                </a:defRPr>
              </a:lvl5pPr>
              <a:lvl6pPr eaLnBrk="0" hangingPunct="0">
                <a:defRPr sz="2000">
                  <a:solidFill>
                    <a:schemeClr val="tx1"/>
                  </a:solidFill>
                  <a:latin typeface="Times New Roman" pitchFamily="18" charset="0"/>
                  <a:ea typeface="宋体" pitchFamily="2" charset="-122"/>
                </a:defRPr>
              </a:lvl6pPr>
              <a:lvl7pPr eaLnBrk="0" hangingPunct="0">
                <a:defRPr sz="2000">
                  <a:solidFill>
                    <a:schemeClr val="tx1"/>
                  </a:solidFill>
                  <a:latin typeface="Times New Roman" pitchFamily="18" charset="0"/>
                  <a:ea typeface="宋体" pitchFamily="2" charset="-122"/>
                </a:defRPr>
              </a:lvl7pPr>
              <a:lvl8pPr eaLnBrk="0" hangingPunct="0">
                <a:defRPr sz="2000">
                  <a:solidFill>
                    <a:schemeClr val="tx1"/>
                  </a:solidFill>
                  <a:latin typeface="Times New Roman" pitchFamily="18" charset="0"/>
                  <a:ea typeface="宋体" pitchFamily="2" charset="-122"/>
                </a:defRPr>
              </a:lvl8pPr>
              <a:lvl9pPr eaLnBrk="0" hangingPunct="0">
                <a:defRPr sz="2000">
                  <a:solidFill>
                    <a:schemeClr val="tx1"/>
                  </a:solidFill>
                  <a:latin typeface="Times New Roman" pitchFamily="18" charset="0"/>
                  <a:ea typeface="宋体" pitchFamily="2" charset="-122"/>
                </a:defRPr>
              </a:lvl9pPr>
            </a:lstStyle>
            <a:p>
              <a:pPr eaLnBrk="1" hangingPunct="1">
                <a:spcBef>
                  <a:spcPct val="50000"/>
                </a:spcBef>
              </a:pPr>
              <a:r>
                <a:rPr kumimoji="1" lang="en-US" altLang="zh-CN" sz="2400" b="0" i="1" dirty="0"/>
                <a:t>F</a:t>
              </a:r>
            </a:p>
          </p:txBody>
        </p:sp>
        <p:sp>
          <p:nvSpPr>
            <p:cNvPr id="119" name="Text Box 17"/>
            <p:cNvSpPr txBox="1">
              <a:spLocks noChangeArrowheads="1"/>
            </p:cNvSpPr>
            <p:nvPr/>
          </p:nvSpPr>
          <p:spPr bwMode="auto">
            <a:xfrm>
              <a:off x="4144" y="888"/>
              <a:ext cx="480" cy="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Times New Roman" pitchFamily="18" charset="0"/>
                  <a:ea typeface="宋体" pitchFamily="2" charset="-122"/>
                </a:defRPr>
              </a:lvl1pPr>
              <a:lvl2pPr>
                <a:defRPr sz="2000">
                  <a:solidFill>
                    <a:schemeClr val="tx1"/>
                  </a:solidFill>
                  <a:latin typeface="Times New Roman" pitchFamily="18" charset="0"/>
                  <a:ea typeface="宋体" pitchFamily="2" charset="-122"/>
                </a:defRPr>
              </a:lvl2pPr>
              <a:lvl3pPr>
                <a:defRPr sz="2000">
                  <a:solidFill>
                    <a:schemeClr val="tx1"/>
                  </a:solidFill>
                  <a:latin typeface="Times New Roman" pitchFamily="18" charset="0"/>
                  <a:ea typeface="宋体" pitchFamily="2" charset="-122"/>
                </a:defRPr>
              </a:lvl3pPr>
              <a:lvl4pPr>
                <a:defRPr sz="2000">
                  <a:solidFill>
                    <a:schemeClr val="tx1"/>
                  </a:solidFill>
                  <a:latin typeface="Times New Roman" pitchFamily="18" charset="0"/>
                  <a:ea typeface="宋体" pitchFamily="2" charset="-122"/>
                </a:defRPr>
              </a:lvl4pPr>
              <a:lvl5pPr>
                <a:defRPr sz="2000">
                  <a:solidFill>
                    <a:schemeClr val="tx1"/>
                  </a:solidFill>
                  <a:latin typeface="Times New Roman" pitchFamily="18" charset="0"/>
                  <a:ea typeface="宋体" pitchFamily="2" charset="-122"/>
                </a:defRPr>
              </a:lvl5pPr>
              <a:lvl6pPr eaLnBrk="0" hangingPunct="0">
                <a:defRPr sz="2000">
                  <a:solidFill>
                    <a:schemeClr val="tx1"/>
                  </a:solidFill>
                  <a:latin typeface="Times New Roman" pitchFamily="18" charset="0"/>
                  <a:ea typeface="宋体" pitchFamily="2" charset="-122"/>
                </a:defRPr>
              </a:lvl6pPr>
              <a:lvl7pPr eaLnBrk="0" hangingPunct="0">
                <a:defRPr sz="2000">
                  <a:solidFill>
                    <a:schemeClr val="tx1"/>
                  </a:solidFill>
                  <a:latin typeface="Times New Roman" pitchFamily="18" charset="0"/>
                  <a:ea typeface="宋体" pitchFamily="2" charset="-122"/>
                </a:defRPr>
              </a:lvl7pPr>
              <a:lvl8pPr eaLnBrk="0" hangingPunct="0">
                <a:defRPr sz="2000">
                  <a:solidFill>
                    <a:schemeClr val="tx1"/>
                  </a:solidFill>
                  <a:latin typeface="Times New Roman" pitchFamily="18" charset="0"/>
                  <a:ea typeface="宋体" pitchFamily="2" charset="-122"/>
                </a:defRPr>
              </a:lvl8pPr>
              <a:lvl9pPr eaLnBrk="0" hangingPunct="0">
                <a:defRPr sz="2000">
                  <a:solidFill>
                    <a:schemeClr val="tx1"/>
                  </a:solidFill>
                  <a:latin typeface="Times New Roman" pitchFamily="18" charset="0"/>
                  <a:ea typeface="宋体" pitchFamily="2" charset="-122"/>
                </a:defRPr>
              </a:lvl9pPr>
            </a:lstStyle>
            <a:p>
              <a:pPr eaLnBrk="1" hangingPunct="1">
                <a:spcBef>
                  <a:spcPct val="50000"/>
                </a:spcBef>
              </a:pPr>
              <a:r>
                <a:rPr kumimoji="1" lang="en-US" altLang="zh-CN" sz="2400" b="0" i="1" dirty="0">
                  <a:solidFill>
                    <a:srgbClr val="FF5050"/>
                  </a:solidFill>
                </a:rPr>
                <a:t>F</a:t>
              </a:r>
              <a:r>
                <a:rPr kumimoji="1" lang="en-US" altLang="zh-CN" sz="2400" b="0" i="0" baseline="-25000" dirty="0">
                  <a:solidFill>
                    <a:srgbClr val="FF5050"/>
                  </a:solidFill>
                </a:rPr>
                <a:t>N</a:t>
              </a:r>
            </a:p>
          </p:txBody>
        </p:sp>
      </p:grpSp>
      <p:grpSp>
        <p:nvGrpSpPr>
          <p:cNvPr id="120" name="Group 18"/>
          <p:cNvGrpSpPr>
            <a:grpSpLocks/>
          </p:cNvGrpSpPr>
          <p:nvPr/>
        </p:nvGrpSpPr>
        <p:grpSpPr bwMode="auto">
          <a:xfrm>
            <a:off x="3431704" y="5265236"/>
            <a:ext cx="5437188" cy="1015244"/>
            <a:chOff x="1696" y="1360"/>
            <a:chExt cx="3114" cy="425"/>
          </a:xfrm>
        </p:grpSpPr>
        <p:sp>
          <p:nvSpPr>
            <p:cNvPr id="121" name="Rectangle 19"/>
            <p:cNvSpPr>
              <a:spLocks noChangeArrowheads="1"/>
            </p:cNvSpPr>
            <p:nvPr/>
          </p:nvSpPr>
          <p:spPr bwMode="auto">
            <a:xfrm>
              <a:off x="2272" y="1408"/>
              <a:ext cx="1584" cy="192"/>
            </a:xfrm>
            <a:prstGeom prst="rect">
              <a:avLst/>
            </a:prstGeom>
            <a:solidFill>
              <a:schemeClr val="accent1"/>
            </a:solidFill>
            <a:ln w="9525">
              <a:solidFill>
                <a:schemeClr val="tx1"/>
              </a:solidFill>
              <a:miter lim="800000"/>
              <a:headEnd/>
              <a:tailEnd/>
            </a:ln>
          </p:spPr>
          <p:txBody>
            <a:bodyPr wrap="none" anchor="ctr"/>
            <a:lstStyle/>
            <a:p>
              <a:pPr eaLnBrk="1" hangingPunct="1">
                <a:buFontTx/>
                <a:buChar char="•"/>
              </a:pPr>
              <a:endParaRPr lang="zh-CN" altLang="en-US"/>
            </a:p>
          </p:txBody>
        </p:sp>
        <p:sp>
          <p:nvSpPr>
            <p:cNvPr id="122" name="Line 20"/>
            <p:cNvSpPr>
              <a:spLocks noChangeShapeType="1"/>
            </p:cNvSpPr>
            <p:nvPr/>
          </p:nvSpPr>
          <p:spPr bwMode="auto">
            <a:xfrm flipH="1">
              <a:off x="1936" y="1504"/>
              <a:ext cx="336" cy="0"/>
            </a:xfrm>
            <a:prstGeom prst="line">
              <a:avLst/>
            </a:prstGeom>
            <a:noFill/>
            <a:ln w="38100">
              <a:solidFill>
                <a:schemeClr val="tx1"/>
              </a:solidFill>
              <a:round/>
              <a:headEnd/>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 name="Line 21"/>
            <p:cNvSpPr>
              <a:spLocks noChangeShapeType="1"/>
            </p:cNvSpPr>
            <p:nvPr/>
          </p:nvSpPr>
          <p:spPr bwMode="auto">
            <a:xfrm>
              <a:off x="3856" y="1504"/>
              <a:ext cx="336" cy="0"/>
            </a:xfrm>
            <a:prstGeom prst="line">
              <a:avLst/>
            </a:prstGeom>
            <a:noFill/>
            <a:ln w="38100">
              <a:solidFill>
                <a:schemeClr val="tx1"/>
              </a:solidFill>
              <a:round/>
              <a:headEnd/>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4" name="Text Box 22"/>
            <p:cNvSpPr txBox="1">
              <a:spLocks noChangeArrowheads="1"/>
            </p:cNvSpPr>
            <p:nvPr/>
          </p:nvSpPr>
          <p:spPr bwMode="auto">
            <a:xfrm>
              <a:off x="1696" y="1360"/>
              <a:ext cx="288" cy="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Times New Roman" pitchFamily="18" charset="0"/>
                  <a:ea typeface="宋体" pitchFamily="2" charset="-122"/>
                </a:defRPr>
              </a:lvl1pPr>
              <a:lvl2pPr>
                <a:defRPr sz="2000">
                  <a:solidFill>
                    <a:schemeClr val="tx1"/>
                  </a:solidFill>
                  <a:latin typeface="Times New Roman" pitchFamily="18" charset="0"/>
                  <a:ea typeface="宋体" pitchFamily="2" charset="-122"/>
                </a:defRPr>
              </a:lvl2pPr>
              <a:lvl3pPr>
                <a:defRPr sz="2000">
                  <a:solidFill>
                    <a:schemeClr val="tx1"/>
                  </a:solidFill>
                  <a:latin typeface="Times New Roman" pitchFamily="18" charset="0"/>
                  <a:ea typeface="宋体" pitchFamily="2" charset="-122"/>
                </a:defRPr>
              </a:lvl3pPr>
              <a:lvl4pPr>
                <a:defRPr sz="2000">
                  <a:solidFill>
                    <a:schemeClr val="tx1"/>
                  </a:solidFill>
                  <a:latin typeface="Times New Roman" pitchFamily="18" charset="0"/>
                  <a:ea typeface="宋体" pitchFamily="2" charset="-122"/>
                </a:defRPr>
              </a:lvl4pPr>
              <a:lvl5pPr>
                <a:defRPr sz="2000">
                  <a:solidFill>
                    <a:schemeClr val="tx1"/>
                  </a:solidFill>
                  <a:latin typeface="Times New Roman" pitchFamily="18" charset="0"/>
                  <a:ea typeface="宋体" pitchFamily="2" charset="-122"/>
                </a:defRPr>
              </a:lvl5pPr>
              <a:lvl6pPr eaLnBrk="0" hangingPunct="0">
                <a:defRPr sz="2000">
                  <a:solidFill>
                    <a:schemeClr val="tx1"/>
                  </a:solidFill>
                  <a:latin typeface="Times New Roman" pitchFamily="18" charset="0"/>
                  <a:ea typeface="宋体" pitchFamily="2" charset="-122"/>
                </a:defRPr>
              </a:lvl6pPr>
              <a:lvl7pPr eaLnBrk="0" hangingPunct="0">
                <a:defRPr sz="2000">
                  <a:solidFill>
                    <a:schemeClr val="tx1"/>
                  </a:solidFill>
                  <a:latin typeface="Times New Roman" pitchFamily="18" charset="0"/>
                  <a:ea typeface="宋体" pitchFamily="2" charset="-122"/>
                </a:defRPr>
              </a:lvl7pPr>
              <a:lvl8pPr eaLnBrk="0" hangingPunct="0">
                <a:defRPr sz="2000">
                  <a:solidFill>
                    <a:schemeClr val="tx1"/>
                  </a:solidFill>
                  <a:latin typeface="Times New Roman" pitchFamily="18" charset="0"/>
                  <a:ea typeface="宋体" pitchFamily="2" charset="-122"/>
                </a:defRPr>
              </a:lvl8pPr>
              <a:lvl9pPr eaLnBrk="0" hangingPunct="0">
                <a:defRPr sz="2000">
                  <a:solidFill>
                    <a:schemeClr val="tx1"/>
                  </a:solidFill>
                  <a:latin typeface="Times New Roman" pitchFamily="18" charset="0"/>
                  <a:ea typeface="宋体" pitchFamily="2" charset="-122"/>
                </a:defRPr>
              </a:lvl9pPr>
            </a:lstStyle>
            <a:p>
              <a:pPr eaLnBrk="1" hangingPunct="1">
                <a:spcBef>
                  <a:spcPct val="50000"/>
                </a:spcBef>
              </a:pPr>
              <a:r>
                <a:rPr kumimoji="1" lang="en-US" altLang="zh-CN" sz="2400" b="0" i="1" dirty="0"/>
                <a:t>F</a:t>
              </a:r>
            </a:p>
          </p:txBody>
        </p:sp>
        <p:sp>
          <p:nvSpPr>
            <p:cNvPr id="125" name="Text Box 23"/>
            <p:cNvSpPr txBox="1">
              <a:spLocks noChangeArrowheads="1"/>
            </p:cNvSpPr>
            <p:nvPr/>
          </p:nvSpPr>
          <p:spPr bwMode="auto">
            <a:xfrm>
              <a:off x="4192" y="1360"/>
              <a:ext cx="618" cy="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Times New Roman" pitchFamily="18" charset="0"/>
                  <a:ea typeface="宋体" pitchFamily="2" charset="-122"/>
                </a:defRPr>
              </a:lvl1pPr>
              <a:lvl2pPr>
                <a:defRPr sz="2000">
                  <a:solidFill>
                    <a:schemeClr val="tx1"/>
                  </a:solidFill>
                  <a:latin typeface="Times New Roman" pitchFamily="18" charset="0"/>
                  <a:ea typeface="宋体" pitchFamily="2" charset="-122"/>
                </a:defRPr>
              </a:lvl2pPr>
              <a:lvl3pPr>
                <a:defRPr sz="2000">
                  <a:solidFill>
                    <a:schemeClr val="tx1"/>
                  </a:solidFill>
                  <a:latin typeface="Times New Roman" pitchFamily="18" charset="0"/>
                  <a:ea typeface="宋体" pitchFamily="2" charset="-122"/>
                </a:defRPr>
              </a:lvl3pPr>
              <a:lvl4pPr>
                <a:defRPr sz="2000">
                  <a:solidFill>
                    <a:schemeClr val="tx1"/>
                  </a:solidFill>
                  <a:latin typeface="Times New Roman" pitchFamily="18" charset="0"/>
                  <a:ea typeface="宋体" pitchFamily="2" charset="-122"/>
                </a:defRPr>
              </a:lvl4pPr>
              <a:lvl5pPr>
                <a:defRPr sz="2000">
                  <a:solidFill>
                    <a:schemeClr val="tx1"/>
                  </a:solidFill>
                  <a:latin typeface="Times New Roman" pitchFamily="18" charset="0"/>
                  <a:ea typeface="宋体" pitchFamily="2" charset="-122"/>
                </a:defRPr>
              </a:lvl5pPr>
              <a:lvl6pPr eaLnBrk="0" hangingPunct="0">
                <a:defRPr sz="2000">
                  <a:solidFill>
                    <a:schemeClr val="tx1"/>
                  </a:solidFill>
                  <a:latin typeface="Times New Roman" pitchFamily="18" charset="0"/>
                  <a:ea typeface="宋体" pitchFamily="2" charset="-122"/>
                </a:defRPr>
              </a:lvl6pPr>
              <a:lvl7pPr eaLnBrk="0" hangingPunct="0">
                <a:defRPr sz="2000">
                  <a:solidFill>
                    <a:schemeClr val="tx1"/>
                  </a:solidFill>
                  <a:latin typeface="Times New Roman" pitchFamily="18" charset="0"/>
                  <a:ea typeface="宋体" pitchFamily="2" charset="-122"/>
                </a:defRPr>
              </a:lvl7pPr>
              <a:lvl8pPr eaLnBrk="0" hangingPunct="0">
                <a:defRPr sz="2000">
                  <a:solidFill>
                    <a:schemeClr val="tx1"/>
                  </a:solidFill>
                  <a:latin typeface="Times New Roman" pitchFamily="18" charset="0"/>
                  <a:ea typeface="宋体" pitchFamily="2" charset="-122"/>
                </a:defRPr>
              </a:lvl8pPr>
              <a:lvl9pPr eaLnBrk="0" hangingPunct="0">
                <a:defRPr sz="2000">
                  <a:solidFill>
                    <a:schemeClr val="tx1"/>
                  </a:solidFill>
                  <a:latin typeface="Times New Roman" pitchFamily="18" charset="0"/>
                  <a:ea typeface="宋体" pitchFamily="2" charset="-122"/>
                </a:defRPr>
              </a:lvl9pPr>
            </a:lstStyle>
            <a:p>
              <a:pPr eaLnBrk="1" hangingPunct="1">
                <a:spcBef>
                  <a:spcPct val="50000"/>
                </a:spcBef>
              </a:pPr>
              <a:r>
                <a:rPr kumimoji="1" lang="en-US" altLang="zh-CN" sz="2400" b="0" i="1" dirty="0">
                  <a:solidFill>
                    <a:srgbClr val="FF5050"/>
                  </a:solidFill>
                </a:rPr>
                <a:t>F</a:t>
              </a:r>
              <a:r>
                <a:rPr kumimoji="1" lang="en-US" altLang="zh-CN" sz="2400" b="0" i="0" baseline="-25000" dirty="0">
                  <a:solidFill>
                    <a:srgbClr val="FF5050"/>
                  </a:solidFill>
                </a:rPr>
                <a:t>N</a:t>
              </a:r>
            </a:p>
            <a:p>
              <a:pPr eaLnBrk="1" hangingPunct="1">
                <a:spcBef>
                  <a:spcPct val="50000"/>
                </a:spcBef>
              </a:pPr>
              <a:endParaRPr kumimoji="1" lang="en-US" altLang="zh-CN" sz="2400" b="0" i="1" dirty="0">
                <a:solidFill>
                  <a:srgbClr val="FF5050"/>
                </a:solidFill>
              </a:endParaRPr>
            </a:p>
          </p:txBody>
        </p:sp>
      </p:grpSp>
    </p:spTree>
    <p:extLst>
      <p:ext uri="{BB962C8B-B14F-4D97-AF65-F5344CB8AC3E}">
        <p14:creationId xmlns:p14="http://schemas.microsoft.com/office/powerpoint/2010/main" val="487446462"/>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53"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711605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第八章   拉压、剪切与挤压的强度计算</a:t>
            </a:r>
          </a:p>
        </p:txBody>
      </p:sp>
      <p:sp>
        <p:nvSpPr>
          <p:cNvPr id="9" name="Rectangle 61"/>
          <p:cNvSpPr>
            <a:spLocks noChangeArrowheads="1"/>
          </p:cNvSpPr>
          <p:nvPr/>
        </p:nvSpPr>
        <p:spPr bwMode="auto">
          <a:xfrm>
            <a:off x="7392144" y="2029160"/>
            <a:ext cx="4752528" cy="4176464"/>
          </a:xfrm>
          <a:prstGeom prst="rect">
            <a:avLst/>
          </a:prstGeom>
          <a:solidFill>
            <a:srgbClr val="B9CDE5"/>
          </a:solidFill>
          <a:ln>
            <a:noFill/>
          </a:ln>
          <a:effectLst/>
        </p:spPr>
        <p:txBody>
          <a:bodyPr wrap="none" anchor="ctr"/>
          <a:lstStyle/>
          <a:p>
            <a:endParaRPr lang="zh-CN" altLang="en-US"/>
          </a:p>
        </p:txBody>
      </p:sp>
      <p:sp>
        <p:nvSpPr>
          <p:cNvPr id="53" name="Text Box 1032"/>
          <p:cNvSpPr txBox="1">
            <a:spLocks noChangeArrowheads="1"/>
          </p:cNvSpPr>
          <p:nvPr/>
        </p:nvSpPr>
        <p:spPr bwMode="auto">
          <a:xfrm>
            <a:off x="335361" y="865289"/>
            <a:ext cx="11665295" cy="1081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pPr>
            <a:r>
              <a:rPr kumimoji="1" lang="zh-CN" altLang="en-US" sz="2800" i="0" dirty="0">
                <a:latin typeface="+mn-lt"/>
                <a:ea typeface="微软雅黑" panose="020B0503020204020204" pitchFamily="34" charset="-122"/>
              </a:rPr>
              <a:t>研究图示杆件，在任一截面上任一点</a:t>
            </a:r>
            <a:r>
              <a:rPr kumimoji="1" lang="en-US" altLang="zh-CN" sz="2800" b="0" dirty="0">
                <a:latin typeface="+mn-lt"/>
                <a:ea typeface="微软雅黑" panose="020B0503020204020204" pitchFamily="34" charset="-122"/>
              </a:rPr>
              <a:t>M</a:t>
            </a:r>
            <a:r>
              <a:rPr kumimoji="1" lang="zh-CN" altLang="en-US" sz="2800" i="0" dirty="0">
                <a:latin typeface="+mn-lt"/>
                <a:ea typeface="微软雅黑" panose="020B0503020204020204" pitchFamily="34" charset="-122"/>
              </a:rPr>
              <a:t>的周围取一微小面积</a:t>
            </a:r>
            <a:r>
              <a:rPr kumimoji="1" lang="zh-CN" altLang="en-US" sz="2800" i="0" dirty="0">
                <a:latin typeface="+mn-lt"/>
                <a:ea typeface="微软雅黑" panose="020B0503020204020204" pitchFamily="34" charset="-122"/>
                <a:sym typeface="Symbol" panose="05050102010706020507" pitchFamily="18" charset="2"/>
              </a:rPr>
              <a:t></a:t>
            </a:r>
            <a:r>
              <a:rPr kumimoji="1" lang="en-US" altLang="zh-CN" sz="2800" b="0" dirty="0">
                <a:latin typeface="+mn-lt"/>
                <a:ea typeface="微软雅黑" panose="020B0503020204020204" pitchFamily="34" charset="-122"/>
              </a:rPr>
              <a:t>A</a:t>
            </a:r>
            <a:r>
              <a:rPr kumimoji="1" lang="zh-CN" altLang="en-US" sz="2800" i="0" dirty="0">
                <a:latin typeface="+mn-lt"/>
                <a:ea typeface="微软雅黑" panose="020B0503020204020204" pitchFamily="34" charset="-122"/>
              </a:rPr>
              <a:t>，设在</a:t>
            </a:r>
            <a:r>
              <a:rPr kumimoji="1" lang="zh-CN" altLang="en-US" sz="2800" i="0" dirty="0">
                <a:latin typeface="+mn-lt"/>
                <a:ea typeface="微软雅黑" panose="020B0503020204020204" pitchFamily="34" charset="-122"/>
                <a:sym typeface="Symbol" panose="05050102010706020507" pitchFamily="18" charset="2"/>
              </a:rPr>
              <a:t></a:t>
            </a:r>
            <a:r>
              <a:rPr kumimoji="1" lang="en-US" altLang="zh-CN" sz="2800" b="0" dirty="0">
                <a:latin typeface="+mn-lt"/>
                <a:ea typeface="微软雅黑" panose="020B0503020204020204" pitchFamily="34" charset="-122"/>
              </a:rPr>
              <a:t>A</a:t>
            </a:r>
            <a:r>
              <a:rPr kumimoji="1" lang="zh-CN" altLang="en-US" sz="2800" i="0" dirty="0">
                <a:latin typeface="+mn-lt"/>
                <a:ea typeface="微软雅黑" panose="020B0503020204020204" pitchFamily="34" charset="-122"/>
              </a:rPr>
              <a:t>上分布内力的合力为</a:t>
            </a:r>
            <a:r>
              <a:rPr kumimoji="1" lang="zh-CN" altLang="en-US" sz="2800" i="0" dirty="0">
                <a:latin typeface="+mn-lt"/>
                <a:ea typeface="微软雅黑" panose="020B0503020204020204" pitchFamily="34" charset="-122"/>
                <a:sym typeface="Symbol" panose="05050102010706020507" pitchFamily="18" charset="2"/>
              </a:rPr>
              <a:t></a:t>
            </a:r>
            <a:r>
              <a:rPr kumimoji="1" lang="en-US" altLang="zh-CN" sz="2800" dirty="0">
                <a:latin typeface="+mn-lt"/>
                <a:ea typeface="微软雅黑" panose="020B0503020204020204" pitchFamily="34" charset="-122"/>
              </a:rPr>
              <a:t>F</a:t>
            </a:r>
            <a:r>
              <a:rPr kumimoji="1" lang="zh-CN" altLang="en-US" sz="2800" i="0" dirty="0">
                <a:latin typeface="+mn-lt"/>
                <a:ea typeface="微软雅黑" panose="020B0503020204020204" pitchFamily="34" charset="-122"/>
              </a:rPr>
              <a:t>， </a:t>
            </a:r>
            <a:r>
              <a:rPr kumimoji="1" lang="zh-CN" altLang="en-US" sz="2800" i="0" dirty="0">
                <a:latin typeface="+mn-lt"/>
                <a:ea typeface="微软雅黑" panose="020B0503020204020204" pitchFamily="34" charset="-122"/>
                <a:sym typeface="Symbol" panose="05050102010706020507" pitchFamily="18" charset="2"/>
              </a:rPr>
              <a:t></a:t>
            </a:r>
            <a:r>
              <a:rPr kumimoji="1" lang="en-US" altLang="zh-CN" sz="2800" dirty="0">
                <a:latin typeface="+mn-lt"/>
                <a:ea typeface="微软雅黑" panose="020B0503020204020204" pitchFamily="34" charset="-122"/>
              </a:rPr>
              <a:t>F</a:t>
            </a:r>
            <a:r>
              <a:rPr kumimoji="1" lang="zh-CN" altLang="en-US" sz="2800" i="0" dirty="0">
                <a:latin typeface="+mn-lt"/>
                <a:ea typeface="微软雅黑" panose="020B0503020204020204" pitchFamily="34" charset="-122"/>
              </a:rPr>
              <a:t>与</a:t>
            </a:r>
            <a:r>
              <a:rPr kumimoji="1" lang="zh-CN" altLang="en-US" sz="2800" i="0" dirty="0">
                <a:latin typeface="+mn-lt"/>
                <a:ea typeface="微软雅黑" panose="020B0503020204020204" pitchFamily="34" charset="-122"/>
                <a:sym typeface="Symbol" panose="05050102010706020507" pitchFamily="18" charset="2"/>
              </a:rPr>
              <a:t></a:t>
            </a:r>
            <a:r>
              <a:rPr kumimoji="1" lang="en-US" altLang="zh-CN" sz="2800" b="0" dirty="0">
                <a:latin typeface="+mn-lt"/>
                <a:ea typeface="微软雅黑" panose="020B0503020204020204" pitchFamily="34" charset="-122"/>
              </a:rPr>
              <a:t>A</a:t>
            </a:r>
            <a:r>
              <a:rPr kumimoji="1" lang="zh-CN" altLang="en-US" sz="2800" i="0" dirty="0">
                <a:latin typeface="+mn-lt"/>
                <a:ea typeface="微软雅黑" panose="020B0503020204020204" pitchFamily="34" charset="-122"/>
              </a:rPr>
              <a:t>的比值称为</a:t>
            </a:r>
            <a:r>
              <a:rPr kumimoji="1" lang="zh-CN" altLang="en-US" sz="2800" i="0" dirty="0">
                <a:latin typeface="+mn-lt"/>
                <a:ea typeface="微软雅黑" panose="020B0503020204020204" pitchFamily="34" charset="-122"/>
                <a:sym typeface="Symbol" panose="05050102010706020507" pitchFamily="18" charset="2"/>
              </a:rPr>
              <a:t></a:t>
            </a:r>
            <a:r>
              <a:rPr kumimoji="1" lang="en-US" altLang="zh-CN" sz="2800" b="0" dirty="0">
                <a:latin typeface="+mn-lt"/>
                <a:ea typeface="微软雅黑" panose="020B0503020204020204" pitchFamily="34" charset="-122"/>
              </a:rPr>
              <a:t>A</a:t>
            </a:r>
            <a:r>
              <a:rPr kumimoji="1" lang="zh-CN" altLang="en-US" sz="2800" i="0" dirty="0">
                <a:latin typeface="+mn-lt"/>
                <a:ea typeface="微软雅黑" panose="020B0503020204020204" pitchFamily="34" charset="-122"/>
              </a:rPr>
              <a:t>上的平均应力，用</a:t>
            </a:r>
            <a:r>
              <a:rPr kumimoji="1" lang="en-US" altLang="zh-CN" sz="2800" dirty="0">
                <a:latin typeface="+mn-lt"/>
                <a:ea typeface="微软雅黑" panose="020B0503020204020204" pitchFamily="34" charset="-122"/>
              </a:rPr>
              <a:t>p</a:t>
            </a:r>
            <a:r>
              <a:rPr lang="en-US" altLang="zh-CN" sz="2800" b="0" i="0" baseline="-25000" dirty="0">
                <a:ea typeface="微软雅黑" panose="020B0503020204020204" pitchFamily="34" charset="-122"/>
              </a:rPr>
              <a:t>m</a:t>
            </a:r>
            <a:r>
              <a:rPr kumimoji="1" lang="zh-CN" altLang="en-US" sz="2800" i="0" dirty="0">
                <a:latin typeface="+mn-lt"/>
                <a:ea typeface="微软雅黑" panose="020B0503020204020204" pitchFamily="34" charset="-122"/>
              </a:rPr>
              <a:t>表示。</a:t>
            </a:r>
            <a:endParaRPr lang="zh-CN" altLang="en-US" sz="2800" i="0" dirty="0">
              <a:latin typeface="+mn-lt"/>
              <a:ea typeface="微软雅黑" panose="020B0503020204020204" pitchFamily="34" charset="-122"/>
            </a:endParaRPr>
          </a:p>
        </p:txBody>
      </p:sp>
      <p:grpSp>
        <p:nvGrpSpPr>
          <p:cNvPr id="20" name="Group 2"/>
          <p:cNvGrpSpPr>
            <a:grpSpLocks/>
          </p:cNvGrpSpPr>
          <p:nvPr/>
        </p:nvGrpSpPr>
        <p:grpSpPr bwMode="auto">
          <a:xfrm>
            <a:off x="7392144" y="2965264"/>
            <a:ext cx="4419600" cy="2514600"/>
            <a:chOff x="2651" y="1430"/>
            <a:chExt cx="2784" cy="1584"/>
          </a:xfrm>
        </p:grpSpPr>
        <p:grpSp>
          <p:nvGrpSpPr>
            <p:cNvPr id="21" name="Group 3"/>
            <p:cNvGrpSpPr>
              <a:grpSpLocks/>
            </p:cNvGrpSpPr>
            <p:nvPr/>
          </p:nvGrpSpPr>
          <p:grpSpPr bwMode="auto">
            <a:xfrm>
              <a:off x="3227" y="1430"/>
              <a:ext cx="2208" cy="1584"/>
              <a:chOff x="3168" y="1584"/>
              <a:chExt cx="2208" cy="1584"/>
            </a:xfrm>
          </p:grpSpPr>
          <p:grpSp>
            <p:nvGrpSpPr>
              <p:cNvPr id="27" name="Group 4"/>
              <p:cNvGrpSpPr>
                <a:grpSpLocks/>
              </p:cNvGrpSpPr>
              <p:nvPr/>
            </p:nvGrpSpPr>
            <p:grpSpPr bwMode="auto">
              <a:xfrm>
                <a:off x="3168" y="1776"/>
                <a:ext cx="2064" cy="1296"/>
                <a:chOff x="3168" y="1776"/>
                <a:chExt cx="2064" cy="1296"/>
              </a:xfrm>
            </p:grpSpPr>
            <p:grpSp>
              <p:nvGrpSpPr>
                <p:cNvPr id="30" name="Group 5"/>
                <p:cNvGrpSpPr>
                  <a:grpSpLocks/>
                </p:cNvGrpSpPr>
                <p:nvPr/>
              </p:nvGrpSpPr>
              <p:grpSpPr bwMode="auto">
                <a:xfrm>
                  <a:off x="3227" y="1776"/>
                  <a:ext cx="2005" cy="1296"/>
                  <a:chOff x="3227" y="1776"/>
                  <a:chExt cx="2005" cy="1296"/>
                </a:xfrm>
              </p:grpSpPr>
              <p:sp>
                <p:nvSpPr>
                  <p:cNvPr id="32" name="Oval 6"/>
                  <p:cNvSpPr>
                    <a:spLocks noChangeArrowheads="1"/>
                  </p:cNvSpPr>
                  <p:nvPr/>
                </p:nvSpPr>
                <p:spPr bwMode="auto">
                  <a:xfrm>
                    <a:off x="4512" y="1776"/>
                    <a:ext cx="720" cy="1296"/>
                  </a:xfrm>
                  <a:prstGeom prst="ellipse">
                    <a:avLst/>
                  </a:prstGeom>
                  <a:gradFill rotWithShape="0">
                    <a:gsLst>
                      <a:gs pos="0">
                        <a:srgbClr val="FFFF00"/>
                      </a:gs>
                      <a:gs pos="50000">
                        <a:srgbClr val="FFCC00"/>
                      </a:gs>
                      <a:gs pos="100000">
                        <a:srgbClr val="FFFF00"/>
                      </a:gs>
                    </a:gsLst>
                    <a:lin ang="5400000" scaled="1"/>
                  </a:gradFill>
                  <a:ln w="9525">
                    <a:solidFill>
                      <a:schemeClr val="tx1"/>
                    </a:solidFill>
                    <a:round/>
                    <a:headEnd/>
                    <a:tailEnd/>
                  </a:ln>
                </p:spPr>
                <p:txBody>
                  <a:bodyPr wrap="none" anchor="ctr"/>
                  <a:lstStyle/>
                  <a:p>
                    <a:pPr eaLnBrk="1" hangingPunct="1">
                      <a:buFontTx/>
                      <a:buChar char="•"/>
                    </a:pPr>
                    <a:endParaRPr lang="zh-CN" altLang="en-US"/>
                  </a:p>
                </p:txBody>
              </p:sp>
              <p:sp>
                <p:nvSpPr>
                  <p:cNvPr id="33" name="Rectangle 7"/>
                  <p:cNvSpPr>
                    <a:spLocks noChangeArrowheads="1"/>
                  </p:cNvSpPr>
                  <p:nvPr/>
                </p:nvSpPr>
                <p:spPr bwMode="auto">
                  <a:xfrm>
                    <a:off x="3227" y="2211"/>
                    <a:ext cx="234"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Tx/>
                      <a:buChar char="•"/>
                    </a:pPr>
                    <a:endParaRPr lang="zh-CN" altLang="en-US"/>
                  </a:p>
                </p:txBody>
              </p:sp>
              <p:sp>
                <p:nvSpPr>
                  <p:cNvPr id="34" name="Rectangle 8"/>
                  <p:cNvSpPr>
                    <a:spLocks noChangeArrowheads="1"/>
                  </p:cNvSpPr>
                  <p:nvPr/>
                </p:nvSpPr>
                <p:spPr bwMode="auto">
                  <a:xfrm>
                    <a:off x="3504" y="1776"/>
                    <a:ext cx="1344" cy="1296"/>
                  </a:xfrm>
                  <a:prstGeom prst="rect">
                    <a:avLst/>
                  </a:prstGeom>
                  <a:gradFill rotWithShape="0">
                    <a:gsLst>
                      <a:gs pos="0">
                        <a:srgbClr val="FFFF00"/>
                      </a:gs>
                      <a:gs pos="50000">
                        <a:srgbClr val="FFCC00"/>
                      </a:gs>
                      <a:gs pos="100000">
                        <a:srgbClr val="FFFF00"/>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buFontTx/>
                      <a:buChar char="•"/>
                    </a:pPr>
                    <a:endParaRPr lang="zh-CN" altLang="en-US"/>
                  </a:p>
                </p:txBody>
              </p:sp>
              <p:sp>
                <p:nvSpPr>
                  <p:cNvPr id="35" name="Line 9"/>
                  <p:cNvSpPr>
                    <a:spLocks noChangeShapeType="1"/>
                  </p:cNvSpPr>
                  <p:nvPr/>
                </p:nvSpPr>
                <p:spPr bwMode="auto">
                  <a:xfrm>
                    <a:off x="3600" y="1776"/>
                    <a:ext cx="129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 name="Line 10"/>
                  <p:cNvSpPr>
                    <a:spLocks noChangeShapeType="1"/>
                  </p:cNvSpPr>
                  <p:nvPr/>
                </p:nvSpPr>
                <p:spPr bwMode="auto">
                  <a:xfrm>
                    <a:off x="3552" y="3072"/>
                    <a:ext cx="134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31" name="Oval 11"/>
                <p:cNvSpPr>
                  <a:spLocks noChangeArrowheads="1"/>
                </p:cNvSpPr>
                <p:nvPr/>
              </p:nvSpPr>
              <p:spPr bwMode="auto">
                <a:xfrm>
                  <a:off x="3168" y="1776"/>
                  <a:ext cx="720" cy="1296"/>
                </a:xfrm>
                <a:prstGeom prst="ellipse">
                  <a:avLst/>
                </a:prstGeom>
                <a:gradFill rotWithShape="0">
                  <a:gsLst>
                    <a:gs pos="0">
                      <a:srgbClr val="FFCC00"/>
                    </a:gs>
                    <a:gs pos="50000">
                      <a:srgbClr val="CC9900"/>
                    </a:gs>
                    <a:gs pos="100000">
                      <a:srgbClr val="FFCC00"/>
                    </a:gs>
                  </a:gsLst>
                  <a:lin ang="5400000" scaled="1"/>
                </a:gradFill>
                <a:ln w="9525">
                  <a:solidFill>
                    <a:schemeClr val="tx1"/>
                  </a:solidFill>
                  <a:round/>
                  <a:headEnd/>
                  <a:tailEnd/>
                </a:ln>
              </p:spPr>
              <p:txBody>
                <a:bodyPr wrap="none" anchor="ctr"/>
                <a:lstStyle/>
                <a:p>
                  <a:pPr eaLnBrk="1" hangingPunct="1">
                    <a:buFontTx/>
                    <a:buChar char="•"/>
                  </a:pPr>
                  <a:endParaRPr lang="zh-CN" altLang="en-US"/>
                </a:p>
              </p:txBody>
            </p:sp>
          </p:grpSp>
          <p:sp>
            <p:nvSpPr>
              <p:cNvPr id="28" name="Line 12"/>
              <p:cNvSpPr>
                <a:spLocks noChangeShapeType="1"/>
              </p:cNvSpPr>
              <p:nvPr/>
            </p:nvSpPr>
            <p:spPr bwMode="auto">
              <a:xfrm flipV="1">
                <a:off x="4752" y="1584"/>
                <a:ext cx="576" cy="576"/>
              </a:xfrm>
              <a:prstGeom prst="line">
                <a:avLst/>
              </a:prstGeom>
              <a:noFill/>
              <a:ln w="38100">
                <a:solidFill>
                  <a:schemeClr val="tx1"/>
                </a:solidFill>
                <a:round/>
                <a:headEnd/>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 name="Line 13"/>
              <p:cNvSpPr>
                <a:spLocks noChangeShapeType="1"/>
              </p:cNvSpPr>
              <p:nvPr/>
            </p:nvSpPr>
            <p:spPr bwMode="auto">
              <a:xfrm>
                <a:off x="4848" y="2640"/>
                <a:ext cx="528" cy="528"/>
              </a:xfrm>
              <a:prstGeom prst="line">
                <a:avLst/>
              </a:prstGeom>
              <a:noFill/>
              <a:ln w="38100">
                <a:solidFill>
                  <a:schemeClr val="tx1"/>
                </a:solidFill>
                <a:round/>
                <a:headEnd/>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22" name="Rectangle 14"/>
            <p:cNvSpPr>
              <a:spLocks noChangeArrowheads="1"/>
            </p:cNvSpPr>
            <p:nvPr/>
          </p:nvSpPr>
          <p:spPr bwMode="auto">
            <a:xfrm rot="1226249">
              <a:off x="3659" y="2054"/>
              <a:ext cx="144" cy="144"/>
            </a:xfrm>
            <a:prstGeom prst="rect">
              <a:avLst/>
            </a:prstGeom>
            <a:solidFill>
              <a:srgbClr val="FF3300"/>
            </a:solidFill>
            <a:ln w="9525">
              <a:solidFill>
                <a:schemeClr val="tx1"/>
              </a:solidFill>
              <a:miter lim="800000"/>
              <a:headEnd/>
              <a:tailEnd/>
            </a:ln>
          </p:spPr>
          <p:txBody>
            <a:bodyPr wrap="none" anchor="ctr"/>
            <a:lstStyle/>
            <a:p>
              <a:pPr eaLnBrk="1" hangingPunct="1">
                <a:buFontTx/>
                <a:buChar char="•"/>
              </a:pPr>
              <a:endParaRPr lang="zh-CN" altLang="en-US"/>
            </a:p>
          </p:txBody>
        </p:sp>
        <p:sp>
          <p:nvSpPr>
            <p:cNvPr id="23" name="Line 15"/>
            <p:cNvSpPr>
              <a:spLocks noChangeShapeType="1"/>
            </p:cNvSpPr>
            <p:nvPr/>
          </p:nvSpPr>
          <p:spPr bwMode="auto">
            <a:xfrm flipH="1" flipV="1">
              <a:off x="2939" y="1814"/>
              <a:ext cx="768" cy="288"/>
            </a:xfrm>
            <a:prstGeom prst="line">
              <a:avLst/>
            </a:prstGeom>
            <a:noFill/>
            <a:ln w="38100">
              <a:solidFill>
                <a:schemeClr val="accent2"/>
              </a:solidFill>
              <a:round/>
              <a:headEnd/>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 name="Text Box 16"/>
            <p:cNvSpPr txBox="1">
              <a:spLocks noChangeArrowheads="1"/>
            </p:cNvSpPr>
            <p:nvPr/>
          </p:nvSpPr>
          <p:spPr bwMode="auto">
            <a:xfrm>
              <a:off x="2651" y="1814"/>
              <a:ext cx="53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Times New Roman" pitchFamily="18" charset="0"/>
                  <a:ea typeface="宋体" pitchFamily="2" charset="-122"/>
                </a:defRPr>
              </a:lvl1pPr>
              <a:lvl2pPr>
                <a:defRPr sz="2000">
                  <a:solidFill>
                    <a:schemeClr val="tx1"/>
                  </a:solidFill>
                  <a:latin typeface="Times New Roman" pitchFamily="18" charset="0"/>
                  <a:ea typeface="宋体" pitchFamily="2" charset="-122"/>
                </a:defRPr>
              </a:lvl2pPr>
              <a:lvl3pPr>
                <a:defRPr sz="2000">
                  <a:solidFill>
                    <a:schemeClr val="tx1"/>
                  </a:solidFill>
                  <a:latin typeface="Times New Roman" pitchFamily="18" charset="0"/>
                  <a:ea typeface="宋体" pitchFamily="2" charset="-122"/>
                </a:defRPr>
              </a:lvl3pPr>
              <a:lvl4pPr>
                <a:defRPr sz="2000">
                  <a:solidFill>
                    <a:schemeClr val="tx1"/>
                  </a:solidFill>
                  <a:latin typeface="Times New Roman" pitchFamily="18" charset="0"/>
                  <a:ea typeface="宋体" pitchFamily="2" charset="-122"/>
                </a:defRPr>
              </a:lvl4pPr>
              <a:lvl5pPr>
                <a:defRPr sz="2000">
                  <a:solidFill>
                    <a:schemeClr val="tx1"/>
                  </a:solidFill>
                  <a:latin typeface="Times New Roman" pitchFamily="18" charset="0"/>
                  <a:ea typeface="宋体" pitchFamily="2" charset="-122"/>
                </a:defRPr>
              </a:lvl5pPr>
              <a:lvl6pPr eaLnBrk="0" hangingPunct="0">
                <a:defRPr sz="2000">
                  <a:solidFill>
                    <a:schemeClr val="tx1"/>
                  </a:solidFill>
                  <a:latin typeface="Times New Roman" pitchFamily="18" charset="0"/>
                  <a:ea typeface="宋体" pitchFamily="2" charset="-122"/>
                </a:defRPr>
              </a:lvl6pPr>
              <a:lvl7pPr eaLnBrk="0" hangingPunct="0">
                <a:defRPr sz="2000">
                  <a:solidFill>
                    <a:schemeClr val="tx1"/>
                  </a:solidFill>
                  <a:latin typeface="Times New Roman" pitchFamily="18" charset="0"/>
                  <a:ea typeface="宋体" pitchFamily="2" charset="-122"/>
                </a:defRPr>
              </a:lvl7pPr>
              <a:lvl8pPr eaLnBrk="0" hangingPunct="0">
                <a:defRPr sz="2000">
                  <a:solidFill>
                    <a:schemeClr val="tx1"/>
                  </a:solidFill>
                  <a:latin typeface="Times New Roman" pitchFamily="18" charset="0"/>
                  <a:ea typeface="宋体" pitchFamily="2" charset="-122"/>
                </a:defRPr>
              </a:lvl8pPr>
              <a:lvl9pPr eaLnBrk="0" hangingPunct="0">
                <a:defRPr sz="2000">
                  <a:solidFill>
                    <a:schemeClr val="tx1"/>
                  </a:solidFill>
                  <a:latin typeface="Times New Roman" pitchFamily="18" charset="0"/>
                  <a:ea typeface="宋体" pitchFamily="2" charset="-122"/>
                </a:defRPr>
              </a:lvl9pPr>
            </a:lstStyle>
            <a:p>
              <a:pPr eaLnBrk="1" hangingPunct="1">
                <a:spcBef>
                  <a:spcPct val="50000"/>
                </a:spcBef>
              </a:pPr>
              <a:r>
                <a:rPr kumimoji="1" lang="en-US" altLang="en-US" sz="2400">
                  <a:sym typeface="Symbol" pitchFamily="18" charset="2"/>
                </a:rPr>
                <a:t></a:t>
              </a:r>
              <a:r>
                <a:rPr kumimoji="1" lang="en-US" altLang="zh-CN" sz="2400" i="1"/>
                <a:t>F</a:t>
              </a:r>
              <a:endParaRPr kumimoji="1" lang="en-US" altLang="zh-CN" sz="2400" baseline="-25000"/>
            </a:p>
          </p:txBody>
        </p:sp>
        <p:sp>
          <p:nvSpPr>
            <p:cNvPr id="25" name="Text Box 17"/>
            <p:cNvSpPr txBox="1">
              <a:spLocks noChangeArrowheads="1"/>
            </p:cNvSpPr>
            <p:nvPr/>
          </p:nvSpPr>
          <p:spPr bwMode="auto">
            <a:xfrm>
              <a:off x="3419" y="2198"/>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Times New Roman" pitchFamily="18" charset="0"/>
                  <a:ea typeface="宋体" pitchFamily="2" charset="-122"/>
                </a:defRPr>
              </a:lvl1pPr>
              <a:lvl2pPr>
                <a:defRPr sz="2000">
                  <a:solidFill>
                    <a:schemeClr val="tx1"/>
                  </a:solidFill>
                  <a:latin typeface="Times New Roman" pitchFamily="18" charset="0"/>
                  <a:ea typeface="宋体" pitchFamily="2" charset="-122"/>
                </a:defRPr>
              </a:lvl2pPr>
              <a:lvl3pPr>
                <a:defRPr sz="2000">
                  <a:solidFill>
                    <a:schemeClr val="tx1"/>
                  </a:solidFill>
                  <a:latin typeface="Times New Roman" pitchFamily="18" charset="0"/>
                  <a:ea typeface="宋体" pitchFamily="2" charset="-122"/>
                </a:defRPr>
              </a:lvl3pPr>
              <a:lvl4pPr>
                <a:defRPr sz="2000">
                  <a:solidFill>
                    <a:schemeClr val="tx1"/>
                  </a:solidFill>
                  <a:latin typeface="Times New Roman" pitchFamily="18" charset="0"/>
                  <a:ea typeface="宋体" pitchFamily="2" charset="-122"/>
                </a:defRPr>
              </a:lvl4pPr>
              <a:lvl5pPr>
                <a:defRPr sz="2000">
                  <a:solidFill>
                    <a:schemeClr val="tx1"/>
                  </a:solidFill>
                  <a:latin typeface="Times New Roman" pitchFamily="18" charset="0"/>
                  <a:ea typeface="宋体" pitchFamily="2" charset="-122"/>
                </a:defRPr>
              </a:lvl5pPr>
              <a:lvl6pPr eaLnBrk="0" hangingPunct="0">
                <a:defRPr sz="2000">
                  <a:solidFill>
                    <a:schemeClr val="tx1"/>
                  </a:solidFill>
                  <a:latin typeface="Times New Roman" pitchFamily="18" charset="0"/>
                  <a:ea typeface="宋体" pitchFamily="2" charset="-122"/>
                </a:defRPr>
              </a:lvl6pPr>
              <a:lvl7pPr eaLnBrk="0" hangingPunct="0">
                <a:defRPr sz="2000">
                  <a:solidFill>
                    <a:schemeClr val="tx1"/>
                  </a:solidFill>
                  <a:latin typeface="Times New Roman" pitchFamily="18" charset="0"/>
                  <a:ea typeface="宋体" pitchFamily="2" charset="-122"/>
                </a:defRPr>
              </a:lvl7pPr>
              <a:lvl8pPr eaLnBrk="0" hangingPunct="0">
                <a:defRPr sz="2000">
                  <a:solidFill>
                    <a:schemeClr val="tx1"/>
                  </a:solidFill>
                  <a:latin typeface="Times New Roman" pitchFamily="18" charset="0"/>
                  <a:ea typeface="宋体" pitchFamily="2" charset="-122"/>
                </a:defRPr>
              </a:lvl8pPr>
              <a:lvl9pPr eaLnBrk="0" hangingPunct="0">
                <a:defRPr sz="2000">
                  <a:solidFill>
                    <a:schemeClr val="tx1"/>
                  </a:solidFill>
                  <a:latin typeface="Times New Roman" pitchFamily="18" charset="0"/>
                  <a:ea typeface="宋体" pitchFamily="2" charset="-122"/>
                </a:defRPr>
              </a:lvl9pPr>
            </a:lstStyle>
            <a:p>
              <a:pPr eaLnBrk="1" hangingPunct="1">
                <a:spcBef>
                  <a:spcPct val="50000"/>
                </a:spcBef>
              </a:pPr>
              <a:r>
                <a:rPr kumimoji="1" lang="en-US" altLang="en-US" sz="2400">
                  <a:sym typeface="Symbol" pitchFamily="18" charset="2"/>
                </a:rPr>
                <a:t></a:t>
              </a:r>
              <a:r>
                <a:rPr kumimoji="1" lang="en-US" altLang="zh-CN" sz="2400" i="1"/>
                <a:t>A</a:t>
              </a:r>
              <a:endParaRPr kumimoji="1" lang="en-US" altLang="zh-CN" sz="2400"/>
            </a:p>
          </p:txBody>
        </p:sp>
        <p:sp>
          <p:nvSpPr>
            <p:cNvPr id="26" name="Text Box 18"/>
            <p:cNvSpPr txBox="1">
              <a:spLocks noChangeArrowheads="1"/>
            </p:cNvSpPr>
            <p:nvPr/>
          </p:nvSpPr>
          <p:spPr bwMode="auto">
            <a:xfrm>
              <a:off x="3563" y="1766"/>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Times New Roman" pitchFamily="18" charset="0"/>
                  <a:ea typeface="宋体" pitchFamily="2" charset="-122"/>
                </a:defRPr>
              </a:lvl1pPr>
              <a:lvl2pPr>
                <a:defRPr sz="2000">
                  <a:solidFill>
                    <a:schemeClr val="tx1"/>
                  </a:solidFill>
                  <a:latin typeface="Times New Roman" pitchFamily="18" charset="0"/>
                  <a:ea typeface="宋体" pitchFamily="2" charset="-122"/>
                </a:defRPr>
              </a:lvl2pPr>
              <a:lvl3pPr>
                <a:defRPr sz="2000">
                  <a:solidFill>
                    <a:schemeClr val="tx1"/>
                  </a:solidFill>
                  <a:latin typeface="Times New Roman" pitchFamily="18" charset="0"/>
                  <a:ea typeface="宋体" pitchFamily="2" charset="-122"/>
                </a:defRPr>
              </a:lvl3pPr>
              <a:lvl4pPr>
                <a:defRPr sz="2000">
                  <a:solidFill>
                    <a:schemeClr val="tx1"/>
                  </a:solidFill>
                  <a:latin typeface="Times New Roman" pitchFamily="18" charset="0"/>
                  <a:ea typeface="宋体" pitchFamily="2" charset="-122"/>
                </a:defRPr>
              </a:lvl4pPr>
              <a:lvl5pPr>
                <a:defRPr sz="2000">
                  <a:solidFill>
                    <a:schemeClr val="tx1"/>
                  </a:solidFill>
                  <a:latin typeface="Times New Roman" pitchFamily="18" charset="0"/>
                  <a:ea typeface="宋体" pitchFamily="2" charset="-122"/>
                </a:defRPr>
              </a:lvl5pPr>
              <a:lvl6pPr eaLnBrk="0" hangingPunct="0">
                <a:defRPr sz="2000">
                  <a:solidFill>
                    <a:schemeClr val="tx1"/>
                  </a:solidFill>
                  <a:latin typeface="Times New Roman" pitchFamily="18" charset="0"/>
                  <a:ea typeface="宋体" pitchFamily="2" charset="-122"/>
                </a:defRPr>
              </a:lvl6pPr>
              <a:lvl7pPr eaLnBrk="0" hangingPunct="0">
                <a:defRPr sz="2000">
                  <a:solidFill>
                    <a:schemeClr val="tx1"/>
                  </a:solidFill>
                  <a:latin typeface="Times New Roman" pitchFamily="18" charset="0"/>
                  <a:ea typeface="宋体" pitchFamily="2" charset="-122"/>
                </a:defRPr>
              </a:lvl7pPr>
              <a:lvl8pPr eaLnBrk="0" hangingPunct="0">
                <a:defRPr sz="2000">
                  <a:solidFill>
                    <a:schemeClr val="tx1"/>
                  </a:solidFill>
                  <a:latin typeface="Times New Roman" pitchFamily="18" charset="0"/>
                  <a:ea typeface="宋体" pitchFamily="2" charset="-122"/>
                </a:defRPr>
              </a:lvl8pPr>
              <a:lvl9pPr eaLnBrk="0" hangingPunct="0">
                <a:defRPr sz="2000">
                  <a:solidFill>
                    <a:schemeClr val="tx1"/>
                  </a:solidFill>
                  <a:latin typeface="Times New Roman" pitchFamily="18" charset="0"/>
                  <a:ea typeface="宋体" pitchFamily="2" charset="-122"/>
                </a:defRPr>
              </a:lvl9pPr>
            </a:lstStyle>
            <a:p>
              <a:pPr eaLnBrk="1" hangingPunct="1">
                <a:spcBef>
                  <a:spcPct val="50000"/>
                </a:spcBef>
              </a:pPr>
              <a:r>
                <a:rPr kumimoji="1" lang="en-US" altLang="zh-CN" sz="2400" i="1">
                  <a:sym typeface="Symbol" pitchFamily="18" charset="2"/>
                </a:rPr>
                <a:t>M</a:t>
              </a:r>
              <a:endParaRPr kumimoji="1" lang="en-US" altLang="zh-CN" sz="2400" i="1"/>
            </a:p>
          </p:txBody>
        </p:sp>
      </p:grpSp>
      <p:graphicFrame>
        <p:nvGraphicFramePr>
          <p:cNvPr id="37" name="Object 20"/>
          <p:cNvGraphicFramePr>
            <a:graphicFrameLocks noChangeAspect="1"/>
          </p:cNvGraphicFramePr>
          <p:nvPr>
            <p:extLst>
              <p:ext uri="{D42A27DB-BD31-4B8C-83A1-F6EECF244321}">
                <p14:modId xmlns:p14="http://schemas.microsoft.com/office/powerpoint/2010/main" val="1316799465"/>
              </p:ext>
            </p:extLst>
          </p:nvPr>
        </p:nvGraphicFramePr>
        <p:xfrm>
          <a:off x="2454275" y="2000250"/>
          <a:ext cx="1387475" cy="800100"/>
        </p:xfrm>
        <a:graphic>
          <a:graphicData uri="http://schemas.openxmlformats.org/presentationml/2006/ole">
            <mc:AlternateContent xmlns:mc="http://schemas.openxmlformats.org/markup-compatibility/2006">
              <mc:Choice xmlns:v="urn:schemas-microsoft-com:vml" Requires="v">
                <p:oleObj name="Equation" r:id="rId3" imgW="622080" imgH="393480" progId="Equation.DSMT4">
                  <p:embed/>
                </p:oleObj>
              </mc:Choice>
              <mc:Fallback>
                <p:oleObj name="Equation" r:id="rId3" imgW="622080" imgH="393480" progId="Equation.DSMT4">
                  <p:embed/>
                  <p:pic>
                    <p:nvPicPr>
                      <p:cNvPr id="37" name="Object 20"/>
                      <p:cNvPicPr>
                        <a:picLocks noChangeAspect="1" noChangeArrowheads="1"/>
                      </p:cNvPicPr>
                      <p:nvPr/>
                    </p:nvPicPr>
                    <p:blipFill>
                      <a:blip r:embed="rId4"/>
                      <a:srcRect/>
                      <a:stretch>
                        <a:fillRect/>
                      </a:stretch>
                    </p:blipFill>
                    <p:spPr bwMode="auto">
                      <a:xfrm>
                        <a:off x="2454275" y="2000250"/>
                        <a:ext cx="1387475" cy="800100"/>
                      </a:xfrm>
                      <a:prstGeom prst="rect">
                        <a:avLst/>
                      </a:prstGeom>
                      <a:noFill/>
                      <a:ln>
                        <a:noFill/>
                      </a:ln>
                    </p:spPr>
                  </p:pic>
                </p:oleObj>
              </mc:Fallback>
            </mc:AlternateContent>
          </a:graphicData>
        </a:graphic>
      </p:graphicFrame>
      <p:sp>
        <p:nvSpPr>
          <p:cNvPr id="38" name="Text Box 1032"/>
          <p:cNvSpPr txBox="1">
            <a:spLocks noChangeArrowheads="1"/>
          </p:cNvSpPr>
          <p:nvPr/>
        </p:nvSpPr>
        <p:spPr bwMode="auto">
          <a:xfrm>
            <a:off x="333654" y="2842850"/>
            <a:ext cx="7058490" cy="21605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pPr>
            <a:r>
              <a:rPr lang="zh-CN" altLang="en-US" sz="2800" i="0" dirty="0">
                <a:latin typeface="+mn-lt"/>
                <a:ea typeface="微软雅黑" panose="020B0503020204020204" pitchFamily="34" charset="-122"/>
              </a:rPr>
              <a:t>内力在截面上的分布并非均匀，为了更真实的描述内力的实际分布情况，应使</a:t>
            </a:r>
            <a:r>
              <a:rPr lang="zh-CN" altLang="en-US" sz="2800" i="0" dirty="0">
                <a:latin typeface="+mn-lt"/>
                <a:ea typeface="微软雅黑" panose="020B0503020204020204" pitchFamily="34" charset="-122"/>
                <a:sym typeface="Symbol" panose="05050102010706020507" pitchFamily="18" charset="2"/>
              </a:rPr>
              <a:t></a:t>
            </a:r>
            <a:r>
              <a:rPr lang="en-US" altLang="zh-CN" sz="2800" b="0" dirty="0">
                <a:latin typeface="+mn-lt"/>
                <a:ea typeface="微软雅黑" panose="020B0503020204020204" pitchFamily="34" charset="-122"/>
              </a:rPr>
              <a:t>A</a:t>
            </a:r>
            <a:r>
              <a:rPr lang="zh-CN" altLang="en-US" sz="2800" i="0" dirty="0">
                <a:latin typeface="+mn-lt"/>
                <a:ea typeface="微软雅黑" panose="020B0503020204020204" pitchFamily="34" charset="-122"/>
              </a:rPr>
              <a:t>面积缩小并趋近于零，则平均应力</a:t>
            </a:r>
            <a:r>
              <a:rPr lang="en-US" altLang="zh-CN" sz="2800" dirty="0">
                <a:latin typeface="+mn-lt"/>
                <a:ea typeface="微软雅黑" panose="020B0503020204020204" pitchFamily="34" charset="-122"/>
              </a:rPr>
              <a:t>p</a:t>
            </a:r>
            <a:r>
              <a:rPr lang="en-US" altLang="zh-CN" sz="2800" b="0" i="0" baseline="-25000" dirty="0">
                <a:latin typeface="+mn-lt"/>
                <a:ea typeface="微软雅黑" panose="020B0503020204020204" pitchFamily="34" charset="-122"/>
              </a:rPr>
              <a:t>m</a:t>
            </a:r>
            <a:r>
              <a:rPr lang="zh-CN" altLang="en-US" sz="2800" i="0" dirty="0">
                <a:latin typeface="+mn-lt"/>
                <a:ea typeface="微软雅黑" panose="020B0503020204020204" pitchFamily="34" charset="-122"/>
              </a:rPr>
              <a:t>的极限值称为截面上</a:t>
            </a:r>
            <a:r>
              <a:rPr lang="en-US" altLang="zh-CN" sz="2800" b="0" dirty="0">
                <a:latin typeface="+mn-lt"/>
                <a:ea typeface="微软雅黑" panose="020B0503020204020204" pitchFamily="34" charset="-122"/>
              </a:rPr>
              <a:t>M</a:t>
            </a:r>
            <a:r>
              <a:rPr lang="zh-CN" altLang="en-US" sz="2800" i="0" dirty="0">
                <a:latin typeface="+mn-lt"/>
                <a:ea typeface="微软雅黑" panose="020B0503020204020204" pitchFamily="34" charset="-122"/>
              </a:rPr>
              <a:t>点处的全应力，并用</a:t>
            </a:r>
            <a:r>
              <a:rPr lang="en-US" altLang="zh-CN" sz="2800" dirty="0">
                <a:latin typeface="+mn-lt"/>
                <a:ea typeface="微软雅黑" panose="020B0503020204020204" pitchFamily="34" charset="-122"/>
              </a:rPr>
              <a:t>p</a:t>
            </a:r>
            <a:r>
              <a:rPr lang="zh-CN" altLang="en-US" sz="2800" i="0" dirty="0">
                <a:latin typeface="+mn-lt"/>
                <a:ea typeface="微软雅黑" panose="020B0503020204020204" pitchFamily="34" charset="-122"/>
              </a:rPr>
              <a:t>表示</a:t>
            </a:r>
          </a:p>
        </p:txBody>
      </p:sp>
      <p:graphicFrame>
        <p:nvGraphicFramePr>
          <p:cNvPr id="39" name="Object 20"/>
          <p:cNvGraphicFramePr>
            <a:graphicFrameLocks noChangeAspect="1"/>
          </p:cNvGraphicFramePr>
          <p:nvPr>
            <p:extLst>
              <p:ext uri="{D42A27DB-BD31-4B8C-83A1-F6EECF244321}">
                <p14:modId xmlns:p14="http://schemas.microsoft.com/office/powerpoint/2010/main" val="555198798"/>
              </p:ext>
            </p:extLst>
          </p:nvPr>
        </p:nvGraphicFramePr>
        <p:xfrm>
          <a:off x="1775520" y="5191782"/>
          <a:ext cx="2747962" cy="825500"/>
        </p:xfrm>
        <a:graphic>
          <a:graphicData uri="http://schemas.openxmlformats.org/presentationml/2006/ole">
            <mc:AlternateContent xmlns:mc="http://schemas.openxmlformats.org/markup-compatibility/2006">
              <mc:Choice xmlns:v="urn:schemas-microsoft-com:vml" Requires="v">
                <p:oleObj name="Equation" r:id="rId5" imgW="1231560" imgH="406080" progId="Equation.DSMT4">
                  <p:embed/>
                </p:oleObj>
              </mc:Choice>
              <mc:Fallback>
                <p:oleObj name="Equation" r:id="rId5" imgW="1231560" imgH="406080" progId="Equation.DSMT4">
                  <p:embed/>
                  <p:pic>
                    <p:nvPicPr>
                      <p:cNvPr id="39" name="Object 20"/>
                      <p:cNvPicPr>
                        <a:picLocks noChangeAspect="1" noChangeArrowheads="1"/>
                      </p:cNvPicPr>
                      <p:nvPr/>
                    </p:nvPicPr>
                    <p:blipFill>
                      <a:blip r:embed="rId6"/>
                      <a:srcRect/>
                      <a:stretch>
                        <a:fillRect/>
                      </a:stretch>
                    </p:blipFill>
                    <p:spPr bwMode="auto">
                      <a:xfrm>
                        <a:off x="1775520" y="5191782"/>
                        <a:ext cx="2747962" cy="825500"/>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1525461144"/>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nodeType="click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blinds(horizontal)">
                                      <p:cBhvr>
                                        <p:cTn id="11" dur="500"/>
                                        <p:tgtEl>
                                          <p:spTgt spid="20"/>
                                        </p:tgtEl>
                                      </p:cBhvr>
                                    </p:animEffect>
                                  </p:childTnLst>
                                </p:cTn>
                              </p:par>
                              <p:par>
                                <p:cTn id="12" presetID="1" presetClass="entr" presetSubtype="0"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37"/>
                                        </p:tgtEl>
                                        <p:attrNameLst>
                                          <p:attrName>style.visibility</p:attrName>
                                        </p:attrNameLst>
                                      </p:cBhvr>
                                      <p:to>
                                        <p:strVal val="visible"/>
                                      </p:to>
                                    </p:set>
                                    <p:animEffect transition="in" filter="wipe(left)">
                                      <p:cBhvr>
                                        <p:cTn id="18" dur="500"/>
                                        <p:tgtEl>
                                          <p:spTgt spid="37"/>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3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9"/>
                                        </p:tgtEl>
                                        <p:attrNameLst>
                                          <p:attrName>style.visibility</p:attrName>
                                        </p:attrNameLst>
                                      </p:cBhvr>
                                      <p:to>
                                        <p:strVal val="visible"/>
                                      </p:to>
                                    </p:set>
                                    <p:animEffect transition="in" filter="wipe(left)">
                                      <p:cBhvr>
                                        <p:cTn id="27"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53" grpId="0" autoUpdateAnimBg="0"/>
      <p:bldP spid="38" grpId="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711605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第八章   拉压、剪切与挤压的强度计算</a:t>
            </a:r>
          </a:p>
        </p:txBody>
      </p:sp>
      <p:sp>
        <p:nvSpPr>
          <p:cNvPr id="9" name="Rectangle 61"/>
          <p:cNvSpPr>
            <a:spLocks noChangeArrowheads="1"/>
          </p:cNvSpPr>
          <p:nvPr/>
        </p:nvSpPr>
        <p:spPr bwMode="auto">
          <a:xfrm>
            <a:off x="7392144" y="2029160"/>
            <a:ext cx="4752528" cy="4176464"/>
          </a:xfrm>
          <a:prstGeom prst="rect">
            <a:avLst/>
          </a:prstGeom>
          <a:solidFill>
            <a:srgbClr val="B9CDE5"/>
          </a:solidFill>
          <a:ln>
            <a:noFill/>
          </a:ln>
          <a:effectLst/>
        </p:spPr>
        <p:txBody>
          <a:bodyPr wrap="none" anchor="ctr"/>
          <a:lstStyle/>
          <a:p>
            <a:endParaRPr lang="zh-CN" altLang="en-US"/>
          </a:p>
        </p:txBody>
      </p:sp>
      <p:sp>
        <p:nvSpPr>
          <p:cNvPr id="53" name="Text Box 1032"/>
          <p:cNvSpPr txBox="1">
            <a:spLocks noChangeArrowheads="1"/>
          </p:cNvSpPr>
          <p:nvPr/>
        </p:nvSpPr>
        <p:spPr bwMode="auto">
          <a:xfrm>
            <a:off x="335361" y="865289"/>
            <a:ext cx="11665295" cy="1126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pPr>
            <a:r>
              <a:rPr kumimoji="1" lang="zh-CN" altLang="en-US" sz="2800" i="0" dirty="0">
                <a:latin typeface="+mn-lt"/>
                <a:ea typeface="微软雅黑" panose="020B0503020204020204" pitchFamily="34" charset="-122"/>
              </a:rPr>
              <a:t>全应力</a:t>
            </a:r>
            <a:r>
              <a:rPr kumimoji="1" lang="en-US" altLang="zh-CN" sz="2800" dirty="0">
                <a:latin typeface="+mn-lt"/>
                <a:ea typeface="微软雅黑" panose="020B0503020204020204" pitchFamily="34" charset="-122"/>
              </a:rPr>
              <a:t>p</a:t>
            </a:r>
            <a:r>
              <a:rPr kumimoji="1" lang="en-US" altLang="zh-CN" sz="2800" b="0" i="0" baseline="-25000" dirty="0">
                <a:latin typeface="+mn-lt"/>
                <a:ea typeface="微软雅黑" panose="020B0503020204020204" pitchFamily="34" charset="-122"/>
              </a:rPr>
              <a:t>m</a:t>
            </a:r>
            <a:r>
              <a:rPr kumimoji="1" lang="zh-CN" altLang="en-US" sz="2800" i="0" dirty="0">
                <a:latin typeface="+mn-lt"/>
                <a:ea typeface="微软雅黑" panose="020B0503020204020204" pitchFamily="34" charset="-122"/>
              </a:rPr>
              <a:t>的方向即</a:t>
            </a:r>
            <a:r>
              <a:rPr kumimoji="1" lang="zh-CN" altLang="en-US" sz="2800" i="0" dirty="0">
                <a:latin typeface="+mn-lt"/>
                <a:ea typeface="微软雅黑" panose="020B0503020204020204" pitchFamily="34" charset="-122"/>
                <a:sym typeface="Symbol" panose="05050102010706020507" pitchFamily="18" charset="2"/>
              </a:rPr>
              <a:t></a:t>
            </a:r>
            <a:r>
              <a:rPr kumimoji="1" lang="en-US" altLang="zh-CN" sz="2800" dirty="0">
                <a:latin typeface="+mn-lt"/>
                <a:ea typeface="微软雅黑" panose="020B0503020204020204" pitchFamily="34" charset="-122"/>
              </a:rPr>
              <a:t>F</a:t>
            </a:r>
            <a:r>
              <a:rPr kumimoji="1" lang="zh-CN" altLang="en-US" sz="2800" i="0" dirty="0">
                <a:latin typeface="+mn-lt"/>
                <a:ea typeface="微软雅黑" panose="020B0503020204020204" pitchFamily="34" charset="-122"/>
              </a:rPr>
              <a:t>的方向。通常将应力分解成垂直于截面的法向分量</a:t>
            </a:r>
            <a:r>
              <a:rPr kumimoji="1" lang="zh-CN" altLang="en-US" sz="2800" dirty="0">
                <a:solidFill>
                  <a:srgbClr val="FF00FF"/>
                </a:solidFill>
                <a:latin typeface="+mn-lt"/>
                <a:ea typeface="微软雅黑" panose="020B0503020204020204" pitchFamily="34" charset="-122"/>
                <a:sym typeface="Symbol" panose="05050102010706020507" pitchFamily="18" charset="2"/>
              </a:rPr>
              <a:t></a:t>
            </a:r>
            <a:r>
              <a:rPr kumimoji="1" lang="zh-CN" altLang="en-US" sz="2800" dirty="0">
                <a:latin typeface="+mn-lt"/>
                <a:ea typeface="微软雅黑" panose="020B0503020204020204" pitchFamily="34" charset="-122"/>
                <a:sym typeface="Symbol" panose="05050102010706020507" pitchFamily="18" charset="2"/>
              </a:rPr>
              <a:t> </a:t>
            </a:r>
            <a:r>
              <a:rPr kumimoji="1" lang="zh-CN" altLang="en-US" sz="2800" i="0" dirty="0">
                <a:latin typeface="+mn-lt"/>
                <a:ea typeface="微软雅黑" panose="020B0503020204020204" pitchFamily="34" charset="-122"/>
              </a:rPr>
              <a:t>和相切于截面的切向分量</a:t>
            </a:r>
            <a:r>
              <a:rPr kumimoji="1" lang="zh-CN" altLang="en-US" sz="2800" dirty="0">
                <a:solidFill>
                  <a:srgbClr val="FF00FF"/>
                </a:solidFill>
                <a:latin typeface="+mn-lt"/>
                <a:ea typeface="微软雅黑" panose="020B0503020204020204" pitchFamily="34" charset="-122"/>
                <a:sym typeface="Symbol" panose="05050102010706020507" pitchFamily="18" charset="2"/>
              </a:rPr>
              <a:t></a:t>
            </a:r>
            <a:r>
              <a:rPr kumimoji="1" lang="zh-CN" altLang="en-US" sz="2800" i="0" dirty="0">
                <a:latin typeface="+mn-lt"/>
                <a:ea typeface="微软雅黑" panose="020B0503020204020204" pitchFamily="34" charset="-122"/>
              </a:rPr>
              <a:t>。</a:t>
            </a:r>
            <a:r>
              <a:rPr kumimoji="1" lang="zh-CN" altLang="en-US" sz="2800" dirty="0">
                <a:solidFill>
                  <a:srgbClr val="FF00FF"/>
                </a:solidFill>
                <a:latin typeface="+mn-lt"/>
                <a:ea typeface="微软雅黑" panose="020B0503020204020204" pitchFamily="34" charset="-122"/>
                <a:sym typeface="Symbol" panose="05050102010706020507" pitchFamily="18" charset="2"/>
              </a:rPr>
              <a:t></a:t>
            </a:r>
            <a:r>
              <a:rPr kumimoji="1" lang="zh-CN" altLang="en-US" sz="2800" i="0" dirty="0">
                <a:latin typeface="+mn-lt"/>
                <a:ea typeface="微软雅黑" panose="020B0503020204020204" pitchFamily="34" charset="-122"/>
                <a:sym typeface="Symbol" panose="05050102010706020507" pitchFamily="18" charset="2"/>
              </a:rPr>
              <a:t> </a:t>
            </a:r>
            <a:r>
              <a:rPr kumimoji="1" lang="zh-CN" altLang="en-US" sz="2800" i="0" dirty="0">
                <a:latin typeface="+mn-lt"/>
                <a:ea typeface="微软雅黑" panose="020B0503020204020204" pitchFamily="34" charset="-122"/>
              </a:rPr>
              <a:t>称</a:t>
            </a:r>
            <a:r>
              <a:rPr kumimoji="1" lang="zh-CN" altLang="en-US" sz="2800" i="0" dirty="0">
                <a:solidFill>
                  <a:srgbClr val="FF00FF"/>
                </a:solidFill>
                <a:latin typeface="+mn-lt"/>
                <a:ea typeface="微软雅黑" panose="020B0503020204020204" pitchFamily="34" charset="-122"/>
              </a:rPr>
              <a:t>正应力</a:t>
            </a:r>
            <a:r>
              <a:rPr kumimoji="1" lang="zh-CN" altLang="en-US" sz="2800" i="0" dirty="0">
                <a:latin typeface="+mn-lt"/>
                <a:ea typeface="微软雅黑" panose="020B0503020204020204" pitchFamily="34" charset="-122"/>
              </a:rPr>
              <a:t>，</a:t>
            </a:r>
            <a:r>
              <a:rPr kumimoji="1" lang="zh-CN" altLang="en-US" sz="2800" dirty="0">
                <a:solidFill>
                  <a:srgbClr val="FF00FF"/>
                </a:solidFill>
                <a:latin typeface="+mn-lt"/>
                <a:ea typeface="微软雅黑" panose="020B0503020204020204" pitchFamily="34" charset="-122"/>
                <a:sym typeface="Symbol" panose="05050102010706020507" pitchFamily="18" charset="2"/>
              </a:rPr>
              <a:t></a:t>
            </a:r>
            <a:r>
              <a:rPr kumimoji="1" lang="zh-CN" altLang="en-US" sz="2800" dirty="0">
                <a:latin typeface="+mn-lt"/>
                <a:ea typeface="微软雅黑" panose="020B0503020204020204" pitchFamily="34" charset="-122"/>
                <a:sym typeface="Symbol" panose="05050102010706020507" pitchFamily="18" charset="2"/>
              </a:rPr>
              <a:t> </a:t>
            </a:r>
            <a:r>
              <a:rPr kumimoji="1" lang="zh-CN" altLang="en-US" sz="2800" i="0" dirty="0">
                <a:latin typeface="+mn-lt"/>
                <a:ea typeface="微软雅黑" panose="020B0503020204020204" pitchFamily="34" charset="-122"/>
              </a:rPr>
              <a:t>称为</a:t>
            </a:r>
            <a:r>
              <a:rPr kumimoji="1" lang="zh-CN" altLang="en-US" sz="2800" i="0" dirty="0">
                <a:solidFill>
                  <a:srgbClr val="FF00FF"/>
                </a:solidFill>
                <a:latin typeface="+mn-lt"/>
                <a:ea typeface="微软雅黑" panose="020B0503020204020204" pitchFamily="34" charset="-122"/>
              </a:rPr>
              <a:t>切应力</a:t>
            </a:r>
            <a:r>
              <a:rPr kumimoji="1" lang="zh-CN" altLang="en-US" sz="2800" i="0" dirty="0">
                <a:latin typeface="+mn-lt"/>
                <a:ea typeface="微软雅黑" panose="020B0503020204020204" pitchFamily="34" charset="-122"/>
              </a:rPr>
              <a:t>。</a:t>
            </a:r>
            <a:endParaRPr lang="zh-CN" altLang="en-US" sz="2800" i="0" dirty="0">
              <a:latin typeface="+mn-lt"/>
              <a:ea typeface="微软雅黑" panose="020B0503020204020204" pitchFamily="34" charset="-122"/>
            </a:endParaRPr>
          </a:p>
        </p:txBody>
      </p:sp>
      <p:graphicFrame>
        <p:nvGraphicFramePr>
          <p:cNvPr id="37" name="Object 20"/>
          <p:cNvGraphicFramePr>
            <a:graphicFrameLocks noChangeAspect="1"/>
          </p:cNvGraphicFramePr>
          <p:nvPr>
            <p:extLst>
              <p:ext uri="{D42A27DB-BD31-4B8C-83A1-F6EECF244321}">
                <p14:modId xmlns:p14="http://schemas.microsoft.com/office/powerpoint/2010/main" val="4009956966"/>
              </p:ext>
            </p:extLst>
          </p:nvPr>
        </p:nvGraphicFramePr>
        <p:xfrm>
          <a:off x="1662113" y="1987550"/>
          <a:ext cx="2973387" cy="825500"/>
        </p:xfrm>
        <a:graphic>
          <a:graphicData uri="http://schemas.openxmlformats.org/presentationml/2006/ole">
            <mc:AlternateContent xmlns:mc="http://schemas.openxmlformats.org/markup-compatibility/2006">
              <mc:Choice xmlns:v="urn:schemas-microsoft-com:vml" Requires="v">
                <p:oleObj name="Equation" r:id="rId3" imgW="1333440" imgH="406080" progId="Equation.DSMT4">
                  <p:embed/>
                </p:oleObj>
              </mc:Choice>
              <mc:Fallback>
                <p:oleObj name="Equation" r:id="rId3" imgW="1333440" imgH="406080" progId="Equation.DSMT4">
                  <p:embed/>
                  <p:pic>
                    <p:nvPicPr>
                      <p:cNvPr id="37" name="Object 20"/>
                      <p:cNvPicPr>
                        <a:picLocks noChangeAspect="1" noChangeArrowheads="1"/>
                      </p:cNvPicPr>
                      <p:nvPr/>
                    </p:nvPicPr>
                    <p:blipFill>
                      <a:blip r:embed="rId4"/>
                      <a:srcRect/>
                      <a:stretch>
                        <a:fillRect/>
                      </a:stretch>
                    </p:blipFill>
                    <p:spPr bwMode="auto">
                      <a:xfrm>
                        <a:off x="1662113" y="1987550"/>
                        <a:ext cx="2973387" cy="825500"/>
                      </a:xfrm>
                      <a:prstGeom prst="rect">
                        <a:avLst/>
                      </a:prstGeom>
                      <a:noFill/>
                      <a:ln>
                        <a:noFill/>
                      </a:ln>
                    </p:spPr>
                  </p:pic>
                </p:oleObj>
              </mc:Fallback>
            </mc:AlternateContent>
          </a:graphicData>
        </a:graphic>
      </p:graphicFrame>
      <p:grpSp>
        <p:nvGrpSpPr>
          <p:cNvPr id="40" name="Group 4"/>
          <p:cNvGrpSpPr>
            <a:grpSpLocks/>
          </p:cNvGrpSpPr>
          <p:nvPr/>
        </p:nvGrpSpPr>
        <p:grpSpPr bwMode="auto">
          <a:xfrm>
            <a:off x="7634808" y="2790956"/>
            <a:ext cx="4267200" cy="2514600"/>
            <a:chOff x="2688" y="1584"/>
            <a:chExt cx="2688" cy="1584"/>
          </a:xfrm>
        </p:grpSpPr>
        <p:grpSp>
          <p:nvGrpSpPr>
            <p:cNvPr id="41" name="Group 5"/>
            <p:cNvGrpSpPr>
              <a:grpSpLocks/>
            </p:cNvGrpSpPr>
            <p:nvPr/>
          </p:nvGrpSpPr>
          <p:grpSpPr bwMode="auto">
            <a:xfrm>
              <a:off x="3168" y="1776"/>
              <a:ext cx="2064" cy="1296"/>
              <a:chOff x="3168" y="1776"/>
              <a:chExt cx="2064" cy="1296"/>
            </a:xfrm>
          </p:grpSpPr>
          <p:grpSp>
            <p:nvGrpSpPr>
              <p:cNvPr id="51" name="Group 6"/>
              <p:cNvGrpSpPr>
                <a:grpSpLocks/>
              </p:cNvGrpSpPr>
              <p:nvPr/>
            </p:nvGrpSpPr>
            <p:grpSpPr bwMode="auto">
              <a:xfrm>
                <a:off x="3227" y="1776"/>
                <a:ext cx="2005" cy="1296"/>
                <a:chOff x="3227" y="1776"/>
                <a:chExt cx="2005" cy="1296"/>
              </a:xfrm>
            </p:grpSpPr>
            <p:sp>
              <p:nvSpPr>
                <p:cNvPr id="54" name="Oval 7"/>
                <p:cNvSpPr>
                  <a:spLocks noChangeArrowheads="1"/>
                </p:cNvSpPr>
                <p:nvPr/>
              </p:nvSpPr>
              <p:spPr bwMode="auto">
                <a:xfrm>
                  <a:off x="4512" y="1776"/>
                  <a:ext cx="720" cy="1296"/>
                </a:xfrm>
                <a:prstGeom prst="ellipse">
                  <a:avLst/>
                </a:prstGeom>
                <a:gradFill rotWithShape="0">
                  <a:gsLst>
                    <a:gs pos="0">
                      <a:srgbClr val="FFFF00"/>
                    </a:gs>
                    <a:gs pos="50000">
                      <a:srgbClr val="FFCC00"/>
                    </a:gs>
                    <a:gs pos="100000">
                      <a:srgbClr val="FFFF00"/>
                    </a:gs>
                  </a:gsLst>
                  <a:lin ang="5400000" scaled="1"/>
                </a:gradFill>
                <a:ln w="9525">
                  <a:solidFill>
                    <a:schemeClr val="tx1"/>
                  </a:solidFill>
                  <a:round/>
                  <a:headEnd/>
                  <a:tailEnd/>
                </a:ln>
              </p:spPr>
              <p:txBody>
                <a:bodyPr wrap="none" anchor="ctr"/>
                <a:lstStyle/>
                <a:p>
                  <a:pPr eaLnBrk="1" hangingPunct="1">
                    <a:buFontTx/>
                    <a:buChar char="•"/>
                  </a:pPr>
                  <a:endParaRPr lang="zh-CN" altLang="en-US"/>
                </a:p>
              </p:txBody>
            </p:sp>
            <p:sp>
              <p:nvSpPr>
                <p:cNvPr id="55" name="Rectangle 8"/>
                <p:cNvSpPr>
                  <a:spLocks noChangeArrowheads="1"/>
                </p:cNvSpPr>
                <p:nvPr/>
              </p:nvSpPr>
              <p:spPr bwMode="auto">
                <a:xfrm>
                  <a:off x="3227" y="2211"/>
                  <a:ext cx="234"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Tx/>
                    <a:buChar char="•"/>
                  </a:pPr>
                  <a:endParaRPr lang="zh-CN" altLang="en-US"/>
                </a:p>
              </p:txBody>
            </p:sp>
            <p:sp>
              <p:nvSpPr>
                <p:cNvPr id="56" name="Rectangle 9"/>
                <p:cNvSpPr>
                  <a:spLocks noChangeArrowheads="1"/>
                </p:cNvSpPr>
                <p:nvPr/>
              </p:nvSpPr>
              <p:spPr bwMode="auto">
                <a:xfrm>
                  <a:off x="3504" y="1776"/>
                  <a:ext cx="1344" cy="1296"/>
                </a:xfrm>
                <a:prstGeom prst="rect">
                  <a:avLst/>
                </a:prstGeom>
                <a:gradFill rotWithShape="0">
                  <a:gsLst>
                    <a:gs pos="0">
                      <a:srgbClr val="FFFF00"/>
                    </a:gs>
                    <a:gs pos="50000">
                      <a:srgbClr val="FFCC00"/>
                    </a:gs>
                    <a:gs pos="100000">
                      <a:srgbClr val="FFFF00"/>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buFontTx/>
                    <a:buChar char="•"/>
                  </a:pPr>
                  <a:endParaRPr lang="zh-CN" altLang="en-US"/>
                </a:p>
              </p:txBody>
            </p:sp>
            <p:sp>
              <p:nvSpPr>
                <p:cNvPr id="57" name="Line 10"/>
                <p:cNvSpPr>
                  <a:spLocks noChangeShapeType="1"/>
                </p:cNvSpPr>
                <p:nvPr/>
              </p:nvSpPr>
              <p:spPr bwMode="auto">
                <a:xfrm>
                  <a:off x="3600" y="1776"/>
                  <a:ext cx="129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8" name="Line 11"/>
                <p:cNvSpPr>
                  <a:spLocks noChangeShapeType="1"/>
                </p:cNvSpPr>
                <p:nvPr/>
              </p:nvSpPr>
              <p:spPr bwMode="auto">
                <a:xfrm>
                  <a:off x="3552" y="3072"/>
                  <a:ext cx="134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52" name="Oval 12"/>
              <p:cNvSpPr>
                <a:spLocks noChangeArrowheads="1"/>
              </p:cNvSpPr>
              <p:nvPr/>
            </p:nvSpPr>
            <p:spPr bwMode="auto">
              <a:xfrm>
                <a:off x="3168" y="1776"/>
                <a:ext cx="720" cy="1296"/>
              </a:xfrm>
              <a:prstGeom prst="ellipse">
                <a:avLst/>
              </a:prstGeom>
              <a:gradFill rotWithShape="0">
                <a:gsLst>
                  <a:gs pos="0">
                    <a:srgbClr val="FFCC00"/>
                  </a:gs>
                  <a:gs pos="50000">
                    <a:srgbClr val="CC9900"/>
                  </a:gs>
                  <a:gs pos="100000">
                    <a:srgbClr val="FFCC00"/>
                  </a:gs>
                </a:gsLst>
                <a:lin ang="5400000" scaled="1"/>
              </a:gradFill>
              <a:ln w="9525">
                <a:solidFill>
                  <a:schemeClr val="tx1"/>
                </a:solidFill>
                <a:round/>
                <a:headEnd/>
                <a:tailEnd/>
              </a:ln>
            </p:spPr>
            <p:txBody>
              <a:bodyPr wrap="none" anchor="ctr"/>
              <a:lstStyle/>
              <a:p>
                <a:pPr eaLnBrk="1" hangingPunct="1">
                  <a:buFontTx/>
                  <a:buChar char="•"/>
                </a:pPr>
                <a:endParaRPr lang="zh-CN" altLang="en-US"/>
              </a:p>
            </p:txBody>
          </p:sp>
        </p:grpSp>
        <p:sp>
          <p:nvSpPr>
            <p:cNvPr id="42" name="Line 13"/>
            <p:cNvSpPr>
              <a:spLocks noChangeShapeType="1"/>
            </p:cNvSpPr>
            <p:nvPr/>
          </p:nvSpPr>
          <p:spPr bwMode="auto">
            <a:xfrm flipV="1">
              <a:off x="4752" y="1584"/>
              <a:ext cx="576" cy="576"/>
            </a:xfrm>
            <a:prstGeom prst="line">
              <a:avLst/>
            </a:prstGeom>
            <a:noFill/>
            <a:ln w="38100">
              <a:solidFill>
                <a:schemeClr val="tx1"/>
              </a:solidFill>
              <a:round/>
              <a:headEnd/>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 name="Line 14"/>
            <p:cNvSpPr>
              <a:spLocks noChangeShapeType="1"/>
            </p:cNvSpPr>
            <p:nvPr/>
          </p:nvSpPr>
          <p:spPr bwMode="auto">
            <a:xfrm>
              <a:off x="4848" y="2640"/>
              <a:ext cx="528" cy="528"/>
            </a:xfrm>
            <a:prstGeom prst="line">
              <a:avLst/>
            </a:prstGeom>
            <a:noFill/>
            <a:ln w="38100">
              <a:solidFill>
                <a:schemeClr val="tx1"/>
              </a:solidFill>
              <a:round/>
              <a:headEnd/>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 name="Line 15"/>
            <p:cNvSpPr>
              <a:spLocks noChangeShapeType="1"/>
            </p:cNvSpPr>
            <p:nvPr/>
          </p:nvSpPr>
          <p:spPr bwMode="auto">
            <a:xfrm flipH="1" flipV="1">
              <a:off x="2880" y="1968"/>
              <a:ext cx="768" cy="288"/>
            </a:xfrm>
            <a:prstGeom prst="line">
              <a:avLst/>
            </a:prstGeom>
            <a:noFill/>
            <a:ln w="38100">
              <a:solidFill>
                <a:schemeClr val="accent2"/>
              </a:solidFill>
              <a:round/>
              <a:headEnd/>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 name="Text Box 16"/>
            <p:cNvSpPr txBox="1">
              <a:spLocks noChangeArrowheads="1"/>
            </p:cNvSpPr>
            <p:nvPr/>
          </p:nvSpPr>
          <p:spPr bwMode="auto">
            <a:xfrm>
              <a:off x="2688" y="1824"/>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Times New Roman" pitchFamily="18" charset="0"/>
                  <a:ea typeface="宋体" pitchFamily="2" charset="-122"/>
                </a:defRPr>
              </a:lvl1pPr>
              <a:lvl2pPr>
                <a:defRPr sz="2000">
                  <a:solidFill>
                    <a:schemeClr val="tx1"/>
                  </a:solidFill>
                  <a:latin typeface="Times New Roman" pitchFamily="18" charset="0"/>
                  <a:ea typeface="宋体" pitchFamily="2" charset="-122"/>
                </a:defRPr>
              </a:lvl2pPr>
              <a:lvl3pPr>
                <a:defRPr sz="2000">
                  <a:solidFill>
                    <a:schemeClr val="tx1"/>
                  </a:solidFill>
                  <a:latin typeface="Times New Roman" pitchFamily="18" charset="0"/>
                  <a:ea typeface="宋体" pitchFamily="2" charset="-122"/>
                </a:defRPr>
              </a:lvl3pPr>
              <a:lvl4pPr>
                <a:defRPr sz="2000">
                  <a:solidFill>
                    <a:schemeClr val="tx1"/>
                  </a:solidFill>
                  <a:latin typeface="Times New Roman" pitchFamily="18" charset="0"/>
                  <a:ea typeface="宋体" pitchFamily="2" charset="-122"/>
                </a:defRPr>
              </a:lvl4pPr>
              <a:lvl5pPr>
                <a:defRPr sz="2000">
                  <a:solidFill>
                    <a:schemeClr val="tx1"/>
                  </a:solidFill>
                  <a:latin typeface="Times New Roman" pitchFamily="18" charset="0"/>
                  <a:ea typeface="宋体" pitchFamily="2" charset="-122"/>
                </a:defRPr>
              </a:lvl5pPr>
              <a:lvl6pPr eaLnBrk="0" hangingPunct="0">
                <a:defRPr sz="2000">
                  <a:solidFill>
                    <a:schemeClr val="tx1"/>
                  </a:solidFill>
                  <a:latin typeface="Times New Roman" pitchFamily="18" charset="0"/>
                  <a:ea typeface="宋体" pitchFamily="2" charset="-122"/>
                </a:defRPr>
              </a:lvl6pPr>
              <a:lvl7pPr eaLnBrk="0" hangingPunct="0">
                <a:defRPr sz="2000">
                  <a:solidFill>
                    <a:schemeClr val="tx1"/>
                  </a:solidFill>
                  <a:latin typeface="Times New Roman" pitchFamily="18" charset="0"/>
                  <a:ea typeface="宋体" pitchFamily="2" charset="-122"/>
                </a:defRPr>
              </a:lvl7pPr>
              <a:lvl8pPr eaLnBrk="0" hangingPunct="0">
                <a:defRPr sz="2000">
                  <a:solidFill>
                    <a:schemeClr val="tx1"/>
                  </a:solidFill>
                  <a:latin typeface="Times New Roman" pitchFamily="18" charset="0"/>
                  <a:ea typeface="宋体" pitchFamily="2" charset="-122"/>
                </a:defRPr>
              </a:lvl8pPr>
              <a:lvl9pPr eaLnBrk="0" hangingPunct="0">
                <a:defRPr sz="2000">
                  <a:solidFill>
                    <a:schemeClr val="tx1"/>
                  </a:solidFill>
                  <a:latin typeface="Times New Roman" pitchFamily="18" charset="0"/>
                  <a:ea typeface="宋体" pitchFamily="2" charset="-122"/>
                </a:defRPr>
              </a:lvl9pPr>
            </a:lstStyle>
            <a:p>
              <a:pPr eaLnBrk="1" hangingPunct="1">
                <a:spcBef>
                  <a:spcPct val="50000"/>
                </a:spcBef>
              </a:pPr>
              <a:r>
                <a:rPr kumimoji="1" lang="en-US" altLang="zh-CN" sz="2400" i="1">
                  <a:sym typeface="Symbol" pitchFamily="18" charset="2"/>
                </a:rPr>
                <a:t>p</a:t>
              </a:r>
              <a:endParaRPr kumimoji="1" lang="en-US" altLang="zh-CN" sz="2400" i="1"/>
            </a:p>
          </p:txBody>
        </p:sp>
        <p:sp>
          <p:nvSpPr>
            <p:cNvPr id="46" name="Text Box 17"/>
            <p:cNvSpPr txBox="1">
              <a:spLocks noChangeArrowheads="1"/>
            </p:cNvSpPr>
            <p:nvPr/>
          </p:nvSpPr>
          <p:spPr bwMode="auto">
            <a:xfrm>
              <a:off x="3456" y="1776"/>
              <a:ext cx="48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Times New Roman" pitchFamily="18" charset="0"/>
                  <a:ea typeface="宋体" pitchFamily="2" charset="-122"/>
                </a:defRPr>
              </a:lvl1pPr>
              <a:lvl2pPr>
                <a:defRPr sz="2000">
                  <a:solidFill>
                    <a:schemeClr val="tx1"/>
                  </a:solidFill>
                  <a:latin typeface="Times New Roman" pitchFamily="18" charset="0"/>
                  <a:ea typeface="宋体" pitchFamily="2" charset="-122"/>
                </a:defRPr>
              </a:lvl2pPr>
              <a:lvl3pPr>
                <a:defRPr sz="2000">
                  <a:solidFill>
                    <a:schemeClr val="tx1"/>
                  </a:solidFill>
                  <a:latin typeface="Times New Roman" pitchFamily="18" charset="0"/>
                  <a:ea typeface="宋体" pitchFamily="2" charset="-122"/>
                </a:defRPr>
              </a:lvl3pPr>
              <a:lvl4pPr>
                <a:defRPr sz="2000">
                  <a:solidFill>
                    <a:schemeClr val="tx1"/>
                  </a:solidFill>
                  <a:latin typeface="Times New Roman" pitchFamily="18" charset="0"/>
                  <a:ea typeface="宋体" pitchFamily="2" charset="-122"/>
                </a:defRPr>
              </a:lvl4pPr>
              <a:lvl5pPr>
                <a:defRPr sz="2000">
                  <a:solidFill>
                    <a:schemeClr val="tx1"/>
                  </a:solidFill>
                  <a:latin typeface="Times New Roman" pitchFamily="18" charset="0"/>
                  <a:ea typeface="宋体" pitchFamily="2" charset="-122"/>
                </a:defRPr>
              </a:lvl5pPr>
              <a:lvl6pPr eaLnBrk="0" hangingPunct="0">
                <a:defRPr sz="2000">
                  <a:solidFill>
                    <a:schemeClr val="tx1"/>
                  </a:solidFill>
                  <a:latin typeface="Times New Roman" pitchFamily="18" charset="0"/>
                  <a:ea typeface="宋体" pitchFamily="2" charset="-122"/>
                </a:defRPr>
              </a:lvl6pPr>
              <a:lvl7pPr eaLnBrk="0" hangingPunct="0">
                <a:defRPr sz="2000">
                  <a:solidFill>
                    <a:schemeClr val="tx1"/>
                  </a:solidFill>
                  <a:latin typeface="Times New Roman" pitchFamily="18" charset="0"/>
                  <a:ea typeface="宋体" pitchFamily="2" charset="-122"/>
                </a:defRPr>
              </a:lvl7pPr>
              <a:lvl8pPr eaLnBrk="0" hangingPunct="0">
                <a:defRPr sz="2000">
                  <a:solidFill>
                    <a:schemeClr val="tx1"/>
                  </a:solidFill>
                  <a:latin typeface="Times New Roman" pitchFamily="18" charset="0"/>
                  <a:ea typeface="宋体" pitchFamily="2" charset="-122"/>
                </a:defRPr>
              </a:lvl8pPr>
              <a:lvl9pPr eaLnBrk="0" hangingPunct="0">
                <a:defRPr sz="2000">
                  <a:solidFill>
                    <a:schemeClr val="tx1"/>
                  </a:solidFill>
                  <a:latin typeface="Times New Roman" pitchFamily="18" charset="0"/>
                  <a:ea typeface="宋体" pitchFamily="2" charset="-122"/>
                </a:defRPr>
              </a:lvl9pPr>
            </a:lstStyle>
            <a:p>
              <a:pPr eaLnBrk="1" hangingPunct="1">
                <a:spcBef>
                  <a:spcPct val="50000"/>
                </a:spcBef>
              </a:pPr>
              <a:r>
                <a:rPr kumimoji="1" lang="en-US" altLang="en-US" sz="2800" i="1">
                  <a:solidFill>
                    <a:srgbClr val="CC3300"/>
                  </a:solidFill>
                  <a:sym typeface="Symbol" pitchFamily="18" charset="2"/>
                </a:rPr>
                <a:t></a:t>
              </a:r>
              <a:endParaRPr kumimoji="1" lang="en-US" altLang="zh-CN" sz="2800" i="1">
                <a:solidFill>
                  <a:srgbClr val="CC3300"/>
                </a:solidFill>
              </a:endParaRPr>
            </a:p>
          </p:txBody>
        </p:sp>
        <p:sp>
          <p:nvSpPr>
            <p:cNvPr id="47" name="Text Box 18"/>
            <p:cNvSpPr txBox="1">
              <a:spLocks noChangeArrowheads="1"/>
            </p:cNvSpPr>
            <p:nvPr/>
          </p:nvSpPr>
          <p:spPr bwMode="auto">
            <a:xfrm>
              <a:off x="3552" y="2208"/>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Times New Roman" pitchFamily="18" charset="0"/>
                  <a:ea typeface="宋体" pitchFamily="2" charset="-122"/>
                </a:defRPr>
              </a:lvl1pPr>
              <a:lvl2pPr>
                <a:defRPr sz="2000">
                  <a:solidFill>
                    <a:schemeClr val="tx1"/>
                  </a:solidFill>
                  <a:latin typeface="Times New Roman" pitchFamily="18" charset="0"/>
                  <a:ea typeface="宋体" pitchFamily="2" charset="-122"/>
                </a:defRPr>
              </a:lvl2pPr>
              <a:lvl3pPr>
                <a:defRPr sz="2000">
                  <a:solidFill>
                    <a:schemeClr val="tx1"/>
                  </a:solidFill>
                  <a:latin typeface="Times New Roman" pitchFamily="18" charset="0"/>
                  <a:ea typeface="宋体" pitchFamily="2" charset="-122"/>
                </a:defRPr>
              </a:lvl3pPr>
              <a:lvl4pPr>
                <a:defRPr sz="2000">
                  <a:solidFill>
                    <a:schemeClr val="tx1"/>
                  </a:solidFill>
                  <a:latin typeface="Times New Roman" pitchFamily="18" charset="0"/>
                  <a:ea typeface="宋体" pitchFamily="2" charset="-122"/>
                </a:defRPr>
              </a:lvl4pPr>
              <a:lvl5pPr>
                <a:defRPr sz="2000">
                  <a:solidFill>
                    <a:schemeClr val="tx1"/>
                  </a:solidFill>
                  <a:latin typeface="Times New Roman" pitchFamily="18" charset="0"/>
                  <a:ea typeface="宋体" pitchFamily="2" charset="-122"/>
                </a:defRPr>
              </a:lvl5pPr>
              <a:lvl6pPr eaLnBrk="0" hangingPunct="0">
                <a:defRPr sz="2000">
                  <a:solidFill>
                    <a:schemeClr val="tx1"/>
                  </a:solidFill>
                  <a:latin typeface="Times New Roman" pitchFamily="18" charset="0"/>
                  <a:ea typeface="宋体" pitchFamily="2" charset="-122"/>
                </a:defRPr>
              </a:lvl6pPr>
              <a:lvl7pPr eaLnBrk="0" hangingPunct="0">
                <a:defRPr sz="2000">
                  <a:solidFill>
                    <a:schemeClr val="tx1"/>
                  </a:solidFill>
                  <a:latin typeface="Times New Roman" pitchFamily="18" charset="0"/>
                  <a:ea typeface="宋体" pitchFamily="2" charset="-122"/>
                </a:defRPr>
              </a:lvl7pPr>
              <a:lvl8pPr eaLnBrk="0" hangingPunct="0">
                <a:defRPr sz="2000">
                  <a:solidFill>
                    <a:schemeClr val="tx1"/>
                  </a:solidFill>
                  <a:latin typeface="Times New Roman" pitchFamily="18" charset="0"/>
                  <a:ea typeface="宋体" pitchFamily="2" charset="-122"/>
                </a:defRPr>
              </a:lvl8pPr>
              <a:lvl9pPr eaLnBrk="0" hangingPunct="0">
                <a:defRPr sz="2000">
                  <a:solidFill>
                    <a:schemeClr val="tx1"/>
                  </a:solidFill>
                  <a:latin typeface="Times New Roman" pitchFamily="18" charset="0"/>
                  <a:ea typeface="宋体" pitchFamily="2" charset="-122"/>
                </a:defRPr>
              </a:lvl9pPr>
            </a:lstStyle>
            <a:p>
              <a:pPr eaLnBrk="1" hangingPunct="1">
                <a:spcBef>
                  <a:spcPct val="50000"/>
                </a:spcBef>
              </a:pPr>
              <a:r>
                <a:rPr kumimoji="1" lang="en-US" altLang="zh-CN" sz="2400" i="1">
                  <a:sym typeface="Symbol" pitchFamily="18" charset="2"/>
                </a:rPr>
                <a:t>M</a:t>
              </a:r>
              <a:endParaRPr kumimoji="1" lang="en-US" altLang="zh-CN" sz="2400" i="1"/>
            </a:p>
          </p:txBody>
        </p:sp>
        <p:sp>
          <p:nvSpPr>
            <p:cNvPr id="48" name="Line 19"/>
            <p:cNvSpPr>
              <a:spLocks noChangeShapeType="1"/>
            </p:cNvSpPr>
            <p:nvPr/>
          </p:nvSpPr>
          <p:spPr bwMode="auto">
            <a:xfrm flipV="1">
              <a:off x="3648" y="1968"/>
              <a:ext cx="0" cy="288"/>
            </a:xfrm>
            <a:prstGeom prst="line">
              <a:avLst/>
            </a:prstGeom>
            <a:noFill/>
            <a:ln w="38100">
              <a:solidFill>
                <a:srgbClr val="CC3300"/>
              </a:solidFill>
              <a:round/>
              <a:headEnd/>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9" name="Line 20"/>
            <p:cNvSpPr>
              <a:spLocks noChangeShapeType="1"/>
            </p:cNvSpPr>
            <p:nvPr/>
          </p:nvSpPr>
          <p:spPr bwMode="auto">
            <a:xfrm flipH="1">
              <a:off x="2880" y="2256"/>
              <a:ext cx="768" cy="0"/>
            </a:xfrm>
            <a:prstGeom prst="line">
              <a:avLst/>
            </a:prstGeom>
            <a:noFill/>
            <a:ln w="38100">
              <a:solidFill>
                <a:srgbClr val="CC3300"/>
              </a:solidFill>
              <a:round/>
              <a:headEnd/>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 name="Text Box 21"/>
            <p:cNvSpPr txBox="1">
              <a:spLocks noChangeArrowheads="1"/>
            </p:cNvSpPr>
            <p:nvPr/>
          </p:nvSpPr>
          <p:spPr bwMode="auto">
            <a:xfrm>
              <a:off x="2736" y="2208"/>
              <a:ext cx="48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Times New Roman" pitchFamily="18" charset="0"/>
                  <a:ea typeface="宋体" pitchFamily="2" charset="-122"/>
                </a:defRPr>
              </a:lvl1pPr>
              <a:lvl2pPr>
                <a:defRPr sz="2000">
                  <a:solidFill>
                    <a:schemeClr val="tx1"/>
                  </a:solidFill>
                  <a:latin typeface="Times New Roman" pitchFamily="18" charset="0"/>
                  <a:ea typeface="宋体" pitchFamily="2" charset="-122"/>
                </a:defRPr>
              </a:lvl2pPr>
              <a:lvl3pPr>
                <a:defRPr sz="2000">
                  <a:solidFill>
                    <a:schemeClr val="tx1"/>
                  </a:solidFill>
                  <a:latin typeface="Times New Roman" pitchFamily="18" charset="0"/>
                  <a:ea typeface="宋体" pitchFamily="2" charset="-122"/>
                </a:defRPr>
              </a:lvl3pPr>
              <a:lvl4pPr>
                <a:defRPr sz="2000">
                  <a:solidFill>
                    <a:schemeClr val="tx1"/>
                  </a:solidFill>
                  <a:latin typeface="Times New Roman" pitchFamily="18" charset="0"/>
                  <a:ea typeface="宋体" pitchFamily="2" charset="-122"/>
                </a:defRPr>
              </a:lvl4pPr>
              <a:lvl5pPr>
                <a:defRPr sz="2000">
                  <a:solidFill>
                    <a:schemeClr val="tx1"/>
                  </a:solidFill>
                  <a:latin typeface="Times New Roman" pitchFamily="18" charset="0"/>
                  <a:ea typeface="宋体" pitchFamily="2" charset="-122"/>
                </a:defRPr>
              </a:lvl5pPr>
              <a:lvl6pPr eaLnBrk="0" hangingPunct="0">
                <a:defRPr sz="2000">
                  <a:solidFill>
                    <a:schemeClr val="tx1"/>
                  </a:solidFill>
                  <a:latin typeface="Times New Roman" pitchFamily="18" charset="0"/>
                  <a:ea typeface="宋体" pitchFamily="2" charset="-122"/>
                </a:defRPr>
              </a:lvl6pPr>
              <a:lvl7pPr eaLnBrk="0" hangingPunct="0">
                <a:defRPr sz="2000">
                  <a:solidFill>
                    <a:schemeClr val="tx1"/>
                  </a:solidFill>
                  <a:latin typeface="Times New Roman" pitchFamily="18" charset="0"/>
                  <a:ea typeface="宋体" pitchFamily="2" charset="-122"/>
                </a:defRPr>
              </a:lvl7pPr>
              <a:lvl8pPr eaLnBrk="0" hangingPunct="0">
                <a:defRPr sz="2000">
                  <a:solidFill>
                    <a:schemeClr val="tx1"/>
                  </a:solidFill>
                  <a:latin typeface="Times New Roman" pitchFamily="18" charset="0"/>
                  <a:ea typeface="宋体" pitchFamily="2" charset="-122"/>
                </a:defRPr>
              </a:lvl8pPr>
              <a:lvl9pPr eaLnBrk="0" hangingPunct="0">
                <a:defRPr sz="2000">
                  <a:solidFill>
                    <a:schemeClr val="tx1"/>
                  </a:solidFill>
                  <a:latin typeface="Times New Roman" pitchFamily="18" charset="0"/>
                  <a:ea typeface="宋体" pitchFamily="2" charset="-122"/>
                </a:defRPr>
              </a:lvl9pPr>
            </a:lstStyle>
            <a:p>
              <a:pPr eaLnBrk="1" hangingPunct="1">
                <a:spcBef>
                  <a:spcPct val="50000"/>
                </a:spcBef>
              </a:pPr>
              <a:r>
                <a:rPr kumimoji="1" lang="en-US" altLang="zh-CN" sz="2800" i="1">
                  <a:solidFill>
                    <a:srgbClr val="CC3300"/>
                  </a:solidFill>
                  <a:sym typeface="Symbol" pitchFamily="18" charset="2"/>
                </a:rPr>
                <a:t></a:t>
              </a:r>
              <a:endParaRPr kumimoji="1" lang="en-US" altLang="zh-CN" sz="2800" i="1">
                <a:solidFill>
                  <a:srgbClr val="CC3300"/>
                </a:solidFill>
              </a:endParaRPr>
            </a:p>
          </p:txBody>
        </p:sp>
      </p:grpSp>
      <p:graphicFrame>
        <p:nvGraphicFramePr>
          <p:cNvPr id="59" name="Object 20"/>
          <p:cNvGraphicFramePr>
            <a:graphicFrameLocks noChangeAspect="1"/>
          </p:cNvGraphicFramePr>
          <p:nvPr>
            <p:extLst>
              <p:ext uri="{D42A27DB-BD31-4B8C-83A1-F6EECF244321}">
                <p14:modId xmlns:p14="http://schemas.microsoft.com/office/powerpoint/2010/main" val="3079192957"/>
              </p:ext>
            </p:extLst>
          </p:nvPr>
        </p:nvGraphicFramePr>
        <p:xfrm>
          <a:off x="1717675" y="2955925"/>
          <a:ext cx="2860675" cy="825500"/>
        </p:xfrm>
        <a:graphic>
          <a:graphicData uri="http://schemas.openxmlformats.org/presentationml/2006/ole">
            <mc:AlternateContent xmlns:mc="http://schemas.openxmlformats.org/markup-compatibility/2006">
              <mc:Choice xmlns:v="urn:schemas-microsoft-com:vml" Requires="v">
                <p:oleObj name="Equation" r:id="rId5" imgW="1282680" imgH="406080" progId="Equation.DSMT4">
                  <p:embed/>
                </p:oleObj>
              </mc:Choice>
              <mc:Fallback>
                <p:oleObj name="Equation" r:id="rId5" imgW="1282680" imgH="406080" progId="Equation.DSMT4">
                  <p:embed/>
                  <p:pic>
                    <p:nvPicPr>
                      <p:cNvPr id="59" name="Object 20"/>
                      <p:cNvPicPr>
                        <a:picLocks noChangeAspect="1" noChangeArrowheads="1"/>
                      </p:cNvPicPr>
                      <p:nvPr/>
                    </p:nvPicPr>
                    <p:blipFill>
                      <a:blip r:embed="rId6"/>
                      <a:srcRect/>
                      <a:stretch>
                        <a:fillRect/>
                      </a:stretch>
                    </p:blipFill>
                    <p:spPr bwMode="auto">
                      <a:xfrm>
                        <a:off x="1717675" y="2955925"/>
                        <a:ext cx="2860675" cy="825500"/>
                      </a:xfrm>
                      <a:prstGeom prst="rect">
                        <a:avLst/>
                      </a:prstGeom>
                      <a:noFill/>
                      <a:ln>
                        <a:noFill/>
                      </a:ln>
                    </p:spPr>
                  </p:pic>
                </p:oleObj>
              </mc:Fallback>
            </mc:AlternateContent>
          </a:graphicData>
        </a:graphic>
      </p:graphicFrame>
      <p:sp>
        <p:nvSpPr>
          <p:cNvPr id="60" name="Text Box 1032"/>
          <p:cNvSpPr txBox="1">
            <a:spLocks noChangeArrowheads="1"/>
          </p:cNvSpPr>
          <p:nvPr/>
        </p:nvSpPr>
        <p:spPr bwMode="auto">
          <a:xfrm>
            <a:off x="335361" y="3866025"/>
            <a:ext cx="11665295" cy="2720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pPr>
            <a:r>
              <a:rPr kumimoji="1" lang="zh-CN" altLang="en-US" sz="2800" i="0" dirty="0">
                <a:solidFill>
                  <a:srgbClr val="FF0000"/>
                </a:solidFill>
                <a:latin typeface="+mn-lt"/>
                <a:ea typeface="微软雅黑" panose="020B0503020204020204" pitchFamily="34" charset="-122"/>
              </a:rPr>
              <a:t>应力特征</a:t>
            </a:r>
            <a:endParaRPr kumimoji="1" lang="en-US" altLang="zh-CN" sz="2800" i="0" dirty="0">
              <a:solidFill>
                <a:srgbClr val="FF0000"/>
              </a:solidFill>
              <a:latin typeface="+mn-lt"/>
              <a:ea typeface="微软雅黑" panose="020B0503020204020204" pitchFamily="34" charset="-122"/>
            </a:endParaRPr>
          </a:p>
          <a:p>
            <a:pPr>
              <a:lnSpc>
                <a:spcPct val="110000"/>
              </a:lnSpc>
            </a:pPr>
            <a:r>
              <a:rPr kumimoji="1" lang="zh-CN" altLang="en-US" sz="2800" i="0" dirty="0">
                <a:latin typeface="+mn-lt"/>
                <a:ea typeface="微软雅黑" panose="020B0503020204020204" pitchFamily="34" charset="-122"/>
              </a:rPr>
              <a:t>（</a:t>
            </a:r>
            <a:r>
              <a:rPr kumimoji="1" lang="en-US" altLang="zh-CN" sz="2800" i="0" dirty="0">
                <a:latin typeface="+mn-lt"/>
                <a:ea typeface="微软雅黑" panose="020B0503020204020204" pitchFamily="34" charset="-122"/>
              </a:rPr>
              <a:t>1</a:t>
            </a:r>
            <a:r>
              <a:rPr kumimoji="1" lang="zh-CN" altLang="en-US" sz="2800" i="0" dirty="0">
                <a:latin typeface="+mn-lt"/>
                <a:ea typeface="微软雅黑" panose="020B0503020204020204" pitchFamily="34" charset="-122"/>
              </a:rPr>
              <a:t>）必须明确截面及点的位置；</a:t>
            </a:r>
          </a:p>
          <a:p>
            <a:pPr eaLnBrk="1" hangingPunct="1">
              <a:lnSpc>
                <a:spcPct val="80000"/>
              </a:lnSpc>
              <a:spcBef>
                <a:spcPct val="50000"/>
              </a:spcBef>
            </a:pPr>
            <a:r>
              <a:rPr kumimoji="1" lang="zh-CN" altLang="en-US" sz="2800" i="0" dirty="0">
                <a:latin typeface="+mn-lt"/>
                <a:ea typeface="微软雅黑" panose="020B0503020204020204" pitchFamily="34" charset="-122"/>
              </a:rPr>
              <a:t>（</a:t>
            </a:r>
            <a:r>
              <a:rPr kumimoji="1" lang="en-US" altLang="zh-CN" sz="2800" i="0" dirty="0">
                <a:latin typeface="+mn-lt"/>
                <a:ea typeface="微软雅黑" panose="020B0503020204020204" pitchFamily="34" charset="-122"/>
              </a:rPr>
              <a:t>2</a:t>
            </a:r>
            <a:r>
              <a:rPr kumimoji="1" lang="zh-CN" altLang="en-US" sz="2800" i="0" dirty="0">
                <a:latin typeface="+mn-lt"/>
                <a:ea typeface="微软雅黑" panose="020B0503020204020204" pitchFamily="34" charset="-122"/>
              </a:rPr>
              <a:t>）必须明确应力的方位；</a:t>
            </a:r>
          </a:p>
          <a:p>
            <a:pPr eaLnBrk="1" hangingPunct="1">
              <a:lnSpc>
                <a:spcPct val="80000"/>
              </a:lnSpc>
              <a:spcBef>
                <a:spcPct val="50000"/>
              </a:spcBef>
            </a:pPr>
            <a:r>
              <a:rPr kumimoji="1" lang="zh-CN" altLang="en-US" sz="2800" i="0" dirty="0">
                <a:latin typeface="+mn-lt"/>
                <a:ea typeface="微软雅黑" panose="020B0503020204020204" pitchFamily="34" charset="-122"/>
              </a:rPr>
              <a:t>（</a:t>
            </a:r>
            <a:r>
              <a:rPr kumimoji="1" lang="en-US" altLang="zh-CN" sz="2800" i="0" dirty="0">
                <a:latin typeface="+mn-lt"/>
                <a:ea typeface="微软雅黑" panose="020B0503020204020204" pitchFamily="34" charset="-122"/>
              </a:rPr>
              <a:t>3</a:t>
            </a:r>
            <a:r>
              <a:rPr kumimoji="1" lang="zh-CN" altLang="en-US" sz="2800" i="0" dirty="0">
                <a:latin typeface="+mn-lt"/>
                <a:ea typeface="微软雅黑" panose="020B0503020204020204" pitchFamily="34" charset="-122"/>
              </a:rPr>
              <a:t>）单位：</a:t>
            </a:r>
            <a:r>
              <a:rPr lang="en-US" altLang="zh-CN" sz="2800" i="0" dirty="0">
                <a:solidFill>
                  <a:srgbClr val="0000FF"/>
                </a:solidFill>
              </a:rPr>
              <a:t>Pa</a:t>
            </a:r>
            <a:r>
              <a:rPr kumimoji="1" lang="zh-CN" altLang="en-US" sz="2800" i="0" dirty="0">
                <a:latin typeface="+mn-lt"/>
                <a:ea typeface="微软雅黑" panose="020B0503020204020204" pitchFamily="34" charset="-122"/>
              </a:rPr>
              <a:t>（帕）和 </a:t>
            </a:r>
            <a:r>
              <a:rPr lang="en-US" altLang="zh-CN" sz="2800" i="0" dirty="0" err="1">
                <a:solidFill>
                  <a:srgbClr val="0000FF"/>
                </a:solidFill>
              </a:rPr>
              <a:t>MPa</a:t>
            </a:r>
            <a:r>
              <a:rPr lang="zh-CN" altLang="en-US" sz="2800" i="0" dirty="0">
                <a:solidFill>
                  <a:srgbClr val="0000FF"/>
                </a:solidFill>
              </a:rPr>
              <a:t> </a:t>
            </a:r>
            <a:r>
              <a:rPr kumimoji="1" lang="zh-CN" altLang="en-US" sz="2800" i="0" dirty="0">
                <a:latin typeface="+mn-lt"/>
                <a:ea typeface="微软雅黑" panose="020B0503020204020204" pitchFamily="34" charset="-122"/>
              </a:rPr>
              <a:t>（兆帕）</a:t>
            </a:r>
            <a:endParaRPr kumimoji="1" lang="en-US" altLang="zh-CN" sz="2800" i="0" dirty="0">
              <a:latin typeface="+mn-lt"/>
              <a:ea typeface="微软雅黑" panose="020B0503020204020204" pitchFamily="34" charset="-122"/>
            </a:endParaRPr>
          </a:p>
          <a:p>
            <a:pPr>
              <a:lnSpc>
                <a:spcPct val="120000"/>
              </a:lnSpc>
            </a:pPr>
            <a:endParaRPr lang="zh-CN" altLang="en-US" sz="2800" i="0" dirty="0">
              <a:latin typeface="+mn-lt"/>
              <a:ea typeface="微软雅黑" panose="020B0503020204020204" pitchFamily="34" charset="-122"/>
            </a:endParaRPr>
          </a:p>
        </p:txBody>
      </p:sp>
    </p:spTree>
    <p:extLst>
      <p:ext uri="{BB962C8B-B14F-4D97-AF65-F5344CB8AC3E}">
        <p14:creationId xmlns:p14="http://schemas.microsoft.com/office/powerpoint/2010/main" val="2424702234"/>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40"/>
                                        </p:tgtEl>
                                        <p:attrNameLst>
                                          <p:attrName>style.visibility</p:attrName>
                                        </p:attrNameLst>
                                      </p:cBhvr>
                                      <p:to>
                                        <p:strVal val="visible"/>
                                      </p:to>
                                    </p:set>
                                    <p:animEffect transition="in" filter="wipe(left)">
                                      <p:cBhvr>
                                        <p:cTn id="11" dur="500"/>
                                        <p:tgtEl>
                                          <p:spTgt spid="40"/>
                                        </p:tgtEl>
                                      </p:cBhvr>
                                    </p:animEffect>
                                  </p:childTnLst>
                                </p:cTn>
                              </p:par>
                              <p:par>
                                <p:cTn id="12" presetID="1" presetClass="entr" presetSubtype="0"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37"/>
                                        </p:tgtEl>
                                        <p:attrNameLst>
                                          <p:attrName>style.visibility</p:attrName>
                                        </p:attrNameLst>
                                      </p:cBhvr>
                                      <p:to>
                                        <p:strVal val="visible"/>
                                      </p:to>
                                    </p:set>
                                    <p:animEffect transition="in" filter="wipe(left)">
                                      <p:cBhvr>
                                        <p:cTn id="18" dur="500"/>
                                        <p:tgtEl>
                                          <p:spTgt spid="37"/>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59"/>
                                        </p:tgtEl>
                                        <p:attrNameLst>
                                          <p:attrName>style.visibility</p:attrName>
                                        </p:attrNameLst>
                                      </p:cBhvr>
                                      <p:to>
                                        <p:strVal val="visible"/>
                                      </p:to>
                                    </p:set>
                                    <p:animEffect transition="in" filter="wipe(left)">
                                      <p:cBhvr>
                                        <p:cTn id="23" dur="500"/>
                                        <p:tgtEl>
                                          <p:spTgt spid="59"/>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499"/>
                                          </p:stCondLst>
                                        </p:cTn>
                                        <p:tgtEl>
                                          <p:spTgt spid="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53" grpId="0" autoUpdateAnimBg="0"/>
      <p:bldP spid="60"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711605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第八章   拉压、剪切与挤压的强度计算</a:t>
            </a:r>
          </a:p>
        </p:txBody>
      </p:sp>
      <p:sp>
        <p:nvSpPr>
          <p:cNvPr id="9" name="Rectangle 61"/>
          <p:cNvSpPr>
            <a:spLocks noChangeArrowheads="1"/>
          </p:cNvSpPr>
          <p:nvPr/>
        </p:nvSpPr>
        <p:spPr bwMode="auto">
          <a:xfrm>
            <a:off x="6528048" y="1553177"/>
            <a:ext cx="5328592" cy="4616389"/>
          </a:xfrm>
          <a:prstGeom prst="rect">
            <a:avLst/>
          </a:prstGeom>
          <a:solidFill>
            <a:srgbClr val="B9CDE5"/>
          </a:solidFill>
          <a:ln>
            <a:noFill/>
          </a:ln>
          <a:effectLst/>
        </p:spPr>
        <p:txBody>
          <a:bodyPr wrap="none" anchor="ctr"/>
          <a:lstStyle/>
          <a:p>
            <a:endParaRPr lang="zh-CN" altLang="en-US"/>
          </a:p>
        </p:txBody>
      </p:sp>
      <p:sp>
        <p:nvSpPr>
          <p:cNvPr id="53" name="Text Box 1032"/>
          <p:cNvSpPr txBox="1">
            <a:spLocks noChangeArrowheads="1"/>
          </p:cNvSpPr>
          <p:nvPr/>
        </p:nvSpPr>
        <p:spPr bwMode="auto">
          <a:xfrm>
            <a:off x="335361" y="1423652"/>
            <a:ext cx="6048671" cy="4745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lnSpc>
                <a:spcPct val="120000"/>
              </a:lnSpc>
            </a:pPr>
            <a:r>
              <a:rPr lang="en-US" altLang="zh-CN" sz="2800" i="0" dirty="0">
                <a:solidFill>
                  <a:srgbClr val="FF00FF"/>
                </a:solidFill>
                <a:latin typeface="+mn-lt"/>
                <a:ea typeface="微软雅黑" panose="020B0503020204020204" pitchFamily="34" charset="-122"/>
              </a:rPr>
              <a:t>1</a:t>
            </a:r>
            <a:r>
              <a:rPr lang="zh-CN" altLang="en-US" sz="2800" i="0" dirty="0">
                <a:solidFill>
                  <a:srgbClr val="FF00FF"/>
                </a:solidFill>
                <a:latin typeface="+mn-lt"/>
                <a:ea typeface="微软雅黑" panose="020B0503020204020204" pitchFamily="34" charset="-122"/>
              </a:rPr>
              <a:t>．实验观察  </a:t>
            </a:r>
            <a:r>
              <a:rPr lang="zh-CN" altLang="en-US" sz="2800" i="0" dirty="0">
                <a:latin typeface="+mn-lt"/>
                <a:ea typeface="微软雅黑" panose="020B0503020204020204" pitchFamily="34" charset="-122"/>
              </a:rPr>
              <a:t>取一等截面直杆，在杆上画出与杆轴线垂直的横向线</a:t>
            </a:r>
            <a:r>
              <a:rPr lang="en-US" altLang="zh-CN" sz="2800" b="0" i="0" dirty="0">
                <a:latin typeface="+mn-lt"/>
                <a:ea typeface="微软雅黑" panose="020B0503020204020204" pitchFamily="34" charset="-122"/>
              </a:rPr>
              <a:t>ab</a:t>
            </a:r>
            <a:r>
              <a:rPr lang="zh-CN" altLang="en-US" sz="2800" i="0" dirty="0">
                <a:latin typeface="+mn-lt"/>
                <a:ea typeface="微软雅黑" panose="020B0503020204020204" pitchFamily="34" charset="-122"/>
              </a:rPr>
              <a:t>和</a:t>
            </a:r>
            <a:r>
              <a:rPr lang="en-US" altLang="zh-CN" sz="2800" b="0" i="0" dirty="0">
                <a:latin typeface="+mn-lt"/>
                <a:ea typeface="微软雅黑" panose="020B0503020204020204" pitchFamily="34" charset="-122"/>
              </a:rPr>
              <a:t>cd</a:t>
            </a:r>
            <a:r>
              <a:rPr lang="zh-CN" altLang="en-US" sz="2800" i="0" dirty="0">
                <a:latin typeface="+mn-lt"/>
                <a:ea typeface="微软雅黑" panose="020B0503020204020204" pitchFamily="34" charset="-122"/>
              </a:rPr>
              <a:t>，再画上与杆轴向平行的纵向线，然后沿杆的轴线作用拉</a:t>
            </a:r>
            <a:r>
              <a:rPr lang="en-US" altLang="zh-CN" sz="2800" i="0" dirty="0">
                <a:latin typeface="+mn-lt"/>
                <a:ea typeface="微软雅黑" panose="020B0503020204020204" pitchFamily="34" charset="-122"/>
              </a:rPr>
              <a:t>(</a:t>
            </a:r>
            <a:r>
              <a:rPr lang="zh-CN" altLang="en-US" sz="2800" i="0" dirty="0">
                <a:latin typeface="+mn-lt"/>
                <a:ea typeface="微软雅黑" panose="020B0503020204020204" pitchFamily="34" charset="-122"/>
              </a:rPr>
              <a:t>压</a:t>
            </a:r>
            <a:r>
              <a:rPr lang="en-US" altLang="zh-CN" sz="2800" i="0" dirty="0">
                <a:latin typeface="+mn-lt"/>
                <a:ea typeface="微软雅黑" panose="020B0503020204020204" pitchFamily="34" charset="-122"/>
              </a:rPr>
              <a:t>)</a:t>
            </a:r>
            <a:r>
              <a:rPr lang="zh-CN" altLang="en-US" sz="2800" i="0" dirty="0">
                <a:latin typeface="+mn-lt"/>
                <a:ea typeface="微软雅黑" panose="020B0503020204020204" pitchFamily="34" charset="-122"/>
              </a:rPr>
              <a:t>力</a:t>
            </a:r>
            <a:r>
              <a:rPr lang="en-US" altLang="zh-CN" sz="2800" dirty="0">
                <a:latin typeface="+mn-lt"/>
                <a:ea typeface="微软雅黑" panose="020B0503020204020204" pitchFamily="34" charset="-122"/>
              </a:rPr>
              <a:t>F</a:t>
            </a:r>
            <a:r>
              <a:rPr lang="zh-CN" altLang="en-US" sz="2800" i="0" dirty="0">
                <a:latin typeface="+mn-lt"/>
                <a:ea typeface="微软雅黑" panose="020B0503020204020204" pitchFamily="34" charset="-122"/>
              </a:rPr>
              <a:t>，使杆件产生拉伸变形。此时可以观察到：横向线在变形前后均为直线，且都垂直于杆的轴线，只是其间距增大</a:t>
            </a:r>
            <a:r>
              <a:rPr lang="en-US" altLang="zh-CN" sz="2800" i="0" dirty="0">
                <a:latin typeface="+mn-lt"/>
                <a:ea typeface="微软雅黑" panose="020B0503020204020204" pitchFamily="34" charset="-122"/>
              </a:rPr>
              <a:t>(</a:t>
            </a:r>
            <a:r>
              <a:rPr lang="zh-CN" altLang="en-US" sz="2800" i="0" dirty="0">
                <a:latin typeface="+mn-lt"/>
                <a:ea typeface="微软雅黑" panose="020B0503020204020204" pitchFamily="34" charset="-122"/>
              </a:rPr>
              <a:t>缩小</a:t>
            </a:r>
            <a:r>
              <a:rPr lang="en-US" altLang="zh-CN" sz="2800" i="0" dirty="0">
                <a:latin typeface="+mn-lt"/>
                <a:ea typeface="微软雅黑" panose="020B0503020204020204" pitchFamily="34" charset="-122"/>
              </a:rPr>
              <a:t>)</a:t>
            </a:r>
            <a:r>
              <a:rPr lang="zh-CN" altLang="en-US" sz="2800" i="0" dirty="0">
                <a:latin typeface="+mn-lt"/>
                <a:ea typeface="微软雅黑" panose="020B0503020204020204" pitchFamily="34" charset="-122"/>
              </a:rPr>
              <a:t>，纵向间距减小</a:t>
            </a:r>
            <a:r>
              <a:rPr lang="en-US" altLang="zh-CN" sz="2800" i="0" dirty="0">
                <a:latin typeface="+mn-lt"/>
                <a:ea typeface="微软雅黑" panose="020B0503020204020204" pitchFamily="34" charset="-122"/>
              </a:rPr>
              <a:t>(</a:t>
            </a:r>
            <a:r>
              <a:rPr lang="zh-CN" altLang="en-US" sz="2800" i="0" dirty="0">
                <a:latin typeface="+mn-lt"/>
                <a:ea typeface="微软雅黑" panose="020B0503020204020204" pitchFamily="34" charset="-122"/>
              </a:rPr>
              <a:t>增大</a:t>
            </a:r>
            <a:r>
              <a:rPr lang="en-US" altLang="zh-CN" sz="2800" i="0" dirty="0">
                <a:latin typeface="+mn-lt"/>
                <a:ea typeface="微软雅黑" panose="020B0503020204020204" pitchFamily="34" charset="-122"/>
              </a:rPr>
              <a:t>)</a:t>
            </a:r>
            <a:r>
              <a:rPr lang="zh-CN" altLang="en-US" sz="2800" i="0" dirty="0">
                <a:latin typeface="+mn-lt"/>
                <a:ea typeface="微软雅黑" panose="020B0503020204020204" pitchFamily="34" charset="-122"/>
              </a:rPr>
              <a:t>，所有正方形的网格均变成大小相同的长方形</a:t>
            </a:r>
          </a:p>
        </p:txBody>
      </p:sp>
      <p:sp>
        <p:nvSpPr>
          <p:cNvPr id="2" name="矩形 1"/>
          <p:cNvSpPr/>
          <p:nvPr/>
        </p:nvSpPr>
        <p:spPr>
          <a:xfrm>
            <a:off x="3909082" y="876972"/>
            <a:ext cx="3376245" cy="646331"/>
          </a:xfrm>
          <a:prstGeom prst="rect">
            <a:avLst/>
          </a:prstGeom>
        </p:spPr>
        <p:txBody>
          <a:bodyPr wrap="none">
            <a:spAutoFit/>
          </a:bodyPr>
          <a:lstStyle/>
          <a:p>
            <a:pPr>
              <a:lnSpc>
                <a:spcPct val="120000"/>
              </a:lnSpc>
            </a:pPr>
            <a:r>
              <a:rPr lang="zh-CN" altLang="en-US" sz="3000" i="0" dirty="0">
                <a:solidFill>
                  <a:srgbClr val="4F81BD"/>
                </a:solidFill>
                <a:latin typeface="微软雅黑" panose="020B0503020204020204" pitchFamily="34" charset="-122"/>
                <a:ea typeface="微软雅黑" panose="020B0503020204020204" pitchFamily="34" charset="-122"/>
              </a:rPr>
              <a:t>横截面上的正应力</a:t>
            </a:r>
          </a:p>
        </p:txBody>
      </p:sp>
      <p:pic>
        <p:nvPicPr>
          <p:cNvPr id="3" name="LASHEN2">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6811094" y="2420888"/>
            <a:ext cx="4762500" cy="3009900"/>
          </a:xfrm>
          <a:prstGeom prst="rect">
            <a:avLst/>
          </a:prstGeom>
        </p:spPr>
      </p:pic>
    </p:spTree>
    <p:extLst>
      <p:ext uri="{BB962C8B-B14F-4D97-AF65-F5344CB8AC3E}">
        <p14:creationId xmlns:p14="http://schemas.microsoft.com/office/powerpoint/2010/main" val="420643267"/>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3" fill="hold" display="0">
                  <p:stCondLst>
                    <p:cond delay="indefinite"/>
                  </p:stCondLst>
                </p:cTn>
                <p:tgtEl>
                  <p:spTgt spid="3"/>
                </p:tgtEl>
              </p:cMediaNode>
            </p:video>
          </p:childTnLst>
        </p:cTn>
      </p:par>
    </p:tnLst>
    <p:bldLst>
      <p:bldP spid="9" grpId="0" animBg="1"/>
      <p:bldP spid="53"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711605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第八章   拉压、剪切与挤压的强度计算</a:t>
            </a:r>
          </a:p>
        </p:txBody>
      </p:sp>
      <p:sp>
        <p:nvSpPr>
          <p:cNvPr id="9" name="Rectangle 61"/>
          <p:cNvSpPr>
            <a:spLocks noChangeArrowheads="1"/>
          </p:cNvSpPr>
          <p:nvPr/>
        </p:nvSpPr>
        <p:spPr bwMode="auto">
          <a:xfrm>
            <a:off x="6189096" y="1431054"/>
            <a:ext cx="5883568" cy="4396750"/>
          </a:xfrm>
          <a:prstGeom prst="rect">
            <a:avLst/>
          </a:prstGeom>
          <a:solidFill>
            <a:srgbClr val="B9CDE5"/>
          </a:solidFill>
          <a:ln>
            <a:noFill/>
          </a:ln>
          <a:effectLst/>
        </p:spPr>
        <p:txBody>
          <a:bodyPr wrap="none" anchor="ctr"/>
          <a:lstStyle/>
          <a:p>
            <a:endParaRPr lang="zh-CN" altLang="en-US"/>
          </a:p>
        </p:txBody>
      </p:sp>
      <p:sp>
        <p:nvSpPr>
          <p:cNvPr id="53" name="Text Box 1032"/>
          <p:cNvSpPr txBox="1">
            <a:spLocks noChangeArrowheads="1"/>
          </p:cNvSpPr>
          <p:nvPr/>
        </p:nvSpPr>
        <p:spPr bwMode="auto">
          <a:xfrm>
            <a:off x="220393" y="1317539"/>
            <a:ext cx="5831731" cy="4356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lnSpc>
                <a:spcPct val="110000"/>
              </a:lnSpc>
            </a:pPr>
            <a:r>
              <a:rPr lang="en-US" altLang="zh-CN" sz="2800" i="0" dirty="0">
                <a:solidFill>
                  <a:srgbClr val="FF00FF"/>
                </a:solidFill>
                <a:latin typeface="+mn-lt"/>
                <a:ea typeface="微软雅黑" panose="020B0503020204020204" pitchFamily="34" charset="-122"/>
              </a:rPr>
              <a:t>2</a:t>
            </a:r>
            <a:r>
              <a:rPr lang="zh-CN" altLang="en-US" sz="2800" i="0" dirty="0">
                <a:solidFill>
                  <a:srgbClr val="FF00FF"/>
                </a:solidFill>
                <a:latin typeface="+mn-lt"/>
                <a:ea typeface="微软雅黑" panose="020B0503020204020204" pitchFamily="34" charset="-122"/>
              </a:rPr>
              <a:t>．平面截面假设  </a:t>
            </a:r>
            <a:r>
              <a:rPr lang="zh-CN" altLang="en-US" sz="2800" i="0" dirty="0">
                <a:latin typeface="+mn-lt"/>
                <a:ea typeface="微软雅黑" panose="020B0503020204020204" pitchFamily="34" charset="-122"/>
              </a:rPr>
              <a:t>变形前为平面的横截面，变形后仍为平面且仍垂直于杆轴线，仅略作平移而已。</a:t>
            </a:r>
            <a:endParaRPr lang="en-US" altLang="zh-CN" sz="2800" i="0" dirty="0">
              <a:latin typeface="+mn-lt"/>
              <a:ea typeface="微软雅黑" panose="020B0503020204020204" pitchFamily="34" charset="-122"/>
            </a:endParaRPr>
          </a:p>
          <a:p>
            <a:pPr algn="just">
              <a:lnSpc>
                <a:spcPct val="110000"/>
              </a:lnSpc>
            </a:pPr>
            <a:r>
              <a:rPr lang="en-US" altLang="zh-CN" sz="2800" i="0" dirty="0">
                <a:solidFill>
                  <a:srgbClr val="FF00FF"/>
                </a:solidFill>
                <a:ea typeface="微软雅黑" panose="020B0503020204020204" pitchFamily="34" charset="-122"/>
              </a:rPr>
              <a:t>3</a:t>
            </a:r>
            <a:r>
              <a:rPr lang="zh-CN" altLang="en-US" sz="2800" i="0" dirty="0">
                <a:solidFill>
                  <a:srgbClr val="FF00FF"/>
                </a:solidFill>
                <a:ea typeface="微软雅黑" panose="020B0503020204020204" pitchFamily="34" charset="-122"/>
              </a:rPr>
              <a:t>．</a:t>
            </a:r>
            <a:r>
              <a:rPr lang="zh-CN" altLang="en-US" sz="2800" i="0" dirty="0">
                <a:solidFill>
                  <a:srgbClr val="FF00FF"/>
                </a:solidFill>
                <a:latin typeface="+mn-lt"/>
                <a:ea typeface="微软雅黑" panose="020B0503020204020204" pitchFamily="34" charset="-122"/>
              </a:rPr>
              <a:t>应力分布       </a:t>
            </a:r>
            <a:r>
              <a:rPr lang="zh-CN" altLang="en-US" sz="2800" i="0" dirty="0">
                <a:latin typeface="+mn-lt"/>
                <a:ea typeface="微软雅黑" panose="020B0503020204020204" pitchFamily="34" charset="-122"/>
              </a:rPr>
              <a:t>它意味着拉杆的任意两个截面之间所有纵向线段的变形相同。由材料的均匀连续性假设，可以推断出内力在横截面上的分布是均匀的，且都垂直于横截面。</a:t>
            </a:r>
          </a:p>
          <a:p>
            <a:pPr>
              <a:lnSpc>
                <a:spcPct val="120000"/>
              </a:lnSpc>
            </a:pPr>
            <a:endParaRPr lang="zh-CN" altLang="en-US" sz="2800" i="0" dirty="0">
              <a:latin typeface="+mn-lt"/>
              <a:ea typeface="微软雅黑" panose="020B0503020204020204" pitchFamily="34" charset="-122"/>
            </a:endParaRPr>
          </a:p>
        </p:txBody>
      </p:sp>
      <p:grpSp>
        <p:nvGrpSpPr>
          <p:cNvPr id="153" name="Group 28"/>
          <p:cNvGrpSpPr>
            <a:grpSpLocks/>
          </p:cNvGrpSpPr>
          <p:nvPr/>
        </p:nvGrpSpPr>
        <p:grpSpPr bwMode="auto">
          <a:xfrm>
            <a:off x="7607874" y="1896418"/>
            <a:ext cx="1219200" cy="933450"/>
            <a:chOff x="2064" y="1440"/>
            <a:chExt cx="768" cy="588"/>
          </a:xfrm>
        </p:grpSpPr>
        <p:grpSp>
          <p:nvGrpSpPr>
            <p:cNvPr id="154" name="Group 29"/>
            <p:cNvGrpSpPr>
              <a:grpSpLocks/>
            </p:cNvGrpSpPr>
            <p:nvPr/>
          </p:nvGrpSpPr>
          <p:grpSpPr bwMode="auto">
            <a:xfrm>
              <a:off x="2246" y="1440"/>
              <a:ext cx="402" cy="588"/>
              <a:chOff x="2246" y="1440"/>
              <a:chExt cx="402" cy="588"/>
            </a:xfrm>
          </p:grpSpPr>
          <p:sp>
            <p:nvSpPr>
              <p:cNvPr id="163" name="Rectangle 30"/>
              <p:cNvSpPr>
                <a:spLocks noChangeArrowheads="1"/>
              </p:cNvSpPr>
              <p:nvPr/>
            </p:nvSpPr>
            <p:spPr bwMode="auto">
              <a:xfrm>
                <a:off x="2246" y="1440"/>
                <a:ext cx="18" cy="58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Tx/>
                  <a:buChar char="•"/>
                </a:pPr>
                <a:endParaRPr lang="zh-CN" altLang="en-US"/>
              </a:p>
            </p:txBody>
          </p:sp>
          <p:sp>
            <p:nvSpPr>
              <p:cNvPr id="164" name="Rectangle 31"/>
              <p:cNvSpPr>
                <a:spLocks noChangeArrowheads="1"/>
              </p:cNvSpPr>
              <p:nvPr/>
            </p:nvSpPr>
            <p:spPr bwMode="auto">
              <a:xfrm>
                <a:off x="2630" y="1440"/>
                <a:ext cx="18" cy="58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Tx/>
                  <a:buChar char="•"/>
                </a:pPr>
                <a:endParaRPr lang="zh-CN" altLang="en-US"/>
              </a:p>
            </p:txBody>
          </p:sp>
          <p:sp>
            <p:nvSpPr>
              <p:cNvPr id="165" name="Line 32"/>
              <p:cNvSpPr>
                <a:spLocks noChangeShapeType="1"/>
              </p:cNvSpPr>
              <p:nvPr/>
            </p:nvSpPr>
            <p:spPr bwMode="auto">
              <a:xfrm>
                <a:off x="2255" y="1584"/>
                <a:ext cx="393" cy="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6" name="Line 33"/>
              <p:cNvSpPr>
                <a:spLocks noChangeShapeType="1"/>
              </p:cNvSpPr>
              <p:nvPr/>
            </p:nvSpPr>
            <p:spPr bwMode="auto">
              <a:xfrm>
                <a:off x="2255" y="1884"/>
                <a:ext cx="393" cy="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55" name="Rectangle 34"/>
            <p:cNvSpPr>
              <a:spLocks noChangeArrowheads="1"/>
            </p:cNvSpPr>
            <p:nvPr/>
          </p:nvSpPr>
          <p:spPr bwMode="auto">
            <a:xfrm>
              <a:off x="2064" y="1459"/>
              <a:ext cx="208"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Tx/>
                <a:buChar char="•"/>
              </a:pPr>
              <a:endParaRPr lang="zh-CN" altLang="en-US"/>
            </a:p>
          </p:txBody>
        </p:sp>
        <p:sp>
          <p:nvSpPr>
            <p:cNvPr id="156" name="Rectangle 35"/>
            <p:cNvSpPr>
              <a:spLocks noChangeArrowheads="1"/>
            </p:cNvSpPr>
            <p:nvPr/>
          </p:nvSpPr>
          <p:spPr bwMode="auto">
            <a:xfrm>
              <a:off x="2123" y="1499"/>
              <a:ext cx="9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2400" b="0" i="1">
                  <a:solidFill>
                    <a:srgbClr val="000000"/>
                  </a:solidFill>
                </a:rPr>
                <a:t>a</a:t>
              </a:r>
            </a:p>
          </p:txBody>
        </p:sp>
        <p:sp>
          <p:nvSpPr>
            <p:cNvPr id="157" name="Rectangle 36"/>
            <p:cNvSpPr>
              <a:spLocks noChangeArrowheads="1"/>
            </p:cNvSpPr>
            <p:nvPr/>
          </p:nvSpPr>
          <p:spPr bwMode="auto">
            <a:xfrm>
              <a:off x="2624" y="1471"/>
              <a:ext cx="208"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Tx/>
                <a:buChar char="•"/>
              </a:pPr>
              <a:endParaRPr lang="zh-CN" altLang="en-US"/>
            </a:p>
          </p:txBody>
        </p:sp>
        <p:sp>
          <p:nvSpPr>
            <p:cNvPr id="158" name="Rectangle 37"/>
            <p:cNvSpPr>
              <a:spLocks noChangeArrowheads="1"/>
            </p:cNvSpPr>
            <p:nvPr/>
          </p:nvSpPr>
          <p:spPr bwMode="auto">
            <a:xfrm>
              <a:off x="2683" y="1511"/>
              <a:ext cx="9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2400" b="0" i="1">
                  <a:solidFill>
                    <a:srgbClr val="000000"/>
                  </a:solidFill>
                </a:rPr>
                <a:t>b</a:t>
              </a:r>
            </a:p>
          </p:txBody>
        </p:sp>
        <p:sp>
          <p:nvSpPr>
            <p:cNvPr id="159" name="Rectangle 38"/>
            <p:cNvSpPr>
              <a:spLocks noChangeArrowheads="1"/>
            </p:cNvSpPr>
            <p:nvPr/>
          </p:nvSpPr>
          <p:spPr bwMode="auto">
            <a:xfrm>
              <a:off x="2105" y="1735"/>
              <a:ext cx="138"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Tx/>
                <a:buChar char="•"/>
              </a:pPr>
              <a:endParaRPr lang="zh-CN" altLang="en-US"/>
            </a:p>
          </p:txBody>
        </p:sp>
        <p:sp>
          <p:nvSpPr>
            <p:cNvPr id="160" name="Rectangle 39"/>
            <p:cNvSpPr>
              <a:spLocks noChangeArrowheads="1"/>
            </p:cNvSpPr>
            <p:nvPr/>
          </p:nvSpPr>
          <p:spPr bwMode="auto">
            <a:xfrm>
              <a:off x="2133" y="1775"/>
              <a:ext cx="8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2400" b="0" i="1">
                  <a:solidFill>
                    <a:srgbClr val="000000"/>
                  </a:solidFill>
                </a:rPr>
                <a:t>c</a:t>
              </a:r>
            </a:p>
          </p:txBody>
        </p:sp>
        <p:sp>
          <p:nvSpPr>
            <p:cNvPr id="161" name="Rectangle 40"/>
            <p:cNvSpPr>
              <a:spLocks noChangeArrowheads="1"/>
            </p:cNvSpPr>
            <p:nvPr/>
          </p:nvSpPr>
          <p:spPr bwMode="auto">
            <a:xfrm>
              <a:off x="2612" y="1711"/>
              <a:ext cx="208"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Tx/>
                <a:buChar char="•"/>
              </a:pPr>
              <a:endParaRPr lang="zh-CN" altLang="en-US"/>
            </a:p>
          </p:txBody>
        </p:sp>
        <p:sp>
          <p:nvSpPr>
            <p:cNvPr id="162" name="Rectangle 41"/>
            <p:cNvSpPr>
              <a:spLocks noChangeArrowheads="1"/>
            </p:cNvSpPr>
            <p:nvPr/>
          </p:nvSpPr>
          <p:spPr bwMode="auto">
            <a:xfrm>
              <a:off x="2671" y="1751"/>
              <a:ext cx="9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2400" b="0" i="1">
                  <a:solidFill>
                    <a:srgbClr val="000000"/>
                  </a:solidFill>
                </a:rPr>
                <a:t>d</a:t>
              </a:r>
            </a:p>
          </p:txBody>
        </p:sp>
      </p:grpSp>
      <p:sp>
        <p:nvSpPr>
          <p:cNvPr id="167" name="AutoShape 42"/>
          <p:cNvSpPr>
            <a:spLocks noChangeAspect="1" noChangeArrowheads="1" noTextEdit="1"/>
          </p:cNvSpPr>
          <p:nvPr/>
        </p:nvSpPr>
        <p:spPr bwMode="auto">
          <a:xfrm>
            <a:off x="6250235" y="1605732"/>
            <a:ext cx="5111750" cy="1512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68" name="Rectangle 43"/>
          <p:cNvSpPr>
            <a:spLocks noChangeArrowheads="1"/>
          </p:cNvSpPr>
          <p:nvPr/>
        </p:nvSpPr>
        <p:spPr bwMode="auto">
          <a:xfrm>
            <a:off x="7137011" y="1896244"/>
            <a:ext cx="3841523" cy="936625"/>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pPr eaLnBrk="1" hangingPunct="1">
              <a:buFontTx/>
              <a:buChar char="•"/>
            </a:pPr>
            <a:endParaRPr lang="zh-CN" altLang="en-US"/>
          </a:p>
        </p:txBody>
      </p:sp>
      <p:grpSp>
        <p:nvGrpSpPr>
          <p:cNvPr id="169" name="Group 44"/>
          <p:cNvGrpSpPr>
            <a:grpSpLocks/>
          </p:cNvGrpSpPr>
          <p:nvPr/>
        </p:nvGrpSpPr>
        <p:grpSpPr bwMode="auto">
          <a:xfrm>
            <a:off x="6544249" y="2358207"/>
            <a:ext cx="5105400" cy="28575"/>
            <a:chOff x="1394" y="1743"/>
            <a:chExt cx="3216" cy="18"/>
          </a:xfrm>
        </p:grpSpPr>
        <p:sp>
          <p:nvSpPr>
            <p:cNvPr id="170" name="Rectangle 45"/>
            <p:cNvSpPr>
              <a:spLocks noChangeArrowheads="1"/>
            </p:cNvSpPr>
            <p:nvPr/>
          </p:nvSpPr>
          <p:spPr bwMode="auto">
            <a:xfrm>
              <a:off x="1394" y="1743"/>
              <a:ext cx="72" cy="1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Tx/>
                <a:buChar char="•"/>
              </a:pPr>
              <a:endParaRPr lang="zh-CN" altLang="en-US"/>
            </a:p>
          </p:txBody>
        </p:sp>
        <p:sp>
          <p:nvSpPr>
            <p:cNvPr id="171" name="Rectangle 46"/>
            <p:cNvSpPr>
              <a:spLocks noChangeArrowheads="1"/>
            </p:cNvSpPr>
            <p:nvPr/>
          </p:nvSpPr>
          <p:spPr bwMode="auto">
            <a:xfrm>
              <a:off x="1520" y="1743"/>
              <a:ext cx="18" cy="1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Tx/>
                <a:buChar char="•"/>
              </a:pPr>
              <a:endParaRPr lang="zh-CN" altLang="en-US"/>
            </a:p>
          </p:txBody>
        </p:sp>
        <p:sp>
          <p:nvSpPr>
            <p:cNvPr id="172" name="Rectangle 47"/>
            <p:cNvSpPr>
              <a:spLocks noChangeArrowheads="1"/>
            </p:cNvSpPr>
            <p:nvPr/>
          </p:nvSpPr>
          <p:spPr bwMode="auto">
            <a:xfrm>
              <a:off x="1592" y="1743"/>
              <a:ext cx="72" cy="1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Tx/>
                <a:buChar char="•"/>
              </a:pPr>
              <a:endParaRPr lang="zh-CN" altLang="en-US"/>
            </a:p>
          </p:txBody>
        </p:sp>
        <p:sp>
          <p:nvSpPr>
            <p:cNvPr id="173" name="Rectangle 48"/>
            <p:cNvSpPr>
              <a:spLocks noChangeArrowheads="1"/>
            </p:cNvSpPr>
            <p:nvPr/>
          </p:nvSpPr>
          <p:spPr bwMode="auto">
            <a:xfrm>
              <a:off x="1718" y="1743"/>
              <a:ext cx="18" cy="1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Tx/>
                <a:buChar char="•"/>
              </a:pPr>
              <a:endParaRPr lang="zh-CN" altLang="en-US"/>
            </a:p>
          </p:txBody>
        </p:sp>
        <p:sp>
          <p:nvSpPr>
            <p:cNvPr id="174" name="Rectangle 49"/>
            <p:cNvSpPr>
              <a:spLocks noChangeArrowheads="1"/>
            </p:cNvSpPr>
            <p:nvPr/>
          </p:nvSpPr>
          <p:spPr bwMode="auto">
            <a:xfrm>
              <a:off x="1790" y="1743"/>
              <a:ext cx="72" cy="1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Tx/>
                <a:buChar char="•"/>
              </a:pPr>
              <a:endParaRPr lang="zh-CN" altLang="en-US"/>
            </a:p>
          </p:txBody>
        </p:sp>
        <p:sp>
          <p:nvSpPr>
            <p:cNvPr id="175" name="Rectangle 50"/>
            <p:cNvSpPr>
              <a:spLocks noChangeArrowheads="1"/>
            </p:cNvSpPr>
            <p:nvPr/>
          </p:nvSpPr>
          <p:spPr bwMode="auto">
            <a:xfrm>
              <a:off x="1916" y="1743"/>
              <a:ext cx="18" cy="1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Tx/>
                <a:buChar char="•"/>
              </a:pPr>
              <a:endParaRPr lang="zh-CN" altLang="en-US"/>
            </a:p>
          </p:txBody>
        </p:sp>
        <p:sp>
          <p:nvSpPr>
            <p:cNvPr id="176" name="Rectangle 51"/>
            <p:cNvSpPr>
              <a:spLocks noChangeArrowheads="1"/>
            </p:cNvSpPr>
            <p:nvPr/>
          </p:nvSpPr>
          <p:spPr bwMode="auto">
            <a:xfrm>
              <a:off x="1988" y="1743"/>
              <a:ext cx="72" cy="1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Tx/>
                <a:buChar char="•"/>
              </a:pPr>
              <a:endParaRPr lang="zh-CN" altLang="en-US"/>
            </a:p>
          </p:txBody>
        </p:sp>
        <p:sp>
          <p:nvSpPr>
            <p:cNvPr id="177" name="Rectangle 52"/>
            <p:cNvSpPr>
              <a:spLocks noChangeArrowheads="1"/>
            </p:cNvSpPr>
            <p:nvPr/>
          </p:nvSpPr>
          <p:spPr bwMode="auto">
            <a:xfrm>
              <a:off x="2114" y="1743"/>
              <a:ext cx="18" cy="1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Tx/>
                <a:buChar char="•"/>
              </a:pPr>
              <a:endParaRPr lang="zh-CN" altLang="en-US"/>
            </a:p>
          </p:txBody>
        </p:sp>
        <p:sp>
          <p:nvSpPr>
            <p:cNvPr id="178" name="Rectangle 53"/>
            <p:cNvSpPr>
              <a:spLocks noChangeArrowheads="1"/>
            </p:cNvSpPr>
            <p:nvPr/>
          </p:nvSpPr>
          <p:spPr bwMode="auto">
            <a:xfrm>
              <a:off x="2186" y="1743"/>
              <a:ext cx="72" cy="1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Tx/>
                <a:buChar char="•"/>
              </a:pPr>
              <a:endParaRPr lang="zh-CN" altLang="en-US"/>
            </a:p>
          </p:txBody>
        </p:sp>
        <p:sp>
          <p:nvSpPr>
            <p:cNvPr id="179" name="Rectangle 54"/>
            <p:cNvSpPr>
              <a:spLocks noChangeArrowheads="1"/>
            </p:cNvSpPr>
            <p:nvPr/>
          </p:nvSpPr>
          <p:spPr bwMode="auto">
            <a:xfrm>
              <a:off x="2312" y="1743"/>
              <a:ext cx="18" cy="1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Tx/>
                <a:buChar char="•"/>
              </a:pPr>
              <a:endParaRPr lang="zh-CN" altLang="en-US"/>
            </a:p>
          </p:txBody>
        </p:sp>
        <p:sp>
          <p:nvSpPr>
            <p:cNvPr id="180" name="Rectangle 55"/>
            <p:cNvSpPr>
              <a:spLocks noChangeArrowheads="1"/>
            </p:cNvSpPr>
            <p:nvPr/>
          </p:nvSpPr>
          <p:spPr bwMode="auto">
            <a:xfrm>
              <a:off x="2384" y="1743"/>
              <a:ext cx="72" cy="1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Tx/>
                <a:buChar char="•"/>
              </a:pPr>
              <a:endParaRPr lang="zh-CN" altLang="en-US"/>
            </a:p>
          </p:txBody>
        </p:sp>
        <p:sp>
          <p:nvSpPr>
            <p:cNvPr id="181" name="Rectangle 56"/>
            <p:cNvSpPr>
              <a:spLocks noChangeArrowheads="1"/>
            </p:cNvSpPr>
            <p:nvPr/>
          </p:nvSpPr>
          <p:spPr bwMode="auto">
            <a:xfrm>
              <a:off x="2510" y="1743"/>
              <a:ext cx="18" cy="1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Tx/>
                <a:buChar char="•"/>
              </a:pPr>
              <a:endParaRPr lang="zh-CN" altLang="en-US"/>
            </a:p>
          </p:txBody>
        </p:sp>
        <p:sp>
          <p:nvSpPr>
            <p:cNvPr id="182" name="Rectangle 57"/>
            <p:cNvSpPr>
              <a:spLocks noChangeArrowheads="1"/>
            </p:cNvSpPr>
            <p:nvPr/>
          </p:nvSpPr>
          <p:spPr bwMode="auto">
            <a:xfrm>
              <a:off x="2582" y="1743"/>
              <a:ext cx="72" cy="1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Tx/>
                <a:buChar char="•"/>
              </a:pPr>
              <a:endParaRPr lang="zh-CN" altLang="en-US"/>
            </a:p>
          </p:txBody>
        </p:sp>
        <p:sp>
          <p:nvSpPr>
            <p:cNvPr id="183" name="Rectangle 58"/>
            <p:cNvSpPr>
              <a:spLocks noChangeArrowheads="1"/>
            </p:cNvSpPr>
            <p:nvPr/>
          </p:nvSpPr>
          <p:spPr bwMode="auto">
            <a:xfrm>
              <a:off x="2708" y="1743"/>
              <a:ext cx="18" cy="1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Tx/>
                <a:buChar char="•"/>
              </a:pPr>
              <a:endParaRPr lang="zh-CN" altLang="en-US"/>
            </a:p>
          </p:txBody>
        </p:sp>
        <p:sp>
          <p:nvSpPr>
            <p:cNvPr id="184" name="Rectangle 59"/>
            <p:cNvSpPr>
              <a:spLocks noChangeArrowheads="1"/>
            </p:cNvSpPr>
            <p:nvPr/>
          </p:nvSpPr>
          <p:spPr bwMode="auto">
            <a:xfrm>
              <a:off x="2780" y="1743"/>
              <a:ext cx="72" cy="1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Tx/>
                <a:buChar char="•"/>
              </a:pPr>
              <a:endParaRPr lang="zh-CN" altLang="en-US"/>
            </a:p>
          </p:txBody>
        </p:sp>
        <p:sp>
          <p:nvSpPr>
            <p:cNvPr id="185" name="Rectangle 60"/>
            <p:cNvSpPr>
              <a:spLocks noChangeArrowheads="1"/>
            </p:cNvSpPr>
            <p:nvPr/>
          </p:nvSpPr>
          <p:spPr bwMode="auto">
            <a:xfrm>
              <a:off x="2906" y="1743"/>
              <a:ext cx="18" cy="1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Tx/>
                <a:buChar char="•"/>
              </a:pPr>
              <a:endParaRPr lang="zh-CN" altLang="en-US"/>
            </a:p>
          </p:txBody>
        </p:sp>
        <p:sp>
          <p:nvSpPr>
            <p:cNvPr id="186" name="Rectangle 61"/>
            <p:cNvSpPr>
              <a:spLocks noChangeArrowheads="1"/>
            </p:cNvSpPr>
            <p:nvPr/>
          </p:nvSpPr>
          <p:spPr bwMode="auto">
            <a:xfrm>
              <a:off x="2978" y="1743"/>
              <a:ext cx="72" cy="1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Tx/>
                <a:buChar char="•"/>
              </a:pPr>
              <a:endParaRPr lang="zh-CN" altLang="en-US"/>
            </a:p>
          </p:txBody>
        </p:sp>
        <p:sp>
          <p:nvSpPr>
            <p:cNvPr id="187" name="Rectangle 62"/>
            <p:cNvSpPr>
              <a:spLocks noChangeArrowheads="1"/>
            </p:cNvSpPr>
            <p:nvPr/>
          </p:nvSpPr>
          <p:spPr bwMode="auto">
            <a:xfrm>
              <a:off x="3104" y="1743"/>
              <a:ext cx="18" cy="1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Tx/>
                <a:buChar char="•"/>
              </a:pPr>
              <a:endParaRPr lang="zh-CN" altLang="en-US"/>
            </a:p>
          </p:txBody>
        </p:sp>
        <p:sp>
          <p:nvSpPr>
            <p:cNvPr id="188" name="Rectangle 63"/>
            <p:cNvSpPr>
              <a:spLocks noChangeArrowheads="1"/>
            </p:cNvSpPr>
            <p:nvPr/>
          </p:nvSpPr>
          <p:spPr bwMode="auto">
            <a:xfrm>
              <a:off x="3176" y="1743"/>
              <a:ext cx="72" cy="1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Tx/>
                <a:buChar char="•"/>
              </a:pPr>
              <a:endParaRPr lang="zh-CN" altLang="en-US"/>
            </a:p>
          </p:txBody>
        </p:sp>
        <p:sp>
          <p:nvSpPr>
            <p:cNvPr id="189" name="Rectangle 64"/>
            <p:cNvSpPr>
              <a:spLocks noChangeArrowheads="1"/>
            </p:cNvSpPr>
            <p:nvPr/>
          </p:nvSpPr>
          <p:spPr bwMode="auto">
            <a:xfrm>
              <a:off x="3302" y="1743"/>
              <a:ext cx="18" cy="1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Tx/>
                <a:buChar char="•"/>
              </a:pPr>
              <a:endParaRPr lang="zh-CN" altLang="en-US"/>
            </a:p>
          </p:txBody>
        </p:sp>
        <p:sp>
          <p:nvSpPr>
            <p:cNvPr id="190" name="Rectangle 65"/>
            <p:cNvSpPr>
              <a:spLocks noChangeArrowheads="1"/>
            </p:cNvSpPr>
            <p:nvPr/>
          </p:nvSpPr>
          <p:spPr bwMode="auto">
            <a:xfrm>
              <a:off x="3374" y="1743"/>
              <a:ext cx="72" cy="1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Tx/>
                <a:buChar char="•"/>
              </a:pPr>
              <a:endParaRPr lang="zh-CN" altLang="en-US"/>
            </a:p>
          </p:txBody>
        </p:sp>
        <p:sp>
          <p:nvSpPr>
            <p:cNvPr id="191" name="Rectangle 66"/>
            <p:cNvSpPr>
              <a:spLocks noChangeArrowheads="1"/>
            </p:cNvSpPr>
            <p:nvPr/>
          </p:nvSpPr>
          <p:spPr bwMode="auto">
            <a:xfrm>
              <a:off x="3500" y="1743"/>
              <a:ext cx="18" cy="1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Tx/>
                <a:buChar char="•"/>
              </a:pPr>
              <a:endParaRPr lang="zh-CN" altLang="en-US"/>
            </a:p>
          </p:txBody>
        </p:sp>
        <p:sp>
          <p:nvSpPr>
            <p:cNvPr id="192" name="Rectangle 67"/>
            <p:cNvSpPr>
              <a:spLocks noChangeArrowheads="1"/>
            </p:cNvSpPr>
            <p:nvPr/>
          </p:nvSpPr>
          <p:spPr bwMode="auto">
            <a:xfrm>
              <a:off x="3572" y="1743"/>
              <a:ext cx="72" cy="1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Tx/>
                <a:buChar char="•"/>
              </a:pPr>
              <a:endParaRPr lang="zh-CN" altLang="en-US"/>
            </a:p>
          </p:txBody>
        </p:sp>
        <p:sp>
          <p:nvSpPr>
            <p:cNvPr id="193" name="Rectangle 68"/>
            <p:cNvSpPr>
              <a:spLocks noChangeArrowheads="1"/>
            </p:cNvSpPr>
            <p:nvPr/>
          </p:nvSpPr>
          <p:spPr bwMode="auto">
            <a:xfrm>
              <a:off x="3698" y="1743"/>
              <a:ext cx="18" cy="1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Tx/>
                <a:buChar char="•"/>
              </a:pPr>
              <a:endParaRPr lang="zh-CN" altLang="en-US"/>
            </a:p>
          </p:txBody>
        </p:sp>
        <p:sp>
          <p:nvSpPr>
            <p:cNvPr id="194" name="Rectangle 69"/>
            <p:cNvSpPr>
              <a:spLocks noChangeArrowheads="1"/>
            </p:cNvSpPr>
            <p:nvPr/>
          </p:nvSpPr>
          <p:spPr bwMode="auto">
            <a:xfrm>
              <a:off x="3770" y="1743"/>
              <a:ext cx="72" cy="1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Tx/>
                <a:buChar char="•"/>
              </a:pPr>
              <a:endParaRPr lang="zh-CN" altLang="en-US"/>
            </a:p>
          </p:txBody>
        </p:sp>
        <p:sp>
          <p:nvSpPr>
            <p:cNvPr id="195" name="Rectangle 70"/>
            <p:cNvSpPr>
              <a:spLocks noChangeArrowheads="1"/>
            </p:cNvSpPr>
            <p:nvPr/>
          </p:nvSpPr>
          <p:spPr bwMode="auto">
            <a:xfrm>
              <a:off x="3896" y="1743"/>
              <a:ext cx="18" cy="1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Tx/>
                <a:buChar char="•"/>
              </a:pPr>
              <a:endParaRPr lang="zh-CN" altLang="en-US"/>
            </a:p>
          </p:txBody>
        </p:sp>
        <p:sp>
          <p:nvSpPr>
            <p:cNvPr id="196" name="Rectangle 71"/>
            <p:cNvSpPr>
              <a:spLocks noChangeArrowheads="1"/>
            </p:cNvSpPr>
            <p:nvPr/>
          </p:nvSpPr>
          <p:spPr bwMode="auto">
            <a:xfrm>
              <a:off x="3968" y="1743"/>
              <a:ext cx="72" cy="1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Tx/>
                <a:buChar char="•"/>
              </a:pPr>
              <a:endParaRPr lang="zh-CN" altLang="en-US"/>
            </a:p>
          </p:txBody>
        </p:sp>
        <p:sp>
          <p:nvSpPr>
            <p:cNvPr id="197" name="Rectangle 72"/>
            <p:cNvSpPr>
              <a:spLocks noChangeArrowheads="1"/>
            </p:cNvSpPr>
            <p:nvPr/>
          </p:nvSpPr>
          <p:spPr bwMode="auto">
            <a:xfrm>
              <a:off x="4094" y="1743"/>
              <a:ext cx="18" cy="1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Tx/>
                <a:buChar char="•"/>
              </a:pPr>
              <a:endParaRPr lang="zh-CN" altLang="en-US"/>
            </a:p>
          </p:txBody>
        </p:sp>
        <p:sp>
          <p:nvSpPr>
            <p:cNvPr id="198" name="Rectangle 73"/>
            <p:cNvSpPr>
              <a:spLocks noChangeArrowheads="1"/>
            </p:cNvSpPr>
            <p:nvPr/>
          </p:nvSpPr>
          <p:spPr bwMode="auto">
            <a:xfrm>
              <a:off x="4166" y="1743"/>
              <a:ext cx="72" cy="1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Tx/>
                <a:buChar char="•"/>
              </a:pPr>
              <a:endParaRPr lang="zh-CN" altLang="en-US"/>
            </a:p>
          </p:txBody>
        </p:sp>
        <p:sp>
          <p:nvSpPr>
            <p:cNvPr id="199" name="Rectangle 74"/>
            <p:cNvSpPr>
              <a:spLocks noChangeArrowheads="1"/>
            </p:cNvSpPr>
            <p:nvPr/>
          </p:nvSpPr>
          <p:spPr bwMode="auto">
            <a:xfrm>
              <a:off x="4292" y="1743"/>
              <a:ext cx="18" cy="1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Tx/>
                <a:buChar char="•"/>
              </a:pPr>
              <a:endParaRPr lang="zh-CN" altLang="en-US"/>
            </a:p>
          </p:txBody>
        </p:sp>
        <p:sp>
          <p:nvSpPr>
            <p:cNvPr id="200" name="Rectangle 75"/>
            <p:cNvSpPr>
              <a:spLocks noChangeArrowheads="1"/>
            </p:cNvSpPr>
            <p:nvPr/>
          </p:nvSpPr>
          <p:spPr bwMode="auto">
            <a:xfrm>
              <a:off x="4364" y="1743"/>
              <a:ext cx="72" cy="1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Tx/>
                <a:buChar char="•"/>
              </a:pPr>
              <a:endParaRPr lang="zh-CN" altLang="en-US"/>
            </a:p>
          </p:txBody>
        </p:sp>
        <p:sp>
          <p:nvSpPr>
            <p:cNvPr id="201" name="Rectangle 76"/>
            <p:cNvSpPr>
              <a:spLocks noChangeArrowheads="1"/>
            </p:cNvSpPr>
            <p:nvPr/>
          </p:nvSpPr>
          <p:spPr bwMode="auto">
            <a:xfrm>
              <a:off x="4490" y="1743"/>
              <a:ext cx="18" cy="1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Tx/>
                <a:buChar char="•"/>
              </a:pPr>
              <a:endParaRPr lang="zh-CN" altLang="en-US"/>
            </a:p>
          </p:txBody>
        </p:sp>
        <p:sp>
          <p:nvSpPr>
            <p:cNvPr id="202" name="Rectangle 77"/>
            <p:cNvSpPr>
              <a:spLocks noChangeArrowheads="1"/>
            </p:cNvSpPr>
            <p:nvPr/>
          </p:nvSpPr>
          <p:spPr bwMode="auto">
            <a:xfrm>
              <a:off x="4562" y="1743"/>
              <a:ext cx="48" cy="1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Tx/>
                <a:buChar char="•"/>
              </a:pPr>
              <a:endParaRPr lang="zh-CN" altLang="en-US"/>
            </a:p>
          </p:txBody>
        </p:sp>
      </p:grpSp>
      <p:grpSp>
        <p:nvGrpSpPr>
          <p:cNvPr id="203" name="Group 7"/>
          <p:cNvGrpSpPr>
            <a:grpSpLocks/>
          </p:cNvGrpSpPr>
          <p:nvPr/>
        </p:nvGrpSpPr>
        <p:grpSpPr bwMode="auto">
          <a:xfrm>
            <a:off x="6246042" y="3284984"/>
            <a:ext cx="6682888" cy="860425"/>
            <a:chOff x="1503" y="2387"/>
            <a:chExt cx="4209" cy="542"/>
          </a:xfrm>
        </p:grpSpPr>
        <p:sp>
          <p:nvSpPr>
            <p:cNvPr id="204" name="Rectangle 8"/>
            <p:cNvSpPr>
              <a:spLocks noChangeArrowheads="1"/>
            </p:cNvSpPr>
            <p:nvPr/>
          </p:nvSpPr>
          <p:spPr bwMode="auto">
            <a:xfrm>
              <a:off x="1529" y="2401"/>
              <a:ext cx="12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2400" i="1" dirty="0">
                  <a:solidFill>
                    <a:srgbClr val="000000"/>
                  </a:solidFill>
                </a:rPr>
                <a:t>F</a:t>
              </a:r>
              <a:endParaRPr kumimoji="1" lang="en-US" altLang="zh-CN" sz="2400" b="0" i="1" dirty="0">
                <a:solidFill>
                  <a:srgbClr val="000000"/>
                </a:solidFill>
              </a:endParaRPr>
            </a:p>
          </p:txBody>
        </p:sp>
        <p:grpSp>
          <p:nvGrpSpPr>
            <p:cNvPr id="205" name="Group 9"/>
            <p:cNvGrpSpPr>
              <a:grpSpLocks/>
            </p:cNvGrpSpPr>
            <p:nvPr/>
          </p:nvGrpSpPr>
          <p:grpSpPr bwMode="auto">
            <a:xfrm>
              <a:off x="1503" y="2387"/>
              <a:ext cx="4209" cy="542"/>
              <a:chOff x="1503" y="2387"/>
              <a:chExt cx="4209" cy="542"/>
            </a:xfrm>
          </p:grpSpPr>
          <p:sp>
            <p:nvSpPr>
              <p:cNvPr id="206" name="Line 10"/>
              <p:cNvSpPr>
                <a:spLocks noChangeShapeType="1"/>
              </p:cNvSpPr>
              <p:nvPr/>
            </p:nvSpPr>
            <p:spPr bwMode="auto">
              <a:xfrm>
                <a:off x="4781" y="2688"/>
                <a:ext cx="326" cy="0"/>
              </a:xfrm>
              <a:prstGeom prst="line">
                <a:avLst/>
              </a:prstGeom>
              <a:noFill/>
              <a:ln w="57150">
                <a:solidFill>
                  <a:schemeClr val="tx1"/>
                </a:solidFill>
                <a:round/>
                <a:headEnd/>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207" name="Group 11"/>
              <p:cNvGrpSpPr>
                <a:grpSpLocks/>
              </p:cNvGrpSpPr>
              <p:nvPr/>
            </p:nvGrpSpPr>
            <p:grpSpPr bwMode="auto">
              <a:xfrm>
                <a:off x="1503" y="2387"/>
                <a:ext cx="4209" cy="542"/>
                <a:chOff x="1551" y="2387"/>
                <a:chExt cx="4209" cy="542"/>
              </a:xfrm>
            </p:grpSpPr>
            <p:sp>
              <p:nvSpPr>
                <p:cNvPr id="208" name="Rectangle 12"/>
                <p:cNvSpPr>
                  <a:spLocks noChangeArrowheads="1"/>
                </p:cNvSpPr>
                <p:nvPr/>
              </p:nvSpPr>
              <p:spPr bwMode="auto">
                <a:xfrm>
                  <a:off x="3611" y="2479"/>
                  <a:ext cx="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Tx/>
                    <a:buChar char="•"/>
                  </a:pPr>
                  <a:endParaRPr lang="zh-CN" altLang="en-US"/>
                </a:p>
              </p:txBody>
            </p:sp>
            <p:grpSp>
              <p:nvGrpSpPr>
                <p:cNvPr id="209" name="Group 13"/>
                <p:cNvGrpSpPr>
                  <a:grpSpLocks/>
                </p:cNvGrpSpPr>
                <p:nvPr/>
              </p:nvGrpSpPr>
              <p:grpSpPr bwMode="auto">
                <a:xfrm>
                  <a:off x="1917" y="2448"/>
                  <a:ext cx="2915" cy="481"/>
                  <a:chOff x="1792" y="2391"/>
                  <a:chExt cx="2915" cy="481"/>
                </a:xfrm>
              </p:grpSpPr>
              <p:sp>
                <p:nvSpPr>
                  <p:cNvPr id="217" name="Rectangle 14"/>
                  <p:cNvSpPr>
                    <a:spLocks noChangeArrowheads="1"/>
                  </p:cNvSpPr>
                  <p:nvPr/>
                </p:nvSpPr>
                <p:spPr bwMode="auto">
                  <a:xfrm>
                    <a:off x="1792" y="2403"/>
                    <a:ext cx="2915" cy="469"/>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lstStyle/>
                  <a:p>
                    <a:pPr eaLnBrk="1" hangingPunct="1">
                      <a:buFontTx/>
                      <a:buChar char="•"/>
                    </a:pPr>
                    <a:endParaRPr lang="zh-CN" altLang="en-US"/>
                  </a:p>
                </p:txBody>
              </p:sp>
              <p:sp>
                <p:nvSpPr>
                  <p:cNvPr id="218" name="Rectangle 15"/>
                  <p:cNvSpPr>
                    <a:spLocks noChangeArrowheads="1"/>
                  </p:cNvSpPr>
                  <p:nvPr/>
                </p:nvSpPr>
                <p:spPr bwMode="auto">
                  <a:xfrm>
                    <a:off x="2470" y="2391"/>
                    <a:ext cx="18" cy="480"/>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Tx/>
                      <a:buChar char="•"/>
                    </a:pPr>
                    <a:endParaRPr lang="zh-CN" altLang="en-US"/>
                  </a:p>
                </p:txBody>
              </p:sp>
              <p:sp>
                <p:nvSpPr>
                  <p:cNvPr id="219" name="Rectangle 16"/>
                  <p:cNvSpPr>
                    <a:spLocks noChangeArrowheads="1"/>
                  </p:cNvSpPr>
                  <p:nvPr/>
                </p:nvSpPr>
                <p:spPr bwMode="auto">
                  <a:xfrm>
                    <a:off x="3082" y="2391"/>
                    <a:ext cx="18" cy="480"/>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Tx/>
                      <a:buChar char="•"/>
                    </a:pPr>
                    <a:endParaRPr lang="zh-CN" altLang="en-US"/>
                  </a:p>
                </p:txBody>
              </p:sp>
              <p:sp>
                <p:nvSpPr>
                  <p:cNvPr id="220" name="Rectangle 17"/>
                  <p:cNvSpPr>
                    <a:spLocks noChangeArrowheads="1"/>
                  </p:cNvSpPr>
                  <p:nvPr/>
                </p:nvSpPr>
                <p:spPr bwMode="auto">
                  <a:xfrm>
                    <a:off x="2479" y="2550"/>
                    <a:ext cx="612" cy="1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Tx/>
                      <a:buChar char="•"/>
                    </a:pPr>
                    <a:endParaRPr lang="zh-CN" altLang="en-US"/>
                  </a:p>
                </p:txBody>
              </p:sp>
              <p:sp>
                <p:nvSpPr>
                  <p:cNvPr id="221" name="Rectangle 18"/>
                  <p:cNvSpPr>
                    <a:spLocks noChangeArrowheads="1"/>
                  </p:cNvSpPr>
                  <p:nvPr/>
                </p:nvSpPr>
                <p:spPr bwMode="auto">
                  <a:xfrm>
                    <a:off x="2479" y="2754"/>
                    <a:ext cx="612" cy="1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Tx/>
                      <a:buChar char="•"/>
                    </a:pPr>
                    <a:endParaRPr lang="zh-CN" altLang="en-US"/>
                  </a:p>
                </p:txBody>
              </p:sp>
            </p:grpSp>
            <p:sp>
              <p:nvSpPr>
                <p:cNvPr id="210" name="Rectangle 19"/>
                <p:cNvSpPr>
                  <a:spLocks noChangeArrowheads="1"/>
                </p:cNvSpPr>
                <p:nvPr/>
              </p:nvSpPr>
              <p:spPr bwMode="auto">
                <a:xfrm>
                  <a:off x="5526" y="2387"/>
                  <a:ext cx="234"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Tx/>
                    <a:buChar char="•"/>
                  </a:pPr>
                  <a:endParaRPr lang="zh-CN" altLang="en-US"/>
                </a:p>
              </p:txBody>
            </p:sp>
            <p:sp>
              <p:nvSpPr>
                <p:cNvPr id="211" name="Rectangle 20"/>
                <p:cNvSpPr>
                  <a:spLocks noChangeArrowheads="1"/>
                </p:cNvSpPr>
                <p:nvPr/>
              </p:nvSpPr>
              <p:spPr bwMode="auto">
                <a:xfrm>
                  <a:off x="5001" y="2425"/>
                  <a:ext cx="12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2400" i="1" dirty="0">
                      <a:solidFill>
                        <a:srgbClr val="000000"/>
                      </a:solidFill>
                    </a:rPr>
                    <a:t>F</a:t>
                  </a:r>
                </a:p>
              </p:txBody>
            </p:sp>
            <p:sp>
              <p:nvSpPr>
                <p:cNvPr id="212" name="Text Box 21"/>
                <p:cNvSpPr txBox="1">
                  <a:spLocks noChangeArrowheads="1"/>
                </p:cNvSpPr>
                <p:nvPr/>
              </p:nvSpPr>
              <p:spPr bwMode="auto">
                <a:xfrm>
                  <a:off x="3184" y="2640"/>
                  <a:ext cx="45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defRPr sz="2000">
                      <a:solidFill>
                        <a:schemeClr val="tx1"/>
                      </a:solidFill>
                      <a:latin typeface="Times New Roman" pitchFamily="18" charset="0"/>
                      <a:ea typeface="宋体" pitchFamily="2" charset="-122"/>
                    </a:defRPr>
                  </a:lvl1pPr>
                  <a:lvl2pPr>
                    <a:defRPr sz="2000">
                      <a:solidFill>
                        <a:schemeClr val="tx1"/>
                      </a:solidFill>
                      <a:latin typeface="Times New Roman" pitchFamily="18" charset="0"/>
                      <a:ea typeface="宋体" pitchFamily="2" charset="-122"/>
                    </a:defRPr>
                  </a:lvl2pPr>
                  <a:lvl3pPr>
                    <a:defRPr sz="2000">
                      <a:solidFill>
                        <a:schemeClr val="tx1"/>
                      </a:solidFill>
                      <a:latin typeface="Times New Roman" pitchFamily="18" charset="0"/>
                      <a:ea typeface="宋体" pitchFamily="2" charset="-122"/>
                    </a:defRPr>
                  </a:lvl3pPr>
                  <a:lvl4pPr>
                    <a:defRPr sz="2000">
                      <a:solidFill>
                        <a:schemeClr val="tx1"/>
                      </a:solidFill>
                      <a:latin typeface="Times New Roman" pitchFamily="18" charset="0"/>
                      <a:ea typeface="宋体" pitchFamily="2" charset="-122"/>
                    </a:defRPr>
                  </a:lvl4pPr>
                  <a:lvl5pPr>
                    <a:defRPr sz="2000">
                      <a:solidFill>
                        <a:schemeClr val="tx1"/>
                      </a:solidFill>
                      <a:latin typeface="Times New Roman" pitchFamily="18" charset="0"/>
                      <a:ea typeface="宋体" pitchFamily="2" charset="-122"/>
                    </a:defRPr>
                  </a:lvl5pPr>
                  <a:lvl6pPr eaLnBrk="0" hangingPunct="0">
                    <a:defRPr sz="2000">
                      <a:solidFill>
                        <a:schemeClr val="tx1"/>
                      </a:solidFill>
                      <a:latin typeface="Times New Roman" pitchFamily="18" charset="0"/>
                      <a:ea typeface="宋体" pitchFamily="2" charset="-122"/>
                    </a:defRPr>
                  </a:lvl6pPr>
                  <a:lvl7pPr eaLnBrk="0" hangingPunct="0">
                    <a:defRPr sz="2000">
                      <a:solidFill>
                        <a:schemeClr val="tx1"/>
                      </a:solidFill>
                      <a:latin typeface="Times New Roman" pitchFamily="18" charset="0"/>
                      <a:ea typeface="宋体" pitchFamily="2" charset="-122"/>
                    </a:defRPr>
                  </a:lvl7pPr>
                  <a:lvl8pPr eaLnBrk="0" hangingPunct="0">
                    <a:defRPr sz="2000">
                      <a:solidFill>
                        <a:schemeClr val="tx1"/>
                      </a:solidFill>
                      <a:latin typeface="Times New Roman" pitchFamily="18" charset="0"/>
                      <a:ea typeface="宋体" pitchFamily="2" charset="-122"/>
                    </a:defRPr>
                  </a:lvl8pPr>
                  <a:lvl9pPr eaLnBrk="0" hangingPunct="0">
                    <a:defRPr sz="2000">
                      <a:solidFill>
                        <a:schemeClr val="tx1"/>
                      </a:solidFill>
                      <a:latin typeface="Times New Roman" pitchFamily="18" charset="0"/>
                      <a:ea typeface="宋体" pitchFamily="2" charset="-122"/>
                    </a:defRPr>
                  </a:lvl9pPr>
                </a:lstStyle>
                <a:p>
                  <a:pPr algn="ctr"/>
                  <a:r>
                    <a:rPr kumimoji="1" lang="en-US" altLang="zh-CN" sz="2400" b="0" i="1">
                      <a:solidFill>
                        <a:srgbClr val="000000"/>
                      </a:solidFill>
                    </a:rPr>
                    <a:t>  d ´</a:t>
                  </a:r>
                </a:p>
              </p:txBody>
            </p:sp>
            <p:sp>
              <p:nvSpPr>
                <p:cNvPr id="213" name="Text Box 22"/>
                <p:cNvSpPr txBox="1">
                  <a:spLocks noChangeArrowheads="1"/>
                </p:cNvSpPr>
                <p:nvPr/>
              </p:nvSpPr>
              <p:spPr bwMode="auto">
                <a:xfrm>
                  <a:off x="2341" y="2424"/>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defRPr sz="2000">
                      <a:solidFill>
                        <a:schemeClr val="tx1"/>
                      </a:solidFill>
                      <a:latin typeface="Times New Roman" pitchFamily="18" charset="0"/>
                      <a:ea typeface="宋体" pitchFamily="2" charset="-122"/>
                    </a:defRPr>
                  </a:lvl1pPr>
                  <a:lvl2pPr>
                    <a:defRPr sz="2000">
                      <a:solidFill>
                        <a:schemeClr val="tx1"/>
                      </a:solidFill>
                      <a:latin typeface="Times New Roman" pitchFamily="18" charset="0"/>
                      <a:ea typeface="宋体" pitchFamily="2" charset="-122"/>
                    </a:defRPr>
                  </a:lvl2pPr>
                  <a:lvl3pPr>
                    <a:defRPr sz="2000">
                      <a:solidFill>
                        <a:schemeClr val="tx1"/>
                      </a:solidFill>
                      <a:latin typeface="Times New Roman" pitchFamily="18" charset="0"/>
                      <a:ea typeface="宋体" pitchFamily="2" charset="-122"/>
                    </a:defRPr>
                  </a:lvl3pPr>
                  <a:lvl4pPr>
                    <a:defRPr sz="2000">
                      <a:solidFill>
                        <a:schemeClr val="tx1"/>
                      </a:solidFill>
                      <a:latin typeface="Times New Roman" pitchFamily="18" charset="0"/>
                      <a:ea typeface="宋体" pitchFamily="2" charset="-122"/>
                    </a:defRPr>
                  </a:lvl4pPr>
                  <a:lvl5pPr>
                    <a:defRPr sz="2000">
                      <a:solidFill>
                        <a:schemeClr val="tx1"/>
                      </a:solidFill>
                      <a:latin typeface="Times New Roman" pitchFamily="18" charset="0"/>
                      <a:ea typeface="宋体" pitchFamily="2" charset="-122"/>
                    </a:defRPr>
                  </a:lvl5pPr>
                  <a:lvl6pPr eaLnBrk="0" hangingPunct="0">
                    <a:defRPr sz="2000">
                      <a:solidFill>
                        <a:schemeClr val="tx1"/>
                      </a:solidFill>
                      <a:latin typeface="Times New Roman" pitchFamily="18" charset="0"/>
                      <a:ea typeface="宋体" pitchFamily="2" charset="-122"/>
                    </a:defRPr>
                  </a:lvl6pPr>
                  <a:lvl7pPr eaLnBrk="0" hangingPunct="0">
                    <a:defRPr sz="2000">
                      <a:solidFill>
                        <a:schemeClr val="tx1"/>
                      </a:solidFill>
                      <a:latin typeface="Times New Roman" pitchFamily="18" charset="0"/>
                      <a:ea typeface="宋体" pitchFamily="2" charset="-122"/>
                    </a:defRPr>
                  </a:lvl7pPr>
                  <a:lvl8pPr eaLnBrk="0" hangingPunct="0">
                    <a:defRPr sz="2000">
                      <a:solidFill>
                        <a:schemeClr val="tx1"/>
                      </a:solidFill>
                      <a:latin typeface="Times New Roman" pitchFamily="18" charset="0"/>
                      <a:ea typeface="宋体" pitchFamily="2" charset="-122"/>
                    </a:defRPr>
                  </a:lvl8pPr>
                  <a:lvl9pPr eaLnBrk="0" hangingPunct="0">
                    <a:defRPr sz="2000">
                      <a:solidFill>
                        <a:schemeClr val="tx1"/>
                      </a:solidFill>
                      <a:latin typeface="Times New Roman" pitchFamily="18" charset="0"/>
                      <a:ea typeface="宋体" pitchFamily="2" charset="-122"/>
                    </a:defRPr>
                  </a:lvl9pPr>
                </a:lstStyle>
                <a:p>
                  <a:pPr algn="ctr"/>
                  <a:r>
                    <a:rPr kumimoji="1" lang="en-US" altLang="zh-CN" sz="2400" b="0" i="1">
                      <a:solidFill>
                        <a:srgbClr val="000000"/>
                      </a:solidFill>
                    </a:rPr>
                    <a:t>a´</a:t>
                  </a:r>
                </a:p>
              </p:txBody>
            </p:sp>
            <p:sp>
              <p:nvSpPr>
                <p:cNvPr id="214" name="Text Box 23"/>
                <p:cNvSpPr txBox="1">
                  <a:spLocks noChangeArrowheads="1"/>
                </p:cNvSpPr>
                <p:nvPr/>
              </p:nvSpPr>
              <p:spPr bwMode="auto">
                <a:xfrm>
                  <a:off x="2362" y="2628"/>
                  <a:ext cx="29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defRPr sz="2000">
                      <a:solidFill>
                        <a:schemeClr val="tx1"/>
                      </a:solidFill>
                      <a:latin typeface="Times New Roman" pitchFamily="18" charset="0"/>
                      <a:ea typeface="宋体" pitchFamily="2" charset="-122"/>
                    </a:defRPr>
                  </a:lvl1pPr>
                  <a:lvl2pPr>
                    <a:defRPr sz="2000">
                      <a:solidFill>
                        <a:schemeClr val="tx1"/>
                      </a:solidFill>
                      <a:latin typeface="Times New Roman" pitchFamily="18" charset="0"/>
                      <a:ea typeface="宋体" pitchFamily="2" charset="-122"/>
                    </a:defRPr>
                  </a:lvl2pPr>
                  <a:lvl3pPr>
                    <a:defRPr sz="2000">
                      <a:solidFill>
                        <a:schemeClr val="tx1"/>
                      </a:solidFill>
                      <a:latin typeface="Times New Roman" pitchFamily="18" charset="0"/>
                      <a:ea typeface="宋体" pitchFamily="2" charset="-122"/>
                    </a:defRPr>
                  </a:lvl3pPr>
                  <a:lvl4pPr>
                    <a:defRPr sz="2000">
                      <a:solidFill>
                        <a:schemeClr val="tx1"/>
                      </a:solidFill>
                      <a:latin typeface="Times New Roman" pitchFamily="18" charset="0"/>
                      <a:ea typeface="宋体" pitchFamily="2" charset="-122"/>
                    </a:defRPr>
                  </a:lvl4pPr>
                  <a:lvl5pPr>
                    <a:defRPr sz="2000">
                      <a:solidFill>
                        <a:schemeClr val="tx1"/>
                      </a:solidFill>
                      <a:latin typeface="Times New Roman" pitchFamily="18" charset="0"/>
                      <a:ea typeface="宋体" pitchFamily="2" charset="-122"/>
                    </a:defRPr>
                  </a:lvl5pPr>
                  <a:lvl6pPr eaLnBrk="0" hangingPunct="0">
                    <a:defRPr sz="2000">
                      <a:solidFill>
                        <a:schemeClr val="tx1"/>
                      </a:solidFill>
                      <a:latin typeface="Times New Roman" pitchFamily="18" charset="0"/>
                      <a:ea typeface="宋体" pitchFamily="2" charset="-122"/>
                    </a:defRPr>
                  </a:lvl6pPr>
                  <a:lvl7pPr eaLnBrk="0" hangingPunct="0">
                    <a:defRPr sz="2000">
                      <a:solidFill>
                        <a:schemeClr val="tx1"/>
                      </a:solidFill>
                      <a:latin typeface="Times New Roman" pitchFamily="18" charset="0"/>
                      <a:ea typeface="宋体" pitchFamily="2" charset="-122"/>
                    </a:defRPr>
                  </a:lvl7pPr>
                  <a:lvl8pPr eaLnBrk="0" hangingPunct="0">
                    <a:defRPr sz="2000">
                      <a:solidFill>
                        <a:schemeClr val="tx1"/>
                      </a:solidFill>
                      <a:latin typeface="Times New Roman" pitchFamily="18" charset="0"/>
                      <a:ea typeface="宋体" pitchFamily="2" charset="-122"/>
                    </a:defRPr>
                  </a:lvl8pPr>
                  <a:lvl9pPr eaLnBrk="0" hangingPunct="0">
                    <a:defRPr sz="2000">
                      <a:solidFill>
                        <a:schemeClr val="tx1"/>
                      </a:solidFill>
                      <a:latin typeface="Times New Roman" pitchFamily="18" charset="0"/>
                      <a:ea typeface="宋体" pitchFamily="2" charset="-122"/>
                    </a:defRPr>
                  </a:lvl9pPr>
                </a:lstStyle>
                <a:p>
                  <a:pPr algn="ctr"/>
                  <a:r>
                    <a:rPr kumimoji="1" lang="en-US" altLang="zh-CN" sz="2400" b="0" i="1">
                      <a:solidFill>
                        <a:srgbClr val="000000"/>
                      </a:solidFill>
                    </a:rPr>
                    <a:t>c´</a:t>
                  </a:r>
                </a:p>
              </p:txBody>
            </p:sp>
            <p:sp>
              <p:nvSpPr>
                <p:cNvPr id="215" name="Text Box 24"/>
                <p:cNvSpPr txBox="1">
                  <a:spLocks noChangeArrowheads="1"/>
                </p:cNvSpPr>
                <p:nvPr/>
              </p:nvSpPr>
              <p:spPr bwMode="auto">
                <a:xfrm>
                  <a:off x="3245" y="2448"/>
                  <a:ext cx="35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defRPr sz="2000">
                      <a:solidFill>
                        <a:schemeClr val="tx1"/>
                      </a:solidFill>
                      <a:latin typeface="Times New Roman" pitchFamily="18" charset="0"/>
                      <a:ea typeface="宋体" pitchFamily="2" charset="-122"/>
                    </a:defRPr>
                  </a:lvl1pPr>
                  <a:lvl2pPr>
                    <a:defRPr sz="2000">
                      <a:solidFill>
                        <a:schemeClr val="tx1"/>
                      </a:solidFill>
                      <a:latin typeface="Times New Roman" pitchFamily="18" charset="0"/>
                      <a:ea typeface="宋体" pitchFamily="2" charset="-122"/>
                    </a:defRPr>
                  </a:lvl2pPr>
                  <a:lvl3pPr>
                    <a:defRPr sz="2000">
                      <a:solidFill>
                        <a:schemeClr val="tx1"/>
                      </a:solidFill>
                      <a:latin typeface="Times New Roman" pitchFamily="18" charset="0"/>
                      <a:ea typeface="宋体" pitchFamily="2" charset="-122"/>
                    </a:defRPr>
                  </a:lvl3pPr>
                  <a:lvl4pPr>
                    <a:defRPr sz="2000">
                      <a:solidFill>
                        <a:schemeClr val="tx1"/>
                      </a:solidFill>
                      <a:latin typeface="Times New Roman" pitchFamily="18" charset="0"/>
                      <a:ea typeface="宋体" pitchFamily="2" charset="-122"/>
                    </a:defRPr>
                  </a:lvl4pPr>
                  <a:lvl5pPr>
                    <a:defRPr sz="2000">
                      <a:solidFill>
                        <a:schemeClr val="tx1"/>
                      </a:solidFill>
                      <a:latin typeface="Times New Roman" pitchFamily="18" charset="0"/>
                      <a:ea typeface="宋体" pitchFamily="2" charset="-122"/>
                    </a:defRPr>
                  </a:lvl5pPr>
                  <a:lvl6pPr eaLnBrk="0" hangingPunct="0">
                    <a:defRPr sz="2000">
                      <a:solidFill>
                        <a:schemeClr val="tx1"/>
                      </a:solidFill>
                      <a:latin typeface="Times New Roman" pitchFamily="18" charset="0"/>
                      <a:ea typeface="宋体" pitchFamily="2" charset="-122"/>
                    </a:defRPr>
                  </a:lvl6pPr>
                  <a:lvl7pPr eaLnBrk="0" hangingPunct="0">
                    <a:defRPr sz="2000">
                      <a:solidFill>
                        <a:schemeClr val="tx1"/>
                      </a:solidFill>
                      <a:latin typeface="Times New Roman" pitchFamily="18" charset="0"/>
                      <a:ea typeface="宋体" pitchFamily="2" charset="-122"/>
                    </a:defRPr>
                  </a:lvl7pPr>
                  <a:lvl8pPr eaLnBrk="0" hangingPunct="0">
                    <a:defRPr sz="2000">
                      <a:solidFill>
                        <a:schemeClr val="tx1"/>
                      </a:solidFill>
                      <a:latin typeface="Times New Roman" pitchFamily="18" charset="0"/>
                      <a:ea typeface="宋体" pitchFamily="2" charset="-122"/>
                    </a:defRPr>
                  </a:lvl8pPr>
                  <a:lvl9pPr eaLnBrk="0" hangingPunct="0">
                    <a:defRPr sz="2000">
                      <a:solidFill>
                        <a:schemeClr val="tx1"/>
                      </a:solidFill>
                      <a:latin typeface="Times New Roman" pitchFamily="18" charset="0"/>
                      <a:ea typeface="宋体" pitchFamily="2" charset="-122"/>
                    </a:defRPr>
                  </a:lvl9pPr>
                </a:lstStyle>
                <a:p>
                  <a:pPr algn="ctr"/>
                  <a:r>
                    <a:rPr kumimoji="1" lang="en-US" altLang="zh-CN" sz="2400" b="0" i="1" dirty="0">
                      <a:solidFill>
                        <a:srgbClr val="000000"/>
                      </a:solidFill>
                    </a:rPr>
                    <a:t> b´</a:t>
                  </a:r>
                </a:p>
              </p:txBody>
            </p:sp>
            <p:sp>
              <p:nvSpPr>
                <p:cNvPr id="216" name="Line 25"/>
                <p:cNvSpPr>
                  <a:spLocks noChangeShapeType="1"/>
                </p:cNvSpPr>
                <p:nvPr/>
              </p:nvSpPr>
              <p:spPr bwMode="auto">
                <a:xfrm flipH="1">
                  <a:off x="1551" y="2688"/>
                  <a:ext cx="366" cy="0"/>
                </a:xfrm>
                <a:prstGeom prst="line">
                  <a:avLst/>
                </a:prstGeom>
                <a:noFill/>
                <a:ln w="57150">
                  <a:solidFill>
                    <a:schemeClr val="tx1"/>
                  </a:solidFill>
                  <a:round/>
                  <a:headEnd/>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sp>
        <p:nvSpPr>
          <p:cNvPr id="222" name="Text Box 15"/>
          <p:cNvSpPr txBox="1">
            <a:spLocks noChangeAspect="1" noChangeArrowheads="1"/>
          </p:cNvSpPr>
          <p:nvPr/>
        </p:nvSpPr>
        <p:spPr bwMode="auto">
          <a:xfrm>
            <a:off x="10866933" y="4322182"/>
            <a:ext cx="701675" cy="414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hangingPunct="1"/>
            <a:r>
              <a:rPr lang="en-US" altLang="zh-CN" sz="3200" b="0" dirty="0">
                <a:solidFill>
                  <a:srgbClr val="FF33CC"/>
                </a:solidFill>
                <a:latin typeface="+mn-lt"/>
                <a:ea typeface="宋体" panose="02010600030101010101" pitchFamily="2" charset="-122"/>
              </a:rPr>
              <a:t>F</a:t>
            </a:r>
            <a:r>
              <a:rPr lang="en-US" altLang="zh-CN" sz="3200" b="0" i="0" baseline="-25000" dirty="0">
                <a:solidFill>
                  <a:srgbClr val="FF33CC"/>
                </a:solidFill>
                <a:latin typeface="+mn-lt"/>
                <a:ea typeface="宋体" panose="02010600030101010101" pitchFamily="2" charset="-122"/>
              </a:rPr>
              <a:t>N</a:t>
            </a:r>
          </a:p>
        </p:txBody>
      </p:sp>
      <p:sp>
        <p:nvSpPr>
          <p:cNvPr id="223" name="Line 16"/>
          <p:cNvSpPr>
            <a:spLocks noChangeAspect="1" noChangeShapeType="1"/>
          </p:cNvSpPr>
          <p:nvPr/>
        </p:nvSpPr>
        <p:spPr bwMode="auto">
          <a:xfrm>
            <a:off x="10656269" y="4942895"/>
            <a:ext cx="755650" cy="1587"/>
          </a:xfrm>
          <a:prstGeom prst="line">
            <a:avLst/>
          </a:prstGeom>
          <a:noFill/>
          <a:ln w="38100">
            <a:solidFill>
              <a:srgbClr val="FF33CC"/>
            </a:solidFill>
            <a:prstDash val="dash"/>
            <a:round/>
            <a:headEnd/>
            <a:tailEnd type="stealth" w="med" len="lg"/>
          </a:ln>
          <a:extLst>
            <a:ext uri="{909E8E84-426E-40DD-AFC4-6F175D3DCCD1}">
              <a14:hiddenFill xmlns:a14="http://schemas.microsoft.com/office/drawing/2010/main">
                <a:noFill/>
              </a14:hiddenFill>
            </a:ext>
          </a:extLst>
        </p:spPr>
        <p:txBody>
          <a:bodyPr/>
          <a:lstStyle/>
          <a:p>
            <a:pPr algn="ctr"/>
            <a:endParaRPr kumimoji="1" lang="zh-CN" altLang="en-US" b="0" i="0">
              <a:solidFill>
                <a:srgbClr val="0000FF"/>
              </a:solidFill>
              <a:ea typeface="黑体" panose="02010609060101010101" pitchFamily="49" charset="-122"/>
            </a:endParaRPr>
          </a:p>
        </p:txBody>
      </p:sp>
      <p:sp>
        <p:nvSpPr>
          <p:cNvPr id="224" name="Text Box 17"/>
          <p:cNvSpPr txBox="1">
            <a:spLocks noChangeAspect="1" noChangeArrowheads="1"/>
          </p:cNvSpPr>
          <p:nvPr/>
        </p:nvSpPr>
        <p:spPr bwMode="auto">
          <a:xfrm>
            <a:off x="10014446" y="4573007"/>
            <a:ext cx="663575"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hangingPunct="1"/>
            <a:r>
              <a:rPr lang="en-US" altLang="zh-CN" sz="3600" b="0" dirty="0">
                <a:solidFill>
                  <a:srgbClr val="FF3300"/>
                </a:solidFill>
                <a:latin typeface="" pitchFamily="18" charset="-52"/>
                <a:ea typeface="宋体" panose="02010600030101010101" pitchFamily="2" charset="-122"/>
                <a:sym typeface="Symbol" panose="05050102010706020507" pitchFamily="18" charset="2"/>
              </a:rPr>
              <a:t></a:t>
            </a:r>
          </a:p>
        </p:txBody>
      </p:sp>
      <p:sp>
        <p:nvSpPr>
          <p:cNvPr id="225" name="AutoShape 18"/>
          <p:cNvSpPr>
            <a:spLocks/>
          </p:cNvSpPr>
          <p:nvPr/>
        </p:nvSpPr>
        <p:spPr bwMode="auto">
          <a:xfrm>
            <a:off x="10477526" y="4523795"/>
            <a:ext cx="214313" cy="887412"/>
          </a:xfrm>
          <a:prstGeom prst="rightBrace">
            <a:avLst>
              <a:gd name="adj1" fmla="val 34506"/>
              <a:gd name="adj2" fmla="val 47046"/>
            </a:avLst>
          </a:prstGeom>
          <a:noFill/>
          <a:ln w="28575">
            <a:solidFill>
              <a:srgbClr val="FF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FF"/>
              </a:solidFill>
              <a:effectLst/>
              <a:uLnTx/>
              <a:uFillTx/>
              <a:latin typeface="Times New Roman" panose="02020603050405020304" pitchFamily="18" charset="0"/>
              <a:ea typeface="黑体" panose="02010609060101010101" pitchFamily="49" charset="-122"/>
            </a:endParaRPr>
          </a:p>
        </p:txBody>
      </p:sp>
      <p:grpSp>
        <p:nvGrpSpPr>
          <p:cNvPr id="226" name="Group 46"/>
          <p:cNvGrpSpPr>
            <a:grpSpLocks/>
          </p:cNvGrpSpPr>
          <p:nvPr/>
        </p:nvGrpSpPr>
        <p:grpSpPr bwMode="auto">
          <a:xfrm>
            <a:off x="7403008" y="4371395"/>
            <a:ext cx="2428875" cy="1057275"/>
            <a:chOff x="1257" y="2444"/>
            <a:chExt cx="1530" cy="666"/>
          </a:xfrm>
        </p:grpSpPr>
        <p:sp>
          <p:nvSpPr>
            <p:cNvPr id="227" name="Line 47"/>
            <p:cNvSpPr>
              <a:spLocks noChangeAspect="1" noChangeShapeType="1"/>
            </p:cNvSpPr>
            <p:nvPr/>
          </p:nvSpPr>
          <p:spPr bwMode="auto">
            <a:xfrm flipH="1" flipV="1">
              <a:off x="1303" y="2848"/>
              <a:ext cx="567" cy="1"/>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FF"/>
                </a:solidFill>
                <a:effectLst/>
                <a:uLnTx/>
                <a:uFillTx/>
                <a:ea typeface="黑体" panose="02010609060101010101" pitchFamily="49" charset="-122"/>
              </a:endParaRPr>
            </a:p>
          </p:txBody>
        </p:sp>
        <p:sp>
          <p:nvSpPr>
            <p:cNvPr id="228" name="Text Box 48"/>
            <p:cNvSpPr txBox="1">
              <a:spLocks noChangeAspect="1" noChangeArrowheads="1"/>
            </p:cNvSpPr>
            <p:nvPr/>
          </p:nvSpPr>
          <p:spPr bwMode="auto">
            <a:xfrm>
              <a:off x="1257" y="2444"/>
              <a:ext cx="416"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3200" b="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F</a:t>
              </a:r>
            </a:p>
          </p:txBody>
        </p:sp>
        <p:grpSp>
          <p:nvGrpSpPr>
            <p:cNvPr id="229" name="Group 49"/>
            <p:cNvGrpSpPr>
              <a:grpSpLocks/>
            </p:cNvGrpSpPr>
            <p:nvPr/>
          </p:nvGrpSpPr>
          <p:grpSpPr bwMode="auto">
            <a:xfrm>
              <a:off x="1810" y="2575"/>
              <a:ext cx="977" cy="535"/>
              <a:chOff x="2160" y="2082"/>
              <a:chExt cx="2649" cy="629"/>
            </a:xfrm>
          </p:grpSpPr>
          <p:sp>
            <p:nvSpPr>
              <p:cNvPr id="230" name="Rectangle 50"/>
              <p:cNvSpPr>
                <a:spLocks noChangeArrowheads="1"/>
              </p:cNvSpPr>
              <p:nvPr/>
            </p:nvSpPr>
            <p:spPr bwMode="auto">
              <a:xfrm>
                <a:off x="2164" y="2082"/>
                <a:ext cx="2645" cy="629"/>
              </a:xfrm>
              <a:prstGeom prst="rect">
                <a:avLst/>
              </a:prstGeom>
              <a:noFill/>
              <a:ln w="38100">
                <a:solidFill>
                  <a:srgbClr val="000000"/>
                </a:solidFill>
                <a:miter lim="800000"/>
                <a:headEnd/>
                <a:tailEnd/>
              </a:ln>
              <a:scene3d>
                <a:camera prst="legacyPerspectiveTopRight"/>
                <a:lightRig rig="legacyFlat3" dir="t"/>
              </a:scene3d>
              <a:sp3d extrusionH="430200" prstMaterial="legacyWireframe">
                <a:bevelT w="13500" h="13500" prst="angle"/>
                <a:bevelB w="13500" h="13500" prst="angle"/>
                <a:extrusionClr>
                  <a:srgbClr val="CC9900"/>
                </a:extrusionClr>
                <a:contourClr>
                  <a:srgbClr val="000000"/>
                </a:contourClr>
              </a:sp3d>
              <a:extLst>
                <a:ext uri="{909E8E84-426E-40DD-AFC4-6F175D3DCCD1}">
                  <a14:hiddenFill xmlns:a14="http://schemas.microsoft.com/office/drawing/2010/main">
                    <a:solidFill>
                      <a:srgbClr val="FFFFFF"/>
                    </a:solidFill>
                  </a14:hiddenFill>
                </a:ext>
              </a:extLst>
            </p:spPr>
            <p:txBody>
              <a:bodyPr wrap="none" anchor="ctr">
                <a:flatTx/>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FF"/>
                  </a:solidFill>
                  <a:effectLst/>
                  <a:uLnTx/>
                  <a:uFillTx/>
                  <a:latin typeface="Times New Roman" panose="02020603050405020304" pitchFamily="18" charset="0"/>
                  <a:ea typeface="黑体" panose="02010609060101010101" pitchFamily="49" charset="-122"/>
                </a:endParaRPr>
              </a:p>
            </p:txBody>
          </p:sp>
          <p:sp>
            <p:nvSpPr>
              <p:cNvPr id="231" name="Rectangle 51"/>
              <p:cNvSpPr>
                <a:spLocks noChangeArrowheads="1"/>
              </p:cNvSpPr>
              <p:nvPr/>
            </p:nvSpPr>
            <p:spPr bwMode="auto">
              <a:xfrm>
                <a:off x="2160" y="2082"/>
                <a:ext cx="2645" cy="629"/>
              </a:xfrm>
              <a:prstGeom prst="rect">
                <a:avLst/>
              </a:prstGeom>
              <a:noFill/>
              <a:ln w="38100">
                <a:solidFill>
                  <a:srgbClr val="000000"/>
                </a:solidFill>
                <a:miter lim="800000"/>
                <a:headEnd/>
                <a:tailEnd/>
              </a:ln>
              <a:scene3d>
                <a:camera prst="legacyPerspectiveTopRight"/>
                <a:lightRig rig="legacyFlat3" dir="t"/>
              </a:scene3d>
              <a:sp3d extrusionH="430200" prstMaterial="legacyMatte">
                <a:bevelT w="13500" h="13500" prst="angle"/>
                <a:bevelB w="13500" h="13500" prst="angle"/>
                <a:extrusionClr>
                  <a:srgbClr val="CC9900"/>
                </a:extrusionClr>
                <a:contourClr>
                  <a:srgbClr val="000000"/>
                </a:contourClr>
              </a:sp3d>
              <a:extLst>
                <a:ext uri="{909E8E84-426E-40DD-AFC4-6F175D3DCCD1}">
                  <a14:hiddenFill xmlns:a14="http://schemas.microsoft.com/office/drawing/2010/main">
                    <a:solidFill>
                      <a:srgbClr val="FFFFFF"/>
                    </a:solidFill>
                  </a14:hiddenFill>
                </a:ext>
              </a:extLst>
            </p:spPr>
            <p:txBody>
              <a:bodyPr wrap="none" anchor="ctr">
                <a:flatTx/>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FF"/>
                  </a:solidFill>
                  <a:effectLst/>
                  <a:uLnTx/>
                  <a:uFillTx/>
                  <a:latin typeface="Times New Roman" panose="02020603050405020304" pitchFamily="18" charset="0"/>
                  <a:ea typeface="黑体" panose="02010609060101010101" pitchFamily="49" charset="-122"/>
                </a:endParaRPr>
              </a:p>
            </p:txBody>
          </p:sp>
          <p:sp>
            <p:nvSpPr>
              <p:cNvPr id="232" name="Rectangle 52"/>
              <p:cNvSpPr>
                <a:spLocks noChangeArrowheads="1"/>
              </p:cNvSpPr>
              <p:nvPr/>
            </p:nvSpPr>
            <p:spPr bwMode="auto">
              <a:xfrm>
                <a:off x="2164" y="2092"/>
                <a:ext cx="2633" cy="611"/>
              </a:xfrm>
              <a:prstGeom prst="rect">
                <a:avLst/>
              </a:prstGeom>
              <a:gradFill rotWithShape="1">
                <a:gsLst>
                  <a:gs pos="0">
                    <a:srgbClr val="CC9900"/>
                  </a:gs>
                  <a:gs pos="50000">
                    <a:srgbClr val="FFFF99"/>
                  </a:gs>
                  <a:gs pos="100000">
                    <a:srgbClr val="CC9900"/>
                  </a:gs>
                </a:gsLst>
                <a:lin ang="5400000" scaled="1"/>
              </a:gradFill>
              <a:ln w="38100">
                <a:solidFill>
                  <a:srgbClr val="000000"/>
                </a:solidFill>
                <a:miter lim="800000"/>
                <a:headEnd/>
                <a:tailEnd/>
              </a:ln>
            </p:spPr>
            <p:txBody>
              <a:bodyPr wrap="none" anchor="ct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FF"/>
                  </a:solidFill>
                  <a:effectLst/>
                  <a:uLnTx/>
                  <a:uFillTx/>
                  <a:latin typeface="Times New Roman" panose="02020603050405020304" pitchFamily="18" charset="0"/>
                  <a:ea typeface="黑体" panose="02010609060101010101" pitchFamily="49" charset="-122"/>
                </a:endParaRPr>
              </a:p>
            </p:txBody>
          </p:sp>
        </p:grpSp>
      </p:grpSp>
      <p:grpSp>
        <p:nvGrpSpPr>
          <p:cNvPr id="233" name="Group 60"/>
          <p:cNvGrpSpPr>
            <a:grpSpLocks/>
          </p:cNvGrpSpPr>
          <p:nvPr/>
        </p:nvGrpSpPr>
        <p:grpSpPr bwMode="auto">
          <a:xfrm>
            <a:off x="9835058" y="4515857"/>
            <a:ext cx="322263" cy="909638"/>
            <a:chOff x="2842" y="2841"/>
            <a:chExt cx="203" cy="573"/>
          </a:xfrm>
        </p:grpSpPr>
        <p:grpSp>
          <p:nvGrpSpPr>
            <p:cNvPr id="234" name="Group 61"/>
            <p:cNvGrpSpPr>
              <a:grpSpLocks/>
            </p:cNvGrpSpPr>
            <p:nvPr/>
          </p:nvGrpSpPr>
          <p:grpSpPr bwMode="auto">
            <a:xfrm>
              <a:off x="2842" y="2886"/>
              <a:ext cx="162" cy="527"/>
              <a:chOff x="2842" y="2886"/>
              <a:chExt cx="162" cy="527"/>
            </a:xfrm>
          </p:grpSpPr>
          <p:grpSp>
            <p:nvGrpSpPr>
              <p:cNvPr id="245" name="Group 62"/>
              <p:cNvGrpSpPr>
                <a:grpSpLocks/>
              </p:cNvGrpSpPr>
              <p:nvPr/>
            </p:nvGrpSpPr>
            <p:grpSpPr bwMode="auto">
              <a:xfrm>
                <a:off x="2842" y="2886"/>
                <a:ext cx="162" cy="346"/>
                <a:chOff x="3415" y="2634"/>
                <a:chExt cx="162" cy="320"/>
              </a:xfrm>
            </p:grpSpPr>
            <p:sp>
              <p:nvSpPr>
                <p:cNvPr id="248" name="Line 63"/>
                <p:cNvSpPr>
                  <a:spLocks noChangeAspect="1" noChangeShapeType="1"/>
                </p:cNvSpPr>
                <p:nvPr/>
              </p:nvSpPr>
              <p:spPr bwMode="auto">
                <a:xfrm>
                  <a:off x="3415" y="2634"/>
                  <a:ext cx="162" cy="0"/>
                </a:xfrm>
                <a:prstGeom prst="line">
                  <a:avLst/>
                </a:prstGeom>
                <a:noFill/>
                <a:ln w="22225">
                  <a:solidFill>
                    <a:srgbClr val="FF3300"/>
                  </a:solidFill>
                  <a:round/>
                  <a:headEnd/>
                  <a:tailEnd type="stealth" w="med" len="lg"/>
                </a:ln>
                <a:extLst>
                  <a:ext uri="{909E8E84-426E-40DD-AFC4-6F175D3DCCD1}">
                    <a14:hiddenFill xmlns:a14="http://schemas.microsoft.com/office/drawing/2010/main">
                      <a:noFill/>
                    </a14:hiddenFill>
                  </a:ext>
                </a:extLst>
              </p:spPr>
              <p:txBody>
                <a:bodyPr/>
                <a:lstStyle/>
                <a:p>
                  <a:pPr algn="ctr"/>
                  <a:endParaRPr kumimoji="1" lang="zh-CN" altLang="en-US" b="0" i="0">
                    <a:solidFill>
                      <a:srgbClr val="0000FF"/>
                    </a:solidFill>
                    <a:ea typeface="黑体" panose="02010609060101010101" pitchFamily="49" charset="-122"/>
                  </a:endParaRPr>
                </a:p>
              </p:txBody>
            </p:sp>
            <p:sp>
              <p:nvSpPr>
                <p:cNvPr id="249" name="Line 64"/>
                <p:cNvSpPr>
                  <a:spLocks noChangeAspect="1" noChangeShapeType="1"/>
                </p:cNvSpPr>
                <p:nvPr/>
              </p:nvSpPr>
              <p:spPr bwMode="auto">
                <a:xfrm>
                  <a:off x="3415" y="2708"/>
                  <a:ext cx="162" cy="0"/>
                </a:xfrm>
                <a:prstGeom prst="line">
                  <a:avLst/>
                </a:prstGeom>
                <a:noFill/>
                <a:ln w="22225">
                  <a:solidFill>
                    <a:srgbClr val="FF3300"/>
                  </a:solidFill>
                  <a:round/>
                  <a:headEnd/>
                  <a:tailEnd type="stealth" w="med" len="lg"/>
                </a:ln>
                <a:extLst>
                  <a:ext uri="{909E8E84-426E-40DD-AFC4-6F175D3DCCD1}">
                    <a14:hiddenFill xmlns:a14="http://schemas.microsoft.com/office/drawing/2010/main">
                      <a:noFill/>
                    </a14:hiddenFill>
                  </a:ext>
                </a:extLst>
              </p:spPr>
              <p:txBody>
                <a:bodyPr/>
                <a:lstStyle/>
                <a:p>
                  <a:pPr algn="ctr"/>
                  <a:endParaRPr kumimoji="1" lang="zh-CN" altLang="en-US" b="0" i="0">
                    <a:solidFill>
                      <a:srgbClr val="0000FF"/>
                    </a:solidFill>
                    <a:ea typeface="黑体" panose="02010609060101010101" pitchFamily="49" charset="-122"/>
                  </a:endParaRPr>
                </a:p>
              </p:txBody>
            </p:sp>
            <p:sp>
              <p:nvSpPr>
                <p:cNvPr id="250" name="Line 65"/>
                <p:cNvSpPr>
                  <a:spLocks noChangeAspect="1" noChangeShapeType="1"/>
                </p:cNvSpPr>
                <p:nvPr/>
              </p:nvSpPr>
              <p:spPr bwMode="auto">
                <a:xfrm>
                  <a:off x="3415" y="2788"/>
                  <a:ext cx="162" cy="0"/>
                </a:xfrm>
                <a:prstGeom prst="line">
                  <a:avLst/>
                </a:prstGeom>
                <a:noFill/>
                <a:ln w="22225">
                  <a:solidFill>
                    <a:srgbClr val="FF3300"/>
                  </a:solidFill>
                  <a:round/>
                  <a:headEnd/>
                  <a:tailEnd type="stealth" w="med" len="lg"/>
                </a:ln>
                <a:extLst>
                  <a:ext uri="{909E8E84-426E-40DD-AFC4-6F175D3DCCD1}">
                    <a14:hiddenFill xmlns:a14="http://schemas.microsoft.com/office/drawing/2010/main">
                      <a:noFill/>
                    </a14:hiddenFill>
                  </a:ext>
                </a:extLst>
              </p:spPr>
              <p:txBody>
                <a:bodyPr/>
                <a:lstStyle/>
                <a:p>
                  <a:pPr algn="ctr"/>
                  <a:endParaRPr kumimoji="1" lang="zh-CN" altLang="en-US" b="0" i="0">
                    <a:solidFill>
                      <a:srgbClr val="0000FF"/>
                    </a:solidFill>
                    <a:ea typeface="黑体" panose="02010609060101010101" pitchFamily="49" charset="-122"/>
                  </a:endParaRPr>
                </a:p>
              </p:txBody>
            </p:sp>
            <p:sp>
              <p:nvSpPr>
                <p:cNvPr id="251" name="Line 66"/>
                <p:cNvSpPr>
                  <a:spLocks noChangeAspect="1" noChangeShapeType="1"/>
                </p:cNvSpPr>
                <p:nvPr/>
              </p:nvSpPr>
              <p:spPr bwMode="auto">
                <a:xfrm>
                  <a:off x="3415" y="2868"/>
                  <a:ext cx="162" cy="0"/>
                </a:xfrm>
                <a:prstGeom prst="line">
                  <a:avLst/>
                </a:prstGeom>
                <a:noFill/>
                <a:ln w="22225">
                  <a:solidFill>
                    <a:srgbClr val="FF3300"/>
                  </a:solidFill>
                  <a:round/>
                  <a:headEnd/>
                  <a:tailEnd type="stealth" w="med" len="lg"/>
                </a:ln>
                <a:extLst>
                  <a:ext uri="{909E8E84-426E-40DD-AFC4-6F175D3DCCD1}">
                    <a14:hiddenFill xmlns:a14="http://schemas.microsoft.com/office/drawing/2010/main">
                      <a:noFill/>
                    </a14:hiddenFill>
                  </a:ext>
                </a:extLst>
              </p:spPr>
              <p:txBody>
                <a:bodyPr/>
                <a:lstStyle/>
                <a:p>
                  <a:pPr algn="ctr"/>
                  <a:endParaRPr kumimoji="1" lang="zh-CN" altLang="en-US" b="0" i="0">
                    <a:solidFill>
                      <a:srgbClr val="0000FF"/>
                    </a:solidFill>
                    <a:ea typeface="黑体" panose="02010609060101010101" pitchFamily="49" charset="-122"/>
                  </a:endParaRPr>
                </a:p>
              </p:txBody>
            </p:sp>
            <p:sp>
              <p:nvSpPr>
                <p:cNvPr id="252" name="Line 67"/>
                <p:cNvSpPr>
                  <a:spLocks noChangeAspect="1" noChangeShapeType="1"/>
                </p:cNvSpPr>
                <p:nvPr/>
              </p:nvSpPr>
              <p:spPr bwMode="auto">
                <a:xfrm>
                  <a:off x="3415" y="2954"/>
                  <a:ext cx="162" cy="0"/>
                </a:xfrm>
                <a:prstGeom prst="line">
                  <a:avLst/>
                </a:prstGeom>
                <a:noFill/>
                <a:ln w="22225">
                  <a:solidFill>
                    <a:srgbClr val="FF3300"/>
                  </a:solidFill>
                  <a:round/>
                  <a:headEnd/>
                  <a:tailEnd type="stealth" w="med" len="lg"/>
                </a:ln>
                <a:extLst>
                  <a:ext uri="{909E8E84-426E-40DD-AFC4-6F175D3DCCD1}">
                    <a14:hiddenFill xmlns:a14="http://schemas.microsoft.com/office/drawing/2010/main">
                      <a:noFill/>
                    </a14:hiddenFill>
                  </a:ext>
                </a:extLst>
              </p:spPr>
              <p:txBody>
                <a:bodyPr/>
                <a:lstStyle/>
                <a:p>
                  <a:pPr algn="ctr"/>
                  <a:endParaRPr kumimoji="1" lang="zh-CN" altLang="en-US" b="0" i="0">
                    <a:solidFill>
                      <a:srgbClr val="0000FF"/>
                    </a:solidFill>
                    <a:ea typeface="黑体" panose="02010609060101010101" pitchFamily="49" charset="-122"/>
                  </a:endParaRPr>
                </a:p>
              </p:txBody>
            </p:sp>
          </p:grpSp>
          <p:sp>
            <p:nvSpPr>
              <p:cNvPr id="246" name="Line 68"/>
              <p:cNvSpPr>
                <a:spLocks noChangeAspect="1" noChangeShapeType="1"/>
              </p:cNvSpPr>
              <p:nvPr/>
            </p:nvSpPr>
            <p:spPr bwMode="auto">
              <a:xfrm>
                <a:off x="2842" y="3317"/>
                <a:ext cx="162" cy="0"/>
              </a:xfrm>
              <a:prstGeom prst="line">
                <a:avLst/>
              </a:prstGeom>
              <a:noFill/>
              <a:ln w="22225">
                <a:solidFill>
                  <a:srgbClr val="FF3300"/>
                </a:solidFill>
                <a:round/>
                <a:headEnd/>
                <a:tailEnd type="stealth" w="med" len="lg"/>
              </a:ln>
              <a:extLst>
                <a:ext uri="{909E8E84-426E-40DD-AFC4-6F175D3DCCD1}">
                  <a14:hiddenFill xmlns:a14="http://schemas.microsoft.com/office/drawing/2010/main">
                    <a:noFill/>
                  </a14:hiddenFill>
                </a:ext>
              </a:extLst>
            </p:spPr>
            <p:txBody>
              <a:bodyPr/>
              <a:lstStyle/>
              <a:p>
                <a:pPr algn="ctr"/>
                <a:endParaRPr kumimoji="1" lang="zh-CN" altLang="en-US" b="0" i="0">
                  <a:solidFill>
                    <a:srgbClr val="0000FF"/>
                  </a:solidFill>
                  <a:ea typeface="黑体" panose="02010609060101010101" pitchFamily="49" charset="-122"/>
                </a:endParaRPr>
              </a:p>
            </p:txBody>
          </p:sp>
          <p:sp>
            <p:nvSpPr>
              <p:cNvPr id="247" name="Line 69"/>
              <p:cNvSpPr>
                <a:spLocks noChangeAspect="1" noChangeShapeType="1"/>
              </p:cNvSpPr>
              <p:nvPr/>
            </p:nvSpPr>
            <p:spPr bwMode="auto">
              <a:xfrm>
                <a:off x="2842" y="3413"/>
                <a:ext cx="162" cy="0"/>
              </a:xfrm>
              <a:prstGeom prst="line">
                <a:avLst/>
              </a:prstGeom>
              <a:noFill/>
              <a:ln w="22225">
                <a:solidFill>
                  <a:srgbClr val="FF3300"/>
                </a:solidFill>
                <a:round/>
                <a:headEnd/>
                <a:tailEnd type="stealth" w="med" len="lg"/>
              </a:ln>
              <a:extLst>
                <a:ext uri="{909E8E84-426E-40DD-AFC4-6F175D3DCCD1}">
                  <a14:hiddenFill xmlns:a14="http://schemas.microsoft.com/office/drawing/2010/main">
                    <a:noFill/>
                  </a14:hiddenFill>
                </a:ext>
              </a:extLst>
            </p:spPr>
            <p:txBody>
              <a:bodyPr/>
              <a:lstStyle/>
              <a:p>
                <a:pPr algn="ctr"/>
                <a:endParaRPr kumimoji="1" lang="zh-CN" altLang="en-US" b="0" i="0">
                  <a:solidFill>
                    <a:srgbClr val="0000FF"/>
                  </a:solidFill>
                  <a:ea typeface="黑体" panose="02010609060101010101" pitchFamily="49" charset="-122"/>
                </a:endParaRPr>
              </a:p>
            </p:txBody>
          </p:sp>
        </p:grpSp>
        <p:grpSp>
          <p:nvGrpSpPr>
            <p:cNvPr id="235" name="Group 70"/>
            <p:cNvGrpSpPr>
              <a:grpSpLocks/>
            </p:cNvGrpSpPr>
            <p:nvPr/>
          </p:nvGrpSpPr>
          <p:grpSpPr bwMode="auto">
            <a:xfrm>
              <a:off x="2879" y="2845"/>
              <a:ext cx="162" cy="509"/>
              <a:chOff x="2879" y="2845"/>
              <a:chExt cx="162" cy="509"/>
            </a:xfrm>
          </p:grpSpPr>
          <p:grpSp>
            <p:nvGrpSpPr>
              <p:cNvPr id="237" name="Group 71"/>
              <p:cNvGrpSpPr>
                <a:grpSpLocks/>
              </p:cNvGrpSpPr>
              <p:nvPr/>
            </p:nvGrpSpPr>
            <p:grpSpPr bwMode="auto">
              <a:xfrm>
                <a:off x="2879" y="2845"/>
                <a:ext cx="162" cy="334"/>
                <a:chOff x="3415" y="2634"/>
                <a:chExt cx="162" cy="320"/>
              </a:xfrm>
            </p:grpSpPr>
            <p:sp>
              <p:nvSpPr>
                <p:cNvPr id="240" name="Line 72"/>
                <p:cNvSpPr>
                  <a:spLocks noChangeAspect="1" noChangeShapeType="1"/>
                </p:cNvSpPr>
                <p:nvPr/>
              </p:nvSpPr>
              <p:spPr bwMode="auto">
                <a:xfrm>
                  <a:off x="3415" y="2634"/>
                  <a:ext cx="162" cy="0"/>
                </a:xfrm>
                <a:prstGeom prst="line">
                  <a:avLst/>
                </a:prstGeom>
                <a:noFill/>
                <a:ln w="22225">
                  <a:solidFill>
                    <a:srgbClr val="FF3300"/>
                  </a:solidFill>
                  <a:round/>
                  <a:headEnd/>
                  <a:tailEnd type="stealth" w="med" len="lg"/>
                </a:ln>
                <a:extLst>
                  <a:ext uri="{909E8E84-426E-40DD-AFC4-6F175D3DCCD1}">
                    <a14:hiddenFill xmlns:a14="http://schemas.microsoft.com/office/drawing/2010/main">
                      <a:noFill/>
                    </a14:hiddenFill>
                  </a:ext>
                </a:extLst>
              </p:spPr>
              <p:txBody>
                <a:bodyPr/>
                <a:lstStyle/>
                <a:p>
                  <a:pPr algn="ctr"/>
                  <a:endParaRPr kumimoji="1" lang="zh-CN" altLang="en-US" b="0" i="0">
                    <a:solidFill>
                      <a:srgbClr val="0000FF"/>
                    </a:solidFill>
                    <a:ea typeface="黑体" panose="02010609060101010101" pitchFamily="49" charset="-122"/>
                  </a:endParaRPr>
                </a:p>
              </p:txBody>
            </p:sp>
            <p:sp>
              <p:nvSpPr>
                <p:cNvPr id="241" name="Line 73"/>
                <p:cNvSpPr>
                  <a:spLocks noChangeAspect="1" noChangeShapeType="1"/>
                </p:cNvSpPr>
                <p:nvPr/>
              </p:nvSpPr>
              <p:spPr bwMode="auto">
                <a:xfrm>
                  <a:off x="3415" y="2708"/>
                  <a:ext cx="162" cy="0"/>
                </a:xfrm>
                <a:prstGeom prst="line">
                  <a:avLst/>
                </a:prstGeom>
                <a:noFill/>
                <a:ln w="22225">
                  <a:solidFill>
                    <a:srgbClr val="FF3300"/>
                  </a:solidFill>
                  <a:round/>
                  <a:headEnd/>
                  <a:tailEnd type="stealth" w="med" len="lg"/>
                </a:ln>
                <a:extLst>
                  <a:ext uri="{909E8E84-426E-40DD-AFC4-6F175D3DCCD1}">
                    <a14:hiddenFill xmlns:a14="http://schemas.microsoft.com/office/drawing/2010/main">
                      <a:noFill/>
                    </a14:hiddenFill>
                  </a:ext>
                </a:extLst>
              </p:spPr>
              <p:txBody>
                <a:bodyPr/>
                <a:lstStyle/>
                <a:p>
                  <a:pPr algn="ctr"/>
                  <a:endParaRPr kumimoji="1" lang="zh-CN" altLang="en-US" b="0" i="0">
                    <a:solidFill>
                      <a:srgbClr val="0000FF"/>
                    </a:solidFill>
                    <a:ea typeface="黑体" panose="02010609060101010101" pitchFamily="49" charset="-122"/>
                  </a:endParaRPr>
                </a:p>
              </p:txBody>
            </p:sp>
            <p:sp>
              <p:nvSpPr>
                <p:cNvPr id="242" name="Line 74"/>
                <p:cNvSpPr>
                  <a:spLocks noChangeAspect="1" noChangeShapeType="1"/>
                </p:cNvSpPr>
                <p:nvPr/>
              </p:nvSpPr>
              <p:spPr bwMode="auto">
                <a:xfrm>
                  <a:off x="3415" y="2788"/>
                  <a:ext cx="162" cy="0"/>
                </a:xfrm>
                <a:prstGeom prst="line">
                  <a:avLst/>
                </a:prstGeom>
                <a:noFill/>
                <a:ln w="22225">
                  <a:solidFill>
                    <a:srgbClr val="FF3300"/>
                  </a:solidFill>
                  <a:round/>
                  <a:headEnd/>
                  <a:tailEnd type="stealth" w="med" len="lg"/>
                </a:ln>
                <a:extLst>
                  <a:ext uri="{909E8E84-426E-40DD-AFC4-6F175D3DCCD1}">
                    <a14:hiddenFill xmlns:a14="http://schemas.microsoft.com/office/drawing/2010/main">
                      <a:noFill/>
                    </a14:hiddenFill>
                  </a:ext>
                </a:extLst>
              </p:spPr>
              <p:txBody>
                <a:bodyPr/>
                <a:lstStyle/>
                <a:p>
                  <a:pPr algn="ctr"/>
                  <a:endParaRPr kumimoji="1" lang="zh-CN" altLang="en-US" b="0" i="0">
                    <a:solidFill>
                      <a:srgbClr val="0000FF"/>
                    </a:solidFill>
                    <a:ea typeface="黑体" panose="02010609060101010101" pitchFamily="49" charset="-122"/>
                  </a:endParaRPr>
                </a:p>
              </p:txBody>
            </p:sp>
            <p:sp>
              <p:nvSpPr>
                <p:cNvPr id="243" name="Line 75"/>
                <p:cNvSpPr>
                  <a:spLocks noChangeAspect="1" noChangeShapeType="1"/>
                </p:cNvSpPr>
                <p:nvPr/>
              </p:nvSpPr>
              <p:spPr bwMode="auto">
                <a:xfrm>
                  <a:off x="3415" y="2868"/>
                  <a:ext cx="162" cy="0"/>
                </a:xfrm>
                <a:prstGeom prst="line">
                  <a:avLst/>
                </a:prstGeom>
                <a:noFill/>
                <a:ln w="22225">
                  <a:solidFill>
                    <a:srgbClr val="FF3300"/>
                  </a:solidFill>
                  <a:round/>
                  <a:headEnd/>
                  <a:tailEnd type="stealth" w="med" len="lg"/>
                </a:ln>
                <a:extLst>
                  <a:ext uri="{909E8E84-426E-40DD-AFC4-6F175D3DCCD1}">
                    <a14:hiddenFill xmlns:a14="http://schemas.microsoft.com/office/drawing/2010/main">
                      <a:noFill/>
                    </a14:hiddenFill>
                  </a:ext>
                </a:extLst>
              </p:spPr>
              <p:txBody>
                <a:bodyPr/>
                <a:lstStyle/>
                <a:p>
                  <a:pPr algn="ctr"/>
                  <a:endParaRPr kumimoji="1" lang="zh-CN" altLang="en-US" b="0" i="0">
                    <a:solidFill>
                      <a:srgbClr val="0000FF"/>
                    </a:solidFill>
                    <a:ea typeface="黑体" panose="02010609060101010101" pitchFamily="49" charset="-122"/>
                  </a:endParaRPr>
                </a:p>
              </p:txBody>
            </p:sp>
            <p:sp>
              <p:nvSpPr>
                <p:cNvPr id="244" name="Line 76"/>
                <p:cNvSpPr>
                  <a:spLocks noChangeAspect="1" noChangeShapeType="1"/>
                </p:cNvSpPr>
                <p:nvPr/>
              </p:nvSpPr>
              <p:spPr bwMode="auto">
                <a:xfrm>
                  <a:off x="3415" y="2954"/>
                  <a:ext cx="162" cy="0"/>
                </a:xfrm>
                <a:prstGeom prst="line">
                  <a:avLst/>
                </a:prstGeom>
                <a:noFill/>
                <a:ln w="22225">
                  <a:solidFill>
                    <a:srgbClr val="FF3300"/>
                  </a:solidFill>
                  <a:round/>
                  <a:headEnd/>
                  <a:tailEnd type="stealth" w="med" len="lg"/>
                </a:ln>
                <a:extLst>
                  <a:ext uri="{909E8E84-426E-40DD-AFC4-6F175D3DCCD1}">
                    <a14:hiddenFill xmlns:a14="http://schemas.microsoft.com/office/drawing/2010/main">
                      <a:noFill/>
                    </a14:hiddenFill>
                  </a:ext>
                </a:extLst>
              </p:spPr>
              <p:txBody>
                <a:bodyPr/>
                <a:lstStyle/>
                <a:p>
                  <a:pPr algn="ctr"/>
                  <a:endParaRPr kumimoji="1" lang="zh-CN" altLang="en-US" b="0" i="0">
                    <a:solidFill>
                      <a:srgbClr val="0000FF"/>
                    </a:solidFill>
                    <a:ea typeface="黑体" panose="02010609060101010101" pitchFamily="49" charset="-122"/>
                  </a:endParaRPr>
                </a:p>
              </p:txBody>
            </p:sp>
          </p:grpSp>
          <p:sp>
            <p:nvSpPr>
              <p:cNvPr id="238" name="Line 77"/>
              <p:cNvSpPr>
                <a:spLocks noChangeAspect="1" noChangeShapeType="1"/>
              </p:cNvSpPr>
              <p:nvPr/>
            </p:nvSpPr>
            <p:spPr bwMode="auto">
              <a:xfrm>
                <a:off x="2879" y="3261"/>
                <a:ext cx="162" cy="0"/>
              </a:xfrm>
              <a:prstGeom prst="line">
                <a:avLst/>
              </a:prstGeom>
              <a:noFill/>
              <a:ln w="22225">
                <a:solidFill>
                  <a:srgbClr val="FF3300"/>
                </a:solidFill>
                <a:round/>
                <a:headEnd/>
                <a:tailEnd type="stealth" w="med" len="lg"/>
              </a:ln>
              <a:extLst>
                <a:ext uri="{909E8E84-426E-40DD-AFC4-6F175D3DCCD1}">
                  <a14:hiddenFill xmlns:a14="http://schemas.microsoft.com/office/drawing/2010/main">
                    <a:noFill/>
                  </a14:hiddenFill>
                </a:ext>
              </a:extLst>
            </p:spPr>
            <p:txBody>
              <a:bodyPr/>
              <a:lstStyle/>
              <a:p>
                <a:pPr algn="ctr"/>
                <a:endParaRPr kumimoji="1" lang="zh-CN" altLang="en-US" b="0" i="0">
                  <a:solidFill>
                    <a:srgbClr val="0000FF"/>
                  </a:solidFill>
                  <a:ea typeface="黑体" panose="02010609060101010101" pitchFamily="49" charset="-122"/>
                </a:endParaRPr>
              </a:p>
            </p:txBody>
          </p:sp>
          <p:sp>
            <p:nvSpPr>
              <p:cNvPr id="239" name="Line 78"/>
              <p:cNvSpPr>
                <a:spLocks noChangeAspect="1" noChangeShapeType="1"/>
              </p:cNvSpPr>
              <p:nvPr/>
            </p:nvSpPr>
            <p:spPr bwMode="auto">
              <a:xfrm>
                <a:off x="2879" y="3354"/>
                <a:ext cx="162" cy="0"/>
              </a:xfrm>
              <a:prstGeom prst="line">
                <a:avLst/>
              </a:prstGeom>
              <a:noFill/>
              <a:ln w="22225">
                <a:solidFill>
                  <a:srgbClr val="FF3300"/>
                </a:solidFill>
                <a:round/>
                <a:headEnd/>
                <a:tailEnd type="stealth" w="med" len="lg"/>
              </a:ln>
              <a:extLst>
                <a:ext uri="{909E8E84-426E-40DD-AFC4-6F175D3DCCD1}">
                  <a14:hiddenFill xmlns:a14="http://schemas.microsoft.com/office/drawing/2010/main">
                    <a:noFill/>
                  </a14:hiddenFill>
                </a:ext>
              </a:extLst>
            </p:spPr>
            <p:txBody>
              <a:bodyPr/>
              <a:lstStyle/>
              <a:p>
                <a:pPr algn="ctr"/>
                <a:endParaRPr kumimoji="1" lang="zh-CN" altLang="en-US" b="0" i="0">
                  <a:solidFill>
                    <a:srgbClr val="0000FF"/>
                  </a:solidFill>
                  <a:ea typeface="黑体" panose="02010609060101010101" pitchFamily="49" charset="-122"/>
                </a:endParaRPr>
              </a:p>
            </p:txBody>
          </p:sp>
        </p:grpSp>
        <p:sp>
          <p:nvSpPr>
            <p:cNvPr id="236" name="Freeform 79"/>
            <p:cNvSpPr>
              <a:spLocks/>
            </p:cNvSpPr>
            <p:nvPr/>
          </p:nvSpPr>
          <p:spPr bwMode="auto">
            <a:xfrm>
              <a:off x="2997" y="2841"/>
              <a:ext cx="48" cy="573"/>
            </a:xfrm>
            <a:custGeom>
              <a:avLst/>
              <a:gdLst>
                <a:gd name="T0" fmla="*/ 45 w 48"/>
                <a:gd name="T1" fmla="*/ 0 h 573"/>
                <a:gd name="T2" fmla="*/ 48 w 48"/>
                <a:gd name="T3" fmla="*/ 519 h 573"/>
                <a:gd name="T4" fmla="*/ 0 w 48"/>
                <a:gd name="T5" fmla="*/ 573 h 573"/>
                <a:gd name="T6" fmla="*/ 3 w 48"/>
                <a:gd name="T7" fmla="*/ 45 h 573"/>
                <a:gd name="T8" fmla="*/ 45 w 48"/>
                <a:gd name="T9" fmla="*/ 0 h 573"/>
                <a:gd name="T10" fmla="*/ 0 60000 65536"/>
                <a:gd name="T11" fmla="*/ 0 60000 65536"/>
                <a:gd name="T12" fmla="*/ 0 60000 65536"/>
                <a:gd name="T13" fmla="*/ 0 60000 65536"/>
                <a:gd name="T14" fmla="*/ 0 60000 65536"/>
                <a:gd name="T15" fmla="*/ 0 w 48"/>
                <a:gd name="T16" fmla="*/ 0 h 573"/>
                <a:gd name="T17" fmla="*/ 48 w 48"/>
                <a:gd name="T18" fmla="*/ 573 h 573"/>
              </a:gdLst>
              <a:ahLst/>
              <a:cxnLst>
                <a:cxn ang="T10">
                  <a:pos x="T0" y="T1"/>
                </a:cxn>
                <a:cxn ang="T11">
                  <a:pos x="T2" y="T3"/>
                </a:cxn>
                <a:cxn ang="T12">
                  <a:pos x="T4" y="T5"/>
                </a:cxn>
                <a:cxn ang="T13">
                  <a:pos x="T6" y="T7"/>
                </a:cxn>
                <a:cxn ang="T14">
                  <a:pos x="T8" y="T9"/>
                </a:cxn>
              </a:cxnLst>
              <a:rect l="T15" t="T16" r="T17" b="T18"/>
              <a:pathLst>
                <a:path w="48" h="573">
                  <a:moveTo>
                    <a:pt x="45" y="0"/>
                  </a:moveTo>
                  <a:lnTo>
                    <a:pt x="48" y="519"/>
                  </a:lnTo>
                  <a:lnTo>
                    <a:pt x="0" y="573"/>
                  </a:lnTo>
                  <a:lnTo>
                    <a:pt x="3" y="45"/>
                  </a:lnTo>
                  <a:lnTo>
                    <a:pt x="45" y="0"/>
                  </a:lnTo>
                  <a:close/>
                </a:path>
              </a:pathLst>
            </a:cu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pPr algn="ctr"/>
              <a:endParaRPr kumimoji="1" lang="zh-CN" altLang="en-US" b="0" i="0">
                <a:solidFill>
                  <a:srgbClr val="0000FF"/>
                </a:solidFill>
                <a:ea typeface="黑体" panose="02010609060101010101" pitchFamily="49" charset="-122"/>
              </a:endParaRPr>
            </a:p>
          </p:txBody>
        </p:sp>
      </p:grpSp>
      <p:graphicFrame>
        <p:nvGraphicFramePr>
          <p:cNvPr id="253" name="Object 19"/>
          <p:cNvGraphicFramePr>
            <a:graphicFrameLocks noChangeAspect="1"/>
          </p:cNvGraphicFramePr>
          <p:nvPr>
            <p:extLst>
              <p:ext uri="{D42A27DB-BD31-4B8C-83A1-F6EECF244321}">
                <p14:modId xmlns:p14="http://schemas.microsoft.com/office/powerpoint/2010/main" val="3822348875"/>
              </p:ext>
            </p:extLst>
          </p:nvPr>
        </p:nvGraphicFramePr>
        <p:xfrm>
          <a:off x="2623102" y="5187584"/>
          <a:ext cx="1285980" cy="972038"/>
        </p:xfrm>
        <a:graphic>
          <a:graphicData uri="http://schemas.openxmlformats.org/presentationml/2006/ole">
            <mc:AlternateContent xmlns:mc="http://schemas.openxmlformats.org/markup-compatibility/2006">
              <mc:Choice xmlns:v="urn:schemas-microsoft-com:vml" Requires="v">
                <p:oleObj name="公式" r:id="rId5" imgW="507960" imgH="393480" progId="Equation.3">
                  <p:embed/>
                </p:oleObj>
              </mc:Choice>
              <mc:Fallback>
                <p:oleObj name="公式" r:id="rId5" imgW="507960" imgH="393480" progId="Equation.3">
                  <p:embed/>
                  <p:pic>
                    <p:nvPicPr>
                      <p:cNvPr id="253" name="Object 1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23102" y="5187584"/>
                        <a:ext cx="1285980" cy="972038"/>
                      </a:xfrm>
                      <a:prstGeom prst="rect">
                        <a:avLst/>
                      </a:prstGeom>
                      <a:noFill/>
                      <a:ln>
                        <a:noFill/>
                      </a:ln>
                    </p:spPr>
                  </p:pic>
                </p:oleObj>
              </mc:Fallback>
            </mc:AlternateContent>
          </a:graphicData>
        </a:graphic>
      </p:graphicFrame>
      <p:sp>
        <p:nvSpPr>
          <p:cNvPr id="254" name="Text Box 1032"/>
          <p:cNvSpPr txBox="1">
            <a:spLocks noChangeArrowheads="1"/>
          </p:cNvSpPr>
          <p:nvPr/>
        </p:nvSpPr>
        <p:spPr bwMode="auto">
          <a:xfrm>
            <a:off x="1297622" y="5415695"/>
            <a:ext cx="1534762" cy="566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10000"/>
              </a:lnSpc>
            </a:pPr>
            <a:r>
              <a:rPr lang="zh-CN" altLang="en-US" sz="2800" i="0" dirty="0">
                <a:latin typeface="+mn-lt"/>
                <a:ea typeface="微软雅黑" panose="020B0503020204020204" pitchFamily="34" charset="-122"/>
              </a:rPr>
              <a:t>正应力</a:t>
            </a:r>
          </a:p>
        </p:txBody>
      </p:sp>
    </p:spTree>
    <p:extLst>
      <p:ext uri="{BB962C8B-B14F-4D97-AF65-F5344CB8AC3E}">
        <p14:creationId xmlns:p14="http://schemas.microsoft.com/office/powerpoint/2010/main" val="1940506574"/>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5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6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499"/>
                                          </p:stCondLst>
                                        </p:cTn>
                                        <p:tgtEl>
                                          <p:spTgt spid="20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2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2" presetClass="entr" presetSubtype="8" fill="hold" nodeType="clickEffect">
                                  <p:stCondLst>
                                    <p:cond delay="0"/>
                                  </p:stCondLst>
                                  <p:childTnLst>
                                    <p:set>
                                      <p:cBhvr>
                                        <p:cTn id="30" dur="1" fill="hold">
                                          <p:stCondLst>
                                            <p:cond delay="0"/>
                                          </p:stCondLst>
                                        </p:cTn>
                                        <p:tgtEl>
                                          <p:spTgt spid="233"/>
                                        </p:tgtEl>
                                        <p:attrNameLst>
                                          <p:attrName>style.visibility</p:attrName>
                                        </p:attrNameLst>
                                      </p:cBhvr>
                                      <p:to>
                                        <p:strVal val="visible"/>
                                      </p:to>
                                    </p:set>
                                    <p:animEffect transition="in" filter="slide(fromLeft)">
                                      <p:cBhvr>
                                        <p:cTn id="31" dur="5000"/>
                                        <p:tgtEl>
                                          <p:spTgt spid="233"/>
                                        </p:tgtEl>
                                      </p:cBhvr>
                                    </p:animEffect>
                                  </p:childTnLst>
                                </p:cTn>
                              </p:par>
                              <p:par>
                                <p:cTn id="32" presetID="19" presetClass="entr" presetSubtype="10" fill="hold" grpId="0" nodeType="withEffect">
                                  <p:stCondLst>
                                    <p:cond delay="0"/>
                                  </p:stCondLst>
                                  <p:childTnLst>
                                    <p:set>
                                      <p:cBhvr>
                                        <p:cTn id="33" dur="1" fill="hold">
                                          <p:stCondLst>
                                            <p:cond delay="0"/>
                                          </p:stCondLst>
                                        </p:cTn>
                                        <p:tgtEl>
                                          <p:spTgt spid="224"/>
                                        </p:tgtEl>
                                        <p:attrNameLst>
                                          <p:attrName>style.visibility</p:attrName>
                                        </p:attrNameLst>
                                      </p:cBhvr>
                                      <p:to>
                                        <p:strVal val="visible"/>
                                      </p:to>
                                    </p:set>
                                    <p:anim calcmode="lin" valueType="num">
                                      <p:cBhvr>
                                        <p:cTn id="34" dur="5000" fill="hold"/>
                                        <p:tgtEl>
                                          <p:spTgt spid="224"/>
                                        </p:tgtEl>
                                        <p:attrNameLst>
                                          <p:attrName>ppt_w</p:attrName>
                                        </p:attrNameLst>
                                      </p:cBhvr>
                                      <p:tavLst>
                                        <p:tav tm="0" fmla="#ppt_w*sin(2.5*pi*$)">
                                          <p:val>
                                            <p:fltVal val="0"/>
                                          </p:val>
                                        </p:tav>
                                        <p:tav tm="100000">
                                          <p:val>
                                            <p:fltVal val="1"/>
                                          </p:val>
                                        </p:tav>
                                      </p:tavLst>
                                    </p:anim>
                                    <p:anim calcmode="lin" valueType="num">
                                      <p:cBhvr>
                                        <p:cTn id="35" dur="5000" fill="hold"/>
                                        <p:tgtEl>
                                          <p:spTgt spid="224"/>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2"/>
                                            </p:cond>
                                          </p:stCondLst>
                                          <p:endCondLst>
                                            <p:cond evt="onStopAudio" delay="0">
                                              <p:tgtEl>
                                                <p:sldTgt/>
                                              </p:tgtEl>
                                            </p:cond>
                                          </p:endCondLst>
                                        </p:cTn>
                                        <p:tgtEl>
                                          <p:sndTgt r:embed="rId3" name="LASER.WAV"/>
                                        </p:tgtEl>
                                      </p:cMediaNode>
                                    </p:audio>
                                  </p:subTnLst>
                                </p:cTn>
                              </p:par>
                            </p:childTnLst>
                          </p:cTn>
                        </p:par>
                      </p:childTnLst>
                    </p:cTn>
                  </p:par>
                  <p:par>
                    <p:cTn id="36" fill="hold">
                      <p:stCondLst>
                        <p:cond delay="indefinite"/>
                      </p:stCondLst>
                      <p:childTnLst>
                        <p:par>
                          <p:cTn id="37" fill="hold">
                            <p:stCondLst>
                              <p:cond delay="0"/>
                            </p:stCondLst>
                            <p:childTnLst>
                              <p:par>
                                <p:cTn id="38" presetID="16" presetClass="entr" presetSubtype="26" fill="hold" grpId="0" nodeType="clickEffect">
                                  <p:stCondLst>
                                    <p:cond delay="0"/>
                                  </p:stCondLst>
                                  <p:childTnLst>
                                    <p:set>
                                      <p:cBhvr>
                                        <p:cTn id="39" dur="1" fill="hold">
                                          <p:stCondLst>
                                            <p:cond delay="0"/>
                                          </p:stCondLst>
                                        </p:cTn>
                                        <p:tgtEl>
                                          <p:spTgt spid="225"/>
                                        </p:tgtEl>
                                        <p:attrNameLst>
                                          <p:attrName>style.visibility</p:attrName>
                                        </p:attrNameLst>
                                      </p:cBhvr>
                                      <p:to>
                                        <p:strVal val="visible"/>
                                      </p:to>
                                    </p:set>
                                    <p:animEffect transition="in" filter="barn(inHorizontal)">
                                      <p:cBhvr>
                                        <p:cTn id="40" dur="3000"/>
                                        <p:tgtEl>
                                          <p:spTgt spid="225"/>
                                        </p:tgtEl>
                                      </p:cBhvr>
                                    </p:animEffect>
                                  </p:childTnLst>
                                  <p:subTnLst>
                                    <p:audio>
                                      <p:cMediaNode>
                                        <p:cTn display="0" masterRel="sameClick">
                                          <p:stCondLst>
                                            <p:cond evt="begin" delay="0">
                                              <p:tn val="38"/>
                                            </p:cond>
                                          </p:stCondLst>
                                          <p:endCondLst>
                                            <p:cond evt="onStopAudio" delay="0">
                                              <p:tgtEl>
                                                <p:sldTgt/>
                                              </p:tgtEl>
                                            </p:cond>
                                          </p:endCondLst>
                                        </p:cTn>
                                        <p:tgtEl>
                                          <p:sndTgt r:embed="rId4" name="CAMERA.WAV"/>
                                        </p:tgtEl>
                                      </p:cMediaNode>
                                    </p:audio>
                                  </p:subTnLst>
                                </p:cTn>
                              </p:par>
                            </p:childTnLst>
                          </p:cTn>
                        </p:par>
                        <p:par>
                          <p:cTn id="41" fill="hold">
                            <p:stCondLst>
                              <p:cond delay="3000"/>
                            </p:stCondLst>
                            <p:childTnLst>
                              <p:par>
                                <p:cTn id="42" presetID="17" presetClass="entr" presetSubtype="8" fill="hold" grpId="0" nodeType="afterEffect">
                                  <p:stCondLst>
                                    <p:cond delay="1000"/>
                                  </p:stCondLst>
                                  <p:childTnLst>
                                    <p:set>
                                      <p:cBhvr>
                                        <p:cTn id="43" dur="1" fill="hold">
                                          <p:stCondLst>
                                            <p:cond delay="0"/>
                                          </p:stCondLst>
                                        </p:cTn>
                                        <p:tgtEl>
                                          <p:spTgt spid="223"/>
                                        </p:tgtEl>
                                        <p:attrNameLst>
                                          <p:attrName>style.visibility</p:attrName>
                                        </p:attrNameLst>
                                      </p:cBhvr>
                                      <p:to>
                                        <p:strVal val="visible"/>
                                      </p:to>
                                    </p:set>
                                    <p:anim calcmode="lin" valueType="num">
                                      <p:cBhvr>
                                        <p:cTn id="44" dur="3000" fill="hold"/>
                                        <p:tgtEl>
                                          <p:spTgt spid="223"/>
                                        </p:tgtEl>
                                        <p:attrNameLst>
                                          <p:attrName>ppt_x</p:attrName>
                                        </p:attrNameLst>
                                      </p:cBhvr>
                                      <p:tavLst>
                                        <p:tav tm="0">
                                          <p:val>
                                            <p:strVal val="#ppt_x-#ppt_w/2"/>
                                          </p:val>
                                        </p:tav>
                                        <p:tav tm="100000">
                                          <p:val>
                                            <p:strVal val="#ppt_x"/>
                                          </p:val>
                                        </p:tav>
                                      </p:tavLst>
                                    </p:anim>
                                    <p:anim calcmode="lin" valueType="num">
                                      <p:cBhvr>
                                        <p:cTn id="45" dur="3000" fill="hold"/>
                                        <p:tgtEl>
                                          <p:spTgt spid="223"/>
                                        </p:tgtEl>
                                        <p:attrNameLst>
                                          <p:attrName>ppt_y</p:attrName>
                                        </p:attrNameLst>
                                      </p:cBhvr>
                                      <p:tavLst>
                                        <p:tav tm="0">
                                          <p:val>
                                            <p:strVal val="#ppt_y"/>
                                          </p:val>
                                        </p:tav>
                                        <p:tav tm="100000">
                                          <p:val>
                                            <p:strVal val="#ppt_y"/>
                                          </p:val>
                                        </p:tav>
                                      </p:tavLst>
                                    </p:anim>
                                    <p:anim calcmode="lin" valueType="num">
                                      <p:cBhvr>
                                        <p:cTn id="46" dur="3000" fill="hold"/>
                                        <p:tgtEl>
                                          <p:spTgt spid="223"/>
                                        </p:tgtEl>
                                        <p:attrNameLst>
                                          <p:attrName>ppt_w</p:attrName>
                                        </p:attrNameLst>
                                      </p:cBhvr>
                                      <p:tavLst>
                                        <p:tav tm="0">
                                          <p:val>
                                            <p:fltVal val="0"/>
                                          </p:val>
                                        </p:tav>
                                        <p:tav tm="100000">
                                          <p:val>
                                            <p:strVal val="#ppt_w"/>
                                          </p:val>
                                        </p:tav>
                                      </p:tavLst>
                                    </p:anim>
                                    <p:anim calcmode="lin" valueType="num">
                                      <p:cBhvr>
                                        <p:cTn id="47" dur="3000" fill="hold"/>
                                        <p:tgtEl>
                                          <p:spTgt spid="223"/>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42"/>
                                            </p:cond>
                                          </p:stCondLst>
                                          <p:endCondLst>
                                            <p:cond evt="onStopAudio" delay="0">
                                              <p:tgtEl>
                                                <p:sldTgt/>
                                              </p:tgtEl>
                                            </p:cond>
                                          </p:endCondLst>
                                        </p:cTn>
                                        <p:tgtEl>
                                          <p:sndTgt r:embed="rId4" name="CAMERA.WAV"/>
                                        </p:tgtEl>
                                      </p:cMediaNode>
                                    </p:audio>
                                  </p:subTnLst>
                                </p:cTn>
                              </p:par>
                            </p:childTnLst>
                          </p:cTn>
                        </p:par>
                        <p:par>
                          <p:cTn id="48" fill="hold">
                            <p:stCondLst>
                              <p:cond delay="7000"/>
                            </p:stCondLst>
                            <p:childTnLst>
                              <p:par>
                                <p:cTn id="49" presetID="19" presetClass="entr" presetSubtype="10" fill="hold" grpId="0" nodeType="afterEffect">
                                  <p:stCondLst>
                                    <p:cond delay="1000"/>
                                  </p:stCondLst>
                                  <p:childTnLst>
                                    <p:set>
                                      <p:cBhvr>
                                        <p:cTn id="50" dur="1" fill="hold">
                                          <p:stCondLst>
                                            <p:cond delay="0"/>
                                          </p:stCondLst>
                                        </p:cTn>
                                        <p:tgtEl>
                                          <p:spTgt spid="222"/>
                                        </p:tgtEl>
                                        <p:attrNameLst>
                                          <p:attrName>style.visibility</p:attrName>
                                        </p:attrNameLst>
                                      </p:cBhvr>
                                      <p:to>
                                        <p:strVal val="visible"/>
                                      </p:to>
                                    </p:set>
                                    <p:anim calcmode="lin" valueType="num">
                                      <p:cBhvr>
                                        <p:cTn id="51" dur="5000" fill="hold"/>
                                        <p:tgtEl>
                                          <p:spTgt spid="222"/>
                                        </p:tgtEl>
                                        <p:attrNameLst>
                                          <p:attrName>ppt_w</p:attrName>
                                        </p:attrNameLst>
                                      </p:cBhvr>
                                      <p:tavLst>
                                        <p:tav tm="0" fmla="#ppt_w*sin(2.5*pi*$)">
                                          <p:val>
                                            <p:fltVal val="0"/>
                                          </p:val>
                                        </p:tav>
                                        <p:tav tm="100000">
                                          <p:val>
                                            <p:fltVal val="1"/>
                                          </p:val>
                                        </p:tav>
                                      </p:tavLst>
                                    </p:anim>
                                    <p:anim calcmode="lin" valueType="num">
                                      <p:cBhvr>
                                        <p:cTn id="52" dur="5000" fill="hold"/>
                                        <p:tgtEl>
                                          <p:spTgt spid="222"/>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49"/>
                                            </p:cond>
                                          </p:stCondLst>
                                          <p:endCondLst>
                                            <p:cond evt="onStopAudio" delay="0">
                                              <p:tgtEl>
                                                <p:sldTgt/>
                                              </p:tgtEl>
                                            </p:cond>
                                          </p:endCondLst>
                                        </p:cTn>
                                        <p:tgtEl>
                                          <p:sndTgt r:embed="rId4" name="CAMERA.WAV"/>
                                        </p:tgtEl>
                                      </p:cMediaNode>
                                    </p:audio>
                                  </p:sub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499"/>
                                          </p:stCondLst>
                                        </p:cTn>
                                        <p:tgtEl>
                                          <p:spTgt spid="254"/>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nodeType="clickEffect">
                                  <p:stCondLst>
                                    <p:cond delay="0"/>
                                  </p:stCondLst>
                                  <p:childTnLst>
                                    <p:set>
                                      <p:cBhvr>
                                        <p:cTn id="60" dur="1" fill="hold">
                                          <p:stCondLst>
                                            <p:cond delay="0"/>
                                          </p:stCondLst>
                                        </p:cTn>
                                        <p:tgtEl>
                                          <p:spTgt spid="253"/>
                                        </p:tgtEl>
                                        <p:attrNameLst>
                                          <p:attrName>style.visibility</p:attrName>
                                        </p:attrNameLst>
                                      </p:cBhvr>
                                      <p:to>
                                        <p:strVal val="visible"/>
                                      </p:to>
                                    </p:set>
                                    <p:animEffect transition="in" filter="wipe(left)">
                                      <p:cBhvr>
                                        <p:cTn id="61" dur="5000"/>
                                        <p:tgtEl>
                                          <p:spTgt spid="253"/>
                                        </p:tgtEl>
                                      </p:cBhvr>
                                    </p:animEffect>
                                  </p:childTnLst>
                                  <p:subTnLst>
                                    <p:audio>
                                      <p:cMediaNode>
                                        <p:cTn display="0" masterRel="sameClick">
                                          <p:stCondLst>
                                            <p:cond evt="begin" delay="0">
                                              <p:tn val="59"/>
                                            </p:cond>
                                          </p:stCondLst>
                                          <p:endCondLst>
                                            <p:cond evt="onStopAudio" delay="0">
                                              <p:tgtEl>
                                                <p:sldTgt/>
                                              </p:tgtEl>
                                            </p:cond>
                                          </p:endCondLst>
                                        </p:cTn>
                                        <p:tgtEl>
                                          <p:sndTgt r:embed="rId4"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53" grpId="0" autoUpdateAnimBg="0"/>
      <p:bldP spid="168" grpId="0" animBg="1"/>
      <p:bldP spid="222" grpId="0" autoUpdateAnimBg="0"/>
      <p:bldP spid="223" grpId="0" animBg="1"/>
      <p:bldP spid="224" grpId="0" autoUpdateAnimBg="0"/>
      <p:bldP spid="225" grpId="0" animBg="1"/>
      <p:bldP spid="254" grpId="0"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711605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第八章   拉压、剪切与挤压的强度计算</a:t>
            </a:r>
          </a:p>
        </p:txBody>
      </p:sp>
      <p:sp>
        <p:nvSpPr>
          <p:cNvPr id="19" name="矩形 18">
            <a:extLst>
              <a:ext uri="{FF2B5EF4-FFF2-40B4-BE49-F238E27FC236}">
                <a16:creationId xmlns:a16="http://schemas.microsoft.com/office/drawing/2014/main" id="{396E3A4E-3DCE-51D1-DE56-78AC0CFE008B}"/>
              </a:ext>
            </a:extLst>
          </p:cNvPr>
          <p:cNvSpPr/>
          <p:nvPr/>
        </p:nvSpPr>
        <p:spPr>
          <a:xfrm>
            <a:off x="551384" y="820392"/>
            <a:ext cx="10873208" cy="871713"/>
          </a:xfrm>
          <a:prstGeom prst="rect">
            <a:avLst/>
          </a:prstGeom>
        </p:spPr>
        <p:txBody>
          <a:bodyPr wrap="square">
            <a:spAutoFit/>
          </a:bodyPr>
          <a:lstStyle/>
          <a:p>
            <a:pPr marL="0" marR="0" lvl="0" indent="0" algn="just" defTabSz="914400" rtl="0" eaLnBrk="1" fontAlgn="base" latinLnBrk="0" hangingPunct="1">
              <a:lnSpc>
                <a:spcPct val="110000"/>
              </a:lnSpc>
              <a:spcBef>
                <a:spcPct val="0"/>
              </a:spcBef>
              <a:spcAft>
                <a:spcPct val="0"/>
              </a:spcAft>
              <a:buClrTx/>
              <a:buSzTx/>
              <a:buFontTx/>
              <a:buNone/>
              <a:tabLst/>
              <a:defRPr/>
            </a:pPr>
            <a:r>
              <a:rPr lang="zh-CN" altLang="en-US" i="0" dirty="0">
                <a:solidFill>
                  <a:srgbClr val="0033CC"/>
                </a:solidFill>
                <a:ea typeface="黑体" panose="02010609060101010101" pitchFamily="49" charset="-122"/>
              </a:rPr>
              <a:t>例</a:t>
            </a:r>
            <a:r>
              <a:rPr lang="zh-CN" altLang="en-US" i="0" dirty="0">
                <a:solidFill>
                  <a:schemeClr val="tx1"/>
                </a:solidFill>
                <a:ea typeface="黑体" panose="02010609060101010101" pitchFamily="49" charset="-122"/>
              </a:rPr>
              <a:t>  </a:t>
            </a:r>
            <a:r>
              <a:rPr kumimoji="1" lang="zh-CN" altLang="en-US" sz="240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一中段开槽的直杆，承受轴向载荷</a:t>
            </a:r>
            <a:r>
              <a:rPr kumimoji="1" lang="en-US" altLang="zh-CN" sz="2400" b="0"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F</a:t>
            </a:r>
            <a:r>
              <a:rPr kumimoji="1"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a:t>
            </a: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20kN</a:t>
            </a:r>
            <a:r>
              <a:rPr kumimoji="1" lang="zh-CN" altLang="en-US" sz="240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作用，已知</a:t>
            </a:r>
            <a:r>
              <a:rPr kumimoji="1" lang="en-US" altLang="zh-CN" sz="2400" b="0"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h</a:t>
            </a: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=25mm</a:t>
            </a:r>
            <a:r>
              <a:rPr kumimoji="1"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a:t>
            </a:r>
            <a:r>
              <a:rPr kumimoji="1" lang="en-US" altLang="zh-CN" sz="2400" b="0"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h</a:t>
            </a:r>
            <a:r>
              <a:rPr kumimoji="1" lang="en-US" altLang="zh-CN" sz="2400" b="0" i="0" u="none" strike="noStrike" kern="1200" cap="none" spc="0" normalizeH="0" baseline="-25000" noProof="0" dirty="0">
                <a:ln>
                  <a:noFill/>
                </a:ln>
                <a:solidFill>
                  <a:schemeClr val="tx1"/>
                </a:solidFill>
                <a:effectLst/>
                <a:uLnTx/>
                <a:uFillTx/>
                <a:latin typeface="Times New Roman" panose="02020603050405020304" pitchFamily="18" charset="0"/>
                <a:ea typeface="黑体" panose="02010609060101010101" pitchFamily="49" charset="-122"/>
                <a:cs typeface="+mn-cs"/>
              </a:rPr>
              <a:t>0</a:t>
            </a: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=10mm</a:t>
            </a:r>
            <a:r>
              <a:rPr kumimoji="1"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a:t>
            </a:r>
            <a:r>
              <a:rPr kumimoji="1" lang="en-US" altLang="zh-CN" sz="2400" b="0"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b</a:t>
            </a: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=20mm</a:t>
            </a:r>
            <a:r>
              <a:rPr kumimoji="1" lang="zh-CN" altLang="en-US" sz="240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。试求杆内的最大正应力。</a:t>
            </a:r>
            <a:endParaRPr lang="zh-CN" altLang="en-US" i="0" dirty="0">
              <a:solidFill>
                <a:schemeClr val="tx1"/>
              </a:solidFill>
              <a:latin typeface="+mn-lt"/>
              <a:ea typeface="黑体" panose="02010609060101010101" pitchFamily="49" charset="-122"/>
            </a:endParaRPr>
          </a:p>
        </p:txBody>
      </p:sp>
      <p:sp>
        <p:nvSpPr>
          <p:cNvPr id="136" name="矩形 135">
            <a:extLst>
              <a:ext uri="{FF2B5EF4-FFF2-40B4-BE49-F238E27FC236}">
                <a16:creationId xmlns:a16="http://schemas.microsoft.com/office/drawing/2014/main" id="{396E3A4E-3DCE-51D1-DE56-78AC0CFE008B}"/>
              </a:ext>
            </a:extLst>
          </p:cNvPr>
          <p:cNvSpPr/>
          <p:nvPr/>
        </p:nvSpPr>
        <p:spPr>
          <a:xfrm>
            <a:off x="551383" y="1767380"/>
            <a:ext cx="6346159" cy="1421928"/>
          </a:xfrm>
          <a:prstGeom prst="rect">
            <a:avLst/>
          </a:prstGeom>
        </p:spPr>
        <p:txBody>
          <a:bodyPr wrap="square">
            <a:spAutoFit/>
          </a:bodyPr>
          <a:lstStyle/>
          <a:p>
            <a:pPr lvl="0">
              <a:lnSpc>
                <a:spcPct val="120000"/>
              </a:lnSpc>
            </a:pPr>
            <a:r>
              <a:rPr lang="zh-CN" altLang="en-US" i="0" dirty="0">
                <a:solidFill>
                  <a:srgbClr val="0033CC"/>
                </a:solidFill>
                <a:ea typeface="黑体" panose="02010609060101010101" pitchFamily="49" charset="-122"/>
              </a:rPr>
              <a:t>解  </a:t>
            </a:r>
            <a:r>
              <a:rPr kumimoji="1" lang="en-US" altLang="zh-CN" i="0" dirty="0">
                <a:solidFill>
                  <a:schemeClr val="tx1"/>
                </a:solidFill>
                <a:latin typeface="+mn-lt"/>
                <a:ea typeface="黑体" panose="02010609060101010101" pitchFamily="49" charset="-122"/>
              </a:rPr>
              <a:t>1</a:t>
            </a:r>
            <a:r>
              <a:rPr kumimoji="1" lang="zh-CN" altLang="en-US" i="0" dirty="0">
                <a:solidFill>
                  <a:schemeClr val="tx1"/>
                </a:solidFill>
                <a:latin typeface="+mn-lt"/>
                <a:ea typeface="黑体" panose="02010609060101010101" pitchFamily="49" charset="-122"/>
              </a:rPr>
              <a:t>）</a:t>
            </a:r>
            <a:r>
              <a:rPr kumimoji="1" lang="zh-CN" altLang="en-US" sz="240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计算轴力。用截面法求得杆中各处的轴力为 </a:t>
            </a:r>
          </a:p>
          <a:p>
            <a:pPr marL="0" marR="0" lvl="0" indent="0" algn="ctr" defTabSz="914400" rtl="0" eaLnBrk="1" fontAlgn="base" latinLnBrk="0" hangingPunct="1">
              <a:lnSpc>
                <a:spcPct val="120000"/>
              </a:lnSpc>
              <a:spcBef>
                <a:spcPct val="0"/>
              </a:spcBef>
              <a:spcAft>
                <a:spcPct val="0"/>
              </a:spcAft>
              <a:buClrTx/>
              <a:buSzTx/>
              <a:buFontTx/>
              <a:buNone/>
              <a:tabLst/>
              <a:defRPr/>
            </a:pPr>
            <a:r>
              <a:rPr kumimoji="1" lang="en-US" altLang="zh-CN" sz="2400" b="0"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F</a:t>
            </a:r>
            <a:r>
              <a:rPr kumimoji="1" lang="en-US" altLang="zh-CN" sz="2400" b="0" i="0" u="none" strike="noStrike" kern="1200" cap="none" spc="0" normalizeH="0" baseline="-25000" noProof="0" dirty="0">
                <a:ln>
                  <a:noFill/>
                </a:ln>
                <a:solidFill>
                  <a:schemeClr val="tx1"/>
                </a:solidFill>
                <a:effectLst/>
                <a:uLnTx/>
                <a:uFillTx/>
                <a:latin typeface="Times New Roman" panose="02020603050405020304" pitchFamily="18" charset="0"/>
                <a:ea typeface="黑体" panose="02010609060101010101" pitchFamily="49" charset="-122"/>
                <a:cs typeface="+mn-cs"/>
              </a:rPr>
              <a:t>N</a:t>
            </a: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a:t>
            </a:r>
            <a:r>
              <a:rPr kumimoji="1" lang="en-US" altLang="zh-CN" sz="24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a:t>
            </a:r>
            <a:r>
              <a:rPr kumimoji="1" lang="en-US" altLang="zh-CN" sz="2400" b="0"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F</a:t>
            </a: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a:t>
            </a:r>
            <a:r>
              <a:rPr kumimoji="1" lang="en-US" altLang="zh-CN" sz="24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a:t>
            </a: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20kN</a:t>
            </a:r>
          </a:p>
        </p:txBody>
      </p:sp>
      <p:sp>
        <p:nvSpPr>
          <p:cNvPr id="2" name="Rectangle 61">
            <a:extLst>
              <a:ext uri="{FF2B5EF4-FFF2-40B4-BE49-F238E27FC236}">
                <a16:creationId xmlns:a16="http://schemas.microsoft.com/office/drawing/2014/main" id="{E746119E-2B09-2980-E8E2-5F100493CF6E}"/>
              </a:ext>
            </a:extLst>
          </p:cNvPr>
          <p:cNvSpPr>
            <a:spLocks noChangeArrowheads="1"/>
          </p:cNvSpPr>
          <p:nvPr/>
        </p:nvSpPr>
        <p:spPr bwMode="auto">
          <a:xfrm>
            <a:off x="7320136" y="1598138"/>
            <a:ext cx="4752528" cy="4396750"/>
          </a:xfrm>
          <a:prstGeom prst="rect">
            <a:avLst/>
          </a:prstGeom>
          <a:solidFill>
            <a:srgbClr val="B9CDE5"/>
          </a:solidFill>
          <a:ln>
            <a:noFill/>
          </a:ln>
          <a:effectLst/>
        </p:spPr>
        <p:txBody>
          <a:bodyPr wrap="none" anchor="ctr"/>
          <a:lstStyle/>
          <a:p>
            <a:endParaRPr lang="zh-CN" altLang="en-US"/>
          </a:p>
        </p:txBody>
      </p:sp>
      <p:grpSp>
        <p:nvGrpSpPr>
          <p:cNvPr id="3" name="Group 91">
            <a:extLst>
              <a:ext uri="{FF2B5EF4-FFF2-40B4-BE49-F238E27FC236}">
                <a16:creationId xmlns:a16="http://schemas.microsoft.com/office/drawing/2014/main" id="{7E14AAEE-D613-7990-DF87-CE123064743C}"/>
              </a:ext>
            </a:extLst>
          </p:cNvPr>
          <p:cNvGrpSpPr>
            <a:grpSpLocks/>
          </p:cNvGrpSpPr>
          <p:nvPr/>
        </p:nvGrpSpPr>
        <p:grpSpPr bwMode="auto">
          <a:xfrm>
            <a:off x="7419831" y="2014282"/>
            <a:ext cx="4625975" cy="819150"/>
            <a:chOff x="2771" y="1321"/>
            <a:chExt cx="2914" cy="516"/>
          </a:xfrm>
        </p:grpSpPr>
        <p:sp>
          <p:nvSpPr>
            <p:cNvPr id="4" name="Rectangle 53">
              <a:extLst>
                <a:ext uri="{FF2B5EF4-FFF2-40B4-BE49-F238E27FC236}">
                  <a16:creationId xmlns:a16="http://schemas.microsoft.com/office/drawing/2014/main" id="{967321BC-92D6-BBF4-6131-EAB335B4D641}"/>
                </a:ext>
              </a:extLst>
            </p:cNvPr>
            <p:cNvSpPr>
              <a:spLocks noChangeAspect="1" noChangeArrowheads="1"/>
            </p:cNvSpPr>
            <p:nvPr/>
          </p:nvSpPr>
          <p:spPr bwMode="auto">
            <a:xfrm flipV="1">
              <a:off x="3260" y="1390"/>
              <a:ext cx="1851" cy="447"/>
            </a:xfrm>
            <a:prstGeom prst="rect">
              <a:avLst/>
            </a:prstGeom>
            <a:gradFill rotWithShape="1">
              <a:gsLst>
                <a:gs pos="0">
                  <a:srgbClr val="767676"/>
                </a:gs>
                <a:gs pos="50000">
                  <a:srgbClr val="FFFFFF"/>
                </a:gs>
                <a:gs pos="100000">
                  <a:srgbClr val="767676"/>
                </a:gs>
              </a:gsLst>
              <a:lin ang="0" scaled="1"/>
            </a:gradFill>
            <a:ln w="28575">
              <a:solidFill>
                <a:srgbClr val="000000"/>
              </a:solidFill>
              <a:miter lim="800000"/>
              <a:headEnd/>
              <a:tailEnd type="none" w="sm" len="sm"/>
            </a:ln>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5" name="Text Box 54">
              <a:extLst>
                <a:ext uri="{FF2B5EF4-FFF2-40B4-BE49-F238E27FC236}">
                  <a16:creationId xmlns:a16="http://schemas.microsoft.com/office/drawing/2014/main" id="{5F5D5F7D-C07D-B71D-F95C-23DC8F7AFF26}"/>
                </a:ext>
              </a:extLst>
            </p:cNvPr>
            <p:cNvSpPr txBox="1">
              <a:spLocks noChangeAspect="1" noChangeArrowheads="1"/>
            </p:cNvSpPr>
            <p:nvPr/>
          </p:nvSpPr>
          <p:spPr bwMode="auto">
            <a:xfrm>
              <a:off x="5423" y="1355"/>
              <a:ext cx="262"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hangingPunct="1"/>
              <a:r>
                <a:rPr lang="en-US" altLang="zh-CN" b="0" i="1" dirty="0">
                  <a:solidFill>
                    <a:srgbClr val="FF0000"/>
                  </a:solidFill>
                  <a:ea typeface="宋体" panose="02010600030101010101" pitchFamily="2" charset="-122"/>
                </a:rPr>
                <a:t>F</a:t>
              </a:r>
              <a:endParaRPr lang="en-US" altLang="zh-CN" b="0" baseline="-25000" dirty="0">
                <a:solidFill>
                  <a:srgbClr val="FF0000"/>
                </a:solidFill>
                <a:ea typeface="宋体" panose="02010600030101010101" pitchFamily="2" charset="-122"/>
              </a:endParaRPr>
            </a:p>
          </p:txBody>
        </p:sp>
        <p:sp>
          <p:nvSpPr>
            <p:cNvPr id="6" name="AutoShape 72">
              <a:extLst>
                <a:ext uri="{FF2B5EF4-FFF2-40B4-BE49-F238E27FC236}">
                  <a16:creationId xmlns:a16="http://schemas.microsoft.com/office/drawing/2014/main" id="{E4BC652E-5E48-F145-5043-EB59744ACC2D}"/>
                </a:ext>
              </a:extLst>
            </p:cNvPr>
            <p:cNvSpPr>
              <a:spLocks noChangeArrowheads="1"/>
            </p:cNvSpPr>
            <p:nvPr/>
          </p:nvSpPr>
          <p:spPr bwMode="auto">
            <a:xfrm>
              <a:off x="3698" y="1522"/>
              <a:ext cx="974" cy="179"/>
            </a:xfrm>
            <a:prstGeom prst="roundRect">
              <a:avLst>
                <a:gd name="adj" fmla="val 50000"/>
              </a:avLst>
            </a:prstGeom>
            <a:solidFill>
              <a:srgbClr val="B9CDE5"/>
            </a:solidFill>
            <a:ln w="28575" algn="ctr">
              <a:solidFill>
                <a:schemeClr val="tx1"/>
              </a:solidFill>
              <a:round/>
              <a:headEnd/>
              <a:tailEnd/>
            </a:ln>
          </p:spPr>
          <p:txBody>
            <a:bodyPr wrap="none" anchor="ct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8" name="Text Box 73">
              <a:extLst>
                <a:ext uri="{FF2B5EF4-FFF2-40B4-BE49-F238E27FC236}">
                  <a16:creationId xmlns:a16="http://schemas.microsoft.com/office/drawing/2014/main" id="{E1F1AF1D-9C16-47E6-135E-7718A9C62A71}"/>
                </a:ext>
              </a:extLst>
            </p:cNvPr>
            <p:cNvSpPr txBox="1">
              <a:spLocks noChangeAspect="1" noChangeArrowheads="1"/>
            </p:cNvSpPr>
            <p:nvPr/>
          </p:nvSpPr>
          <p:spPr bwMode="auto">
            <a:xfrm>
              <a:off x="2771" y="1321"/>
              <a:ext cx="337"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hangingPunct="1"/>
              <a:r>
                <a:rPr lang="en-US" altLang="zh-CN" b="0" i="1" dirty="0">
                  <a:solidFill>
                    <a:srgbClr val="FF0000"/>
                  </a:solidFill>
                  <a:ea typeface="宋体" panose="02010600030101010101" pitchFamily="2" charset="-122"/>
                </a:rPr>
                <a:t>F</a:t>
              </a:r>
              <a:endParaRPr lang="en-US" altLang="zh-CN" b="0" baseline="-25000" dirty="0">
                <a:solidFill>
                  <a:srgbClr val="FF0000"/>
                </a:solidFill>
                <a:ea typeface="宋体" panose="02010600030101010101" pitchFamily="2" charset="-122"/>
              </a:endParaRPr>
            </a:p>
          </p:txBody>
        </p:sp>
        <p:sp>
          <p:nvSpPr>
            <p:cNvPr id="10" name="Line 58">
              <a:extLst>
                <a:ext uri="{FF2B5EF4-FFF2-40B4-BE49-F238E27FC236}">
                  <a16:creationId xmlns:a16="http://schemas.microsoft.com/office/drawing/2014/main" id="{D1634CE8-49C3-C6D5-B6C0-C18B1D872231}"/>
                </a:ext>
              </a:extLst>
            </p:cNvPr>
            <p:cNvSpPr>
              <a:spLocks noChangeShapeType="1"/>
            </p:cNvSpPr>
            <p:nvPr/>
          </p:nvSpPr>
          <p:spPr bwMode="auto">
            <a:xfrm>
              <a:off x="3101" y="1614"/>
              <a:ext cx="2308" cy="0"/>
            </a:xfrm>
            <a:prstGeom prst="line">
              <a:avLst/>
            </a:prstGeom>
            <a:noFill/>
            <a:ln w="9525">
              <a:solidFill>
                <a:schemeClr val="tx1"/>
              </a:solidFill>
              <a:prstDash val="lgDashDot"/>
              <a:round/>
              <a:headEnd/>
              <a:tailEnd/>
            </a:ln>
            <a:extLst>
              <a:ext uri="{909E8E84-426E-40DD-AFC4-6F175D3DCCD1}">
                <a14:hiddenFill xmlns:a14="http://schemas.microsoft.com/office/drawing/2010/main">
                  <a:noFill/>
                </a14:hiddenFill>
              </a:ext>
            </a:extLst>
          </p:spPr>
          <p:txBody>
            <a:bodyPr/>
            <a:lstStyle/>
            <a:p>
              <a:endParaRPr lang="zh-CN" altLang="en-US" dirty="0"/>
            </a:p>
          </p:txBody>
        </p:sp>
        <p:sp>
          <p:nvSpPr>
            <p:cNvPr id="11" name="Line 51">
              <a:extLst>
                <a:ext uri="{FF2B5EF4-FFF2-40B4-BE49-F238E27FC236}">
                  <a16:creationId xmlns:a16="http://schemas.microsoft.com/office/drawing/2014/main" id="{12B819DE-E9BF-DD4E-9EC3-3A9D0855DB1D}"/>
                </a:ext>
              </a:extLst>
            </p:cNvPr>
            <p:cNvSpPr>
              <a:spLocks noChangeAspect="1" noChangeShapeType="1"/>
            </p:cNvSpPr>
            <p:nvPr/>
          </p:nvSpPr>
          <p:spPr bwMode="auto">
            <a:xfrm>
              <a:off x="2831" y="1616"/>
              <a:ext cx="419" cy="1"/>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12" name="Line 45">
              <a:extLst>
                <a:ext uri="{FF2B5EF4-FFF2-40B4-BE49-F238E27FC236}">
                  <a16:creationId xmlns:a16="http://schemas.microsoft.com/office/drawing/2014/main" id="{1D73074A-50FD-06C2-27D8-9AF6B45EF5F9}"/>
                </a:ext>
              </a:extLst>
            </p:cNvPr>
            <p:cNvSpPr>
              <a:spLocks noChangeAspect="1" noChangeShapeType="1"/>
            </p:cNvSpPr>
            <p:nvPr/>
          </p:nvSpPr>
          <p:spPr bwMode="auto">
            <a:xfrm flipH="1">
              <a:off x="5108" y="1614"/>
              <a:ext cx="434" cy="0"/>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grpSp>
      <p:sp>
        <p:nvSpPr>
          <p:cNvPr id="13" name="Text Box 70">
            <a:extLst>
              <a:ext uri="{FF2B5EF4-FFF2-40B4-BE49-F238E27FC236}">
                <a16:creationId xmlns:a16="http://schemas.microsoft.com/office/drawing/2014/main" id="{3C355BE0-7B52-CE15-7705-9025A025E2F4}"/>
              </a:ext>
            </a:extLst>
          </p:cNvPr>
          <p:cNvSpPr txBox="1">
            <a:spLocks noChangeAspect="1" noChangeArrowheads="1"/>
          </p:cNvSpPr>
          <p:nvPr/>
        </p:nvSpPr>
        <p:spPr bwMode="auto">
          <a:xfrm>
            <a:off x="9759806" y="4616194"/>
            <a:ext cx="388937" cy="40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hangingPunct="1">
              <a:lnSpc>
                <a:spcPct val="90000"/>
              </a:lnSpc>
            </a:pPr>
            <a:r>
              <a:rPr lang="en-US" altLang="zh-CN" b="0" i="1" dirty="0">
                <a:solidFill>
                  <a:srgbClr val="FF0000"/>
                </a:solidFill>
                <a:ea typeface="宋体" panose="02010600030101010101" pitchFamily="2" charset="-122"/>
                <a:sym typeface="Symbol" panose="05050102010706020507" pitchFamily="18" charset="2"/>
              </a:rPr>
              <a:t></a:t>
            </a:r>
            <a:endParaRPr lang="en-US" altLang="zh-CN" b="0" baseline="-25000" dirty="0">
              <a:solidFill>
                <a:srgbClr val="FF0000"/>
              </a:solidFill>
              <a:ea typeface="宋体" panose="02010600030101010101" pitchFamily="2" charset="-122"/>
              <a:sym typeface="Symbol" panose="05050102010706020507" pitchFamily="18" charset="2"/>
            </a:endParaRPr>
          </a:p>
        </p:txBody>
      </p:sp>
      <p:grpSp>
        <p:nvGrpSpPr>
          <p:cNvPr id="14" name="Group 83">
            <a:extLst>
              <a:ext uri="{FF2B5EF4-FFF2-40B4-BE49-F238E27FC236}">
                <a16:creationId xmlns:a16="http://schemas.microsoft.com/office/drawing/2014/main" id="{81034668-944D-4A75-D43B-23043B28C856}"/>
              </a:ext>
            </a:extLst>
          </p:cNvPr>
          <p:cNvGrpSpPr>
            <a:grpSpLocks/>
          </p:cNvGrpSpPr>
          <p:nvPr/>
        </p:nvGrpSpPr>
        <p:grpSpPr bwMode="auto">
          <a:xfrm>
            <a:off x="8486631" y="1565019"/>
            <a:ext cx="641350" cy="2011363"/>
            <a:chOff x="3443" y="1038"/>
            <a:chExt cx="404" cy="1105"/>
          </a:xfrm>
        </p:grpSpPr>
        <p:sp>
          <p:nvSpPr>
            <p:cNvPr id="15" name="Line 76">
              <a:extLst>
                <a:ext uri="{FF2B5EF4-FFF2-40B4-BE49-F238E27FC236}">
                  <a16:creationId xmlns:a16="http://schemas.microsoft.com/office/drawing/2014/main" id="{63AF3626-1C58-2373-CD4E-92F968345DB0}"/>
                </a:ext>
              </a:extLst>
            </p:cNvPr>
            <p:cNvSpPr>
              <a:spLocks noChangeAspect="1" noChangeShapeType="1"/>
            </p:cNvSpPr>
            <p:nvPr/>
          </p:nvSpPr>
          <p:spPr bwMode="auto">
            <a:xfrm>
              <a:off x="3515" y="1303"/>
              <a:ext cx="0" cy="550"/>
            </a:xfrm>
            <a:prstGeom prst="line">
              <a:avLst/>
            </a:prstGeom>
            <a:noFill/>
            <a:ln w="12700">
              <a:solidFill>
                <a:srgbClr val="000000"/>
              </a:solidFill>
              <a:prstDash val="lgDashDot"/>
              <a:round/>
              <a:headEnd/>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16" name="Text Box 77">
              <a:extLst>
                <a:ext uri="{FF2B5EF4-FFF2-40B4-BE49-F238E27FC236}">
                  <a16:creationId xmlns:a16="http://schemas.microsoft.com/office/drawing/2014/main" id="{83F4801A-AA65-DBB7-5375-8DA238BF3560}"/>
                </a:ext>
              </a:extLst>
            </p:cNvPr>
            <p:cNvSpPr txBox="1">
              <a:spLocks noChangeAspect="1" noChangeArrowheads="1"/>
            </p:cNvSpPr>
            <p:nvPr/>
          </p:nvSpPr>
          <p:spPr bwMode="auto">
            <a:xfrm>
              <a:off x="3443" y="1038"/>
              <a:ext cx="375" cy="5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hangingPunct="1">
                <a:lnSpc>
                  <a:spcPct val="20000"/>
                </a:lnSpc>
              </a:pPr>
              <a:endParaRPr lang="en-US" altLang="zh-CN" sz="2800" i="1" dirty="0">
                <a:solidFill>
                  <a:schemeClr val="tx1"/>
                </a:solidFill>
                <a:ea typeface="宋体" panose="02010600030101010101" pitchFamily="2" charset="-122"/>
              </a:endParaRPr>
            </a:p>
            <a:p>
              <a:pPr algn="just" eaLnBrk="1" hangingPunct="1"/>
              <a:r>
                <a:rPr lang="en-US" altLang="zh-CN" sz="1200" dirty="0">
                  <a:solidFill>
                    <a:schemeClr val="tx1"/>
                  </a:solidFill>
                  <a:ea typeface="宋体" panose="02010600030101010101" pitchFamily="2" charset="-122"/>
                </a:rPr>
                <a:t> </a:t>
              </a:r>
              <a:r>
                <a:rPr lang="en-US" altLang="zh-CN" b="0" i="0" dirty="0">
                  <a:solidFill>
                    <a:schemeClr val="tx1"/>
                  </a:solidFill>
                  <a:ea typeface="宋体" panose="02010600030101010101" pitchFamily="2" charset="-122"/>
                </a:rPr>
                <a:t>1</a:t>
              </a:r>
            </a:p>
          </p:txBody>
        </p:sp>
        <p:sp>
          <p:nvSpPr>
            <p:cNvPr id="17" name="Text Box 78">
              <a:extLst>
                <a:ext uri="{FF2B5EF4-FFF2-40B4-BE49-F238E27FC236}">
                  <a16:creationId xmlns:a16="http://schemas.microsoft.com/office/drawing/2014/main" id="{AEA2FADF-5946-1327-5407-9C8DCE92ACE3}"/>
                </a:ext>
              </a:extLst>
            </p:cNvPr>
            <p:cNvSpPr txBox="1">
              <a:spLocks noChangeAspect="1" noChangeArrowheads="1"/>
            </p:cNvSpPr>
            <p:nvPr/>
          </p:nvSpPr>
          <p:spPr bwMode="auto">
            <a:xfrm>
              <a:off x="3472" y="1617"/>
              <a:ext cx="375" cy="5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hangingPunct="1">
                <a:lnSpc>
                  <a:spcPct val="150000"/>
                </a:lnSpc>
              </a:pPr>
              <a:r>
                <a:rPr lang="en-US" altLang="zh-CN" b="0" i="0" dirty="0">
                  <a:solidFill>
                    <a:schemeClr val="tx1"/>
                  </a:solidFill>
                  <a:ea typeface="宋体" panose="02010600030101010101" pitchFamily="2" charset="-122"/>
                </a:rPr>
                <a:t>1</a:t>
              </a:r>
            </a:p>
          </p:txBody>
        </p:sp>
      </p:grpSp>
      <p:grpSp>
        <p:nvGrpSpPr>
          <p:cNvPr id="18" name="Group 84">
            <a:extLst>
              <a:ext uri="{FF2B5EF4-FFF2-40B4-BE49-F238E27FC236}">
                <a16:creationId xmlns:a16="http://schemas.microsoft.com/office/drawing/2014/main" id="{1DA53DF6-53CE-BC93-DB16-646A5FF4BE6F}"/>
              </a:ext>
            </a:extLst>
          </p:cNvPr>
          <p:cNvGrpSpPr>
            <a:grpSpLocks/>
          </p:cNvGrpSpPr>
          <p:nvPr/>
        </p:nvGrpSpPr>
        <p:grpSpPr bwMode="auto">
          <a:xfrm>
            <a:off x="9589943" y="1576132"/>
            <a:ext cx="641350" cy="1630362"/>
            <a:chOff x="4138" y="1045"/>
            <a:chExt cx="404" cy="865"/>
          </a:xfrm>
        </p:grpSpPr>
        <p:sp>
          <p:nvSpPr>
            <p:cNvPr id="20" name="Line 80">
              <a:extLst>
                <a:ext uri="{FF2B5EF4-FFF2-40B4-BE49-F238E27FC236}">
                  <a16:creationId xmlns:a16="http://schemas.microsoft.com/office/drawing/2014/main" id="{62C1FBD7-6032-3AC8-B72C-7376786E169E}"/>
                </a:ext>
              </a:extLst>
            </p:cNvPr>
            <p:cNvSpPr>
              <a:spLocks noChangeAspect="1" noChangeShapeType="1"/>
            </p:cNvSpPr>
            <p:nvPr/>
          </p:nvSpPr>
          <p:spPr bwMode="auto">
            <a:xfrm>
              <a:off x="4210" y="1290"/>
              <a:ext cx="0" cy="549"/>
            </a:xfrm>
            <a:prstGeom prst="line">
              <a:avLst/>
            </a:prstGeom>
            <a:noFill/>
            <a:ln w="12700">
              <a:solidFill>
                <a:srgbClr val="000000"/>
              </a:solidFill>
              <a:prstDash val="lgDashDot"/>
              <a:round/>
              <a:headEnd/>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1" name="Text Box 81">
              <a:extLst>
                <a:ext uri="{FF2B5EF4-FFF2-40B4-BE49-F238E27FC236}">
                  <a16:creationId xmlns:a16="http://schemas.microsoft.com/office/drawing/2014/main" id="{E327C429-5315-B1BA-825A-0CD3936F0072}"/>
                </a:ext>
              </a:extLst>
            </p:cNvPr>
            <p:cNvSpPr txBox="1">
              <a:spLocks noChangeAspect="1" noChangeArrowheads="1"/>
            </p:cNvSpPr>
            <p:nvPr/>
          </p:nvSpPr>
          <p:spPr bwMode="auto">
            <a:xfrm>
              <a:off x="4138" y="1045"/>
              <a:ext cx="375"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hangingPunct="1">
                <a:lnSpc>
                  <a:spcPct val="20000"/>
                </a:lnSpc>
              </a:pPr>
              <a:endParaRPr lang="en-US" altLang="zh-CN" sz="2800" i="1" dirty="0">
                <a:solidFill>
                  <a:schemeClr val="tx1"/>
                </a:solidFill>
                <a:ea typeface="宋体" panose="02010600030101010101" pitchFamily="2" charset="-122"/>
              </a:endParaRPr>
            </a:p>
            <a:p>
              <a:pPr algn="just" eaLnBrk="1" hangingPunct="1"/>
              <a:r>
                <a:rPr lang="en-US" altLang="zh-CN" sz="1200" dirty="0">
                  <a:solidFill>
                    <a:schemeClr val="tx1"/>
                  </a:solidFill>
                  <a:ea typeface="宋体" panose="02010600030101010101" pitchFamily="2" charset="-122"/>
                </a:rPr>
                <a:t> </a:t>
              </a:r>
              <a:r>
                <a:rPr lang="en-US" altLang="zh-CN" b="0" i="0" dirty="0">
                  <a:solidFill>
                    <a:schemeClr val="tx1"/>
                  </a:solidFill>
                  <a:ea typeface="宋体" panose="02010600030101010101" pitchFamily="2" charset="-122"/>
                </a:rPr>
                <a:t>2</a:t>
              </a:r>
            </a:p>
          </p:txBody>
        </p:sp>
        <p:sp>
          <p:nvSpPr>
            <p:cNvPr id="22" name="Text Box 82">
              <a:extLst>
                <a:ext uri="{FF2B5EF4-FFF2-40B4-BE49-F238E27FC236}">
                  <a16:creationId xmlns:a16="http://schemas.microsoft.com/office/drawing/2014/main" id="{1B3CFC19-48AA-0C8A-4D3E-138005C50F93}"/>
                </a:ext>
              </a:extLst>
            </p:cNvPr>
            <p:cNvSpPr txBox="1">
              <a:spLocks noChangeAspect="1" noChangeArrowheads="1"/>
            </p:cNvSpPr>
            <p:nvPr/>
          </p:nvSpPr>
          <p:spPr bwMode="auto">
            <a:xfrm>
              <a:off x="4167" y="1608"/>
              <a:ext cx="375" cy="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hangingPunct="1">
                <a:lnSpc>
                  <a:spcPct val="150000"/>
                </a:lnSpc>
              </a:pPr>
              <a:r>
                <a:rPr lang="en-US" altLang="zh-CN" b="0" i="0" dirty="0">
                  <a:solidFill>
                    <a:schemeClr val="tx1"/>
                  </a:solidFill>
                  <a:ea typeface="宋体" panose="02010600030101010101" pitchFamily="2" charset="-122"/>
                </a:rPr>
                <a:t>2</a:t>
              </a:r>
            </a:p>
          </p:txBody>
        </p:sp>
      </p:grpSp>
      <p:grpSp>
        <p:nvGrpSpPr>
          <p:cNvPr id="23" name="Group 119">
            <a:extLst>
              <a:ext uri="{FF2B5EF4-FFF2-40B4-BE49-F238E27FC236}">
                <a16:creationId xmlns:a16="http://schemas.microsoft.com/office/drawing/2014/main" id="{2E0A915D-C7FE-CD28-F373-2681B02869B8}"/>
              </a:ext>
            </a:extLst>
          </p:cNvPr>
          <p:cNvGrpSpPr>
            <a:grpSpLocks/>
          </p:cNvGrpSpPr>
          <p:nvPr/>
        </p:nvGrpSpPr>
        <p:grpSpPr bwMode="auto">
          <a:xfrm>
            <a:off x="8169131" y="3144582"/>
            <a:ext cx="1422400" cy="1639887"/>
            <a:chOff x="2746" y="2113"/>
            <a:chExt cx="896" cy="1033"/>
          </a:xfrm>
        </p:grpSpPr>
        <p:sp>
          <p:nvSpPr>
            <p:cNvPr id="24" name="Text Box 49">
              <a:extLst>
                <a:ext uri="{FF2B5EF4-FFF2-40B4-BE49-F238E27FC236}">
                  <a16:creationId xmlns:a16="http://schemas.microsoft.com/office/drawing/2014/main" id="{03A466C7-E18D-EBEA-4C3E-7198236B2700}"/>
                </a:ext>
              </a:extLst>
            </p:cNvPr>
            <p:cNvSpPr txBox="1">
              <a:spLocks noChangeAspect="1" noChangeArrowheads="1"/>
            </p:cNvSpPr>
            <p:nvPr/>
          </p:nvSpPr>
          <p:spPr bwMode="auto">
            <a:xfrm>
              <a:off x="2746" y="2260"/>
              <a:ext cx="300"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hangingPunct="1"/>
              <a:r>
                <a:rPr lang="en-US" altLang="zh-CN" b="0" i="1" dirty="0">
                  <a:solidFill>
                    <a:schemeClr val="tx1"/>
                  </a:solidFill>
                  <a:ea typeface="宋体" panose="02010600030101010101" pitchFamily="2" charset="-122"/>
                </a:rPr>
                <a:t>A</a:t>
              </a:r>
              <a:r>
                <a:rPr lang="en-US" altLang="zh-CN" b="0" i="0" baseline="-25000" dirty="0">
                  <a:solidFill>
                    <a:schemeClr val="tx1"/>
                  </a:solidFill>
                </a:rPr>
                <a:t>1</a:t>
              </a:r>
            </a:p>
          </p:txBody>
        </p:sp>
        <p:sp>
          <p:nvSpPr>
            <p:cNvPr id="25" name="Text Box 55">
              <a:extLst>
                <a:ext uri="{FF2B5EF4-FFF2-40B4-BE49-F238E27FC236}">
                  <a16:creationId xmlns:a16="http://schemas.microsoft.com/office/drawing/2014/main" id="{FC3C8B29-0904-0882-F692-CEBDF8FF000C}"/>
                </a:ext>
              </a:extLst>
            </p:cNvPr>
            <p:cNvSpPr txBox="1">
              <a:spLocks noChangeAspect="1" noChangeArrowheads="1"/>
            </p:cNvSpPr>
            <p:nvPr/>
          </p:nvSpPr>
          <p:spPr bwMode="auto">
            <a:xfrm>
              <a:off x="3012" y="2883"/>
              <a:ext cx="333"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eaLnBrk="1" hangingPunct="1">
                <a:lnSpc>
                  <a:spcPct val="90000"/>
                </a:lnSpc>
              </a:pPr>
              <a:r>
                <a:rPr lang="en-US" altLang="zh-CN" b="0" i="1" dirty="0">
                  <a:solidFill>
                    <a:schemeClr val="tx1"/>
                  </a:solidFill>
                  <a:ea typeface="宋体" panose="02010600030101010101" pitchFamily="2" charset="-122"/>
                </a:rPr>
                <a:t>b</a:t>
              </a:r>
              <a:endParaRPr lang="en-US" altLang="zh-CN" b="0" baseline="-25000" dirty="0">
                <a:solidFill>
                  <a:schemeClr val="tx1"/>
                </a:solidFill>
                <a:ea typeface="宋体" panose="02010600030101010101" pitchFamily="2" charset="-122"/>
              </a:endParaRPr>
            </a:p>
          </p:txBody>
        </p:sp>
        <p:sp>
          <p:nvSpPr>
            <p:cNvPr id="26" name="Text Box 56">
              <a:extLst>
                <a:ext uri="{FF2B5EF4-FFF2-40B4-BE49-F238E27FC236}">
                  <a16:creationId xmlns:a16="http://schemas.microsoft.com/office/drawing/2014/main" id="{BBD4C14F-19EA-6212-A0DB-4532FC1C9C78}"/>
                </a:ext>
              </a:extLst>
            </p:cNvPr>
            <p:cNvSpPr txBox="1">
              <a:spLocks noChangeAspect="1" noChangeArrowheads="1"/>
            </p:cNvSpPr>
            <p:nvPr/>
          </p:nvSpPr>
          <p:spPr bwMode="auto">
            <a:xfrm rot="-5400000">
              <a:off x="3347" y="2494"/>
              <a:ext cx="300"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eaLnBrk="1" hangingPunct="1"/>
              <a:r>
                <a:rPr lang="en-US" altLang="zh-CN" b="0" i="1" dirty="0">
                  <a:solidFill>
                    <a:schemeClr val="tx1"/>
                  </a:solidFill>
                  <a:ea typeface="宋体" panose="02010600030101010101" pitchFamily="2" charset="-122"/>
                </a:rPr>
                <a:t>h</a:t>
              </a:r>
            </a:p>
          </p:txBody>
        </p:sp>
        <p:sp>
          <p:nvSpPr>
            <p:cNvPr id="27" name="Rectangle 87" descr="宽上对角线">
              <a:extLst>
                <a:ext uri="{FF2B5EF4-FFF2-40B4-BE49-F238E27FC236}">
                  <a16:creationId xmlns:a16="http://schemas.microsoft.com/office/drawing/2014/main" id="{B5B3B4A2-C83F-3756-515D-3BE5F5464538}"/>
                </a:ext>
              </a:extLst>
            </p:cNvPr>
            <p:cNvSpPr>
              <a:spLocks noChangeAspect="1" noChangeArrowheads="1"/>
            </p:cNvSpPr>
            <p:nvPr/>
          </p:nvSpPr>
          <p:spPr bwMode="auto">
            <a:xfrm>
              <a:off x="2986" y="2447"/>
              <a:ext cx="356" cy="446"/>
            </a:xfrm>
            <a:prstGeom prst="rect">
              <a:avLst/>
            </a:prstGeom>
            <a:pattFill prst="wdUpDiag">
              <a:fgClr>
                <a:schemeClr val="tx1"/>
              </a:fgClr>
              <a:bgClr>
                <a:schemeClr val="bg1"/>
              </a:bgClr>
            </a:pattFill>
            <a:ln w="28575" algn="ctr">
              <a:solidFill>
                <a:schemeClr val="tx1"/>
              </a:solidFill>
              <a:miter lim="800000"/>
              <a:headEnd/>
              <a:tailEnd/>
            </a:ln>
          </p:spPr>
          <p:txBody>
            <a:bodyPr wrap="none" anchor="ct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eaLnBrk="1" hangingPunct="1"/>
              <a:endParaRPr lang="zh-CN" altLang="en-US"/>
            </a:p>
          </p:txBody>
        </p:sp>
        <p:grpSp>
          <p:nvGrpSpPr>
            <p:cNvPr id="28" name="Group 95">
              <a:extLst>
                <a:ext uri="{FF2B5EF4-FFF2-40B4-BE49-F238E27FC236}">
                  <a16:creationId xmlns:a16="http://schemas.microsoft.com/office/drawing/2014/main" id="{4B826B8F-0A63-6C5D-E053-207742F41036}"/>
                </a:ext>
              </a:extLst>
            </p:cNvPr>
            <p:cNvGrpSpPr>
              <a:grpSpLocks/>
            </p:cNvGrpSpPr>
            <p:nvPr/>
          </p:nvGrpSpPr>
          <p:grpSpPr bwMode="auto">
            <a:xfrm>
              <a:off x="2974" y="2993"/>
              <a:ext cx="373" cy="153"/>
              <a:chOff x="2974" y="2993"/>
              <a:chExt cx="373" cy="153"/>
            </a:xfrm>
          </p:grpSpPr>
          <p:sp>
            <p:nvSpPr>
              <p:cNvPr id="66" name="Line 92">
                <a:extLst>
                  <a:ext uri="{FF2B5EF4-FFF2-40B4-BE49-F238E27FC236}">
                    <a16:creationId xmlns:a16="http://schemas.microsoft.com/office/drawing/2014/main" id="{2178ECDA-70F4-BED8-9FFF-47FD0FA77EFB}"/>
                  </a:ext>
                </a:extLst>
              </p:cNvPr>
              <p:cNvSpPr>
                <a:spLocks noChangeShapeType="1"/>
              </p:cNvSpPr>
              <p:nvPr/>
            </p:nvSpPr>
            <p:spPr bwMode="auto">
              <a:xfrm>
                <a:off x="2977" y="2996"/>
                <a:ext cx="0" cy="1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 name="Line 93">
                <a:extLst>
                  <a:ext uri="{FF2B5EF4-FFF2-40B4-BE49-F238E27FC236}">
                    <a16:creationId xmlns:a16="http://schemas.microsoft.com/office/drawing/2014/main" id="{B312F385-5A08-BBA7-C982-52C1BAC769D3}"/>
                  </a:ext>
                </a:extLst>
              </p:cNvPr>
              <p:cNvSpPr>
                <a:spLocks noChangeShapeType="1"/>
              </p:cNvSpPr>
              <p:nvPr/>
            </p:nvSpPr>
            <p:spPr bwMode="auto">
              <a:xfrm>
                <a:off x="3344" y="2993"/>
                <a:ext cx="0" cy="1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 name="Line 94">
                <a:extLst>
                  <a:ext uri="{FF2B5EF4-FFF2-40B4-BE49-F238E27FC236}">
                    <a16:creationId xmlns:a16="http://schemas.microsoft.com/office/drawing/2014/main" id="{7650C14D-F0D5-938C-D7D9-6842B652BF20}"/>
                  </a:ext>
                </a:extLst>
              </p:cNvPr>
              <p:cNvSpPr>
                <a:spLocks noChangeShapeType="1"/>
              </p:cNvSpPr>
              <p:nvPr/>
            </p:nvSpPr>
            <p:spPr bwMode="auto">
              <a:xfrm>
                <a:off x="2974" y="3093"/>
                <a:ext cx="373" cy="0"/>
              </a:xfrm>
              <a:prstGeom prst="line">
                <a:avLst/>
              </a:prstGeom>
              <a:noFill/>
              <a:ln w="9525">
                <a:solidFill>
                  <a:schemeClr val="tx1"/>
                </a:solidFill>
                <a:round/>
                <a:headEnd type="stealth" w="sm" len="med"/>
                <a:tailEnd type="stealth" w="sm"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29" name="Group 96">
              <a:extLst>
                <a:ext uri="{FF2B5EF4-FFF2-40B4-BE49-F238E27FC236}">
                  <a16:creationId xmlns:a16="http://schemas.microsoft.com/office/drawing/2014/main" id="{01B57196-2224-FC6E-C79F-CB8B863A4A8B}"/>
                </a:ext>
              </a:extLst>
            </p:cNvPr>
            <p:cNvGrpSpPr>
              <a:grpSpLocks/>
            </p:cNvGrpSpPr>
            <p:nvPr/>
          </p:nvGrpSpPr>
          <p:grpSpPr bwMode="auto">
            <a:xfrm rot="-5400000">
              <a:off x="3320" y="2589"/>
              <a:ext cx="469" cy="153"/>
              <a:chOff x="2974" y="2993"/>
              <a:chExt cx="373" cy="153"/>
            </a:xfrm>
          </p:grpSpPr>
          <p:sp>
            <p:nvSpPr>
              <p:cNvPr id="31" name="Line 97">
                <a:extLst>
                  <a:ext uri="{FF2B5EF4-FFF2-40B4-BE49-F238E27FC236}">
                    <a16:creationId xmlns:a16="http://schemas.microsoft.com/office/drawing/2014/main" id="{1832DB2B-46B4-9E86-ED5C-3E6E0A5B4D4F}"/>
                  </a:ext>
                </a:extLst>
              </p:cNvPr>
              <p:cNvSpPr>
                <a:spLocks noChangeShapeType="1"/>
              </p:cNvSpPr>
              <p:nvPr/>
            </p:nvSpPr>
            <p:spPr bwMode="auto">
              <a:xfrm>
                <a:off x="2977" y="2996"/>
                <a:ext cx="0" cy="1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4" name="Line 98">
                <a:extLst>
                  <a:ext uri="{FF2B5EF4-FFF2-40B4-BE49-F238E27FC236}">
                    <a16:creationId xmlns:a16="http://schemas.microsoft.com/office/drawing/2014/main" id="{B6598D28-A5F3-B4E7-1822-A288C77F1DE7}"/>
                  </a:ext>
                </a:extLst>
              </p:cNvPr>
              <p:cNvSpPr>
                <a:spLocks noChangeShapeType="1"/>
              </p:cNvSpPr>
              <p:nvPr/>
            </p:nvSpPr>
            <p:spPr bwMode="auto">
              <a:xfrm>
                <a:off x="3344" y="2993"/>
                <a:ext cx="0" cy="1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 name="Line 99">
                <a:extLst>
                  <a:ext uri="{FF2B5EF4-FFF2-40B4-BE49-F238E27FC236}">
                    <a16:creationId xmlns:a16="http://schemas.microsoft.com/office/drawing/2014/main" id="{3F6EC125-6021-CA76-8F56-7C11B5D36D40}"/>
                  </a:ext>
                </a:extLst>
              </p:cNvPr>
              <p:cNvSpPr>
                <a:spLocks noChangeShapeType="1"/>
              </p:cNvSpPr>
              <p:nvPr/>
            </p:nvSpPr>
            <p:spPr bwMode="auto">
              <a:xfrm>
                <a:off x="2974" y="3093"/>
                <a:ext cx="373" cy="0"/>
              </a:xfrm>
              <a:prstGeom prst="line">
                <a:avLst/>
              </a:prstGeom>
              <a:noFill/>
              <a:ln w="9525">
                <a:solidFill>
                  <a:schemeClr val="tx1"/>
                </a:solidFill>
                <a:round/>
                <a:headEnd type="stealth" w="sm" len="med"/>
                <a:tailEnd type="stealth" w="sm" len="med"/>
              </a:ln>
              <a:extLst>
                <a:ext uri="{909E8E84-426E-40DD-AFC4-6F175D3DCCD1}">
                  <a14:hiddenFill xmlns:a14="http://schemas.microsoft.com/office/drawing/2010/main">
                    <a:noFill/>
                  </a14:hiddenFill>
                </a:ext>
              </a:extLst>
            </p:spPr>
            <p:txBody>
              <a:bodyPr/>
              <a:lstStyle/>
              <a:p>
                <a:endParaRPr lang="zh-CN" altLang="en-US"/>
              </a:p>
            </p:txBody>
          </p:sp>
        </p:grpSp>
        <p:sp>
          <p:nvSpPr>
            <p:cNvPr id="30" name="Text Box 117">
              <a:extLst>
                <a:ext uri="{FF2B5EF4-FFF2-40B4-BE49-F238E27FC236}">
                  <a16:creationId xmlns:a16="http://schemas.microsoft.com/office/drawing/2014/main" id="{53BAAA6C-8D79-9C10-23DA-625B810EB6D4}"/>
                </a:ext>
              </a:extLst>
            </p:cNvPr>
            <p:cNvSpPr txBox="1">
              <a:spLocks noChangeAspect="1" noChangeArrowheads="1"/>
            </p:cNvSpPr>
            <p:nvPr/>
          </p:nvSpPr>
          <p:spPr bwMode="auto">
            <a:xfrm>
              <a:off x="2892" y="2113"/>
              <a:ext cx="588" cy="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eaLnBrk="1" hangingPunct="1">
                <a:lnSpc>
                  <a:spcPct val="20000"/>
                </a:lnSpc>
              </a:pPr>
              <a:endParaRPr lang="en-US" altLang="zh-CN" sz="2800" i="1" dirty="0">
                <a:solidFill>
                  <a:schemeClr val="tx1"/>
                </a:solidFill>
                <a:ea typeface="宋体" panose="02010600030101010101" pitchFamily="2" charset="-122"/>
              </a:endParaRPr>
            </a:p>
            <a:p>
              <a:pPr eaLnBrk="1" hangingPunct="1"/>
              <a:r>
                <a:rPr lang="en-US" altLang="zh-CN" sz="1200" b="0" i="0" dirty="0">
                  <a:solidFill>
                    <a:schemeClr val="tx1"/>
                  </a:solidFill>
                  <a:ea typeface="宋体" panose="02010600030101010101" pitchFamily="2" charset="-122"/>
                </a:rPr>
                <a:t> </a:t>
              </a:r>
              <a:r>
                <a:rPr lang="en-US" altLang="zh-CN" b="0" i="0" dirty="0">
                  <a:solidFill>
                    <a:schemeClr val="tx1"/>
                  </a:solidFill>
                  <a:ea typeface="宋体" panose="02010600030101010101" pitchFamily="2" charset="-122"/>
                </a:rPr>
                <a:t>1—1</a:t>
              </a:r>
            </a:p>
          </p:txBody>
        </p:sp>
      </p:grpSp>
      <p:grpSp>
        <p:nvGrpSpPr>
          <p:cNvPr id="69" name="Group 120">
            <a:extLst>
              <a:ext uri="{FF2B5EF4-FFF2-40B4-BE49-F238E27FC236}">
                <a16:creationId xmlns:a16="http://schemas.microsoft.com/office/drawing/2014/main" id="{558322CB-32E2-3BA1-2B91-6F3BCC338177}"/>
              </a:ext>
            </a:extLst>
          </p:cNvPr>
          <p:cNvGrpSpPr>
            <a:grpSpLocks/>
          </p:cNvGrpSpPr>
          <p:nvPr/>
        </p:nvGrpSpPr>
        <p:grpSpPr bwMode="auto">
          <a:xfrm>
            <a:off x="9645506" y="3104896"/>
            <a:ext cx="1646237" cy="1670050"/>
            <a:chOff x="3137" y="2806"/>
            <a:chExt cx="1037" cy="1052"/>
          </a:xfrm>
        </p:grpSpPr>
        <p:grpSp>
          <p:nvGrpSpPr>
            <p:cNvPr id="70" name="Group 89">
              <a:extLst>
                <a:ext uri="{FF2B5EF4-FFF2-40B4-BE49-F238E27FC236}">
                  <a16:creationId xmlns:a16="http://schemas.microsoft.com/office/drawing/2014/main" id="{76360F8D-2B7C-32DA-D0F9-B18F97823119}"/>
                </a:ext>
              </a:extLst>
            </p:cNvPr>
            <p:cNvGrpSpPr>
              <a:grpSpLocks/>
            </p:cNvGrpSpPr>
            <p:nvPr/>
          </p:nvGrpSpPr>
          <p:grpSpPr bwMode="auto">
            <a:xfrm>
              <a:off x="3514" y="3156"/>
              <a:ext cx="361" cy="447"/>
              <a:chOff x="3255" y="3053"/>
              <a:chExt cx="298" cy="372"/>
            </a:xfrm>
          </p:grpSpPr>
          <p:sp>
            <p:nvSpPr>
              <p:cNvPr id="167" name="Rectangle 88" descr="宽上对角线">
                <a:extLst>
                  <a:ext uri="{FF2B5EF4-FFF2-40B4-BE49-F238E27FC236}">
                    <a16:creationId xmlns:a16="http://schemas.microsoft.com/office/drawing/2014/main" id="{CF580570-5563-35C7-F89B-C8CA169C2D0C}"/>
                  </a:ext>
                </a:extLst>
              </p:cNvPr>
              <p:cNvSpPr>
                <a:spLocks noChangeArrowheads="1"/>
              </p:cNvSpPr>
              <p:nvPr/>
            </p:nvSpPr>
            <p:spPr bwMode="auto">
              <a:xfrm>
                <a:off x="3255" y="3053"/>
                <a:ext cx="297" cy="372"/>
              </a:xfrm>
              <a:prstGeom prst="rect">
                <a:avLst/>
              </a:prstGeom>
              <a:pattFill prst="wdUpDiag">
                <a:fgClr>
                  <a:schemeClr val="tx1"/>
                </a:fgClr>
                <a:bgClr>
                  <a:schemeClr val="bg1"/>
                </a:bgClr>
              </a:pattFill>
              <a:ln w="28575" algn="ctr">
                <a:solidFill>
                  <a:schemeClr val="tx1"/>
                </a:solidFill>
                <a:miter lim="800000"/>
                <a:headEnd/>
                <a:tailEnd/>
              </a:ln>
            </p:spPr>
            <p:txBody>
              <a:bodyPr wrap="none" anchor="ct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168" name="Rectangle 86">
                <a:extLst>
                  <a:ext uri="{FF2B5EF4-FFF2-40B4-BE49-F238E27FC236}">
                    <a16:creationId xmlns:a16="http://schemas.microsoft.com/office/drawing/2014/main" id="{557B5B6E-B4D6-1BF7-3DD7-CBDC86393589}"/>
                  </a:ext>
                </a:extLst>
              </p:cNvPr>
              <p:cNvSpPr>
                <a:spLocks noChangeArrowheads="1"/>
              </p:cNvSpPr>
              <p:nvPr/>
            </p:nvSpPr>
            <p:spPr bwMode="auto">
              <a:xfrm>
                <a:off x="3255" y="3164"/>
                <a:ext cx="298" cy="150"/>
              </a:xfrm>
              <a:prstGeom prst="rect">
                <a:avLst/>
              </a:prstGeom>
              <a:solidFill>
                <a:srgbClr val="B9CDE5"/>
              </a:solidFill>
              <a:ln w="28575" algn="ctr">
                <a:solidFill>
                  <a:schemeClr val="tx1"/>
                </a:solidFill>
                <a:miter lim="800000"/>
                <a:headEnd/>
                <a:tailEnd/>
              </a:ln>
            </p:spPr>
            <p:txBody>
              <a:bodyPr wrap="none" anchor="ct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eaLnBrk="1" hangingPunct="1"/>
                <a:endParaRPr lang="zh-CN" altLang="en-US" dirty="0"/>
              </a:p>
            </p:txBody>
          </p:sp>
        </p:grpSp>
        <p:sp>
          <p:nvSpPr>
            <p:cNvPr id="71" name="Text Box 57">
              <a:extLst>
                <a:ext uri="{FF2B5EF4-FFF2-40B4-BE49-F238E27FC236}">
                  <a16:creationId xmlns:a16="http://schemas.microsoft.com/office/drawing/2014/main" id="{D80D17E3-F8B5-D087-7F7F-1BB7EE4BB3A0}"/>
                </a:ext>
              </a:extLst>
            </p:cNvPr>
            <p:cNvSpPr txBox="1">
              <a:spLocks noChangeAspect="1" noChangeArrowheads="1"/>
            </p:cNvSpPr>
            <p:nvPr/>
          </p:nvSpPr>
          <p:spPr bwMode="auto">
            <a:xfrm rot="-5400000">
              <a:off x="3116" y="3255"/>
              <a:ext cx="286"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hangingPunct="1"/>
              <a:r>
                <a:rPr lang="en-US" altLang="zh-CN" b="0" i="1" dirty="0">
                  <a:solidFill>
                    <a:schemeClr val="tx1"/>
                  </a:solidFill>
                  <a:ea typeface="宋体" panose="02010600030101010101" pitchFamily="2" charset="-122"/>
                </a:rPr>
                <a:t>h</a:t>
              </a:r>
              <a:r>
                <a:rPr lang="en-US" altLang="zh-CN" b="0" i="0" baseline="-25000" dirty="0">
                  <a:solidFill>
                    <a:schemeClr val="tx1"/>
                  </a:solidFill>
                  <a:ea typeface="宋体" panose="02010600030101010101" pitchFamily="2" charset="-122"/>
                </a:rPr>
                <a:t>0</a:t>
              </a:r>
            </a:p>
          </p:txBody>
        </p:sp>
        <p:sp>
          <p:nvSpPr>
            <p:cNvPr id="72" name="Text Box 100">
              <a:extLst>
                <a:ext uri="{FF2B5EF4-FFF2-40B4-BE49-F238E27FC236}">
                  <a16:creationId xmlns:a16="http://schemas.microsoft.com/office/drawing/2014/main" id="{A34270CA-F408-DD7B-7A16-52EE968C441C}"/>
                </a:ext>
              </a:extLst>
            </p:cNvPr>
            <p:cNvSpPr txBox="1">
              <a:spLocks noChangeAspect="1" noChangeArrowheads="1"/>
            </p:cNvSpPr>
            <p:nvPr/>
          </p:nvSpPr>
          <p:spPr bwMode="auto">
            <a:xfrm>
              <a:off x="3544" y="3595"/>
              <a:ext cx="333"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eaLnBrk="1" hangingPunct="1">
                <a:lnSpc>
                  <a:spcPct val="90000"/>
                </a:lnSpc>
              </a:pPr>
              <a:r>
                <a:rPr lang="en-US" altLang="zh-CN" b="0" i="1" dirty="0">
                  <a:solidFill>
                    <a:schemeClr val="tx1"/>
                  </a:solidFill>
                  <a:ea typeface="宋体" panose="02010600030101010101" pitchFamily="2" charset="-122"/>
                </a:rPr>
                <a:t>b</a:t>
              </a:r>
              <a:endParaRPr lang="en-US" altLang="zh-CN" b="0" baseline="-25000" dirty="0">
                <a:solidFill>
                  <a:schemeClr val="tx1"/>
                </a:solidFill>
                <a:ea typeface="宋体" panose="02010600030101010101" pitchFamily="2" charset="-122"/>
              </a:endParaRPr>
            </a:p>
          </p:txBody>
        </p:sp>
        <p:sp>
          <p:nvSpPr>
            <p:cNvPr id="73" name="Text Box 101">
              <a:extLst>
                <a:ext uri="{FF2B5EF4-FFF2-40B4-BE49-F238E27FC236}">
                  <a16:creationId xmlns:a16="http://schemas.microsoft.com/office/drawing/2014/main" id="{7B6BA8E3-4F8A-E457-0850-C0818AFEFDD9}"/>
                </a:ext>
              </a:extLst>
            </p:cNvPr>
            <p:cNvSpPr txBox="1">
              <a:spLocks noChangeAspect="1" noChangeArrowheads="1"/>
            </p:cNvSpPr>
            <p:nvPr/>
          </p:nvSpPr>
          <p:spPr bwMode="auto">
            <a:xfrm rot="-5400000">
              <a:off x="3879" y="3206"/>
              <a:ext cx="300"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eaLnBrk="1" hangingPunct="1"/>
              <a:r>
                <a:rPr lang="en-US" altLang="zh-CN" b="0" i="1" dirty="0">
                  <a:solidFill>
                    <a:schemeClr val="tx1"/>
                  </a:solidFill>
                  <a:ea typeface="宋体" panose="02010600030101010101" pitchFamily="2" charset="-122"/>
                </a:rPr>
                <a:t>h</a:t>
              </a:r>
            </a:p>
          </p:txBody>
        </p:sp>
        <p:grpSp>
          <p:nvGrpSpPr>
            <p:cNvPr id="74" name="Group 102">
              <a:extLst>
                <a:ext uri="{FF2B5EF4-FFF2-40B4-BE49-F238E27FC236}">
                  <a16:creationId xmlns:a16="http://schemas.microsoft.com/office/drawing/2014/main" id="{A66DE6DE-EDCA-6DF5-0EE4-2606969C90C3}"/>
                </a:ext>
              </a:extLst>
            </p:cNvPr>
            <p:cNvGrpSpPr>
              <a:grpSpLocks/>
            </p:cNvGrpSpPr>
            <p:nvPr/>
          </p:nvGrpSpPr>
          <p:grpSpPr bwMode="auto">
            <a:xfrm>
              <a:off x="3506" y="3705"/>
              <a:ext cx="373" cy="153"/>
              <a:chOff x="2974" y="2993"/>
              <a:chExt cx="373" cy="153"/>
            </a:xfrm>
          </p:grpSpPr>
          <p:sp>
            <p:nvSpPr>
              <p:cNvPr id="164" name="Line 103">
                <a:extLst>
                  <a:ext uri="{FF2B5EF4-FFF2-40B4-BE49-F238E27FC236}">
                    <a16:creationId xmlns:a16="http://schemas.microsoft.com/office/drawing/2014/main" id="{80EADA52-3173-CB97-6BE6-B5F1D0709F82}"/>
                  </a:ext>
                </a:extLst>
              </p:cNvPr>
              <p:cNvSpPr>
                <a:spLocks noChangeShapeType="1"/>
              </p:cNvSpPr>
              <p:nvPr/>
            </p:nvSpPr>
            <p:spPr bwMode="auto">
              <a:xfrm>
                <a:off x="2977" y="2996"/>
                <a:ext cx="0" cy="1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5" name="Line 104">
                <a:extLst>
                  <a:ext uri="{FF2B5EF4-FFF2-40B4-BE49-F238E27FC236}">
                    <a16:creationId xmlns:a16="http://schemas.microsoft.com/office/drawing/2014/main" id="{C7AE1778-4633-1CF1-E0AD-6C5B9A4DEA20}"/>
                  </a:ext>
                </a:extLst>
              </p:cNvPr>
              <p:cNvSpPr>
                <a:spLocks noChangeShapeType="1"/>
              </p:cNvSpPr>
              <p:nvPr/>
            </p:nvSpPr>
            <p:spPr bwMode="auto">
              <a:xfrm>
                <a:off x="3344" y="2993"/>
                <a:ext cx="0" cy="1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6" name="Line 105">
                <a:extLst>
                  <a:ext uri="{FF2B5EF4-FFF2-40B4-BE49-F238E27FC236}">
                    <a16:creationId xmlns:a16="http://schemas.microsoft.com/office/drawing/2014/main" id="{F8C9666F-BFDD-852A-EECB-1E431427DDF4}"/>
                  </a:ext>
                </a:extLst>
              </p:cNvPr>
              <p:cNvSpPr>
                <a:spLocks noChangeShapeType="1"/>
              </p:cNvSpPr>
              <p:nvPr/>
            </p:nvSpPr>
            <p:spPr bwMode="auto">
              <a:xfrm>
                <a:off x="2974" y="3093"/>
                <a:ext cx="373" cy="0"/>
              </a:xfrm>
              <a:prstGeom prst="line">
                <a:avLst/>
              </a:prstGeom>
              <a:noFill/>
              <a:ln w="9525">
                <a:solidFill>
                  <a:schemeClr val="tx1"/>
                </a:solidFill>
                <a:round/>
                <a:headEnd type="stealth" w="sm" len="med"/>
                <a:tailEnd type="stealth" w="sm"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95" name="Group 106">
              <a:extLst>
                <a:ext uri="{FF2B5EF4-FFF2-40B4-BE49-F238E27FC236}">
                  <a16:creationId xmlns:a16="http://schemas.microsoft.com/office/drawing/2014/main" id="{EF0F2F3B-3019-3591-83CE-E818852F29EB}"/>
                </a:ext>
              </a:extLst>
            </p:cNvPr>
            <p:cNvGrpSpPr>
              <a:grpSpLocks/>
            </p:cNvGrpSpPr>
            <p:nvPr/>
          </p:nvGrpSpPr>
          <p:grpSpPr bwMode="auto">
            <a:xfrm rot="-5400000">
              <a:off x="3852" y="3301"/>
              <a:ext cx="469" cy="153"/>
              <a:chOff x="2974" y="2993"/>
              <a:chExt cx="373" cy="153"/>
            </a:xfrm>
          </p:grpSpPr>
          <p:sp>
            <p:nvSpPr>
              <p:cNvPr id="161" name="Line 107">
                <a:extLst>
                  <a:ext uri="{FF2B5EF4-FFF2-40B4-BE49-F238E27FC236}">
                    <a16:creationId xmlns:a16="http://schemas.microsoft.com/office/drawing/2014/main" id="{011FB4B5-BFA7-8DF9-260E-376C82A36971}"/>
                  </a:ext>
                </a:extLst>
              </p:cNvPr>
              <p:cNvSpPr>
                <a:spLocks noChangeShapeType="1"/>
              </p:cNvSpPr>
              <p:nvPr/>
            </p:nvSpPr>
            <p:spPr bwMode="auto">
              <a:xfrm>
                <a:off x="2977" y="2996"/>
                <a:ext cx="0" cy="1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2" name="Line 108">
                <a:extLst>
                  <a:ext uri="{FF2B5EF4-FFF2-40B4-BE49-F238E27FC236}">
                    <a16:creationId xmlns:a16="http://schemas.microsoft.com/office/drawing/2014/main" id="{93A206E5-CEDE-3C64-EBFB-FB05B8374D98}"/>
                  </a:ext>
                </a:extLst>
              </p:cNvPr>
              <p:cNvSpPr>
                <a:spLocks noChangeShapeType="1"/>
              </p:cNvSpPr>
              <p:nvPr/>
            </p:nvSpPr>
            <p:spPr bwMode="auto">
              <a:xfrm>
                <a:off x="3344" y="2993"/>
                <a:ext cx="0" cy="1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3" name="Line 109">
                <a:extLst>
                  <a:ext uri="{FF2B5EF4-FFF2-40B4-BE49-F238E27FC236}">
                    <a16:creationId xmlns:a16="http://schemas.microsoft.com/office/drawing/2014/main" id="{A686FEC0-71F2-1124-9014-85C35E05CBD8}"/>
                  </a:ext>
                </a:extLst>
              </p:cNvPr>
              <p:cNvSpPr>
                <a:spLocks noChangeShapeType="1"/>
              </p:cNvSpPr>
              <p:nvPr/>
            </p:nvSpPr>
            <p:spPr bwMode="auto">
              <a:xfrm>
                <a:off x="2974" y="3093"/>
                <a:ext cx="373" cy="0"/>
              </a:xfrm>
              <a:prstGeom prst="line">
                <a:avLst/>
              </a:prstGeom>
              <a:noFill/>
              <a:ln w="9525">
                <a:solidFill>
                  <a:schemeClr val="tx1"/>
                </a:solidFill>
                <a:round/>
                <a:headEnd type="stealth" w="sm" len="med"/>
                <a:tailEnd type="stealth" w="sm"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54" name="Group 110">
              <a:extLst>
                <a:ext uri="{FF2B5EF4-FFF2-40B4-BE49-F238E27FC236}">
                  <a16:creationId xmlns:a16="http://schemas.microsoft.com/office/drawing/2014/main" id="{DAF7606B-EBB9-30A6-EC70-480B5A7CD785}"/>
                </a:ext>
              </a:extLst>
            </p:cNvPr>
            <p:cNvGrpSpPr>
              <a:grpSpLocks/>
            </p:cNvGrpSpPr>
            <p:nvPr/>
          </p:nvGrpSpPr>
          <p:grpSpPr bwMode="auto">
            <a:xfrm rot="-5400000">
              <a:off x="3288" y="3303"/>
              <a:ext cx="184" cy="153"/>
              <a:chOff x="2974" y="2993"/>
              <a:chExt cx="373" cy="153"/>
            </a:xfrm>
          </p:grpSpPr>
          <p:sp>
            <p:nvSpPr>
              <p:cNvPr id="158" name="Line 111">
                <a:extLst>
                  <a:ext uri="{FF2B5EF4-FFF2-40B4-BE49-F238E27FC236}">
                    <a16:creationId xmlns:a16="http://schemas.microsoft.com/office/drawing/2014/main" id="{A5127DB1-7420-D66E-69D4-42DF67A6B29D}"/>
                  </a:ext>
                </a:extLst>
              </p:cNvPr>
              <p:cNvSpPr>
                <a:spLocks noChangeShapeType="1"/>
              </p:cNvSpPr>
              <p:nvPr/>
            </p:nvSpPr>
            <p:spPr bwMode="auto">
              <a:xfrm>
                <a:off x="2977" y="2996"/>
                <a:ext cx="0" cy="1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9" name="Line 112">
                <a:extLst>
                  <a:ext uri="{FF2B5EF4-FFF2-40B4-BE49-F238E27FC236}">
                    <a16:creationId xmlns:a16="http://schemas.microsoft.com/office/drawing/2014/main" id="{64D899FF-1D17-917A-BA0E-F416405CE624}"/>
                  </a:ext>
                </a:extLst>
              </p:cNvPr>
              <p:cNvSpPr>
                <a:spLocks noChangeShapeType="1"/>
              </p:cNvSpPr>
              <p:nvPr/>
            </p:nvSpPr>
            <p:spPr bwMode="auto">
              <a:xfrm>
                <a:off x="3344" y="2993"/>
                <a:ext cx="0" cy="1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0" name="Line 113">
                <a:extLst>
                  <a:ext uri="{FF2B5EF4-FFF2-40B4-BE49-F238E27FC236}">
                    <a16:creationId xmlns:a16="http://schemas.microsoft.com/office/drawing/2014/main" id="{F3F2A514-C5C5-36A3-34D6-5FF54E530161}"/>
                  </a:ext>
                </a:extLst>
              </p:cNvPr>
              <p:cNvSpPr>
                <a:spLocks noChangeShapeType="1"/>
              </p:cNvSpPr>
              <p:nvPr/>
            </p:nvSpPr>
            <p:spPr bwMode="auto">
              <a:xfrm>
                <a:off x="2974" y="3093"/>
                <a:ext cx="373" cy="0"/>
              </a:xfrm>
              <a:prstGeom prst="line">
                <a:avLst/>
              </a:prstGeom>
              <a:noFill/>
              <a:ln w="9525">
                <a:solidFill>
                  <a:schemeClr val="tx1"/>
                </a:solidFill>
                <a:round/>
                <a:headEnd type="stealth" w="sm" len="med"/>
                <a:tailEnd type="stealth" w="sm" len="med"/>
              </a:ln>
              <a:extLst>
                <a:ext uri="{909E8E84-426E-40DD-AFC4-6F175D3DCCD1}">
                  <a14:hiddenFill xmlns:a14="http://schemas.microsoft.com/office/drawing/2010/main">
                    <a:noFill/>
                  </a14:hiddenFill>
                </a:ext>
              </a:extLst>
            </p:spPr>
            <p:txBody>
              <a:bodyPr/>
              <a:lstStyle/>
              <a:p>
                <a:endParaRPr lang="zh-CN" altLang="en-US"/>
              </a:p>
            </p:txBody>
          </p:sp>
        </p:grpSp>
        <p:sp>
          <p:nvSpPr>
            <p:cNvPr id="156" name="Text Box 114">
              <a:extLst>
                <a:ext uri="{FF2B5EF4-FFF2-40B4-BE49-F238E27FC236}">
                  <a16:creationId xmlns:a16="http://schemas.microsoft.com/office/drawing/2014/main" id="{1BBC6FEA-FC8D-00D6-2563-F29E4A231158}"/>
                </a:ext>
              </a:extLst>
            </p:cNvPr>
            <p:cNvSpPr txBox="1">
              <a:spLocks noChangeAspect="1" noChangeArrowheads="1"/>
            </p:cNvSpPr>
            <p:nvPr/>
          </p:nvSpPr>
          <p:spPr bwMode="auto">
            <a:xfrm>
              <a:off x="3228" y="2981"/>
              <a:ext cx="300"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hangingPunct="1"/>
              <a:r>
                <a:rPr lang="en-US" altLang="zh-CN" b="0" i="1" dirty="0">
                  <a:solidFill>
                    <a:schemeClr val="tx1"/>
                  </a:solidFill>
                  <a:ea typeface="宋体" panose="02010600030101010101" pitchFamily="2" charset="-122"/>
                </a:rPr>
                <a:t>A</a:t>
              </a:r>
              <a:r>
                <a:rPr lang="en-US" altLang="zh-CN" b="0" i="0" baseline="-25000" dirty="0">
                  <a:solidFill>
                    <a:schemeClr val="tx1"/>
                  </a:solidFill>
                </a:rPr>
                <a:t>2</a:t>
              </a:r>
            </a:p>
          </p:txBody>
        </p:sp>
        <p:sp>
          <p:nvSpPr>
            <p:cNvPr id="157" name="Text Box 118">
              <a:extLst>
                <a:ext uri="{FF2B5EF4-FFF2-40B4-BE49-F238E27FC236}">
                  <a16:creationId xmlns:a16="http://schemas.microsoft.com/office/drawing/2014/main" id="{B7BE242A-523D-07C0-3B7E-D285915D90CB}"/>
                </a:ext>
              </a:extLst>
            </p:cNvPr>
            <p:cNvSpPr txBox="1">
              <a:spLocks noChangeAspect="1" noChangeArrowheads="1"/>
            </p:cNvSpPr>
            <p:nvPr/>
          </p:nvSpPr>
          <p:spPr bwMode="auto">
            <a:xfrm>
              <a:off x="3461" y="2806"/>
              <a:ext cx="605" cy="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eaLnBrk="1" hangingPunct="1">
                <a:lnSpc>
                  <a:spcPct val="150000"/>
                </a:lnSpc>
              </a:pPr>
              <a:r>
                <a:rPr lang="en-US" altLang="zh-CN" b="0" i="0" dirty="0">
                  <a:solidFill>
                    <a:schemeClr val="tx1"/>
                  </a:solidFill>
                  <a:ea typeface="宋体" panose="02010600030101010101" pitchFamily="2" charset="-122"/>
                </a:rPr>
                <a:t>2—2</a:t>
              </a:r>
            </a:p>
          </p:txBody>
        </p:sp>
      </p:grpSp>
      <p:grpSp>
        <p:nvGrpSpPr>
          <p:cNvPr id="169" name="Group 136">
            <a:extLst>
              <a:ext uri="{FF2B5EF4-FFF2-40B4-BE49-F238E27FC236}">
                <a16:creationId xmlns:a16="http://schemas.microsoft.com/office/drawing/2014/main" id="{70BB8C83-C84F-F387-C140-9B7AD1AA3799}"/>
              </a:ext>
            </a:extLst>
          </p:cNvPr>
          <p:cNvGrpSpPr>
            <a:grpSpLocks/>
          </p:cNvGrpSpPr>
          <p:nvPr/>
        </p:nvGrpSpPr>
        <p:grpSpPr bwMode="auto">
          <a:xfrm>
            <a:off x="7424593" y="4860669"/>
            <a:ext cx="3640138" cy="846138"/>
            <a:chOff x="2846" y="3114"/>
            <a:chExt cx="2293" cy="533"/>
          </a:xfrm>
        </p:grpSpPr>
        <p:sp>
          <p:nvSpPr>
            <p:cNvPr id="170" name="Rectangle 126">
              <a:extLst>
                <a:ext uri="{FF2B5EF4-FFF2-40B4-BE49-F238E27FC236}">
                  <a16:creationId xmlns:a16="http://schemas.microsoft.com/office/drawing/2014/main" id="{2158D800-37A6-C313-8DB1-B0BBC5C1293D}"/>
                </a:ext>
              </a:extLst>
            </p:cNvPr>
            <p:cNvSpPr>
              <a:spLocks noChangeAspect="1" noChangeArrowheads="1"/>
            </p:cNvSpPr>
            <p:nvPr/>
          </p:nvSpPr>
          <p:spPr bwMode="auto">
            <a:xfrm flipV="1">
              <a:off x="3335" y="3183"/>
              <a:ext cx="1355" cy="447"/>
            </a:xfrm>
            <a:prstGeom prst="rect">
              <a:avLst/>
            </a:prstGeom>
            <a:gradFill rotWithShape="1">
              <a:gsLst>
                <a:gs pos="0">
                  <a:srgbClr val="767676"/>
                </a:gs>
                <a:gs pos="50000">
                  <a:srgbClr val="FFFFFF"/>
                </a:gs>
                <a:gs pos="100000">
                  <a:srgbClr val="767676"/>
                </a:gs>
              </a:gsLst>
              <a:lin ang="0" scaled="1"/>
            </a:gradFill>
            <a:ln w="28575">
              <a:solidFill>
                <a:srgbClr val="000000"/>
              </a:solidFill>
              <a:miter lim="800000"/>
              <a:headEnd/>
              <a:tailEnd type="none" w="sm" len="sm"/>
            </a:ln>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171" name="AutoShape 128">
              <a:extLst>
                <a:ext uri="{FF2B5EF4-FFF2-40B4-BE49-F238E27FC236}">
                  <a16:creationId xmlns:a16="http://schemas.microsoft.com/office/drawing/2014/main" id="{308DD8BB-57A3-4500-B289-01A44DFE65CF}"/>
                </a:ext>
              </a:extLst>
            </p:cNvPr>
            <p:cNvSpPr>
              <a:spLocks noChangeArrowheads="1"/>
            </p:cNvSpPr>
            <p:nvPr/>
          </p:nvSpPr>
          <p:spPr bwMode="auto">
            <a:xfrm>
              <a:off x="3773" y="3315"/>
              <a:ext cx="974" cy="179"/>
            </a:xfrm>
            <a:prstGeom prst="roundRect">
              <a:avLst>
                <a:gd name="adj" fmla="val 50000"/>
              </a:avLst>
            </a:prstGeom>
            <a:solidFill>
              <a:srgbClr val="B9CDE5"/>
            </a:solidFill>
            <a:ln w="28575" algn="ctr">
              <a:solidFill>
                <a:schemeClr val="tx1"/>
              </a:solidFill>
              <a:round/>
              <a:headEnd/>
              <a:tailEnd/>
            </a:ln>
          </p:spPr>
          <p:txBody>
            <a:bodyPr wrap="none" anchor="ct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172" name="Text Box 129">
              <a:extLst>
                <a:ext uri="{FF2B5EF4-FFF2-40B4-BE49-F238E27FC236}">
                  <a16:creationId xmlns:a16="http://schemas.microsoft.com/office/drawing/2014/main" id="{15B5B1C5-BB89-DB04-CE27-193C72768FA0}"/>
                </a:ext>
              </a:extLst>
            </p:cNvPr>
            <p:cNvSpPr txBox="1">
              <a:spLocks noChangeAspect="1" noChangeArrowheads="1"/>
            </p:cNvSpPr>
            <p:nvPr/>
          </p:nvSpPr>
          <p:spPr bwMode="auto">
            <a:xfrm>
              <a:off x="2846" y="3114"/>
              <a:ext cx="337"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hangingPunct="1"/>
              <a:r>
                <a:rPr lang="en-US" altLang="zh-CN" b="0" i="1" dirty="0">
                  <a:solidFill>
                    <a:srgbClr val="FF0000"/>
                  </a:solidFill>
                  <a:ea typeface="宋体" panose="02010600030101010101" pitchFamily="2" charset="-122"/>
                </a:rPr>
                <a:t>F</a:t>
              </a:r>
              <a:endParaRPr lang="en-US" altLang="zh-CN" b="0" baseline="-25000" dirty="0">
                <a:solidFill>
                  <a:srgbClr val="FF0000"/>
                </a:solidFill>
                <a:ea typeface="宋体" panose="02010600030101010101" pitchFamily="2" charset="-122"/>
              </a:endParaRPr>
            </a:p>
          </p:txBody>
        </p:sp>
        <p:sp>
          <p:nvSpPr>
            <p:cNvPr id="173" name="Rectangle 2">
              <a:extLst>
                <a:ext uri="{FF2B5EF4-FFF2-40B4-BE49-F238E27FC236}">
                  <a16:creationId xmlns:a16="http://schemas.microsoft.com/office/drawing/2014/main" id="{6F7884A9-99E8-DAE3-87FB-991342BF6ABE}"/>
                </a:ext>
              </a:extLst>
            </p:cNvPr>
            <p:cNvSpPr>
              <a:spLocks noChangeAspect="1" noChangeArrowheads="1"/>
            </p:cNvSpPr>
            <p:nvPr/>
          </p:nvSpPr>
          <p:spPr bwMode="auto">
            <a:xfrm>
              <a:off x="4319" y="3161"/>
              <a:ext cx="820" cy="486"/>
            </a:xfrm>
            <a:prstGeom prst="rect">
              <a:avLst/>
            </a:prstGeom>
            <a:solidFill>
              <a:srgbClr val="B9CDE5"/>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174" name="Line 130">
              <a:extLst>
                <a:ext uri="{FF2B5EF4-FFF2-40B4-BE49-F238E27FC236}">
                  <a16:creationId xmlns:a16="http://schemas.microsoft.com/office/drawing/2014/main" id="{A92316E5-374A-DA17-6FD8-F6B33D2143D4}"/>
                </a:ext>
              </a:extLst>
            </p:cNvPr>
            <p:cNvSpPr>
              <a:spLocks noChangeShapeType="1"/>
            </p:cNvSpPr>
            <p:nvPr/>
          </p:nvSpPr>
          <p:spPr bwMode="auto">
            <a:xfrm>
              <a:off x="3176" y="3407"/>
              <a:ext cx="1395" cy="0"/>
            </a:xfrm>
            <a:prstGeom prst="line">
              <a:avLst/>
            </a:prstGeom>
            <a:noFill/>
            <a:ln w="9525">
              <a:solidFill>
                <a:schemeClr val="tx1"/>
              </a:solidFill>
              <a:prstDash val="lgDash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5" name="Line 131">
              <a:extLst>
                <a:ext uri="{FF2B5EF4-FFF2-40B4-BE49-F238E27FC236}">
                  <a16:creationId xmlns:a16="http://schemas.microsoft.com/office/drawing/2014/main" id="{73834DC4-354F-AA87-6807-0079C04C242D}"/>
                </a:ext>
              </a:extLst>
            </p:cNvPr>
            <p:cNvSpPr>
              <a:spLocks noChangeAspect="1" noChangeShapeType="1"/>
            </p:cNvSpPr>
            <p:nvPr/>
          </p:nvSpPr>
          <p:spPr bwMode="auto">
            <a:xfrm>
              <a:off x="2906" y="3409"/>
              <a:ext cx="419" cy="1"/>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176" name="Line 134">
              <a:extLst>
                <a:ext uri="{FF2B5EF4-FFF2-40B4-BE49-F238E27FC236}">
                  <a16:creationId xmlns:a16="http://schemas.microsoft.com/office/drawing/2014/main" id="{A9CD3D96-D8DD-E2CF-8069-62AD3832D4C1}"/>
                </a:ext>
              </a:extLst>
            </p:cNvPr>
            <p:cNvSpPr>
              <a:spLocks noChangeShapeType="1"/>
            </p:cNvSpPr>
            <p:nvPr/>
          </p:nvSpPr>
          <p:spPr bwMode="auto">
            <a:xfrm>
              <a:off x="4307" y="3172"/>
              <a:ext cx="0" cy="14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7" name="Line 135">
              <a:extLst>
                <a:ext uri="{FF2B5EF4-FFF2-40B4-BE49-F238E27FC236}">
                  <a16:creationId xmlns:a16="http://schemas.microsoft.com/office/drawing/2014/main" id="{604EAC9B-7FE7-DC1F-FAF3-4D07ABF173B2}"/>
                </a:ext>
              </a:extLst>
            </p:cNvPr>
            <p:cNvSpPr>
              <a:spLocks noChangeShapeType="1"/>
            </p:cNvSpPr>
            <p:nvPr/>
          </p:nvSpPr>
          <p:spPr bwMode="auto">
            <a:xfrm>
              <a:off x="4310" y="3494"/>
              <a:ext cx="0" cy="14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78" name="Group 139">
            <a:extLst>
              <a:ext uri="{FF2B5EF4-FFF2-40B4-BE49-F238E27FC236}">
                <a16:creationId xmlns:a16="http://schemas.microsoft.com/office/drawing/2014/main" id="{D0A75060-68AC-2544-41D4-3330E2AF2F4D}"/>
              </a:ext>
            </a:extLst>
          </p:cNvPr>
          <p:cNvGrpSpPr>
            <a:grpSpLocks/>
          </p:cNvGrpSpPr>
          <p:nvPr/>
        </p:nvGrpSpPr>
        <p:grpSpPr bwMode="auto">
          <a:xfrm>
            <a:off x="9743931" y="4967032"/>
            <a:ext cx="381000" cy="201612"/>
            <a:chOff x="4226" y="3181"/>
            <a:chExt cx="240" cy="127"/>
          </a:xfrm>
        </p:grpSpPr>
        <p:sp>
          <p:nvSpPr>
            <p:cNvPr id="179" name="Line 60">
              <a:extLst>
                <a:ext uri="{FF2B5EF4-FFF2-40B4-BE49-F238E27FC236}">
                  <a16:creationId xmlns:a16="http://schemas.microsoft.com/office/drawing/2014/main" id="{D5E20833-71BB-8B95-E086-DDDE6425D457}"/>
                </a:ext>
              </a:extLst>
            </p:cNvPr>
            <p:cNvSpPr>
              <a:spLocks noChangeAspect="1" noChangeShapeType="1"/>
            </p:cNvSpPr>
            <p:nvPr/>
          </p:nvSpPr>
          <p:spPr bwMode="auto">
            <a:xfrm flipH="1">
              <a:off x="4226" y="3181"/>
              <a:ext cx="239" cy="0"/>
            </a:xfrm>
            <a:prstGeom prst="line">
              <a:avLst/>
            </a:prstGeom>
            <a:noFill/>
            <a:ln w="1905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180" name="Line 137">
              <a:extLst>
                <a:ext uri="{FF2B5EF4-FFF2-40B4-BE49-F238E27FC236}">
                  <a16:creationId xmlns:a16="http://schemas.microsoft.com/office/drawing/2014/main" id="{6FC5EC75-3050-9886-73A9-5D0435FE124E}"/>
                </a:ext>
              </a:extLst>
            </p:cNvPr>
            <p:cNvSpPr>
              <a:spLocks noChangeAspect="1" noChangeShapeType="1"/>
            </p:cNvSpPr>
            <p:nvPr/>
          </p:nvSpPr>
          <p:spPr bwMode="auto">
            <a:xfrm flipH="1">
              <a:off x="4226" y="3308"/>
              <a:ext cx="239" cy="0"/>
            </a:xfrm>
            <a:prstGeom prst="line">
              <a:avLst/>
            </a:prstGeom>
            <a:noFill/>
            <a:ln w="1905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181" name="Line 138">
              <a:extLst>
                <a:ext uri="{FF2B5EF4-FFF2-40B4-BE49-F238E27FC236}">
                  <a16:creationId xmlns:a16="http://schemas.microsoft.com/office/drawing/2014/main" id="{97C4BD51-3B5D-7ED4-9372-63D66A2A8D3B}"/>
                </a:ext>
              </a:extLst>
            </p:cNvPr>
            <p:cNvSpPr>
              <a:spLocks noChangeAspect="1" noChangeShapeType="1"/>
            </p:cNvSpPr>
            <p:nvPr/>
          </p:nvSpPr>
          <p:spPr bwMode="auto">
            <a:xfrm flipH="1">
              <a:off x="4227" y="3245"/>
              <a:ext cx="239" cy="0"/>
            </a:xfrm>
            <a:prstGeom prst="line">
              <a:avLst/>
            </a:prstGeom>
            <a:noFill/>
            <a:ln w="1905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grpSp>
      <p:grpSp>
        <p:nvGrpSpPr>
          <p:cNvPr id="182" name="Group 140">
            <a:extLst>
              <a:ext uri="{FF2B5EF4-FFF2-40B4-BE49-F238E27FC236}">
                <a16:creationId xmlns:a16="http://schemas.microsoft.com/office/drawing/2014/main" id="{5A888654-D938-AF8A-2167-7E34B976A953}"/>
              </a:ext>
            </a:extLst>
          </p:cNvPr>
          <p:cNvGrpSpPr>
            <a:grpSpLocks/>
          </p:cNvGrpSpPr>
          <p:nvPr/>
        </p:nvGrpSpPr>
        <p:grpSpPr bwMode="auto">
          <a:xfrm>
            <a:off x="9755043" y="5473444"/>
            <a:ext cx="381000" cy="201613"/>
            <a:chOff x="4226" y="3181"/>
            <a:chExt cx="240" cy="127"/>
          </a:xfrm>
        </p:grpSpPr>
        <p:sp>
          <p:nvSpPr>
            <p:cNvPr id="183" name="Line 141">
              <a:extLst>
                <a:ext uri="{FF2B5EF4-FFF2-40B4-BE49-F238E27FC236}">
                  <a16:creationId xmlns:a16="http://schemas.microsoft.com/office/drawing/2014/main" id="{C39A14D3-7DF6-EA4E-AF26-50A9EBD56854}"/>
                </a:ext>
              </a:extLst>
            </p:cNvPr>
            <p:cNvSpPr>
              <a:spLocks noChangeAspect="1" noChangeShapeType="1"/>
            </p:cNvSpPr>
            <p:nvPr/>
          </p:nvSpPr>
          <p:spPr bwMode="auto">
            <a:xfrm flipH="1">
              <a:off x="4226" y="3181"/>
              <a:ext cx="239" cy="0"/>
            </a:xfrm>
            <a:prstGeom prst="line">
              <a:avLst/>
            </a:prstGeom>
            <a:noFill/>
            <a:ln w="1905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184" name="Line 142">
              <a:extLst>
                <a:ext uri="{FF2B5EF4-FFF2-40B4-BE49-F238E27FC236}">
                  <a16:creationId xmlns:a16="http://schemas.microsoft.com/office/drawing/2014/main" id="{E8859FE1-2A23-19BC-5C57-45BA02F39D40}"/>
                </a:ext>
              </a:extLst>
            </p:cNvPr>
            <p:cNvSpPr>
              <a:spLocks noChangeAspect="1" noChangeShapeType="1"/>
            </p:cNvSpPr>
            <p:nvPr/>
          </p:nvSpPr>
          <p:spPr bwMode="auto">
            <a:xfrm flipH="1">
              <a:off x="4226" y="3308"/>
              <a:ext cx="239" cy="0"/>
            </a:xfrm>
            <a:prstGeom prst="line">
              <a:avLst/>
            </a:prstGeom>
            <a:noFill/>
            <a:ln w="1905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185" name="Line 143">
              <a:extLst>
                <a:ext uri="{FF2B5EF4-FFF2-40B4-BE49-F238E27FC236}">
                  <a16:creationId xmlns:a16="http://schemas.microsoft.com/office/drawing/2014/main" id="{628B9024-F8A3-5118-0D59-2698AF8DDA63}"/>
                </a:ext>
              </a:extLst>
            </p:cNvPr>
            <p:cNvSpPr>
              <a:spLocks noChangeAspect="1" noChangeShapeType="1"/>
            </p:cNvSpPr>
            <p:nvPr/>
          </p:nvSpPr>
          <p:spPr bwMode="auto">
            <a:xfrm flipH="1">
              <a:off x="4227" y="3245"/>
              <a:ext cx="239" cy="0"/>
            </a:xfrm>
            <a:prstGeom prst="line">
              <a:avLst/>
            </a:prstGeom>
            <a:noFill/>
            <a:ln w="1905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grpSp>
      <p:sp>
        <p:nvSpPr>
          <p:cNvPr id="186" name="Line 63">
            <a:extLst>
              <a:ext uri="{FF2B5EF4-FFF2-40B4-BE49-F238E27FC236}">
                <a16:creationId xmlns:a16="http://schemas.microsoft.com/office/drawing/2014/main" id="{671EE847-77FD-CF30-7A5C-B60E7DA832A8}"/>
              </a:ext>
            </a:extLst>
          </p:cNvPr>
          <p:cNvSpPr>
            <a:spLocks noChangeAspect="1" noChangeShapeType="1"/>
          </p:cNvSpPr>
          <p:nvPr/>
        </p:nvSpPr>
        <p:spPr bwMode="auto">
          <a:xfrm flipH="1">
            <a:off x="10253518" y="5325807"/>
            <a:ext cx="688975" cy="0"/>
          </a:xfrm>
          <a:prstGeom prst="line">
            <a:avLst/>
          </a:prstGeom>
          <a:noFill/>
          <a:ln w="38100">
            <a:solidFill>
              <a:srgbClr val="FF0000"/>
            </a:solidFill>
            <a:prstDash val="dash"/>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187" name="Text Box 44">
            <a:extLst>
              <a:ext uri="{FF2B5EF4-FFF2-40B4-BE49-F238E27FC236}">
                <a16:creationId xmlns:a16="http://schemas.microsoft.com/office/drawing/2014/main" id="{681C5B01-20CF-1441-BC16-2989AB444B89}"/>
              </a:ext>
            </a:extLst>
          </p:cNvPr>
          <p:cNvSpPr txBox="1">
            <a:spLocks noChangeAspect="1" noChangeArrowheads="1"/>
          </p:cNvSpPr>
          <p:nvPr/>
        </p:nvSpPr>
        <p:spPr bwMode="auto">
          <a:xfrm>
            <a:off x="10725006" y="4894007"/>
            <a:ext cx="561975" cy="547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hangingPunct="1">
              <a:lnSpc>
                <a:spcPct val="90000"/>
              </a:lnSpc>
            </a:pPr>
            <a:r>
              <a:rPr lang="en-US" altLang="zh-CN" b="0" i="1" dirty="0">
                <a:solidFill>
                  <a:srgbClr val="FF0000"/>
                </a:solidFill>
                <a:ea typeface="宋体" panose="02010600030101010101" pitchFamily="2" charset="-122"/>
              </a:rPr>
              <a:t>F</a:t>
            </a:r>
            <a:r>
              <a:rPr lang="en-US" altLang="zh-CN" b="0" i="0" baseline="-25000" dirty="0">
                <a:solidFill>
                  <a:srgbClr val="FF0000"/>
                </a:solidFill>
                <a:ea typeface="宋体" panose="02010600030101010101" pitchFamily="2" charset="-122"/>
              </a:rPr>
              <a:t>N</a:t>
            </a:r>
          </a:p>
        </p:txBody>
      </p:sp>
      <p:sp>
        <p:nvSpPr>
          <p:cNvPr id="188" name="AutoShape 144">
            <a:extLst>
              <a:ext uri="{FF2B5EF4-FFF2-40B4-BE49-F238E27FC236}">
                <a16:creationId xmlns:a16="http://schemas.microsoft.com/office/drawing/2014/main" id="{4F6D49A1-BB5D-33C9-6B3F-E1051A6BB7D2}"/>
              </a:ext>
            </a:extLst>
          </p:cNvPr>
          <p:cNvSpPr>
            <a:spLocks/>
          </p:cNvSpPr>
          <p:nvPr/>
        </p:nvSpPr>
        <p:spPr bwMode="auto">
          <a:xfrm>
            <a:off x="10150331" y="4955919"/>
            <a:ext cx="88900" cy="733425"/>
          </a:xfrm>
          <a:prstGeom prst="rightBrace">
            <a:avLst>
              <a:gd name="adj1" fmla="val 68750"/>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eaLnBrk="1" hangingPunct="1"/>
            <a:endParaRPr lang="zh-CN" altLang="en-US"/>
          </a:p>
        </p:txBody>
      </p:sp>
      <p:graphicFrame>
        <p:nvGraphicFramePr>
          <p:cNvPr id="189" name="Object 145">
            <a:extLst>
              <a:ext uri="{FF2B5EF4-FFF2-40B4-BE49-F238E27FC236}">
                <a16:creationId xmlns:a16="http://schemas.microsoft.com/office/drawing/2014/main" id="{D2E7C9B2-552A-B417-E881-FB42DF648855}"/>
              </a:ext>
            </a:extLst>
          </p:cNvPr>
          <p:cNvGraphicFramePr>
            <a:graphicFrameLocks noChangeAspect="1"/>
          </p:cNvGraphicFramePr>
          <p:nvPr>
            <p:extLst>
              <p:ext uri="{D42A27DB-BD31-4B8C-83A1-F6EECF244321}">
                <p14:modId xmlns:p14="http://schemas.microsoft.com/office/powerpoint/2010/main" val="254836107"/>
              </p:ext>
            </p:extLst>
          </p:nvPr>
        </p:nvGraphicFramePr>
        <p:xfrm>
          <a:off x="1364754" y="5445892"/>
          <a:ext cx="5181476" cy="871529"/>
        </p:xfrm>
        <a:graphic>
          <a:graphicData uri="http://schemas.openxmlformats.org/presentationml/2006/ole">
            <mc:AlternateContent xmlns:mc="http://schemas.openxmlformats.org/markup-compatibility/2006">
              <mc:Choice xmlns:v="urn:schemas-microsoft-com:vml" Requires="v">
                <p:oleObj name="Equation" r:id="rId3" imgW="2692080" imgH="457200" progId="Equation.DSMT4">
                  <p:embed/>
                </p:oleObj>
              </mc:Choice>
              <mc:Fallback>
                <p:oleObj name="Equation" r:id="rId3" imgW="2692080" imgH="457200" progId="Equation.DSMT4">
                  <p:embed/>
                  <p:pic>
                    <p:nvPicPr>
                      <p:cNvPr id="189" name="Object 145">
                        <a:extLst>
                          <a:ext uri="{FF2B5EF4-FFF2-40B4-BE49-F238E27FC236}">
                            <a16:creationId xmlns:a16="http://schemas.microsoft.com/office/drawing/2014/main" id="{D2E7C9B2-552A-B417-E881-FB42DF648855}"/>
                          </a:ext>
                        </a:extLst>
                      </p:cNvPr>
                      <p:cNvPicPr>
                        <a:picLocks noChangeAspect="1" noChangeArrowheads="1"/>
                      </p:cNvPicPr>
                      <p:nvPr/>
                    </p:nvPicPr>
                    <p:blipFill>
                      <a:blip r:embed="rId4"/>
                      <a:srcRect/>
                      <a:stretch>
                        <a:fillRect/>
                      </a:stretch>
                    </p:blipFill>
                    <p:spPr bwMode="auto">
                      <a:xfrm>
                        <a:off x="1364754" y="5445892"/>
                        <a:ext cx="5181476" cy="871529"/>
                      </a:xfrm>
                      <a:prstGeom prst="rect">
                        <a:avLst/>
                      </a:prstGeom>
                      <a:noFill/>
                      <a:ln>
                        <a:noFill/>
                      </a:ln>
                    </p:spPr>
                  </p:pic>
                </p:oleObj>
              </mc:Fallback>
            </mc:AlternateContent>
          </a:graphicData>
        </a:graphic>
      </p:graphicFrame>
      <p:sp>
        <p:nvSpPr>
          <p:cNvPr id="79" name="矩形 78">
            <a:extLst>
              <a:ext uri="{FF2B5EF4-FFF2-40B4-BE49-F238E27FC236}">
                <a16:creationId xmlns:a16="http://schemas.microsoft.com/office/drawing/2014/main" id="{396E3A4E-3DCE-51D1-DE56-78AC0CFE008B}"/>
              </a:ext>
            </a:extLst>
          </p:cNvPr>
          <p:cNvSpPr/>
          <p:nvPr/>
        </p:nvSpPr>
        <p:spPr>
          <a:xfrm>
            <a:off x="551383" y="3072673"/>
            <a:ext cx="6346159" cy="1865126"/>
          </a:xfrm>
          <a:prstGeom prst="rect">
            <a:avLst/>
          </a:prstGeom>
        </p:spPr>
        <p:txBody>
          <a:bodyPr wrap="square">
            <a:spAutoFit/>
          </a:bodyPr>
          <a:lstStyle/>
          <a:p>
            <a:pPr lvl="0">
              <a:lnSpc>
                <a:spcPct val="120000"/>
              </a:lnSpc>
            </a:pPr>
            <a:r>
              <a:rPr kumimoji="1" lang="en-US" altLang="zh-CN" i="0" dirty="0">
                <a:solidFill>
                  <a:schemeClr val="tx1"/>
                </a:solidFill>
                <a:ea typeface="黑体" panose="02010609060101010101" pitchFamily="49" charset="-122"/>
              </a:rPr>
              <a:t>     2</a:t>
            </a:r>
            <a:r>
              <a:rPr kumimoji="1" lang="zh-CN" altLang="en-US" i="0" dirty="0">
                <a:solidFill>
                  <a:schemeClr val="tx1"/>
                </a:solidFill>
                <a:ea typeface="黑体" panose="02010609060101010101" pitchFamily="49" charset="-122"/>
              </a:rPr>
              <a:t>）</a:t>
            </a:r>
            <a:r>
              <a:rPr kumimoji="1" lang="zh-CN" altLang="en-US" sz="240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求横截面面积。该杆有两种大小不等的横截面面积</a:t>
            </a:r>
            <a:r>
              <a:rPr kumimoji="1" lang="en-US" altLang="zh-CN" sz="2400" b="0"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A</a:t>
            </a:r>
            <a:r>
              <a:rPr kumimoji="1" lang="en-US" altLang="zh-CN" sz="2400" b="0" i="0" u="none" strike="noStrike" kern="1200" cap="none" spc="0" normalizeH="0" baseline="-25000" noProof="0" dirty="0">
                <a:ln>
                  <a:noFill/>
                </a:ln>
                <a:solidFill>
                  <a:schemeClr val="tx1"/>
                </a:solidFill>
                <a:effectLst/>
                <a:uLnTx/>
                <a:uFillTx/>
                <a:latin typeface="Times New Roman" panose="02020603050405020304" pitchFamily="18" charset="0"/>
                <a:ea typeface="黑体" panose="02010609060101010101" pitchFamily="49" charset="-122"/>
                <a:cs typeface="+mn-cs"/>
              </a:rPr>
              <a:t>1</a:t>
            </a:r>
            <a:r>
              <a:rPr kumimoji="1" lang="zh-CN" altLang="en-US" sz="240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和</a:t>
            </a:r>
            <a:r>
              <a:rPr kumimoji="1" lang="en-US" altLang="zh-CN" sz="2400" b="0"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A</a:t>
            </a:r>
            <a:r>
              <a:rPr kumimoji="1" lang="en-US" altLang="zh-CN" sz="2400" b="0" i="0" u="none" strike="noStrike" kern="1200" cap="none" spc="0" normalizeH="0" baseline="-25000" noProof="0" dirty="0">
                <a:ln>
                  <a:noFill/>
                </a:ln>
                <a:solidFill>
                  <a:schemeClr val="tx1"/>
                </a:solidFill>
                <a:effectLst/>
                <a:uLnTx/>
                <a:uFillTx/>
                <a:latin typeface="Times New Roman" panose="02020603050405020304" pitchFamily="18" charset="0"/>
                <a:ea typeface="黑体" panose="02010609060101010101" pitchFamily="49" charset="-122"/>
                <a:cs typeface="+mn-cs"/>
              </a:rPr>
              <a:t>2</a:t>
            </a:r>
            <a:r>
              <a:rPr kumimoji="1" lang="zh-CN" altLang="en-US" sz="240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，显然</a:t>
            </a:r>
            <a:r>
              <a:rPr kumimoji="1" lang="en-US" altLang="zh-CN" sz="2400" b="0"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A</a:t>
            </a:r>
            <a:r>
              <a:rPr kumimoji="1" lang="en-US" altLang="zh-CN" sz="2400" b="0" i="0" u="none" strike="noStrike" kern="1200" cap="none" spc="0" normalizeH="0" baseline="-25000" noProof="0" dirty="0">
                <a:ln>
                  <a:noFill/>
                </a:ln>
                <a:solidFill>
                  <a:schemeClr val="tx1"/>
                </a:solidFill>
                <a:effectLst/>
                <a:uLnTx/>
                <a:uFillTx/>
                <a:latin typeface="Times New Roman" panose="02020603050405020304" pitchFamily="18" charset="0"/>
                <a:ea typeface="黑体" panose="02010609060101010101" pitchFamily="49" charset="-122"/>
                <a:cs typeface="+mn-cs"/>
              </a:rPr>
              <a:t>2</a:t>
            </a:r>
            <a:r>
              <a:rPr kumimoji="1" lang="zh-CN" altLang="en-US" sz="240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较小，故中段正应力大。</a:t>
            </a:r>
          </a:p>
          <a:p>
            <a:pPr marL="0" marR="0" lvl="0" indent="0" algn="ctr" defTabSz="914400" rtl="0" eaLnBrk="1" fontAlgn="base" latinLnBrk="0" hangingPunct="1">
              <a:lnSpc>
                <a:spcPct val="120000"/>
              </a:lnSpc>
              <a:spcBef>
                <a:spcPct val="0"/>
              </a:spcBef>
              <a:spcAft>
                <a:spcPct val="0"/>
              </a:spcAft>
              <a:buClrTx/>
              <a:buSzTx/>
              <a:buFontTx/>
              <a:buNone/>
              <a:tabLst/>
              <a:defRPr/>
            </a:pPr>
            <a:r>
              <a:rPr kumimoji="1" lang="en-US" altLang="zh-CN" sz="2400" b="0"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   A</a:t>
            </a:r>
            <a:r>
              <a:rPr kumimoji="1" lang="en-US" altLang="zh-CN" sz="2400" b="0" i="0" u="none" strike="noStrike" kern="1200" cap="none" spc="0" normalizeH="0" baseline="-25000" noProof="0" dirty="0">
                <a:ln>
                  <a:noFill/>
                </a:ln>
                <a:solidFill>
                  <a:schemeClr val="tx1"/>
                </a:solidFill>
                <a:effectLst/>
                <a:uLnTx/>
                <a:uFillTx/>
                <a:latin typeface="Times New Roman" panose="02020603050405020304" pitchFamily="18" charset="0"/>
                <a:ea typeface="黑体" panose="02010609060101010101" pitchFamily="49" charset="-122"/>
                <a:cs typeface="+mn-cs"/>
              </a:rPr>
              <a:t>2</a:t>
            </a:r>
            <a:r>
              <a:rPr kumimoji="1" lang="en-US" altLang="zh-CN" sz="2400" b="0"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a:t>
            </a: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a:t>
            </a:r>
            <a:r>
              <a:rPr kumimoji="1" lang="en-US" altLang="zh-CN" sz="2400" b="0"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h</a:t>
            </a:r>
            <a:r>
              <a:rPr kumimoji="1" lang="en-US" altLang="zh-CN" sz="2400" b="0" i="1"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a:t>
            </a:r>
            <a:r>
              <a:rPr kumimoji="1" lang="en-US" altLang="zh-CN" sz="2400" b="0"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h</a:t>
            </a:r>
            <a:r>
              <a:rPr kumimoji="1" lang="en-US" altLang="zh-CN" sz="2400" b="0" i="0" u="none" strike="noStrike" kern="1200" cap="none" spc="0" normalizeH="0" baseline="-25000" noProof="0" dirty="0">
                <a:ln>
                  <a:noFill/>
                </a:ln>
                <a:solidFill>
                  <a:schemeClr val="tx1"/>
                </a:solidFill>
                <a:effectLst/>
                <a:uLnTx/>
                <a:uFillTx/>
                <a:latin typeface="Times New Roman" panose="02020603050405020304" pitchFamily="18" charset="0"/>
                <a:ea typeface="黑体" panose="02010609060101010101" pitchFamily="49" charset="-122"/>
                <a:cs typeface="+mn-cs"/>
              </a:rPr>
              <a:t>0</a:t>
            </a: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a:t>
            </a:r>
            <a:r>
              <a:rPr kumimoji="1" lang="en-US" altLang="zh-CN" sz="2400" b="0"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b</a:t>
            </a: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=(25</a:t>
            </a:r>
            <a:r>
              <a:rPr kumimoji="1" lang="en-US" altLang="zh-CN" sz="24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a:t>
            </a: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10)</a:t>
            </a: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sym typeface="Symbol" panose="05050102010706020507" pitchFamily="18" charset="2"/>
              </a:rPr>
              <a:t></a:t>
            </a: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20mm</a:t>
            </a:r>
            <a:r>
              <a:rPr kumimoji="1" lang="en-US" altLang="zh-CN" sz="2400" b="0" i="0" u="none" strike="noStrike" kern="1200" cap="none" spc="0" normalizeH="0" baseline="30000" noProof="0" dirty="0">
                <a:ln>
                  <a:noFill/>
                </a:ln>
                <a:solidFill>
                  <a:schemeClr val="tx1"/>
                </a:solidFill>
                <a:effectLst/>
                <a:uLnTx/>
                <a:uFillTx/>
                <a:latin typeface="Times New Roman" panose="02020603050405020304" pitchFamily="18" charset="0"/>
                <a:ea typeface="黑体" panose="02010609060101010101" pitchFamily="49" charset="-122"/>
                <a:cs typeface="+mn-cs"/>
              </a:rPr>
              <a:t>2</a:t>
            </a: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=300mm</a:t>
            </a:r>
            <a:r>
              <a:rPr kumimoji="1" lang="en-US" altLang="zh-CN" sz="2400" b="0" i="0" u="none" strike="noStrike" kern="1200" cap="none" spc="0" normalizeH="0" baseline="30000" noProof="0" dirty="0">
                <a:ln>
                  <a:noFill/>
                </a:ln>
                <a:solidFill>
                  <a:schemeClr val="tx1"/>
                </a:solidFill>
                <a:effectLst/>
                <a:uLnTx/>
                <a:uFillTx/>
                <a:latin typeface="Times New Roman" panose="02020603050405020304" pitchFamily="18" charset="0"/>
                <a:ea typeface="黑体" panose="02010609060101010101" pitchFamily="49" charset="-122"/>
                <a:cs typeface="+mn-cs"/>
              </a:rPr>
              <a:t>2</a:t>
            </a: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 </a:t>
            </a:r>
          </a:p>
        </p:txBody>
      </p:sp>
      <p:sp>
        <p:nvSpPr>
          <p:cNvPr id="80" name="矩形 79">
            <a:extLst>
              <a:ext uri="{FF2B5EF4-FFF2-40B4-BE49-F238E27FC236}">
                <a16:creationId xmlns:a16="http://schemas.microsoft.com/office/drawing/2014/main" id="{396E3A4E-3DCE-51D1-DE56-78AC0CFE008B}"/>
              </a:ext>
            </a:extLst>
          </p:cNvPr>
          <p:cNvSpPr/>
          <p:nvPr/>
        </p:nvSpPr>
        <p:spPr>
          <a:xfrm>
            <a:off x="551383" y="4952744"/>
            <a:ext cx="6346159" cy="535531"/>
          </a:xfrm>
          <a:prstGeom prst="rect">
            <a:avLst/>
          </a:prstGeom>
        </p:spPr>
        <p:txBody>
          <a:bodyPr wrap="square">
            <a:spAutoFit/>
          </a:bodyPr>
          <a:lstStyle/>
          <a:p>
            <a:pPr lvl="0">
              <a:lnSpc>
                <a:spcPct val="120000"/>
              </a:lnSpc>
            </a:pPr>
            <a:r>
              <a:rPr kumimoji="1" lang="en-US" altLang="zh-CN" i="0" dirty="0">
                <a:solidFill>
                  <a:schemeClr val="tx1"/>
                </a:solidFill>
                <a:ea typeface="黑体" panose="02010609060101010101" pitchFamily="49" charset="-122"/>
              </a:rPr>
              <a:t>    3</a:t>
            </a:r>
            <a:r>
              <a:rPr kumimoji="1" lang="zh-CN" altLang="en-US" i="0" dirty="0">
                <a:solidFill>
                  <a:schemeClr val="tx1"/>
                </a:solidFill>
                <a:ea typeface="黑体" panose="02010609060101010101" pitchFamily="49" charset="-122"/>
              </a:rPr>
              <a:t>）计算最大正应力</a:t>
            </a:r>
            <a:endPar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endParaRPr>
          </a:p>
        </p:txBody>
      </p:sp>
    </p:spTree>
    <p:extLst>
      <p:ext uri="{BB962C8B-B14F-4D97-AF65-F5344CB8AC3E}">
        <p14:creationId xmlns:p14="http://schemas.microsoft.com/office/powerpoint/2010/main" val="3285214023"/>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7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69"/>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78"/>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8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8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8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88"/>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80"/>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 grpId="0"/>
      <p:bldP spid="13" grpId="0"/>
      <p:bldP spid="186" grpId="0" animBg="1"/>
      <p:bldP spid="187" grpId="0"/>
      <p:bldP spid="188" grpId="0" animBg="1"/>
      <p:bldP spid="79" grpId="0"/>
      <p:bldP spid="80"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711605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第八章   拉压、剪切与挤压的强度计算</a:t>
            </a:r>
          </a:p>
        </p:txBody>
      </p:sp>
      <p:sp>
        <p:nvSpPr>
          <p:cNvPr id="9" name="Rectangle 61"/>
          <p:cNvSpPr>
            <a:spLocks noChangeArrowheads="1"/>
          </p:cNvSpPr>
          <p:nvPr/>
        </p:nvSpPr>
        <p:spPr bwMode="auto">
          <a:xfrm>
            <a:off x="7248128" y="1500421"/>
            <a:ext cx="4824536" cy="3054703"/>
          </a:xfrm>
          <a:prstGeom prst="rect">
            <a:avLst/>
          </a:prstGeom>
          <a:solidFill>
            <a:srgbClr val="B9CDE5"/>
          </a:solidFill>
          <a:ln>
            <a:noFill/>
          </a:ln>
          <a:effectLst/>
        </p:spPr>
        <p:txBody>
          <a:bodyPr wrap="none" anchor="ctr"/>
          <a:lstStyle/>
          <a:p>
            <a:endParaRPr lang="zh-CN" altLang="en-US"/>
          </a:p>
        </p:txBody>
      </p:sp>
      <p:sp>
        <p:nvSpPr>
          <p:cNvPr id="53" name="Text Box 1032"/>
          <p:cNvSpPr txBox="1">
            <a:spLocks noChangeArrowheads="1"/>
          </p:cNvSpPr>
          <p:nvPr/>
        </p:nvSpPr>
        <p:spPr bwMode="auto">
          <a:xfrm>
            <a:off x="220393" y="1423652"/>
            <a:ext cx="6883968" cy="3376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lnSpc>
                <a:spcPct val="110000"/>
              </a:lnSpc>
            </a:pPr>
            <a:r>
              <a:rPr lang="zh-CN" altLang="en-US" sz="2800" i="0" dirty="0">
                <a:latin typeface="微软雅黑" panose="020B0503020204020204" pitchFamily="34" charset="-122"/>
                <a:ea typeface="微软雅黑" panose="020B0503020204020204" pitchFamily="34" charset="-122"/>
              </a:rPr>
              <a:t>轴向拉（压）杆的破坏有时不沿着</a:t>
            </a:r>
            <a:r>
              <a:rPr lang="zh-CN" altLang="en-US" sz="2800" i="0" dirty="0">
                <a:latin typeface="+mn-lt"/>
                <a:ea typeface="微软雅黑" panose="020B0503020204020204" pitchFamily="34" charset="-122"/>
              </a:rPr>
              <a:t>横截面，例如铸铁压缩时沿着大约与轴线成</a:t>
            </a:r>
            <a:r>
              <a:rPr lang="en-US" altLang="zh-CN" sz="2800" b="0" i="0" dirty="0">
                <a:latin typeface="+mn-lt"/>
                <a:ea typeface="微软雅黑" panose="020B0503020204020204" pitchFamily="34" charset="-122"/>
              </a:rPr>
              <a:t>45</a:t>
            </a:r>
            <a:r>
              <a:rPr lang="en-US" altLang="zh-CN" sz="2800" b="0" i="0" dirty="0">
                <a:latin typeface="+mn-lt"/>
                <a:ea typeface="微软雅黑" panose="020B0503020204020204" pitchFamily="34" charset="-122"/>
                <a:sym typeface="Symbol" panose="05050102010706020507" pitchFamily="18" charset="2"/>
              </a:rPr>
              <a:t></a:t>
            </a:r>
            <a:r>
              <a:rPr lang="zh-CN" altLang="en-US" sz="2800" i="0" dirty="0">
                <a:latin typeface="+mn-lt"/>
                <a:ea typeface="微软雅黑" panose="020B0503020204020204" pitchFamily="34" charset="-122"/>
              </a:rPr>
              <a:t>的</a:t>
            </a:r>
            <a:r>
              <a:rPr lang="zh-CN" altLang="en-US" sz="2800" i="0" dirty="0">
                <a:latin typeface="微软雅黑" panose="020B0503020204020204" pitchFamily="34" charset="-122"/>
                <a:ea typeface="微软雅黑" panose="020B0503020204020204" pitchFamily="34" charset="-122"/>
              </a:rPr>
              <a:t>斜截面发生破坏，因此有必要研究轴向拉（压）杆斜截面上的应力。设图示拉杆的横截面</a:t>
            </a:r>
            <a:r>
              <a:rPr lang="zh-CN" altLang="en-US" sz="2800" i="0" dirty="0">
                <a:latin typeface="+mn-lt"/>
                <a:ea typeface="微软雅黑" panose="020B0503020204020204" pitchFamily="34" charset="-122"/>
              </a:rPr>
              <a:t>面积为</a:t>
            </a:r>
            <a:r>
              <a:rPr lang="en-US" altLang="zh-CN" sz="2800" b="0" dirty="0">
                <a:latin typeface="+mn-lt"/>
                <a:ea typeface="微软雅黑" panose="020B0503020204020204" pitchFamily="34" charset="-122"/>
              </a:rPr>
              <a:t>A</a:t>
            </a:r>
            <a:r>
              <a:rPr lang="zh-CN" altLang="en-US" sz="2800" i="0" dirty="0">
                <a:latin typeface="+mn-lt"/>
                <a:ea typeface="微软雅黑" panose="020B0503020204020204" pitchFamily="34" charset="-122"/>
              </a:rPr>
              <a:t>，任意斜截面</a:t>
            </a:r>
            <a:r>
              <a:rPr lang="en-US" altLang="zh-CN" sz="2800" b="0" dirty="0">
                <a:latin typeface="+mn-lt"/>
                <a:ea typeface="微软雅黑" panose="020B0503020204020204" pitchFamily="34" charset="-122"/>
              </a:rPr>
              <a:t>k-k</a:t>
            </a:r>
            <a:r>
              <a:rPr lang="en-US" altLang="zh-CN" sz="2800" b="0" dirty="0">
                <a:latin typeface="+mn-lt"/>
                <a:ea typeface="微软雅黑" panose="020B0503020204020204" pitchFamily="34" charset="-122"/>
                <a:cs typeface="Times New Roman" panose="02020603050405020304" pitchFamily="18" charset="0"/>
              </a:rPr>
              <a:t>'</a:t>
            </a:r>
            <a:r>
              <a:rPr lang="zh-CN" altLang="en-US" sz="2800" i="0" dirty="0">
                <a:latin typeface="+mn-lt"/>
                <a:ea typeface="微软雅黑" panose="020B0503020204020204" pitchFamily="34" charset="-122"/>
              </a:rPr>
              <a:t>的方位角为</a:t>
            </a:r>
            <a:r>
              <a:rPr lang="zh-CN" altLang="en-US" sz="2800" b="0" dirty="0">
                <a:latin typeface="+mn-lt"/>
                <a:ea typeface="微软雅黑" panose="020B0503020204020204" pitchFamily="34" charset="-122"/>
                <a:sym typeface="Symbol" panose="05050102010706020507" pitchFamily="18" charset="2"/>
              </a:rPr>
              <a:t></a:t>
            </a:r>
            <a:r>
              <a:rPr lang="zh-CN" altLang="en-US" sz="2800" i="0" dirty="0">
                <a:latin typeface="+mn-lt"/>
                <a:ea typeface="微软雅黑" panose="020B0503020204020204" pitchFamily="34" charset="-122"/>
              </a:rPr>
              <a:t>。用截面法可求得斜截面上的内力为</a:t>
            </a:r>
            <a:endParaRPr lang="en-US" altLang="zh-CN" sz="2800" i="0" dirty="0">
              <a:latin typeface="+mn-lt"/>
              <a:ea typeface="微软雅黑" panose="020B0503020204020204" pitchFamily="34" charset="-122"/>
            </a:endParaRPr>
          </a:p>
          <a:p>
            <a:pPr algn="ctr">
              <a:lnSpc>
                <a:spcPct val="110000"/>
              </a:lnSpc>
            </a:pPr>
            <a:r>
              <a:rPr lang="en-US" altLang="zh-CN" sz="2800" b="0" dirty="0"/>
              <a:t>F</a:t>
            </a:r>
            <a:r>
              <a:rPr lang="en-US" altLang="zh-CN" sz="2800" b="0" baseline="-25000" dirty="0">
                <a:sym typeface="Symbol" panose="05050102010706020507" pitchFamily="18" charset="2"/>
              </a:rPr>
              <a:t></a:t>
            </a:r>
            <a:r>
              <a:rPr lang="en-US" altLang="zh-CN" sz="2800" b="0" dirty="0"/>
              <a:t> =F</a:t>
            </a:r>
            <a:endParaRPr lang="zh-CN" altLang="en-US" sz="2800" i="0" dirty="0">
              <a:latin typeface="微软雅黑" panose="020B0503020204020204" pitchFamily="34" charset="-122"/>
              <a:ea typeface="微软雅黑" panose="020B0503020204020204" pitchFamily="34" charset="-122"/>
            </a:endParaRPr>
          </a:p>
        </p:txBody>
      </p:sp>
      <p:sp>
        <p:nvSpPr>
          <p:cNvPr id="2" name="矩形 1"/>
          <p:cNvSpPr/>
          <p:nvPr/>
        </p:nvSpPr>
        <p:spPr>
          <a:xfrm>
            <a:off x="3909082" y="876972"/>
            <a:ext cx="2877711" cy="599331"/>
          </a:xfrm>
          <a:prstGeom prst="rect">
            <a:avLst/>
          </a:prstGeom>
        </p:spPr>
        <p:txBody>
          <a:bodyPr wrap="none">
            <a:spAutoFit/>
          </a:bodyPr>
          <a:lstStyle/>
          <a:p>
            <a:pPr>
              <a:lnSpc>
                <a:spcPct val="120000"/>
              </a:lnSpc>
            </a:pPr>
            <a:r>
              <a:rPr lang="zh-CN" altLang="en-US" sz="3000" i="0" dirty="0">
                <a:solidFill>
                  <a:srgbClr val="4F81BD"/>
                </a:solidFill>
                <a:latin typeface="微软雅黑" panose="020B0503020204020204" pitchFamily="34" charset="-122"/>
                <a:ea typeface="微软雅黑" panose="020B0503020204020204" pitchFamily="34" charset="-122"/>
              </a:rPr>
              <a:t>斜截面上的应力</a:t>
            </a:r>
          </a:p>
        </p:txBody>
      </p:sp>
      <p:grpSp>
        <p:nvGrpSpPr>
          <p:cNvPr id="3" name="Group 30">
            <a:extLst>
              <a:ext uri="{FF2B5EF4-FFF2-40B4-BE49-F238E27FC236}">
                <a16:creationId xmlns:a16="http://schemas.microsoft.com/office/drawing/2014/main" id="{5D5B9A1B-D6B8-3CDB-AA80-F36FA6A1340F}"/>
              </a:ext>
            </a:extLst>
          </p:cNvPr>
          <p:cNvGrpSpPr>
            <a:grpSpLocks/>
          </p:cNvGrpSpPr>
          <p:nvPr/>
        </p:nvGrpSpPr>
        <p:grpSpPr bwMode="auto">
          <a:xfrm>
            <a:off x="7517110" y="1673809"/>
            <a:ext cx="4384675" cy="1585913"/>
            <a:chOff x="2888" y="328"/>
            <a:chExt cx="2762" cy="999"/>
          </a:xfrm>
        </p:grpSpPr>
        <p:sp>
          <p:nvSpPr>
            <p:cNvPr id="4" name="Rectangle 9">
              <a:extLst>
                <a:ext uri="{FF2B5EF4-FFF2-40B4-BE49-F238E27FC236}">
                  <a16:creationId xmlns:a16="http://schemas.microsoft.com/office/drawing/2014/main" id="{0761848B-1172-1EB6-21A7-07EA9C18A817}"/>
                </a:ext>
              </a:extLst>
            </p:cNvPr>
            <p:cNvSpPr>
              <a:spLocks noChangeAspect="1" noChangeArrowheads="1"/>
            </p:cNvSpPr>
            <p:nvPr/>
          </p:nvSpPr>
          <p:spPr bwMode="auto">
            <a:xfrm flipV="1">
              <a:off x="3335" y="627"/>
              <a:ext cx="1851" cy="447"/>
            </a:xfrm>
            <a:prstGeom prst="rect">
              <a:avLst/>
            </a:prstGeom>
            <a:gradFill rotWithShape="1">
              <a:gsLst>
                <a:gs pos="0">
                  <a:schemeClr val="bg1">
                    <a:gamma/>
                    <a:shade val="46275"/>
                    <a:invGamma/>
                  </a:schemeClr>
                </a:gs>
                <a:gs pos="50000">
                  <a:schemeClr val="bg1"/>
                </a:gs>
                <a:gs pos="100000">
                  <a:schemeClr val="bg1">
                    <a:gamma/>
                    <a:shade val="46275"/>
                    <a:invGamma/>
                  </a:schemeClr>
                </a:gs>
              </a:gsLst>
              <a:lin ang="5400000" scaled="1"/>
            </a:gradFill>
            <a:ln w="28575">
              <a:solidFill>
                <a:srgbClr val="000000"/>
              </a:solidFill>
              <a:miter lim="800000"/>
              <a:headEnd/>
              <a:tailEnd type="none" w="sm" len="sm"/>
            </a:ln>
            <a:effectLst/>
          </p:spPr>
          <p:txBody>
            <a:bodyPr/>
            <a:lstStyle/>
            <a:p>
              <a:pPr>
                <a:defRPr/>
              </a:pPr>
              <a:endParaRPr lang="zh-CN" altLang="en-US">
                <a:ea typeface="黑体" pitchFamily="2" charset="-122"/>
              </a:endParaRPr>
            </a:p>
          </p:txBody>
        </p:sp>
        <p:sp>
          <p:nvSpPr>
            <p:cNvPr id="5" name="Text Box 10">
              <a:extLst>
                <a:ext uri="{FF2B5EF4-FFF2-40B4-BE49-F238E27FC236}">
                  <a16:creationId xmlns:a16="http://schemas.microsoft.com/office/drawing/2014/main" id="{948B8D70-EC2E-702C-CF35-B0752A86BD83}"/>
                </a:ext>
              </a:extLst>
            </p:cNvPr>
            <p:cNvSpPr txBox="1">
              <a:spLocks noChangeAspect="1" noChangeArrowheads="1"/>
            </p:cNvSpPr>
            <p:nvPr/>
          </p:nvSpPr>
          <p:spPr bwMode="auto">
            <a:xfrm>
              <a:off x="5388" y="592"/>
              <a:ext cx="262"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hangingPunct="1"/>
              <a:r>
                <a:rPr lang="en-US" altLang="zh-CN" b="0" i="1" dirty="0">
                  <a:solidFill>
                    <a:schemeClr val="tx1"/>
                  </a:solidFill>
                  <a:ea typeface="宋体" panose="02010600030101010101" pitchFamily="2" charset="-122"/>
                </a:rPr>
                <a:t>F</a:t>
              </a:r>
              <a:endParaRPr lang="en-US" altLang="zh-CN" b="0" baseline="-25000" dirty="0">
                <a:solidFill>
                  <a:schemeClr val="tx1"/>
                </a:solidFill>
                <a:ea typeface="宋体" panose="02010600030101010101" pitchFamily="2" charset="-122"/>
              </a:endParaRPr>
            </a:p>
          </p:txBody>
        </p:sp>
        <p:sp>
          <p:nvSpPr>
            <p:cNvPr id="6" name="Text Box 12">
              <a:extLst>
                <a:ext uri="{FF2B5EF4-FFF2-40B4-BE49-F238E27FC236}">
                  <a16:creationId xmlns:a16="http://schemas.microsoft.com/office/drawing/2014/main" id="{C727A5C2-2B17-86BD-2172-8924DF933891}"/>
                </a:ext>
              </a:extLst>
            </p:cNvPr>
            <p:cNvSpPr txBox="1">
              <a:spLocks noChangeAspect="1" noChangeArrowheads="1"/>
            </p:cNvSpPr>
            <p:nvPr/>
          </p:nvSpPr>
          <p:spPr bwMode="auto">
            <a:xfrm>
              <a:off x="2888" y="558"/>
              <a:ext cx="337"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hangingPunct="1"/>
              <a:r>
                <a:rPr lang="en-US" altLang="zh-CN" b="0" i="1" dirty="0">
                  <a:solidFill>
                    <a:schemeClr val="tx1"/>
                  </a:solidFill>
                  <a:ea typeface="宋体" panose="02010600030101010101" pitchFamily="2" charset="-122"/>
                </a:rPr>
                <a:t>F</a:t>
              </a:r>
              <a:endParaRPr lang="en-US" altLang="zh-CN" b="0" baseline="-25000" dirty="0">
                <a:solidFill>
                  <a:schemeClr val="tx1"/>
                </a:solidFill>
                <a:ea typeface="宋体" panose="02010600030101010101" pitchFamily="2" charset="-122"/>
              </a:endParaRPr>
            </a:p>
          </p:txBody>
        </p:sp>
        <p:sp>
          <p:nvSpPr>
            <p:cNvPr id="8" name="Line 13">
              <a:extLst>
                <a:ext uri="{FF2B5EF4-FFF2-40B4-BE49-F238E27FC236}">
                  <a16:creationId xmlns:a16="http://schemas.microsoft.com/office/drawing/2014/main" id="{24822883-1C49-8984-F698-F2A8BE106B94}"/>
                </a:ext>
              </a:extLst>
            </p:cNvPr>
            <p:cNvSpPr>
              <a:spLocks noChangeShapeType="1"/>
            </p:cNvSpPr>
            <p:nvPr/>
          </p:nvSpPr>
          <p:spPr bwMode="auto">
            <a:xfrm>
              <a:off x="3176" y="851"/>
              <a:ext cx="2308" cy="0"/>
            </a:xfrm>
            <a:prstGeom prst="line">
              <a:avLst/>
            </a:prstGeom>
            <a:noFill/>
            <a:ln w="9525">
              <a:solidFill>
                <a:schemeClr val="tx1"/>
              </a:solidFill>
              <a:prstDash val="lgDash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 name="Line 14">
              <a:extLst>
                <a:ext uri="{FF2B5EF4-FFF2-40B4-BE49-F238E27FC236}">
                  <a16:creationId xmlns:a16="http://schemas.microsoft.com/office/drawing/2014/main" id="{217E5DD5-2C99-0F46-A545-9816F1B20818}"/>
                </a:ext>
              </a:extLst>
            </p:cNvPr>
            <p:cNvSpPr>
              <a:spLocks noChangeAspect="1" noChangeShapeType="1"/>
            </p:cNvSpPr>
            <p:nvPr/>
          </p:nvSpPr>
          <p:spPr bwMode="auto">
            <a:xfrm>
              <a:off x="5185" y="853"/>
              <a:ext cx="419" cy="1"/>
            </a:xfrm>
            <a:prstGeom prst="line">
              <a:avLst/>
            </a:prstGeom>
            <a:noFill/>
            <a:ln w="38100">
              <a:solidFill>
                <a:schemeClr val="tx1"/>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11" name="Line 15">
              <a:extLst>
                <a:ext uri="{FF2B5EF4-FFF2-40B4-BE49-F238E27FC236}">
                  <a16:creationId xmlns:a16="http://schemas.microsoft.com/office/drawing/2014/main" id="{F8C58AD8-DE5A-C88A-E7FC-1BF90906E248}"/>
                </a:ext>
              </a:extLst>
            </p:cNvPr>
            <p:cNvSpPr>
              <a:spLocks noChangeAspect="1" noChangeShapeType="1"/>
            </p:cNvSpPr>
            <p:nvPr/>
          </p:nvSpPr>
          <p:spPr bwMode="auto">
            <a:xfrm flipH="1">
              <a:off x="2913" y="851"/>
              <a:ext cx="434" cy="0"/>
            </a:xfrm>
            <a:prstGeom prst="line">
              <a:avLst/>
            </a:prstGeom>
            <a:noFill/>
            <a:ln w="38100">
              <a:solidFill>
                <a:schemeClr val="tx1"/>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12" name="Line 16">
              <a:extLst>
                <a:ext uri="{FF2B5EF4-FFF2-40B4-BE49-F238E27FC236}">
                  <a16:creationId xmlns:a16="http://schemas.microsoft.com/office/drawing/2014/main" id="{02BC8BB1-D24C-580B-AD90-498526303427}"/>
                </a:ext>
              </a:extLst>
            </p:cNvPr>
            <p:cNvSpPr>
              <a:spLocks noChangeShapeType="1"/>
            </p:cNvSpPr>
            <p:nvPr/>
          </p:nvSpPr>
          <p:spPr bwMode="auto">
            <a:xfrm>
              <a:off x="4184" y="623"/>
              <a:ext cx="257" cy="44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 name="Line 17">
              <a:extLst>
                <a:ext uri="{FF2B5EF4-FFF2-40B4-BE49-F238E27FC236}">
                  <a16:creationId xmlns:a16="http://schemas.microsoft.com/office/drawing/2014/main" id="{37968FC5-6F9A-BAEC-10CE-DCB3E98BD86A}"/>
                </a:ext>
              </a:extLst>
            </p:cNvPr>
            <p:cNvSpPr>
              <a:spLocks noChangeShapeType="1"/>
            </p:cNvSpPr>
            <p:nvPr/>
          </p:nvSpPr>
          <p:spPr bwMode="auto">
            <a:xfrm>
              <a:off x="4184" y="627"/>
              <a:ext cx="0" cy="44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 name="Arc 18">
              <a:extLst>
                <a:ext uri="{FF2B5EF4-FFF2-40B4-BE49-F238E27FC236}">
                  <a16:creationId xmlns:a16="http://schemas.microsoft.com/office/drawing/2014/main" id="{4A4E22D7-97E1-505D-C650-04633BA0BA78}"/>
                </a:ext>
              </a:extLst>
            </p:cNvPr>
            <p:cNvSpPr>
              <a:spLocks/>
            </p:cNvSpPr>
            <p:nvPr/>
          </p:nvSpPr>
          <p:spPr bwMode="auto">
            <a:xfrm flipV="1">
              <a:off x="4176" y="838"/>
              <a:ext cx="128" cy="59"/>
            </a:xfrm>
            <a:custGeom>
              <a:avLst/>
              <a:gdLst>
                <a:gd name="T0" fmla="*/ 0 w 21600"/>
                <a:gd name="T1" fmla="*/ 0 h 21600"/>
                <a:gd name="T2" fmla="*/ 1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5" name="Rectangle 19">
              <a:extLst>
                <a:ext uri="{FF2B5EF4-FFF2-40B4-BE49-F238E27FC236}">
                  <a16:creationId xmlns:a16="http://schemas.microsoft.com/office/drawing/2014/main" id="{F130BCF3-2E1C-3042-9864-450E31BD9F54}"/>
                </a:ext>
              </a:extLst>
            </p:cNvPr>
            <p:cNvSpPr>
              <a:spLocks noChangeArrowheads="1"/>
            </p:cNvSpPr>
            <p:nvPr/>
          </p:nvSpPr>
          <p:spPr bwMode="auto">
            <a:xfrm>
              <a:off x="4125" y="796"/>
              <a:ext cx="23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eaLnBrk="1" hangingPunct="1"/>
              <a:r>
                <a:rPr lang="en-US" altLang="zh-CN" b="0" i="1" dirty="0">
                  <a:solidFill>
                    <a:schemeClr val="tx1"/>
                  </a:solidFill>
                  <a:sym typeface="Symbol" panose="05050102010706020507" pitchFamily="18" charset="2"/>
                </a:rPr>
                <a:t></a:t>
              </a:r>
            </a:p>
          </p:txBody>
        </p:sp>
        <p:sp>
          <p:nvSpPr>
            <p:cNvPr id="16" name="Line 20">
              <a:extLst>
                <a:ext uri="{FF2B5EF4-FFF2-40B4-BE49-F238E27FC236}">
                  <a16:creationId xmlns:a16="http://schemas.microsoft.com/office/drawing/2014/main" id="{17819A26-3FD9-7844-E50E-B726CDD14E90}"/>
                </a:ext>
              </a:extLst>
            </p:cNvPr>
            <p:cNvSpPr>
              <a:spLocks noChangeShapeType="1"/>
            </p:cNvSpPr>
            <p:nvPr/>
          </p:nvSpPr>
          <p:spPr bwMode="auto">
            <a:xfrm rot="-5400000">
              <a:off x="4421" y="405"/>
              <a:ext cx="325" cy="564"/>
            </a:xfrm>
            <a:prstGeom prst="line">
              <a:avLst/>
            </a:prstGeom>
            <a:noFill/>
            <a:ln w="19050">
              <a:solidFill>
                <a:srgbClr val="FF6600"/>
              </a:solidFill>
              <a:round/>
              <a:headEnd/>
              <a:tailEnd type="stealth" w="sm" len="lg"/>
            </a:ln>
            <a:extLst>
              <a:ext uri="{909E8E84-426E-40DD-AFC4-6F175D3DCCD1}">
                <a14:hiddenFill xmlns:a14="http://schemas.microsoft.com/office/drawing/2010/main">
                  <a:noFill/>
                </a14:hiddenFill>
              </a:ext>
            </a:extLst>
          </p:spPr>
          <p:txBody>
            <a:bodyPr/>
            <a:lstStyle/>
            <a:p>
              <a:endParaRPr lang="zh-CN" altLang="en-US" dirty="0"/>
            </a:p>
          </p:txBody>
        </p:sp>
        <p:sp>
          <p:nvSpPr>
            <p:cNvPr id="17" name="Arc 22">
              <a:extLst>
                <a:ext uri="{FF2B5EF4-FFF2-40B4-BE49-F238E27FC236}">
                  <a16:creationId xmlns:a16="http://schemas.microsoft.com/office/drawing/2014/main" id="{7D678BB6-154E-6C75-F844-40C1C488009C}"/>
                </a:ext>
              </a:extLst>
            </p:cNvPr>
            <p:cNvSpPr>
              <a:spLocks/>
            </p:cNvSpPr>
            <p:nvPr/>
          </p:nvSpPr>
          <p:spPr bwMode="auto">
            <a:xfrm rot="17190262" flipV="1">
              <a:off x="4484" y="752"/>
              <a:ext cx="128" cy="59"/>
            </a:xfrm>
            <a:custGeom>
              <a:avLst/>
              <a:gdLst>
                <a:gd name="T0" fmla="*/ 0 w 21600"/>
                <a:gd name="T1" fmla="*/ 0 h 21600"/>
                <a:gd name="T2" fmla="*/ 1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8" name="Rectangle 23">
              <a:extLst>
                <a:ext uri="{FF2B5EF4-FFF2-40B4-BE49-F238E27FC236}">
                  <a16:creationId xmlns:a16="http://schemas.microsoft.com/office/drawing/2014/main" id="{59BD12F8-BC4E-8D06-DF05-63F9B7AAE53F}"/>
                </a:ext>
              </a:extLst>
            </p:cNvPr>
            <p:cNvSpPr>
              <a:spLocks noChangeArrowheads="1"/>
            </p:cNvSpPr>
            <p:nvPr/>
          </p:nvSpPr>
          <p:spPr bwMode="auto">
            <a:xfrm>
              <a:off x="4520" y="587"/>
              <a:ext cx="23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eaLnBrk="1" hangingPunct="1"/>
              <a:r>
                <a:rPr lang="en-US" altLang="zh-CN" b="0" i="1" dirty="0">
                  <a:solidFill>
                    <a:schemeClr val="tx1"/>
                  </a:solidFill>
                  <a:sym typeface="Symbol" panose="05050102010706020507" pitchFamily="18" charset="2"/>
                </a:rPr>
                <a:t></a:t>
              </a:r>
            </a:p>
          </p:txBody>
        </p:sp>
        <p:sp>
          <p:nvSpPr>
            <p:cNvPr id="19" name="Rectangle 25">
              <a:extLst>
                <a:ext uri="{FF2B5EF4-FFF2-40B4-BE49-F238E27FC236}">
                  <a16:creationId xmlns:a16="http://schemas.microsoft.com/office/drawing/2014/main" id="{121E7A54-CAA0-5811-A5B7-22A862CAE1CC}"/>
                </a:ext>
              </a:extLst>
            </p:cNvPr>
            <p:cNvSpPr>
              <a:spLocks noChangeArrowheads="1"/>
            </p:cNvSpPr>
            <p:nvPr/>
          </p:nvSpPr>
          <p:spPr bwMode="auto">
            <a:xfrm>
              <a:off x="4661" y="328"/>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eaLnBrk="1" hangingPunct="1"/>
              <a:r>
                <a:rPr lang="en-US" altLang="zh-CN" b="0" i="1" dirty="0">
                  <a:solidFill>
                    <a:schemeClr val="tx1"/>
                  </a:solidFill>
                  <a:sym typeface="Symbol" panose="05050102010706020507" pitchFamily="18" charset="2"/>
                </a:rPr>
                <a:t>n</a:t>
              </a:r>
            </a:p>
          </p:txBody>
        </p:sp>
        <p:sp>
          <p:nvSpPr>
            <p:cNvPr id="20" name="Rectangle 26">
              <a:extLst>
                <a:ext uri="{FF2B5EF4-FFF2-40B4-BE49-F238E27FC236}">
                  <a16:creationId xmlns:a16="http://schemas.microsoft.com/office/drawing/2014/main" id="{3366070B-A03B-0AE6-1E5B-A9C530BBDFB1}"/>
                </a:ext>
              </a:extLst>
            </p:cNvPr>
            <p:cNvSpPr>
              <a:spLocks noChangeArrowheads="1"/>
            </p:cNvSpPr>
            <p:nvPr/>
          </p:nvSpPr>
          <p:spPr bwMode="auto">
            <a:xfrm>
              <a:off x="4078" y="400"/>
              <a:ext cx="20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eaLnBrk="1" hangingPunct="1"/>
              <a:r>
                <a:rPr lang="en-US" altLang="zh-CN" b="0" i="1" dirty="0">
                  <a:solidFill>
                    <a:schemeClr val="tx1"/>
                  </a:solidFill>
                  <a:sym typeface="Symbol" panose="05050102010706020507" pitchFamily="18" charset="2"/>
                </a:rPr>
                <a:t>k</a:t>
              </a:r>
            </a:p>
          </p:txBody>
        </p:sp>
        <p:sp>
          <p:nvSpPr>
            <p:cNvPr id="21" name="Rectangle 27">
              <a:extLst>
                <a:ext uri="{FF2B5EF4-FFF2-40B4-BE49-F238E27FC236}">
                  <a16:creationId xmlns:a16="http://schemas.microsoft.com/office/drawing/2014/main" id="{65634963-BDF9-994A-1E8D-259A1606FEE0}"/>
                </a:ext>
              </a:extLst>
            </p:cNvPr>
            <p:cNvSpPr>
              <a:spLocks noChangeArrowheads="1"/>
            </p:cNvSpPr>
            <p:nvPr/>
          </p:nvSpPr>
          <p:spPr bwMode="auto">
            <a:xfrm>
              <a:off x="4370" y="1039"/>
              <a:ext cx="24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eaLnBrk="1" hangingPunct="1"/>
              <a:r>
                <a:rPr lang="en-US" altLang="zh-CN" b="0" i="1" dirty="0">
                  <a:solidFill>
                    <a:schemeClr val="tx1"/>
                  </a:solidFill>
                  <a:sym typeface="Symbol" panose="05050102010706020507" pitchFamily="18" charset="2"/>
                </a:rPr>
                <a:t>k</a:t>
              </a:r>
              <a:r>
                <a:rPr lang="en-US" altLang="zh-CN" b="0" i="1" dirty="0">
                  <a:solidFill>
                    <a:schemeClr val="tx1"/>
                  </a:solidFill>
                  <a:cs typeface="Times New Roman" panose="02020603050405020304" pitchFamily="18" charset="0"/>
                  <a:sym typeface="Symbol" panose="05050102010706020507" pitchFamily="18" charset="2"/>
                </a:rPr>
                <a:t>'</a:t>
              </a:r>
            </a:p>
          </p:txBody>
        </p:sp>
        <p:sp>
          <p:nvSpPr>
            <p:cNvPr id="22" name="Rectangle 28">
              <a:extLst>
                <a:ext uri="{FF2B5EF4-FFF2-40B4-BE49-F238E27FC236}">
                  <a16:creationId xmlns:a16="http://schemas.microsoft.com/office/drawing/2014/main" id="{9A23BE53-F632-4718-932C-A8F231EE78B1}"/>
                </a:ext>
              </a:extLst>
            </p:cNvPr>
            <p:cNvSpPr>
              <a:spLocks noChangeArrowheads="1"/>
            </p:cNvSpPr>
            <p:nvPr/>
          </p:nvSpPr>
          <p:spPr bwMode="auto">
            <a:xfrm>
              <a:off x="3853" y="1016"/>
              <a:ext cx="23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eaLnBrk="1" hangingPunct="1"/>
              <a:r>
                <a:rPr lang="en-US" altLang="zh-CN" b="0" dirty="0">
                  <a:solidFill>
                    <a:schemeClr val="tx1"/>
                  </a:solidFill>
                  <a:sym typeface="Symbol" panose="05050102010706020507" pitchFamily="18" charset="2"/>
                </a:rPr>
                <a:t>A</a:t>
              </a:r>
            </a:p>
          </p:txBody>
        </p:sp>
        <p:sp>
          <p:nvSpPr>
            <p:cNvPr id="23" name="Line 29">
              <a:extLst>
                <a:ext uri="{FF2B5EF4-FFF2-40B4-BE49-F238E27FC236}">
                  <a16:creationId xmlns:a16="http://schemas.microsoft.com/office/drawing/2014/main" id="{3F697DF7-0CCE-62B0-44E1-DAB8C0982597}"/>
                </a:ext>
              </a:extLst>
            </p:cNvPr>
            <p:cNvSpPr>
              <a:spLocks noChangeShapeType="1"/>
            </p:cNvSpPr>
            <p:nvPr/>
          </p:nvSpPr>
          <p:spPr bwMode="auto">
            <a:xfrm flipV="1">
              <a:off x="4044" y="916"/>
              <a:ext cx="136" cy="23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4" name="Text Box 32">
            <a:extLst>
              <a:ext uri="{FF2B5EF4-FFF2-40B4-BE49-F238E27FC236}">
                <a16:creationId xmlns:a16="http://schemas.microsoft.com/office/drawing/2014/main" id="{A7A0F553-738C-996B-AA87-FC742DFFAACA}"/>
              </a:ext>
            </a:extLst>
          </p:cNvPr>
          <p:cNvSpPr txBox="1">
            <a:spLocks noChangeAspect="1" noChangeArrowheads="1"/>
          </p:cNvSpPr>
          <p:nvPr/>
        </p:nvSpPr>
        <p:spPr bwMode="auto">
          <a:xfrm>
            <a:off x="10866735" y="3316871"/>
            <a:ext cx="658813"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hangingPunct="1"/>
            <a:r>
              <a:rPr lang="en-US" altLang="zh-CN" b="0" i="1" dirty="0">
                <a:solidFill>
                  <a:schemeClr val="tx1"/>
                </a:solidFill>
                <a:ea typeface="宋体" panose="02010600030101010101" pitchFamily="2" charset="-122"/>
              </a:rPr>
              <a:t>F</a:t>
            </a:r>
            <a:r>
              <a:rPr lang="en-US" altLang="zh-CN" b="0" i="1" baseline="-25000" dirty="0">
                <a:solidFill>
                  <a:schemeClr val="tx1"/>
                </a:solidFill>
                <a:sym typeface="Symbol" panose="05050102010706020507" pitchFamily="18" charset="2"/>
              </a:rPr>
              <a:t></a:t>
            </a:r>
          </a:p>
        </p:txBody>
      </p:sp>
      <p:sp>
        <p:nvSpPr>
          <p:cNvPr id="25" name="Line 35">
            <a:extLst>
              <a:ext uri="{FF2B5EF4-FFF2-40B4-BE49-F238E27FC236}">
                <a16:creationId xmlns:a16="http://schemas.microsoft.com/office/drawing/2014/main" id="{DF15D1CC-816F-C72B-D363-37136FCB3111}"/>
              </a:ext>
            </a:extLst>
          </p:cNvPr>
          <p:cNvSpPr>
            <a:spLocks noChangeAspect="1" noChangeShapeType="1"/>
          </p:cNvSpPr>
          <p:nvPr/>
        </p:nvSpPr>
        <p:spPr bwMode="auto">
          <a:xfrm>
            <a:off x="10492085" y="3812171"/>
            <a:ext cx="665163" cy="1588"/>
          </a:xfrm>
          <a:prstGeom prst="line">
            <a:avLst/>
          </a:prstGeom>
          <a:noFill/>
          <a:ln w="38100">
            <a:solidFill>
              <a:schemeClr val="tx1"/>
            </a:solidFill>
            <a:prstDash val="dash"/>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grpSp>
        <p:nvGrpSpPr>
          <p:cNvPr id="26" name="Group 82">
            <a:extLst>
              <a:ext uri="{FF2B5EF4-FFF2-40B4-BE49-F238E27FC236}">
                <a16:creationId xmlns:a16="http://schemas.microsoft.com/office/drawing/2014/main" id="{792EA9DC-61C1-2DC8-DB1D-A36D86B32396}"/>
              </a:ext>
            </a:extLst>
          </p:cNvPr>
          <p:cNvGrpSpPr>
            <a:grpSpLocks/>
          </p:cNvGrpSpPr>
          <p:nvPr/>
        </p:nvGrpSpPr>
        <p:grpSpPr bwMode="auto">
          <a:xfrm>
            <a:off x="7536160" y="3043823"/>
            <a:ext cx="2736850" cy="1511301"/>
            <a:chOff x="2900" y="1191"/>
            <a:chExt cx="1724" cy="952"/>
          </a:xfrm>
        </p:grpSpPr>
        <p:sp>
          <p:nvSpPr>
            <p:cNvPr id="27" name="Rectangle 45">
              <a:extLst>
                <a:ext uri="{FF2B5EF4-FFF2-40B4-BE49-F238E27FC236}">
                  <a16:creationId xmlns:a16="http://schemas.microsoft.com/office/drawing/2014/main" id="{FF70CD67-937E-01D8-18A3-57FA07CF509C}"/>
                </a:ext>
              </a:extLst>
            </p:cNvPr>
            <p:cNvSpPr>
              <a:spLocks noChangeArrowheads="1"/>
            </p:cNvSpPr>
            <p:nvPr/>
          </p:nvSpPr>
          <p:spPr bwMode="auto">
            <a:xfrm>
              <a:off x="4090" y="1191"/>
              <a:ext cx="20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eaLnBrk="1" hangingPunct="1"/>
              <a:r>
                <a:rPr lang="en-US" altLang="zh-CN" b="0" i="1" dirty="0">
                  <a:solidFill>
                    <a:schemeClr val="tx1"/>
                  </a:solidFill>
                  <a:sym typeface="Symbol" panose="05050102010706020507" pitchFamily="18" charset="2"/>
                </a:rPr>
                <a:t>k</a:t>
              </a:r>
            </a:p>
          </p:txBody>
        </p:sp>
        <p:sp>
          <p:nvSpPr>
            <p:cNvPr id="28" name="Rectangle 31">
              <a:extLst>
                <a:ext uri="{FF2B5EF4-FFF2-40B4-BE49-F238E27FC236}">
                  <a16:creationId xmlns:a16="http://schemas.microsoft.com/office/drawing/2014/main" id="{0DE56F1A-58A2-8552-2897-30A3DB67744C}"/>
                </a:ext>
              </a:extLst>
            </p:cNvPr>
            <p:cNvSpPr>
              <a:spLocks noChangeAspect="1" noChangeArrowheads="1"/>
            </p:cNvSpPr>
            <p:nvPr/>
          </p:nvSpPr>
          <p:spPr bwMode="auto">
            <a:xfrm flipV="1">
              <a:off x="3347" y="1463"/>
              <a:ext cx="855" cy="447"/>
            </a:xfrm>
            <a:prstGeom prst="rect">
              <a:avLst/>
            </a:prstGeom>
            <a:gradFill rotWithShape="1">
              <a:gsLst>
                <a:gs pos="0">
                  <a:schemeClr val="bg1">
                    <a:gamma/>
                    <a:shade val="46275"/>
                    <a:invGamma/>
                  </a:schemeClr>
                </a:gs>
                <a:gs pos="50000">
                  <a:schemeClr val="bg1"/>
                </a:gs>
                <a:gs pos="100000">
                  <a:schemeClr val="bg1">
                    <a:gamma/>
                    <a:shade val="46275"/>
                    <a:invGamma/>
                  </a:schemeClr>
                </a:gs>
              </a:gsLst>
              <a:lin ang="5400000" scaled="1"/>
            </a:gradFill>
            <a:ln w="28575">
              <a:solidFill>
                <a:srgbClr val="000000"/>
              </a:solidFill>
              <a:miter lim="800000"/>
              <a:headEnd/>
              <a:tailEnd type="none" w="sm" len="sm"/>
            </a:ln>
            <a:effectLst/>
          </p:spPr>
          <p:txBody>
            <a:bodyPr/>
            <a:lstStyle/>
            <a:p>
              <a:pPr>
                <a:defRPr/>
              </a:pPr>
              <a:endParaRPr lang="zh-CN" altLang="en-US">
                <a:ea typeface="黑体" pitchFamily="2" charset="-122"/>
              </a:endParaRPr>
            </a:p>
          </p:txBody>
        </p:sp>
        <p:sp>
          <p:nvSpPr>
            <p:cNvPr id="29" name="AutoShape 49">
              <a:extLst>
                <a:ext uri="{FF2B5EF4-FFF2-40B4-BE49-F238E27FC236}">
                  <a16:creationId xmlns:a16="http://schemas.microsoft.com/office/drawing/2014/main" id="{3F932F2F-C898-86A0-BC27-8FD173326813}"/>
                </a:ext>
              </a:extLst>
            </p:cNvPr>
            <p:cNvSpPr>
              <a:spLocks noChangeArrowheads="1"/>
            </p:cNvSpPr>
            <p:nvPr/>
          </p:nvSpPr>
          <p:spPr bwMode="auto">
            <a:xfrm>
              <a:off x="4194" y="1464"/>
              <a:ext cx="253" cy="448"/>
            </a:xfrm>
            <a:prstGeom prst="rtTriangle">
              <a:avLst/>
            </a:prstGeom>
            <a:gradFill rotWithShape="1">
              <a:gsLst>
                <a:gs pos="0">
                  <a:schemeClr val="bg1">
                    <a:gamma/>
                    <a:shade val="46275"/>
                    <a:invGamma/>
                  </a:schemeClr>
                </a:gs>
                <a:gs pos="50000">
                  <a:schemeClr val="bg1"/>
                </a:gs>
                <a:gs pos="100000">
                  <a:schemeClr val="bg1">
                    <a:gamma/>
                    <a:shade val="46275"/>
                    <a:invGamma/>
                  </a:schemeClr>
                </a:gs>
              </a:gsLst>
              <a:lin ang="5400000" scaled="1"/>
            </a:gradFill>
            <a:ln w="19050" algn="ctr">
              <a:solidFill>
                <a:srgbClr val="000000"/>
              </a:solidFill>
              <a:miter lim="800000"/>
              <a:headEnd/>
              <a:tailEnd/>
            </a:ln>
            <a:effectLst/>
          </p:spPr>
          <p:txBody>
            <a:bodyPr/>
            <a:lstStyle/>
            <a:p>
              <a:pPr>
                <a:defRPr/>
              </a:pPr>
              <a:endParaRPr lang="zh-CN" altLang="en-US">
                <a:ea typeface="黑体" pitchFamily="2" charset="-122"/>
              </a:endParaRPr>
            </a:p>
          </p:txBody>
        </p:sp>
        <p:sp>
          <p:nvSpPr>
            <p:cNvPr id="30" name="Text Box 33">
              <a:extLst>
                <a:ext uri="{FF2B5EF4-FFF2-40B4-BE49-F238E27FC236}">
                  <a16:creationId xmlns:a16="http://schemas.microsoft.com/office/drawing/2014/main" id="{9BEC57F9-4B70-B896-B965-39765E26C5F8}"/>
                </a:ext>
              </a:extLst>
            </p:cNvPr>
            <p:cNvSpPr txBox="1">
              <a:spLocks noChangeAspect="1" noChangeArrowheads="1"/>
            </p:cNvSpPr>
            <p:nvPr/>
          </p:nvSpPr>
          <p:spPr bwMode="auto">
            <a:xfrm>
              <a:off x="2900" y="1394"/>
              <a:ext cx="337"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hangingPunct="1"/>
              <a:r>
                <a:rPr lang="en-US" altLang="zh-CN" b="0" i="1" dirty="0">
                  <a:solidFill>
                    <a:schemeClr val="tx1"/>
                  </a:solidFill>
                  <a:ea typeface="宋体" panose="02010600030101010101" pitchFamily="2" charset="-122"/>
                </a:rPr>
                <a:t>F</a:t>
              </a:r>
              <a:endParaRPr lang="en-US" altLang="zh-CN" b="0" baseline="-25000" dirty="0">
                <a:solidFill>
                  <a:schemeClr val="tx1"/>
                </a:solidFill>
                <a:ea typeface="宋体" panose="02010600030101010101" pitchFamily="2" charset="-122"/>
              </a:endParaRPr>
            </a:p>
          </p:txBody>
        </p:sp>
        <p:sp>
          <p:nvSpPr>
            <p:cNvPr id="31" name="Line 37">
              <a:extLst>
                <a:ext uri="{FF2B5EF4-FFF2-40B4-BE49-F238E27FC236}">
                  <a16:creationId xmlns:a16="http://schemas.microsoft.com/office/drawing/2014/main" id="{F317C891-4A5D-7CF8-B556-5B1E8B059039}"/>
                </a:ext>
              </a:extLst>
            </p:cNvPr>
            <p:cNvSpPr>
              <a:spLocks noChangeShapeType="1"/>
            </p:cNvSpPr>
            <p:nvPr/>
          </p:nvSpPr>
          <p:spPr bwMode="auto">
            <a:xfrm>
              <a:off x="4196" y="1459"/>
              <a:ext cx="257" cy="44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5" name="Arc 39">
              <a:extLst>
                <a:ext uri="{FF2B5EF4-FFF2-40B4-BE49-F238E27FC236}">
                  <a16:creationId xmlns:a16="http://schemas.microsoft.com/office/drawing/2014/main" id="{B18DC2BF-7914-52BF-B268-81EEE4C5ADC5}"/>
                </a:ext>
              </a:extLst>
            </p:cNvPr>
            <p:cNvSpPr>
              <a:spLocks/>
            </p:cNvSpPr>
            <p:nvPr/>
          </p:nvSpPr>
          <p:spPr bwMode="auto">
            <a:xfrm flipV="1">
              <a:off x="4188" y="1674"/>
              <a:ext cx="128" cy="59"/>
            </a:xfrm>
            <a:custGeom>
              <a:avLst/>
              <a:gdLst>
                <a:gd name="T0" fmla="*/ 0 w 21600"/>
                <a:gd name="T1" fmla="*/ 0 h 21600"/>
                <a:gd name="T2" fmla="*/ 1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2" name="Rectangle 40">
              <a:extLst>
                <a:ext uri="{FF2B5EF4-FFF2-40B4-BE49-F238E27FC236}">
                  <a16:creationId xmlns:a16="http://schemas.microsoft.com/office/drawing/2014/main" id="{7E0F6329-233C-09ED-5C23-872419F93911}"/>
                </a:ext>
              </a:extLst>
            </p:cNvPr>
            <p:cNvSpPr>
              <a:spLocks noChangeArrowheads="1"/>
            </p:cNvSpPr>
            <p:nvPr/>
          </p:nvSpPr>
          <p:spPr bwMode="auto">
            <a:xfrm>
              <a:off x="4137" y="1632"/>
              <a:ext cx="23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eaLnBrk="1" hangingPunct="1"/>
              <a:r>
                <a:rPr lang="en-US" altLang="zh-CN" b="0" i="1" dirty="0">
                  <a:solidFill>
                    <a:schemeClr val="tx1"/>
                  </a:solidFill>
                  <a:sym typeface="Symbol" panose="05050102010706020507" pitchFamily="18" charset="2"/>
                </a:rPr>
                <a:t></a:t>
              </a:r>
            </a:p>
          </p:txBody>
        </p:sp>
        <p:sp>
          <p:nvSpPr>
            <p:cNvPr id="33" name="Rectangle 46">
              <a:extLst>
                <a:ext uri="{FF2B5EF4-FFF2-40B4-BE49-F238E27FC236}">
                  <a16:creationId xmlns:a16="http://schemas.microsoft.com/office/drawing/2014/main" id="{FD9B0AE9-2971-AD64-41C8-3E940FFC4327}"/>
                </a:ext>
              </a:extLst>
            </p:cNvPr>
            <p:cNvSpPr>
              <a:spLocks noChangeArrowheads="1"/>
            </p:cNvSpPr>
            <p:nvPr/>
          </p:nvSpPr>
          <p:spPr bwMode="auto">
            <a:xfrm>
              <a:off x="4382" y="1855"/>
              <a:ext cx="24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eaLnBrk="1" hangingPunct="1"/>
              <a:r>
                <a:rPr lang="en-US" altLang="zh-CN" b="0" i="1" dirty="0">
                  <a:solidFill>
                    <a:schemeClr val="tx1"/>
                  </a:solidFill>
                  <a:sym typeface="Symbol" panose="05050102010706020507" pitchFamily="18" charset="2"/>
                </a:rPr>
                <a:t>k</a:t>
              </a:r>
              <a:r>
                <a:rPr lang="en-US" altLang="zh-CN" b="0" i="1" dirty="0">
                  <a:solidFill>
                    <a:schemeClr val="tx1"/>
                  </a:solidFill>
                  <a:cs typeface="Times New Roman" panose="02020603050405020304" pitchFamily="18" charset="0"/>
                  <a:sym typeface="Symbol" panose="05050102010706020507" pitchFamily="18" charset="2"/>
                </a:rPr>
                <a:t>'</a:t>
              </a:r>
            </a:p>
          </p:txBody>
        </p:sp>
        <p:sp>
          <p:nvSpPr>
            <p:cNvPr id="34" name="Line 34">
              <a:extLst>
                <a:ext uri="{FF2B5EF4-FFF2-40B4-BE49-F238E27FC236}">
                  <a16:creationId xmlns:a16="http://schemas.microsoft.com/office/drawing/2014/main" id="{B1D47AC9-9A6B-9492-1602-DC955195F5A0}"/>
                </a:ext>
              </a:extLst>
            </p:cNvPr>
            <p:cNvSpPr>
              <a:spLocks noChangeShapeType="1"/>
            </p:cNvSpPr>
            <p:nvPr/>
          </p:nvSpPr>
          <p:spPr bwMode="auto">
            <a:xfrm>
              <a:off x="3188" y="1687"/>
              <a:ext cx="1108" cy="0"/>
            </a:xfrm>
            <a:prstGeom prst="line">
              <a:avLst/>
            </a:prstGeom>
            <a:noFill/>
            <a:ln w="9525">
              <a:solidFill>
                <a:schemeClr val="tx1"/>
              </a:solidFill>
              <a:prstDash val="lgDash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 name="Line 36">
              <a:extLst>
                <a:ext uri="{FF2B5EF4-FFF2-40B4-BE49-F238E27FC236}">
                  <a16:creationId xmlns:a16="http://schemas.microsoft.com/office/drawing/2014/main" id="{67EDC654-2236-C7D3-5613-94A2D73ECED0}"/>
                </a:ext>
              </a:extLst>
            </p:cNvPr>
            <p:cNvSpPr>
              <a:spLocks noChangeAspect="1" noChangeShapeType="1"/>
            </p:cNvSpPr>
            <p:nvPr/>
          </p:nvSpPr>
          <p:spPr bwMode="auto">
            <a:xfrm flipH="1">
              <a:off x="2925" y="1687"/>
              <a:ext cx="434" cy="0"/>
            </a:xfrm>
            <a:prstGeom prst="line">
              <a:avLst/>
            </a:prstGeom>
            <a:noFill/>
            <a:ln w="38100">
              <a:solidFill>
                <a:schemeClr val="tx1"/>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36" name="Line 50">
              <a:extLst>
                <a:ext uri="{FF2B5EF4-FFF2-40B4-BE49-F238E27FC236}">
                  <a16:creationId xmlns:a16="http://schemas.microsoft.com/office/drawing/2014/main" id="{ABBB0AB7-220A-0A04-FD0E-B3E98924611D}"/>
                </a:ext>
              </a:extLst>
            </p:cNvPr>
            <p:cNvSpPr>
              <a:spLocks noChangeShapeType="1"/>
            </p:cNvSpPr>
            <p:nvPr/>
          </p:nvSpPr>
          <p:spPr bwMode="auto">
            <a:xfrm>
              <a:off x="3348" y="1908"/>
              <a:ext cx="11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7" name="Group 65">
            <a:extLst>
              <a:ext uri="{FF2B5EF4-FFF2-40B4-BE49-F238E27FC236}">
                <a16:creationId xmlns:a16="http://schemas.microsoft.com/office/drawing/2014/main" id="{B09E89C4-5CBB-7819-5E66-0A9F0F2BD0A7}"/>
              </a:ext>
            </a:extLst>
          </p:cNvPr>
          <p:cNvGrpSpPr>
            <a:grpSpLocks/>
          </p:cNvGrpSpPr>
          <p:nvPr/>
        </p:nvGrpSpPr>
        <p:grpSpPr bwMode="auto">
          <a:xfrm>
            <a:off x="9615785" y="3478796"/>
            <a:ext cx="774700" cy="695325"/>
            <a:chOff x="4210" y="1465"/>
            <a:chExt cx="488" cy="438"/>
          </a:xfrm>
        </p:grpSpPr>
        <p:sp>
          <p:nvSpPr>
            <p:cNvPr id="38" name="Line 53">
              <a:extLst>
                <a:ext uri="{FF2B5EF4-FFF2-40B4-BE49-F238E27FC236}">
                  <a16:creationId xmlns:a16="http://schemas.microsoft.com/office/drawing/2014/main" id="{EB49B981-82B5-13A6-C294-0CE72EB557FA}"/>
                </a:ext>
              </a:extLst>
            </p:cNvPr>
            <p:cNvSpPr>
              <a:spLocks noChangeAspect="1" noChangeShapeType="1"/>
            </p:cNvSpPr>
            <p:nvPr/>
          </p:nvSpPr>
          <p:spPr bwMode="auto">
            <a:xfrm>
              <a:off x="4210" y="1465"/>
              <a:ext cx="239" cy="0"/>
            </a:xfrm>
            <a:prstGeom prst="line">
              <a:avLst/>
            </a:prstGeom>
            <a:noFill/>
            <a:ln w="19050">
              <a:solidFill>
                <a:schemeClr val="tx1"/>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39" name="Line 54">
              <a:extLst>
                <a:ext uri="{FF2B5EF4-FFF2-40B4-BE49-F238E27FC236}">
                  <a16:creationId xmlns:a16="http://schemas.microsoft.com/office/drawing/2014/main" id="{B9E6A0B6-9B7E-D9A7-E6AC-1694C1998565}"/>
                </a:ext>
              </a:extLst>
            </p:cNvPr>
            <p:cNvSpPr>
              <a:spLocks noChangeAspect="1" noChangeShapeType="1"/>
            </p:cNvSpPr>
            <p:nvPr/>
          </p:nvSpPr>
          <p:spPr bwMode="auto">
            <a:xfrm>
              <a:off x="4285" y="1592"/>
              <a:ext cx="239" cy="0"/>
            </a:xfrm>
            <a:prstGeom prst="line">
              <a:avLst/>
            </a:prstGeom>
            <a:noFill/>
            <a:ln w="19050">
              <a:solidFill>
                <a:schemeClr val="tx1"/>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40" name="Line 55">
              <a:extLst>
                <a:ext uri="{FF2B5EF4-FFF2-40B4-BE49-F238E27FC236}">
                  <a16:creationId xmlns:a16="http://schemas.microsoft.com/office/drawing/2014/main" id="{257EFC64-BC47-5F9F-0DAD-F828B47D460A}"/>
                </a:ext>
              </a:extLst>
            </p:cNvPr>
            <p:cNvSpPr>
              <a:spLocks noChangeAspect="1" noChangeShapeType="1"/>
            </p:cNvSpPr>
            <p:nvPr/>
          </p:nvSpPr>
          <p:spPr bwMode="auto">
            <a:xfrm>
              <a:off x="4248" y="1529"/>
              <a:ext cx="239" cy="0"/>
            </a:xfrm>
            <a:prstGeom prst="line">
              <a:avLst/>
            </a:prstGeom>
            <a:noFill/>
            <a:ln w="19050">
              <a:solidFill>
                <a:schemeClr val="tx1"/>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41" name="Line 57">
              <a:extLst>
                <a:ext uri="{FF2B5EF4-FFF2-40B4-BE49-F238E27FC236}">
                  <a16:creationId xmlns:a16="http://schemas.microsoft.com/office/drawing/2014/main" id="{04C91C11-2DEC-4C25-1DF5-AFF2A839CA2F}"/>
                </a:ext>
              </a:extLst>
            </p:cNvPr>
            <p:cNvSpPr>
              <a:spLocks noChangeAspect="1" noChangeShapeType="1"/>
            </p:cNvSpPr>
            <p:nvPr/>
          </p:nvSpPr>
          <p:spPr bwMode="auto">
            <a:xfrm>
              <a:off x="4310" y="1653"/>
              <a:ext cx="239" cy="0"/>
            </a:xfrm>
            <a:prstGeom prst="line">
              <a:avLst/>
            </a:prstGeom>
            <a:noFill/>
            <a:ln w="19050">
              <a:solidFill>
                <a:schemeClr val="tx1"/>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42" name="Line 58">
              <a:extLst>
                <a:ext uri="{FF2B5EF4-FFF2-40B4-BE49-F238E27FC236}">
                  <a16:creationId xmlns:a16="http://schemas.microsoft.com/office/drawing/2014/main" id="{E88CB57C-E17F-9BBD-B2E6-30A66042A929}"/>
                </a:ext>
              </a:extLst>
            </p:cNvPr>
            <p:cNvSpPr>
              <a:spLocks noChangeAspect="1" noChangeShapeType="1"/>
            </p:cNvSpPr>
            <p:nvPr/>
          </p:nvSpPr>
          <p:spPr bwMode="auto">
            <a:xfrm>
              <a:off x="4394" y="1780"/>
              <a:ext cx="239" cy="0"/>
            </a:xfrm>
            <a:prstGeom prst="line">
              <a:avLst/>
            </a:prstGeom>
            <a:noFill/>
            <a:ln w="19050">
              <a:solidFill>
                <a:schemeClr val="tx1"/>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43" name="Line 59">
              <a:extLst>
                <a:ext uri="{FF2B5EF4-FFF2-40B4-BE49-F238E27FC236}">
                  <a16:creationId xmlns:a16="http://schemas.microsoft.com/office/drawing/2014/main" id="{DAE996DB-40EA-E5B1-2416-E9CEEF756F48}"/>
                </a:ext>
              </a:extLst>
            </p:cNvPr>
            <p:cNvSpPr>
              <a:spLocks noChangeAspect="1" noChangeShapeType="1"/>
            </p:cNvSpPr>
            <p:nvPr/>
          </p:nvSpPr>
          <p:spPr bwMode="auto">
            <a:xfrm>
              <a:off x="4354" y="1717"/>
              <a:ext cx="239" cy="0"/>
            </a:xfrm>
            <a:prstGeom prst="line">
              <a:avLst/>
            </a:prstGeom>
            <a:noFill/>
            <a:ln w="19050">
              <a:solidFill>
                <a:schemeClr val="tx1"/>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44" name="Line 61">
              <a:extLst>
                <a:ext uri="{FF2B5EF4-FFF2-40B4-BE49-F238E27FC236}">
                  <a16:creationId xmlns:a16="http://schemas.microsoft.com/office/drawing/2014/main" id="{BE5F902A-9097-4FDB-048B-685254AD0805}"/>
                </a:ext>
              </a:extLst>
            </p:cNvPr>
            <p:cNvSpPr>
              <a:spLocks noChangeAspect="1" noChangeShapeType="1"/>
            </p:cNvSpPr>
            <p:nvPr/>
          </p:nvSpPr>
          <p:spPr bwMode="auto">
            <a:xfrm>
              <a:off x="4424" y="1839"/>
              <a:ext cx="239" cy="0"/>
            </a:xfrm>
            <a:prstGeom prst="line">
              <a:avLst/>
            </a:prstGeom>
            <a:noFill/>
            <a:ln w="19050">
              <a:solidFill>
                <a:schemeClr val="tx1"/>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45" name="Line 63">
              <a:extLst>
                <a:ext uri="{FF2B5EF4-FFF2-40B4-BE49-F238E27FC236}">
                  <a16:creationId xmlns:a16="http://schemas.microsoft.com/office/drawing/2014/main" id="{898FCF70-3BC0-B603-CFD9-4B954C0F4501}"/>
                </a:ext>
              </a:extLst>
            </p:cNvPr>
            <p:cNvSpPr>
              <a:spLocks noChangeAspect="1" noChangeShapeType="1"/>
            </p:cNvSpPr>
            <p:nvPr/>
          </p:nvSpPr>
          <p:spPr bwMode="auto">
            <a:xfrm>
              <a:off x="4459" y="1903"/>
              <a:ext cx="239" cy="0"/>
            </a:xfrm>
            <a:prstGeom prst="line">
              <a:avLst/>
            </a:prstGeom>
            <a:noFill/>
            <a:ln w="19050">
              <a:solidFill>
                <a:schemeClr val="tx1"/>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grpSp>
      <p:sp>
        <p:nvSpPr>
          <p:cNvPr id="46" name="AutoShape 64">
            <a:extLst>
              <a:ext uri="{FF2B5EF4-FFF2-40B4-BE49-F238E27FC236}">
                <a16:creationId xmlns:a16="http://schemas.microsoft.com/office/drawing/2014/main" id="{46D284DD-0F24-809C-C7A6-1A8B830D0CEC}"/>
              </a:ext>
            </a:extLst>
          </p:cNvPr>
          <p:cNvSpPr>
            <a:spLocks/>
          </p:cNvSpPr>
          <p:nvPr/>
        </p:nvSpPr>
        <p:spPr bwMode="auto">
          <a:xfrm>
            <a:off x="10398423" y="3445459"/>
            <a:ext cx="88900" cy="733425"/>
          </a:xfrm>
          <a:prstGeom prst="rightBrace">
            <a:avLst>
              <a:gd name="adj1" fmla="val 68750"/>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eaLnBrk="1" hangingPunct="1"/>
            <a:endParaRPr lang="zh-CN" altLang="en-US"/>
          </a:p>
        </p:txBody>
      </p:sp>
      <p:graphicFrame>
        <p:nvGraphicFramePr>
          <p:cNvPr id="47" name="Object 91">
            <a:extLst>
              <a:ext uri="{FF2B5EF4-FFF2-40B4-BE49-F238E27FC236}">
                <a16:creationId xmlns:a16="http://schemas.microsoft.com/office/drawing/2014/main" id="{0354F19D-3CC3-C78F-5A8C-A18BD1146C22}"/>
              </a:ext>
            </a:extLst>
          </p:cNvPr>
          <p:cNvGraphicFramePr>
            <a:graphicFrameLocks noChangeAspect="1"/>
          </p:cNvGraphicFramePr>
          <p:nvPr>
            <p:extLst>
              <p:ext uri="{D42A27DB-BD31-4B8C-83A1-F6EECF244321}">
                <p14:modId xmlns:p14="http://schemas.microsoft.com/office/powerpoint/2010/main" val="2261913470"/>
              </p:ext>
            </p:extLst>
          </p:nvPr>
        </p:nvGraphicFramePr>
        <p:xfrm>
          <a:off x="3071664" y="5434348"/>
          <a:ext cx="1925638" cy="912813"/>
        </p:xfrm>
        <a:graphic>
          <a:graphicData uri="http://schemas.openxmlformats.org/presentationml/2006/ole">
            <mc:AlternateContent xmlns:mc="http://schemas.openxmlformats.org/markup-compatibility/2006">
              <mc:Choice xmlns:v="urn:schemas-microsoft-com:vml" Requires="v">
                <p:oleObj name="Equation" r:id="rId3" imgW="914400" imgH="431640" progId="Equation.DSMT4">
                  <p:embed/>
                </p:oleObj>
              </mc:Choice>
              <mc:Fallback>
                <p:oleObj name="Equation" r:id="rId3" imgW="914400" imgH="431640" progId="Equation.DSMT4">
                  <p:embed/>
                  <p:pic>
                    <p:nvPicPr>
                      <p:cNvPr id="47" name="Object 91">
                        <a:extLst>
                          <a:ext uri="{FF2B5EF4-FFF2-40B4-BE49-F238E27FC236}">
                            <a16:creationId xmlns:a16="http://schemas.microsoft.com/office/drawing/2014/main" id="{0354F19D-3CC3-C78F-5A8C-A18BD1146C22}"/>
                          </a:ext>
                        </a:extLst>
                      </p:cNvPr>
                      <p:cNvPicPr>
                        <a:picLocks noChangeAspect="1" noChangeArrowheads="1"/>
                      </p:cNvPicPr>
                      <p:nvPr/>
                    </p:nvPicPr>
                    <p:blipFill>
                      <a:blip r:embed="rId4"/>
                      <a:srcRect/>
                      <a:stretch>
                        <a:fillRect/>
                      </a:stretch>
                    </p:blipFill>
                    <p:spPr bwMode="auto">
                      <a:xfrm>
                        <a:off x="3071664" y="5434348"/>
                        <a:ext cx="1925638" cy="9128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8" name="Text Box 1032">
            <a:extLst>
              <a:ext uri="{FF2B5EF4-FFF2-40B4-BE49-F238E27FC236}">
                <a16:creationId xmlns:a16="http://schemas.microsoft.com/office/drawing/2014/main" id="{2D7511C0-58F7-ADD2-B911-1867E89D174A}"/>
              </a:ext>
            </a:extLst>
          </p:cNvPr>
          <p:cNvSpPr txBox="1">
            <a:spLocks noChangeArrowheads="1"/>
          </p:cNvSpPr>
          <p:nvPr/>
        </p:nvSpPr>
        <p:spPr bwMode="auto">
          <a:xfrm>
            <a:off x="220393" y="4858446"/>
            <a:ext cx="10178030" cy="533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lnSpc>
                <a:spcPct val="110000"/>
              </a:lnSpc>
            </a:pPr>
            <a:r>
              <a:rPr lang="zh-CN" altLang="en-US" sz="2800" i="0" dirty="0">
                <a:latin typeface="微软雅黑" panose="020B0503020204020204" pitchFamily="34" charset="-122"/>
                <a:ea typeface="微软雅黑" panose="020B0503020204020204" pitchFamily="34" charset="-122"/>
              </a:rPr>
              <a:t>斜截面上的应力显然也是均布的，故斜截面上任一点的全应力为</a:t>
            </a:r>
          </a:p>
        </p:txBody>
      </p:sp>
      <p:sp>
        <p:nvSpPr>
          <p:cNvPr id="50" name="文本框 49">
            <a:extLst>
              <a:ext uri="{FF2B5EF4-FFF2-40B4-BE49-F238E27FC236}">
                <a16:creationId xmlns:a16="http://schemas.microsoft.com/office/drawing/2014/main" id="{256631AE-D45A-6782-7559-131D9E14A41E}"/>
              </a:ext>
            </a:extLst>
          </p:cNvPr>
          <p:cNvSpPr txBox="1"/>
          <p:nvPr/>
        </p:nvSpPr>
        <p:spPr>
          <a:xfrm>
            <a:off x="5754291" y="5608574"/>
            <a:ext cx="3479858" cy="523220"/>
          </a:xfrm>
          <a:prstGeom prst="rect">
            <a:avLst/>
          </a:prstGeom>
          <a:noFill/>
        </p:spPr>
        <p:txBody>
          <a:bodyPr wrap="square">
            <a:spAutoFit/>
          </a:bodyPr>
          <a:lstStyle/>
          <a:p>
            <a:r>
              <a:rPr lang="en-US" altLang="zh-CN" sz="2800" b="0" dirty="0">
                <a:solidFill>
                  <a:schemeClr val="tx1"/>
                </a:solidFill>
                <a:latin typeface="+mn-lt"/>
                <a:ea typeface="微软雅黑" panose="020B0503020204020204" pitchFamily="34" charset="-122"/>
              </a:rPr>
              <a:t>A</a:t>
            </a:r>
            <a:r>
              <a:rPr lang="en-US" altLang="zh-CN" sz="2800" b="0" baseline="-25000" dirty="0">
                <a:solidFill>
                  <a:schemeClr val="tx1"/>
                </a:solidFill>
                <a:latin typeface="+mn-lt"/>
                <a:ea typeface="微软雅黑" panose="020B0503020204020204" pitchFamily="34" charset="-122"/>
                <a:sym typeface="Symbol" panose="05050102010706020507" pitchFamily="18" charset="2"/>
              </a:rPr>
              <a:t> </a:t>
            </a:r>
            <a:r>
              <a:rPr lang="zh-CN" altLang="en-US" sz="2800" i="0" dirty="0">
                <a:solidFill>
                  <a:schemeClr val="tx1"/>
                </a:solidFill>
                <a:latin typeface="+mn-lt"/>
                <a:ea typeface="微软雅黑" panose="020B0503020204020204" pitchFamily="34" charset="-122"/>
              </a:rPr>
              <a:t>为斜截面的面积</a:t>
            </a:r>
          </a:p>
        </p:txBody>
      </p:sp>
      <p:graphicFrame>
        <p:nvGraphicFramePr>
          <p:cNvPr id="51" name="Object 71">
            <a:extLst>
              <a:ext uri="{FF2B5EF4-FFF2-40B4-BE49-F238E27FC236}">
                <a16:creationId xmlns:a16="http://schemas.microsoft.com/office/drawing/2014/main" id="{E93265CB-ABE9-7786-A910-32650096860D}"/>
              </a:ext>
            </a:extLst>
          </p:cNvPr>
          <p:cNvGraphicFramePr>
            <a:graphicFrameLocks noChangeAspect="1"/>
          </p:cNvGraphicFramePr>
          <p:nvPr>
            <p:extLst>
              <p:ext uri="{D42A27DB-BD31-4B8C-83A1-F6EECF244321}">
                <p14:modId xmlns:p14="http://schemas.microsoft.com/office/powerpoint/2010/main" val="3739220756"/>
              </p:ext>
            </p:extLst>
          </p:nvPr>
        </p:nvGraphicFramePr>
        <p:xfrm>
          <a:off x="8992196" y="5472700"/>
          <a:ext cx="1492250" cy="819150"/>
        </p:xfrm>
        <a:graphic>
          <a:graphicData uri="http://schemas.openxmlformats.org/presentationml/2006/ole">
            <mc:AlternateContent xmlns:mc="http://schemas.openxmlformats.org/markup-compatibility/2006">
              <mc:Choice xmlns:v="urn:schemas-microsoft-com:vml" Requires="v">
                <p:oleObj name="Equation" r:id="rId5" imgW="711000" imgH="393480" progId="Equation.DSMT4">
                  <p:embed/>
                </p:oleObj>
              </mc:Choice>
              <mc:Fallback>
                <p:oleObj name="Equation" r:id="rId5" imgW="711000" imgH="393480" progId="Equation.DSMT4">
                  <p:embed/>
                  <p:pic>
                    <p:nvPicPr>
                      <p:cNvPr id="51" name="Object 71">
                        <a:extLst>
                          <a:ext uri="{FF2B5EF4-FFF2-40B4-BE49-F238E27FC236}">
                            <a16:creationId xmlns:a16="http://schemas.microsoft.com/office/drawing/2014/main" id="{E93265CB-ABE9-7786-A910-32650096860D}"/>
                          </a:ext>
                        </a:extLst>
                      </p:cNvPr>
                      <p:cNvPicPr>
                        <a:picLocks noChangeAspect="1" noChangeArrowheads="1"/>
                      </p:cNvPicPr>
                      <p:nvPr/>
                    </p:nvPicPr>
                    <p:blipFill>
                      <a:blip r:embed="rId6"/>
                      <a:srcRect/>
                      <a:stretch>
                        <a:fillRect/>
                      </a:stretch>
                    </p:blipFill>
                    <p:spPr bwMode="auto">
                      <a:xfrm>
                        <a:off x="8992196" y="5472700"/>
                        <a:ext cx="1492250" cy="819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696722374"/>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par>
                                <p:cTn id="7" presetID="0" presetClass="path" presetSubtype="0" accel="50000" decel="50000" fill="hold" nodeType="withEffect">
                                  <p:stCondLst>
                                    <p:cond delay="0"/>
                                  </p:stCondLst>
                                  <p:childTnLst>
                                    <p:animMotion origin="layout" path="M 1.45833E-6 4.81481E-6 L -0.00156 -0.19237 " pathEditMode="relative" rAng="0" ptsTypes="AA">
                                      <p:cBhvr>
                                        <p:cTn id="8" dur="5000" spd="-100000" fill="hold"/>
                                        <p:tgtEl>
                                          <p:spTgt spid="26"/>
                                        </p:tgtEl>
                                        <p:attrNameLst>
                                          <p:attrName>ppt_x</p:attrName>
                                          <p:attrName>ppt_y</p:attrName>
                                        </p:attrNameLst>
                                      </p:cBhvr>
                                      <p:rCtr x="-78" y="-9630"/>
                                    </p:animMotion>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6" presetClass="entr" presetSubtype="37" fill="hold"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barn(outVertical)">
                                      <p:cBhvr>
                                        <p:cTn id="13" dur="5000"/>
                                        <p:tgtEl>
                                          <p:spTgt spid="3"/>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499"/>
                                          </p:stCondLst>
                                        </p:cTn>
                                        <p:tgtEl>
                                          <p:spTgt spid="53"/>
                                        </p:tgtEl>
                                        <p:attrNameLst>
                                          <p:attrName>style.visibility</p:attrName>
                                        </p:attrNameLst>
                                      </p:cBhvr>
                                      <p:to>
                                        <p:strVal val="visible"/>
                                      </p:to>
                                    </p:set>
                                  </p:childTnLst>
                                </p:cTn>
                              </p:par>
                            </p:childTnLst>
                          </p:cTn>
                        </p:par>
                        <p:par>
                          <p:cTn id="18" fill="hold">
                            <p:stCondLst>
                              <p:cond delay="500"/>
                            </p:stCondLst>
                            <p:childTnLst>
                              <p:par>
                                <p:cTn id="19" presetID="22" presetClass="entr" presetSubtype="8" fill="hold" nodeType="afterEffect">
                                  <p:stCondLst>
                                    <p:cond delay="0"/>
                                  </p:stCondLst>
                                  <p:childTnLst>
                                    <p:set>
                                      <p:cBhvr>
                                        <p:cTn id="20" dur="1" fill="hold">
                                          <p:stCondLst>
                                            <p:cond delay="0"/>
                                          </p:stCondLst>
                                        </p:cTn>
                                        <p:tgtEl>
                                          <p:spTgt spid="37"/>
                                        </p:tgtEl>
                                        <p:attrNameLst>
                                          <p:attrName>style.visibility</p:attrName>
                                        </p:attrNameLst>
                                      </p:cBhvr>
                                      <p:to>
                                        <p:strVal val="visible"/>
                                      </p:to>
                                    </p:set>
                                    <p:animEffect transition="in" filter="wipe(left)">
                                      <p:cBhvr>
                                        <p:cTn id="21" dur="5000"/>
                                        <p:tgtEl>
                                          <p:spTgt spid="37"/>
                                        </p:tgtEl>
                                      </p:cBhvr>
                                    </p:animEffect>
                                  </p:childTnLst>
                                </p:cTn>
                              </p:par>
                            </p:childTnLst>
                          </p:cTn>
                        </p:par>
                        <p:par>
                          <p:cTn id="22" fill="hold">
                            <p:stCondLst>
                              <p:cond delay="5500"/>
                            </p:stCondLst>
                            <p:childTnLst>
                              <p:par>
                                <p:cTn id="23" presetID="16" presetClass="entr" presetSubtype="26" fill="hold" grpId="0" nodeType="afterEffect">
                                  <p:stCondLst>
                                    <p:cond delay="0"/>
                                  </p:stCondLst>
                                  <p:childTnLst>
                                    <p:set>
                                      <p:cBhvr>
                                        <p:cTn id="24" dur="1" fill="hold">
                                          <p:stCondLst>
                                            <p:cond delay="0"/>
                                          </p:stCondLst>
                                        </p:cTn>
                                        <p:tgtEl>
                                          <p:spTgt spid="46"/>
                                        </p:tgtEl>
                                        <p:attrNameLst>
                                          <p:attrName>style.visibility</p:attrName>
                                        </p:attrNameLst>
                                      </p:cBhvr>
                                      <p:to>
                                        <p:strVal val="visible"/>
                                      </p:to>
                                    </p:set>
                                    <p:animEffect transition="in" filter="barn(inHorizontal)">
                                      <p:cBhvr>
                                        <p:cTn id="25" dur="2000"/>
                                        <p:tgtEl>
                                          <p:spTgt spid="46"/>
                                        </p:tgtEl>
                                      </p:cBhvr>
                                    </p:animEffect>
                                  </p:childTnLst>
                                </p:cTn>
                              </p:par>
                            </p:childTnLst>
                          </p:cTn>
                        </p:par>
                        <p:par>
                          <p:cTn id="26" fill="hold">
                            <p:stCondLst>
                              <p:cond delay="7500"/>
                            </p:stCondLst>
                            <p:childTnLst>
                              <p:par>
                                <p:cTn id="27" presetID="12" presetClass="entr" presetSubtype="8" fill="hold" nodeType="afterEffect">
                                  <p:stCondLst>
                                    <p:cond delay="0"/>
                                  </p:stCondLst>
                                  <p:childTnLst>
                                    <p:set>
                                      <p:cBhvr>
                                        <p:cTn id="28" dur="1" fill="hold">
                                          <p:stCondLst>
                                            <p:cond delay="0"/>
                                          </p:stCondLst>
                                        </p:cTn>
                                        <p:tgtEl>
                                          <p:spTgt spid="25"/>
                                        </p:tgtEl>
                                        <p:attrNameLst>
                                          <p:attrName>style.visibility</p:attrName>
                                        </p:attrNameLst>
                                      </p:cBhvr>
                                      <p:to>
                                        <p:strVal val="visible"/>
                                      </p:to>
                                    </p:set>
                                    <p:animEffect transition="in" filter="slide(fromLeft)">
                                      <p:cBhvr>
                                        <p:cTn id="29" dur="3000"/>
                                        <p:tgtEl>
                                          <p:spTgt spid="25"/>
                                        </p:tgtEl>
                                      </p:cBhvr>
                                    </p:animEffect>
                                  </p:childTnLst>
                                </p:cTn>
                              </p:par>
                              <p:par>
                                <p:cTn id="30" presetID="19" presetClass="entr" presetSubtype="10" fill="hold" grpId="0" nodeType="withEffect">
                                  <p:stCondLst>
                                    <p:cond delay="0"/>
                                  </p:stCondLst>
                                  <p:childTnLst>
                                    <p:set>
                                      <p:cBhvr>
                                        <p:cTn id="31" dur="1" fill="hold">
                                          <p:stCondLst>
                                            <p:cond delay="0"/>
                                          </p:stCondLst>
                                        </p:cTn>
                                        <p:tgtEl>
                                          <p:spTgt spid="24"/>
                                        </p:tgtEl>
                                        <p:attrNameLst>
                                          <p:attrName>style.visibility</p:attrName>
                                        </p:attrNameLst>
                                      </p:cBhvr>
                                      <p:to>
                                        <p:strVal val="visible"/>
                                      </p:to>
                                    </p:set>
                                    <p:anim calcmode="lin" valueType="num">
                                      <p:cBhvr>
                                        <p:cTn id="32" dur="5000" fill="hold"/>
                                        <p:tgtEl>
                                          <p:spTgt spid="24"/>
                                        </p:tgtEl>
                                        <p:attrNameLst>
                                          <p:attrName>ppt_w</p:attrName>
                                        </p:attrNameLst>
                                      </p:cBhvr>
                                      <p:tavLst>
                                        <p:tav tm="0" fmla="#ppt_w*sin(2.5*pi*$)">
                                          <p:val>
                                            <p:fltVal val="0"/>
                                          </p:val>
                                        </p:tav>
                                        <p:tav tm="100000">
                                          <p:val>
                                            <p:fltVal val="1"/>
                                          </p:val>
                                        </p:tav>
                                      </p:tavLst>
                                    </p:anim>
                                    <p:anim calcmode="lin" valueType="num">
                                      <p:cBhvr>
                                        <p:cTn id="33" dur="5000" fill="hold"/>
                                        <p:tgtEl>
                                          <p:spTgt spid="24"/>
                                        </p:tgtEl>
                                        <p:attrNameLst>
                                          <p:attrName>ppt_h</p:attrName>
                                        </p:attrNameLst>
                                      </p:cBhvr>
                                      <p:tavLst>
                                        <p:tav tm="0">
                                          <p:val>
                                            <p:strVal val="#ppt_h"/>
                                          </p:val>
                                        </p:tav>
                                        <p:tav tm="100000">
                                          <p:val>
                                            <p:strVal val="#ppt_h"/>
                                          </p:val>
                                        </p:tav>
                                      </p:tavLst>
                                    </p:anim>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499"/>
                                          </p:stCondLst>
                                        </p:cTn>
                                        <p:tgtEl>
                                          <p:spTgt spid="48"/>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47"/>
                                        </p:tgtEl>
                                        <p:attrNameLst>
                                          <p:attrName>style.visibility</p:attrName>
                                        </p:attrNameLst>
                                      </p:cBhvr>
                                      <p:to>
                                        <p:strVal val="visible"/>
                                      </p:to>
                                    </p:set>
                                    <p:animEffect transition="in" filter="wipe(left)">
                                      <p:cBhvr>
                                        <p:cTn id="42" dur="3000"/>
                                        <p:tgtEl>
                                          <p:spTgt spid="47"/>
                                        </p:tgtEl>
                                      </p:cBhvr>
                                    </p:animEffec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50"/>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53" grpId="0" autoUpdateAnimBg="0"/>
      <p:bldP spid="24" grpId="0"/>
      <p:bldP spid="46" grpId="0" animBg="1"/>
      <p:bldP spid="48" grpId="0" autoUpdateAnimBg="0"/>
      <p:bldP spid="50"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711605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第八章   拉压、剪切与挤压的强度计算</a:t>
            </a:r>
          </a:p>
        </p:txBody>
      </p:sp>
      <p:sp>
        <p:nvSpPr>
          <p:cNvPr id="9" name="Rectangle 61"/>
          <p:cNvSpPr>
            <a:spLocks noChangeArrowheads="1"/>
          </p:cNvSpPr>
          <p:nvPr/>
        </p:nvSpPr>
        <p:spPr bwMode="auto">
          <a:xfrm>
            <a:off x="7272101" y="1085502"/>
            <a:ext cx="4824536" cy="3412753"/>
          </a:xfrm>
          <a:prstGeom prst="rect">
            <a:avLst/>
          </a:prstGeom>
          <a:solidFill>
            <a:srgbClr val="B9CDE5"/>
          </a:solidFill>
          <a:ln>
            <a:solidFill>
              <a:schemeClr val="bg1"/>
            </a:solidFill>
          </a:ln>
          <a:effectLst/>
        </p:spPr>
        <p:txBody>
          <a:bodyPr wrap="none" anchor="ctr"/>
          <a:lstStyle/>
          <a:p>
            <a:endParaRPr lang="zh-CN" altLang="en-US"/>
          </a:p>
        </p:txBody>
      </p:sp>
      <p:sp>
        <p:nvSpPr>
          <p:cNvPr id="24" name="Text Box 32">
            <a:extLst>
              <a:ext uri="{FF2B5EF4-FFF2-40B4-BE49-F238E27FC236}">
                <a16:creationId xmlns:a16="http://schemas.microsoft.com/office/drawing/2014/main" id="{A7A0F553-738C-996B-AA87-FC742DFFAACA}"/>
              </a:ext>
            </a:extLst>
          </p:cNvPr>
          <p:cNvSpPr txBox="1">
            <a:spLocks noChangeAspect="1" noChangeArrowheads="1"/>
          </p:cNvSpPr>
          <p:nvPr/>
        </p:nvSpPr>
        <p:spPr bwMode="auto">
          <a:xfrm>
            <a:off x="11125819" y="1358550"/>
            <a:ext cx="658813"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hangingPunct="1"/>
            <a:r>
              <a:rPr lang="en-US" altLang="zh-CN" b="0" i="1" dirty="0">
                <a:solidFill>
                  <a:schemeClr val="tx1"/>
                </a:solidFill>
                <a:ea typeface="宋体" panose="02010600030101010101" pitchFamily="2" charset="-122"/>
              </a:rPr>
              <a:t>F</a:t>
            </a:r>
            <a:r>
              <a:rPr lang="en-US" altLang="zh-CN" b="0" i="1" baseline="-25000" dirty="0">
                <a:solidFill>
                  <a:schemeClr val="tx1"/>
                </a:solidFill>
                <a:sym typeface="Symbol" panose="05050102010706020507" pitchFamily="18" charset="2"/>
              </a:rPr>
              <a:t></a:t>
            </a:r>
          </a:p>
        </p:txBody>
      </p:sp>
      <p:sp>
        <p:nvSpPr>
          <p:cNvPr id="25" name="Line 35">
            <a:extLst>
              <a:ext uri="{FF2B5EF4-FFF2-40B4-BE49-F238E27FC236}">
                <a16:creationId xmlns:a16="http://schemas.microsoft.com/office/drawing/2014/main" id="{DF15D1CC-816F-C72B-D363-37136FCB3111}"/>
              </a:ext>
            </a:extLst>
          </p:cNvPr>
          <p:cNvSpPr>
            <a:spLocks noChangeAspect="1" noChangeShapeType="1"/>
          </p:cNvSpPr>
          <p:nvPr/>
        </p:nvSpPr>
        <p:spPr bwMode="auto">
          <a:xfrm>
            <a:off x="10751169" y="1853850"/>
            <a:ext cx="665163" cy="1588"/>
          </a:xfrm>
          <a:prstGeom prst="line">
            <a:avLst/>
          </a:prstGeom>
          <a:noFill/>
          <a:ln w="38100">
            <a:solidFill>
              <a:schemeClr val="tx1"/>
            </a:solidFill>
            <a:prstDash val="dash"/>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grpSp>
        <p:nvGrpSpPr>
          <p:cNvPr id="26" name="Group 82">
            <a:extLst>
              <a:ext uri="{FF2B5EF4-FFF2-40B4-BE49-F238E27FC236}">
                <a16:creationId xmlns:a16="http://schemas.microsoft.com/office/drawing/2014/main" id="{792EA9DC-61C1-2DC8-DB1D-A36D86B32396}"/>
              </a:ext>
            </a:extLst>
          </p:cNvPr>
          <p:cNvGrpSpPr>
            <a:grpSpLocks/>
          </p:cNvGrpSpPr>
          <p:nvPr/>
        </p:nvGrpSpPr>
        <p:grpSpPr bwMode="auto">
          <a:xfrm>
            <a:off x="7795244" y="1085502"/>
            <a:ext cx="2736850" cy="1511301"/>
            <a:chOff x="2900" y="1191"/>
            <a:chExt cx="1724" cy="952"/>
          </a:xfrm>
        </p:grpSpPr>
        <p:sp>
          <p:nvSpPr>
            <p:cNvPr id="27" name="Rectangle 45">
              <a:extLst>
                <a:ext uri="{FF2B5EF4-FFF2-40B4-BE49-F238E27FC236}">
                  <a16:creationId xmlns:a16="http://schemas.microsoft.com/office/drawing/2014/main" id="{FF70CD67-937E-01D8-18A3-57FA07CF509C}"/>
                </a:ext>
              </a:extLst>
            </p:cNvPr>
            <p:cNvSpPr>
              <a:spLocks noChangeArrowheads="1"/>
            </p:cNvSpPr>
            <p:nvPr/>
          </p:nvSpPr>
          <p:spPr bwMode="auto">
            <a:xfrm>
              <a:off x="4090" y="1191"/>
              <a:ext cx="20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eaLnBrk="1" hangingPunct="1"/>
              <a:r>
                <a:rPr lang="en-US" altLang="zh-CN" b="0" i="1" dirty="0">
                  <a:solidFill>
                    <a:schemeClr val="tx1"/>
                  </a:solidFill>
                  <a:sym typeface="Symbol" panose="05050102010706020507" pitchFamily="18" charset="2"/>
                </a:rPr>
                <a:t>k</a:t>
              </a:r>
            </a:p>
          </p:txBody>
        </p:sp>
        <p:sp>
          <p:nvSpPr>
            <p:cNvPr id="28" name="Rectangle 31">
              <a:extLst>
                <a:ext uri="{FF2B5EF4-FFF2-40B4-BE49-F238E27FC236}">
                  <a16:creationId xmlns:a16="http://schemas.microsoft.com/office/drawing/2014/main" id="{0DE56F1A-58A2-8552-2897-30A3DB67744C}"/>
                </a:ext>
              </a:extLst>
            </p:cNvPr>
            <p:cNvSpPr>
              <a:spLocks noChangeAspect="1" noChangeArrowheads="1"/>
            </p:cNvSpPr>
            <p:nvPr/>
          </p:nvSpPr>
          <p:spPr bwMode="auto">
            <a:xfrm flipV="1">
              <a:off x="3347" y="1463"/>
              <a:ext cx="855" cy="447"/>
            </a:xfrm>
            <a:prstGeom prst="rect">
              <a:avLst/>
            </a:prstGeom>
            <a:gradFill rotWithShape="1">
              <a:gsLst>
                <a:gs pos="0">
                  <a:schemeClr val="bg1">
                    <a:gamma/>
                    <a:shade val="46275"/>
                    <a:invGamma/>
                  </a:schemeClr>
                </a:gs>
                <a:gs pos="50000">
                  <a:schemeClr val="bg1"/>
                </a:gs>
                <a:gs pos="100000">
                  <a:schemeClr val="bg1">
                    <a:gamma/>
                    <a:shade val="46275"/>
                    <a:invGamma/>
                  </a:schemeClr>
                </a:gs>
              </a:gsLst>
              <a:lin ang="5400000" scaled="1"/>
            </a:gradFill>
            <a:ln w="28575">
              <a:solidFill>
                <a:srgbClr val="000000"/>
              </a:solidFill>
              <a:miter lim="800000"/>
              <a:headEnd/>
              <a:tailEnd type="none" w="sm" len="sm"/>
            </a:ln>
            <a:effectLst/>
          </p:spPr>
          <p:txBody>
            <a:bodyPr/>
            <a:lstStyle/>
            <a:p>
              <a:pPr>
                <a:defRPr/>
              </a:pPr>
              <a:endParaRPr lang="zh-CN" altLang="en-US">
                <a:ea typeface="黑体" pitchFamily="2" charset="-122"/>
              </a:endParaRPr>
            </a:p>
          </p:txBody>
        </p:sp>
        <p:sp>
          <p:nvSpPr>
            <p:cNvPr id="29" name="AutoShape 49">
              <a:extLst>
                <a:ext uri="{FF2B5EF4-FFF2-40B4-BE49-F238E27FC236}">
                  <a16:creationId xmlns:a16="http://schemas.microsoft.com/office/drawing/2014/main" id="{3F932F2F-C898-86A0-BC27-8FD173326813}"/>
                </a:ext>
              </a:extLst>
            </p:cNvPr>
            <p:cNvSpPr>
              <a:spLocks noChangeArrowheads="1"/>
            </p:cNvSpPr>
            <p:nvPr/>
          </p:nvSpPr>
          <p:spPr bwMode="auto">
            <a:xfrm>
              <a:off x="4194" y="1464"/>
              <a:ext cx="253" cy="448"/>
            </a:xfrm>
            <a:prstGeom prst="rtTriangle">
              <a:avLst/>
            </a:prstGeom>
            <a:gradFill rotWithShape="1">
              <a:gsLst>
                <a:gs pos="0">
                  <a:schemeClr val="bg1">
                    <a:gamma/>
                    <a:shade val="46275"/>
                    <a:invGamma/>
                  </a:schemeClr>
                </a:gs>
                <a:gs pos="50000">
                  <a:schemeClr val="bg1"/>
                </a:gs>
                <a:gs pos="100000">
                  <a:schemeClr val="bg1">
                    <a:gamma/>
                    <a:shade val="46275"/>
                    <a:invGamma/>
                  </a:schemeClr>
                </a:gs>
              </a:gsLst>
              <a:lin ang="5400000" scaled="1"/>
            </a:gradFill>
            <a:ln w="19050" algn="ctr">
              <a:solidFill>
                <a:srgbClr val="000000"/>
              </a:solidFill>
              <a:miter lim="800000"/>
              <a:headEnd/>
              <a:tailEnd/>
            </a:ln>
            <a:effectLst/>
          </p:spPr>
          <p:txBody>
            <a:bodyPr/>
            <a:lstStyle/>
            <a:p>
              <a:pPr>
                <a:defRPr/>
              </a:pPr>
              <a:endParaRPr lang="zh-CN" altLang="en-US">
                <a:ea typeface="黑体" pitchFamily="2" charset="-122"/>
              </a:endParaRPr>
            </a:p>
          </p:txBody>
        </p:sp>
        <p:sp>
          <p:nvSpPr>
            <p:cNvPr id="30" name="Text Box 33">
              <a:extLst>
                <a:ext uri="{FF2B5EF4-FFF2-40B4-BE49-F238E27FC236}">
                  <a16:creationId xmlns:a16="http://schemas.microsoft.com/office/drawing/2014/main" id="{9BEC57F9-4B70-B896-B965-39765E26C5F8}"/>
                </a:ext>
              </a:extLst>
            </p:cNvPr>
            <p:cNvSpPr txBox="1">
              <a:spLocks noChangeAspect="1" noChangeArrowheads="1"/>
            </p:cNvSpPr>
            <p:nvPr/>
          </p:nvSpPr>
          <p:spPr bwMode="auto">
            <a:xfrm>
              <a:off x="2900" y="1394"/>
              <a:ext cx="337"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hangingPunct="1"/>
              <a:r>
                <a:rPr lang="en-US" altLang="zh-CN" b="0" i="1" dirty="0">
                  <a:solidFill>
                    <a:schemeClr val="tx1"/>
                  </a:solidFill>
                  <a:ea typeface="宋体" panose="02010600030101010101" pitchFamily="2" charset="-122"/>
                </a:rPr>
                <a:t>F</a:t>
              </a:r>
              <a:endParaRPr lang="en-US" altLang="zh-CN" b="0" baseline="-25000" dirty="0">
                <a:solidFill>
                  <a:schemeClr val="tx1"/>
                </a:solidFill>
                <a:ea typeface="宋体" panose="02010600030101010101" pitchFamily="2" charset="-122"/>
              </a:endParaRPr>
            </a:p>
          </p:txBody>
        </p:sp>
        <p:sp>
          <p:nvSpPr>
            <p:cNvPr id="31" name="Line 37">
              <a:extLst>
                <a:ext uri="{FF2B5EF4-FFF2-40B4-BE49-F238E27FC236}">
                  <a16:creationId xmlns:a16="http://schemas.microsoft.com/office/drawing/2014/main" id="{F317C891-4A5D-7CF8-B556-5B1E8B059039}"/>
                </a:ext>
              </a:extLst>
            </p:cNvPr>
            <p:cNvSpPr>
              <a:spLocks noChangeShapeType="1"/>
            </p:cNvSpPr>
            <p:nvPr/>
          </p:nvSpPr>
          <p:spPr bwMode="auto">
            <a:xfrm>
              <a:off x="4196" y="1459"/>
              <a:ext cx="257" cy="44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5" name="Arc 39">
              <a:extLst>
                <a:ext uri="{FF2B5EF4-FFF2-40B4-BE49-F238E27FC236}">
                  <a16:creationId xmlns:a16="http://schemas.microsoft.com/office/drawing/2014/main" id="{B18DC2BF-7914-52BF-B268-81EEE4C5ADC5}"/>
                </a:ext>
              </a:extLst>
            </p:cNvPr>
            <p:cNvSpPr>
              <a:spLocks/>
            </p:cNvSpPr>
            <p:nvPr/>
          </p:nvSpPr>
          <p:spPr bwMode="auto">
            <a:xfrm flipV="1">
              <a:off x="4188" y="1674"/>
              <a:ext cx="128" cy="59"/>
            </a:xfrm>
            <a:custGeom>
              <a:avLst/>
              <a:gdLst>
                <a:gd name="T0" fmla="*/ 0 w 21600"/>
                <a:gd name="T1" fmla="*/ 0 h 21600"/>
                <a:gd name="T2" fmla="*/ 1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2" name="Rectangle 40">
              <a:extLst>
                <a:ext uri="{FF2B5EF4-FFF2-40B4-BE49-F238E27FC236}">
                  <a16:creationId xmlns:a16="http://schemas.microsoft.com/office/drawing/2014/main" id="{7E0F6329-233C-09ED-5C23-872419F93911}"/>
                </a:ext>
              </a:extLst>
            </p:cNvPr>
            <p:cNvSpPr>
              <a:spLocks noChangeArrowheads="1"/>
            </p:cNvSpPr>
            <p:nvPr/>
          </p:nvSpPr>
          <p:spPr bwMode="auto">
            <a:xfrm>
              <a:off x="4137" y="1632"/>
              <a:ext cx="23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eaLnBrk="1" hangingPunct="1"/>
              <a:r>
                <a:rPr lang="en-US" altLang="zh-CN" b="0" i="1" dirty="0">
                  <a:solidFill>
                    <a:schemeClr val="tx1"/>
                  </a:solidFill>
                  <a:sym typeface="Symbol" panose="05050102010706020507" pitchFamily="18" charset="2"/>
                </a:rPr>
                <a:t></a:t>
              </a:r>
            </a:p>
          </p:txBody>
        </p:sp>
        <p:sp>
          <p:nvSpPr>
            <p:cNvPr id="33" name="Rectangle 46">
              <a:extLst>
                <a:ext uri="{FF2B5EF4-FFF2-40B4-BE49-F238E27FC236}">
                  <a16:creationId xmlns:a16="http://schemas.microsoft.com/office/drawing/2014/main" id="{FD9B0AE9-2971-AD64-41C8-3E940FFC4327}"/>
                </a:ext>
              </a:extLst>
            </p:cNvPr>
            <p:cNvSpPr>
              <a:spLocks noChangeArrowheads="1"/>
            </p:cNvSpPr>
            <p:nvPr/>
          </p:nvSpPr>
          <p:spPr bwMode="auto">
            <a:xfrm>
              <a:off x="4382" y="1855"/>
              <a:ext cx="24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eaLnBrk="1" hangingPunct="1"/>
              <a:r>
                <a:rPr lang="en-US" altLang="zh-CN" b="0" i="1" dirty="0">
                  <a:solidFill>
                    <a:schemeClr val="tx1"/>
                  </a:solidFill>
                  <a:sym typeface="Symbol" panose="05050102010706020507" pitchFamily="18" charset="2"/>
                </a:rPr>
                <a:t>k</a:t>
              </a:r>
              <a:r>
                <a:rPr lang="en-US" altLang="zh-CN" b="0" i="1" dirty="0">
                  <a:solidFill>
                    <a:schemeClr val="tx1"/>
                  </a:solidFill>
                  <a:cs typeface="Times New Roman" panose="02020603050405020304" pitchFamily="18" charset="0"/>
                  <a:sym typeface="Symbol" panose="05050102010706020507" pitchFamily="18" charset="2"/>
                </a:rPr>
                <a:t>'</a:t>
              </a:r>
            </a:p>
          </p:txBody>
        </p:sp>
        <p:sp>
          <p:nvSpPr>
            <p:cNvPr id="34" name="Line 34">
              <a:extLst>
                <a:ext uri="{FF2B5EF4-FFF2-40B4-BE49-F238E27FC236}">
                  <a16:creationId xmlns:a16="http://schemas.microsoft.com/office/drawing/2014/main" id="{B1D47AC9-9A6B-9492-1602-DC955195F5A0}"/>
                </a:ext>
              </a:extLst>
            </p:cNvPr>
            <p:cNvSpPr>
              <a:spLocks noChangeShapeType="1"/>
            </p:cNvSpPr>
            <p:nvPr/>
          </p:nvSpPr>
          <p:spPr bwMode="auto">
            <a:xfrm>
              <a:off x="3188" y="1687"/>
              <a:ext cx="1108" cy="0"/>
            </a:xfrm>
            <a:prstGeom prst="line">
              <a:avLst/>
            </a:prstGeom>
            <a:noFill/>
            <a:ln w="9525">
              <a:solidFill>
                <a:schemeClr val="tx1"/>
              </a:solidFill>
              <a:prstDash val="lgDash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 name="Line 36">
              <a:extLst>
                <a:ext uri="{FF2B5EF4-FFF2-40B4-BE49-F238E27FC236}">
                  <a16:creationId xmlns:a16="http://schemas.microsoft.com/office/drawing/2014/main" id="{67EDC654-2236-C7D3-5613-94A2D73ECED0}"/>
                </a:ext>
              </a:extLst>
            </p:cNvPr>
            <p:cNvSpPr>
              <a:spLocks noChangeAspect="1" noChangeShapeType="1"/>
            </p:cNvSpPr>
            <p:nvPr/>
          </p:nvSpPr>
          <p:spPr bwMode="auto">
            <a:xfrm flipH="1">
              <a:off x="2925" y="1687"/>
              <a:ext cx="434" cy="0"/>
            </a:xfrm>
            <a:prstGeom prst="line">
              <a:avLst/>
            </a:prstGeom>
            <a:noFill/>
            <a:ln w="38100">
              <a:solidFill>
                <a:schemeClr val="tx1"/>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dirty="0"/>
            </a:p>
          </p:txBody>
        </p:sp>
        <p:sp>
          <p:nvSpPr>
            <p:cNvPr id="36" name="Line 50">
              <a:extLst>
                <a:ext uri="{FF2B5EF4-FFF2-40B4-BE49-F238E27FC236}">
                  <a16:creationId xmlns:a16="http://schemas.microsoft.com/office/drawing/2014/main" id="{ABBB0AB7-220A-0A04-FD0E-B3E98924611D}"/>
                </a:ext>
              </a:extLst>
            </p:cNvPr>
            <p:cNvSpPr>
              <a:spLocks noChangeShapeType="1"/>
            </p:cNvSpPr>
            <p:nvPr/>
          </p:nvSpPr>
          <p:spPr bwMode="auto">
            <a:xfrm>
              <a:off x="3348" y="1908"/>
              <a:ext cx="11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7" name="Group 65">
            <a:extLst>
              <a:ext uri="{FF2B5EF4-FFF2-40B4-BE49-F238E27FC236}">
                <a16:creationId xmlns:a16="http://schemas.microsoft.com/office/drawing/2014/main" id="{B09E89C4-5CBB-7819-5E66-0A9F0F2BD0A7}"/>
              </a:ext>
            </a:extLst>
          </p:cNvPr>
          <p:cNvGrpSpPr>
            <a:grpSpLocks/>
          </p:cNvGrpSpPr>
          <p:nvPr/>
        </p:nvGrpSpPr>
        <p:grpSpPr bwMode="auto">
          <a:xfrm>
            <a:off x="9874869" y="1520475"/>
            <a:ext cx="774700" cy="695325"/>
            <a:chOff x="4210" y="1465"/>
            <a:chExt cx="488" cy="438"/>
          </a:xfrm>
        </p:grpSpPr>
        <p:sp>
          <p:nvSpPr>
            <p:cNvPr id="38" name="Line 53">
              <a:extLst>
                <a:ext uri="{FF2B5EF4-FFF2-40B4-BE49-F238E27FC236}">
                  <a16:creationId xmlns:a16="http://schemas.microsoft.com/office/drawing/2014/main" id="{EB49B981-82B5-13A6-C294-0CE72EB557FA}"/>
                </a:ext>
              </a:extLst>
            </p:cNvPr>
            <p:cNvSpPr>
              <a:spLocks noChangeAspect="1" noChangeShapeType="1"/>
            </p:cNvSpPr>
            <p:nvPr/>
          </p:nvSpPr>
          <p:spPr bwMode="auto">
            <a:xfrm>
              <a:off x="4210" y="1465"/>
              <a:ext cx="239" cy="0"/>
            </a:xfrm>
            <a:prstGeom prst="line">
              <a:avLst/>
            </a:prstGeom>
            <a:noFill/>
            <a:ln w="19050">
              <a:solidFill>
                <a:schemeClr val="tx1"/>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39" name="Line 54">
              <a:extLst>
                <a:ext uri="{FF2B5EF4-FFF2-40B4-BE49-F238E27FC236}">
                  <a16:creationId xmlns:a16="http://schemas.microsoft.com/office/drawing/2014/main" id="{B9E6A0B6-9B7E-D9A7-E6AC-1694C1998565}"/>
                </a:ext>
              </a:extLst>
            </p:cNvPr>
            <p:cNvSpPr>
              <a:spLocks noChangeAspect="1" noChangeShapeType="1"/>
            </p:cNvSpPr>
            <p:nvPr/>
          </p:nvSpPr>
          <p:spPr bwMode="auto">
            <a:xfrm>
              <a:off x="4285" y="1592"/>
              <a:ext cx="239" cy="0"/>
            </a:xfrm>
            <a:prstGeom prst="line">
              <a:avLst/>
            </a:prstGeom>
            <a:noFill/>
            <a:ln w="19050">
              <a:solidFill>
                <a:schemeClr val="tx1"/>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40" name="Line 55">
              <a:extLst>
                <a:ext uri="{FF2B5EF4-FFF2-40B4-BE49-F238E27FC236}">
                  <a16:creationId xmlns:a16="http://schemas.microsoft.com/office/drawing/2014/main" id="{257EFC64-BC47-5F9F-0DAD-F828B47D460A}"/>
                </a:ext>
              </a:extLst>
            </p:cNvPr>
            <p:cNvSpPr>
              <a:spLocks noChangeAspect="1" noChangeShapeType="1"/>
            </p:cNvSpPr>
            <p:nvPr/>
          </p:nvSpPr>
          <p:spPr bwMode="auto">
            <a:xfrm>
              <a:off x="4248" y="1529"/>
              <a:ext cx="239" cy="0"/>
            </a:xfrm>
            <a:prstGeom prst="line">
              <a:avLst/>
            </a:prstGeom>
            <a:noFill/>
            <a:ln w="19050">
              <a:solidFill>
                <a:schemeClr val="tx1"/>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41" name="Line 57">
              <a:extLst>
                <a:ext uri="{FF2B5EF4-FFF2-40B4-BE49-F238E27FC236}">
                  <a16:creationId xmlns:a16="http://schemas.microsoft.com/office/drawing/2014/main" id="{04C91C11-2DEC-4C25-1DF5-AFF2A839CA2F}"/>
                </a:ext>
              </a:extLst>
            </p:cNvPr>
            <p:cNvSpPr>
              <a:spLocks noChangeAspect="1" noChangeShapeType="1"/>
            </p:cNvSpPr>
            <p:nvPr/>
          </p:nvSpPr>
          <p:spPr bwMode="auto">
            <a:xfrm>
              <a:off x="4310" y="1653"/>
              <a:ext cx="239" cy="0"/>
            </a:xfrm>
            <a:prstGeom prst="line">
              <a:avLst/>
            </a:prstGeom>
            <a:noFill/>
            <a:ln w="19050">
              <a:solidFill>
                <a:schemeClr val="tx1"/>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42" name="Line 58">
              <a:extLst>
                <a:ext uri="{FF2B5EF4-FFF2-40B4-BE49-F238E27FC236}">
                  <a16:creationId xmlns:a16="http://schemas.microsoft.com/office/drawing/2014/main" id="{E88CB57C-E17F-9BBD-B2E6-30A66042A929}"/>
                </a:ext>
              </a:extLst>
            </p:cNvPr>
            <p:cNvSpPr>
              <a:spLocks noChangeAspect="1" noChangeShapeType="1"/>
            </p:cNvSpPr>
            <p:nvPr/>
          </p:nvSpPr>
          <p:spPr bwMode="auto">
            <a:xfrm>
              <a:off x="4394" y="1780"/>
              <a:ext cx="239" cy="0"/>
            </a:xfrm>
            <a:prstGeom prst="line">
              <a:avLst/>
            </a:prstGeom>
            <a:noFill/>
            <a:ln w="19050">
              <a:solidFill>
                <a:schemeClr val="tx1"/>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43" name="Line 59">
              <a:extLst>
                <a:ext uri="{FF2B5EF4-FFF2-40B4-BE49-F238E27FC236}">
                  <a16:creationId xmlns:a16="http://schemas.microsoft.com/office/drawing/2014/main" id="{DAE996DB-40EA-E5B1-2416-E9CEEF756F48}"/>
                </a:ext>
              </a:extLst>
            </p:cNvPr>
            <p:cNvSpPr>
              <a:spLocks noChangeAspect="1" noChangeShapeType="1"/>
            </p:cNvSpPr>
            <p:nvPr/>
          </p:nvSpPr>
          <p:spPr bwMode="auto">
            <a:xfrm>
              <a:off x="4354" y="1717"/>
              <a:ext cx="239" cy="0"/>
            </a:xfrm>
            <a:prstGeom prst="line">
              <a:avLst/>
            </a:prstGeom>
            <a:noFill/>
            <a:ln w="19050">
              <a:solidFill>
                <a:schemeClr val="tx1"/>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44" name="Line 61">
              <a:extLst>
                <a:ext uri="{FF2B5EF4-FFF2-40B4-BE49-F238E27FC236}">
                  <a16:creationId xmlns:a16="http://schemas.microsoft.com/office/drawing/2014/main" id="{BE5F902A-9097-4FDB-048B-685254AD0805}"/>
                </a:ext>
              </a:extLst>
            </p:cNvPr>
            <p:cNvSpPr>
              <a:spLocks noChangeAspect="1" noChangeShapeType="1"/>
            </p:cNvSpPr>
            <p:nvPr/>
          </p:nvSpPr>
          <p:spPr bwMode="auto">
            <a:xfrm>
              <a:off x="4424" y="1839"/>
              <a:ext cx="239" cy="0"/>
            </a:xfrm>
            <a:prstGeom prst="line">
              <a:avLst/>
            </a:prstGeom>
            <a:noFill/>
            <a:ln w="19050">
              <a:solidFill>
                <a:schemeClr val="tx1"/>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45" name="Line 63">
              <a:extLst>
                <a:ext uri="{FF2B5EF4-FFF2-40B4-BE49-F238E27FC236}">
                  <a16:creationId xmlns:a16="http://schemas.microsoft.com/office/drawing/2014/main" id="{898FCF70-3BC0-B603-CFD9-4B954C0F4501}"/>
                </a:ext>
              </a:extLst>
            </p:cNvPr>
            <p:cNvSpPr>
              <a:spLocks noChangeAspect="1" noChangeShapeType="1"/>
            </p:cNvSpPr>
            <p:nvPr/>
          </p:nvSpPr>
          <p:spPr bwMode="auto">
            <a:xfrm>
              <a:off x="4459" y="1903"/>
              <a:ext cx="239" cy="0"/>
            </a:xfrm>
            <a:prstGeom prst="line">
              <a:avLst/>
            </a:prstGeom>
            <a:noFill/>
            <a:ln w="19050">
              <a:solidFill>
                <a:schemeClr val="tx1"/>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grpSp>
      <p:sp>
        <p:nvSpPr>
          <p:cNvPr id="46" name="AutoShape 64">
            <a:extLst>
              <a:ext uri="{FF2B5EF4-FFF2-40B4-BE49-F238E27FC236}">
                <a16:creationId xmlns:a16="http://schemas.microsoft.com/office/drawing/2014/main" id="{46D284DD-0F24-809C-C7A6-1A8B830D0CEC}"/>
              </a:ext>
            </a:extLst>
          </p:cNvPr>
          <p:cNvSpPr>
            <a:spLocks/>
          </p:cNvSpPr>
          <p:nvPr/>
        </p:nvSpPr>
        <p:spPr bwMode="auto">
          <a:xfrm>
            <a:off x="10657507" y="1487138"/>
            <a:ext cx="88900" cy="733425"/>
          </a:xfrm>
          <a:prstGeom prst="rightBrace">
            <a:avLst>
              <a:gd name="adj1" fmla="val 68750"/>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48" name="Text Box 1032">
            <a:extLst>
              <a:ext uri="{FF2B5EF4-FFF2-40B4-BE49-F238E27FC236}">
                <a16:creationId xmlns:a16="http://schemas.microsoft.com/office/drawing/2014/main" id="{2D7511C0-58F7-ADD2-B911-1867E89D174A}"/>
              </a:ext>
            </a:extLst>
          </p:cNvPr>
          <p:cNvSpPr txBox="1">
            <a:spLocks noChangeArrowheads="1"/>
          </p:cNvSpPr>
          <p:nvPr/>
        </p:nvSpPr>
        <p:spPr bwMode="auto">
          <a:xfrm>
            <a:off x="303415" y="2332249"/>
            <a:ext cx="6811711" cy="20195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lnSpc>
                <a:spcPct val="110000"/>
              </a:lnSpc>
            </a:pPr>
            <a:r>
              <a:rPr lang="zh-CN" altLang="en-US" sz="2800" i="0" dirty="0">
                <a:latin typeface="+mn-lt"/>
                <a:ea typeface="微软雅黑" panose="020B0503020204020204" pitchFamily="34" charset="-122"/>
              </a:rPr>
              <a:t>将斜截面上的全应力</a:t>
            </a:r>
            <a:r>
              <a:rPr lang="en-US" altLang="zh-CN" sz="2800" b="0" dirty="0">
                <a:latin typeface="+mn-lt"/>
                <a:ea typeface="微软雅黑" panose="020B0503020204020204" pitchFamily="34" charset="-122"/>
              </a:rPr>
              <a:t>p</a:t>
            </a:r>
            <a:r>
              <a:rPr lang="en-US" altLang="zh-CN" sz="2800" b="0" baseline="-25000" dirty="0">
                <a:latin typeface="+mn-lt"/>
                <a:ea typeface="微软雅黑" panose="020B0503020204020204" pitchFamily="34" charset="-122"/>
                <a:sym typeface="Symbol" panose="05050102010706020507" pitchFamily="18" charset="2"/>
              </a:rPr>
              <a:t></a:t>
            </a:r>
            <a:r>
              <a:rPr lang="zh-CN" altLang="en-US" sz="2800" i="0" dirty="0">
                <a:latin typeface="+mn-lt"/>
                <a:ea typeface="微软雅黑" panose="020B0503020204020204" pitchFamily="34" charset="-122"/>
              </a:rPr>
              <a:t>分解为垂直于斜截面的正应力</a:t>
            </a:r>
            <a:r>
              <a:rPr lang="zh-CN" altLang="en-US" sz="2800" b="0" dirty="0">
                <a:latin typeface="+mn-lt"/>
                <a:ea typeface="微软雅黑" panose="020B0503020204020204" pitchFamily="34" charset="-122"/>
                <a:sym typeface="Symbol" panose="05050102010706020507" pitchFamily="18" charset="2"/>
              </a:rPr>
              <a:t></a:t>
            </a:r>
            <a:r>
              <a:rPr lang="zh-CN" altLang="en-US" sz="2800" b="0" baseline="-25000" dirty="0">
                <a:latin typeface="+mn-lt"/>
                <a:ea typeface="微软雅黑" panose="020B0503020204020204" pitchFamily="34" charset="-122"/>
                <a:sym typeface="Symbol" panose="05050102010706020507" pitchFamily="18" charset="2"/>
              </a:rPr>
              <a:t></a:t>
            </a:r>
            <a:r>
              <a:rPr lang="zh-CN" altLang="en-US" sz="2800" i="0" dirty="0">
                <a:latin typeface="+mn-lt"/>
                <a:ea typeface="微软雅黑" panose="020B0503020204020204" pitchFamily="34" charset="-122"/>
              </a:rPr>
              <a:t>和位于斜截面内的切应力</a:t>
            </a:r>
            <a:r>
              <a:rPr lang="zh-CN" altLang="en-US" sz="2800" b="0" dirty="0">
                <a:latin typeface="+mn-lt"/>
                <a:ea typeface="微软雅黑" panose="020B0503020204020204" pitchFamily="34" charset="-122"/>
                <a:sym typeface="Symbol" panose="05050102010706020507" pitchFamily="18" charset="2"/>
              </a:rPr>
              <a:t></a:t>
            </a:r>
            <a:r>
              <a:rPr lang="zh-CN" altLang="en-US" sz="2800" b="0" baseline="-25000" dirty="0">
                <a:latin typeface="+mn-lt"/>
                <a:ea typeface="微软雅黑" panose="020B0503020204020204" pitchFamily="34" charset="-122"/>
                <a:sym typeface="Symbol" panose="05050102010706020507" pitchFamily="18" charset="2"/>
              </a:rPr>
              <a:t></a:t>
            </a:r>
            <a:r>
              <a:rPr lang="zh-CN" altLang="en-US" sz="2800" i="0" dirty="0">
                <a:latin typeface="+mn-lt"/>
                <a:ea typeface="微软雅黑" panose="020B0503020204020204" pitchFamily="34" charset="-122"/>
              </a:rPr>
              <a:t>，由几何关系得到</a:t>
            </a:r>
            <a:endParaRPr lang="en-US" altLang="zh-CN" sz="2800" i="0" dirty="0">
              <a:latin typeface="+mn-lt"/>
              <a:ea typeface="微软雅黑" panose="020B0503020204020204" pitchFamily="34" charset="-122"/>
            </a:endParaRPr>
          </a:p>
          <a:p>
            <a:pPr>
              <a:lnSpc>
                <a:spcPct val="130000"/>
              </a:lnSpc>
            </a:pPr>
            <a:r>
              <a:rPr lang="zh-CN" altLang="en-US" sz="2800" dirty="0">
                <a:sym typeface="Symbol" panose="05050102010706020507" pitchFamily="18" charset="2"/>
              </a:rPr>
              <a:t> </a:t>
            </a:r>
            <a:endParaRPr lang="zh-CN" altLang="en-US" sz="2800" i="0" dirty="0">
              <a:latin typeface="微软雅黑" panose="020B0503020204020204" pitchFamily="34" charset="-122"/>
              <a:ea typeface="微软雅黑" panose="020B0503020204020204" pitchFamily="34" charset="-122"/>
            </a:endParaRPr>
          </a:p>
        </p:txBody>
      </p:sp>
      <p:graphicFrame>
        <p:nvGraphicFramePr>
          <p:cNvPr id="225" name="Object 73">
            <a:extLst>
              <a:ext uri="{FF2B5EF4-FFF2-40B4-BE49-F238E27FC236}">
                <a16:creationId xmlns:a16="http://schemas.microsoft.com/office/drawing/2014/main" id="{58C1E922-EEBC-B645-F4D8-AFFE23FA175A}"/>
              </a:ext>
            </a:extLst>
          </p:cNvPr>
          <p:cNvGraphicFramePr>
            <a:graphicFrameLocks noChangeAspect="1"/>
          </p:cNvGraphicFramePr>
          <p:nvPr>
            <p:extLst>
              <p:ext uri="{D42A27DB-BD31-4B8C-83A1-F6EECF244321}">
                <p14:modId xmlns:p14="http://schemas.microsoft.com/office/powerpoint/2010/main" val="877046480"/>
              </p:ext>
            </p:extLst>
          </p:nvPr>
        </p:nvGraphicFramePr>
        <p:xfrm>
          <a:off x="1275933" y="885478"/>
          <a:ext cx="4424363" cy="900112"/>
        </p:xfrm>
        <a:graphic>
          <a:graphicData uri="http://schemas.openxmlformats.org/presentationml/2006/ole">
            <mc:AlternateContent xmlns:mc="http://schemas.openxmlformats.org/markup-compatibility/2006">
              <mc:Choice xmlns:v="urn:schemas-microsoft-com:vml" Requires="v">
                <p:oleObj name="Equation" r:id="rId3" imgW="2108160" imgH="431640" progId="Equation.DSMT4">
                  <p:embed/>
                </p:oleObj>
              </mc:Choice>
              <mc:Fallback>
                <p:oleObj name="Equation" r:id="rId3" imgW="2108160" imgH="431640" progId="Equation.DSMT4">
                  <p:embed/>
                  <p:pic>
                    <p:nvPicPr>
                      <p:cNvPr id="225" name="Object 73">
                        <a:extLst>
                          <a:ext uri="{FF2B5EF4-FFF2-40B4-BE49-F238E27FC236}">
                            <a16:creationId xmlns:a16="http://schemas.microsoft.com/office/drawing/2014/main" id="{58C1E922-EEBC-B645-F4D8-AFFE23FA175A}"/>
                          </a:ext>
                        </a:extLst>
                      </p:cNvPr>
                      <p:cNvPicPr>
                        <a:picLocks noChangeAspect="1" noChangeArrowheads="1"/>
                      </p:cNvPicPr>
                      <p:nvPr/>
                    </p:nvPicPr>
                    <p:blipFill>
                      <a:blip r:embed="rId4"/>
                      <a:srcRect/>
                      <a:stretch>
                        <a:fillRect/>
                      </a:stretch>
                    </p:blipFill>
                    <p:spPr bwMode="auto">
                      <a:xfrm>
                        <a:off x="1275933" y="885478"/>
                        <a:ext cx="4424363" cy="9001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6" name="Text Box 1032">
            <a:extLst>
              <a:ext uri="{FF2B5EF4-FFF2-40B4-BE49-F238E27FC236}">
                <a16:creationId xmlns:a16="http://schemas.microsoft.com/office/drawing/2014/main" id="{2C6CE822-02CC-989F-1710-B799915338B3}"/>
              </a:ext>
            </a:extLst>
          </p:cNvPr>
          <p:cNvSpPr txBox="1">
            <a:spLocks noChangeArrowheads="1"/>
          </p:cNvSpPr>
          <p:nvPr/>
        </p:nvSpPr>
        <p:spPr bwMode="auto">
          <a:xfrm>
            <a:off x="346246" y="1776065"/>
            <a:ext cx="5479903" cy="1007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lnSpc>
                <a:spcPct val="110000"/>
              </a:lnSpc>
            </a:pPr>
            <a:r>
              <a:rPr lang="zh-CN" altLang="en-US" sz="2800" i="0" dirty="0">
                <a:latin typeface="微软雅黑" panose="020B0503020204020204" pitchFamily="34" charset="-122"/>
                <a:ea typeface="微软雅黑" panose="020B0503020204020204" pitchFamily="34" charset="-122"/>
              </a:rPr>
              <a:t>式中，</a:t>
            </a:r>
            <a:r>
              <a:rPr lang="zh-CN" altLang="en-US" sz="2800" b="0" dirty="0">
                <a:latin typeface="+mn-lt"/>
                <a:ea typeface="微软雅黑" panose="020B0503020204020204" pitchFamily="34" charset="-122"/>
                <a:sym typeface="Symbol" panose="05050102010706020507" pitchFamily="18" charset="2"/>
              </a:rPr>
              <a:t> </a:t>
            </a:r>
            <a:r>
              <a:rPr lang="zh-CN" altLang="en-US" sz="2800" i="0" dirty="0">
                <a:latin typeface="微软雅黑" panose="020B0503020204020204" pitchFamily="34" charset="-122"/>
                <a:ea typeface="微软雅黑" panose="020B0503020204020204" pitchFamily="34" charset="-122"/>
              </a:rPr>
              <a:t>是横截面上的正应力。</a:t>
            </a:r>
            <a:endParaRPr lang="en-US" altLang="zh-CN" sz="2800" i="0" dirty="0">
              <a:latin typeface="微软雅黑" panose="020B0503020204020204" pitchFamily="34" charset="-122"/>
              <a:ea typeface="微软雅黑" panose="020B0503020204020204" pitchFamily="34" charset="-122"/>
            </a:endParaRPr>
          </a:p>
          <a:p>
            <a:pPr algn="just">
              <a:lnSpc>
                <a:spcPct val="110000"/>
              </a:lnSpc>
            </a:pPr>
            <a:endParaRPr lang="zh-CN" altLang="en-US" sz="2800" i="0" dirty="0">
              <a:latin typeface="微软雅黑" panose="020B0503020204020204" pitchFamily="34" charset="-122"/>
              <a:ea typeface="微软雅黑" panose="020B0503020204020204" pitchFamily="34" charset="-122"/>
            </a:endParaRPr>
          </a:p>
        </p:txBody>
      </p:sp>
      <p:graphicFrame>
        <p:nvGraphicFramePr>
          <p:cNvPr id="227" name="Object 73">
            <a:extLst>
              <a:ext uri="{FF2B5EF4-FFF2-40B4-BE49-F238E27FC236}">
                <a16:creationId xmlns:a16="http://schemas.microsoft.com/office/drawing/2014/main" id="{D2A5E514-78F5-3C6C-C1DC-66BB1B55D7D3}"/>
              </a:ext>
            </a:extLst>
          </p:cNvPr>
          <p:cNvGraphicFramePr>
            <a:graphicFrameLocks noChangeAspect="1"/>
          </p:cNvGraphicFramePr>
          <p:nvPr>
            <p:extLst>
              <p:ext uri="{D42A27DB-BD31-4B8C-83A1-F6EECF244321}">
                <p14:modId xmlns:p14="http://schemas.microsoft.com/office/powerpoint/2010/main" val="4183020937"/>
              </p:ext>
            </p:extLst>
          </p:nvPr>
        </p:nvGraphicFramePr>
        <p:xfrm>
          <a:off x="1275933" y="3738920"/>
          <a:ext cx="3251200" cy="503238"/>
        </p:xfrm>
        <a:graphic>
          <a:graphicData uri="http://schemas.openxmlformats.org/presentationml/2006/ole">
            <mc:AlternateContent xmlns:mc="http://schemas.openxmlformats.org/markup-compatibility/2006">
              <mc:Choice xmlns:v="urn:schemas-microsoft-com:vml" Requires="v">
                <p:oleObj name="Equation" r:id="rId5" imgW="1549080" imgH="241200" progId="Equation.DSMT4">
                  <p:embed/>
                </p:oleObj>
              </mc:Choice>
              <mc:Fallback>
                <p:oleObj name="Equation" r:id="rId5" imgW="1549080" imgH="241200" progId="Equation.DSMT4">
                  <p:embed/>
                  <p:pic>
                    <p:nvPicPr>
                      <p:cNvPr id="227" name="Object 73">
                        <a:extLst>
                          <a:ext uri="{FF2B5EF4-FFF2-40B4-BE49-F238E27FC236}">
                            <a16:creationId xmlns:a16="http://schemas.microsoft.com/office/drawing/2014/main" id="{D2A5E514-78F5-3C6C-C1DC-66BB1B55D7D3}"/>
                          </a:ext>
                        </a:extLst>
                      </p:cNvPr>
                      <p:cNvPicPr>
                        <a:picLocks noChangeAspect="1" noChangeArrowheads="1"/>
                      </p:cNvPicPr>
                      <p:nvPr/>
                    </p:nvPicPr>
                    <p:blipFill>
                      <a:blip r:embed="rId6"/>
                      <a:srcRect/>
                      <a:stretch>
                        <a:fillRect/>
                      </a:stretch>
                    </p:blipFill>
                    <p:spPr bwMode="auto">
                      <a:xfrm>
                        <a:off x="1275933" y="3738920"/>
                        <a:ext cx="3251200" cy="5032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8" name="Object 73">
            <a:extLst>
              <a:ext uri="{FF2B5EF4-FFF2-40B4-BE49-F238E27FC236}">
                <a16:creationId xmlns:a16="http://schemas.microsoft.com/office/drawing/2014/main" id="{FF6D47C6-837E-C76F-06A1-D3B390BD6EDF}"/>
              </a:ext>
            </a:extLst>
          </p:cNvPr>
          <p:cNvGraphicFramePr>
            <a:graphicFrameLocks noChangeAspect="1"/>
          </p:cNvGraphicFramePr>
          <p:nvPr>
            <p:extLst>
              <p:ext uri="{D42A27DB-BD31-4B8C-83A1-F6EECF244321}">
                <p14:modId xmlns:p14="http://schemas.microsoft.com/office/powerpoint/2010/main" val="3855529975"/>
              </p:ext>
            </p:extLst>
          </p:nvPr>
        </p:nvGraphicFramePr>
        <p:xfrm>
          <a:off x="1222460" y="4036920"/>
          <a:ext cx="5303837" cy="820738"/>
        </p:xfrm>
        <a:graphic>
          <a:graphicData uri="http://schemas.openxmlformats.org/presentationml/2006/ole">
            <mc:AlternateContent xmlns:mc="http://schemas.openxmlformats.org/markup-compatibility/2006">
              <mc:Choice xmlns:v="urn:schemas-microsoft-com:vml" Requires="v">
                <p:oleObj name="Equation" r:id="rId7" imgW="2527200" imgH="393480" progId="Equation.DSMT4">
                  <p:embed/>
                </p:oleObj>
              </mc:Choice>
              <mc:Fallback>
                <p:oleObj name="Equation" r:id="rId7" imgW="2527200" imgH="393480" progId="Equation.DSMT4">
                  <p:embed/>
                  <p:pic>
                    <p:nvPicPr>
                      <p:cNvPr id="228" name="Object 73">
                        <a:extLst>
                          <a:ext uri="{FF2B5EF4-FFF2-40B4-BE49-F238E27FC236}">
                            <a16:creationId xmlns:a16="http://schemas.microsoft.com/office/drawing/2014/main" id="{FF6D47C6-837E-C76F-06A1-D3B390BD6EDF}"/>
                          </a:ext>
                        </a:extLst>
                      </p:cNvPr>
                      <p:cNvPicPr>
                        <a:picLocks noChangeAspect="1" noChangeArrowheads="1"/>
                      </p:cNvPicPr>
                      <p:nvPr/>
                    </p:nvPicPr>
                    <p:blipFill>
                      <a:blip r:embed="rId8"/>
                      <a:srcRect/>
                      <a:stretch>
                        <a:fillRect/>
                      </a:stretch>
                    </p:blipFill>
                    <p:spPr bwMode="auto">
                      <a:xfrm>
                        <a:off x="1222460" y="4036920"/>
                        <a:ext cx="5303837" cy="8207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9" name="Rectangle 28">
            <a:extLst>
              <a:ext uri="{FF2B5EF4-FFF2-40B4-BE49-F238E27FC236}">
                <a16:creationId xmlns:a16="http://schemas.microsoft.com/office/drawing/2014/main" id="{6ACFBA07-C354-3DE0-F55A-E17EA61D7223}"/>
              </a:ext>
            </a:extLst>
          </p:cNvPr>
          <p:cNvSpPr>
            <a:spLocks noChangeArrowheads="1"/>
          </p:cNvSpPr>
          <p:nvPr/>
        </p:nvSpPr>
        <p:spPr bwMode="auto">
          <a:xfrm>
            <a:off x="10371756" y="3184089"/>
            <a:ext cx="3762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sym typeface="Symbol" panose="05050102010706020507" pitchFamily="18" charset="2"/>
              </a:rPr>
              <a:t></a:t>
            </a:r>
          </a:p>
        </p:txBody>
      </p:sp>
      <p:sp>
        <p:nvSpPr>
          <p:cNvPr id="230" name="Rectangle 29">
            <a:extLst>
              <a:ext uri="{FF2B5EF4-FFF2-40B4-BE49-F238E27FC236}">
                <a16:creationId xmlns:a16="http://schemas.microsoft.com/office/drawing/2014/main" id="{58C656D4-2104-8A4A-4B73-8A969C054364}"/>
              </a:ext>
            </a:extLst>
          </p:cNvPr>
          <p:cNvSpPr>
            <a:spLocks noChangeArrowheads="1"/>
          </p:cNvSpPr>
          <p:nvPr/>
        </p:nvSpPr>
        <p:spPr bwMode="auto">
          <a:xfrm>
            <a:off x="10242534" y="3761939"/>
            <a:ext cx="4460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FF0000"/>
                </a:solidFill>
                <a:effectLst/>
                <a:uLnTx/>
                <a:uFillTx/>
                <a:latin typeface="Times New Roman" panose="02020603050405020304" pitchFamily="18" charset="0"/>
                <a:ea typeface="黑体" panose="02010609060101010101" pitchFamily="49" charset="-122"/>
                <a:sym typeface="Symbol" panose="05050102010706020507" pitchFamily="18" charset="2"/>
              </a:rPr>
              <a:t></a:t>
            </a:r>
            <a:r>
              <a:rPr kumimoji="1" lang="en-US" altLang="zh-CN" sz="2400" b="0" u="none" strike="noStrike" kern="0" cap="none" spc="0" normalizeH="0" baseline="-25000" noProof="0" dirty="0">
                <a:ln>
                  <a:noFill/>
                </a:ln>
                <a:solidFill>
                  <a:srgbClr val="FF0000"/>
                </a:solidFill>
                <a:effectLst/>
                <a:uLnTx/>
                <a:uFillTx/>
                <a:latin typeface="Times New Roman" panose="02020603050405020304" pitchFamily="18" charset="0"/>
                <a:ea typeface="黑体" panose="02010609060101010101" pitchFamily="49" charset="-122"/>
                <a:sym typeface="Symbol" panose="05050102010706020507" pitchFamily="18" charset="2"/>
              </a:rPr>
              <a:t></a:t>
            </a:r>
          </a:p>
        </p:txBody>
      </p:sp>
      <p:sp>
        <p:nvSpPr>
          <p:cNvPr id="231" name="Arc 52">
            <a:extLst>
              <a:ext uri="{FF2B5EF4-FFF2-40B4-BE49-F238E27FC236}">
                <a16:creationId xmlns:a16="http://schemas.microsoft.com/office/drawing/2014/main" id="{42A503D9-7C3B-E445-3DC3-E16598FD8DB3}"/>
              </a:ext>
            </a:extLst>
          </p:cNvPr>
          <p:cNvSpPr>
            <a:spLocks/>
          </p:cNvSpPr>
          <p:nvPr/>
        </p:nvSpPr>
        <p:spPr bwMode="auto">
          <a:xfrm rot="17042174" flipV="1">
            <a:off x="10322544" y="3474601"/>
            <a:ext cx="185738" cy="96837"/>
          </a:xfrm>
          <a:custGeom>
            <a:avLst/>
            <a:gdLst>
              <a:gd name="T0" fmla="*/ 0 w 21600"/>
              <a:gd name="T1" fmla="*/ 0 h 21600"/>
              <a:gd name="T2" fmla="*/ 1597158 w 21600"/>
              <a:gd name="T3" fmla="*/ 434139 h 21600"/>
              <a:gd name="T4" fmla="*/ 0 w 21600"/>
              <a:gd name="T5" fmla="*/ 434139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nvGrpSpPr>
          <p:cNvPr id="232" name="Group 53">
            <a:extLst>
              <a:ext uri="{FF2B5EF4-FFF2-40B4-BE49-F238E27FC236}">
                <a16:creationId xmlns:a16="http://schemas.microsoft.com/office/drawing/2014/main" id="{3A65D7B6-EE93-AA36-3864-1C95F477CB07}"/>
              </a:ext>
            </a:extLst>
          </p:cNvPr>
          <p:cNvGrpSpPr>
            <a:grpSpLocks/>
          </p:cNvGrpSpPr>
          <p:nvPr/>
        </p:nvGrpSpPr>
        <p:grpSpPr bwMode="auto">
          <a:xfrm>
            <a:off x="7795244" y="2849126"/>
            <a:ext cx="2570162" cy="1562100"/>
            <a:chOff x="2917" y="1983"/>
            <a:chExt cx="1619" cy="984"/>
          </a:xfrm>
        </p:grpSpPr>
        <p:sp>
          <p:nvSpPr>
            <p:cNvPr id="233" name="Freeform 54">
              <a:extLst>
                <a:ext uri="{FF2B5EF4-FFF2-40B4-BE49-F238E27FC236}">
                  <a16:creationId xmlns:a16="http://schemas.microsoft.com/office/drawing/2014/main" id="{44C82C81-8651-DB3E-5D5E-0CF6FA792BB3}"/>
                </a:ext>
              </a:extLst>
            </p:cNvPr>
            <p:cNvSpPr>
              <a:spLocks/>
            </p:cNvSpPr>
            <p:nvPr/>
          </p:nvSpPr>
          <p:spPr bwMode="auto">
            <a:xfrm>
              <a:off x="3366" y="2256"/>
              <a:ext cx="1110" cy="453"/>
            </a:xfrm>
            <a:custGeom>
              <a:avLst/>
              <a:gdLst/>
              <a:ahLst/>
              <a:cxnLst>
                <a:cxn ang="0">
                  <a:pos x="0" y="453"/>
                </a:cxn>
                <a:cxn ang="0">
                  <a:pos x="0" y="0"/>
                </a:cxn>
                <a:cxn ang="0">
                  <a:pos x="852" y="0"/>
                </a:cxn>
                <a:cxn ang="0">
                  <a:pos x="1110" y="447"/>
                </a:cxn>
                <a:cxn ang="0">
                  <a:pos x="0" y="453"/>
                </a:cxn>
              </a:cxnLst>
              <a:rect l="0" t="0" r="r" b="b"/>
              <a:pathLst>
                <a:path w="1110" h="453">
                  <a:moveTo>
                    <a:pt x="0" y="453"/>
                  </a:moveTo>
                  <a:lnTo>
                    <a:pt x="0" y="0"/>
                  </a:lnTo>
                  <a:lnTo>
                    <a:pt x="852" y="0"/>
                  </a:lnTo>
                  <a:lnTo>
                    <a:pt x="1110" y="447"/>
                  </a:lnTo>
                  <a:lnTo>
                    <a:pt x="0" y="453"/>
                  </a:lnTo>
                  <a:close/>
                </a:path>
              </a:pathLst>
            </a:custGeom>
            <a:gradFill rotWithShape="1">
              <a:gsLst>
                <a:gs pos="0">
                  <a:srgbClr val="FFFFFF">
                    <a:gamma/>
                    <a:shade val="46275"/>
                    <a:invGamma/>
                  </a:srgbClr>
                </a:gs>
                <a:gs pos="50000">
                  <a:srgbClr val="FFFFFF"/>
                </a:gs>
                <a:gs pos="100000">
                  <a:srgbClr val="FFFFFF">
                    <a:gamma/>
                    <a:shade val="46275"/>
                    <a:invGamma/>
                  </a:srgbClr>
                </a:gs>
              </a:gsLst>
              <a:lin ang="5400000" scaled="1"/>
            </a:gradFill>
            <a:ln w="28575" cap="flat" cmpd="sng">
              <a:solidFill>
                <a:srgbClr val="000000"/>
              </a:solidFill>
              <a:prstDash val="solid"/>
              <a:round/>
              <a:headEnd type="none" w="med" len="med"/>
              <a:tailEnd type="none" w="med" len="med"/>
            </a:ln>
            <a:effec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itchFamily="2" charset="-122"/>
              </a:endParaRPr>
            </a:p>
          </p:txBody>
        </p:sp>
        <p:sp>
          <p:nvSpPr>
            <p:cNvPr id="234" name="Text Box 55">
              <a:extLst>
                <a:ext uri="{FF2B5EF4-FFF2-40B4-BE49-F238E27FC236}">
                  <a16:creationId xmlns:a16="http://schemas.microsoft.com/office/drawing/2014/main" id="{FD910E9B-81B2-4AC0-8016-15CD85641CDA}"/>
                </a:ext>
              </a:extLst>
            </p:cNvPr>
            <p:cNvSpPr txBox="1">
              <a:spLocks noChangeAspect="1" noChangeArrowheads="1"/>
            </p:cNvSpPr>
            <p:nvPr/>
          </p:nvSpPr>
          <p:spPr bwMode="auto">
            <a:xfrm>
              <a:off x="2917" y="2191"/>
              <a:ext cx="337"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rPr>
                <a:t>F</a:t>
              </a:r>
              <a:endParaRPr kumimoji="1" lang="en-US" altLang="zh-CN" sz="2400" b="0" u="none" strike="noStrike" kern="0" cap="none" spc="0" normalizeH="0" baseline="-25000" noProof="0" dirty="0">
                <a:ln>
                  <a:noFill/>
                </a:ln>
                <a:solidFill>
                  <a:schemeClr val="tx1"/>
                </a:solidFill>
                <a:effectLst/>
                <a:uLnTx/>
                <a:uFillTx/>
                <a:latin typeface="Times New Roman" panose="02020603050405020304" pitchFamily="18" charset="0"/>
                <a:ea typeface="宋体" panose="02010600030101010101" pitchFamily="2" charset="-122"/>
              </a:endParaRPr>
            </a:p>
          </p:txBody>
        </p:sp>
        <p:sp>
          <p:nvSpPr>
            <p:cNvPr id="235" name="Line 56">
              <a:extLst>
                <a:ext uri="{FF2B5EF4-FFF2-40B4-BE49-F238E27FC236}">
                  <a16:creationId xmlns:a16="http://schemas.microsoft.com/office/drawing/2014/main" id="{2F8253B6-7ABF-B5BA-7A08-49442D5A8BFC}"/>
                </a:ext>
              </a:extLst>
            </p:cNvPr>
            <p:cNvSpPr>
              <a:spLocks noChangeShapeType="1"/>
            </p:cNvSpPr>
            <p:nvPr/>
          </p:nvSpPr>
          <p:spPr bwMode="auto">
            <a:xfrm>
              <a:off x="4213" y="2256"/>
              <a:ext cx="257" cy="446"/>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236" name="Rectangle 57">
              <a:extLst>
                <a:ext uri="{FF2B5EF4-FFF2-40B4-BE49-F238E27FC236}">
                  <a16:creationId xmlns:a16="http://schemas.microsoft.com/office/drawing/2014/main" id="{18120B83-47FB-D3EF-50FE-F3725CFD66DB}"/>
                </a:ext>
              </a:extLst>
            </p:cNvPr>
            <p:cNvSpPr>
              <a:spLocks noChangeArrowheads="1"/>
            </p:cNvSpPr>
            <p:nvPr/>
          </p:nvSpPr>
          <p:spPr bwMode="auto">
            <a:xfrm>
              <a:off x="4294" y="2679"/>
              <a:ext cx="24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sym typeface="Symbol" panose="05050102010706020507" pitchFamily="18" charset="2"/>
                </a:rPr>
                <a:t>k</a:t>
              </a:r>
              <a:r>
                <a:rPr kumimoji="1" lang="en-US" altLang="zh-CN" sz="2400" b="0" u="none" strike="noStrike" kern="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a:t>
              </a:r>
            </a:p>
          </p:txBody>
        </p:sp>
        <p:sp>
          <p:nvSpPr>
            <p:cNvPr id="237" name="Line 58">
              <a:extLst>
                <a:ext uri="{FF2B5EF4-FFF2-40B4-BE49-F238E27FC236}">
                  <a16:creationId xmlns:a16="http://schemas.microsoft.com/office/drawing/2014/main" id="{A09BEE05-C62E-53AA-72C0-256DC7E9D939}"/>
                </a:ext>
              </a:extLst>
            </p:cNvPr>
            <p:cNvSpPr>
              <a:spLocks noChangeShapeType="1"/>
            </p:cNvSpPr>
            <p:nvPr/>
          </p:nvSpPr>
          <p:spPr bwMode="auto">
            <a:xfrm>
              <a:off x="3205" y="2484"/>
              <a:ext cx="1108" cy="0"/>
            </a:xfrm>
            <a:prstGeom prst="line">
              <a:avLst/>
            </a:prstGeom>
            <a:noFill/>
            <a:ln w="9525">
              <a:solidFill>
                <a:srgbClr val="000000"/>
              </a:solidFill>
              <a:prstDash val="lgDashDot"/>
              <a:round/>
              <a:headEnd/>
              <a:tailE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238" name="Line 59">
              <a:extLst>
                <a:ext uri="{FF2B5EF4-FFF2-40B4-BE49-F238E27FC236}">
                  <a16:creationId xmlns:a16="http://schemas.microsoft.com/office/drawing/2014/main" id="{0A4A7E7A-8ABF-E42A-C0F0-A864AD6F6352}"/>
                </a:ext>
              </a:extLst>
            </p:cNvPr>
            <p:cNvSpPr>
              <a:spLocks noChangeAspect="1" noChangeShapeType="1"/>
            </p:cNvSpPr>
            <p:nvPr/>
          </p:nvSpPr>
          <p:spPr bwMode="auto">
            <a:xfrm flipH="1">
              <a:off x="2942" y="2484"/>
              <a:ext cx="434" cy="0"/>
            </a:xfrm>
            <a:prstGeom prst="line">
              <a:avLst/>
            </a:prstGeom>
            <a:noFill/>
            <a:ln w="38100">
              <a:solidFill>
                <a:schemeClr val="tx2"/>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dirty="0">
                <a:ln>
                  <a:noFill/>
                </a:ln>
                <a:solidFill>
                  <a:srgbClr val="FFFFFF"/>
                </a:solidFill>
                <a:effectLst/>
                <a:uLnTx/>
                <a:uFillTx/>
                <a:ea typeface="黑体" panose="02010609060101010101" pitchFamily="49" charset="-122"/>
              </a:endParaRPr>
            </a:p>
          </p:txBody>
        </p:sp>
        <p:sp>
          <p:nvSpPr>
            <p:cNvPr id="239" name="Line 60">
              <a:extLst>
                <a:ext uri="{FF2B5EF4-FFF2-40B4-BE49-F238E27FC236}">
                  <a16:creationId xmlns:a16="http://schemas.microsoft.com/office/drawing/2014/main" id="{B9451E6B-BED3-125D-917D-517932C728D5}"/>
                </a:ext>
              </a:extLst>
            </p:cNvPr>
            <p:cNvSpPr>
              <a:spLocks noChangeShapeType="1"/>
            </p:cNvSpPr>
            <p:nvPr/>
          </p:nvSpPr>
          <p:spPr bwMode="auto">
            <a:xfrm>
              <a:off x="3365" y="2705"/>
              <a:ext cx="11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240" name="Rectangle 61">
              <a:extLst>
                <a:ext uri="{FF2B5EF4-FFF2-40B4-BE49-F238E27FC236}">
                  <a16:creationId xmlns:a16="http://schemas.microsoft.com/office/drawing/2014/main" id="{2BD8D169-43EF-D0F7-99BF-7F40954FF0AE}"/>
                </a:ext>
              </a:extLst>
            </p:cNvPr>
            <p:cNvSpPr>
              <a:spLocks noChangeArrowheads="1"/>
            </p:cNvSpPr>
            <p:nvPr/>
          </p:nvSpPr>
          <p:spPr bwMode="auto">
            <a:xfrm>
              <a:off x="4121" y="1983"/>
              <a:ext cx="20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sym typeface="Symbol" panose="05050102010706020507" pitchFamily="18" charset="2"/>
                </a:rPr>
                <a:t>k</a:t>
              </a:r>
            </a:p>
          </p:txBody>
        </p:sp>
      </p:grpSp>
      <p:sp>
        <p:nvSpPr>
          <p:cNvPr id="241" name="Text Box 62">
            <a:extLst>
              <a:ext uri="{FF2B5EF4-FFF2-40B4-BE49-F238E27FC236}">
                <a16:creationId xmlns:a16="http://schemas.microsoft.com/office/drawing/2014/main" id="{01010671-9E45-72E6-7655-7F13889C17E2}"/>
              </a:ext>
            </a:extLst>
          </p:cNvPr>
          <p:cNvSpPr txBox="1">
            <a:spLocks noChangeAspect="1" noChangeArrowheads="1"/>
          </p:cNvSpPr>
          <p:nvPr/>
        </p:nvSpPr>
        <p:spPr bwMode="auto">
          <a:xfrm>
            <a:off x="11004706" y="3342045"/>
            <a:ext cx="658812"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p</a:t>
            </a:r>
            <a:r>
              <a:rPr kumimoji="1" lang="en-US" altLang="zh-CN" sz="2400" b="0" u="none" strike="noStrike" kern="0" cap="none" spc="0" normalizeH="0" baseline="-25000" noProof="0" dirty="0">
                <a:ln>
                  <a:noFill/>
                </a:ln>
                <a:solidFill>
                  <a:srgbClr val="FF0000"/>
                </a:solidFill>
                <a:effectLst/>
                <a:uLnTx/>
                <a:uFillTx/>
                <a:latin typeface="Times New Roman" panose="02020603050405020304" pitchFamily="18" charset="0"/>
                <a:sym typeface="Symbol" panose="05050102010706020507" pitchFamily="18" charset="2"/>
              </a:rPr>
              <a:t></a:t>
            </a:r>
          </a:p>
        </p:txBody>
      </p:sp>
      <p:sp>
        <p:nvSpPr>
          <p:cNvPr id="242" name="Line 63">
            <a:extLst>
              <a:ext uri="{FF2B5EF4-FFF2-40B4-BE49-F238E27FC236}">
                <a16:creationId xmlns:a16="http://schemas.microsoft.com/office/drawing/2014/main" id="{11E36F2E-1E69-653E-FE22-A38BA5A5328F}"/>
              </a:ext>
            </a:extLst>
          </p:cNvPr>
          <p:cNvSpPr>
            <a:spLocks noChangeAspect="1" noChangeShapeType="1"/>
          </p:cNvSpPr>
          <p:nvPr/>
        </p:nvSpPr>
        <p:spPr bwMode="auto">
          <a:xfrm>
            <a:off x="10082831" y="3628589"/>
            <a:ext cx="784225" cy="1587"/>
          </a:xfrm>
          <a:prstGeom prst="line">
            <a:avLst/>
          </a:prstGeom>
          <a:noFill/>
          <a:ln w="38100">
            <a:solidFill>
              <a:schemeClr val="tx1"/>
            </a:solidFill>
            <a:prstDash val="dash"/>
            <a:round/>
            <a:headEnd/>
            <a:tailEnd type="stealth" w="med" len="lg"/>
          </a:ln>
          <a:extLst>
            <a:ext uri="{909E8E84-426E-40DD-AFC4-6F175D3DCCD1}">
              <a14:hiddenFill xmlns:a14="http://schemas.microsoft.com/office/drawing/2010/main">
                <a:noFill/>
              </a14:hiddenFill>
            </a:ext>
          </a:extLst>
        </p:spPr>
        <p:txBody>
          <a:bodyPr/>
          <a:lstStyle/>
          <a:p>
            <a:pPr algn="ctr"/>
            <a:endParaRPr kumimoji="1" lang="zh-CN" altLang="en-US" b="0" i="0">
              <a:solidFill>
                <a:srgbClr val="FFFFFF"/>
              </a:solidFill>
              <a:ea typeface="黑体" panose="02010609060101010101" pitchFamily="49" charset="-122"/>
            </a:endParaRPr>
          </a:p>
        </p:txBody>
      </p:sp>
      <p:sp>
        <p:nvSpPr>
          <p:cNvPr id="243" name="Line 64">
            <a:extLst>
              <a:ext uri="{FF2B5EF4-FFF2-40B4-BE49-F238E27FC236}">
                <a16:creationId xmlns:a16="http://schemas.microsoft.com/office/drawing/2014/main" id="{0CA3EAE9-BBBF-74FD-87DA-A593584A4580}"/>
              </a:ext>
            </a:extLst>
          </p:cNvPr>
          <p:cNvSpPr>
            <a:spLocks noChangeShapeType="1"/>
          </p:cNvSpPr>
          <p:nvPr/>
        </p:nvSpPr>
        <p:spPr bwMode="auto">
          <a:xfrm>
            <a:off x="10070131" y="3631764"/>
            <a:ext cx="211138" cy="366712"/>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algn="ctr"/>
            <a:endParaRPr kumimoji="1" lang="zh-CN" altLang="en-US" b="0" i="0">
              <a:solidFill>
                <a:srgbClr val="FFFFFF"/>
              </a:solidFill>
              <a:ea typeface="黑体" panose="02010609060101010101" pitchFamily="49" charset="-122"/>
            </a:endParaRPr>
          </a:p>
        </p:txBody>
      </p:sp>
      <p:sp>
        <p:nvSpPr>
          <p:cNvPr id="244" name="Line 65">
            <a:extLst>
              <a:ext uri="{FF2B5EF4-FFF2-40B4-BE49-F238E27FC236}">
                <a16:creationId xmlns:a16="http://schemas.microsoft.com/office/drawing/2014/main" id="{381A9DF5-F643-5F33-2446-1D246D90C2F6}"/>
              </a:ext>
            </a:extLst>
          </p:cNvPr>
          <p:cNvSpPr>
            <a:spLocks noChangeShapeType="1"/>
          </p:cNvSpPr>
          <p:nvPr/>
        </p:nvSpPr>
        <p:spPr bwMode="auto">
          <a:xfrm rot="16200000">
            <a:off x="10405094" y="3511114"/>
            <a:ext cx="336550" cy="584200"/>
          </a:xfrm>
          <a:prstGeom prst="line">
            <a:avLst/>
          </a:prstGeom>
          <a:noFill/>
          <a:ln w="19050">
            <a:solidFill>
              <a:schemeClr val="tx1"/>
            </a:solidFill>
            <a:prstDash val="lgDash"/>
            <a:round/>
            <a:headEnd/>
            <a:tailEnd type="none" w="med" len="lg"/>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245" name="Line 66">
            <a:extLst>
              <a:ext uri="{FF2B5EF4-FFF2-40B4-BE49-F238E27FC236}">
                <a16:creationId xmlns:a16="http://schemas.microsoft.com/office/drawing/2014/main" id="{95895849-7F42-7DF3-3932-961AD6067122}"/>
              </a:ext>
            </a:extLst>
          </p:cNvPr>
          <p:cNvSpPr>
            <a:spLocks noChangeShapeType="1"/>
          </p:cNvSpPr>
          <p:nvPr/>
        </p:nvSpPr>
        <p:spPr bwMode="auto">
          <a:xfrm>
            <a:off x="10657506" y="3266639"/>
            <a:ext cx="209550" cy="361950"/>
          </a:xfrm>
          <a:prstGeom prst="line">
            <a:avLst/>
          </a:prstGeom>
          <a:noFill/>
          <a:ln w="19050">
            <a:solidFill>
              <a:schemeClr val="tx1"/>
            </a:solidFill>
            <a:prstDash val="lgDash"/>
            <a:round/>
            <a:headEnd/>
            <a:tailEnd type="none" w="med" len="lg"/>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246" name="Line 67">
            <a:extLst>
              <a:ext uri="{FF2B5EF4-FFF2-40B4-BE49-F238E27FC236}">
                <a16:creationId xmlns:a16="http://schemas.microsoft.com/office/drawing/2014/main" id="{A0A45803-1850-57E6-F78E-CE012A27850E}"/>
              </a:ext>
            </a:extLst>
          </p:cNvPr>
          <p:cNvSpPr>
            <a:spLocks noChangeShapeType="1"/>
          </p:cNvSpPr>
          <p:nvPr/>
        </p:nvSpPr>
        <p:spPr bwMode="auto">
          <a:xfrm rot="16200000">
            <a:off x="10188400" y="3146783"/>
            <a:ext cx="333375" cy="579437"/>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algn="ctr"/>
            <a:endParaRPr kumimoji="1" lang="zh-CN" altLang="en-US" b="0" i="0">
              <a:solidFill>
                <a:srgbClr val="FFFFFF"/>
              </a:solidFill>
              <a:ea typeface="黑体" panose="02010609060101010101" pitchFamily="49" charset="-122"/>
            </a:endParaRPr>
          </a:p>
        </p:txBody>
      </p:sp>
      <p:sp>
        <p:nvSpPr>
          <p:cNvPr id="247" name="Rectangle 68">
            <a:extLst>
              <a:ext uri="{FF2B5EF4-FFF2-40B4-BE49-F238E27FC236}">
                <a16:creationId xmlns:a16="http://schemas.microsoft.com/office/drawing/2014/main" id="{4BB20FF7-6B36-3FF4-3600-9271A1A35C5E}"/>
              </a:ext>
            </a:extLst>
          </p:cNvPr>
          <p:cNvSpPr>
            <a:spLocks noChangeArrowheads="1"/>
          </p:cNvSpPr>
          <p:nvPr/>
        </p:nvSpPr>
        <p:spPr bwMode="auto">
          <a:xfrm>
            <a:off x="10384456" y="2849126"/>
            <a:ext cx="4968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FF0000"/>
                </a:solidFill>
                <a:effectLst/>
                <a:uLnTx/>
                <a:uFillTx/>
                <a:latin typeface="Times New Roman" panose="02020603050405020304" pitchFamily="18" charset="0"/>
                <a:ea typeface="黑体" panose="02010609060101010101" pitchFamily="49" charset="-122"/>
                <a:sym typeface="Symbol" panose="05050102010706020507" pitchFamily="18" charset="2"/>
              </a:rPr>
              <a:t></a:t>
            </a:r>
            <a:r>
              <a:rPr kumimoji="1" lang="en-US" altLang="zh-CN" sz="2400" b="0" u="none" strike="noStrike" kern="0" cap="none" spc="0" normalizeH="0" baseline="-25000" noProof="0" dirty="0">
                <a:ln>
                  <a:noFill/>
                </a:ln>
                <a:solidFill>
                  <a:srgbClr val="FF0000"/>
                </a:solidFill>
                <a:effectLst/>
                <a:uLnTx/>
                <a:uFillTx/>
                <a:latin typeface="Times New Roman" panose="02020603050405020304" pitchFamily="18" charset="0"/>
                <a:ea typeface="黑体" panose="02010609060101010101" pitchFamily="49" charset="-122"/>
                <a:sym typeface="Symbol" panose="05050102010706020507" pitchFamily="18" charset="2"/>
              </a:rPr>
              <a:t></a:t>
            </a:r>
          </a:p>
        </p:txBody>
      </p:sp>
      <p:sp>
        <p:nvSpPr>
          <p:cNvPr id="250" name="Text Box 1032">
            <a:extLst>
              <a:ext uri="{FF2B5EF4-FFF2-40B4-BE49-F238E27FC236}">
                <a16:creationId xmlns:a16="http://schemas.microsoft.com/office/drawing/2014/main" id="{F4E73D05-3A2B-B34B-E532-86E237C71C6E}"/>
              </a:ext>
            </a:extLst>
          </p:cNvPr>
          <p:cNvSpPr txBox="1">
            <a:spLocks noChangeArrowheads="1"/>
          </p:cNvSpPr>
          <p:nvPr/>
        </p:nvSpPr>
        <p:spPr bwMode="auto">
          <a:xfrm>
            <a:off x="303415" y="4730786"/>
            <a:ext cx="10822404" cy="10070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lvl="0">
              <a:lnSpc>
                <a:spcPct val="110000"/>
              </a:lnSpc>
            </a:pPr>
            <a:r>
              <a:rPr kumimoji="1" lang="zh-CN" altLang="en-US" sz="2800" i="0" dirty="0">
                <a:latin typeface="+mn-lt"/>
                <a:ea typeface="微软雅黑" panose="020B0503020204020204" pitchFamily="34" charset="-122"/>
              </a:rPr>
              <a:t>斜截面上的正应力</a:t>
            </a:r>
            <a:r>
              <a:rPr kumimoji="1" lang="zh-CN" altLang="en-US" sz="2800" b="0" dirty="0">
                <a:latin typeface="+mn-lt"/>
                <a:ea typeface="微软雅黑" panose="020B0503020204020204" pitchFamily="34" charset="-122"/>
                <a:sym typeface="Symbol" panose="05050102010706020507" pitchFamily="18" charset="2"/>
              </a:rPr>
              <a:t></a:t>
            </a:r>
            <a:r>
              <a:rPr kumimoji="1" lang="zh-CN" altLang="en-US" sz="2800" b="0" baseline="-25000" dirty="0">
                <a:latin typeface="+mn-lt"/>
                <a:ea typeface="微软雅黑" panose="020B0503020204020204" pitchFamily="34" charset="-122"/>
                <a:sym typeface="Symbol" panose="05050102010706020507" pitchFamily="18" charset="2"/>
              </a:rPr>
              <a:t> </a:t>
            </a:r>
            <a:r>
              <a:rPr kumimoji="1" lang="zh-CN" altLang="en-US" sz="2800" i="0" dirty="0">
                <a:latin typeface="+mn-lt"/>
                <a:ea typeface="微软雅黑" panose="020B0503020204020204" pitchFamily="34" charset="-122"/>
              </a:rPr>
              <a:t>和切应力</a:t>
            </a:r>
            <a:r>
              <a:rPr kumimoji="1" lang="zh-CN" altLang="en-US" sz="2800" b="0" dirty="0">
                <a:latin typeface="+mn-lt"/>
                <a:ea typeface="微软雅黑" panose="020B0503020204020204" pitchFamily="34" charset="-122"/>
                <a:sym typeface="Symbol" panose="05050102010706020507" pitchFamily="18" charset="2"/>
              </a:rPr>
              <a:t></a:t>
            </a:r>
            <a:r>
              <a:rPr kumimoji="1" lang="zh-CN" altLang="en-US" sz="2800" b="0" baseline="-25000" dirty="0">
                <a:latin typeface="+mn-lt"/>
                <a:ea typeface="微软雅黑" panose="020B0503020204020204" pitchFamily="34" charset="-122"/>
                <a:sym typeface="Symbol" panose="05050102010706020507" pitchFamily="18" charset="2"/>
              </a:rPr>
              <a:t> </a:t>
            </a:r>
            <a:r>
              <a:rPr kumimoji="1" lang="zh-CN" altLang="en-US" sz="2800" i="0" dirty="0">
                <a:latin typeface="+mn-lt"/>
                <a:ea typeface="微软雅黑" panose="020B0503020204020204" pitchFamily="34" charset="-122"/>
              </a:rPr>
              <a:t>都是</a:t>
            </a:r>
            <a:r>
              <a:rPr kumimoji="1" lang="zh-CN" altLang="en-US" sz="2800" b="0" dirty="0">
                <a:latin typeface="+mn-lt"/>
                <a:ea typeface="微软雅黑" panose="020B0503020204020204" pitchFamily="34" charset="-122"/>
                <a:sym typeface="Symbol" panose="05050102010706020507" pitchFamily="18" charset="2"/>
              </a:rPr>
              <a:t> </a:t>
            </a:r>
            <a:r>
              <a:rPr kumimoji="1" lang="zh-CN" altLang="en-US" sz="2800" i="0" dirty="0">
                <a:latin typeface="+mn-lt"/>
                <a:ea typeface="微软雅黑" panose="020B0503020204020204" pitchFamily="34" charset="-122"/>
              </a:rPr>
              <a:t>的函数。这表明，过杆内同一点的不同斜截面上的应力是不同的。</a:t>
            </a:r>
            <a:endParaRPr kumimoji="1" lang="en-US" altLang="zh-CN" sz="2800" i="0" dirty="0">
              <a:latin typeface="+mn-lt"/>
              <a:ea typeface="微软雅黑" panose="020B0503020204020204" pitchFamily="34" charset="-122"/>
            </a:endParaRPr>
          </a:p>
        </p:txBody>
      </p:sp>
      <p:graphicFrame>
        <p:nvGraphicFramePr>
          <p:cNvPr id="251" name="Object 73">
            <a:extLst>
              <a:ext uri="{FF2B5EF4-FFF2-40B4-BE49-F238E27FC236}">
                <a16:creationId xmlns:a16="http://schemas.microsoft.com/office/drawing/2014/main" id="{AFCD0D1F-20FB-87D0-8BFA-10402899315C}"/>
              </a:ext>
            </a:extLst>
          </p:cNvPr>
          <p:cNvGraphicFramePr>
            <a:graphicFrameLocks noChangeAspect="1"/>
          </p:cNvGraphicFramePr>
          <p:nvPr>
            <p:extLst>
              <p:ext uri="{D42A27DB-BD31-4B8C-83A1-F6EECF244321}">
                <p14:modId xmlns:p14="http://schemas.microsoft.com/office/powerpoint/2010/main" val="4117470323"/>
              </p:ext>
            </p:extLst>
          </p:nvPr>
        </p:nvGraphicFramePr>
        <p:xfrm>
          <a:off x="1782217" y="5718704"/>
          <a:ext cx="2239962" cy="503238"/>
        </p:xfrm>
        <a:graphic>
          <a:graphicData uri="http://schemas.openxmlformats.org/presentationml/2006/ole">
            <mc:AlternateContent xmlns:mc="http://schemas.openxmlformats.org/markup-compatibility/2006">
              <mc:Choice xmlns:v="urn:schemas-microsoft-com:vml" Requires="v">
                <p:oleObj name="Equation" r:id="rId9" imgW="1066680" imgH="241200" progId="Equation.DSMT4">
                  <p:embed/>
                </p:oleObj>
              </mc:Choice>
              <mc:Fallback>
                <p:oleObj name="Equation" r:id="rId9" imgW="1066680" imgH="241200" progId="Equation.DSMT4">
                  <p:embed/>
                  <p:pic>
                    <p:nvPicPr>
                      <p:cNvPr id="251" name="Object 73">
                        <a:extLst>
                          <a:ext uri="{FF2B5EF4-FFF2-40B4-BE49-F238E27FC236}">
                            <a16:creationId xmlns:a16="http://schemas.microsoft.com/office/drawing/2014/main" id="{AFCD0D1F-20FB-87D0-8BFA-10402899315C}"/>
                          </a:ext>
                        </a:extLst>
                      </p:cNvPr>
                      <p:cNvPicPr>
                        <a:picLocks noChangeAspect="1" noChangeArrowheads="1"/>
                      </p:cNvPicPr>
                      <p:nvPr/>
                    </p:nvPicPr>
                    <p:blipFill>
                      <a:blip r:embed="rId10"/>
                      <a:srcRect/>
                      <a:stretch>
                        <a:fillRect/>
                      </a:stretch>
                    </p:blipFill>
                    <p:spPr bwMode="auto">
                      <a:xfrm>
                        <a:off x="1782217" y="5718704"/>
                        <a:ext cx="2239962" cy="5032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2" name="Object 73">
            <a:extLst>
              <a:ext uri="{FF2B5EF4-FFF2-40B4-BE49-F238E27FC236}">
                <a16:creationId xmlns:a16="http://schemas.microsoft.com/office/drawing/2014/main" id="{FDC89F25-6402-4681-7CFF-5087C12E0995}"/>
              </a:ext>
            </a:extLst>
          </p:cNvPr>
          <p:cNvGraphicFramePr>
            <a:graphicFrameLocks noChangeAspect="1"/>
          </p:cNvGraphicFramePr>
          <p:nvPr>
            <p:extLst>
              <p:ext uri="{D42A27DB-BD31-4B8C-83A1-F6EECF244321}">
                <p14:modId xmlns:p14="http://schemas.microsoft.com/office/powerpoint/2010/main" val="2134242652"/>
              </p:ext>
            </p:extLst>
          </p:nvPr>
        </p:nvGraphicFramePr>
        <p:xfrm>
          <a:off x="4871801" y="5560591"/>
          <a:ext cx="2400300" cy="820737"/>
        </p:xfrm>
        <a:graphic>
          <a:graphicData uri="http://schemas.openxmlformats.org/presentationml/2006/ole">
            <mc:AlternateContent xmlns:mc="http://schemas.openxmlformats.org/markup-compatibility/2006">
              <mc:Choice xmlns:v="urn:schemas-microsoft-com:vml" Requires="v">
                <p:oleObj name="Equation" r:id="rId11" imgW="1143000" imgH="393480" progId="Equation.DSMT4">
                  <p:embed/>
                </p:oleObj>
              </mc:Choice>
              <mc:Fallback>
                <p:oleObj name="Equation" r:id="rId11" imgW="1143000" imgH="393480" progId="Equation.DSMT4">
                  <p:embed/>
                  <p:pic>
                    <p:nvPicPr>
                      <p:cNvPr id="252" name="Object 73">
                        <a:extLst>
                          <a:ext uri="{FF2B5EF4-FFF2-40B4-BE49-F238E27FC236}">
                            <a16:creationId xmlns:a16="http://schemas.microsoft.com/office/drawing/2014/main" id="{FDC89F25-6402-4681-7CFF-5087C12E0995}"/>
                          </a:ext>
                        </a:extLst>
                      </p:cNvPr>
                      <p:cNvPicPr>
                        <a:picLocks noChangeAspect="1" noChangeArrowheads="1"/>
                      </p:cNvPicPr>
                      <p:nvPr/>
                    </p:nvPicPr>
                    <p:blipFill>
                      <a:blip r:embed="rId12"/>
                      <a:srcRect/>
                      <a:stretch>
                        <a:fillRect/>
                      </a:stretch>
                    </p:blipFill>
                    <p:spPr bwMode="auto">
                      <a:xfrm>
                        <a:off x="4871801" y="5560591"/>
                        <a:ext cx="2400300" cy="8207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468141044"/>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par>
                                <p:cTn id="11" presetID="0" presetClass="path" presetSubtype="0" accel="50000" decel="50000" fill="hold" nodeType="withEffect">
                                  <p:stCondLst>
                                    <p:cond delay="0"/>
                                  </p:stCondLst>
                                  <p:childTnLst>
                                    <p:animMotion origin="layout" path="M -2.5E-6 1.48148E-6 L -0.00156 -0.19236 " pathEditMode="relative" rAng="0" ptsTypes="AA">
                                      <p:cBhvr>
                                        <p:cTn id="12" dur="5000" spd="-100000" fill="hold"/>
                                        <p:tgtEl>
                                          <p:spTgt spid="26"/>
                                        </p:tgtEl>
                                        <p:attrNameLst>
                                          <p:attrName>ppt_x</p:attrName>
                                          <p:attrName>ppt_y</p:attrName>
                                        </p:attrNameLst>
                                      </p:cBhvr>
                                      <p:rCtr x="-78" y="-9630"/>
                                    </p:animMotion>
                                  </p:childTnLst>
                                </p:cTn>
                              </p:par>
                            </p:childTnLst>
                          </p:cTn>
                        </p:par>
                        <p:par>
                          <p:cTn id="13" fill="hold">
                            <p:stCondLst>
                              <p:cond delay="5000"/>
                            </p:stCondLst>
                            <p:childTnLst>
                              <p:par>
                                <p:cTn id="14" presetID="22" presetClass="entr" presetSubtype="8" fill="hold" nodeType="afterEffect">
                                  <p:stCondLst>
                                    <p:cond delay="0"/>
                                  </p:stCondLst>
                                  <p:childTnLst>
                                    <p:set>
                                      <p:cBhvr>
                                        <p:cTn id="15" dur="1" fill="hold">
                                          <p:stCondLst>
                                            <p:cond delay="0"/>
                                          </p:stCondLst>
                                        </p:cTn>
                                        <p:tgtEl>
                                          <p:spTgt spid="37"/>
                                        </p:tgtEl>
                                        <p:attrNameLst>
                                          <p:attrName>style.visibility</p:attrName>
                                        </p:attrNameLst>
                                      </p:cBhvr>
                                      <p:to>
                                        <p:strVal val="visible"/>
                                      </p:to>
                                    </p:set>
                                    <p:animEffect transition="in" filter="wipe(left)">
                                      <p:cBhvr>
                                        <p:cTn id="16" dur="5000"/>
                                        <p:tgtEl>
                                          <p:spTgt spid="37"/>
                                        </p:tgtEl>
                                      </p:cBhvr>
                                    </p:animEffect>
                                  </p:childTnLst>
                                </p:cTn>
                              </p:par>
                            </p:childTnLst>
                          </p:cTn>
                        </p:par>
                        <p:par>
                          <p:cTn id="17" fill="hold">
                            <p:stCondLst>
                              <p:cond delay="10000"/>
                            </p:stCondLst>
                            <p:childTnLst>
                              <p:par>
                                <p:cTn id="18" presetID="16" presetClass="entr" presetSubtype="26" fill="hold" grpId="0" nodeType="afterEffect">
                                  <p:stCondLst>
                                    <p:cond delay="0"/>
                                  </p:stCondLst>
                                  <p:childTnLst>
                                    <p:set>
                                      <p:cBhvr>
                                        <p:cTn id="19" dur="1" fill="hold">
                                          <p:stCondLst>
                                            <p:cond delay="0"/>
                                          </p:stCondLst>
                                        </p:cTn>
                                        <p:tgtEl>
                                          <p:spTgt spid="46"/>
                                        </p:tgtEl>
                                        <p:attrNameLst>
                                          <p:attrName>style.visibility</p:attrName>
                                        </p:attrNameLst>
                                      </p:cBhvr>
                                      <p:to>
                                        <p:strVal val="visible"/>
                                      </p:to>
                                    </p:set>
                                    <p:animEffect transition="in" filter="barn(inHorizontal)">
                                      <p:cBhvr>
                                        <p:cTn id="20" dur="2000"/>
                                        <p:tgtEl>
                                          <p:spTgt spid="46"/>
                                        </p:tgtEl>
                                      </p:cBhvr>
                                    </p:animEffect>
                                  </p:childTnLst>
                                </p:cTn>
                              </p:par>
                            </p:childTnLst>
                          </p:cTn>
                        </p:par>
                        <p:par>
                          <p:cTn id="21" fill="hold">
                            <p:stCondLst>
                              <p:cond delay="12000"/>
                            </p:stCondLst>
                            <p:childTnLst>
                              <p:par>
                                <p:cTn id="22" presetID="12" presetClass="entr" presetSubtype="8" fill="hold" nodeType="afterEffect">
                                  <p:stCondLst>
                                    <p:cond delay="0"/>
                                  </p:stCondLst>
                                  <p:childTnLst>
                                    <p:set>
                                      <p:cBhvr>
                                        <p:cTn id="23" dur="1" fill="hold">
                                          <p:stCondLst>
                                            <p:cond delay="0"/>
                                          </p:stCondLst>
                                        </p:cTn>
                                        <p:tgtEl>
                                          <p:spTgt spid="25"/>
                                        </p:tgtEl>
                                        <p:attrNameLst>
                                          <p:attrName>style.visibility</p:attrName>
                                        </p:attrNameLst>
                                      </p:cBhvr>
                                      <p:to>
                                        <p:strVal val="visible"/>
                                      </p:to>
                                    </p:set>
                                    <p:animEffect transition="in" filter="slide(fromLeft)">
                                      <p:cBhvr>
                                        <p:cTn id="24" dur="3000"/>
                                        <p:tgtEl>
                                          <p:spTgt spid="25"/>
                                        </p:tgtEl>
                                      </p:cBhvr>
                                    </p:animEffect>
                                  </p:childTnLst>
                                </p:cTn>
                              </p:par>
                              <p:par>
                                <p:cTn id="25" presetID="19" presetClass="entr" presetSubtype="10" fill="hold" grpId="0" nodeType="withEffect">
                                  <p:stCondLst>
                                    <p:cond delay="0"/>
                                  </p:stCondLst>
                                  <p:childTnLst>
                                    <p:set>
                                      <p:cBhvr>
                                        <p:cTn id="26" dur="1" fill="hold">
                                          <p:stCondLst>
                                            <p:cond delay="0"/>
                                          </p:stCondLst>
                                        </p:cTn>
                                        <p:tgtEl>
                                          <p:spTgt spid="24"/>
                                        </p:tgtEl>
                                        <p:attrNameLst>
                                          <p:attrName>style.visibility</p:attrName>
                                        </p:attrNameLst>
                                      </p:cBhvr>
                                      <p:to>
                                        <p:strVal val="visible"/>
                                      </p:to>
                                    </p:set>
                                    <p:anim calcmode="lin" valueType="num">
                                      <p:cBhvr>
                                        <p:cTn id="27" dur="5000" fill="hold"/>
                                        <p:tgtEl>
                                          <p:spTgt spid="24"/>
                                        </p:tgtEl>
                                        <p:attrNameLst>
                                          <p:attrName>ppt_w</p:attrName>
                                        </p:attrNameLst>
                                      </p:cBhvr>
                                      <p:tavLst>
                                        <p:tav tm="0" fmla="#ppt_w*sin(2.5*pi*$)">
                                          <p:val>
                                            <p:fltVal val="0"/>
                                          </p:val>
                                        </p:tav>
                                        <p:tav tm="100000">
                                          <p:val>
                                            <p:fltVal val="1"/>
                                          </p:val>
                                        </p:tav>
                                      </p:tavLst>
                                    </p:anim>
                                    <p:anim calcmode="lin" valueType="num">
                                      <p:cBhvr>
                                        <p:cTn id="28" dur="5000" fill="hold"/>
                                        <p:tgtEl>
                                          <p:spTgt spid="24"/>
                                        </p:tgtEl>
                                        <p:attrNameLst>
                                          <p:attrName>ppt_h</p:attrName>
                                        </p:attrNameLst>
                                      </p:cBhvr>
                                      <p:tavLst>
                                        <p:tav tm="0">
                                          <p:val>
                                            <p:strVal val="#ppt_h"/>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225"/>
                                        </p:tgtEl>
                                        <p:attrNameLst>
                                          <p:attrName>style.visibility</p:attrName>
                                        </p:attrNameLst>
                                      </p:cBhvr>
                                      <p:to>
                                        <p:strVal val="visible"/>
                                      </p:to>
                                    </p:set>
                                    <p:animEffect transition="in" filter="wipe(left)">
                                      <p:cBhvr>
                                        <p:cTn id="33" dur="3000"/>
                                        <p:tgtEl>
                                          <p:spTgt spid="225"/>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499"/>
                                          </p:stCondLst>
                                        </p:cTn>
                                        <p:tgtEl>
                                          <p:spTgt spid="226"/>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499"/>
                                          </p:stCondLst>
                                        </p:cTn>
                                        <p:tgtEl>
                                          <p:spTgt spid="48"/>
                                        </p:tgtEl>
                                        <p:attrNameLst>
                                          <p:attrName>style.visibility</p:attrName>
                                        </p:attrNameLst>
                                      </p:cBhvr>
                                      <p:to>
                                        <p:strVal val="visible"/>
                                      </p:to>
                                    </p:set>
                                  </p:childTnLst>
                                </p:cTn>
                              </p:par>
                              <p:par>
                                <p:cTn id="42" presetID="1" presetClass="entr" presetSubtype="0" fill="hold" nodeType="withEffect">
                                  <p:stCondLst>
                                    <p:cond delay="0"/>
                                  </p:stCondLst>
                                  <p:childTnLst>
                                    <p:set>
                                      <p:cBhvr>
                                        <p:cTn id="43" dur="1" fill="hold">
                                          <p:stCondLst>
                                            <p:cond delay="0"/>
                                          </p:stCondLst>
                                        </p:cTn>
                                        <p:tgtEl>
                                          <p:spTgt spid="232"/>
                                        </p:tgtEl>
                                        <p:attrNameLst>
                                          <p:attrName>style.visibility</p:attrName>
                                        </p:attrNameLst>
                                      </p:cBhvr>
                                      <p:to>
                                        <p:strVal val="visible"/>
                                      </p:to>
                                    </p:set>
                                  </p:childTnLst>
                                </p:cTn>
                              </p:par>
                              <p:par>
                                <p:cTn id="44" presetID="0" presetClass="path" presetSubtype="0" accel="50000" decel="50000" fill="hold" nodeType="withEffect">
                                  <p:stCondLst>
                                    <p:cond delay="0"/>
                                  </p:stCondLst>
                                  <p:childTnLst>
                                    <p:animMotion origin="layout" path="M -1.45833E-6 1.85185E-6 L -0.0043 -0.37847 " pathEditMode="relative" rAng="0" ptsTypes="AA">
                                      <p:cBhvr>
                                        <p:cTn id="45" dur="5000" spd="-100000" fill="hold"/>
                                        <p:tgtEl>
                                          <p:spTgt spid="232"/>
                                        </p:tgtEl>
                                        <p:attrNameLst>
                                          <p:attrName>ppt_x</p:attrName>
                                          <p:attrName>ppt_y</p:attrName>
                                        </p:attrNameLst>
                                      </p:cBhvr>
                                      <p:rCtr x="-221" y="-18935"/>
                                    </p:animMotion>
                                  </p:childTnLst>
                                </p:cTn>
                              </p:par>
                            </p:childTnLst>
                          </p:cTn>
                        </p:par>
                        <p:par>
                          <p:cTn id="46" fill="hold">
                            <p:stCondLst>
                              <p:cond delay="5000"/>
                            </p:stCondLst>
                            <p:childTnLst>
                              <p:par>
                                <p:cTn id="47" presetID="12" presetClass="entr" presetSubtype="8" fill="hold" nodeType="afterEffect">
                                  <p:stCondLst>
                                    <p:cond delay="0"/>
                                  </p:stCondLst>
                                  <p:childTnLst>
                                    <p:set>
                                      <p:cBhvr>
                                        <p:cTn id="48" dur="1" fill="hold">
                                          <p:stCondLst>
                                            <p:cond delay="0"/>
                                          </p:stCondLst>
                                        </p:cTn>
                                        <p:tgtEl>
                                          <p:spTgt spid="242"/>
                                        </p:tgtEl>
                                        <p:attrNameLst>
                                          <p:attrName>style.visibility</p:attrName>
                                        </p:attrNameLst>
                                      </p:cBhvr>
                                      <p:to>
                                        <p:strVal val="visible"/>
                                      </p:to>
                                    </p:set>
                                    <p:animEffect transition="in" filter="slide(fromLeft)">
                                      <p:cBhvr>
                                        <p:cTn id="49" dur="3000"/>
                                        <p:tgtEl>
                                          <p:spTgt spid="242"/>
                                        </p:tgtEl>
                                      </p:cBhvr>
                                    </p:animEffect>
                                  </p:childTnLst>
                                </p:cTn>
                              </p:par>
                              <p:par>
                                <p:cTn id="50" presetID="19" presetClass="entr" presetSubtype="10" fill="hold" grpId="0" nodeType="withEffect">
                                  <p:stCondLst>
                                    <p:cond delay="0"/>
                                  </p:stCondLst>
                                  <p:childTnLst>
                                    <p:set>
                                      <p:cBhvr>
                                        <p:cTn id="51" dur="1" fill="hold">
                                          <p:stCondLst>
                                            <p:cond delay="0"/>
                                          </p:stCondLst>
                                        </p:cTn>
                                        <p:tgtEl>
                                          <p:spTgt spid="241"/>
                                        </p:tgtEl>
                                        <p:attrNameLst>
                                          <p:attrName>style.visibility</p:attrName>
                                        </p:attrNameLst>
                                      </p:cBhvr>
                                      <p:to>
                                        <p:strVal val="visible"/>
                                      </p:to>
                                    </p:set>
                                    <p:anim calcmode="lin" valueType="num">
                                      <p:cBhvr>
                                        <p:cTn id="52" dur="5000" fill="hold"/>
                                        <p:tgtEl>
                                          <p:spTgt spid="241"/>
                                        </p:tgtEl>
                                        <p:attrNameLst>
                                          <p:attrName>ppt_w</p:attrName>
                                        </p:attrNameLst>
                                      </p:cBhvr>
                                      <p:tavLst>
                                        <p:tav tm="0" fmla="#ppt_w*sin(2.5*pi*$)">
                                          <p:val>
                                            <p:fltVal val="0"/>
                                          </p:val>
                                        </p:tav>
                                        <p:tav tm="100000">
                                          <p:val>
                                            <p:fltVal val="1"/>
                                          </p:val>
                                        </p:tav>
                                      </p:tavLst>
                                    </p:anim>
                                    <p:anim calcmode="lin" valueType="num">
                                      <p:cBhvr>
                                        <p:cTn id="53" dur="5000" fill="hold"/>
                                        <p:tgtEl>
                                          <p:spTgt spid="241"/>
                                        </p:tgtEl>
                                        <p:attrNameLst>
                                          <p:attrName>ppt_h</p:attrName>
                                        </p:attrNameLst>
                                      </p:cBhvr>
                                      <p:tavLst>
                                        <p:tav tm="0">
                                          <p:val>
                                            <p:strVal val="#ppt_h"/>
                                          </p:val>
                                        </p:tav>
                                        <p:tav tm="100000">
                                          <p:val>
                                            <p:strVal val="#ppt_h"/>
                                          </p:val>
                                        </p:tav>
                                      </p:tavLst>
                                    </p:anim>
                                  </p:childTnLst>
                                </p:cTn>
                              </p:par>
                            </p:childTnLst>
                          </p:cTn>
                        </p:par>
                        <p:par>
                          <p:cTn id="54" fill="hold">
                            <p:stCondLst>
                              <p:cond delay="10000"/>
                            </p:stCondLst>
                            <p:childTnLst>
                              <p:par>
                                <p:cTn id="55" presetID="18" presetClass="entr" presetSubtype="6" fill="hold" nodeType="afterEffect">
                                  <p:stCondLst>
                                    <p:cond delay="0"/>
                                  </p:stCondLst>
                                  <p:childTnLst>
                                    <p:set>
                                      <p:cBhvr>
                                        <p:cTn id="56" dur="1" fill="hold">
                                          <p:stCondLst>
                                            <p:cond delay="0"/>
                                          </p:stCondLst>
                                        </p:cTn>
                                        <p:tgtEl>
                                          <p:spTgt spid="243"/>
                                        </p:tgtEl>
                                        <p:attrNameLst>
                                          <p:attrName>style.visibility</p:attrName>
                                        </p:attrNameLst>
                                      </p:cBhvr>
                                      <p:to>
                                        <p:strVal val="visible"/>
                                      </p:to>
                                    </p:set>
                                    <p:animEffect transition="in" filter="strips(downRight)">
                                      <p:cBhvr>
                                        <p:cTn id="57" dur="3000"/>
                                        <p:tgtEl>
                                          <p:spTgt spid="243"/>
                                        </p:tgtEl>
                                      </p:cBhvr>
                                    </p:animEffect>
                                  </p:childTnLst>
                                </p:cTn>
                              </p:par>
                              <p:par>
                                <p:cTn id="58" presetID="19" presetClass="entr" presetSubtype="10" fill="hold" grpId="0" nodeType="withEffect">
                                  <p:stCondLst>
                                    <p:cond delay="0"/>
                                  </p:stCondLst>
                                  <p:childTnLst>
                                    <p:set>
                                      <p:cBhvr>
                                        <p:cTn id="59" dur="1" fill="hold">
                                          <p:stCondLst>
                                            <p:cond delay="0"/>
                                          </p:stCondLst>
                                        </p:cTn>
                                        <p:tgtEl>
                                          <p:spTgt spid="247"/>
                                        </p:tgtEl>
                                        <p:attrNameLst>
                                          <p:attrName>style.visibility</p:attrName>
                                        </p:attrNameLst>
                                      </p:cBhvr>
                                      <p:to>
                                        <p:strVal val="visible"/>
                                      </p:to>
                                    </p:set>
                                    <p:anim calcmode="lin" valueType="num">
                                      <p:cBhvr>
                                        <p:cTn id="60" dur="5000" fill="hold"/>
                                        <p:tgtEl>
                                          <p:spTgt spid="247"/>
                                        </p:tgtEl>
                                        <p:attrNameLst>
                                          <p:attrName>ppt_w</p:attrName>
                                        </p:attrNameLst>
                                      </p:cBhvr>
                                      <p:tavLst>
                                        <p:tav tm="0" fmla="#ppt_w*sin(2.5*pi*$)">
                                          <p:val>
                                            <p:fltVal val="0"/>
                                          </p:val>
                                        </p:tav>
                                        <p:tav tm="100000">
                                          <p:val>
                                            <p:fltVal val="1"/>
                                          </p:val>
                                        </p:tav>
                                      </p:tavLst>
                                    </p:anim>
                                    <p:anim calcmode="lin" valueType="num">
                                      <p:cBhvr>
                                        <p:cTn id="61" dur="5000" fill="hold"/>
                                        <p:tgtEl>
                                          <p:spTgt spid="247"/>
                                        </p:tgtEl>
                                        <p:attrNameLst>
                                          <p:attrName>ppt_h</p:attrName>
                                        </p:attrNameLst>
                                      </p:cBhvr>
                                      <p:tavLst>
                                        <p:tav tm="0">
                                          <p:val>
                                            <p:strVal val="#ppt_h"/>
                                          </p:val>
                                        </p:tav>
                                        <p:tav tm="100000">
                                          <p:val>
                                            <p:strVal val="#ppt_h"/>
                                          </p:val>
                                        </p:tav>
                                      </p:tavLst>
                                    </p:anim>
                                  </p:childTnLst>
                                </p:cTn>
                              </p:par>
                            </p:childTnLst>
                          </p:cTn>
                        </p:par>
                        <p:par>
                          <p:cTn id="62" fill="hold">
                            <p:stCondLst>
                              <p:cond delay="15000"/>
                            </p:stCondLst>
                            <p:childTnLst>
                              <p:par>
                                <p:cTn id="63" presetID="18" presetClass="entr" presetSubtype="3" fill="hold" nodeType="afterEffect">
                                  <p:stCondLst>
                                    <p:cond delay="0"/>
                                  </p:stCondLst>
                                  <p:childTnLst>
                                    <p:set>
                                      <p:cBhvr>
                                        <p:cTn id="64" dur="1" fill="hold">
                                          <p:stCondLst>
                                            <p:cond delay="0"/>
                                          </p:stCondLst>
                                        </p:cTn>
                                        <p:tgtEl>
                                          <p:spTgt spid="246"/>
                                        </p:tgtEl>
                                        <p:attrNameLst>
                                          <p:attrName>style.visibility</p:attrName>
                                        </p:attrNameLst>
                                      </p:cBhvr>
                                      <p:to>
                                        <p:strVal val="visible"/>
                                      </p:to>
                                    </p:set>
                                    <p:animEffect transition="in" filter="strips(upRight)">
                                      <p:cBhvr>
                                        <p:cTn id="65" dur="3000"/>
                                        <p:tgtEl>
                                          <p:spTgt spid="246"/>
                                        </p:tgtEl>
                                      </p:cBhvr>
                                    </p:animEffect>
                                  </p:childTnLst>
                                </p:cTn>
                              </p:par>
                              <p:par>
                                <p:cTn id="66" presetID="19" presetClass="entr" presetSubtype="10" fill="hold" grpId="0" nodeType="withEffect">
                                  <p:stCondLst>
                                    <p:cond delay="0"/>
                                  </p:stCondLst>
                                  <p:childTnLst>
                                    <p:set>
                                      <p:cBhvr>
                                        <p:cTn id="67" dur="1" fill="hold">
                                          <p:stCondLst>
                                            <p:cond delay="0"/>
                                          </p:stCondLst>
                                        </p:cTn>
                                        <p:tgtEl>
                                          <p:spTgt spid="230"/>
                                        </p:tgtEl>
                                        <p:attrNameLst>
                                          <p:attrName>style.visibility</p:attrName>
                                        </p:attrNameLst>
                                      </p:cBhvr>
                                      <p:to>
                                        <p:strVal val="visible"/>
                                      </p:to>
                                    </p:set>
                                    <p:anim calcmode="lin" valueType="num">
                                      <p:cBhvr>
                                        <p:cTn id="68" dur="5000" fill="hold"/>
                                        <p:tgtEl>
                                          <p:spTgt spid="230"/>
                                        </p:tgtEl>
                                        <p:attrNameLst>
                                          <p:attrName>ppt_w</p:attrName>
                                        </p:attrNameLst>
                                      </p:cBhvr>
                                      <p:tavLst>
                                        <p:tav tm="0" fmla="#ppt_w*sin(2.5*pi*$)">
                                          <p:val>
                                            <p:fltVal val="0"/>
                                          </p:val>
                                        </p:tav>
                                        <p:tav tm="100000">
                                          <p:val>
                                            <p:fltVal val="1"/>
                                          </p:val>
                                        </p:tav>
                                      </p:tavLst>
                                    </p:anim>
                                    <p:anim calcmode="lin" valueType="num">
                                      <p:cBhvr>
                                        <p:cTn id="69" dur="5000" fill="hold"/>
                                        <p:tgtEl>
                                          <p:spTgt spid="230"/>
                                        </p:tgtEl>
                                        <p:attrNameLst>
                                          <p:attrName>ppt_h</p:attrName>
                                        </p:attrNameLst>
                                      </p:cBhvr>
                                      <p:tavLst>
                                        <p:tav tm="0">
                                          <p:val>
                                            <p:strVal val="#ppt_h"/>
                                          </p:val>
                                        </p:tav>
                                        <p:tav tm="100000">
                                          <p:val>
                                            <p:strVal val="#ppt_h"/>
                                          </p:val>
                                        </p:tav>
                                      </p:tavLst>
                                    </p:anim>
                                  </p:childTnLst>
                                </p:cTn>
                              </p:par>
                            </p:childTnLst>
                          </p:cTn>
                        </p:par>
                        <p:par>
                          <p:cTn id="70" fill="hold">
                            <p:stCondLst>
                              <p:cond delay="20000"/>
                            </p:stCondLst>
                            <p:childTnLst>
                              <p:par>
                                <p:cTn id="71" presetID="18" presetClass="entr" presetSubtype="3" fill="hold" nodeType="afterEffect">
                                  <p:stCondLst>
                                    <p:cond delay="0"/>
                                  </p:stCondLst>
                                  <p:childTnLst>
                                    <p:set>
                                      <p:cBhvr>
                                        <p:cTn id="72" dur="1" fill="hold">
                                          <p:stCondLst>
                                            <p:cond delay="0"/>
                                          </p:stCondLst>
                                        </p:cTn>
                                        <p:tgtEl>
                                          <p:spTgt spid="244"/>
                                        </p:tgtEl>
                                        <p:attrNameLst>
                                          <p:attrName>style.visibility</p:attrName>
                                        </p:attrNameLst>
                                      </p:cBhvr>
                                      <p:to>
                                        <p:strVal val="visible"/>
                                      </p:to>
                                    </p:set>
                                    <p:animEffect transition="in" filter="strips(upRight)">
                                      <p:cBhvr>
                                        <p:cTn id="73" dur="3000"/>
                                        <p:tgtEl>
                                          <p:spTgt spid="244"/>
                                        </p:tgtEl>
                                      </p:cBhvr>
                                    </p:animEffect>
                                  </p:childTnLst>
                                </p:cTn>
                              </p:par>
                              <p:par>
                                <p:cTn id="74" presetID="18" presetClass="entr" presetSubtype="6" fill="hold" nodeType="withEffect">
                                  <p:stCondLst>
                                    <p:cond delay="0"/>
                                  </p:stCondLst>
                                  <p:childTnLst>
                                    <p:set>
                                      <p:cBhvr>
                                        <p:cTn id="75" dur="1" fill="hold">
                                          <p:stCondLst>
                                            <p:cond delay="0"/>
                                          </p:stCondLst>
                                        </p:cTn>
                                        <p:tgtEl>
                                          <p:spTgt spid="245"/>
                                        </p:tgtEl>
                                        <p:attrNameLst>
                                          <p:attrName>style.visibility</p:attrName>
                                        </p:attrNameLst>
                                      </p:cBhvr>
                                      <p:to>
                                        <p:strVal val="visible"/>
                                      </p:to>
                                    </p:set>
                                    <p:animEffect transition="in" filter="strips(downRight)">
                                      <p:cBhvr>
                                        <p:cTn id="76" dur="3000"/>
                                        <p:tgtEl>
                                          <p:spTgt spid="245"/>
                                        </p:tgtEl>
                                      </p:cBhvr>
                                    </p:animEffect>
                                  </p:childTnLst>
                                </p:cTn>
                              </p:par>
                            </p:childTnLst>
                          </p:cTn>
                        </p:par>
                        <p:par>
                          <p:cTn id="77" fill="hold">
                            <p:stCondLst>
                              <p:cond delay="23000"/>
                            </p:stCondLst>
                            <p:childTnLst>
                              <p:par>
                                <p:cTn id="78" presetID="22" presetClass="entr" presetSubtype="4" fill="hold" nodeType="afterEffect">
                                  <p:stCondLst>
                                    <p:cond delay="0"/>
                                  </p:stCondLst>
                                  <p:childTnLst>
                                    <p:set>
                                      <p:cBhvr>
                                        <p:cTn id="79" dur="1" fill="hold">
                                          <p:stCondLst>
                                            <p:cond delay="0"/>
                                          </p:stCondLst>
                                        </p:cTn>
                                        <p:tgtEl>
                                          <p:spTgt spid="231"/>
                                        </p:tgtEl>
                                        <p:attrNameLst>
                                          <p:attrName>style.visibility</p:attrName>
                                        </p:attrNameLst>
                                      </p:cBhvr>
                                      <p:to>
                                        <p:strVal val="visible"/>
                                      </p:to>
                                    </p:set>
                                    <p:animEffect transition="in" filter="wipe(down)">
                                      <p:cBhvr>
                                        <p:cTn id="80" dur="2000"/>
                                        <p:tgtEl>
                                          <p:spTgt spid="231"/>
                                        </p:tgtEl>
                                      </p:cBhvr>
                                    </p:animEffect>
                                  </p:childTnLst>
                                </p:cTn>
                              </p:par>
                              <p:par>
                                <p:cTn id="81" presetID="21" presetClass="entr" presetSubtype="1" fill="hold" grpId="0" nodeType="withEffect">
                                  <p:stCondLst>
                                    <p:cond delay="0"/>
                                  </p:stCondLst>
                                  <p:childTnLst>
                                    <p:set>
                                      <p:cBhvr>
                                        <p:cTn id="82" dur="1" fill="hold">
                                          <p:stCondLst>
                                            <p:cond delay="0"/>
                                          </p:stCondLst>
                                        </p:cTn>
                                        <p:tgtEl>
                                          <p:spTgt spid="229"/>
                                        </p:tgtEl>
                                        <p:attrNameLst>
                                          <p:attrName>style.visibility</p:attrName>
                                        </p:attrNameLst>
                                      </p:cBhvr>
                                      <p:to>
                                        <p:strVal val="visible"/>
                                      </p:to>
                                    </p:set>
                                    <p:animEffect transition="in" filter="wheel(1)">
                                      <p:cBhvr>
                                        <p:cTn id="83" dur="2000"/>
                                        <p:tgtEl>
                                          <p:spTgt spid="229"/>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8" fill="hold" nodeType="clickEffect">
                                  <p:stCondLst>
                                    <p:cond delay="0"/>
                                  </p:stCondLst>
                                  <p:childTnLst>
                                    <p:set>
                                      <p:cBhvr>
                                        <p:cTn id="87" dur="1" fill="hold">
                                          <p:stCondLst>
                                            <p:cond delay="0"/>
                                          </p:stCondLst>
                                        </p:cTn>
                                        <p:tgtEl>
                                          <p:spTgt spid="227"/>
                                        </p:tgtEl>
                                        <p:attrNameLst>
                                          <p:attrName>style.visibility</p:attrName>
                                        </p:attrNameLst>
                                      </p:cBhvr>
                                      <p:to>
                                        <p:strVal val="visible"/>
                                      </p:to>
                                    </p:set>
                                    <p:animEffect transition="in" filter="wipe(left)">
                                      <p:cBhvr>
                                        <p:cTn id="88" dur="3000"/>
                                        <p:tgtEl>
                                          <p:spTgt spid="227"/>
                                        </p:tgtEl>
                                      </p:cBhvr>
                                    </p:animEffect>
                                  </p:childTnLst>
                                </p:cTn>
                              </p:par>
                            </p:childTnLst>
                          </p:cTn>
                        </p:par>
                      </p:childTnLst>
                    </p:cTn>
                  </p:par>
                  <p:par>
                    <p:cTn id="89" fill="hold">
                      <p:stCondLst>
                        <p:cond delay="indefinite"/>
                      </p:stCondLst>
                      <p:childTnLst>
                        <p:par>
                          <p:cTn id="90" fill="hold">
                            <p:stCondLst>
                              <p:cond delay="0"/>
                            </p:stCondLst>
                            <p:childTnLst>
                              <p:par>
                                <p:cTn id="91" presetID="22" presetClass="entr" presetSubtype="8" fill="hold" nodeType="clickEffect">
                                  <p:stCondLst>
                                    <p:cond delay="0"/>
                                  </p:stCondLst>
                                  <p:childTnLst>
                                    <p:set>
                                      <p:cBhvr>
                                        <p:cTn id="92" dur="1" fill="hold">
                                          <p:stCondLst>
                                            <p:cond delay="0"/>
                                          </p:stCondLst>
                                        </p:cTn>
                                        <p:tgtEl>
                                          <p:spTgt spid="228"/>
                                        </p:tgtEl>
                                        <p:attrNameLst>
                                          <p:attrName>style.visibility</p:attrName>
                                        </p:attrNameLst>
                                      </p:cBhvr>
                                      <p:to>
                                        <p:strVal val="visible"/>
                                      </p:to>
                                    </p:set>
                                    <p:animEffect transition="in" filter="wipe(left)">
                                      <p:cBhvr>
                                        <p:cTn id="93" dur="3000"/>
                                        <p:tgtEl>
                                          <p:spTgt spid="228"/>
                                        </p:tgtEl>
                                      </p:cBhvr>
                                    </p:animEffect>
                                  </p:childTnLst>
                                </p:cTn>
                              </p:par>
                            </p:childTnLst>
                          </p:cTn>
                        </p:par>
                      </p:childTnLst>
                    </p:cTn>
                  </p:par>
                  <p:par>
                    <p:cTn id="94" fill="hold">
                      <p:stCondLst>
                        <p:cond delay="indefinite"/>
                      </p:stCondLst>
                      <p:childTnLst>
                        <p:par>
                          <p:cTn id="95" fill="hold">
                            <p:stCondLst>
                              <p:cond delay="0"/>
                            </p:stCondLst>
                            <p:childTnLst>
                              <p:par>
                                <p:cTn id="96" presetID="1" presetClass="entr" presetSubtype="0" fill="hold" grpId="0" nodeType="clickEffect">
                                  <p:stCondLst>
                                    <p:cond delay="0"/>
                                  </p:stCondLst>
                                  <p:childTnLst>
                                    <p:set>
                                      <p:cBhvr>
                                        <p:cTn id="97" dur="1" fill="hold">
                                          <p:stCondLst>
                                            <p:cond delay="499"/>
                                          </p:stCondLst>
                                        </p:cTn>
                                        <p:tgtEl>
                                          <p:spTgt spid="250"/>
                                        </p:tgtEl>
                                        <p:attrNameLst>
                                          <p:attrName>style.visibility</p:attrName>
                                        </p:attrNameLst>
                                      </p:cBhvr>
                                      <p:to>
                                        <p:strVal val="visible"/>
                                      </p:to>
                                    </p:set>
                                  </p:childTnLst>
                                </p:cTn>
                              </p:par>
                            </p:childTnLst>
                          </p:cTn>
                        </p:par>
                      </p:childTnLst>
                    </p:cTn>
                  </p:par>
                  <p:par>
                    <p:cTn id="98" fill="hold">
                      <p:stCondLst>
                        <p:cond delay="indefinite"/>
                      </p:stCondLst>
                      <p:childTnLst>
                        <p:par>
                          <p:cTn id="99" fill="hold">
                            <p:stCondLst>
                              <p:cond delay="0"/>
                            </p:stCondLst>
                            <p:childTnLst>
                              <p:par>
                                <p:cTn id="100" presetID="22" presetClass="entr" presetSubtype="8" fill="hold" nodeType="clickEffect">
                                  <p:stCondLst>
                                    <p:cond delay="0"/>
                                  </p:stCondLst>
                                  <p:childTnLst>
                                    <p:set>
                                      <p:cBhvr>
                                        <p:cTn id="101" dur="1" fill="hold">
                                          <p:stCondLst>
                                            <p:cond delay="0"/>
                                          </p:stCondLst>
                                        </p:cTn>
                                        <p:tgtEl>
                                          <p:spTgt spid="251"/>
                                        </p:tgtEl>
                                        <p:attrNameLst>
                                          <p:attrName>style.visibility</p:attrName>
                                        </p:attrNameLst>
                                      </p:cBhvr>
                                      <p:to>
                                        <p:strVal val="visible"/>
                                      </p:to>
                                    </p:set>
                                    <p:animEffect transition="in" filter="wipe(left)">
                                      <p:cBhvr>
                                        <p:cTn id="102" dur="3000"/>
                                        <p:tgtEl>
                                          <p:spTgt spid="251"/>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8" fill="hold" nodeType="clickEffect">
                                  <p:stCondLst>
                                    <p:cond delay="0"/>
                                  </p:stCondLst>
                                  <p:childTnLst>
                                    <p:set>
                                      <p:cBhvr>
                                        <p:cTn id="106" dur="1" fill="hold">
                                          <p:stCondLst>
                                            <p:cond delay="0"/>
                                          </p:stCondLst>
                                        </p:cTn>
                                        <p:tgtEl>
                                          <p:spTgt spid="252"/>
                                        </p:tgtEl>
                                        <p:attrNameLst>
                                          <p:attrName>style.visibility</p:attrName>
                                        </p:attrNameLst>
                                      </p:cBhvr>
                                      <p:to>
                                        <p:strVal val="visible"/>
                                      </p:to>
                                    </p:set>
                                    <p:animEffect transition="in" filter="wipe(left)">
                                      <p:cBhvr>
                                        <p:cTn id="107" dur="3000"/>
                                        <p:tgtEl>
                                          <p:spTgt spid="2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24" grpId="0"/>
      <p:bldP spid="46" grpId="0" animBg="1"/>
      <p:bldP spid="48" grpId="0" autoUpdateAnimBg="0"/>
      <p:bldP spid="226" grpId="0" autoUpdateAnimBg="0"/>
      <p:bldP spid="229" grpId="0"/>
      <p:bldP spid="230" grpId="0"/>
      <p:bldP spid="241" grpId="0"/>
      <p:bldP spid="247" grpId="0"/>
      <p:bldP spid="250" grpId="0"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711605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第八章   拉压、剪切与挤压的强度计算</a:t>
            </a:r>
          </a:p>
        </p:txBody>
      </p:sp>
      <p:sp>
        <p:nvSpPr>
          <p:cNvPr id="226" name="Text Box 1032">
            <a:extLst>
              <a:ext uri="{FF2B5EF4-FFF2-40B4-BE49-F238E27FC236}">
                <a16:creationId xmlns:a16="http://schemas.microsoft.com/office/drawing/2014/main" id="{2C6CE822-02CC-989F-1710-B799915338B3}"/>
              </a:ext>
            </a:extLst>
          </p:cNvPr>
          <p:cNvSpPr txBox="1">
            <a:spLocks noChangeArrowheads="1"/>
          </p:cNvSpPr>
          <p:nvPr/>
        </p:nvSpPr>
        <p:spPr bwMode="auto">
          <a:xfrm>
            <a:off x="407368" y="818451"/>
            <a:ext cx="11017224" cy="17727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lvl="0" algn="just">
              <a:lnSpc>
                <a:spcPct val="130000"/>
              </a:lnSpc>
            </a:pPr>
            <a:r>
              <a:rPr kumimoji="1" lang="zh-CN" altLang="en-US" sz="2800" b="0" dirty="0">
                <a:solidFill>
                  <a:srgbClr val="FF00FF"/>
                </a:solidFill>
                <a:latin typeface="微软雅黑" panose="020B0503020204020204" pitchFamily="34" charset="-122"/>
                <a:ea typeface="微软雅黑" panose="020B0503020204020204" pitchFamily="34" charset="-122"/>
                <a:sym typeface="Symbol" panose="05050102010706020507" pitchFamily="18" charset="2"/>
              </a:rPr>
              <a:t></a:t>
            </a:r>
            <a:r>
              <a:rPr kumimoji="1" lang="zh-CN" altLang="en-US" sz="2800" b="0" baseline="-25000" dirty="0">
                <a:solidFill>
                  <a:srgbClr val="FF00FF"/>
                </a:solidFill>
                <a:latin typeface="微软雅黑" panose="020B0503020204020204" pitchFamily="34" charset="-122"/>
                <a:ea typeface="微软雅黑" panose="020B0503020204020204" pitchFamily="34" charset="-122"/>
                <a:sym typeface="Symbol" panose="05050102010706020507" pitchFamily="18" charset="2"/>
              </a:rPr>
              <a:t></a:t>
            </a:r>
            <a:r>
              <a:rPr kumimoji="1" lang="zh-CN" altLang="en-US" sz="2800" i="0" dirty="0">
                <a:solidFill>
                  <a:srgbClr val="FF00FF"/>
                </a:solidFill>
                <a:latin typeface="微软雅黑" panose="020B0503020204020204" pitchFamily="34" charset="-122"/>
                <a:ea typeface="微软雅黑" panose="020B0503020204020204" pitchFamily="34" charset="-122"/>
              </a:rPr>
              <a:t>、</a:t>
            </a:r>
            <a:r>
              <a:rPr kumimoji="1" lang="zh-CN" altLang="en-US" sz="2800" b="0" dirty="0">
                <a:solidFill>
                  <a:srgbClr val="FF00FF"/>
                </a:solidFill>
                <a:latin typeface="微软雅黑" panose="020B0503020204020204" pitchFamily="34" charset="-122"/>
                <a:ea typeface="微软雅黑" panose="020B0503020204020204" pitchFamily="34" charset="-122"/>
                <a:sym typeface="Symbol" panose="05050102010706020507" pitchFamily="18" charset="2"/>
              </a:rPr>
              <a:t></a:t>
            </a:r>
            <a:r>
              <a:rPr kumimoji="1" lang="zh-CN" altLang="en-US" sz="2800" b="0" baseline="-25000" dirty="0">
                <a:solidFill>
                  <a:srgbClr val="FF00FF"/>
                </a:solidFill>
                <a:latin typeface="微软雅黑" panose="020B0503020204020204" pitchFamily="34" charset="-122"/>
                <a:ea typeface="微软雅黑" panose="020B0503020204020204" pitchFamily="34" charset="-122"/>
                <a:sym typeface="Symbol" panose="05050102010706020507" pitchFamily="18" charset="2"/>
              </a:rPr>
              <a:t></a:t>
            </a:r>
            <a:r>
              <a:rPr kumimoji="1" lang="zh-CN" altLang="en-US" sz="2800" baseline="-25000" dirty="0">
                <a:solidFill>
                  <a:srgbClr val="FF00FF"/>
                </a:solidFill>
                <a:latin typeface="微软雅黑" panose="020B0503020204020204" pitchFamily="34" charset="-122"/>
                <a:ea typeface="微软雅黑" panose="020B0503020204020204" pitchFamily="34" charset="-122"/>
                <a:sym typeface="Symbol" panose="05050102010706020507" pitchFamily="18" charset="2"/>
              </a:rPr>
              <a:t> </a:t>
            </a:r>
            <a:r>
              <a:rPr kumimoji="1" lang="zh-CN" altLang="en-US" sz="2800" i="0" dirty="0">
                <a:solidFill>
                  <a:srgbClr val="FF00FF"/>
                </a:solidFill>
                <a:latin typeface="微软雅黑" panose="020B0503020204020204" pitchFamily="34" charset="-122"/>
                <a:ea typeface="微软雅黑" panose="020B0503020204020204" pitchFamily="34" charset="-122"/>
              </a:rPr>
              <a:t>的正负号的判断</a:t>
            </a:r>
            <a:r>
              <a:rPr kumimoji="1" lang="zh-CN" altLang="en-US" sz="2800" i="0" dirty="0">
                <a:latin typeface="微软雅黑" panose="020B0503020204020204" pitchFamily="34" charset="-122"/>
                <a:ea typeface="微软雅黑" panose="020B0503020204020204" pitchFamily="34" charset="-122"/>
              </a:rPr>
              <a:t>：</a:t>
            </a:r>
            <a:r>
              <a:rPr kumimoji="1" lang="zh-CN" altLang="en-US" sz="2800" b="0" dirty="0">
                <a:latin typeface="微软雅黑" panose="020B0503020204020204" pitchFamily="34" charset="-122"/>
                <a:ea typeface="微软雅黑" panose="020B0503020204020204" pitchFamily="34" charset="-122"/>
                <a:sym typeface="Symbol" panose="05050102010706020507" pitchFamily="18" charset="2"/>
              </a:rPr>
              <a:t></a:t>
            </a:r>
            <a:r>
              <a:rPr kumimoji="1" lang="zh-CN" altLang="en-US" sz="2800" b="0" baseline="-25000" dirty="0">
                <a:latin typeface="微软雅黑" panose="020B0503020204020204" pitchFamily="34" charset="-122"/>
                <a:ea typeface="微软雅黑" panose="020B0503020204020204" pitchFamily="34" charset="-122"/>
                <a:sym typeface="Symbol" panose="05050102010706020507" pitchFamily="18" charset="2"/>
              </a:rPr>
              <a:t></a:t>
            </a:r>
            <a:r>
              <a:rPr kumimoji="1" lang="zh-CN" altLang="en-US" sz="2800" i="0" dirty="0">
                <a:latin typeface="微软雅黑" panose="020B0503020204020204" pitchFamily="34" charset="-122"/>
                <a:ea typeface="微软雅黑" panose="020B0503020204020204" pitchFamily="34" charset="-122"/>
              </a:rPr>
              <a:t>仍以拉应力为正，压应力为负；</a:t>
            </a:r>
            <a:r>
              <a:rPr kumimoji="1" lang="zh-CN" altLang="en-US" sz="2800" b="0" dirty="0">
                <a:latin typeface="微软雅黑" panose="020B0503020204020204" pitchFamily="34" charset="-122"/>
                <a:ea typeface="微软雅黑" panose="020B0503020204020204" pitchFamily="34" charset="-122"/>
                <a:sym typeface="Symbol" panose="05050102010706020507" pitchFamily="18" charset="2"/>
              </a:rPr>
              <a:t></a:t>
            </a:r>
            <a:r>
              <a:rPr kumimoji="1" lang="zh-CN" altLang="en-US" sz="2800" b="0" baseline="-25000" dirty="0">
                <a:latin typeface="微软雅黑" panose="020B0503020204020204" pitchFamily="34" charset="-122"/>
                <a:ea typeface="微软雅黑" panose="020B0503020204020204" pitchFamily="34" charset="-122"/>
                <a:sym typeface="Symbol" panose="05050102010706020507" pitchFamily="18" charset="2"/>
              </a:rPr>
              <a:t></a:t>
            </a:r>
            <a:r>
              <a:rPr kumimoji="1" lang="zh-CN" altLang="en-US" sz="2800" i="0" dirty="0">
                <a:latin typeface="微软雅黑" panose="020B0503020204020204" pitchFamily="34" charset="-122"/>
                <a:ea typeface="微软雅黑" panose="020B0503020204020204" pitchFamily="34" charset="-122"/>
              </a:rPr>
              <a:t>的方向与截面外法线按顺时针方向转</a:t>
            </a:r>
            <a:r>
              <a:rPr kumimoji="1" lang="en-US" altLang="zh-CN" sz="2800" b="0" i="0" dirty="0">
                <a:latin typeface="+mn-lt"/>
                <a:ea typeface="微软雅黑" panose="020B0503020204020204" pitchFamily="34" charset="-122"/>
              </a:rPr>
              <a:t>90</a:t>
            </a:r>
            <a:r>
              <a:rPr kumimoji="1" lang="en-US" altLang="zh-CN" sz="2800" b="0" i="0" dirty="0">
                <a:latin typeface="+mn-lt"/>
                <a:ea typeface="微软雅黑" panose="020B0503020204020204" pitchFamily="34" charset="-122"/>
                <a:sym typeface="Symbol" panose="05050102010706020507" pitchFamily="18" charset="2"/>
              </a:rPr>
              <a:t></a:t>
            </a:r>
            <a:r>
              <a:rPr kumimoji="1" lang="zh-CN" altLang="en-US" sz="2800" i="0" dirty="0">
                <a:latin typeface="微软雅黑" panose="020B0503020204020204" pitchFamily="34" charset="-122"/>
                <a:ea typeface="微软雅黑" panose="020B0503020204020204" pitchFamily="34" charset="-122"/>
              </a:rPr>
              <a:t>所示方向一致时为正，反之为负。由切应力计算公式</a:t>
            </a:r>
            <a:endParaRPr lang="zh-CN" altLang="en-US" sz="2800" i="0" dirty="0">
              <a:latin typeface="微软雅黑" panose="020B0503020204020204" pitchFamily="34" charset="-122"/>
              <a:ea typeface="微软雅黑" panose="020B0503020204020204" pitchFamily="34" charset="-122"/>
            </a:endParaRPr>
          </a:p>
        </p:txBody>
      </p:sp>
      <p:sp>
        <p:nvSpPr>
          <p:cNvPr id="250" name="Text Box 1032">
            <a:extLst>
              <a:ext uri="{FF2B5EF4-FFF2-40B4-BE49-F238E27FC236}">
                <a16:creationId xmlns:a16="http://schemas.microsoft.com/office/drawing/2014/main" id="{F4E73D05-3A2B-B34B-E532-86E237C71C6E}"/>
              </a:ext>
            </a:extLst>
          </p:cNvPr>
          <p:cNvSpPr txBox="1">
            <a:spLocks noChangeArrowheads="1"/>
          </p:cNvSpPr>
          <p:nvPr/>
        </p:nvSpPr>
        <p:spPr bwMode="auto">
          <a:xfrm>
            <a:off x="303415" y="3308350"/>
            <a:ext cx="6728689" cy="26336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lvl="0">
              <a:lnSpc>
                <a:spcPct val="120000"/>
              </a:lnSpc>
            </a:pPr>
            <a:r>
              <a:rPr kumimoji="1" lang="zh-CN" altLang="en-US" sz="2800" i="0" dirty="0">
                <a:latin typeface="+mn-lt"/>
                <a:ea typeface="微软雅黑" panose="020B0503020204020204" pitchFamily="34" charset="-122"/>
              </a:rPr>
              <a:t>可以看到，必有</a:t>
            </a:r>
            <a:r>
              <a:rPr kumimoji="1" lang="zh-CN" altLang="en-US" sz="2800" b="0" dirty="0">
                <a:latin typeface="+mn-lt"/>
                <a:ea typeface="微软雅黑" panose="020B0503020204020204" pitchFamily="34" charset="-122"/>
                <a:sym typeface="Symbol" panose="05050102010706020507" pitchFamily="18" charset="2"/>
              </a:rPr>
              <a:t></a:t>
            </a:r>
            <a:r>
              <a:rPr kumimoji="1" lang="zh-CN" altLang="en-US" sz="2800" b="0" baseline="-25000" dirty="0">
                <a:latin typeface="+mn-lt"/>
                <a:ea typeface="微软雅黑" panose="020B0503020204020204" pitchFamily="34" charset="-122"/>
                <a:sym typeface="Symbol" panose="05050102010706020507" pitchFamily="18" charset="2"/>
              </a:rPr>
              <a:t></a:t>
            </a:r>
            <a:r>
              <a:rPr kumimoji="1" lang="zh-CN" altLang="en-US" sz="2800" b="0" i="0" dirty="0">
                <a:latin typeface="+mn-lt"/>
                <a:ea typeface="微软雅黑" panose="020B0503020204020204" pitchFamily="34" charset="-122"/>
              </a:rPr>
              <a:t> ＝</a:t>
            </a:r>
            <a:r>
              <a:rPr kumimoji="1" lang="en-US" altLang="zh-CN" sz="2800" b="0" i="0" dirty="0">
                <a:latin typeface="宋体" panose="02010600030101010101" pitchFamily="2" charset="-122"/>
              </a:rPr>
              <a:t>-</a:t>
            </a:r>
            <a:r>
              <a:rPr kumimoji="1" lang="en-US" altLang="zh-CN" sz="2800" b="0" dirty="0">
                <a:latin typeface="+mn-lt"/>
                <a:ea typeface="微软雅黑" panose="020B0503020204020204" pitchFamily="34" charset="-122"/>
                <a:sym typeface="Symbol" panose="05050102010706020507" pitchFamily="18" charset="2"/>
              </a:rPr>
              <a:t></a:t>
            </a:r>
            <a:r>
              <a:rPr kumimoji="1" lang="en-US" altLang="zh-CN" sz="2800" b="0" baseline="-25000" dirty="0">
                <a:latin typeface="+mn-lt"/>
                <a:ea typeface="微软雅黑" panose="020B0503020204020204" pitchFamily="34" charset="-122"/>
                <a:sym typeface="Symbol" panose="05050102010706020507" pitchFamily="18" charset="2"/>
              </a:rPr>
              <a:t></a:t>
            </a:r>
            <a:r>
              <a:rPr kumimoji="1" lang="en-US" altLang="zh-CN" sz="2800" b="0" i="0" baseline="-25000" dirty="0">
                <a:latin typeface="+mn-lt"/>
                <a:ea typeface="微软雅黑" panose="020B0503020204020204" pitchFamily="34" charset="-122"/>
              </a:rPr>
              <a:t>+90</a:t>
            </a:r>
            <a:r>
              <a:rPr kumimoji="1" lang="en-US" altLang="zh-CN" sz="2800" b="0" i="0" baseline="-25000" dirty="0">
                <a:latin typeface="+mn-lt"/>
                <a:ea typeface="微软雅黑" panose="020B0503020204020204" pitchFamily="34" charset="-122"/>
                <a:sym typeface="Symbol" panose="05050102010706020507" pitchFamily="18" charset="2"/>
              </a:rPr>
              <a:t></a:t>
            </a:r>
            <a:r>
              <a:rPr kumimoji="1" lang="zh-CN" altLang="en-US" sz="2800" i="0" dirty="0">
                <a:latin typeface="+mn-lt"/>
                <a:ea typeface="微软雅黑" panose="020B0503020204020204" pitchFamily="34" charset="-122"/>
              </a:rPr>
              <a:t>。说明杆件内部相互垂直的截面上，切应力必然成对出现，两者等值且都垂直于两平面的交线，其方向则同时指向或背离交线，此即</a:t>
            </a:r>
            <a:r>
              <a:rPr kumimoji="1" lang="zh-CN" altLang="en-US" sz="2800" i="0" dirty="0">
                <a:solidFill>
                  <a:srgbClr val="FF0000"/>
                </a:solidFill>
                <a:latin typeface="+mn-lt"/>
                <a:ea typeface="微软雅黑" panose="020B0503020204020204" pitchFamily="34" charset="-122"/>
              </a:rPr>
              <a:t>切应力互等定理</a:t>
            </a:r>
            <a:r>
              <a:rPr kumimoji="1" lang="zh-CN" altLang="en-US" sz="2800" i="0" dirty="0">
                <a:latin typeface="+mn-lt"/>
                <a:ea typeface="微软雅黑" panose="020B0503020204020204" pitchFamily="34" charset="-122"/>
              </a:rPr>
              <a:t>。 </a:t>
            </a:r>
            <a:endParaRPr kumimoji="1" lang="en-US" altLang="zh-CN" sz="2800" i="0" dirty="0">
              <a:latin typeface="+mn-lt"/>
              <a:ea typeface="微软雅黑" panose="020B0503020204020204" pitchFamily="34" charset="-122"/>
            </a:endParaRPr>
          </a:p>
        </p:txBody>
      </p:sp>
      <p:graphicFrame>
        <p:nvGraphicFramePr>
          <p:cNvPr id="2" name="Object 73">
            <a:extLst>
              <a:ext uri="{FF2B5EF4-FFF2-40B4-BE49-F238E27FC236}">
                <a16:creationId xmlns:a16="http://schemas.microsoft.com/office/drawing/2014/main" id="{34EB542A-9806-4FC8-ADD2-9971630DFA7C}"/>
              </a:ext>
            </a:extLst>
          </p:cNvPr>
          <p:cNvGraphicFramePr>
            <a:graphicFrameLocks noChangeAspect="1"/>
          </p:cNvGraphicFramePr>
          <p:nvPr>
            <p:extLst>
              <p:ext uri="{D42A27DB-BD31-4B8C-83A1-F6EECF244321}">
                <p14:modId xmlns:p14="http://schemas.microsoft.com/office/powerpoint/2010/main" val="1964585562"/>
              </p:ext>
            </p:extLst>
          </p:nvPr>
        </p:nvGraphicFramePr>
        <p:xfrm>
          <a:off x="3503712" y="2487613"/>
          <a:ext cx="1839912" cy="820737"/>
        </p:xfrm>
        <a:graphic>
          <a:graphicData uri="http://schemas.openxmlformats.org/presentationml/2006/ole">
            <mc:AlternateContent xmlns:mc="http://schemas.openxmlformats.org/markup-compatibility/2006">
              <mc:Choice xmlns:v="urn:schemas-microsoft-com:vml" Requires="v">
                <p:oleObj name="Equation" r:id="rId3" imgW="876240" imgH="393480" progId="Equation.DSMT4">
                  <p:embed/>
                </p:oleObj>
              </mc:Choice>
              <mc:Fallback>
                <p:oleObj name="Equation" r:id="rId3" imgW="876240" imgH="393480" progId="Equation.DSMT4">
                  <p:embed/>
                  <p:pic>
                    <p:nvPicPr>
                      <p:cNvPr id="2" name="Object 73">
                        <a:extLst>
                          <a:ext uri="{FF2B5EF4-FFF2-40B4-BE49-F238E27FC236}">
                            <a16:creationId xmlns:a16="http://schemas.microsoft.com/office/drawing/2014/main" id="{34EB542A-9806-4FC8-ADD2-9971630DFA7C}"/>
                          </a:ext>
                        </a:extLst>
                      </p:cNvPr>
                      <p:cNvPicPr>
                        <a:picLocks noChangeAspect="1" noChangeArrowheads="1"/>
                      </p:cNvPicPr>
                      <p:nvPr/>
                    </p:nvPicPr>
                    <p:blipFill>
                      <a:blip r:embed="rId4"/>
                      <a:srcRect/>
                      <a:stretch>
                        <a:fillRect/>
                      </a:stretch>
                    </p:blipFill>
                    <p:spPr bwMode="auto">
                      <a:xfrm>
                        <a:off x="3503712" y="2487613"/>
                        <a:ext cx="1839912" cy="8207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Rectangle 61">
            <a:extLst>
              <a:ext uri="{FF2B5EF4-FFF2-40B4-BE49-F238E27FC236}">
                <a16:creationId xmlns:a16="http://schemas.microsoft.com/office/drawing/2014/main" id="{62EA41B1-3B2F-7E4A-BF5F-6021BA29F4AA}"/>
              </a:ext>
            </a:extLst>
          </p:cNvPr>
          <p:cNvSpPr>
            <a:spLocks noChangeArrowheads="1"/>
          </p:cNvSpPr>
          <p:nvPr/>
        </p:nvSpPr>
        <p:spPr bwMode="auto">
          <a:xfrm>
            <a:off x="7752184" y="2487613"/>
            <a:ext cx="3632345" cy="3263295"/>
          </a:xfrm>
          <a:prstGeom prst="rect">
            <a:avLst/>
          </a:prstGeom>
          <a:solidFill>
            <a:srgbClr val="B9CDE5"/>
          </a:solidFill>
          <a:ln>
            <a:solidFill>
              <a:schemeClr val="bg1"/>
            </a:solidFill>
          </a:ln>
          <a:effectLst/>
        </p:spPr>
        <p:txBody>
          <a:bodyPr wrap="none" anchor="ctr"/>
          <a:lstStyle/>
          <a:p>
            <a:endParaRPr lang="zh-CN" altLang="en-US"/>
          </a:p>
        </p:txBody>
      </p:sp>
      <p:sp>
        <p:nvSpPr>
          <p:cNvPr id="49" name="Rectangle 28">
            <a:extLst>
              <a:ext uri="{FF2B5EF4-FFF2-40B4-BE49-F238E27FC236}">
                <a16:creationId xmlns:a16="http://schemas.microsoft.com/office/drawing/2014/main" id="{866FC38F-2EFB-685E-C5A6-328291E3A1A8}"/>
              </a:ext>
            </a:extLst>
          </p:cNvPr>
          <p:cNvSpPr>
            <a:spLocks noChangeArrowheads="1"/>
          </p:cNvSpPr>
          <p:nvPr/>
        </p:nvSpPr>
        <p:spPr bwMode="auto">
          <a:xfrm>
            <a:off x="10262373" y="3140797"/>
            <a:ext cx="3762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sym typeface="Symbol" panose="05050102010706020507" pitchFamily="18" charset="2"/>
              </a:rPr>
              <a:t></a:t>
            </a:r>
          </a:p>
        </p:txBody>
      </p:sp>
      <p:sp>
        <p:nvSpPr>
          <p:cNvPr id="50" name="Rectangle 29">
            <a:extLst>
              <a:ext uri="{FF2B5EF4-FFF2-40B4-BE49-F238E27FC236}">
                <a16:creationId xmlns:a16="http://schemas.microsoft.com/office/drawing/2014/main" id="{82D2B14F-8442-6293-8FD3-C153B1FEBF40}"/>
              </a:ext>
            </a:extLst>
          </p:cNvPr>
          <p:cNvSpPr>
            <a:spLocks noChangeArrowheads="1"/>
          </p:cNvSpPr>
          <p:nvPr/>
        </p:nvSpPr>
        <p:spPr bwMode="auto">
          <a:xfrm>
            <a:off x="10281148" y="3546507"/>
            <a:ext cx="4460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FF0000"/>
                </a:solidFill>
                <a:effectLst/>
                <a:uLnTx/>
                <a:uFillTx/>
                <a:latin typeface="Times New Roman" panose="02020603050405020304" pitchFamily="18" charset="0"/>
                <a:ea typeface="黑体" panose="02010609060101010101" pitchFamily="49" charset="-122"/>
                <a:sym typeface="Symbol" panose="05050102010706020507" pitchFamily="18" charset="2"/>
              </a:rPr>
              <a:t></a:t>
            </a:r>
            <a:r>
              <a:rPr kumimoji="1" lang="en-US" altLang="zh-CN" sz="2400" b="0" u="none" strike="noStrike" kern="0" cap="none" spc="0" normalizeH="0" baseline="-25000" noProof="0" dirty="0">
                <a:ln>
                  <a:noFill/>
                </a:ln>
                <a:solidFill>
                  <a:srgbClr val="FF0000"/>
                </a:solidFill>
                <a:effectLst/>
                <a:uLnTx/>
                <a:uFillTx/>
                <a:latin typeface="Times New Roman" panose="02020603050405020304" pitchFamily="18" charset="0"/>
                <a:ea typeface="黑体" panose="02010609060101010101" pitchFamily="49" charset="-122"/>
                <a:sym typeface="Symbol" panose="05050102010706020507" pitchFamily="18" charset="2"/>
              </a:rPr>
              <a:t></a:t>
            </a:r>
          </a:p>
        </p:txBody>
      </p:sp>
      <p:sp>
        <p:nvSpPr>
          <p:cNvPr id="263" name="矩形 262">
            <a:extLst>
              <a:ext uri="{FF2B5EF4-FFF2-40B4-BE49-F238E27FC236}">
                <a16:creationId xmlns:a16="http://schemas.microsoft.com/office/drawing/2014/main" id="{0258973D-0195-042B-8170-9AF54FA687F5}"/>
              </a:ext>
            </a:extLst>
          </p:cNvPr>
          <p:cNvSpPr/>
          <p:nvPr/>
        </p:nvSpPr>
        <p:spPr bwMode="auto">
          <a:xfrm rot="3563604">
            <a:off x="8776142" y="3508630"/>
            <a:ext cx="1451360" cy="1567691"/>
          </a:xfrm>
          <a:prstGeom prst="rect">
            <a:avLst/>
          </a:prstGeom>
          <a:gradFill flip="none" rotWithShape="1">
            <a:gsLst>
              <a:gs pos="0">
                <a:srgbClr val="EEEEEE">
                  <a:shade val="30000"/>
                  <a:satMod val="115000"/>
                </a:srgbClr>
              </a:gs>
              <a:gs pos="50000">
                <a:srgbClr val="EEEEEE">
                  <a:shade val="67500"/>
                  <a:satMod val="115000"/>
                </a:srgbClr>
              </a:gs>
              <a:gs pos="100000">
                <a:srgbClr val="EEEEEE">
                  <a:shade val="100000"/>
                  <a:satMod val="115000"/>
                </a:srgbClr>
              </a:gs>
            </a:gsLst>
            <a:path path="circle">
              <a:fillToRect l="50000" t="50000" r="50000" b="50000"/>
            </a:path>
            <a:tileRect/>
          </a:grad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0"/>
              </a:spcBef>
              <a:spcAft>
                <a:spcPct val="0"/>
              </a:spcAft>
              <a:buClrTx/>
              <a:buSzTx/>
              <a:buFontTx/>
              <a:buChar char="•"/>
              <a:tabLst/>
            </a:pPr>
            <a:endParaRPr kumimoji="0" lang="zh-CN" altLang="en-US" sz="1800" b="0" i="0" u="none" strike="noStrike" cap="none" normalizeH="0" baseline="0">
              <a:ln>
                <a:noFill/>
              </a:ln>
              <a:solidFill>
                <a:schemeClr val="tx1"/>
              </a:solidFill>
              <a:effectLst/>
              <a:latin typeface="Arial" charset="0"/>
              <a:ea typeface="宋体" pitchFamily="2" charset="-122"/>
            </a:endParaRPr>
          </a:p>
        </p:txBody>
      </p:sp>
      <p:sp>
        <p:nvSpPr>
          <p:cNvPr id="264" name="Line 64">
            <a:extLst>
              <a:ext uri="{FF2B5EF4-FFF2-40B4-BE49-F238E27FC236}">
                <a16:creationId xmlns:a16="http://schemas.microsoft.com/office/drawing/2014/main" id="{0C119792-967B-F832-8E79-1055ABE1E5BC}"/>
              </a:ext>
            </a:extLst>
          </p:cNvPr>
          <p:cNvSpPr>
            <a:spLocks noChangeShapeType="1"/>
          </p:cNvSpPr>
          <p:nvPr/>
        </p:nvSpPr>
        <p:spPr bwMode="auto">
          <a:xfrm flipH="1">
            <a:off x="8901316" y="3213348"/>
            <a:ext cx="811014" cy="461664"/>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algn="ctr"/>
            <a:endParaRPr kumimoji="1" lang="zh-CN" altLang="en-US" b="0" i="0">
              <a:solidFill>
                <a:srgbClr val="FFFFFF"/>
              </a:solidFill>
              <a:ea typeface="黑体" panose="02010609060101010101" pitchFamily="49" charset="-122"/>
            </a:endParaRPr>
          </a:p>
        </p:txBody>
      </p:sp>
      <p:sp>
        <p:nvSpPr>
          <p:cNvPr id="265" name="Rectangle 29">
            <a:extLst>
              <a:ext uri="{FF2B5EF4-FFF2-40B4-BE49-F238E27FC236}">
                <a16:creationId xmlns:a16="http://schemas.microsoft.com/office/drawing/2014/main" id="{4069BB4B-BED3-CBD5-7E61-D6553318CE9C}"/>
              </a:ext>
            </a:extLst>
          </p:cNvPr>
          <p:cNvSpPr>
            <a:spLocks noChangeArrowheads="1"/>
          </p:cNvSpPr>
          <p:nvPr/>
        </p:nvSpPr>
        <p:spPr bwMode="auto">
          <a:xfrm>
            <a:off x="8645595" y="2783172"/>
            <a:ext cx="92525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FF0000"/>
                </a:solidFill>
                <a:effectLst/>
                <a:uLnTx/>
                <a:uFillTx/>
                <a:latin typeface="Times New Roman" panose="02020603050405020304" pitchFamily="18" charset="0"/>
                <a:ea typeface="黑体" panose="02010609060101010101" pitchFamily="49" charset="-122"/>
                <a:sym typeface="Symbol" panose="05050102010706020507" pitchFamily="18" charset="2"/>
              </a:rPr>
              <a:t></a:t>
            </a:r>
            <a:r>
              <a:rPr kumimoji="1" lang="en-US" altLang="zh-CN" sz="2400" b="0" u="none" strike="noStrike" kern="0" cap="none" spc="0" normalizeH="0" baseline="-25000" noProof="0" dirty="0">
                <a:ln>
                  <a:noFill/>
                </a:ln>
                <a:solidFill>
                  <a:srgbClr val="FF0000"/>
                </a:solidFill>
                <a:effectLst/>
                <a:uLnTx/>
                <a:uFillTx/>
                <a:latin typeface="Times New Roman" panose="02020603050405020304" pitchFamily="18" charset="0"/>
                <a:ea typeface="黑体" panose="02010609060101010101" pitchFamily="49" charset="-122"/>
                <a:sym typeface="Symbol" panose="05050102010706020507" pitchFamily="18" charset="2"/>
              </a:rPr>
              <a:t></a:t>
            </a:r>
            <a:r>
              <a:rPr lang="en-US" altLang="zh-CN" baseline="-25000" dirty="0"/>
              <a:t> </a:t>
            </a:r>
            <a:r>
              <a:rPr lang="en-US" altLang="zh-CN" b="0" i="0" kern="0" baseline="-25000" dirty="0">
                <a:solidFill>
                  <a:srgbClr val="FF0000"/>
                </a:solidFill>
              </a:rPr>
              <a:t>+90</a:t>
            </a:r>
            <a:r>
              <a:rPr lang="en-US" altLang="zh-CN" b="0" i="0" kern="0" baseline="-25000" dirty="0">
                <a:solidFill>
                  <a:srgbClr val="FF0000"/>
                </a:solidFill>
                <a:sym typeface="Symbol" panose="05050102010706020507" pitchFamily="18" charset="2"/>
              </a:rPr>
              <a:t></a:t>
            </a:r>
          </a:p>
        </p:txBody>
      </p:sp>
      <p:sp>
        <p:nvSpPr>
          <p:cNvPr id="266" name="Arc 52">
            <a:extLst>
              <a:ext uri="{FF2B5EF4-FFF2-40B4-BE49-F238E27FC236}">
                <a16:creationId xmlns:a16="http://schemas.microsoft.com/office/drawing/2014/main" id="{81D9166D-AA98-429F-32D4-CA053E103B4D}"/>
              </a:ext>
            </a:extLst>
          </p:cNvPr>
          <p:cNvSpPr>
            <a:spLocks/>
          </p:cNvSpPr>
          <p:nvPr/>
        </p:nvSpPr>
        <p:spPr bwMode="auto">
          <a:xfrm rot="17042174" flipV="1">
            <a:off x="10224031" y="3407467"/>
            <a:ext cx="185738" cy="96837"/>
          </a:xfrm>
          <a:custGeom>
            <a:avLst/>
            <a:gdLst>
              <a:gd name="T0" fmla="*/ 0 w 21600"/>
              <a:gd name="T1" fmla="*/ 0 h 21600"/>
              <a:gd name="T2" fmla="*/ 1597158 w 21600"/>
              <a:gd name="T3" fmla="*/ 434139 h 21600"/>
              <a:gd name="T4" fmla="*/ 0 w 21600"/>
              <a:gd name="T5" fmla="*/ 434139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267" name="Line 63">
            <a:extLst>
              <a:ext uri="{FF2B5EF4-FFF2-40B4-BE49-F238E27FC236}">
                <a16:creationId xmlns:a16="http://schemas.microsoft.com/office/drawing/2014/main" id="{8B7520C9-BB1D-13B3-56B8-F9259822A824}"/>
              </a:ext>
            </a:extLst>
          </p:cNvPr>
          <p:cNvSpPr>
            <a:spLocks noChangeAspect="1" noChangeShapeType="1"/>
          </p:cNvSpPr>
          <p:nvPr/>
        </p:nvSpPr>
        <p:spPr bwMode="auto">
          <a:xfrm>
            <a:off x="9984318" y="3561455"/>
            <a:ext cx="784225" cy="1587"/>
          </a:xfrm>
          <a:prstGeom prst="line">
            <a:avLst/>
          </a:prstGeom>
          <a:noFill/>
          <a:ln w="38100">
            <a:solidFill>
              <a:schemeClr val="tx1"/>
            </a:solidFill>
            <a:prstDash val="dash"/>
            <a:round/>
            <a:headEnd/>
            <a:tailEnd type="stealth" w="med" len="lg"/>
          </a:ln>
          <a:extLst>
            <a:ext uri="{909E8E84-426E-40DD-AFC4-6F175D3DCCD1}">
              <a14:hiddenFill xmlns:a14="http://schemas.microsoft.com/office/drawing/2010/main">
                <a:noFill/>
              </a14:hiddenFill>
            </a:ext>
          </a:extLst>
        </p:spPr>
        <p:txBody>
          <a:bodyPr/>
          <a:lstStyle/>
          <a:p>
            <a:pPr algn="ctr"/>
            <a:endParaRPr kumimoji="1" lang="zh-CN" altLang="en-US" b="0" i="0">
              <a:solidFill>
                <a:srgbClr val="FFFFFF"/>
              </a:solidFill>
              <a:ea typeface="黑体" panose="02010609060101010101" pitchFamily="49" charset="-122"/>
            </a:endParaRPr>
          </a:p>
        </p:txBody>
      </p:sp>
      <p:sp>
        <p:nvSpPr>
          <p:cNvPr id="268" name="Line 66">
            <a:extLst>
              <a:ext uri="{FF2B5EF4-FFF2-40B4-BE49-F238E27FC236}">
                <a16:creationId xmlns:a16="http://schemas.microsoft.com/office/drawing/2014/main" id="{37EBE2A1-FE7A-316E-8C6C-4B562E603868}"/>
              </a:ext>
            </a:extLst>
          </p:cNvPr>
          <p:cNvSpPr>
            <a:spLocks noChangeShapeType="1"/>
          </p:cNvSpPr>
          <p:nvPr/>
        </p:nvSpPr>
        <p:spPr bwMode="auto">
          <a:xfrm>
            <a:off x="10558993" y="3199505"/>
            <a:ext cx="209550" cy="361950"/>
          </a:xfrm>
          <a:prstGeom prst="line">
            <a:avLst/>
          </a:prstGeom>
          <a:noFill/>
          <a:ln w="19050">
            <a:solidFill>
              <a:schemeClr val="tx1"/>
            </a:solidFill>
            <a:prstDash val="lgDash"/>
            <a:round/>
            <a:headEnd/>
            <a:tailEnd type="none" w="med" len="lg"/>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269" name="Line 67">
            <a:extLst>
              <a:ext uri="{FF2B5EF4-FFF2-40B4-BE49-F238E27FC236}">
                <a16:creationId xmlns:a16="http://schemas.microsoft.com/office/drawing/2014/main" id="{AAD0AF81-7844-9E01-85DF-46027E1FB69E}"/>
              </a:ext>
            </a:extLst>
          </p:cNvPr>
          <p:cNvSpPr>
            <a:spLocks noChangeShapeType="1"/>
          </p:cNvSpPr>
          <p:nvPr/>
        </p:nvSpPr>
        <p:spPr bwMode="auto">
          <a:xfrm rot="16200000">
            <a:off x="10111427" y="3081237"/>
            <a:ext cx="333375" cy="579437"/>
          </a:xfrm>
          <a:prstGeom prst="line">
            <a:avLst/>
          </a:prstGeom>
          <a:noFill/>
          <a:ln w="38100">
            <a:solidFill>
              <a:schemeClr val="tx1"/>
            </a:solidFill>
            <a:prstDash val="dash"/>
            <a:round/>
            <a:headEnd/>
            <a:tailEnd type="stealth" w="med" len="lg"/>
          </a:ln>
          <a:extLst>
            <a:ext uri="{909E8E84-426E-40DD-AFC4-6F175D3DCCD1}">
              <a14:hiddenFill xmlns:a14="http://schemas.microsoft.com/office/drawing/2010/main">
                <a:noFill/>
              </a14:hiddenFill>
            </a:ext>
          </a:extLst>
        </p:spPr>
        <p:txBody>
          <a:bodyPr/>
          <a:lstStyle/>
          <a:p>
            <a:pPr algn="ctr"/>
            <a:endParaRPr kumimoji="1" lang="zh-CN" altLang="en-US" b="0" i="0">
              <a:solidFill>
                <a:srgbClr val="FFFFFF"/>
              </a:solidFill>
              <a:ea typeface="黑体" panose="02010609060101010101" pitchFamily="49" charset="-122"/>
            </a:endParaRPr>
          </a:p>
        </p:txBody>
      </p:sp>
      <p:sp>
        <p:nvSpPr>
          <p:cNvPr id="63" name="Line 64">
            <a:extLst>
              <a:ext uri="{FF2B5EF4-FFF2-40B4-BE49-F238E27FC236}">
                <a16:creationId xmlns:a16="http://schemas.microsoft.com/office/drawing/2014/main" id="{DA5A4694-D220-DC28-39DB-40F80015DFBA}"/>
              </a:ext>
            </a:extLst>
          </p:cNvPr>
          <p:cNvSpPr>
            <a:spLocks noChangeShapeType="1"/>
          </p:cNvSpPr>
          <p:nvPr/>
        </p:nvSpPr>
        <p:spPr bwMode="auto">
          <a:xfrm>
            <a:off x="9937038" y="3330136"/>
            <a:ext cx="430055" cy="746935"/>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algn="ctr"/>
            <a:endParaRPr kumimoji="1" lang="zh-CN" altLang="en-US" b="0" i="0">
              <a:solidFill>
                <a:srgbClr val="FFFFFF"/>
              </a:solidFill>
              <a:ea typeface="黑体" panose="02010609060101010101" pitchFamily="49" charset="-122"/>
            </a:endParaRPr>
          </a:p>
        </p:txBody>
      </p:sp>
    </p:spTree>
    <p:extLst>
      <p:ext uri="{BB962C8B-B14F-4D97-AF65-F5344CB8AC3E}">
        <p14:creationId xmlns:p14="http://schemas.microsoft.com/office/powerpoint/2010/main" val="2336597372"/>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30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499"/>
                                          </p:stCondLst>
                                        </p:cTn>
                                        <p:tgtEl>
                                          <p:spTgt spid="250"/>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263"/>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3"/>
                                        </p:tgtEl>
                                        <p:attrNameLst>
                                          <p:attrName>style.visibility</p:attrName>
                                        </p:attrNameLst>
                                      </p:cBhvr>
                                      <p:to>
                                        <p:strVal val="visible"/>
                                      </p:to>
                                    </p:set>
                                  </p:childTnLst>
                                </p:cTn>
                              </p:par>
                            </p:childTnLst>
                          </p:cTn>
                        </p:par>
                        <p:par>
                          <p:cTn id="22" fill="hold">
                            <p:stCondLst>
                              <p:cond delay="0"/>
                            </p:stCondLst>
                            <p:childTnLst>
                              <p:par>
                                <p:cTn id="23" presetID="18" presetClass="entr" presetSubtype="6" fill="hold" nodeType="afterEffect">
                                  <p:stCondLst>
                                    <p:cond delay="0"/>
                                  </p:stCondLst>
                                  <p:childTnLst>
                                    <p:set>
                                      <p:cBhvr>
                                        <p:cTn id="24" dur="1" fill="hold">
                                          <p:stCondLst>
                                            <p:cond delay="0"/>
                                          </p:stCondLst>
                                        </p:cTn>
                                        <p:tgtEl>
                                          <p:spTgt spid="63"/>
                                        </p:tgtEl>
                                        <p:attrNameLst>
                                          <p:attrName>style.visibility</p:attrName>
                                        </p:attrNameLst>
                                      </p:cBhvr>
                                      <p:to>
                                        <p:strVal val="visible"/>
                                      </p:to>
                                    </p:set>
                                    <p:animEffect transition="in" filter="strips(downRight)">
                                      <p:cBhvr>
                                        <p:cTn id="25" dur="3000"/>
                                        <p:tgtEl>
                                          <p:spTgt spid="63"/>
                                        </p:tgtEl>
                                      </p:cBhvr>
                                    </p:animEffect>
                                  </p:childTnLst>
                                </p:cTn>
                              </p:par>
                              <p:par>
                                <p:cTn id="26" presetID="19" presetClass="entr" presetSubtype="10" fill="hold" grpId="0" nodeType="withEffect">
                                  <p:stCondLst>
                                    <p:cond delay="0"/>
                                  </p:stCondLst>
                                  <p:childTnLst>
                                    <p:set>
                                      <p:cBhvr>
                                        <p:cTn id="27" dur="1" fill="hold">
                                          <p:stCondLst>
                                            <p:cond delay="0"/>
                                          </p:stCondLst>
                                        </p:cTn>
                                        <p:tgtEl>
                                          <p:spTgt spid="50"/>
                                        </p:tgtEl>
                                        <p:attrNameLst>
                                          <p:attrName>style.visibility</p:attrName>
                                        </p:attrNameLst>
                                      </p:cBhvr>
                                      <p:to>
                                        <p:strVal val="visible"/>
                                      </p:to>
                                    </p:set>
                                    <p:anim calcmode="lin" valueType="num">
                                      <p:cBhvr>
                                        <p:cTn id="28" dur="5000" fill="hold"/>
                                        <p:tgtEl>
                                          <p:spTgt spid="50"/>
                                        </p:tgtEl>
                                        <p:attrNameLst>
                                          <p:attrName>ppt_w</p:attrName>
                                        </p:attrNameLst>
                                      </p:cBhvr>
                                      <p:tavLst>
                                        <p:tav tm="0" fmla="#ppt_w*sin(2.5*pi*$)">
                                          <p:val>
                                            <p:fltVal val="0"/>
                                          </p:val>
                                        </p:tav>
                                        <p:tav tm="100000">
                                          <p:val>
                                            <p:fltVal val="1"/>
                                          </p:val>
                                        </p:tav>
                                      </p:tavLst>
                                    </p:anim>
                                    <p:anim calcmode="lin" valueType="num">
                                      <p:cBhvr>
                                        <p:cTn id="29" dur="5000" fill="hold"/>
                                        <p:tgtEl>
                                          <p:spTgt spid="50"/>
                                        </p:tgtEl>
                                        <p:attrNameLst>
                                          <p:attrName>ppt_h</p:attrName>
                                        </p:attrNameLst>
                                      </p:cBhvr>
                                      <p:tavLst>
                                        <p:tav tm="0">
                                          <p:val>
                                            <p:strVal val="#ppt_h"/>
                                          </p:val>
                                        </p:tav>
                                        <p:tav tm="100000">
                                          <p:val>
                                            <p:strVal val="#ppt_h"/>
                                          </p:val>
                                        </p:tav>
                                      </p:tavLst>
                                    </p:anim>
                                  </p:childTnLst>
                                </p:cTn>
                              </p:par>
                              <p:par>
                                <p:cTn id="30" presetID="21" presetClass="entr" presetSubtype="1" fill="hold" grpId="0" nodeType="withEffect">
                                  <p:stCondLst>
                                    <p:cond delay="0"/>
                                  </p:stCondLst>
                                  <p:childTnLst>
                                    <p:set>
                                      <p:cBhvr>
                                        <p:cTn id="31" dur="1" fill="hold">
                                          <p:stCondLst>
                                            <p:cond delay="0"/>
                                          </p:stCondLst>
                                        </p:cTn>
                                        <p:tgtEl>
                                          <p:spTgt spid="49"/>
                                        </p:tgtEl>
                                        <p:attrNameLst>
                                          <p:attrName>style.visibility</p:attrName>
                                        </p:attrNameLst>
                                      </p:cBhvr>
                                      <p:to>
                                        <p:strVal val="visible"/>
                                      </p:to>
                                    </p:set>
                                    <p:animEffect transition="in" filter="wheel(1)">
                                      <p:cBhvr>
                                        <p:cTn id="32" dur="2000"/>
                                        <p:tgtEl>
                                          <p:spTgt spid="49"/>
                                        </p:tgtEl>
                                      </p:cBhvr>
                                    </p:animEffect>
                                  </p:childTnLst>
                                </p:cTn>
                              </p:par>
                            </p:childTnLst>
                          </p:cTn>
                        </p:par>
                        <p:par>
                          <p:cTn id="33" fill="hold">
                            <p:stCondLst>
                              <p:cond delay="5000"/>
                            </p:stCondLst>
                            <p:childTnLst>
                              <p:par>
                                <p:cTn id="34" presetID="18" presetClass="entr" presetSubtype="6" fill="hold" nodeType="afterEffect">
                                  <p:stCondLst>
                                    <p:cond delay="0"/>
                                  </p:stCondLst>
                                  <p:childTnLst>
                                    <p:set>
                                      <p:cBhvr>
                                        <p:cTn id="35" dur="1" fill="hold">
                                          <p:stCondLst>
                                            <p:cond delay="0"/>
                                          </p:stCondLst>
                                        </p:cTn>
                                        <p:tgtEl>
                                          <p:spTgt spid="264"/>
                                        </p:tgtEl>
                                        <p:attrNameLst>
                                          <p:attrName>style.visibility</p:attrName>
                                        </p:attrNameLst>
                                      </p:cBhvr>
                                      <p:to>
                                        <p:strVal val="visible"/>
                                      </p:to>
                                    </p:set>
                                    <p:animEffect transition="in" filter="strips(downRight)">
                                      <p:cBhvr>
                                        <p:cTn id="36" dur="3000"/>
                                        <p:tgtEl>
                                          <p:spTgt spid="264"/>
                                        </p:tgtEl>
                                      </p:cBhvr>
                                    </p:animEffect>
                                  </p:childTnLst>
                                </p:cTn>
                              </p:par>
                              <p:par>
                                <p:cTn id="37" presetID="19" presetClass="entr" presetSubtype="10" fill="hold" grpId="0" nodeType="withEffect">
                                  <p:stCondLst>
                                    <p:cond delay="0"/>
                                  </p:stCondLst>
                                  <p:childTnLst>
                                    <p:set>
                                      <p:cBhvr>
                                        <p:cTn id="38" dur="1" fill="hold">
                                          <p:stCondLst>
                                            <p:cond delay="0"/>
                                          </p:stCondLst>
                                        </p:cTn>
                                        <p:tgtEl>
                                          <p:spTgt spid="265"/>
                                        </p:tgtEl>
                                        <p:attrNameLst>
                                          <p:attrName>style.visibility</p:attrName>
                                        </p:attrNameLst>
                                      </p:cBhvr>
                                      <p:to>
                                        <p:strVal val="visible"/>
                                      </p:to>
                                    </p:set>
                                    <p:anim calcmode="lin" valueType="num">
                                      <p:cBhvr>
                                        <p:cTn id="39" dur="5000" fill="hold"/>
                                        <p:tgtEl>
                                          <p:spTgt spid="265"/>
                                        </p:tgtEl>
                                        <p:attrNameLst>
                                          <p:attrName>ppt_w</p:attrName>
                                        </p:attrNameLst>
                                      </p:cBhvr>
                                      <p:tavLst>
                                        <p:tav tm="0" fmla="#ppt_w*sin(2.5*pi*$)">
                                          <p:val>
                                            <p:fltVal val="0"/>
                                          </p:val>
                                        </p:tav>
                                        <p:tav tm="100000">
                                          <p:val>
                                            <p:fltVal val="1"/>
                                          </p:val>
                                        </p:tav>
                                      </p:tavLst>
                                    </p:anim>
                                    <p:anim calcmode="lin" valueType="num">
                                      <p:cBhvr>
                                        <p:cTn id="40" dur="5000" fill="hold"/>
                                        <p:tgtEl>
                                          <p:spTgt spid="265"/>
                                        </p:tgtEl>
                                        <p:attrNameLst>
                                          <p:attrName>ppt_h</p:attrName>
                                        </p:attrNameLst>
                                      </p:cBhvr>
                                      <p:tavLst>
                                        <p:tav tm="0">
                                          <p:val>
                                            <p:strVal val="#ppt_h"/>
                                          </p:val>
                                        </p:tav>
                                        <p:tav tm="100000">
                                          <p:val>
                                            <p:strVal val="#ppt_h"/>
                                          </p:val>
                                        </p:tav>
                                      </p:tavLst>
                                    </p:anim>
                                  </p:childTnLst>
                                </p:cTn>
                              </p:par>
                            </p:childTnLst>
                          </p:cTn>
                        </p:par>
                        <p:par>
                          <p:cTn id="41" fill="hold">
                            <p:stCondLst>
                              <p:cond delay="10000"/>
                            </p:stCondLst>
                            <p:childTnLst>
                              <p:par>
                                <p:cTn id="42" presetID="12" presetClass="entr" presetSubtype="8" fill="hold" nodeType="afterEffect">
                                  <p:stCondLst>
                                    <p:cond delay="0"/>
                                  </p:stCondLst>
                                  <p:childTnLst>
                                    <p:set>
                                      <p:cBhvr>
                                        <p:cTn id="43" dur="1" fill="hold">
                                          <p:stCondLst>
                                            <p:cond delay="0"/>
                                          </p:stCondLst>
                                        </p:cTn>
                                        <p:tgtEl>
                                          <p:spTgt spid="267"/>
                                        </p:tgtEl>
                                        <p:attrNameLst>
                                          <p:attrName>style.visibility</p:attrName>
                                        </p:attrNameLst>
                                      </p:cBhvr>
                                      <p:to>
                                        <p:strVal val="visible"/>
                                      </p:to>
                                    </p:set>
                                    <p:animEffect transition="in" filter="slide(fromLeft)">
                                      <p:cBhvr>
                                        <p:cTn id="44" dur="3000"/>
                                        <p:tgtEl>
                                          <p:spTgt spid="267"/>
                                        </p:tgtEl>
                                      </p:cBhvr>
                                    </p:animEffect>
                                  </p:childTnLst>
                                </p:cTn>
                              </p:par>
                              <p:par>
                                <p:cTn id="45" presetID="18" presetClass="entr" presetSubtype="6" fill="hold" nodeType="withEffect">
                                  <p:stCondLst>
                                    <p:cond delay="0"/>
                                  </p:stCondLst>
                                  <p:childTnLst>
                                    <p:set>
                                      <p:cBhvr>
                                        <p:cTn id="46" dur="1" fill="hold">
                                          <p:stCondLst>
                                            <p:cond delay="0"/>
                                          </p:stCondLst>
                                        </p:cTn>
                                        <p:tgtEl>
                                          <p:spTgt spid="268"/>
                                        </p:tgtEl>
                                        <p:attrNameLst>
                                          <p:attrName>style.visibility</p:attrName>
                                        </p:attrNameLst>
                                      </p:cBhvr>
                                      <p:to>
                                        <p:strVal val="visible"/>
                                      </p:to>
                                    </p:set>
                                    <p:animEffect transition="in" filter="strips(downRight)">
                                      <p:cBhvr>
                                        <p:cTn id="47" dur="3000"/>
                                        <p:tgtEl>
                                          <p:spTgt spid="268"/>
                                        </p:tgtEl>
                                      </p:cBhvr>
                                    </p:animEffect>
                                  </p:childTnLst>
                                </p:cTn>
                              </p:par>
                            </p:childTnLst>
                          </p:cTn>
                        </p:par>
                        <p:par>
                          <p:cTn id="48" fill="hold">
                            <p:stCondLst>
                              <p:cond delay="13000"/>
                            </p:stCondLst>
                            <p:childTnLst>
                              <p:par>
                                <p:cTn id="49" presetID="22" presetClass="entr" presetSubtype="4" fill="hold" nodeType="afterEffect">
                                  <p:stCondLst>
                                    <p:cond delay="0"/>
                                  </p:stCondLst>
                                  <p:childTnLst>
                                    <p:set>
                                      <p:cBhvr>
                                        <p:cTn id="50" dur="1" fill="hold">
                                          <p:stCondLst>
                                            <p:cond delay="0"/>
                                          </p:stCondLst>
                                        </p:cTn>
                                        <p:tgtEl>
                                          <p:spTgt spid="266"/>
                                        </p:tgtEl>
                                        <p:attrNameLst>
                                          <p:attrName>style.visibility</p:attrName>
                                        </p:attrNameLst>
                                      </p:cBhvr>
                                      <p:to>
                                        <p:strVal val="visible"/>
                                      </p:to>
                                    </p:set>
                                    <p:animEffect transition="in" filter="wipe(down)">
                                      <p:cBhvr>
                                        <p:cTn id="51" dur="2000"/>
                                        <p:tgtEl>
                                          <p:spTgt spid="266"/>
                                        </p:tgtEl>
                                      </p:cBhvr>
                                    </p:animEffect>
                                  </p:childTnLst>
                                </p:cTn>
                              </p:par>
                            </p:childTnLst>
                          </p:cTn>
                        </p:par>
                        <p:par>
                          <p:cTn id="52" fill="hold">
                            <p:stCondLst>
                              <p:cond delay="15000"/>
                            </p:stCondLst>
                            <p:childTnLst>
                              <p:par>
                                <p:cTn id="53" presetID="18" presetClass="entr" presetSubtype="3" fill="hold" nodeType="afterEffect">
                                  <p:stCondLst>
                                    <p:cond delay="0"/>
                                  </p:stCondLst>
                                  <p:childTnLst>
                                    <p:set>
                                      <p:cBhvr>
                                        <p:cTn id="54" dur="1" fill="hold">
                                          <p:stCondLst>
                                            <p:cond delay="0"/>
                                          </p:stCondLst>
                                        </p:cTn>
                                        <p:tgtEl>
                                          <p:spTgt spid="269"/>
                                        </p:tgtEl>
                                        <p:attrNameLst>
                                          <p:attrName>style.visibility</p:attrName>
                                        </p:attrNameLst>
                                      </p:cBhvr>
                                      <p:to>
                                        <p:strVal val="visible"/>
                                      </p:to>
                                    </p:set>
                                    <p:animEffect transition="in" filter="strips(upRight)">
                                      <p:cBhvr>
                                        <p:cTn id="55" dur="3000"/>
                                        <p:tgtEl>
                                          <p:spTgt spid="2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6" grpId="0" autoUpdateAnimBg="0"/>
      <p:bldP spid="250" grpId="0" autoUpdateAnimBg="0"/>
      <p:bldP spid="3" grpId="0" animBg="1"/>
      <p:bldP spid="49" grpId="0"/>
      <p:bldP spid="50" grpId="0"/>
      <p:bldP spid="263" grpId="0" animBg="1"/>
      <p:bldP spid="26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711605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第八章   拉压、剪切与挤压的强度计算</a:t>
            </a:r>
          </a:p>
        </p:txBody>
      </p:sp>
      <p:sp>
        <p:nvSpPr>
          <p:cNvPr id="9" name="Rectangle 61"/>
          <p:cNvSpPr>
            <a:spLocks noChangeArrowheads="1"/>
          </p:cNvSpPr>
          <p:nvPr/>
        </p:nvSpPr>
        <p:spPr bwMode="auto">
          <a:xfrm>
            <a:off x="7104361" y="1580701"/>
            <a:ext cx="4968303" cy="2892448"/>
          </a:xfrm>
          <a:prstGeom prst="rect">
            <a:avLst/>
          </a:prstGeom>
          <a:solidFill>
            <a:srgbClr val="B9CDE5"/>
          </a:solidFill>
          <a:ln>
            <a:noFill/>
          </a:ln>
          <a:effectLst/>
        </p:spPr>
        <p:txBody>
          <a:bodyPr wrap="none" anchor="ctr"/>
          <a:lstStyle/>
          <a:p>
            <a:endParaRPr lang="zh-CN" altLang="en-US"/>
          </a:p>
        </p:txBody>
      </p:sp>
      <p:sp>
        <p:nvSpPr>
          <p:cNvPr id="53" name="Text Box 1032"/>
          <p:cNvSpPr txBox="1">
            <a:spLocks noChangeArrowheads="1"/>
          </p:cNvSpPr>
          <p:nvPr/>
        </p:nvSpPr>
        <p:spPr bwMode="auto">
          <a:xfrm>
            <a:off x="220393" y="1423652"/>
            <a:ext cx="6735642" cy="19549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lnSpc>
                <a:spcPct val="110000"/>
              </a:lnSpc>
            </a:pPr>
            <a:r>
              <a:rPr lang="zh-CN" altLang="en-US" sz="2800" i="0" dirty="0">
                <a:solidFill>
                  <a:srgbClr val="FF00FF"/>
                </a:solidFill>
                <a:latin typeface="微软雅黑" panose="020B0503020204020204" pitchFamily="34" charset="-122"/>
                <a:ea typeface="微软雅黑" panose="020B0503020204020204" pitchFamily="34" charset="-122"/>
              </a:rPr>
              <a:t>纵向线应变和横向线应变</a:t>
            </a:r>
            <a:endParaRPr lang="en-US" altLang="zh-CN" sz="2800" i="0" dirty="0">
              <a:solidFill>
                <a:srgbClr val="FF00FF"/>
              </a:solidFill>
              <a:latin typeface="微软雅黑" panose="020B0503020204020204" pitchFamily="34" charset="-122"/>
              <a:ea typeface="微软雅黑" panose="020B0503020204020204" pitchFamily="34" charset="-122"/>
            </a:endParaRPr>
          </a:p>
          <a:p>
            <a:pPr algn="just">
              <a:lnSpc>
                <a:spcPct val="110000"/>
              </a:lnSpc>
            </a:pPr>
            <a:r>
              <a:rPr lang="zh-CN" altLang="en-US" sz="2800" i="0" dirty="0">
                <a:latin typeface="+mn-lt"/>
                <a:ea typeface="微软雅黑" panose="020B0503020204020204" pitchFamily="34" charset="-122"/>
              </a:rPr>
              <a:t>设圆截面拉杆原长为</a:t>
            </a:r>
            <a:r>
              <a:rPr lang="en-US" altLang="zh-CN" sz="2800" b="0" dirty="0">
                <a:latin typeface="+mn-lt"/>
                <a:ea typeface="微软雅黑" panose="020B0503020204020204" pitchFamily="34" charset="-122"/>
              </a:rPr>
              <a:t>l</a:t>
            </a:r>
            <a:r>
              <a:rPr lang="zh-CN" altLang="en-US" sz="2800" i="0" dirty="0">
                <a:latin typeface="+mn-lt"/>
                <a:ea typeface="微软雅黑" panose="020B0503020204020204" pitchFamily="34" charset="-122"/>
              </a:rPr>
              <a:t>，边长为</a:t>
            </a:r>
            <a:r>
              <a:rPr lang="en-US" altLang="zh-CN" sz="2800" b="0" dirty="0">
                <a:latin typeface="+mn-lt"/>
                <a:ea typeface="微软雅黑" panose="020B0503020204020204" pitchFamily="34" charset="-122"/>
              </a:rPr>
              <a:t>d</a:t>
            </a:r>
            <a:r>
              <a:rPr lang="zh-CN" altLang="en-US" sz="2800" i="0" dirty="0">
                <a:latin typeface="+mn-lt"/>
                <a:ea typeface="微软雅黑" panose="020B0503020204020204" pitchFamily="34" charset="-122"/>
              </a:rPr>
              <a:t>，受轴向拉力</a:t>
            </a:r>
            <a:r>
              <a:rPr lang="en-US" altLang="zh-CN" sz="2800" b="0" dirty="0">
                <a:latin typeface="+mn-lt"/>
                <a:ea typeface="微软雅黑" panose="020B0503020204020204" pitchFamily="34" charset="-122"/>
              </a:rPr>
              <a:t>F</a:t>
            </a:r>
            <a:r>
              <a:rPr lang="zh-CN" altLang="en-US" sz="2800" i="0" dirty="0">
                <a:latin typeface="+mn-lt"/>
                <a:ea typeface="微软雅黑" panose="020B0503020204020204" pitchFamily="34" charset="-122"/>
              </a:rPr>
              <a:t>后，纵向长度由</a:t>
            </a:r>
            <a:r>
              <a:rPr lang="en-US" altLang="zh-CN" sz="2800" b="0" dirty="0">
                <a:latin typeface="+mn-lt"/>
                <a:ea typeface="微软雅黑" panose="020B0503020204020204" pitchFamily="34" charset="-122"/>
              </a:rPr>
              <a:t>l</a:t>
            </a:r>
            <a:r>
              <a:rPr lang="zh-CN" altLang="en-US" sz="2800" i="0" dirty="0">
                <a:latin typeface="+mn-lt"/>
                <a:ea typeface="微软雅黑" panose="020B0503020204020204" pitchFamily="34" charset="-122"/>
              </a:rPr>
              <a:t>变为</a:t>
            </a:r>
            <a:r>
              <a:rPr lang="en-US" altLang="zh-CN" sz="2800" b="0" dirty="0" err="1">
                <a:latin typeface="+mn-lt"/>
                <a:ea typeface="微软雅黑" panose="020B0503020204020204" pitchFamily="34" charset="-122"/>
              </a:rPr>
              <a:t>l</a:t>
            </a:r>
            <a:r>
              <a:rPr lang="en-US" altLang="zh-CN" sz="2800" b="0" i="0" baseline="-25000" dirty="0" err="1">
                <a:latin typeface="+mn-lt"/>
                <a:ea typeface="微软雅黑" panose="020B0503020204020204" pitchFamily="34" charset="-122"/>
              </a:rPr>
              <a:t>l</a:t>
            </a:r>
            <a:r>
              <a:rPr lang="zh-CN" altLang="en-US" sz="2800" i="0" dirty="0">
                <a:latin typeface="+mn-lt"/>
                <a:ea typeface="微软雅黑" panose="020B0503020204020204" pitchFamily="34" charset="-122"/>
              </a:rPr>
              <a:t>，横向尺寸由</a:t>
            </a:r>
            <a:r>
              <a:rPr lang="en-US" altLang="zh-CN" sz="2800" b="0" dirty="0">
                <a:latin typeface="+mn-lt"/>
                <a:ea typeface="微软雅黑" panose="020B0503020204020204" pitchFamily="34" charset="-122"/>
              </a:rPr>
              <a:t>d </a:t>
            </a:r>
            <a:r>
              <a:rPr lang="zh-CN" altLang="en-US" sz="2800" i="0" dirty="0">
                <a:latin typeface="+mn-lt"/>
                <a:ea typeface="微软雅黑" panose="020B0503020204020204" pitchFamily="34" charset="-122"/>
              </a:rPr>
              <a:t>变为</a:t>
            </a:r>
            <a:r>
              <a:rPr lang="en-US" altLang="zh-CN" sz="2800" b="0" dirty="0">
                <a:latin typeface="+mn-lt"/>
                <a:ea typeface="微软雅黑" panose="020B0503020204020204" pitchFamily="34" charset="-122"/>
              </a:rPr>
              <a:t>d</a:t>
            </a:r>
            <a:r>
              <a:rPr lang="en-US" altLang="zh-CN" sz="2800" b="0" i="0" baseline="-25000" dirty="0">
                <a:latin typeface="+mn-lt"/>
                <a:ea typeface="微软雅黑" panose="020B0503020204020204" pitchFamily="34" charset="-122"/>
              </a:rPr>
              <a:t>1</a:t>
            </a:r>
            <a:r>
              <a:rPr lang="zh-CN" altLang="en-US" sz="2800" i="0" dirty="0">
                <a:latin typeface="+mn-lt"/>
                <a:ea typeface="微软雅黑" panose="020B0503020204020204" pitchFamily="34" charset="-122"/>
              </a:rPr>
              <a:t>，则</a:t>
            </a:r>
            <a:endParaRPr lang="en-US" altLang="zh-CN" sz="2800" i="0" dirty="0">
              <a:latin typeface="+mn-lt"/>
              <a:ea typeface="微软雅黑" panose="020B0503020204020204" pitchFamily="34" charset="-122"/>
            </a:endParaRPr>
          </a:p>
        </p:txBody>
      </p:sp>
      <p:sp>
        <p:nvSpPr>
          <p:cNvPr id="2" name="矩形 1"/>
          <p:cNvSpPr/>
          <p:nvPr/>
        </p:nvSpPr>
        <p:spPr>
          <a:xfrm>
            <a:off x="3909082" y="876972"/>
            <a:ext cx="4801314" cy="599331"/>
          </a:xfrm>
          <a:prstGeom prst="rect">
            <a:avLst/>
          </a:prstGeom>
        </p:spPr>
        <p:txBody>
          <a:bodyPr wrap="none">
            <a:spAutoFit/>
          </a:bodyPr>
          <a:lstStyle/>
          <a:p>
            <a:pPr>
              <a:lnSpc>
                <a:spcPct val="120000"/>
              </a:lnSpc>
            </a:pPr>
            <a:r>
              <a:rPr lang="zh-CN" altLang="en-US" sz="3000" i="0" dirty="0">
                <a:solidFill>
                  <a:srgbClr val="4F81BD"/>
                </a:solidFill>
                <a:latin typeface="微软雅黑" panose="020B0503020204020204" pitchFamily="34" charset="-122"/>
                <a:ea typeface="微软雅黑" panose="020B0503020204020204" pitchFamily="34" charset="-122"/>
              </a:rPr>
              <a:t>拉、压杆的变形及胡克定律</a:t>
            </a:r>
          </a:p>
        </p:txBody>
      </p:sp>
      <p:sp>
        <p:nvSpPr>
          <p:cNvPr id="48" name="Text Box 1032">
            <a:extLst>
              <a:ext uri="{FF2B5EF4-FFF2-40B4-BE49-F238E27FC236}">
                <a16:creationId xmlns:a16="http://schemas.microsoft.com/office/drawing/2014/main" id="{2D7511C0-58F7-ADD2-B911-1867E89D174A}"/>
              </a:ext>
            </a:extLst>
          </p:cNvPr>
          <p:cNvSpPr txBox="1">
            <a:spLocks noChangeArrowheads="1"/>
          </p:cNvSpPr>
          <p:nvPr/>
        </p:nvSpPr>
        <p:spPr bwMode="auto">
          <a:xfrm>
            <a:off x="205917" y="3933056"/>
            <a:ext cx="6883968" cy="1007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lnSpc>
                <a:spcPct val="110000"/>
              </a:lnSpc>
            </a:pPr>
            <a:r>
              <a:rPr lang="zh-CN" altLang="en-US" sz="2800" i="0" dirty="0">
                <a:latin typeface="微软雅黑" panose="020B0503020204020204" pitchFamily="34" charset="-122"/>
                <a:ea typeface="微软雅黑" panose="020B0503020204020204" pitchFamily="34" charset="-122"/>
              </a:rPr>
              <a:t>为了度量杆的变形程度，用单位长度内杆的变形即</a:t>
            </a:r>
            <a:r>
              <a:rPr lang="zh-CN" altLang="en-US" sz="2800" i="0" dirty="0">
                <a:solidFill>
                  <a:srgbClr val="FF0000"/>
                </a:solidFill>
                <a:latin typeface="微软雅黑" panose="020B0503020204020204" pitchFamily="34" charset="-122"/>
                <a:ea typeface="微软雅黑" panose="020B0503020204020204" pitchFamily="34" charset="-122"/>
              </a:rPr>
              <a:t>线应变</a:t>
            </a:r>
            <a:r>
              <a:rPr lang="zh-CN" altLang="en-US" sz="2800" i="0" dirty="0">
                <a:latin typeface="微软雅黑" panose="020B0503020204020204" pitchFamily="34" charset="-122"/>
                <a:ea typeface="微软雅黑" panose="020B0503020204020204" pitchFamily="34" charset="-122"/>
              </a:rPr>
              <a:t>来衡量。</a:t>
            </a:r>
          </a:p>
        </p:txBody>
      </p:sp>
      <p:grpSp>
        <p:nvGrpSpPr>
          <p:cNvPr id="224" name="Group 16">
            <a:extLst>
              <a:ext uri="{FF2B5EF4-FFF2-40B4-BE49-F238E27FC236}">
                <a16:creationId xmlns:a16="http://schemas.microsoft.com/office/drawing/2014/main" id="{1199F3E4-2B20-C3F0-110A-C77E513DF023}"/>
              </a:ext>
            </a:extLst>
          </p:cNvPr>
          <p:cNvGrpSpPr>
            <a:grpSpLocks/>
          </p:cNvGrpSpPr>
          <p:nvPr/>
        </p:nvGrpSpPr>
        <p:grpSpPr bwMode="auto">
          <a:xfrm>
            <a:off x="7137011" y="2239332"/>
            <a:ext cx="5434012" cy="1889125"/>
            <a:chOff x="2609" y="1216"/>
            <a:chExt cx="3423" cy="1190"/>
          </a:xfrm>
        </p:grpSpPr>
        <p:sp>
          <p:nvSpPr>
            <p:cNvPr id="225" name="Rectangle 17">
              <a:extLst>
                <a:ext uri="{FF2B5EF4-FFF2-40B4-BE49-F238E27FC236}">
                  <a16:creationId xmlns:a16="http://schemas.microsoft.com/office/drawing/2014/main" id="{12AC1EFA-1C61-C32B-D6FD-8D440DE68900}"/>
                </a:ext>
              </a:extLst>
            </p:cNvPr>
            <p:cNvSpPr>
              <a:spLocks noChangeArrowheads="1"/>
            </p:cNvSpPr>
            <p:nvPr/>
          </p:nvSpPr>
          <p:spPr bwMode="auto">
            <a:xfrm>
              <a:off x="3416" y="1227"/>
              <a:ext cx="208"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Tx/>
                <a:buChar char="•"/>
              </a:pPr>
              <a:endParaRPr lang="zh-CN" altLang="en-US"/>
            </a:p>
          </p:txBody>
        </p:sp>
        <p:sp>
          <p:nvSpPr>
            <p:cNvPr id="226" name="Rectangle 18">
              <a:extLst>
                <a:ext uri="{FF2B5EF4-FFF2-40B4-BE49-F238E27FC236}">
                  <a16:creationId xmlns:a16="http://schemas.microsoft.com/office/drawing/2014/main" id="{FF5E7161-5CBF-C196-8116-41B37B319583}"/>
                </a:ext>
              </a:extLst>
            </p:cNvPr>
            <p:cNvSpPr>
              <a:spLocks noChangeArrowheads="1"/>
            </p:cNvSpPr>
            <p:nvPr/>
          </p:nvSpPr>
          <p:spPr bwMode="auto">
            <a:xfrm>
              <a:off x="3976" y="1239"/>
              <a:ext cx="208"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Tx/>
                <a:buChar char="•"/>
              </a:pPr>
              <a:endParaRPr lang="zh-CN" altLang="en-US"/>
            </a:p>
          </p:txBody>
        </p:sp>
        <p:sp>
          <p:nvSpPr>
            <p:cNvPr id="227" name="Rectangle 19">
              <a:extLst>
                <a:ext uri="{FF2B5EF4-FFF2-40B4-BE49-F238E27FC236}">
                  <a16:creationId xmlns:a16="http://schemas.microsoft.com/office/drawing/2014/main" id="{9EA4C0F0-926F-49F9-A43D-2CBF369C2F67}"/>
                </a:ext>
              </a:extLst>
            </p:cNvPr>
            <p:cNvSpPr>
              <a:spLocks noChangeArrowheads="1"/>
            </p:cNvSpPr>
            <p:nvPr/>
          </p:nvSpPr>
          <p:spPr bwMode="auto">
            <a:xfrm>
              <a:off x="3457" y="1503"/>
              <a:ext cx="138"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Tx/>
                <a:buChar char="•"/>
              </a:pPr>
              <a:endParaRPr lang="zh-CN" altLang="en-US"/>
            </a:p>
          </p:txBody>
        </p:sp>
        <p:sp>
          <p:nvSpPr>
            <p:cNvPr id="228" name="Line 20">
              <a:extLst>
                <a:ext uri="{FF2B5EF4-FFF2-40B4-BE49-F238E27FC236}">
                  <a16:creationId xmlns:a16="http://schemas.microsoft.com/office/drawing/2014/main" id="{A06CA2C4-ED06-BE01-C60C-BB63CA81A854}"/>
                </a:ext>
              </a:extLst>
            </p:cNvPr>
            <p:cNvSpPr>
              <a:spLocks noChangeShapeType="1"/>
            </p:cNvSpPr>
            <p:nvPr/>
          </p:nvSpPr>
          <p:spPr bwMode="auto">
            <a:xfrm>
              <a:off x="3168" y="1872"/>
              <a:ext cx="0" cy="28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9" name="Line 21">
              <a:extLst>
                <a:ext uri="{FF2B5EF4-FFF2-40B4-BE49-F238E27FC236}">
                  <a16:creationId xmlns:a16="http://schemas.microsoft.com/office/drawing/2014/main" id="{7C8CA11F-C518-4FB4-901B-899970ED4347}"/>
                </a:ext>
              </a:extLst>
            </p:cNvPr>
            <p:cNvSpPr>
              <a:spLocks noChangeShapeType="1"/>
            </p:cNvSpPr>
            <p:nvPr/>
          </p:nvSpPr>
          <p:spPr bwMode="auto">
            <a:xfrm>
              <a:off x="5120" y="1872"/>
              <a:ext cx="0" cy="28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0" name="Line 22">
              <a:extLst>
                <a:ext uri="{FF2B5EF4-FFF2-40B4-BE49-F238E27FC236}">
                  <a16:creationId xmlns:a16="http://schemas.microsoft.com/office/drawing/2014/main" id="{6E43B967-F253-60BF-9742-8FE955314068}"/>
                </a:ext>
              </a:extLst>
            </p:cNvPr>
            <p:cNvSpPr>
              <a:spLocks noChangeShapeType="1"/>
            </p:cNvSpPr>
            <p:nvPr/>
          </p:nvSpPr>
          <p:spPr bwMode="auto">
            <a:xfrm>
              <a:off x="3168" y="2064"/>
              <a:ext cx="1952" cy="0"/>
            </a:xfrm>
            <a:prstGeom prst="line">
              <a:avLst/>
            </a:prstGeom>
            <a:noFill/>
            <a:ln w="19050">
              <a:solidFill>
                <a:schemeClr val="tx1"/>
              </a:solidFill>
              <a:round/>
              <a:headEnd type="stealth" w="med" len="lg"/>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1" name="Text Box 23">
              <a:extLst>
                <a:ext uri="{FF2B5EF4-FFF2-40B4-BE49-F238E27FC236}">
                  <a16:creationId xmlns:a16="http://schemas.microsoft.com/office/drawing/2014/main" id="{BF8E7513-7F5C-5CE6-0D55-C4CAC1BFF25D}"/>
                </a:ext>
              </a:extLst>
            </p:cNvPr>
            <p:cNvSpPr txBox="1">
              <a:spLocks noChangeArrowheads="1"/>
            </p:cNvSpPr>
            <p:nvPr/>
          </p:nvSpPr>
          <p:spPr bwMode="auto">
            <a:xfrm>
              <a:off x="4110" y="1823"/>
              <a:ext cx="170"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000">
                  <a:solidFill>
                    <a:schemeClr val="tx1"/>
                  </a:solidFill>
                  <a:latin typeface="Times New Roman" pitchFamily="18" charset="0"/>
                  <a:ea typeface="宋体" pitchFamily="2" charset="-122"/>
                </a:defRPr>
              </a:lvl1pPr>
              <a:lvl2pPr>
                <a:defRPr sz="2000">
                  <a:solidFill>
                    <a:schemeClr val="tx1"/>
                  </a:solidFill>
                  <a:latin typeface="Times New Roman" pitchFamily="18" charset="0"/>
                  <a:ea typeface="宋体" pitchFamily="2" charset="-122"/>
                </a:defRPr>
              </a:lvl2pPr>
              <a:lvl3pPr>
                <a:defRPr sz="2000">
                  <a:solidFill>
                    <a:schemeClr val="tx1"/>
                  </a:solidFill>
                  <a:latin typeface="Times New Roman" pitchFamily="18" charset="0"/>
                  <a:ea typeface="宋体" pitchFamily="2" charset="-122"/>
                </a:defRPr>
              </a:lvl3pPr>
              <a:lvl4pPr>
                <a:defRPr sz="2000">
                  <a:solidFill>
                    <a:schemeClr val="tx1"/>
                  </a:solidFill>
                  <a:latin typeface="Times New Roman" pitchFamily="18" charset="0"/>
                  <a:ea typeface="宋体" pitchFamily="2" charset="-122"/>
                </a:defRPr>
              </a:lvl4pPr>
              <a:lvl5pPr>
                <a:defRPr sz="2000">
                  <a:solidFill>
                    <a:schemeClr val="tx1"/>
                  </a:solidFill>
                  <a:latin typeface="Times New Roman" pitchFamily="18" charset="0"/>
                  <a:ea typeface="宋体" pitchFamily="2" charset="-122"/>
                </a:defRPr>
              </a:lvl5pPr>
              <a:lvl6pPr eaLnBrk="0" hangingPunct="0">
                <a:defRPr sz="2000">
                  <a:solidFill>
                    <a:schemeClr val="tx1"/>
                  </a:solidFill>
                  <a:latin typeface="Times New Roman" pitchFamily="18" charset="0"/>
                  <a:ea typeface="宋体" pitchFamily="2" charset="-122"/>
                </a:defRPr>
              </a:lvl6pPr>
              <a:lvl7pPr eaLnBrk="0" hangingPunct="0">
                <a:defRPr sz="2000">
                  <a:solidFill>
                    <a:schemeClr val="tx1"/>
                  </a:solidFill>
                  <a:latin typeface="Times New Roman" pitchFamily="18" charset="0"/>
                  <a:ea typeface="宋体" pitchFamily="2" charset="-122"/>
                </a:defRPr>
              </a:lvl7pPr>
              <a:lvl8pPr eaLnBrk="0" hangingPunct="0">
                <a:defRPr sz="2000">
                  <a:solidFill>
                    <a:schemeClr val="tx1"/>
                  </a:solidFill>
                  <a:latin typeface="Times New Roman" pitchFamily="18" charset="0"/>
                  <a:ea typeface="宋体" pitchFamily="2" charset="-122"/>
                </a:defRPr>
              </a:lvl8pPr>
              <a:lvl9pPr eaLnBrk="0" hangingPunct="0">
                <a:defRPr sz="2000">
                  <a:solidFill>
                    <a:schemeClr val="tx1"/>
                  </a:solidFill>
                  <a:latin typeface="Times New Roman" pitchFamily="18" charset="0"/>
                  <a:ea typeface="宋体" pitchFamily="2" charset="-122"/>
                </a:defRPr>
              </a:lvl9pPr>
            </a:lstStyle>
            <a:p>
              <a:pPr algn="ctr" eaLnBrk="1" hangingPunct="1">
                <a:spcBef>
                  <a:spcPct val="50000"/>
                </a:spcBef>
              </a:pPr>
              <a:r>
                <a:rPr kumimoji="1" lang="en-US" altLang="zh-CN" sz="2400" b="0" i="1" dirty="0"/>
                <a:t>l</a:t>
              </a:r>
            </a:p>
          </p:txBody>
        </p:sp>
        <p:sp>
          <p:nvSpPr>
            <p:cNvPr id="232" name="Rectangle 24">
              <a:extLst>
                <a:ext uri="{FF2B5EF4-FFF2-40B4-BE49-F238E27FC236}">
                  <a16:creationId xmlns:a16="http://schemas.microsoft.com/office/drawing/2014/main" id="{B34A1DD8-D9FA-EFCC-E2C2-4EE99D1D791B}"/>
                </a:ext>
              </a:extLst>
            </p:cNvPr>
            <p:cNvSpPr>
              <a:spLocks noChangeArrowheads="1"/>
            </p:cNvSpPr>
            <p:nvPr/>
          </p:nvSpPr>
          <p:spPr bwMode="auto">
            <a:xfrm>
              <a:off x="3178" y="1220"/>
              <a:ext cx="1942" cy="590"/>
            </a:xfrm>
            <a:prstGeom prst="rect">
              <a:avLst/>
            </a:prstGeom>
            <a:noFill/>
            <a:ln w="285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pPr eaLnBrk="1" hangingPunct="1">
                <a:buFontTx/>
                <a:buChar char="•"/>
              </a:pPr>
              <a:endParaRPr lang="zh-CN" altLang="en-US"/>
            </a:p>
          </p:txBody>
        </p:sp>
        <p:sp>
          <p:nvSpPr>
            <p:cNvPr id="233" name="Rectangle 25">
              <a:extLst>
                <a:ext uri="{FF2B5EF4-FFF2-40B4-BE49-F238E27FC236}">
                  <a16:creationId xmlns:a16="http://schemas.microsoft.com/office/drawing/2014/main" id="{91BEFF25-7D5A-1C7D-887D-6C663E33E55E}"/>
                </a:ext>
              </a:extLst>
            </p:cNvPr>
            <p:cNvSpPr>
              <a:spLocks noChangeArrowheads="1"/>
            </p:cNvSpPr>
            <p:nvPr/>
          </p:nvSpPr>
          <p:spPr bwMode="auto">
            <a:xfrm>
              <a:off x="2694" y="1218"/>
              <a:ext cx="673"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Tx/>
                <a:buChar char="•"/>
              </a:pPr>
              <a:endParaRPr lang="zh-CN" altLang="en-US"/>
            </a:p>
          </p:txBody>
        </p:sp>
        <p:sp>
          <p:nvSpPr>
            <p:cNvPr id="234" name="Line 26">
              <a:extLst>
                <a:ext uri="{FF2B5EF4-FFF2-40B4-BE49-F238E27FC236}">
                  <a16:creationId xmlns:a16="http://schemas.microsoft.com/office/drawing/2014/main" id="{9F47D40C-BAB8-C5E6-8C74-00C262610BCA}"/>
                </a:ext>
              </a:extLst>
            </p:cNvPr>
            <p:cNvSpPr>
              <a:spLocks noChangeShapeType="1"/>
            </p:cNvSpPr>
            <p:nvPr/>
          </p:nvSpPr>
          <p:spPr bwMode="auto">
            <a:xfrm>
              <a:off x="2864" y="1504"/>
              <a:ext cx="2536" cy="0"/>
            </a:xfrm>
            <a:prstGeom prst="line">
              <a:avLst/>
            </a:prstGeom>
            <a:noFill/>
            <a:ln w="9525">
              <a:solidFill>
                <a:schemeClr val="tx1"/>
              </a:solidFill>
              <a:prstDash val="dashDot"/>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235" name="Rectangle 27">
              <a:extLst>
                <a:ext uri="{FF2B5EF4-FFF2-40B4-BE49-F238E27FC236}">
                  <a16:creationId xmlns:a16="http://schemas.microsoft.com/office/drawing/2014/main" id="{206290EA-7163-4DEB-0620-68A599245C1A}"/>
                </a:ext>
              </a:extLst>
            </p:cNvPr>
            <p:cNvSpPr>
              <a:spLocks noChangeArrowheads="1"/>
            </p:cNvSpPr>
            <p:nvPr/>
          </p:nvSpPr>
          <p:spPr bwMode="auto">
            <a:xfrm>
              <a:off x="2960" y="1296"/>
              <a:ext cx="2376" cy="424"/>
            </a:xfrm>
            <a:prstGeom prst="rect">
              <a:avLst/>
            </a:prstGeom>
            <a:noFill/>
            <a:ln w="28575"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pPr eaLnBrk="1" hangingPunct="1">
                <a:buFontTx/>
                <a:buChar char="•"/>
              </a:pPr>
              <a:endParaRPr lang="zh-CN" altLang="en-US"/>
            </a:p>
          </p:txBody>
        </p:sp>
        <p:sp>
          <p:nvSpPr>
            <p:cNvPr id="236" name="Line 28">
              <a:extLst>
                <a:ext uri="{FF2B5EF4-FFF2-40B4-BE49-F238E27FC236}">
                  <a16:creationId xmlns:a16="http://schemas.microsoft.com/office/drawing/2014/main" id="{C6C3FA39-E3A5-00CE-8805-307B3B33BC07}"/>
                </a:ext>
              </a:extLst>
            </p:cNvPr>
            <p:cNvSpPr>
              <a:spLocks noChangeShapeType="1"/>
            </p:cNvSpPr>
            <p:nvPr/>
          </p:nvSpPr>
          <p:spPr bwMode="auto">
            <a:xfrm>
              <a:off x="5360" y="1504"/>
              <a:ext cx="304" cy="0"/>
            </a:xfrm>
            <a:prstGeom prst="line">
              <a:avLst/>
            </a:prstGeom>
            <a:noFill/>
            <a:ln w="25400">
              <a:solidFill>
                <a:srgbClr val="FF0000"/>
              </a:solidFill>
              <a:round/>
              <a:headEnd/>
              <a:tailEnd type="triangle" w="lg" len="lg"/>
            </a:ln>
            <a:extLst>
              <a:ext uri="{909E8E84-426E-40DD-AFC4-6F175D3DCCD1}">
                <a14:hiddenFill xmlns:a14="http://schemas.microsoft.com/office/drawing/2010/main">
                  <a:noFill/>
                </a14:hiddenFill>
              </a:ext>
            </a:extLst>
          </p:spPr>
          <p:txBody>
            <a:bodyPr>
              <a:spAutoFit/>
            </a:bodyPr>
            <a:lstStyle/>
            <a:p>
              <a:endParaRPr lang="zh-CN" altLang="en-US"/>
            </a:p>
          </p:txBody>
        </p:sp>
        <p:sp>
          <p:nvSpPr>
            <p:cNvPr id="237" name="Line 29">
              <a:extLst>
                <a:ext uri="{FF2B5EF4-FFF2-40B4-BE49-F238E27FC236}">
                  <a16:creationId xmlns:a16="http://schemas.microsoft.com/office/drawing/2014/main" id="{FD759476-75F4-06D0-2E2D-958F52E62BAB}"/>
                </a:ext>
              </a:extLst>
            </p:cNvPr>
            <p:cNvSpPr>
              <a:spLocks noChangeShapeType="1"/>
            </p:cNvSpPr>
            <p:nvPr/>
          </p:nvSpPr>
          <p:spPr bwMode="auto">
            <a:xfrm flipH="1" flipV="1">
              <a:off x="2649" y="1505"/>
              <a:ext cx="304" cy="0"/>
            </a:xfrm>
            <a:prstGeom prst="line">
              <a:avLst/>
            </a:prstGeom>
            <a:noFill/>
            <a:ln w="25400">
              <a:solidFill>
                <a:srgbClr val="FF0000"/>
              </a:solidFill>
              <a:round/>
              <a:headEnd/>
              <a:tailEnd type="triangle" w="lg" len="lg"/>
            </a:ln>
            <a:extLst>
              <a:ext uri="{909E8E84-426E-40DD-AFC4-6F175D3DCCD1}">
                <a14:hiddenFill xmlns:a14="http://schemas.microsoft.com/office/drawing/2010/main">
                  <a:noFill/>
                </a14:hiddenFill>
              </a:ext>
            </a:extLst>
          </p:spPr>
          <p:txBody>
            <a:bodyPr>
              <a:spAutoFit/>
            </a:bodyPr>
            <a:lstStyle/>
            <a:p>
              <a:endParaRPr lang="zh-CN" altLang="en-US" dirty="0"/>
            </a:p>
          </p:txBody>
        </p:sp>
        <p:sp>
          <p:nvSpPr>
            <p:cNvPr id="238" name="Text Box 30">
              <a:extLst>
                <a:ext uri="{FF2B5EF4-FFF2-40B4-BE49-F238E27FC236}">
                  <a16:creationId xmlns:a16="http://schemas.microsoft.com/office/drawing/2014/main" id="{88D21641-C564-7980-A162-F05198D10B76}"/>
                </a:ext>
              </a:extLst>
            </p:cNvPr>
            <p:cNvSpPr txBox="1">
              <a:spLocks noChangeArrowheads="1"/>
            </p:cNvSpPr>
            <p:nvPr/>
          </p:nvSpPr>
          <p:spPr bwMode="auto">
            <a:xfrm>
              <a:off x="5488" y="1472"/>
              <a:ext cx="54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sz="2000">
                  <a:solidFill>
                    <a:schemeClr val="tx1"/>
                  </a:solidFill>
                  <a:latin typeface="Times New Roman" pitchFamily="18" charset="0"/>
                  <a:ea typeface="宋体" pitchFamily="2" charset="-122"/>
                </a:defRPr>
              </a:lvl1pPr>
              <a:lvl2pPr>
                <a:defRPr sz="2000">
                  <a:solidFill>
                    <a:schemeClr val="tx1"/>
                  </a:solidFill>
                  <a:latin typeface="Times New Roman" pitchFamily="18" charset="0"/>
                  <a:ea typeface="宋体" pitchFamily="2" charset="-122"/>
                </a:defRPr>
              </a:lvl2pPr>
              <a:lvl3pPr>
                <a:defRPr sz="2000">
                  <a:solidFill>
                    <a:schemeClr val="tx1"/>
                  </a:solidFill>
                  <a:latin typeface="Times New Roman" pitchFamily="18" charset="0"/>
                  <a:ea typeface="宋体" pitchFamily="2" charset="-122"/>
                </a:defRPr>
              </a:lvl3pPr>
              <a:lvl4pPr>
                <a:defRPr sz="2000">
                  <a:solidFill>
                    <a:schemeClr val="tx1"/>
                  </a:solidFill>
                  <a:latin typeface="Times New Roman" pitchFamily="18" charset="0"/>
                  <a:ea typeface="宋体" pitchFamily="2" charset="-122"/>
                </a:defRPr>
              </a:lvl4pPr>
              <a:lvl5pPr>
                <a:defRPr sz="2000">
                  <a:solidFill>
                    <a:schemeClr val="tx1"/>
                  </a:solidFill>
                  <a:latin typeface="Times New Roman" pitchFamily="18" charset="0"/>
                  <a:ea typeface="宋体" pitchFamily="2" charset="-122"/>
                </a:defRPr>
              </a:lvl5pPr>
              <a:lvl6pPr eaLnBrk="0" hangingPunct="0">
                <a:defRPr sz="2000">
                  <a:solidFill>
                    <a:schemeClr val="tx1"/>
                  </a:solidFill>
                  <a:latin typeface="Times New Roman" pitchFamily="18" charset="0"/>
                  <a:ea typeface="宋体" pitchFamily="2" charset="-122"/>
                </a:defRPr>
              </a:lvl6pPr>
              <a:lvl7pPr eaLnBrk="0" hangingPunct="0">
                <a:defRPr sz="2000">
                  <a:solidFill>
                    <a:schemeClr val="tx1"/>
                  </a:solidFill>
                  <a:latin typeface="Times New Roman" pitchFamily="18" charset="0"/>
                  <a:ea typeface="宋体" pitchFamily="2" charset="-122"/>
                </a:defRPr>
              </a:lvl7pPr>
              <a:lvl8pPr eaLnBrk="0" hangingPunct="0">
                <a:defRPr sz="2000">
                  <a:solidFill>
                    <a:schemeClr val="tx1"/>
                  </a:solidFill>
                  <a:latin typeface="Times New Roman" pitchFamily="18" charset="0"/>
                  <a:ea typeface="宋体" pitchFamily="2" charset="-122"/>
                </a:defRPr>
              </a:lvl8pPr>
              <a:lvl9pPr eaLnBrk="0" hangingPunct="0">
                <a:defRPr sz="2000">
                  <a:solidFill>
                    <a:schemeClr val="tx1"/>
                  </a:solidFill>
                  <a:latin typeface="Times New Roman" pitchFamily="18" charset="0"/>
                  <a:ea typeface="宋体" pitchFamily="2" charset="-122"/>
                </a:defRPr>
              </a:lvl9pPr>
            </a:lstStyle>
            <a:p>
              <a:pPr eaLnBrk="1" hangingPunct="1">
                <a:spcBef>
                  <a:spcPct val="50000"/>
                </a:spcBef>
              </a:pPr>
              <a:r>
                <a:rPr lang="en-US" altLang="zh-CN" sz="2800" b="0" i="1" dirty="0">
                  <a:solidFill>
                    <a:srgbClr val="FF0000"/>
                  </a:solidFill>
                </a:rPr>
                <a:t>F</a:t>
              </a:r>
            </a:p>
          </p:txBody>
        </p:sp>
        <p:sp>
          <p:nvSpPr>
            <p:cNvPr id="239" name="Text Box 31">
              <a:extLst>
                <a:ext uri="{FF2B5EF4-FFF2-40B4-BE49-F238E27FC236}">
                  <a16:creationId xmlns:a16="http://schemas.microsoft.com/office/drawing/2014/main" id="{9271FB08-E6A6-99FF-1B98-BF04DA465B9A}"/>
                </a:ext>
              </a:extLst>
            </p:cNvPr>
            <p:cNvSpPr txBox="1">
              <a:spLocks noChangeArrowheads="1"/>
            </p:cNvSpPr>
            <p:nvPr/>
          </p:nvSpPr>
          <p:spPr bwMode="auto">
            <a:xfrm>
              <a:off x="2609" y="1479"/>
              <a:ext cx="54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sz="2000">
                  <a:solidFill>
                    <a:schemeClr val="tx1"/>
                  </a:solidFill>
                  <a:latin typeface="Times New Roman" pitchFamily="18" charset="0"/>
                  <a:ea typeface="宋体" pitchFamily="2" charset="-122"/>
                </a:defRPr>
              </a:lvl1pPr>
              <a:lvl2pPr>
                <a:defRPr sz="2000">
                  <a:solidFill>
                    <a:schemeClr val="tx1"/>
                  </a:solidFill>
                  <a:latin typeface="Times New Roman" pitchFamily="18" charset="0"/>
                  <a:ea typeface="宋体" pitchFamily="2" charset="-122"/>
                </a:defRPr>
              </a:lvl2pPr>
              <a:lvl3pPr>
                <a:defRPr sz="2000">
                  <a:solidFill>
                    <a:schemeClr val="tx1"/>
                  </a:solidFill>
                  <a:latin typeface="Times New Roman" pitchFamily="18" charset="0"/>
                  <a:ea typeface="宋体" pitchFamily="2" charset="-122"/>
                </a:defRPr>
              </a:lvl3pPr>
              <a:lvl4pPr>
                <a:defRPr sz="2000">
                  <a:solidFill>
                    <a:schemeClr val="tx1"/>
                  </a:solidFill>
                  <a:latin typeface="Times New Roman" pitchFamily="18" charset="0"/>
                  <a:ea typeface="宋体" pitchFamily="2" charset="-122"/>
                </a:defRPr>
              </a:lvl4pPr>
              <a:lvl5pPr>
                <a:defRPr sz="2000">
                  <a:solidFill>
                    <a:schemeClr val="tx1"/>
                  </a:solidFill>
                  <a:latin typeface="Times New Roman" pitchFamily="18" charset="0"/>
                  <a:ea typeface="宋体" pitchFamily="2" charset="-122"/>
                </a:defRPr>
              </a:lvl5pPr>
              <a:lvl6pPr eaLnBrk="0" hangingPunct="0">
                <a:defRPr sz="2000">
                  <a:solidFill>
                    <a:schemeClr val="tx1"/>
                  </a:solidFill>
                  <a:latin typeface="Times New Roman" pitchFamily="18" charset="0"/>
                  <a:ea typeface="宋体" pitchFamily="2" charset="-122"/>
                </a:defRPr>
              </a:lvl6pPr>
              <a:lvl7pPr eaLnBrk="0" hangingPunct="0">
                <a:defRPr sz="2000">
                  <a:solidFill>
                    <a:schemeClr val="tx1"/>
                  </a:solidFill>
                  <a:latin typeface="Times New Roman" pitchFamily="18" charset="0"/>
                  <a:ea typeface="宋体" pitchFamily="2" charset="-122"/>
                </a:defRPr>
              </a:lvl7pPr>
              <a:lvl8pPr eaLnBrk="0" hangingPunct="0">
                <a:defRPr sz="2000">
                  <a:solidFill>
                    <a:schemeClr val="tx1"/>
                  </a:solidFill>
                  <a:latin typeface="Times New Roman" pitchFamily="18" charset="0"/>
                  <a:ea typeface="宋体" pitchFamily="2" charset="-122"/>
                </a:defRPr>
              </a:lvl8pPr>
              <a:lvl9pPr eaLnBrk="0" hangingPunct="0">
                <a:defRPr sz="2000">
                  <a:solidFill>
                    <a:schemeClr val="tx1"/>
                  </a:solidFill>
                  <a:latin typeface="Times New Roman" pitchFamily="18" charset="0"/>
                  <a:ea typeface="宋体" pitchFamily="2" charset="-122"/>
                </a:defRPr>
              </a:lvl9pPr>
            </a:lstStyle>
            <a:p>
              <a:pPr eaLnBrk="1" hangingPunct="1">
                <a:spcBef>
                  <a:spcPct val="50000"/>
                </a:spcBef>
              </a:pPr>
              <a:r>
                <a:rPr lang="en-US" altLang="zh-CN" sz="2800" b="0" i="1" dirty="0">
                  <a:solidFill>
                    <a:srgbClr val="FF0000"/>
                  </a:solidFill>
                </a:rPr>
                <a:t>F</a:t>
              </a:r>
            </a:p>
          </p:txBody>
        </p:sp>
        <p:sp>
          <p:nvSpPr>
            <p:cNvPr id="240" name="Line 32">
              <a:extLst>
                <a:ext uri="{FF2B5EF4-FFF2-40B4-BE49-F238E27FC236}">
                  <a16:creationId xmlns:a16="http://schemas.microsoft.com/office/drawing/2014/main" id="{92CFFDB6-67F5-A152-CC21-A4336977CC76}"/>
                </a:ext>
              </a:extLst>
            </p:cNvPr>
            <p:cNvSpPr>
              <a:spLocks noChangeShapeType="1"/>
            </p:cNvSpPr>
            <p:nvPr/>
          </p:nvSpPr>
          <p:spPr bwMode="auto">
            <a:xfrm>
              <a:off x="2953" y="1889"/>
              <a:ext cx="0" cy="517"/>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1" name="Line 33">
              <a:extLst>
                <a:ext uri="{FF2B5EF4-FFF2-40B4-BE49-F238E27FC236}">
                  <a16:creationId xmlns:a16="http://schemas.microsoft.com/office/drawing/2014/main" id="{E59A8BB5-AE39-EE9A-7E94-26917A9D9838}"/>
                </a:ext>
              </a:extLst>
            </p:cNvPr>
            <p:cNvSpPr>
              <a:spLocks noChangeShapeType="1"/>
            </p:cNvSpPr>
            <p:nvPr/>
          </p:nvSpPr>
          <p:spPr bwMode="auto">
            <a:xfrm>
              <a:off x="5345" y="1889"/>
              <a:ext cx="0" cy="517"/>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2" name="Line 34">
              <a:extLst>
                <a:ext uri="{FF2B5EF4-FFF2-40B4-BE49-F238E27FC236}">
                  <a16:creationId xmlns:a16="http://schemas.microsoft.com/office/drawing/2014/main" id="{0A45CE0E-C7DB-975A-9BFE-EABD4A408A1D}"/>
                </a:ext>
              </a:extLst>
            </p:cNvPr>
            <p:cNvSpPr>
              <a:spLocks noChangeShapeType="1"/>
            </p:cNvSpPr>
            <p:nvPr/>
          </p:nvSpPr>
          <p:spPr bwMode="auto">
            <a:xfrm>
              <a:off x="2953" y="2305"/>
              <a:ext cx="2392" cy="0"/>
            </a:xfrm>
            <a:prstGeom prst="line">
              <a:avLst/>
            </a:prstGeom>
            <a:noFill/>
            <a:ln w="19050">
              <a:solidFill>
                <a:srgbClr val="FF0000"/>
              </a:solidFill>
              <a:round/>
              <a:headEnd type="stealth" w="med" len="lg"/>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3" name="Text Box 35">
              <a:extLst>
                <a:ext uri="{FF2B5EF4-FFF2-40B4-BE49-F238E27FC236}">
                  <a16:creationId xmlns:a16="http://schemas.microsoft.com/office/drawing/2014/main" id="{D99DEE58-C0CF-3DAD-B5B3-3CEBBA304157}"/>
                </a:ext>
              </a:extLst>
            </p:cNvPr>
            <p:cNvSpPr txBox="1">
              <a:spLocks noChangeArrowheads="1"/>
            </p:cNvSpPr>
            <p:nvPr/>
          </p:nvSpPr>
          <p:spPr bwMode="auto">
            <a:xfrm>
              <a:off x="4093" y="2020"/>
              <a:ext cx="23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000">
                  <a:solidFill>
                    <a:schemeClr val="tx1"/>
                  </a:solidFill>
                  <a:latin typeface="Times New Roman" pitchFamily="18" charset="0"/>
                  <a:ea typeface="宋体" pitchFamily="2" charset="-122"/>
                </a:defRPr>
              </a:lvl1pPr>
              <a:lvl2pPr>
                <a:defRPr sz="2000">
                  <a:solidFill>
                    <a:schemeClr val="tx1"/>
                  </a:solidFill>
                  <a:latin typeface="Times New Roman" pitchFamily="18" charset="0"/>
                  <a:ea typeface="宋体" pitchFamily="2" charset="-122"/>
                </a:defRPr>
              </a:lvl2pPr>
              <a:lvl3pPr>
                <a:defRPr sz="2000">
                  <a:solidFill>
                    <a:schemeClr val="tx1"/>
                  </a:solidFill>
                  <a:latin typeface="Times New Roman" pitchFamily="18" charset="0"/>
                  <a:ea typeface="宋体" pitchFamily="2" charset="-122"/>
                </a:defRPr>
              </a:lvl3pPr>
              <a:lvl4pPr>
                <a:defRPr sz="2000">
                  <a:solidFill>
                    <a:schemeClr val="tx1"/>
                  </a:solidFill>
                  <a:latin typeface="Times New Roman" pitchFamily="18" charset="0"/>
                  <a:ea typeface="宋体" pitchFamily="2" charset="-122"/>
                </a:defRPr>
              </a:lvl4pPr>
              <a:lvl5pPr>
                <a:defRPr sz="2000">
                  <a:solidFill>
                    <a:schemeClr val="tx1"/>
                  </a:solidFill>
                  <a:latin typeface="Times New Roman" pitchFamily="18" charset="0"/>
                  <a:ea typeface="宋体" pitchFamily="2" charset="-122"/>
                </a:defRPr>
              </a:lvl5pPr>
              <a:lvl6pPr eaLnBrk="0" hangingPunct="0">
                <a:defRPr sz="2000">
                  <a:solidFill>
                    <a:schemeClr val="tx1"/>
                  </a:solidFill>
                  <a:latin typeface="Times New Roman" pitchFamily="18" charset="0"/>
                  <a:ea typeface="宋体" pitchFamily="2" charset="-122"/>
                </a:defRPr>
              </a:lvl6pPr>
              <a:lvl7pPr eaLnBrk="0" hangingPunct="0">
                <a:defRPr sz="2000">
                  <a:solidFill>
                    <a:schemeClr val="tx1"/>
                  </a:solidFill>
                  <a:latin typeface="Times New Roman" pitchFamily="18" charset="0"/>
                  <a:ea typeface="宋体" pitchFamily="2" charset="-122"/>
                </a:defRPr>
              </a:lvl7pPr>
              <a:lvl8pPr eaLnBrk="0" hangingPunct="0">
                <a:defRPr sz="2000">
                  <a:solidFill>
                    <a:schemeClr val="tx1"/>
                  </a:solidFill>
                  <a:latin typeface="Times New Roman" pitchFamily="18" charset="0"/>
                  <a:ea typeface="宋体" pitchFamily="2" charset="-122"/>
                </a:defRPr>
              </a:lvl8pPr>
              <a:lvl9pPr eaLnBrk="0" hangingPunct="0">
                <a:defRPr sz="2000">
                  <a:solidFill>
                    <a:schemeClr val="tx1"/>
                  </a:solidFill>
                  <a:latin typeface="Times New Roman" pitchFamily="18" charset="0"/>
                  <a:ea typeface="宋体" pitchFamily="2" charset="-122"/>
                </a:defRPr>
              </a:lvl9pPr>
            </a:lstStyle>
            <a:p>
              <a:pPr algn="ctr" eaLnBrk="1" hangingPunct="1">
                <a:spcBef>
                  <a:spcPct val="50000"/>
                </a:spcBef>
              </a:pPr>
              <a:r>
                <a:rPr kumimoji="1" lang="en-US" altLang="zh-CN" sz="2400" b="0" i="1" dirty="0">
                  <a:solidFill>
                    <a:srgbClr val="FF0000"/>
                  </a:solidFill>
                </a:rPr>
                <a:t>l</a:t>
              </a:r>
              <a:r>
                <a:rPr kumimoji="1" lang="en-US" altLang="zh-CN" sz="2400" b="0" i="0" baseline="-25000" dirty="0">
                  <a:solidFill>
                    <a:srgbClr val="FF0000"/>
                  </a:solidFill>
                </a:rPr>
                <a:t>1</a:t>
              </a:r>
            </a:p>
          </p:txBody>
        </p:sp>
        <p:sp>
          <p:nvSpPr>
            <p:cNvPr id="244" name="Line 36">
              <a:extLst>
                <a:ext uri="{FF2B5EF4-FFF2-40B4-BE49-F238E27FC236}">
                  <a16:creationId xmlns:a16="http://schemas.microsoft.com/office/drawing/2014/main" id="{4AAD66E5-FE02-E327-456A-B3D60B0655AE}"/>
                </a:ext>
              </a:extLst>
            </p:cNvPr>
            <p:cNvSpPr>
              <a:spLocks noChangeShapeType="1"/>
            </p:cNvSpPr>
            <p:nvPr/>
          </p:nvSpPr>
          <p:spPr bwMode="auto">
            <a:xfrm>
              <a:off x="3752" y="1216"/>
              <a:ext cx="0" cy="592"/>
            </a:xfrm>
            <a:prstGeom prst="line">
              <a:avLst/>
            </a:prstGeom>
            <a:noFill/>
            <a:ln w="9525">
              <a:solidFill>
                <a:schemeClr val="tx1"/>
              </a:solidFill>
              <a:round/>
              <a:headEnd type="triangle" w="med" len="lg"/>
              <a:tailEnd type="triangle" w="med" len="lg"/>
            </a:ln>
            <a:extLst>
              <a:ext uri="{909E8E84-426E-40DD-AFC4-6F175D3DCCD1}">
                <a14:hiddenFill xmlns:a14="http://schemas.microsoft.com/office/drawing/2010/main">
                  <a:noFill/>
                </a14:hiddenFill>
              </a:ext>
            </a:extLst>
          </p:spPr>
          <p:txBody>
            <a:bodyPr>
              <a:spAutoFit/>
            </a:bodyPr>
            <a:lstStyle/>
            <a:p>
              <a:endParaRPr lang="zh-CN" altLang="en-US"/>
            </a:p>
          </p:txBody>
        </p:sp>
        <p:sp>
          <p:nvSpPr>
            <p:cNvPr id="245" name="Line 37">
              <a:extLst>
                <a:ext uri="{FF2B5EF4-FFF2-40B4-BE49-F238E27FC236}">
                  <a16:creationId xmlns:a16="http://schemas.microsoft.com/office/drawing/2014/main" id="{95EF31EF-3529-F88D-D94A-379D858BA8E4}"/>
                </a:ext>
              </a:extLst>
            </p:cNvPr>
            <p:cNvSpPr>
              <a:spLocks noChangeShapeType="1"/>
            </p:cNvSpPr>
            <p:nvPr/>
          </p:nvSpPr>
          <p:spPr bwMode="auto">
            <a:xfrm>
              <a:off x="4497" y="1313"/>
              <a:ext cx="0" cy="416"/>
            </a:xfrm>
            <a:prstGeom prst="line">
              <a:avLst/>
            </a:prstGeom>
            <a:noFill/>
            <a:ln w="9525">
              <a:solidFill>
                <a:srgbClr val="FF0000"/>
              </a:solidFill>
              <a:round/>
              <a:headEnd type="triangle" w="med" len="lg"/>
              <a:tailEnd type="triangle" w="med" len="lg"/>
            </a:ln>
            <a:extLst>
              <a:ext uri="{909E8E84-426E-40DD-AFC4-6F175D3DCCD1}">
                <a14:hiddenFill xmlns:a14="http://schemas.microsoft.com/office/drawing/2010/main">
                  <a:noFill/>
                </a14:hiddenFill>
              </a:ext>
            </a:extLst>
          </p:spPr>
          <p:txBody>
            <a:bodyPr>
              <a:spAutoFit/>
            </a:bodyPr>
            <a:lstStyle/>
            <a:p>
              <a:endParaRPr lang="zh-CN" altLang="en-US"/>
            </a:p>
          </p:txBody>
        </p:sp>
        <p:sp>
          <p:nvSpPr>
            <p:cNvPr id="246" name="Text Box 38">
              <a:extLst>
                <a:ext uri="{FF2B5EF4-FFF2-40B4-BE49-F238E27FC236}">
                  <a16:creationId xmlns:a16="http://schemas.microsoft.com/office/drawing/2014/main" id="{8D6F733C-BAEC-75DD-1C9E-B73F6AF90395}"/>
                </a:ext>
              </a:extLst>
            </p:cNvPr>
            <p:cNvSpPr txBox="1">
              <a:spLocks noChangeArrowheads="1"/>
            </p:cNvSpPr>
            <p:nvPr/>
          </p:nvSpPr>
          <p:spPr bwMode="auto">
            <a:xfrm>
              <a:off x="3552" y="1336"/>
              <a:ext cx="50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sz="2000">
                  <a:solidFill>
                    <a:schemeClr val="tx1"/>
                  </a:solidFill>
                  <a:latin typeface="Times New Roman" pitchFamily="18" charset="0"/>
                  <a:ea typeface="宋体" pitchFamily="2" charset="-122"/>
                </a:defRPr>
              </a:lvl1pPr>
              <a:lvl2pPr>
                <a:defRPr sz="2000">
                  <a:solidFill>
                    <a:schemeClr val="tx1"/>
                  </a:solidFill>
                  <a:latin typeface="Times New Roman" pitchFamily="18" charset="0"/>
                  <a:ea typeface="宋体" pitchFamily="2" charset="-122"/>
                </a:defRPr>
              </a:lvl2pPr>
              <a:lvl3pPr>
                <a:defRPr sz="2000">
                  <a:solidFill>
                    <a:schemeClr val="tx1"/>
                  </a:solidFill>
                  <a:latin typeface="Times New Roman" pitchFamily="18" charset="0"/>
                  <a:ea typeface="宋体" pitchFamily="2" charset="-122"/>
                </a:defRPr>
              </a:lvl3pPr>
              <a:lvl4pPr>
                <a:defRPr sz="2000">
                  <a:solidFill>
                    <a:schemeClr val="tx1"/>
                  </a:solidFill>
                  <a:latin typeface="Times New Roman" pitchFamily="18" charset="0"/>
                  <a:ea typeface="宋体" pitchFamily="2" charset="-122"/>
                </a:defRPr>
              </a:lvl4pPr>
              <a:lvl5pPr>
                <a:defRPr sz="2000">
                  <a:solidFill>
                    <a:schemeClr val="tx1"/>
                  </a:solidFill>
                  <a:latin typeface="Times New Roman" pitchFamily="18" charset="0"/>
                  <a:ea typeface="宋体" pitchFamily="2" charset="-122"/>
                </a:defRPr>
              </a:lvl5pPr>
              <a:lvl6pPr eaLnBrk="0" hangingPunct="0">
                <a:defRPr sz="2000">
                  <a:solidFill>
                    <a:schemeClr val="tx1"/>
                  </a:solidFill>
                  <a:latin typeface="Times New Roman" pitchFamily="18" charset="0"/>
                  <a:ea typeface="宋体" pitchFamily="2" charset="-122"/>
                </a:defRPr>
              </a:lvl6pPr>
              <a:lvl7pPr eaLnBrk="0" hangingPunct="0">
                <a:defRPr sz="2000">
                  <a:solidFill>
                    <a:schemeClr val="tx1"/>
                  </a:solidFill>
                  <a:latin typeface="Times New Roman" pitchFamily="18" charset="0"/>
                  <a:ea typeface="宋体" pitchFamily="2" charset="-122"/>
                </a:defRPr>
              </a:lvl7pPr>
              <a:lvl8pPr eaLnBrk="0" hangingPunct="0">
                <a:defRPr sz="2000">
                  <a:solidFill>
                    <a:schemeClr val="tx1"/>
                  </a:solidFill>
                  <a:latin typeface="Times New Roman" pitchFamily="18" charset="0"/>
                  <a:ea typeface="宋体" pitchFamily="2" charset="-122"/>
                </a:defRPr>
              </a:lvl8pPr>
              <a:lvl9pPr eaLnBrk="0" hangingPunct="0">
                <a:defRPr sz="2000">
                  <a:solidFill>
                    <a:schemeClr val="tx1"/>
                  </a:solidFill>
                  <a:latin typeface="Times New Roman" pitchFamily="18" charset="0"/>
                  <a:ea typeface="宋体" pitchFamily="2" charset="-122"/>
                </a:defRPr>
              </a:lvl9pPr>
            </a:lstStyle>
            <a:p>
              <a:pPr eaLnBrk="1" hangingPunct="1">
                <a:spcBef>
                  <a:spcPct val="50000"/>
                </a:spcBef>
              </a:pPr>
              <a:r>
                <a:rPr lang="en-US" altLang="zh-CN" sz="2800" b="0" i="1" dirty="0"/>
                <a:t>d</a:t>
              </a:r>
            </a:p>
          </p:txBody>
        </p:sp>
        <p:sp>
          <p:nvSpPr>
            <p:cNvPr id="247" name="Text Box 39">
              <a:extLst>
                <a:ext uri="{FF2B5EF4-FFF2-40B4-BE49-F238E27FC236}">
                  <a16:creationId xmlns:a16="http://schemas.microsoft.com/office/drawing/2014/main" id="{47F87937-2268-C2CD-F7EB-357ABCC2F0FD}"/>
                </a:ext>
              </a:extLst>
            </p:cNvPr>
            <p:cNvSpPr txBox="1">
              <a:spLocks noChangeArrowheads="1"/>
            </p:cNvSpPr>
            <p:nvPr/>
          </p:nvSpPr>
          <p:spPr bwMode="auto">
            <a:xfrm>
              <a:off x="4255" y="1316"/>
              <a:ext cx="50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sz="2000">
                  <a:solidFill>
                    <a:schemeClr val="tx1"/>
                  </a:solidFill>
                  <a:latin typeface="Times New Roman" pitchFamily="18" charset="0"/>
                  <a:ea typeface="宋体" pitchFamily="2" charset="-122"/>
                </a:defRPr>
              </a:lvl1pPr>
              <a:lvl2pPr>
                <a:defRPr sz="2000">
                  <a:solidFill>
                    <a:schemeClr val="tx1"/>
                  </a:solidFill>
                  <a:latin typeface="Times New Roman" pitchFamily="18" charset="0"/>
                  <a:ea typeface="宋体" pitchFamily="2" charset="-122"/>
                </a:defRPr>
              </a:lvl2pPr>
              <a:lvl3pPr>
                <a:defRPr sz="2000">
                  <a:solidFill>
                    <a:schemeClr val="tx1"/>
                  </a:solidFill>
                  <a:latin typeface="Times New Roman" pitchFamily="18" charset="0"/>
                  <a:ea typeface="宋体" pitchFamily="2" charset="-122"/>
                </a:defRPr>
              </a:lvl3pPr>
              <a:lvl4pPr>
                <a:defRPr sz="2000">
                  <a:solidFill>
                    <a:schemeClr val="tx1"/>
                  </a:solidFill>
                  <a:latin typeface="Times New Roman" pitchFamily="18" charset="0"/>
                  <a:ea typeface="宋体" pitchFamily="2" charset="-122"/>
                </a:defRPr>
              </a:lvl4pPr>
              <a:lvl5pPr>
                <a:defRPr sz="2000">
                  <a:solidFill>
                    <a:schemeClr val="tx1"/>
                  </a:solidFill>
                  <a:latin typeface="Times New Roman" pitchFamily="18" charset="0"/>
                  <a:ea typeface="宋体" pitchFamily="2" charset="-122"/>
                </a:defRPr>
              </a:lvl5pPr>
              <a:lvl6pPr eaLnBrk="0" hangingPunct="0">
                <a:defRPr sz="2000">
                  <a:solidFill>
                    <a:schemeClr val="tx1"/>
                  </a:solidFill>
                  <a:latin typeface="Times New Roman" pitchFamily="18" charset="0"/>
                  <a:ea typeface="宋体" pitchFamily="2" charset="-122"/>
                </a:defRPr>
              </a:lvl6pPr>
              <a:lvl7pPr eaLnBrk="0" hangingPunct="0">
                <a:defRPr sz="2000">
                  <a:solidFill>
                    <a:schemeClr val="tx1"/>
                  </a:solidFill>
                  <a:latin typeface="Times New Roman" pitchFamily="18" charset="0"/>
                  <a:ea typeface="宋体" pitchFamily="2" charset="-122"/>
                </a:defRPr>
              </a:lvl7pPr>
              <a:lvl8pPr eaLnBrk="0" hangingPunct="0">
                <a:defRPr sz="2000">
                  <a:solidFill>
                    <a:schemeClr val="tx1"/>
                  </a:solidFill>
                  <a:latin typeface="Times New Roman" pitchFamily="18" charset="0"/>
                  <a:ea typeface="宋体" pitchFamily="2" charset="-122"/>
                </a:defRPr>
              </a:lvl8pPr>
              <a:lvl9pPr eaLnBrk="0" hangingPunct="0">
                <a:defRPr sz="2000">
                  <a:solidFill>
                    <a:schemeClr val="tx1"/>
                  </a:solidFill>
                  <a:latin typeface="Times New Roman" pitchFamily="18" charset="0"/>
                  <a:ea typeface="宋体" pitchFamily="2" charset="-122"/>
                </a:defRPr>
              </a:lvl9pPr>
            </a:lstStyle>
            <a:p>
              <a:pPr eaLnBrk="1" hangingPunct="1">
                <a:spcBef>
                  <a:spcPct val="50000"/>
                </a:spcBef>
              </a:pPr>
              <a:r>
                <a:rPr lang="en-US" altLang="zh-CN" sz="2800" b="0" i="1" dirty="0">
                  <a:solidFill>
                    <a:srgbClr val="FF0000"/>
                  </a:solidFill>
                </a:rPr>
                <a:t>d</a:t>
              </a:r>
              <a:r>
                <a:rPr lang="en-US" altLang="zh-CN" sz="2800" b="0" i="0" baseline="-25000" dirty="0">
                  <a:solidFill>
                    <a:srgbClr val="FF0000"/>
                  </a:solidFill>
                </a:rPr>
                <a:t>1</a:t>
              </a:r>
            </a:p>
          </p:txBody>
        </p:sp>
      </p:grpSp>
      <p:graphicFrame>
        <p:nvGraphicFramePr>
          <p:cNvPr id="248" name="Object 10">
            <a:extLst>
              <a:ext uri="{FF2B5EF4-FFF2-40B4-BE49-F238E27FC236}">
                <a16:creationId xmlns:a16="http://schemas.microsoft.com/office/drawing/2014/main" id="{447DC4E9-90CE-D9DA-FB25-8A90DE040348}"/>
              </a:ext>
            </a:extLst>
          </p:cNvPr>
          <p:cNvGraphicFramePr>
            <a:graphicFrameLocks noChangeAspect="1"/>
          </p:cNvGraphicFramePr>
          <p:nvPr>
            <p:extLst>
              <p:ext uri="{D42A27DB-BD31-4B8C-83A1-F6EECF244321}">
                <p14:modId xmlns:p14="http://schemas.microsoft.com/office/powerpoint/2010/main" val="3503851241"/>
              </p:ext>
            </p:extLst>
          </p:nvPr>
        </p:nvGraphicFramePr>
        <p:xfrm>
          <a:off x="1989343" y="3479390"/>
          <a:ext cx="1217613" cy="457200"/>
        </p:xfrm>
        <a:graphic>
          <a:graphicData uri="http://schemas.openxmlformats.org/presentationml/2006/ole">
            <mc:AlternateContent xmlns:mc="http://schemas.openxmlformats.org/markup-compatibility/2006">
              <mc:Choice xmlns:v="urn:schemas-microsoft-com:vml" Requires="v">
                <p:oleObj name="Equation" r:id="rId3" imgW="609480" imgH="228600" progId="Equation.DSMT4">
                  <p:embed/>
                </p:oleObj>
              </mc:Choice>
              <mc:Fallback>
                <p:oleObj name="Equation" r:id="rId3" imgW="609480" imgH="228600" progId="Equation.DSMT4">
                  <p:embed/>
                  <p:pic>
                    <p:nvPicPr>
                      <p:cNvPr id="248" name="Object 10">
                        <a:extLst>
                          <a:ext uri="{FF2B5EF4-FFF2-40B4-BE49-F238E27FC236}">
                            <a16:creationId xmlns:a16="http://schemas.microsoft.com/office/drawing/2014/main" id="{447DC4E9-90CE-D9DA-FB25-8A90DE040348}"/>
                          </a:ext>
                        </a:extLst>
                      </p:cNvPr>
                      <p:cNvPicPr>
                        <a:picLocks noChangeAspect="1" noChangeArrowheads="1"/>
                      </p:cNvPicPr>
                      <p:nvPr/>
                    </p:nvPicPr>
                    <p:blipFill>
                      <a:blip r:embed="rId4"/>
                      <a:srcRect/>
                      <a:stretch>
                        <a:fillRect/>
                      </a:stretch>
                    </p:blipFill>
                    <p:spPr bwMode="auto">
                      <a:xfrm>
                        <a:off x="1989343" y="3479390"/>
                        <a:ext cx="1217613"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bg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49" name="Text Box 1032">
            <a:extLst>
              <a:ext uri="{FF2B5EF4-FFF2-40B4-BE49-F238E27FC236}">
                <a16:creationId xmlns:a16="http://schemas.microsoft.com/office/drawing/2014/main" id="{6B5619E7-3508-B822-E47F-CBF6613AD204}"/>
              </a:ext>
            </a:extLst>
          </p:cNvPr>
          <p:cNvSpPr txBox="1">
            <a:spLocks noChangeArrowheads="1"/>
          </p:cNvSpPr>
          <p:nvPr/>
        </p:nvSpPr>
        <p:spPr bwMode="auto">
          <a:xfrm>
            <a:off x="220393" y="3402849"/>
            <a:ext cx="2897456" cy="5330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lnSpc>
                <a:spcPct val="110000"/>
              </a:lnSpc>
            </a:pPr>
            <a:r>
              <a:rPr lang="zh-CN" altLang="en-US" sz="2800" i="0" dirty="0">
                <a:latin typeface="+mn-lt"/>
                <a:ea typeface="微软雅黑" panose="020B0503020204020204" pitchFamily="34" charset="-122"/>
              </a:rPr>
              <a:t>纵向变形     </a:t>
            </a:r>
            <a:endParaRPr lang="zh-CN" altLang="en-US" sz="2800" i="0" dirty="0">
              <a:latin typeface="微软雅黑" panose="020B0503020204020204" pitchFamily="34" charset="-122"/>
              <a:ea typeface="微软雅黑" panose="020B0503020204020204" pitchFamily="34" charset="-122"/>
            </a:endParaRPr>
          </a:p>
        </p:txBody>
      </p:sp>
      <p:graphicFrame>
        <p:nvGraphicFramePr>
          <p:cNvPr id="250" name="Object 10">
            <a:extLst>
              <a:ext uri="{FF2B5EF4-FFF2-40B4-BE49-F238E27FC236}">
                <a16:creationId xmlns:a16="http://schemas.microsoft.com/office/drawing/2014/main" id="{5D1412AD-C8C5-CF3B-BDCD-93EF880F7793}"/>
              </a:ext>
            </a:extLst>
          </p:cNvPr>
          <p:cNvGraphicFramePr>
            <a:graphicFrameLocks noChangeAspect="1"/>
          </p:cNvGraphicFramePr>
          <p:nvPr>
            <p:extLst>
              <p:ext uri="{D42A27DB-BD31-4B8C-83A1-F6EECF244321}">
                <p14:modId xmlns:p14="http://schemas.microsoft.com/office/powerpoint/2010/main" val="2090671541"/>
              </p:ext>
            </p:extLst>
          </p:nvPr>
        </p:nvGraphicFramePr>
        <p:xfrm>
          <a:off x="5439404" y="3478105"/>
          <a:ext cx="1470025" cy="457200"/>
        </p:xfrm>
        <a:graphic>
          <a:graphicData uri="http://schemas.openxmlformats.org/presentationml/2006/ole">
            <mc:AlternateContent xmlns:mc="http://schemas.openxmlformats.org/markup-compatibility/2006">
              <mc:Choice xmlns:v="urn:schemas-microsoft-com:vml" Requires="v">
                <p:oleObj name="Equation" r:id="rId5" imgW="736560" imgH="228600" progId="Equation.DSMT4">
                  <p:embed/>
                </p:oleObj>
              </mc:Choice>
              <mc:Fallback>
                <p:oleObj name="Equation" r:id="rId5" imgW="736560" imgH="228600" progId="Equation.DSMT4">
                  <p:embed/>
                  <p:pic>
                    <p:nvPicPr>
                      <p:cNvPr id="250" name="Object 10">
                        <a:extLst>
                          <a:ext uri="{FF2B5EF4-FFF2-40B4-BE49-F238E27FC236}">
                            <a16:creationId xmlns:a16="http://schemas.microsoft.com/office/drawing/2014/main" id="{5D1412AD-C8C5-CF3B-BDCD-93EF880F7793}"/>
                          </a:ext>
                        </a:extLst>
                      </p:cNvPr>
                      <p:cNvPicPr>
                        <a:picLocks noChangeAspect="1" noChangeArrowheads="1"/>
                      </p:cNvPicPr>
                      <p:nvPr/>
                    </p:nvPicPr>
                    <p:blipFill>
                      <a:blip r:embed="rId6"/>
                      <a:srcRect/>
                      <a:stretch>
                        <a:fillRect/>
                      </a:stretch>
                    </p:blipFill>
                    <p:spPr bwMode="auto">
                      <a:xfrm>
                        <a:off x="5439404" y="3478105"/>
                        <a:ext cx="147002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bg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51" name="Text Box 1032">
            <a:extLst>
              <a:ext uri="{FF2B5EF4-FFF2-40B4-BE49-F238E27FC236}">
                <a16:creationId xmlns:a16="http://schemas.microsoft.com/office/drawing/2014/main" id="{978123E8-708D-0809-CCFB-FCE5DE050C41}"/>
              </a:ext>
            </a:extLst>
          </p:cNvPr>
          <p:cNvSpPr txBox="1">
            <a:spLocks noChangeArrowheads="1"/>
          </p:cNvSpPr>
          <p:nvPr/>
        </p:nvSpPr>
        <p:spPr bwMode="auto">
          <a:xfrm>
            <a:off x="3696599" y="3402190"/>
            <a:ext cx="2897456" cy="5330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lnSpc>
                <a:spcPct val="110000"/>
              </a:lnSpc>
            </a:pPr>
            <a:r>
              <a:rPr lang="zh-CN" altLang="en-US" sz="2800" i="0" dirty="0">
                <a:latin typeface="+mn-lt"/>
                <a:ea typeface="微软雅黑" panose="020B0503020204020204" pitchFamily="34" charset="-122"/>
              </a:rPr>
              <a:t>横向变形     </a:t>
            </a:r>
            <a:endParaRPr lang="zh-CN" altLang="en-US" sz="2800" i="0" dirty="0">
              <a:latin typeface="微软雅黑" panose="020B0503020204020204" pitchFamily="34" charset="-122"/>
              <a:ea typeface="微软雅黑" panose="020B0503020204020204" pitchFamily="34" charset="-122"/>
            </a:endParaRPr>
          </a:p>
        </p:txBody>
      </p:sp>
      <p:sp>
        <p:nvSpPr>
          <p:cNvPr id="253" name="Text Box 1032">
            <a:extLst>
              <a:ext uri="{FF2B5EF4-FFF2-40B4-BE49-F238E27FC236}">
                <a16:creationId xmlns:a16="http://schemas.microsoft.com/office/drawing/2014/main" id="{281D9593-D992-FC42-67A3-95E5BD9B57ED}"/>
              </a:ext>
            </a:extLst>
          </p:cNvPr>
          <p:cNvSpPr txBox="1">
            <a:spLocks noChangeArrowheads="1"/>
          </p:cNvSpPr>
          <p:nvPr/>
        </p:nvSpPr>
        <p:spPr bwMode="auto">
          <a:xfrm>
            <a:off x="220393" y="5013176"/>
            <a:ext cx="2897456" cy="5330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lnSpc>
                <a:spcPct val="110000"/>
              </a:lnSpc>
            </a:pPr>
            <a:r>
              <a:rPr lang="zh-CN" altLang="en-US" sz="2800" i="0" dirty="0">
                <a:latin typeface="+mn-lt"/>
                <a:ea typeface="微软雅黑" panose="020B0503020204020204" pitchFamily="34" charset="-122"/>
              </a:rPr>
              <a:t>纵向线应变     </a:t>
            </a:r>
            <a:endParaRPr lang="zh-CN" altLang="en-US" sz="2800" i="0" dirty="0">
              <a:latin typeface="微软雅黑" panose="020B0503020204020204" pitchFamily="34" charset="-122"/>
              <a:ea typeface="微软雅黑" panose="020B0503020204020204" pitchFamily="34" charset="-122"/>
            </a:endParaRPr>
          </a:p>
        </p:txBody>
      </p:sp>
      <p:sp>
        <p:nvSpPr>
          <p:cNvPr id="49" name="Text Box 1032">
            <a:extLst>
              <a:ext uri="{FF2B5EF4-FFF2-40B4-BE49-F238E27FC236}">
                <a16:creationId xmlns:a16="http://schemas.microsoft.com/office/drawing/2014/main" id="{CCD67C7E-25F0-D58D-029C-D60A107DE22E}"/>
              </a:ext>
            </a:extLst>
          </p:cNvPr>
          <p:cNvSpPr txBox="1">
            <a:spLocks noChangeArrowheads="1"/>
          </p:cNvSpPr>
          <p:nvPr/>
        </p:nvSpPr>
        <p:spPr bwMode="auto">
          <a:xfrm>
            <a:off x="4983512" y="5071387"/>
            <a:ext cx="2897456" cy="5330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lnSpc>
                <a:spcPct val="110000"/>
              </a:lnSpc>
            </a:pPr>
            <a:r>
              <a:rPr lang="zh-CN" altLang="en-US" sz="2800" i="0" dirty="0">
                <a:latin typeface="+mn-lt"/>
                <a:ea typeface="微软雅黑" panose="020B0503020204020204" pitchFamily="34" charset="-122"/>
              </a:rPr>
              <a:t>横向线应变    </a:t>
            </a:r>
            <a:endParaRPr lang="zh-CN" altLang="en-US" sz="2800" i="0" dirty="0">
              <a:latin typeface="微软雅黑" panose="020B0503020204020204" pitchFamily="34" charset="-122"/>
              <a:ea typeface="微软雅黑" panose="020B0503020204020204" pitchFamily="34" charset="-122"/>
            </a:endParaRPr>
          </a:p>
        </p:txBody>
      </p:sp>
      <p:graphicFrame>
        <p:nvGraphicFramePr>
          <p:cNvPr id="52" name="Object 7">
            <a:extLst>
              <a:ext uri="{FF2B5EF4-FFF2-40B4-BE49-F238E27FC236}">
                <a16:creationId xmlns:a16="http://schemas.microsoft.com/office/drawing/2014/main" id="{FFF6965B-9A7B-61D6-6B77-FD31F1A2A814}"/>
              </a:ext>
            </a:extLst>
          </p:cNvPr>
          <p:cNvGraphicFramePr>
            <a:graphicFrameLocks noChangeAspect="1"/>
          </p:cNvGraphicFramePr>
          <p:nvPr>
            <p:extLst>
              <p:ext uri="{D42A27DB-BD31-4B8C-83A1-F6EECF244321}">
                <p14:modId xmlns:p14="http://schemas.microsoft.com/office/powerpoint/2010/main" val="2059502619"/>
              </p:ext>
            </p:extLst>
          </p:nvPr>
        </p:nvGraphicFramePr>
        <p:xfrm>
          <a:off x="2698211" y="4945856"/>
          <a:ext cx="1778000" cy="787400"/>
        </p:xfrm>
        <a:graphic>
          <a:graphicData uri="http://schemas.openxmlformats.org/presentationml/2006/ole">
            <mc:AlternateContent xmlns:mc="http://schemas.openxmlformats.org/markup-compatibility/2006">
              <mc:Choice xmlns:v="urn:schemas-microsoft-com:vml" Requires="v">
                <p:oleObj name="Equation" r:id="rId7" imgW="888840" imgH="393480" progId="Equation.DSMT4">
                  <p:embed/>
                </p:oleObj>
              </mc:Choice>
              <mc:Fallback>
                <p:oleObj name="Equation" r:id="rId7" imgW="888840" imgH="393480" progId="Equation.DSMT4">
                  <p:embed/>
                  <p:pic>
                    <p:nvPicPr>
                      <p:cNvPr id="52" name="Object 7">
                        <a:extLst>
                          <a:ext uri="{FF2B5EF4-FFF2-40B4-BE49-F238E27FC236}">
                            <a16:creationId xmlns:a16="http://schemas.microsoft.com/office/drawing/2014/main" id="{FFF6965B-9A7B-61D6-6B77-FD31F1A2A814}"/>
                          </a:ext>
                        </a:extLst>
                      </p:cNvPr>
                      <p:cNvPicPr>
                        <a:picLocks noChangeAspect="1" noChangeArrowheads="1"/>
                      </p:cNvPicPr>
                      <p:nvPr/>
                    </p:nvPicPr>
                    <p:blipFill>
                      <a:blip r:embed="rId8"/>
                      <a:srcRect/>
                      <a:stretch>
                        <a:fillRect/>
                      </a:stretch>
                    </p:blipFill>
                    <p:spPr bwMode="auto">
                      <a:xfrm>
                        <a:off x="2698211" y="4945856"/>
                        <a:ext cx="1778000" cy="787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bg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4" name="Object 7">
            <a:extLst>
              <a:ext uri="{FF2B5EF4-FFF2-40B4-BE49-F238E27FC236}">
                <a16:creationId xmlns:a16="http://schemas.microsoft.com/office/drawing/2014/main" id="{7CDB9648-8AA2-F229-009A-3CC122280DDB}"/>
              </a:ext>
            </a:extLst>
          </p:cNvPr>
          <p:cNvGraphicFramePr>
            <a:graphicFrameLocks noChangeAspect="1"/>
          </p:cNvGraphicFramePr>
          <p:nvPr>
            <p:extLst>
              <p:ext uri="{D42A27DB-BD31-4B8C-83A1-F6EECF244321}">
                <p14:modId xmlns:p14="http://schemas.microsoft.com/office/powerpoint/2010/main" val="1450106900"/>
              </p:ext>
            </p:extLst>
          </p:nvPr>
        </p:nvGraphicFramePr>
        <p:xfrm>
          <a:off x="7430566" y="4944203"/>
          <a:ext cx="2108200" cy="787400"/>
        </p:xfrm>
        <a:graphic>
          <a:graphicData uri="http://schemas.openxmlformats.org/presentationml/2006/ole">
            <mc:AlternateContent xmlns:mc="http://schemas.openxmlformats.org/markup-compatibility/2006">
              <mc:Choice xmlns:v="urn:schemas-microsoft-com:vml" Requires="v">
                <p:oleObj name="Equation" r:id="rId9" imgW="1054080" imgH="393480" progId="Equation.DSMT4">
                  <p:embed/>
                </p:oleObj>
              </mc:Choice>
              <mc:Fallback>
                <p:oleObj name="Equation" r:id="rId9" imgW="1054080" imgH="393480" progId="Equation.DSMT4">
                  <p:embed/>
                  <p:pic>
                    <p:nvPicPr>
                      <p:cNvPr id="54" name="Object 7">
                        <a:extLst>
                          <a:ext uri="{FF2B5EF4-FFF2-40B4-BE49-F238E27FC236}">
                            <a16:creationId xmlns:a16="http://schemas.microsoft.com/office/drawing/2014/main" id="{7CDB9648-8AA2-F229-009A-3CC122280DDB}"/>
                          </a:ext>
                        </a:extLst>
                      </p:cNvPr>
                      <p:cNvPicPr>
                        <a:picLocks noChangeAspect="1" noChangeArrowheads="1"/>
                      </p:cNvPicPr>
                      <p:nvPr/>
                    </p:nvPicPr>
                    <p:blipFill>
                      <a:blip r:embed="rId10"/>
                      <a:srcRect/>
                      <a:stretch>
                        <a:fillRect/>
                      </a:stretch>
                    </p:blipFill>
                    <p:spPr bwMode="auto">
                      <a:xfrm>
                        <a:off x="7430566" y="4944203"/>
                        <a:ext cx="2108200" cy="787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bg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 name="Object 7">
            <a:extLst>
              <a:ext uri="{FF2B5EF4-FFF2-40B4-BE49-F238E27FC236}">
                <a16:creationId xmlns:a16="http://schemas.microsoft.com/office/drawing/2014/main" id="{4D70667F-98BE-2091-1B61-A065BB041A85}"/>
              </a:ext>
            </a:extLst>
          </p:cNvPr>
          <p:cNvGraphicFramePr>
            <a:graphicFrameLocks noChangeAspect="1"/>
          </p:cNvGraphicFramePr>
          <p:nvPr>
            <p:extLst>
              <p:ext uri="{D42A27DB-BD31-4B8C-83A1-F6EECF244321}">
                <p14:modId xmlns:p14="http://schemas.microsoft.com/office/powerpoint/2010/main" val="260658597"/>
              </p:ext>
            </p:extLst>
          </p:nvPr>
        </p:nvGraphicFramePr>
        <p:xfrm>
          <a:off x="5082216" y="5546207"/>
          <a:ext cx="1092200" cy="787400"/>
        </p:xfrm>
        <a:graphic>
          <a:graphicData uri="http://schemas.openxmlformats.org/presentationml/2006/ole">
            <mc:AlternateContent xmlns:mc="http://schemas.openxmlformats.org/markup-compatibility/2006">
              <mc:Choice xmlns:v="urn:schemas-microsoft-com:vml" Requires="v">
                <p:oleObj name="Equation" r:id="rId11" imgW="545760" imgH="393480" progId="Equation.DSMT4">
                  <p:embed/>
                </p:oleObj>
              </mc:Choice>
              <mc:Fallback>
                <p:oleObj name="Equation" r:id="rId11" imgW="545760" imgH="393480" progId="Equation.DSMT4">
                  <p:embed/>
                  <p:pic>
                    <p:nvPicPr>
                      <p:cNvPr id="3" name="Object 7">
                        <a:extLst>
                          <a:ext uri="{FF2B5EF4-FFF2-40B4-BE49-F238E27FC236}">
                            <a16:creationId xmlns:a16="http://schemas.microsoft.com/office/drawing/2014/main" id="{4D70667F-98BE-2091-1B61-A065BB041A85}"/>
                          </a:ext>
                        </a:extLst>
                      </p:cNvPr>
                      <p:cNvPicPr>
                        <a:picLocks noChangeAspect="1" noChangeArrowheads="1"/>
                      </p:cNvPicPr>
                      <p:nvPr/>
                    </p:nvPicPr>
                    <p:blipFill>
                      <a:blip r:embed="rId12"/>
                      <a:srcRect/>
                      <a:stretch>
                        <a:fillRect/>
                      </a:stretch>
                    </p:blipFill>
                    <p:spPr bwMode="auto">
                      <a:xfrm>
                        <a:off x="5082216" y="5546207"/>
                        <a:ext cx="1092200" cy="787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bg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 name="Text Box 1032">
            <a:extLst>
              <a:ext uri="{FF2B5EF4-FFF2-40B4-BE49-F238E27FC236}">
                <a16:creationId xmlns:a16="http://schemas.microsoft.com/office/drawing/2014/main" id="{2BC1559C-F0AF-DD34-79FD-BE38F1B6AB5B}"/>
              </a:ext>
            </a:extLst>
          </p:cNvPr>
          <p:cNvSpPr txBox="1">
            <a:spLocks noChangeArrowheads="1"/>
          </p:cNvSpPr>
          <p:nvPr/>
        </p:nvSpPr>
        <p:spPr bwMode="auto">
          <a:xfrm>
            <a:off x="220393" y="5721892"/>
            <a:ext cx="4541042" cy="531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lnSpc>
                <a:spcPct val="110000"/>
              </a:lnSpc>
            </a:pPr>
            <a:r>
              <a:rPr lang="zh-CN" altLang="en-US" sz="2800" i="0" dirty="0">
                <a:latin typeface="+mn-lt"/>
                <a:ea typeface="微软雅黑" panose="020B0503020204020204" pitchFamily="34" charset="-122"/>
                <a:sym typeface="Symbol" panose="05050102010706020507" pitchFamily="18" charset="2"/>
              </a:rPr>
              <a:t>横向变形系数（称</a:t>
            </a:r>
            <a:r>
              <a:rPr lang="zh-CN" altLang="en-US" sz="2800" i="0" dirty="0">
                <a:solidFill>
                  <a:srgbClr val="FF0000"/>
                </a:solidFill>
                <a:latin typeface="+mn-lt"/>
                <a:ea typeface="微软雅黑" panose="020B0503020204020204" pitchFamily="34" charset="-122"/>
                <a:sym typeface="Symbol" panose="05050102010706020507" pitchFamily="18" charset="2"/>
              </a:rPr>
              <a:t>泊松比</a:t>
            </a:r>
            <a:r>
              <a:rPr lang="zh-CN" altLang="en-US" sz="2800" i="0" dirty="0">
                <a:latin typeface="+mn-lt"/>
                <a:ea typeface="微软雅黑" panose="020B0503020204020204" pitchFamily="34" charset="-122"/>
                <a:sym typeface="Symbol" panose="05050102010706020507" pitchFamily="18" charset="2"/>
              </a:rPr>
              <a:t>）</a:t>
            </a:r>
            <a:endParaRPr lang="zh-CN" altLang="en-US" sz="2800" i="0" dirty="0">
              <a:latin typeface="+mn-lt"/>
              <a:ea typeface="微软雅黑" panose="020B0503020204020204" pitchFamily="34" charset="-122"/>
            </a:endParaRPr>
          </a:p>
        </p:txBody>
      </p:sp>
    </p:spTree>
    <p:extLst>
      <p:ext uri="{BB962C8B-B14F-4D97-AF65-F5344CB8AC3E}">
        <p14:creationId xmlns:p14="http://schemas.microsoft.com/office/powerpoint/2010/main" val="3634507362"/>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5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224"/>
                                        </p:tgtEl>
                                        <p:attrNameLst>
                                          <p:attrName>style.visibility</p:attrName>
                                        </p:attrNameLst>
                                      </p:cBhvr>
                                      <p:to>
                                        <p:strVal val="visible"/>
                                      </p:to>
                                    </p:set>
                                    <p:animEffect transition="in" filter="blinds(horizontal)">
                                      <p:cBhvr>
                                        <p:cTn id="15" dur="500"/>
                                        <p:tgtEl>
                                          <p:spTgt spid="224"/>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499"/>
                                          </p:stCondLst>
                                        </p:cTn>
                                        <p:tgtEl>
                                          <p:spTgt spid="249"/>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248"/>
                                        </p:tgtEl>
                                        <p:attrNameLst>
                                          <p:attrName>style.visibility</p:attrName>
                                        </p:attrNameLst>
                                      </p:cBhvr>
                                      <p:to>
                                        <p:strVal val="visible"/>
                                      </p:to>
                                    </p:set>
                                    <p:animEffect transition="in" filter="wipe(left)">
                                      <p:cBhvr>
                                        <p:cTn id="24" dur="500"/>
                                        <p:tgtEl>
                                          <p:spTgt spid="248"/>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499"/>
                                          </p:stCondLst>
                                        </p:cTn>
                                        <p:tgtEl>
                                          <p:spTgt spid="25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250"/>
                                        </p:tgtEl>
                                        <p:attrNameLst>
                                          <p:attrName>style.visibility</p:attrName>
                                        </p:attrNameLst>
                                      </p:cBhvr>
                                      <p:to>
                                        <p:strVal val="visible"/>
                                      </p:to>
                                    </p:set>
                                    <p:animEffect transition="in" filter="wipe(left)">
                                      <p:cBhvr>
                                        <p:cTn id="33" dur="500"/>
                                        <p:tgtEl>
                                          <p:spTgt spid="250"/>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499"/>
                                          </p:stCondLst>
                                        </p:cTn>
                                        <p:tgtEl>
                                          <p:spTgt spid="48"/>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499"/>
                                          </p:stCondLst>
                                        </p:cTn>
                                        <p:tgtEl>
                                          <p:spTgt spid="253"/>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52"/>
                                        </p:tgtEl>
                                        <p:attrNameLst>
                                          <p:attrName>style.visibility</p:attrName>
                                        </p:attrNameLst>
                                      </p:cBhvr>
                                      <p:to>
                                        <p:strVal val="visible"/>
                                      </p:to>
                                    </p:set>
                                    <p:animEffect transition="in" filter="wipe(left)">
                                      <p:cBhvr>
                                        <p:cTn id="46" dur="500"/>
                                        <p:tgtEl>
                                          <p:spTgt spid="52"/>
                                        </p:tgtEl>
                                      </p:cBhvr>
                                    </p:animEffec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499"/>
                                          </p:stCondLst>
                                        </p:cTn>
                                        <p:tgtEl>
                                          <p:spTgt spid="4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nodeType="clickEffect">
                                  <p:stCondLst>
                                    <p:cond delay="0"/>
                                  </p:stCondLst>
                                  <p:childTnLst>
                                    <p:set>
                                      <p:cBhvr>
                                        <p:cTn id="54" dur="1" fill="hold">
                                          <p:stCondLst>
                                            <p:cond delay="0"/>
                                          </p:stCondLst>
                                        </p:cTn>
                                        <p:tgtEl>
                                          <p:spTgt spid="54"/>
                                        </p:tgtEl>
                                        <p:attrNameLst>
                                          <p:attrName>style.visibility</p:attrName>
                                        </p:attrNameLst>
                                      </p:cBhvr>
                                      <p:to>
                                        <p:strVal val="visible"/>
                                      </p:to>
                                    </p:set>
                                    <p:animEffect transition="in" filter="wipe(left)">
                                      <p:cBhvr>
                                        <p:cTn id="55" dur="500"/>
                                        <p:tgtEl>
                                          <p:spTgt spid="54"/>
                                        </p:tgtEl>
                                      </p:cBhvr>
                                    </p:animEffec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499"/>
                                          </p:stCondLst>
                                        </p:cTn>
                                        <p:tgtEl>
                                          <p:spTgt spid="6"/>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nodeType="clickEffect">
                                  <p:stCondLst>
                                    <p:cond delay="0"/>
                                  </p:stCondLst>
                                  <p:childTnLst>
                                    <p:set>
                                      <p:cBhvr>
                                        <p:cTn id="63" dur="1" fill="hold">
                                          <p:stCondLst>
                                            <p:cond delay="0"/>
                                          </p:stCondLst>
                                        </p:cTn>
                                        <p:tgtEl>
                                          <p:spTgt spid="3"/>
                                        </p:tgtEl>
                                        <p:attrNameLst>
                                          <p:attrName>style.visibility</p:attrName>
                                        </p:attrNameLst>
                                      </p:cBhvr>
                                      <p:to>
                                        <p:strVal val="visible"/>
                                      </p:to>
                                    </p:set>
                                    <p:animEffect transition="in" filter="wipe(left)">
                                      <p:cBhvr>
                                        <p:cTn id="64"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53" grpId="0" autoUpdateAnimBg="0"/>
      <p:bldP spid="48" grpId="0" autoUpdateAnimBg="0"/>
      <p:bldP spid="249" grpId="0" autoUpdateAnimBg="0"/>
      <p:bldP spid="251" grpId="0" autoUpdateAnimBg="0"/>
      <p:bldP spid="253" grpId="0" autoUpdateAnimBg="0"/>
      <p:bldP spid="49" grpId="0" autoUpdateAnimBg="0"/>
      <p:bldP spid="6" grpId="0"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711605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第八章   拉压、剪切与挤压的强度计算</a:t>
            </a:r>
          </a:p>
        </p:txBody>
      </p:sp>
      <p:sp>
        <p:nvSpPr>
          <p:cNvPr id="53" name="Text Box 1032"/>
          <p:cNvSpPr txBox="1">
            <a:spLocks noChangeArrowheads="1"/>
          </p:cNvSpPr>
          <p:nvPr/>
        </p:nvSpPr>
        <p:spPr bwMode="auto">
          <a:xfrm>
            <a:off x="839416" y="981344"/>
            <a:ext cx="10052072" cy="16317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lnSpc>
                <a:spcPct val="120000"/>
              </a:lnSpc>
            </a:pPr>
            <a:r>
              <a:rPr lang="zh-CN" altLang="en-US" sz="2800" i="0" dirty="0">
                <a:solidFill>
                  <a:srgbClr val="FF00FF"/>
                </a:solidFill>
                <a:latin typeface="微软雅黑" panose="020B0503020204020204" pitchFamily="34" charset="-122"/>
                <a:ea typeface="微软雅黑" panose="020B0503020204020204" pitchFamily="34" charset="-122"/>
              </a:rPr>
              <a:t>胡克定律</a:t>
            </a:r>
            <a:endParaRPr lang="en-US" altLang="zh-CN" sz="2800" i="0" dirty="0">
              <a:solidFill>
                <a:srgbClr val="FF00FF"/>
              </a:solidFill>
              <a:latin typeface="微软雅黑" panose="020B0503020204020204" pitchFamily="34" charset="-122"/>
              <a:ea typeface="微软雅黑" panose="020B0503020204020204" pitchFamily="34" charset="-122"/>
            </a:endParaRPr>
          </a:p>
          <a:p>
            <a:pPr lvl="0">
              <a:lnSpc>
                <a:spcPct val="120000"/>
              </a:lnSpc>
            </a:pPr>
            <a:r>
              <a:rPr kumimoji="1" lang="zh-CN" altLang="en-US" sz="2800" i="0" dirty="0">
                <a:latin typeface="+mn-lt"/>
                <a:ea typeface="微软雅黑" panose="020B0503020204020204" pitchFamily="34" charset="-122"/>
              </a:rPr>
              <a:t>实验表明，当拉、压杆的决对变形与轴力和杆长成正比，而与横截面面积成反比</a:t>
            </a:r>
            <a:endParaRPr lang="en-US" altLang="zh-CN" sz="2800" i="0" dirty="0">
              <a:latin typeface="+mn-lt"/>
              <a:ea typeface="微软雅黑" panose="020B0503020204020204" pitchFamily="34" charset="-122"/>
            </a:endParaRPr>
          </a:p>
        </p:txBody>
      </p:sp>
      <p:graphicFrame>
        <p:nvGraphicFramePr>
          <p:cNvPr id="248" name="Object 10">
            <a:extLst>
              <a:ext uri="{FF2B5EF4-FFF2-40B4-BE49-F238E27FC236}">
                <a16:creationId xmlns:a16="http://schemas.microsoft.com/office/drawing/2014/main" id="{447DC4E9-90CE-D9DA-FB25-8A90DE040348}"/>
              </a:ext>
            </a:extLst>
          </p:cNvPr>
          <p:cNvGraphicFramePr>
            <a:graphicFrameLocks noChangeAspect="1"/>
          </p:cNvGraphicFramePr>
          <p:nvPr>
            <p:extLst>
              <p:ext uri="{D42A27DB-BD31-4B8C-83A1-F6EECF244321}">
                <p14:modId xmlns:p14="http://schemas.microsoft.com/office/powerpoint/2010/main" val="1689486042"/>
              </p:ext>
            </p:extLst>
          </p:nvPr>
        </p:nvGraphicFramePr>
        <p:xfrm>
          <a:off x="2959100" y="2505075"/>
          <a:ext cx="1470025" cy="932394"/>
        </p:xfrm>
        <a:graphic>
          <a:graphicData uri="http://schemas.openxmlformats.org/presentationml/2006/ole">
            <mc:AlternateContent xmlns:mc="http://schemas.openxmlformats.org/markup-compatibility/2006">
              <mc:Choice xmlns:v="urn:schemas-microsoft-com:vml" Requires="v">
                <p:oleObj name="Equation" r:id="rId3" imgW="622080" imgH="393480" progId="Equation.DSMT4">
                  <p:embed/>
                </p:oleObj>
              </mc:Choice>
              <mc:Fallback>
                <p:oleObj name="Equation" r:id="rId3" imgW="622080" imgH="393480" progId="Equation.DSMT4">
                  <p:embed/>
                  <p:pic>
                    <p:nvPicPr>
                      <p:cNvPr id="248" name="Object 10">
                        <a:extLst>
                          <a:ext uri="{FF2B5EF4-FFF2-40B4-BE49-F238E27FC236}">
                            <a16:creationId xmlns:a16="http://schemas.microsoft.com/office/drawing/2014/main" id="{447DC4E9-90CE-D9DA-FB25-8A90DE040348}"/>
                          </a:ext>
                        </a:extLst>
                      </p:cNvPr>
                      <p:cNvPicPr>
                        <a:picLocks noChangeAspect="1" noChangeArrowheads="1"/>
                      </p:cNvPicPr>
                      <p:nvPr/>
                    </p:nvPicPr>
                    <p:blipFill>
                      <a:blip r:embed="rId4"/>
                      <a:srcRect/>
                      <a:stretch>
                        <a:fillRect/>
                      </a:stretch>
                    </p:blipFill>
                    <p:spPr bwMode="auto">
                      <a:xfrm>
                        <a:off x="2959100" y="2505075"/>
                        <a:ext cx="1470025" cy="932394"/>
                      </a:xfrm>
                      <a:prstGeom prst="rect">
                        <a:avLst/>
                      </a:prstGeom>
                      <a:noFill/>
                      <a:ln>
                        <a:noFill/>
                      </a:ln>
                      <a:effectLst/>
                    </p:spPr>
                  </p:pic>
                </p:oleObj>
              </mc:Fallback>
            </mc:AlternateContent>
          </a:graphicData>
        </a:graphic>
      </p:graphicFrame>
      <p:sp>
        <p:nvSpPr>
          <p:cNvPr id="249" name="Text Box 1032">
            <a:extLst>
              <a:ext uri="{FF2B5EF4-FFF2-40B4-BE49-F238E27FC236}">
                <a16:creationId xmlns:a16="http://schemas.microsoft.com/office/drawing/2014/main" id="{6B5619E7-3508-B822-E47F-CBF6613AD204}"/>
              </a:ext>
            </a:extLst>
          </p:cNvPr>
          <p:cNvSpPr txBox="1">
            <a:spLocks noChangeArrowheads="1"/>
          </p:cNvSpPr>
          <p:nvPr/>
        </p:nvSpPr>
        <p:spPr bwMode="auto">
          <a:xfrm>
            <a:off x="839416" y="3458945"/>
            <a:ext cx="9937104" cy="108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lnSpc>
                <a:spcPct val="120000"/>
              </a:lnSpc>
            </a:pPr>
            <a:r>
              <a:rPr lang="zh-CN" altLang="en-US" sz="2800" i="0" dirty="0">
                <a:latin typeface="+mn-lt"/>
                <a:ea typeface="微软雅黑" panose="020B0503020204020204" pitchFamily="34" charset="-122"/>
              </a:rPr>
              <a:t>比例常数</a:t>
            </a:r>
            <a:r>
              <a:rPr lang="en-US" altLang="zh-CN" sz="2800" b="0" dirty="0">
                <a:latin typeface="+mn-lt"/>
                <a:ea typeface="微软雅黑" panose="020B0503020204020204" pitchFamily="34" charset="-122"/>
              </a:rPr>
              <a:t>E </a:t>
            </a:r>
            <a:r>
              <a:rPr lang="zh-CN" altLang="en-US" sz="2800" i="0" dirty="0">
                <a:latin typeface="+mn-lt"/>
                <a:ea typeface="微软雅黑" panose="020B0503020204020204" pitchFamily="34" charset="-122"/>
              </a:rPr>
              <a:t>称为材料的弹性模量，通常对同一种材料，</a:t>
            </a:r>
            <a:r>
              <a:rPr lang="en-US" altLang="zh-CN" sz="2800" b="0" dirty="0">
                <a:latin typeface="+mn-lt"/>
                <a:ea typeface="微软雅黑" panose="020B0503020204020204" pitchFamily="34" charset="-122"/>
              </a:rPr>
              <a:t>E </a:t>
            </a:r>
            <a:r>
              <a:rPr lang="zh-CN" altLang="en-US" sz="2800" i="0" dirty="0">
                <a:latin typeface="+mn-lt"/>
                <a:ea typeface="微软雅黑" panose="020B0503020204020204" pitchFamily="34" charset="-122"/>
              </a:rPr>
              <a:t>为常数，具有应力的单位，常用</a:t>
            </a:r>
            <a:r>
              <a:rPr lang="en-US" altLang="zh-CN" sz="2800" b="0" i="0" dirty="0" err="1">
                <a:latin typeface="+mn-lt"/>
                <a:ea typeface="微软雅黑" panose="020B0503020204020204" pitchFamily="34" charset="-122"/>
              </a:rPr>
              <a:t>GPa</a:t>
            </a:r>
            <a:r>
              <a:rPr lang="zh-CN" altLang="en-US" sz="2800" i="0" dirty="0">
                <a:latin typeface="+mn-lt"/>
                <a:ea typeface="微软雅黑" panose="020B0503020204020204" pitchFamily="34" charset="-122"/>
              </a:rPr>
              <a:t>。</a:t>
            </a:r>
            <a:r>
              <a:rPr lang="en-US" altLang="zh-CN" sz="2800" b="0" dirty="0">
                <a:latin typeface="+mn-lt"/>
                <a:ea typeface="微软雅黑" panose="020B0503020204020204" pitchFamily="34" charset="-122"/>
              </a:rPr>
              <a:t>EA</a:t>
            </a:r>
            <a:r>
              <a:rPr lang="zh-CN" altLang="en-US" sz="2800" i="0" dirty="0">
                <a:latin typeface="+mn-lt"/>
                <a:ea typeface="微软雅黑" panose="020B0503020204020204" pitchFamily="34" charset="-122"/>
              </a:rPr>
              <a:t>称为杆的</a:t>
            </a:r>
            <a:r>
              <a:rPr lang="zh-CN" altLang="en-US" sz="2800" i="0" dirty="0">
                <a:solidFill>
                  <a:srgbClr val="FF00FF"/>
                </a:solidFill>
                <a:latin typeface="+mn-lt"/>
                <a:ea typeface="微软雅黑" panose="020B0503020204020204" pitchFamily="34" charset="-122"/>
              </a:rPr>
              <a:t>抗拉（压）刚度</a:t>
            </a:r>
            <a:r>
              <a:rPr lang="zh-CN" altLang="en-US" sz="2800" i="0" dirty="0">
                <a:latin typeface="+mn-lt"/>
                <a:ea typeface="微软雅黑" panose="020B0503020204020204" pitchFamily="34" charset="-122"/>
              </a:rPr>
              <a:t> 。    </a:t>
            </a:r>
          </a:p>
        </p:txBody>
      </p:sp>
      <p:graphicFrame>
        <p:nvGraphicFramePr>
          <p:cNvPr id="55" name="Object 10">
            <a:extLst>
              <a:ext uri="{FF2B5EF4-FFF2-40B4-BE49-F238E27FC236}">
                <a16:creationId xmlns:a16="http://schemas.microsoft.com/office/drawing/2014/main" id="{976A4DD5-1FE9-5F3D-84CD-EC277C1D3AB9}"/>
              </a:ext>
            </a:extLst>
          </p:cNvPr>
          <p:cNvGraphicFramePr>
            <a:graphicFrameLocks noChangeAspect="1"/>
          </p:cNvGraphicFramePr>
          <p:nvPr>
            <p:extLst>
              <p:ext uri="{D42A27DB-BD31-4B8C-83A1-F6EECF244321}">
                <p14:modId xmlns:p14="http://schemas.microsoft.com/office/powerpoint/2010/main" val="2975208918"/>
              </p:ext>
            </p:extLst>
          </p:nvPr>
        </p:nvGraphicFramePr>
        <p:xfrm>
          <a:off x="5697807" y="2505075"/>
          <a:ext cx="1470025" cy="932394"/>
        </p:xfrm>
        <a:graphic>
          <a:graphicData uri="http://schemas.openxmlformats.org/presentationml/2006/ole">
            <mc:AlternateContent xmlns:mc="http://schemas.openxmlformats.org/markup-compatibility/2006">
              <mc:Choice xmlns:v="urn:schemas-microsoft-com:vml" Requires="v">
                <p:oleObj name="Equation" r:id="rId5" imgW="622080" imgH="393480" progId="Equation.DSMT4">
                  <p:embed/>
                </p:oleObj>
              </mc:Choice>
              <mc:Fallback>
                <p:oleObj name="Equation" r:id="rId5" imgW="622080" imgH="393480" progId="Equation.DSMT4">
                  <p:embed/>
                  <p:pic>
                    <p:nvPicPr>
                      <p:cNvPr id="55" name="Object 10">
                        <a:extLst>
                          <a:ext uri="{FF2B5EF4-FFF2-40B4-BE49-F238E27FC236}">
                            <a16:creationId xmlns:a16="http://schemas.microsoft.com/office/drawing/2014/main" id="{976A4DD5-1FE9-5F3D-84CD-EC277C1D3AB9}"/>
                          </a:ext>
                        </a:extLst>
                      </p:cNvPr>
                      <p:cNvPicPr>
                        <a:picLocks noChangeAspect="1" noChangeArrowheads="1"/>
                      </p:cNvPicPr>
                      <p:nvPr/>
                    </p:nvPicPr>
                    <p:blipFill>
                      <a:blip r:embed="rId6"/>
                      <a:srcRect/>
                      <a:stretch>
                        <a:fillRect/>
                      </a:stretch>
                    </p:blipFill>
                    <p:spPr bwMode="auto">
                      <a:xfrm>
                        <a:off x="5697807" y="2505075"/>
                        <a:ext cx="1470025" cy="932394"/>
                      </a:xfrm>
                      <a:prstGeom prst="rect">
                        <a:avLst/>
                      </a:prstGeom>
                      <a:noFill/>
                      <a:ln>
                        <a:noFill/>
                      </a:ln>
                      <a:effectLst/>
                    </p:spPr>
                  </p:pic>
                </p:oleObj>
              </mc:Fallback>
            </mc:AlternateContent>
          </a:graphicData>
        </a:graphic>
      </p:graphicFrame>
      <p:graphicFrame>
        <p:nvGraphicFramePr>
          <p:cNvPr id="57" name="Object 10">
            <a:extLst>
              <a:ext uri="{FF2B5EF4-FFF2-40B4-BE49-F238E27FC236}">
                <a16:creationId xmlns:a16="http://schemas.microsoft.com/office/drawing/2014/main" id="{67D0EA3B-06E7-B023-C61A-31A574FFFC36}"/>
              </a:ext>
            </a:extLst>
          </p:cNvPr>
          <p:cNvGraphicFramePr>
            <a:graphicFrameLocks noChangeAspect="1"/>
          </p:cNvGraphicFramePr>
          <p:nvPr>
            <p:extLst>
              <p:ext uri="{D42A27DB-BD31-4B8C-83A1-F6EECF244321}">
                <p14:modId xmlns:p14="http://schemas.microsoft.com/office/powerpoint/2010/main" val="2621780083"/>
              </p:ext>
            </p:extLst>
          </p:nvPr>
        </p:nvGraphicFramePr>
        <p:xfrm>
          <a:off x="9232900" y="4774239"/>
          <a:ext cx="1169988" cy="420688"/>
        </p:xfrm>
        <a:graphic>
          <a:graphicData uri="http://schemas.openxmlformats.org/presentationml/2006/ole">
            <mc:AlternateContent xmlns:mc="http://schemas.openxmlformats.org/markup-compatibility/2006">
              <mc:Choice xmlns:v="urn:schemas-microsoft-com:vml" Requires="v">
                <p:oleObj name="Equation" r:id="rId7" imgW="495000" imgH="177480" progId="Equation.DSMT4">
                  <p:embed/>
                </p:oleObj>
              </mc:Choice>
              <mc:Fallback>
                <p:oleObj name="Equation" r:id="rId7" imgW="495000" imgH="177480" progId="Equation.DSMT4">
                  <p:embed/>
                  <p:pic>
                    <p:nvPicPr>
                      <p:cNvPr id="57" name="Object 10">
                        <a:extLst>
                          <a:ext uri="{FF2B5EF4-FFF2-40B4-BE49-F238E27FC236}">
                            <a16:creationId xmlns:a16="http://schemas.microsoft.com/office/drawing/2014/main" id="{67D0EA3B-06E7-B023-C61A-31A574FFFC36}"/>
                          </a:ext>
                        </a:extLst>
                      </p:cNvPr>
                      <p:cNvPicPr>
                        <a:picLocks noChangeAspect="1" noChangeArrowheads="1"/>
                      </p:cNvPicPr>
                      <p:nvPr/>
                    </p:nvPicPr>
                    <p:blipFill>
                      <a:blip r:embed="rId8"/>
                      <a:srcRect/>
                      <a:stretch>
                        <a:fillRect/>
                      </a:stretch>
                    </p:blipFill>
                    <p:spPr bwMode="auto">
                      <a:xfrm>
                        <a:off x="9232900" y="4774239"/>
                        <a:ext cx="1169988" cy="420688"/>
                      </a:xfrm>
                      <a:prstGeom prst="rect">
                        <a:avLst/>
                      </a:prstGeom>
                      <a:noFill/>
                      <a:ln>
                        <a:noFill/>
                      </a:ln>
                      <a:effectLst/>
                    </p:spPr>
                  </p:pic>
                </p:oleObj>
              </mc:Fallback>
            </mc:AlternateContent>
          </a:graphicData>
        </a:graphic>
      </p:graphicFrame>
      <p:graphicFrame>
        <p:nvGraphicFramePr>
          <p:cNvPr id="58" name="Object 12">
            <a:extLst>
              <a:ext uri="{FF2B5EF4-FFF2-40B4-BE49-F238E27FC236}">
                <a16:creationId xmlns:a16="http://schemas.microsoft.com/office/drawing/2014/main" id="{F44C14B9-D3EF-8409-E364-1214A0A4AF67}"/>
              </a:ext>
            </a:extLst>
          </p:cNvPr>
          <p:cNvGraphicFramePr>
            <a:graphicFrameLocks noChangeAspect="1"/>
          </p:cNvGraphicFramePr>
          <p:nvPr>
            <p:extLst>
              <p:ext uri="{D42A27DB-BD31-4B8C-83A1-F6EECF244321}">
                <p14:modId xmlns:p14="http://schemas.microsoft.com/office/powerpoint/2010/main" val="2244668204"/>
              </p:ext>
            </p:extLst>
          </p:nvPr>
        </p:nvGraphicFramePr>
        <p:xfrm>
          <a:off x="1920875" y="4582152"/>
          <a:ext cx="1038225" cy="804863"/>
        </p:xfrm>
        <a:graphic>
          <a:graphicData uri="http://schemas.openxmlformats.org/presentationml/2006/ole">
            <mc:AlternateContent xmlns:mc="http://schemas.openxmlformats.org/markup-compatibility/2006">
              <mc:Choice xmlns:v="urn:schemas-microsoft-com:vml" Requires="v">
                <p:oleObj name="Equation" r:id="rId9" imgW="495000" imgH="393480" progId="Equation.DSMT4">
                  <p:embed/>
                </p:oleObj>
              </mc:Choice>
              <mc:Fallback>
                <p:oleObj name="Equation" r:id="rId9" imgW="495000" imgH="393480" progId="Equation.DSMT4">
                  <p:embed/>
                  <p:pic>
                    <p:nvPicPr>
                      <p:cNvPr id="58" name="Object 12">
                        <a:extLst>
                          <a:ext uri="{FF2B5EF4-FFF2-40B4-BE49-F238E27FC236}">
                            <a16:creationId xmlns:a16="http://schemas.microsoft.com/office/drawing/2014/main" id="{F44C14B9-D3EF-8409-E364-1214A0A4AF67}"/>
                          </a:ext>
                        </a:extLst>
                      </p:cNvPr>
                      <p:cNvPicPr>
                        <a:picLocks noChangeAspect="1" noChangeArrowheads="1"/>
                      </p:cNvPicPr>
                      <p:nvPr/>
                    </p:nvPicPr>
                    <p:blipFill>
                      <a:blip r:embed="rId10"/>
                      <a:srcRect/>
                      <a:stretch>
                        <a:fillRect/>
                      </a:stretch>
                    </p:blipFill>
                    <p:spPr bwMode="auto">
                      <a:xfrm>
                        <a:off x="1920875" y="4582152"/>
                        <a:ext cx="1038225" cy="80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9" name="Object 10">
            <a:extLst>
              <a:ext uri="{FF2B5EF4-FFF2-40B4-BE49-F238E27FC236}">
                <a16:creationId xmlns:a16="http://schemas.microsoft.com/office/drawing/2014/main" id="{573A92CF-B1FE-16F1-8D09-72C032A46009}"/>
              </a:ext>
            </a:extLst>
          </p:cNvPr>
          <p:cNvGraphicFramePr>
            <a:graphicFrameLocks noChangeAspect="1"/>
          </p:cNvGraphicFramePr>
          <p:nvPr>
            <p:extLst>
              <p:ext uri="{D42A27DB-BD31-4B8C-83A1-F6EECF244321}">
                <p14:modId xmlns:p14="http://schemas.microsoft.com/office/powerpoint/2010/main" val="3482313422"/>
              </p:ext>
            </p:extLst>
          </p:nvPr>
        </p:nvGraphicFramePr>
        <p:xfrm>
          <a:off x="3544095" y="4582152"/>
          <a:ext cx="931862" cy="819150"/>
        </p:xfrm>
        <a:graphic>
          <a:graphicData uri="http://schemas.openxmlformats.org/presentationml/2006/ole">
            <mc:AlternateContent xmlns:mc="http://schemas.openxmlformats.org/markup-compatibility/2006">
              <mc:Choice xmlns:v="urn:schemas-microsoft-com:vml" Requires="v">
                <p:oleObj name="Equation" r:id="rId11" imgW="444240" imgH="393480" progId="Equation.DSMT4">
                  <p:embed/>
                </p:oleObj>
              </mc:Choice>
              <mc:Fallback>
                <p:oleObj name="Equation" r:id="rId11" imgW="444240" imgH="393480" progId="Equation.DSMT4">
                  <p:embed/>
                  <p:pic>
                    <p:nvPicPr>
                      <p:cNvPr id="59" name="Object 10">
                        <a:extLst>
                          <a:ext uri="{FF2B5EF4-FFF2-40B4-BE49-F238E27FC236}">
                            <a16:creationId xmlns:a16="http://schemas.microsoft.com/office/drawing/2014/main" id="{573A92CF-B1FE-16F1-8D09-72C032A46009}"/>
                          </a:ext>
                        </a:extLst>
                      </p:cNvPr>
                      <p:cNvPicPr>
                        <a:picLocks noChangeAspect="1" noChangeArrowheads="1"/>
                      </p:cNvPicPr>
                      <p:nvPr/>
                    </p:nvPicPr>
                    <p:blipFill>
                      <a:blip r:embed="rId12"/>
                      <a:srcRect/>
                      <a:stretch>
                        <a:fillRect/>
                      </a:stretch>
                    </p:blipFill>
                    <p:spPr bwMode="auto">
                      <a:xfrm>
                        <a:off x="3544095" y="4582152"/>
                        <a:ext cx="931862" cy="819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0" name="Text Box 1032">
            <a:extLst>
              <a:ext uri="{FF2B5EF4-FFF2-40B4-BE49-F238E27FC236}">
                <a16:creationId xmlns:a16="http://schemas.microsoft.com/office/drawing/2014/main" id="{7724A9E2-E0B6-3ACA-D067-9873DEB41E75}"/>
              </a:ext>
            </a:extLst>
          </p:cNvPr>
          <p:cNvSpPr txBox="1">
            <a:spLocks noChangeArrowheads="1"/>
          </p:cNvSpPr>
          <p:nvPr/>
        </p:nvSpPr>
        <p:spPr bwMode="auto">
          <a:xfrm>
            <a:off x="826255" y="4737784"/>
            <a:ext cx="2767756" cy="5330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lnSpc>
                <a:spcPct val="110000"/>
              </a:lnSpc>
            </a:pPr>
            <a:r>
              <a:rPr lang="zh-CN" altLang="en-US" sz="2800" i="0" dirty="0">
                <a:latin typeface="+mn-lt"/>
                <a:ea typeface="微软雅黑" panose="020B0503020204020204" pitchFamily="34" charset="-122"/>
              </a:rPr>
              <a:t>利用</a:t>
            </a:r>
          </a:p>
        </p:txBody>
      </p:sp>
      <p:sp>
        <p:nvSpPr>
          <p:cNvPr id="61" name="Text Box 1032">
            <a:extLst>
              <a:ext uri="{FF2B5EF4-FFF2-40B4-BE49-F238E27FC236}">
                <a16:creationId xmlns:a16="http://schemas.microsoft.com/office/drawing/2014/main" id="{9F16015C-1424-25CE-8F3F-D6748350BB5B}"/>
              </a:ext>
            </a:extLst>
          </p:cNvPr>
          <p:cNvSpPr txBox="1">
            <a:spLocks noChangeArrowheads="1"/>
          </p:cNvSpPr>
          <p:nvPr/>
        </p:nvSpPr>
        <p:spPr bwMode="auto">
          <a:xfrm>
            <a:off x="4943872" y="4737784"/>
            <a:ext cx="4608979" cy="5330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lnSpc>
                <a:spcPct val="110000"/>
              </a:lnSpc>
            </a:pPr>
            <a:r>
              <a:rPr lang="zh-CN" altLang="en-US" sz="2800" i="0" dirty="0">
                <a:latin typeface="+mn-lt"/>
                <a:ea typeface="微软雅黑" panose="020B0503020204020204" pitchFamily="34" charset="-122"/>
              </a:rPr>
              <a:t>可得胡克定律另一表达式</a:t>
            </a:r>
          </a:p>
        </p:txBody>
      </p:sp>
      <p:sp>
        <p:nvSpPr>
          <p:cNvPr id="62" name="Text Box 1032">
            <a:extLst>
              <a:ext uri="{FF2B5EF4-FFF2-40B4-BE49-F238E27FC236}">
                <a16:creationId xmlns:a16="http://schemas.microsoft.com/office/drawing/2014/main" id="{68655DCE-42B8-EE62-B3F7-69ED914F29B7}"/>
              </a:ext>
            </a:extLst>
          </p:cNvPr>
          <p:cNvSpPr txBox="1">
            <a:spLocks noChangeArrowheads="1"/>
          </p:cNvSpPr>
          <p:nvPr/>
        </p:nvSpPr>
        <p:spPr bwMode="auto">
          <a:xfrm>
            <a:off x="826254" y="5528535"/>
            <a:ext cx="9790524" cy="5330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lnSpc>
                <a:spcPct val="110000"/>
              </a:lnSpc>
            </a:pPr>
            <a:r>
              <a:rPr lang="zh-CN" altLang="en-US" sz="2800" i="0" dirty="0">
                <a:solidFill>
                  <a:srgbClr val="FF00FF"/>
                </a:solidFill>
                <a:ea typeface="微软雅黑" panose="020B0503020204020204" pitchFamily="34" charset="-122"/>
              </a:rPr>
              <a:t>胡克定律：</a:t>
            </a:r>
            <a:r>
              <a:rPr lang="zh-CN" altLang="en-US" sz="2800" i="0" dirty="0">
                <a:latin typeface="+mn-lt"/>
                <a:ea typeface="微软雅黑" panose="020B0503020204020204" pitchFamily="34" charset="-122"/>
              </a:rPr>
              <a:t>若应力未超过某一极限值，则应力与应变成正比。</a:t>
            </a:r>
          </a:p>
        </p:txBody>
      </p:sp>
    </p:spTree>
    <p:extLst>
      <p:ext uri="{BB962C8B-B14F-4D97-AF65-F5344CB8AC3E}">
        <p14:creationId xmlns:p14="http://schemas.microsoft.com/office/powerpoint/2010/main" val="2729439451"/>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248"/>
                                        </p:tgtEl>
                                        <p:attrNameLst>
                                          <p:attrName>style.visibility</p:attrName>
                                        </p:attrNameLst>
                                      </p:cBhvr>
                                      <p:to>
                                        <p:strVal val="visible"/>
                                      </p:to>
                                    </p:set>
                                    <p:animEffect transition="in" filter="wipe(left)">
                                      <p:cBhvr>
                                        <p:cTn id="11" dur="500"/>
                                        <p:tgtEl>
                                          <p:spTgt spid="248"/>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55"/>
                                        </p:tgtEl>
                                        <p:attrNameLst>
                                          <p:attrName>style.visibility</p:attrName>
                                        </p:attrNameLst>
                                      </p:cBhvr>
                                      <p:to>
                                        <p:strVal val="visible"/>
                                      </p:to>
                                    </p:set>
                                    <p:animEffect transition="in" filter="wipe(left)">
                                      <p:cBhvr>
                                        <p:cTn id="16" dur="500"/>
                                        <p:tgtEl>
                                          <p:spTgt spid="55"/>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24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5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6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499"/>
                                          </p:stCondLst>
                                        </p:cTn>
                                        <p:tgtEl>
                                          <p:spTgt spid="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autoUpdateAnimBg="0"/>
      <p:bldP spid="249" grpId="0" autoUpdateAnimBg="0"/>
      <p:bldP spid="60" grpId="0"/>
      <p:bldP spid="61" grpId="0"/>
      <p:bldP spid="62" grpId="0"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711605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第八章   拉压、剪切与挤压的强度计算</a:t>
            </a:r>
          </a:p>
        </p:txBody>
      </p:sp>
      <p:sp>
        <p:nvSpPr>
          <p:cNvPr id="19" name="矩形 18">
            <a:extLst>
              <a:ext uri="{FF2B5EF4-FFF2-40B4-BE49-F238E27FC236}">
                <a16:creationId xmlns:a16="http://schemas.microsoft.com/office/drawing/2014/main" id="{396E3A4E-3DCE-51D1-DE56-78AC0CFE008B}"/>
              </a:ext>
            </a:extLst>
          </p:cNvPr>
          <p:cNvSpPr/>
          <p:nvPr/>
        </p:nvSpPr>
        <p:spPr>
          <a:xfrm>
            <a:off x="551383" y="820392"/>
            <a:ext cx="10369153" cy="904863"/>
          </a:xfrm>
          <a:prstGeom prst="rect">
            <a:avLst/>
          </a:prstGeom>
        </p:spPr>
        <p:txBody>
          <a:bodyPr wrap="square">
            <a:spAutoFit/>
          </a:bodyPr>
          <a:lstStyle/>
          <a:p>
            <a:pPr lvl="0" algn="just">
              <a:lnSpc>
                <a:spcPct val="110000"/>
              </a:lnSpc>
              <a:defRPr/>
            </a:pPr>
            <a:r>
              <a:rPr lang="zh-CN" altLang="en-US" i="0" dirty="0">
                <a:solidFill>
                  <a:srgbClr val="0033CC"/>
                </a:solidFill>
                <a:ea typeface="黑体" panose="02010609060101010101" pitchFamily="49" charset="-122"/>
              </a:rPr>
              <a:t>例 </a:t>
            </a:r>
            <a:r>
              <a:rPr kumimoji="1" lang="zh-CN" altLang="en-US" i="0" dirty="0">
                <a:solidFill>
                  <a:schemeClr val="tx1"/>
                </a:solidFill>
                <a:ea typeface="黑体" panose="02010609060101010101" pitchFamily="49" charset="-122"/>
              </a:rPr>
              <a:t>图示阶梯杆，已知横截面面积</a:t>
            </a:r>
            <a:r>
              <a:rPr kumimoji="1" lang="en-US" altLang="zh-CN" b="0" dirty="0">
                <a:solidFill>
                  <a:schemeClr val="tx1"/>
                </a:solidFill>
                <a:ea typeface="黑体" panose="02010609060101010101" pitchFamily="49" charset="-122"/>
              </a:rPr>
              <a:t>A</a:t>
            </a:r>
            <a:r>
              <a:rPr kumimoji="1" lang="en-US" altLang="zh-CN" b="0" baseline="-25000" dirty="0">
                <a:solidFill>
                  <a:schemeClr val="tx1"/>
                </a:solidFill>
                <a:ea typeface="黑体" panose="02010609060101010101" pitchFamily="49" charset="-122"/>
              </a:rPr>
              <a:t>AB</a:t>
            </a:r>
            <a:r>
              <a:rPr kumimoji="1" lang="en-US" altLang="zh-CN" b="0"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rPr>
              <a:t>A</a:t>
            </a:r>
            <a:r>
              <a:rPr kumimoji="1" lang="en-US" altLang="zh-CN" b="0" baseline="-25000" dirty="0">
                <a:solidFill>
                  <a:schemeClr val="tx1"/>
                </a:solidFill>
                <a:ea typeface="黑体" panose="02010609060101010101" pitchFamily="49" charset="-122"/>
              </a:rPr>
              <a:t>BC</a:t>
            </a:r>
            <a:r>
              <a:rPr kumimoji="1" lang="en-US" altLang="zh-CN" b="0" i="0" dirty="0">
                <a:solidFill>
                  <a:schemeClr val="tx1"/>
                </a:solidFill>
                <a:ea typeface="黑体" panose="02010609060101010101" pitchFamily="49" charset="-122"/>
              </a:rPr>
              <a:t>=500mm</a:t>
            </a:r>
            <a:r>
              <a:rPr kumimoji="1" lang="en-US" altLang="zh-CN" b="0" i="0" baseline="30000" dirty="0">
                <a:solidFill>
                  <a:schemeClr val="tx1"/>
                </a:solidFill>
                <a:ea typeface="黑体" panose="02010609060101010101" pitchFamily="49" charset="-122"/>
              </a:rPr>
              <a:t>2</a:t>
            </a:r>
            <a:r>
              <a:rPr kumimoji="1" lang="zh-CN" altLang="en-US"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rPr>
              <a:t>A</a:t>
            </a:r>
            <a:r>
              <a:rPr kumimoji="1" lang="en-US" altLang="zh-CN" b="0" baseline="-25000" dirty="0">
                <a:solidFill>
                  <a:schemeClr val="tx1"/>
                </a:solidFill>
                <a:ea typeface="黑体" panose="02010609060101010101" pitchFamily="49" charset="-122"/>
              </a:rPr>
              <a:t>CD</a:t>
            </a:r>
            <a:r>
              <a:rPr kumimoji="1" lang="en-US" altLang="zh-CN" b="0" i="0" dirty="0">
                <a:solidFill>
                  <a:schemeClr val="tx1"/>
                </a:solidFill>
                <a:ea typeface="黑体" panose="02010609060101010101" pitchFamily="49" charset="-122"/>
              </a:rPr>
              <a:t>=300mm</a:t>
            </a:r>
            <a:r>
              <a:rPr kumimoji="1" lang="en-US" altLang="zh-CN" b="0" i="0" baseline="30000" dirty="0">
                <a:solidFill>
                  <a:schemeClr val="tx1"/>
                </a:solidFill>
                <a:ea typeface="黑体" panose="02010609060101010101" pitchFamily="49" charset="-122"/>
              </a:rPr>
              <a:t>2</a:t>
            </a:r>
            <a:r>
              <a:rPr kumimoji="1" lang="zh-CN" altLang="en-US" i="0" dirty="0">
                <a:solidFill>
                  <a:schemeClr val="tx1"/>
                </a:solidFill>
                <a:ea typeface="黑体" panose="02010609060101010101" pitchFamily="49" charset="-122"/>
              </a:rPr>
              <a:t>，弹性模量</a:t>
            </a:r>
            <a:r>
              <a:rPr kumimoji="1" lang="en-US" altLang="zh-CN" b="0" dirty="0">
                <a:solidFill>
                  <a:schemeClr val="tx1"/>
                </a:solidFill>
                <a:ea typeface="黑体" panose="02010609060101010101" pitchFamily="49" charset="-122"/>
              </a:rPr>
              <a:t>E</a:t>
            </a:r>
            <a:r>
              <a:rPr kumimoji="1" lang="en-US" altLang="zh-CN" b="0" i="0" dirty="0">
                <a:solidFill>
                  <a:schemeClr val="tx1"/>
                </a:solidFill>
                <a:ea typeface="黑体" panose="02010609060101010101" pitchFamily="49" charset="-122"/>
              </a:rPr>
              <a:t>=200GPa</a:t>
            </a:r>
            <a:r>
              <a:rPr kumimoji="1" lang="zh-CN" altLang="en-US" i="0" dirty="0">
                <a:solidFill>
                  <a:schemeClr val="tx1"/>
                </a:solidFill>
                <a:ea typeface="黑体" panose="02010609060101010101" pitchFamily="49" charset="-122"/>
              </a:rPr>
              <a:t>。试求杆的总伸长。 </a:t>
            </a:r>
            <a:endParaRPr lang="zh-CN" altLang="en-US" i="0" dirty="0">
              <a:solidFill>
                <a:schemeClr val="tx1"/>
              </a:solidFill>
              <a:ea typeface="黑体" panose="02010609060101010101" pitchFamily="49" charset="-122"/>
              <a:cs typeface="Times New Roman" panose="02020603050405020304" pitchFamily="18" charset="0"/>
            </a:endParaRPr>
          </a:p>
        </p:txBody>
      </p:sp>
      <p:sp>
        <p:nvSpPr>
          <p:cNvPr id="136" name="矩形 135">
            <a:extLst>
              <a:ext uri="{FF2B5EF4-FFF2-40B4-BE49-F238E27FC236}">
                <a16:creationId xmlns:a16="http://schemas.microsoft.com/office/drawing/2014/main" id="{396E3A4E-3DCE-51D1-DE56-78AC0CFE008B}"/>
              </a:ext>
            </a:extLst>
          </p:cNvPr>
          <p:cNvSpPr/>
          <p:nvPr/>
        </p:nvSpPr>
        <p:spPr>
          <a:xfrm>
            <a:off x="551382" y="1619603"/>
            <a:ext cx="10324731" cy="1458861"/>
          </a:xfrm>
          <a:prstGeom prst="rect">
            <a:avLst/>
          </a:prstGeom>
        </p:spPr>
        <p:txBody>
          <a:bodyPr wrap="square">
            <a:spAutoFit/>
          </a:bodyPr>
          <a:lstStyle/>
          <a:p>
            <a:pPr lvl="0" algn="just">
              <a:lnSpc>
                <a:spcPct val="125000"/>
              </a:lnSpc>
            </a:pPr>
            <a:r>
              <a:rPr lang="zh-CN" altLang="en-US" i="0" dirty="0">
                <a:solidFill>
                  <a:srgbClr val="0033CC"/>
                </a:solidFill>
                <a:ea typeface="黑体" panose="02010609060101010101" pitchFamily="49" charset="-122"/>
              </a:rPr>
              <a:t>解  </a:t>
            </a:r>
            <a:r>
              <a:rPr kumimoji="1" lang="en-US" altLang="zh-CN" i="0" dirty="0">
                <a:solidFill>
                  <a:schemeClr val="tx1"/>
                </a:solidFill>
                <a:ea typeface="黑体" panose="02010609060101010101" pitchFamily="49" charset="-122"/>
              </a:rPr>
              <a:t>1</a:t>
            </a:r>
            <a:r>
              <a:rPr kumimoji="1" lang="zh-CN" altLang="en-US" i="0" dirty="0">
                <a:solidFill>
                  <a:schemeClr val="tx1"/>
                </a:solidFill>
                <a:ea typeface="黑体" panose="02010609060101010101" pitchFamily="49" charset="-122"/>
              </a:rPr>
              <a:t>）作轴力图。用截面法求得</a:t>
            </a:r>
            <a:r>
              <a:rPr kumimoji="1" lang="en-US" altLang="zh-CN" dirty="0">
                <a:solidFill>
                  <a:schemeClr val="tx1"/>
                </a:solidFill>
                <a:ea typeface="黑体" panose="02010609060101010101" pitchFamily="49" charset="-122"/>
              </a:rPr>
              <a:t>CD</a:t>
            </a:r>
            <a:r>
              <a:rPr kumimoji="1" lang="zh-CN" altLang="en-US" i="0" dirty="0">
                <a:solidFill>
                  <a:schemeClr val="tx1"/>
                </a:solidFill>
                <a:ea typeface="黑体" panose="02010609060101010101" pitchFamily="49" charset="-122"/>
              </a:rPr>
              <a:t>段和</a:t>
            </a:r>
            <a:r>
              <a:rPr kumimoji="1" lang="en-US" altLang="zh-CN" b="0" dirty="0">
                <a:solidFill>
                  <a:schemeClr val="tx1"/>
                </a:solidFill>
                <a:ea typeface="黑体" panose="02010609060101010101" pitchFamily="49" charset="-122"/>
              </a:rPr>
              <a:t>BC</a:t>
            </a:r>
            <a:r>
              <a:rPr kumimoji="1" lang="zh-CN" altLang="en-US" i="0" dirty="0">
                <a:solidFill>
                  <a:schemeClr val="tx1"/>
                </a:solidFill>
                <a:ea typeface="黑体" panose="02010609060101010101" pitchFamily="49" charset="-122"/>
              </a:rPr>
              <a:t>段的轴力</a:t>
            </a:r>
            <a:r>
              <a:rPr kumimoji="1" lang="en-US" altLang="zh-CN" b="0" dirty="0">
                <a:solidFill>
                  <a:schemeClr val="tx1"/>
                </a:solidFill>
                <a:ea typeface="黑体" panose="02010609060101010101" pitchFamily="49" charset="-122"/>
              </a:rPr>
              <a:t>F</a:t>
            </a:r>
            <a:r>
              <a:rPr kumimoji="1" lang="en-US" altLang="zh-CN" b="0" i="0" baseline="-25000" dirty="0">
                <a:solidFill>
                  <a:schemeClr val="tx1"/>
                </a:solidFill>
                <a:ea typeface="黑体" panose="02010609060101010101" pitchFamily="49" charset="-122"/>
              </a:rPr>
              <a:t>N</a:t>
            </a:r>
            <a:r>
              <a:rPr kumimoji="1" lang="en-US" altLang="zh-CN" b="0" baseline="-25000" dirty="0">
                <a:solidFill>
                  <a:schemeClr val="tx1"/>
                </a:solidFill>
                <a:ea typeface="黑体" panose="02010609060101010101" pitchFamily="49" charset="-122"/>
              </a:rPr>
              <a:t>CD</a:t>
            </a:r>
            <a:r>
              <a:rPr kumimoji="1" lang="en-US" altLang="zh-CN" b="0"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rPr>
              <a:t>F</a:t>
            </a:r>
            <a:r>
              <a:rPr kumimoji="1" lang="en-US" altLang="zh-CN" b="0" i="0" baseline="-25000" dirty="0">
                <a:solidFill>
                  <a:schemeClr val="tx1"/>
                </a:solidFill>
                <a:ea typeface="黑体" panose="02010609060101010101" pitchFamily="49" charset="-122"/>
              </a:rPr>
              <a:t>N</a:t>
            </a:r>
            <a:r>
              <a:rPr kumimoji="1" lang="en-US" altLang="zh-CN" b="0" baseline="-25000" dirty="0">
                <a:solidFill>
                  <a:schemeClr val="tx1"/>
                </a:solidFill>
                <a:ea typeface="黑体" panose="02010609060101010101" pitchFamily="49" charset="-122"/>
              </a:rPr>
              <a:t>BC</a:t>
            </a:r>
            <a:r>
              <a:rPr kumimoji="1" lang="en-US" altLang="zh-CN" b="0" i="0" dirty="0">
                <a:solidFill>
                  <a:schemeClr val="tx1"/>
                </a:solidFill>
                <a:ea typeface="黑体" panose="02010609060101010101" pitchFamily="49" charset="-122"/>
              </a:rPr>
              <a:t>=</a:t>
            </a:r>
            <a:r>
              <a:rPr kumimoji="1" lang="en-US" altLang="zh-CN" b="0" i="0" dirty="0">
                <a:solidFill>
                  <a:schemeClr val="tx1"/>
                </a:solidFill>
                <a:latin typeface="宋体" panose="02010600030101010101" pitchFamily="2" charset="-122"/>
              </a:rPr>
              <a:t>-</a:t>
            </a:r>
            <a:r>
              <a:rPr kumimoji="1" lang="en-US" altLang="zh-CN" b="0" i="0" dirty="0">
                <a:solidFill>
                  <a:schemeClr val="tx1"/>
                </a:solidFill>
                <a:ea typeface="黑体" panose="02010609060101010101" pitchFamily="49" charset="-122"/>
              </a:rPr>
              <a:t>10kN</a:t>
            </a:r>
            <a:r>
              <a:rPr kumimoji="1" lang="zh-CN" altLang="en-US"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rPr>
              <a:t>AB</a:t>
            </a:r>
            <a:r>
              <a:rPr kumimoji="1" lang="zh-CN" altLang="en-US" i="0" dirty="0">
                <a:solidFill>
                  <a:schemeClr val="tx1"/>
                </a:solidFill>
                <a:ea typeface="黑体" panose="02010609060101010101" pitchFamily="49" charset="-122"/>
              </a:rPr>
              <a:t>段的轴力为</a:t>
            </a:r>
            <a:r>
              <a:rPr kumimoji="1" lang="en-US" altLang="zh-CN" b="0" dirty="0">
                <a:solidFill>
                  <a:schemeClr val="tx1"/>
                </a:solidFill>
                <a:ea typeface="黑体" panose="02010609060101010101" pitchFamily="49" charset="-122"/>
              </a:rPr>
              <a:t>F</a:t>
            </a:r>
            <a:r>
              <a:rPr kumimoji="1" lang="en-US" altLang="zh-CN" b="0" i="0" baseline="-25000" dirty="0">
                <a:solidFill>
                  <a:schemeClr val="tx1"/>
                </a:solidFill>
                <a:ea typeface="黑体" panose="02010609060101010101" pitchFamily="49" charset="-122"/>
              </a:rPr>
              <a:t>N</a:t>
            </a:r>
            <a:r>
              <a:rPr kumimoji="1" lang="en-US" altLang="zh-CN" b="0" baseline="-25000" dirty="0">
                <a:solidFill>
                  <a:schemeClr val="tx1"/>
                </a:solidFill>
                <a:ea typeface="黑体" panose="02010609060101010101" pitchFamily="49" charset="-122"/>
              </a:rPr>
              <a:t>AB</a:t>
            </a:r>
            <a:r>
              <a:rPr kumimoji="1" lang="en-US" altLang="zh-CN" b="0" i="0" dirty="0">
                <a:solidFill>
                  <a:schemeClr val="tx1"/>
                </a:solidFill>
                <a:ea typeface="黑体" panose="02010609060101010101" pitchFamily="49" charset="-122"/>
              </a:rPr>
              <a:t>=20kN</a:t>
            </a:r>
            <a:r>
              <a:rPr kumimoji="1" lang="zh-CN" altLang="en-US" i="0" dirty="0">
                <a:solidFill>
                  <a:schemeClr val="tx1"/>
                </a:solidFill>
                <a:ea typeface="黑体" panose="02010609060101010101" pitchFamily="49" charset="-122"/>
              </a:rPr>
              <a:t>，画出杆的轴力图 。</a:t>
            </a:r>
          </a:p>
          <a:p>
            <a:pPr lvl="0" eaLnBrk="0" hangingPunct="0">
              <a:lnSpc>
                <a:spcPct val="120000"/>
              </a:lnSpc>
            </a:pPr>
            <a:endParaRPr kumimoji="1" lang="zh-CN" altLang="en-US" sz="2400" i="0" u="none" strike="noStrike" kern="1200" cap="none" spc="0" normalizeH="0" baseline="0" noProof="0" dirty="0">
              <a:ln>
                <a:noFill/>
              </a:ln>
              <a:solidFill>
                <a:schemeClr val="tx1"/>
              </a:solidFill>
              <a:effectLst/>
              <a:uLnTx/>
              <a:uFillTx/>
              <a:latin typeface="+mn-lt"/>
              <a:ea typeface="黑体" panose="02010609060101010101" pitchFamily="49" charset="-122"/>
            </a:endParaRPr>
          </a:p>
        </p:txBody>
      </p:sp>
      <p:sp>
        <p:nvSpPr>
          <p:cNvPr id="2" name="Rectangle 61">
            <a:extLst>
              <a:ext uri="{FF2B5EF4-FFF2-40B4-BE49-F238E27FC236}">
                <a16:creationId xmlns:a16="http://schemas.microsoft.com/office/drawing/2014/main" id="{E746119E-2B09-2980-E8E2-5F100493CF6E}"/>
              </a:ext>
            </a:extLst>
          </p:cNvPr>
          <p:cNvSpPr>
            <a:spLocks noChangeArrowheads="1"/>
          </p:cNvSpPr>
          <p:nvPr/>
        </p:nvSpPr>
        <p:spPr bwMode="auto">
          <a:xfrm>
            <a:off x="6600056" y="2263936"/>
            <a:ext cx="5544616" cy="3404375"/>
          </a:xfrm>
          <a:prstGeom prst="rect">
            <a:avLst/>
          </a:prstGeom>
          <a:solidFill>
            <a:srgbClr val="B9CDE5"/>
          </a:solidFill>
          <a:ln>
            <a:noFill/>
          </a:ln>
          <a:effectLst/>
        </p:spPr>
        <p:txBody>
          <a:bodyPr wrap="none" anchor="ctr"/>
          <a:lstStyle/>
          <a:p>
            <a:endParaRPr lang="zh-CN" altLang="en-US" dirty="0"/>
          </a:p>
        </p:txBody>
      </p:sp>
      <p:sp>
        <p:nvSpPr>
          <p:cNvPr id="263" name="矩形 262">
            <a:extLst>
              <a:ext uri="{FF2B5EF4-FFF2-40B4-BE49-F238E27FC236}">
                <a16:creationId xmlns:a16="http://schemas.microsoft.com/office/drawing/2014/main" id="{869757DD-0866-5287-A0EC-2DBC9D2AE5A6}"/>
              </a:ext>
            </a:extLst>
          </p:cNvPr>
          <p:cNvSpPr/>
          <p:nvPr/>
        </p:nvSpPr>
        <p:spPr>
          <a:xfrm>
            <a:off x="551383" y="2585316"/>
            <a:ext cx="6585628" cy="493148"/>
          </a:xfrm>
          <a:prstGeom prst="rect">
            <a:avLst/>
          </a:prstGeom>
        </p:spPr>
        <p:txBody>
          <a:bodyPr wrap="square">
            <a:spAutoFit/>
          </a:bodyPr>
          <a:lstStyle/>
          <a:p>
            <a:pPr eaLnBrk="0" hangingPunct="0">
              <a:lnSpc>
                <a:spcPct val="120000"/>
              </a:lnSpc>
            </a:pPr>
            <a:r>
              <a:rPr lang="zh-CN" altLang="en-US" i="0" dirty="0">
                <a:solidFill>
                  <a:srgbClr val="0033CC"/>
                </a:solidFill>
                <a:ea typeface="黑体" panose="02010609060101010101" pitchFamily="49" charset="-122"/>
              </a:rPr>
              <a:t>       </a:t>
            </a:r>
            <a:r>
              <a:rPr kumimoji="1" lang="en-US" altLang="zh-CN" i="0" dirty="0">
                <a:solidFill>
                  <a:schemeClr val="tx1"/>
                </a:solidFill>
                <a:ea typeface="黑体" panose="02010609060101010101" pitchFamily="49" charset="-122"/>
              </a:rPr>
              <a:t>2</a:t>
            </a:r>
            <a:r>
              <a:rPr kumimoji="1" lang="zh-CN" altLang="en-US" i="0" dirty="0">
                <a:solidFill>
                  <a:schemeClr val="tx1"/>
                </a:solidFill>
                <a:ea typeface="黑体" panose="02010609060101010101" pitchFamily="49" charset="-122"/>
              </a:rPr>
              <a:t>）计算各段杆的变形量</a:t>
            </a:r>
          </a:p>
        </p:txBody>
      </p:sp>
      <p:sp>
        <p:nvSpPr>
          <p:cNvPr id="37" name="Text Box 73"/>
          <p:cNvSpPr txBox="1">
            <a:spLocks noChangeAspect="1" noChangeArrowheads="1"/>
          </p:cNvSpPr>
          <p:nvPr/>
        </p:nvSpPr>
        <p:spPr bwMode="auto">
          <a:xfrm>
            <a:off x="7496326" y="4660638"/>
            <a:ext cx="4762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O</a:t>
            </a:r>
            <a:endParaRPr kumimoji="1" lang="en-US" altLang="zh-CN" sz="2400" b="0" u="none" strike="noStrike" kern="0" cap="none" spc="0" normalizeH="0" baseline="-25000" noProof="0" dirty="0">
              <a:ln>
                <a:noFill/>
              </a:ln>
              <a:solidFill>
                <a:srgbClr val="000000"/>
              </a:solidFill>
              <a:effectLst/>
              <a:uLnTx/>
              <a:uFillTx/>
              <a:latin typeface="Times New Roman" panose="02020603050405020304" pitchFamily="18" charset="0"/>
            </a:endParaRPr>
          </a:p>
        </p:txBody>
      </p:sp>
      <p:grpSp>
        <p:nvGrpSpPr>
          <p:cNvPr id="38" name="Group 97"/>
          <p:cNvGrpSpPr>
            <a:grpSpLocks/>
          </p:cNvGrpSpPr>
          <p:nvPr/>
        </p:nvGrpSpPr>
        <p:grpSpPr bwMode="auto">
          <a:xfrm>
            <a:off x="7661426" y="2382575"/>
            <a:ext cx="4038600" cy="1593850"/>
            <a:chOff x="2388" y="-30"/>
            <a:chExt cx="2544" cy="1004"/>
          </a:xfrm>
        </p:grpSpPr>
        <p:sp>
          <p:nvSpPr>
            <p:cNvPr id="39" name="Rectangle 47"/>
            <p:cNvSpPr>
              <a:spLocks noChangeAspect="1" noChangeArrowheads="1"/>
            </p:cNvSpPr>
            <p:nvPr/>
          </p:nvSpPr>
          <p:spPr bwMode="auto">
            <a:xfrm flipV="1">
              <a:off x="3615" y="307"/>
              <a:ext cx="548" cy="261"/>
            </a:xfrm>
            <a:prstGeom prst="rect">
              <a:avLst/>
            </a:prstGeom>
            <a:gradFill rotWithShape="1">
              <a:gsLst>
                <a:gs pos="0">
                  <a:srgbClr val="767676"/>
                </a:gs>
                <a:gs pos="50000">
                  <a:srgbClr val="FFFFFF"/>
                </a:gs>
                <a:gs pos="100000">
                  <a:srgbClr val="767676"/>
                </a:gs>
              </a:gsLst>
              <a:lin ang="5400000" scaled="1"/>
            </a:gradFill>
            <a:ln w="28575">
              <a:solidFill>
                <a:srgbClr val="000000"/>
              </a:solidFill>
              <a:miter lim="800000"/>
              <a:headEnd/>
              <a:tailEnd type="none" w="sm" len="sm"/>
            </a:ln>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40" name="Rectangle 12"/>
            <p:cNvSpPr>
              <a:spLocks noChangeAspect="1" noChangeArrowheads="1"/>
            </p:cNvSpPr>
            <p:nvPr/>
          </p:nvSpPr>
          <p:spPr bwMode="auto">
            <a:xfrm flipV="1">
              <a:off x="2508" y="231"/>
              <a:ext cx="1110" cy="418"/>
            </a:xfrm>
            <a:prstGeom prst="rect">
              <a:avLst/>
            </a:prstGeom>
            <a:gradFill rotWithShape="1">
              <a:gsLst>
                <a:gs pos="0">
                  <a:srgbClr val="767676"/>
                </a:gs>
                <a:gs pos="50000">
                  <a:srgbClr val="FFFFFF"/>
                </a:gs>
                <a:gs pos="100000">
                  <a:srgbClr val="767676"/>
                </a:gs>
              </a:gsLst>
              <a:lin ang="5400000" scaled="1"/>
            </a:gradFill>
            <a:ln w="28575">
              <a:solidFill>
                <a:srgbClr val="000000"/>
              </a:solidFill>
              <a:miter lim="800000"/>
              <a:headEnd/>
              <a:tailEnd type="none" w="sm" len="sm"/>
            </a:ln>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41" name="Text Box 14"/>
            <p:cNvSpPr txBox="1">
              <a:spLocks noChangeAspect="1" noChangeArrowheads="1"/>
            </p:cNvSpPr>
            <p:nvPr/>
          </p:nvSpPr>
          <p:spPr bwMode="auto">
            <a:xfrm>
              <a:off x="4320" y="219"/>
              <a:ext cx="612" cy="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9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10kN</a:t>
              </a:r>
              <a:endParaRPr kumimoji="1" lang="en-US" altLang="zh-CN" sz="2400" b="0"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42" name="Text Box 15"/>
            <p:cNvSpPr txBox="1">
              <a:spLocks noChangeAspect="1" noChangeArrowheads="1"/>
            </p:cNvSpPr>
            <p:nvPr/>
          </p:nvSpPr>
          <p:spPr bwMode="auto">
            <a:xfrm>
              <a:off x="2508" y="-23"/>
              <a:ext cx="300"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a:t>
              </a:r>
            </a:p>
          </p:txBody>
        </p:sp>
        <p:sp>
          <p:nvSpPr>
            <p:cNvPr id="43" name="Text Box 16"/>
            <p:cNvSpPr txBox="1">
              <a:spLocks noChangeAspect="1" noChangeArrowheads="1"/>
            </p:cNvSpPr>
            <p:nvPr/>
          </p:nvSpPr>
          <p:spPr bwMode="auto">
            <a:xfrm>
              <a:off x="2975" y="-30"/>
              <a:ext cx="253"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fontAlgn="auto" hangingPunct="1">
                <a:spcBef>
                  <a:spcPts val="0"/>
                </a:spcBef>
                <a:spcAft>
                  <a:spcPts val="0"/>
                </a:spcAft>
              </a:pPr>
              <a:r>
                <a:rPr lang="en-US" altLang="zh-CN" b="0" kern="0" dirty="0">
                  <a:solidFill>
                    <a:srgbClr val="000000"/>
                  </a:solidFill>
                  <a:ea typeface="宋体" panose="02010600030101010101" pitchFamily="2" charset="-122"/>
                </a:rPr>
                <a:t>B</a:t>
              </a:r>
            </a:p>
          </p:txBody>
        </p:sp>
        <p:sp>
          <p:nvSpPr>
            <p:cNvPr id="44" name="Line 17"/>
            <p:cNvSpPr>
              <a:spLocks noChangeShapeType="1"/>
            </p:cNvSpPr>
            <p:nvPr/>
          </p:nvSpPr>
          <p:spPr bwMode="auto">
            <a:xfrm flipV="1">
              <a:off x="2514" y="437"/>
              <a:ext cx="1670" cy="6"/>
            </a:xfrm>
            <a:prstGeom prst="line">
              <a:avLst/>
            </a:prstGeom>
            <a:noFill/>
            <a:ln w="9525">
              <a:solidFill>
                <a:srgbClr val="000000"/>
              </a:solidFill>
              <a:prstDash val="lgDashDot"/>
              <a:round/>
              <a:headEnd/>
              <a:tailE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45" name="Text Box 19"/>
            <p:cNvSpPr txBox="1">
              <a:spLocks noChangeAspect="1" noChangeArrowheads="1"/>
            </p:cNvSpPr>
            <p:nvPr/>
          </p:nvSpPr>
          <p:spPr bwMode="auto">
            <a:xfrm>
              <a:off x="4037" y="55"/>
              <a:ext cx="258"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fontAlgn="auto" hangingPunct="1">
                <a:spcBef>
                  <a:spcPts val="0"/>
                </a:spcBef>
                <a:spcAft>
                  <a:spcPts val="0"/>
                </a:spcAft>
              </a:pPr>
              <a:r>
                <a:rPr lang="en-US" altLang="zh-CN" b="0" kern="0" dirty="0">
                  <a:solidFill>
                    <a:srgbClr val="000000"/>
                  </a:solidFill>
                  <a:ea typeface="宋体" panose="02010600030101010101" pitchFamily="2" charset="-122"/>
                </a:rPr>
                <a:t>D</a:t>
              </a:r>
            </a:p>
          </p:txBody>
        </p:sp>
        <p:sp>
          <p:nvSpPr>
            <p:cNvPr id="46" name="Line 22"/>
            <p:cNvSpPr>
              <a:spLocks noChangeAspect="1" noChangeShapeType="1"/>
            </p:cNvSpPr>
            <p:nvPr/>
          </p:nvSpPr>
          <p:spPr bwMode="auto">
            <a:xfrm>
              <a:off x="3063" y="218"/>
              <a:ext cx="0" cy="429"/>
            </a:xfrm>
            <a:prstGeom prst="line">
              <a:avLst/>
            </a:prstGeom>
            <a:noFill/>
            <a:ln w="3175">
              <a:solidFill>
                <a:srgbClr val="000000"/>
              </a:solidFill>
              <a:round/>
              <a:headEnd/>
              <a:tailEnd type="none" w="sm" len="sm"/>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47" name="Line 23"/>
            <p:cNvSpPr>
              <a:spLocks noChangeAspect="1" noChangeShapeType="1"/>
            </p:cNvSpPr>
            <p:nvPr/>
          </p:nvSpPr>
          <p:spPr bwMode="auto">
            <a:xfrm flipH="1">
              <a:off x="4167" y="437"/>
              <a:ext cx="434" cy="0"/>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48" name="Text Box 24"/>
            <p:cNvSpPr txBox="1">
              <a:spLocks noChangeAspect="1" noChangeArrowheads="1"/>
            </p:cNvSpPr>
            <p:nvPr/>
          </p:nvSpPr>
          <p:spPr bwMode="auto">
            <a:xfrm>
              <a:off x="3462" y="-17"/>
              <a:ext cx="258"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fontAlgn="auto" hangingPunct="1">
                <a:spcBef>
                  <a:spcPts val="0"/>
                </a:spcBef>
                <a:spcAft>
                  <a:spcPts val="0"/>
                </a:spcAft>
              </a:pPr>
              <a:r>
                <a:rPr lang="en-US" altLang="zh-CN" b="0" kern="0" dirty="0">
                  <a:solidFill>
                    <a:srgbClr val="000000"/>
                  </a:solidFill>
                  <a:ea typeface="宋体" panose="02010600030101010101" pitchFamily="2" charset="-122"/>
                </a:rPr>
                <a:t>C</a:t>
              </a:r>
            </a:p>
          </p:txBody>
        </p:sp>
        <p:grpSp>
          <p:nvGrpSpPr>
            <p:cNvPr id="49" name="Group 27"/>
            <p:cNvGrpSpPr>
              <a:grpSpLocks/>
            </p:cNvGrpSpPr>
            <p:nvPr/>
          </p:nvGrpSpPr>
          <p:grpSpPr bwMode="auto">
            <a:xfrm>
              <a:off x="2388" y="168"/>
              <a:ext cx="126" cy="527"/>
              <a:chOff x="2405" y="750"/>
              <a:chExt cx="118" cy="530"/>
            </a:xfrm>
          </p:grpSpPr>
          <p:sp>
            <p:nvSpPr>
              <p:cNvPr id="67" name="Rectangle 28" descr="宽上对角线"/>
              <p:cNvSpPr>
                <a:spLocks noChangeArrowheads="1"/>
              </p:cNvSpPr>
              <p:nvPr/>
            </p:nvSpPr>
            <p:spPr bwMode="auto">
              <a:xfrm>
                <a:off x="2405" y="750"/>
                <a:ext cx="118" cy="530"/>
              </a:xfrm>
              <a:prstGeom prst="rect">
                <a:avLst/>
              </a:prstGeom>
              <a:pattFill prst="wdUpDiag">
                <a:fgClr>
                  <a:srgbClr val="000000"/>
                </a:fgClr>
                <a:bgClr>
                  <a:srgbClr val="FFFF66"/>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68" name="Line 29"/>
              <p:cNvSpPr>
                <a:spLocks noChangeShapeType="1"/>
              </p:cNvSpPr>
              <p:nvPr/>
            </p:nvSpPr>
            <p:spPr bwMode="auto">
              <a:xfrm>
                <a:off x="2514" y="750"/>
                <a:ext cx="0" cy="521"/>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50" name="Line 30"/>
            <p:cNvSpPr>
              <a:spLocks noChangeAspect="1" noChangeShapeType="1"/>
            </p:cNvSpPr>
            <p:nvPr/>
          </p:nvSpPr>
          <p:spPr bwMode="auto">
            <a:xfrm>
              <a:off x="3060" y="445"/>
              <a:ext cx="319" cy="1"/>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nvGrpSpPr>
            <p:cNvPr id="51" name="Group 77"/>
            <p:cNvGrpSpPr>
              <a:grpSpLocks/>
            </p:cNvGrpSpPr>
            <p:nvPr/>
          </p:nvGrpSpPr>
          <p:grpSpPr bwMode="auto">
            <a:xfrm>
              <a:off x="2520" y="820"/>
              <a:ext cx="553" cy="153"/>
              <a:chOff x="2974" y="2993"/>
              <a:chExt cx="373" cy="153"/>
            </a:xfrm>
          </p:grpSpPr>
          <p:sp>
            <p:nvSpPr>
              <p:cNvPr id="64" name="Line 78"/>
              <p:cNvSpPr>
                <a:spLocks noChangeShapeType="1"/>
              </p:cNvSpPr>
              <p:nvPr/>
            </p:nvSpPr>
            <p:spPr bwMode="auto">
              <a:xfrm>
                <a:off x="2977" y="2996"/>
                <a:ext cx="0" cy="1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65" name="Line 79"/>
              <p:cNvSpPr>
                <a:spLocks noChangeShapeType="1"/>
              </p:cNvSpPr>
              <p:nvPr/>
            </p:nvSpPr>
            <p:spPr bwMode="auto">
              <a:xfrm>
                <a:off x="3344" y="2993"/>
                <a:ext cx="0" cy="1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66" name="Line 80"/>
              <p:cNvSpPr>
                <a:spLocks noChangeShapeType="1"/>
              </p:cNvSpPr>
              <p:nvPr/>
            </p:nvSpPr>
            <p:spPr bwMode="auto">
              <a:xfrm>
                <a:off x="2974" y="3093"/>
                <a:ext cx="373" cy="0"/>
              </a:xfrm>
              <a:prstGeom prst="line">
                <a:avLst/>
              </a:prstGeom>
              <a:noFill/>
              <a:ln w="9525">
                <a:solidFill>
                  <a:srgbClr val="000000"/>
                </a:solidFill>
                <a:round/>
                <a:headEnd type="stealth" w="sm" len="med"/>
                <a:tailEnd type="stealth" w="sm" len="me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52" name="Text Box 85"/>
            <p:cNvSpPr txBox="1">
              <a:spLocks noChangeAspect="1" noChangeArrowheads="1"/>
            </p:cNvSpPr>
            <p:nvPr/>
          </p:nvSpPr>
          <p:spPr bwMode="auto">
            <a:xfrm>
              <a:off x="2460" y="629"/>
              <a:ext cx="588" cy="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20000"/>
                </a:lnSpc>
                <a:spcBef>
                  <a:spcPts val="0"/>
                </a:spcBef>
                <a:spcAft>
                  <a:spcPts val="0"/>
                </a:spcAft>
                <a:buClrTx/>
                <a:buSzTx/>
                <a:buFontTx/>
                <a:buNone/>
                <a:tabLst/>
                <a:defRPr/>
              </a:pPr>
              <a:endParaRPr kumimoji="1" lang="en-US" altLang="zh-CN" sz="2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12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 </a:t>
              </a: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100</a:t>
              </a:r>
            </a:p>
          </p:txBody>
        </p:sp>
        <p:grpSp>
          <p:nvGrpSpPr>
            <p:cNvPr id="53" name="Group 86"/>
            <p:cNvGrpSpPr>
              <a:grpSpLocks/>
            </p:cNvGrpSpPr>
            <p:nvPr/>
          </p:nvGrpSpPr>
          <p:grpSpPr bwMode="auto">
            <a:xfrm>
              <a:off x="3064" y="821"/>
              <a:ext cx="553" cy="153"/>
              <a:chOff x="2974" y="2993"/>
              <a:chExt cx="373" cy="153"/>
            </a:xfrm>
          </p:grpSpPr>
          <p:sp>
            <p:nvSpPr>
              <p:cNvPr id="61" name="Line 87"/>
              <p:cNvSpPr>
                <a:spLocks noChangeShapeType="1"/>
              </p:cNvSpPr>
              <p:nvPr/>
            </p:nvSpPr>
            <p:spPr bwMode="auto">
              <a:xfrm>
                <a:off x="2977" y="2996"/>
                <a:ext cx="0" cy="1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62" name="Line 88"/>
              <p:cNvSpPr>
                <a:spLocks noChangeShapeType="1"/>
              </p:cNvSpPr>
              <p:nvPr/>
            </p:nvSpPr>
            <p:spPr bwMode="auto">
              <a:xfrm>
                <a:off x="3344" y="2993"/>
                <a:ext cx="0" cy="1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63" name="Line 89"/>
              <p:cNvSpPr>
                <a:spLocks noChangeShapeType="1"/>
              </p:cNvSpPr>
              <p:nvPr/>
            </p:nvSpPr>
            <p:spPr bwMode="auto">
              <a:xfrm>
                <a:off x="2974" y="3093"/>
                <a:ext cx="373" cy="0"/>
              </a:xfrm>
              <a:prstGeom prst="line">
                <a:avLst/>
              </a:prstGeom>
              <a:noFill/>
              <a:ln w="9525">
                <a:solidFill>
                  <a:srgbClr val="000000"/>
                </a:solidFill>
                <a:round/>
                <a:headEnd type="stealth" w="sm" len="med"/>
                <a:tailEnd type="stealth" w="sm" len="me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grpSp>
          <p:nvGrpSpPr>
            <p:cNvPr id="54" name="Group 90"/>
            <p:cNvGrpSpPr>
              <a:grpSpLocks/>
            </p:cNvGrpSpPr>
            <p:nvPr/>
          </p:nvGrpSpPr>
          <p:grpSpPr bwMode="auto">
            <a:xfrm>
              <a:off x="3610" y="821"/>
              <a:ext cx="553" cy="153"/>
              <a:chOff x="2974" y="2993"/>
              <a:chExt cx="373" cy="153"/>
            </a:xfrm>
          </p:grpSpPr>
          <p:sp>
            <p:nvSpPr>
              <p:cNvPr id="58" name="Line 91"/>
              <p:cNvSpPr>
                <a:spLocks noChangeShapeType="1"/>
              </p:cNvSpPr>
              <p:nvPr/>
            </p:nvSpPr>
            <p:spPr bwMode="auto">
              <a:xfrm>
                <a:off x="2977" y="2996"/>
                <a:ext cx="0" cy="1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59" name="Line 92"/>
              <p:cNvSpPr>
                <a:spLocks noChangeShapeType="1"/>
              </p:cNvSpPr>
              <p:nvPr/>
            </p:nvSpPr>
            <p:spPr bwMode="auto">
              <a:xfrm>
                <a:off x="3344" y="2993"/>
                <a:ext cx="0" cy="1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60" name="Line 93"/>
              <p:cNvSpPr>
                <a:spLocks noChangeShapeType="1"/>
              </p:cNvSpPr>
              <p:nvPr/>
            </p:nvSpPr>
            <p:spPr bwMode="auto">
              <a:xfrm>
                <a:off x="2974" y="3093"/>
                <a:ext cx="373" cy="0"/>
              </a:xfrm>
              <a:prstGeom prst="line">
                <a:avLst/>
              </a:prstGeom>
              <a:noFill/>
              <a:ln w="9525">
                <a:solidFill>
                  <a:srgbClr val="000000"/>
                </a:solidFill>
                <a:round/>
                <a:headEnd type="stealth" w="sm" len="med"/>
                <a:tailEnd type="stealth" w="sm" len="me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55" name="Text Box 94"/>
            <p:cNvSpPr txBox="1">
              <a:spLocks noChangeAspect="1" noChangeArrowheads="1"/>
            </p:cNvSpPr>
            <p:nvPr/>
          </p:nvSpPr>
          <p:spPr bwMode="auto">
            <a:xfrm>
              <a:off x="3042" y="216"/>
              <a:ext cx="612"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9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30kN</a:t>
              </a:r>
              <a:endParaRPr kumimoji="1" lang="en-US" altLang="zh-CN" sz="2400" b="0"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56" name="Text Box 95"/>
            <p:cNvSpPr txBox="1">
              <a:spLocks noChangeAspect="1" noChangeArrowheads="1"/>
            </p:cNvSpPr>
            <p:nvPr/>
          </p:nvSpPr>
          <p:spPr bwMode="auto">
            <a:xfrm>
              <a:off x="3024" y="634"/>
              <a:ext cx="588" cy="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20000"/>
                </a:lnSpc>
                <a:spcBef>
                  <a:spcPts val="0"/>
                </a:spcBef>
                <a:spcAft>
                  <a:spcPts val="0"/>
                </a:spcAft>
                <a:buClrTx/>
                <a:buSzTx/>
                <a:buFontTx/>
                <a:buNone/>
                <a:tabLst/>
                <a:defRPr/>
              </a:pPr>
              <a:endParaRPr kumimoji="1" lang="en-US" altLang="zh-CN" sz="2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12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 </a:t>
              </a: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100</a:t>
              </a:r>
            </a:p>
          </p:txBody>
        </p:sp>
        <p:sp>
          <p:nvSpPr>
            <p:cNvPr id="57" name="Text Box 96"/>
            <p:cNvSpPr txBox="1">
              <a:spLocks noChangeAspect="1" noChangeArrowheads="1"/>
            </p:cNvSpPr>
            <p:nvPr/>
          </p:nvSpPr>
          <p:spPr bwMode="auto">
            <a:xfrm>
              <a:off x="3573" y="634"/>
              <a:ext cx="588" cy="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20000"/>
                </a:lnSpc>
                <a:spcBef>
                  <a:spcPts val="0"/>
                </a:spcBef>
                <a:spcAft>
                  <a:spcPts val="0"/>
                </a:spcAft>
                <a:buClrTx/>
                <a:buSzTx/>
                <a:buFontTx/>
                <a:buNone/>
                <a:tabLst/>
                <a:defRPr/>
              </a:pPr>
              <a:endParaRPr kumimoji="1" lang="en-US" altLang="zh-CN" sz="2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12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 </a:t>
              </a: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100</a:t>
              </a:r>
            </a:p>
          </p:txBody>
        </p:sp>
      </p:grpSp>
      <p:sp>
        <p:nvSpPr>
          <p:cNvPr id="69" name="Freeform 98" descr="浅色竖线"/>
          <p:cNvSpPr>
            <a:spLocks/>
          </p:cNvSpPr>
          <p:nvPr/>
        </p:nvSpPr>
        <p:spPr bwMode="auto">
          <a:xfrm>
            <a:off x="7842401" y="4360600"/>
            <a:ext cx="2625725" cy="796925"/>
          </a:xfrm>
          <a:custGeom>
            <a:avLst/>
            <a:gdLst>
              <a:gd name="T0" fmla="*/ 9525 w 1654"/>
              <a:gd name="T1" fmla="*/ 504825 h 502"/>
              <a:gd name="T2" fmla="*/ 0 w 1654"/>
              <a:gd name="T3" fmla="*/ 0 h 502"/>
              <a:gd name="T4" fmla="*/ 892175 w 1654"/>
              <a:gd name="T5" fmla="*/ 7938 h 502"/>
              <a:gd name="T6" fmla="*/ 889000 w 1654"/>
              <a:gd name="T7" fmla="*/ 796925 h 502"/>
              <a:gd name="T8" fmla="*/ 2625725 w 1654"/>
              <a:gd name="T9" fmla="*/ 796925 h 502"/>
              <a:gd name="T10" fmla="*/ 2625725 w 1654"/>
              <a:gd name="T11" fmla="*/ 508000 h 502"/>
              <a:gd name="T12" fmla="*/ 9525 w 1654"/>
              <a:gd name="T13" fmla="*/ 504825 h 502"/>
              <a:gd name="T14" fmla="*/ 0 60000 65536"/>
              <a:gd name="T15" fmla="*/ 0 60000 65536"/>
              <a:gd name="T16" fmla="*/ 0 60000 65536"/>
              <a:gd name="T17" fmla="*/ 0 60000 65536"/>
              <a:gd name="T18" fmla="*/ 0 60000 65536"/>
              <a:gd name="T19" fmla="*/ 0 60000 65536"/>
              <a:gd name="T20" fmla="*/ 0 60000 65536"/>
              <a:gd name="T21" fmla="*/ 0 w 1654"/>
              <a:gd name="T22" fmla="*/ 0 h 502"/>
              <a:gd name="T23" fmla="*/ 1654 w 1654"/>
              <a:gd name="T24" fmla="*/ 502 h 50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654" h="502">
                <a:moveTo>
                  <a:pt x="6" y="318"/>
                </a:moveTo>
                <a:lnTo>
                  <a:pt x="0" y="0"/>
                </a:lnTo>
                <a:lnTo>
                  <a:pt x="562" y="5"/>
                </a:lnTo>
                <a:lnTo>
                  <a:pt x="560" y="502"/>
                </a:lnTo>
                <a:lnTo>
                  <a:pt x="1654" y="502"/>
                </a:lnTo>
                <a:lnTo>
                  <a:pt x="1654" y="320"/>
                </a:lnTo>
                <a:lnTo>
                  <a:pt x="6" y="318"/>
                </a:lnTo>
                <a:close/>
              </a:path>
            </a:pathLst>
          </a:custGeom>
          <a:pattFill prst="ltVert">
            <a:fgClr>
              <a:srgbClr val="000000"/>
            </a:fgClr>
            <a:bgClr>
              <a:srgbClr val="00FF99"/>
            </a:bgClr>
          </a:patt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70" name="Line 99"/>
          <p:cNvSpPr>
            <a:spLocks noChangeShapeType="1"/>
          </p:cNvSpPr>
          <p:nvPr/>
        </p:nvSpPr>
        <p:spPr bwMode="auto">
          <a:xfrm>
            <a:off x="7864626" y="4870188"/>
            <a:ext cx="3271838" cy="0"/>
          </a:xfrm>
          <a:prstGeom prst="line">
            <a:avLst/>
          </a:prstGeom>
          <a:noFill/>
          <a:ln w="9525">
            <a:solidFill>
              <a:srgbClr val="000000"/>
            </a:solidFill>
            <a:round/>
            <a:headEnd/>
            <a:tailEnd type="stealth" w="sm" len="lg"/>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71" name="Line 100"/>
          <p:cNvSpPr>
            <a:spLocks noChangeShapeType="1"/>
          </p:cNvSpPr>
          <p:nvPr/>
        </p:nvSpPr>
        <p:spPr bwMode="auto">
          <a:xfrm flipV="1">
            <a:off x="7851926" y="4087550"/>
            <a:ext cx="0" cy="1212850"/>
          </a:xfrm>
          <a:prstGeom prst="line">
            <a:avLst/>
          </a:prstGeom>
          <a:noFill/>
          <a:ln w="9525">
            <a:solidFill>
              <a:srgbClr val="000000"/>
            </a:solidFill>
            <a:round/>
            <a:headEnd/>
            <a:tailEnd type="stealth" w="sm" len="lg"/>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72" name="Line 101"/>
          <p:cNvSpPr>
            <a:spLocks noChangeAspect="1" noChangeShapeType="1"/>
          </p:cNvSpPr>
          <p:nvPr/>
        </p:nvSpPr>
        <p:spPr bwMode="auto">
          <a:xfrm flipV="1">
            <a:off x="7848751" y="4365363"/>
            <a:ext cx="895350" cy="0"/>
          </a:xfrm>
          <a:prstGeom prst="line">
            <a:avLst/>
          </a:prstGeom>
          <a:noFill/>
          <a:ln w="19050">
            <a:solidFill>
              <a:srgbClr val="000000"/>
            </a:solidFill>
            <a:round/>
            <a:headEnd/>
            <a:tailEnd type="none" w="sm" len="sm"/>
          </a:ln>
          <a:extLst>
            <a:ext uri="{909E8E84-426E-40DD-AFC4-6F175D3DCCD1}">
              <a14:hiddenFill xmlns:a14="http://schemas.microsoft.com/office/drawing/2010/main">
                <a:noFill/>
              </a14:hiddenFill>
            </a:ext>
          </a:extLst>
        </p:spPr>
        <p:txBody>
          <a:bodyPr/>
          <a:lstStyle/>
          <a:p>
            <a:pPr algn="ctr"/>
            <a:endParaRPr kumimoji="1" lang="zh-CN" altLang="en-US" b="0" i="0">
              <a:solidFill>
                <a:srgbClr val="FFFFFF"/>
              </a:solidFill>
              <a:ea typeface="黑体" panose="02010609060101010101" pitchFamily="49" charset="-122"/>
            </a:endParaRPr>
          </a:p>
        </p:txBody>
      </p:sp>
      <p:sp>
        <p:nvSpPr>
          <p:cNvPr id="73" name="Line 102"/>
          <p:cNvSpPr>
            <a:spLocks noChangeAspect="1" noChangeShapeType="1"/>
          </p:cNvSpPr>
          <p:nvPr/>
        </p:nvSpPr>
        <p:spPr bwMode="auto">
          <a:xfrm flipH="1">
            <a:off x="8731401" y="4368538"/>
            <a:ext cx="0" cy="798512"/>
          </a:xfrm>
          <a:prstGeom prst="line">
            <a:avLst/>
          </a:prstGeom>
          <a:noFill/>
          <a:ln w="19050">
            <a:solidFill>
              <a:srgbClr val="000000"/>
            </a:solidFill>
            <a:round/>
            <a:headEnd/>
            <a:tailEnd type="none" w="sm" len="sm"/>
          </a:ln>
          <a:extLst>
            <a:ext uri="{909E8E84-426E-40DD-AFC4-6F175D3DCCD1}">
              <a14:hiddenFill xmlns:a14="http://schemas.microsoft.com/office/drawing/2010/main">
                <a:noFill/>
              </a14:hiddenFill>
            </a:ext>
          </a:extLst>
        </p:spPr>
        <p:txBody>
          <a:bodyPr/>
          <a:lstStyle/>
          <a:p>
            <a:pPr algn="ctr"/>
            <a:endParaRPr kumimoji="1" lang="zh-CN" altLang="en-US" b="0" i="0">
              <a:solidFill>
                <a:srgbClr val="FFFFFF"/>
              </a:solidFill>
              <a:ea typeface="黑体" panose="02010609060101010101" pitchFamily="49" charset="-122"/>
            </a:endParaRPr>
          </a:p>
        </p:txBody>
      </p:sp>
      <p:sp>
        <p:nvSpPr>
          <p:cNvPr id="74" name="Line 103"/>
          <p:cNvSpPr>
            <a:spLocks noChangeAspect="1" noChangeShapeType="1"/>
          </p:cNvSpPr>
          <p:nvPr/>
        </p:nvSpPr>
        <p:spPr bwMode="auto">
          <a:xfrm>
            <a:off x="10460189" y="4863838"/>
            <a:ext cx="0" cy="298450"/>
          </a:xfrm>
          <a:prstGeom prst="line">
            <a:avLst/>
          </a:prstGeom>
          <a:noFill/>
          <a:ln w="19050">
            <a:solidFill>
              <a:srgbClr val="000000"/>
            </a:solidFill>
            <a:round/>
            <a:headEnd/>
            <a:tailEnd type="none" w="sm" len="sm"/>
          </a:ln>
          <a:extLst>
            <a:ext uri="{909E8E84-426E-40DD-AFC4-6F175D3DCCD1}">
              <a14:hiddenFill xmlns:a14="http://schemas.microsoft.com/office/drawing/2010/main">
                <a:noFill/>
              </a14:hiddenFill>
            </a:ext>
          </a:extLst>
        </p:spPr>
        <p:txBody>
          <a:bodyPr/>
          <a:lstStyle/>
          <a:p>
            <a:pPr algn="ctr"/>
            <a:endParaRPr kumimoji="1" lang="zh-CN" altLang="en-US" b="0" i="0">
              <a:solidFill>
                <a:srgbClr val="FFFFFF"/>
              </a:solidFill>
              <a:ea typeface="黑体" panose="02010609060101010101" pitchFamily="49" charset="-122"/>
            </a:endParaRPr>
          </a:p>
        </p:txBody>
      </p:sp>
      <p:sp>
        <p:nvSpPr>
          <p:cNvPr id="75" name="Text Box 104"/>
          <p:cNvSpPr txBox="1">
            <a:spLocks noChangeAspect="1" noChangeArrowheads="1"/>
          </p:cNvSpPr>
          <p:nvPr/>
        </p:nvSpPr>
        <p:spPr bwMode="auto">
          <a:xfrm>
            <a:off x="7383614" y="3866888"/>
            <a:ext cx="600075" cy="57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F</a:t>
            </a:r>
            <a:r>
              <a:rPr kumimoji="1" lang="en-US" altLang="zh-CN" sz="2400" b="0"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N</a:t>
            </a:r>
            <a:endPar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76" name="Text Box 105"/>
          <p:cNvSpPr txBox="1">
            <a:spLocks noChangeAspect="1" noChangeArrowheads="1"/>
          </p:cNvSpPr>
          <p:nvPr/>
        </p:nvSpPr>
        <p:spPr bwMode="auto">
          <a:xfrm>
            <a:off x="9183839" y="5057513"/>
            <a:ext cx="914400"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hangingPunct="1"/>
            <a:r>
              <a:rPr lang="en-US" altLang="zh-CN" b="0" i="0">
                <a:solidFill>
                  <a:srgbClr val="000000"/>
                </a:solidFill>
                <a:ea typeface="宋体" panose="02010600030101010101" pitchFamily="2" charset="-122"/>
              </a:rPr>
              <a:t>10kN</a:t>
            </a:r>
          </a:p>
        </p:txBody>
      </p:sp>
      <p:sp>
        <p:nvSpPr>
          <p:cNvPr id="77" name="Oval 107"/>
          <p:cNvSpPr>
            <a:spLocks noChangeArrowheads="1"/>
          </p:cNvSpPr>
          <p:nvPr/>
        </p:nvSpPr>
        <p:spPr bwMode="auto">
          <a:xfrm>
            <a:off x="7826526" y="4332025"/>
            <a:ext cx="74613" cy="74613"/>
          </a:xfrm>
          <a:prstGeom prst="ellipse">
            <a:avLst/>
          </a:prstGeom>
          <a:solidFill>
            <a:srgbClr val="FF0000"/>
          </a:solidFill>
          <a:ln w="9525">
            <a:solidFill>
              <a:srgbClr val="000000"/>
            </a:solidFill>
            <a:round/>
            <a:headEnd/>
            <a:tailEnd/>
          </a:ln>
        </p:spPr>
        <p:txBody>
          <a:bodyPr wrap="none" anchor="ct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78" name="Line 109"/>
          <p:cNvSpPr>
            <a:spLocks noChangeAspect="1" noChangeShapeType="1"/>
          </p:cNvSpPr>
          <p:nvPr/>
        </p:nvSpPr>
        <p:spPr bwMode="auto">
          <a:xfrm flipV="1">
            <a:off x="8732989" y="5155938"/>
            <a:ext cx="1735137" cy="0"/>
          </a:xfrm>
          <a:prstGeom prst="line">
            <a:avLst/>
          </a:prstGeom>
          <a:noFill/>
          <a:ln w="19050">
            <a:solidFill>
              <a:srgbClr val="000000"/>
            </a:solidFill>
            <a:round/>
            <a:headEnd/>
            <a:tailEnd type="none" w="sm" len="sm"/>
          </a:ln>
          <a:extLst>
            <a:ext uri="{909E8E84-426E-40DD-AFC4-6F175D3DCCD1}">
              <a14:hiddenFill xmlns:a14="http://schemas.microsoft.com/office/drawing/2010/main">
                <a:noFill/>
              </a14:hiddenFill>
            </a:ext>
          </a:extLst>
        </p:spPr>
        <p:txBody>
          <a:bodyPr/>
          <a:lstStyle/>
          <a:p>
            <a:pPr algn="ctr"/>
            <a:endParaRPr kumimoji="1" lang="zh-CN" altLang="en-US" b="0" i="0">
              <a:solidFill>
                <a:srgbClr val="FFFFFF"/>
              </a:solidFill>
              <a:ea typeface="黑体" panose="02010609060101010101" pitchFamily="49" charset="-122"/>
            </a:endParaRPr>
          </a:p>
        </p:txBody>
      </p:sp>
      <p:sp>
        <p:nvSpPr>
          <p:cNvPr id="79" name="Text Box 112"/>
          <p:cNvSpPr txBox="1">
            <a:spLocks noChangeAspect="1" noChangeArrowheads="1"/>
          </p:cNvSpPr>
          <p:nvPr/>
        </p:nvSpPr>
        <p:spPr bwMode="auto">
          <a:xfrm>
            <a:off x="7917014" y="3982775"/>
            <a:ext cx="914400"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hangingPunct="1"/>
            <a:r>
              <a:rPr lang="en-US" altLang="zh-CN" b="0" i="0">
                <a:solidFill>
                  <a:srgbClr val="000000"/>
                </a:solidFill>
                <a:ea typeface="宋体" panose="02010600030101010101" pitchFamily="2" charset="-122"/>
              </a:rPr>
              <a:t>20kN</a:t>
            </a:r>
          </a:p>
        </p:txBody>
      </p:sp>
      <p:sp>
        <p:nvSpPr>
          <p:cNvPr id="80" name="Text Box 114"/>
          <p:cNvSpPr txBox="1">
            <a:spLocks noChangeAspect="1" noChangeArrowheads="1"/>
          </p:cNvSpPr>
          <p:nvPr/>
        </p:nvSpPr>
        <p:spPr bwMode="auto">
          <a:xfrm>
            <a:off x="10876114" y="4744775"/>
            <a:ext cx="398462"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fontAlgn="auto" hangingPunct="1">
              <a:spcBef>
                <a:spcPts val="0"/>
              </a:spcBef>
              <a:spcAft>
                <a:spcPts val="0"/>
              </a:spcAft>
            </a:pPr>
            <a:r>
              <a:rPr lang="en-US" altLang="zh-CN" b="0" kern="0" dirty="0">
                <a:solidFill>
                  <a:srgbClr val="000000"/>
                </a:solidFill>
                <a:ea typeface="宋体" panose="02010600030101010101" pitchFamily="2" charset="-122"/>
              </a:rPr>
              <a:t>x</a:t>
            </a:r>
          </a:p>
        </p:txBody>
      </p:sp>
      <p:sp>
        <p:nvSpPr>
          <p:cNvPr id="81" name="Oval 108"/>
          <p:cNvSpPr>
            <a:spLocks noChangeArrowheads="1"/>
          </p:cNvSpPr>
          <p:nvPr/>
        </p:nvSpPr>
        <p:spPr bwMode="auto">
          <a:xfrm>
            <a:off x="8694889" y="5117838"/>
            <a:ext cx="74612" cy="74612"/>
          </a:xfrm>
          <a:prstGeom prst="ellipse">
            <a:avLst/>
          </a:prstGeom>
          <a:solidFill>
            <a:srgbClr val="FF0000"/>
          </a:solidFill>
          <a:ln w="9525">
            <a:solidFill>
              <a:srgbClr val="000000"/>
            </a:solidFill>
            <a:round/>
            <a:headEnd/>
            <a:tailEnd/>
          </a:ln>
        </p:spPr>
        <p:txBody>
          <a:bodyPr wrap="none" anchor="ct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grpSp>
        <p:nvGrpSpPr>
          <p:cNvPr id="82" name="Group 115"/>
          <p:cNvGrpSpPr>
            <a:grpSpLocks/>
          </p:cNvGrpSpPr>
          <p:nvPr/>
        </p:nvGrpSpPr>
        <p:grpSpPr bwMode="auto">
          <a:xfrm>
            <a:off x="9388626" y="4824150"/>
            <a:ext cx="527050" cy="573088"/>
            <a:chOff x="4664" y="1822"/>
            <a:chExt cx="332" cy="361"/>
          </a:xfrm>
        </p:grpSpPr>
        <p:sp>
          <p:nvSpPr>
            <p:cNvPr id="83" name="Oval 116"/>
            <p:cNvSpPr>
              <a:spLocks noChangeAspect="1" noChangeArrowheads="1"/>
            </p:cNvSpPr>
            <p:nvPr/>
          </p:nvSpPr>
          <p:spPr bwMode="auto">
            <a:xfrm>
              <a:off x="4712" y="1856"/>
              <a:ext cx="160" cy="159"/>
            </a:xfrm>
            <a:prstGeom prst="ellipse">
              <a:avLst/>
            </a:prstGeom>
            <a:solidFill>
              <a:srgbClr val="FFFF99"/>
            </a:solidFill>
            <a:ln w="6350">
              <a:solidFill>
                <a:srgbClr val="000000"/>
              </a:solidFill>
              <a:round/>
              <a:headEnd/>
              <a:tailEnd type="none" w="sm" len="sm"/>
            </a:ln>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84" name="Text Box 117"/>
            <p:cNvSpPr txBox="1">
              <a:spLocks noChangeAspect="1" noChangeArrowheads="1"/>
            </p:cNvSpPr>
            <p:nvPr/>
          </p:nvSpPr>
          <p:spPr bwMode="auto">
            <a:xfrm>
              <a:off x="4664" y="1822"/>
              <a:ext cx="332" cy="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a:t>
              </a:r>
            </a:p>
          </p:txBody>
        </p:sp>
      </p:grpSp>
      <p:grpSp>
        <p:nvGrpSpPr>
          <p:cNvPr id="85" name="Group 118"/>
          <p:cNvGrpSpPr>
            <a:grpSpLocks/>
          </p:cNvGrpSpPr>
          <p:nvPr/>
        </p:nvGrpSpPr>
        <p:grpSpPr bwMode="auto">
          <a:xfrm>
            <a:off x="8118626" y="4390763"/>
            <a:ext cx="527050" cy="571500"/>
            <a:chOff x="3862" y="1453"/>
            <a:chExt cx="332" cy="360"/>
          </a:xfrm>
        </p:grpSpPr>
        <p:sp>
          <p:nvSpPr>
            <p:cNvPr id="86" name="Oval 119"/>
            <p:cNvSpPr>
              <a:spLocks noChangeAspect="1" noChangeArrowheads="1"/>
            </p:cNvSpPr>
            <p:nvPr/>
          </p:nvSpPr>
          <p:spPr bwMode="auto">
            <a:xfrm>
              <a:off x="3891" y="1525"/>
              <a:ext cx="158" cy="158"/>
            </a:xfrm>
            <a:prstGeom prst="ellipse">
              <a:avLst/>
            </a:prstGeom>
            <a:solidFill>
              <a:srgbClr val="FFFF99"/>
            </a:solidFill>
            <a:ln w="6350">
              <a:solidFill>
                <a:srgbClr val="000000"/>
              </a:solidFill>
              <a:round/>
              <a:headEnd/>
              <a:tailEnd type="none" w="sm" len="sm"/>
            </a:ln>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87" name="Text Box 120"/>
            <p:cNvSpPr txBox="1">
              <a:spLocks noChangeAspect="1" noChangeArrowheads="1"/>
            </p:cNvSpPr>
            <p:nvPr/>
          </p:nvSpPr>
          <p:spPr bwMode="auto">
            <a:xfrm>
              <a:off x="3862" y="1453"/>
              <a:ext cx="332"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a:t>
              </a:r>
            </a:p>
          </p:txBody>
        </p:sp>
      </p:grpSp>
      <p:graphicFrame>
        <p:nvGraphicFramePr>
          <p:cNvPr id="88" name="Object 122"/>
          <p:cNvGraphicFramePr>
            <a:graphicFrameLocks noChangeAspect="1"/>
          </p:cNvGraphicFramePr>
          <p:nvPr>
            <p:extLst>
              <p:ext uri="{D42A27DB-BD31-4B8C-83A1-F6EECF244321}">
                <p14:modId xmlns:p14="http://schemas.microsoft.com/office/powerpoint/2010/main" val="2489903"/>
              </p:ext>
            </p:extLst>
          </p:nvPr>
        </p:nvGraphicFramePr>
        <p:xfrm>
          <a:off x="1347789" y="3101977"/>
          <a:ext cx="3164035" cy="864147"/>
        </p:xfrm>
        <a:graphic>
          <a:graphicData uri="http://schemas.openxmlformats.org/presentationml/2006/ole">
            <mc:AlternateContent xmlns:mc="http://schemas.openxmlformats.org/markup-compatibility/2006">
              <mc:Choice xmlns:v="urn:schemas-microsoft-com:vml" Requires="v">
                <p:oleObj name="Equation" r:id="rId5" imgW="1587240" imgH="431640" progId="Equation.DSMT4">
                  <p:embed/>
                </p:oleObj>
              </mc:Choice>
              <mc:Fallback>
                <p:oleObj name="Equation" r:id="rId5" imgW="1587240" imgH="431640" progId="Equation.DSMT4">
                  <p:embed/>
                  <p:pic>
                    <p:nvPicPr>
                      <p:cNvPr id="88" name="Object 122"/>
                      <p:cNvPicPr>
                        <a:picLocks noChangeAspect="1" noChangeArrowheads="1"/>
                      </p:cNvPicPr>
                      <p:nvPr/>
                    </p:nvPicPr>
                    <p:blipFill>
                      <a:blip r:embed="rId6"/>
                      <a:srcRect/>
                      <a:stretch>
                        <a:fillRect/>
                      </a:stretch>
                    </p:blipFill>
                    <p:spPr bwMode="auto">
                      <a:xfrm>
                        <a:off x="1347789" y="3101977"/>
                        <a:ext cx="3164035" cy="864147"/>
                      </a:xfrm>
                      <a:prstGeom prst="rect">
                        <a:avLst/>
                      </a:prstGeom>
                      <a:noFill/>
                    </p:spPr>
                  </p:pic>
                </p:oleObj>
              </mc:Fallback>
            </mc:AlternateContent>
          </a:graphicData>
        </a:graphic>
      </p:graphicFrame>
      <p:graphicFrame>
        <p:nvGraphicFramePr>
          <p:cNvPr id="89" name="Object 74"/>
          <p:cNvGraphicFramePr>
            <a:graphicFrameLocks noChangeAspect="1"/>
          </p:cNvGraphicFramePr>
          <p:nvPr>
            <p:extLst>
              <p:ext uri="{D42A27DB-BD31-4B8C-83A1-F6EECF244321}">
                <p14:modId xmlns:p14="http://schemas.microsoft.com/office/powerpoint/2010/main" val="177647956"/>
              </p:ext>
            </p:extLst>
          </p:nvPr>
        </p:nvGraphicFramePr>
        <p:xfrm>
          <a:off x="1295577" y="3940184"/>
          <a:ext cx="3308179" cy="855640"/>
        </p:xfrm>
        <a:graphic>
          <a:graphicData uri="http://schemas.openxmlformats.org/presentationml/2006/ole">
            <mc:AlternateContent xmlns:mc="http://schemas.openxmlformats.org/markup-compatibility/2006">
              <mc:Choice xmlns:v="urn:schemas-microsoft-com:vml" Requires="v">
                <p:oleObj name="Equation" r:id="rId7" imgW="1676160" imgH="431640" progId="Equation.DSMT4">
                  <p:embed/>
                </p:oleObj>
              </mc:Choice>
              <mc:Fallback>
                <p:oleObj name="Equation" r:id="rId7" imgW="1676160" imgH="431640" progId="Equation.DSMT4">
                  <p:embed/>
                  <p:pic>
                    <p:nvPicPr>
                      <p:cNvPr id="89" name="Object 74"/>
                      <p:cNvPicPr>
                        <a:picLocks noChangeAspect="1" noChangeArrowheads="1"/>
                      </p:cNvPicPr>
                      <p:nvPr/>
                    </p:nvPicPr>
                    <p:blipFill>
                      <a:blip r:embed="rId8"/>
                      <a:srcRect/>
                      <a:stretch>
                        <a:fillRect/>
                      </a:stretch>
                    </p:blipFill>
                    <p:spPr bwMode="auto">
                      <a:xfrm>
                        <a:off x="1295577" y="3940184"/>
                        <a:ext cx="3308179" cy="855640"/>
                      </a:xfrm>
                      <a:prstGeom prst="rect">
                        <a:avLst/>
                      </a:prstGeom>
                      <a:noFill/>
                    </p:spPr>
                  </p:pic>
                </p:oleObj>
              </mc:Fallback>
            </mc:AlternateContent>
          </a:graphicData>
        </a:graphic>
      </p:graphicFrame>
      <p:graphicFrame>
        <p:nvGraphicFramePr>
          <p:cNvPr id="90" name="Object 71"/>
          <p:cNvGraphicFramePr>
            <a:graphicFrameLocks noChangeAspect="1"/>
          </p:cNvGraphicFramePr>
          <p:nvPr>
            <p:extLst>
              <p:ext uri="{D42A27DB-BD31-4B8C-83A1-F6EECF244321}">
                <p14:modId xmlns:p14="http://schemas.microsoft.com/office/powerpoint/2010/main" val="3225006883"/>
              </p:ext>
            </p:extLst>
          </p:nvPr>
        </p:nvGraphicFramePr>
        <p:xfrm>
          <a:off x="1295578" y="4760445"/>
          <a:ext cx="3400248" cy="887085"/>
        </p:xfrm>
        <a:graphic>
          <a:graphicData uri="http://schemas.openxmlformats.org/presentationml/2006/ole">
            <mc:AlternateContent xmlns:mc="http://schemas.openxmlformats.org/markup-compatibility/2006">
              <mc:Choice xmlns:v="urn:schemas-microsoft-com:vml" Requires="v">
                <p:oleObj name="Equation" r:id="rId9" imgW="1752480" imgH="457200" progId="Equation.DSMT4">
                  <p:embed/>
                </p:oleObj>
              </mc:Choice>
              <mc:Fallback>
                <p:oleObj name="Equation" r:id="rId9" imgW="1752480" imgH="457200" progId="Equation.DSMT4">
                  <p:embed/>
                  <p:pic>
                    <p:nvPicPr>
                      <p:cNvPr id="90" name="Object 71"/>
                      <p:cNvPicPr>
                        <a:picLocks noChangeAspect="1" noChangeArrowheads="1"/>
                      </p:cNvPicPr>
                      <p:nvPr/>
                    </p:nvPicPr>
                    <p:blipFill>
                      <a:blip r:embed="rId10"/>
                      <a:srcRect/>
                      <a:stretch>
                        <a:fillRect/>
                      </a:stretch>
                    </p:blipFill>
                    <p:spPr bwMode="auto">
                      <a:xfrm>
                        <a:off x="1295578" y="4760445"/>
                        <a:ext cx="3400248" cy="887085"/>
                      </a:xfrm>
                      <a:prstGeom prst="rect">
                        <a:avLst/>
                      </a:prstGeom>
                      <a:noFill/>
                    </p:spPr>
                  </p:pic>
                </p:oleObj>
              </mc:Fallback>
            </mc:AlternateContent>
          </a:graphicData>
        </a:graphic>
      </p:graphicFrame>
      <p:sp>
        <p:nvSpPr>
          <p:cNvPr id="91" name="矩形 90">
            <a:extLst>
              <a:ext uri="{FF2B5EF4-FFF2-40B4-BE49-F238E27FC236}">
                <a16:creationId xmlns:a16="http://schemas.microsoft.com/office/drawing/2014/main" id="{869757DD-0866-5287-A0EC-2DBC9D2AE5A6}"/>
              </a:ext>
            </a:extLst>
          </p:cNvPr>
          <p:cNvSpPr/>
          <p:nvPr/>
        </p:nvSpPr>
        <p:spPr>
          <a:xfrm>
            <a:off x="551383" y="5705258"/>
            <a:ext cx="3675188" cy="535531"/>
          </a:xfrm>
          <a:prstGeom prst="rect">
            <a:avLst/>
          </a:prstGeom>
        </p:spPr>
        <p:txBody>
          <a:bodyPr wrap="square">
            <a:spAutoFit/>
          </a:bodyPr>
          <a:lstStyle/>
          <a:p>
            <a:pPr eaLnBrk="0" hangingPunct="0">
              <a:lnSpc>
                <a:spcPct val="120000"/>
              </a:lnSpc>
            </a:pPr>
            <a:r>
              <a:rPr lang="zh-CN" altLang="en-US" i="0" dirty="0">
                <a:solidFill>
                  <a:srgbClr val="0033CC"/>
                </a:solidFill>
                <a:ea typeface="黑体" panose="02010609060101010101" pitchFamily="49" charset="-122"/>
              </a:rPr>
              <a:t>       </a:t>
            </a:r>
            <a:r>
              <a:rPr kumimoji="1" lang="en-US" altLang="zh-CN" i="0" dirty="0">
                <a:solidFill>
                  <a:schemeClr val="tx1"/>
                </a:solidFill>
                <a:ea typeface="黑体" panose="02010609060101010101" pitchFamily="49" charset="-122"/>
              </a:rPr>
              <a:t>3</a:t>
            </a:r>
            <a:r>
              <a:rPr kumimoji="1" lang="zh-CN" altLang="en-US" i="0" dirty="0">
                <a:solidFill>
                  <a:schemeClr val="tx1"/>
                </a:solidFill>
                <a:ea typeface="黑体" panose="02010609060101010101" pitchFamily="49" charset="-122"/>
              </a:rPr>
              <a:t>）计算杆的总伸长</a:t>
            </a:r>
          </a:p>
        </p:txBody>
      </p:sp>
      <p:sp>
        <p:nvSpPr>
          <p:cNvPr id="4" name="矩形 3"/>
          <p:cNvSpPr/>
          <p:nvPr/>
        </p:nvSpPr>
        <p:spPr>
          <a:xfrm>
            <a:off x="4226571" y="5720257"/>
            <a:ext cx="4730782" cy="461665"/>
          </a:xfrm>
          <a:prstGeom prst="rect">
            <a:avLst/>
          </a:prstGeom>
        </p:spPr>
        <p:txBody>
          <a:bodyPr wrap="none">
            <a:spAutoFit/>
          </a:bodyPr>
          <a:lstStyle/>
          <a:p>
            <a:r>
              <a:rPr lang="zh-CN" altLang="en-US" b="0" dirty="0">
                <a:solidFill>
                  <a:schemeClr val="tx1"/>
                </a:solidFill>
                <a:sym typeface="Symbol" panose="05050102010706020507" pitchFamily="18" charset="2"/>
              </a:rPr>
              <a:t></a:t>
            </a:r>
            <a:r>
              <a:rPr lang="en-US" altLang="zh-CN" b="0" dirty="0">
                <a:solidFill>
                  <a:schemeClr val="tx1"/>
                </a:solidFill>
              </a:rPr>
              <a:t>l = </a:t>
            </a:r>
            <a:r>
              <a:rPr lang="en-US" altLang="zh-CN" b="0" dirty="0">
                <a:solidFill>
                  <a:schemeClr val="tx1"/>
                </a:solidFill>
                <a:sym typeface="Symbol" panose="05050102010706020507" pitchFamily="18" charset="2"/>
              </a:rPr>
              <a:t></a:t>
            </a:r>
            <a:r>
              <a:rPr lang="en-US" altLang="zh-CN" b="0" dirty="0" err="1">
                <a:solidFill>
                  <a:schemeClr val="tx1"/>
                </a:solidFill>
              </a:rPr>
              <a:t>l</a:t>
            </a:r>
            <a:r>
              <a:rPr lang="en-US" altLang="zh-CN" b="0" baseline="-25000" dirty="0" err="1">
                <a:solidFill>
                  <a:schemeClr val="tx1"/>
                </a:solidFill>
              </a:rPr>
              <a:t>AB</a:t>
            </a:r>
            <a:r>
              <a:rPr lang="en-US" altLang="zh-CN" b="0" dirty="0">
                <a:solidFill>
                  <a:schemeClr val="tx1"/>
                </a:solidFill>
              </a:rPr>
              <a:t>+ </a:t>
            </a:r>
            <a:r>
              <a:rPr lang="en-US" altLang="zh-CN" b="0" dirty="0">
                <a:solidFill>
                  <a:schemeClr val="tx1"/>
                </a:solidFill>
                <a:sym typeface="Symbol" panose="05050102010706020507" pitchFamily="18" charset="2"/>
              </a:rPr>
              <a:t></a:t>
            </a:r>
            <a:r>
              <a:rPr lang="en-US" altLang="zh-CN" b="0" dirty="0" err="1">
                <a:solidFill>
                  <a:schemeClr val="tx1"/>
                </a:solidFill>
              </a:rPr>
              <a:t>l</a:t>
            </a:r>
            <a:r>
              <a:rPr lang="en-US" altLang="zh-CN" b="0" baseline="-25000" dirty="0" err="1">
                <a:solidFill>
                  <a:schemeClr val="tx1"/>
                </a:solidFill>
              </a:rPr>
              <a:t>BC</a:t>
            </a:r>
            <a:r>
              <a:rPr lang="en-US" altLang="zh-CN" b="0" dirty="0">
                <a:solidFill>
                  <a:schemeClr val="tx1"/>
                </a:solidFill>
              </a:rPr>
              <a:t>+ </a:t>
            </a:r>
            <a:r>
              <a:rPr lang="en-US" altLang="zh-CN" b="0" dirty="0">
                <a:solidFill>
                  <a:schemeClr val="tx1"/>
                </a:solidFill>
                <a:sym typeface="Symbol" panose="05050102010706020507" pitchFamily="18" charset="2"/>
              </a:rPr>
              <a:t></a:t>
            </a:r>
            <a:r>
              <a:rPr lang="en-US" altLang="zh-CN" b="0" dirty="0" err="1">
                <a:solidFill>
                  <a:schemeClr val="tx1"/>
                </a:solidFill>
              </a:rPr>
              <a:t>l</a:t>
            </a:r>
            <a:r>
              <a:rPr lang="en-US" altLang="zh-CN" b="0" baseline="-25000" dirty="0" err="1">
                <a:solidFill>
                  <a:schemeClr val="tx1"/>
                </a:solidFill>
              </a:rPr>
              <a:t>CD</a:t>
            </a:r>
            <a:r>
              <a:rPr lang="en-US" altLang="zh-CN" b="0" dirty="0">
                <a:solidFill>
                  <a:schemeClr val="tx1"/>
                </a:solidFill>
              </a:rPr>
              <a:t> </a:t>
            </a:r>
            <a:r>
              <a:rPr lang="en-US" altLang="zh-CN" b="0" i="0" dirty="0">
                <a:solidFill>
                  <a:schemeClr val="tx1"/>
                </a:solidFill>
              </a:rPr>
              <a:t>=</a:t>
            </a:r>
            <a:r>
              <a:rPr lang="en-US" altLang="zh-CN" b="0" i="0" dirty="0">
                <a:solidFill>
                  <a:schemeClr val="tx1"/>
                </a:solidFill>
                <a:latin typeface="+mn-ea"/>
                <a:ea typeface="+mn-ea"/>
              </a:rPr>
              <a:t>-</a:t>
            </a:r>
            <a:r>
              <a:rPr lang="en-US" altLang="zh-CN" b="0" i="0" dirty="0">
                <a:solidFill>
                  <a:schemeClr val="tx1"/>
                </a:solidFill>
              </a:rPr>
              <a:t>0.0067mm</a:t>
            </a:r>
            <a:endParaRPr lang="zh-CN" altLang="en-US" b="0" dirty="0">
              <a:solidFill>
                <a:schemeClr val="tx1"/>
              </a:solidFill>
            </a:endParaRPr>
          </a:p>
        </p:txBody>
      </p:sp>
    </p:spTree>
    <p:extLst>
      <p:ext uri="{BB962C8B-B14F-4D97-AF65-F5344CB8AC3E}">
        <p14:creationId xmlns:p14="http://schemas.microsoft.com/office/powerpoint/2010/main" val="1876721828"/>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2" presetClass="entr" presetSubtype="8" fill="hold" nodeType="withEffect">
                                  <p:stCondLst>
                                    <p:cond delay="0"/>
                                  </p:stCondLst>
                                  <p:childTnLst>
                                    <p:set>
                                      <p:cBhvr>
                                        <p:cTn id="8" dur="1" fill="hold">
                                          <p:stCondLst>
                                            <p:cond delay="0"/>
                                          </p:stCondLst>
                                        </p:cTn>
                                        <p:tgtEl>
                                          <p:spTgt spid="38"/>
                                        </p:tgtEl>
                                        <p:attrNameLst>
                                          <p:attrName>style.visibility</p:attrName>
                                        </p:attrNameLst>
                                      </p:cBhvr>
                                      <p:to>
                                        <p:strVal val="visible"/>
                                      </p:to>
                                    </p:set>
                                    <p:animEffect transition="in" filter="slide(fromLeft)">
                                      <p:cBhvr>
                                        <p:cTn id="9" dur="5000"/>
                                        <p:tgtEl>
                                          <p:spTgt spid="38"/>
                                        </p:tgtEl>
                                      </p:cBhvr>
                                    </p:animEffect>
                                  </p:childTnLst>
                                </p:cTn>
                              </p:par>
                            </p:childTnLst>
                          </p:cTn>
                        </p:par>
                      </p:childTnLst>
                    </p:cTn>
                  </p:par>
                  <p:par>
                    <p:cTn id="10" fill="hold">
                      <p:stCondLst>
                        <p:cond delay="indefinite"/>
                      </p:stCondLst>
                      <p:childTnLst>
                        <p:par>
                          <p:cTn id="11" fill="hold">
                            <p:stCondLst>
                              <p:cond delay="0"/>
                            </p:stCondLst>
                            <p:childTnLst>
                              <p:par>
                                <p:cTn id="12" presetID="19" presetClass="entr" presetSubtype="10" fill="hold" grpId="0" nodeType="clickEffect">
                                  <p:stCondLst>
                                    <p:cond delay="0"/>
                                  </p:stCondLst>
                                  <p:childTnLst>
                                    <p:set>
                                      <p:cBhvr>
                                        <p:cTn id="13" dur="1" fill="hold">
                                          <p:stCondLst>
                                            <p:cond delay="0"/>
                                          </p:stCondLst>
                                        </p:cTn>
                                        <p:tgtEl>
                                          <p:spTgt spid="37"/>
                                        </p:tgtEl>
                                        <p:attrNameLst>
                                          <p:attrName>style.visibility</p:attrName>
                                        </p:attrNameLst>
                                      </p:cBhvr>
                                      <p:to>
                                        <p:strVal val="visible"/>
                                      </p:to>
                                    </p:set>
                                    <p:anim calcmode="lin" valueType="num">
                                      <p:cBhvr>
                                        <p:cTn id="14" dur="5000" fill="hold"/>
                                        <p:tgtEl>
                                          <p:spTgt spid="37"/>
                                        </p:tgtEl>
                                        <p:attrNameLst>
                                          <p:attrName>ppt_w</p:attrName>
                                        </p:attrNameLst>
                                      </p:cBhvr>
                                      <p:tavLst>
                                        <p:tav tm="0" fmla="#ppt_w*sin(2.5*pi*$)">
                                          <p:val>
                                            <p:fltVal val="0"/>
                                          </p:val>
                                        </p:tav>
                                        <p:tav tm="100000">
                                          <p:val>
                                            <p:fltVal val="1"/>
                                          </p:val>
                                        </p:tav>
                                      </p:tavLst>
                                    </p:anim>
                                    <p:anim calcmode="lin" valueType="num">
                                      <p:cBhvr>
                                        <p:cTn id="15" dur="5000" fill="hold"/>
                                        <p:tgtEl>
                                          <p:spTgt spid="37"/>
                                        </p:tgtEl>
                                        <p:attrNameLst>
                                          <p:attrName>ppt_h</p:attrName>
                                        </p:attrNameLst>
                                      </p:cBhvr>
                                      <p:tavLst>
                                        <p:tav tm="0">
                                          <p:val>
                                            <p:strVal val="#ppt_h"/>
                                          </p:val>
                                        </p:tav>
                                        <p:tav tm="100000">
                                          <p:val>
                                            <p:strVal val="#ppt_h"/>
                                          </p:val>
                                        </p:tav>
                                      </p:tavLst>
                                    </p:anim>
                                  </p:childTnLst>
                                </p:cTn>
                              </p:par>
                            </p:childTnLst>
                          </p:cTn>
                        </p:par>
                        <p:par>
                          <p:cTn id="16" fill="hold">
                            <p:stCondLst>
                              <p:cond delay="5000"/>
                            </p:stCondLst>
                            <p:childTnLst>
                              <p:par>
                                <p:cTn id="17" presetID="12" presetClass="entr" presetSubtype="8" fill="hold" grpId="0" nodeType="afterEffect">
                                  <p:stCondLst>
                                    <p:cond delay="0"/>
                                  </p:stCondLst>
                                  <p:childTnLst>
                                    <p:set>
                                      <p:cBhvr>
                                        <p:cTn id="18" dur="1" fill="hold">
                                          <p:stCondLst>
                                            <p:cond delay="0"/>
                                          </p:stCondLst>
                                        </p:cTn>
                                        <p:tgtEl>
                                          <p:spTgt spid="70"/>
                                        </p:tgtEl>
                                        <p:attrNameLst>
                                          <p:attrName>style.visibility</p:attrName>
                                        </p:attrNameLst>
                                      </p:cBhvr>
                                      <p:to>
                                        <p:strVal val="visible"/>
                                      </p:to>
                                    </p:set>
                                    <p:animEffect transition="in" filter="slide(fromLeft)">
                                      <p:cBhvr>
                                        <p:cTn id="19" dur="3000"/>
                                        <p:tgtEl>
                                          <p:spTgt spid="70"/>
                                        </p:tgtEl>
                                      </p:cBhvr>
                                    </p:animEffect>
                                  </p:childTnLst>
                                </p:cTn>
                              </p:par>
                              <p:par>
                                <p:cTn id="20" presetID="19" presetClass="entr" presetSubtype="10" fill="hold" nodeType="withEffect">
                                  <p:stCondLst>
                                    <p:cond delay="0"/>
                                  </p:stCondLst>
                                  <p:childTnLst>
                                    <p:set>
                                      <p:cBhvr>
                                        <p:cTn id="21" dur="1" fill="hold">
                                          <p:stCondLst>
                                            <p:cond delay="0"/>
                                          </p:stCondLst>
                                        </p:cTn>
                                        <p:tgtEl>
                                          <p:spTgt spid="80"/>
                                        </p:tgtEl>
                                        <p:attrNameLst>
                                          <p:attrName>style.visibility</p:attrName>
                                        </p:attrNameLst>
                                      </p:cBhvr>
                                      <p:to>
                                        <p:strVal val="visible"/>
                                      </p:to>
                                    </p:set>
                                    <p:anim calcmode="lin" valueType="num">
                                      <p:cBhvr>
                                        <p:cTn id="22" dur="5000" fill="hold"/>
                                        <p:tgtEl>
                                          <p:spTgt spid="80"/>
                                        </p:tgtEl>
                                        <p:attrNameLst>
                                          <p:attrName>ppt_w</p:attrName>
                                        </p:attrNameLst>
                                      </p:cBhvr>
                                      <p:tavLst>
                                        <p:tav tm="0" fmla="#ppt_w*sin(2.5*pi*$)">
                                          <p:val>
                                            <p:fltVal val="0"/>
                                          </p:val>
                                        </p:tav>
                                        <p:tav tm="100000">
                                          <p:val>
                                            <p:fltVal val="1"/>
                                          </p:val>
                                        </p:tav>
                                      </p:tavLst>
                                    </p:anim>
                                    <p:anim calcmode="lin" valueType="num">
                                      <p:cBhvr>
                                        <p:cTn id="23" dur="5000" fill="hold"/>
                                        <p:tgtEl>
                                          <p:spTgt spid="80"/>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0"/>
                                            </p:cond>
                                          </p:stCondLst>
                                          <p:endCondLst>
                                            <p:cond evt="onStopAudio" delay="0">
                                              <p:tgtEl>
                                                <p:sldTgt/>
                                              </p:tgtEl>
                                            </p:cond>
                                          </p:endCondLst>
                                        </p:cTn>
                                        <p:tgtEl>
                                          <p:sndTgt r:embed="rId3" name="CAMERA.WAV"/>
                                        </p:tgtEl>
                                      </p:cMediaNode>
                                    </p:audio>
                                  </p:subTnLst>
                                </p:cTn>
                              </p:par>
                            </p:childTnLst>
                          </p:cTn>
                        </p:par>
                        <p:par>
                          <p:cTn id="24" fill="hold">
                            <p:stCondLst>
                              <p:cond delay="10000"/>
                            </p:stCondLst>
                            <p:childTnLst>
                              <p:par>
                                <p:cTn id="25" presetID="12" presetClass="entr" presetSubtype="4" fill="hold" grpId="0" nodeType="afterEffect">
                                  <p:stCondLst>
                                    <p:cond delay="0"/>
                                  </p:stCondLst>
                                  <p:childTnLst>
                                    <p:set>
                                      <p:cBhvr>
                                        <p:cTn id="26" dur="1" fill="hold">
                                          <p:stCondLst>
                                            <p:cond delay="0"/>
                                          </p:stCondLst>
                                        </p:cTn>
                                        <p:tgtEl>
                                          <p:spTgt spid="71"/>
                                        </p:tgtEl>
                                        <p:attrNameLst>
                                          <p:attrName>style.visibility</p:attrName>
                                        </p:attrNameLst>
                                      </p:cBhvr>
                                      <p:to>
                                        <p:strVal val="visible"/>
                                      </p:to>
                                    </p:set>
                                    <p:animEffect transition="in" filter="slide(fromBottom)">
                                      <p:cBhvr>
                                        <p:cTn id="27" dur="3000"/>
                                        <p:tgtEl>
                                          <p:spTgt spid="71"/>
                                        </p:tgtEl>
                                      </p:cBhvr>
                                    </p:animEffect>
                                  </p:childTnLst>
                                </p:cTn>
                              </p:par>
                              <p:par>
                                <p:cTn id="28" presetID="19" presetClass="entr" presetSubtype="10" fill="hold" nodeType="withEffect">
                                  <p:stCondLst>
                                    <p:cond delay="0"/>
                                  </p:stCondLst>
                                  <p:childTnLst>
                                    <p:set>
                                      <p:cBhvr>
                                        <p:cTn id="29" dur="1" fill="hold">
                                          <p:stCondLst>
                                            <p:cond delay="0"/>
                                          </p:stCondLst>
                                        </p:cTn>
                                        <p:tgtEl>
                                          <p:spTgt spid="75"/>
                                        </p:tgtEl>
                                        <p:attrNameLst>
                                          <p:attrName>style.visibility</p:attrName>
                                        </p:attrNameLst>
                                      </p:cBhvr>
                                      <p:to>
                                        <p:strVal val="visible"/>
                                      </p:to>
                                    </p:set>
                                    <p:anim calcmode="lin" valueType="num">
                                      <p:cBhvr>
                                        <p:cTn id="30" dur="5000" fill="hold"/>
                                        <p:tgtEl>
                                          <p:spTgt spid="75"/>
                                        </p:tgtEl>
                                        <p:attrNameLst>
                                          <p:attrName>ppt_w</p:attrName>
                                        </p:attrNameLst>
                                      </p:cBhvr>
                                      <p:tavLst>
                                        <p:tav tm="0" fmla="#ppt_w*sin(2.5*pi*$)">
                                          <p:val>
                                            <p:fltVal val="0"/>
                                          </p:val>
                                        </p:tav>
                                        <p:tav tm="100000">
                                          <p:val>
                                            <p:fltVal val="1"/>
                                          </p:val>
                                        </p:tav>
                                      </p:tavLst>
                                    </p:anim>
                                    <p:anim calcmode="lin" valueType="num">
                                      <p:cBhvr>
                                        <p:cTn id="31" dur="5000" fill="hold"/>
                                        <p:tgtEl>
                                          <p:spTgt spid="75"/>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8"/>
                                            </p:cond>
                                          </p:stCondLst>
                                          <p:endCondLst>
                                            <p:cond evt="onStopAudio" delay="0">
                                              <p:tgtEl>
                                                <p:sldTgt/>
                                              </p:tgtEl>
                                            </p:cond>
                                          </p:endCondLst>
                                        </p:cTn>
                                        <p:tgtEl>
                                          <p:sndTgt r:embed="rId3" name="CAMERA.WAV"/>
                                        </p:tgtEl>
                                      </p:cMediaNode>
                                    </p:audio>
                                  </p:subTnLst>
                                </p:cTn>
                              </p:par>
                            </p:childTnLst>
                          </p:cTn>
                        </p:par>
                        <p:par>
                          <p:cTn id="32" fill="hold">
                            <p:stCondLst>
                              <p:cond delay="15000"/>
                            </p:stCondLst>
                            <p:childTnLst>
                              <p:par>
                                <p:cTn id="33" presetID="15" presetClass="entr" presetSubtype="0" fill="hold" grpId="0" nodeType="afterEffect">
                                  <p:stCondLst>
                                    <p:cond delay="0"/>
                                  </p:stCondLst>
                                  <p:childTnLst>
                                    <p:set>
                                      <p:cBhvr>
                                        <p:cTn id="34" dur="1" fill="hold">
                                          <p:stCondLst>
                                            <p:cond delay="0"/>
                                          </p:stCondLst>
                                        </p:cTn>
                                        <p:tgtEl>
                                          <p:spTgt spid="77"/>
                                        </p:tgtEl>
                                        <p:attrNameLst>
                                          <p:attrName>style.visibility</p:attrName>
                                        </p:attrNameLst>
                                      </p:cBhvr>
                                      <p:to>
                                        <p:strVal val="visible"/>
                                      </p:to>
                                    </p:set>
                                    <p:anim calcmode="lin" valueType="num">
                                      <p:cBhvr>
                                        <p:cTn id="35" dur="3000" fill="hold"/>
                                        <p:tgtEl>
                                          <p:spTgt spid="77"/>
                                        </p:tgtEl>
                                        <p:attrNameLst>
                                          <p:attrName>ppt_w</p:attrName>
                                        </p:attrNameLst>
                                      </p:cBhvr>
                                      <p:tavLst>
                                        <p:tav tm="0">
                                          <p:val>
                                            <p:fltVal val="0"/>
                                          </p:val>
                                        </p:tav>
                                        <p:tav tm="100000">
                                          <p:val>
                                            <p:strVal val="#ppt_w"/>
                                          </p:val>
                                        </p:tav>
                                      </p:tavLst>
                                    </p:anim>
                                    <p:anim calcmode="lin" valueType="num">
                                      <p:cBhvr>
                                        <p:cTn id="36" dur="3000" fill="hold"/>
                                        <p:tgtEl>
                                          <p:spTgt spid="77"/>
                                        </p:tgtEl>
                                        <p:attrNameLst>
                                          <p:attrName>ppt_h</p:attrName>
                                        </p:attrNameLst>
                                      </p:cBhvr>
                                      <p:tavLst>
                                        <p:tav tm="0">
                                          <p:val>
                                            <p:fltVal val="0"/>
                                          </p:val>
                                        </p:tav>
                                        <p:tav tm="100000">
                                          <p:val>
                                            <p:strVal val="#ppt_h"/>
                                          </p:val>
                                        </p:tav>
                                      </p:tavLst>
                                    </p:anim>
                                    <p:anim calcmode="lin" valueType="num">
                                      <p:cBhvr>
                                        <p:cTn id="37" dur="3000" fill="hold"/>
                                        <p:tgtEl>
                                          <p:spTgt spid="77"/>
                                        </p:tgtEl>
                                        <p:attrNameLst>
                                          <p:attrName>ppt_x</p:attrName>
                                        </p:attrNameLst>
                                      </p:cBhvr>
                                      <p:tavLst>
                                        <p:tav tm="0" fmla="#ppt_x+(cos(-2*pi*(1-$))*-#ppt_x-sin(-2*pi*(1-$))*(1-#ppt_y))*(1-$)">
                                          <p:val>
                                            <p:fltVal val="0"/>
                                          </p:val>
                                        </p:tav>
                                        <p:tav tm="100000">
                                          <p:val>
                                            <p:fltVal val="1"/>
                                          </p:val>
                                        </p:tav>
                                      </p:tavLst>
                                    </p:anim>
                                    <p:anim calcmode="lin" valueType="num">
                                      <p:cBhvr>
                                        <p:cTn id="38" dur="3000" fill="hold"/>
                                        <p:tgtEl>
                                          <p:spTgt spid="77"/>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33"/>
                                            </p:cond>
                                          </p:stCondLst>
                                          <p:endCondLst>
                                            <p:cond evt="onStopAudio" delay="0">
                                              <p:tgtEl>
                                                <p:sldTgt/>
                                              </p:tgtEl>
                                            </p:cond>
                                          </p:endCondLst>
                                        </p:cTn>
                                        <p:tgtEl>
                                          <p:sndTgt r:embed="rId4" name="CHIMES.WAV"/>
                                        </p:tgtEl>
                                      </p:cMediaNode>
                                    </p:audio>
                                  </p:subTnLst>
                                </p:cTn>
                              </p:par>
                              <p:par>
                                <p:cTn id="39" presetID="19" presetClass="entr" presetSubtype="10" fill="hold" nodeType="withEffect">
                                  <p:stCondLst>
                                    <p:cond delay="0"/>
                                  </p:stCondLst>
                                  <p:childTnLst>
                                    <p:set>
                                      <p:cBhvr>
                                        <p:cTn id="40" dur="1" fill="hold">
                                          <p:stCondLst>
                                            <p:cond delay="0"/>
                                          </p:stCondLst>
                                        </p:cTn>
                                        <p:tgtEl>
                                          <p:spTgt spid="79"/>
                                        </p:tgtEl>
                                        <p:attrNameLst>
                                          <p:attrName>style.visibility</p:attrName>
                                        </p:attrNameLst>
                                      </p:cBhvr>
                                      <p:to>
                                        <p:strVal val="visible"/>
                                      </p:to>
                                    </p:set>
                                    <p:anim calcmode="lin" valueType="num">
                                      <p:cBhvr>
                                        <p:cTn id="41" dur="3000" fill="hold"/>
                                        <p:tgtEl>
                                          <p:spTgt spid="79"/>
                                        </p:tgtEl>
                                        <p:attrNameLst>
                                          <p:attrName>ppt_w</p:attrName>
                                        </p:attrNameLst>
                                      </p:cBhvr>
                                      <p:tavLst>
                                        <p:tav tm="0" fmla="#ppt_w*sin(2.5*pi*$)">
                                          <p:val>
                                            <p:fltVal val="0"/>
                                          </p:val>
                                        </p:tav>
                                        <p:tav tm="100000">
                                          <p:val>
                                            <p:fltVal val="1"/>
                                          </p:val>
                                        </p:tav>
                                      </p:tavLst>
                                    </p:anim>
                                    <p:anim calcmode="lin" valueType="num">
                                      <p:cBhvr>
                                        <p:cTn id="42" dur="3000" fill="hold"/>
                                        <p:tgtEl>
                                          <p:spTgt spid="79"/>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9"/>
                                            </p:cond>
                                          </p:stCondLst>
                                          <p:endCondLst>
                                            <p:cond evt="onStopAudio" delay="0">
                                              <p:tgtEl>
                                                <p:sldTgt/>
                                              </p:tgtEl>
                                            </p:cond>
                                          </p:endCondLst>
                                        </p:cTn>
                                        <p:tgtEl>
                                          <p:sndTgt r:embed="rId4" name="CHIMES.WAV"/>
                                        </p:tgtEl>
                                      </p:cMediaNode>
                                    </p:audio>
                                  </p:subTnLst>
                                </p:cTn>
                              </p:par>
                            </p:childTnLst>
                          </p:cTn>
                        </p:par>
                        <p:par>
                          <p:cTn id="43" fill="hold">
                            <p:stCondLst>
                              <p:cond delay="18000"/>
                            </p:stCondLst>
                            <p:childTnLst>
                              <p:par>
                                <p:cTn id="44" presetID="22" presetClass="entr" presetSubtype="8" fill="hold" grpId="0" nodeType="afterEffect">
                                  <p:stCondLst>
                                    <p:cond delay="0"/>
                                  </p:stCondLst>
                                  <p:childTnLst>
                                    <p:set>
                                      <p:cBhvr>
                                        <p:cTn id="45" dur="1" fill="hold">
                                          <p:stCondLst>
                                            <p:cond delay="0"/>
                                          </p:stCondLst>
                                        </p:cTn>
                                        <p:tgtEl>
                                          <p:spTgt spid="72"/>
                                        </p:tgtEl>
                                        <p:attrNameLst>
                                          <p:attrName>style.visibility</p:attrName>
                                        </p:attrNameLst>
                                      </p:cBhvr>
                                      <p:to>
                                        <p:strVal val="visible"/>
                                      </p:to>
                                    </p:set>
                                    <p:animEffect transition="in" filter="wipe(left)">
                                      <p:cBhvr>
                                        <p:cTn id="46" dur="3000"/>
                                        <p:tgtEl>
                                          <p:spTgt spid="72"/>
                                        </p:tgtEl>
                                      </p:cBhvr>
                                    </p:animEffect>
                                  </p:childTnLst>
                                  <p:subTnLst>
                                    <p:audio>
                                      <p:cMediaNode>
                                        <p:cTn display="0" masterRel="sameClick">
                                          <p:stCondLst>
                                            <p:cond evt="begin" delay="0">
                                              <p:tn val="44"/>
                                            </p:cond>
                                          </p:stCondLst>
                                          <p:endCondLst>
                                            <p:cond evt="onStopAudio" delay="0">
                                              <p:tgtEl>
                                                <p:sldTgt/>
                                              </p:tgtEl>
                                            </p:cond>
                                          </p:endCondLst>
                                        </p:cTn>
                                        <p:tgtEl>
                                          <p:sndTgt r:embed="rId4" name="CHIMES.WAV"/>
                                        </p:tgtEl>
                                      </p:cMediaNode>
                                    </p:audio>
                                  </p:subTnLst>
                                </p:cTn>
                              </p:par>
                            </p:childTnLst>
                          </p:cTn>
                        </p:par>
                        <p:par>
                          <p:cTn id="47" fill="hold">
                            <p:stCondLst>
                              <p:cond delay="21000"/>
                            </p:stCondLst>
                            <p:childTnLst>
                              <p:par>
                                <p:cTn id="48" presetID="15" presetClass="entr" presetSubtype="0" fill="hold" grpId="0" nodeType="afterEffect">
                                  <p:stCondLst>
                                    <p:cond delay="0"/>
                                  </p:stCondLst>
                                  <p:childTnLst>
                                    <p:set>
                                      <p:cBhvr>
                                        <p:cTn id="49" dur="1" fill="hold">
                                          <p:stCondLst>
                                            <p:cond delay="0"/>
                                          </p:stCondLst>
                                        </p:cTn>
                                        <p:tgtEl>
                                          <p:spTgt spid="81"/>
                                        </p:tgtEl>
                                        <p:attrNameLst>
                                          <p:attrName>style.visibility</p:attrName>
                                        </p:attrNameLst>
                                      </p:cBhvr>
                                      <p:to>
                                        <p:strVal val="visible"/>
                                      </p:to>
                                    </p:set>
                                    <p:anim calcmode="lin" valueType="num">
                                      <p:cBhvr>
                                        <p:cTn id="50" dur="3000" fill="hold"/>
                                        <p:tgtEl>
                                          <p:spTgt spid="81"/>
                                        </p:tgtEl>
                                        <p:attrNameLst>
                                          <p:attrName>ppt_w</p:attrName>
                                        </p:attrNameLst>
                                      </p:cBhvr>
                                      <p:tavLst>
                                        <p:tav tm="0">
                                          <p:val>
                                            <p:fltVal val="0"/>
                                          </p:val>
                                        </p:tav>
                                        <p:tav tm="100000">
                                          <p:val>
                                            <p:strVal val="#ppt_w"/>
                                          </p:val>
                                        </p:tav>
                                      </p:tavLst>
                                    </p:anim>
                                    <p:anim calcmode="lin" valueType="num">
                                      <p:cBhvr>
                                        <p:cTn id="51" dur="3000" fill="hold"/>
                                        <p:tgtEl>
                                          <p:spTgt spid="81"/>
                                        </p:tgtEl>
                                        <p:attrNameLst>
                                          <p:attrName>ppt_h</p:attrName>
                                        </p:attrNameLst>
                                      </p:cBhvr>
                                      <p:tavLst>
                                        <p:tav tm="0">
                                          <p:val>
                                            <p:fltVal val="0"/>
                                          </p:val>
                                        </p:tav>
                                        <p:tav tm="100000">
                                          <p:val>
                                            <p:strVal val="#ppt_h"/>
                                          </p:val>
                                        </p:tav>
                                      </p:tavLst>
                                    </p:anim>
                                    <p:anim calcmode="lin" valueType="num">
                                      <p:cBhvr>
                                        <p:cTn id="52" dur="3000" fill="hold"/>
                                        <p:tgtEl>
                                          <p:spTgt spid="81"/>
                                        </p:tgtEl>
                                        <p:attrNameLst>
                                          <p:attrName>ppt_x</p:attrName>
                                        </p:attrNameLst>
                                      </p:cBhvr>
                                      <p:tavLst>
                                        <p:tav tm="0" fmla="#ppt_x+(cos(-2*pi*(1-$))*-#ppt_x-sin(-2*pi*(1-$))*(1-#ppt_y))*(1-$)">
                                          <p:val>
                                            <p:fltVal val="0"/>
                                          </p:val>
                                        </p:tav>
                                        <p:tav tm="100000">
                                          <p:val>
                                            <p:fltVal val="1"/>
                                          </p:val>
                                        </p:tav>
                                      </p:tavLst>
                                    </p:anim>
                                    <p:anim calcmode="lin" valueType="num">
                                      <p:cBhvr>
                                        <p:cTn id="53" dur="3000" fill="hold"/>
                                        <p:tgtEl>
                                          <p:spTgt spid="81"/>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48"/>
                                            </p:cond>
                                          </p:stCondLst>
                                          <p:endCondLst>
                                            <p:cond evt="onStopAudio" delay="0">
                                              <p:tgtEl>
                                                <p:sldTgt/>
                                              </p:tgtEl>
                                            </p:cond>
                                          </p:endCondLst>
                                        </p:cTn>
                                        <p:tgtEl>
                                          <p:sndTgt r:embed="rId4" name="CHIMES.WAV"/>
                                        </p:tgtEl>
                                      </p:cMediaNode>
                                    </p:audio>
                                  </p:subTnLst>
                                </p:cTn>
                              </p:par>
                              <p:par>
                                <p:cTn id="54" presetID="19" presetClass="entr" presetSubtype="10" fill="hold" nodeType="withEffect">
                                  <p:stCondLst>
                                    <p:cond delay="0"/>
                                  </p:stCondLst>
                                  <p:childTnLst>
                                    <p:set>
                                      <p:cBhvr>
                                        <p:cTn id="55" dur="1" fill="hold">
                                          <p:stCondLst>
                                            <p:cond delay="0"/>
                                          </p:stCondLst>
                                        </p:cTn>
                                        <p:tgtEl>
                                          <p:spTgt spid="76"/>
                                        </p:tgtEl>
                                        <p:attrNameLst>
                                          <p:attrName>style.visibility</p:attrName>
                                        </p:attrNameLst>
                                      </p:cBhvr>
                                      <p:to>
                                        <p:strVal val="visible"/>
                                      </p:to>
                                    </p:set>
                                    <p:anim calcmode="lin" valueType="num">
                                      <p:cBhvr>
                                        <p:cTn id="56" dur="3000" fill="hold"/>
                                        <p:tgtEl>
                                          <p:spTgt spid="76"/>
                                        </p:tgtEl>
                                        <p:attrNameLst>
                                          <p:attrName>ppt_w</p:attrName>
                                        </p:attrNameLst>
                                      </p:cBhvr>
                                      <p:tavLst>
                                        <p:tav tm="0" fmla="#ppt_w*sin(2.5*pi*$)">
                                          <p:val>
                                            <p:fltVal val="0"/>
                                          </p:val>
                                        </p:tav>
                                        <p:tav tm="100000">
                                          <p:val>
                                            <p:fltVal val="1"/>
                                          </p:val>
                                        </p:tav>
                                      </p:tavLst>
                                    </p:anim>
                                    <p:anim calcmode="lin" valueType="num">
                                      <p:cBhvr>
                                        <p:cTn id="57" dur="3000" fill="hold"/>
                                        <p:tgtEl>
                                          <p:spTgt spid="76"/>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54"/>
                                            </p:cond>
                                          </p:stCondLst>
                                          <p:endCondLst>
                                            <p:cond evt="onStopAudio" delay="0">
                                              <p:tgtEl>
                                                <p:sldTgt/>
                                              </p:tgtEl>
                                            </p:cond>
                                          </p:endCondLst>
                                        </p:cTn>
                                        <p:tgtEl>
                                          <p:sndTgt r:embed="rId4" name="CHIMES.WAV"/>
                                        </p:tgtEl>
                                      </p:cMediaNode>
                                    </p:audio>
                                  </p:subTnLst>
                                </p:cTn>
                              </p:par>
                            </p:childTnLst>
                          </p:cTn>
                        </p:par>
                        <p:par>
                          <p:cTn id="58" fill="hold">
                            <p:stCondLst>
                              <p:cond delay="24000"/>
                            </p:stCondLst>
                            <p:childTnLst>
                              <p:par>
                                <p:cTn id="59" presetID="22" presetClass="entr" presetSubtype="1" fill="hold" grpId="0" nodeType="afterEffect">
                                  <p:stCondLst>
                                    <p:cond delay="1000"/>
                                  </p:stCondLst>
                                  <p:childTnLst>
                                    <p:set>
                                      <p:cBhvr>
                                        <p:cTn id="60" dur="1" fill="hold">
                                          <p:stCondLst>
                                            <p:cond delay="0"/>
                                          </p:stCondLst>
                                        </p:cTn>
                                        <p:tgtEl>
                                          <p:spTgt spid="73"/>
                                        </p:tgtEl>
                                        <p:attrNameLst>
                                          <p:attrName>style.visibility</p:attrName>
                                        </p:attrNameLst>
                                      </p:cBhvr>
                                      <p:to>
                                        <p:strVal val="visible"/>
                                      </p:to>
                                    </p:set>
                                    <p:animEffect transition="in" filter="wipe(up)">
                                      <p:cBhvr>
                                        <p:cTn id="61" dur="3000"/>
                                        <p:tgtEl>
                                          <p:spTgt spid="73"/>
                                        </p:tgtEl>
                                      </p:cBhvr>
                                    </p:animEffect>
                                  </p:childTnLst>
                                  <p:subTnLst>
                                    <p:audio>
                                      <p:cMediaNode>
                                        <p:cTn display="0" masterRel="sameClick">
                                          <p:stCondLst>
                                            <p:cond evt="begin" delay="0">
                                              <p:tn val="59"/>
                                            </p:cond>
                                          </p:stCondLst>
                                          <p:endCondLst>
                                            <p:cond evt="onStopAudio" delay="0">
                                              <p:tgtEl>
                                                <p:sldTgt/>
                                              </p:tgtEl>
                                            </p:cond>
                                          </p:endCondLst>
                                        </p:cTn>
                                        <p:tgtEl>
                                          <p:sndTgt r:embed="rId4" name="CHIMES.WAV"/>
                                        </p:tgtEl>
                                      </p:cMediaNode>
                                    </p:audio>
                                  </p:subTnLst>
                                </p:cTn>
                              </p:par>
                            </p:childTnLst>
                          </p:cTn>
                        </p:par>
                        <p:par>
                          <p:cTn id="62" fill="hold">
                            <p:stCondLst>
                              <p:cond delay="28000"/>
                            </p:stCondLst>
                            <p:childTnLst>
                              <p:par>
                                <p:cTn id="63" presetID="22" presetClass="entr" presetSubtype="8" fill="hold" grpId="0" nodeType="afterEffect">
                                  <p:stCondLst>
                                    <p:cond delay="0"/>
                                  </p:stCondLst>
                                  <p:childTnLst>
                                    <p:set>
                                      <p:cBhvr>
                                        <p:cTn id="64" dur="1" fill="hold">
                                          <p:stCondLst>
                                            <p:cond delay="0"/>
                                          </p:stCondLst>
                                        </p:cTn>
                                        <p:tgtEl>
                                          <p:spTgt spid="78"/>
                                        </p:tgtEl>
                                        <p:attrNameLst>
                                          <p:attrName>style.visibility</p:attrName>
                                        </p:attrNameLst>
                                      </p:cBhvr>
                                      <p:to>
                                        <p:strVal val="visible"/>
                                      </p:to>
                                    </p:set>
                                    <p:animEffect transition="in" filter="wipe(left)">
                                      <p:cBhvr>
                                        <p:cTn id="65" dur="3000"/>
                                        <p:tgtEl>
                                          <p:spTgt spid="78"/>
                                        </p:tgtEl>
                                      </p:cBhvr>
                                    </p:animEffect>
                                  </p:childTnLst>
                                  <p:subTnLst>
                                    <p:audio>
                                      <p:cMediaNode>
                                        <p:cTn display="0" masterRel="sameClick">
                                          <p:stCondLst>
                                            <p:cond evt="begin" delay="0">
                                              <p:tn val="63"/>
                                            </p:cond>
                                          </p:stCondLst>
                                          <p:endCondLst>
                                            <p:cond evt="onStopAudio" delay="0">
                                              <p:tgtEl>
                                                <p:sldTgt/>
                                              </p:tgtEl>
                                            </p:cond>
                                          </p:endCondLst>
                                        </p:cTn>
                                        <p:tgtEl>
                                          <p:sndTgt r:embed="rId4" name="CHIMES.WAV"/>
                                        </p:tgtEl>
                                      </p:cMediaNode>
                                    </p:audio>
                                  </p:subTnLst>
                                </p:cTn>
                              </p:par>
                            </p:childTnLst>
                          </p:cTn>
                        </p:par>
                      </p:childTnLst>
                    </p:cTn>
                  </p:par>
                  <p:par>
                    <p:cTn id="66" fill="hold">
                      <p:stCondLst>
                        <p:cond delay="indefinite"/>
                      </p:stCondLst>
                      <p:childTnLst>
                        <p:par>
                          <p:cTn id="67" fill="hold">
                            <p:stCondLst>
                              <p:cond delay="0"/>
                            </p:stCondLst>
                            <p:childTnLst>
                              <p:par>
                                <p:cTn id="68" presetID="1" presetClass="entr" presetSubtype="0" fill="hold" grpId="0" nodeType="clickEffect">
                                  <p:stCondLst>
                                    <p:cond delay="0"/>
                                  </p:stCondLst>
                                  <p:childTnLst>
                                    <p:set>
                                      <p:cBhvr>
                                        <p:cTn id="69" dur="1" fill="hold">
                                          <p:stCondLst>
                                            <p:cond delay="0"/>
                                          </p:stCondLst>
                                        </p:cTn>
                                        <p:tgtEl>
                                          <p:spTgt spid="136"/>
                                        </p:tgtEl>
                                        <p:attrNameLst>
                                          <p:attrName>style.visibility</p:attrName>
                                        </p:attrNameLst>
                                      </p:cBhvr>
                                      <p:to>
                                        <p:strVal val="visible"/>
                                      </p:to>
                                    </p:set>
                                  </p:childTnLst>
                                </p:cTn>
                              </p:par>
                            </p:childTnLst>
                          </p:cTn>
                        </p:par>
                        <p:par>
                          <p:cTn id="70" fill="hold">
                            <p:stCondLst>
                              <p:cond delay="0"/>
                            </p:stCondLst>
                            <p:childTnLst>
                              <p:par>
                                <p:cTn id="71" presetID="22" presetClass="entr" presetSubtype="4" fill="hold" grpId="0" nodeType="afterEffect">
                                  <p:stCondLst>
                                    <p:cond delay="500"/>
                                  </p:stCondLst>
                                  <p:childTnLst>
                                    <p:set>
                                      <p:cBhvr>
                                        <p:cTn id="72" dur="1" fill="hold">
                                          <p:stCondLst>
                                            <p:cond delay="0"/>
                                          </p:stCondLst>
                                        </p:cTn>
                                        <p:tgtEl>
                                          <p:spTgt spid="74"/>
                                        </p:tgtEl>
                                        <p:attrNameLst>
                                          <p:attrName>style.visibility</p:attrName>
                                        </p:attrNameLst>
                                      </p:cBhvr>
                                      <p:to>
                                        <p:strVal val="visible"/>
                                      </p:to>
                                    </p:set>
                                    <p:animEffect transition="in" filter="wipe(down)">
                                      <p:cBhvr>
                                        <p:cTn id="73" dur="3000"/>
                                        <p:tgtEl>
                                          <p:spTgt spid="74"/>
                                        </p:tgtEl>
                                      </p:cBhvr>
                                    </p:animEffect>
                                  </p:childTnLst>
                                  <p:subTnLst>
                                    <p:audio>
                                      <p:cMediaNode>
                                        <p:cTn display="0" masterRel="sameClick">
                                          <p:stCondLst>
                                            <p:cond evt="begin" delay="0">
                                              <p:tn val="71"/>
                                            </p:cond>
                                          </p:stCondLst>
                                          <p:endCondLst>
                                            <p:cond evt="onStopAudio" delay="0">
                                              <p:tgtEl>
                                                <p:sldTgt/>
                                              </p:tgtEl>
                                            </p:cond>
                                          </p:endCondLst>
                                        </p:cTn>
                                        <p:tgtEl>
                                          <p:sndTgt r:embed="rId4" name="CHIMES.WAV"/>
                                        </p:tgtEl>
                                      </p:cMediaNode>
                                    </p:audio>
                                  </p:subTnLst>
                                </p:cTn>
                              </p:par>
                            </p:childTnLst>
                          </p:cTn>
                        </p:par>
                        <p:par>
                          <p:cTn id="74" fill="hold">
                            <p:stCondLst>
                              <p:cond delay="3500"/>
                            </p:stCondLst>
                            <p:childTnLst>
                              <p:par>
                                <p:cTn id="75" presetID="22" presetClass="entr" presetSubtype="8" fill="hold" grpId="0" nodeType="afterEffect">
                                  <p:stCondLst>
                                    <p:cond delay="0"/>
                                  </p:stCondLst>
                                  <p:childTnLst>
                                    <p:set>
                                      <p:cBhvr>
                                        <p:cTn id="76" dur="1" fill="hold">
                                          <p:stCondLst>
                                            <p:cond delay="0"/>
                                          </p:stCondLst>
                                        </p:cTn>
                                        <p:tgtEl>
                                          <p:spTgt spid="69"/>
                                        </p:tgtEl>
                                        <p:attrNameLst>
                                          <p:attrName>style.visibility</p:attrName>
                                        </p:attrNameLst>
                                      </p:cBhvr>
                                      <p:to>
                                        <p:strVal val="visible"/>
                                      </p:to>
                                    </p:set>
                                    <p:animEffect transition="in" filter="wipe(left)">
                                      <p:cBhvr>
                                        <p:cTn id="77" dur="5000"/>
                                        <p:tgtEl>
                                          <p:spTgt spid="69"/>
                                        </p:tgtEl>
                                      </p:cBhvr>
                                    </p:animEffect>
                                  </p:childTnLst>
                                </p:cTn>
                              </p:par>
                            </p:childTnLst>
                          </p:cTn>
                        </p:par>
                        <p:par>
                          <p:cTn id="78" fill="hold">
                            <p:stCondLst>
                              <p:cond delay="8500"/>
                            </p:stCondLst>
                            <p:childTnLst>
                              <p:par>
                                <p:cTn id="79" presetID="23" presetClass="entr" presetSubtype="288" fill="hold" nodeType="afterEffect">
                                  <p:stCondLst>
                                    <p:cond delay="1000"/>
                                  </p:stCondLst>
                                  <p:childTnLst>
                                    <p:set>
                                      <p:cBhvr>
                                        <p:cTn id="80" dur="1" fill="hold">
                                          <p:stCondLst>
                                            <p:cond delay="0"/>
                                          </p:stCondLst>
                                        </p:cTn>
                                        <p:tgtEl>
                                          <p:spTgt spid="82"/>
                                        </p:tgtEl>
                                        <p:attrNameLst>
                                          <p:attrName>style.visibility</p:attrName>
                                        </p:attrNameLst>
                                      </p:cBhvr>
                                      <p:to>
                                        <p:strVal val="visible"/>
                                      </p:to>
                                    </p:set>
                                    <p:anim calcmode="lin" valueType="num">
                                      <p:cBhvr>
                                        <p:cTn id="81" dur="3000" fill="hold"/>
                                        <p:tgtEl>
                                          <p:spTgt spid="82"/>
                                        </p:tgtEl>
                                        <p:attrNameLst>
                                          <p:attrName>ppt_w</p:attrName>
                                        </p:attrNameLst>
                                      </p:cBhvr>
                                      <p:tavLst>
                                        <p:tav tm="0">
                                          <p:val>
                                            <p:strVal val="4/3*#ppt_w"/>
                                          </p:val>
                                        </p:tav>
                                        <p:tav tm="100000">
                                          <p:val>
                                            <p:strVal val="#ppt_w"/>
                                          </p:val>
                                        </p:tav>
                                      </p:tavLst>
                                    </p:anim>
                                    <p:anim calcmode="lin" valueType="num">
                                      <p:cBhvr>
                                        <p:cTn id="82" dur="3000" fill="hold"/>
                                        <p:tgtEl>
                                          <p:spTgt spid="82"/>
                                        </p:tgtEl>
                                        <p:attrNameLst>
                                          <p:attrName>ppt_h</p:attrName>
                                        </p:attrNameLst>
                                      </p:cBhvr>
                                      <p:tavLst>
                                        <p:tav tm="0">
                                          <p:val>
                                            <p:strVal val="4/3*#ppt_h"/>
                                          </p:val>
                                        </p:tav>
                                        <p:tav tm="100000">
                                          <p:val>
                                            <p:strVal val="#ppt_h"/>
                                          </p:val>
                                        </p:tav>
                                      </p:tavLst>
                                    </p:anim>
                                  </p:childTnLst>
                                  <p:subTnLst>
                                    <p:audio>
                                      <p:cMediaNode>
                                        <p:cTn display="0" masterRel="sameClick">
                                          <p:stCondLst>
                                            <p:cond evt="begin" delay="0">
                                              <p:tn val="79"/>
                                            </p:cond>
                                          </p:stCondLst>
                                          <p:endCondLst>
                                            <p:cond evt="onStopAudio" delay="0">
                                              <p:tgtEl>
                                                <p:sldTgt/>
                                              </p:tgtEl>
                                            </p:cond>
                                          </p:endCondLst>
                                        </p:cTn>
                                        <p:tgtEl>
                                          <p:sndTgt r:embed="rId4" name="CHIMES.WAV"/>
                                        </p:tgtEl>
                                      </p:cMediaNode>
                                    </p:audio>
                                  </p:subTnLst>
                                </p:cTn>
                              </p:par>
                            </p:childTnLst>
                          </p:cTn>
                        </p:par>
                        <p:par>
                          <p:cTn id="83" fill="hold">
                            <p:stCondLst>
                              <p:cond delay="12500"/>
                            </p:stCondLst>
                            <p:childTnLst>
                              <p:par>
                                <p:cTn id="84" presetID="23" presetClass="entr" presetSubtype="288" fill="hold" nodeType="afterEffect">
                                  <p:stCondLst>
                                    <p:cond delay="1000"/>
                                  </p:stCondLst>
                                  <p:childTnLst>
                                    <p:set>
                                      <p:cBhvr>
                                        <p:cTn id="85" dur="1" fill="hold">
                                          <p:stCondLst>
                                            <p:cond delay="0"/>
                                          </p:stCondLst>
                                        </p:cTn>
                                        <p:tgtEl>
                                          <p:spTgt spid="85"/>
                                        </p:tgtEl>
                                        <p:attrNameLst>
                                          <p:attrName>style.visibility</p:attrName>
                                        </p:attrNameLst>
                                      </p:cBhvr>
                                      <p:to>
                                        <p:strVal val="visible"/>
                                      </p:to>
                                    </p:set>
                                    <p:anim calcmode="lin" valueType="num">
                                      <p:cBhvr>
                                        <p:cTn id="86" dur="3000" fill="hold"/>
                                        <p:tgtEl>
                                          <p:spTgt spid="85"/>
                                        </p:tgtEl>
                                        <p:attrNameLst>
                                          <p:attrName>ppt_w</p:attrName>
                                        </p:attrNameLst>
                                      </p:cBhvr>
                                      <p:tavLst>
                                        <p:tav tm="0">
                                          <p:val>
                                            <p:strVal val="4/3*#ppt_w"/>
                                          </p:val>
                                        </p:tav>
                                        <p:tav tm="100000">
                                          <p:val>
                                            <p:strVal val="#ppt_w"/>
                                          </p:val>
                                        </p:tav>
                                      </p:tavLst>
                                    </p:anim>
                                    <p:anim calcmode="lin" valueType="num">
                                      <p:cBhvr>
                                        <p:cTn id="87" dur="3000" fill="hold"/>
                                        <p:tgtEl>
                                          <p:spTgt spid="85"/>
                                        </p:tgtEl>
                                        <p:attrNameLst>
                                          <p:attrName>ppt_h</p:attrName>
                                        </p:attrNameLst>
                                      </p:cBhvr>
                                      <p:tavLst>
                                        <p:tav tm="0">
                                          <p:val>
                                            <p:strVal val="4/3*#ppt_h"/>
                                          </p:val>
                                        </p:tav>
                                        <p:tav tm="100000">
                                          <p:val>
                                            <p:strVal val="#ppt_h"/>
                                          </p:val>
                                        </p:tav>
                                      </p:tavLst>
                                    </p:anim>
                                  </p:childTnLst>
                                  <p:subTnLst>
                                    <p:audio>
                                      <p:cMediaNode>
                                        <p:cTn display="0" masterRel="sameClick">
                                          <p:stCondLst>
                                            <p:cond evt="begin" delay="0">
                                              <p:tn val="84"/>
                                            </p:cond>
                                          </p:stCondLst>
                                          <p:endCondLst>
                                            <p:cond evt="onStopAudio" delay="0">
                                              <p:tgtEl>
                                                <p:sldTgt/>
                                              </p:tgtEl>
                                            </p:cond>
                                          </p:endCondLst>
                                        </p:cTn>
                                        <p:tgtEl>
                                          <p:sndTgt r:embed="rId4" name="CHIMES.WAV"/>
                                        </p:tgtEl>
                                      </p:cMediaNode>
                                    </p:audio>
                                  </p:subTnLst>
                                </p:cTn>
                              </p:par>
                            </p:childTnLst>
                          </p:cTn>
                        </p:par>
                      </p:childTnLst>
                    </p:cTn>
                  </p:par>
                  <p:par>
                    <p:cTn id="88" fill="hold">
                      <p:stCondLst>
                        <p:cond delay="indefinite"/>
                      </p:stCondLst>
                      <p:childTnLst>
                        <p:par>
                          <p:cTn id="89" fill="hold">
                            <p:stCondLst>
                              <p:cond delay="0"/>
                            </p:stCondLst>
                            <p:childTnLst>
                              <p:par>
                                <p:cTn id="90" presetID="1" presetClass="entr" presetSubtype="0" fill="hold" nodeType="clickEffect">
                                  <p:stCondLst>
                                    <p:cond delay="0"/>
                                  </p:stCondLst>
                                  <p:childTnLst>
                                    <p:set>
                                      <p:cBhvr>
                                        <p:cTn id="91" dur="1" fill="hold">
                                          <p:stCondLst>
                                            <p:cond delay="0"/>
                                          </p:stCondLst>
                                        </p:cTn>
                                        <p:tgtEl>
                                          <p:spTgt spid="263">
                                            <p:txEl>
                                              <p:pRg st="0" end="0"/>
                                            </p:txEl>
                                          </p:spTgt>
                                        </p:tgtEl>
                                        <p:attrNameLst>
                                          <p:attrName>style.visibility</p:attrName>
                                        </p:attrNameLst>
                                      </p:cBhvr>
                                      <p:to>
                                        <p:strVal val="visible"/>
                                      </p:to>
                                    </p:set>
                                  </p:childTnLst>
                                </p:cTn>
                              </p:par>
                            </p:childTnLst>
                          </p:cTn>
                        </p:par>
                      </p:childTnLst>
                    </p:cTn>
                  </p:par>
                  <p:par>
                    <p:cTn id="92" fill="hold">
                      <p:stCondLst>
                        <p:cond delay="indefinite"/>
                      </p:stCondLst>
                      <p:childTnLst>
                        <p:par>
                          <p:cTn id="93" fill="hold">
                            <p:stCondLst>
                              <p:cond delay="0"/>
                            </p:stCondLst>
                            <p:childTnLst>
                              <p:par>
                                <p:cTn id="94" presetID="22" presetClass="entr" presetSubtype="8" fill="hold" nodeType="clickEffect">
                                  <p:stCondLst>
                                    <p:cond delay="0"/>
                                  </p:stCondLst>
                                  <p:childTnLst>
                                    <p:set>
                                      <p:cBhvr>
                                        <p:cTn id="95" dur="1" fill="hold">
                                          <p:stCondLst>
                                            <p:cond delay="0"/>
                                          </p:stCondLst>
                                        </p:cTn>
                                        <p:tgtEl>
                                          <p:spTgt spid="88"/>
                                        </p:tgtEl>
                                        <p:attrNameLst>
                                          <p:attrName>style.visibility</p:attrName>
                                        </p:attrNameLst>
                                      </p:cBhvr>
                                      <p:to>
                                        <p:strVal val="visible"/>
                                      </p:to>
                                    </p:set>
                                    <p:animEffect transition="in" filter="wipe(left)">
                                      <p:cBhvr>
                                        <p:cTn id="96" dur="3000"/>
                                        <p:tgtEl>
                                          <p:spTgt spid="88"/>
                                        </p:tgtEl>
                                      </p:cBhvr>
                                    </p:animEffect>
                                  </p:childTnLst>
                                </p:cTn>
                              </p:par>
                            </p:childTnLst>
                          </p:cTn>
                        </p:par>
                      </p:childTnLst>
                    </p:cTn>
                  </p:par>
                  <p:par>
                    <p:cTn id="97" fill="hold">
                      <p:stCondLst>
                        <p:cond delay="indefinite"/>
                      </p:stCondLst>
                      <p:childTnLst>
                        <p:par>
                          <p:cTn id="98" fill="hold">
                            <p:stCondLst>
                              <p:cond delay="0"/>
                            </p:stCondLst>
                            <p:childTnLst>
                              <p:par>
                                <p:cTn id="99" presetID="22" presetClass="entr" presetSubtype="8" fill="hold" nodeType="clickEffect">
                                  <p:stCondLst>
                                    <p:cond delay="0"/>
                                  </p:stCondLst>
                                  <p:childTnLst>
                                    <p:set>
                                      <p:cBhvr>
                                        <p:cTn id="100" dur="1" fill="hold">
                                          <p:stCondLst>
                                            <p:cond delay="0"/>
                                          </p:stCondLst>
                                        </p:cTn>
                                        <p:tgtEl>
                                          <p:spTgt spid="89"/>
                                        </p:tgtEl>
                                        <p:attrNameLst>
                                          <p:attrName>style.visibility</p:attrName>
                                        </p:attrNameLst>
                                      </p:cBhvr>
                                      <p:to>
                                        <p:strVal val="visible"/>
                                      </p:to>
                                    </p:set>
                                    <p:animEffect transition="in" filter="wipe(left)">
                                      <p:cBhvr>
                                        <p:cTn id="101" dur="3000"/>
                                        <p:tgtEl>
                                          <p:spTgt spid="89"/>
                                        </p:tgtEl>
                                      </p:cBhvr>
                                    </p:animEffect>
                                  </p:childTnLst>
                                </p:cTn>
                              </p:par>
                            </p:childTnLst>
                          </p:cTn>
                        </p:par>
                      </p:childTnLst>
                    </p:cTn>
                  </p:par>
                  <p:par>
                    <p:cTn id="102" fill="hold">
                      <p:stCondLst>
                        <p:cond delay="indefinite"/>
                      </p:stCondLst>
                      <p:childTnLst>
                        <p:par>
                          <p:cTn id="103" fill="hold">
                            <p:stCondLst>
                              <p:cond delay="0"/>
                            </p:stCondLst>
                            <p:childTnLst>
                              <p:par>
                                <p:cTn id="104" presetID="22" presetClass="entr" presetSubtype="8" fill="hold" nodeType="clickEffect">
                                  <p:stCondLst>
                                    <p:cond delay="0"/>
                                  </p:stCondLst>
                                  <p:childTnLst>
                                    <p:set>
                                      <p:cBhvr>
                                        <p:cTn id="105" dur="1" fill="hold">
                                          <p:stCondLst>
                                            <p:cond delay="0"/>
                                          </p:stCondLst>
                                        </p:cTn>
                                        <p:tgtEl>
                                          <p:spTgt spid="90"/>
                                        </p:tgtEl>
                                        <p:attrNameLst>
                                          <p:attrName>style.visibility</p:attrName>
                                        </p:attrNameLst>
                                      </p:cBhvr>
                                      <p:to>
                                        <p:strVal val="visible"/>
                                      </p:to>
                                    </p:set>
                                    <p:animEffect transition="in" filter="wipe(left)">
                                      <p:cBhvr>
                                        <p:cTn id="106" dur="5000"/>
                                        <p:tgtEl>
                                          <p:spTgt spid="90"/>
                                        </p:tgtEl>
                                      </p:cBhvr>
                                    </p:animEffec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91"/>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 grpId="0"/>
      <p:bldP spid="2" grpId="0" animBg="1"/>
      <p:bldP spid="37" grpId="0"/>
      <p:bldP spid="69" grpId="0" animBg="1"/>
      <p:bldP spid="70" grpId="0" animBg="1"/>
      <p:bldP spid="71" grpId="0" animBg="1"/>
      <p:bldP spid="72" grpId="0" animBg="1"/>
      <p:bldP spid="73" grpId="0" animBg="1"/>
      <p:bldP spid="74" grpId="0" animBg="1"/>
      <p:bldP spid="77" grpId="0" animBg="1"/>
      <p:bldP spid="78" grpId="0" animBg="1"/>
      <p:bldP spid="81" grpId="0" animBg="1"/>
      <p:bldP spid="91" grpId="0"/>
      <p:bldP spid="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711605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第八章   拉压、剪切与挤压的强度计算</a:t>
            </a:r>
          </a:p>
        </p:txBody>
      </p:sp>
      <p:sp>
        <p:nvSpPr>
          <p:cNvPr id="19" name="矩形 18">
            <a:extLst>
              <a:ext uri="{FF2B5EF4-FFF2-40B4-BE49-F238E27FC236}">
                <a16:creationId xmlns:a16="http://schemas.microsoft.com/office/drawing/2014/main" id="{396E3A4E-3DCE-51D1-DE56-78AC0CFE008B}"/>
              </a:ext>
            </a:extLst>
          </p:cNvPr>
          <p:cNvSpPr/>
          <p:nvPr/>
        </p:nvSpPr>
        <p:spPr>
          <a:xfrm>
            <a:off x="551383" y="820392"/>
            <a:ext cx="10369153" cy="1828193"/>
          </a:xfrm>
          <a:prstGeom prst="rect">
            <a:avLst/>
          </a:prstGeom>
        </p:spPr>
        <p:txBody>
          <a:bodyPr wrap="square">
            <a:spAutoFit/>
          </a:bodyPr>
          <a:lstStyle/>
          <a:p>
            <a:pPr lvl="0" algn="just">
              <a:lnSpc>
                <a:spcPct val="120000"/>
              </a:lnSpc>
            </a:pPr>
            <a:r>
              <a:rPr lang="zh-CN" altLang="en-US" i="0" dirty="0">
                <a:solidFill>
                  <a:srgbClr val="0033CC"/>
                </a:solidFill>
                <a:ea typeface="黑体" panose="02010609060101010101" pitchFamily="49" charset="-122"/>
              </a:rPr>
              <a:t>例 </a:t>
            </a:r>
            <a:r>
              <a:rPr kumimoji="1" lang="zh-CN" altLang="en-US" i="0" dirty="0">
                <a:solidFill>
                  <a:schemeClr val="tx1"/>
                </a:solidFill>
                <a:latin typeface="+mn-lt"/>
                <a:ea typeface="黑体" panose="02010609060101010101" pitchFamily="49" charset="-122"/>
              </a:rPr>
              <a:t>图示桁架，</a:t>
            </a:r>
            <a:r>
              <a:rPr kumimoji="1" lang="en-US" altLang="zh-CN" b="0" dirty="0">
                <a:solidFill>
                  <a:schemeClr val="tx1"/>
                </a:solidFill>
                <a:latin typeface="+mn-lt"/>
                <a:ea typeface="黑体" panose="02010609060101010101" pitchFamily="49" charset="-122"/>
              </a:rPr>
              <a:t>AB</a:t>
            </a:r>
            <a:r>
              <a:rPr kumimoji="1" lang="zh-CN" altLang="en-US" i="0" dirty="0">
                <a:solidFill>
                  <a:schemeClr val="tx1"/>
                </a:solidFill>
                <a:latin typeface="+mn-lt"/>
                <a:ea typeface="黑体" panose="02010609060101010101" pitchFamily="49" charset="-122"/>
              </a:rPr>
              <a:t>杆和</a:t>
            </a:r>
            <a:r>
              <a:rPr kumimoji="1" lang="en-US" altLang="zh-CN" b="0" dirty="0">
                <a:solidFill>
                  <a:schemeClr val="tx1"/>
                </a:solidFill>
                <a:latin typeface="+mn-lt"/>
                <a:ea typeface="黑体" panose="02010609060101010101" pitchFamily="49" charset="-122"/>
              </a:rPr>
              <a:t>AC</a:t>
            </a:r>
            <a:r>
              <a:rPr kumimoji="1" lang="zh-CN" altLang="en-US" i="0" dirty="0">
                <a:solidFill>
                  <a:schemeClr val="tx1"/>
                </a:solidFill>
                <a:latin typeface="+mn-lt"/>
                <a:ea typeface="黑体" panose="02010609060101010101" pitchFamily="49" charset="-122"/>
              </a:rPr>
              <a:t>杆均为钢杆，弹性模量</a:t>
            </a:r>
            <a:r>
              <a:rPr kumimoji="1" lang="en-US" altLang="zh-CN" b="0" dirty="0">
                <a:solidFill>
                  <a:schemeClr val="tx1"/>
                </a:solidFill>
                <a:latin typeface="+mn-lt"/>
                <a:ea typeface="黑体" panose="02010609060101010101" pitchFamily="49" charset="-122"/>
              </a:rPr>
              <a:t>E</a:t>
            </a:r>
            <a:r>
              <a:rPr kumimoji="1" lang="en-US" altLang="zh-CN" b="0" i="0" dirty="0">
                <a:solidFill>
                  <a:schemeClr val="tx1"/>
                </a:solidFill>
                <a:latin typeface="+mn-lt"/>
                <a:ea typeface="黑体" panose="02010609060101010101" pitchFamily="49" charset="-122"/>
              </a:rPr>
              <a:t>=200GPa</a:t>
            </a:r>
            <a:r>
              <a:rPr kumimoji="1" lang="zh-CN" altLang="en-US" b="0" i="0" dirty="0">
                <a:solidFill>
                  <a:schemeClr val="tx1"/>
                </a:solidFill>
                <a:latin typeface="+mn-lt"/>
                <a:ea typeface="黑体" panose="02010609060101010101" pitchFamily="49" charset="-122"/>
              </a:rPr>
              <a:t>，</a:t>
            </a:r>
            <a:r>
              <a:rPr kumimoji="1" lang="en-US" altLang="zh-CN" b="0" dirty="0">
                <a:solidFill>
                  <a:schemeClr val="tx1"/>
                </a:solidFill>
                <a:latin typeface="+mn-lt"/>
                <a:ea typeface="黑体" panose="02010609060101010101" pitchFamily="49" charset="-122"/>
              </a:rPr>
              <a:t>F</a:t>
            </a:r>
            <a:r>
              <a:rPr kumimoji="1" lang="en-US" altLang="zh-CN" b="0" i="0" dirty="0">
                <a:solidFill>
                  <a:schemeClr val="tx1"/>
                </a:solidFill>
                <a:latin typeface="+mn-lt"/>
                <a:ea typeface="黑体" panose="02010609060101010101" pitchFamily="49" charset="-122"/>
              </a:rPr>
              <a:t>=10kN</a:t>
            </a:r>
            <a:r>
              <a:rPr kumimoji="1" lang="zh-CN" altLang="en-US" i="0" dirty="0">
                <a:solidFill>
                  <a:schemeClr val="tx1"/>
                </a:solidFill>
                <a:latin typeface="+mn-lt"/>
                <a:ea typeface="黑体" panose="02010609060101010101" pitchFamily="49" charset="-122"/>
              </a:rPr>
              <a:t>，杆</a:t>
            </a:r>
            <a:r>
              <a:rPr kumimoji="1" lang="en-US" altLang="zh-CN" b="0" dirty="0">
                <a:solidFill>
                  <a:schemeClr val="tx1"/>
                </a:solidFill>
                <a:latin typeface="+mn-lt"/>
                <a:ea typeface="黑体" panose="02010609060101010101" pitchFamily="49" charset="-122"/>
              </a:rPr>
              <a:t>AB</a:t>
            </a:r>
            <a:r>
              <a:rPr kumimoji="1" lang="zh-CN" altLang="en-US" i="0" dirty="0">
                <a:solidFill>
                  <a:schemeClr val="tx1"/>
                </a:solidFill>
                <a:latin typeface="+mn-lt"/>
                <a:ea typeface="黑体" panose="02010609060101010101" pitchFamily="49" charset="-122"/>
              </a:rPr>
              <a:t>的长度</a:t>
            </a:r>
            <a:r>
              <a:rPr lang="en-US" altLang="zh-CN" b="0" dirty="0">
                <a:solidFill>
                  <a:schemeClr val="tx1"/>
                </a:solidFill>
                <a:ea typeface="黑体" panose="02010609060101010101" pitchFamily="49" charset="-122"/>
              </a:rPr>
              <a:t>l</a:t>
            </a:r>
            <a:r>
              <a:rPr lang="en-US" altLang="zh-CN" b="0" i="0" baseline="-25000" dirty="0">
                <a:solidFill>
                  <a:schemeClr val="tx1"/>
                </a:solidFill>
                <a:ea typeface="黑体" panose="02010609060101010101" pitchFamily="49" charset="-122"/>
              </a:rPr>
              <a:t>1</a:t>
            </a:r>
            <a:r>
              <a:rPr lang="en-US" altLang="zh-CN" b="0" i="0" dirty="0">
                <a:solidFill>
                  <a:schemeClr val="tx1"/>
                </a:solidFill>
                <a:ea typeface="黑体" panose="02010609060101010101" pitchFamily="49" charset="-122"/>
              </a:rPr>
              <a:t>=12m</a:t>
            </a:r>
            <a:r>
              <a:rPr kumimoji="1" lang="zh-CN" altLang="en-US" i="0" dirty="0">
                <a:solidFill>
                  <a:schemeClr val="tx1"/>
                </a:solidFill>
                <a:latin typeface="+mn-lt"/>
                <a:ea typeface="黑体" panose="02010609060101010101" pitchFamily="49" charset="-122"/>
              </a:rPr>
              <a:t>，横截面面积</a:t>
            </a:r>
            <a:r>
              <a:rPr lang="en-US" altLang="zh-CN" b="0" dirty="0">
                <a:solidFill>
                  <a:schemeClr val="tx1"/>
                </a:solidFill>
                <a:ea typeface="黑体" panose="02010609060101010101" pitchFamily="49" charset="-122"/>
              </a:rPr>
              <a:t>A</a:t>
            </a:r>
            <a:r>
              <a:rPr lang="en-US" altLang="zh-CN" b="0" i="0" baseline="-25000" dirty="0">
                <a:solidFill>
                  <a:schemeClr val="tx1"/>
                </a:solidFill>
                <a:ea typeface="黑体" panose="02010609060101010101" pitchFamily="49" charset="-122"/>
              </a:rPr>
              <a:t>1</a:t>
            </a:r>
            <a:r>
              <a:rPr lang="en-US" altLang="zh-CN" b="0" i="0" dirty="0">
                <a:solidFill>
                  <a:schemeClr val="tx1"/>
                </a:solidFill>
                <a:ea typeface="黑体" panose="02010609060101010101" pitchFamily="49" charset="-122"/>
              </a:rPr>
              <a:t>=200mm</a:t>
            </a:r>
            <a:r>
              <a:rPr lang="en-US" altLang="zh-CN" b="0" i="0" baseline="30000" dirty="0">
                <a:solidFill>
                  <a:schemeClr val="tx1"/>
                </a:solidFill>
                <a:ea typeface="黑体" panose="02010609060101010101" pitchFamily="49" charset="-122"/>
              </a:rPr>
              <a:t>2</a:t>
            </a:r>
            <a:r>
              <a:rPr kumimoji="1" lang="zh-CN" altLang="en-US" i="0" dirty="0">
                <a:solidFill>
                  <a:schemeClr val="tx1"/>
                </a:solidFill>
                <a:latin typeface="+mn-lt"/>
                <a:ea typeface="黑体" panose="02010609060101010101" pitchFamily="49" charset="-122"/>
              </a:rPr>
              <a:t>，杆</a:t>
            </a:r>
            <a:r>
              <a:rPr kumimoji="1" lang="en-US" altLang="zh-CN" b="0" dirty="0">
                <a:solidFill>
                  <a:schemeClr val="tx1"/>
                </a:solidFill>
                <a:latin typeface="+mn-lt"/>
                <a:ea typeface="黑体" panose="02010609060101010101" pitchFamily="49" charset="-122"/>
              </a:rPr>
              <a:t>AC</a:t>
            </a:r>
            <a:r>
              <a:rPr kumimoji="1" lang="zh-CN" altLang="en-US" i="0" dirty="0">
                <a:solidFill>
                  <a:schemeClr val="tx1"/>
                </a:solidFill>
                <a:latin typeface="+mn-lt"/>
                <a:ea typeface="黑体" panose="02010609060101010101" pitchFamily="49" charset="-122"/>
              </a:rPr>
              <a:t>的横截面面积</a:t>
            </a:r>
            <a:r>
              <a:rPr lang="en-US" altLang="zh-CN" b="0" dirty="0">
                <a:solidFill>
                  <a:schemeClr val="tx1"/>
                </a:solidFill>
                <a:ea typeface="黑体" panose="02010609060101010101" pitchFamily="49" charset="-122"/>
              </a:rPr>
              <a:t>A</a:t>
            </a:r>
            <a:r>
              <a:rPr lang="en-US" altLang="zh-CN" b="0" i="0" baseline="-25000" dirty="0">
                <a:solidFill>
                  <a:schemeClr val="tx1"/>
                </a:solidFill>
                <a:ea typeface="黑体" panose="02010609060101010101" pitchFamily="49" charset="-122"/>
              </a:rPr>
              <a:t>2</a:t>
            </a:r>
            <a:r>
              <a:rPr lang="en-US" altLang="zh-CN" b="0" i="0" dirty="0">
                <a:solidFill>
                  <a:schemeClr val="tx1"/>
                </a:solidFill>
                <a:ea typeface="黑体" panose="02010609060101010101" pitchFamily="49" charset="-122"/>
              </a:rPr>
              <a:t>=250mm</a:t>
            </a:r>
            <a:r>
              <a:rPr lang="en-US" altLang="zh-CN" b="0" i="0" baseline="30000" dirty="0">
                <a:solidFill>
                  <a:schemeClr val="tx1"/>
                </a:solidFill>
                <a:ea typeface="黑体" panose="02010609060101010101" pitchFamily="49" charset="-122"/>
              </a:rPr>
              <a:t>2</a:t>
            </a:r>
            <a:r>
              <a:rPr kumimoji="1" lang="zh-CN" altLang="en-US" i="0" dirty="0">
                <a:solidFill>
                  <a:schemeClr val="tx1"/>
                </a:solidFill>
                <a:latin typeface="+mn-lt"/>
                <a:ea typeface="黑体" panose="02010609060101010101" pitchFamily="49" charset="-122"/>
              </a:rPr>
              <a:t>。试求节点</a:t>
            </a:r>
            <a:r>
              <a:rPr kumimoji="1" lang="en-US" altLang="zh-CN" i="0" dirty="0">
                <a:solidFill>
                  <a:schemeClr val="tx1"/>
                </a:solidFill>
                <a:latin typeface="+mn-lt"/>
                <a:ea typeface="黑体" panose="02010609060101010101" pitchFamily="49" charset="-122"/>
              </a:rPr>
              <a:t>A</a:t>
            </a:r>
            <a:r>
              <a:rPr kumimoji="1" lang="zh-CN" altLang="en-US" i="0" dirty="0">
                <a:solidFill>
                  <a:schemeClr val="tx1"/>
                </a:solidFill>
                <a:latin typeface="+mn-lt"/>
                <a:ea typeface="黑体" panose="02010609060101010101" pitchFamily="49" charset="-122"/>
              </a:rPr>
              <a:t>的位移。</a:t>
            </a:r>
          </a:p>
          <a:p>
            <a:pPr lvl="0" algn="just">
              <a:lnSpc>
                <a:spcPct val="110000"/>
              </a:lnSpc>
              <a:defRPr/>
            </a:pPr>
            <a:r>
              <a:rPr kumimoji="1" lang="zh-CN" altLang="en-US" i="0" dirty="0">
                <a:solidFill>
                  <a:schemeClr val="tx1"/>
                </a:solidFill>
                <a:latin typeface="+mn-lt"/>
                <a:ea typeface="黑体" panose="02010609060101010101" pitchFamily="49" charset="-122"/>
              </a:rPr>
              <a:t>。</a:t>
            </a:r>
            <a:endParaRPr lang="zh-CN" altLang="en-US" i="0" dirty="0">
              <a:solidFill>
                <a:schemeClr val="tx1"/>
              </a:solidFill>
              <a:ea typeface="黑体" panose="02010609060101010101" pitchFamily="49" charset="-122"/>
              <a:cs typeface="Times New Roman" panose="02020603050405020304" pitchFamily="18" charset="0"/>
            </a:endParaRPr>
          </a:p>
        </p:txBody>
      </p:sp>
      <p:sp>
        <p:nvSpPr>
          <p:cNvPr id="136" name="矩形 135">
            <a:extLst>
              <a:ext uri="{FF2B5EF4-FFF2-40B4-BE49-F238E27FC236}">
                <a16:creationId xmlns:a16="http://schemas.microsoft.com/office/drawing/2014/main" id="{396E3A4E-3DCE-51D1-DE56-78AC0CFE008B}"/>
              </a:ext>
            </a:extLst>
          </p:cNvPr>
          <p:cNvSpPr/>
          <p:nvPr/>
        </p:nvSpPr>
        <p:spPr>
          <a:xfrm>
            <a:off x="551383" y="2198019"/>
            <a:ext cx="6768754" cy="1421928"/>
          </a:xfrm>
          <a:prstGeom prst="rect">
            <a:avLst/>
          </a:prstGeom>
        </p:spPr>
        <p:txBody>
          <a:bodyPr wrap="square">
            <a:spAutoFit/>
          </a:bodyPr>
          <a:lstStyle/>
          <a:p>
            <a:pPr lvl="0" algn="just">
              <a:lnSpc>
                <a:spcPct val="120000"/>
              </a:lnSpc>
            </a:pPr>
            <a:r>
              <a:rPr lang="zh-CN" altLang="en-US" i="0" dirty="0">
                <a:solidFill>
                  <a:srgbClr val="0033CC"/>
                </a:solidFill>
                <a:ea typeface="黑体" panose="02010609060101010101" pitchFamily="49" charset="-122"/>
              </a:rPr>
              <a:t>解  </a:t>
            </a:r>
            <a:r>
              <a:rPr kumimoji="1" lang="en-US" altLang="zh-CN" i="0" dirty="0">
                <a:solidFill>
                  <a:schemeClr val="tx1"/>
                </a:solidFill>
                <a:latin typeface="+mj-lt"/>
                <a:ea typeface="黑体" panose="02010609060101010101" pitchFamily="49" charset="-122"/>
              </a:rPr>
              <a:t>1</a:t>
            </a:r>
            <a:r>
              <a:rPr kumimoji="1" lang="zh-CN" altLang="en-US" i="0" dirty="0">
                <a:solidFill>
                  <a:schemeClr val="tx1"/>
                </a:solidFill>
                <a:latin typeface="+mj-lt"/>
                <a:ea typeface="黑体" panose="02010609060101010101" pitchFamily="49" charset="-122"/>
              </a:rPr>
              <a:t>）计算各杆轴力</a:t>
            </a:r>
            <a:r>
              <a:rPr kumimoji="1" lang="zh-CN" altLang="en-US" i="0" dirty="0">
                <a:solidFill>
                  <a:schemeClr val="tx1"/>
                </a:solidFill>
                <a:ea typeface="黑体" panose="02010609060101010101" pitchFamily="49" charset="-122"/>
              </a:rPr>
              <a:t>。</a:t>
            </a:r>
            <a:r>
              <a:rPr kumimoji="1" lang="zh-CN" altLang="en-US" i="0" dirty="0">
                <a:solidFill>
                  <a:schemeClr val="tx1"/>
                </a:solidFill>
                <a:latin typeface="+mj-lt"/>
                <a:ea typeface="黑体" panose="02010609060101010101" pitchFamily="49" charset="-122"/>
              </a:rPr>
              <a:t>取节点</a:t>
            </a:r>
            <a:r>
              <a:rPr kumimoji="1" lang="en-US" altLang="zh-CN" b="0" dirty="0">
                <a:solidFill>
                  <a:schemeClr val="tx1"/>
                </a:solidFill>
                <a:latin typeface="+mj-lt"/>
                <a:ea typeface="黑体" panose="02010609060101010101" pitchFamily="49" charset="-122"/>
              </a:rPr>
              <a:t>A</a:t>
            </a:r>
            <a:r>
              <a:rPr kumimoji="1" lang="zh-CN" altLang="en-US" i="0" dirty="0">
                <a:solidFill>
                  <a:schemeClr val="tx1"/>
                </a:solidFill>
                <a:latin typeface="+mj-lt"/>
                <a:ea typeface="黑体" panose="02010609060101010101" pitchFamily="49" charset="-122"/>
              </a:rPr>
              <a:t>作为研究对象，设杆</a:t>
            </a:r>
            <a:r>
              <a:rPr kumimoji="1" lang="en-US" altLang="zh-CN" b="0" i="0" dirty="0">
                <a:solidFill>
                  <a:schemeClr val="tx1"/>
                </a:solidFill>
                <a:latin typeface="+mj-lt"/>
                <a:ea typeface="黑体" panose="02010609060101010101" pitchFamily="49" charset="-122"/>
              </a:rPr>
              <a:t>1</a:t>
            </a:r>
            <a:r>
              <a:rPr kumimoji="1" lang="zh-CN" altLang="en-US" b="0" i="0" dirty="0">
                <a:solidFill>
                  <a:schemeClr val="tx1"/>
                </a:solidFill>
                <a:latin typeface="+mj-lt"/>
                <a:ea typeface="黑体" panose="02010609060101010101" pitchFamily="49" charset="-122"/>
              </a:rPr>
              <a:t>、</a:t>
            </a:r>
            <a:r>
              <a:rPr kumimoji="1" lang="en-US" altLang="zh-CN" b="0" i="0" dirty="0">
                <a:solidFill>
                  <a:schemeClr val="tx1"/>
                </a:solidFill>
                <a:latin typeface="+mj-lt"/>
                <a:ea typeface="黑体" panose="02010609060101010101" pitchFamily="49" charset="-122"/>
              </a:rPr>
              <a:t>2</a:t>
            </a:r>
            <a:r>
              <a:rPr kumimoji="1" lang="zh-CN" altLang="en-US" i="0" dirty="0">
                <a:solidFill>
                  <a:schemeClr val="tx1"/>
                </a:solidFill>
                <a:latin typeface="+mj-lt"/>
                <a:ea typeface="黑体" panose="02010609060101010101" pitchFamily="49" charset="-122"/>
              </a:rPr>
              <a:t>的轴力分别为</a:t>
            </a:r>
            <a:r>
              <a:rPr kumimoji="1" lang="en-US" altLang="zh-CN" b="0" dirty="0">
                <a:solidFill>
                  <a:schemeClr val="tx1"/>
                </a:solidFill>
                <a:latin typeface="+mj-lt"/>
                <a:ea typeface="黑体" panose="02010609060101010101" pitchFamily="49" charset="-122"/>
              </a:rPr>
              <a:t>F</a:t>
            </a:r>
            <a:r>
              <a:rPr kumimoji="1" lang="en-US" altLang="zh-CN" b="0" i="0" baseline="-25000" dirty="0">
                <a:solidFill>
                  <a:schemeClr val="tx1"/>
                </a:solidFill>
                <a:latin typeface="+mj-lt"/>
                <a:ea typeface="黑体" panose="02010609060101010101" pitchFamily="49" charset="-122"/>
              </a:rPr>
              <a:t>N1</a:t>
            </a:r>
            <a:r>
              <a:rPr kumimoji="1" lang="zh-CN" altLang="en-US" i="0" dirty="0">
                <a:solidFill>
                  <a:schemeClr val="tx1"/>
                </a:solidFill>
                <a:latin typeface="+mj-lt"/>
                <a:ea typeface="黑体" panose="02010609060101010101" pitchFamily="49" charset="-122"/>
              </a:rPr>
              <a:t>和</a:t>
            </a:r>
            <a:r>
              <a:rPr kumimoji="1" lang="en-US" altLang="zh-CN" b="0" dirty="0">
                <a:solidFill>
                  <a:schemeClr val="tx1"/>
                </a:solidFill>
                <a:ea typeface="黑体" panose="02010609060101010101" pitchFamily="49" charset="-122"/>
              </a:rPr>
              <a:t>F</a:t>
            </a:r>
            <a:r>
              <a:rPr kumimoji="1" lang="en-US" altLang="zh-CN" b="0" i="0" baseline="-25000" dirty="0">
                <a:solidFill>
                  <a:schemeClr val="tx1"/>
                </a:solidFill>
                <a:ea typeface="黑体" panose="02010609060101010101" pitchFamily="49" charset="-122"/>
              </a:rPr>
              <a:t>N2 </a:t>
            </a:r>
            <a:r>
              <a:rPr kumimoji="1" lang="zh-CN" altLang="en-US" i="0" dirty="0">
                <a:solidFill>
                  <a:schemeClr val="tx1"/>
                </a:solidFill>
                <a:latin typeface="+mj-lt"/>
                <a:ea typeface="黑体" panose="02010609060101010101" pitchFamily="49" charset="-122"/>
              </a:rPr>
              <a:t>。由节点的平衡条件</a:t>
            </a:r>
            <a:r>
              <a:rPr kumimoji="1" lang="en-US" altLang="zh-CN" i="0" dirty="0" err="1">
                <a:solidFill>
                  <a:schemeClr val="tx1"/>
                </a:solidFill>
                <a:latin typeface="+mj-lt"/>
                <a:ea typeface="黑体" panose="02010609060101010101" pitchFamily="49" charset="-122"/>
              </a:rPr>
              <a:t>Σ</a:t>
            </a:r>
            <a:r>
              <a:rPr kumimoji="1" lang="en-US" altLang="zh-CN" b="0" dirty="0" err="1">
                <a:solidFill>
                  <a:schemeClr val="tx1"/>
                </a:solidFill>
                <a:ea typeface="黑体" panose="02010609060101010101" pitchFamily="49" charset="-122"/>
              </a:rPr>
              <a:t>F</a:t>
            </a:r>
            <a:r>
              <a:rPr kumimoji="1" lang="en-US" altLang="zh-CN" b="0" baseline="-25000" dirty="0" err="1">
                <a:solidFill>
                  <a:schemeClr val="tx1"/>
                </a:solidFill>
                <a:ea typeface="黑体" panose="02010609060101010101" pitchFamily="49" charset="-122"/>
              </a:rPr>
              <a:t>x</a:t>
            </a:r>
            <a:r>
              <a:rPr kumimoji="1" lang="en-US" altLang="zh-CN" b="0" i="0" dirty="0">
                <a:solidFill>
                  <a:schemeClr val="tx1"/>
                </a:solidFill>
                <a:latin typeface="+mj-lt"/>
                <a:ea typeface="黑体" panose="02010609060101010101" pitchFamily="49" charset="-122"/>
              </a:rPr>
              <a:t>=0</a:t>
            </a:r>
            <a:r>
              <a:rPr kumimoji="1" lang="zh-CN" altLang="en-US" i="0" dirty="0">
                <a:solidFill>
                  <a:schemeClr val="tx1"/>
                </a:solidFill>
                <a:latin typeface="+mj-lt"/>
                <a:ea typeface="黑体" panose="02010609060101010101" pitchFamily="49" charset="-122"/>
              </a:rPr>
              <a:t>和</a:t>
            </a:r>
            <a:r>
              <a:rPr kumimoji="1" lang="en-US" altLang="zh-CN" i="0" dirty="0">
                <a:solidFill>
                  <a:schemeClr val="tx1"/>
                </a:solidFill>
                <a:ea typeface="黑体" panose="02010609060101010101" pitchFamily="49" charset="-122"/>
              </a:rPr>
              <a:t> </a:t>
            </a:r>
            <a:r>
              <a:rPr kumimoji="1" lang="en-US" altLang="zh-CN" i="0" dirty="0" err="1">
                <a:solidFill>
                  <a:schemeClr val="tx1"/>
                </a:solidFill>
                <a:ea typeface="黑体" panose="02010609060101010101" pitchFamily="49" charset="-122"/>
              </a:rPr>
              <a:t>Σ</a:t>
            </a:r>
            <a:r>
              <a:rPr kumimoji="1" lang="en-US" altLang="zh-CN" b="0" dirty="0" err="1">
                <a:solidFill>
                  <a:schemeClr val="tx1"/>
                </a:solidFill>
                <a:ea typeface="黑体" panose="02010609060101010101" pitchFamily="49" charset="-122"/>
              </a:rPr>
              <a:t>F</a:t>
            </a:r>
            <a:r>
              <a:rPr kumimoji="1" lang="en-US" altLang="zh-CN" b="0" baseline="-25000" dirty="0" err="1">
                <a:solidFill>
                  <a:schemeClr val="tx1"/>
                </a:solidFill>
                <a:ea typeface="黑体" panose="02010609060101010101" pitchFamily="49" charset="-122"/>
              </a:rPr>
              <a:t>y</a:t>
            </a:r>
            <a:r>
              <a:rPr kumimoji="1" lang="en-US" altLang="zh-CN" b="0" i="0" dirty="0">
                <a:solidFill>
                  <a:schemeClr val="tx1"/>
                </a:solidFill>
                <a:ea typeface="黑体" panose="02010609060101010101" pitchFamily="49" charset="-122"/>
              </a:rPr>
              <a:t>=0</a:t>
            </a:r>
            <a:r>
              <a:rPr kumimoji="1" lang="en-US" altLang="zh-CN" i="0" dirty="0">
                <a:solidFill>
                  <a:schemeClr val="tx1"/>
                </a:solidFill>
                <a:ea typeface="黑体" panose="02010609060101010101" pitchFamily="49" charset="-122"/>
              </a:rPr>
              <a:t> </a:t>
            </a:r>
            <a:r>
              <a:rPr kumimoji="1" lang="zh-CN" altLang="en-US" i="0" dirty="0">
                <a:solidFill>
                  <a:schemeClr val="tx1"/>
                </a:solidFill>
                <a:latin typeface="+mj-lt"/>
                <a:ea typeface="黑体" panose="02010609060101010101" pitchFamily="49" charset="-122"/>
              </a:rPr>
              <a:t>，可求得两杆轴力为</a:t>
            </a:r>
            <a:endParaRPr kumimoji="1" lang="zh-CN" altLang="en-US" sz="2400" i="0" u="none" strike="noStrike" kern="1200" cap="none" spc="0" normalizeH="0" baseline="0" noProof="0" dirty="0">
              <a:ln>
                <a:noFill/>
              </a:ln>
              <a:solidFill>
                <a:schemeClr val="tx1"/>
              </a:solidFill>
              <a:effectLst/>
              <a:uLnTx/>
              <a:uFillTx/>
              <a:latin typeface="+mn-lt"/>
              <a:ea typeface="黑体" panose="02010609060101010101" pitchFamily="49" charset="-122"/>
            </a:endParaRPr>
          </a:p>
        </p:txBody>
      </p:sp>
      <p:sp>
        <p:nvSpPr>
          <p:cNvPr id="263" name="矩形 262">
            <a:extLst>
              <a:ext uri="{FF2B5EF4-FFF2-40B4-BE49-F238E27FC236}">
                <a16:creationId xmlns:a16="http://schemas.microsoft.com/office/drawing/2014/main" id="{869757DD-0866-5287-A0EC-2DBC9D2AE5A6}"/>
              </a:ext>
            </a:extLst>
          </p:cNvPr>
          <p:cNvSpPr/>
          <p:nvPr/>
        </p:nvSpPr>
        <p:spPr>
          <a:xfrm>
            <a:off x="639858" y="4699263"/>
            <a:ext cx="6585628" cy="535531"/>
          </a:xfrm>
          <a:prstGeom prst="rect">
            <a:avLst/>
          </a:prstGeom>
        </p:spPr>
        <p:txBody>
          <a:bodyPr wrap="square">
            <a:spAutoFit/>
          </a:bodyPr>
          <a:lstStyle/>
          <a:p>
            <a:pPr eaLnBrk="0" hangingPunct="0">
              <a:lnSpc>
                <a:spcPct val="120000"/>
              </a:lnSpc>
            </a:pPr>
            <a:r>
              <a:rPr lang="zh-CN" altLang="en-US" i="0" dirty="0">
                <a:solidFill>
                  <a:srgbClr val="0033CC"/>
                </a:solidFill>
                <a:ea typeface="黑体" panose="02010609060101010101" pitchFamily="49" charset="-122"/>
              </a:rPr>
              <a:t>       </a:t>
            </a:r>
            <a:r>
              <a:rPr kumimoji="1" lang="en-US" altLang="zh-CN" i="0" dirty="0">
                <a:solidFill>
                  <a:schemeClr val="tx1"/>
                </a:solidFill>
                <a:ea typeface="黑体" panose="02010609060101010101" pitchFamily="49" charset="-122"/>
              </a:rPr>
              <a:t>2</a:t>
            </a:r>
            <a:r>
              <a:rPr kumimoji="1" lang="zh-CN" altLang="en-US" i="0" dirty="0">
                <a:solidFill>
                  <a:schemeClr val="tx1"/>
                </a:solidFill>
                <a:ea typeface="黑体" panose="02010609060101010101" pitchFamily="49" charset="-122"/>
              </a:rPr>
              <a:t>）计算杆的变形量</a:t>
            </a:r>
          </a:p>
        </p:txBody>
      </p:sp>
      <p:sp>
        <p:nvSpPr>
          <p:cNvPr id="92" name="Rectangle 61">
            <a:extLst>
              <a:ext uri="{FF2B5EF4-FFF2-40B4-BE49-F238E27FC236}">
                <a16:creationId xmlns:a16="http://schemas.microsoft.com/office/drawing/2014/main" id="{E746119E-2B09-2980-E8E2-5F100493CF6E}"/>
              </a:ext>
            </a:extLst>
          </p:cNvPr>
          <p:cNvSpPr>
            <a:spLocks noChangeArrowheads="1"/>
          </p:cNvSpPr>
          <p:nvPr/>
        </p:nvSpPr>
        <p:spPr bwMode="auto">
          <a:xfrm>
            <a:off x="7752184" y="2362702"/>
            <a:ext cx="4170289" cy="2842233"/>
          </a:xfrm>
          <a:prstGeom prst="rect">
            <a:avLst/>
          </a:prstGeom>
          <a:solidFill>
            <a:srgbClr val="B9CDE5"/>
          </a:solidFill>
          <a:ln>
            <a:noFill/>
          </a:ln>
          <a:effectLst/>
        </p:spPr>
        <p:txBody>
          <a:bodyPr wrap="none" anchor="ctr"/>
          <a:lstStyle/>
          <a:p>
            <a:endParaRPr lang="zh-CN" altLang="en-US" dirty="0"/>
          </a:p>
        </p:txBody>
      </p:sp>
      <p:grpSp>
        <p:nvGrpSpPr>
          <p:cNvPr id="93" name="Group 3">
            <a:extLst>
              <a:ext uri="{FF2B5EF4-FFF2-40B4-BE49-F238E27FC236}">
                <a16:creationId xmlns:a16="http://schemas.microsoft.com/office/drawing/2014/main" id="{6719B5DF-42DB-1224-C72A-22ECC2490FF5}"/>
              </a:ext>
            </a:extLst>
          </p:cNvPr>
          <p:cNvGrpSpPr>
            <a:grpSpLocks/>
          </p:cNvGrpSpPr>
          <p:nvPr/>
        </p:nvGrpSpPr>
        <p:grpSpPr bwMode="auto">
          <a:xfrm>
            <a:off x="8241587" y="2497647"/>
            <a:ext cx="3364393" cy="2360613"/>
            <a:chOff x="183" y="1168"/>
            <a:chExt cx="1955" cy="1351"/>
          </a:xfrm>
        </p:grpSpPr>
        <p:sp>
          <p:nvSpPr>
            <p:cNvPr id="94" name="Line 4">
              <a:extLst>
                <a:ext uri="{FF2B5EF4-FFF2-40B4-BE49-F238E27FC236}">
                  <a16:creationId xmlns:a16="http://schemas.microsoft.com/office/drawing/2014/main" id="{807224E4-DA19-CC85-8331-26E4F66AF57E}"/>
                </a:ext>
              </a:extLst>
            </p:cNvPr>
            <p:cNvSpPr>
              <a:spLocks noChangeShapeType="1"/>
            </p:cNvSpPr>
            <p:nvPr/>
          </p:nvSpPr>
          <p:spPr bwMode="auto">
            <a:xfrm>
              <a:off x="1880" y="2080"/>
              <a:ext cx="1" cy="269"/>
            </a:xfrm>
            <a:prstGeom prst="line">
              <a:avLst/>
            </a:prstGeom>
            <a:noFill/>
            <a:ln w="28575">
              <a:solidFill>
                <a:srgbClr val="FF0000"/>
              </a:solidFill>
              <a:round/>
              <a:headEnd type="none" w="sm" len="sm"/>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95" name="Line 6">
              <a:extLst>
                <a:ext uri="{FF2B5EF4-FFF2-40B4-BE49-F238E27FC236}">
                  <a16:creationId xmlns:a16="http://schemas.microsoft.com/office/drawing/2014/main" id="{C2B10FD0-A9D3-96FA-599C-688F35099B7B}"/>
                </a:ext>
              </a:extLst>
            </p:cNvPr>
            <p:cNvSpPr>
              <a:spLocks noChangeShapeType="1"/>
            </p:cNvSpPr>
            <p:nvPr/>
          </p:nvSpPr>
          <p:spPr bwMode="auto">
            <a:xfrm>
              <a:off x="418" y="1208"/>
              <a:ext cx="1" cy="268"/>
            </a:xfrm>
            <a:prstGeom prst="line">
              <a:avLst/>
            </a:prstGeom>
            <a:noFill/>
            <a:ln w="1905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96" name="Line 7">
              <a:extLst>
                <a:ext uri="{FF2B5EF4-FFF2-40B4-BE49-F238E27FC236}">
                  <a16:creationId xmlns:a16="http://schemas.microsoft.com/office/drawing/2014/main" id="{C3FB1177-0DD5-EB89-2553-98019DBC24AC}"/>
                </a:ext>
              </a:extLst>
            </p:cNvPr>
            <p:cNvSpPr>
              <a:spLocks noChangeShapeType="1"/>
            </p:cNvSpPr>
            <p:nvPr/>
          </p:nvSpPr>
          <p:spPr bwMode="auto">
            <a:xfrm flipH="1">
              <a:off x="333" y="1248"/>
              <a:ext cx="86" cy="74"/>
            </a:xfrm>
            <a:prstGeom prst="line">
              <a:avLst/>
            </a:prstGeom>
            <a:noFill/>
            <a:ln w="1905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97" name="Line 8">
              <a:extLst>
                <a:ext uri="{FF2B5EF4-FFF2-40B4-BE49-F238E27FC236}">
                  <a16:creationId xmlns:a16="http://schemas.microsoft.com/office/drawing/2014/main" id="{0A1E2DCD-2DE3-B4FC-1852-C89F7BDB0406}"/>
                </a:ext>
              </a:extLst>
            </p:cNvPr>
            <p:cNvSpPr>
              <a:spLocks noChangeShapeType="1"/>
            </p:cNvSpPr>
            <p:nvPr/>
          </p:nvSpPr>
          <p:spPr bwMode="auto">
            <a:xfrm flipH="1">
              <a:off x="333" y="1327"/>
              <a:ext cx="86" cy="81"/>
            </a:xfrm>
            <a:prstGeom prst="line">
              <a:avLst/>
            </a:prstGeom>
            <a:noFill/>
            <a:ln w="1905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98" name="Line 9">
              <a:extLst>
                <a:ext uri="{FF2B5EF4-FFF2-40B4-BE49-F238E27FC236}">
                  <a16:creationId xmlns:a16="http://schemas.microsoft.com/office/drawing/2014/main" id="{1E092020-ADAF-BC0B-F3CC-923CCB98ABB1}"/>
                </a:ext>
              </a:extLst>
            </p:cNvPr>
            <p:cNvSpPr>
              <a:spLocks noChangeShapeType="1"/>
            </p:cNvSpPr>
            <p:nvPr/>
          </p:nvSpPr>
          <p:spPr bwMode="auto">
            <a:xfrm flipH="1">
              <a:off x="333" y="1405"/>
              <a:ext cx="86" cy="80"/>
            </a:xfrm>
            <a:prstGeom prst="line">
              <a:avLst/>
            </a:prstGeom>
            <a:noFill/>
            <a:ln w="1905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99" name="Oval 10">
              <a:extLst>
                <a:ext uri="{FF2B5EF4-FFF2-40B4-BE49-F238E27FC236}">
                  <a16:creationId xmlns:a16="http://schemas.microsoft.com/office/drawing/2014/main" id="{CCB3D228-EC45-2294-4332-3D26EBAAC033}"/>
                </a:ext>
              </a:extLst>
            </p:cNvPr>
            <p:cNvSpPr>
              <a:spLocks noChangeArrowheads="1"/>
            </p:cNvSpPr>
            <p:nvPr/>
          </p:nvSpPr>
          <p:spPr bwMode="auto">
            <a:xfrm>
              <a:off x="423" y="1298"/>
              <a:ext cx="64" cy="60"/>
            </a:xfrm>
            <a:prstGeom prst="ellipse">
              <a:avLst/>
            </a:prstGeom>
            <a:solidFill>
              <a:schemeClr val="bg1"/>
            </a:solidFill>
            <a:ln w="19050">
              <a:solidFill>
                <a:srgbClr val="000000"/>
              </a:solidFill>
              <a:round/>
              <a:headEnd/>
              <a:tailEnd/>
            </a:ln>
          </p:spPr>
          <p:txBody>
            <a:bodyPr/>
            <a:lstStyle/>
            <a:p>
              <a:pPr eaLnBrk="1" hangingPunct="1">
                <a:buFontTx/>
                <a:buChar char="•"/>
              </a:pPr>
              <a:endParaRPr lang="zh-CN" altLang="en-US"/>
            </a:p>
          </p:txBody>
        </p:sp>
        <p:sp>
          <p:nvSpPr>
            <p:cNvPr id="100" name="Line 11">
              <a:extLst>
                <a:ext uri="{FF2B5EF4-FFF2-40B4-BE49-F238E27FC236}">
                  <a16:creationId xmlns:a16="http://schemas.microsoft.com/office/drawing/2014/main" id="{45CF8AE2-0022-F7B2-87D0-50A02AF822D9}"/>
                </a:ext>
              </a:extLst>
            </p:cNvPr>
            <p:cNvSpPr>
              <a:spLocks noChangeShapeType="1"/>
            </p:cNvSpPr>
            <p:nvPr/>
          </p:nvSpPr>
          <p:spPr bwMode="auto">
            <a:xfrm>
              <a:off x="418" y="2015"/>
              <a:ext cx="1" cy="303"/>
            </a:xfrm>
            <a:prstGeom prst="line">
              <a:avLst/>
            </a:prstGeom>
            <a:noFill/>
            <a:ln w="1905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101" name="Line 12">
              <a:extLst>
                <a:ext uri="{FF2B5EF4-FFF2-40B4-BE49-F238E27FC236}">
                  <a16:creationId xmlns:a16="http://schemas.microsoft.com/office/drawing/2014/main" id="{6F88DC9C-677E-B257-CF7C-8B22C8946492}"/>
                </a:ext>
              </a:extLst>
            </p:cNvPr>
            <p:cNvSpPr>
              <a:spLocks noChangeShapeType="1"/>
            </p:cNvSpPr>
            <p:nvPr/>
          </p:nvSpPr>
          <p:spPr bwMode="auto">
            <a:xfrm flipH="1">
              <a:off x="333" y="2055"/>
              <a:ext cx="86" cy="80"/>
            </a:xfrm>
            <a:prstGeom prst="line">
              <a:avLst/>
            </a:prstGeom>
            <a:noFill/>
            <a:ln w="1905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102" name="Line 13">
              <a:extLst>
                <a:ext uri="{FF2B5EF4-FFF2-40B4-BE49-F238E27FC236}">
                  <a16:creationId xmlns:a16="http://schemas.microsoft.com/office/drawing/2014/main" id="{ECBDDF5B-66BE-DCC2-247A-8F09730A420F}"/>
                </a:ext>
              </a:extLst>
            </p:cNvPr>
            <p:cNvSpPr>
              <a:spLocks noChangeShapeType="1"/>
            </p:cNvSpPr>
            <p:nvPr/>
          </p:nvSpPr>
          <p:spPr bwMode="auto">
            <a:xfrm flipH="1">
              <a:off x="340" y="2134"/>
              <a:ext cx="79" cy="70"/>
            </a:xfrm>
            <a:prstGeom prst="line">
              <a:avLst/>
            </a:prstGeom>
            <a:noFill/>
            <a:ln w="1905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103" name="Line 14">
              <a:extLst>
                <a:ext uri="{FF2B5EF4-FFF2-40B4-BE49-F238E27FC236}">
                  <a16:creationId xmlns:a16="http://schemas.microsoft.com/office/drawing/2014/main" id="{000B9708-33DA-F444-52FB-F4D0E397FF43}"/>
                </a:ext>
              </a:extLst>
            </p:cNvPr>
            <p:cNvSpPr>
              <a:spLocks noChangeShapeType="1"/>
            </p:cNvSpPr>
            <p:nvPr/>
          </p:nvSpPr>
          <p:spPr bwMode="auto">
            <a:xfrm flipH="1">
              <a:off x="345" y="2213"/>
              <a:ext cx="74" cy="64"/>
            </a:xfrm>
            <a:prstGeom prst="line">
              <a:avLst/>
            </a:prstGeom>
            <a:noFill/>
            <a:ln w="1905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104" name="Oval 15">
              <a:extLst>
                <a:ext uri="{FF2B5EF4-FFF2-40B4-BE49-F238E27FC236}">
                  <a16:creationId xmlns:a16="http://schemas.microsoft.com/office/drawing/2014/main" id="{8DE397AE-CD81-076F-48FF-529E3D81B6E1}"/>
                </a:ext>
              </a:extLst>
            </p:cNvPr>
            <p:cNvSpPr>
              <a:spLocks noChangeArrowheads="1"/>
            </p:cNvSpPr>
            <p:nvPr/>
          </p:nvSpPr>
          <p:spPr bwMode="auto">
            <a:xfrm>
              <a:off x="418" y="2036"/>
              <a:ext cx="64" cy="59"/>
            </a:xfrm>
            <a:prstGeom prst="ellipse">
              <a:avLst/>
            </a:prstGeom>
            <a:solidFill>
              <a:schemeClr val="bg1"/>
            </a:solidFill>
            <a:ln w="19050">
              <a:solidFill>
                <a:srgbClr val="000000"/>
              </a:solidFill>
              <a:round/>
              <a:headEnd/>
              <a:tailEnd/>
            </a:ln>
          </p:spPr>
          <p:txBody>
            <a:bodyPr/>
            <a:lstStyle/>
            <a:p>
              <a:pPr eaLnBrk="1" hangingPunct="1">
                <a:buFontTx/>
                <a:buChar char="•"/>
              </a:pPr>
              <a:endParaRPr lang="zh-CN" altLang="en-US"/>
            </a:p>
          </p:txBody>
        </p:sp>
        <p:sp>
          <p:nvSpPr>
            <p:cNvPr id="105" name="Line 16">
              <a:extLst>
                <a:ext uri="{FF2B5EF4-FFF2-40B4-BE49-F238E27FC236}">
                  <a16:creationId xmlns:a16="http://schemas.microsoft.com/office/drawing/2014/main" id="{C8D11693-9362-86D5-97E6-1F527C95FA44}"/>
                </a:ext>
              </a:extLst>
            </p:cNvPr>
            <p:cNvSpPr>
              <a:spLocks noChangeShapeType="1"/>
            </p:cNvSpPr>
            <p:nvPr/>
          </p:nvSpPr>
          <p:spPr bwMode="auto">
            <a:xfrm>
              <a:off x="488" y="1327"/>
              <a:ext cx="1367" cy="728"/>
            </a:xfrm>
            <a:prstGeom prst="line">
              <a:avLst/>
            </a:prstGeom>
            <a:noFill/>
            <a:ln w="2857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106" name="Oval 17">
              <a:extLst>
                <a:ext uri="{FF2B5EF4-FFF2-40B4-BE49-F238E27FC236}">
                  <a16:creationId xmlns:a16="http://schemas.microsoft.com/office/drawing/2014/main" id="{CBAA817B-38D3-F1D4-AC0A-95FC67B1B1E7}"/>
                </a:ext>
              </a:extLst>
            </p:cNvPr>
            <p:cNvSpPr>
              <a:spLocks noChangeArrowheads="1"/>
            </p:cNvSpPr>
            <p:nvPr/>
          </p:nvSpPr>
          <p:spPr bwMode="auto">
            <a:xfrm>
              <a:off x="1843" y="2038"/>
              <a:ext cx="64" cy="59"/>
            </a:xfrm>
            <a:prstGeom prst="ellipse">
              <a:avLst/>
            </a:prstGeom>
            <a:solidFill>
              <a:schemeClr val="bg1"/>
            </a:solidFill>
            <a:ln w="6350">
              <a:solidFill>
                <a:srgbClr val="000000"/>
              </a:solidFill>
              <a:round/>
              <a:headEnd/>
              <a:tailEnd/>
            </a:ln>
          </p:spPr>
          <p:txBody>
            <a:bodyPr/>
            <a:lstStyle/>
            <a:p>
              <a:pPr eaLnBrk="1" hangingPunct="1">
                <a:buFontTx/>
                <a:buChar char="•"/>
              </a:pPr>
              <a:endParaRPr lang="zh-CN" altLang="en-US"/>
            </a:p>
          </p:txBody>
        </p:sp>
        <p:sp>
          <p:nvSpPr>
            <p:cNvPr id="107" name="Rectangle 24">
              <a:extLst>
                <a:ext uri="{FF2B5EF4-FFF2-40B4-BE49-F238E27FC236}">
                  <a16:creationId xmlns:a16="http://schemas.microsoft.com/office/drawing/2014/main" id="{464BF82F-AB03-70B4-0C25-F1D7F100EA2E}"/>
                </a:ext>
              </a:extLst>
            </p:cNvPr>
            <p:cNvSpPr>
              <a:spLocks noChangeArrowheads="1"/>
            </p:cNvSpPr>
            <p:nvPr/>
          </p:nvSpPr>
          <p:spPr bwMode="auto">
            <a:xfrm>
              <a:off x="480" y="1881"/>
              <a:ext cx="214"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lIns="0" tIns="0" rIns="0" bIns="0"/>
            <a:lstStyle/>
            <a:p>
              <a:pPr algn="just"/>
              <a:r>
                <a:rPr kumimoji="1" lang="en-US" altLang="zh-CN" sz="1800" i="1"/>
                <a:t>C</a:t>
              </a:r>
            </a:p>
          </p:txBody>
        </p:sp>
        <p:sp>
          <p:nvSpPr>
            <p:cNvPr id="108" name="Rectangle 25">
              <a:extLst>
                <a:ext uri="{FF2B5EF4-FFF2-40B4-BE49-F238E27FC236}">
                  <a16:creationId xmlns:a16="http://schemas.microsoft.com/office/drawing/2014/main" id="{042654FD-57AB-DD51-C72A-DEE12D3831B0}"/>
                </a:ext>
              </a:extLst>
            </p:cNvPr>
            <p:cNvSpPr>
              <a:spLocks noChangeArrowheads="1"/>
            </p:cNvSpPr>
            <p:nvPr/>
          </p:nvSpPr>
          <p:spPr bwMode="auto">
            <a:xfrm>
              <a:off x="467" y="1168"/>
              <a:ext cx="215"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lIns="0" tIns="0" rIns="0" bIns="0"/>
            <a:lstStyle/>
            <a:p>
              <a:pPr algn="just"/>
              <a:r>
                <a:rPr kumimoji="1" lang="en-US" altLang="zh-CN" sz="1800" b="0" i="1" dirty="0"/>
                <a:t>B</a:t>
              </a:r>
            </a:p>
          </p:txBody>
        </p:sp>
        <p:sp>
          <p:nvSpPr>
            <p:cNvPr id="109" name="Rectangle 26">
              <a:extLst>
                <a:ext uri="{FF2B5EF4-FFF2-40B4-BE49-F238E27FC236}">
                  <a16:creationId xmlns:a16="http://schemas.microsoft.com/office/drawing/2014/main" id="{0EDDBE70-04BE-F07B-B282-D2BC0CEC6FC4}"/>
                </a:ext>
              </a:extLst>
            </p:cNvPr>
            <p:cNvSpPr>
              <a:spLocks noChangeArrowheads="1"/>
            </p:cNvSpPr>
            <p:nvPr/>
          </p:nvSpPr>
          <p:spPr bwMode="auto">
            <a:xfrm>
              <a:off x="1834" y="1893"/>
              <a:ext cx="214"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lIns="0" tIns="0" rIns="0" bIns="0"/>
            <a:lstStyle/>
            <a:p>
              <a:pPr algn="just"/>
              <a:r>
                <a:rPr kumimoji="1" lang="en-US" altLang="zh-CN" sz="1800" b="0" i="1" dirty="0"/>
                <a:t>A</a:t>
              </a:r>
            </a:p>
          </p:txBody>
        </p:sp>
        <p:sp>
          <p:nvSpPr>
            <p:cNvPr id="110" name="Rectangle 27">
              <a:extLst>
                <a:ext uri="{FF2B5EF4-FFF2-40B4-BE49-F238E27FC236}">
                  <a16:creationId xmlns:a16="http://schemas.microsoft.com/office/drawing/2014/main" id="{07584204-FA49-D7FD-19DE-9DAE966807EE}"/>
                </a:ext>
              </a:extLst>
            </p:cNvPr>
            <p:cNvSpPr>
              <a:spLocks noChangeArrowheads="1"/>
            </p:cNvSpPr>
            <p:nvPr/>
          </p:nvSpPr>
          <p:spPr bwMode="auto">
            <a:xfrm>
              <a:off x="1924" y="2310"/>
              <a:ext cx="214"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lIns="0" tIns="0" rIns="0" bIns="0"/>
            <a:lstStyle/>
            <a:p>
              <a:pPr algn="just"/>
              <a:r>
                <a:rPr kumimoji="1" lang="en-US" altLang="zh-CN" sz="1800" i="1">
                  <a:solidFill>
                    <a:srgbClr val="FF0000"/>
                  </a:solidFill>
                </a:rPr>
                <a:t>F</a:t>
              </a:r>
              <a:endParaRPr kumimoji="1" lang="en-US" altLang="zh-CN" sz="1800" i="1"/>
            </a:p>
          </p:txBody>
        </p:sp>
        <p:sp>
          <p:nvSpPr>
            <p:cNvPr id="111" name="Rectangle 28">
              <a:extLst>
                <a:ext uri="{FF2B5EF4-FFF2-40B4-BE49-F238E27FC236}">
                  <a16:creationId xmlns:a16="http://schemas.microsoft.com/office/drawing/2014/main" id="{0DAABDB7-57C6-EF03-8EB5-E2FF045C8A0B}"/>
                </a:ext>
              </a:extLst>
            </p:cNvPr>
            <p:cNvSpPr>
              <a:spLocks noChangeArrowheads="1"/>
            </p:cNvSpPr>
            <p:nvPr/>
          </p:nvSpPr>
          <p:spPr bwMode="auto">
            <a:xfrm>
              <a:off x="1161" y="1543"/>
              <a:ext cx="22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lIns="0" tIns="0" rIns="0" bIns="0"/>
            <a:lstStyle/>
            <a:p>
              <a:pPr algn="just"/>
              <a:r>
                <a:rPr kumimoji="1" lang="en-US" altLang="zh-CN" sz="1800" i="0" dirty="0"/>
                <a:t>①</a:t>
              </a:r>
            </a:p>
          </p:txBody>
        </p:sp>
        <p:sp>
          <p:nvSpPr>
            <p:cNvPr id="112" name="Rectangle 29">
              <a:extLst>
                <a:ext uri="{FF2B5EF4-FFF2-40B4-BE49-F238E27FC236}">
                  <a16:creationId xmlns:a16="http://schemas.microsoft.com/office/drawing/2014/main" id="{82EFFED4-AF9D-1446-7853-1F96E15DDE41}"/>
                </a:ext>
              </a:extLst>
            </p:cNvPr>
            <p:cNvSpPr>
              <a:spLocks noChangeArrowheads="1"/>
            </p:cNvSpPr>
            <p:nvPr/>
          </p:nvSpPr>
          <p:spPr bwMode="auto">
            <a:xfrm>
              <a:off x="961" y="1911"/>
              <a:ext cx="22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lIns="0" tIns="0" rIns="0" bIns="0"/>
            <a:lstStyle/>
            <a:p>
              <a:pPr algn="just"/>
              <a:r>
                <a:rPr kumimoji="1" lang="en-US" altLang="zh-CN" sz="1800" i="0" dirty="0"/>
                <a:t>②</a:t>
              </a:r>
            </a:p>
          </p:txBody>
        </p:sp>
        <p:sp>
          <p:nvSpPr>
            <p:cNvPr id="113" name="Line 30">
              <a:extLst>
                <a:ext uri="{FF2B5EF4-FFF2-40B4-BE49-F238E27FC236}">
                  <a16:creationId xmlns:a16="http://schemas.microsoft.com/office/drawing/2014/main" id="{0B04A68E-CCBB-ECB3-687F-479C97367701}"/>
                </a:ext>
              </a:extLst>
            </p:cNvPr>
            <p:cNvSpPr>
              <a:spLocks noChangeShapeType="1"/>
            </p:cNvSpPr>
            <p:nvPr/>
          </p:nvSpPr>
          <p:spPr bwMode="auto">
            <a:xfrm flipH="1">
              <a:off x="183" y="2138"/>
              <a:ext cx="236"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4" name="Line 16">
              <a:extLst>
                <a:ext uri="{FF2B5EF4-FFF2-40B4-BE49-F238E27FC236}">
                  <a16:creationId xmlns:a16="http://schemas.microsoft.com/office/drawing/2014/main" id="{141E0DB8-779D-3EE9-CB91-EDF6C3D71D01}"/>
                </a:ext>
              </a:extLst>
            </p:cNvPr>
            <p:cNvSpPr>
              <a:spLocks noChangeShapeType="1"/>
            </p:cNvSpPr>
            <p:nvPr/>
          </p:nvSpPr>
          <p:spPr bwMode="auto">
            <a:xfrm>
              <a:off x="480" y="2066"/>
              <a:ext cx="1363" cy="8"/>
            </a:xfrm>
            <a:prstGeom prst="line">
              <a:avLst/>
            </a:prstGeom>
            <a:noFill/>
            <a:ln w="2857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115" name="Line 16">
              <a:extLst>
                <a:ext uri="{FF2B5EF4-FFF2-40B4-BE49-F238E27FC236}">
                  <a16:creationId xmlns:a16="http://schemas.microsoft.com/office/drawing/2014/main" id="{5341AAFF-E05D-E71B-B0D7-2851C060CA20}"/>
                </a:ext>
              </a:extLst>
            </p:cNvPr>
            <p:cNvSpPr>
              <a:spLocks noChangeShapeType="1"/>
            </p:cNvSpPr>
            <p:nvPr/>
          </p:nvSpPr>
          <p:spPr bwMode="auto">
            <a:xfrm>
              <a:off x="485" y="1340"/>
              <a:ext cx="1294" cy="827"/>
            </a:xfrm>
            <a:prstGeom prst="line">
              <a:avLst/>
            </a:prstGeom>
            <a:noFill/>
            <a:ln w="2857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116" name="Line 16">
              <a:extLst>
                <a:ext uri="{FF2B5EF4-FFF2-40B4-BE49-F238E27FC236}">
                  <a16:creationId xmlns:a16="http://schemas.microsoft.com/office/drawing/2014/main" id="{19E9352F-D65E-9A7C-D515-FEC8DF56BFBF}"/>
                </a:ext>
              </a:extLst>
            </p:cNvPr>
            <p:cNvSpPr>
              <a:spLocks noChangeShapeType="1"/>
            </p:cNvSpPr>
            <p:nvPr/>
          </p:nvSpPr>
          <p:spPr bwMode="auto">
            <a:xfrm>
              <a:off x="480" y="2079"/>
              <a:ext cx="1290" cy="88"/>
            </a:xfrm>
            <a:prstGeom prst="line">
              <a:avLst/>
            </a:prstGeom>
            <a:noFill/>
            <a:ln w="2857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117" name="Rectangle 26">
              <a:extLst>
                <a:ext uri="{FF2B5EF4-FFF2-40B4-BE49-F238E27FC236}">
                  <a16:creationId xmlns:a16="http://schemas.microsoft.com/office/drawing/2014/main" id="{95A12F72-0948-D229-F57E-70C4B0435BB1}"/>
                </a:ext>
              </a:extLst>
            </p:cNvPr>
            <p:cNvSpPr>
              <a:spLocks noChangeArrowheads="1"/>
            </p:cNvSpPr>
            <p:nvPr/>
          </p:nvSpPr>
          <p:spPr bwMode="auto">
            <a:xfrm>
              <a:off x="1678" y="2173"/>
              <a:ext cx="214"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lIns="0" tIns="0" rIns="0" bIns="0"/>
            <a:lstStyle/>
            <a:p>
              <a:pPr algn="just"/>
              <a:r>
                <a:rPr kumimoji="1" lang="en-US" altLang="zh-CN" sz="1800" b="0" i="1" dirty="0"/>
                <a:t>A</a:t>
              </a:r>
              <a:r>
                <a:rPr kumimoji="1" lang="en-US" altLang="zh-CN" sz="1800" b="0" i="1" dirty="0">
                  <a:latin typeface="Arial" panose="020B0604020202020204" pitchFamily="34" charset="0"/>
                  <a:cs typeface="Arial" panose="020B0604020202020204" pitchFamily="34" charset="0"/>
                </a:rPr>
                <a:t>’</a:t>
              </a:r>
            </a:p>
          </p:txBody>
        </p:sp>
      </p:grpSp>
      <p:sp>
        <p:nvSpPr>
          <p:cNvPr id="118" name="Rectangle 28">
            <a:extLst>
              <a:ext uri="{FF2B5EF4-FFF2-40B4-BE49-F238E27FC236}">
                <a16:creationId xmlns:a16="http://schemas.microsoft.com/office/drawing/2014/main" id="{AF8DBBF9-19BB-1DFF-0CA6-252E0ACD0128}"/>
              </a:ext>
            </a:extLst>
          </p:cNvPr>
          <p:cNvSpPr>
            <a:spLocks noChangeArrowheads="1"/>
          </p:cNvSpPr>
          <p:nvPr/>
        </p:nvSpPr>
        <p:spPr bwMode="auto">
          <a:xfrm>
            <a:off x="10116526" y="3712519"/>
            <a:ext cx="69762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000" b="0" i="0" u="none" strike="noStrike" kern="0" cap="none" spc="0" normalizeH="0" baseline="0" noProof="0" dirty="0">
                <a:ln>
                  <a:noFill/>
                </a:ln>
                <a:solidFill>
                  <a:schemeClr val="tx1"/>
                </a:solidFill>
                <a:effectLst/>
                <a:uLnTx/>
                <a:uFillTx/>
                <a:sym typeface="Symbol" panose="05050102010706020507" pitchFamily="18" charset="2"/>
              </a:rPr>
              <a:t>30</a:t>
            </a:r>
            <a:r>
              <a:rPr kumimoji="1" lang="en-US" altLang="zh-CN" sz="2000" b="0" i="0" u="none" strike="noStrike" kern="0" cap="none" spc="0" normalizeH="0" baseline="0" noProof="0" dirty="0">
                <a:ln>
                  <a:noFill/>
                </a:ln>
                <a:solidFill>
                  <a:schemeClr val="tx1"/>
                </a:solidFill>
                <a:effectLst/>
                <a:uLnTx/>
                <a:uFillTx/>
                <a:cs typeface="Times New Roman" panose="02020603050405020304" pitchFamily="18" charset="0"/>
                <a:sym typeface="Symbol" panose="05050102010706020507" pitchFamily="18" charset="2"/>
              </a:rPr>
              <a:t>°</a:t>
            </a:r>
            <a:endParaRPr kumimoji="1" lang="en-US" altLang="zh-CN" sz="2000" b="0" i="0" u="none" strike="noStrike" kern="0" cap="none" spc="0" normalizeH="0" baseline="0" noProof="0" dirty="0">
              <a:ln>
                <a:noFill/>
              </a:ln>
              <a:solidFill>
                <a:schemeClr val="tx1"/>
              </a:solidFill>
              <a:effectLst/>
              <a:uLnTx/>
              <a:uFillTx/>
              <a:sym typeface="Symbol" panose="05050102010706020507" pitchFamily="18" charset="2"/>
            </a:endParaRPr>
          </a:p>
        </p:txBody>
      </p:sp>
      <p:sp>
        <p:nvSpPr>
          <p:cNvPr id="119" name="Arc 52">
            <a:extLst>
              <a:ext uri="{FF2B5EF4-FFF2-40B4-BE49-F238E27FC236}">
                <a16:creationId xmlns:a16="http://schemas.microsoft.com/office/drawing/2014/main" id="{F35051F4-9062-4D78-6755-DFD88CE9E2A8}"/>
              </a:ext>
            </a:extLst>
          </p:cNvPr>
          <p:cNvSpPr>
            <a:spLocks/>
          </p:cNvSpPr>
          <p:nvPr/>
        </p:nvSpPr>
        <p:spPr bwMode="auto">
          <a:xfrm rot="7606208" flipV="1">
            <a:off x="10602293" y="3906405"/>
            <a:ext cx="185738" cy="96837"/>
          </a:xfrm>
          <a:custGeom>
            <a:avLst/>
            <a:gdLst>
              <a:gd name="T0" fmla="*/ 0 w 21600"/>
              <a:gd name="T1" fmla="*/ 0 h 21600"/>
              <a:gd name="T2" fmla="*/ 1597158 w 21600"/>
              <a:gd name="T3" fmla="*/ 434139 h 21600"/>
              <a:gd name="T4" fmla="*/ 0 w 21600"/>
              <a:gd name="T5" fmla="*/ 434139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aphicFrame>
        <p:nvGraphicFramePr>
          <p:cNvPr id="120" name="Object 31">
            <a:extLst>
              <a:ext uri="{FF2B5EF4-FFF2-40B4-BE49-F238E27FC236}">
                <a16:creationId xmlns:a16="http://schemas.microsoft.com/office/drawing/2014/main" id="{81798700-6FBC-CFC5-4DCD-A7E4F72B9816}"/>
              </a:ext>
            </a:extLst>
          </p:cNvPr>
          <p:cNvGraphicFramePr>
            <a:graphicFrameLocks/>
          </p:cNvGraphicFramePr>
          <p:nvPr>
            <p:extLst>
              <p:ext uri="{D42A27DB-BD31-4B8C-83A1-F6EECF244321}">
                <p14:modId xmlns:p14="http://schemas.microsoft.com/office/powerpoint/2010/main" val="1993137198"/>
              </p:ext>
            </p:extLst>
          </p:nvPr>
        </p:nvGraphicFramePr>
        <p:xfrm>
          <a:off x="1477738" y="3619947"/>
          <a:ext cx="3028950" cy="482600"/>
        </p:xfrm>
        <a:graphic>
          <a:graphicData uri="http://schemas.openxmlformats.org/presentationml/2006/ole">
            <mc:AlternateContent xmlns:mc="http://schemas.openxmlformats.org/markup-compatibility/2006">
              <mc:Choice xmlns:v="urn:schemas-microsoft-com:vml" Requires="v">
                <p:oleObj name="Equation" r:id="rId3" imgW="1511280" imgH="241200" progId="Equation.DSMT4">
                  <p:embed/>
                </p:oleObj>
              </mc:Choice>
              <mc:Fallback>
                <p:oleObj name="Equation" r:id="rId3" imgW="1511280" imgH="241200" progId="Equation.DSMT4">
                  <p:embed/>
                  <p:pic>
                    <p:nvPicPr>
                      <p:cNvPr id="120" name="Object 31">
                        <a:extLst>
                          <a:ext uri="{FF2B5EF4-FFF2-40B4-BE49-F238E27FC236}">
                            <a16:creationId xmlns:a16="http://schemas.microsoft.com/office/drawing/2014/main" id="{81798700-6FBC-CFC5-4DCD-A7E4F72B9816}"/>
                          </a:ext>
                        </a:extLst>
                      </p:cNvPr>
                      <p:cNvPicPr>
                        <a:picLocks noChangeArrowheads="1"/>
                      </p:cNvPicPr>
                      <p:nvPr/>
                    </p:nvPicPr>
                    <p:blipFill>
                      <a:blip r:embed="rId4"/>
                      <a:srcRect/>
                      <a:stretch>
                        <a:fillRect/>
                      </a:stretch>
                    </p:blipFill>
                    <p:spPr bwMode="auto">
                      <a:xfrm>
                        <a:off x="1477738" y="3619947"/>
                        <a:ext cx="3028950" cy="482600"/>
                      </a:xfrm>
                      <a:prstGeom prst="rect">
                        <a:avLst/>
                      </a:prstGeom>
                      <a:noFill/>
                      <a:ln>
                        <a:noFill/>
                      </a:ln>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1" name="Object 31">
            <a:extLst>
              <a:ext uri="{FF2B5EF4-FFF2-40B4-BE49-F238E27FC236}">
                <a16:creationId xmlns:a16="http://schemas.microsoft.com/office/drawing/2014/main" id="{81798700-6FBC-CFC5-4DCD-A7E4F72B9816}"/>
              </a:ext>
            </a:extLst>
          </p:cNvPr>
          <p:cNvGraphicFramePr>
            <a:graphicFrameLocks/>
          </p:cNvGraphicFramePr>
          <p:nvPr>
            <p:extLst>
              <p:ext uri="{D42A27DB-BD31-4B8C-83A1-F6EECF244321}">
                <p14:modId xmlns:p14="http://schemas.microsoft.com/office/powerpoint/2010/main" val="3888600064"/>
              </p:ext>
            </p:extLst>
          </p:nvPr>
        </p:nvGraphicFramePr>
        <p:xfrm>
          <a:off x="1477738" y="4166828"/>
          <a:ext cx="3690938" cy="482600"/>
        </p:xfrm>
        <a:graphic>
          <a:graphicData uri="http://schemas.openxmlformats.org/presentationml/2006/ole">
            <mc:AlternateContent xmlns:mc="http://schemas.openxmlformats.org/markup-compatibility/2006">
              <mc:Choice xmlns:v="urn:schemas-microsoft-com:vml" Requires="v">
                <p:oleObj name="Equation" r:id="rId5" imgW="1841400" imgH="241200" progId="Equation.DSMT4">
                  <p:embed/>
                </p:oleObj>
              </mc:Choice>
              <mc:Fallback>
                <p:oleObj name="Equation" r:id="rId5" imgW="1841400" imgH="241200" progId="Equation.DSMT4">
                  <p:embed/>
                  <p:pic>
                    <p:nvPicPr>
                      <p:cNvPr id="121" name="Object 31">
                        <a:extLst>
                          <a:ext uri="{FF2B5EF4-FFF2-40B4-BE49-F238E27FC236}">
                            <a16:creationId xmlns:a16="http://schemas.microsoft.com/office/drawing/2014/main" id="{81798700-6FBC-CFC5-4DCD-A7E4F72B9816}"/>
                          </a:ext>
                        </a:extLst>
                      </p:cNvPr>
                      <p:cNvPicPr>
                        <a:picLocks noChangeArrowheads="1"/>
                      </p:cNvPicPr>
                      <p:nvPr/>
                    </p:nvPicPr>
                    <p:blipFill>
                      <a:blip r:embed="rId6"/>
                      <a:srcRect/>
                      <a:stretch>
                        <a:fillRect/>
                      </a:stretch>
                    </p:blipFill>
                    <p:spPr bwMode="auto">
                      <a:xfrm>
                        <a:off x="1477738" y="4166828"/>
                        <a:ext cx="3690938" cy="482600"/>
                      </a:xfrm>
                      <a:prstGeom prst="rect">
                        <a:avLst/>
                      </a:prstGeom>
                      <a:noFill/>
                      <a:ln>
                        <a:noFill/>
                      </a:ln>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2" name="Object 31">
            <a:extLst>
              <a:ext uri="{FF2B5EF4-FFF2-40B4-BE49-F238E27FC236}">
                <a16:creationId xmlns:a16="http://schemas.microsoft.com/office/drawing/2014/main" id="{81798700-6FBC-CFC5-4DCD-A7E4F72B9816}"/>
              </a:ext>
            </a:extLst>
          </p:cNvPr>
          <p:cNvGraphicFramePr>
            <a:graphicFrameLocks/>
          </p:cNvGraphicFramePr>
          <p:nvPr>
            <p:extLst>
              <p:ext uri="{D42A27DB-BD31-4B8C-83A1-F6EECF244321}">
                <p14:modId xmlns:p14="http://schemas.microsoft.com/office/powerpoint/2010/main" val="2675528597"/>
              </p:ext>
            </p:extLst>
          </p:nvPr>
        </p:nvGraphicFramePr>
        <p:xfrm>
          <a:off x="4346497" y="5400316"/>
          <a:ext cx="2774950" cy="863600"/>
        </p:xfrm>
        <a:graphic>
          <a:graphicData uri="http://schemas.openxmlformats.org/presentationml/2006/ole">
            <mc:AlternateContent xmlns:mc="http://schemas.openxmlformats.org/markup-compatibility/2006">
              <mc:Choice xmlns:v="urn:schemas-microsoft-com:vml" Requires="v">
                <p:oleObj name="Equation" r:id="rId7" imgW="1384200" imgH="431640" progId="Equation.DSMT4">
                  <p:embed/>
                </p:oleObj>
              </mc:Choice>
              <mc:Fallback>
                <p:oleObj name="Equation" r:id="rId7" imgW="1384200" imgH="431640" progId="Equation.DSMT4">
                  <p:embed/>
                  <p:pic>
                    <p:nvPicPr>
                      <p:cNvPr id="122" name="Object 31">
                        <a:extLst>
                          <a:ext uri="{FF2B5EF4-FFF2-40B4-BE49-F238E27FC236}">
                            <a16:creationId xmlns:a16="http://schemas.microsoft.com/office/drawing/2014/main" id="{81798700-6FBC-CFC5-4DCD-A7E4F72B9816}"/>
                          </a:ext>
                        </a:extLst>
                      </p:cNvPr>
                      <p:cNvPicPr>
                        <a:picLocks noChangeArrowheads="1"/>
                      </p:cNvPicPr>
                      <p:nvPr/>
                    </p:nvPicPr>
                    <p:blipFill>
                      <a:blip r:embed="rId8"/>
                      <a:srcRect/>
                      <a:stretch>
                        <a:fillRect/>
                      </a:stretch>
                    </p:blipFill>
                    <p:spPr bwMode="auto">
                      <a:xfrm>
                        <a:off x="4346497" y="5400316"/>
                        <a:ext cx="2774950" cy="863600"/>
                      </a:xfrm>
                      <a:prstGeom prst="rect">
                        <a:avLst/>
                      </a:prstGeom>
                      <a:noFill/>
                      <a:ln>
                        <a:noFill/>
                      </a:ln>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3" name="Object 31">
            <a:extLst>
              <a:ext uri="{FF2B5EF4-FFF2-40B4-BE49-F238E27FC236}">
                <a16:creationId xmlns:a16="http://schemas.microsoft.com/office/drawing/2014/main" id="{81798700-6FBC-CFC5-4DCD-A7E4F72B9816}"/>
              </a:ext>
            </a:extLst>
          </p:cNvPr>
          <p:cNvGraphicFramePr>
            <a:graphicFrameLocks/>
          </p:cNvGraphicFramePr>
          <p:nvPr>
            <p:extLst>
              <p:ext uri="{D42A27DB-BD31-4B8C-83A1-F6EECF244321}">
                <p14:modId xmlns:p14="http://schemas.microsoft.com/office/powerpoint/2010/main" val="352279558"/>
              </p:ext>
            </p:extLst>
          </p:nvPr>
        </p:nvGraphicFramePr>
        <p:xfrm>
          <a:off x="1477738" y="5399710"/>
          <a:ext cx="2239962" cy="863600"/>
        </p:xfrm>
        <a:graphic>
          <a:graphicData uri="http://schemas.openxmlformats.org/presentationml/2006/ole">
            <mc:AlternateContent xmlns:mc="http://schemas.openxmlformats.org/markup-compatibility/2006">
              <mc:Choice xmlns:v="urn:schemas-microsoft-com:vml" Requires="v">
                <p:oleObj name="Equation" r:id="rId9" imgW="1117440" imgH="431640" progId="Equation.DSMT4">
                  <p:embed/>
                </p:oleObj>
              </mc:Choice>
              <mc:Fallback>
                <p:oleObj name="Equation" r:id="rId9" imgW="1117440" imgH="431640" progId="Equation.DSMT4">
                  <p:embed/>
                  <p:pic>
                    <p:nvPicPr>
                      <p:cNvPr id="123" name="Object 31">
                        <a:extLst>
                          <a:ext uri="{FF2B5EF4-FFF2-40B4-BE49-F238E27FC236}">
                            <a16:creationId xmlns:a16="http://schemas.microsoft.com/office/drawing/2014/main" id="{81798700-6FBC-CFC5-4DCD-A7E4F72B9816}"/>
                          </a:ext>
                        </a:extLst>
                      </p:cNvPr>
                      <p:cNvPicPr>
                        <a:picLocks noChangeArrowheads="1"/>
                      </p:cNvPicPr>
                      <p:nvPr/>
                    </p:nvPicPr>
                    <p:blipFill>
                      <a:blip r:embed="rId10"/>
                      <a:srcRect/>
                      <a:stretch>
                        <a:fillRect/>
                      </a:stretch>
                    </p:blipFill>
                    <p:spPr bwMode="auto">
                      <a:xfrm>
                        <a:off x="1477738" y="5399710"/>
                        <a:ext cx="2239962" cy="863600"/>
                      </a:xfrm>
                      <a:prstGeom prst="rect">
                        <a:avLst/>
                      </a:prstGeom>
                      <a:noFill/>
                      <a:ln>
                        <a:noFill/>
                      </a:ln>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033491101"/>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92"/>
                                        </p:tgtEl>
                                        <p:attrNameLst>
                                          <p:attrName>style.visibility</p:attrName>
                                        </p:attrNameLst>
                                      </p:cBhvr>
                                      <p:to>
                                        <p:strVal val="visible"/>
                                      </p:to>
                                    </p:set>
                                  </p:childTnLst>
                                </p:cTn>
                              </p:par>
                              <p:par>
                                <p:cTn id="7" presetID="21" presetClass="entr" presetSubtype="1" fill="hold" grpId="0" nodeType="withEffect">
                                  <p:stCondLst>
                                    <p:cond delay="0"/>
                                  </p:stCondLst>
                                  <p:childTnLst>
                                    <p:set>
                                      <p:cBhvr>
                                        <p:cTn id="8" dur="1" fill="hold">
                                          <p:stCondLst>
                                            <p:cond delay="0"/>
                                          </p:stCondLst>
                                        </p:cTn>
                                        <p:tgtEl>
                                          <p:spTgt spid="118"/>
                                        </p:tgtEl>
                                        <p:attrNameLst>
                                          <p:attrName>style.visibility</p:attrName>
                                        </p:attrNameLst>
                                      </p:cBhvr>
                                      <p:to>
                                        <p:strVal val="visible"/>
                                      </p:to>
                                    </p:set>
                                    <p:animEffect transition="in" filter="wheel(1)">
                                      <p:cBhvr>
                                        <p:cTn id="9" dur="2000"/>
                                        <p:tgtEl>
                                          <p:spTgt spid="118"/>
                                        </p:tgtEl>
                                      </p:cBhvr>
                                    </p:animEffect>
                                  </p:childTnLst>
                                </p:cTn>
                              </p:par>
                            </p:childTnLst>
                          </p:cTn>
                        </p:par>
                        <p:par>
                          <p:cTn id="10" fill="hold">
                            <p:stCondLst>
                              <p:cond delay="2000"/>
                            </p:stCondLst>
                            <p:childTnLst>
                              <p:par>
                                <p:cTn id="11" presetID="22" presetClass="entr" presetSubtype="4" fill="hold" nodeType="afterEffect">
                                  <p:stCondLst>
                                    <p:cond delay="0"/>
                                  </p:stCondLst>
                                  <p:childTnLst>
                                    <p:set>
                                      <p:cBhvr>
                                        <p:cTn id="12" dur="1" fill="hold">
                                          <p:stCondLst>
                                            <p:cond delay="0"/>
                                          </p:stCondLst>
                                        </p:cTn>
                                        <p:tgtEl>
                                          <p:spTgt spid="119"/>
                                        </p:tgtEl>
                                        <p:attrNameLst>
                                          <p:attrName>style.visibility</p:attrName>
                                        </p:attrNameLst>
                                      </p:cBhvr>
                                      <p:to>
                                        <p:strVal val="visible"/>
                                      </p:to>
                                    </p:set>
                                    <p:animEffect transition="in" filter="wipe(down)">
                                      <p:cBhvr>
                                        <p:cTn id="13" dur="2000"/>
                                        <p:tgtEl>
                                          <p:spTgt spid="119"/>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136"/>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nodeType="clickEffect">
                                  <p:stCondLst>
                                    <p:cond delay="0"/>
                                  </p:stCondLst>
                                  <p:childTnLst>
                                    <p:set>
                                      <p:cBhvr>
                                        <p:cTn id="21" dur="1" fill="hold">
                                          <p:stCondLst>
                                            <p:cond delay="0"/>
                                          </p:stCondLst>
                                        </p:cTn>
                                        <p:tgtEl>
                                          <p:spTgt spid="120"/>
                                        </p:tgtEl>
                                        <p:attrNameLst>
                                          <p:attrName>style.visibility</p:attrName>
                                        </p:attrNameLst>
                                      </p:cBhvr>
                                      <p:to>
                                        <p:strVal val="visible"/>
                                      </p:to>
                                    </p:set>
                                    <p:animEffect transition="in" filter="box(out)">
                                      <p:cBhvr>
                                        <p:cTn id="22" dur="500"/>
                                        <p:tgtEl>
                                          <p:spTgt spid="120"/>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32" fill="hold" nodeType="clickEffect">
                                  <p:stCondLst>
                                    <p:cond delay="0"/>
                                  </p:stCondLst>
                                  <p:childTnLst>
                                    <p:set>
                                      <p:cBhvr>
                                        <p:cTn id="26" dur="1" fill="hold">
                                          <p:stCondLst>
                                            <p:cond delay="0"/>
                                          </p:stCondLst>
                                        </p:cTn>
                                        <p:tgtEl>
                                          <p:spTgt spid="121"/>
                                        </p:tgtEl>
                                        <p:attrNameLst>
                                          <p:attrName>style.visibility</p:attrName>
                                        </p:attrNameLst>
                                      </p:cBhvr>
                                      <p:to>
                                        <p:strVal val="visible"/>
                                      </p:to>
                                    </p:set>
                                    <p:animEffect transition="in" filter="box(out)">
                                      <p:cBhvr>
                                        <p:cTn id="27" dur="500"/>
                                        <p:tgtEl>
                                          <p:spTgt spid="121"/>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263"/>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4" presetClass="entr" presetSubtype="32" fill="hold" nodeType="clickEffect">
                                  <p:stCondLst>
                                    <p:cond delay="0"/>
                                  </p:stCondLst>
                                  <p:childTnLst>
                                    <p:set>
                                      <p:cBhvr>
                                        <p:cTn id="35" dur="1" fill="hold">
                                          <p:stCondLst>
                                            <p:cond delay="0"/>
                                          </p:stCondLst>
                                        </p:cTn>
                                        <p:tgtEl>
                                          <p:spTgt spid="123"/>
                                        </p:tgtEl>
                                        <p:attrNameLst>
                                          <p:attrName>style.visibility</p:attrName>
                                        </p:attrNameLst>
                                      </p:cBhvr>
                                      <p:to>
                                        <p:strVal val="visible"/>
                                      </p:to>
                                    </p:set>
                                    <p:animEffect transition="in" filter="box(out)">
                                      <p:cBhvr>
                                        <p:cTn id="36" dur="500"/>
                                        <p:tgtEl>
                                          <p:spTgt spid="123"/>
                                        </p:tgtEl>
                                      </p:cBhvr>
                                    </p:animEffect>
                                  </p:childTnLst>
                                </p:cTn>
                              </p:par>
                            </p:childTnLst>
                          </p:cTn>
                        </p:par>
                      </p:childTnLst>
                    </p:cTn>
                  </p:par>
                  <p:par>
                    <p:cTn id="37" fill="hold">
                      <p:stCondLst>
                        <p:cond delay="indefinite"/>
                      </p:stCondLst>
                      <p:childTnLst>
                        <p:par>
                          <p:cTn id="38" fill="hold">
                            <p:stCondLst>
                              <p:cond delay="0"/>
                            </p:stCondLst>
                            <p:childTnLst>
                              <p:par>
                                <p:cTn id="39" presetID="4" presetClass="entr" presetSubtype="32" fill="hold" nodeType="clickEffect">
                                  <p:stCondLst>
                                    <p:cond delay="0"/>
                                  </p:stCondLst>
                                  <p:childTnLst>
                                    <p:set>
                                      <p:cBhvr>
                                        <p:cTn id="40" dur="1" fill="hold">
                                          <p:stCondLst>
                                            <p:cond delay="0"/>
                                          </p:stCondLst>
                                        </p:cTn>
                                        <p:tgtEl>
                                          <p:spTgt spid="122"/>
                                        </p:tgtEl>
                                        <p:attrNameLst>
                                          <p:attrName>style.visibility</p:attrName>
                                        </p:attrNameLst>
                                      </p:cBhvr>
                                      <p:to>
                                        <p:strVal val="visible"/>
                                      </p:to>
                                    </p:set>
                                    <p:animEffect transition="in" filter="box(out)">
                                      <p:cBhvr>
                                        <p:cTn id="41" dur="500"/>
                                        <p:tgtEl>
                                          <p:spTgt spid="1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 grpId="0"/>
      <p:bldP spid="263" grpId="0"/>
      <p:bldP spid="92" grpId="0" animBg="1"/>
      <p:bldP spid="118"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711605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第八章   拉压、剪切与挤压的强度计算</a:t>
            </a:r>
          </a:p>
        </p:txBody>
      </p:sp>
      <p:sp>
        <p:nvSpPr>
          <p:cNvPr id="136" name="矩形 135">
            <a:extLst>
              <a:ext uri="{FF2B5EF4-FFF2-40B4-BE49-F238E27FC236}">
                <a16:creationId xmlns:a16="http://schemas.microsoft.com/office/drawing/2014/main" id="{396E3A4E-3DCE-51D1-DE56-78AC0CFE008B}"/>
              </a:ext>
            </a:extLst>
          </p:cNvPr>
          <p:cNvSpPr/>
          <p:nvPr/>
        </p:nvSpPr>
        <p:spPr>
          <a:xfrm>
            <a:off x="551383" y="855365"/>
            <a:ext cx="6585628" cy="3637919"/>
          </a:xfrm>
          <a:prstGeom prst="rect">
            <a:avLst/>
          </a:prstGeom>
        </p:spPr>
        <p:txBody>
          <a:bodyPr wrap="square">
            <a:spAutoFit/>
          </a:bodyPr>
          <a:lstStyle/>
          <a:p>
            <a:pPr algn="just" eaLnBrk="1" hangingPunct="1">
              <a:lnSpc>
                <a:spcPct val="120000"/>
              </a:lnSpc>
            </a:pPr>
            <a:r>
              <a:rPr lang="zh-CN" altLang="en-US" i="0" dirty="0">
                <a:solidFill>
                  <a:srgbClr val="0033CC"/>
                </a:solidFill>
                <a:ea typeface="黑体" panose="02010609060101010101" pitchFamily="49" charset="-122"/>
              </a:rPr>
              <a:t>     </a:t>
            </a:r>
            <a:r>
              <a:rPr kumimoji="1" lang="en-US" altLang="zh-CN" i="0" dirty="0">
                <a:solidFill>
                  <a:schemeClr val="tx1"/>
                </a:solidFill>
                <a:ea typeface="黑体" panose="02010609060101010101" pitchFamily="49" charset="-122"/>
              </a:rPr>
              <a:t>3</a:t>
            </a:r>
            <a:r>
              <a:rPr kumimoji="1" lang="zh-CN" altLang="en-US" i="0" dirty="0">
                <a:solidFill>
                  <a:schemeClr val="tx1"/>
                </a:solidFill>
                <a:ea typeface="黑体" panose="02010609060101010101" pitchFamily="49" charset="-122"/>
              </a:rPr>
              <a:t>）</a:t>
            </a:r>
            <a:r>
              <a:rPr lang="zh-CN" altLang="en-US" i="0" dirty="0">
                <a:solidFill>
                  <a:schemeClr val="tx1"/>
                </a:solidFill>
                <a:latin typeface="+mn-lt"/>
                <a:ea typeface="黑体" panose="02010609060101010101" pitchFamily="49" charset="-122"/>
              </a:rPr>
              <a:t>节点</a:t>
            </a:r>
            <a:r>
              <a:rPr lang="en-US" altLang="zh-CN" b="0" dirty="0">
                <a:solidFill>
                  <a:schemeClr val="tx1"/>
                </a:solidFill>
                <a:latin typeface="+mn-lt"/>
                <a:ea typeface="+mj-ea"/>
              </a:rPr>
              <a:t>A</a:t>
            </a:r>
            <a:r>
              <a:rPr lang="zh-CN" altLang="en-US" i="0" dirty="0">
                <a:solidFill>
                  <a:schemeClr val="tx1"/>
                </a:solidFill>
                <a:latin typeface="+mn-lt"/>
                <a:ea typeface="黑体" panose="02010609060101010101" pitchFamily="49" charset="-122"/>
              </a:rPr>
              <a:t>的位移。</a:t>
            </a:r>
            <a:r>
              <a:rPr lang="zh-CN" altLang="en-US" i="0" dirty="0">
                <a:solidFill>
                  <a:schemeClr val="tx1"/>
                </a:solidFill>
                <a:latin typeface="+mj-lt"/>
                <a:ea typeface="黑体" panose="02010609060101010101" pitchFamily="49" charset="-122"/>
              </a:rPr>
              <a:t>节点</a:t>
            </a:r>
            <a:r>
              <a:rPr lang="en-US" altLang="zh-CN" b="0" dirty="0">
                <a:solidFill>
                  <a:schemeClr val="tx1"/>
                </a:solidFill>
                <a:latin typeface="+mj-lt"/>
                <a:ea typeface="黑体" panose="02010609060101010101" pitchFamily="49" charset="-122"/>
              </a:rPr>
              <a:t>A</a:t>
            </a:r>
            <a:r>
              <a:rPr lang="zh-CN" altLang="en-US" i="0" dirty="0">
                <a:solidFill>
                  <a:schemeClr val="tx1"/>
                </a:solidFill>
                <a:latin typeface="+mj-lt"/>
                <a:ea typeface="黑体" panose="02010609060101010101" pitchFamily="49" charset="-122"/>
              </a:rPr>
              <a:t>的新位置是以</a:t>
            </a:r>
            <a:r>
              <a:rPr lang="en-US" altLang="zh-CN" b="0" dirty="0">
                <a:solidFill>
                  <a:schemeClr val="tx1"/>
                </a:solidFill>
                <a:latin typeface="+mj-lt"/>
                <a:ea typeface="黑体" panose="02010609060101010101" pitchFamily="49" charset="-122"/>
              </a:rPr>
              <a:t>B</a:t>
            </a:r>
            <a:r>
              <a:rPr lang="zh-CN" altLang="en-US" i="0" dirty="0">
                <a:solidFill>
                  <a:schemeClr val="tx1"/>
                </a:solidFill>
                <a:latin typeface="+mj-lt"/>
                <a:ea typeface="黑体" panose="02010609060101010101" pitchFamily="49" charset="-122"/>
              </a:rPr>
              <a:t>为圆心，</a:t>
            </a:r>
            <a:r>
              <a:rPr lang="en-US" altLang="zh-CN" b="0" dirty="0">
                <a:solidFill>
                  <a:schemeClr val="tx1"/>
                </a:solidFill>
                <a:latin typeface="+mj-lt"/>
                <a:ea typeface="黑体" panose="02010609060101010101" pitchFamily="49" charset="-122"/>
              </a:rPr>
              <a:t>l</a:t>
            </a:r>
            <a:r>
              <a:rPr lang="en-US" altLang="zh-CN" b="0" i="0" baseline="-25000" dirty="0">
                <a:solidFill>
                  <a:schemeClr val="tx1"/>
                </a:solidFill>
                <a:latin typeface="+mj-lt"/>
                <a:ea typeface="黑体" panose="02010609060101010101" pitchFamily="49" charset="-122"/>
              </a:rPr>
              <a:t>1</a:t>
            </a:r>
            <a:r>
              <a:rPr lang="en-US" altLang="zh-CN" i="0" dirty="0">
                <a:solidFill>
                  <a:schemeClr val="tx1"/>
                </a:solidFill>
                <a:latin typeface="+mj-lt"/>
                <a:ea typeface="黑体" panose="02010609060101010101" pitchFamily="49" charset="-122"/>
              </a:rPr>
              <a:t>+</a:t>
            </a:r>
            <a:r>
              <a:rPr lang="el-GR" altLang="zh-CN" b="0" i="0" dirty="0">
                <a:solidFill>
                  <a:schemeClr val="tx1"/>
                </a:solidFill>
                <a:latin typeface="+mj-lt"/>
                <a:ea typeface="黑体" panose="02010609060101010101" pitchFamily="49" charset="-122"/>
              </a:rPr>
              <a:t>Δ</a:t>
            </a:r>
            <a:r>
              <a:rPr lang="en-US" altLang="zh-CN" b="0" dirty="0">
                <a:solidFill>
                  <a:schemeClr val="tx1"/>
                </a:solidFill>
                <a:latin typeface="+mj-lt"/>
                <a:ea typeface="黑体" panose="02010609060101010101" pitchFamily="49" charset="-122"/>
              </a:rPr>
              <a:t>l</a:t>
            </a:r>
            <a:r>
              <a:rPr lang="en-US" altLang="zh-CN" b="0" i="0" baseline="-25000" dirty="0">
                <a:solidFill>
                  <a:schemeClr val="tx1"/>
                </a:solidFill>
                <a:latin typeface="+mn-lt"/>
                <a:ea typeface="黑体" panose="02010609060101010101" pitchFamily="49" charset="-122"/>
              </a:rPr>
              <a:t>1</a:t>
            </a:r>
            <a:r>
              <a:rPr lang="zh-CN" altLang="en-US" i="0" dirty="0">
                <a:solidFill>
                  <a:schemeClr val="tx1"/>
                </a:solidFill>
                <a:latin typeface="+mj-lt"/>
                <a:ea typeface="黑体" panose="02010609060101010101" pitchFamily="49" charset="-122"/>
              </a:rPr>
              <a:t>为半径的圆弧与以</a:t>
            </a:r>
            <a:r>
              <a:rPr lang="en-US" altLang="zh-CN" b="0" dirty="0">
                <a:solidFill>
                  <a:schemeClr val="tx1"/>
                </a:solidFill>
                <a:latin typeface="+mj-lt"/>
                <a:ea typeface="黑体" panose="02010609060101010101" pitchFamily="49" charset="-122"/>
              </a:rPr>
              <a:t>C</a:t>
            </a:r>
            <a:r>
              <a:rPr lang="zh-CN" altLang="en-US" i="0" dirty="0">
                <a:solidFill>
                  <a:schemeClr val="tx1"/>
                </a:solidFill>
                <a:latin typeface="+mj-lt"/>
                <a:ea typeface="黑体" panose="02010609060101010101" pitchFamily="49" charset="-122"/>
              </a:rPr>
              <a:t>为圆心，</a:t>
            </a:r>
            <a:r>
              <a:rPr kumimoji="0" lang="en-US" altLang="zh-CN" sz="2400" b="0" i="1" u="none" strike="noStrike" kern="1200" cap="none" spc="0" normalizeH="0" baseline="0" noProof="0" dirty="0">
                <a:ln>
                  <a:noFill/>
                </a:ln>
                <a:solidFill>
                  <a:srgbClr val="000000"/>
                </a:solidFill>
                <a:effectLst/>
                <a:uLnTx/>
                <a:uFillTx/>
                <a:latin typeface="Times New Roman"/>
                <a:ea typeface="黑体" panose="02010609060101010101" pitchFamily="49" charset="-122"/>
                <a:cs typeface="+mn-cs"/>
              </a:rPr>
              <a:t>l</a:t>
            </a:r>
            <a:r>
              <a:rPr kumimoji="0" lang="en-US" altLang="zh-CN" sz="2400" b="0" i="0" u="none" strike="noStrike" kern="1200" cap="none" spc="0" normalizeH="0" baseline="-25000" noProof="0" dirty="0">
                <a:ln>
                  <a:noFill/>
                </a:ln>
                <a:solidFill>
                  <a:srgbClr val="000000"/>
                </a:solidFill>
                <a:effectLst/>
                <a:uLnTx/>
                <a:uFillTx/>
                <a:latin typeface="Times New Roman"/>
                <a:ea typeface="黑体" panose="02010609060101010101" pitchFamily="49" charset="-122"/>
                <a:cs typeface="+mn-cs"/>
              </a:rPr>
              <a:t>2</a:t>
            </a:r>
            <a:r>
              <a:rPr kumimoji="0" lang="en-US" altLang="zh-CN" sz="2400" b="1" i="0" u="none" strike="noStrike" kern="1200" cap="none" spc="0" normalizeH="0" baseline="0" noProof="0" dirty="0">
                <a:ln>
                  <a:noFill/>
                </a:ln>
                <a:solidFill>
                  <a:srgbClr val="000000"/>
                </a:solidFill>
                <a:effectLst/>
                <a:uLnTx/>
                <a:uFillTx/>
                <a:latin typeface="Times New Roman"/>
                <a:ea typeface="黑体" panose="02010609060101010101" pitchFamily="49" charset="-122"/>
                <a:cs typeface="+mn-cs"/>
              </a:rPr>
              <a:t>+</a:t>
            </a:r>
            <a:r>
              <a:rPr kumimoji="0" lang="el-GR" altLang="zh-CN" sz="2400" b="0" i="0" u="none" strike="noStrike" kern="1200" cap="none" spc="0" normalizeH="0" baseline="0" noProof="0" dirty="0">
                <a:ln>
                  <a:noFill/>
                </a:ln>
                <a:solidFill>
                  <a:srgbClr val="000000"/>
                </a:solidFill>
                <a:effectLst/>
                <a:uLnTx/>
                <a:uFillTx/>
                <a:latin typeface="Times New Roman"/>
                <a:ea typeface="黑体" panose="02010609060101010101" pitchFamily="49" charset="-122"/>
                <a:cs typeface="+mn-cs"/>
              </a:rPr>
              <a:t>Δ</a:t>
            </a:r>
            <a:r>
              <a:rPr kumimoji="0" lang="en-US" altLang="zh-CN" sz="2400" b="0" i="1" u="none" strike="noStrike" kern="1200" cap="none" spc="0" normalizeH="0" baseline="0" noProof="0" dirty="0">
                <a:ln>
                  <a:noFill/>
                </a:ln>
                <a:solidFill>
                  <a:srgbClr val="000000"/>
                </a:solidFill>
                <a:effectLst/>
                <a:uLnTx/>
                <a:uFillTx/>
                <a:latin typeface="Times New Roman"/>
                <a:ea typeface="黑体" panose="02010609060101010101" pitchFamily="49" charset="-122"/>
                <a:cs typeface="+mn-cs"/>
              </a:rPr>
              <a:t>l</a:t>
            </a:r>
            <a:r>
              <a:rPr kumimoji="0" lang="en-US" altLang="zh-CN" sz="2400" b="0" i="0" u="none" strike="noStrike" kern="1200" cap="none" spc="0" normalizeH="0" baseline="-25000" noProof="0" dirty="0">
                <a:ln>
                  <a:noFill/>
                </a:ln>
                <a:solidFill>
                  <a:srgbClr val="000000"/>
                </a:solidFill>
                <a:effectLst/>
                <a:uLnTx/>
                <a:uFillTx/>
                <a:latin typeface="Times New Roman"/>
                <a:ea typeface="黑体" panose="02010609060101010101" pitchFamily="49" charset="-122"/>
                <a:cs typeface="+mn-cs"/>
              </a:rPr>
              <a:t>2</a:t>
            </a:r>
            <a:r>
              <a:rPr lang="zh-CN" altLang="en-US" i="0" dirty="0">
                <a:solidFill>
                  <a:schemeClr val="tx1"/>
                </a:solidFill>
                <a:latin typeface="+mj-lt"/>
                <a:ea typeface="黑体" panose="02010609060101010101" pitchFamily="49" charset="-122"/>
              </a:rPr>
              <a:t>为半径的圆弧的交点</a:t>
            </a:r>
            <a:r>
              <a:rPr lang="en-US" altLang="zh-CN" b="0" dirty="0">
                <a:solidFill>
                  <a:schemeClr val="tx1"/>
                </a:solidFill>
                <a:latin typeface="+mj-lt"/>
                <a:ea typeface="黑体" panose="02010609060101010101" pitchFamily="49" charset="-122"/>
              </a:rPr>
              <a:t>A</a:t>
            </a:r>
            <a:r>
              <a:rPr lang="en-US" altLang="zh-CN" i="0" dirty="0">
                <a:solidFill>
                  <a:schemeClr val="tx1"/>
                </a:solidFill>
                <a:latin typeface="+mj-lt"/>
                <a:ea typeface="黑体" panose="02010609060101010101" pitchFamily="49" charset="-122"/>
              </a:rPr>
              <a:t>′</a:t>
            </a:r>
            <a:r>
              <a:rPr lang="zh-CN" altLang="en-US" i="0" dirty="0">
                <a:solidFill>
                  <a:schemeClr val="tx1"/>
                </a:solidFill>
                <a:latin typeface="+mj-lt"/>
                <a:ea typeface="黑体" panose="02010609060101010101" pitchFamily="49" charset="-122"/>
              </a:rPr>
              <a:t>。在小变形条件下，</a:t>
            </a:r>
            <a:r>
              <a:rPr lang="el-GR" altLang="zh-CN" b="0" i="0" dirty="0">
                <a:solidFill>
                  <a:schemeClr val="tx1"/>
                </a:solidFill>
                <a:latin typeface="+mj-lt"/>
                <a:ea typeface="黑体" panose="02010609060101010101" pitchFamily="49" charset="-122"/>
              </a:rPr>
              <a:t>Δ</a:t>
            </a:r>
            <a:r>
              <a:rPr lang="en-US" altLang="zh-CN" b="0" dirty="0">
                <a:solidFill>
                  <a:schemeClr val="tx1"/>
                </a:solidFill>
                <a:latin typeface="+mj-lt"/>
                <a:ea typeface="黑体" panose="02010609060101010101" pitchFamily="49" charset="-122"/>
              </a:rPr>
              <a:t>l</a:t>
            </a:r>
            <a:r>
              <a:rPr lang="en-US" altLang="zh-CN" b="0" i="0" baseline="-25000" dirty="0">
                <a:solidFill>
                  <a:schemeClr val="tx1"/>
                </a:solidFill>
                <a:latin typeface="+mn-lt"/>
                <a:ea typeface="黑体" panose="02010609060101010101" pitchFamily="49" charset="-122"/>
              </a:rPr>
              <a:t>1</a:t>
            </a:r>
            <a:r>
              <a:rPr lang="zh-CN" altLang="en-US" i="0" dirty="0">
                <a:solidFill>
                  <a:schemeClr val="tx1"/>
                </a:solidFill>
                <a:latin typeface="+mj-lt"/>
                <a:ea typeface="黑体" panose="02010609060101010101" pitchFamily="49" charset="-122"/>
              </a:rPr>
              <a:t>和</a:t>
            </a:r>
            <a:r>
              <a:rPr lang="el-GR" altLang="zh-CN" b="0" i="0" dirty="0">
                <a:solidFill>
                  <a:schemeClr val="tx1"/>
                </a:solidFill>
                <a:latin typeface="+mj-lt"/>
                <a:ea typeface="黑体" panose="02010609060101010101" pitchFamily="49" charset="-122"/>
              </a:rPr>
              <a:t>Δ</a:t>
            </a:r>
            <a:r>
              <a:rPr lang="en-US" altLang="zh-CN" b="0" dirty="0">
                <a:solidFill>
                  <a:schemeClr val="tx1"/>
                </a:solidFill>
                <a:latin typeface="+mj-lt"/>
                <a:ea typeface="黑体" panose="02010609060101010101" pitchFamily="49" charset="-122"/>
              </a:rPr>
              <a:t>l</a:t>
            </a:r>
            <a:r>
              <a:rPr lang="en-US" altLang="zh-CN" b="0" i="0" baseline="-25000" dirty="0">
                <a:solidFill>
                  <a:schemeClr val="tx1"/>
                </a:solidFill>
                <a:latin typeface="+mn-lt"/>
                <a:ea typeface="黑体" panose="02010609060101010101" pitchFamily="49" charset="-122"/>
              </a:rPr>
              <a:t>2</a:t>
            </a:r>
            <a:r>
              <a:rPr lang="zh-CN" altLang="en-US" i="0" dirty="0">
                <a:solidFill>
                  <a:schemeClr val="tx1"/>
                </a:solidFill>
                <a:latin typeface="+mj-lt"/>
                <a:ea typeface="黑体" panose="02010609060101010101" pitchFamily="49" charset="-122"/>
              </a:rPr>
              <a:t>与杆的原长</a:t>
            </a:r>
            <a:r>
              <a:rPr lang="en-US" altLang="zh-CN" b="0" dirty="0">
                <a:solidFill>
                  <a:schemeClr val="tx1"/>
                </a:solidFill>
                <a:latin typeface="+mj-lt"/>
                <a:ea typeface="黑体" panose="02010609060101010101" pitchFamily="49" charset="-122"/>
              </a:rPr>
              <a:t>l</a:t>
            </a:r>
            <a:r>
              <a:rPr lang="en-US" altLang="zh-CN" b="0" i="0" baseline="-25000" dirty="0">
                <a:solidFill>
                  <a:schemeClr val="tx1"/>
                </a:solidFill>
                <a:latin typeface="+mj-lt"/>
                <a:ea typeface="黑体" panose="02010609060101010101" pitchFamily="49" charset="-122"/>
              </a:rPr>
              <a:t>1</a:t>
            </a:r>
            <a:r>
              <a:rPr lang="zh-CN" altLang="en-US" i="0" dirty="0">
                <a:solidFill>
                  <a:schemeClr val="tx1"/>
                </a:solidFill>
                <a:latin typeface="+mj-lt"/>
                <a:ea typeface="黑体" panose="02010609060101010101" pitchFamily="49" charset="-122"/>
              </a:rPr>
              <a:t>和</a:t>
            </a:r>
            <a:r>
              <a:rPr lang="en-US" altLang="zh-CN" b="0" dirty="0">
                <a:solidFill>
                  <a:schemeClr val="tx1"/>
                </a:solidFill>
                <a:latin typeface="+mj-lt"/>
                <a:ea typeface="黑体" panose="02010609060101010101" pitchFamily="49" charset="-122"/>
              </a:rPr>
              <a:t>l</a:t>
            </a:r>
            <a:r>
              <a:rPr lang="en-US" altLang="zh-CN" b="0" i="0" baseline="-25000" dirty="0">
                <a:solidFill>
                  <a:schemeClr val="tx1"/>
                </a:solidFill>
                <a:latin typeface="+mj-lt"/>
                <a:ea typeface="黑体" panose="02010609060101010101" pitchFamily="49" charset="-122"/>
              </a:rPr>
              <a:t>2</a:t>
            </a:r>
            <a:r>
              <a:rPr lang="zh-CN" altLang="en-US" i="0" dirty="0">
                <a:solidFill>
                  <a:schemeClr val="tx1"/>
                </a:solidFill>
                <a:latin typeface="+mj-lt"/>
                <a:ea typeface="黑体" panose="02010609060101010101" pitchFamily="49" charset="-122"/>
              </a:rPr>
              <a:t>相比很小，上述圆弧可近似地用其切线代替，如图所示。因此，节点</a:t>
            </a:r>
            <a:r>
              <a:rPr lang="en-US" altLang="zh-CN" i="0" dirty="0">
                <a:solidFill>
                  <a:schemeClr val="tx1"/>
                </a:solidFill>
                <a:latin typeface="+mj-lt"/>
                <a:ea typeface="黑体" panose="02010609060101010101" pitchFamily="49" charset="-122"/>
              </a:rPr>
              <a:t>A</a:t>
            </a:r>
            <a:r>
              <a:rPr lang="zh-CN" altLang="en-US" i="0" dirty="0">
                <a:solidFill>
                  <a:schemeClr val="tx1"/>
                </a:solidFill>
                <a:latin typeface="+mj-lt"/>
                <a:ea typeface="黑体" panose="02010609060101010101" pitchFamily="49" charset="-122"/>
              </a:rPr>
              <a:t>的水平位移</a:t>
            </a:r>
            <a:r>
              <a:rPr lang="en-US" altLang="zh-CN" b="0" dirty="0" err="1">
                <a:solidFill>
                  <a:schemeClr val="tx1"/>
                </a:solidFill>
                <a:latin typeface="+mj-lt"/>
                <a:ea typeface="黑体" panose="02010609060101010101" pitchFamily="49" charset="-122"/>
              </a:rPr>
              <a:t>δ</a:t>
            </a:r>
            <a:r>
              <a:rPr lang="en-US" altLang="zh-CN" b="0" baseline="-25000" dirty="0" err="1">
                <a:solidFill>
                  <a:schemeClr val="tx1"/>
                </a:solidFill>
                <a:latin typeface="+mj-lt"/>
                <a:ea typeface="黑体" panose="02010609060101010101" pitchFamily="49" charset="-122"/>
              </a:rPr>
              <a:t>x</a:t>
            </a:r>
            <a:r>
              <a:rPr lang="zh-CN" altLang="en-US" i="0" dirty="0">
                <a:solidFill>
                  <a:schemeClr val="tx1"/>
                </a:solidFill>
                <a:latin typeface="+mj-lt"/>
                <a:ea typeface="黑体" panose="02010609060101010101" pitchFamily="49" charset="-122"/>
              </a:rPr>
              <a:t>和垂直位移</a:t>
            </a:r>
            <a:r>
              <a:rPr lang="en-US" altLang="zh-CN" b="0" dirty="0" err="1">
                <a:solidFill>
                  <a:schemeClr val="tx1"/>
                </a:solidFill>
                <a:latin typeface="+mj-lt"/>
                <a:ea typeface="黑体" panose="02010609060101010101" pitchFamily="49" charset="-122"/>
              </a:rPr>
              <a:t>δ</a:t>
            </a:r>
            <a:r>
              <a:rPr lang="en-US" altLang="zh-CN" b="0" baseline="-25000" dirty="0" err="1">
                <a:solidFill>
                  <a:schemeClr val="tx1"/>
                </a:solidFill>
                <a:latin typeface="+mj-lt"/>
                <a:ea typeface="黑体" panose="02010609060101010101" pitchFamily="49" charset="-122"/>
              </a:rPr>
              <a:t>y</a:t>
            </a:r>
            <a:r>
              <a:rPr lang="zh-CN" altLang="en-US" i="0" dirty="0">
                <a:solidFill>
                  <a:schemeClr val="tx1"/>
                </a:solidFill>
                <a:latin typeface="+mj-lt"/>
                <a:ea typeface="黑体" panose="02010609060101010101" pitchFamily="49" charset="-122"/>
              </a:rPr>
              <a:t>分别为</a:t>
            </a:r>
          </a:p>
          <a:p>
            <a:pPr lvl="0" eaLnBrk="0" hangingPunct="0">
              <a:lnSpc>
                <a:spcPct val="120000"/>
              </a:lnSpc>
            </a:pPr>
            <a:endParaRPr lang="en-US" altLang="zh-CN" i="0" dirty="0">
              <a:solidFill>
                <a:schemeClr val="tx1"/>
              </a:solidFill>
              <a:latin typeface="+mn-lt"/>
              <a:ea typeface="黑体" panose="02010609060101010101" pitchFamily="49" charset="-122"/>
            </a:endParaRPr>
          </a:p>
          <a:p>
            <a:pPr lvl="0" eaLnBrk="0" hangingPunct="0">
              <a:lnSpc>
                <a:spcPct val="120000"/>
              </a:lnSpc>
            </a:pPr>
            <a:endParaRPr lang="zh-CN" altLang="en-US" i="0" dirty="0">
              <a:solidFill>
                <a:schemeClr val="tx1"/>
              </a:solidFill>
              <a:latin typeface="+mn-lt"/>
              <a:ea typeface="黑体" panose="02010609060101010101" pitchFamily="49" charset="-122"/>
            </a:endParaRPr>
          </a:p>
        </p:txBody>
      </p:sp>
      <p:sp>
        <p:nvSpPr>
          <p:cNvPr id="2" name="Rectangle 61">
            <a:extLst>
              <a:ext uri="{FF2B5EF4-FFF2-40B4-BE49-F238E27FC236}">
                <a16:creationId xmlns:a16="http://schemas.microsoft.com/office/drawing/2014/main" id="{E746119E-2B09-2980-E8E2-5F100493CF6E}"/>
              </a:ext>
            </a:extLst>
          </p:cNvPr>
          <p:cNvSpPr>
            <a:spLocks noChangeArrowheads="1"/>
          </p:cNvSpPr>
          <p:nvPr/>
        </p:nvSpPr>
        <p:spPr bwMode="auto">
          <a:xfrm>
            <a:off x="7320136" y="980729"/>
            <a:ext cx="4752528" cy="5256584"/>
          </a:xfrm>
          <a:prstGeom prst="rect">
            <a:avLst/>
          </a:prstGeom>
          <a:solidFill>
            <a:srgbClr val="B9CDE5"/>
          </a:solidFill>
          <a:ln>
            <a:noFill/>
          </a:ln>
          <a:effectLst/>
        </p:spPr>
        <p:txBody>
          <a:bodyPr wrap="none" anchor="ctr"/>
          <a:lstStyle/>
          <a:p>
            <a:endParaRPr lang="zh-CN" altLang="en-US" dirty="0"/>
          </a:p>
        </p:txBody>
      </p:sp>
      <p:grpSp>
        <p:nvGrpSpPr>
          <p:cNvPr id="200" name="Group 3">
            <a:extLst>
              <a:ext uri="{FF2B5EF4-FFF2-40B4-BE49-F238E27FC236}">
                <a16:creationId xmlns:a16="http://schemas.microsoft.com/office/drawing/2014/main" id="{6719B5DF-42DB-1224-C72A-22ECC2490FF5}"/>
              </a:ext>
            </a:extLst>
          </p:cNvPr>
          <p:cNvGrpSpPr>
            <a:grpSpLocks/>
          </p:cNvGrpSpPr>
          <p:nvPr/>
        </p:nvGrpSpPr>
        <p:grpSpPr bwMode="auto">
          <a:xfrm>
            <a:off x="8391777" y="996379"/>
            <a:ext cx="3364393" cy="2360613"/>
            <a:chOff x="183" y="1168"/>
            <a:chExt cx="1955" cy="1351"/>
          </a:xfrm>
        </p:grpSpPr>
        <p:sp>
          <p:nvSpPr>
            <p:cNvPr id="201" name="Line 4">
              <a:extLst>
                <a:ext uri="{FF2B5EF4-FFF2-40B4-BE49-F238E27FC236}">
                  <a16:creationId xmlns:a16="http://schemas.microsoft.com/office/drawing/2014/main" id="{807224E4-DA19-CC85-8331-26E4F66AF57E}"/>
                </a:ext>
              </a:extLst>
            </p:cNvPr>
            <p:cNvSpPr>
              <a:spLocks noChangeShapeType="1"/>
            </p:cNvSpPr>
            <p:nvPr/>
          </p:nvSpPr>
          <p:spPr bwMode="auto">
            <a:xfrm>
              <a:off x="1880" y="2080"/>
              <a:ext cx="1" cy="269"/>
            </a:xfrm>
            <a:prstGeom prst="line">
              <a:avLst/>
            </a:prstGeom>
            <a:noFill/>
            <a:ln w="28575">
              <a:solidFill>
                <a:srgbClr val="FF0000"/>
              </a:solidFill>
              <a:round/>
              <a:headEnd type="none" w="sm" len="sm"/>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03" name="Line 6">
              <a:extLst>
                <a:ext uri="{FF2B5EF4-FFF2-40B4-BE49-F238E27FC236}">
                  <a16:creationId xmlns:a16="http://schemas.microsoft.com/office/drawing/2014/main" id="{C2B10FD0-A9D3-96FA-599C-688F35099B7B}"/>
                </a:ext>
              </a:extLst>
            </p:cNvPr>
            <p:cNvSpPr>
              <a:spLocks noChangeShapeType="1"/>
            </p:cNvSpPr>
            <p:nvPr/>
          </p:nvSpPr>
          <p:spPr bwMode="auto">
            <a:xfrm>
              <a:off x="418" y="1208"/>
              <a:ext cx="1" cy="268"/>
            </a:xfrm>
            <a:prstGeom prst="line">
              <a:avLst/>
            </a:prstGeom>
            <a:noFill/>
            <a:ln w="1905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04" name="Line 7">
              <a:extLst>
                <a:ext uri="{FF2B5EF4-FFF2-40B4-BE49-F238E27FC236}">
                  <a16:creationId xmlns:a16="http://schemas.microsoft.com/office/drawing/2014/main" id="{C3FB1177-0DD5-EB89-2553-98019DBC24AC}"/>
                </a:ext>
              </a:extLst>
            </p:cNvPr>
            <p:cNvSpPr>
              <a:spLocks noChangeShapeType="1"/>
            </p:cNvSpPr>
            <p:nvPr/>
          </p:nvSpPr>
          <p:spPr bwMode="auto">
            <a:xfrm flipH="1">
              <a:off x="333" y="1248"/>
              <a:ext cx="86" cy="74"/>
            </a:xfrm>
            <a:prstGeom prst="line">
              <a:avLst/>
            </a:prstGeom>
            <a:noFill/>
            <a:ln w="1905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05" name="Line 8">
              <a:extLst>
                <a:ext uri="{FF2B5EF4-FFF2-40B4-BE49-F238E27FC236}">
                  <a16:creationId xmlns:a16="http://schemas.microsoft.com/office/drawing/2014/main" id="{0A1E2DCD-2DE3-B4FC-1852-C89F7BDB0406}"/>
                </a:ext>
              </a:extLst>
            </p:cNvPr>
            <p:cNvSpPr>
              <a:spLocks noChangeShapeType="1"/>
            </p:cNvSpPr>
            <p:nvPr/>
          </p:nvSpPr>
          <p:spPr bwMode="auto">
            <a:xfrm flipH="1">
              <a:off x="333" y="1327"/>
              <a:ext cx="86" cy="81"/>
            </a:xfrm>
            <a:prstGeom prst="line">
              <a:avLst/>
            </a:prstGeom>
            <a:noFill/>
            <a:ln w="1905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06" name="Line 9">
              <a:extLst>
                <a:ext uri="{FF2B5EF4-FFF2-40B4-BE49-F238E27FC236}">
                  <a16:creationId xmlns:a16="http://schemas.microsoft.com/office/drawing/2014/main" id="{1E092020-ADAF-BC0B-F3CC-923CCB98ABB1}"/>
                </a:ext>
              </a:extLst>
            </p:cNvPr>
            <p:cNvSpPr>
              <a:spLocks noChangeShapeType="1"/>
            </p:cNvSpPr>
            <p:nvPr/>
          </p:nvSpPr>
          <p:spPr bwMode="auto">
            <a:xfrm flipH="1">
              <a:off x="333" y="1405"/>
              <a:ext cx="86" cy="80"/>
            </a:xfrm>
            <a:prstGeom prst="line">
              <a:avLst/>
            </a:prstGeom>
            <a:noFill/>
            <a:ln w="1905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07" name="Oval 10">
              <a:extLst>
                <a:ext uri="{FF2B5EF4-FFF2-40B4-BE49-F238E27FC236}">
                  <a16:creationId xmlns:a16="http://schemas.microsoft.com/office/drawing/2014/main" id="{CCB3D228-EC45-2294-4332-3D26EBAAC033}"/>
                </a:ext>
              </a:extLst>
            </p:cNvPr>
            <p:cNvSpPr>
              <a:spLocks noChangeArrowheads="1"/>
            </p:cNvSpPr>
            <p:nvPr/>
          </p:nvSpPr>
          <p:spPr bwMode="auto">
            <a:xfrm>
              <a:off x="423" y="1298"/>
              <a:ext cx="64" cy="60"/>
            </a:xfrm>
            <a:prstGeom prst="ellipse">
              <a:avLst/>
            </a:prstGeom>
            <a:solidFill>
              <a:schemeClr val="bg1"/>
            </a:solidFill>
            <a:ln w="19050">
              <a:solidFill>
                <a:srgbClr val="000000"/>
              </a:solidFill>
              <a:round/>
              <a:headEnd/>
              <a:tailEnd/>
            </a:ln>
          </p:spPr>
          <p:txBody>
            <a:bodyPr/>
            <a:lstStyle/>
            <a:p>
              <a:pPr eaLnBrk="1" hangingPunct="1">
                <a:buFontTx/>
                <a:buChar char="•"/>
              </a:pPr>
              <a:endParaRPr lang="zh-CN" altLang="en-US"/>
            </a:p>
          </p:txBody>
        </p:sp>
        <p:sp>
          <p:nvSpPr>
            <p:cNvPr id="208" name="Line 11">
              <a:extLst>
                <a:ext uri="{FF2B5EF4-FFF2-40B4-BE49-F238E27FC236}">
                  <a16:creationId xmlns:a16="http://schemas.microsoft.com/office/drawing/2014/main" id="{45CF8AE2-0022-F7B2-87D0-50A02AF822D9}"/>
                </a:ext>
              </a:extLst>
            </p:cNvPr>
            <p:cNvSpPr>
              <a:spLocks noChangeShapeType="1"/>
            </p:cNvSpPr>
            <p:nvPr/>
          </p:nvSpPr>
          <p:spPr bwMode="auto">
            <a:xfrm>
              <a:off x="418" y="2015"/>
              <a:ext cx="1" cy="303"/>
            </a:xfrm>
            <a:prstGeom prst="line">
              <a:avLst/>
            </a:prstGeom>
            <a:noFill/>
            <a:ln w="1905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09" name="Line 12">
              <a:extLst>
                <a:ext uri="{FF2B5EF4-FFF2-40B4-BE49-F238E27FC236}">
                  <a16:creationId xmlns:a16="http://schemas.microsoft.com/office/drawing/2014/main" id="{6F88DC9C-677E-B257-CF7C-8B22C8946492}"/>
                </a:ext>
              </a:extLst>
            </p:cNvPr>
            <p:cNvSpPr>
              <a:spLocks noChangeShapeType="1"/>
            </p:cNvSpPr>
            <p:nvPr/>
          </p:nvSpPr>
          <p:spPr bwMode="auto">
            <a:xfrm flipH="1">
              <a:off x="333" y="2055"/>
              <a:ext cx="86" cy="80"/>
            </a:xfrm>
            <a:prstGeom prst="line">
              <a:avLst/>
            </a:prstGeom>
            <a:noFill/>
            <a:ln w="1905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10" name="Line 13">
              <a:extLst>
                <a:ext uri="{FF2B5EF4-FFF2-40B4-BE49-F238E27FC236}">
                  <a16:creationId xmlns:a16="http://schemas.microsoft.com/office/drawing/2014/main" id="{ECBDDF5B-66BE-DCC2-247A-8F09730A420F}"/>
                </a:ext>
              </a:extLst>
            </p:cNvPr>
            <p:cNvSpPr>
              <a:spLocks noChangeShapeType="1"/>
            </p:cNvSpPr>
            <p:nvPr/>
          </p:nvSpPr>
          <p:spPr bwMode="auto">
            <a:xfrm flipH="1">
              <a:off x="340" y="2134"/>
              <a:ext cx="79" cy="70"/>
            </a:xfrm>
            <a:prstGeom prst="line">
              <a:avLst/>
            </a:prstGeom>
            <a:noFill/>
            <a:ln w="1905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11" name="Line 14">
              <a:extLst>
                <a:ext uri="{FF2B5EF4-FFF2-40B4-BE49-F238E27FC236}">
                  <a16:creationId xmlns:a16="http://schemas.microsoft.com/office/drawing/2014/main" id="{000B9708-33DA-F444-52FB-F4D0E397FF43}"/>
                </a:ext>
              </a:extLst>
            </p:cNvPr>
            <p:cNvSpPr>
              <a:spLocks noChangeShapeType="1"/>
            </p:cNvSpPr>
            <p:nvPr/>
          </p:nvSpPr>
          <p:spPr bwMode="auto">
            <a:xfrm flipH="1">
              <a:off x="345" y="2213"/>
              <a:ext cx="74" cy="64"/>
            </a:xfrm>
            <a:prstGeom prst="line">
              <a:avLst/>
            </a:prstGeom>
            <a:noFill/>
            <a:ln w="1905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12" name="Oval 15">
              <a:extLst>
                <a:ext uri="{FF2B5EF4-FFF2-40B4-BE49-F238E27FC236}">
                  <a16:creationId xmlns:a16="http://schemas.microsoft.com/office/drawing/2014/main" id="{8DE397AE-CD81-076F-48FF-529E3D81B6E1}"/>
                </a:ext>
              </a:extLst>
            </p:cNvPr>
            <p:cNvSpPr>
              <a:spLocks noChangeArrowheads="1"/>
            </p:cNvSpPr>
            <p:nvPr/>
          </p:nvSpPr>
          <p:spPr bwMode="auto">
            <a:xfrm>
              <a:off x="418" y="2036"/>
              <a:ext cx="64" cy="59"/>
            </a:xfrm>
            <a:prstGeom prst="ellipse">
              <a:avLst/>
            </a:prstGeom>
            <a:solidFill>
              <a:schemeClr val="bg1"/>
            </a:solidFill>
            <a:ln w="19050">
              <a:solidFill>
                <a:srgbClr val="000000"/>
              </a:solidFill>
              <a:round/>
              <a:headEnd/>
              <a:tailEnd/>
            </a:ln>
          </p:spPr>
          <p:txBody>
            <a:bodyPr/>
            <a:lstStyle/>
            <a:p>
              <a:pPr eaLnBrk="1" hangingPunct="1">
                <a:buFontTx/>
                <a:buChar char="•"/>
              </a:pPr>
              <a:endParaRPr lang="zh-CN" altLang="en-US"/>
            </a:p>
          </p:txBody>
        </p:sp>
        <p:sp>
          <p:nvSpPr>
            <p:cNvPr id="213" name="Line 16">
              <a:extLst>
                <a:ext uri="{FF2B5EF4-FFF2-40B4-BE49-F238E27FC236}">
                  <a16:creationId xmlns:a16="http://schemas.microsoft.com/office/drawing/2014/main" id="{C8D11693-9362-86D5-97E6-1F527C95FA44}"/>
                </a:ext>
              </a:extLst>
            </p:cNvPr>
            <p:cNvSpPr>
              <a:spLocks noChangeShapeType="1"/>
            </p:cNvSpPr>
            <p:nvPr/>
          </p:nvSpPr>
          <p:spPr bwMode="auto">
            <a:xfrm>
              <a:off x="488" y="1327"/>
              <a:ext cx="1367" cy="728"/>
            </a:xfrm>
            <a:prstGeom prst="line">
              <a:avLst/>
            </a:prstGeom>
            <a:noFill/>
            <a:ln w="2857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14" name="Oval 17">
              <a:extLst>
                <a:ext uri="{FF2B5EF4-FFF2-40B4-BE49-F238E27FC236}">
                  <a16:creationId xmlns:a16="http://schemas.microsoft.com/office/drawing/2014/main" id="{CBAA817B-38D3-F1D4-AC0A-95FC67B1B1E7}"/>
                </a:ext>
              </a:extLst>
            </p:cNvPr>
            <p:cNvSpPr>
              <a:spLocks noChangeArrowheads="1"/>
            </p:cNvSpPr>
            <p:nvPr/>
          </p:nvSpPr>
          <p:spPr bwMode="auto">
            <a:xfrm>
              <a:off x="1843" y="2038"/>
              <a:ext cx="64" cy="59"/>
            </a:xfrm>
            <a:prstGeom prst="ellipse">
              <a:avLst/>
            </a:prstGeom>
            <a:solidFill>
              <a:schemeClr val="bg1"/>
            </a:solidFill>
            <a:ln w="6350">
              <a:solidFill>
                <a:srgbClr val="000000"/>
              </a:solidFill>
              <a:round/>
              <a:headEnd/>
              <a:tailEnd/>
            </a:ln>
          </p:spPr>
          <p:txBody>
            <a:bodyPr/>
            <a:lstStyle/>
            <a:p>
              <a:pPr eaLnBrk="1" hangingPunct="1">
                <a:buFontTx/>
                <a:buChar char="•"/>
              </a:pPr>
              <a:endParaRPr lang="zh-CN" altLang="en-US"/>
            </a:p>
          </p:txBody>
        </p:sp>
        <p:sp>
          <p:nvSpPr>
            <p:cNvPr id="221" name="Rectangle 24">
              <a:extLst>
                <a:ext uri="{FF2B5EF4-FFF2-40B4-BE49-F238E27FC236}">
                  <a16:creationId xmlns:a16="http://schemas.microsoft.com/office/drawing/2014/main" id="{464BF82F-AB03-70B4-0C25-F1D7F100EA2E}"/>
                </a:ext>
              </a:extLst>
            </p:cNvPr>
            <p:cNvSpPr>
              <a:spLocks noChangeArrowheads="1"/>
            </p:cNvSpPr>
            <p:nvPr/>
          </p:nvSpPr>
          <p:spPr bwMode="auto">
            <a:xfrm>
              <a:off x="480" y="1881"/>
              <a:ext cx="214"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lIns="0" tIns="0" rIns="0" bIns="0"/>
            <a:lstStyle/>
            <a:p>
              <a:pPr algn="just"/>
              <a:r>
                <a:rPr kumimoji="1" lang="en-US" altLang="zh-CN" sz="1800" i="1"/>
                <a:t>C</a:t>
              </a:r>
            </a:p>
          </p:txBody>
        </p:sp>
        <p:sp>
          <p:nvSpPr>
            <p:cNvPr id="222" name="Rectangle 25">
              <a:extLst>
                <a:ext uri="{FF2B5EF4-FFF2-40B4-BE49-F238E27FC236}">
                  <a16:creationId xmlns:a16="http://schemas.microsoft.com/office/drawing/2014/main" id="{042654FD-57AB-DD51-C72A-DEE12D3831B0}"/>
                </a:ext>
              </a:extLst>
            </p:cNvPr>
            <p:cNvSpPr>
              <a:spLocks noChangeArrowheads="1"/>
            </p:cNvSpPr>
            <p:nvPr/>
          </p:nvSpPr>
          <p:spPr bwMode="auto">
            <a:xfrm>
              <a:off x="467" y="1168"/>
              <a:ext cx="215"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lIns="0" tIns="0" rIns="0" bIns="0"/>
            <a:lstStyle/>
            <a:p>
              <a:pPr algn="just"/>
              <a:r>
                <a:rPr kumimoji="1" lang="en-US" altLang="zh-CN" sz="1800" b="0" i="1" dirty="0"/>
                <a:t>B</a:t>
              </a:r>
            </a:p>
          </p:txBody>
        </p:sp>
        <p:sp>
          <p:nvSpPr>
            <p:cNvPr id="223" name="Rectangle 26">
              <a:extLst>
                <a:ext uri="{FF2B5EF4-FFF2-40B4-BE49-F238E27FC236}">
                  <a16:creationId xmlns:a16="http://schemas.microsoft.com/office/drawing/2014/main" id="{0EDDBE70-04BE-F07B-B282-D2BC0CEC6FC4}"/>
                </a:ext>
              </a:extLst>
            </p:cNvPr>
            <p:cNvSpPr>
              <a:spLocks noChangeArrowheads="1"/>
            </p:cNvSpPr>
            <p:nvPr/>
          </p:nvSpPr>
          <p:spPr bwMode="auto">
            <a:xfrm>
              <a:off x="1834" y="1893"/>
              <a:ext cx="214"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lIns="0" tIns="0" rIns="0" bIns="0"/>
            <a:lstStyle/>
            <a:p>
              <a:pPr algn="just"/>
              <a:r>
                <a:rPr kumimoji="1" lang="en-US" altLang="zh-CN" sz="1800" b="0" i="1" dirty="0"/>
                <a:t>A</a:t>
              </a:r>
            </a:p>
          </p:txBody>
        </p:sp>
        <p:sp>
          <p:nvSpPr>
            <p:cNvPr id="224" name="Rectangle 27">
              <a:extLst>
                <a:ext uri="{FF2B5EF4-FFF2-40B4-BE49-F238E27FC236}">
                  <a16:creationId xmlns:a16="http://schemas.microsoft.com/office/drawing/2014/main" id="{07584204-FA49-D7FD-19DE-9DAE966807EE}"/>
                </a:ext>
              </a:extLst>
            </p:cNvPr>
            <p:cNvSpPr>
              <a:spLocks noChangeArrowheads="1"/>
            </p:cNvSpPr>
            <p:nvPr/>
          </p:nvSpPr>
          <p:spPr bwMode="auto">
            <a:xfrm>
              <a:off x="1924" y="2310"/>
              <a:ext cx="214"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lIns="0" tIns="0" rIns="0" bIns="0"/>
            <a:lstStyle/>
            <a:p>
              <a:pPr algn="just"/>
              <a:r>
                <a:rPr kumimoji="1" lang="en-US" altLang="zh-CN" sz="1800" i="1">
                  <a:solidFill>
                    <a:srgbClr val="FF0000"/>
                  </a:solidFill>
                </a:rPr>
                <a:t>F</a:t>
              </a:r>
              <a:endParaRPr kumimoji="1" lang="en-US" altLang="zh-CN" sz="1800" i="1"/>
            </a:p>
          </p:txBody>
        </p:sp>
        <p:sp>
          <p:nvSpPr>
            <p:cNvPr id="225" name="Rectangle 28">
              <a:extLst>
                <a:ext uri="{FF2B5EF4-FFF2-40B4-BE49-F238E27FC236}">
                  <a16:creationId xmlns:a16="http://schemas.microsoft.com/office/drawing/2014/main" id="{0DAABDB7-57C6-EF03-8EB5-E2FF045C8A0B}"/>
                </a:ext>
              </a:extLst>
            </p:cNvPr>
            <p:cNvSpPr>
              <a:spLocks noChangeArrowheads="1"/>
            </p:cNvSpPr>
            <p:nvPr/>
          </p:nvSpPr>
          <p:spPr bwMode="auto">
            <a:xfrm>
              <a:off x="1161" y="1543"/>
              <a:ext cx="22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lIns="0" tIns="0" rIns="0" bIns="0"/>
            <a:lstStyle/>
            <a:p>
              <a:pPr algn="just"/>
              <a:r>
                <a:rPr kumimoji="1" lang="en-US" altLang="zh-CN" sz="1800" i="0" dirty="0"/>
                <a:t>①</a:t>
              </a:r>
            </a:p>
          </p:txBody>
        </p:sp>
        <p:sp>
          <p:nvSpPr>
            <p:cNvPr id="226" name="Rectangle 29">
              <a:extLst>
                <a:ext uri="{FF2B5EF4-FFF2-40B4-BE49-F238E27FC236}">
                  <a16:creationId xmlns:a16="http://schemas.microsoft.com/office/drawing/2014/main" id="{82EFFED4-AF9D-1446-7853-1F96E15DDE41}"/>
                </a:ext>
              </a:extLst>
            </p:cNvPr>
            <p:cNvSpPr>
              <a:spLocks noChangeArrowheads="1"/>
            </p:cNvSpPr>
            <p:nvPr/>
          </p:nvSpPr>
          <p:spPr bwMode="auto">
            <a:xfrm>
              <a:off x="961" y="1911"/>
              <a:ext cx="22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lIns="0" tIns="0" rIns="0" bIns="0"/>
            <a:lstStyle/>
            <a:p>
              <a:pPr algn="just"/>
              <a:r>
                <a:rPr kumimoji="1" lang="en-US" altLang="zh-CN" sz="1800" i="0" dirty="0"/>
                <a:t>②</a:t>
              </a:r>
            </a:p>
          </p:txBody>
        </p:sp>
        <p:sp>
          <p:nvSpPr>
            <p:cNvPr id="227" name="Line 30">
              <a:extLst>
                <a:ext uri="{FF2B5EF4-FFF2-40B4-BE49-F238E27FC236}">
                  <a16:creationId xmlns:a16="http://schemas.microsoft.com/office/drawing/2014/main" id="{0B04A68E-CCBB-ECB3-687F-479C97367701}"/>
                </a:ext>
              </a:extLst>
            </p:cNvPr>
            <p:cNvSpPr>
              <a:spLocks noChangeShapeType="1"/>
            </p:cNvSpPr>
            <p:nvPr/>
          </p:nvSpPr>
          <p:spPr bwMode="auto">
            <a:xfrm flipH="1">
              <a:off x="183" y="2138"/>
              <a:ext cx="236"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8" name="Line 16">
              <a:extLst>
                <a:ext uri="{FF2B5EF4-FFF2-40B4-BE49-F238E27FC236}">
                  <a16:creationId xmlns:a16="http://schemas.microsoft.com/office/drawing/2014/main" id="{141E0DB8-779D-3EE9-CB91-EDF6C3D71D01}"/>
                </a:ext>
              </a:extLst>
            </p:cNvPr>
            <p:cNvSpPr>
              <a:spLocks noChangeShapeType="1"/>
            </p:cNvSpPr>
            <p:nvPr/>
          </p:nvSpPr>
          <p:spPr bwMode="auto">
            <a:xfrm>
              <a:off x="480" y="2066"/>
              <a:ext cx="1363" cy="8"/>
            </a:xfrm>
            <a:prstGeom prst="line">
              <a:avLst/>
            </a:prstGeom>
            <a:noFill/>
            <a:ln w="2857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43" name="Line 16">
              <a:extLst>
                <a:ext uri="{FF2B5EF4-FFF2-40B4-BE49-F238E27FC236}">
                  <a16:creationId xmlns:a16="http://schemas.microsoft.com/office/drawing/2014/main" id="{5341AAFF-E05D-E71B-B0D7-2851C060CA20}"/>
                </a:ext>
              </a:extLst>
            </p:cNvPr>
            <p:cNvSpPr>
              <a:spLocks noChangeShapeType="1"/>
            </p:cNvSpPr>
            <p:nvPr/>
          </p:nvSpPr>
          <p:spPr bwMode="auto">
            <a:xfrm>
              <a:off x="485" y="1340"/>
              <a:ext cx="1294" cy="827"/>
            </a:xfrm>
            <a:prstGeom prst="line">
              <a:avLst/>
            </a:prstGeom>
            <a:noFill/>
            <a:ln w="2857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44" name="Line 16">
              <a:extLst>
                <a:ext uri="{FF2B5EF4-FFF2-40B4-BE49-F238E27FC236}">
                  <a16:creationId xmlns:a16="http://schemas.microsoft.com/office/drawing/2014/main" id="{19E9352F-D65E-9A7C-D515-FEC8DF56BFBF}"/>
                </a:ext>
              </a:extLst>
            </p:cNvPr>
            <p:cNvSpPr>
              <a:spLocks noChangeShapeType="1"/>
            </p:cNvSpPr>
            <p:nvPr/>
          </p:nvSpPr>
          <p:spPr bwMode="auto">
            <a:xfrm>
              <a:off x="480" y="2079"/>
              <a:ext cx="1290" cy="88"/>
            </a:xfrm>
            <a:prstGeom prst="line">
              <a:avLst/>
            </a:prstGeom>
            <a:noFill/>
            <a:ln w="2857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45" name="Rectangle 26">
              <a:extLst>
                <a:ext uri="{FF2B5EF4-FFF2-40B4-BE49-F238E27FC236}">
                  <a16:creationId xmlns:a16="http://schemas.microsoft.com/office/drawing/2014/main" id="{95A12F72-0948-D229-F57E-70C4B0435BB1}"/>
                </a:ext>
              </a:extLst>
            </p:cNvPr>
            <p:cNvSpPr>
              <a:spLocks noChangeArrowheads="1"/>
            </p:cNvSpPr>
            <p:nvPr/>
          </p:nvSpPr>
          <p:spPr bwMode="auto">
            <a:xfrm>
              <a:off x="1678" y="2173"/>
              <a:ext cx="214"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lIns="0" tIns="0" rIns="0" bIns="0"/>
            <a:lstStyle/>
            <a:p>
              <a:pPr algn="just"/>
              <a:r>
                <a:rPr kumimoji="1" lang="en-US" altLang="zh-CN" sz="1800" b="0" i="1" dirty="0"/>
                <a:t>A</a:t>
              </a:r>
              <a:r>
                <a:rPr kumimoji="1" lang="en-US" altLang="zh-CN" sz="1800" b="0" i="1" dirty="0">
                  <a:latin typeface="Arial" panose="020B0604020202020204" pitchFamily="34" charset="0"/>
                  <a:cs typeface="Arial" panose="020B0604020202020204" pitchFamily="34" charset="0"/>
                </a:rPr>
                <a:t>’</a:t>
              </a:r>
            </a:p>
          </p:txBody>
        </p:sp>
      </p:grpSp>
      <p:sp>
        <p:nvSpPr>
          <p:cNvPr id="241" name="Rectangle 28">
            <a:extLst>
              <a:ext uri="{FF2B5EF4-FFF2-40B4-BE49-F238E27FC236}">
                <a16:creationId xmlns:a16="http://schemas.microsoft.com/office/drawing/2014/main" id="{AF8DBBF9-19BB-1DFF-0CA6-252E0ACD0128}"/>
              </a:ext>
            </a:extLst>
          </p:cNvPr>
          <p:cNvSpPr>
            <a:spLocks noChangeArrowheads="1"/>
          </p:cNvSpPr>
          <p:nvPr/>
        </p:nvSpPr>
        <p:spPr bwMode="auto">
          <a:xfrm>
            <a:off x="10266716" y="2211251"/>
            <a:ext cx="69762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000" b="0" i="0" u="none" strike="noStrike" kern="0" cap="none" spc="0" normalizeH="0" baseline="0" noProof="0" dirty="0">
                <a:ln>
                  <a:noFill/>
                </a:ln>
                <a:solidFill>
                  <a:schemeClr val="tx1"/>
                </a:solidFill>
                <a:effectLst/>
                <a:uLnTx/>
                <a:uFillTx/>
                <a:sym typeface="Symbol" panose="05050102010706020507" pitchFamily="18" charset="2"/>
              </a:rPr>
              <a:t>30</a:t>
            </a:r>
            <a:r>
              <a:rPr kumimoji="1" lang="en-US" altLang="zh-CN" sz="2000" b="0" i="0" u="none" strike="noStrike" kern="0" cap="none" spc="0" normalizeH="0" baseline="0" noProof="0" dirty="0">
                <a:ln>
                  <a:noFill/>
                </a:ln>
                <a:solidFill>
                  <a:schemeClr val="tx1"/>
                </a:solidFill>
                <a:effectLst/>
                <a:uLnTx/>
                <a:uFillTx/>
                <a:cs typeface="Times New Roman" panose="02020603050405020304" pitchFamily="18" charset="0"/>
                <a:sym typeface="Symbol" panose="05050102010706020507" pitchFamily="18" charset="2"/>
              </a:rPr>
              <a:t>°</a:t>
            </a:r>
            <a:endParaRPr kumimoji="1" lang="en-US" altLang="zh-CN" sz="2000" b="0" i="0" u="none" strike="noStrike" kern="0" cap="none" spc="0" normalizeH="0" baseline="0" noProof="0" dirty="0">
              <a:ln>
                <a:noFill/>
              </a:ln>
              <a:solidFill>
                <a:schemeClr val="tx1"/>
              </a:solidFill>
              <a:effectLst/>
              <a:uLnTx/>
              <a:uFillTx/>
              <a:sym typeface="Symbol" panose="05050102010706020507" pitchFamily="18" charset="2"/>
            </a:endParaRPr>
          </a:p>
        </p:txBody>
      </p:sp>
      <p:sp>
        <p:nvSpPr>
          <p:cNvPr id="242" name="Arc 52">
            <a:extLst>
              <a:ext uri="{FF2B5EF4-FFF2-40B4-BE49-F238E27FC236}">
                <a16:creationId xmlns:a16="http://schemas.microsoft.com/office/drawing/2014/main" id="{F35051F4-9062-4D78-6755-DFD88CE9E2A8}"/>
              </a:ext>
            </a:extLst>
          </p:cNvPr>
          <p:cNvSpPr>
            <a:spLocks/>
          </p:cNvSpPr>
          <p:nvPr/>
        </p:nvSpPr>
        <p:spPr bwMode="auto">
          <a:xfrm rot="7606208" flipV="1">
            <a:off x="10752483" y="2405137"/>
            <a:ext cx="185738" cy="96837"/>
          </a:xfrm>
          <a:custGeom>
            <a:avLst/>
            <a:gdLst>
              <a:gd name="T0" fmla="*/ 0 w 21600"/>
              <a:gd name="T1" fmla="*/ 0 h 21600"/>
              <a:gd name="T2" fmla="*/ 1597158 w 21600"/>
              <a:gd name="T3" fmla="*/ 434139 h 21600"/>
              <a:gd name="T4" fmla="*/ 0 w 21600"/>
              <a:gd name="T5" fmla="*/ 434139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aphicFrame>
        <p:nvGraphicFramePr>
          <p:cNvPr id="262" name="Object 31">
            <a:extLst>
              <a:ext uri="{FF2B5EF4-FFF2-40B4-BE49-F238E27FC236}">
                <a16:creationId xmlns:a16="http://schemas.microsoft.com/office/drawing/2014/main" id="{81798700-6FBC-CFC5-4DCD-A7E4F72B9816}"/>
              </a:ext>
            </a:extLst>
          </p:cNvPr>
          <p:cNvGraphicFramePr>
            <a:graphicFrameLocks/>
          </p:cNvGraphicFramePr>
          <p:nvPr>
            <p:extLst>
              <p:ext uri="{D42A27DB-BD31-4B8C-83A1-F6EECF244321}">
                <p14:modId xmlns:p14="http://schemas.microsoft.com/office/powerpoint/2010/main" val="3005672010"/>
              </p:ext>
            </p:extLst>
          </p:nvPr>
        </p:nvGraphicFramePr>
        <p:xfrm>
          <a:off x="916105" y="3636086"/>
          <a:ext cx="5826125" cy="1066800"/>
        </p:xfrm>
        <a:graphic>
          <a:graphicData uri="http://schemas.openxmlformats.org/presentationml/2006/ole">
            <mc:AlternateContent xmlns:mc="http://schemas.openxmlformats.org/markup-compatibility/2006">
              <mc:Choice xmlns:v="urn:schemas-microsoft-com:vml" Requires="v">
                <p:oleObj name="Equation" r:id="rId3" imgW="2908080" imgH="533160" progId="Equation.DSMT4">
                  <p:embed/>
                </p:oleObj>
              </mc:Choice>
              <mc:Fallback>
                <p:oleObj name="Equation" r:id="rId3" imgW="2908080" imgH="533160" progId="Equation.DSMT4">
                  <p:embed/>
                  <p:pic>
                    <p:nvPicPr>
                      <p:cNvPr id="262" name="Object 31">
                        <a:extLst>
                          <a:ext uri="{FF2B5EF4-FFF2-40B4-BE49-F238E27FC236}">
                            <a16:creationId xmlns:a16="http://schemas.microsoft.com/office/drawing/2014/main" id="{81798700-6FBC-CFC5-4DCD-A7E4F72B9816}"/>
                          </a:ext>
                        </a:extLst>
                      </p:cNvPr>
                      <p:cNvPicPr>
                        <a:picLocks noChangeArrowheads="1"/>
                      </p:cNvPicPr>
                      <p:nvPr/>
                    </p:nvPicPr>
                    <p:blipFill>
                      <a:blip r:embed="rId4"/>
                      <a:srcRect/>
                      <a:stretch>
                        <a:fillRect/>
                      </a:stretch>
                    </p:blipFill>
                    <p:spPr bwMode="auto">
                      <a:xfrm>
                        <a:off x="916105" y="3636086"/>
                        <a:ext cx="5826125" cy="1066800"/>
                      </a:xfrm>
                      <a:prstGeom prst="rect">
                        <a:avLst/>
                      </a:prstGeom>
                      <a:noFill/>
                      <a:ln>
                        <a:noFill/>
                      </a:ln>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3" name="Group 31">
            <a:extLst>
              <a:ext uri="{FF2B5EF4-FFF2-40B4-BE49-F238E27FC236}">
                <a16:creationId xmlns:a16="http://schemas.microsoft.com/office/drawing/2014/main" id="{7D4AF0C4-9587-0442-A131-311AD5236079}"/>
              </a:ext>
            </a:extLst>
          </p:cNvPr>
          <p:cNvGrpSpPr>
            <a:grpSpLocks/>
          </p:cNvGrpSpPr>
          <p:nvPr/>
        </p:nvGrpSpPr>
        <p:grpSpPr bwMode="auto">
          <a:xfrm>
            <a:off x="7196160" y="2506465"/>
            <a:ext cx="4174336" cy="3655672"/>
            <a:chOff x="0" y="1765"/>
            <a:chExt cx="2427" cy="1980"/>
          </a:xfrm>
        </p:grpSpPr>
        <p:grpSp>
          <p:nvGrpSpPr>
            <p:cNvPr id="4" name="Group 32">
              <a:extLst>
                <a:ext uri="{FF2B5EF4-FFF2-40B4-BE49-F238E27FC236}">
                  <a16:creationId xmlns:a16="http://schemas.microsoft.com/office/drawing/2014/main" id="{52DCB9EF-8FA1-0DA4-6266-1E9F944F2FED}"/>
                </a:ext>
              </a:extLst>
            </p:cNvPr>
            <p:cNvGrpSpPr>
              <a:grpSpLocks/>
            </p:cNvGrpSpPr>
            <p:nvPr/>
          </p:nvGrpSpPr>
          <p:grpSpPr bwMode="auto">
            <a:xfrm>
              <a:off x="0" y="1765"/>
              <a:ext cx="2235" cy="1809"/>
              <a:chOff x="-28" y="1897"/>
              <a:chExt cx="2235" cy="1809"/>
            </a:xfrm>
          </p:grpSpPr>
          <p:sp>
            <p:nvSpPr>
              <p:cNvPr id="236" name="Arc 33">
                <a:extLst>
                  <a:ext uri="{FF2B5EF4-FFF2-40B4-BE49-F238E27FC236}">
                    <a16:creationId xmlns:a16="http://schemas.microsoft.com/office/drawing/2014/main" id="{11C850D5-AFBB-A784-4E8A-6A76FC8D69C4}"/>
                  </a:ext>
                </a:extLst>
              </p:cNvPr>
              <p:cNvSpPr>
                <a:spLocks/>
              </p:cNvSpPr>
              <p:nvPr/>
            </p:nvSpPr>
            <p:spPr bwMode="auto">
              <a:xfrm rot="21073023" flipV="1">
                <a:off x="11" y="2615"/>
                <a:ext cx="1657" cy="1029"/>
              </a:xfrm>
              <a:custGeom>
                <a:avLst/>
                <a:gdLst>
                  <a:gd name="T0" fmla="*/ 0 w 21600"/>
                  <a:gd name="T1" fmla="*/ 0 h 18408"/>
                  <a:gd name="T2" fmla="*/ 1 w 21600"/>
                  <a:gd name="T3" fmla="*/ 0 h 18408"/>
                  <a:gd name="T4" fmla="*/ 0 w 21600"/>
                  <a:gd name="T5" fmla="*/ 0 h 18408"/>
                  <a:gd name="T6" fmla="*/ 0 60000 65536"/>
                  <a:gd name="T7" fmla="*/ 0 60000 65536"/>
                  <a:gd name="T8" fmla="*/ 0 60000 65536"/>
                  <a:gd name="T9" fmla="*/ 0 w 21600"/>
                  <a:gd name="T10" fmla="*/ 0 h 18408"/>
                  <a:gd name="T11" fmla="*/ 21600 w 21600"/>
                  <a:gd name="T12" fmla="*/ 18408 h 18408"/>
                </a:gdLst>
                <a:ahLst/>
                <a:cxnLst>
                  <a:cxn ang="T6">
                    <a:pos x="T0" y="T1"/>
                  </a:cxn>
                  <a:cxn ang="T7">
                    <a:pos x="T2" y="T3"/>
                  </a:cxn>
                  <a:cxn ang="T8">
                    <a:pos x="T4" y="T5"/>
                  </a:cxn>
                </a:cxnLst>
                <a:rect l="T9" t="T10" r="T11" b="T12"/>
                <a:pathLst>
                  <a:path w="21600" h="18408" fill="none" extrusionOk="0">
                    <a:moveTo>
                      <a:pt x="11300" y="-1"/>
                    </a:moveTo>
                    <a:cubicBezTo>
                      <a:pt x="17699" y="3928"/>
                      <a:pt x="21600" y="10898"/>
                      <a:pt x="21600" y="18408"/>
                    </a:cubicBezTo>
                  </a:path>
                  <a:path w="21600" h="18408" stroke="0" extrusionOk="0">
                    <a:moveTo>
                      <a:pt x="11300" y="-1"/>
                    </a:moveTo>
                    <a:cubicBezTo>
                      <a:pt x="17699" y="3928"/>
                      <a:pt x="21600" y="10898"/>
                      <a:pt x="21600" y="18408"/>
                    </a:cubicBezTo>
                    <a:lnTo>
                      <a:pt x="0" y="18408"/>
                    </a:lnTo>
                    <a:lnTo>
                      <a:pt x="11300" y="-1"/>
                    </a:lnTo>
                    <a:close/>
                  </a:path>
                </a:pathLst>
              </a:custGeom>
              <a:noFill/>
              <a:ln w="19050">
                <a:solidFill>
                  <a:srgbClr val="FF3300"/>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7" name="Arc 34">
                <a:extLst>
                  <a:ext uri="{FF2B5EF4-FFF2-40B4-BE49-F238E27FC236}">
                    <a16:creationId xmlns:a16="http://schemas.microsoft.com/office/drawing/2014/main" id="{8EECA733-8DA1-D954-17B9-4680DEAF64FF}"/>
                  </a:ext>
                </a:extLst>
              </p:cNvPr>
              <p:cNvSpPr>
                <a:spLocks/>
              </p:cNvSpPr>
              <p:nvPr/>
            </p:nvSpPr>
            <p:spPr bwMode="auto">
              <a:xfrm rot="21333520" flipV="1">
                <a:off x="-28" y="1897"/>
                <a:ext cx="2235" cy="1738"/>
              </a:xfrm>
              <a:custGeom>
                <a:avLst/>
                <a:gdLst>
                  <a:gd name="T0" fmla="*/ 1 w 18910"/>
                  <a:gd name="T1" fmla="*/ 0 h 20288"/>
                  <a:gd name="T2" fmla="*/ 4 w 18910"/>
                  <a:gd name="T3" fmla="*/ 1 h 20288"/>
                  <a:gd name="T4" fmla="*/ 0 w 18910"/>
                  <a:gd name="T5" fmla="*/ 1 h 20288"/>
                  <a:gd name="T6" fmla="*/ 0 60000 65536"/>
                  <a:gd name="T7" fmla="*/ 0 60000 65536"/>
                  <a:gd name="T8" fmla="*/ 0 60000 65536"/>
                  <a:gd name="T9" fmla="*/ 0 w 18910"/>
                  <a:gd name="T10" fmla="*/ 0 h 20288"/>
                  <a:gd name="T11" fmla="*/ 18910 w 18910"/>
                  <a:gd name="T12" fmla="*/ 20288 h 20288"/>
                </a:gdLst>
                <a:ahLst/>
                <a:cxnLst>
                  <a:cxn ang="T6">
                    <a:pos x="T0" y="T1"/>
                  </a:cxn>
                  <a:cxn ang="T7">
                    <a:pos x="T2" y="T3"/>
                  </a:cxn>
                  <a:cxn ang="T8">
                    <a:pos x="T4" y="T5"/>
                  </a:cxn>
                </a:cxnLst>
                <a:rect l="T9" t="T10" r="T11" b="T12"/>
                <a:pathLst>
                  <a:path w="18910" h="20288" fill="none" extrusionOk="0">
                    <a:moveTo>
                      <a:pt x="7413" y="-1"/>
                    </a:moveTo>
                    <a:cubicBezTo>
                      <a:pt x="12308" y="1788"/>
                      <a:pt x="16391" y="5286"/>
                      <a:pt x="18909" y="9849"/>
                    </a:cubicBezTo>
                  </a:path>
                  <a:path w="18910" h="20288" stroke="0" extrusionOk="0">
                    <a:moveTo>
                      <a:pt x="7413" y="-1"/>
                    </a:moveTo>
                    <a:cubicBezTo>
                      <a:pt x="12308" y="1788"/>
                      <a:pt x="16391" y="5286"/>
                      <a:pt x="18909" y="9849"/>
                    </a:cubicBezTo>
                    <a:lnTo>
                      <a:pt x="0" y="20288"/>
                    </a:lnTo>
                    <a:lnTo>
                      <a:pt x="7413" y="-1"/>
                    </a:lnTo>
                    <a:close/>
                  </a:path>
                </a:pathLst>
              </a:custGeom>
              <a:noFill/>
              <a:ln w="19050">
                <a:solidFill>
                  <a:srgbClr val="FF3300"/>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aphicFrame>
            <p:nvGraphicFramePr>
              <p:cNvPr id="238" name="Object 35">
                <a:extLst>
                  <a:ext uri="{FF2B5EF4-FFF2-40B4-BE49-F238E27FC236}">
                    <a16:creationId xmlns:a16="http://schemas.microsoft.com/office/drawing/2014/main" id="{E9D7565D-1A31-24C8-84EE-4E349FC446A2}"/>
                  </a:ext>
                </a:extLst>
              </p:cNvPr>
              <p:cNvGraphicFramePr>
                <a:graphicFrameLocks noChangeAspect="1"/>
              </p:cNvGraphicFramePr>
              <p:nvPr>
                <p:extLst>
                  <p:ext uri="{D42A27DB-BD31-4B8C-83A1-F6EECF244321}">
                    <p14:modId xmlns:p14="http://schemas.microsoft.com/office/powerpoint/2010/main" val="2769773575"/>
                  </p:ext>
                </p:extLst>
              </p:nvPr>
            </p:nvGraphicFramePr>
            <p:xfrm>
              <a:off x="690" y="3509"/>
              <a:ext cx="212" cy="197"/>
            </p:xfrm>
            <a:graphic>
              <a:graphicData uri="http://schemas.openxmlformats.org/presentationml/2006/ole">
                <mc:AlternateContent xmlns:mc="http://schemas.openxmlformats.org/markup-compatibility/2006">
                  <mc:Choice xmlns:v="urn:schemas-microsoft-com:vml" Requires="v">
                    <p:oleObj name="Equation" r:id="rId5" imgW="177480" imgH="164880" progId="Equation.DSMT4">
                      <p:embed/>
                    </p:oleObj>
                  </mc:Choice>
                  <mc:Fallback>
                    <p:oleObj name="Equation" r:id="rId5" imgW="177480" imgH="164880" progId="Equation.DSMT4">
                      <p:embed/>
                      <p:pic>
                        <p:nvPicPr>
                          <p:cNvPr id="238" name="Object 35">
                            <a:extLst>
                              <a:ext uri="{FF2B5EF4-FFF2-40B4-BE49-F238E27FC236}">
                                <a16:creationId xmlns:a16="http://schemas.microsoft.com/office/drawing/2014/main" id="{E9D7565D-1A31-24C8-84EE-4E349FC446A2}"/>
                              </a:ext>
                            </a:extLst>
                          </p:cNvPr>
                          <p:cNvPicPr>
                            <a:picLocks noChangeAspect="1" noChangeArrowheads="1"/>
                          </p:cNvPicPr>
                          <p:nvPr/>
                        </p:nvPicPr>
                        <p:blipFill>
                          <a:blip r:embed="rId6"/>
                          <a:srcRect/>
                          <a:stretch>
                            <a:fillRect/>
                          </a:stretch>
                        </p:blipFill>
                        <p:spPr bwMode="auto">
                          <a:xfrm>
                            <a:off x="690" y="3509"/>
                            <a:ext cx="212" cy="197"/>
                          </a:xfrm>
                          <a:prstGeom prst="rect">
                            <a:avLst/>
                          </a:prstGeom>
                          <a:noFill/>
                          <a:ln>
                            <a:noFill/>
                          </a:ln>
                        </p:spPr>
                      </p:pic>
                    </p:oleObj>
                  </mc:Fallback>
                </mc:AlternateContent>
              </a:graphicData>
            </a:graphic>
          </p:graphicFrame>
        </p:grpSp>
        <p:grpSp>
          <p:nvGrpSpPr>
            <p:cNvPr id="5" name="Group 36">
              <a:extLst>
                <a:ext uri="{FF2B5EF4-FFF2-40B4-BE49-F238E27FC236}">
                  <a16:creationId xmlns:a16="http://schemas.microsoft.com/office/drawing/2014/main" id="{29CD3EA5-1D18-639D-309B-624742C6AB00}"/>
                </a:ext>
              </a:extLst>
            </p:cNvPr>
            <p:cNvGrpSpPr>
              <a:grpSpLocks/>
            </p:cNvGrpSpPr>
            <p:nvPr/>
          </p:nvGrpSpPr>
          <p:grpSpPr bwMode="auto">
            <a:xfrm>
              <a:off x="1272" y="2093"/>
              <a:ext cx="804" cy="364"/>
              <a:chOff x="295" y="1992"/>
              <a:chExt cx="804" cy="364"/>
            </a:xfrm>
          </p:grpSpPr>
          <p:sp>
            <p:nvSpPr>
              <p:cNvPr id="31" name="Line 37">
                <a:extLst>
                  <a:ext uri="{FF2B5EF4-FFF2-40B4-BE49-F238E27FC236}">
                    <a16:creationId xmlns:a16="http://schemas.microsoft.com/office/drawing/2014/main" id="{C927F5E7-3271-0412-B4A9-24FFBCE85B7C}"/>
                  </a:ext>
                </a:extLst>
              </p:cNvPr>
              <p:cNvSpPr>
                <a:spLocks noChangeShapeType="1"/>
              </p:cNvSpPr>
              <p:nvPr/>
            </p:nvSpPr>
            <p:spPr bwMode="auto">
              <a:xfrm>
                <a:off x="450" y="2068"/>
                <a:ext cx="438" cy="197"/>
              </a:xfrm>
              <a:prstGeom prst="line">
                <a:avLst/>
              </a:prstGeom>
              <a:noFill/>
              <a:ln w="28575">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29" name="Oval 38">
                <a:extLst>
                  <a:ext uri="{FF2B5EF4-FFF2-40B4-BE49-F238E27FC236}">
                    <a16:creationId xmlns:a16="http://schemas.microsoft.com/office/drawing/2014/main" id="{C64FE0A5-92E2-8D8D-F9AF-A55D3036D63E}"/>
                  </a:ext>
                </a:extLst>
              </p:cNvPr>
              <p:cNvSpPr>
                <a:spLocks noChangeArrowheads="1"/>
              </p:cNvSpPr>
              <p:nvPr/>
            </p:nvSpPr>
            <p:spPr bwMode="auto">
              <a:xfrm>
                <a:off x="874" y="2250"/>
                <a:ext cx="69" cy="54"/>
              </a:xfrm>
              <a:prstGeom prst="ellipse">
                <a:avLst/>
              </a:prstGeom>
              <a:solidFill>
                <a:schemeClr val="bg1"/>
              </a:solidFill>
              <a:ln w="6350">
                <a:solidFill>
                  <a:srgbClr val="000000"/>
                </a:solidFill>
                <a:round/>
                <a:headEnd/>
                <a:tailEnd/>
              </a:ln>
            </p:spPr>
            <p:txBody>
              <a:bodyPr/>
              <a:lstStyle/>
              <a:p>
                <a:pPr eaLnBrk="1" hangingPunct="1">
                  <a:buFontTx/>
                  <a:buChar char="•"/>
                </a:pPr>
                <a:endParaRPr lang="zh-CN" altLang="en-US"/>
              </a:p>
            </p:txBody>
          </p:sp>
          <p:sp>
            <p:nvSpPr>
              <p:cNvPr id="230" name="Arc 39">
                <a:extLst>
                  <a:ext uri="{FF2B5EF4-FFF2-40B4-BE49-F238E27FC236}">
                    <a16:creationId xmlns:a16="http://schemas.microsoft.com/office/drawing/2014/main" id="{68334B7B-0412-07FC-F0E9-5F118F0519BA}"/>
                  </a:ext>
                </a:extLst>
              </p:cNvPr>
              <p:cNvSpPr>
                <a:spLocks/>
              </p:cNvSpPr>
              <p:nvPr/>
            </p:nvSpPr>
            <p:spPr bwMode="auto">
              <a:xfrm flipH="1">
                <a:off x="486" y="2091"/>
                <a:ext cx="80" cy="201"/>
              </a:xfrm>
              <a:custGeom>
                <a:avLst/>
                <a:gdLst>
                  <a:gd name="T0" fmla="*/ 0 w 21600"/>
                  <a:gd name="T1" fmla="*/ 0 h 18732"/>
                  <a:gd name="T2" fmla="*/ 0 w 21600"/>
                  <a:gd name="T3" fmla="*/ 0 h 18732"/>
                  <a:gd name="T4" fmla="*/ 0 w 21600"/>
                  <a:gd name="T5" fmla="*/ 0 h 18732"/>
                  <a:gd name="T6" fmla="*/ 0 60000 65536"/>
                  <a:gd name="T7" fmla="*/ 0 60000 65536"/>
                  <a:gd name="T8" fmla="*/ 0 60000 65536"/>
                  <a:gd name="T9" fmla="*/ 0 w 21600"/>
                  <a:gd name="T10" fmla="*/ 0 h 18732"/>
                  <a:gd name="T11" fmla="*/ 21600 w 21600"/>
                  <a:gd name="T12" fmla="*/ 18732 h 18732"/>
                </a:gdLst>
                <a:ahLst/>
                <a:cxnLst>
                  <a:cxn ang="T6">
                    <a:pos x="T0" y="T1"/>
                  </a:cxn>
                  <a:cxn ang="T7">
                    <a:pos x="T2" y="T3"/>
                  </a:cxn>
                  <a:cxn ang="T8">
                    <a:pos x="T4" y="T5"/>
                  </a:cxn>
                </a:cxnLst>
                <a:rect l="T9" t="T10" r="T11" b="T12"/>
                <a:pathLst>
                  <a:path w="21600" h="18732" fill="none" extrusionOk="0">
                    <a:moveTo>
                      <a:pt x="10755" y="0"/>
                    </a:moveTo>
                    <a:cubicBezTo>
                      <a:pt x="17463" y="3852"/>
                      <a:pt x="21600" y="10996"/>
                      <a:pt x="21600" y="18732"/>
                    </a:cubicBezTo>
                  </a:path>
                  <a:path w="21600" h="18732" stroke="0" extrusionOk="0">
                    <a:moveTo>
                      <a:pt x="10755" y="0"/>
                    </a:moveTo>
                    <a:cubicBezTo>
                      <a:pt x="17463" y="3852"/>
                      <a:pt x="21600" y="10996"/>
                      <a:pt x="21600" y="18732"/>
                    </a:cubicBezTo>
                    <a:lnTo>
                      <a:pt x="0" y="18732"/>
                    </a:lnTo>
                    <a:lnTo>
                      <a:pt x="10755" y="0"/>
                    </a:lnTo>
                    <a:close/>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zh-CN" altLang="en-US"/>
              </a:p>
            </p:txBody>
          </p:sp>
          <p:graphicFrame>
            <p:nvGraphicFramePr>
              <p:cNvPr id="231" name="Object 40">
                <a:extLst>
                  <a:ext uri="{FF2B5EF4-FFF2-40B4-BE49-F238E27FC236}">
                    <a16:creationId xmlns:a16="http://schemas.microsoft.com/office/drawing/2014/main" id="{47399614-3C4F-C416-0DB1-3641E629ACD0}"/>
                  </a:ext>
                </a:extLst>
              </p:cNvPr>
              <p:cNvGraphicFramePr>
                <a:graphicFrameLocks noChangeAspect="1"/>
              </p:cNvGraphicFramePr>
              <p:nvPr>
                <p:extLst>
                  <p:ext uri="{D42A27DB-BD31-4B8C-83A1-F6EECF244321}">
                    <p14:modId xmlns:p14="http://schemas.microsoft.com/office/powerpoint/2010/main" val="3974956742"/>
                  </p:ext>
                </p:extLst>
              </p:nvPr>
            </p:nvGraphicFramePr>
            <p:xfrm>
              <a:off x="295" y="2091"/>
              <a:ext cx="240" cy="192"/>
            </p:xfrm>
            <a:graphic>
              <a:graphicData uri="http://schemas.openxmlformats.org/presentationml/2006/ole">
                <mc:AlternateContent xmlns:mc="http://schemas.openxmlformats.org/markup-compatibility/2006">
                  <mc:Choice xmlns:v="urn:schemas-microsoft-com:vml" Requires="v">
                    <p:oleObj name="Equation" r:id="rId7" imgW="190440" imgH="177480" progId="Equation.DSMT4">
                      <p:embed/>
                    </p:oleObj>
                  </mc:Choice>
                  <mc:Fallback>
                    <p:oleObj name="Equation" r:id="rId7" imgW="190440" imgH="177480" progId="Equation.DSMT4">
                      <p:embed/>
                      <p:pic>
                        <p:nvPicPr>
                          <p:cNvPr id="231" name="Object 40">
                            <a:extLst>
                              <a:ext uri="{FF2B5EF4-FFF2-40B4-BE49-F238E27FC236}">
                                <a16:creationId xmlns:a16="http://schemas.microsoft.com/office/drawing/2014/main" id="{47399614-3C4F-C416-0DB1-3641E629ACD0}"/>
                              </a:ext>
                            </a:extLst>
                          </p:cNvPr>
                          <p:cNvPicPr>
                            <a:picLocks noChangeAspect="1" noChangeArrowheads="1"/>
                          </p:cNvPicPr>
                          <p:nvPr/>
                        </p:nvPicPr>
                        <p:blipFill>
                          <a:blip r:embed="rId8"/>
                          <a:srcRect/>
                          <a:stretch>
                            <a:fillRect/>
                          </a:stretch>
                        </p:blipFill>
                        <p:spPr bwMode="auto">
                          <a:xfrm>
                            <a:off x="295" y="2091"/>
                            <a:ext cx="24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32" name="Object 41">
                <a:extLst>
                  <a:ext uri="{FF2B5EF4-FFF2-40B4-BE49-F238E27FC236}">
                    <a16:creationId xmlns:a16="http://schemas.microsoft.com/office/drawing/2014/main" id="{495684AA-865A-2D5A-47A8-12419DF4ABE1}"/>
                  </a:ext>
                </a:extLst>
              </p:cNvPr>
              <p:cNvGraphicFramePr>
                <a:graphicFrameLocks noChangeAspect="1"/>
              </p:cNvGraphicFramePr>
              <p:nvPr>
                <p:extLst>
                  <p:ext uri="{D42A27DB-BD31-4B8C-83A1-F6EECF244321}">
                    <p14:modId xmlns:p14="http://schemas.microsoft.com/office/powerpoint/2010/main" val="3498522634"/>
                  </p:ext>
                </p:extLst>
              </p:nvPr>
            </p:nvGraphicFramePr>
            <p:xfrm>
              <a:off x="878" y="2037"/>
              <a:ext cx="221" cy="206"/>
            </p:xfrm>
            <a:graphic>
              <a:graphicData uri="http://schemas.openxmlformats.org/presentationml/2006/ole">
                <mc:AlternateContent xmlns:mc="http://schemas.openxmlformats.org/markup-compatibility/2006">
                  <mc:Choice xmlns:v="urn:schemas-microsoft-com:vml" Requires="v">
                    <p:oleObj name="Equation" r:id="rId9" imgW="152280" imgH="164880" progId="Equation.DSMT4">
                      <p:embed/>
                    </p:oleObj>
                  </mc:Choice>
                  <mc:Fallback>
                    <p:oleObj name="Equation" r:id="rId9" imgW="152280" imgH="164880" progId="Equation.DSMT4">
                      <p:embed/>
                      <p:pic>
                        <p:nvPicPr>
                          <p:cNvPr id="232" name="Object 41">
                            <a:extLst>
                              <a:ext uri="{FF2B5EF4-FFF2-40B4-BE49-F238E27FC236}">
                                <a16:creationId xmlns:a16="http://schemas.microsoft.com/office/drawing/2014/main" id="{495684AA-865A-2D5A-47A8-12419DF4ABE1}"/>
                              </a:ext>
                            </a:extLst>
                          </p:cNvPr>
                          <p:cNvPicPr>
                            <a:picLocks noChangeAspect="1" noChangeArrowheads="1"/>
                          </p:cNvPicPr>
                          <p:nvPr/>
                        </p:nvPicPr>
                        <p:blipFill>
                          <a:blip r:embed="rId10"/>
                          <a:srcRect/>
                          <a:stretch>
                            <a:fillRect/>
                          </a:stretch>
                        </p:blipFill>
                        <p:spPr bwMode="auto">
                          <a:xfrm>
                            <a:off x="878" y="2037"/>
                            <a:ext cx="221" cy="206"/>
                          </a:xfrm>
                          <a:prstGeom prst="rect">
                            <a:avLst/>
                          </a:prstGeom>
                          <a:noFill/>
                          <a:ln>
                            <a:noFill/>
                          </a:ln>
                        </p:spPr>
                      </p:pic>
                    </p:oleObj>
                  </mc:Fallback>
                </mc:AlternateContent>
              </a:graphicData>
            </a:graphic>
          </p:graphicFrame>
          <p:sp>
            <p:nvSpPr>
              <p:cNvPr id="233" name="Freeform 42">
                <a:extLst>
                  <a:ext uri="{FF2B5EF4-FFF2-40B4-BE49-F238E27FC236}">
                    <a16:creationId xmlns:a16="http://schemas.microsoft.com/office/drawing/2014/main" id="{96B83422-D81E-2A78-D151-C10202443943}"/>
                  </a:ext>
                </a:extLst>
              </p:cNvPr>
              <p:cNvSpPr>
                <a:spLocks/>
              </p:cNvSpPr>
              <p:nvPr/>
            </p:nvSpPr>
            <p:spPr bwMode="auto">
              <a:xfrm>
                <a:off x="357" y="1992"/>
                <a:ext cx="148" cy="113"/>
              </a:xfrm>
              <a:custGeom>
                <a:avLst/>
                <a:gdLst>
                  <a:gd name="T0" fmla="*/ 220 w 120"/>
                  <a:gd name="T1" fmla="*/ 0 h 102"/>
                  <a:gd name="T2" fmla="*/ 190 w 120"/>
                  <a:gd name="T3" fmla="*/ 95 h 102"/>
                  <a:gd name="T4" fmla="*/ 0 w 120"/>
                  <a:gd name="T5" fmla="*/ 138 h 102"/>
                  <a:gd name="T6" fmla="*/ 0 60000 65536"/>
                  <a:gd name="T7" fmla="*/ 0 60000 65536"/>
                  <a:gd name="T8" fmla="*/ 0 60000 65536"/>
                  <a:gd name="T9" fmla="*/ 0 w 120"/>
                  <a:gd name="T10" fmla="*/ 0 h 102"/>
                  <a:gd name="T11" fmla="*/ 120 w 120"/>
                  <a:gd name="T12" fmla="*/ 102 h 102"/>
                </a:gdLst>
                <a:ahLst/>
                <a:cxnLst>
                  <a:cxn ang="T6">
                    <a:pos x="T0" y="T1"/>
                  </a:cxn>
                  <a:cxn ang="T7">
                    <a:pos x="T2" y="T3"/>
                  </a:cxn>
                  <a:cxn ang="T8">
                    <a:pos x="T4" y="T5"/>
                  </a:cxn>
                </a:cxnLst>
                <a:rect l="T9" t="T10" r="T11" b="T12"/>
                <a:pathLst>
                  <a:path w="120" h="102">
                    <a:moveTo>
                      <a:pt x="117" y="0"/>
                    </a:moveTo>
                    <a:cubicBezTo>
                      <a:pt x="118" y="26"/>
                      <a:pt x="120" y="53"/>
                      <a:pt x="101" y="70"/>
                    </a:cubicBezTo>
                    <a:cubicBezTo>
                      <a:pt x="82" y="87"/>
                      <a:pt x="30" y="72"/>
                      <a:pt x="0" y="102"/>
                    </a:cubicBez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a:spAutoFit/>
              </a:bodyPr>
              <a:lstStyle/>
              <a:p>
                <a:endParaRPr lang="zh-CN" altLang="en-US"/>
              </a:p>
            </p:txBody>
          </p:sp>
          <p:sp>
            <p:nvSpPr>
              <p:cNvPr id="234" name="Freeform 43">
                <a:extLst>
                  <a:ext uri="{FF2B5EF4-FFF2-40B4-BE49-F238E27FC236}">
                    <a16:creationId xmlns:a16="http://schemas.microsoft.com/office/drawing/2014/main" id="{DAF179A9-4C15-496E-05CD-C07599C44E2D}"/>
                  </a:ext>
                </a:extLst>
              </p:cNvPr>
              <p:cNvSpPr>
                <a:spLocks/>
              </p:cNvSpPr>
              <p:nvPr/>
            </p:nvSpPr>
            <p:spPr bwMode="auto">
              <a:xfrm rot="-2714205">
                <a:off x="315" y="2228"/>
                <a:ext cx="132" cy="124"/>
              </a:xfrm>
              <a:custGeom>
                <a:avLst/>
                <a:gdLst>
                  <a:gd name="T0" fmla="*/ 156 w 120"/>
                  <a:gd name="T1" fmla="*/ 0 h 102"/>
                  <a:gd name="T2" fmla="*/ 134 w 120"/>
                  <a:gd name="T3" fmla="*/ 125 h 102"/>
                  <a:gd name="T4" fmla="*/ 0 w 120"/>
                  <a:gd name="T5" fmla="*/ 184 h 102"/>
                  <a:gd name="T6" fmla="*/ 0 60000 65536"/>
                  <a:gd name="T7" fmla="*/ 0 60000 65536"/>
                  <a:gd name="T8" fmla="*/ 0 60000 65536"/>
                  <a:gd name="T9" fmla="*/ 0 w 120"/>
                  <a:gd name="T10" fmla="*/ 0 h 102"/>
                  <a:gd name="T11" fmla="*/ 120 w 120"/>
                  <a:gd name="T12" fmla="*/ 102 h 102"/>
                </a:gdLst>
                <a:ahLst/>
                <a:cxnLst>
                  <a:cxn ang="T6">
                    <a:pos x="T0" y="T1"/>
                  </a:cxn>
                  <a:cxn ang="T7">
                    <a:pos x="T2" y="T3"/>
                  </a:cxn>
                  <a:cxn ang="T8">
                    <a:pos x="T4" y="T5"/>
                  </a:cxn>
                </a:cxnLst>
                <a:rect l="T9" t="T10" r="T11" b="T12"/>
                <a:pathLst>
                  <a:path w="120" h="102">
                    <a:moveTo>
                      <a:pt x="117" y="0"/>
                    </a:moveTo>
                    <a:cubicBezTo>
                      <a:pt x="118" y="26"/>
                      <a:pt x="120" y="53"/>
                      <a:pt x="101" y="70"/>
                    </a:cubicBezTo>
                    <a:cubicBezTo>
                      <a:pt x="82" y="87"/>
                      <a:pt x="30" y="72"/>
                      <a:pt x="0" y="102"/>
                    </a:cubicBez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a:spAutoFit/>
              </a:bodyPr>
              <a:lstStyle/>
              <a:p>
                <a:endParaRPr lang="zh-CN" altLang="en-US"/>
              </a:p>
            </p:txBody>
          </p:sp>
          <p:sp>
            <p:nvSpPr>
              <p:cNvPr id="235" name="Line 44">
                <a:extLst>
                  <a:ext uri="{FF2B5EF4-FFF2-40B4-BE49-F238E27FC236}">
                    <a16:creationId xmlns:a16="http://schemas.microsoft.com/office/drawing/2014/main" id="{FD4ABCA4-3456-CAFF-8BBF-0ED9671D55E5}"/>
                  </a:ext>
                </a:extLst>
              </p:cNvPr>
              <p:cNvSpPr>
                <a:spLocks noChangeShapeType="1"/>
              </p:cNvSpPr>
              <p:nvPr/>
            </p:nvSpPr>
            <p:spPr bwMode="auto">
              <a:xfrm flipH="1">
                <a:off x="425" y="2284"/>
                <a:ext cx="449"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6" name="Group 45">
              <a:extLst>
                <a:ext uri="{FF2B5EF4-FFF2-40B4-BE49-F238E27FC236}">
                  <a16:creationId xmlns:a16="http://schemas.microsoft.com/office/drawing/2014/main" id="{98C22FEA-3199-1BAF-BE08-8F1853EA3034}"/>
                </a:ext>
              </a:extLst>
            </p:cNvPr>
            <p:cNvGrpSpPr>
              <a:grpSpLocks/>
            </p:cNvGrpSpPr>
            <p:nvPr/>
          </p:nvGrpSpPr>
          <p:grpSpPr bwMode="auto">
            <a:xfrm>
              <a:off x="1312" y="2381"/>
              <a:ext cx="905" cy="1364"/>
              <a:chOff x="677" y="2373"/>
              <a:chExt cx="905" cy="1364"/>
            </a:xfrm>
          </p:grpSpPr>
          <p:sp>
            <p:nvSpPr>
              <p:cNvPr id="22" name="Line 46">
                <a:extLst>
                  <a:ext uri="{FF2B5EF4-FFF2-40B4-BE49-F238E27FC236}">
                    <a16:creationId xmlns:a16="http://schemas.microsoft.com/office/drawing/2014/main" id="{9371AD08-466C-B47A-8B48-976F008D4DB2}"/>
                  </a:ext>
                </a:extLst>
              </p:cNvPr>
              <p:cNvSpPr>
                <a:spLocks noChangeShapeType="1"/>
              </p:cNvSpPr>
              <p:nvPr/>
            </p:nvSpPr>
            <p:spPr bwMode="auto">
              <a:xfrm>
                <a:off x="973" y="2400"/>
                <a:ext cx="0" cy="1214"/>
              </a:xfrm>
              <a:prstGeom prst="line">
                <a:avLst/>
              </a:prstGeom>
              <a:noFill/>
              <a:ln w="19050">
                <a:solidFill>
                  <a:srgbClr val="008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 name="Line 47">
                <a:extLst>
                  <a:ext uri="{FF2B5EF4-FFF2-40B4-BE49-F238E27FC236}">
                    <a16:creationId xmlns:a16="http://schemas.microsoft.com/office/drawing/2014/main" id="{04EA107A-8DF8-5A67-8F23-B003FEFFB42A}"/>
                  </a:ext>
                </a:extLst>
              </p:cNvPr>
              <p:cNvSpPr>
                <a:spLocks noChangeShapeType="1"/>
              </p:cNvSpPr>
              <p:nvPr/>
            </p:nvSpPr>
            <p:spPr bwMode="auto">
              <a:xfrm flipH="1">
                <a:off x="967" y="2581"/>
                <a:ext cx="614" cy="1054"/>
              </a:xfrm>
              <a:prstGeom prst="line">
                <a:avLst/>
              </a:prstGeom>
              <a:noFill/>
              <a:ln w="19050">
                <a:solidFill>
                  <a:srgbClr val="008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24" name="Object 48">
                <a:extLst>
                  <a:ext uri="{FF2B5EF4-FFF2-40B4-BE49-F238E27FC236}">
                    <a16:creationId xmlns:a16="http://schemas.microsoft.com/office/drawing/2014/main" id="{E778D3E1-3844-DD72-5B22-A2A6A966F35A}"/>
                  </a:ext>
                </a:extLst>
              </p:cNvPr>
              <p:cNvGraphicFramePr>
                <a:graphicFrameLocks noChangeAspect="1"/>
              </p:cNvGraphicFramePr>
              <p:nvPr>
                <p:extLst>
                  <p:ext uri="{D42A27DB-BD31-4B8C-83A1-F6EECF244321}">
                    <p14:modId xmlns:p14="http://schemas.microsoft.com/office/powerpoint/2010/main" val="969315461"/>
                  </p:ext>
                </p:extLst>
              </p:nvPr>
            </p:nvGraphicFramePr>
            <p:xfrm>
              <a:off x="677" y="3540"/>
              <a:ext cx="240" cy="197"/>
            </p:xfrm>
            <a:graphic>
              <a:graphicData uri="http://schemas.openxmlformats.org/presentationml/2006/ole">
                <mc:AlternateContent xmlns:mc="http://schemas.openxmlformats.org/markup-compatibility/2006">
                  <mc:Choice xmlns:v="urn:schemas-microsoft-com:vml" Requires="v">
                    <p:oleObj name="Equation" r:id="rId11" imgW="203040" imgH="164880" progId="Equation.DSMT4">
                      <p:embed/>
                    </p:oleObj>
                  </mc:Choice>
                  <mc:Fallback>
                    <p:oleObj name="Equation" r:id="rId11" imgW="203040" imgH="164880" progId="Equation.DSMT4">
                      <p:embed/>
                      <p:pic>
                        <p:nvPicPr>
                          <p:cNvPr id="24" name="Object 48">
                            <a:extLst>
                              <a:ext uri="{FF2B5EF4-FFF2-40B4-BE49-F238E27FC236}">
                                <a16:creationId xmlns:a16="http://schemas.microsoft.com/office/drawing/2014/main" id="{E778D3E1-3844-DD72-5B22-A2A6A966F35A}"/>
                              </a:ext>
                            </a:extLst>
                          </p:cNvPr>
                          <p:cNvPicPr>
                            <a:picLocks noChangeAspect="1" noChangeArrowheads="1"/>
                          </p:cNvPicPr>
                          <p:nvPr/>
                        </p:nvPicPr>
                        <p:blipFill>
                          <a:blip r:embed="rId12"/>
                          <a:srcRect/>
                          <a:stretch>
                            <a:fillRect/>
                          </a:stretch>
                        </p:blipFill>
                        <p:spPr bwMode="auto">
                          <a:xfrm>
                            <a:off x="677" y="3540"/>
                            <a:ext cx="240" cy="197"/>
                          </a:xfrm>
                          <a:prstGeom prst="rect">
                            <a:avLst/>
                          </a:prstGeom>
                          <a:noFill/>
                          <a:ln>
                            <a:noFill/>
                          </a:ln>
                        </p:spPr>
                      </p:pic>
                    </p:oleObj>
                  </mc:Fallback>
                </mc:AlternateContent>
              </a:graphicData>
            </a:graphic>
          </p:graphicFrame>
          <p:grpSp>
            <p:nvGrpSpPr>
              <p:cNvPr id="25" name="Group 49">
                <a:extLst>
                  <a:ext uri="{FF2B5EF4-FFF2-40B4-BE49-F238E27FC236}">
                    <a16:creationId xmlns:a16="http://schemas.microsoft.com/office/drawing/2014/main" id="{7850CD7C-50FC-D05A-7FD9-D7C61571942F}"/>
                  </a:ext>
                </a:extLst>
              </p:cNvPr>
              <p:cNvGrpSpPr>
                <a:grpSpLocks/>
              </p:cNvGrpSpPr>
              <p:nvPr/>
            </p:nvGrpSpPr>
            <p:grpSpPr bwMode="auto">
              <a:xfrm>
                <a:off x="965" y="2373"/>
                <a:ext cx="96" cy="96"/>
                <a:chOff x="1603" y="2522"/>
                <a:chExt cx="78" cy="86"/>
              </a:xfrm>
            </p:grpSpPr>
            <p:sp>
              <p:nvSpPr>
                <p:cNvPr id="29" name="Line 50">
                  <a:extLst>
                    <a:ext uri="{FF2B5EF4-FFF2-40B4-BE49-F238E27FC236}">
                      <a16:creationId xmlns:a16="http://schemas.microsoft.com/office/drawing/2014/main" id="{EB272462-48E6-B8D4-BE00-9A818B2D268C}"/>
                    </a:ext>
                  </a:extLst>
                </p:cNvPr>
                <p:cNvSpPr>
                  <a:spLocks noChangeShapeType="1"/>
                </p:cNvSpPr>
                <p:nvPr/>
              </p:nvSpPr>
              <p:spPr bwMode="auto">
                <a:xfrm>
                  <a:off x="1674" y="2522"/>
                  <a:ext cx="0" cy="8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30" name="Line 51">
                  <a:extLst>
                    <a:ext uri="{FF2B5EF4-FFF2-40B4-BE49-F238E27FC236}">
                      <a16:creationId xmlns:a16="http://schemas.microsoft.com/office/drawing/2014/main" id="{7B2544E7-C10F-AE07-DEF3-773EC86C9690}"/>
                    </a:ext>
                  </a:extLst>
                </p:cNvPr>
                <p:cNvSpPr>
                  <a:spLocks noChangeShapeType="1"/>
                </p:cNvSpPr>
                <p:nvPr/>
              </p:nvSpPr>
              <p:spPr bwMode="auto">
                <a:xfrm>
                  <a:off x="1603" y="2608"/>
                  <a:ext cx="7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grpSp>
          <p:grpSp>
            <p:nvGrpSpPr>
              <p:cNvPr id="26" name="Group 52">
                <a:extLst>
                  <a:ext uri="{FF2B5EF4-FFF2-40B4-BE49-F238E27FC236}">
                    <a16:creationId xmlns:a16="http://schemas.microsoft.com/office/drawing/2014/main" id="{BF4EF4B8-15A9-E74F-8B6D-5062FEE90371}"/>
                  </a:ext>
                </a:extLst>
              </p:cNvPr>
              <p:cNvGrpSpPr>
                <a:grpSpLocks/>
              </p:cNvGrpSpPr>
              <p:nvPr/>
            </p:nvGrpSpPr>
            <p:grpSpPr bwMode="auto">
              <a:xfrm rot="7396707">
                <a:off x="1500" y="2566"/>
                <a:ext cx="78" cy="86"/>
                <a:chOff x="1603" y="2522"/>
                <a:chExt cx="78" cy="86"/>
              </a:xfrm>
            </p:grpSpPr>
            <p:sp>
              <p:nvSpPr>
                <p:cNvPr id="27" name="Line 53">
                  <a:extLst>
                    <a:ext uri="{FF2B5EF4-FFF2-40B4-BE49-F238E27FC236}">
                      <a16:creationId xmlns:a16="http://schemas.microsoft.com/office/drawing/2014/main" id="{FCCEAF9D-56A9-6891-971E-BA46CFE2D521}"/>
                    </a:ext>
                  </a:extLst>
                </p:cNvPr>
                <p:cNvSpPr>
                  <a:spLocks noChangeShapeType="1"/>
                </p:cNvSpPr>
                <p:nvPr/>
              </p:nvSpPr>
              <p:spPr bwMode="auto">
                <a:xfrm>
                  <a:off x="1674" y="2522"/>
                  <a:ext cx="0" cy="8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28" name="Line 54">
                  <a:extLst>
                    <a:ext uri="{FF2B5EF4-FFF2-40B4-BE49-F238E27FC236}">
                      <a16:creationId xmlns:a16="http://schemas.microsoft.com/office/drawing/2014/main" id="{16EAAD7B-A9D8-59F0-2A15-3EABBFD618E0}"/>
                    </a:ext>
                  </a:extLst>
                </p:cNvPr>
                <p:cNvSpPr>
                  <a:spLocks noChangeShapeType="1"/>
                </p:cNvSpPr>
                <p:nvPr/>
              </p:nvSpPr>
              <p:spPr bwMode="auto">
                <a:xfrm>
                  <a:off x="1603" y="2608"/>
                  <a:ext cx="7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grpSp>
          <p:sp>
            <p:nvSpPr>
              <p:cNvPr id="240" name="Line 46">
                <a:extLst>
                  <a:ext uri="{FF2B5EF4-FFF2-40B4-BE49-F238E27FC236}">
                    <a16:creationId xmlns:a16="http://schemas.microsoft.com/office/drawing/2014/main" id="{1FEEC7DF-58D8-294C-3D0C-52F889E9BE10}"/>
                  </a:ext>
                </a:extLst>
              </p:cNvPr>
              <p:cNvSpPr>
                <a:spLocks noChangeShapeType="1"/>
              </p:cNvSpPr>
              <p:nvPr/>
            </p:nvSpPr>
            <p:spPr bwMode="auto">
              <a:xfrm>
                <a:off x="1250" y="2400"/>
                <a:ext cx="0" cy="1214"/>
              </a:xfrm>
              <a:prstGeom prst="line">
                <a:avLst/>
              </a:prstGeom>
              <a:noFill/>
              <a:ln w="19050">
                <a:solidFill>
                  <a:srgbClr val="008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8" name="Group 55">
              <a:extLst>
                <a:ext uri="{FF2B5EF4-FFF2-40B4-BE49-F238E27FC236}">
                  <a16:creationId xmlns:a16="http://schemas.microsoft.com/office/drawing/2014/main" id="{1D8ED187-B7B0-BA8A-F90B-9BC5ACEC55C4}"/>
                </a:ext>
              </a:extLst>
            </p:cNvPr>
            <p:cNvGrpSpPr>
              <a:grpSpLocks/>
            </p:cNvGrpSpPr>
            <p:nvPr/>
          </p:nvGrpSpPr>
          <p:grpSpPr bwMode="auto">
            <a:xfrm>
              <a:off x="1632" y="2427"/>
              <a:ext cx="564" cy="150"/>
              <a:chOff x="2694" y="1680"/>
              <a:chExt cx="564" cy="150"/>
            </a:xfrm>
          </p:grpSpPr>
          <p:sp>
            <p:nvSpPr>
              <p:cNvPr id="17" name="Line 56">
                <a:extLst>
                  <a:ext uri="{FF2B5EF4-FFF2-40B4-BE49-F238E27FC236}">
                    <a16:creationId xmlns:a16="http://schemas.microsoft.com/office/drawing/2014/main" id="{589C76A4-F55F-34AD-4849-85B016A9B8B1}"/>
                  </a:ext>
                </a:extLst>
              </p:cNvPr>
              <p:cNvSpPr>
                <a:spLocks noChangeShapeType="1"/>
              </p:cNvSpPr>
              <p:nvPr/>
            </p:nvSpPr>
            <p:spPr bwMode="auto">
              <a:xfrm flipH="1">
                <a:off x="2694" y="1830"/>
                <a:ext cx="564" cy="0"/>
              </a:xfrm>
              <a:prstGeom prst="line">
                <a:avLst/>
              </a:prstGeom>
              <a:noFill/>
              <a:ln w="952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 name="Line 57">
                <a:extLst>
                  <a:ext uri="{FF2B5EF4-FFF2-40B4-BE49-F238E27FC236}">
                    <a16:creationId xmlns:a16="http://schemas.microsoft.com/office/drawing/2014/main" id="{AAECC3B5-E51A-6D0F-D9D3-99B972877911}"/>
                  </a:ext>
                </a:extLst>
              </p:cNvPr>
              <p:cNvSpPr>
                <a:spLocks noChangeShapeType="1"/>
              </p:cNvSpPr>
              <p:nvPr/>
            </p:nvSpPr>
            <p:spPr bwMode="auto">
              <a:xfrm>
                <a:off x="2940" y="1680"/>
                <a:ext cx="0" cy="150"/>
              </a:xfrm>
              <a:prstGeom prst="line">
                <a:avLst/>
              </a:prstGeom>
              <a:noFill/>
              <a:ln w="952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9" name="Group 60">
              <a:extLst>
                <a:ext uri="{FF2B5EF4-FFF2-40B4-BE49-F238E27FC236}">
                  <a16:creationId xmlns:a16="http://schemas.microsoft.com/office/drawing/2014/main" id="{97FED1A7-632D-024D-503C-B8D35110A896}"/>
                </a:ext>
              </a:extLst>
            </p:cNvPr>
            <p:cNvGrpSpPr>
              <a:grpSpLocks/>
            </p:cNvGrpSpPr>
            <p:nvPr/>
          </p:nvGrpSpPr>
          <p:grpSpPr bwMode="auto">
            <a:xfrm>
              <a:off x="1370" y="2358"/>
              <a:ext cx="533" cy="1272"/>
              <a:chOff x="42" y="2920"/>
              <a:chExt cx="533" cy="1272"/>
            </a:xfrm>
          </p:grpSpPr>
          <p:sp>
            <p:nvSpPr>
              <p:cNvPr id="14" name="Line 61">
                <a:extLst>
                  <a:ext uri="{FF2B5EF4-FFF2-40B4-BE49-F238E27FC236}">
                    <a16:creationId xmlns:a16="http://schemas.microsoft.com/office/drawing/2014/main" id="{CC42205E-C794-15D9-7E3F-9A140CE3E98A}"/>
                  </a:ext>
                </a:extLst>
              </p:cNvPr>
              <p:cNvSpPr>
                <a:spLocks noChangeShapeType="1"/>
              </p:cNvSpPr>
              <p:nvPr/>
            </p:nvSpPr>
            <p:spPr bwMode="auto">
              <a:xfrm flipH="1">
                <a:off x="272" y="2946"/>
                <a:ext cx="290" cy="0"/>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5" name="Object 62">
                <a:extLst>
                  <a:ext uri="{FF2B5EF4-FFF2-40B4-BE49-F238E27FC236}">
                    <a16:creationId xmlns:a16="http://schemas.microsoft.com/office/drawing/2014/main" id="{B4175AF9-0250-0E17-EB34-ED9531A90B31}"/>
                  </a:ext>
                </a:extLst>
              </p:cNvPr>
              <p:cNvGraphicFramePr>
                <a:graphicFrameLocks noChangeAspect="1"/>
              </p:cNvGraphicFramePr>
              <p:nvPr>
                <p:extLst>
                  <p:ext uri="{D42A27DB-BD31-4B8C-83A1-F6EECF244321}">
                    <p14:modId xmlns:p14="http://schemas.microsoft.com/office/powerpoint/2010/main" val="164714359"/>
                  </p:ext>
                </p:extLst>
              </p:nvPr>
            </p:nvGraphicFramePr>
            <p:xfrm>
              <a:off x="42" y="2920"/>
              <a:ext cx="226" cy="257"/>
            </p:xfrm>
            <a:graphic>
              <a:graphicData uri="http://schemas.openxmlformats.org/presentationml/2006/ole">
                <mc:AlternateContent xmlns:mc="http://schemas.openxmlformats.org/markup-compatibility/2006">
                  <mc:Choice xmlns:v="urn:schemas-microsoft-com:vml" Requires="v">
                    <p:oleObj name="Equation" r:id="rId13" imgW="190440" imgH="228600" progId="Equation.DSMT4">
                      <p:embed/>
                    </p:oleObj>
                  </mc:Choice>
                  <mc:Fallback>
                    <p:oleObj name="Equation" r:id="rId13" imgW="190440" imgH="228600" progId="Equation.DSMT4">
                      <p:embed/>
                      <p:pic>
                        <p:nvPicPr>
                          <p:cNvPr id="15" name="Object 62">
                            <a:extLst>
                              <a:ext uri="{FF2B5EF4-FFF2-40B4-BE49-F238E27FC236}">
                                <a16:creationId xmlns:a16="http://schemas.microsoft.com/office/drawing/2014/main" id="{B4175AF9-0250-0E17-EB34-ED9531A90B31}"/>
                              </a:ext>
                            </a:extLst>
                          </p:cNvPr>
                          <p:cNvPicPr>
                            <a:picLocks noChangeAspect="1" noChangeArrowheads="1"/>
                          </p:cNvPicPr>
                          <p:nvPr/>
                        </p:nvPicPr>
                        <p:blipFill>
                          <a:blip r:embed="rId14"/>
                          <a:srcRect/>
                          <a:stretch>
                            <a:fillRect/>
                          </a:stretch>
                        </p:blipFill>
                        <p:spPr bwMode="auto">
                          <a:xfrm>
                            <a:off x="42" y="2920"/>
                            <a:ext cx="226" cy="257"/>
                          </a:xfrm>
                          <a:prstGeom prst="rect">
                            <a:avLst/>
                          </a:prstGeom>
                          <a:noFill/>
                          <a:ln>
                            <a:noFill/>
                          </a:ln>
                        </p:spPr>
                      </p:pic>
                    </p:oleObj>
                  </mc:Fallback>
                </mc:AlternateContent>
              </a:graphicData>
            </a:graphic>
          </p:graphicFrame>
          <p:graphicFrame>
            <p:nvGraphicFramePr>
              <p:cNvPr id="16" name="Object 63">
                <a:extLst>
                  <a:ext uri="{FF2B5EF4-FFF2-40B4-BE49-F238E27FC236}">
                    <a16:creationId xmlns:a16="http://schemas.microsoft.com/office/drawing/2014/main" id="{76D80CE9-5D6C-FA8A-F6BA-34562929771D}"/>
                  </a:ext>
                </a:extLst>
              </p:cNvPr>
              <p:cNvGraphicFramePr>
                <a:graphicFrameLocks noChangeAspect="1"/>
              </p:cNvGraphicFramePr>
              <p:nvPr>
                <p:extLst>
                  <p:ext uri="{D42A27DB-BD31-4B8C-83A1-F6EECF244321}">
                    <p14:modId xmlns:p14="http://schemas.microsoft.com/office/powerpoint/2010/main" val="679187039"/>
                  </p:ext>
                </p:extLst>
              </p:nvPr>
            </p:nvGraphicFramePr>
            <p:xfrm>
              <a:off x="342" y="2929"/>
              <a:ext cx="233" cy="209"/>
            </p:xfrm>
            <a:graphic>
              <a:graphicData uri="http://schemas.openxmlformats.org/presentationml/2006/ole">
                <mc:AlternateContent xmlns:mc="http://schemas.openxmlformats.org/markup-compatibility/2006">
                  <mc:Choice xmlns:v="urn:schemas-microsoft-com:vml" Requires="v">
                    <p:oleObj name="Equation" r:id="rId15" imgW="219192" imgH="209468" progId="Equation.3">
                      <p:embed/>
                    </p:oleObj>
                  </mc:Choice>
                  <mc:Fallback>
                    <p:oleObj name="Equation" r:id="rId15" imgW="219192" imgH="209468" progId="Equation.3">
                      <p:embed/>
                      <p:pic>
                        <p:nvPicPr>
                          <p:cNvPr id="16" name="Object 63">
                            <a:extLst>
                              <a:ext uri="{FF2B5EF4-FFF2-40B4-BE49-F238E27FC236}">
                                <a16:creationId xmlns:a16="http://schemas.microsoft.com/office/drawing/2014/main" id="{76D80CE9-5D6C-FA8A-F6BA-34562929771D}"/>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42" y="2929"/>
                            <a:ext cx="233" cy="209"/>
                          </a:xfrm>
                          <a:prstGeom prst="rect">
                            <a:avLst/>
                          </a:prstGeom>
                          <a:noFill/>
                          <a:ln>
                            <a:noFill/>
                          </a:ln>
                        </p:spPr>
                      </p:pic>
                    </p:oleObj>
                  </mc:Fallback>
                </mc:AlternateContent>
              </a:graphicData>
            </a:graphic>
          </p:graphicFrame>
          <p:sp>
            <p:nvSpPr>
              <p:cNvPr id="252" name="Line 61">
                <a:extLst>
                  <a:ext uri="{FF2B5EF4-FFF2-40B4-BE49-F238E27FC236}">
                    <a16:creationId xmlns:a16="http://schemas.microsoft.com/office/drawing/2014/main" id="{B35D0973-CCE6-155D-220B-A1042542768D}"/>
                  </a:ext>
                </a:extLst>
              </p:cNvPr>
              <p:cNvSpPr>
                <a:spLocks noChangeShapeType="1"/>
              </p:cNvSpPr>
              <p:nvPr/>
            </p:nvSpPr>
            <p:spPr bwMode="auto">
              <a:xfrm flipH="1">
                <a:off x="272" y="4192"/>
                <a:ext cx="290" cy="0"/>
              </a:xfrm>
              <a:prstGeom prst="line">
                <a:avLst/>
              </a:prstGeom>
              <a:noFill/>
              <a:ln w="28575">
                <a:solidFill>
                  <a:srgbClr val="008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0" name="Group 64">
              <a:extLst>
                <a:ext uri="{FF2B5EF4-FFF2-40B4-BE49-F238E27FC236}">
                  <a16:creationId xmlns:a16="http://schemas.microsoft.com/office/drawing/2014/main" id="{8C8840DC-AE05-B448-6651-B472363747FA}"/>
                </a:ext>
              </a:extLst>
            </p:cNvPr>
            <p:cNvGrpSpPr>
              <a:grpSpLocks/>
            </p:cNvGrpSpPr>
            <p:nvPr/>
          </p:nvGrpSpPr>
          <p:grpSpPr bwMode="auto">
            <a:xfrm>
              <a:off x="1608" y="2282"/>
              <a:ext cx="819" cy="557"/>
              <a:chOff x="1595" y="2422"/>
              <a:chExt cx="819" cy="557"/>
            </a:xfrm>
          </p:grpSpPr>
          <p:sp>
            <p:nvSpPr>
              <p:cNvPr id="11" name="Line 65">
                <a:extLst>
                  <a:ext uri="{FF2B5EF4-FFF2-40B4-BE49-F238E27FC236}">
                    <a16:creationId xmlns:a16="http://schemas.microsoft.com/office/drawing/2014/main" id="{F9CE2351-91F9-01FE-236A-B9048CF40695}"/>
                  </a:ext>
                </a:extLst>
              </p:cNvPr>
              <p:cNvSpPr>
                <a:spLocks noChangeShapeType="1"/>
              </p:cNvSpPr>
              <p:nvPr/>
            </p:nvSpPr>
            <p:spPr bwMode="auto">
              <a:xfrm>
                <a:off x="1891" y="2527"/>
                <a:ext cx="333" cy="192"/>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2" name="Object 66">
                <a:extLst>
                  <a:ext uri="{FF2B5EF4-FFF2-40B4-BE49-F238E27FC236}">
                    <a16:creationId xmlns:a16="http://schemas.microsoft.com/office/drawing/2014/main" id="{DF8FA736-4811-1E70-9147-97228EE05E7F}"/>
                  </a:ext>
                </a:extLst>
              </p:cNvPr>
              <p:cNvGraphicFramePr>
                <a:graphicFrameLocks noChangeAspect="1"/>
              </p:cNvGraphicFramePr>
              <p:nvPr>
                <p:extLst>
                  <p:ext uri="{D42A27DB-BD31-4B8C-83A1-F6EECF244321}">
                    <p14:modId xmlns:p14="http://schemas.microsoft.com/office/powerpoint/2010/main" val="1202002803"/>
                  </p:ext>
                </p:extLst>
              </p:nvPr>
            </p:nvGraphicFramePr>
            <p:xfrm>
              <a:off x="2209" y="2484"/>
              <a:ext cx="205" cy="271"/>
            </p:xfrm>
            <a:graphic>
              <a:graphicData uri="http://schemas.openxmlformats.org/presentationml/2006/ole">
                <mc:AlternateContent xmlns:mc="http://schemas.openxmlformats.org/markup-compatibility/2006">
                  <mc:Choice xmlns:v="urn:schemas-microsoft-com:vml" Requires="v">
                    <p:oleObj name="Equation" r:id="rId17" imgW="164880" imgH="228600" progId="Equation.DSMT4">
                      <p:embed/>
                    </p:oleObj>
                  </mc:Choice>
                  <mc:Fallback>
                    <p:oleObj name="Equation" r:id="rId17" imgW="164880" imgH="228600" progId="Equation.DSMT4">
                      <p:embed/>
                      <p:pic>
                        <p:nvPicPr>
                          <p:cNvPr id="12" name="Object 66">
                            <a:extLst>
                              <a:ext uri="{FF2B5EF4-FFF2-40B4-BE49-F238E27FC236}">
                                <a16:creationId xmlns:a16="http://schemas.microsoft.com/office/drawing/2014/main" id="{DF8FA736-4811-1E70-9147-97228EE05E7F}"/>
                              </a:ext>
                            </a:extLst>
                          </p:cNvPr>
                          <p:cNvPicPr>
                            <a:picLocks noChangeAspect="1" noChangeArrowheads="1"/>
                          </p:cNvPicPr>
                          <p:nvPr/>
                        </p:nvPicPr>
                        <p:blipFill>
                          <a:blip r:embed="rId18"/>
                          <a:srcRect/>
                          <a:stretch>
                            <a:fillRect/>
                          </a:stretch>
                        </p:blipFill>
                        <p:spPr bwMode="auto">
                          <a:xfrm>
                            <a:off x="2209" y="2484"/>
                            <a:ext cx="205" cy="271"/>
                          </a:xfrm>
                          <a:prstGeom prst="rect">
                            <a:avLst/>
                          </a:prstGeom>
                          <a:noFill/>
                          <a:ln>
                            <a:noFill/>
                          </a:ln>
                        </p:spPr>
                      </p:pic>
                    </p:oleObj>
                  </mc:Fallback>
                </mc:AlternateContent>
              </a:graphicData>
            </a:graphic>
          </p:graphicFrame>
          <p:graphicFrame>
            <p:nvGraphicFramePr>
              <p:cNvPr id="13" name="Object 67">
                <a:extLst>
                  <a:ext uri="{FF2B5EF4-FFF2-40B4-BE49-F238E27FC236}">
                    <a16:creationId xmlns:a16="http://schemas.microsoft.com/office/drawing/2014/main" id="{4CB4FE31-C54F-ED40-0036-CC1C80F4338A}"/>
                  </a:ext>
                </a:extLst>
              </p:cNvPr>
              <p:cNvGraphicFramePr>
                <a:graphicFrameLocks noChangeAspect="1"/>
              </p:cNvGraphicFramePr>
              <p:nvPr/>
            </p:nvGraphicFramePr>
            <p:xfrm>
              <a:off x="1988" y="2422"/>
              <a:ext cx="221" cy="210"/>
            </p:xfrm>
            <a:graphic>
              <a:graphicData uri="http://schemas.openxmlformats.org/presentationml/2006/ole">
                <mc:AlternateContent xmlns:mc="http://schemas.openxmlformats.org/markup-compatibility/2006">
                  <mc:Choice xmlns:v="urn:schemas-microsoft-com:vml" Requires="v">
                    <p:oleObj name="Equation" r:id="rId19" imgW="209474" imgH="209468" progId="Equation.3">
                      <p:embed/>
                    </p:oleObj>
                  </mc:Choice>
                  <mc:Fallback>
                    <p:oleObj name="Equation" r:id="rId19" imgW="209474" imgH="209468" progId="Equation.3">
                      <p:embed/>
                      <p:pic>
                        <p:nvPicPr>
                          <p:cNvPr id="13" name="Object 67">
                            <a:extLst>
                              <a:ext uri="{FF2B5EF4-FFF2-40B4-BE49-F238E27FC236}">
                                <a16:creationId xmlns:a16="http://schemas.microsoft.com/office/drawing/2014/main" id="{4CB4FE31-C54F-ED40-0036-CC1C80F4338A}"/>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988" y="2422"/>
                            <a:ext cx="221"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39" name="Object 66">
                <a:extLst>
                  <a:ext uri="{FF2B5EF4-FFF2-40B4-BE49-F238E27FC236}">
                    <a16:creationId xmlns:a16="http://schemas.microsoft.com/office/drawing/2014/main" id="{D56B1D9B-6600-24E4-0281-06FE704BA109}"/>
                  </a:ext>
                </a:extLst>
              </p:cNvPr>
              <p:cNvGraphicFramePr>
                <a:graphicFrameLocks noChangeAspect="1"/>
              </p:cNvGraphicFramePr>
              <p:nvPr>
                <p:extLst>
                  <p:ext uri="{D42A27DB-BD31-4B8C-83A1-F6EECF244321}">
                    <p14:modId xmlns:p14="http://schemas.microsoft.com/office/powerpoint/2010/main" val="567243043"/>
                  </p:ext>
                </p:extLst>
              </p:nvPr>
            </p:nvGraphicFramePr>
            <p:xfrm>
              <a:off x="1595" y="2708"/>
              <a:ext cx="221" cy="271"/>
            </p:xfrm>
            <a:graphic>
              <a:graphicData uri="http://schemas.openxmlformats.org/presentationml/2006/ole">
                <mc:AlternateContent xmlns:mc="http://schemas.openxmlformats.org/markup-compatibility/2006">
                  <mc:Choice xmlns:v="urn:schemas-microsoft-com:vml" Requires="v">
                    <p:oleObj name="Equation" r:id="rId21" imgW="177480" imgH="228600" progId="Equation.DSMT4">
                      <p:embed/>
                    </p:oleObj>
                  </mc:Choice>
                  <mc:Fallback>
                    <p:oleObj name="Equation" r:id="rId21" imgW="177480" imgH="228600" progId="Equation.DSMT4">
                      <p:embed/>
                      <p:pic>
                        <p:nvPicPr>
                          <p:cNvPr id="239" name="Object 66">
                            <a:extLst>
                              <a:ext uri="{FF2B5EF4-FFF2-40B4-BE49-F238E27FC236}">
                                <a16:creationId xmlns:a16="http://schemas.microsoft.com/office/drawing/2014/main" id="{D56B1D9B-6600-24E4-0281-06FE704BA109}"/>
                              </a:ext>
                            </a:extLst>
                          </p:cNvPr>
                          <p:cNvPicPr>
                            <a:picLocks noChangeAspect="1" noChangeArrowheads="1"/>
                          </p:cNvPicPr>
                          <p:nvPr/>
                        </p:nvPicPr>
                        <p:blipFill>
                          <a:blip r:embed="rId22"/>
                          <a:srcRect/>
                          <a:stretch>
                            <a:fillRect/>
                          </a:stretch>
                        </p:blipFill>
                        <p:spPr bwMode="auto">
                          <a:xfrm>
                            <a:off x="1595" y="2708"/>
                            <a:ext cx="221" cy="271"/>
                          </a:xfrm>
                          <a:prstGeom prst="rect">
                            <a:avLst/>
                          </a:prstGeom>
                          <a:noFill/>
                          <a:ln>
                            <a:noFill/>
                          </a:ln>
                        </p:spPr>
                      </p:pic>
                    </p:oleObj>
                  </mc:Fallback>
                </mc:AlternateContent>
              </a:graphicData>
            </a:graphic>
          </p:graphicFrame>
        </p:grpSp>
      </p:grpSp>
      <p:sp>
        <p:nvSpPr>
          <p:cNvPr id="267" name="矩形 266">
            <a:extLst>
              <a:ext uri="{FF2B5EF4-FFF2-40B4-BE49-F238E27FC236}">
                <a16:creationId xmlns:a16="http://schemas.microsoft.com/office/drawing/2014/main" id="{37A89BE5-2C9E-DBB2-59EC-12AD50879DAE}"/>
              </a:ext>
            </a:extLst>
          </p:cNvPr>
          <p:cNvSpPr/>
          <p:nvPr/>
        </p:nvSpPr>
        <p:spPr>
          <a:xfrm>
            <a:off x="551383" y="4857331"/>
            <a:ext cx="6585628" cy="493148"/>
          </a:xfrm>
          <a:prstGeom prst="rect">
            <a:avLst/>
          </a:prstGeom>
        </p:spPr>
        <p:txBody>
          <a:bodyPr wrap="square">
            <a:spAutoFit/>
          </a:bodyPr>
          <a:lstStyle/>
          <a:p>
            <a:pPr algn="just" eaLnBrk="1" hangingPunct="1">
              <a:lnSpc>
                <a:spcPct val="120000"/>
              </a:lnSpc>
            </a:pPr>
            <a:r>
              <a:rPr lang="zh-CN" altLang="en-US" i="0" dirty="0">
                <a:solidFill>
                  <a:schemeClr val="tx1"/>
                </a:solidFill>
                <a:latin typeface="+mn-lt"/>
                <a:ea typeface="黑体" panose="02010609060101010101" pitchFamily="49" charset="-122"/>
              </a:rPr>
              <a:t>     节点</a:t>
            </a:r>
            <a:r>
              <a:rPr lang="en-US" altLang="zh-CN" b="0" dirty="0">
                <a:solidFill>
                  <a:schemeClr val="tx1"/>
                </a:solidFill>
                <a:latin typeface="+mn-lt"/>
                <a:ea typeface="+mj-ea"/>
              </a:rPr>
              <a:t>A</a:t>
            </a:r>
            <a:r>
              <a:rPr lang="zh-CN" altLang="en-US" i="0" dirty="0">
                <a:solidFill>
                  <a:schemeClr val="tx1"/>
                </a:solidFill>
                <a:latin typeface="+mn-lt"/>
                <a:ea typeface="黑体" panose="02010609060101010101" pitchFamily="49" charset="-122"/>
              </a:rPr>
              <a:t>的总位移</a:t>
            </a:r>
          </a:p>
        </p:txBody>
      </p:sp>
      <p:graphicFrame>
        <p:nvGraphicFramePr>
          <p:cNvPr id="268" name="Object 31">
            <a:extLst>
              <a:ext uri="{FF2B5EF4-FFF2-40B4-BE49-F238E27FC236}">
                <a16:creationId xmlns:a16="http://schemas.microsoft.com/office/drawing/2014/main" id="{D7CCC91B-31C9-363F-06A3-4211EDC1564A}"/>
              </a:ext>
            </a:extLst>
          </p:cNvPr>
          <p:cNvGraphicFramePr>
            <a:graphicFrameLocks/>
          </p:cNvGraphicFramePr>
          <p:nvPr>
            <p:extLst>
              <p:ext uri="{D42A27DB-BD31-4B8C-83A1-F6EECF244321}">
                <p14:modId xmlns:p14="http://schemas.microsoft.com/office/powerpoint/2010/main" val="1588757249"/>
              </p:ext>
            </p:extLst>
          </p:nvPr>
        </p:nvGraphicFramePr>
        <p:xfrm>
          <a:off x="1033263" y="5580063"/>
          <a:ext cx="3128963" cy="609600"/>
        </p:xfrm>
        <a:graphic>
          <a:graphicData uri="http://schemas.openxmlformats.org/presentationml/2006/ole">
            <mc:AlternateContent xmlns:mc="http://schemas.openxmlformats.org/markup-compatibility/2006">
              <mc:Choice xmlns:v="urn:schemas-microsoft-com:vml" Requires="v">
                <p:oleObj name="Equation" r:id="rId23" imgW="1562040" imgH="304560" progId="Equation.DSMT4">
                  <p:embed/>
                </p:oleObj>
              </mc:Choice>
              <mc:Fallback>
                <p:oleObj name="Equation" r:id="rId23" imgW="1562040" imgH="304560" progId="Equation.DSMT4">
                  <p:embed/>
                  <p:pic>
                    <p:nvPicPr>
                      <p:cNvPr id="268" name="Object 31">
                        <a:extLst>
                          <a:ext uri="{FF2B5EF4-FFF2-40B4-BE49-F238E27FC236}">
                            <a16:creationId xmlns:a16="http://schemas.microsoft.com/office/drawing/2014/main" id="{D7CCC91B-31C9-363F-06A3-4211EDC1564A}"/>
                          </a:ext>
                        </a:extLst>
                      </p:cNvPr>
                      <p:cNvPicPr>
                        <a:picLocks noChangeArrowheads="1"/>
                      </p:cNvPicPr>
                      <p:nvPr/>
                    </p:nvPicPr>
                    <p:blipFill>
                      <a:blip r:embed="rId24"/>
                      <a:srcRect/>
                      <a:stretch>
                        <a:fillRect/>
                      </a:stretch>
                    </p:blipFill>
                    <p:spPr bwMode="auto">
                      <a:xfrm>
                        <a:off x="1033263" y="5580063"/>
                        <a:ext cx="3128963" cy="609600"/>
                      </a:xfrm>
                      <a:prstGeom prst="rect">
                        <a:avLst/>
                      </a:prstGeom>
                      <a:noFill/>
                      <a:ln>
                        <a:noFill/>
                      </a:ln>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832850398"/>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21" presetClass="entr" presetSubtype="1" fill="hold" grpId="0" nodeType="withEffect">
                                  <p:stCondLst>
                                    <p:cond delay="0"/>
                                  </p:stCondLst>
                                  <p:childTnLst>
                                    <p:set>
                                      <p:cBhvr>
                                        <p:cTn id="8" dur="1" fill="hold">
                                          <p:stCondLst>
                                            <p:cond delay="0"/>
                                          </p:stCondLst>
                                        </p:cTn>
                                        <p:tgtEl>
                                          <p:spTgt spid="241"/>
                                        </p:tgtEl>
                                        <p:attrNameLst>
                                          <p:attrName>style.visibility</p:attrName>
                                        </p:attrNameLst>
                                      </p:cBhvr>
                                      <p:to>
                                        <p:strVal val="visible"/>
                                      </p:to>
                                    </p:set>
                                    <p:animEffect transition="in" filter="wheel(1)">
                                      <p:cBhvr>
                                        <p:cTn id="9" dur="2000"/>
                                        <p:tgtEl>
                                          <p:spTgt spid="241"/>
                                        </p:tgtEl>
                                      </p:cBhvr>
                                    </p:animEffect>
                                  </p:childTnLst>
                                </p:cTn>
                              </p:par>
                            </p:childTnLst>
                          </p:cTn>
                        </p:par>
                        <p:par>
                          <p:cTn id="10" fill="hold">
                            <p:stCondLst>
                              <p:cond delay="2000"/>
                            </p:stCondLst>
                            <p:childTnLst>
                              <p:par>
                                <p:cTn id="11" presetID="22" presetClass="entr" presetSubtype="4" fill="hold" nodeType="afterEffect">
                                  <p:stCondLst>
                                    <p:cond delay="0"/>
                                  </p:stCondLst>
                                  <p:childTnLst>
                                    <p:set>
                                      <p:cBhvr>
                                        <p:cTn id="12" dur="1" fill="hold">
                                          <p:stCondLst>
                                            <p:cond delay="0"/>
                                          </p:stCondLst>
                                        </p:cTn>
                                        <p:tgtEl>
                                          <p:spTgt spid="242"/>
                                        </p:tgtEl>
                                        <p:attrNameLst>
                                          <p:attrName>style.visibility</p:attrName>
                                        </p:attrNameLst>
                                      </p:cBhvr>
                                      <p:to>
                                        <p:strVal val="visible"/>
                                      </p:to>
                                    </p:set>
                                    <p:animEffect transition="in" filter="wipe(down)">
                                      <p:cBhvr>
                                        <p:cTn id="13" dur="2000"/>
                                        <p:tgtEl>
                                          <p:spTgt spid="242"/>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blinds(horizontal)">
                                      <p:cBhvr>
                                        <p:cTn id="18" dur="500"/>
                                        <p:tgtEl>
                                          <p:spTgt spid="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32" fill="hold" nodeType="clickEffect">
                                  <p:stCondLst>
                                    <p:cond delay="0"/>
                                  </p:stCondLst>
                                  <p:childTnLst>
                                    <p:set>
                                      <p:cBhvr>
                                        <p:cTn id="22" dur="1" fill="hold">
                                          <p:stCondLst>
                                            <p:cond delay="0"/>
                                          </p:stCondLst>
                                        </p:cTn>
                                        <p:tgtEl>
                                          <p:spTgt spid="262"/>
                                        </p:tgtEl>
                                        <p:attrNameLst>
                                          <p:attrName>style.visibility</p:attrName>
                                        </p:attrNameLst>
                                      </p:cBhvr>
                                      <p:to>
                                        <p:strVal val="visible"/>
                                      </p:to>
                                    </p:set>
                                    <p:animEffect transition="in" filter="box(out)">
                                      <p:cBhvr>
                                        <p:cTn id="23" dur="500"/>
                                        <p:tgtEl>
                                          <p:spTgt spid="262"/>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267"/>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4" presetClass="entr" presetSubtype="32" fill="hold" nodeType="clickEffect">
                                  <p:stCondLst>
                                    <p:cond delay="0"/>
                                  </p:stCondLst>
                                  <p:childTnLst>
                                    <p:set>
                                      <p:cBhvr>
                                        <p:cTn id="31" dur="1" fill="hold">
                                          <p:stCondLst>
                                            <p:cond delay="0"/>
                                          </p:stCondLst>
                                        </p:cTn>
                                        <p:tgtEl>
                                          <p:spTgt spid="268"/>
                                        </p:tgtEl>
                                        <p:attrNameLst>
                                          <p:attrName>style.visibility</p:attrName>
                                        </p:attrNameLst>
                                      </p:cBhvr>
                                      <p:to>
                                        <p:strVal val="visible"/>
                                      </p:to>
                                    </p:set>
                                    <p:animEffect transition="in" filter="box(out)">
                                      <p:cBhvr>
                                        <p:cTn id="32" dur="500"/>
                                        <p:tgtEl>
                                          <p:spTgt spid="2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41" grpId="0"/>
      <p:bldP spid="267"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711605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第八章   拉压、剪切与挤压的强度计算</a:t>
            </a:r>
          </a:p>
        </p:txBody>
      </p:sp>
      <p:sp>
        <p:nvSpPr>
          <p:cNvPr id="5" name="Rectangle 2"/>
          <p:cNvSpPr>
            <a:spLocks noChangeArrowheads="1"/>
          </p:cNvSpPr>
          <p:nvPr/>
        </p:nvSpPr>
        <p:spPr bwMode="auto">
          <a:xfrm>
            <a:off x="164442" y="928670"/>
            <a:ext cx="9747982"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3000" i="0" dirty="0">
                <a:solidFill>
                  <a:schemeClr val="accent6">
                    <a:lumMod val="75000"/>
                  </a:schemeClr>
                </a:solidFill>
                <a:latin typeface="+mn-lt"/>
                <a:ea typeface="微软雅黑" panose="020B0503020204020204" pitchFamily="34" charset="-122"/>
              </a:rPr>
              <a:t>§8-3  </a:t>
            </a:r>
            <a:r>
              <a:rPr lang="zh-CN" altLang="en-US" sz="3000" i="0" dirty="0">
                <a:solidFill>
                  <a:schemeClr val="accent6">
                    <a:lumMod val="75000"/>
                  </a:schemeClr>
                </a:solidFill>
                <a:latin typeface="+mn-lt"/>
                <a:ea typeface="微软雅黑" panose="020B0503020204020204" pitchFamily="34" charset="-122"/>
              </a:rPr>
              <a:t>材料在拉压时的力学性能</a:t>
            </a:r>
          </a:p>
        </p:txBody>
      </p:sp>
      <p:sp>
        <p:nvSpPr>
          <p:cNvPr id="53" name="Text Box 1032"/>
          <p:cNvSpPr txBox="1">
            <a:spLocks noChangeArrowheads="1"/>
          </p:cNvSpPr>
          <p:nvPr/>
        </p:nvSpPr>
        <p:spPr bwMode="auto">
          <a:xfrm>
            <a:off x="335361" y="1482668"/>
            <a:ext cx="11233247" cy="21165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pPr>
            <a:r>
              <a:rPr lang="zh-CN" altLang="en-US" sz="2800" i="0" dirty="0">
                <a:latin typeface="+mj-lt"/>
                <a:ea typeface="微软雅黑" panose="020B0503020204020204" pitchFamily="34" charset="-122"/>
              </a:rPr>
              <a:t>材料的力学性能是指材料在外力作用下其</a:t>
            </a:r>
            <a:r>
              <a:rPr lang="zh-CN" altLang="en-US" sz="2800" i="0" dirty="0">
                <a:solidFill>
                  <a:srgbClr val="FF0000"/>
                </a:solidFill>
                <a:latin typeface="+mj-lt"/>
                <a:ea typeface="微软雅黑" panose="020B0503020204020204" pitchFamily="34" charset="-122"/>
              </a:rPr>
              <a:t>强度</a:t>
            </a:r>
            <a:r>
              <a:rPr lang="zh-CN" altLang="en-US" sz="2800" i="0" dirty="0">
                <a:latin typeface="+mj-lt"/>
                <a:ea typeface="微软雅黑" panose="020B0503020204020204" pitchFamily="34" charset="-122"/>
              </a:rPr>
              <a:t>和</a:t>
            </a:r>
            <a:r>
              <a:rPr lang="zh-CN" altLang="en-US" sz="2800" i="0" dirty="0">
                <a:solidFill>
                  <a:srgbClr val="FF0000"/>
                </a:solidFill>
                <a:latin typeface="+mj-lt"/>
                <a:ea typeface="微软雅黑" panose="020B0503020204020204" pitchFamily="34" charset="-122"/>
              </a:rPr>
              <a:t>变形</a:t>
            </a:r>
            <a:r>
              <a:rPr lang="zh-CN" altLang="en-US" sz="2800" i="0" dirty="0">
                <a:latin typeface="+mj-lt"/>
                <a:ea typeface="微软雅黑" panose="020B0503020204020204" pitchFamily="34" charset="-122"/>
              </a:rPr>
              <a:t>性能。它是强度计算和选用材料的重要依据，一般由试验来确定。本节只讨论在室温和静载条件下材料的力学性能。静载是指从零开始缓慢地增加到一定数值后不再改变的载荷。 </a:t>
            </a:r>
          </a:p>
        </p:txBody>
      </p:sp>
    </p:spTree>
    <p:extLst>
      <p:ext uri="{BB962C8B-B14F-4D97-AF65-F5344CB8AC3E}">
        <p14:creationId xmlns:p14="http://schemas.microsoft.com/office/powerpoint/2010/main" val="158011194"/>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711605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第八章   拉压、剪切与挤压的强度计算</a:t>
            </a:r>
          </a:p>
        </p:txBody>
      </p:sp>
      <p:sp>
        <p:nvSpPr>
          <p:cNvPr id="9" name="Rectangle 61"/>
          <p:cNvSpPr>
            <a:spLocks noChangeArrowheads="1"/>
          </p:cNvSpPr>
          <p:nvPr/>
        </p:nvSpPr>
        <p:spPr bwMode="auto">
          <a:xfrm>
            <a:off x="6384031" y="1476303"/>
            <a:ext cx="5411815" cy="4752528"/>
          </a:xfrm>
          <a:prstGeom prst="rect">
            <a:avLst/>
          </a:prstGeom>
          <a:solidFill>
            <a:srgbClr val="B9CDE5"/>
          </a:solidFill>
          <a:ln>
            <a:noFill/>
          </a:ln>
          <a:effectLst/>
        </p:spPr>
        <p:txBody>
          <a:bodyPr wrap="none" anchor="ctr"/>
          <a:lstStyle/>
          <a:p>
            <a:endParaRPr lang="zh-CN" altLang="en-US"/>
          </a:p>
        </p:txBody>
      </p:sp>
      <p:sp>
        <p:nvSpPr>
          <p:cNvPr id="53" name="Text Box 1032"/>
          <p:cNvSpPr txBox="1">
            <a:spLocks noChangeArrowheads="1"/>
          </p:cNvSpPr>
          <p:nvPr/>
        </p:nvSpPr>
        <p:spPr bwMode="auto">
          <a:xfrm>
            <a:off x="263352" y="1760167"/>
            <a:ext cx="5976664" cy="418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pPr>
            <a:r>
              <a:rPr kumimoji="1" lang="zh-CN" altLang="en-US" sz="2800" i="0" dirty="0">
                <a:latin typeface="+mn-lt"/>
                <a:ea typeface="微软雅黑" panose="020B0503020204020204" pitchFamily="34" charset="-122"/>
              </a:rPr>
              <a:t>拉伸实验试件必须按照国家标准加工成标准试件。圆截面的拉伸标准试件如图。试件的中间等直杆部分为实验段，其长度</a:t>
            </a:r>
            <a:r>
              <a:rPr kumimoji="1" lang="en-US" altLang="zh-CN" sz="2800" dirty="0">
                <a:latin typeface="+mn-lt"/>
                <a:ea typeface="微软雅黑" panose="020B0503020204020204" pitchFamily="34" charset="-122"/>
              </a:rPr>
              <a:t>l</a:t>
            </a:r>
            <a:r>
              <a:rPr kumimoji="1" lang="zh-CN" altLang="en-US" sz="2800" i="0" dirty="0">
                <a:latin typeface="+mn-lt"/>
                <a:ea typeface="微软雅黑" panose="020B0503020204020204" pitchFamily="34" charset="-122"/>
              </a:rPr>
              <a:t>称为标距，试件较粗的两端是装夹部分。标距</a:t>
            </a:r>
            <a:r>
              <a:rPr kumimoji="1" lang="en-US" altLang="zh-CN" sz="2800" b="0" dirty="0">
                <a:latin typeface="+mn-lt"/>
                <a:ea typeface="微软雅黑" panose="020B0503020204020204" pitchFamily="34" charset="-122"/>
              </a:rPr>
              <a:t>l </a:t>
            </a:r>
            <a:r>
              <a:rPr kumimoji="1" lang="zh-CN" altLang="en-US" sz="2800" i="0" dirty="0">
                <a:latin typeface="+mn-lt"/>
                <a:ea typeface="微软雅黑" panose="020B0503020204020204" pitchFamily="34" charset="-122"/>
              </a:rPr>
              <a:t>与直径</a:t>
            </a:r>
            <a:r>
              <a:rPr kumimoji="1" lang="en-US" altLang="zh-CN" sz="2800" b="0" dirty="0">
                <a:latin typeface="+mn-lt"/>
                <a:ea typeface="微软雅黑" panose="020B0503020204020204" pitchFamily="34" charset="-122"/>
              </a:rPr>
              <a:t>d </a:t>
            </a:r>
            <a:r>
              <a:rPr kumimoji="1" lang="zh-CN" altLang="en-US" sz="2800" i="0" dirty="0">
                <a:latin typeface="+mn-lt"/>
                <a:ea typeface="微软雅黑" panose="020B0503020204020204" pitchFamily="34" charset="-122"/>
              </a:rPr>
              <a:t>之比有</a:t>
            </a:r>
            <a:r>
              <a:rPr kumimoji="1" lang="en-US" altLang="zh-CN" sz="2800" b="0" dirty="0">
                <a:latin typeface="+mn-lt"/>
                <a:ea typeface="微软雅黑" panose="020B0503020204020204" pitchFamily="34" charset="-122"/>
              </a:rPr>
              <a:t>l</a:t>
            </a:r>
            <a:r>
              <a:rPr kumimoji="1" lang="en-US" altLang="zh-CN" sz="2800" b="0" i="0" dirty="0">
                <a:latin typeface="+mn-lt"/>
                <a:ea typeface="微软雅黑" panose="020B0503020204020204" pitchFamily="34" charset="-122"/>
              </a:rPr>
              <a:t>=10</a:t>
            </a:r>
            <a:r>
              <a:rPr kumimoji="1" lang="en-US" altLang="zh-CN" sz="2800" b="0" dirty="0">
                <a:latin typeface="+mn-lt"/>
                <a:ea typeface="微软雅黑" panose="020B0503020204020204" pitchFamily="34" charset="-122"/>
              </a:rPr>
              <a:t>d </a:t>
            </a:r>
            <a:r>
              <a:rPr kumimoji="1" lang="zh-CN" altLang="en-US" sz="2800" i="0" dirty="0">
                <a:latin typeface="+mn-lt"/>
                <a:ea typeface="微软雅黑" panose="020B0503020204020204" pitchFamily="34" charset="-122"/>
              </a:rPr>
              <a:t>和</a:t>
            </a:r>
            <a:r>
              <a:rPr kumimoji="1" lang="en-US" altLang="zh-CN" sz="2800" b="0" dirty="0">
                <a:latin typeface="+mn-lt"/>
                <a:ea typeface="微软雅黑" panose="020B0503020204020204" pitchFamily="34" charset="-122"/>
              </a:rPr>
              <a:t>l</a:t>
            </a:r>
            <a:r>
              <a:rPr kumimoji="1" lang="en-US" altLang="zh-CN" sz="2800" b="0" i="0" dirty="0">
                <a:latin typeface="+mn-lt"/>
                <a:ea typeface="微软雅黑" panose="020B0503020204020204" pitchFamily="34" charset="-122"/>
              </a:rPr>
              <a:t>=5</a:t>
            </a:r>
            <a:r>
              <a:rPr kumimoji="1" lang="en-US" altLang="zh-CN" sz="2800" b="0" dirty="0">
                <a:latin typeface="+mn-lt"/>
                <a:ea typeface="微软雅黑" panose="020B0503020204020204" pitchFamily="34" charset="-122"/>
              </a:rPr>
              <a:t>d </a:t>
            </a:r>
            <a:r>
              <a:rPr kumimoji="1" lang="zh-CN" altLang="en-US" sz="2800" i="0" dirty="0">
                <a:latin typeface="+mn-lt"/>
                <a:ea typeface="微软雅黑" panose="020B0503020204020204" pitchFamily="34" charset="-122"/>
              </a:rPr>
              <a:t>两种。而对矩形截面试件，标距</a:t>
            </a:r>
            <a:r>
              <a:rPr kumimoji="1" lang="en-US" altLang="zh-CN" sz="2800" b="0" dirty="0">
                <a:latin typeface="+mn-lt"/>
                <a:ea typeface="微软雅黑" panose="020B0503020204020204" pitchFamily="34" charset="-122"/>
              </a:rPr>
              <a:t>l </a:t>
            </a:r>
            <a:r>
              <a:rPr kumimoji="1" lang="zh-CN" altLang="en-US" sz="2800" i="0" dirty="0">
                <a:latin typeface="+mn-lt"/>
                <a:ea typeface="微软雅黑" panose="020B0503020204020204" pitchFamily="34" charset="-122"/>
              </a:rPr>
              <a:t>与横截面面积</a:t>
            </a:r>
            <a:r>
              <a:rPr kumimoji="1" lang="en-US" altLang="zh-CN" sz="2800" b="0" dirty="0">
                <a:latin typeface="+mn-lt"/>
                <a:ea typeface="微软雅黑" panose="020B0503020204020204" pitchFamily="34" charset="-122"/>
              </a:rPr>
              <a:t>A</a:t>
            </a:r>
            <a:r>
              <a:rPr kumimoji="1" lang="zh-CN" altLang="en-US" sz="2800" i="0" dirty="0">
                <a:latin typeface="+mn-lt"/>
                <a:ea typeface="微软雅黑" panose="020B0503020204020204" pitchFamily="34" charset="-122"/>
              </a:rPr>
              <a:t>之间的关系规定为  </a:t>
            </a:r>
            <a:r>
              <a:rPr kumimoji="1" lang="zh-CN" altLang="en-US" sz="2800" i="0" baseline="-25000" dirty="0">
                <a:latin typeface="+mn-lt"/>
                <a:ea typeface="微软雅黑" panose="020B0503020204020204" pitchFamily="34" charset="-122"/>
              </a:rPr>
              <a:t>                           </a:t>
            </a:r>
            <a:r>
              <a:rPr kumimoji="1" lang="zh-CN" altLang="en-US" sz="2800" i="0" dirty="0">
                <a:latin typeface="+mn-lt"/>
                <a:ea typeface="微软雅黑" panose="020B0503020204020204" pitchFamily="34" charset="-122"/>
              </a:rPr>
              <a:t>或                    。 </a:t>
            </a:r>
          </a:p>
        </p:txBody>
      </p:sp>
      <p:sp>
        <p:nvSpPr>
          <p:cNvPr id="6" name="Text Box 1032">
            <a:extLst>
              <a:ext uri="{FF2B5EF4-FFF2-40B4-BE49-F238E27FC236}">
                <a16:creationId xmlns:a16="http://schemas.microsoft.com/office/drawing/2014/main" id="{510A5D0A-D2CA-9ADE-415E-646C0368B4A4}"/>
              </a:ext>
            </a:extLst>
          </p:cNvPr>
          <p:cNvSpPr txBox="1">
            <a:spLocks noChangeArrowheads="1"/>
          </p:cNvSpPr>
          <p:nvPr/>
        </p:nvSpPr>
        <p:spPr bwMode="auto">
          <a:xfrm>
            <a:off x="6816079" y="1505170"/>
            <a:ext cx="4653019"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i="0" dirty="0"/>
              <a:t>GB/T 228.1-2010</a:t>
            </a:r>
            <a:r>
              <a:rPr lang="zh-CN" altLang="zh-CN" i="0" dirty="0"/>
              <a:t>《金属材料拉伸试验 第</a:t>
            </a:r>
            <a:r>
              <a:rPr lang="en-US" altLang="zh-CN" i="0" dirty="0"/>
              <a:t>1</a:t>
            </a:r>
            <a:r>
              <a:rPr lang="zh-CN" altLang="zh-CN" i="0" dirty="0"/>
              <a:t>部分：室温试验方法》</a:t>
            </a:r>
            <a:endParaRPr lang="zh-CN" altLang="en-US" i="0" dirty="0">
              <a:latin typeface="Arial" pitchFamily="34" charset="0"/>
            </a:endParaRPr>
          </a:p>
        </p:txBody>
      </p:sp>
      <p:sp>
        <p:nvSpPr>
          <p:cNvPr id="2" name="矩形 1">
            <a:extLst>
              <a:ext uri="{FF2B5EF4-FFF2-40B4-BE49-F238E27FC236}">
                <a16:creationId xmlns:a16="http://schemas.microsoft.com/office/drawing/2014/main" id="{8A892F5C-7536-F031-6CD4-1C9902B467DE}"/>
              </a:ext>
            </a:extLst>
          </p:cNvPr>
          <p:cNvSpPr/>
          <p:nvPr/>
        </p:nvSpPr>
        <p:spPr>
          <a:xfrm>
            <a:off x="3909082" y="876972"/>
            <a:ext cx="4915128" cy="599331"/>
          </a:xfrm>
          <a:prstGeom prst="rect">
            <a:avLst/>
          </a:prstGeom>
        </p:spPr>
        <p:txBody>
          <a:bodyPr wrap="none">
            <a:spAutoFit/>
          </a:bodyPr>
          <a:lstStyle/>
          <a:p>
            <a:pPr>
              <a:lnSpc>
                <a:spcPct val="120000"/>
              </a:lnSpc>
            </a:pPr>
            <a:r>
              <a:rPr lang="zh-CN" altLang="en-US" sz="3000" i="0" dirty="0">
                <a:solidFill>
                  <a:srgbClr val="4F81BD"/>
                </a:solidFill>
                <a:latin typeface="微软雅黑" panose="020B0503020204020204" pitchFamily="34" charset="-122"/>
                <a:ea typeface="微软雅黑" panose="020B0503020204020204" pitchFamily="34" charset="-122"/>
              </a:rPr>
              <a:t>拉伸实验和应力一应变曲线 </a:t>
            </a:r>
          </a:p>
        </p:txBody>
      </p:sp>
      <p:graphicFrame>
        <p:nvGraphicFramePr>
          <p:cNvPr id="3" name="Object 21">
            <a:extLst>
              <a:ext uri="{FF2B5EF4-FFF2-40B4-BE49-F238E27FC236}">
                <a16:creationId xmlns:a16="http://schemas.microsoft.com/office/drawing/2014/main" id="{99E17F98-B8E0-21E5-B693-5122807FF740}"/>
              </a:ext>
            </a:extLst>
          </p:cNvPr>
          <p:cNvGraphicFramePr>
            <a:graphicFrameLocks noChangeAspect="1"/>
          </p:cNvGraphicFramePr>
          <p:nvPr>
            <p:extLst>
              <p:ext uri="{D42A27DB-BD31-4B8C-83A1-F6EECF244321}">
                <p14:modId xmlns:p14="http://schemas.microsoft.com/office/powerpoint/2010/main" val="2247708722"/>
              </p:ext>
            </p:extLst>
          </p:nvPr>
        </p:nvGraphicFramePr>
        <p:xfrm>
          <a:off x="1487488" y="5362683"/>
          <a:ext cx="1656184" cy="508333"/>
        </p:xfrm>
        <a:graphic>
          <a:graphicData uri="http://schemas.openxmlformats.org/presentationml/2006/ole">
            <mc:AlternateContent xmlns:mc="http://schemas.openxmlformats.org/markup-compatibility/2006">
              <mc:Choice xmlns:v="urn:schemas-microsoft-com:vml" Requires="v">
                <p:oleObj name="Equation" r:id="rId4" imgW="711000" imgH="215640" progId="Equation.DSMT4">
                  <p:embed/>
                </p:oleObj>
              </mc:Choice>
              <mc:Fallback>
                <p:oleObj name="Equation" r:id="rId4" imgW="711000" imgH="215640" progId="Equation.DSMT4">
                  <p:embed/>
                  <p:pic>
                    <p:nvPicPr>
                      <p:cNvPr id="3" name="Object 21">
                        <a:extLst>
                          <a:ext uri="{FF2B5EF4-FFF2-40B4-BE49-F238E27FC236}">
                            <a16:creationId xmlns:a16="http://schemas.microsoft.com/office/drawing/2014/main" id="{99E17F98-B8E0-21E5-B693-5122807FF740}"/>
                          </a:ext>
                        </a:extLst>
                      </p:cNvPr>
                      <p:cNvPicPr>
                        <a:picLocks noChangeAspect="1" noChangeArrowheads="1"/>
                      </p:cNvPicPr>
                      <p:nvPr/>
                    </p:nvPicPr>
                    <p:blipFill>
                      <a:blip r:embed="rId5"/>
                      <a:srcRect/>
                      <a:stretch>
                        <a:fillRect/>
                      </a:stretch>
                    </p:blipFill>
                    <p:spPr bwMode="auto">
                      <a:xfrm>
                        <a:off x="1487488" y="5362683"/>
                        <a:ext cx="1656184" cy="508333"/>
                      </a:xfrm>
                      <a:prstGeom prst="rect">
                        <a:avLst/>
                      </a:prstGeom>
                      <a:noFill/>
                      <a:ln>
                        <a:noFill/>
                      </a:ln>
                      <a:effectLst/>
                    </p:spPr>
                  </p:pic>
                </p:oleObj>
              </mc:Fallback>
            </mc:AlternateContent>
          </a:graphicData>
        </a:graphic>
      </p:graphicFrame>
      <p:graphicFrame>
        <p:nvGraphicFramePr>
          <p:cNvPr id="8" name="Object 21">
            <a:extLst>
              <a:ext uri="{FF2B5EF4-FFF2-40B4-BE49-F238E27FC236}">
                <a16:creationId xmlns:a16="http://schemas.microsoft.com/office/drawing/2014/main" id="{7E30760B-CF70-889D-DC9C-B9BA3182078E}"/>
              </a:ext>
            </a:extLst>
          </p:cNvPr>
          <p:cNvGraphicFramePr>
            <a:graphicFrameLocks noChangeAspect="1"/>
          </p:cNvGraphicFramePr>
          <p:nvPr>
            <p:extLst>
              <p:ext uri="{D42A27DB-BD31-4B8C-83A1-F6EECF244321}">
                <p14:modId xmlns:p14="http://schemas.microsoft.com/office/powerpoint/2010/main" val="2423637279"/>
              </p:ext>
            </p:extLst>
          </p:nvPr>
        </p:nvGraphicFramePr>
        <p:xfrm>
          <a:off x="3635375" y="5362262"/>
          <a:ext cx="1687513" cy="508000"/>
        </p:xfrm>
        <a:graphic>
          <a:graphicData uri="http://schemas.openxmlformats.org/presentationml/2006/ole">
            <mc:AlternateContent xmlns:mc="http://schemas.openxmlformats.org/markup-compatibility/2006">
              <mc:Choice xmlns:v="urn:schemas-microsoft-com:vml" Requires="v">
                <p:oleObj name="Equation" r:id="rId6" imgW="723600" imgH="215640" progId="Equation.DSMT4">
                  <p:embed/>
                </p:oleObj>
              </mc:Choice>
              <mc:Fallback>
                <p:oleObj name="Equation" r:id="rId6" imgW="723600" imgH="215640" progId="Equation.DSMT4">
                  <p:embed/>
                  <p:pic>
                    <p:nvPicPr>
                      <p:cNvPr id="8" name="Object 21">
                        <a:extLst>
                          <a:ext uri="{FF2B5EF4-FFF2-40B4-BE49-F238E27FC236}">
                            <a16:creationId xmlns:a16="http://schemas.microsoft.com/office/drawing/2014/main" id="{7E30760B-CF70-889D-DC9C-B9BA3182078E}"/>
                          </a:ext>
                        </a:extLst>
                      </p:cNvPr>
                      <p:cNvPicPr>
                        <a:picLocks noChangeAspect="1" noChangeArrowheads="1"/>
                      </p:cNvPicPr>
                      <p:nvPr/>
                    </p:nvPicPr>
                    <p:blipFill>
                      <a:blip r:embed="rId7"/>
                      <a:srcRect/>
                      <a:stretch>
                        <a:fillRect/>
                      </a:stretch>
                    </p:blipFill>
                    <p:spPr bwMode="auto">
                      <a:xfrm>
                        <a:off x="3635375" y="5362262"/>
                        <a:ext cx="1687513" cy="508000"/>
                      </a:xfrm>
                      <a:prstGeom prst="rect">
                        <a:avLst/>
                      </a:prstGeom>
                      <a:noFill/>
                      <a:ln>
                        <a:noFill/>
                      </a:ln>
                      <a:effectLst/>
                    </p:spPr>
                  </p:pic>
                </p:oleObj>
              </mc:Fallback>
            </mc:AlternateContent>
          </a:graphicData>
        </a:graphic>
      </p:graphicFrame>
      <p:grpSp>
        <p:nvGrpSpPr>
          <p:cNvPr id="10" name="Group 3">
            <a:extLst>
              <a:ext uri="{FF2B5EF4-FFF2-40B4-BE49-F238E27FC236}">
                <a16:creationId xmlns:a16="http://schemas.microsoft.com/office/drawing/2014/main" id="{F93B8B4E-665A-60BA-5048-7B435AE3E127}"/>
              </a:ext>
            </a:extLst>
          </p:cNvPr>
          <p:cNvGrpSpPr>
            <a:grpSpLocks/>
          </p:cNvGrpSpPr>
          <p:nvPr/>
        </p:nvGrpSpPr>
        <p:grpSpPr bwMode="auto">
          <a:xfrm>
            <a:off x="6873957" y="2204864"/>
            <a:ext cx="4392613" cy="1892300"/>
            <a:chOff x="2729" y="2242"/>
            <a:chExt cx="2767" cy="1192"/>
          </a:xfrm>
        </p:grpSpPr>
        <p:sp>
          <p:nvSpPr>
            <p:cNvPr id="11" name="Freeform 4">
              <a:extLst>
                <a:ext uri="{FF2B5EF4-FFF2-40B4-BE49-F238E27FC236}">
                  <a16:creationId xmlns:a16="http://schemas.microsoft.com/office/drawing/2014/main" id="{73F90001-2512-E2D8-8B27-B9EA307EAD8E}"/>
                </a:ext>
              </a:extLst>
            </p:cNvPr>
            <p:cNvSpPr>
              <a:spLocks noChangeAspect="1"/>
            </p:cNvSpPr>
            <p:nvPr/>
          </p:nvSpPr>
          <p:spPr bwMode="auto">
            <a:xfrm>
              <a:off x="2954" y="2713"/>
              <a:ext cx="2347" cy="376"/>
            </a:xfrm>
            <a:custGeom>
              <a:avLst/>
              <a:gdLst>
                <a:gd name="T0" fmla="*/ 1934 w 1568"/>
                <a:gd name="T1" fmla="*/ 373 h 254"/>
                <a:gd name="T2" fmla="*/ 1862 w 1568"/>
                <a:gd name="T3" fmla="*/ 290 h 254"/>
                <a:gd name="T4" fmla="*/ 503 w 1568"/>
                <a:gd name="T5" fmla="*/ 287 h 254"/>
                <a:gd name="T6" fmla="*/ 422 w 1568"/>
                <a:gd name="T7" fmla="*/ 376 h 254"/>
                <a:gd name="T8" fmla="*/ 0 w 1568"/>
                <a:gd name="T9" fmla="*/ 376 h 254"/>
                <a:gd name="T10" fmla="*/ 0 w 1568"/>
                <a:gd name="T11" fmla="*/ 0 h 254"/>
                <a:gd name="T12" fmla="*/ 425 w 1568"/>
                <a:gd name="T13" fmla="*/ 0 h 254"/>
                <a:gd name="T14" fmla="*/ 503 w 1568"/>
                <a:gd name="T15" fmla="*/ 77 h 254"/>
                <a:gd name="T16" fmla="*/ 1874 w 1568"/>
                <a:gd name="T17" fmla="*/ 77 h 254"/>
                <a:gd name="T18" fmla="*/ 1928 w 1568"/>
                <a:gd name="T19" fmla="*/ 0 h 254"/>
                <a:gd name="T20" fmla="*/ 2347 w 1568"/>
                <a:gd name="T21" fmla="*/ 0 h 254"/>
                <a:gd name="T22" fmla="*/ 2347 w 1568"/>
                <a:gd name="T23" fmla="*/ 373 h 254"/>
                <a:gd name="T24" fmla="*/ 1934 w 1568"/>
                <a:gd name="T25" fmla="*/ 373 h 2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568"/>
                <a:gd name="T40" fmla="*/ 0 h 254"/>
                <a:gd name="T41" fmla="*/ 1568 w 1568"/>
                <a:gd name="T42" fmla="*/ 254 h 25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568" h="254">
                  <a:moveTo>
                    <a:pt x="1292" y="252"/>
                  </a:moveTo>
                  <a:lnTo>
                    <a:pt x="1244" y="196"/>
                  </a:lnTo>
                  <a:lnTo>
                    <a:pt x="336" y="194"/>
                  </a:lnTo>
                  <a:lnTo>
                    <a:pt x="282" y="254"/>
                  </a:lnTo>
                  <a:lnTo>
                    <a:pt x="0" y="254"/>
                  </a:lnTo>
                  <a:lnTo>
                    <a:pt x="0" y="0"/>
                  </a:lnTo>
                  <a:lnTo>
                    <a:pt x="284" y="0"/>
                  </a:lnTo>
                  <a:lnTo>
                    <a:pt x="336" y="52"/>
                  </a:lnTo>
                  <a:lnTo>
                    <a:pt x="1252" y="52"/>
                  </a:lnTo>
                  <a:lnTo>
                    <a:pt x="1288" y="0"/>
                  </a:lnTo>
                  <a:lnTo>
                    <a:pt x="1568" y="0"/>
                  </a:lnTo>
                  <a:lnTo>
                    <a:pt x="1568" y="252"/>
                  </a:lnTo>
                  <a:lnTo>
                    <a:pt x="1292" y="252"/>
                  </a:lnTo>
                  <a:close/>
                </a:path>
              </a:pathLst>
            </a:custGeom>
            <a:gradFill rotWithShape="0">
              <a:gsLst>
                <a:gs pos="0">
                  <a:srgbClr val="838383"/>
                </a:gs>
                <a:gs pos="50000">
                  <a:srgbClr val="DDDDDD"/>
                </a:gs>
                <a:gs pos="100000">
                  <a:srgbClr val="838383"/>
                </a:gs>
              </a:gsLst>
              <a:lin ang="5400000" scaled="1"/>
            </a:gradFill>
            <a:ln w="19050" cmpd="sng">
              <a:solidFill>
                <a:schemeClr val="bg2"/>
              </a:solidFill>
              <a:round/>
              <a:headEnd/>
              <a:tailEnd/>
            </a:ln>
          </p:spPr>
          <p:txBody>
            <a:bodyPr wrap="none" anchor="ctr"/>
            <a:lstStyle/>
            <a:p>
              <a:endParaRPr lang="zh-CN" altLang="en-US"/>
            </a:p>
          </p:txBody>
        </p:sp>
        <p:sp>
          <p:nvSpPr>
            <p:cNvPr id="12" name="Freeform 5">
              <a:extLst>
                <a:ext uri="{FF2B5EF4-FFF2-40B4-BE49-F238E27FC236}">
                  <a16:creationId xmlns:a16="http://schemas.microsoft.com/office/drawing/2014/main" id="{83E96AC3-E5BE-DD67-0178-6775AF6319FB}"/>
                </a:ext>
              </a:extLst>
            </p:cNvPr>
            <p:cNvSpPr>
              <a:spLocks noChangeAspect="1"/>
            </p:cNvSpPr>
            <p:nvPr/>
          </p:nvSpPr>
          <p:spPr bwMode="auto">
            <a:xfrm>
              <a:off x="3376" y="2713"/>
              <a:ext cx="1" cy="376"/>
            </a:xfrm>
            <a:custGeom>
              <a:avLst/>
              <a:gdLst>
                <a:gd name="T0" fmla="*/ 0 w 1"/>
                <a:gd name="T1" fmla="*/ 0 h 254"/>
                <a:gd name="T2" fmla="*/ 0 w 1"/>
                <a:gd name="T3" fmla="*/ 376 h 254"/>
                <a:gd name="T4" fmla="*/ 0 60000 65536"/>
                <a:gd name="T5" fmla="*/ 0 60000 65536"/>
                <a:gd name="T6" fmla="*/ 0 w 1"/>
                <a:gd name="T7" fmla="*/ 0 h 254"/>
                <a:gd name="T8" fmla="*/ 1 w 1"/>
                <a:gd name="T9" fmla="*/ 254 h 254"/>
              </a:gdLst>
              <a:ahLst/>
              <a:cxnLst>
                <a:cxn ang="T4">
                  <a:pos x="T0" y="T1"/>
                </a:cxn>
                <a:cxn ang="T5">
                  <a:pos x="T2" y="T3"/>
                </a:cxn>
              </a:cxnLst>
              <a:rect l="T6" t="T7" r="T8" b="T9"/>
              <a:pathLst>
                <a:path w="1" h="254">
                  <a:moveTo>
                    <a:pt x="0" y="0"/>
                  </a:moveTo>
                  <a:lnTo>
                    <a:pt x="0" y="254"/>
                  </a:lnTo>
                </a:path>
              </a:pathLst>
            </a:custGeom>
            <a:noFill/>
            <a:ln w="19050" cmpd="sng">
              <a:solidFill>
                <a:schemeClr val="bg2"/>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3" name="AutoShape 6">
              <a:extLst>
                <a:ext uri="{FF2B5EF4-FFF2-40B4-BE49-F238E27FC236}">
                  <a16:creationId xmlns:a16="http://schemas.microsoft.com/office/drawing/2014/main" id="{4BAC6C40-01FE-B646-E734-6DBE7FB1ECAE}"/>
                </a:ext>
              </a:extLst>
            </p:cNvPr>
            <p:cNvSpPr>
              <a:spLocks noChangeAspect="1" noChangeArrowheads="1"/>
            </p:cNvSpPr>
            <p:nvPr/>
          </p:nvSpPr>
          <p:spPr bwMode="auto">
            <a:xfrm rot="-5400000">
              <a:off x="3273" y="2851"/>
              <a:ext cx="310" cy="71"/>
            </a:xfrm>
            <a:custGeom>
              <a:avLst/>
              <a:gdLst>
                <a:gd name="T0" fmla="*/ 4 w 21600"/>
                <a:gd name="T1" fmla="*/ 0 h 21600"/>
                <a:gd name="T2" fmla="*/ 2 w 21600"/>
                <a:gd name="T3" fmla="*/ 0 h 21600"/>
                <a:gd name="T4" fmla="*/ 1 w 21600"/>
                <a:gd name="T5" fmla="*/ 0 h 21600"/>
                <a:gd name="T6" fmla="*/ 2 w 21600"/>
                <a:gd name="T7" fmla="*/ 0 h 21600"/>
                <a:gd name="T8" fmla="*/ 0 60000 65536"/>
                <a:gd name="T9" fmla="*/ 0 60000 65536"/>
                <a:gd name="T10" fmla="*/ 0 60000 65536"/>
                <a:gd name="T11" fmla="*/ 0 60000 65536"/>
                <a:gd name="T12" fmla="*/ 4529 w 21600"/>
                <a:gd name="T13" fmla="*/ 4563 h 21600"/>
                <a:gd name="T14" fmla="*/ 17071 w 21600"/>
                <a:gd name="T15" fmla="*/ 17037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gradFill rotWithShape="0">
              <a:gsLst>
                <a:gs pos="0">
                  <a:srgbClr val="838383"/>
                </a:gs>
                <a:gs pos="100000">
                  <a:srgbClr val="A6A6A6"/>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14" name="Line 7">
              <a:extLst>
                <a:ext uri="{FF2B5EF4-FFF2-40B4-BE49-F238E27FC236}">
                  <a16:creationId xmlns:a16="http://schemas.microsoft.com/office/drawing/2014/main" id="{36208E42-9CE0-9969-E2B5-E424FA4B1608}"/>
                </a:ext>
              </a:extLst>
            </p:cNvPr>
            <p:cNvSpPr>
              <a:spLocks noChangeAspect="1" noChangeShapeType="1"/>
            </p:cNvSpPr>
            <p:nvPr/>
          </p:nvSpPr>
          <p:spPr bwMode="auto">
            <a:xfrm>
              <a:off x="4894" y="2719"/>
              <a:ext cx="0" cy="361"/>
            </a:xfrm>
            <a:prstGeom prst="line">
              <a:avLst/>
            </a:prstGeom>
            <a:noFill/>
            <a:ln w="19050">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 name="AutoShape 8">
              <a:extLst>
                <a:ext uri="{FF2B5EF4-FFF2-40B4-BE49-F238E27FC236}">
                  <a16:creationId xmlns:a16="http://schemas.microsoft.com/office/drawing/2014/main" id="{122C907B-5DBF-17B0-2D1F-953B06D5B1A8}"/>
                </a:ext>
              </a:extLst>
            </p:cNvPr>
            <p:cNvSpPr>
              <a:spLocks noChangeAspect="1" noChangeArrowheads="1"/>
            </p:cNvSpPr>
            <p:nvPr/>
          </p:nvSpPr>
          <p:spPr bwMode="auto">
            <a:xfrm rot="5400000" flipH="1">
              <a:off x="4683" y="2858"/>
              <a:ext cx="349" cy="71"/>
            </a:xfrm>
            <a:custGeom>
              <a:avLst/>
              <a:gdLst>
                <a:gd name="T0" fmla="*/ 5 w 21600"/>
                <a:gd name="T1" fmla="*/ 0 h 21600"/>
                <a:gd name="T2" fmla="*/ 3 w 21600"/>
                <a:gd name="T3" fmla="*/ 0 h 21600"/>
                <a:gd name="T4" fmla="*/ 1 w 21600"/>
                <a:gd name="T5" fmla="*/ 0 h 21600"/>
                <a:gd name="T6" fmla="*/ 3 w 21600"/>
                <a:gd name="T7" fmla="*/ 0 h 21600"/>
                <a:gd name="T8" fmla="*/ 0 60000 65536"/>
                <a:gd name="T9" fmla="*/ 0 60000 65536"/>
                <a:gd name="T10" fmla="*/ 0 60000 65536"/>
                <a:gd name="T11" fmla="*/ 0 60000 65536"/>
                <a:gd name="T12" fmla="*/ 4518 w 21600"/>
                <a:gd name="T13" fmla="*/ 4563 h 21600"/>
                <a:gd name="T14" fmla="*/ 17082 w 21600"/>
                <a:gd name="T15" fmla="*/ 17037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gradFill rotWithShape="0">
              <a:gsLst>
                <a:gs pos="0">
                  <a:srgbClr val="A6A6A6"/>
                </a:gs>
                <a:gs pos="100000">
                  <a:srgbClr val="838383"/>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16" name="Oval 9" descr="深色上对角线">
              <a:extLst>
                <a:ext uri="{FF2B5EF4-FFF2-40B4-BE49-F238E27FC236}">
                  <a16:creationId xmlns:a16="http://schemas.microsoft.com/office/drawing/2014/main" id="{630F040F-A68E-352E-D274-12A2276F718F}"/>
                </a:ext>
              </a:extLst>
            </p:cNvPr>
            <p:cNvSpPr>
              <a:spLocks noChangeAspect="1" noChangeArrowheads="1"/>
            </p:cNvSpPr>
            <p:nvPr/>
          </p:nvSpPr>
          <p:spPr bwMode="auto">
            <a:xfrm>
              <a:off x="4061" y="2787"/>
              <a:ext cx="234" cy="227"/>
            </a:xfrm>
            <a:prstGeom prst="ellipse">
              <a:avLst/>
            </a:prstGeom>
            <a:pattFill prst="dkUpDiag">
              <a:fgClr>
                <a:srgbClr val="FF3300"/>
              </a:fgClr>
              <a:bgClr>
                <a:srgbClr val="838383"/>
              </a:bgClr>
            </a:pattFill>
            <a:ln w="19050">
              <a:solidFill>
                <a:schemeClr val="bg2"/>
              </a:solidFill>
              <a:round/>
              <a:headEnd/>
              <a:tailEnd/>
            </a:ln>
          </p:spPr>
          <p:txBody>
            <a:bodyPr wrap="none" anchor="ct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eaLnBrk="1" hangingPunct="1"/>
              <a:endParaRPr lang="zh-CN" altLang="en-US">
                <a:solidFill>
                  <a:srgbClr val="0000FF"/>
                </a:solidFill>
              </a:endParaRPr>
            </a:p>
          </p:txBody>
        </p:sp>
        <p:sp>
          <p:nvSpPr>
            <p:cNvPr id="17" name="Line 10">
              <a:extLst>
                <a:ext uri="{FF2B5EF4-FFF2-40B4-BE49-F238E27FC236}">
                  <a16:creationId xmlns:a16="http://schemas.microsoft.com/office/drawing/2014/main" id="{DA4F7DB0-FC8C-6A83-9734-DC983A11DF51}"/>
                </a:ext>
              </a:extLst>
            </p:cNvPr>
            <p:cNvSpPr>
              <a:spLocks noChangeAspect="1" noChangeShapeType="1"/>
            </p:cNvSpPr>
            <p:nvPr/>
          </p:nvSpPr>
          <p:spPr bwMode="auto">
            <a:xfrm>
              <a:off x="4171" y="2702"/>
              <a:ext cx="0" cy="365"/>
            </a:xfrm>
            <a:prstGeom prst="line">
              <a:avLst/>
            </a:prstGeom>
            <a:noFill/>
            <a:ln w="3175">
              <a:solidFill>
                <a:srgbClr val="33CC33"/>
              </a:solidFill>
              <a:prstDash val="lgDash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 name="Line 11">
              <a:extLst>
                <a:ext uri="{FF2B5EF4-FFF2-40B4-BE49-F238E27FC236}">
                  <a16:creationId xmlns:a16="http://schemas.microsoft.com/office/drawing/2014/main" id="{7A34553E-18A5-323E-F871-C0A0862FBFCF}"/>
                </a:ext>
              </a:extLst>
            </p:cNvPr>
            <p:cNvSpPr>
              <a:spLocks noChangeAspect="1" noChangeShapeType="1"/>
            </p:cNvSpPr>
            <p:nvPr/>
          </p:nvSpPr>
          <p:spPr bwMode="auto">
            <a:xfrm>
              <a:off x="2729" y="2899"/>
              <a:ext cx="2767" cy="0"/>
            </a:xfrm>
            <a:prstGeom prst="line">
              <a:avLst/>
            </a:prstGeom>
            <a:noFill/>
            <a:ln w="3175">
              <a:solidFill>
                <a:srgbClr val="33CC33"/>
              </a:solidFill>
              <a:prstDash val="lgDash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 name="Line 12">
              <a:extLst>
                <a:ext uri="{FF2B5EF4-FFF2-40B4-BE49-F238E27FC236}">
                  <a16:creationId xmlns:a16="http://schemas.microsoft.com/office/drawing/2014/main" id="{7A473655-8DA6-CBE0-7852-F0B38DE89F10}"/>
                </a:ext>
              </a:extLst>
            </p:cNvPr>
            <p:cNvSpPr>
              <a:spLocks noChangeAspect="1" noChangeShapeType="1"/>
            </p:cNvSpPr>
            <p:nvPr/>
          </p:nvSpPr>
          <p:spPr bwMode="auto">
            <a:xfrm>
              <a:off x="3472" y="3333"/>
              <a:ext cx="1296" cy="0"/>
            </a:xfrm>
            <a:prstGeom prst="line">
              <a:avLst/>
            </a:prstGeom>
            <a:noFill/>
            <a:ln w="3175">
              <a:solidFill>
                <a:schemeClr val="tx1"/>
              </a:solidFill>
              <a:round/>
              <a:headEnd type="stealth" w="sm" len="lg"/>
              <a:tailEnd type="stealth"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 name="Line 13">
              <a:extLst>
                <a:ext uri="{FF2B5EF4-FFF2-40B4-BE49-F238E27FC236}">
                  <a16:creationId xmlns:a16="http://schemas.microsoft.com/office/drawing/2014/main" id="{1572B9F4-A640-D645-606C-F573F969EC23}"/>
                </a:ext>
              </a:extLst>
            </p:cNvPr>
            <p:cNvSpPr>
              <a:spLocks noChangeAspect="1" noChangeShapeType="1"/>
            </p:cNvSpPr>
            <p:nvPr/>
          </p:nvSpPr>
          <p:spPr bwMode="auto">
            <a:xfrm flipV="1">
              <a:off x="3484" y="2911"/>
              <a:ext cx="0" cy="4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 name="Line 14">
              <a:extLst>
                <a:ext uri="{FF2B5EF4-FFF2-40B4-BE49-F238E27FC236}">
                  <a16:creationId xmlns:a16="http://schemas.microsoft.com/office/drawing/2014/main" id="{B217D243-23B7-8294-A6D2-E5E367CE11F3}"/>
                </a:ext>
              </a:extLst>
            </p:cNvPr>
            <p:cNvSpPr>
              <a:spLocks noChangeAspect="1" noChangeShapeType="1"/>
            </p:cNvSpPr>
            <p:nvPr/>
          </p:nvSpPr>
          <p:spPr bwMode="auto">
            <a:xfrm flipV="1">
              <a:off x="4777" y="2911"/>
              <a:ext cx="0" cy="52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 name="Text Box 15">
              <a:extLst>
                <a:ext uri="{FF2B5EF4-FFF2-40B4-BE49-F238E27FC236}">
                  <a16:creationId xmlns:a16="http://schemas.microsoft.com/office/drawing/2014/main" id="{AEA2283B-AC81-BC5A-F09B-D8D1F0160B16}"/>
                </a:ext>
              </a:extLst>
            </p:cNvPr>
            <p:cNvSpPr txBox="1">
              <a:spLocks noChangeAspect="1" noChangeArrowheads="1"/>
            </p:cNvSpPr>
            <p:nvPr/>
          </p:nvSpPr>
          <p:spPr bwMode="auto">
            <a:xfrm>
              <a:off x="3374" y="2469"/>
              <a:ext cx="363"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l" eaLnBrk="1" hangingPunct="1">
                <a:spcBef>
                  <a:spcPct val="50000"/>
                </a:spcBef>
              </a:pPr>
              <a:r>
                <a:rPr lang="en-US" altLang="zh-CN" sz="5400">
                  <a:solidFill>
                    <a:srgbClr val="FF00FF"/>
                  </a:solidFill>
                  <a:latin typeface="" pitchFamily="18" charset="-52"/>
                  <a:ea typeface="宋体" panose="02010600030101010101" pitchFamily="2" charset="-122"/>
                </a:rPr>
                <a:t>.</a:t>
              </a:r>
            </a:p>
          </p:txBody>
        </p:sp>
        <p:sp>
          <p:nvSpPr>
            <p:cNvPr id="23" name="Text Box 16">
              <a:extLst>
                <a:ext uri="{FF2B5EF4-FFF2-40B4-BE49-F238E27FC236}">
                  <a16:creationId xmlns:a16="http://schemas.microsoft.com/office/drawing/2014/main" id="{7054BED0-F438-8850-85E7-8026A96513ED}"/>
                </a:ext>
              </a:extLst>
            </p:cNvPr>
            <p:cNvSpPr txBox="1">
              <a:spLocks noChangeAspect="1" noChangeArrowheads="1"/>
            </p:cNvSpPr>
            <p:nvPr/>
          </p:nvSpPr>
          <p:spPr bwMode="auto">
            <a:xfrm>
              <a:off x="4668" y="2469"/>
              <a:ext cx="362"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l" eaLnBrk="1" hangingPunct="1">
                <a:spcBef>
                  <a:spcPct val="50000"/>
                </a:spcBef>
              </a:pPr>
              <a:r>
                <a:rPr lang="en-US" altLang="zh-CN" sz="5400">
                  <a:solidFill>
                    <a:srgbClr val="FF00FF"/>
                  </a:solidFill>
                  <a:latin typeface="" pitchFamily="18" charset="-52"/>
                  <a:ea typeface="宋体" panose="02010600030101010101" pitchFamily="2" charset="-122"/>
                </a:rPr>
                <a:t>.</a:t>
              </a:r>
            </a:p>
          </p:txBody>
        </p:sp>
        <p:sp>
          <p:nvSpPr>
            <p:cNvPr id="24" name="Text Box 17">
              <a:extLst>
                <a:ext uri="{FF2B5EF4-FFF2-40B4-BE49-F238E27FC236}">
                  <a16:creationId xmlns:a16="http://schemas.microsoft.com/office/drawing/2014/main" id="{CF924C40-2E07-0272-023F-B839052E8C9D}"/>
                </a:ext>
              </a:extLst>
            </p:cNvPr>
            <p:cNvSpPr txBox="1">
              <a:spLocks noChangeAspect="1" noChangeArrowheads="1"/>
            </p:cNvSpPr>
            <p:nvPr/>
          </p:nvSpPr>
          <p:spPr bwMode="auto">
            <a:xfrm>
              <a:off x="4059" y="3057"/>
              <a:ext cx="44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l" eaLnBrk="1" hangingPunct="1">
                <a:spcBef>
                  <a:spcPct val="50000"/>
                </a:spcBef>
              </a:pPr>
              <a:r>
                <a:rPr lang="en-US" altLang="zh-CN" b="0" dirty="0">
                  <a:solidFill>
                    <a:schemeClr val="tx1"/>
                  </a:solidFill>
                  <a:latin typeface="+mj-lt"/>
                  <a:ea typeface="宋体" panose="02010600030101010101" pitchFamily="2" charset="-122"/>
                </a:rPr>
                <a:t>l</a:t>
              </a:r>
            </a:p>
          </p:txBody>
        </p:sp>
        <p:sp>
          <p:nvSpPr>
            <p:cNvPr id="25" name="Line 18">
              <a:extLst>
                <a:ext uri="{FF2B5EF4-FFF2-40B4-BE49-F238E27FC236}">
                  <a16:creationId xmlns:a16="http://schemas.microsoft.com/office/drawing/2014/main" id="{6B2DB487-CF3E-9BC0-FE4E-02FFE7F168B2}"/>
                </a:ext>
              </a:extLst>
            </p:cNvPr>
            <p:cNvSpPr>
              <a:spLocks noChangeAspect="1" noChangeShapeType="1"/>
            </p:cNvSpPr>
            <p:nvPr/>
          </p:nvSpPr>
          <p:spPr bwMode="auto">
            <a:xfrm>
              <a:off x="3780" y="2458"/>
              <a:ext cx="0" cy="329"/>
            </a:xfrm>
            <a:prstGeom prst="line">
              <a:avLst/>
            </a:prstGeom>
            <a:noFill/>
            <a:ln w="9525">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 name="Line 19">
              <a:extLst>
                <a:ext uri="{FF2B5EF4-FFF2-40B4-BE49-F238E27FC236}">
                  <a16:creationId xmlns:a16="http://schemas.microsoft.com/office/drawing/2014/main" id="{D19A3CCB-4F43-0E60-2AC1-B1E913F7ADD0}"/>
                </a:ext>
              </a:extLst>
            </p:cNvPr>
            <p:cNvSpPr>
              <a:spLocks noChangeAspect="1" noChangeShapeType="1"/>
            </p:cNvSpPr>
            <p:nvPr/>
          </p:nvSpPr>
          <p:spPr bwMode="auto">
            <a:xfrm flipV="1">
              <a:off x="3780" y="2991"/>
              <a:ext cx="0" cy="258"/>
            </a:xfrm>
            <a:prstGeom prst="line">
              <a:avLst/>
            </a:prstGeom>
            <a:noFill/>
            <a:ln w="9525">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 name="Text Box 20">
              <a:extLst>
                <a:ext uri="{FF2B5EF4-FFF2-40B4-BE49-F238E27FC236}">
                  <a16:creationId xmlns:a16="http://schemas.microsoft.com/office/drawing/2014/main" id="{A390740A-B351-A4DF-438E-34314A715EC3}"/>
                </a:ext>
              </a:extLst>
            </p:cNvPr>
            <p:cNvSpPr txBox="1">
              <a:spLocks noChangeAspect="1" noChangeArrowheads="1"/>
            </p:cNvSpPr>
            <p:nvPr/>
          </p:nvSpPr>
          <p:spPr bwMode="auto">
            <a:xfrm rot="-5433378">
              <a:off x="3417" y="2321"/>
              <a:ext cx="44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l" eaLnBrk="1" hangingPunct="1">
                <a:spcBef>
                  <a:spcPct val="50000"/>
                </a:spcBef>
              </a:pPr>
              <a:r>
                <a:rPr lang="en-US" altLang="zh-CN" b="0" i="1" dirty="0">
                  <a:solidFill>
                    <a:schemeClr val="tx1"/>
                  </a:solidFill>
                  <a:latin typeface="+mj-lt"/>
                  <a:ea typeface="宋体" panose="02010600030101010101" pitchFamily="2" charset="-122"/>
                </a:rPr>
                <a:t>d</a:t>
              </a:r>
            </a:p>
          </p:txBody>
        </p:sp>
      </p:grpSp>
      <p:grpSp>
        <p:nvGrpSpPr>
          <p:cNvPr id="28" name="Group 23">
            <a:extLst>
              <a:ext uri="{FF2B5EF4-FFF2-40B4-BE49-F238E27FC236}">
                <a16:creationId xmlns:a16="http://schemas.microsoft.com/office/drawing/2014/main" id="{901601B9-BF7B-AC3A-826E-15D6CA6D589E}"/>
              </a:ext>
            </a:extLst>
          </p:cNvPr>
          <p:cNvGrpSpPr>
            <a:grpSpLocks/>
          </p:cNvGrpSpPr>
          <p:nvPr/>
        </p:nvGrpSpPr>
        <p:grpSpPr bwMode="auto">
          <a:xfrm>
            <a:off x="6816079" y="4265613"/>
            <a:ext cx="4392613" cy="1531937"/>
            <a:chOff x="2993" y="2687"/>
            <a:chExt cx="2767" cy="965"/>
          </a:xfrm>
        </p:grpSpPr>
        <p:sp>
          <p:nvSpPr>
            <p:cNvPr id="29" name="Freeform 24">
              <a:extLst>
                <a:ext uri="{FF2B5EF4-FFF2-40B4-BE49-F238E27FC236}">
                  <a16:creationId xmlns:a16="http://schemas.microsoft.com/office/drawing/2014/main" id="{F17B6B8E-1A67-6A26-2CE0-61A0EE9D2661}"/>
                </a:ext>
              </a:extLst>
            </p:cNvPr>
            <p:cNvSpPr>
              <a:spLocks noChangeAspect="1"/>
            </p:cNvSpPr>
            <p:nvPr/>
          </p:nvSpPr>
          <p:spPr bwMode="auto">
            <a:xfrm>
              <a:off x="3218" y="2931"/>
              <a:ext cx="2347" cy="376"/>
            </a:xfrm>
            <a:custGeom>
              <a:avLst/>
              <a:gdLst>
                <a:gd name="T0" fmla="*/ 1934 w 1568"/>
                <a:gd name="T1" fmla="*/ 373 h 254"/>
                <a:gd name="T2" fmla="*/ 1862 w 1568"/>
                <a:gd name="T3" fmla="*/ 290 h 254"/>
                <a:gd name="T4" fmla="*/ 503 w 1568"/>
                <a:gd name="T5" fmla="*/ 287 h 254"/>
                <a:gd name="T6" fmla="*/ 422 w 1568"/>
                <a:gd name="T7" fmla="*/ 376 h 254"/>
                <a:gd name="T8" fmla="*/ 0 w 1568"/>
                <a:gd name="T9" fmla="*/ 376 h 254"/>
                <a:gd name="T10" fmla="*/ 0 w 1568"/>
                <a:gd name="T11" fmla="*/ 0 h 254"/>
                <a:gd name="T12" fmla="*/ 425 w 1568"/>
                <a:gd name="T13" fmla="*/ 0 h 254"/>
                <a:gd name="T14" fmla="*/ 503 w 1568"/>
                <a:gd name="T15" fmla="*/ 77 h 254"/>
                <a:gd name="T16" fmla="*/ 1874 w 1568"/>
                <a:gd name="T17" fmla="*/ 77 h 254"/>
                <a:gd name="T18" fmla="*/ 1928 w 1568"/>
                <a:gd name="T19" fmla="*/ 0 h 254"/>
                <a:gd name="T20" fmla="*/ 2347 w 1568"/>
                <a:gd name="T21" fmla="*/ 0 h 254"/>
                <a:gd name="T22" fmla="*/ 2347 w 1568"/>
                <a:gd name="T23" fmla="*/ 373 h 254"/>
                <a:gd name="T24" fmla="*/ 1934 w 1568"/>
                <a:gd name="T25" fmla="*/ 373 h 2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568"/>
                <a:gd name="T40" fmla="*/ 0 h 254"/>
                <a:gd name="T41" fmla="*/ 1568 w 1568"/>
                <a:gd name="T42" fmla="*/ 254 h 25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568" h="254">
                  <a:moveTo>
                    <a:pt x="1292" y="252"/>
                  </a:moveTo>
                  <a:lnTo>
                    <a:pt x="1244" y="196"/>
                  </a:lnTo>
                  <a:lnTo>
                    <a:pt x="336" y="194"/>
                  </a:lnTo>
                  <a:lnTo>
                    <a:pt x="282" y="254"/>
                  </a:lnTo>
                  <a:lnTo>
                    <a:pt x="0" y="254"/>
                  </a:lnTo>
                  <a:lnTo>
                    <a:pt x="0" y="0"/>
                  </a:lnTo>
                  <a:lnTo>
                    <a:pt x="284" y="0"/>
                  </a:lnTo>
                  <a:lnTo>
                    <a:pt x="336" y="52"/>
                  </a:lnTo>
                  <a:lnTo>
                    <a:pt x="1252" y="52"/>
                  </a:lnTo>
                  <a:lnTo>
                    <a:pt x="1288" y="0"/>
                  </a:lnTo>
                  <a:lnTo>
                    <a:pt x="1568" y="0"/>
                  </a:lnTo>
                  <a:lnTo>
                    <a:pt x="1568" y="252"/>
                  </a:lnTo>
                  <a:lnTo>
                    <a:pt x="1292" y="252"/>
                  </a:lnTo>
                  <a:close/>
                </a:path>
              </a:pathLst>
            </a:custGeom>
            <a:gradFill rotWithShape="0">
              <a:gsLst>
                <a:gs pos="0">
                  <a:srgbClr val="838383"/>
                </a:gs>
                <a:gs pos="50000">
                  <a:srgbClr val="DDDDDD"/>
                </a:gs>
                <a:gs pos="100000">
                  <a:srgbClr val="838383"/>
                </a:gs>
              </a:gsLst>
              <a:lin ang="5400000" scaled="1"/>
            </a:gradFill>
            <a:ln w="19050" cmpd="sng">
              <a:solidFill>
                <a:schemeClr val="bg2"/>
              </a:solidFill>
              <a:round/>
              <a:headEnd/>
              <a:tailEnd/>
            </a:ln>
          </p:spPr>
          <p:txBody>
            <a:bodyPr wrap="none" anchor="ctr"/>
            <a:lstStyle/>
            <a:p>
              <a:endParaRPr lang="zh-CN" altLang="en-US"/>
            </a:p>
          </p:txBody>
        </p:sp>
        <p:sp>
          <p:nvSpPr>
            <p:cNvPr id="30" name="Freeform 25">
              <a:extLst>
                <a:ext uri="{FF2B5EF4-FFF2-40B4-BE49-F238E27FC236}">
                  <a16:creationId xmlns:a16="http://schemas.microsoft.com/office/drawing/2014/main" id="{84871D9E-0FBF-BBB0-BBC6-718680D37304}"/>
                </a:ext>
              </a:extLst>
            </p:cNvPr>
            <p:cNvSpPr>
              <a:spLocks noChangeAspect="1"/>
            </p:cNvSpPr>
            <p:nvPr/>
          </p:nvSpPr>
          <p:spPr bwMode="auto">
            <a:xfrm>
              <a:off x="3640" y="2931"/>
              <a:ext cx="1" cy="376"/>
            </a:xfrm>
            <a:custGeom>
              <a:avLst/>
              <a:gdLst>
                <a:gd name="T0" fmla="*/ 0 w 1"/>
                <a:gd name="T1" fmla="*/ 0 h 254"/>
                <a:gd name="T2" fmla="*/ 0 w 1"/>
                <a:gd name="T3" fmla="*/ 376 h 254"/>
                <a:gd name="T4" fmla="*/ 0 60000 65536"/>
                <a:gd name="T5" fmla="*/ 0 60000 65536"/>
                <a:gd name="T6" fmla="*/ 0 w 1"/>
                <a:gd name="T7" fmla="*/ 0 h 254"/>
                <a:gd name="T8" fmla="*/ 1 w 1"/>
                <a:gd name="T9" fmla="*/ 254 h 254"/>
              </a:gdLst>
              <a:ahLst/>
              <a:cxnLst>
                <a:cxn ang="T4">
                  <a:pos x="T0" y="T1"/>
                </a:cxn>
                <a:cxn ang="T5">
                  <a:pos x="T2" y="T3"/>
                </a:cxn>
              </a:cxnLst>
              <a:rect l="T6" t="T7" r="T8" b="T9"/>
              <a:pathLst>
                <a:path w="1" h="254">
                  <a:moveTo>
                    <a:pt x="0" y="0"/>
                  </a:moveTo>
                  <a:lnTo>
                    <a:pt x="0" y="254"/>
                  </a:lnTo>
                </a:path>
              </a:pathLst>
            </a:custGeom>
            <a:noFill/>
            <a:ln w="19050" cmpd="sng">
              <a:solidFill>
                <a:schemeClr val="bg2"/>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1" name="AutoShape 26">
              <a:extLst>
                <a:ext uri="{FF2B5EF4-FFF2-40B4-BE49-F238E27FC236}">
                  <a16:creationId xmlns:a16="http://schemas.microsoft.com/office/drawing/2014/main" id="{ED0018DA-E375-5252-A886-B01204F36740}"/>
                </a:ext>
              </a:extLst>
            </p:cNvPr>
            <p:cNvSpPr>
              <a:spLocks noChangeAspect="1" noChangeArrowheads="1"/>
            </p:cNvSpPr>
            <p:nvPr/>
          </p:nvSpPr>
          <p:spPr bwMode="auto">
            <a:xfrm rot="-5400000">
              <a:off x="3537" y="3069"/>
              <a:ext cx="310" cy="71"/>
            </a:xfrm>
            <a:custGeom>
              <a:avLst/>
              <a:gdLst>
                <a:gd name="T0" fmla="*/ 4 w 21600"/>
                <a:gd name="T1" fmla="*/ 0 h 21600"/>
                <a:gd name="T2" fmla="*/ 2 w 21600"/>
                <a:gd name="T3" fmla="*/ 0 h 21600"/>
                <a:gd name="T4" fmla="*/ 1 w 21600"/>
                <a:gd name="T5" fmla="*/ 0 h 21600"/>
                <a:gd name="T6" fmla="*/ 2 w 21600"/>
                <a:gd name="T7" fmla="*/ 0 h 21600"/>
                <a:gd name="T8" fmla="*/ 0 60000 65536"/>
                <a:gd name="T9" fmla="*/ 0 60000 65536"/>
                <a:gd name="T10" fmla="*/ 0 60000 65536"/>
                <a:gd name="T11" fmla="*/ 0 60000 65536"/>
                <a:gd name="T12" fmla="*/ 4529 w 21600"/>
                <a:gd name="T13" fmla="*/ 4563 h 21600"/>
                <a:gd name="T14" fmla="*/ 17071 w 21600"/>
                <a:gd name="T15" fmla="*/ 17037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gradFill rotWithShape="0">
              <a:gsLst>
                <a:gs pos="0">
                  <a:srgbClr val="838383"/>
                </a:gs>
                <a:gs pos="100000">
                  <a:srgbClr val="A6A6A6"/>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32" name="Line 27">
              <a:extLst>
                <a:ext uri="{FF2B5EF4-FFF2-40B4-BE49-F238E27FC236}">
                  <a16:creationId xmlns:a16="http://schemas.microsoft.com/office/drawing/2014/main" id="{DAF960BA-DC36-10D3-9DFE-305251249CB2}"/>
                </a:ext>
              </a:extLst>
            </p:cNvPr>
            <p:cNvSpPr>
              <a:spLocks noChangeAspect="1" noChangeShapeType="1"/>
            </p:cNvSpPr>
            <p:nvPr/>
          </p:nvSpPr>
          <p:spPr bwMode="auto">
            <a:xfrm>
              <a:off x="5158" y="2937"/>
              <a:ext cx="0" cy="361"/>
            </a:xfrm>
            <a:prstGeom prst="line">
              <a:avLst/>
            </a:prstGeom>
            <a:noFill/>
            <a:ln w="19050">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 name="AutoShape 28">
              <a:extLst>
                <a:ext uri="{FF2B5EF4-FFF2-40B4-BE49-F238E27FC236}">
                  <a16:creationId xmlns:a16="http://schemas.microsoft.com/office/drawing/2014/main" id="{9666700E-C736-BD0E-D1F6-E4409FF51FFF}"/>
                </a:ext>
              </a:extLst>
            </p:cNvPr>
            <p:cNvSpPr>
              <a:spLocks noChangeAspect="1" noChangeArrowheads="1"/>
            </p:cNvSpPr>
            <p:nvPr/>
          </p:nvSpPr>
          <p:spPr bwMode="auto">
            <a:xfrm rot="5400000" flipH="1">
              <a:off x="4947" y="3076"/>
              <a:ext cx="349" cy="71"/>
            </a:xfrm>
            <a:custGeom>
              <a:avLst/>
              <a:gdLst>
                <a:gd name="T0" fmla="*/ 5 w 21600"/>
                <a:gd name="T1" fmla="*/ 0 h 21600"/>
                <a:gd name="T2" fmla="*/ 3 w 21600"/>
                <a:gd name="T3" fmla="*/ 0 h 21600"/>
                <a:gd name="T4" fmla="*/ 1 w 21600"/>
                <a:gd name="T5" fmla="*/ 0 h 21600"/>
                <a:gd name="T6" fmla="*/ 3 w 21600"/>
                <a:gd name="T7" fmla="*/ 0 h 21600"/>
                <a:gd name="T8" fmla="*/ 0 60000 65536"/>
                <a:gd name="T9" fmla="*/ 0 60000 65536"/>
                <a:gd name="T10" fmla="*/ 0 60000 65536"/>
                <a:gd name="T11" fmla="*/ 0 60000 65536"/>
                <a:gd name="T12" fmla="*/ 4518 w 21600"/>
                <a:gd name="T13" fmla="*/ 4563 h 21600"/>
                <a:gd name="T14" fmla="*/ 17082 w 21600"/>
                <a:gd name="T15" fmla="*/ 17037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gradFill rotWithShape="0">
              <a:gsLst>
                <a:gs pos="0">
                  <a:srgbClr val="A6A6A6"/>
                </a:gs>
                <a:gs pos="100000">
                  <a:srgbClr val="838383"/>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34" name="Line 29">
              <a:extLst>
                <a:ext uri="{FF2B5EF4-FFF2-40B4-BE49-F238E27FC236}">
                  <a16:creationId xmlns:a16="http://schemas.microsoft.com/office/drawing/2014/main" id="{994B0BEC-26C4-612B-7C1B-A74B51089FF4}"/>
                </a:ext>
              </a:extLst>
            </p:cNvPr>
            <p:cNvSpPr>
              <a:spLocks noChangeAspect="1" noChangeShapeType="1"/>
            </p:cNvSpPr>
            <p:nvPr/>
          </p:nvSpPr>
          <p:spPr bwMode="auto">
            <a:xfrm>
              <a:off x="3736" y="3551"/>
              <a:ext cx="1296" cy="0"/>
            </a:xfrm>
            <a:prstGeom prst="line">
              <a:avLst/>
            </a:prstGeom>
            <a:noFill/>
            <a:ln w="3175">
              <a:solidFill>
                <a:schemeClr val="tx1"/>
              </a:solidFill>
              <a:round/>
              <a:headEnd type="stealth" w="sm" len="lg"/>
              <a:tailEnd type="stealth"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 name="Line 30">
              <a:extLst>
                <a:ext uri="{FF2B5EF4-FFF2-40B4-BE49-F238E27FC236}">
                  <a16:creationId xmlns:a16="http://schemas.microsoft.com/office/drawing/2014/main" id="{A039DD75-57FD-27DD-4B6C-236272FB8D0F}"/>
                </a:ext>
              </a:extLst>
            </p:cNvPr>
            <p:cNvSpPr>
              <a:spLocks noChangeAspect="1" noChangeShapeType="1"/>
            </p:cNvSpPr>
            <p:nvPr/>
          </p:nvSpPr>
          <p:spPr bwMode="auto">
            <a:xfrm flipV="1">
              <a:off x="3748" y="3129"/>
              <a:ext cx="0" cy="4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 name="Line 31">
              <a:extLst>
                <a:ext uri="{FF2B5EF4-FFF2-40B4-BE49-F238E27FC236}">
                  <a16:creationId xmlns:a16="http://schemas.microsoft.com/office/drawing/2014/main" id="{4DD7B4C6-041C-6312-86CF-DEE3C842E2E2}"/>
                </a:ext>
              </a:extLst>
            </p:cNvPr>
            <p:cNvSpPr>
              <a:spLocks noChangeAspect="1" noChangeShapeType="1"/>
            </p:cNvSpPr>
            <p:nvPr/>
          </p:nvSpPr>
          <p:spPr bwMode="auto">
            <a:xfrm flipV="1">
              <a:off x="5041" y="3129"/>
              <a:ext cx="0" cy="52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7" name="Text Box 32">
              <a:extLst>
                <a:ext uri="{FF2B5EF4-FFF2-40B4-BE49-F238E27FC236}">
                  <a16:creationId xmlns:a16="http://schemas.microsoft.com/office/drawing/2014/main" id="{C8BAA05A-280A-C6FC-30CF-4F1CB89E912A}"/>
                </a:ext>
              </a:extLst>
            </p:cNvPr>
            <p:cNvSpPr txBox="1">
              <a:spLocks noChangeAspect="1" noChangeArrowheads="1"/>
            </p:cNvSpPr>
            <p:nvPr/>
          </p:nvSpPr>
          <p:spPr bwMode="auto">
            <a:xfrm>
              <a:off x="3638" y="2687"/>
              <a:ext cx="363"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l" eaLnBrk="1" hangingPunct="1">
                <a:spcBef>
                  <a:spcPct val="50000"/>
                </a:spcBef>
              </a:pPr>
              <a:r>
                <a:rPr lang="en-US" altLang="zh-CN" sz="5400">
                  <a:solidFill>
                    <a:srgbClr val="FF00FF"/>
                  </a:solidFill>
                  <a:latin typeface="" pitchFamily="18" charset="-52"/>
                  <a:ea typeface="宋体" panose="02010600030101010101" pitchFamily="2" charset="-122"/>
                </a:rPr>
                <a:t>.</a:t>
              </a:r>
            </a:p>
          </p:txBody>
        </p:sp>
        <p:sp>
          <p:nvSpPr>
            <p:cNvPr id="38" name="Text Box 33">
              <a:extLst>
                <a:ext uri="{FF2B5EF4-FFF2-40B4-BE49-F238E27FC236}">
                  <a16:creationId xmlns:a16="http://schemas.microsoft.com/office/drawing/2014/main" id="{F7BAEAEE-B92D-1504-2835-96241F16DF72}"/>
                </a:ext>
              </a:extLst>
            </p:cNvPr>
            <p:cNvSpPr txBox="1">
              <a:spLocks noChangeAspect="1" noChangeArrowheads="1"/>
            </p:cNvSpPr>
            <p:nvPr/>
          </p:nvSpPr>
          <p:spPr bwMode="auto">
            <a:xfrm>
              <a:off x="4932" y="2687"/>
              <a:ext cx="362"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l" eaLnBrk="1" hangingPunct="1">
                <a:spcBef>
                  <a:spcPct val="50000"/>
                </a:spcBef>
              </a:pPr>
              <a:r>
                <a:rPr lang="en-US" altLang="zh-CN" sz="5400">
                  <a:solidFill>
                    <a:srgbClr val="FF00FF"/>
                  </a:solidFill>
                  <a:latin typeface="" pitchFamily="18" charset="-52"/>
                  <a:ea typeface="宋体" panose="02010600030101010101" pitchFamily="2" charset="-122"/>
                </a:rPr>
                <a:t>.</a:t>
              </a:r>
            </a:p>
          </p:txBody>
        </p:sp>
        <p:sp>
          <p:nvSpPr>
            <p:cNvPr id="39" name="Text Box 34">
              <a:extLst>
                <a:ext uri="{FF2B5EF4-FFF2-40B4-BE49-F238E27FC236}">
                  <a16:creationId xmlns:a16="http://schemas.microsoft.com/office/drawing/2014/main" id="{5537017E-82A8-38B5-5EA1-6840AAAE5475}"/>
                </a:ext>
              </a:extLst>
            </p:cNvPr>
            <p:cNvSpPr txBox="1">
              <a:spLocks noChangeAspect="1" noChangeArrowheads="1"/>
            </p:cNvSpPr>
            <p:nvPr/>
          </p:nvSpPr>
          <p:spPr bwMode="auto">
            <a:xfrm>
              <a:off x="4323" y="3275"/>
              <a:ext cx="44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eaLnBrk="1" hangingPunct="1">
                <a:spcBef>
                  <a:spcPct val="50000"/>
                </a:spcBef>
              </a:pPr>
              <a:r>
                <a:rPr lang="en-US" altLang="zh-CN" b="0" dirty="0">
                  <a:solidFill>
                    <a:schemeClr val="tx1"/>
                  </a:solidFill>
                  <a:latin typeface="+mj-lt"/>
                  <a:ea typeface="宋体" panose="02010600030101010101" pitchFamily="2" charset="-122"/>
                </a:rPr>
                <a:t>l</a:t>
              </a:r>
            </a:p>
          </p:txBody>
        </p:sp>
        <p:sp>
          <p:nvSpPr>
            <p:cNvPr id="40" name="Text Box 35">
              <a:extLst>
                <a:ext uri="{FF2B5EF4-FFF2-40B4-BE49-F238E27FC236}">
                  <a16:creationId xmlns:a16="http://schemas.microsoft.com/office/drawing/2014/main" id="{E45D10CA-617D-622A-FFCE-8B7935DD4BEA}"/>
                </a:ext>
              </a:extLst>
            </p:cNvPr>
            <p:cNvSpPr txBox="1">
              <a:spLocks noChangeAspect="1" noChangeArrowheads="1"/>
            </p:cNvSpPr>
            <p:nvPr/>
          </p:nvSpPr>
          <p:spPr bwMode="auto">
            <a:xfrm rot="-33378">
              <a:off x="4422" y="2757"/>
              <a:ext cx="33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eaLnBrk="1" hangingPunct="1">
                <a:spcBef>
                  <a:spcPct val="50000"/>
                </a:spcBef>
              </a:pPr>
              <a:r>
                <a:rPr lang="en-US" altLang="zh-CN" b="0" dirty="0">
                  <a:solidFill>
                    <a:schemeClr val="tx1"/>
                  </a:solidFill>
                  <a:latin typeface="+mj-lt"/>
                  <a:ea typeface="宋体" panose="02010600030101010101" pitchFamily="2" charset="-122"/>
                </a:rPr>
                <a:t>A</a:t>
              </a:r>
            </a:p>
          </p:txBody>
        </p:sp>
        <p:sp>
          <p:nvSpPr>
            <p:cNvPr id="41" name="Rectangle 36" descr="深色上对角线">
              <a:extLst>
                <a:ext uri="{FF2B5EF4-FFF2-40B4-BE49-F238E27FC236}">
                  <a16:creationId xmlns:a16="http://schemas.microsoft.com/office/drawing/2014/main" id="{09BAD487-8144-A136-E0A9-0090F3269362}"/>
                </a:ext>
              </a:extLst>
            </p:cNvPr>
            <p:cNvSpPr>
              <a:spLocks noChangeArrowheads="1"/>
            </p:cNvSpPr>
            <p:nvPr/>
          </p:nvSpPr>
          <p:spPr bwMode="auto">
            <a:xfrm>
              <a:off x="4393" y="3009"/>
              <a:ext cx="71" cy="201"/>
            </a:xfrm>
            <a:prstGeom prst="rect">
              <a:avLst/>
            </a:prstGeom>
            <a:pattFill prst="dkUpDiag">
              <a:fgClr>
                <a:srgbClr val="FF3300"/>
              </a:fgClr>
              <a:bgClr>
                <a:srgbClr val="838383"/>
              </a:bgClr>
            </a:pattFill>
            <a:ln w="19050" algn="ctr">
              <a:solidFill>
                <a:schemeClr val="bg2"/>
              </a:solidFill>
              <a:miter lim="800000"/>
              <a:headEnd/>
              <a:tailEnd/>
            </a:ln>
          </p:spPr>
          <p:txBody>
            <a:bodyPr wrap="none" anchor="ct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eaLnBrk="1" hangingPunct="1"/>
              <a:endParaRPr lang="zh-CN" altLang="en-US">
                <a:solidFill>
                  <a:srgbClr val="0000FF"/>
                </a:solidFill>
              </a:endParaRPr>
            </a:p>
          </p:txBody>
        </p:sp>
        <p:sp>
          <p:nvSpPr>
            <p:cNvPr id="42" name="Line 37">
              <a:extLst>
                <a:ext uri="{FF2B5EF4-FFF2-40B4-BE49-F238E27FC236}">
                  <a16:creationId xmlns:a16="http://schemas.microsoft.com/office/drawing/2014/main" id="{8F3D5AFE-7DE9-16B0-194D-A22802EA32A5}"/>
                </a:ext>
              </a:extLst>
            </p:cNvPr>
            <p:cNvSpPr>
              <a:spLocks noChangeAspect="1" noChangeShapeType="1"/>
            </p:cNvSpPr>
            <p:nvPr/>
          </p:nvSpPr>
          <p:spPr bwMode="auto">
            <a:xfrm>
              <a:off x="4435" y="2920"/>
              <a:ext cx="0" cy="365"/>
            </a:xfrm>
            <a:prstGeom prst="line">
              <a:avLst/>
            </a:prstGeom>
            <a:noFill/>
            <a:ln w="3175">
              <a:solidFill>
                <a:srgbClr val="33CC33"/>
              </a:solidFill>
              <a:prstDash val="lgDash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 name="Line 38">
              <a:extLst>
                <a:ext uri="{FF2B5EF4-FFF2-40B4-BE49-F238E27FC236}">
                  <a16:creationId xmlns:a16="http://schemas.microsoft.com/office/drawing/2014/main" id="{6F723B72-717A-5EA4-4CA5-492EC50004C7}"/>
                </a:ext>
              </a:extLst>
            </p:cNvPr>
            <p:cNvSpPr>
              <a:spLocks noChangeAspect="1" noChangeShapeType="1"/>
            </p:cNvSpPr>
            <p:nvPr/>
          </p:nvSpPr>
          <p:spPr bwMode="auto">
            <a:xfrm>
              <a:off x="2993" y="3117"/>
              <a:ext cx="2767" cy="0"/>
            </a:xfrm>
            <a:prstGeom prst="line">
              <a:avLst/>
            </a:prstGeom>
            <a:noFill/>
            <a:ln w="3175">
              <a:solidFill>
                <a:srgbClr val="33CC33"/>
              </a:solidFill>
              <a:prstDash val="lgDash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Tree>
    <p:extLst>
      <p:ext uri="{BB962C8B-B14F-4D97-AF65-F5344CB8AC3E}">
        <p14:creationId xmlns:p14="http://schemas.microsoft.com/office/powerpoint/2010/main" val="2095932419"/>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6"/>
                                        </p:tgtEl>
                                        <p:attrNameLst>
                                          <p:attrName>style.visibility</p:attrName>
                                        </p:attrNameLst>
                                      </p:cBhvr>
                                      <p:to>
                                        <p:strVal val="visible"/>
                                      </p:to>
                                    </p:set>
                                  </p:childTnLst>
                                </p:cTn>
                              </p:par>
                              <p:par>
                                <p:cTn id="11" presetID="16" presetClass="entr" presetSubtype="37"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barn(outVertical)">
                                      <p:cBhvr>
                                        <p:cTn id="13" dur="5000"/>
                                        <p:tgtEl>
                                          <p:spTgt spid="10"/>
                                        </p:tgtEl>
                                      </p:cBhvr>
                                    </p:animEffect>
                                  </p:childTnLst>
                                  <p:subTnLst>
                                    <p:audio>
                                      <p:cMediaNode>
                                        <p:cTn display="0" masterRel="sameClick">
                                          <p:stCondLst>
                                            <p:cond evt="begin" delay="0">
                                              <p:tn val="11"/>
                                            </p:cond>
                                          </p:stCondLst>
                                          <p:endCondLst>
                                            <p:cond evt="onStopAudio" delay="0">
                                              <p:tgtEl>
                                                <p:sldTgt/>
                                              </p:tgtEl>
                                            </p:cond>
                                          </p:endCondLst>
                                        </p:cTn>
                                        <p:tgtEl>
                                          <p:sndTgt r:embed="rId3" name="LASER.WAV"/>
                                        </p:tgtEl>
                                      </p:cMediaNode>
                                    </p:audio>
                                  </p:subTnLst>
                                </p:cTn>
                              </p:par>
                              <p:par>
                                <p:cTn id="14" presetID="16" presetClass="entr" presetSubtype="37" fill="hold" nodeType="withEffect">
                                  <p:stCondLst>
                                    <p:cond delay="0"/>
                                  </p:stCondLst>
                                  <p:childTnLst>
                                    <p:set>
                                      <p:cBhvr>
                                        <p:cTn id="15" dur="1" fill="hold">
                                          <p:stCondLst>
                                            <p:cond delay="0"/>
                                          </p:stCondLst>
                                        </p:cTn>
                                        <p:tgtEl>
                                          <p:spTgt spid="28"/>
                                        </p:tgtEl>
                                        <p:attrNameLst>
                                          <p:attrName>style.visibility</p:attrName>
                                        </p:attrNameLst>
                                      </p:cBhvr>
                                      <p:to>
                                        <p:strVal val="visible"/>
                                      </p:to>
                                    </p:set>
                                    <p:animEffect transition="in" filter="barn(outVertical)">
                                      <p:cBhvr>
                                        <p:cTn id="16" dur="50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6" grpId="0"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711605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第八章   拉压、剪切与挤压的强度计算</a:t>
            </a:r>
          </a:p>
        </p:txBody>
      </p:sp>
      <p:sp>
        <p:nvSpPr>
          <p:cNvPr id="53" name="Text Box 1032"/>
          <p:cNvSpPr txBox="1">
            <a:spLocks noChangeArrowheads="1"/>
          </p:cNvSpPr>
          <p:nvPr/>
        </p:nvSpPr>
        <p:spPr bwMode="auto">
          <a:xfrm>
            <a:off x="558329" y="1310959"/>
            <a:ext cx="5332562" cy="10070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lnSpc>
                <a:spcPct val="110000"/>
              </a:lnSpc>
            </a:pPr>
            <a:r>
              <a:rPr kumimoji="1" lang="zh-CN" altLang="en-US" sz="2800" i="0" dirty="0">
                <a:solidFill>
                  <a:srgbClr val="000000"/>
                </a:solidFill>
                <a:latin typeface="+mn-lt"/>
                <a:ea typeface="微软雅黑" panose="020B0503020204020204" pitchFamily="34" charset="-122"/>
              </a:rPr>
              <a:t>低碳钢根据</a:t>
            </a:r>
            <a:r>
              <a:rPr kumimoji="1" lang="zh-CN" altLang="en-US" sz="2800" b="0" dirty="0">
                <a:solidFill>
                  <a:srgbClr val="000000"/>
                </a:solidFill>
                <a:latin typeface="+mn-lt"/>
                <a:ea typeface="微软雅黑" panose="020B0503020204020204" pitchFamily="34" charset="-122"/>
                <a:sym typeface="Symbol" panose="05050102010706020507" pitchFamily="18" charset="2"/>
              </a:rPr>
              <a:t></a:t>
            </a:r>
            <a:r>
              <a:rPr kumimoji="1" lang="en-US" altLang="zh-CN" sz="2800" b="0" dirty="0">
                <a:solidFill>
                  <a:srgbClr val="000000"/>
                </a:solidFill>
                <a:latin typeface="+mn-lt"/>
                <a:ea typeface="微软雅黑" panose="020B0503020204020204" pitchFamily="34" charset="-122"/>
              </a:rPr>
              <a:t>-</a:t>
            </a:r>
            <a:r>
              <a:rPr kumimoji="1" lang="en-US" altLang="zh-CN" sz="2800" b="0" dirty="0">
                <a:solidFill>
                  <a:srgbClr val="000000"/>
                </a:solidFill>
                <a:latin typeface="+mn-lt"/>
                <a:ea typeface="微软雅黑" panose="020B0503020204020204" pitchFamily="34" charset="-122"/>
                <a:sym typeface="Symbol" panose="05050102010706020507" pitchFamily="18" charset="2"/>
              </a:rPr>
              <a:t></a:t>
            </a:r>
            <a:r>
              <a:rPr kumimoji="1" lang="zh-CN" altLang="en-US" sz="2800" i="0" dirty="0">
                <a:solidFill>
                  <a:srgbClr val="000000"/>
                </a:solidFill>
                <a:latin typeface="+mn-lt"/>
                <a:ea typeface="微软雅黑" panose="020B0503020204020204" pitchFamily="34" charset="-122"/>
              </a:rPr>
              <a:t>曲线，低碳钢的拉伸过程可分为四个阶段。</a:t>
            </a:r>
            <a:endParaRPr kumimoji="1" lang="zh-CN" altLang="en-US" sz="2800" i="0" dirty="0">
              <a:latin typeface="+mn-lt"/>
              <a:ea typeface="微软雅黑" panose="020B0503020204020204" pitchFamily="34" charset="-122"/>
            </a:endParaRPr>
          </a:p>
        </p:txBody>
      </p:sp>
      <p:sp>
        <p:nvSpPr>
          <p:cNvPr id="2" name="矩形 1">
            <a:extLst>
              <a:ext uri="{FF2B5EF4-FFF2-40B4-BE49-F238E27FC236}">
                <a16:creationId xmlns:a16="http://schemas.microsoft.com/office/drawing/2014/main" id="{8A892F5C-7536-F031-6CD4-1C9902B467DE}"/>
              </a:ext>
            </a:extLst>
          </p:cNvPr>
          <p:cNvSpPr/>
          <p:nvPr/>
        </p:nvSpPr>
        <p:spPr>
          <a:xfrm>
            <a:off x="1366831" y="764352"/>
            <a:ext cx="4530407" cy="599331"/>
          </a:xfrm>
          <a:prstGeom prst="rect">
            <a:avLst/>
          </a:prstGeom>
        </p:spPr>
        <p:txBody>
          <a:bodyPr wrap="none">
            <a:spAutoFit/>
          </a:bodyPr>
          <a:lstStyle/>
          <a:p>
            <a:pPr>
              <a:lnSpc>
                <a:spcPct val="120000"/>
              </a:lnSpc>
            </a:pPr>
            <a:r>
              <a:rPr lang="zh-CN" altLang="en-US" sz="3000" i="0" dirty="0">
                <a:solidFill>
                  <a:srgbClr val="4F81BD"/>
                </a:solidFill>
                <a:latin typeface="微软雅黑" panose="020B0503020204020204" pitchFamily="34" charset="-122"/>
                <a:ea typeface="微软雅黑" panose="020B0503020204020204" pitchFamily="34" charset="-122"/>
              </a:rPr>
              <a:t>低碳钢拉伸时的力学性能</a:t>
            </a:r>
          </a:p>
        </p:txBody>
      </p:sp>
      <p:pic>
        <p:nvPicPr>
          <p:cNvPr id="67" name="拉伸变形.avi">
            <a:hlinkClick r:id="" action="ppaction://media"/>
            <a:extLst>
              <a:ext uri="{FF2B5EF4-FFF2-40B4-BE49-F238E27FC236}">
                <a16:creationId xmlns:a16="http://schemas.microsoft.com/office/drawing/2014/main" id="{A128F2A4-ACB0-F47E-724F-A7E4AEAD808D}"/>
              </a:ext>
            </a:extLst>
          </p:cNvPr>
          <p:cNvPicPr>
            <a:picLocks noChangeAspect="1" noChangeArrowheads="1"/>
          </p:cNvPicPr>
          <p:nvPr>
            <a:videoFile r:link="rId2"/>
            <p:extLst>
              <p:ext uri="{DAA4B4D4-6D71-4841-9C94-3DE7FCFB9230}">
                <p14:media xmlns:p14="http://schemas.microsoft.com/office/powerpoint/2010/main" r:link="rId1"/>
              </p:ext>
            </p:extLst>
          </p:nvPr>
        </p:nvPicPr>
        <p:blipFill>
          <a:blip r:embed="rId13">
            <a:extLst>
              <a:ext uri="{28A0092B-C50C-407E-A947-70E740481C1C}">
                <a14:useLocalDpi xmlns:a14="http://schemas.microsoft.com/office/drawing/2010/main" val="0"/>
              </a:ext>
            </a:extLst>
          </a:blip>
          <a:srcRect/>
          <a:stretch>
            <a:fillRect/>
          </a:stretch>
        </p:blipFill>
        <p:spPr bwMode="auto">
          <a:xfrm>
            <a:off x="5922640" y="802081"/>
            <a:ext cx="6269037" cy="550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 name="拉伸变形e.avi">
            <a:hlinkClick r:id="" action="ppaction://media"/>
            <a:extLst>
              <a:ext uri="{FF2B5EF4-FFF2-40B4-BE49-F238E27FC236}">
                <a16:creationId xmlns:a16="http://schemas.microsoft.com/office/drawing/2014/main" id="{C66062C2-54F2-3131-3E5C-F7DB8D3007A9}"/>
              </a:ext>
            </a:extLst>
          </p:cNvPr>
          <p:cNvPicPr>
            <a:picLocks noRot="1" noChangeAspect="1" noChangeArrowheads="1"/>
          </p:cNvPicPr>
          <p:nvPr>
            <a:videoFile r:link="rId3"/>
          </p:nvPr>
        </p:nvPicPr>
        <p:blipFill>
          <a:blip r:embed="rId14">
            <a:extLst>
              <a:ext uri="{28A0092B-C50C-407E-A947-70E740481C1C}">
                <a14:useLocalDpi xmlns:a14="http://schemas.microsoft.com/office/drawing/2010/main" val="0"/>
              </a:ext>
            </a:extLst>
          </a:blip>
          <a:srcRect/>
          <a:stretch>
            <a:fillRect/>
          </a:stretch>
        </p:blipFill>
        <p:spPr bwMode="auto">
          <a:xfrm>
            <a:off x="6316340" y="811606"/>
            <a:ext cx="5854700" cy="549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 name="Text Box 5">
            <a:extLst>
              <a:ext uri="{FF2B5EF4-FFF2-40B4-BE49-F238E27FC236}">
                <a16:creationId xmlns:a16="http://schemas.microsoft.com/office/drawing/2014/main" id="{453E9F27-D0A0-989B-E627-C80B3765D278}"/>
              </a:ext>
            </a:extLst>
          </p:cNvPr>
          <p:cNvSpPr txBox="1">
            <a:spLocks noChangeArrowheads="1"/>
          </p:cNvSpPr>
          <p:nvPr/>
        </p:nvSpPr>
        <p:spPr bwMode="auto">
          <a:xfrm>
            <a:off x="497359" y="2254504"/>
            <a:ext cx="28575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1" lang="en-US" altLang="zh-CN" sz="2400" i="0" u="none" strike="noStrike" kern="0" cap="none" spc="0" normalizeH="0" baseline="0" noProof="0" dirty="0">
                <a:ln>
                  <a:noFill/>
                </a:ln>
                <a:solidFill>
                  <a:srgbClr val="FF00FF"/>
                </a:solidFill>
                <a:effectLst/>
                <a:uLnTx/>
                <a:uFillTx/>
                <a:latin typeface="微软雅黑" panose="020B0503020204020204" pitchFamily="34" charset="-122"/>
                <a:ea typeface="微软雅黑" panose="020B0503020204020204" pitchFamily="34" charset="-122"/>
              </a:rPr>
              <a:t> </a:t>
            </a:r>
            <a:r>
              <a:rPr lang="en-US" altLang="zh-CN" sz="2800" i="0" dirty="0">
                <a:solidFill>
                  <a:srgbClr val="FF00FF"/>
                </a:solidFill>
                <a:latin typeface="+mn-lt"/>
                <a:ea typeface="微软雅黑" panose="020B0503020204020204" pitchFamily="34" charset="-122"/>
              </a:rPr>
              <a:t>1</a:t>
            </a:r>
            <a:r>
              <a:rPr lang="zh-CN" altLang="en-US" sz="2800" i="0" dirty="0">
                <a:solidFill>
                  <a:srgbClr val="FF00FF"/>
                </a:solidFill>
                <a:latin typeface="+mn-lt"/>
                <a:ea typeface="微软雅黑" panose="020B0503020204020204" pitchFamily="34" charset="-122"/>
              </a:rPr>
              <a:t>）线弹性阶段</a:t>
            </a:r>
          </a:p>
        </p:txBody>
      </p:sp>
      <p:sp>
        <p:nvSpPr>
          <p:cNvPr id="70" name="Text Box 6">
            <a:extLst>
              <a:ext uri="{FF2B5EF4-FFF2-40B4-BE49-F238E27FC236}">
                <a16:creationId xmlns:a16="http://schemas.microsoft.com/office/drawing/2014/main" id="{13D91CFD-14AD-5BCC-7547-AC21581352D6}"/>
              </a:ext>
            </a:extLst>
          </p:cNvPr>
          <p:cNvSpPr txBox="1">
            <a:spLocks noChangeArrowheads="1"/>
          </p:cNvSpPr>
          <p:nvPr/>
        </p:nvSpPr>
        <p:spPr bwMode="auto">
          <a:xfrm>
            <a:off x="1099679" y="2777724"/>
            <a:ext cx="267017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lang="en-US" altLang="zh-CN" sz="2800" b="0" dirty="0">
                <a:solidFill>
                  <a:srgbClr val="000000"/>
                </a:solidFill>
                <a:latin typeface="+mn-lt"/>
                <a:ea typeface="微软雅黑" panose="020B0503020204020204" pitchFamily="34" charset="-122"/>
                <a:sym typeface="Symbol" panose="05050102010706020507" pitchFamily="18" charset="2"/>
              </a:rPr>
              <a:t></a:t>
            </a:r>
            <a:r>
              <a:rPr lang="en-US" altLang="zh-CN" sz="2800" b="0" i="0" baseline="-25000" dirty="0">
                <a:solidFill>
                  <a:srgbClr val="000000"/>
                </a:solidFill>
                <a:latin typeface="+mn-lt"/>
                <a:ea typeface="微软雅黑" panose="020B0503020204020204" pitchFamily="34" charset="-122"/>
              </a:rPr>
              <a:t>p</a:t>
            </a:r>
            <a:r>
              <a:rPr lang="en-US" altLang="zh-CN" sz="2800" i="0" dirty="0">
                <a:solidFill>
                  <a:srgbClr val="000000"/>
                </a:solidFill>
                <a:latin typeface="+mn-lt"/>
                <a:ea typeface="微软雅黑" panose="020B0503020204020204" pitchFamily="34" charset="-122"/>
              </a:rPr>
              <a:t>    </a:t>
            </a:r>
            <a:r>
              <a:rPr lang="zh-CN" altLang="en-US" sz="2800" i="0" dirty="0">
                <a:solidFill>
                  <a:srgbClr val="000000"/>
                </a:solidFill>
                <a:latin typeface="+mn-lt"/>
                <a:ea typeface="微软雅黑" panose="020B0503020204020204" pitchFamily="34" charset="-122"/>
              </a:rPr>
              <a:t>比例极限</a:t>
            </a:r>
          </a:p>
        </p:txBody>
      </p:sp>
      <p:sp>
        <p:nvSpPr>
          <p:cNvPr id="71" name="Text Box 7">
            <a:extLst>
              <a:ext uri="{FF2B5EF4-FFF2-40B4-BE49-F238E27FC236}">
                <a16:creationId xmlns:a16="http://schemas.microsoft.com/office/drawing/2014/main" id="{2F2B01C7-9679-939C-B4F5-062E8AD1722A}"/>
              </a:ext>
            </a:extLst>
          </p:cNvPr>
          <p:cNvSpPr txBox="1">
            <a:spLocks noChangeArrowheads="1"/>
          </p:cNvSpPr>
          <p:nvPr/>
        </p:nvSpPr>
        <p:spPr bwMode="auto">
          <a:xfrm>
            <a:off x="576958" y="3353034"/>
            <a:ext cx="26860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lang="en-US" altLang="zh-CN" sz="2800" i="0" dirty="0">
                <a:solidFill>
                  <a:srgbClr val="FF00FF"/>
                </a:solidFill>
                <a:latin typeface="+mn-lt"/>
                <a:ea typeface="微软雅黑" panose="020B0503020204020204" pitchFamily="34" charset="-122"/>
              </a:rPr>
              <a:t>2</a:t>
            </a:r>
            <a:r>
              <a:rPr lang="zh-CN" altLang="en-US" sz="2800" i="0" dirty="0">
                <a:solidFill>
                  <a:srgbClr val="FF00FF"/>
                </a:solidFill>
                <a:latin typeface="+mn-lt"/>
                <a:ea typeface="微软雅黑" panose="020B0503020204020204" pitchFamily="34" charset="-122"/>
              </a:rPr>
              <a:t>）屈服阶段</a:t>
            </a:r>
          </a:p>
        </p:txBody>
      </p:sp>
      <p:sp>
        <p:nvSpPr>
          <p:cNvPr id="72" name="Text Box 8">
            <a:extLst>
              <a:ext uri="{FF2B5EF4-FFF2-40B4-BE49-F238E27FC236}">
                <a16:creationId xmlns:a16="http://schemas.microsoft.com/office/drawing/2014/main" id="{60C8816C-C82C-E970-DA78-F5A3A6797D07}"/>
              </a:ext>
            </a:extLst>
          </p:cNvPr>
          <p:cNvSpPr txBox="1">
            <a:spLocks noChangeArrowheads="1"/>
          </p:cNvSpPr>
          <p:nvPr/>
        </p:nvSpPr>
        <p:spPr bwMode="auto">
          <a:xfrm>
            <a:off x="1060671" y="3836841"/>
            <a:ext cx="4603208" cy="10070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10000"/>
              </a:lnSpc>
              <a:spcBef>
                <a:spcPts val="0"/>
              </a:spcBef>
              <a:spcAft>
                <a:spcPts val="0"/>
              </a:spcAft>
              <a:buClrTx/>
              <a:buSzTx/>
              <a:buFontTx/>
              <a:buNone/>
              <a:tabLst/>
              <a:defRPr/>
            </a:pPr>
            <a:r>
              <a:rPr lang="en-US" altLang="zh-CN" sz="2800" b="0" dirty="0">
                <a:solidFill>
                  <a:srgbClr val="000000"/>
                </a:solidFill>
                <a:latin typeface="+mn-lt"/>
                <a:ea typeface="微软雅黑" panose="020B0503020204020204" pitchFamily="34" charset="-122"/>
                <a:sym typeface="Symbol" panose="05050102010706020507" pitchFamily="18" charset="2"/>
              </a:rPr>
              <a:t></a:t>
            </a:r>
            <a:r>
              <a:rPr lang="en-US" altLang="zh-CN" sz="2800" b="0" i="0" baseline="-25000" dirty="0">
                <a:solidFill>
                  <a:srgbClr val="000000"/>
                </a:solidFill>
                <a:latin typeface="+mn-lt"/>
                <a:ea typeface="微软雅黑" panose="020B0503020204020204" pitchFamily="34" charset="-122"/>
              </a:rPr>
              <a:t>s</a:t>
            </a:r>
            <a:r>
              <a:rPr lang="en-US" altLang="zh-CN" sz="2800" i="0" dirty="0">
                <a:solidFill>
                  <a:srgbClr val="000000"/>
                </a:solidFill>
                <a:latin typeface="+mn-lt"/>
                <a:ea typeface="微软雅黑" panose="020B0503020204020204" pitchFamily="34" charset="-122"/>
              </a:rPr>
              <a:t>    </a:t>
            </a:r>
            <a:r>
              <a:rPr lang="zh-CN" altLang="en-US" sz="2800" i="0" dirty="0">
                <a:solidFill>
                  <a:srgbClr val="000000"/>
                </a:solidFill>
                <a:latin typeface="+mn-lt"/>
                <a:ea typeface="微软雅黑" panose="020B0503020204020204" pitchFamily="34" charset="-122"/>
              </a:rPr>
              <a:t>屈服极限</a:t>
            </a:r>
            <a:endParaRPr lang="en-US" altLang="zh-CN" sz="2800" i="0" dirty="0">
              <a:solidFill>
                <a:srgbClr val="000000"/>
              </a:solidFill>
              <a:latin typeface="+mn-lt"/>
              <a:ea typeface="微软雅黑" panose="020B0503020204020204" pitchFamily="34" charset="-122"/>
            </a:endParaRPr>
          </a:p>
          <a:p>
            <a:pPr marL="0" marR="0" lvl="0" indent="0" defTabSz="914400" eaLnBrk="1" fontAlgn="auto" latinLnBrk="0" hangingPunct="1">
              <a:lnSpc>
                <a:spcPct val="110000"/>
              </a:lnSpc>
              <a:spcBef>
                <a:spcPts val="0"/>
              </a:spcBef>
              <a:spcAft>
                <a:spcPts val="0"/>
              </a:spcAft>
              <a:buClrTx/>
              <a:buSzTx/>
              <a:buFontTx/>
              <a:buNone/>
              <a:tabLst/>
              <a:defRPr/>
            </a:pPr>
            <a:r>
              <a:rPr lang="zh-CN" altLang="en-US" sz="2800" i="0" dirty="0">
                <a:solidFill>
                  <a:srgbClr val="000000"/>
                </a:solidFill>
                <a:latin typeface="+mn-lt"/>
                <a:ea typeface="微软雅黑" panose="020B0503020204020204" pitchFamily="34" charset="-122"/>
              </a:rPr>
              <a:t>是衡量材料强度的重要指标</a:t>
            </a:r>
          </a:p>
        </p:txBody>
      </p:sp>
      <p:sp>
        <p:nvSpPr>
          <p:cNvPr id="73" name="Text Box 9">
            <a:extLst>
              <a:ext uri="{FF2B5EF4-FFF2-40B4-BE49-F238E27FC236}">
                <a16:creationId xmlns:a16="http://schemas.microsoft.com/office/drawing/2014/main" id="{0BF56AD6-2A10-34FA-F0C0-FBDC61F79576}"/>
              </a:ext>
            </a:extLst>
          </p:cNvPr>
          <p:cNvSpPr txBox="1">
            <a:spLocks noChangeArrowheads="1"/>
          </p:cNvSpPr>
          <p:nvPr/>
        </p:nvSpPr>
        <p:spPr bwMode="auto">
          <a:xfrm>
            <a:off x="549102" y="4843848"/>
            <a:ext cx="28575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lang="en-US" altLang="zh-CN" sz="2800" i="0" dirty="0">
                <a:solidFill>
                  <a:srgbClr val="FF00FF"/>
                </a:solidFill>
                <a:latin typeface="+mn-lt"/>
                <a:ea typeface="微软雅黑" panose="020B0503020204020204" pitchFamily="34" charset="-122"/>
              </a:rPr>
              <a:t>3</a:t>
            </a:r>
            <a:r>
              <a:rPr lang="zh-CN" altLang="en-US" sz="2800" i="0" dirty="0">
                <a:solidFill>
                  <a:srgbClr val="FF00FF"/>
                </a:solidFill>
                <a:latin typeface="+mn-lt"/>
                <a:ea typeface="微软雅黑" panose="020B0503020204020204" pitchFamily="34" charset="-122"/>
              </a:rPr>
              <a:t>）强化阶段</a:t>
            </a:r>
          </a:p>
        </p:txBody>
      </p:sp>
      <p:sp>
        <p:nvSpPr>
          <p:cNvPr id="74" name="Text Box 10">
            <a:extLst>
              <a:ext uri="{FF2B5EF4-FFF2-40B4-BE49-F238E27FC236}">
                <a16:creationId xmlns:a16="http://schemas.microsoft.com/office/drawing/2014/main" id="{ED48C8B4-D2A8-CA47-F3EF-4E9EB2A1AC0D}"/>
              </a:ext>
            </a:extLst>
          </p:cNvPr>
          <p:cNvSpPr txBox="1">
            <a:spLocks noChangeArrowheads="1"/>
          </p:cNvSpPr>
          <p:nvPr/>
        </p:nvSpPr>
        <p:spPr bwMode="auto">
          <a:xfrm>
            <a:off x="1036502" y="5286190"/>
            <a:ext cx="334327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lang="en-US" altLang="zh-CN" sz="2800" b="0" dirty="0">
                <a:solidFill>
                  <a:srgbClr val="000000"/>
                </a:solidFill>
                <a:latin typeface="+mn-lt"/>
                <a:ea typeface="微软雅黑" panose="020B0503020204020204" pitchFamily="34" charset="-122"/>
                <a:sym typeface="Symbol" panose="05050102010706020507" pitchFamily="18" charset="2"/>
              </a:rPr>
              <a:t></a:t>
            </a:r>
            <a:r>
              <a:rPr lang="en-US" altLang="zh-CN" sz="2800" b="0" i="0" baseline="-25000" dirty="0">
                <a:solidFill>
                  <a:srgbClr val="000000"/>
                </a:solidFill>
                <a:latin typeface="+mn-lt"/>
                <a:ea typeface="微软雅黑" panose="020B0503020204020204" pitchFamily="34" charset="-122"/>
              </a:rPr>
              <a:t>b</a:t>
            </a:r>
            <a:r>
              <a:rPr lang="en-US" altLang="zh-CN" sz="2800" i="0" dirty="0">
                <a:solidFill>
                  <a:srgbClr val="000000"/>
                </a:solidFill>
                <a:latin typeface="+mn-lt"/>
                <a:ea typeface="微软雅黑" panose="020B0503020204020204" pitchFamily="34" charset="-122"/>
              </a:rPr>
              <a:t>     </a:t>
            </a:r>
            <a:r>
              <a:rPr lang="zh-CN" altLang="en-US" sz="2800" i="0" dirty="0">
                <a:solidFill>
                  <a:srgbClr val="000000"/>
                </a:solidFill>
                <a:latin typeface="+mn-lt"/>
                <a:ea typeface="微软雅黑" panose="020B0503020204020204" pitchFamily="34" charset="-122"/>
              </a:rPr>
              <a:t>强度极限</a:t>
            </a:r>
          </a:p>
        </p:txBody>
      </p:sp>
      <p:sp>
        <p:nvSpPr>
          <p:cNvPr id="75" name="Text Box 11">
            <a:extLst>
              <a:ext uri="{FF2B5EF4-FFF2-40B4-BE49-F238E27FC236}">
                <a16:creationId xmlns:a16="http://schemas.microsoft.com/office/drawing/2014/main" id="{3B46C7AC-B7FA-9E5C-1245-2D422F3DECFD}"/>
              </a:ext>
            </a:extLst>
          </p:cNvPr>
          <p:cNvSpPr txBox="1">
            <a:spLocks noChangeArrowheads="1"/>
          </p:cNvSpPr>
          <p:nvPr/>
        </p:nvSpPr>
        <p:spPr bwMode="auto">
          <a:xfrm>
            <a:off x="475837" y="5774102"/>
            <a:ext cx="315428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lang="en-US" altLang="zh-CN" sz="2800" i="0" dirty="0">
                <a:solidFill>
                  <a:srgbClr val="FF00FF"/>
                </a:solidFill>
                <a:latin typeface="+mn-lt"/>
                <a:ea typeface="微软雅黑" panose="020B0503020204020204" pitchFamily="34" charset="-122"/>
              </a:rPr>
              <a:t> 4</a:t>
            </a:r>
            <a:r>
              <a:rPr lang="zh-CN" altLang="en-US" sz="2800" i="0" dirty="0">
                <a:solidFill>
                  <a:srgbClr val="FF00FF"/>
                </a:solidFill>
                <a:latin typeface="+mn-lt"/>
                <a:ea typeface="微软雅黑" panose="020B0503020204020204" pitchFamily="34" charset="-122"/>
              </a:rPr>
              <a:t>）颈缩破坏阶段</a:t>
            </a:r>
          </a:p>
        </p:txBody>
      </p:sp>
      <p:sp>
        <p:nvSpPr>
          <p:cNvPr id="76" name="Text Box 12">
            <a:extLst>
              <a:ext uri="{FF2B5EF4-FFF2-40B4-BE49-F238E27FC236}">
                <a16:creationId xmlns:a16="http://schemas.microsoft.com/office/drawing/2014/main" id="{40DF5339-39DA-962B-BDB8-3892DDFF0B56}"/>
              </a:ext>
            </a:extLst>
          </p:cNvPr>
          <p:cNvSpPr txBox="1">
            <a:spLocks noChangeArrowheads="1"/>
          </p:cNvSpPr>
          <p:nvPr/>
        </p:nvSpPr>
        <p:spPr bwMode="auto">
          <a:xfrm>
            <a:off x="6590977" y="854468"/>
            <a:ext cx="5524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eaLnBrk="1" hangingPunct="1">
              <a:spcBef>
                <a:spcPct val="50000"/>
              </a:spcBef>
            </a:pPr>
            <a:r>
              <a:rPr lang="en-US" altLang="zh-CN" sz="2800" b="0">
                <a:solidFill>
                  <a:srgbClr val="000000"/>
                </a:solidFill>
                <a:latin typeface="" pitchFamily="18" charset="-52"/>
                <a:ea typeface="宋体" panose="02010600030101010101" pitchFamily="2" charset="-122"/>
                <a:sym typeface="Symbol" panose="05050102010706020507" pitchFamily="18" charset="2"/>
              </a:rPr>
              <a:t></a:t>
            </a:r>
          </a:p>
        </p:txBody>
      </p:sp>
      <p:sp>
        <p:nvSpPr>
          <p:cNvPr id="77" name="Text Box 13">
            <a:extLst>
              <a:ext uri="{FF2B5EF4-FFF2-40B4-BE49-F238E27FC236}">
                <a16:creationId xmlns:a16="http://schemas.microsoft.com/office/drawing/2014/main" id="{03E076F8-1A14-BB8D-6CF7-79C6104EF349}"/>
              </a:ext>
            </a:extLst>
          </p:cNvPr>
          <p:cNvSpPr txBox="1">
            <a:spLocks noChangeArrowheads="1"/>
          </p:cNvSpPr>
          <p:nvPr/>
        </p:nvSpPr>
        <p:spPr bwMode="auto">
          <a:xfrm>
            <a:off x="11224890" y="5494731"/>
            <a:ext cx="6858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eaLnBrk="1" hangingPunct="1">
              <a:spcBef>
                <a:spcPct val="50000"/>
              </a:spcBef>
            </a:pPr>
            <a:r>
              <a:rPr lang="en-US" altLang="zh-CN" sz="2800" b="0">
                <a:solidFill>
                  <a:srgbClr val="000000"/>
                </a:solidFill>
                <a:latin typeface="" pitchFamily="18" charset="-52"/>
                <a:ea typeface="宋体" panose="02010600030101010101" pitchFamily="2" charset="-122"/>
                <a:sym typeface="Symbol" panose="05050102010706020507" pitchFamily="18" charset="2"/>
              </a:rPr>
              <a:t></a:t>
            </a:r>
          </a:p>
        </p:txBody>
      </p:sp>
      <p:sp>
        <p:nvSpPr>
          <p:cNvPr id="78" name="Line 14">
            <a:extLst>
              <a:ext uri="{FF2B5EF4-FFF2-40B4-BE49-F238E27FC236}">
                <a16:creationId xmlns:a16="http://schemas.microsoft.com/office/drawing/2014/main" id="{9A445285-A899-B327-8E02-7D24B32C2F3E}"/>
              </a:ext>
            </a:extLst>
          </p:cNvPr>
          <p:cNvSpPr>
            <a:spLocks noChangeShapeType="1"/>
          </p:cNvSpPr>
          <p:nvPr/>
        </p:nvSpPr>
        <p:spPr bwMode="auto">
          <a:xfrm>
            <a:off x="7000552" y="3121418"/>
            <a:ext cx="609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FF"/>
              </a:solidFill>
              <a:effectLst/>
              <a:uLnTx/>
              <a:uFillTx/>
              <a:ea typeface="黑体" panose="02010609060101010101" pitchFamily="49" charset="-122"/>
            </a:endParaRPr>
          </a:p>
        </p:txBody>
      </p:sp>
      <p:sp>
        <p:nvSpPr>
          <p:cNvPr id="79" name="Text Box 15">
            <a:extLst>
              <a:ext uri="{FF2B5EF4-FFF2-40B4-BE49-F238E27FC236}">
                <a16:creationId xmlns:a16="http://schemas.microsoft.com/office/drawing/2014/main" id="{6CD7D874-634B-E8F5-58C0-94C227A50A1D}"/>
              </a:ext>
            </a:extLst>
          </p:cNvPr>
          <p:cNvSpPr txBox="1">
            <a:spLocks noChangeArrowheads="1"/>
          </p:cNvSpPr>
          <p:nvPr/>
        </p:nvSpPr>
        <p:spPr bwMode="auto">
          <a:xfrm rot="16200000">
            <a:off x="6955309" y="4163611"/>
            <a:ext cx="7048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eaLnBrk="1" hangingPunct="1">
              <a:spcBef>
                <a:spcPct val="50000"/>
              </a:spcBef>
            </a:pPr>
            <a:r>
              <a:rPr lang="en-US" altLang="zh-CN" sz="2800" b="0" dirty="0">
                <a:solidFill>
                  <a:srgbClr val="000000"/>
                </a:solidFill>
                <a:latin typeface="+mn-lt"/>
                <a:ea typeface="宋体" panose="02010600030101010101" pitchFamily="2" charset="-122"/>
                <a:sym typeface="Symbol" panose="05050102010706020507" pitchFamily="18" charset="2"/>
              </a:rPr>
              <a:t></a:t>
            </a:r>
            <a:r>
              <a:rPr lang="en-US" altLang="zh-CN" sz="2800" b="0" i="0" baseline="-25000" dirty="0">
                <a:solidFill>
                  <a:srgbClr val="000000"/>
                </a:solidFill>
                <a:latin typeface="+mn-lt"/>
                <a:ea typeface="宋体" panose="02010600030101010101" pitchFamily="2" charset="-122"/>
              </a:rPr>
              <a:t>p</a:t>
            </a:r>
          </a:p>
        </p:txBody>
      </p:sp>
      <p:sp>
        <p:nvSpPr>
          <p:cNvPr id="80" name="Line 16">
            <a:extLst>
              <a:ext uri="{FF2B5EF4-FFF2-40B4-BE49-F238E27FC236}">
                <a16:creationId xmlns:a16="http://schemas.microsoft.com/office/drawing/2014/main" id="{2E482F23-2FAA-3B05-114F-17819DD13202}"/>
              </a:ext>
            </a:extLst>
          </p:cNvPr>
          <p:cNvSpPr>
            <a:spLocks noChangeShapeType="1"/>
          </p:cNvSpPr>
          <p:nvPr/>
        </p:nvSpPr>
        <p:spPr bwMode="auto">
          <a:xfrm>
            <a:off x="7114852" y="3007118"/>
            <a:ext cx="990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FF"/>
              </a:solidFill>
              <a:effectLst/>
              <a:uLnTx/>
              <a:uFillTx/>
              <a:ea typeface="黑体" panose="02010609060101010101" pitchFamily="49" charset="-122"/>
            </a:endParaRPr>
          </a:p>
        </p:txBody>
      </p:sp>
      <p:sp>
        <p:nvSpPr>
          <p:cNvPr id="81" name="Line 17">
            <a:extLst>
              <a:ext uri="{FF2B5EF4-FFF2-40B4-BE49-F238E27FC236}">
                <a16:creationId xmlns:a16="http://schemas.microsoft.com/office/drawing/2014/main" id="{DFCD56B2-A799-CDED-768B-B6AE4AB15F3C}"/>
              </a:ext>
            </a:extLst>
          </p:cNvPr>
          <p:cNvSpPr>
            <a:spLocks noChangeShapeType="1"/>
          </p:cNvSpPr>
          <p:nvPr/>
        </p:nvSpPr>
        <p:spPr bwMode="auto">
          <a:xfrm>
            <a:off x="8029252" y="2988068"/>
            <a:ext cx="0" cy="3009900"/>
          </a:xfrm>
          <a:prstGeom prst="line">
            <a:avLst/>
          </a:prstGeom>
          <a:noFill/>
          <a:ln w="9525">
            <a:solidFill>
              <a:srgbClr val="000000"/>
            </a:solidFill>
            <a:round/>
            <a:headEnd type="stealth" w="sm" len="lg"/>
            <a:tailEnd type="stealth" w="sm" len="lg"/>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FF"/>
              </a:solidFill>
              <a:effectLst/>
              <a:uLnTx/>
              <a:uFillTx/>
              <a:ea typeface="黑体" panose="02010609060101010101" pitchFamily="49" charset="-122"/>
            </a:endParaRPr>
          </a:p>
        </p:txBody>
      </p:sp>
      <p:sp>
        <p:nvSpPr>
          <p:cNvPr id="82" name="Text Box 18">
            <a:extLst>
              <a:ext uri="{FF2B5EF4-FFF2-40B4-BE49-F238E27FC236}">
                <a16:creationId xmlns:a16="http://schemas.microsoft.com/office/drawing/2014/main" id="{9A3032E8-718F-7405-5F8D-33A5B4AD3BA4}"/>
              </a:ext>
            </a:extLst>
          </p:cNvPr>
          <p:cNvSpPr txBox="1">
            <a:spLocks noChangeArrowheads="1"/>
          </p:cNvSpPr>
          <p:nvPr/>
        </p:nvSpPr>
        <p:spPr bwMode="auto">
          <a:xfrm rot="16200000">
            <a:off x="7431559" y="4182661"/>
            <a:ext cx="7048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1" lang="en-US" altLang="zh-CN" sz="2800" b="0" u="none" strike="noStrike" kern="0" cap="none" spc="0" normalizeH="0" baseline="0" noProof="0" dirty="0">
                <a:ln>
                  <a:noFill/>
                </a:ln>
                <a:solidFill>
                  <a:srgbClr val="000000"/>
                </a:solidFill>
                <a:effectLst/>
                <a:uLnTx/>
                <a:uFillTx/>
                <a:latin typeface="+mn-lt"/>
                <a:sym typeface="Symbol" panose="05050102010706020507" pitchFamily="18" charset="2"/>
              </a:rPr>
              <a:t></a:t>
            </a:r>
            <a:r>
              <a:rPr kumimoji="1" lang="en-US" altLang="zh-CN" sz="2800" b="0" i="0" u="none" strike="noStrike" kern="0" cap="none" spc="0" normalizeH="0" baseline="-25000" noProof="0" dirty="0">
                <a:ln>
                  <a:noFill/>
                </a:ln>
                <a:solidFill>
                  <a:srgbClr val="000000"/>
                </a:solidFill>
                <a:effectLst/>
                <a:uLnTx/>
                <a:uFillTx/>
                <a:latin typeface="+mn-lt"/>
                <a:ea typeface="宋体" panose="02010600030101010101" pitchFamily="2" charset="-122"/>
              </a:rPr>
              <a:t>e</a:t>
            </a:r>
          </a:p>
        </p:txBody>
      </p:sp>
      <p:sp>
        <p:nvSpPr>
          <p:cNvPr id="83" name="Line 19">
            <a:extLst>
              <a:ext uri="{FF2B5EF4-FFF2-40B4-BE49-F238E27FC236}">
                <a16:creationId xmlns:a16="http://schemas.microsoft.com/office/drawing/2014/main" id="{CD9C3D9D-15F0-930E-A6EB-38C3D2FDC808}"/>
              </a:ext>
            </a:extLst>
          </p:cNvPr>
          <p:cNvSpPr>
            <a:spLocks noChangeShapeType="1"/>
          </p:cNvSpPr>
          <p:nvPr/>
        </p:nvSpPr>
        <p:spPr bwMode="auto">
          <a:xfrm>
            <a:off x="7533952" y="2911868"/>
            <a:ext cx="169545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FF"/>
              </a:solidFill>
              <a:effectLst/>
              <a:uLnTx/>
              <a:uFillTx/>
              <a:ea typeface="黑体" panose="02010609060101010101" pitchFamily="49" charset="-122"/>
            </a:endParaRPr>
          </a:p>
        </p:txBody>
      </p:sp>
      <p:sp>
        <p:nvSpPr>
          <p:cNvPr id="84" name="Line 20">
            <a:extLst>
              <a:ext uri="{FF2B5EF4-FFF2-40B4-BE49-F238E27FC236}">
                <a16:creationId xmlns:a16="http://schemas.microsoft.com/office/drawing/2014/main" id="{1D7546A0-0C8B-5985-D8E1-A4E52A5F5617}"/>
              </a:ext>
            </a:extLst>
          </p:cNvPr>
          <p:cNvSpPr>
            <a:spLocks noChangeShapeType="1"/>
          </p:cNvSpPr>
          <p:nvPr/>
        </p:nvSpPr>
        <p:spPr bwMode="auto">
          <a:xfrm>
            <a:off x="9210352" y="2892818"/>
            <a:ext cx="0" cy="3086100"/>
          </a:xfrm>
          <a:prstGeom prst="line">
            <a:avLst/>
          </a:prstGeom>
          <a:noFill/>
          <a:ln w="9525">
            <a:solidFill>
              <a:srgbClr val="000000"/>
            </a:solidFill>
            <a:round/>
            <a:headEnd type="stealth" w="sm" len="lg"/>
            <a:tailEnd type="stealth" w="sm" len="lg"/>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FF"/>
              </a:solidFill>
              <a:effectLst/>
              <a:uLnTx/>
              <a:uFillTx/>
              <a:ea typeface="黑体" panose="02010609060101010101" pitchFamily="49" charset="-122"/>
            </a:endParaRPr>
          </a:p>
        </p:txBody>
      </p:sp>
      <p:sp>
        <p:nvSpPr>
          <p:cNvPr id="85" name="Text Box 21">
            <a:extLst>
              <a:ext uri="{FF2B5EF4-FFF2-40B4-BE49-F238E27FC236}">
                <a16:creationId xmlns:a16="http://schemas.microsoft.com/office/drawing/2014/main" id="{E522F3DF-03F9-D5AC-F89B-FF1DD4A018EE}"/>
              </a:ext>
            </a:extLst>
          </p:cNvPr>
          <p:cNvSpPr txBox="1">
            <a:spLocks noChangeArrowheads="1"/>
          </p:cNvSpPr>
          <p:nvPr/>
        </p:nvSpPr>
        <p:spPr bwMode="auto">
          <a:xfrm rot="16200000">
            <a:off x="8603134" y="4271561"/>
            <a:ext cx="7048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1" lang="en-US" altLang="zh-CN" sz="2800" b="0" u="none" strike="noStrike" kern="0" cap="none" spc="0" normalizeH="0" baseline="0" noProof="0" dirty="0">
                <a:ln>
                  <a:noFill/>
                </a:ln>
                <a:solidFill>
                  <a:srgbClr val="000000"/>
                </a:solidFill>
                <a:effectLst/>
                <a:uLnTx/>
                <a:uFillTx/>
                <a:latin typeface="+mn-lt"/>
                <a:sym typeface="Symbol" panose="05050102010706020507" pitchFamily="18" charset="2"/>
              </a:rPr>
              <a:t></a:t>
            </a:r>
            <a:r>
              <a:rPr kumimoji="1" lang="en-US" altLang="zh-CN" sz="2800" b="0" i="0" u="none" strike="noStrike" kern="0" cap="none" spc="0" normalizeH="0" baseline="-25000" noProof="0" dirty="0">
                <a:ln>
                  <a:noFill/>
                </a:ln>
                <a:solidFill>
                  <a:srgbClr val="000000"/>
                </a:solidFill>
                <a:effectLst/>
                <a:uLnTx/>
                <a:uFillTx/>
                <a:latin typeface="+mn-lt"/>
                <a:ea typeface="宋体" panose="02010600030101010101" pitchFamily="2" charset="-122"/>
              </a:rPr>
              <a:t>s</a:t>
            </a:r>
          </a:p>
        </p:txBody>
      </p:sp>
      <p:sp>
        <p:nvSpPr>
          <p:cNvPr id="86" name="Line 22">
            <a:extLst>
              <a:ext uri="{FF2B5EF4-FFF2-40B4-BE49-F238E27FC236}">
                <a16:creationId xmlns:a16="http://schemas.microsoft.com/office/drawing/2014/main" id="{8C10632D-6C27-D526-0988-68BA97D3FAE4}"/>
              </a:ext>
            </a:extLst>
          </p:cNvPr>
          <p:cNvSpPr>
            <a:spLocks noChangeShapeType="1"/>
          </p:cNvSpPr>
          <p:nvPr/>
        </p:nvSpPr>
        <p:spPr bwMode="auto">
          <a:xfrm>
            <a:off x="9762802" y="1330718"/>
            <a:ext cx="169545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FF"/>
              </a:solidFill>
              <a:effectLst/>
              <a:uLnTx/>
              <a:uFillTx/>
              <a:ea typeface="黑体" panose="02010609060101010101" pitchFamily="49" charset="-122"/>
            </a:endParaRPr>
          </a:p>
        </p:txBody>
      </p:sp>
      <p:sp>
        <p:nvSpPr>
          <p:cNvPr id="87" name="Line 23">
            <a:extLst>
              <a:ext uri="{FF2B5EF4-FFF2-40B4-BE49-F238E27FC236}">
                <a16:creationId xmlns:a16="http://schemas.microsoft.com/office/drawing/2014/main" id="{CCC9D4D3-40B6-F7FA-D7BB-B26224C330ED}"/>
              </a:ext>
            </a:extLst>
          </p:cNvPr>
          <p:cNvSpPr>
            <a:spLocks noChangeShapeType="1"/>
          </p:cNvSpPr>
          <p:nvPr/>
        </p:nvSpPr>
        <p:spPr bwMode="auto">
          <a:xfrm>
            <a:off x="10982002" y="1330718"/>
            <a:ext cx="0" cy="4648200"/>
          </a:xfrm>
          <a:prstGeom prst="line">
            <a:avLst/>
          </a:prstGeom>
          <a:noFill/>
          <a:ln w="9525">
            <a:solidFill>
              <a:srgbClr val="000000"/>
            </a:solidFill>
            <a:round/>
            <a:headEnd type="stealth" w="sm" len="lg"/>
            <a:tailEnd type="stealth" w="sm" len="lg"/>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FF"/>
              </a:solidFill>
              <a:effectLst/>
              <a:uLnTx/>
              <a:uFillTx/>
              <a:ea typeface="黑体" panose="02010609060101010101" pitchFamily="49" charset="-122"/>
            </a:endParaRPr>
          </a:p>
        </p:txBody>
      </p:sp>
      <p:sp>
        <p:nvSpPr>
          <p:cNvPr id="88" name="Text Box 24">
            <a:extLst>
              <a:ext uri="{FF2B5EF4-FFF2-40B4-BE49-F238E27FC236}">
                <a16:creationId xmlns:a16="http://schemas.microsoft.com/office/drawing/2014/main" id="{BE637244-CF9E-2019-B74F-FF32C043BBCD}"/>
              </a:ext>
            </a:extLst>
          </p:cNvPr>
          <p:cNvSpPr txBox="1">
            <a:spLocks noChangeArrowheads="1"/>
          </p:cNvSpPr>
          <p:nvPr/>
        </p:nvSpPr>
        <p:spPr bwMode="auto">
          <a:xfrm rot="16200000">
            <a:off x="10327159" y="3326999"/>
            <a:ext cx="7048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1" lang="en-US" altLang="zh-CN" sz="2800" b="0" u="none" strike="noStrike" kern="0" cap="none" spc="0" normalizeH="0" baseline="0" noProof="0" dirty="0">
                <a:ln>
                  <a:noFill/>
                </a:ln>
                <a:solidFill>
                  <a:srgbClr val="000000"/>
                </a:solidFill>
                <a:effectLst/>
                <a:uLnTx/>
                <a:uFillTx/>
                <a:latin typeface="+mj-lt"/>
                <a:sym typeface="Symbol" panose="05050102010706020507" pitchFamily="18" charset="2"/>
              </a:rPr>
              <a:t></a:t>
            </a:r>
            <a:r>
              <a:rPr kumimoji="1" lang="en-US" altLang="zh-CN" sz="2800" b="0" i="0" u="none" strike="noStrike" kern="0" cap="none" spc="0" normalizeH="0" baseline="-25000" noProof="0" dirty="0">
                <a:ln>
                  <a:noFill/>
                </a:ln>
                <a:solidFill>
                  <a:srgbClr val="000000"/>
                </a:solidFill>
                <a:effectLst/>
                <a:uLnTx/>
                <a:uFillTx/>
                <a:latin typeface="+mj-lt"/>
                <a:ea typeface="宋体" panose="02010600030101010101" pitchFamily="2" charset="-122"/>
              </a:rPr>
              <a:t>b</a:t>
            </a:r>
          </a:p>
        </p:txBody>
      </p:sp>
      <p:sp>
        <p:nvSpPr>
          <p:cNvPr id="89" name="Text Box 25">
            <a:extLst>
              <a:ext uri="{FF2B5EF4-FFF2-40B4-BE49-F238E27FC236}">
                <a16:creationId xmlns:a16="http://schemas.microsoft.com/office/drawing/2014/main" id="{E94B3BCF-FF80-03BF-F778-771D78F2B490}"/>
              </a:ext>
            </a:extLst>
          </p:cNvPr>
          <p:cNvSpPr txBox="1">
            <a:spLocks noChangeArrowheads="1"/>
          </p:cNvSpPr>
          <p:nvPr/>
        </p:nvSpPr>
        <p:spPr bwMode="auto">
          <a:xfrm>
            <a:off x="3561234" y="2767541"/>
            <a:ext cx="275034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lang="en-US" altLang="zh-CN" sz="2800" b="0" dirty="0">
                <a:solidFill>
                  <a:srgbClr val="000000"/>
                </a:solidFill>
                <a:latin typeface="+mn-lt"/>
                <a:ea typeface="微软雅黑" panose="020B0503020204020204" pitchFamily="34" charset="-122"/>
                <a:sym typeface="Symbol" panose="05050102010706020507" pitchFamily="18" charset="2"/>
              </a:rPr>
              <a:t></a:t>
            </a:r>
            <a:r>
              <a:rPr lang="en-US" altLang="zh-CN" sz="2800" b="0" i="0" baseline="-25000" dirty="0">
                <a:solidFill>
                  <a:srgbClr val="000000"/>
                </a:solidFill>
                <a:latin typeface="+mn-lt"/>
                <a:ea typeface="微软雅黑" panose="020B0503020204020204" pitchFamily="34" charset="-122"/>
              </a:rPr>
              <a:t>e</a:t>
            </a:r>
            <a:r>
              <a:rPr lang="en-US" altLang="zh-CN" sz="2800" i="0" dirty="0">
                <a:solidFill>
                  <a:srgbClr val="000000"/>
                </a:solidFill>
                <a:latin typeface="+mn-lt"/>
                <a:ea typeface="微软雅黑" panose="020B0503020204020204" pitchFamily="34" charset="-122"/>
              </a:rPr>
              <a:t>     </a:t>
            </a:r>
            <a:r>
              <a:rPr lang="zh-CN" altLang="en-US" sz="2800" i="0" dirty="0">
                <a:solidFill>
                  <a:srgbClr val="000000"/>
                </a:solidFill>
                <a:latin typeface="+mn-lt"/>
                <a:ea typeface="微软雅黑" panose="020B0503020204020204" pitchFamily="34" charset="-122"/>
              </a:rPr>
              <a:t>弹性极限</a:t>
            </a:r>
          </a:p>
        </p:txBody>
      </p:sp>
      <p:sp>
        <p:nvSpPr>
          <p:cNvPr id="90" name="Line 26">
            <a:extLst>
              <a:ext uri="{FF2B5EF4-FFF2-40B4-BE49-F238E27FC236}">
                <a16:creationId xmlns:a16="http://schemas.microsoft.com/office/drawing/2014/main" id="{2772A9E1-A77B-0B89-7553-65B987F7F461}"/>
              </a:ext>
            </a:extLst>
          </p:cNvPr>
          <p:cNvSpPr>
            <a:spLocks noChangeShapeType="1"/>
          </p:cNvSpPr>
          <p:nvPr/>
        </p:nvSpPr>
        <p:spPr bwMode="auto">
          <a:xfrm>
            <a:off x="7519665" y="3107131"/>
            <a:ext cx="0" cy="2857500"/>
          </a:xfrm>
          <a:prstGeom prst="line">
            <a:avLst/>
          </a:prstGeom>
          <a:noFill/>
          <a:ln w="9525">
            <a:solidFill>
              <a:srgbClr val="000000"/>
            </a:solidFill>
            <a:round/>
            <a:headEnd type="stealth" w="sm" len="lg"/>
            <a:tailEnd type="stealth" w="sm" len="lg"/>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FF"/>
              </a:solidFill>
              <a:effectLst/>
              <a:uLnTx/>
              <a:uFillTx/>
              <a:ea typeface="黑体" panose="02010609060101010101" pitchFamily="49" charset="-122"/>
            </a:endParaRPr>
          </a:p>
        </p:txBody>
      </p:sp>
      <p:sp>
        <p:nvSpPr>
          <p:cNvPr id="91" name="Freeform 27">
            <a:extLst>
              <a:ext uri="{FF2B5EF4-FFF2-40B4-BE49-F238E27FC236}">
                <a16:creationId xmlns:a16="http://schemas.microsoft.com/office/drawing/2014/main" id="{094BA272-A3A0-A6F5-706F-E9C5E8270221}"/>
              </a:ext>
            </a:extLst>
          </p:cNvPr>
          <p:cNvSpPr>
            <a:spLocks/>
          </p:cNvSpPr>
          <p:nvPr/>
        </p:nvSpPr>
        <p:spPr bwMode="auto">
          <a:xfrm>
            <a:off x="6727502" y="3000768"/>
            <a:ext cx="457200" cy="2952750"/>
          </a:xfrm>
          <a:custGeom>
            <a:avLst/>
            <a:gdLst>
              <a:gd name="T0" fmla="*/ 0 w 288"/>
              <a:gd name="T1" fmla="*/ 2952750 h 1860"/>
              <a:gd name="T2" fmla="*/ 393700 w 288"/>
              <a:gd name="T3" fmla="*/ 114300 h 1860"/>
              <a:gd name="T4" fmla="*/ 457200 w 288"/>
              <a:gd name="T5" fmla="*/ 0 h 1860"/>
              <a:gd name="T6" fmla="*/ 0 60000 65536"/>
              <a:gd name="T7" fmla="*/ 0 60000 65536"/>
              <a:gd name="T8" fmla="*/ 0 60000 65536"/>
              <a:gd name="T9" fmla="*/ 0 w 288"/>
              <a:gd name="T10" fmla="*/ 0 h 1860"/>
              <a:gd name="T11" fmla="*/ 288 w 288"/>
              <a:gd name="T12" fmla="*/ 1860 h 1860"/>
            </a:gdLst>
            <a:ahLst/>
            <a:cxnLst>
              <a:cxn ang="T6">
                <a:pos x="T0" y="T1"/>
              </a:cxn>
              <a:cxn ang="T7">
                <a:pos x="T2" y="T3"/>
              </a:cxn>
              <a:cxn ang="T8">
                <a:pos x="T4" y="T5"/>
              </a:cxn>
            </a:cxnLst>
            <a:rect l="T9" t="T10" r="T11" b="T12"/>
            <a:pathLst>
              <a:path w="288" h="1860">
                <a:moveTo>
                  <a:pt x="0" y="1860"/>
                </a:moveTo>
                <a:lnTo>
                  <a:pt x="248" y="72"/>
                </a:lnTo>
                <a:cubicBezTo>
                  <a:pt x="268" y="4"/>
                  <a:pt x="280" y="15"/>
                  <a:pt x="288" y="0"/>
                </a:cubicBezTo>
              </a:path>
            </a:pathLst>
          </a:custGeom>
          <a:noFill/>
          <a:ln w="38100" cap="flat" cmpd="sng">
            <a:solidFill>
              <a:srgbClr val="FB1C05"/>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algn="ctr"/>
            <a:endParaRPr kumimoji="1" lang="zh-CN" altLang="en-US" b="0" i="0">
              <a:solidFill>
                <a:srgbClr val="0000FF"/>
              </a:solidFill>
              <a:ea typeface="黑体" panose="02010609060101010101" pitchFamily="49" charset="-122"/>
            </a:endParaRPr>
          </a:p>
        </p:txBody>
      </p:sp>
      <p:sp>
        <p:nvSpPr>
          <p:cNvPr id="92" name="Freeform 28">
            <a:extLst>
              <a:ext uri="{FF2B5EF4-FFF2-40B4-BE49-F238E27FC236}">
                <a16:creationId xmlns:a16="http://schemas.microsoft.com/office/drawing/2014/main" id="{EBECF05E-8018-9A21-18AA-162394B27622}"/>
              </a:ext>
            </a:extLst>
          </p:cNvPr>
          <p:cNvSpPr>
            <a:spLocks/>
          </p:cNvSpPr>
          <p:nvPr/>
        </p:nvSpPr>
        <p:spPr bwMode="auto">
          <a:xfrm>
            <a:off x="7165652" y="2721368"/>
            <a:ext cx="590550" cy="285750"/>
          </a:xfrm>
          <a:custGeom>
            <a:avLst/>
            <a:gdLst>
              <a:gd name="T0" fmla="*/ 6350 w 372"/>
              <a:gd name="T1" fmla="*/ 285750 h 180"/>
              <a:gd name="T2" fmla="*/ 57150 w 372"/>
              <a:gd name="T3" fmla="*/ 222250 h 180"/>
              <a:gd name="T4" fmla="*/ 101600 w 372"/>
              <a:gd name="T5" fmla="*/ 171450 h 180"/>
              <a:gd name="T6" fmla="*/ 133350 w 372"/>
              <a:gd name="T7" fmla="*/ 139700 h 180"/>
              <a:gd name="T8" fmla="*/ 184150 w 372"/>
              <a:gd name="T9" fmla="*/ 114300 h 180"/>
              <a:gd name="T10" fmla="*/ 260350 w 372"/>
              <a:gd name="T11" fmla="*/ 76200 h 180"/>
              <a:gd name="T12" fmla="*/ 273050 w 372"/>
              <a:gd name="T13" fmla="*/ 57150 h 180"/>
              <a:gd name="T14" fmla="*/ 304800 w 372"/>
              <a:gd name="T15" fmla="*/ 184150 h 180"/>
              <a:gd name="T16" fmla="*/ 368300 w 372"/>
              <a:gd name="T17" fmla="*/ 63500 h 180"/>
              <a:gd name="T18" fmla="*/ 400050 w 372"/>
              <a:gd name="T19" fmla="*/ 177800 h 180"/>
              <a:gd name="T20" fmla="*/ 482600 w 372"/>
              <a:gd name="T21" fmla="*/ 50800 h 180"/>
              <a:gd name="T22" fmla="*/ 501650 w 372"/>
              <a:gd name="T23" fmla="*/ 190500 h 180"/>
              <a:gd name="T24" fmla="*/ 590550 w 372"/>
              <a:gd name="T25" fmla="*/ 0 h 18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72"/>
              <a:gd name="T40" fmla="*/ 0 h 180"/>
              <a:gd name="T41" fmla="*/ 372 w 372"/>
              <a:gd name="T42" fmla="*/ 180 h 18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72" h="180">
                <a:moveTo>
                  <a:pt x="4" y="180"/>
                </a:moveTo>
                <a:cubicBezTo>
                  <a:pt x="26" y="175"/>
                  <a:pt x="0" y="168"/>
                  <a:pt x="36" y="140"/>
                </a:cubicBezTo>
                <a:cubicBezTo>
                  <a:pt x="68" y="108"/>
                  <a:pt x="28" y="144"/>
                  <a:pt x="64" y="108"/>
                </a:cubicBezTo>
                <a:cubicBezTo>
                  <a:pt x="96" y="76"/>
                  <a:pt x="112" y="68"/>
                  <a:pt x="84" y="88"/>
                </a:cubicBezTo>
                <a:cubicBezTo>
                  <a:pt x="76" y="104"/>
                  <a:pt x="109" y="77"/>
                  <a:pt x="116" y="72"/>
                </a:cubicBezTo>
                <a:cubicBezTo>
                  <a:pt x="152" y="40"/>
                  <a:pt x="147" y="54"/>
                  <a:pt x="164" y="48"/>
                </a:cubicBezTo>
                <a:cubicBezTo>
                  <a:pt x="167" y="44"/>
                  <a:pt x="172" y="36"/>
                  <a:pt x="172" y="36"/>
                </a:cubicBezTo>
                <a:lnTo>
                  <a:pt x="192" y="116"/>
                </a:lnTo>
                <a:lnTo>
                  <a:pt x="232" y="40"/>
                </a:lnTo>
                <a:lnTo>
                  <a:pt x="252" y="112"/>
                </a:lnTo>
                <a:lnTo>
                  <a:pt x="304" y="32"/>
                </a:lnTo>
                <a:lnTo>
                  <a:pt x="316" y="120"/>
                </a:lnTo>
                <a:lnTo>
                  <a:pt x="372" y="0"/>
                </a:lnTo>
              </a:path>
            </a:pathLst>
          </a:custGeom>
          <a:noFill/>
          <a:ln w="38100" cmpd="sng">
            <a:solidFill>
              <a:srgbClr val="969696"/>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FF"/>
              </a:solidFill>
              <a:effectLst/>
              <a:uLnTx/>
              <a:uFillTx/>
              <a:ea typeface="黑体" panose="02010609060101010101" pitchFamily="49" charset="-122"/>
            </a:endParaRPr>
          </a:p>
        </p:txBody>
      </p:sp>
      <p:sp>
        <p:nvSpPr>
          <p:cNvPr id="93" name="Freeform 29">
            <a:extLst>
              <a:ext uri="{FF2B5EF4-FFF2-40B4-BE49-F238E27FC236}">
                <a16:creationId xmlns:a16="http://schemas.microsoft.com/office/drawing/2014/main" id="{8D7B87FC-7C16-D980-B15B-F3C06C6A2FF3}"/>
              </a:ext>
            </a:extLst>
          </p:cNvPr>
          <p:cNvSpPr>
            <a:spLocks/>
          </p:cNvSpPr>
          <p:nvPr/>
        </p:nvSpPr>
        <p:spPr bwMode="auto">
          <a:xfrm>
            <a:off x="7768902" y="1343418"/>
            <a:ext cx="2305050" cy="1365250"/>
          </a:xfrm>
          <a:custGeom>
            <a:avLst/>
            <a:gdLst>
              <a:gd name="T0" fmla="*/ 0 w 1452"/>
              <a:gd name="T1" fmla="*/ 1365250 h 860"/>
              <a:gd name="T2" fmla="*/ 57150 w 1452"/>
              <a:gd name="T3" fmla="*/ 1263650 h 860"/>
              <a:gd name="T4" fmla="*/ 133350 w 1452"/>
              <a:gd name="T5" fmla="*/ 1149350 h 860"/>
              <a:gd name="T6" fmla="*/ 171450 w 1452"/>
              <a:gd name="T7" fmla="*/ 1079500 h 860"/>
              <a:gd name="T8" fmla="*/ 215900 w 1452"/>
              <a:gd name="T9" fmla="*/ 1022350 h 860"/>
              <a:gd name="T10" fmla="*/ 241300 w 1452"/>
              <a:gd name="T11" fmla="*/ 984250 h 860"/>
              <a:gd name="T12" fmla="*/ 336550 w 1452"/>
              <a:gd name="T13" fmla="*/ 876300 h 860"/>
              <a:gd name="T14" fmla="*/ 374650 w 1452"/>
              <a:gd name="T15" fmla="*/ 825500 h 860"/>
              <a:gd name="T16" fmla="*/ 438150 w 1452"/>
              <a:gd name="T17" fmla="*/ 762000 h 860"/>
              <a:gd name="T18" fmla="*/ 508000 w 1452"/>
              <a:gd name="T19" fmla="*/ 692150 h 860"/>
              <a:gd name="T20" fmla="*/ 654050 w 1452"/>
              <a:gd name="T21" fmla="*/ 565150 h 860"/>
              <a:gd name="T22" fmla="*/ 742950 w 1452"/>
              <a:gd name="T23" fmla="*/ 508000 h 860"/>
              <a:gd name="T24" fmla="*/ 812800 w 1452"/>
              <a:gd name="T25" fmla="*/ 457200 h 860"/>
              <a:gd name="T26" fmla="*/ 908050 w 1452"/>
              <a:gd name="T27" fmla="*/ 406400 h 860"/>
              <a:gd name="T28" fmla="*/ 1003300 w 1452"/>
              <a:gd name="T29" fmla="*/ 349250 h 860"/>
              <a:gd name="T30" fmla="*/ 1181100 w 1452"/>
              <a:gd name="T31" fmla="*/ 273050 h 860"/>
              <a:gd name="T32" fmla="*/ 1384300 w 1452"/>
              <a:gd name="T33" fmla="*/ 196850 h 860"/>
              <a:gd name="T34" fmla="*/ 1676400 w 1452"/>
              <a:gd name="T35" fmla="*/ 95250 h 860"/>
              <a:gd name="T36" fmla="*/ 1873250 w 1452"/>
              <a:gd name="T37" fmla="*/ 38100 h 860"/>
              <a:gd name="T38" fmla="*/ 2305050 w 1452"/>
              <a:gd name="T39" fmla="*/ 0 h 860"/>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452"/>
              <a:gd name="T61" fmla="*/ 0 h 860"/>
              <a:gd name="T62" fmla="*/ 1452 w 1452"/>
              <a:gd name="T63" fmla="*/ 860 h 860"/>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452" h="860">
                <a:moveTo>
                  <a:pt x="0" y="860"/>
                </a:moveTo>
                <a:cubicBezTo>
                  <a:pt x="15" y="838"/>
                  <a:pt x="22" y="817"/>
                  <a:pt x="36" y="796"/>
                </a:cubicBezTo>
                <a:cubicBezTo>
                  <a:pt x="52" y="772"/>
                  <a:pt x="66" y="747"/>
                  <a:pt x="84" y="724"/>
                </a:cubicBezTo>
                <a:cubicBezTo>
                  <a:pt x="106" y="695"/>
                  <a:pt x="80" y="732"/>
                  <a:pt x="108" y="680"/>
                </a:cubicBezTo>
                <a:cubicBezTo>
                  <a:pt x="140" y="640"/>
                  <a:pt x="127" y="653"/>
                  <a:pt x="136" y="644"/>
                </a:cubicBezTo>
                <a:cubicBezTo>
                  <a:pt x="149" y="604"/>
                  <a:pt x="127" y="665"/>
                  <a:pt x="152" y="620"/>
                </a:cubicBezTo>
                <a:cubicBezTo>
                  <a:pt x="166" y="595"/>
                  <a:pt x="172" y="596"/>
                  <a:pt x="212" y="552"/>
                </a:cubicBezTo>
                <a:cubicBezTo>
                  <a:pt x="217" y="536"/>
                  <a:pt x="222" y="529"/>
                  <a:pt x="236" y="520"/>
                </a:cubicBezTo>
                <a:cubicBezTo>
                  <a:pt x="241" y="504"/>
                  <a:pt x="262" y="489"/>
                  <a:pt x="276" y="480"/>
                </a:cubicBezTo>
                <a:cubicBezTo>
                  <a:pt x="290" y="467"/>
                  <a:pt x="297" y="457"/>
                  <a:pt x="320" y="436"/>
                </a:cubicBezTo>
                <a:cubicBezTo>
                  <a:pt x="376" y="384"/>
                  <a:pt x="344" y="420"/>
                  <a:pt x="412" y="356"/>
                </a:cubicBezTo>
                <a:cubicBezTo>
                  <a:pt x="468" y="320"/>
                  <a:pt x="447" y="327"/>
                  <a:pt x="468" y="320"/>
                </a:cubicBezTo>
                <a:cubicBezTo>
                  <a:pt x="485" y="309"/>
                  <a:pt x="495" y="299"/>
                  <a:pt x="512" y="288"/>
                </a:cubicBezTo>
                <a:cubicBezTo>
                  <a:pt x="529" y="271"/>
                  <a:pt x="550" y="263"/>
                  <a:pt x="572" y="256"/>
                </a:cubicBezTo>
                <a:cubicBezTo>
                  <a:pt x="576" y="255"/>
                  <a:pt x="580" y="248"/>
                  <a:pt x="632" y="220"/>
                </a:cubicBezTo>
                <a:cubicBezTo>
                  <a:pt x="708" y="188"/>
                  <a:pt x="672" y="200"/>
                  <a:pt x="744" y="172"/>
                </a:cubicBezTo>
                <a:cubicBezTo>
                  <a:pt x="840" y="136"/>
                  <a:pt x="832" y="142"/>
                  <a:pt x="872" y="124"/>
                </a:cubicBezTo>
                <a:cubicBezTo>
                  <a:pt x="929" y="99"/>
                  <a:pt x="976" y="88"/>
                  <a:pt x="1056" y="60"/>
                </a:cubicBezTo>
                <a:cubicBezTo>
                  <a:pt x="1136" y="32"/>
                  <a:pt x="1124" y="44"/>
                  <a:pt x="1180" y="24"/>
                </a:cubicBezTo>
                <a:cubicBezTo>
                  <a:pt x="1284" y="0"/>
                  <a:pt x="1351" y="0"/>
                  <a:pt x="1452" y="0"/>
                </a:cubicBezTo>
              </a:path>
            </a:pathLst>
          </a:custGeom>
          <a:noFill/>
          <a:ln w="38100"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FF"/>
              </a:solidFill>
              <a:effectLst/>
              <a:uLnTx/>
              <a:uFillTx/>
              <a:ea typeface="黑体" panose="02010609060101010101" pitchFamily="49" charset="-122"/>
            </a:endParaRPr>
          </a:p>
        </p:txBody>
      </p:sp>
      <p:sp>
        <p:nvSpPr>
          <p:cNvPr id="94" name="Freeform 30">
            <a:extLst>
              <a:ext uri="{FF2B5EF4-FFF2-40B4-BE49-F238E27FC236}">
                <a16:creationId xmlns:a16="http://schemas.microsoft.com/office/drawing/2014/main" id="{22D0EDCA-FB99-2EB4-8E99-27C838CEA5DD}"/>
              </a:ext>
            </a:extLst>
          </p:cNvPr>
          <p:cNvSpPr>
            <a:spLocks/>
          </p:cNvSpPr>
          <p:nvPr/>
        </p:nvSpPr>
        <p:spPr bwMode="auto">
          <a:xfrm>
            <a:off x="10073952" y="1330718"/>
            <a:ext cx="1352550" cy="711200"/>
          </a:xfrm>
          <a:custGeom>
            <a:avLst/>
            <a:gdLst>
              <a:gd name="T0" fmla="*/ 0 w 852"/>
              <a:gd name="T1" fmla="*/ 6350 h 448"/>
              <a:gd name="T2" fmla="*/ 184150 w 852"/>
              <a:gd name="T3" fmla="*/ 19050 h 448"/>
              <a:gd name="T4" fmla="*/ 336550 w 852"/>
              <a:gd name="T5" fmla="*/ 63500 h 448"/>
              <a:gd name="T6" fmla="*/ 412750 w 852"/>
              <a:gd name="T7" fmla="*/ 95250 h 448"/>
              <a:gd name="T8" fmla="*/ 546100 w 852"/>
              <a:gd name="T9" fmla="*/ 165100 h 448"/>
              <a:gd name="T10" fmla="*/ 603250 w 852"/>
              <a:gd name="T11" fmla="*/ 203200 h 448"/>
              <a:gd name="T12" fmla="*/ 698500 w 852"/>
              <a:gd name="T13" fmla="*/ 247650 h 448"/>
              <a:gd name="T14" fmla="*/ 889000 w 852"/>
              <a:gd name="T15" fmla="*/ 374650 h 448"/>
              <a:gd name="T16" fmla="*/ 1003300 w 852"/>
              <a:gd name="T17" fmla="*/ 457200 h 448"/>
              <a:gd name="T18" fmla="*/ 1035050 w 852"/>
              <a:gd name="T19" fmla="*/ 482600 h 448"/>
              <a:gd name="T20" fmla="*/ 1092200 w 852"/>
              <a:gd name="T21" fmla="*/ 520700 h 448"/>
              <a:gd name="T22" fmla="*/ 1352550 w 852"/>
              <a:gd name="T23" fmla="*/ 711200 h 44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52"/>
              <a:gd name="T37" fmla="*/ 0 h 448"/>
              <a:gd name="T38" fmla="*/ 852 w 852"/>
              <a:gd name="T39" fmla="*/ 448 h 44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52" h="448">
                <a:moveTo>
                  <a:pt x="0" y="4"/>
                </a:moveTo>
                <a:cubicBezTo>
                  <a:pt x="72" y="16"/>
                  <a:pt x="81" y="0"/>
                  <a:pt x="116" y="12"/>
                </a:cubicBezTo>
                <a:cubicBezTo>
                  <a:pt x="148" y="23"/>
                  <a:pt x="180" y="29"/>
                  <a:pt x="212" y="40"/>
                </a:cubicBezTo>
                <a:cubicBezTo>
                  <a:pt x="221" y="43"/>
                  <a:pt x="252" y="55"/>
                  <a:pt x="260" y="60"/>
                </a:cubicBezTo>
                <a:cubicBezTo>
                  <a:pt x="290" y="80"/>
                  <a:pt x="309" y="92"/>
                  <a:pt x="344" y="104"/>
                </a:cubicBezTo>
                <a:cubicBezTo>
                  <a:pt x="358" y="109"/>
                  <a:pt x="366" y="123"/>
                  <a:pt x="380" y="128"/>
                </a:cubicBezTo>
                <a:cubicBezTo>
                  <a:pt x="402" y="135"/>
                  <a:pt x="418" y="149"/>
                  <a:pt x="440" y="156"/>
                </a:cubicBezTo>
                <a:cubicBezTo>
                  <a:pt x="473" y="189"/>
                  <a:pt x="508" y="204"/>
                  <a:pt x="560" y="236"/>
                </a:cubicBezTo>
                <a:cubicBezTo>
                  <a:pt x="580" y="256"/>
                  <a:pt x="604" y="279"/>
                  <a:pt x="632" y="288"/>
                </a:cubicBezTo>
                <a:cubicBezTo>
                  <a:pt x="647" y="310"/>
                  <a:pt x="632" y="293"/>
                  <a:pt x="652" y="304"/>
                </a:cubicBezTo>
                <a:cubicBezTo>
                  <a:pt x="660" y="311"/>
                  <a:pt x="681" y="323"/>
                  <a:pt x="688" y="328"/>
                </a:cubicBezTo>
                <a:cubicBezTo>
                  <a:pt x="722" y="352"/>
                  <a:pt x="823" y="429"/>
                  <a:pt x="852" y="448"/>
                </a:cubicBezTo>
              </a:path>
            </a:pathLst>
          </a:custGeom>
          <a:noFill/>
          <a:ln w="38100" cmpd="sng">
            <a:solidFill>
              <a:srgbClr val="FB1C05"/>
            </a:solidFill>
            <a:round/>
            <a:headEnd/>
            <a:tailEnd/>
          </a:ln>
          <a:extLst>
            <a:ext uri="{909E8E84-426E-40DD-AFC4-6F175D3DCCD1}">
              <a14:hiddenFill xmlns:a14="http://schemas.microsoft.com/office/drawing/2010/main">
                <a:solidFill>
                  <a:srgbClr val="FFFFFF"/>
                </a:solidFill>
              </a14:hiddenFill>
            </a:ext>
          </a:extLst>
        </p:spPr>
        <p:txBody>
          <a:bodyPr/>
          <a:lstStyle/>
          <a:p>
            <a:pPr algn="ctr"/>
            <a:endParaRPr kumimoji="1" lang="zh-CN" altLang="en-US" b="0" i="0">
              <a:solidFill>
                <a:srgbClr val="0000FF"/>
              </a:solidFill>
              <a:ea typeface="黑体" panose="02010609060101010101" pitchFamily="49" charset="-122"/>
            </a:endParaRPr>
          </a:p>
        </p:txBody>
      </p:sp>
      <p:sp>
        <p:nvSpPr>
          <p:cNvPr id="95" name="Oval 31">
            <a:extLst>
              <a:ext uri="{FF2B5EF4-FFF2-40B4-BE49-F238E27FC236}">
                <a16:creationId xmlns:a16="http://schemas.microsoft.com/office/drawing/2014/main" id="{65898D6A-9D6C-C30E-D7B8-3CB1E4E80755}"/>
              </a:ext>
            </a:extLst>
          </p:cNvPr>
          <p:cNvSpPr>
            <a:spLocks noChangeArrowheads="1"/>
          </p:cNvSpPr>
          <p:nvPr/>
        </p:nvSpPr>
        <p:spPr bwMode="auto">
          <a:xfrm>
            <a:off x="11070902" y="1019568"/>
            <a:ext cx="88900" cy="88900"/>
          </a:xfrm>
          <a:prstGeom prst="ellipse">
            <a:avLst/>
          </a:prstGeom>
          <a:solidFill>
            <a:srgbClr val="FB1C05"/>
          </a:solidFill>
          <a:ln w="9525">
            <a:solidFill>
              <a:srgbClr val="FFFFFF"/>
            </a:solidFill>
            <a:round/>
            <a:headEnd/>
            <a:tailEnd/>
          </a:ln>
        </p:spPr>
        <p:txBody>
          <a:bodyPr wrap="none" anchor="ct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FF"/>
              </a:solidFill>
              <a:effectLst/>
              <a:uLnTx/>
              <a:uFillTx/>
              <a:latin typeface="Times New Roman" panose="02020603050405020304" pitchFamily="18" charset="0"/>
              <a:ea typeface="黑体" panose="02010609060101010101" pitchFamily="49" charset="-122"/>
            </a:endParaRPr>
          </a:p>
        </p:txBody>
      </p:sp>
      <p:sp>
        <p:nvSpPr>
          <p:cNvPr id="96" name="Oval 32">
            <a:extLst>
              <a:ext uri="{FF2B5EF4-FFF2-40B4-BE49-F238E27FC236}">
                <a16:creationId xmlns:a16="http://schemas.microsoft.com/office/drawing/2014/main" id="{8679CF7F-DB1D-FC7D-CFD5-47552B182CDE}"/>
              </a:ext>
            </a:extLst>
          </p:cNvPr>
          <p:cNvSpPr>
            <a:spLocks noChangeArrowheads="1"/>
          </p:cNvSpPr>
          <p:nvPr/>
        </p:nvSpPr>
        <p:spPr bwMode="auto">
          <a:xfrm>
            <a:off x="11286802" y="1235468"/>
            <a:ext cx="88900" cy="88900"/>
          </a:xfrm>
          <a:prstGeom prst="ellipse">
            <a:avLst/>
          </a:prstGeom>
          <a:solidFill>
            <a:srgbClr val="FB1C05"/>
          </a:solidFill>
          <a:ln w="9525">
            <a:solidFill>
              <a:srgbClr val="FFFFFF"/>
            </a:solidFill>
            <a:round/>
            <a:headEnd/>
            <a:tailEnd/>
          </a:ln>
        </p:spPr>
        <p:txBody>
          <a:bodyPr wrap="none" anchor="ct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FF"/>
              </a:solidFill>
              <a:effectLst/>
              <a:uLnTx/>
              <a:uFillTx/>
              <a:latin typeface="Times New Roman" panose="02020603050405020304" pitchFamily="18" charset="0"/>
              <a:ea typeface="黑体" panose="02010609060101010101" pitchFamily="49" charset="-122"/>
            </a:endParaRPr>
          </a:p>
        </p:txBody>
      </p:sp>
      <p:sp>
        <p:nvSpPr>
          <p:cNvPr id="97" name="Text Box 36">
            <a:extLst>
              <a:ext uri="{FF2B5EF4-FFF2-40B4-BE49-F238E27FC236}">
                <a16:creationId xmlns:a16="http://schemas.microsoft.com/office/drawing/2014/main" id="{C331EF81-752A-572E-BA85-AC134EE05F7E}"/>
              </a:ext>
            </a:extLst>
          </p:cNvPr>
          <p:cNvSpPr txBox="1">
            <a:spLocks noChangeArrowheads="1"/>
          </p:cNvSpPr>
          <p:nvPr/>
        </p:nvSpPr>
        <p:spPr bwMode="auto">
          <a:xfrm>
            <a:off x="6710040" y="3064268"/>
            <a:ext cx="5524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eaLnBrk="1" hangingPunct="1">
              <a:spcBef>
                <a:spcPct val="50000"/>
              </a:spcBef>
            </a:pPr>
            <a:r>
              <a:rPr lang="en-US" altLang="zh-CN" sz="2800" b="0" dirty="0">
                <a:solidFill>
                  <a:srgbClr val="000000"/>
                </a:solidFill>
                <a:latin typeface="+mn-lt"/>
                <a:ea typeface="宋体" panose="02010600030101010101" pitchFamily="2" charset="-122"/>
                <a:sym typeface="Symbol" panose="05050102010706020507" pitchFamily="18" charset="2"/>
              </a:rPr>
              <a:t>A</a:t>
            </a:r>
          </a:p>
        </p:txBody>
      </p:sp>
      <p:sp>
        <p:nvSpPr>
          <p:cNvPr id="98" name="Text Box 37">
            <a:extLst>
              <a:ext uri="{FF2B5EF4-FFF2-40B4-BE49-F238E27FC236}">
                <a16:creationId xmlns:a16="http://schemas.microsoft.com/office/drawing/2014/main" id="{0C73B703-601A-57B8-0D72-4FC8E34C26E2}"/>
              </a:ext>
            </a:extLst>
          </p:cNvPr>
          <p:cNvSpPr txBox="1">
            <a:spLocks noChangeArrowheads="1"/>
          </p:cNvSpPr>
          <p:nvPr/>
        </p:nvSpPr>
        <p:spPr bwMode="auto">
          <a:xfrm>
            <a:off x="6760840" y="2699143"/>
            <a:ext cx="5524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eaLnBrk="1" hangingPunct="1">
              <a:spcBef>
                <a:spcPct val="50000"/>
              </a:spcBef>
            </a:pPr>
            <a:r>
              <a:rPr lang="en-US" altLang="zh-CN" sz="2800" b="0" dirty="0">
                <a:solidFill>
                  <a:srgbClr val="000000"/>
                </a:solidFill>
                <a:latin typeface="+mn-lt"/>
                <a:ea typeface="宋体" panose="02010600030101010101" pitchFamily="2" charset="-122"/>
                <a:sym typeface="Symbol" panose="05050102010706020507" pitchFamily="18" charset="2"/>
              </a:rPr>
              <a:t>A'</a:t>
            </a:r>
          </a:p>
        </p:txBody>
      </p:sp>
      <p:sp>
        <p:nvSpPr>
          <p:cNvPr id="99" name="Text Box 38">
            <a:extLst>
              <a:ext uri="{FF2B5EF4-FFF2-40B4-BE49-F238E27FC236}">
                <a16:creationId xmlns:a16="http://schemas.microsoft.com/office/drawing/2014/main" id="{5FB0876A-121C-F47F-D6A2-4E029A951F78}"/>
              </a:ext>
            </a:extLst>
          </p:cNvPr>
          <p:cNvSpPr txBox="1">
            <a:spLocks noChangeArrowheads="1"/>
          </p:cNvSpPr>
          <p:nvPr/>
        </p:nvSpPr>
        <p:spPr bwMode="auto">
          <a:xfrm>
            <a:off x="6967215" y="2380056"/>
            <a:ext cx="5524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eaLnBrk="1" hangingPunct="1">
              <a:spcBef>
                <a:spcPct val="50000"/>
              </a:spcBef>
            </a:pPr>
            <a:r>
              <a:rPr lang="en-US" altLang="zh-CN" sz="2800" b="0" dirty="0">
                <a:solidFill>
                  <a:srgbClr val="000000"/>
                </a:solidFill>
                <a:latin typeface="+mn-lt"/>
                <a:ea typeface="宋体" panose="02010600030101010101" pitchFamily="2" charset="-122"/>
                <a:sym typeface="Symbol" panose="05050102010706020507" pitchFamily="18" charset="2"/>
              </a:rPr>
              <a:t>B</a:t>
            </a:r>
          </a:p>
        </p:txBody>
      </p:sp>
      <p:sp>
        <p:nvSpPr>
          <p:cNvPr id="100" name="Text Box 39">
            <a:extLst>
              <a:ext uri="{FF2B5EF4-FFF2-40B4-BE49-F238E27FC236}">
                <a16:creationId xmlns:a16="http://schemas.microsoft.com/office/drawing/2014/main" id="{53549F29-157C-6545-C3F1-8DA23D2B6FD5}"/>
              </a:ext>
            </a:extLst>
          </p:cNvPr>
          <p:cNvSpPr txBox="1">
            <a:spLocks noChangeArrowheads="1"/>
          </p:cNvSpPr>
          <p:nvPr/>
        </p:nvSpPr>
        <p:spPr bwMode="auto">
          <a:xfrm>
            <a:off x="7702227" y="2518168"/>
            <a:ext cx="5524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eaLnBrk="1" hangingPunct="1">
              <a:spcBef>
                <a:spcPct val="50000"/>
              </a:spcBef>
            </a:pPr>
            <a:r>
              <a:rPr lang="en-US" altLang="zh-CN" sz="2800" b="0" dirty="0">
                <a:solidFill>
                  <a:srgbClr val="000000"/>
                </a:solidFill>
                <a:latin typeface="+mn-lt"/>
                <a:ea typeface="宋体" panose="02010600030101010101" pitchFamily="2" charset="-122"/>
                <a:sym typeface="Symbol" panose="05050102010706020507" pitchFamily="18" charset="2"/>
              </a:rPr>
              <a:t>C</a:t>
            </a:r>
          </a:p>
        </p:txBody>
      </p:sp>
      <p:sp>
        <p:nvSpPr>
          <p:cNvPr id="101" name="Text Box 40">
            <a:extLst>
              <a:ext uri="{FF2B5EF4-FFF2-40B4-BE49-F238E27FC236}">
                <a16:creationId xmlns:a16="http://schemas.microsoft.com/office/drawing/2014/main" id="{834B21D6-906D-CE4E-138D-E2C7F85DC480}"/>
              </a:ext>
            </a:extLst>
          </p:cNvPr>
          <p:cNvSpPr txBox="1">
            <a:spLocks noChangeArrowheads="1"/>
          </p:cNvSpPr>
          <p:nvPr/>
        </p:nvSpPr>
        <p:spPr bwMode="auto">
          <a:xfrm>
            <a:off x="9625954" y="899712"/>
            <a:ext cx="5524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eaLnBrk="1" hangingPunct="1">
              <a:spcBef>
                <a:spcPct val="50000"/>
              </a:spcBef>
            </a:pPr>
            <a:r>
              <a:rPr lang="en-US" altLang="zh-CN" sz="2800" b="0" dirty="0">
                <a:solidFill>
                  <a:srgbClr val="000000"/>
                </a:solidFill>
                <a:latin typeface="+mn-lt"/>
                <a:ea typeface="宋体" panose="02010600030101010101" pitchFamily="2" charset="-122"/>
                <a:sym typeface="Symbol" panose="05050102010706020507" pitchFamily="18" charset="2"/>
              </a:rPr>
              <a:t>D</a:t>
            </a:r>
          </a:p>
        </p:txBody>
      </p:sp>
      <p:sp>
        <p:nvSpPr>
          <p:cNvPr id="102" name="Text Box 41">
            <a:extLst>
              <a:ext uri="{FF2B5EF4-FFF2-40B4-BE49-F238E27FC236}">
                <a16:creationId xmlns:a16="http://schemas.microsoft.com/office/drawing/2014/main" id="{0DDC2762-9934-760C-26DA-A5B80E377A93}"/>
              </a:ext>
            </a:extLst>
          </p:cNvPr>
          <p:cNvSpPr txBox="1">
            <a:spLocks noChangeArrowheads="1"/>
          </p:cNvSpPr>
          <p:nvPr/>
        </p:nvSpPr>
        <p:spPr bwMode="auto">
          <a:xfrm>
            <a:off x="11358240" y="1853006"/>
            <a:ext cx="5524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eaLnBrk="1" hangingPunct="1">
              <a:spcBef>
                <a:spcPct val="50000"/>
              </a:spcBef>
            </a:pPr>
            <a:r>
              <a:rPr lang="en-US" altLang="zh-CN" sz="2800" b="0" dirty="0">
                <a:solidFill>
                  <a:srgbClr val="000000"/>
                </a:solidFill>
                <a:latin typeface="+mn-lt"/>
                <a:ea typeface="宋体" panose="02010600030101010101" pitchFamily="2" charset="-122"/>
                <a:sym typeface="Symbol" panose="05050102010706020507" pitchFamily="18" charset="2"/>
              </a:rPr>
              <a:t>E</a:t>
            </a:r>
          </a:p>
        </p:txBody>
      </p:sp>
      <p:sp>
        <p:nvSpPr>
          <p:cNvPr id="103" name="Text Box 42">
            <a:extLst>
              <a:ext uri="{FF2B5EF4-FFF2-40B4-BE49-F238E27FC236}">
                <a16:creationId xmlns:a16="http://schemas.microsoft.com/office/drawing/2014/main" id="{5D2A4460-2FBE-7088-B82D-29854E3FE0AD}"/>
              </a:ext>
            </a:extLst>
          </p:cNvPr>
          <p:cNvSpPr txBox="1">
            <a:spLocks noChangeArrowheads="1"/>
          </p:cNvSpPr>
          <p:nvPr/>
        </p:nvSpPr>
        <p:spPr bwMode="auto">
          <a:xfrm>
            <a:off x="6287765" y="5604268"/>
            <a:ext cx="5524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eaLnBrk="1" hangingPunct="1">
              <a:spcBef>
                <a:spcPct val="50000"/>
              </a:spcBef>
            </a:pPr>
            <a:r>
              <a:rPr lang="en-US" altLang="zh-CN" sz="2800" b="0" dirty="0">
                <a:solidFill>
                  <a:srgbClr val="000000"/>
                </a:solidFill>
                <a:latin typeface="+mn-lt"/>
                <a:ea typeface="宋体" panose="02010600030101010101" pitchFamily="2" charset="-122"/>
                <a:sym typeface="Symbol" panose="05050102010706020507" pitchFamily="18" charset="2"/>
              </a:rPr>
              <a:t>O</a:t>
            </a:r>
          </a:p>
        </p:txBody>
      </p:sp>
    </p:spTree>
    <p:extLst>
      <p:ext uri="{BB962C8B-B14F-4D97-AF65-F5344CB8AC3E}">
        <p14:creationId xmlns:p14="http://schemas.microsoft.com/office/powerpoint/2010/main" val="9980697"/>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5" fill="hold" nodeType="clickEffect">
                                  <p:stCondLst>
                                    <p:cond delay="0"/>
                                  </p:stCondLst>
                                  <p:childTnLst>
                                    <p:set>
                                      <p:cBhvr>
                                        <p:cTn id="10" dur="1" fill="hold">
                                          <p:stCondLst>
                                            <p:cond delay="0"/>
                                          </p:stCondLst>
                                        </p:cTn>
                                        <p:tgtEl>
                                          <p:spTgt spid="67"/>
                                        </p:tgtEl>
                                        <p:attrNameLst>
                                          <p:attrName>style.visibility</p:attrName>
                                        </p:attrNameLst>
                                      </p:cBhvr>
                                      <p:to>
                                        <p:strVal val="visible"/>
                                      </p:to>
                                    </p:set>
                                    <p:animEffect transition="in" filter="blinds(vertical)">
                                      <p:cBhvr>
                                        <p:cTn id="11" dur="500"/>
                                        <p:tgtEl>
                                          <p:spTgt spid="67"/>
                                        </p:tgtEl>
                                      </p:cBhvr>
                                    </p:animEffect>
                                  </p:childTnLst>
                                  <p:subTnLst>
                                    <p:audio>
                                      <p:cMediaNode>
                                        <p:cTn display="0" masterRel="sameClick">
                                          <p:stCondLst>
                                            <p:cond evt="begin" delay="0">
                                              <p:tn val="9"/>
                                            </p:cond>
                                          </p:stCondLst>
                                          <p:endCondLst>
                                            <p:cond evt="onStopAudio" delay="0">
                                              <p:tgtEl>
                                                <p:sldTgt/>
                                              </p:tgtEl>
                                            </p:cond>
                                          </p:endCondLst>
                                        </p:cTn>
                                        <p:tgtEl>
                                          <p:sndTgt r:embed="rId6" name="CASHREG.WAV"/>
                                        </p:tgtEl>
                                      </p:cMediaNode>
                                    </p:audio>
                                  </p:subTnLst>
                                </p:cTn>
                              </p:par>
                            </p:childTnLst>
                          </p:cTn>
                        </p:par>
                        <p:par>
                          <p:cTn id="12" fill="hold">
                            <p:stCondLst>
                              <p:cond delay="500"/>
                            </p:stCondLst>
                            <p:childTnLst>
                              <p:par>
                                <p:cTn id="13" presetID="1" presetClass="mediacall" presetSubtype="0" fill="hold" nodeType="afterEffect">
                                  <p:stCondLst>
                                    <p:cond delay="0"/>
                                  </p:stCondLst>
                                  <p:childTnLst>
                                    <p:cmd type="call" cmd="playFrom(0.0)">
                                      <p:cBhvr>
                                        <p:cTn id="14" dur="1" fill="hold"/>
                                        <p:tgtEl>
                                          <p:spTgt spid="67"/>
                                        </p:tgtEl>
                                      </p:cBhvr>
                                    </p:cmd>
                                  </p:childTnLst>
                                </p:cTn>
                              </p:par>
                            </p:childTnLst>
                          </p:cTn>
                        </p:par>
                        <p:par>
                          <p:cTn id="15" fill="hold">
                            <p:stCondLst>
                              <p:cond delay="501"/>
                            </p:stCondLst>
                            <p:childTnLst>
                              <p:par>
                                <p:cTn id="16" presetID="50" presetClass="entr" presetSubtype="0" decel="100000" fill="hold" grpId="0" nodeType="afterEffect">
                                  <p:stCondLst>
                                    <p:cond delay="0"/>
                                  </p:stCondLst>
                                  <p:childTnLst>
                                    <p:set>
                                      <p:cBhvr>
                                        <p:cTn id="17" dur="1" fill="hold">
                                          <p:stCondLst>
                                            <p:cond delay="0"/>
                                          </p:stCondLst>
                                        </p:cTn>
                                        <p:tgtEl>
                                          <p:spTgt spid="95"/>
                                        </p:tgtEl>
                                        <p:attrNameLst>
                                          <p:attrName>style.visibility</p:attrName>
                                        </p:attrNameLst>
                                      </p:cBhvr>
                                      <p:to>
                                        <p:strVal val="visible"/>
                                      </p:to>
                                    </p:set>
                                    <p:anim calcmode="lin" valueType="num">
                                      <p:cBhvr>
                                        <p:cTn id="18" dur="500" fill="hold"/>
                                        <p:tgtEl>
                                          <p:spTgt spid="95"/>
                                        </p:tgtEl>
                                        <p:attrNameLst>
                                          <p:attrName>ppt_w</p:attrName>
                                        </p:attrNameLst>
                                      </p:cBhvr>
                                      <p:tavLst>
                                        <p:tav tm="0">
                                          <p:val>
                                            <p:strVal val="#ppt_w+.3"/>
                                          </p:val>
                                        </p:tav>
                                        <p:tav tm="100000">
                                          <p:val>
                                            <p:strVal val="#ppt_w"/>
                                          </p:val>
                                        </p:tav>
                                      </p:tavLst>
                                    </p:anim>
                                    <p:anim calcmode="lin" valueType="num">
                                      <p:cBhvr>
                                        <p:cTn id="19" dur="500" fill="hold"/>
                                        <p:tgtEl>
                                          <p:spTgt spid="95"/>
                                        </p:tgtEl>
                                        <p:attrNameLst>
                                          <p:attrName>ppt_h</p:attrName>
                                        </p:attrNameLst>
                                      </p:cBhvr>
                                      <p:tavLst>
                                        <p:tav tm="0">
                                          <p:val>
                                            <p:strVal val="#ppt_h"/>
                                          </p:val>
                                        </p:tav>
                                        <p:tav tm="100000">
                                          <p:val>
                                            <p:strVal val="#ppt_h"/>
                                          </p:val>
                                        </p:tav>
                                      </p:tavLst>
                                    </p:anim>
                                    <p:animEffect transition="in" filter="fade">
                                      <p:cBhvr>
                                        <p:cTn id="20" dur="500"/>
                                        <p:tgtEl>
                                          <p:spTgt spid="95"/>
                                        </p:tgtEl>
                                      </p:cBhvr>
                                    </p:animEffect>
                                  </p:childTnLst>
                                  <p:subTnLst>
                                    <p:set>
                                      <p:cBhvr override="childStyle">
                                        <p:cTn dur="1" fill="hold" display="0" masterRel="sameClick" afterEffect="1">
                                          <p:stCondLst>
                                            <p:cond evt="end" delay="0">
                                              <p:tn val="16"/>
                                            </p:cond>
                                          </p:stCondLst>
                                        </p:cTn>
                                        <p:tgtEl>
                                          <p:spTgt spid="95"/>
                                        </p:tgtEl>
                                        <p:attrNameLst>
                                          <p:attrName>style.visibility</p:attrName>
                                        </p:attrNameLst>
                                      </p:cBhvr>
                                      <p:to>
                                        <p:strVal val="hidden"/>
                                      </p:to>
                                    </p:set>
                                    <p:audio>
                                      <p:cMediaNode vol="100000">
                                        <p:cTn display="0" masterRel="sameClick">
                                          <p:stCondLst>
                                            <p:cond evt="begin" delay="0">
                                              <p:tn val="16"/>
                                            </p:cond>
                                          </p:stCondLst>
                                          <p:endCondLst>
                                            <p:cond evt="onStopAudio" delay="0">
                                              <p:tgtEl>
                                                <p:sldTgt/>
                                              </p:tgtEl>
                                            </p:cond>
                                          </p:endCondLst>
                                        </p:cTn>
                                        <p:tgtEl>
                                          <p:sndTgt r:embed="rId7" name="hammer.wav"/>
                                        </p:tgtEl>
                                      </p:cMediaNode>
                                    </p:audio>
                                  </p:sub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499"/>
                                          </p:stCondLst>
                                        </p:cTn>
                                        <p:tgtEl>
                                          <p:spTgt spid="68"/>
                                        </p:tgtEl>
                                        <p:attrNameLst>
                                          <p:attrName>style.visibility</p:attrName>
                                        </p:attrNameLst>
                                      </p:cBhvr>
                                      <p:to>
                                        <p:strVal val="visible"/>
                                      </p:to>
                                    </p:set>
                                  </p:childTnLst>
                                </p:cTn>
                              </p:par>
                            </p:childTnLst>
                          </p:cTn>
                        </p:par>
                        <p:par>
                          <p:cTn id="25" fill="hold">
                            <p:stCondLst>
                              <p:cond delay="500"/>
                            </p:stCondLst>
                            <p:childTnLst>
                              <p:par>
                                <p:cTn id="26" presetID="1" presetClass="mediacall" presetSubtype="0" fill="hold" nodeType="afterEffect">
                                  <p:stCondLst>
                                    <p:cond delay="0"/>
                                  </p:stCondLst>
                                  <p:childTnLst>
                                    <p:cmd type="call" cmd="playFrom(0.0)">
                                      <p:cBhvr>
                                        <p:cTn id="27" dur="1" fill="hold"/>
                                        <p:tgtEl>
                                          <p:spTgt spid="68"/>
                                        </p:tgtEl>
                                      </p:cBhvr>
                                    </p:cmd>
                                  </p:childTnLst>
                                </p:cTn>
                              </p:par>
                            </p:childTnLst>
                          </p:cTn>
                        </p:par>
                        <p:par>
                          <p:cTn id="28" fill="hold">
                            <p:stCondLst>
                              <p:cond delay="501"/>
                            </p:stCondLst>
                            <p:childTnLst>
                              <p:par>
                                <p:cTn id="29" presetID="9" presetClass="exit" presetSubtype="0" fill="hold" nodeType="afterEffect">
                                  <p:stCondLst>
                                    <p:cond delay="0"/>
                                  </p:stCondLst>
                                  <p:childTnLst>
                                    <p:animEffect transition="out" filter="dissolve">
                                      <p:cBhvr>
                                        <p:cTn id="30" dur="500"/>
                                        <p:tgtEl>
                                          <p:spTgt spid="67"/>
                                        </p:tgtEl>
                                      </p:cBhvr>
                                    </p:animEffect>
                                    <p:set>
                                      <p:cBhvr>
                                        <p:cTn id="31" dur="1" fill="hold">
                                          <p:stCondLst>
                                            <p:cond delay="499"/>
                                          </p:stCondLst>
                                        </p:cTn>
                                        <p:tgtEl>
                                          <p:spTgt spid="67"/>
                                        </p:tgtEl>
                                        <p:attrNameLst>
                                          <p:attrName>style.visibility</p:attrName>
                                        </p:attrNameLst>
                                      </p:cBhvr>
                                      <p:to>
                                        <p:strVal val="hidden"/>
                                      </p:to>
                                    </p:set>
                                    <p:cmd type="call" cmd="stop">
                                      <p:cBhvr>
                                        <p:cTn id="32" dur="1">
                                          <p:stCondLst>
                                            <p:cond delay="499"/>
                                          </p:stCondLst>
                                        </p:cTn>
                                        <p:tgtEl>
                                          <p:spTgt spid="67"/>
                                        </p:tgtEl>
                                      </p:cBhvr>
                                    </p:cmd>
                                  </p:childTnLst>
                                </p:cTn>
                              </p:par>
                            </p:childTnLst>
                          </p:cTn>
                        </p:par>
                        <p:par>
                          <p:cTn id="33" fill="hold">
                            <p:stCondLst>
                              <p:cond delay="1001"/>
                            </p:stCondLst>
                            <p:childTnLst>
                              <p:par>
                                <p:cTn id="34" presetID="1" presetClass="entr" presetSubtype="0" fill="hold" grpId="0" nodeType="afterEffect">
                                  <p:stCondLst>
                                    <p:cond delay="0"/>
                                  </p:stCondLst>
                                  <p:childTnLst>
                                    <p:set>
                                      <p:cBhvr>
                                        <p:cTn id="35" dur="1" fill="hold">
                                          <p:stCondLst>
                                            <p:cond delay="499"/>
                                          </p:stCondLst>
                                        </p:cTn>
                                        <p:tgtEl>
                                          <p:spTgt spid="76"/>
                                        </p:tgtEl>
                                        <p:attrNameLst>
                                          <p:attrName>style.visibility</p:attrName>
                                        </p:attrNameLst>
                                      </p:cBhvr>
                                      <p:to>
                                        <p:strVal val="visible"/>
                                      </p:to>
                                    </p:set>
                                  </p:childTnLst>
                                </p:cTn>
                              </p:par>
                            </p:childTnLst>
                          </p:cTn>
                        </p:par>
                        <p:par>
                          <p:cTn id="36" fill="hold">
                            <p:stCondLst>
                              <p:cond delay="1501"/>
                            </p:stCondLst>
                            <p:childTnLst>
                              <p:par>
                                <p:cTn id="37" presetID="1" presetClass="entr" presetSubtype="0" fill="hold" grpId="0" nodeType="afterEffect">
                                  <p:stCondLst>
                                    <p:cond delay="0"/>
                                  </p:stCondLst>
                                  <p:childTnLst>
                                    <p:set>
                                      <p:cBhvr>
                                        <p:cTn id="38" dur="1" fill="hold">
                                          <p:stCondLst>
                                            <p:cond delay="499"/>
                                          </p:stCondLst>
                                        </p:cTn>
                                        <p:tgtEl>
                                          <p:spTgt spid="77"/>
                                        </p:tgtEl>
                                        <p:attrNameLst>
                                          <p:attrName>style.visibility</p:attrName>
                                        </p:attrNameLst>
                                      </p:cBhvr>
                                      <p:to>
                                        <p:strVal val="visible"/>
                                      </p:to>
                                    </p:set>
                                  </p:childTnLst>
                                </p:cTn>
                              </p:par>
                              <p:par>
                                <p:cTn id="39" presetID="19" presetClass="entr" presetSubtype="10" fill="hold" grpId="0" nodeType="withEffect">
                                  <p:stCondLst>
                                    <p:cond delay="0"/>
                                  </p:stCondLst>
                                  <p:childTnLst>
                                    <p:set>
                                      <p:cBhvr>
                                        <p:cTn id="40" dur="1" fill="hold">
                                          <p:stCondLst>
                                            <p:cond delay="0"/>
                                          </p:stCondLst>
                                        </p:cTn>
                                        <p:tgtEl>
                                          <p:spTgt spid="103"/>
                                        </p:tgtEl>
                                        <p:attrNameLst>
                                          <p:attrName>style.visibility</p:attrName>
                                        </p:attrNameLst>
                                      </p:cBhvr>
                                      <p:to>
                                        <p:strVal val="visible"/>
                                      </p:to>
                                    </p:set>
                                    <p:anim calcmode="lin" valueType="num">
                                      <p:cBhvr>
                                        <p:cTn id="41" dur="5000" fill="hold"/>
                                        <p:tgtEl>
                                          <p:spTgt spid="103"/>
                                        </p:tgtEl>
                                        <p:attrNameLst>
                                          <p:attrName>ppt_w</p:attrName>
                                        </p:attrNameLst>
                                      </p:cBhvr>
                                      <p:tavLst>
                                        <p:tav tm="0" fmla="#ppt_w*sin(2.5*pi*$)">
                                          <p:val>
                                            <p:fltVal val="0"/>
                                          </p:val>
                                        </p:tav>
                                        <p:tav tm="100000">
                                          <p:val>
                                            <p:fltVal val="1"/>
                                          </p:val>
                                        </p:tav>
                                      </p:tavLst>
                                    </p:anim>
                                    <p:anim calcmode="lin" valueType="num">
                                      <p:cBhvr>
                                        <p:cTn id="42" dur="5000" fill="hold"/>
                                        <p:tgtEl>
                                          <p:spTgt spid="103"/>
                                        </p:tgtEl>
                                        <p:attrNameLst>
                                          <p:attrName>ppt_h</p:attrName>
                                        </p:attrNameLst>
                                      </p:cBhvr>
                                      <p:tavLst>
                                        <p:tav tm="0">
                                          <p:val>
                                            <p:strVal val="#ppt_h"/>
                                          </p:val>
                                        </p:tav>
                                        <p:tav tm="100000">
                                          <p:val>
                                            <p:strVal val="#ppt_h"/>
                                          </p:val>
                                        </p:tav>
                                      </p:tavLst>
                                    </p:anim>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iterate type="lt">
                                    <p:tmPct val="100000"/>
                                  </p:iterate>
                                  <p:childTnLst>
                                    <p:set>
                                      <p:cBhvr>
                                        <p:cTn id="46" dur="1" fill="hold">
                                          <p:stCondLst>
                                            <p:cond delay="0"/>
                                          </p:stCondLst>
                                        </p:cTn>
                                        <p:tgtEl>
                                          <p:spTgt spid="69"/>
                                        </p:tgtEl>
                                        <p:attrNameLst>
                                          <p:attrName>style.visibility</p:attrName>
                                        </p:attrNameLst>
                                      </p:cBhvr>
                                      <p:to>
                                        <p:strVal val="visible"/>
                                      </p:to>
                                    </p:set>
                                    <p:animEffect transition="in" filter="wipe(left)">
                                      <p:cBhvr>
                                        <p:cTn id="47" dur="75"/>
                                        <p:tgtEl>
                                          <p:spTgt spid="69"/>
                                        </p:tgtEl>
                                      </p:cBhvr>
                                    </p:animEffect>
                                  </p:childTnLst>
                                  <p:subTnLst>
                                    <p:audio>
                                      <p:cMediaNode>
                                        <p:cTn display="0" masterRel="sameClick">
                                          <p:stCondLst>
                                            <p:cond evt="begin" delay="0">
                                              <p:tn val="45"/>
                                            </p:cond>
                                          </p:stCondLst>
                                          <p:endCondLst>
                                            <p:cond evt="onStopAudio" delay="0">
                                              <p:tgtEl>
                                                <p:sldTgt/>
                                              </p:tgtEl>
                                            </p:cond>
                                          </p:endCondLst>
                                        </p:cTn>
                                        <p:tgtEl>
                                          <p:sndTgt r:embed="rId8" name="TYPE.WAV"/>
                                        </p:tgtEl>
                                      </p:cMediaNode>
                                    </p:audio>
                                  </p:subTnLst>
                                </p:cTn>
                              </p:par>
                              <p:par>
                                <p:cTn id="48" presetID="22" presetClass="entr" presetSubtype="4" fill="hold" nodeType="withEffect">
                                  <p:stCondLst>
                                    <p:cond delay="0"/>
                                  </p:stCondLst>
                                  <p:childTnLst>
                                    <p:set>
                                      <p:cBhvr>
                                        <p:cTn id="49" dur="1" fill="hold">
                                          <p:stCondLst>
                                            <p:cond delay="0"/>
                                          </p:stCondLst>
                                        </p:cTn>
                                        <p:tgtEl>
                                          <p:spTgt spid="91"/>
                                        </p:tgtEl>
                                        <p:attrNameLst>
                                          <p:attrName>style.visibility</p:attrName>
                                        </p:attrNameLst>
                                      </p:cBhvr>
                                      <p:to>
                                        <p:strVal val="visible"/>
                                      </p:to>
                                    </p:set>
                                    <p:animEffect transition="in" filter="wipe(down)">
                                      <p:cBhvr>
                                        <p:cTn id="50" dur="5000"/>
                                        <p:tgtEl>
                                          <p:spTgt spid="91"/>
                                        </p:tgtEl>
                                      </p:cBhvr>
                                    </p:animEffect>
                                  </p:childTnLst>
                                  <p:subTnLst>
                                    <p:audio>
                                      <p:cMediaNode>
                                        <p:cTn display="0" masterRel="sameClick">
                                          <p:stCondLst>
                                            <p:cond evt="begin" delay="0">
                                              <p:tn val="48"/>
                                            </p:cond>
                                          </p:stCondLst>
                                          <p:endCondLst>
                                            <p:cond evt="onStopAudio" delay="0">
                                              <p:tgtEl>
                                                <p:sldTgt/>
                                              </p:tgtEl>
                                            </p:cond>
                                          </p:endCondLst>
                                        </p:cTn>
                                        <p:tgtEl>
                                          <p:sndTgt r:embed="rId9" name="push.wav"/>
                                        </p:tgtEl>
                                      </p:cMediaNode>
                                    </p:audio>
                                  </p:subTnLst>
                                </p:cTn>
                              </p:par>
                            </p:childTnLst>
                          </p:cTn>
                        </p:par>
                      </p:childTnLst>
                    </p:cTn>
                  </p:par>
                  <p:par>
                    <p:cTn id="51" fill="hold">
                      <p:stCondLst>
                        <p:cond delay="indefinite"/>
                      </p:stCondLst>
                      <p:childTnLst>
                        <p:par>
                          <p:cTn id="52" fill="hold">
                            <p:stCondLst>
                              <p:cond delay="0"/>
                            </p:stCondLst>
                            <p:childTnLst>
                              <p:par>
                                <p:cTn id="53" presetID="17" presetClass="entr" presetSubtype="8" fill="hold" nodeType="clickEffect">
                                  <p:stCondLst>
                                    <p:cond delay="0"/>
                                  </p:stCondLst>
                                  <p:childTnLst>
                                    <p:set>
                                      <p:cBhvr>
                                        <p:cTn id="54" dur="1" fill="hold">
                                          <p:stCondLst>
                                            <p:cond delay="0"/>
                                          </p:stCondLst>
                                        </p:cTn>
                                        <p:tgtEl>
                                          <p:spTgt spid="78"/>
                                        </p:tgtEl>
                                        <p:attrNameLst>
                                          <p:attrName>style.visibility</p:attrName>
                                        </p:attrNameLst>
                                      </p:cBhvr>
                                      <p:to>
                                        <p:strVal val="visible"/>
                                      </p:to>
                                    </p:set>
                                    <p:anim calcmode="lin" valueType="num">
                                      <p:cBhvr>
                                        <p:cTn id="55" dur="2000" fill="hold"/>
                                        <p:tgtEl>
                                          <p:spTgt spid="78"/>
                                        </p:tgtEl>
                                        <p:attrNameLst>
                                          <p:attrName>ppt_x</p:attrName>
                                        </p:attrNameLst>
                                      </p:cBhvr>
                                      <p:tavLst>
                                        <p:tav tm="0">
                                          <p:val>
                                            <p:strVal val="#ppt_x-#ppt_w/2"/>
                                          </p:val>
                                        </p:tav>
                                        <p:tav tm="100000">
                                          <p:val>
                                            <p:strVal val="#ppt_x"/>
                                          </p:val>
                                        </p:tav>
                                      </p:tavLst>
                                    </p:anim>
                                    <p:anim calcmode="lin" valueType="num">
                                      <p:cBhvr>
                                        <p:cTn id="56" dur="2000" fill="hold"/>
                                        <p:tgtEl>
                                          <p:spTgt spid="78"/>
                                        </p:tgtEl>
                                        <p:attrNameLst>
                                          <p:attrName>ppt_y</p:attrName>
                                        </p:attrNameLst>
                                      </p:cBhvr>
                                      <p:tavLst>
                                        <p:tav tm="0">
                                          <p:val>
                                            <p:strVal val="#ppt_y"/>
                                          </p:val>
                                        </p:tav>
                                        <p:tav tm="100000">
                                          <p:val>
                                            <p:strVal val="#ppt_y"/>
                                          </p:val>
                                        </p:tav>
                                      </p:tavLst>
                                    </p:anim>
                                    <p:anim calcmode="lin" valueType="num">
                                      <p:cBhvr>
                                        <p:cTn id="57" dur="2000" fill="hold"/>
                                        <p:tgtEl>
                                          <p:spTgt spid="78"/>
                                        </p:tgtEl>
                                        <p:attrNameLst>
                                          <p:attrName>ppt_w</p:attrName>
                                        </p:attrNameLst>
                                      </p:cBhvr>
                                      <p:tavLst>
                                        <p:tav tm="0">
                                          <p:val>
                                            <p:fltVal val="0"/>
                                          </p:val>
                                        </p:tav>
                                        <p:tav tm="100000">
                                          <p:val>
                                            <p:strVal val="#ppt_w"/>
                                          </p:val>
                                        </p:tav>
                                      </p:tavLst>
                                    </p:anim>
                                    <p:anim calcmode="lin" valueType="num">
                                      <p:cBhvr>
                                        <p:cTn id="58" dur="2000" fill="hold"/>
                                        <p:tgtEl>
                                          <p:spTgt spid="78"/>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53"/>
                                            </p:cond>
                                          </p:stCondLst>
                                          <p:endCondLst>
                                            <p:cond evt="onStopAudio" delay="0">
                                              <p:tgtEl>
                                                <p:sldTgt/>
                                              </p:tgtEl>
                                            </p:cond>
                                          </p:endCondLst>
                                        </p:cTn>
                                        <p:tgtEl>
                                          <p:sndTgt r:embed="rId10" name="CHIMES.WAV"/>
                                        </p:tgtEl>
                                      </p:cMediaNode>
                                    </p:audio>
                                  </p:subTnLst>
                                </p:cTn>
                              </p:par>
                              <p:par>
                                <p:cTn id="59" presetID="19" presetClass="entr" presetSubtype="10" fill="hold" grpId="0" nodeType="withEffect">
                                  <p:stCondLst>
                                    <p:cond delay="0"/>
                                  </p:stCondLst>
                                  <p:childTnLst>
                                    <p:set>
                                      <p:cBhvr>
                                        <p:cTn id="60" dur="1" fill="hold">
                                          <p:stCondLst>
                                            <p:cond delay="0"/>
                                          </p:stCondLst>
                                        </p:cTn>
                                        <p:tgtEl>
                                          <p:spTgt spid="97"/>
                                        </p:tgtEl>
                                        <p:attrNameLst>
                                          <p:attrName>style.visibility</p:attrName>
                                        </p:attrNameLst>
                                      </p:cBhvr>
                                      <p:to>
                                        <p:strVal val="visible"/>
                                      </p:to>
                                    </p:set>
                                    <p:anim calcmode="lin" valueType="num">
                                      <p:cBhvr>
                                        <p:cTn id="61" dur="5000" fill="hold"/>
                                        <p:tgtEl>
                                          <p:spTgt spid="97"/>
                                        </p:tgtEl>
                                        <p:attrNameLst>
                                          <p:attrName>ppt_w</p:attrName>
                                        </p:attrNameLst>
                                      </p:cBhvr>
                                      <p:tavLst>
                                        <p:tav tm="0" fmla="#ppt_w*sin(2.5*pi*$)">
                                          <p:val>
                                            <p:fltVal val="0"/>
                                          </p:val>
                                        </p:tav>
                                        <p:tav tm="100000">
                                          <p:val>
                                            <p:fltVal val="1"/>
                                          </p:val>
                                        </p:tav>
                                      </p:tavLst>
                                    </p:anim>
                                    <p:anim calcmode="lin" valueType="num">
                                      <p:cBhvr>
                                        <p:cTn id="62" dur="5000" fill="hold"/>
                                        <p:tgtEl>
                                          <p:spTgt spid="97"/>
                                        </p:tgtEl>
                                        <p:attrNameLst>
                                          <p:attrName>ppt_h</p:attrName>
                                        </p:attrNameLst>
                                      </p:cBhvr>
                                      <p:tavLst>
                                        <p:tav tm="0">
                                          <p:val>
                                            <p:strVal val="#ppt_h"/>
                                          </p:val>
                                        </p:tav>
                                        <p:tav tm="100000">
                                          <p:val>
                                            <p:strVal val="#ppt_h"/>
                                          </p:val>
                                        </p:tav>
                                      </p:tavLst>
                                    </p:anim>
                                  </p:childTnLst>
                                </p:cTn>
                              </p:par>
                            </p:childTnLst>
                          </p:cTn>
                        </p:par>
                        <p:par>
                          <p:cTn id="63" fill="hold">
                            <p:stCondLst>
                              <p:cond delay="5000"/>
                            </p:stCondLst>
                            <p:childTnLst>
                              <p:par>
                                <p:cTn id="64" presetID="16" presetClass="entr" presetSubtype="42" fill="hold" nodeType="afterEffect">
                                  <p:stCondLst>
                                    <p:cond delay="1000"/>
                                  </p:stCondLst>
                                  <p:childTnLst>
                                    <p:set>
                                      <p:cBhvr>
                                        <p:cTn id="65" dur="1" fill="hold">
                                          <p:stCondLst>
                                            <p:cond delay="0"/>
                                          </p:stCondLst>
                                        </p:cTn>
                                        <p:tgtEl>
                                          <p:spTgt spid="90"/>
                                        </p:tgtEl>
                                        <p:attrNameLst>
                                          <p:attrName>style.visibility</p:attrName>
                                        </p:attrNameLst>
                                      </p:cBhvr>
                                      <p:to>
                                        <p:strVal val="visible"/>
                                      </p:to>
                                    </p:set>
                                    <p:animEffect transition="in" filter="barn(outHorizontal)">
                                      <p:cBhvr>
                                        <p:cTn id="66" dur="500"/>
                                        <p:tgtEl>
                                          <p:spTgt spid="90"/>
                                        </p:tgtEl>
                                      </p:cBhvr>
                                    </p:animEffect>
                                  </p:childTnLst>
                                  <p:subTnLst>
                                    <p:audio>
                                      <p:cMediaNode>
                                        <p:cTn display="0" masterRel="sameClick">
                                          <p:stCondLst>
                                            <p:cond evt="begin" delay="0">
                                              <p:tn val="64"/>
                                            </p:cond>
                                          </p:stCondLst>
                                          <p:endCondLst>
                                            <p:cond evt="onStopAudio" delay="0">
                                              <p:tgtEl>
                                                <p:sldTgt/>
                                              </p:tgtEl>
                                            </p:cond>
                                          </p:endCondLst>
                                        </p:cTn>
                                        <p:tgtEl>
                                          <p:sndTgt r:embed="rId10" name="CHIMES.WAV"/>
                                        </p:tgtEl>
                                      </p:cMediaNode>
                                    </p:audio>
                                  </p:subTnLst>
                                </p:cTn>
                              </p:par>
                            </p:childTnLst>
                          </p:cTn>
                        </p:par>
                        <p:par>
                          <p:cTn id="67" fill="hold">
                            <p:stCondLst>
                              <p:cond delay="6500"/>
                            </p:stCondLst>
                            <p:childTnLst>
                              <p:par>
                                <p:cTn id="68" presetID="17" presetClass="entr" presetSubtype="10" fill="hold" grpId="0" nodeType="afterEffect">
                                  <p:stCondLst>
                                    <p:cond delay="1000"/>
                                  </p:stCondLst>
                                  <p:childTnLst>
                                    <p:set>
                                      <p:cBhvr>
                                        <p:cTn id="69" dur="1" fill="hold">
                                          <p:stCondLst>
                                            <p:cond delay="0"/>
                                          </p:stCondLst>
                                        </p:cTn>
                                        <p:tgtEl>
                                          <p:spTgt spid="79"/>
                                        </p:tgtEl>
                                        <p:attrNameLst>
                                          <p:attrName>style.visibility</p:attrName>
                                        </p:attrNameLst>
                                      </p:cBhvr>
                                      <p:to>
                                        <p:strVal val="visible"/>
                                      </p:to>
                                    </p:set>
                                    <p:anim calcmode="lin" valueType="num">
                                      <p:cBhvr>
                                        <p:cTn id="70" dur="500" fill="hold"/>
                                        <p:tgtEl>
                                          <p:spTgt spid="79"/>
                                        </p:tgtEl>
                                        <p:attrNameLst>
                                          <p:attrName>ppt_w</p:attrName>
                                        </p:attrNameLst>
                                      </p:cBhvr>
                                      <p:tavLst>
                                        <p:tav tm="0">
                                          <p:val>
                                            <p:fltVal val="0"/>
                                          </p:val>
                                        </p:tav>
                                        <p:tav tm="100000">
                                          <p:val>
                                            <p:strVal val="#ppt_w"/>
                                          </p:val>
                                        </p:tav>
                                      </p:tavLst>
                                    </p:anim>
                                    <p:anim calcmode="lin" valueType="num">
                                      <p:cBhvr>
                                        <p:cTn id="71" dur="500" fill="hold"/>
                                        <p:tgtEl>
                                          <p:spTgt spid="79"/>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68"/>
                                            </p:cond>
                                          </p:stCondLst>
                                          <p:endCondLst>
                                            <p:cond evt="onStopAudio" delay="0">
                                              <p:tgtEl>
                                                <p:sldTgt/>
                                              </p:tgtEl>
                                            </p:cond>
                                          </p:endCondLst>
                                        </p:cTn>
                                        <p:tgtEl>
                                          <p:sndTgt r:embed="rId10" name="CHIMES.WAV"/>
                                        </p:tgtEl>
                                      </p:cMediaNode>
                                    </p:audio>
                                  </p:subTnLst>
                                </p:cTn>
                              </p:par>
                            </p:childTnLst>
                          </p:cTn>
                        </p:par>
                      </p:childTnLst>
                    </p:cTn>
                  </p:par>
                  <p:par>
                    <p:cTn id="72" fill="hold">
                      <p:stCondLst>
                        <p:cond delay="indefinite"/>
                      </p:stCondLst>
                      <p:childTnLst>
                        <p:par>
                          <p:cTn id="73" fill="hold">
                            <p:stCondLst>
                              <p:cond delay="0"/>
                            </p:stCondLst>
                            <p:childTnLst>
                              <p:par>
                                <p:cTn id="74" presetID="22" presetClass="entr" presetSubtype="8" fill="hold" grpId="0" nodeType="clickEffect">
                                  <p:stCondLst>
                                    <p:cond delay="0"/>
                                  </p:stCondLst>
                                  <p:iterate type="lt">
                                    <p:tmPct val="100000"/>
                                  </p:iterate>
                                  <p:childTnLst>
                                    <p:set>
                                      <p:cBhvr>
                                        <p:cTn id="75" dur="1" fill="hold">
                                          <p:stCondLst>
                                            <p:cond delay="0"/>
                                          </p:stCondLst>
                                        </p:cTn>
                                        <p:tgtEl>
                                          <p:spTgt spid="70"/>
                                        </p:tgtEl>
                                        <p:attrNameLst>
                                          <p:attrName>style.visibility</p:attrName>
                                        </p:attrNameLst>
                                      </p:cBhvr>
                                      <p:to>
                                        <p:strVal val="visible"/>
                                      </p:to>
                                    </p:set>
                                    <p:animEffect transition="in" filter="wipe(left)">
                                      <p:cBhvr>
                                        <p:cTn id="76" dur="75"/>
                                        <p:tgtEl>
                                          <p:spTgt spid="70"/>
                                        </p:tgtEl>
                                      </p:cBhvr>
                                    </p:animEffect>
                                  </p:childTnLst>
                                  <p:subTnLst>
                                    <p:audio>
                                      <p:cMediaNode>
                                        <p:cTn display="0" masterRel="sameClick">
                                          <p:stCondLst>
                                            <p:cond evt="begin" delay="0">
                                              <p:tn val="74"/>
                                            </p:cond>
                                          </p:stCondLst>
                                          <p:endCondLst>
                                            <p:cond evt="onStopAudio" delay="0">
                                              <p:tgtEl>
                                                <p:sldTgt/>
                                              </p:tgtEl>
                                            </p:cond>
                                          </p:endCondLst>
                                        </p:cTn>
                                        <p:tgtEl>
                                          <p:sndTgt r:embed="rId8" name="TYPE.WAV"/>
                                        </p:tgtEl>
                                      </p:cMediaNode>
                                    </p:audio>
                                  </p:subTnLst>
                                </p:cTn>
                              </p:par>
                            </p:childTnLst>
                          </p:cTn>
                        </p:par>
                        <p:par>
                          <p:cTn id="77" fill="hold">
                            <p:stCondLst>
                              <p:cond delay="450"/>
                            </p:stCondLst>
                            <p:childTnLst>
                              <p:par>
                                <p:cTn id="78" presetID="17" presetClass="entr" presetSubtype="8" fill="hold" nodeType="afterEffect">
                                  <p:stCondLst>
                                    <p:cond delay="2000"/>
                                  </p:stCondLst>
                                  <p:childTnLst>
                                    <p:set>
                                      <p:cBhvr>
                                        <p:cTn id="79" dur="1" fill="hold">
                                          <p:stCondLst>
                                            <p:cond delay="0"/>
                                          </p:stCondLst>
                                        </p:cTn>
                                        <p:tgtEl>
                                          <p:spTgt spid="80"/>
                                        </p:tgtEl>
                                        <p:attrNameLst>
                                          <p:attrName>style.visibility</p:attrName>
                                        </p:attrNameLst>
                                      </p:cBhvr>
                                      <p:to>
                                        <p:strVal val="visible"/>
                                      </p:to>
                                    </p:set>
                                    <p:anim calcmode="lin" valueType="num">
                                      <p:cBhvr>
                                        <p:cTn id="80" dur="500" fill="hold"/>
                                        <p:tgtEl>
                                          <p:spTgt spid="80"/>
                                        </p:tgtEl>
                                        <p:attrNameLst>
                                          <p:attrName>ppt_x</p:attrName>
                                        </p:attrNameLst>
                                      </p:cBhvr>
                                      <p:tavLst>
                                        <p:tav tm="0">
                                          <p:val>
                                            <p:strVal val="#ppt_x-#ppt_w/2"/>
                                          </p:val>
                                        </p:tav>
                                        <p:tav tm="100000">
                                          <p:val>
                                            <p:strVal val="#ppt_x"/>
                                          </p:val>
                                        </p:tav>
                                      </p:tavLst>
                                    </p:anim>
                                    <p:anim calcmode="lin" valueType="num">
                                      <p:cBhvr>
                                        <p:cTn id="81" dur="500" fill="hold"/>
                                        <p:tgtEl>
                                          <p:spTgt spid="80"/>
                                        </p:tgtEl>
                                        <p:attrNameLst>
                                          <p:attrName>ppt_y</p:attrName>
                                        </p:attrNameLst>
                                      </p:cBhvr>
                                      <p:tavLst>
                                        <p:tav tm="0">
                                          <p:val>
                                            <p:strVal val="#ppt_y"/>
                                          </p:val>
                                        </p:tav>
                                        <p:tav tm="100000">
                                          <p:val>
                                            <p:strVal val="#ppt_y"/>
                                          </p:val>
                                        </p:tav>
                                      </p:tavLst>
                                    </p:anim>
                                    <p:anim calcmode="lin" valueType="num">
                                      <p:cBhvr>
                                        <p:cTn id="82" dur="500" fill="hold"/>
                                        <p:tgtEl>
                                          <p:spTgt spid="80"/>
                                        </p:tgtEl>
                                        <p:attrNameLst>
                                          <p:attrName>ppt_w</p:attrName>
                                        </p:attrNameLst>
                                      </p:cBhvr>
                                      <p:tavLst>
                                        <p:tav tm="0">
                                          <p:val>
                                            <p:fltVal val="0"/>
                                          </p:val>
                                        </p:tav>
                                        <p:tav tm="100000">
                                          <p:val>
                                            <p:strVal val="#ppt_w"/>
                                          </p:val>
                                        </p:tav>
                                      </p:tavLst>
                                    </p:anim>
                                    <p:anim calcmode="lin" valueType="num">
                                      <p:cBhvr>
                                        <p:cTn id="83" dur="500" fill="hold"/>
                                        <p:tgtEl>
                                          <p:spTgt spid="80"/>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78"/>
                                            </p:cond>
                                          </p:stCondLst>
                                          <p:endCondLst>
                                            <p:cond evt="onStopAudio" delay="0">
                                              <p:tgtEl>
                                                <p:sldTgt/>
                                              </p:tgtEl>
                                            </p:cond>
                                          </p:endCondLst>
                                        </p:cTn>
                                        <p:tgtEl>
                                          <p:sndTgt r:embed="rId10" name="CHIMES.WAV"/>
                                        </p:tgtEl>
                                      </p:cMediaNode>
                                    </p:audio>
                                  </p:subTnLst>
                                </p:cTn>
                              </p:par>
                              <p:par>
                                <p:cTn id="84" presetID="19" presetClass="entr" presetSubtype="10" fill="hold" grpId="0" nodeType="withEffect">
                                  <p:stCondLst>
                                    <p:cond delay="2000"/>
                                  </p:stCondLst>
                                  <p:childTnLst>
                                    <p:set>
                                      <p:cBhvr>
                                        <p:cTn id="85" dur="1" fill="hold">
                                          <p:stCondLst>
                                            <p:cond delay="0"/>
                                          </p:stCondLst>
                                        </p:cTn>
                                        <p:tgtEl>
                                          <p:spTgt spid="98"/>
                                        </p:tgtEl>
                                        <p:attrNameLst>
                                          <p:attrName>style.visibility</p:attrName>
                                        </p:attrNameLst>
                                      </p:cBhvr>
                                      <p:to>
                                        <p:strVal val="visible"/>
                                      </p:to>
                                    </p:set>
                                    <p:anim calcmode="lin" valueType="num">
                                      <p:cBhvr>
                                        <p:cTn id="86" dur="5000" fill="hold"/>
                                        <p:tgtEl>
                                          <p:spTgt spid="98"/>
                                        </p:tgtEl>
                                        <p:attrNameLst>
                                          <p:attrName>ppt_w</p:attrName>
                                        </p:attrNameLst>
                                      </p:cBhvr>
                                      <p:tavLst>
                                        <p:tav tm="0" fmla="#ppt_w*sin(2.5*pi*$)">
                                          <p:val>
                                            <p:fltVal val="0"/>
                                          </p:val>
                                        </p:tav>
                                        <p:tav tm="100000">
                                          <p:val>
                                            <p:fltVal val="1"/>
                                          </p:val>
                                        </p:tav>
                                      </p:tavLst>
                                    </p:anim>
                                    <p:anim calcmode="lin" valueType="num">
                                      <p:cBhvr>
                                        <p:cTn id="87" dur="5000" fill="hold"/>
                                        <p:tgtEl>
                                          <p:spTgt spid="98"/>
                                        </p:tgtEl>
                                        <p:attrNameLst>
                                          <p:attrName>ppt_h</p:attrName>
                                        </p:attrNameLst>
                                      </p:cBhvr>
                                      <p:tavLst>
                                        <p:tav tm="0">
                                          <p:val>
                                            <p:strVal val="#ppt_h"/>
                                          </p:val>
                                        </p:tav>
                                        <p:tav tm="100000">
                                          <p:val>
                                            <p:strVal val="#ppt_h"/>
                                          </p:val>
                                        </p:tav>
                                      </p:tavLst>
                                    </p:anim>
                                  </p:childTnLst>
                                </p:cTn>
                              </p:par>
                            </p:childTnLst>
                          </p:cTn>
                        </p:par>
                        <p:par>
                          <p:cTn id="88" fill="hold">
                            <p:stCondLst>
                              <p:cond delay="7450"/>
                            </p:stCondLst>
                            <p:childTnLst>
                              <p:par>
                                <p:cTn id="89" presetID="16" presetClass="entr" presetSubtype="42" fill="hold" nodeType="afterEffect">
                                  <p:stCondLst>
                                    <p:cond delay="1000"/>
                                  </p:stCondLst>
                                  <p:childTnLst>
                                    <p:set>
                                      <p:cBhvr>
                                        <p:cTn id="90" dur="1" fill="hold">
                                          <p:stCondLst>
                                            <p:cond delay="0"/>
                                          </p:stCondLst>
                                        </p:cTn>
                                        <p:tgtEl>
                                          <p:spTgt spid="81"/>
                                        </p:tgtEl>
                                        <p:attrNameLst>
                                          <p:attrName>style.visibility</p:attrName>
                                        </p:attrNameLst>
                                      </p:cBhvr>
                                      <p:to>
                                        <p:strVal val="visible"/>
                                      </p:to>
                                    </p:set>
                                    <p:animEffect transition="in" filter="barn(outHorizontal)">
                                      <p:cBhvr>
                                        <p:cTn id="91" dur="500"/>
                                        <p:tgtEl>
                                          <p:spTgt spid="81"/>
                                        </p:tgtEl>
                                      </p:cBhvr>
                                    </p:animEffect>
                                  </p:childTnLst>
                                  <p:subTnLst>
                                    <p:audio>
                                      <p:cMediaNode>
                                        <p:cTn display="0" masterRel="sameClick">
                                          <p:stCondLst>
                                            <p:cond evt="begin" delay="0">
                                              <p:tn val="89"/>
                                            </p:cond>
                                          </p:stCondLst>
                                          <p:endCondLst>
                                            <p:cond evt="onStopAudio" delay="0">
                                              <p:tgtEl>
                                                <p:sldTgt/>
                                              </p:tgtEl>
                                            </p:cond>
                                          </p:endCondLst>
                                        </p:cTn>
                                        <p:tgtEl>
                                          <p:sndTgt r:embed="rId10" name="CHIMES.WAV"/>
                                        </p:tgtEl>
                                      </p:cMediaNode>
                                    </p:audio>
                                  </p:subTnLst>
                                </p:cTn>
                              </p:par>
                            </p:childTnLst>
                          </p:cTn>
                        </p:par>
                        <p:par>
                          <p:cTn id="92" fill="hold">
                            <p:stCondLst>
                              <p:cond delay="8950"/>
                            </p:stCondLst>
                            <p:childTnLst>
                              <p:par>
                                <p:cTn id="93" presetID="17" presetClass="entr" presetSubtype="10" fill="hold" grpId="0" nodeType="afterEffect">
                                  <p:stCondLst>
                                    <p:cond delay="1000"/>
                                  </p:stCondLst>
                                  <p:childTnLst>
                                    <p:set>
                                      <p:cBhvr>
                                        <p:cTn id="94" dur="1" fill="hold">
                                          <p:stCondLst>
                                            <p:cond delay="0"/>
                                          </p:stCondLst>
                                        </p:cTn>
                                        <p:tgtEl>
                                          <p:spTgt spid="82"/>
                                        </p:tgtEl>
                                        <p:attrNameLst>
                                          <p:attrName>style.visibility</p:attrName>
                                        </p:attrNameLst>
                                      </p:cBhvr>
                                      <p:to>
                                        <p:strVal val="visible"/>
                                      </p:to>
                                    </p:set>
                                    <p:anim calcmode="lin" valueType="num">
                                      <p:cBhvr>
                                        <p:cTn id="95" dur="500" fill="hold"/>
                                        <p:tgtEl>
                                          <p:spTgt spid="82"/>
                                        </p:tgtEl>
                                        <p:attrNameLst>
                                          <p:attrName>ppt_w</p:attrName>
                                        </p:attrNameLst>
                                      </p:cBhvr>
                                      <p:tavLst>
                                        <p:tav tm="0">
                                          <p:val>
                                            <p:fltVal val="0"/>
                                          </p:val>
                                        </p:tav>
                                        <p:tav tm="100000">
                                          <p:val>
                                            <p:strVal val="#ppt_w"/>
                                          </p:val>
                                        </p:tav>
                                      </p:tavLst>
                                    </p:anim>
                                    <p:anim calcmode="lin" valueType="num">
                                      <p:cBhvr>
                                        <p:cTn id="96" dur="500" fill="hold"/>
                                        <p:tgtEl>
                                          <p:spTgt spid="82"/>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93"/>
                                            </p:cond>
                                          </p:stCondLst>
                                          <p:endCondLst>
                                            <p:cond evt="onStopAudio" delay="0">
                                              <p:tgtEl>
                                                <p:sldTgt/>
                                              </p:tgtEl>
                                            </p:cond>
                                          </p:endCondLst>
                                        </p:cTn>
                                        <p:tgtEl>
                                          <p:sndTgt r:embed="rId10" name="CHIMES.WAV"/>
                                        </p:tgtEl>
                                      </p:cMediaNode>
                                    </p:audio>
                                  </p:subTnLst>
                                </p:cTn>
                              </p:par>
                            </p:childTnLst>
                          </p:cTn>
                        </p:par>
                        <p:par>
                          <p:cTn id="97" fill="hold">
                            <p:stCondLst>
                              <p:cond delay="10450"/>
                            </p:stCondLst>
                            <p:childTnLst>
                              <p:par>
                                <p:cTn id="98" presetID="22" presetClass="entr" presetSubtype="8" fill="hold" grpId="0" nodeType="afterEffect">
                                  <p:stCondLst>
                                    <p:cond delay="1000"/>
                                  </p:stCondLst>
                                  <p:iterate type="lt">
                                    <p:tmPct val="100000"/>
                                  </p:iterate>
                                  <p:childTnLst>
                                    <p:set>
                                      <p:cBhvr>
                                        <p:cTn id="99" dur="1" fill="hold">
                                          <p:stCondLst>
                                            <p:cond delay="0"/>
                                          </p:stCondLst>
                                        </p:cTn>
                                        <p:tgtEl>
                                          <p:spTgt spid="89"/>
                                        </p:tgtEl>
                                        <p:attrNameLst>
                                          <p:attrName>style.visibility</p:attrName>
                                        </p:attrNameLst>
                                      </p:cBhvr>
                                      <p:to>
                                        <p:strVal val="visible"/>
                                      </p:to>
                                    </p:set>
                                    <p:animEffect transition="in" filter="wipe(left)">
                                      <p:cBhvr>
                                        <p:cTn id="100" dur="75"/>
                                        <p:tgtEl>
                                          <p:spTgt spid="89"/>
                                        </p:tgtEl>
                                      </p:cBhvr>
                                    </p:animEffect>
                                  </p:childTnLst>
                                  <p:subTnLst>
                                    <p:audio>
                                      <p:cMediaNode>
                                        <p:cTn display="0" masterRel="sameClick">
                                          <p:stCondLst>
                                            <p:cond evt="begin" delay="0">
                                              <p:tn val="98"/>
                                            </p:cond>
                                          </p:stCondLst>
                                          <p:endCondLst>
                                            <p:cond evt="onStopAudio" delay="0">
                                              <p:tgtEl>
                                                <p:sldTgt/>
                                              </p:tgtEl>
                                            </p:cond>
                                          </p:endCondLst>
                                        </p:cTn>
                                        <p:tgtEl>
                                          <p:sndTgt r:embed="rId8" name="TYPE.WAV"/>
                                        </p:tgtEl>
                                      </p:cMediaNode>
                                    </p:audio>
                                  </p:subTnLst>
                                </p:cTn>
                              </p:par>
                            </p:childTnLst>
                          </p:cTn>
                        </p:par>
                      </p:childTnLst>
                    </p:cTn>
                  </p:par>
                  <p:par>
                    <p:cTn id="101" fill="hold">
                      <p:stCondLst>
                        <p:cond delay="indefinite"/>
                      </p:stCondLst>
                      <p:childTnLst>
                        <p:par>
                          <p:cTn id="102" fill="hold">
                            <p:stCondLst>
                              <p:cond delay="0"/>
                            </p:stCondLst>
                            <p:childTnLst>
                              <p:par>
                                <p:cTn id="103" presetID="22" presetClass="entr" presetSubtype="8" fill="hold" grpId="0" nodeType="clickEffect">
                                  <p:stCondLst>
                                    <p:cond delay="0"/>
                                  </p:stCondLst>
                                  <p:iterate type="lt">
                                    <p:tmPct val="100000"/>
                                  </p:iterate>
                                  <p:childTnLst>
                                    <p:set>
                                      <p:cBhvr>
                                        <p:cTn id="104" dur="1" fill="hold">
                                          <p:stCondLst>
                                            <p:cond delay="0"/>
                                          </p:stCondLst>
                                        </p:cTn>
                                        <p:tgtEl>
                                          <p:spTgt spid="71"/>
                                        </p:tgtEl>
                                        <p:attrNameLst>
                                          <p:attrName>style.visibility</p:attrName>
                                        </p:attrNameLst>
                                      </p:cBhvr>
                                      <p:to>
                                        <p:strVal val="visible"/>
                                      </p:to>
                                    </p:set>
                                    <p:animEffect transition="in" filter="wipe(left)">
                                      <p:cBhvr>
                                        <p:cTn id="105" dur="75"/>
                                        <p:tgtEl>
                                          <p:spTgt spid="71"/>
                                        </p:tgtEl>
                                      </p:cBhvr>
                                    </p:animEffect>
                                  </p:childTnLst>
                                  <p:subTnLst>
                                    <p:audio>
                                      <p:cMediaNode>
                                        <p:cTn display="0" masterRel="sameClick">
                                          <p:stCondLst>
                                            <p:cond evt="begin" delay="0">
                                              <p:tn val="103"/>
                                            </p:cond>
                                          </p:stCondLst>
                                          <p:endCondLst>
                                            <p:cond evt="onStopAudio" delay="0">
                                              <p:tgtEl>
                                                <p:sldTgt/>
                                              </p:tgtEl>
                                            </p:cond>
                                          </p:endCondLst>
                                        </p:cTn>
                                        <p:tgtEl>
                                          <p:sndTgt r:embed="rId8" name="TYPE.WAV"/>
                                        </p:tgtEl>
                                      </p:cMediaNode>
                                    </p:audio>
                                  </p:subTnLst>
                                </p:cTn>
                              </p:par>
                            </p:childTnLst>
                          </p:cTn>
                        </p:par>
                        <p:par>
                          <p:cTn id="106" fill="hold">
                            <p:stCondLst>
                              <p:cond delay="450"/>
                            </p:stCondLst>
                            <p:childTnLst>
                              <p:par>
                                <p:cTn id="107" presetID="22" presetClass="entr" presetSubtype="8" fill="hold" nodeType="afterEffect">
                                  <p:stCondLst>
                                    <p:cond delay="1500"/>
                                  </p:stCondLst>
                                  <p:childTnLst>
                                    <p:set>
                                      <p:cBhvr>
                                        <p:cTn id="108" dur="1" fill="hold">
                                          <p:stCondLst>
                                            <p:cond delay="0"/>
                                          </p:stCondLst>
                                        </p:cTn>
                                        <p:tgtEl>
                                          <p:spTgt spid="92"/>
                                        </p:tgtEl>
                                        <p:attrNameLst>
                                          <p:attrName>style.visibility</p:attrName>
                                        </p:attrNameLst>
                                      </p:cBhvr>
                                      <p:to>
                                        <p:strVal val="visible"/>
                                      </p:to>
                                    </p:set>
                                    <p:animEffect transition="in" filter="wipe(left)">
                                      <p:cBhvr>
                                        <p:cTn id="109" dur="5000"/>
                                        <p:tgtEl>
                                          <p:spTgt spid="92"/>
                                        </p:tgtEl>
                                      </p:cBhvr>
                                    </p:animEffect>
                                  </p:childTnLst>
                                  <p:subTnLst>
                                    <p:audio>
                                      <p:cMediaNode>
                                        <p:cTn display="0" masterRel="sameClick">
                                          <p:stCondLst>
                                            <p:cond evt="begin" delay="0">
                                              <p:tn val="107"/>
                                            </p:cond>
                                          </p:stCondLst>
                                          <p:endCondLst>
                                            <p:cond evt="onStopAudio" delay="0">
                                              <p:tgtEl>
                                                <p:sldTgt/>
                                              </p:tgtEl>
                                            </p:cond>
                                          </p:endCondLst>
                                        </p:cTn>
                                        <p:tgtEl>
                                          <p:sndTgt r:embed="rId11" name="LASER.WAV"/>
                                        </p:tgtEl>
                                      </p:cMediaNode>
                                    </p:audio>
                                  </p:subTnLst>
                                </p:cTn>
                              </p:par>
                              <p:par>
                                <p:cTn id="110" presetID="19" presetClass="entr" presetSubtype="10" fill="hold" grpId="0" nodeType="withEffect">
                                  <p:stCondLst>
                                    <p:cond delay="0"/>
                                  </p:stCondLst>
                                  <p:childTnLst>
                                    <p:set>
                                      <p:cBhvr>
                                        <p:cTn id="111" dur="1" fill="hold">
                                          <p:stCondLst>
                                            <p:cond delay="0"/>
                                          </p:stCondLst>
                                        </p:cTn>
                                        <p:tgtEl>
                                          <p:spTgt spid="99"/>
                                        </p:tgtEl>
                                        <p:attrNameLst>
                                          <p:attrName>style.visibility</p:attrName>
                                        </p:attrNameLst>
                                      </p:cBhvr>
                                      <p:to>
                                        <p:strVal val="visible"/>
                                      </p:to>
                                    </p:set>
                                    <p:anim calcmode="lin" valueType="num">
                                      <p:cBhvr>
                                        <p:cTn id="112" dur="5000" fill="hold"/>
                                        <p:tgtEl>
                                          <p:spTgt spid="99"/>
                                        </p:tgtEl>
                                        <p:attrNameLst>
                                          <p:attrName>ppt_w</p:attrName>
                                        </p:attrNameLst>
                                      </p:cBhvr>
                                      <p:tavLst>
                                        <p:tav tm="0" fmla="#ppt_w*sin(2.5*pi*$)">
                                          <p:val>
                                            <p:fltVal val="0"/>
                                          </p:val>
                                        </p:tav>
                                        <p:tav tm="100000">
                                          <p:val>
                                            <p:fltVal val="1"/>
                                          </p:val>
                                        </p:tav>
                                      </p:tavLst>
                                    </p:anim>
                                    <p:anim calcmode="lin" valueType="num">
                                      <p:cBhvr>
                                        <p:cTn id="113" dur="5000" fill="hold"/>
                                        <p:tgtEl>
                                          <p:spTgt spid="99"/>
                                        </p:tgtEl>
                                        <p:attrNameLst>
                                          <p:attrName>ppt_h</p:attrName>
                                        </p:attrNameLst>
                                      </p:cBhvr>
                                      <p:tavLst>
                                        <p:tav tm="0">
                                          <p:val>
                                            <p:strVal val="#ppt_h"/>
                                          </p:val>
                                        </p:tav>
                                        <p:tav tm="100000">
                                          <p:val>
                                            <p:strVal val="#ppt_h"/>
                                          </p:val>
                                        </p:tav>
                                      </p:tavLst>
                                    </p:anim>
                                  </p:childTnLst>
                                </p:cTn>
                              </p:par>
                            </p:childTnLst>
                          </p:cTn>
                        </p:par>
                        <p:par>
                          <p:cTn id="114" fill="hold">
                            <p:stCondLst>
                              <p:cond delay="6950"/>
                            </p:stCondLst>
                            <p:childTnLst>
                              <p:par>
                                <p:cTn id="115" presetID="19" presetClass="entr" presetSubtype="10" fill="hold" grpId="0" nodeType="afterEffect">
                                  <p:stCondLst>
                                    <p:cond delay="0"/>
                                  </p:stCondLst>
                                  <p:childTnLst>
                                    <p:set>
                                      <p:cBhvr>
                                        <p:cTn id="116" dur="1" fill="hold">
                                          <p:stCondLst>
                                            <p:cond delay="0"/>
                                          </p:stCondLst>
                                        </p:cTn>
                                        <p:tgtEl>
                                          <p:spTgt spid="100"/>
                                        </p:tgtEl>
                                        <p:attrNameLst>
                                          <p:attrName>style.visibility</p:attrName>
                                        </p:attrNameLst>
                                      </p:cBhvr>
                                      <p:to>
                                        <p:strVal val="visible"/>
                                      </p:to>
                                    </p:set>
                                    <p:anim calcmode="lin" valueType="num">
                                      <p:cBhvr>
                                        <p:cTn id="117" dur="5000" fill="hold"/>
                                        <p:tgtEl>
                                          <p:spTgt spid="100"/>
                                        </p:tgtEl>
                                        <p:attrNameLst>
                                          <p:attrName>ppt_w</p:attrName>
                                        </p:attrNameLst>
                                      </p:cBhvr>
                                      <p:tavLst>
                                        <p:tav tm="0" fmla="#ppt_w*sin(2.5*pi*$)">
                                          <p:val>
                                            <p:fltVal val="0"/>
                                          </p:val>
                                        </p:tav>
                                        <p:tav tm="100000">
                                          <p:val>
                                            <p:fltVal val="1"/>
                                          </p:val>
                                        </p:tav>
                                      </p:tavLst>
                                    </p:anim>
                                    <p:anim calcmode="lin" valueType="num">
                                      <p:cBhvr>
                                        <p:cTn id="118" dur="5000" fill="hold"/>
                                        <p:tgtEl>
                                          <p:spTgt spid="100"/>
                                        </p:tgtEl>
                                        <p:attrNameLst>
                                          <p:attrName>ppt_h</p:attrName>
                                        </p:attrNameLst>
                                      </p:cBhvr>
                                      <p:tavLst>
                                        <p:tav tm="0">
                                          <p:val>
                                            <p:strVal val="#ppt_h"/>
                                          </p:val>
                                        </p:tav>
                                        <p:tav tm="100000">
                                          <p:val>
                                            <p:strVal val="#ppt_h"/>
                                          </p:val>
                                        </p:tav>
                                      </p:tavLst>
                                    </p:anim>
                                  </p:childTnLst>
                                </p:cTn>
                              </p:par>
                            </p:childTnLst>
                          </p:cTn>
                        </p:par>
                        <p:par>
                          <p:cTn id="119" fill="hold">
                            <p:stCondLst>
                              <p:cond delay="11950"/>
                            </p:stCondLst>
                            <p:childTnLst>
                              <p:par>
                                <p:cTn id="120" presetID="17" presetClass="entr" presetSubtype="8" fill="hold" nodeType="afterEffect">
                                  <p:stCondLst>
                                    <p:cond delay="0"/>
                                  </p:stCondLst>
                                  <p:childTnLst>
                                    <p:set>
                                      <p:cBhvr>
                                        <p:cTn id="121" dur="1" fill="hold">
                                          <p:stCondLst>
                                            <p:cond delay="0"/>
                                          </p:stCondLst>
                                        </p:cTn>
                                        <p:tgtEl>
                                          <p:spTgt spid="83"/>
                                        </p:tgtEl>
                                        <p:attrNameLst>
                                          <p:attrName>style.visibility</p:attrName>
                                        </p:attrNameLst>
                                      </p:cBhvr>
                                      <p:to>
                                        <p:strVal val="visible"/>
                                      </p:to>
                                    </p:set>
                                    <p:anim calcmode="lin" valueType="num">
                                      <p:cBhvr>
                                        <p:cTn id="122" dur="500" fill="hold"/>
                                        <p:tgtEl>
                                          <p:spTgt spid="83"/>
                                        </p:tgtEl>
                                        <p:attrNameLst>
                                          <p:attrName>ppt_x</p:attrName>
                                        </p:attrNameLst>
                                      </p:cBhvr>
                                      <p:tavLst>
                                        <p:tav tm="0">
                                          <p:val>
                                            <p:strVal val="#ppt_x-#ppt_w/2"/>
                                          </p:val>
                                        </p:tav>
                                        <p:tav tm="100000">
                                          <p:val>
                                            <p:strVal val="#ppt_x"/>
                                          </p:val>
                                        </p:tav>
                                      </p:tavLst>
                                    </p:anim>
                                    <p:anim calcmode="lin" valueType="num">
                                      <p:cBhvr>
                                        <p:cTn id="123" dur="500" fill="hold"/>
                                        <p:tgtEl>
                                          <p:spTgt spid="83"/>
                                        </p:tgtEl>
                                        <p:attrNameLst>
                                          <p:attrName>ppt_y</p:attrName>
                                        </p:attrNameLst>
                                      </p:cBhvr>
                                      <p:tavLst>
                                        <p:tav tm="0">
                                          <p:val>
                                            <p:strVal val="#ppt_y"/>
                                          </p:val>
                                        </p:tav>
                                        <p:tav tm="100000">
                                          <p:val>
                                            <p:strVal val="#ppt_y"/>
                                          </p:val>
                                        </p:tav>
                                      </p:tavLst>
                                    </p:anim>
                                    <p:anim calcmode="lin" valueType="num">
                                      <p:cBhvr>
                                        <p:cTn id="124" dur="500" fill="hold"/>
                                        <p:tgtEl>
                                          <p:spTgt spid="83"/>
                                        </p:tgtEl>
                                        <p:attrNameLst>
                                          <p:attrName>ppt_w</p:attrName>
                                        </p:attrNameLst>
                                      </p:cBhvr>
                                      <p:tavLst>
                                        <p:tav tm="0">
                                          <p:val>
                                            <p:fltVal val="0"/>
                                          </p:val>
                                        </p:tav>
                                        <p:tav tm="100000">
                                          <p:val>
                                            <p:strVal val="#ppt_w"/>
                                          </p:val>
                                        </p:tav>
                                      </p:tavLst>
                                    </p:anim>
                                    <p:anim calcmode="lin" valueType="num">
                                      <p:cBhvr>
                                        <p:cTn id="125" dur="500" fill="hold"/>
                                        <p:tgtEl>
                                          <p:spTgt spid="83"/>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20"/>
                                            </p:cond>
                                          </p:stCondLst>
                                          <p:endCondLst>
                                            <p:cond evt="onStopAudio" delay="0">
                                              <p:tgtEl>
                                                <p:sldTgt/>
                                              </p:tgtEl>
                                            </p:cond>
                                          </p:endCondLst>
                                        </p:cTn>
                                        <p:tgtEl>
                                          <p:sndTgt r:embed="rId10" name="CHIMES.WAV"/>
                                        </p:tgtEl>
                                      </p:cMediaNode>
                                    </p:audio>
                                  </p:subTnLst>
                                </p:cTn>
                              </p:par>
                            </p:childTnLst>
                          </p:cTn>
                        </p:par>
                        <p:par>
                          <p:cTn id="126" fill="hold">
                            <p:stCondLst>
                              <p:cond delay="12450"/>
                            </p:stCondLst>
                            <p:childTnLst>
                              <p:par>
                                <p:cTn id="127" presetID="16" presetClass="entr" presetSubtype="42" fill="hold" nodeType="afterEffect">
                                  <p:stCondLst>
                                    <p:cond delay="0"/>
                                  </p:stCondLst>
                                  <p:childTnLst>
                                    <p:set>
                                      <p:cBhvr>
                                        <p:cTn id="128" dur="1" fill="hold">
                                          <p:stCondLst>
                                            <p:cond delay="0"/>
                                          </p:stCondLst>
                                        </p:cTn>
                                        <p:tgtEl>
                                          <p:spTgt spid="84"/>
                                        </p:tgtEl>
                                        <p:attrNameLst>
                                          <p:attrName>style.visibility</p:attrName>
                                        </p:attrNameLst>
                                      </p:cBhvr>
                                      <p:to>
                                        <p:strVal val="visible"/>
                                      </p:to>
                                    </p:set>
                                    <p:animEffect transition="in" filter="barn(outHorizontal)">
                                      <p:cBhvr>
                                        <p:cTn id="129" dur="500"/>
                                        <p:tgtEl>
                                          <p:spTgt spid="84"/>
                                        </p:tgtEl>
                                      </p:cBhvr>
                                    </p:animEffect>
                                  </p:childTnLst>
                                  <p:subTnLst>
                                    <p:audio>
                                      <p:cMediaNode>
                                        <p:cTn display="0" masterRel="sameClick">
                                          <p:stCondLst>
                                            <p:cond evt="begin" delay="0">
                                              <p:tn val="127"/>
                                            </p:cond>
                                          </p:stCondLst>
                                          <p:endCondLst>
                                            <p:cond evt="onStopAudio" delay="0">
                                              <p:tgtEl>
                                                <p:sldTgt/>
                                              </p:tgtEl>
                                            </p:cond>
                                          </p:endCondLst>
                                        </p:cTn>
                                        <p:tgtEl>
                                          <p:sndTgt r:embed="rId10" name="CHIMES.WAV"/>
                                        </p:tgtEl>
                                      </p:cMediaNode>
                                    </p:audio>
                                  </p:subTnLst>
                                </p:cTn>
                              </p:par>
                            </p:childTnLst>
                          </p:cTn>
                        </p:par>
                        <p:par>
                          <p:cTn id="130" fill="hold">
                            <p:stCondLst>
                              <p:cond delay="12950"/>
                            </p:stCondLst>
                            <p:childTnLst>
                              <p:par>
                                <p:cTn id="131" presetID="17" presetClass="entr" presetSubtype="10" fill="hold" grpId="0" nodeType="afterEffect">
                                  <p:stCondLst>
                                    <p:cond delay="0"/>
                                  </p:stCondLst>
                                  <p:childTnLst>
                                    <p:set>
                                      <p:cBhvr>
                                        <p:cTn id="132" dur="1" fill="hold">
                                          <p:stCondLst>
                                            <p:cond delay="0"/>
                                          </p:stCondLst>
                                        </p:cTn>
                                        <p:tgtEl>
                                          <p:spTgt spid="85"/>
                                        </p:tgtEl>
                                        <p:attrNameLst>
                                          <p:attrName>style.visibility</p:attrName>
                                        </p:attrNameLst>
                                      </p:cBhvr>
                                      <p:to>
                                        <p:strVal val="visible"/>
                                      </p:to>
                                    </p:set>
                                    <p:anim calcmode="lin" valueType="num">
                                      <p:cBhvr>
                                        <p:cTn id="133" dur="500" fill="hold"/>
                                        <p:tgtEl>
                                          <p:spTgt spid="85"/>
                                        </p:tgtEl>
                                        <p:attrNameLst>
                                          <p:attrName>ppt_w</p:attrName>
                                        </p:attrNameLst>
                                      </p:cBhvr>
                                      <p:tavLst>
                                        <p:tav tm="0">
                                          <p:val>
                                            <p:fltVal val="0"/>
                                          </p:val>
                                        </p:tav>
                                        <p:tav tm="100000">
                                          <p:val>
                                            <p:strVal val="#ppt_w"/>
                                          </p:val>
                                        </p:tav>
                                      </p:tavLst>
                                    </p:anim>
                                    <p:anim calcmode="lin" valueType="num">
                                      <p:cBhvr>
                                        <p:cTn id="134" dur="500" fill="hold"/>
                                        <p:tgtEl>
                                          <p:spTgt spid="85"/>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31"/>
                                            </p:cond>
                                          </p:stCondLst>
                                          <p:endCondLst>
                                            <p:cond evt="onStopAudio" delay="0">
                                              <p:tgtEl>
                                                <p:sldTgt/>
                                              </p:tgtEl>
                                            </p:cond>
                                          </p:endCondLst>
                                        </p:cTn>
                                        <p:tgtEl>
                                          <p:sndTgt r:embed="rId10" name="CHIMES.WAV"/>
                                        </p:tgtEl>
                                      </p:cMediaNode>
                                    </p:audio>
                                  </p:subTnLst>
                                </p:cTn>
                              </p:par>
                            </p:childTnLst>
                          </p:cTn>
                        </p:par>
                        <p:par>
                          <p:cTn id="135" fill="hold">
                            <p:stCondLst>
                              <p:cond delay="13450"/>
                            </p:stCondLst>
                            <p:childTnLst>
                              <p:par>
                                <p:cTn id="136" presetID="17" presetClass="entr" presetSubtype="10" fill="hold" grpId="0" nodeType="afterEffect">
                                  <p:stCondLst>
                                    <p:cond delay="1000"/>
                                  </p:stCondLst>
                                  <p:iterate type="lt">
                                    <p:tmPct val="100000"/>
                                  </p:iterate>
                                  <p:childTnLst>
                                    <p:set>
                                      <p:cBhvr>
                                        <p:cTn id="137" dur="1" fill="hold">
                                          <p:stCondLst>
                                            <p:cond delay="0"/>
                                          </p:stCondLst>
                                        </p:cTn>
                                        <p:tgtEl>
                                          <p:spTgt spid="72"/>
                                        </p:tgtEl>
                                        <p:attrNameLst>
                                          <p:attrName>style.visibility</p:attrName>
                                        </p:attrNameLst>
                                      </p:cBhvr>
                                      <p:to>
                                        <p:strVal val="visible"/>
                                      </p:to>
                                    </p:set>
                                    <p:anim calcmode="lin" valueType="num">
                                      <p:cBhvr>
                                        <p:cTn id="138" dur="75" fill="hold"/>
                                        <p:tgtEl>
                                          <p:spTgt spid="72"/>
                                        </p:tgtEl>
                                        <p:attrNameLst>
                                          <p:attrName>ppt_w</p:attrName>
                                        </p:attrNameLst>
                                      </p:cBhvr>
                                      <p:tavLst>
                                        <p:tav tm="0">
                                          <p:val>
                                            <p:fltVal val="0"/>
                                          </p:val>
                                        </p:tav>
                                        <p:tav tm="100000">
                                          <p:val>
                                            <p:strVal val="#ppt_w"/>
                                          </p:val>
                                        </p:tav>
                                      </p:tavLst>
                                    </p:anim>
                                    <p:anim calcmode="lin" valueType="num">
                                      <p:cBhvr>
                                        <p:cTn id="139" dur="75" fill="hold"/>
                                        <p:tgtEl>
                                          <p:spTgt spid="72"/>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36"/>
                                            </p:cond>
                                          </p:stCondLst>
                                          <p:endCondLst>
                                            <p:cond evt="onStopAudio" delay="0">
                                              <p:tgtEl>
                                                <p:sldTgt/>
                                              </p:tgtEl>
                                            </p:cond>
                                          </p:endCondLst>
                                        </p:cTn>
                                        <p:tgtEl>
                                          <p:sndTgt r:embed="rId8" name="TYPE.WAV"/>
                                        </p:tgtEl>
                                      </p:cMediaNode>
                                    </p:audio>
                                  </p:subTnLst>
                                </p:cTn>
                              </p:par>
                            </p:childTnLst>
                          </p:cTn>
                        </p:par>
                      </p:childTnLst>
                    </p:cTn>
                  </p:par>
                  <p:par>
                    <p:cTn id="140" fill="hold">
                      <p:stCondLst>
                        <p:cond delay="indefinite"/>
                      </p:stCondLst>
                      <p:childTnLst>
                        <p:par>
                          <p:cTn id="141" fill="hold">
                            <p:stCondLst>
                              <p:cond delay="0"/>
                            </p:stCondLst>
                            <p:childTnLst>
                              <p:par>
                                <p:cTn id="142" presetID="17" presetClass="entr" presetSubtype="10" fill="hold" grpId="0" nodeType="clickEffect">
                                  <p:stCondLst>
                                    <p:cond delay="0"/>
                                  </p:stCondLst>
                                  <p:iterate type="lt">
                                    <p:tmPct val="100000"/>
                                  </p:iterate>
                                  <p:childTnLst>
                                    <p:set>
                                      <p:cBhvr>
                                        <p:cTn id="143" dur="1" fill="hold">
                                          <p:stCondLst>
                                            <p:cond delay="0"/>
                                          </p:stCondLst>
                                        </p:cTn>
                                        <p:tgtEl>
                                          <p:spTgt spid="73"/>
                                        </p:tgtEl>
                                        <p:attrNameLst>
                                          <p:attrName>style.visibility</p:attrName>
                                        </p:attrNameLst>
                                      </p:cBhvr>
                                      <p:to>
                                        <p:strVal val="visible"/>
                                      </p:to>
                                    </p:set>
                                    <p:anim calcmode="lin" valueType="num">
                                      <p:cBhvr>
                                        <p:cTn id="144" dur="75" fill="hold"/>
                                        <p:tgtEl>
                                          <p:spTgt spid="73"/>
                                        </p:tgtEl>
                                        <p:attrNameLst>
                                          <p:attrName>ppt_w</p:attrName>
                                        </p:attrNameLst>
                                      </p:cBhvr>
                                      <p:tavLst>
                                        <p:tav tm="0">
                                          <p:val>
                                            <p:fltVal val="0"/>
                                          </p:val>
                                        </p:tav>
                                        <p:tav tm="100000">
                                          <p:val>
                                            <p:strVal val="#ppt_w"/>
                                          </p:val>
                                        </p:tav>
                                      </p:tavLst>
                                    </p:anim>
                                    <p:anim calcmode="lin" valueType="num">
                                      <p:cBhvr>
                                        <p:cTn id="145" dur="75" fill="hold"/>
                                        <p:tgtEl>
                                          <p:spTgt spid="73"/>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42"/>
                                            </p:cond>
                                          </p:stCondLst>
                                          <p:endCondLst>
                                            <p:cond evt="onStopAudio" delay="0">
                                              <p:tgtEl>
                                                <p:sldTgt/>
                                              </p:tgtEl>
                                            </p:cond>
                                          </p:endCondLst>
                                        </p:cTn>
                                        <p:tgtEl>
                                          <p:sndTgt r:embed="rId8" name="TYPE.WAV"/>
                                        </p:tgtEl>
                                      </p:cMediaNode>
                                    </p:audio>
                                  </p:subTnLst>
                                </p:cTn>
                              </p:par>
                            </p:childTnLst>
                          </p:cTn>
                        </p:par>
                        <p:par>
                          <p:cTn id="146" fill="hold">
                            <p:stCondLst>
                              <p:cond delay="450"/>
                            </p:stCondLst>
                            <p:childTnLst>
                              <p:par>
                                <p:cTn id="147" presetID="22" presetClass="entr" presetSubtype="4" fill="hold" nodeType="afterEffect">
                                  <p:stCondLst>
                                    <p:cond delay="1500"/>
                                  </p:stCondLst>
                                  <p:childTnLst>
                                    <p:set>
                                      <p:cBhvr>
                                        <p:cTn id="148" dur="1" fill="hold">
                                          <p:stCondLst>
                                            <p:cond delay="0"/>
                                          </p:stCondLst>
                                        </p:cTn>
                                        <p:tgtEl>
                                          <p:spTgt spid="93"/>
                                        </p:tgtEl>
                                        <p:attrNameLst>
                                          <p:attrName>style.visibility</p:attrName>
                                        </p:attrNameLst>
                                      </p:cBhvr>
                                      <p:to>
                                        <p:strVal val="visible"/>
                                      </p:to>
                                    </p:set>
                                    <p:animEffect transition="in" filter="wipe(down)">
                                      <p:cBhvr>
                                        <p:cTn id="149" dur="5000"/>
                                        <p:tgtEl>
                                          <p:spTgt spid="93"/>
                                        </p:tgtEl>
                                      </p:cBhvr>
                                    </p:animEffect>
                                  </p:childTnLst>
                                  <p:subTnLst>
                                    <p:audio>
                                      <p:cMediaNode>
                                        <p:cTn display="0" masterRel="sameClick">
                                          <p:stCondLst>
                                            <p:cond evt="begin" delay="0">
                                              <p:tn val="147"/>
                                            </p:cond>
                                          </p:stCondLst>
                                          <p:endCondLst>
                                            <p:cond evt="onStopAudio" delay="0">
                                              <p:tgtEl>
                                                <p:sldTgt/>
                                              </p:tgtEl>
                                            </p:cond>
                                          </p:endCondLst>
                                        </p:cTn>
                                        <p:tgtEl>
                                          <p:sndTgt r:embed="rId12" name="wind.wav"/>
                                        </p:tgtEl>
                                      </p:cMediaNode>
                                    </p:audio>
                                  </p:subTnLst>
                                </p:cTn>
                              </p:par>
                            </p:childTnLst>
                          </p:cTn>
                        </p:par>
                        <p:par>
                          <p:cTn id="150" fill="hold">
                            <p:stCondLst>
                              <p:cond delay="6950"/>
                            </p:stCondLst>
                            <p:childTnLst>
                              <p:par>
                                <p:cTn id="151" presetID="17" presetClass="entr" presetSubtype="8" fill="hold" nodeType="afterEffect">
                                  <p:stCondLst>
                                    <p:cond delay="1000"/>
                                  </p:stCondLst>
                                  <p:childTnLst>
                                    <p:set>
                                      <p:cBhvr>
                                        <p:cTn id="152" dur="1" fill="hold">
                                          <p:stCondLst>
                                            <p:cond delay="0"/>
                                          </p:stCondLst>
                                        </p:cTn>
                                        <p:tgtEl>
                                          <p:spTgt spid="86"/>
                                        </p:tgtEl>
                                        <p:attrNameLst>
                                          <p:attrName>style.visibility</p:attrName>
                                        </p:attrNameLst>
                                      </p:cBhvr>
                                      <p:to>
                                        <p:strVal val="visible"/>
                                      </p:to>
                                    </p:set>
                                    <p:anim calcmode="lin" valueType="num">
                                      <p:cBhvr>
                                        <p:cTn id="153" dur="500" fill="hold"/>
                                        <p:tgtEl>
                                          <p:spTgt spid="86"/>
                                        </p:tgtEl>
                                        <p:attrNameLst>
                                          <p:attrName>ppt_x</p:attrName>
                                        </p:attrNameLst>
                                      </p:cBhvr>
                                      <p:tavLst>
                                        <p:tav tm="0">
                                          <p:val>
                                            <p:strVal val="#ppt_x-#ppt_w/2"/>
                                          </p:val>
                                        </p:tav>
                                        <p:tav tm="100000">
                                          <p:val>
                                            <p:strVal val="#ppt_x"/>
                                          </p:val>
                                        </p:tav>
                                      </p:tavLst>
                                    </p:anim>
                                    <p:anim calcmode="lin" valueType="num">
                                      <p:cBhvr>
                                        <p:cTn id="154" dur="500" fill="hold"/>
                                        <p:tgtEl>
                                          <p:spTgt spid="86"/>
                                        </p:tgtEl>
                                        <p:attrNameLst>
                                          <p:attrName>ppt_y</p:attrName>
                                        </p:attrNameLst>
                                      </p:cBhvr>
                                      <p:tavLst>
                                        <p:tav tm="0">
                                          <p:val>
                                            <p:strVal val="#ppt_y"/>
                                          </p:val>
                                        </p:tav>
                                        <p:tav tm="100000">
                                          <p:val>
                                            <p:strVal val="#ppt_y"/>
                                          </p:val>
                                        </p:tav>
                                      </p:tavLst>
                                    </p:anim>
                                    <p:anim calcmode="lin" valueType="num">
                                      <p:cBhvr>
                                        <p:cTn id="155" dur="500" fill="hold"/>
                                        <p:tgtEl>
                                          <p:spTgt spid="86"/>
                                        </p:tgtEl>
                                        <p:attrNameLst>
                                          <p:attrName>ppt_w</p:attrName>
                                        </p:attrNameLst>
                                      </p:cBhvr>
                                      <p:tavLst>
                                        <p:tav tm="0">
                                          <p:val>
                                            <p:fltVal val="0"/>
                                          </p:val>
                                        </p:tav>
                                        <p:tav tm="100000">
                                          <p:val>
                                            <p:strVal val="#ppt_w"/>
                                          </p:val>
                                        </p:tav>
                                      </p:tavLst>
                                    </p:anim>
                                    <p:anim calcmode="lin" valueType="num">
                                      <p:cBhvr>
                                        <p:cTn id="156" dur="500" fill="hold"/>
                                        <p:tgtEl>
                                          <p:spTgt spid="86"/>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51"/>
                                            </p:cond>
                                          </p:stCondLst>
                                          <p:endCondLst>
                                            <p:cond evt="onStopAudio" delay="0">
                                              <p:tgtEl>
                                                <p:sldTgt/>
                                              </p:tgtEl>
                                            </p:cond>
                                          </p:endCondLst>
                                        </p:cTn>
                                        <p:tgtEl>
                                          <p:sndTgt r:embed="rId10" name="CHIMES.WAV"/>
                                        </p:tgtEl>
                                      </p:cMediaNode>
                                    </p:audio>
                                  </p:subTnLst>
                                </p:cTn>
                              </p:par>
                              <p:par>
                                <p:cTn id="157" presetID="19" presetClass="entr" presetSubtype="10" fill="hold" grpId="0" nodeType="withEffect">
                                  <p:stCondLst>
                                    <p:cond delay="0"/>
                                  </p:stCondLst>
                                  <p:childTnLst>
                                    <p:set>
                                      <p:cBhvr>
                                        <p:cTn id="158" dur="1" fill="hold">
                                          <p:stCondLst>
                                            <p:cond delay="0"/>
                                          </p:stCondLst>
                                        </p:cTn>
                                        <p:tgtEl>
                                          <p:spTgt spid="101"/>
                                        </p:tgtEl>
                                        <p:attrNameLst>
                                          <p:attrName>style.visibility</p:attrName>
                                        </p:attrNameLst>
                                      </p:cBhvr>
                                      <p:to>
                                        <p:strVal val="visible"/>
                                      </p:to>
                                    </p:set>
                                    <p:anim calcmode="lin" valueType="num">
                                      <p:cBhvr>
                                        <p:cTn id="159" dur="5000" fill="hold"/>
                                        <p:tgtEl>
                                          <p:spTgt spid="101"/>
                                        </p:tgtEl>
                                        <p:attrNameLst>
                                          <p:attrName>ppt_w</p:attrName>
                                        </p:attrNameLst>
                                      </p:cBhvr>
                                      <p:tavLst>
                                        <p:tav tm="0" fmla="#ppt_w*sin(2.5*pi*$)">
                                          <p:val>
                                            <p:fltVal val="0"/>
                                          </p:val>
                                        </p:tav>
                                        <p:tav tm="100000">
                                          <p:val>
                                            <p:fltVal val="1"/>
                                          </p:val>
                                        </p:tav>
                                      </p:tavLst>
                                    </p:anim>
                                    <p:anim calcmode="lin" valueType="num">
                                      <p:cBhvr>
                                        <p:cTn id="160" dur="5000" fill="hold"/>
                                        <p:tgtEl>
                                          <p:spTgt spid="101"/>
                                        </p:tgtEl>
                                        <p:attrNameLst>
                                          <p:attrName>ppt_h</p:attrName>
                                        </p:attrNameLst>
                                      </p:cBhvr>
                                      <p:tavLst>
                                        <p:tav tm="0">
                                          <p:val>
                                            <p:strVal val="#ppt_h"/>
                                          </p:val>
                                        </p:tav>
                                        <p:tav tm="100000">
                                          <p:val>
                                            <p:strVal val="#ppt_h"/>
                                          </p:val>
                                        </p:tav>
                                      </p:tavLst>
                                    </p:anim>
                                  </p:childTnLst>
                                </p:cTn>
                              </p:par>
                            </p:childTnLst>
                          </p:cTn>
                        </p:par>
                        <p:par>
                          <p:cTn id="161" fill="hold">
                            <p:stCondLst>
                              <p:cond delay="11950"/>
                            </p:stCondLst>
                            <p:childTnLst>
                              <p:par>
                                <p:cTn id="162" presetID="16" presetClass="entr" presetSubtype="42" fill="hold" nodeType="afterEffect">
                                  <p:stCondLst>
                                    <p:cond delay="1000"/>
                                  </p:stCondLst>
                                  <p:childTnLst>
                                    <p:set>
                                      <p:cBhvr>
                                        <p:cTn id="163" dur="1" fill="hold">
                                          <p:stCondLst>
                                            <p:cond delay="0"/>
                                          </p:stCondLst>
                                        </p:cTn>
                                        <p:tgtEl>
                                          <p:spTgt spid="87"/>
                                        </p:tgtEl>
                                        <p:attrNameLst>
                                          <p:attrName>style.visibility</p:attrName>
                                        </p:attrNameLst>
                                      </p:cBhvr>
                                      <p:to>
                                        <p:strVal val="visible"/>
                                      </p:to>
                                    </p:set>
                                    <p:animEffect transition="in" filter="barn(outHorizontal)">
                                      <p:cBhvr>
                                        <p:cTn id="164" dur="500"/>
                                        <p:tgtEl>
                                          <p:spTgt spid="87"/>
                                        </p:tgtEl>
                                      </p:cBhvr>
                                    </p:animEffect>
                                  </p:childTnLst>
                                  <p:subTnLst>
                                    <p:audio>
                                      <p:cMediaNode>
                                        <p:cTn display="0" masterRel="sameClick">
                                          <p:stCondLst>
                                            <p:cond evt="begin" delay="0">
                                              <p:tn val="162"/>
                                            </p:cond>
                                          </p:stCondLst>
                                          <p:endCondLst>
                                            <p:cond evt="onStopAudio" delay="0">
                                              <p:tgtEl>
                                                <p:sldTgt/>
                                              </p:tgtEl>
                                            </p:cond>
                                          </p:endCondLst>
                                        </p:cTn>
                                        <p:tgtEl>
                                          <p:sndTgt r:embed="rId10" name="CHIMES.WAV"/>
                                        </p:tgtEl>
                                      </p:cMediaNode>
                                    </p:audio>
                                  </p:subTnLst>
                                </p:cTn>
                              </p:par>
                            </p:childTnLst>
                          </p:cTn>
                        </p:par>
                        <p:par>
                          <p:cTn id="165" fill="hold">
                            <p:stCondLst>
                              <p:cond delay="13450"/>
                            </p:stCondLst>
                            <p:childTnLst>
                              <p:par>
                                <p:cTn id="166" presetID="17" presetClass="entr" presetSubtype="10" fill="hold" grpId="0" nodeType="afterEffect">
                                  <p:stCondLst>
                                    <p:cond delay="1000"/>
                                  </p:stCondLst>
                                  <p:childTnLst>
                                    <p:set>
                                      <p:cBhvr>
                                        <p:cTn id="167" dur="1" fill="hold">
                                          <p:stCondLst>
                                            <p:cond delay="0"/>
                                          </p:stCondLst>
                                        </p:cTn>
                                        <p:tgtEl>
                                          <p:spTgt spid="88"/>
                                        </p:tgtEl>
                                        <p:attrNameLst>
                                          <p:attrName>style.visibility</p:attrName>
                                        </p:attrNameLst>
                                      </p:cBhvr>
                                      <p:to>
                                        <p:strVal val="visible"/>
                                      </p:to>
                                    </p:set>
                                    <p:anim calcmode="lin" valueType="num">
                                      <p:cBhvr>
                                        <p:cTn id="168" dur="500" fill="hold"/>
                                        <p:tgtEl>
                                          <p:spTgt spid="88"/>
                                        </p:tgtEl>
                                        <p:attrNameLst>
                                          <p:attrName>ppt_w</p:attrName>
                                        </p:attrNameLst>
                                      </p:cBhvr>
                                      <p:tavLst>
                                        <p:tav tm="0">
                                          <p:val>
                                            <p:fltVal val="0"/>
                                          </p:val>
                                        </p:tav>
                                        <p:tav tm="100000">
                                          <p:val>
                                            <p:strVal val="#ppt_w"/>
                                          </p:val>
                                        </p:tav>
                                      </p:tavLst>
                                    </p:anim>
                                    <p:anim calcmode="lin" valueType="num">
                                      <p:cBhvr>
                                        <p:cTn id="169" dur="500" fill="hold"/>
                                        <p:tgtEl>
                                          <p:spTgt spid="88"/>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66"/>
                                            </p:cond>
                                          </p:stCondLst>
                                          <p:endCondLst>
                                            <p:cond evt="onStopAudio" delay="0">
                                              <p:tgtEl>
                                                <p:sldTgt/>
                                              </p:tgtEl>
                                            </p:cond>
                                          </p:endCondLst>
                                        </p:cTn>
                                        <p:tgtEl>
                                          <p:sndTgt r:embed="rId10" name="CHIMES.WAV"/>
                                        </p:tgtEl>
                                      </p:cMediaNode>
                                    </p:audio>
                                  </p:subTnLst>
                                </p:cTn>
                              </p:par>
                            </p:childTnLst>
                          </p:cTn>
                        </p:par>
                        <p:par>
                          <p:cTn id="170" fill="hold">
                            <p:stCondLst>
                              <p:cond delay="14950"/>
                            </p:stCondLst>
                            <p:childTnLst>
                              <p:par>
                                <p:cTn id="171" presetID="17" presetClass="entr" presetSubtype="10" fill="hold" grpId="0" nodeType="afterEffect">
                                  <p:stCondLst>
                                    <p:cond delay="1000"/>
                                  </p:stCondLst>
                                  <p:iterate type="lt">
                                    <p:tmPct val="100000"/>
                                  </p:iterate>
                                  <p:childTnLst>
                                    <p:set>
                                      <p:cBhvr>
                                        <p:cTn id="172" dur="1" fill="hold">
                                          <p:stCondLst>
                                            <p:cond delay="0"/>
                                          </p:stCondLst>
                                        </p:cTn>
                                        <p:tgtEl>
                                          <p:spTgt spid="74"/>
                                        </p:tgtEl>
                                        <p:attrNameLst>
                                          <p:attrName>style.visibility</p:attrName>
                                        </p:attrNameLst>
                                      </p:cBhvr>
                                      <p:to>
                                        <p:strVal val="visible"/>
                                      </p:to>
                                    </p:set>
                                    <p:anim calcmode="lin" valueType="num">
                                      <p:cBhvr>
                                        <p:cTn id="173" dur="75" fill="hold"/>
                                        <p:tgtEl>
                                          <p:spTgt spid="74"/>
                                        </p:tgtEl>
                                        <p:attrNameLst>
                                          <p:attrName>ppt_w</p:attrName>
                                        </p:attrNameLst>
                                      </p:cBhvr>
                                      <p:tavLst>
                                        <p:tav tm="0">
                                          <p:val>
                                            <p:fltVal val="0"/>
                                          </p:val>
                                        </p:tav>
                                        <p:tav tm="100000">
                                          <p:val>
                                            <p:strVal val="#ppt_w"/>
                                          </p:val>
                                        </p:tav>
                                      </p:tavLst>
                                    </p:anim>
                                    <p:anim calcmode="lin" valueType="num">
                                      <p:cBhvr>
                                        <p:cTn id="174" dur="75" fill="hold"/>
                                        <p:tgtEl>
                                          <p:spTgt spid="74"/>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71"/>
                                            </p:cond>
                                          </p:stCondLst>
                                          <p:endCondLst>
                                            <p:cond evt="onStopAudio" delay="0">
                                              <p:tgtEl>
                                                <p:sldTgt/>
                                              </p:tgtEl>
                                            </p:cond>
                                          </p:endCondLst>
                                        </p:cTn>
                                        <p:tgtEl>
                                          <p:sndTgt r:embed="rId8" name="TYPE.WAV"/>
                                        </p:tgtEl>
                                      </p:cMediaNode>
                                    </p:audio>
                                  </p:subTnLst>
                                </p:cTn>
                              </p:par>
                            </p:childTnLst>
                          </p:cTn>
                        </p:par>
                      </p:childTnLst>
                    </p:cTn>
                  </p:par>
                  <p:par>
                    <p:cTn id="175" fill="hold">
                      <p:stCondLst>
                        <p:cond delay="indefinite"/>
                      </p:stCondLst>
                      <p:childTnLst>
                        <p:par>
                          <p:cTn id="176" fill="hold">
                            <p:stCondLst>
                              <p:cond delay="0"/>
                            </p:stCondLst>
                            <p:childTnLst>
                              <p:par>
                                <p:cTn id="177" presetID="17" presetClass="entr" presetSubtype="10" fill="hold" grpId="0" nodeType="clickEffect">
                                  <p:stCondLst>
                                    <p:cond delay="0"/>
                                  </p:stCondLst>
                                  <p:iterate type="lt">
                                    <p:tmPct val="100000"/>
                                  </p:iterate>
                                  <p:childTnLst>
                                    <p:set>
                                      <p:cBhvr>
                                        <p:cTn id="178" dur="1" fill="hold">
                                          <p:stCondLst>
                                            <p:cond delay="0"/>
                                          </p:stCondLst>
                                        </p:cTn>
                                        <p:tgtEl>
                                          <p:spTgt spid="75"/>
                                        </p:tgtEl>
                                        <p:attrNameLst>
                                          <p:attrName>style.visibility</p:attrName>
                                        </p:attrNameLst>
                                      </p:cBhvr>
                                      <p:to>
                                        <p:strVal val="visible"/>
                                      </p:to>
                                    </p:set>
                                    <p:anim calcmode="lin" valueType="num">
                                      <p:cBhvr>
                                        <p:cTn id="179" dur="75" fill="hold"/>
                                        <p:tgtEl>
                                          <p:spTgt spid="75"/>
                                        </p:tgtEl>
                                        <p:attrNameLst>
                                          <p:attrName>ppt_w</p:attrName>
                                        </p:attrNameLst>
                                      </p:cBhvr>
                                      <p:tavLst>
                                        <p:tav tm="0">
                                          <p:val>
                                            <p:fltVal val="0"/>
                                          </p:val>
                                        </p:tav>
                                        <p:tav tm="100000">
                                          <p:val>
                                            <p:strVal val="#ppt_w"/>
                                          </p:val>
                                        </p:tav>
                                      </p:tavLst>
                                    </p:anim>
                                    <p:anim calcmode="lin" valueType="num">
                                      <p:cBhvr>
                                        <p:cTn id="180" dur="75" fill="hold"/>
                                        <p:tgtEl>
                                          <p:spTgt spid="75"/>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77"/>
                                            </p:cond>
                                          </p:stCondLst>
                                          <p:endCondLst>
                                            <p:cond evt="onStopAudio" delay="0">
                                              <p:tgtEl>
                                                <p:sldTgt/>
                                              </p:tgtEl>
                                            </p:cond>
                                          </p:endCondLst>
                                        </p:cTn>
                                        <p:tgtEl>
                                          <p:sndTgt r:embed="rId8" name="TYPE.WAV"/>
                                        </p:tgtEl>
                                      </p:cMediaNode>
                                    </p:audio>
                                  </p:subTnLst>
                                </p:cTn>
                              </p:par>
                            </p:childTnLst>
                          </p:cTn>
                        </p:par>
                        <p:par>
                          <p:cTn id="181" fill="hold">
                            <p:stCondLst>
                              <p:cond delay="600"/>
                            </p:stCondLst>
                            <p:childTnLst>
                              <p:par>
                                <p:cTn id="182" presetID="22" presetClass="entr" presetSubtype="1" fill="hold" nodeType="afterEffect">
                                  <p:stCondLst>
                                    <p:cond delay="1500"/>
                                  </p:stCondLst>
                                  <p:childTnLst>
                                    <p:set>
                                      <p:cBhvr>
                                        <p:cTn id="183" dur="1" fill="hold">
                                          <p:stCondLst>
                                            <p:cond delay="0"/>
                                          </p:stCondLst>
                                        </p:cTn>
                                        <p:tgtEl>
                                          <p:spTgt spid="94"/>
                                        </p:tgtEl>
                                        <p:attrNameLst>
                                          <p:attrName>style.visibility</p:attrName>
                                        </p:attrNameLst>
                                      </p:cBhvr>
                                      <p:to>
                                        <p:strVal val="visible"/>
                                      </p:to>
                                    </p:set>
                                    <p:animEffect transition="in" filter="wipe(up)">
                                      <p:cBhvr>
                                        <p:cTn id="184" dur="5000"/>
                                        <p:tgtEl>
                                          <p:spTgt spid="94"/>
                                        </p:tgtEl>
                                      </p:cBhvr>
                                    </p:animEffect>
                                  </p:childTnLst>
                                  <p:subTnLst>
                                    <p:audio>
                                      <p:cMediaNode>
                                        <p:cTn display="0" masterRel="sameClick">
                                          <p:stCondLst>
                                            <p:cond evt="begin" delay="0">
                                              <p:tn val="182"/>
                                            </p:cond>
                                          </p:stCondLst>
                                          <p:endCondLst>
                                            <p:cond evt="onStopAudio" delay="0">
                                              <p:tgtEl>
                                                <p:sldTgt/>
                                              </p:tgtEl>
                                            </p:cond>
                                          </p:endCondLst>
                                        </p:cTn>
                                        <p:tgtEl>
                                          <p:sndTgt r:embed="rId11" name="LASER.WAV"/>
                                        </p:tgtEl>
                                      </p:cMediaNode>
                                    </p:audio>
                                  </p:subTnLst>
                                </p:cTn>
                              </p:par>
                            </p:childTnLst>
                          </p:cTn>
                        </p:par>
                        <p:par>
                          <p:cTn id="185" fill="hold">
                            <p:stCondLst>
                              <p:cond delay="7100"/>
                            </p:stCondLst>
                            <p:childTnLst>
                              <p:par>
                                <p:cTn id="186" presetID="50" presetClass="entr" presetSubtype="0" decel="100000" fill="hold" grpId="0" nodeType="afterEffect">
                                  <p:stCondLst>
                                    <p:cond delay="0"/>
                                  </p:stCondLst>
                                  <p:childTnLst>
                                    <p:set>
                                      <p:cBhvr>
                                        <p:cTn id="187" dur="1" fill="hold">
                                          <p:stCondLst>
                                            <p:cond delay="0"/>
                                          </p:stCondLst>
                                        </p:cTn>
                                        <p:tgtEl>
                                          <p:spTgt spid="96"/>
                                        </p:tgtEl>
                                        <p:attrNameLst>
                                          <p:attrName>style.visibility</p:attrName>
                                        </p:attrNameLst>
                                      </p:cBhvr>
                                      <p:to>
                                        <p:strVal val="visible"/>
                                      </p:to>
                                    </p:set>
                                    <p:anim calcmode="lin" valueType="num">
                                      <p:cBhvr>
                                        <p:cTn id="188" dur="500" fill="hold"/>
                                        <p:tgtEl>
                                          <p:spTgt spid="96"/>
                                        </p:tgtEl>
                                        <p:attrNameLst>
                                          <p:attrName>ppt_w</p:attrName>
                                        </p:attrNameLst>
                                      </p:cBhvr>
                                      <p:tavLst>
                                        <p:tav tm="0">
                                          <p:val>
                                            <p:strVal val="#ppt_w+.3"/>
                                          </p:val>
                                        </p:tav>
                                        <p:tav tm="100000">
                                          <p:val>
                                            <p:strVal val="#ppt_w"/>
                                          </p:val>
                                        </p:tav>
                                      </p:tavLst>
                                    </p:anim>
                                    <p:anim calcmode="lin" valueType="num">
                                      <p:cBhvr>
                                        <p:cTn id="189" dur="500" fill="hold"/>
                                        <p:tgtEl>
                                          <p:spTgt spid="96"/>
                                        </p:tgtEl>
                                        <p:attrNameLst>
                                          <p:attrName>ppt_h</p:attrName>
                                        </p:attrNameLst>
                                      </p:cBhvr>
                                      <p:tavLst>
                                        <p:tav tm="0">
                                          <p:val>
                                            <p:strVal val="#ppt_h"/>
                                          </p:val>
                                        </p:tav>
                                        <p:tav tm="100000">
                                          <p:val>
                                            <p:strVal val="#ppt_h"/>
                                          </p:val>
                                        </p:tav>
                                      </p:tavLst>
                                    </p:anim>
                                    <p:animEffect transition="in" filter="fade">
                                      <p:cBhvr>
                                        <p:cTn id="190" dur="500"/>
                                        <p:tgtEl>
                                          <p:spTgt spid="96"/>
                                        </p:tgtEl>
                                      </p:cBhvr>
                                    </p:animEffect>
                                  </p:childTnLst>
                                  <p:subTnLst>
                                    <p:set>
                                      <p:cBhvr override="childStyle">
                                        <p:cTn dur="1" fill="hold" display="0" masterRel="sameClick" afterEffect="1">
                                          <p:stCondLst>
                                            <p:cond evt="end" delay="0">
                                              <p:tn val="186"/>
                                            </p:cond>
                                          </p:stCondLst>
                                        </p:cTn>
                                        <p:tgtEl>
                                          <p:spTgt spid="96"/>
                                        </p:tgtEl>
                                        <p:attrNameLst>
                                          <p:attrName>style.visibility</p:attrName>
                                        </p:attrNameLst>
                                      </p:cBhvr>
                                      <p:to>
                                        <p:strVal val="hidden"/>
                                      </p:to>
                                    </p:set>
                                    <p:audio>
                                      <p:cMediaNode vol="100000">
                                        <p:cTn display="0" masterRel="sameClick">
                                          <p:stCondLst>
                                            <p:cond evt="begin" delay="0">
                                              <p:tn val="186"/>
                                            </p:cond>
                                          </p:stCondLst>
                                          <p:endCondLst>
                                            <p:cond evt="onStopAudio" delay="0">
                                              <p:tgtEl>
                                                <p:sldTgt/>
                                              </p:tgtEl>
                                            </p:cond>
                                          </p:endCondLst>
                                        </p:cTn>
                                        <p:tgtEl>
                                          <p:sndTgt r:embed="rId7" name="hammer.wav"/>
                                        </p:tgtEl>
                                      </p:cMediaNode>
                                    </p:audio>
                                  </p:subTnLst>
                                </p:cTn>
                              </p:par>
                              <p:par>
                                <p:cTn id="191" presetID="19" presetClass="entr" presetSubtype="10" fill="hold" grpId="0" nodeType="withEffect">
                                  <p:stCondLst>
                                    <p:cond delay="0"/>
                                  </p:stCondLst>
                                  <p:childTnLst>
                                    <p:set>
                                      <p:cBhvr>
                                        <p:cTn id="192" dur="1" fill="hold">
                                          <p:stCondLst>
                                            <p:cond delay="0"/>
                                          </p:stCondLst>
                                        </p:cTn>
                                        <p:tgtEl>
                                          <p:spTgt spid="102"/>
                                        </p:tgtEl>
                                        <p:attrNameLst>
                                          <p:attrName>style.visibility</p:attrName>
                                        </p:attrNameLst>
                                      </p:cBhvr>
                                      <p:to>
                                        <p:strVal val="visible"/>
                                      </p:to>
                                    </p:set>
                                    <p:anim calcmode="lin" valueType="num">
                                      <p:cBhvr>
                                        <p:cTn id="193" dur="5000" fill="hold"/>
                                        <p:tgtEl>
                                          <p:spTgt spid="102"/>
                                        </p:tgtEl>
                                        <p:attrNameLst>
                                          <p:attrName>ppt_w</p:attrName>
                                        </p:attrNameLst>
                                      </p:cBhvr>
                                      <p:tavLst>
                                        <p:tav tm="0" fmla="#ppt_w*sin(2.5*pi*$)">
                                          <p:val>
                                            <p:fltVal val="0"/>
                                          </p:val>
                                        </p:tav>
                                        <p:tav tm="100000">
                                          <p:val>
                                            <p:fltVal val="1"/>
                                          </p:val>
                                        </p:tav>
                                      </p:tavLst>
                                    </p:anim>
                                    <p:anim calcmode="lin" valueType="num">
                                      <p:cBhvr>
                                        <p:cTn id="194" dur="5000" fill="hold"/>
                                        <p:tgtEl>
                                          <p:spTgt spid="10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seq concurrent="1" nextAc="seek">
              <p:cTn id="195" restart="whenNotActive" fill="hold" evtFilter="cancelBubble" nodeType="interactiveSeq">
                <p:stCondLst>
                  <p:cond evt="onClick" delay="0">
                    <p:tgtEl>
                      <p:spTgt spid="67"/>
                    </p:tgtEl>
                  </p:cond>
                </p:stCondLst>
                <p:endSync evt="end" delay="0">
                  <p:rtn val="all"/>
                </p:endSync>
                <p:childTnLst>
                  <p:par>
                    <p:cTn id="196" fill="hold">
                      <p:stCondLst>
                        <p:cond delay="0"/>
                      </p:stCondLst>
                      <p:childTnLst>
                        <p:par>
                          <p:cTn id="197" fill="hold">
                            <p:stCondLst>
                              <p:cond delay="0"/>
                            </p:stCondLst>
                            <p:childTnLst>
                              <p:par>
                                <p:cTn id="198" presetID="2" presetClass="mediacall" presetSubtype="0" fill="hold" nodeType="clickEffect">
                                  <p:stCondLst>
                                    <p:cond delay="0"/>
                                  </p:stCondLst>
                                  <p:childTnLst>
                                    <p:cmd type="call" cmd="togglePause">
                                      <p:cBhvr>
                                        <p:cTn id="199" dur="1" fill="hold"/>
                                        <p:tgtEl>
                                          <p:spTgt spid="67"/>
                                        </p:tgtEl>
                                      </p:cBhvr>
                                    </p:cmd>
                                  </p:childTnLst>
                                </p:cTn>
                              </p:par>
                            </p:childTnLst>
                          </p:cTn>
                        </p:par>
                      </p:childTnLst>
                    </p:cTn>
                  </p:par>
                </p:childTnLst>
              </p:cTn>
              <p:nextCondLst>
                <p:cond evt="onClick" delay="0">
                  <p:tgtEl>
                    <p:spTgt spid="67"/>
                  </p:tgtEl>
                </p:cond>
              </p:nextCondLst>
            </p:seq>
            <p:seq concurrent="1" nextAc="seek">
              <p:cTn id="200" restart="whenNotActive" fill="hold" evtFilter="cancelBubble" nodeType="interactiveSeq">
                <p:stCondLst>
                  <p:cond evt="onClick" delay="0">
                    <p:tgtEl>
                      <p:spTgt spid="68"/>
                    </p:tgtEl>
                  </p:cond>
                </p:stCondLst>
                <p:endSync evt="end" delay="0">
                  <p:rtn val="all"/>
                </p:endSync>
                <p:childTnLst>
                  <p:par>
                    <p:cTn id="201" fill="hold">
                      <p:stCondLst>
                        <p:cond delay="0"/>
                      </p:stCondLst>
                      <p:childTnLst>
                        <p:par>
                          <p:cTn id="202" fill="hold">
                            <p:stCondLst>
                              <p:cond delay="0"/>
                            </p:stCondLst>
                            <p:childTnLst>
                              <p:par>
                                <p:cTn id="203" presetID="2" presetClass="mediacall" presetSubtype="0" fill="hold" nodeType="clickEffect">
                                  <p:stCondLst>
                                    <p:cond delay="0"/>
                                  </p:stCondLst>
                                  <p:childTnLst>
                                    <p:cmd type="call" cmd="togglePause">
                                      <p:cBhvr>
                                        <p:cTn id="204" dur="1" fill="hold"/>
                                        <p:tgtEl>
                                          <p:spTgt spid="68"/>
                                        </p:tgtEl>
                                      </p:cBhvr>
                                    </p:cmd>
                                  </p:childTnLst>
                                </p:cTn>
                              </p:par>
                            </p:childTnLst>
                          </p:cTn>
                        </p:par>
                      </p:childTnLst>
                    </p:cTn>
                  </p:par>
                </p:childTnLst>
              </p:cTn>
              <p:nextCondLst>
                <p:cond evt="onClick" delay="0">
                  <p:tgtEl>
                    <p:spTgt spid="68"/>
                  </p:tgtEl>
                </p:cond>
              </p:nextCondLst>
            </p:seq>
            <p:video>
              <p:cMediaNode>
                <p:cTn id="205" fill="hold" display="0">
                  <p:stCondLst>
                    <p:cond delay="indefinite"/>
                  </p:stCondLst>
                  <p:endCondLst>
                    <p:cond evt="onNext" delay="0">
                      <p:tgtEl>
                        <p:sldTgt/>
                      </p:tgtEl>
                    </p:cond>
                    <p:cond evt="onPrev" delay="0">
                      <p:tgtEl>
                        <p:sldTgt/>
                      </p:tgtEl>
                    </p:cond>
                  </p:endCondLst>
                </p:cTn>
                <p:tgtEl>
                  <p:spTgt spid="67"/>
                </p:tgtEl>
              </p:cMediaNode>
            </p:video>
            <p:video>
              <p:cMediaNode>
                <p:cTn id="206" fill="hold" display="0">
                  <p:stCondLst>
                    <p:cond delay="indefinite"/>
                  </p:stCondLst>
                  <p:endCondLst>
                    <p:cond evt="onNext" delay="0">
                      <p:tgtEl>
                        <p:sldTgt/>
                      </p:tgtEl>
                    </p:cond>
                    <p:cond evt="onPrev" delay="0">
                      <p:tgtEl>
                        <p:sldTgt/>
                      </p:tgtEl>
                    </p:cond>
                  </p:endCondLst>
                </p:cTn>
                <p:tgtEl>
                  <p:spTgt spid="68"/>
                </p:tgtEl>
              </p:cMediaNode>
            </p:video>
          </p:childTnLst>
        </p:cTn>
      </p:par>
    </p:tnLst>
    <p:bldLst>
      <p:bldP spid="53" grpId="0" autoUpdateAnimBg="0"/>
      <p:bldP spid="69" grpId="0" autoUpdateAnimBg="0"/>
      <p:bldP spid="70" grpId="0" autoUpdateAnimBg="0"/>
      <p:bldP spid="71" grpId="0" autoUpdateAnimBg="0"/>
      <p:bldP spid="72" grpId="0" autoUpdateAnimBg="0"/>
      <p:bldP spid="73" grpId="0" autoUpdateAnimBg="0"/>
      <p:bldP spid="74" grpId="0" autoUpdateAnimBg="0"/>
      <p:bldP spid="75" grpId="0" autoUpdateAnimBg="0"/>
      <p:bldP spid="76" grpId="0" autoUpdateAnimBg="0"/>
      <p:bldP spid="77" grpId="0" autoUpdateAnimBg="0"/>
      <p:bldP spid="79" grpId="0" autoUpdateAnimBg="0"/>
      <p:bldP spid="82" grpId="0" autoUpdateAnimBg="0"/>
      <p:bldP spid="85" grpId="0" autoUpdateAnimBg="0"/>
      <p:bldP spid="88" grpId="0" autoUpdateAnimBg="0"/>
      <p:bldP spid="89" grpId="0" autoUpdateAnimBg="0"/>
      <p:bldP spid="95" grpId="0" animBg="1"/>
      <p:bldP spid="96" grpId="0" animBg="1"/>
      <p:bldP spid="97" grpId="0" autoUpdateAnimBg="0"/>
      <p:bldP spid="98" grpId="0" autoUpdateAnimBg="0"/>
      <p:bldP spid="99" grpId="0" autoUpdateAnimBg="0"/>
      <p:bldP spid="100" grpId="0" autoUpdateAnimBg="0"/>
      <p:bldP spid="101" grpId="0" autoUpdateAnimBg="0"/>
      <p:bldP spid="102" grpId="0" autoUpdateAnimBg="0"/>
      <p:bldP spid="103" grpId="0"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711605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第八章   拉压、剪切与挤压的强度计算</a:t>
            </a:r>
          </a:p>
        </p:txBody>
      </p:sp>
      <p:sp>
        <p:nvSpPr>
          <p:cNvPr id="69" name="Text Box 5">
            <a:extLst>
              <a:ext uri="{FF2B5EF4-FFF2-40B4-BE49-F238E27FC236}">
                <a16:creationId xmlns:a16="http://schemas.microsoft.com/office/drawing/2014/main" id="{453E9F27-D0A0-989B-E627-C80B3765D278}"/>
              </a:ext>
            </a:extLst>
          </p:cNvPr>
          <p:cNvSpPr txBox="1">
            <a:spLocks noChangeArrowheads="1"/>
          </p:cNvSpPr>
          <p:nvPr/>
        </p:nvSpPr>
        <p:spPr bwMode="auto">
          <a:xfrm>
            <a:off x="497359" y="893977"/>
            <a:ext cx="28575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1" lang="en-US" altLang="zh-CN" sz="2400" i="0" u="none" strike="noStrike" kern="0" cap="none" spc="0" normalizeH="0" baseline="0" noProof="0" dirty="0">
                <a:ln>
                  <a:noFill/>
                </a:ln>
                <a:solidFill>
                  <a:srgbClr val="FF00FF"/>
                </a:solidFill>
                <a:effectLst/>
                <a:uLnTx/>
                <a:uFillTx/>
                <a:latin typeface="微软雅黑" panose="020B0503020204020204" pitchFamily="34" charset="-122"/>
                <a:ea typeface="微软雅黑" panose="020B0503020204020204" pitchFamily="34" charset="-122"/>
              </a:rPr>
              <a:t> </a:t>
            </a:r>
            <a:r>
              <a:rPr lang="en-US" altLang="zh-CN" sz="2800" i="0" dirty="0">
                <a:solidFill>
                  <a:srgbClr val="FF00FF"/>
                </a:solidFill>
                <a:latin typeface="+mn-lt"/>
                <a:ea typeface="微软雅黑" panose="020B0503020204020204" pitchFamily="34" charset="-122"/>
              </a:rPr>
              <a:t>1</a:t>
            </a:r>
            <a:r>
              <a:rPr lang="zh-CN" altLang="en-US" sz="2800" i="0" dirty="0">
                <a:solidFill>
                  <a:srgbClr val="FF00FF"/>
                </a:solidFill>
                <a:latin typeface="+mn-lt"/>
                <a:ea typeface="微软雅黑" panose="020B0503020204020204" pitchFamily="34" charset="-122"/>
              </a:rPr>
              <a:t>）弹性阶段</a:t>
            </a:r>
          </a:p>
        </p:txBody>
      </p:sp>
      <p:sp>
        <p:nvSpPr>
          <p:cNvPr id="74" name="Text Box 10">
            <a:extLst>
              <a:ext uri="{FF2B5EF4-FFF2-40B4-BE49-F238E27FC236}">
                <a16:creationId xmlns:a16="http://schemas.microsoft.com/office/drawing/2014/main" id="{ED48C8B4-D2A8-CA47-F3EF-4E9EB2A1AC0D}"/>
              </a:ext>
            </a:extLst>
          </p:cNvPr>
          <p:cNvSpPr txBox="1">
            <a:spLocks noChangeArrowheads="1"/>
          </p:cNvSpPr>
          <p:nvPr/>
        </p:nvSpPr>
        <p:spPr bwMode="auto">
          <a:xfrm>
            <a:off x="4943872" y="3932137"/>
            <a:ext cx="383536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eaLnBrk="1" fontAlgn="auto" hangingPunct="1">
              <a:spcBef>
                <a:spcPct val="50000"/>
              </a:spcBef>
              <a:spcAft>
                <a:spcPts val="0"/>
              </a:spcAft>
            </a:pPr>
            <a:r>
              <a:rPr lang="zh-CN" altLang="en-US" sz="2800" i="0" dirty="0">
                <a:solidFill>
                  <a:srgbClr val="000000"/>
                </a:solidFill>
                <a:latin typeface="+mn-lt"/>
                <a:ea typeface="微软雅黑" panose="020B0503020204020204" pitchFamily="34" charset="-122"/>
              </a:rPr>
              <a:t>即为材料的</a:t>
            </a:r>
            <a:r>
              <a:rPr lang="zh-CN" altLang="en-US" sz="2800" i="0" dirty="0">
                <a:solidFill>
                  <a:srgbClr val="FF00FF"/>
                </a:solidFill>
                <a:latin typeface="+mn-lt"/>
                <a:ea typeface="微软雅黑" panose="020B0503020204020204" pitchFamily="34" charset="-122"/>
              </a:rPr>
              <a:t>弹性模量</a:t>
            </a:r>
            <a:r>
              <a:rPr lang="zh-CN" altLang="en-US" sz="2800" i="0" dirty="0">
                <a:solidFill>
                  <a:srgbClr val="000000"/>
                </a:solidFill>
                <a:latin typeface="+mn-lt"/>
                <a:ea typeface="微软雅黑" panose="020B0503020204020204" pitchFamily="34" charset="-122"/>
              </a:rPr>
              <a:t>。 </a:t>
            </a:r>
          </a:p>
        </p:txBody>
      </p:sp>
      <p:sp>
        <p:nvSpPr>
          <p:cNvPr id="89" name="Text Box 25">
            <a:extLst>
              <a:ext uri="{FF2B5EF4-FFF2-40B4-BE49-F238E27FC236}">
                <a16:creationId xmlns:a16="http://schemas.microsoft.com/office/drawing/2014/main" id="{E94B3BCF-FF80-03BF-F778-771D78F2B490}"/>
              </a:ext>
            </a:extLst>
          </p:cNvPr>
          <p:cNvSpPr txBox="1">
            <a:spLocks noChangeArrowheads="1"/>
          </p:cNvSpPr>
          <p:nvPr/>
        </p:nvSpPr>
        <p:spPr bwMode="auto">
          <a:xfrm>
            <a:off x="497359" y="1411307"/>
            <a:ext cx="11282141" cy="2427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10000"/>
              </a:lnSpc>
              <a:spcBef>
                <a:spcPct val="50000"/>
              </a:spcBef>
              <a:spcAft>
                <a:spcPts val="0"/>
              </a:spcAft>
              <a:buClrTx/>
              <a:buSzTx/>
              <a:buFontTx/>
              <a:buNone/>
              <a:tabLst/>
              <a:defRPr/>
            </a:pPr>
            <a:r>
              <a:rPr lang="zh-CN" altLang="en-US" sz="2800" i="0" dirty="0">
                <a:solidFill>
                  <a:schemeClr val="tx1"/>
                </a:solidFill>
                <a:latin typeface="+mn-lt"/>
                <a:ea typeface="微软雅黑" panose="020B0503020204020204" pitchFamily="34" charset="-122"/>
              </a:rPr>
              <a:t>弹性极限在拉伸的初始阶段，为一斜直线</a:t>
            </a:r>
            <a:r>
              <a:rPr lang="en-US" altLang="zh-CN" sz="2800" b="0" dirty="0">
                <a:solidFill>
                  <a:schemeClr val="tx1"/>
                </a:solidFill>
                <a:latin typeface="+mn-lt"/>
                <a:ea typeface="微软雅黑" panose="020B0503020204020204" pitchFamily="34" charset="-122"/>
              </a:rPr>
              <a:t>OA</a:t>
            </a:r>
            <a:r>
              <a:rPr lang="zh-CN" altLang="en-US" sz="2800" i="0" dirty="0">
                <a:solidFill>
                  <a:schemeClr val="tx1"/>
                </a:solidFill>
                <a:latin typeface="+mn-lt"/>
                <a:ea typeface="微软雅黑" panose="020B0503020204020204" pitchFamily="34" charset="-122"/>
              </a:rPr>
              <a:t>，表明此阶段内</a:t>
            </a:r>
            <a:r>
              <a:rPr lang="zh-CN" altLang="en-US" sz="2800" b="0" dirty="0">
                <a:solidFill>
                  <a:schemeClr val="tx1"/>
                </a:solidFill>
                <a:latin typeface="+mn-lt"/>
                <a:ea typeface="微软雅黑" panose="020B0503020204020204" pitchFamily="34" charset="-122"/>
                <a:sym typeface="Symbol" panose="05050102010706020507" pitchFamily="18" charset="2"/>
              </a:rPr>
              <a:t></a:t>
            </a:r>
            <a:r>
              <a:rPr lang="zh-CN" altLang="en-US" sz="2800" i="0" dirty="0">
                <a:solidFill>
                  <a:schemeClr val="tx1"/>
                </a:solidFill>
                <a:latin typeface="+mn-lt"/>
                <a:ea typeface="微软雅黑" panose="020B0503020204020204" pitchFamily="34" charset="-122"/>
              </a:rPr>
              <a:t>与</a:t>
            </a:r>
            <a:r>
              <a:rPr lang="zh-CN" altLang="en-US" sz="2800" b="0" dirty="0">
                <a:solidFill>
                  <a:schemeClr val="tx1"/>
                </a:solidFill>
                <a:latin typeface="+mn-lt"/>
                <a:ea typeface="微软雅黑" panose="020B0503020204020204" pitchFamily="34" charset="-122"/>
                <a:sym typeface="Symbol" panose="05050102010706020507" pitchFamily="18" charset="2"/>
              </a:rPr>
              <a:t> </a:t>
            </a:r>
            <a:r>
              <a:rPr lang="zh-CN" altLang="en-US" sz="2800" i="0" dirty="0">
                <a:solidFill>
                  <a:schemeClr val="tx1"/>
                </a:solidFill>
                <a:latin typeface="+mn-lt"/>
                <a:ea typeface="微软雅黑" panose="020B0503020204020204" pitchFamily="34" charset="-122"/>
              </a:rPr>
              <a:t>成正比，材料服从胡克定律，即</a:t>
            </a:r>
            <a:r>
              <a:rPr lang="zh-CN" altLang="en-US" sz="2800" b="0" dirty="0">
                <a:solidFill>
                  <a:schemeClr val="tx1"/>
                </a:solidFill>
                <a:latin typeface="+mn-lt"/>
                <a:ea typeface="微软雅黑" panose="020B0503020204020204" pitchFamily="34" charset="-122"/>
                <a:sym typeface="Symbol" panose="05050102010706020507" pitchFamily="18" charset="2"/>
              </a:rPr>
              <a:t></a:t>
            </a:r>
            <a:r>
              <a:rPr lang="zh-CN" altLang="en-US" sz="2800" i="0" dirty="0">
                <a:solidFill>
                  <a:schemeClr val="tx1"/>
                </a:solidFill>
                <a:latin typeface="+mn-lt"/>
                <a:ea typeface="微软雅黑" panose="020B0503020204020204" pitchFamily="34" charset="-122"/>
                <a:sym typeface="Symbol" panose="05050102010706020507" pitchFamily="18" charset="2"/>
              </a:rPr>
              <a:t> </a:t>
            </a:r>
            <a:r>
              <a:rPr lang="en-US" altLang="zh-CN" sz="2800" b="0" dirty="0">
                <a:solidFill>
                  <a:schemeClr val="tx1"/>
                </a:solidFill>
                <a:latin typeface="+mn-lt"/>
                <a:ea typeface="微软雅黑" panose="020B0503020204020204" pitchFamily="34" charset="-122"/>
              </a:rPr>
              <a:t>=E</a:t>
            </a:r>
            <a:r>
              <a:rPr lang="en-US" altLang="zh-CN" sz="2800" b="0" dirty="0">
                <a:solidFill>
                  <a:schemeClr val="tx1"/>
                </a:solidFill>
                <a:latin typeface="+mn-lt"/>
                <a:ea typeface="微软雅黑" panose="020B0503020204020204" pitchFamily="34" charset="-122"/>
                <a:sym typeface="Symbol" panose="05050102010706020507" pitchFamily="18" charset="2"/>
              </a:rPr>
              <a:t></a:t>
            </a:r>
            <a:r>
              <a:rPr lang="zh-CN" altLang="en-US" sz="2800" i="0" dirty="0">
                <a:solidFill>
                  <a:schemeClr val="tx1"/>
                </a:solidFill>
                <a:latin typeface="+mn-lt"/>
                <a:ea typeface="微软雅黑" panose="020B0503020204020204" pitchFamily="34" charset="-122"/>
              </a:rPr>
              <a:t>，直线</a:t>
            </a:r>
            <a:r>
              <a:rPr lang="en-US" altLang="zh-CN" sz="2800" b="0" dirty="0">
                <a:solidFill>
                  <a:schemeClr val="tx1"/>
                </a:solidFill>
                <a:latin typeface="+mn-lt"/>
                <a:ea typeface="微软雅黑" panose="020B0503020204020204" pitchFamily="34" charset="-122"/>
              </a:rPr>
              <a:t>OA</a:t>
            </a:r>
            <a:r>
              <a:rPr lang="zh-CN" altLang="en-US" sz="2800" i="0" dirty="0">
                <a:solidFill>
                  <a:schemeClr val="tx1"/>
                </a:solidFill>
                <a:latin typeface="+mn-lt"/>
                <a:ea typeface="微软雅黑" panose="020B0503020204020204" pitchFamily="34" charset="-122"/>
              </a:rPr>
              <a:t>的斜率在数值上等于材料的弹性模量，此阶段内的变形为弹性变形。线性阶段的最高点</a:t>
            </a:r>
            <a:r>
              <a:rPr lang="en-US" altLang="zh-CN" sz="2800" b="0" dirty="0">
                <a:solidFill>
                  <a:schemeClr val="tx1"/>
                </a:solidFill>
                <a:latin typeface="+mn-lt"/>
                <a:ea typeface="微软雅黑" panose="020B0503020204020204" pitchFamily="34" charset="-122"/>
              </a:rPr>
              <a:t>A</a:t>
            </a:r>
            <a:r>
              <a:rPr lang="zh-CN" altLang="en-US" sz="2800" i="0" dirty="0">
                <a:solidFill>
                  <a:schemeClr val="tx1"/>
                </a:solidFill>
                <a:latin typeface="+mn-lt"/>
                <a:ea typeface="微软雅黑" panose="020B0503020204020204" pitchFamily="34" charset="-122"/>
              </a:rPr>
              <a:t>对应的应力是应力与应变保持正比关系的最大应力，称为</a:t>
            </a:r>
            <a:r>
              <a:rPr lang="zh-CN" altLang="en-US" sz="2800" i="0" dirty="0">
                <a:solidFill>
                  <a:srgbClr val="FF00FF"/>
                </a:solidFill>
                <a:latin typeface="+mn-lt"/>
                <a:ea typeface="微软雅黑" panose="020B0503020204020204" pitchFamily="34" charset="-122"/>
              </a:rPr>
              <a:t>比例极限</a:t>
            </a:r>
            <a:r>
              <a:rPr lang="zh-CN" altLang="en-US" sz="2800" i="0" dirty="0">
                <a:solidFill>
                  <a:schemeClr val="tx1"/>
                </a:solidFill>
                <a:latin typeface="+mn-lt"/>
                <a:ea typeface="微软雅黑" panose="020B0503020204020204" pitchFamily="34" charset="-122"/>
              </a:rPr>
              <a:t>，用</a:t>
            </a:r>
            <a:r>
              <a:rPr lang="zh-CN" altLang="en-US" sz="2800" b="0" dirty="0">
                <a:solidFill>
                  <a:schemeClr val="tx1"/>
                </a:solidFill>
                <a:latin typeface="+mn-lt"/>
                <a:ea typeface="微软雅黑" panose="020B0503020204020204" pitchFamily="34" charset="-122"/>
                <a:sym typeface="Symbol" panose="05050102010706020507" pitchFamily="18" charset="2"/>
              </a:rPr>
              <a:t></a:t>
            </a:r>
            <a:r>
              <a:rPr lang="en-US" altLang="zh-CN" sz="2800" b="0" i="0" baseline="-25000" dirty="0">
                <a:solidFill>
                  <a:schemeClr val="tx1"/>
                </a:solidFill>
                <a:latin typeface="+mn-lt"/>
                <a:ea typeface="微软雅黑" panose="020B0503020204020204" pitchFamily="34" charset="-122"/>
              </a:rPr>
              <a:t>p</a:t>
            </a:r>
            <a:r>
              <a:rPr lang="zh-CN" altLang="en-US" sz="2800" i="0" dirty="0">
                <a:solidFill>
                  <a:schemeClr val="tx1"/>
                </a:solidFill>
                <a:latin typeface="+mn-lt"/>
                <a:ea typeface="微软雅黑" panose="020B0503020204020204" pitchFamily="34" charset="-122"/>
              </a:rPr>
              <a:t>表示。低碳钢的比例极限</a:t>
            </a:r>
            <a:r>
              <a:rPr lang="zh-CN" altLang="en-US" sz="2800" b="0" dirty="0">
                <a:solidFill>
                  <a:schemeClr val="tx1"/>
                </a:solidFill>
                <a:ea typeface="微软雅黑" panose="020B0503020204020204" pitchFamily="34" charset="-122"/>
                <a:sym typeface="Symbol" panose="05050102010706020507" pitchFamily="18" charset="2"/>
              </a:rPr>
              <a:t></a:t>
            </a:r>
            <a:r>
              <a:rPr lang="en-US" altLang="zh-CN" sz="2800" b="0" i="0" baseline="-25000" dirty="0">
                <a:solidFill>
                  <a:schemeClr val="tx1"/>
                </a:solidFill>
                <a:ea typeface="微软雅黑" panose="020B0503020204020204" pitchFamily="34" charset="-122"/>
              </a:rPr>
              <a:t>p </a:t>
            </a:r>
            <a:r>
              <a:rPr lang="en-US" altLang="zh-CN" sz="2800" i="0" dirty="0">
                <a:solidFill>
                  <a:schemeClr val="tx1"/>
                </a:solidFill>
                <a:latin typeface="+mn-lt"/>
                <a:ea typeface="微软雅黑" panose="020B0503020204020204" pitchFamily="34" charset="-122"/>
              </a:rPr>
              <a:t>≈</a:t>
            </a:r>
            <a:r>
              <a:rPr lang="en-US" altLang="zh-CN" sz="2800" b="0" i="0" dirty="0">
                <a:solidFill>
                  <a:schemeClr val="tx1"/>
                </a:solidFill>
                <a:latin typeface="+mn-lt"/>
                <a:ea typeface="微软雅黑" panose="020B0503020204020204" pitchFamily="34" charset="-122"/>
              </a:rPr>
              <a:t>190~200MPa</a:t>
            </a:r>
            <a:r>
              <a:rPr lang="zh-CN" altLang="en-US" sz="2800" i="0" dirty="0">
                <a:solidFill>
                  <a:schemeClr val="tx1"/>
                </a:solidFill>
                <a:latin typeface="+mn-lt"/>
                <a:ea typeface="微软雅黑" panose="020B0503020204020204" pitchFamily="34" charset="-122"/>
              </a:rPr>
              <a:t>。</a:t>
            </a:r>
            <a:r>
              <a:rPr lang="en-US" altLang="zh-CN" sz="2800" b="0" dirty="0">
                <a:solidFill>
                  <a:schemeClr val="tx1"/>
                </a:solidFill>
                <a:latin typeface="+mn-lt"/>
                <a:ea typeface="微软雅黑" panose="020B0503020204020204" pitchFamily="34" charset="-122"/>
              </a:rPr>
              <a:t>OA</a:t>
            </a:r>
            <a:r>
              <a:rPr lang="zh-CN" altLang="en-US" sz="2800" i="0" dirty="0">
                <a:solidFill>
                  <a:schemeClr val="tx1"/>
                </a:solidFill>
                <a:latin typeface="+mn-lt"/>
                <a:ea typeface="微软雅黑" panose="020B0503020204020204" pitchFamily="34" charset="-122"/>
              </a:rPr>
              <a:t>直线的倾角为</a:t>
            </a:r>
            <a:r>
              <a:rPr lang="zh-CN" altLang="en-US" sz="2800" dirty="0">
                <a:solidFill>
                  <a:schemeClr val="tx1"/>
                </a:solidFill>
                <a:latin typeface="+mn-lt"/>
                <a:ea typeface="微软雅黑" panose="020B0503020204020204" pitchFamily="34" charset="-122"/>
                <a:sym typeface="Symbol" panose="05050102010706020507" pitchFamily="18" charset="2"/>
              </a:rPr>
              <a:t></a:t>
            </a:r>
            <a:r>
              <a:rPr lang="zh-CN" altLang="en-US" sz="2800" i="0" dirty="0">
                <a:solidFill>
                  <a:schemeClr val="tx1"/>
                </a:solidFill>
                <a:latin typeface="+mn-lt"/>
                <a:ea typeface="微软雅黑" panose="020B0503020204020204" pitchFamily="34" charset="-122"/>
              </a:rPr>
              <a:t>，其斜率为</a:t>
            </a:r>
          </a:p>
        </p:txBody>
      </p:sp>
      <p:graphicFrame>
        <p:nvGraphicFramePr>
          <p:cNvPr id="3" name="Object 3">
            <a:extLst>
              <a:ext uri="{FF2B5EF4-FFF2-40B4-BE49-F238E27FC236}">
                <a16:creationId xmlns:a16="http://schemas.microsoft.com/office/drawing/2014/main" id="{A9CBB98D-3EAB-7428-9478-37156ABD0647}"/>
              </a:ext>
            </a:extLst>
          </p:cNvPr>
          <p:cNvGraphicFramePr>
            <a:graphicFrameLocks/>
          </p:cNvGraphicFramePr>
          <p:nvPr>
            <p:extLst>
              <p:ext uri="{D42A27DB-BD31-4B8C-83A1-F6EECF244321}">
                <p14:modId xmlns:p14="http://schemas.microsoft.com/office/powerpoint/2010/main" val="2124964234"/>
              </p:ext>
            </p:extLst>
          </p:nvPr>
        </p:nvGraphicFramePr>
        <p:xfrm>
          <a:off x="2656238" y="3766184"/>
          <a:ext cx="2073275" cy="903288"/>
        </p:xfrm>
        <a:graphic>
          <a:graphicData uri="http://schemas.openxmlformats.org/presentationml/2006/ole">
            <mc:AlternateContent xmlns:mc="http://schemas.openxmlformats.org/markup-compatibility/2006">
              <mc:Choice xmlns:v="urn:schemas-microsoft-com:vml" Requires="v">
                <p:oleObj name="Equation" r:id="rId4" imgW="901440" imgH="393480" progId="Equation.DSMT4">
                  <p:embed/>
                </p:oleObj>
              </mc:Choice>
              <mc:Fallback>
                <p:oleObj name="Equation" r:id="rId4" imgW="901440" imgH="393480" progId="Equation.DSMT4">
                  <p:embed/>
                  <p:pic>
                    <p:nvPicPr>
                      <p:cNvPr id="3" name="Object 3">
                        <a:extLst>
                          <a:ext uri="{FF2B5EF4-FFF2-40B4-BE49-F238E27FC236}">
                            <a16:creationId xmlns:a16="http://schemas.microsoft.com/office/drawing/2014/main" id="{A9CBB98D-3EAB-7428-9478-37156ABD0647}"/>
                          </a:ext>
                        </a:extLst>
                      </p:cNvPr>
                      <p:cNvPicPr>
                        <a:picLocks noChangeArrowheads="1"/>
                      </p:cNvPicPr>
                      <p:nvPr/>
                    </p:nvPicPr>
                    <p:blipFill>
                      <a:blip r:embed="rId5"/>
                      <a:srcRect/>
                      <a:stretch>
                        <a:fillRect/>
                      </a:stretch>
                    </p:blipFill>
                    <p:spPr bwMode="auto">
                      <a:xfrm>
                        <a:off x="2656238" y="3766184"/>
                        <a:ext cx="2073275" cy="903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Text Box 10">
            <a:extLst>
              <a:ext uri="{FF2B5EF4-FFF2-40B4-BE49-F238E27FC236}">
                <a16:creationId xmlns:a16="http://schemas.microsoft.com/office/drawing/2014/main" id="{F0F70900-F47F-E7DB-C02B-DACAEA6A1D2A}"/>
              </a:ext>
            </a:extLst>
          </p:cNvPr>
          <p:cNvSpPr txBox="1">
            <a:spLocks noChangeArrowheads="1"/>
          </p:cNvSpPr>
          <p:nvPr/>
        </p:nvSpPr>
        <p:spPr bwMode="auto">
          <a:xfrm>
            <a:off x="623392" y="4669472"/>
            <a:ext cx="11089232" cy="14809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fontAlgn="auto" hangingPunct="1">
              <a:lnSpc>
                <a:spcPct val="110000"/>
              </a:lnSpc>
              <a:spcBef>
                <a:spcPct val="50000"/>
              </a:spcBef>
              <a:spcAft>
                <a:spcPts val="0"/>
              </a:spcAft>
            </a:pPr>
            <a:r>
              <a:rPr lang="zh-CN" altLang="en-US" sz="2800" i="0" dirty="0">
                <a:solidFill>
                  <a:srgbClr val="000000"/>
                </a:solidFill>
                <a:latin typeface="+mn-lt"/>
                <a:ea typeface="微软雅黑" panose="020B0503020204020204" pitchFamily="34" charset="-122"/>
              </a:rPr>
              <a:t>应力超过比例极限后，</a:t>
            </a:r>
            <a:r>
              <a:rPr lang="en-US" altLang="zh-CN" sz="2800" b="0" dirty="0">
                <a:solidFill>
                  <a:srgbClr val="000000"/>
                </a:solidFill>
                <a:latin typeface="+mn-lt"/>
                <a:ea typeface="微软雅黑" panose="020B0503020204020204" pitchFamily="34" charset="-122"/>
              </a:rPr>
              <a:t>AA'</a:t>
            </a:r>
            <a:r>
              <a:rPr lang="zh-CN" altLang="en-US" sz="2800" i="0" dirty="0">
                <a:solidFill>
                  <a:srgbClr val="000000"/>
                </a:solidFill>
                <a:latin typeface="+mn-lt"/>
                <a:ea typeface="微软雅黑" panose="020B0503020204020204" pitchFamily="34" charset="-122"/>
              </a:rPr>
              <a:t>段已不是直线，胡克定律不再适用。但当应力值不超过</a:t>
            </a:r>
            <a:r>
              <a:rPr lang="en-US" altLang="zh-CN" sz="2800" b="0" dirty="0">
                <a:solidFill>
                  <a:srgbClr val="000000"/>
                </a:solidFill>
                <a:latin typeface="+mn-lt"/>
                <a:ea typeface="微软雅黑" panose="020B0503020204020204" pitchFamily="34" charset="-122"/>
              </a:rPr>
              <a:t>A'</a:t>
            </a:r>
            <a:r>
              <a:rPr lang="zh-CN" altLang="en-US" sz="2800" i="0" dirty="0">
                <a:solidFill>
                  <a:srgbClr val="000000"/>
                </a:solidFill>
                <a:latin typeface="+mn-lt"/>
                <a:ea typeface="微软雅黑" panose="020B0503020204020204" pitchFamily="34" charset="-122"/>
              </a:rPr>
              <a:t>点所对应的应力</a:t>
            </a:r>
            <a:r>
              <a:rPr lang="zh-CN" altLang="en-US" sz="2800" b="0" dirty="0">
                <a:solidFill>
                  <a:schemeClr val="tx1"/>
                </a:solidFill>
                <a:ea typeface="微软雅黑" panose="020B0503020204020204" pitchFamily="34" charset="-122"/>
                <a:sym typeface="Symbol" panose="05050102010706020507" pitchFamily="18" charset="2"/>
              </a:rPr>
              <a:t></a:t>
            </a:r>
            <a:r>
              <a:rPr lang="en-US" altLang="zh-CN" sz="2800" b="0" i="0" baseline="-25000" dirty="0">
                <a:solidFill>
                  <a:schemeClr val="tx1"/>
                </a:solidFill>
                <a:ea typeface="微软雅黑" panose="020B0503020204020204" pitchFamily="34" charset="-122"/>
              </a:rPr>
              <a:t>e</a:t>
            </a:r>
            <a:r>
              <a:rPr lang="zh-CN" altLang="en-US" sz="2800" i="0" dirty="0">
                <a:solidFill>
                  <a:srgbClr val="000000"/>
                </a:solidFill>
                <a:latin typeface="+mn-lt"/>
                <a:ea typeface="微软雅黑" panose="020B0503020204020204" pitchFamily="34" charset="-122"/>
              </a:rPr>
              <a:t>时，变形仍为弹性变形，故称为</a:t>
            </a:r>
            <a:r>
              <a:rPr lang="zh-CN" altLang="en-US" sz="2800" i="0" dirty="0">
                <a:solidFill>
                  <a:srgbClr val="FF00FF"/>
                </a:solidFill>
                <a:latin typeface="+mn-lt"/>
                <a:ea typeface="微软雅黑" panose="020B0503020204020204" pitchFamily="34" charset="-122"/>
              </a:rPr>
              <a:t>弹性极限</a:t>
            </a:r>
            <a:r>
              <a:rPr lang="zh-CN" altLang="en-US" sz="2800" i="0" dirty="0">
                <a:solidFill>
                  <a:srgbClr val="000000"/>
                </a:solidFill>
                <a:latin typeface="+mn-lt"/>
                <a:ea typeface="微软雅黑" panose="020B0503020204020204" pitchFamily="34" charset="-122"/>
              </a:rPr>
              <a:t>。比例极限和弹性极限不作严格区分，统统称为</a:t>
            </a:r>
            <a:r>
              <a:rPr lang="zh-CN" altLang="en-US" sz="2800" i="0" dirty="0">
                <a:solidFill>
                  <a:srgbClr val="FF00FF"/>
                </a:solidFill>
                <a:latin typeface="+mn-lt"/>
                <a:ea typeface="微软雅黑" panose="020B0503020204020204" pitchFamily="34" charset="-122"/>
              </a:rPr>
              <a:t>弹牲极限</a:t>
            </a:r>
            <a:r>
              <a:rPr lang="zh-CN" altLang="en-US" sz="2800" i="0" dirty="0">
                <a:solidFill>
                  <a:srgbClr val="000000"/>
                </a:solidFill>
                <a:latin typeface="+mn-lt"/>
                <a:ea typeface="微软雅黑" panose="020B0503020204020204" pitchFamily="34" charset="-122"/>
              </a:rPr>
              <a:t>。 </a:t>
            </a:r>
          </a:p>
        </p:txBody>
      </p:sp>
    </p:spTree>
    <p:extLst>
      <p:ext uri="{BB962C8B-B14F-4D97-AF65-F5344CB8AC3E}">
        <p14:creationId xmlns:p14="http://schemas.microsoft.com/office/powerpoint/2010/main" val="3484979164"/>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type="lt">
                                    <p:tmPct val="100000"/>
                                  </p:iterate>
                                  <p:childTnLst>
                                    <p:set>
                                      <p:cBhvr>
                                        <p:cTn id="6" dur="1" fill="hold">
                                          <p:stCondLst>
                                            <p:cond delay="0"/>
                                          </p:stCondLst>
                                        </p:cTn>
                                        <p:tgtEl>
                                          <p:spTgt spid="69"/>
                                        </p:tgtEl>
                                        <p:attrNameLst>
                                          <p:attrName>style.visibility</p:attrName>
                                        </p:attrNameLst>
                                      </p:cBhvr>
                                      <p:to>
                                        <p:strVal val="visible"/>
                                      </p:to>
                                    </p:set>
                                    <p:animEffect transition="in" filter="wipe(left)">
                                      <p:cBhvr>
                                        <p:cTn id="7" dur="75"/>
                                        <p:tgtEl>
                                          <p:spTgt spid="69"/>
                                        </p:tgtEl>
                                      </p:cBhvr>
                                    </p:animEffect>
                                  </p:childTnLst>
                                  <p:subTnLst>
                                    <p:audio>
                                      <p:cMediaNode>
                                        <p:cTn display="0" masterRel="sameClick">
                                          <p:stCondLst>
                                            <p:cond evt="begin" delay="0">
                                              <p:tn val="5"/>
                                            </p:cond>
                                          </p:stCondLst>
                                          <p:endCondLst>
                                            <p:cond evt="onStopAudio" delay="0">
                                              <p:tgtEl>
                                                <p:sldTgt/>
                                              </p:tgtEl>
                                            </p:cond>
                                          </p:endCondLst>
                                        </p:cTn>
                                        <p:tgtEl>
                                          <p:sndTgt r:embed="rId3" name="TYPE.WAV"/>
                                        </p:tgtEl>
                                      </p:cMediaNode>
                                    </p:audio>
                                  </p:subTnLst>
                                </p:cTn>
                              </p:par>
                            </p:childTnLst>
                          </p:cTn>
                        </p:par>
                        <p:par>
                          <p:cTn id="8" fill="hold">
                            <p:stCondLst>
                              <p:cond delay="450"/>
                            </p:stCondLst>
                            <p:childTnLst>
                              <p:par>
                                <p:cTn id="9" presetID="22" presetClass="entr" presetSubtype="8" fill="hold" grpId="0" nodeType="afterEffect">
                                  <p:stCondLst>
                                    <p:cond delay="1000"/>
                                  </p:stCondLst>
                                  <p:iterate type="lt">
                                    <p:tmPct val="100000"/>
                                  </p:iterate>
                                  <p:childTnLst>
                                    <p:set>
                                      <p:cBhvr>
                                        <p:cTn id="10" dur="1" fill="hold">
                                          <p:stCondLst>
                                            <p:cond delay="0"/>
                                          </p:stCondLst>
                                        </p:cTn>
                                        <p:tgtEl>
                                          <p:spTgt spid="89"/>
                                        </p:tgtEl>
                                        <p:attrNameLst>
                                          <p:attrName>style.visibility</p:attrName>
                                        </p:attrNameLst>
                                      </p:cBhvr>
                                      <p:to>
                                        <p:strVal val="visible"/>
                                      </p:to>
                                    </p:set>
                                    <p:animEffect transition="in" filter="wipe(left)">
                                      <p:cBhvr>
                                        <p:cTn id="11" dur="75"/>
                                        <p:tgtEl>
                                          <p:spTgt spid="89"/>
                                        </p:tgtEl>
                                      </p:cBhvr>
                                    </p:animEffect>
                                  </p:childTnLst>
                                  <p:subTnLst>
                                    <p:audio>
                                      <p:cMediaNode>
                                        <p:cTn display="0" masterRel="sameClick">
                                          <p:stCondLst>
                                            <p:cond evt="begin" delay="0">
                                              <p:tn val="9"/>
                                            </p:cond>
                                          </p:stCondLst>
                                          <p:endCondLst>
                                            <p:cond evt="onStopAudio" delay="0">
                                              <p:tgtEl>
                                                <p:sldTgt/>
                                              </p:tgtEl>
                                            </p:cond>
                                          </p:endCondLst>
                                        </p:cTn>
                                        <p:tgtEl>
                                          <p:sndTgt r:embed="rId3" name="TYPE.WAV"/>
                                        </p:tgtEl>
                                      </p:cMediaNode>
                                    </p:audio>
                                  </p:sub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wipe(left)">
                                      <p:cBhvr>
                                        <p:cTn id="16" dur="5000"/>
                                        <p:tgtEl>
                                          <p:spTgt spid="3"/>
                                        </p:tgtEl>
                                      </p:cBhvr>
                                    </p:animEffect>
                                  </p:childTnLst>
                                </p:cTn>
                              </p:par>
                            </p:childTnLst>
                          </p:cTn>
                        </p:par>
                        <p:par>
                          <p:cTn id="17" fill="hold">
                            <p:stCondLst>
                              <p:cond delay="5000"/>
                            </p:stCondLst>
                            <p:childTnLst>
                              <p:par>
                                <p:cTn id="18" presetID="17" presetClass="entr" presetSubtype="10" fill="hold" grpId="0" nodeType="afterEffect">
                                  <p:stCondLst>
                                    <p:cond delay="1000"/>
                                  </p:stCondLst>
                                  <p:iterate type="lt">
                                    <p:tmPct val="100000"/>
                                  </p:iterate>
                                  <p:childTnLst>
                                    <p:set>
                                      <p:cBhvr>
                                        <p:cTn id="19" dur="1" fill="hold">
                                          <p:stCondLst>
                                            <p:cond delay="0"/>
                                          </p:stCondLst>
                                        </p:cTn>
                                        <p:tgtEl>
                                          <p:spTgt spid="2"/>
                                        </p:tgtEl>
                                        <p:attrNameLst>
                                          <p:attrName>style.visibility</p:attrName>
                                        </p:attrNameLst>
                                      </p:cBhvr>
                                      <p:to>
                                        <p:strVal val="visible"/>
                                      </p:to>
                                    </p:set>
                                    <p:anim calcmode="lin" valueType="num">
                                      <p:cBhvr>
                                        <p:cTn id="20" dur="75" fill="hold"/>
                                        <p:tgtEl>
                                          <p:spTgt spid="2"/>
                                        </p:tgtEl>
                                        <p:attrNameLst>
                                          <p:attrName>ppt_w</p:attrName>
                                        </p:attrNameLst>
                                      </p:cBhvr>
                                      <p:tavLst>
                                        <p:tav tm="0">
                                          <p:val>
                                            <p:fltVal val="0"/>
                                          </p:val>
                                        </p:tav>
                                        <p:tav tm="100000">
                                          <p:val>
                                            <p:strVal val="#ppt_w"/>
                                          </p:val>
                                        </p:tav>
                                      </p:tavLst>
                                    </p:anim>
                                    <p:anim calcmode="lin" valueType="num">
                                      <p:cBhvr>
                                        <p:cTn id="21" dur="75" fill="hold"/>
                                        <p:tgtEl>
                                          <p:spTgt spid="2"/>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8"/>
                                            </p:cond>
                                          </p:stCondLst>
                                          <p:endCondLst>
                                            <p:cond evt="onStopAudio" delay="0">
                                              <p:tgtEl>
                                                <p:sldTgt/>
                                              </p:tgtEl>
                                            </p:cond>
                                          </p:endCondLst>
                                        </p:cTn>
                                        <p:tgtEl>
                                          <p:sndTgt r:embed="rId3" name="TYPE.WAV"/>
                                        </p:tgtEl>
                                      </p:cMediaNode>
                                    </p:audio>
                                  </p:subTnLst>
                                </p:cTn>
                              </p:par>
                            </p:childTnLst>
                          </p:cTn>
                        </p:par>
                        <p:par>
                          <p:cTn id="22" fill="hold">
                            <p:stCondLst>
                              <p:cond delay="12900"/>
                            </p:stCondLst>
                            <p:childTnLst>
                              <p:par>
                                <p:cTn id="23" presetID="17" presetClass="entr" presetSubtype="10" fill="hold" grpId="0" nodeType="afterEffect">
                                  <p:stCondLst>
                                    <p:cond delay="0"/>
                                  </p:stCondLst>
                                  <p:iterate type="lt">
                                    <p:tmPct val="100000"/>
                                  </p:iterate>
                                  <p:childTnLst>
                                    <p:set>
                                      <p:cBhvr>
                                        <p:cTn id="24" dur="1" fill="hold">
                                          <p:stCondLst>
                                            <p:cond delay="0"/>
                                          </p:stCondLst>
                                        </p:cTn>
                                        <p:tgtEl>
                                          <p:spTgt spid="74"/>
                                        </p:tgtEl>
                                        <p:attrNameLst>
                                          <p:attrName>style.visibility</p:attrName>
                                        </p:attrNameLst>
                                      </p:cBhvr>
                                      <p:to>
                                        <p:strVal val="visible"/>
                                      </p:to>
                                    </p:set>
                                    <p:anim calcmode="lin" valueType="num">
                                      <p:cBhvr>
                                        <p:cTn id="25" dur="75" fill="hold"/>
                                        <p:tgtEl>
                                          <p:spTgt spid="74"/>
                                        </p:tgtEl>
                                        <p:attrNameLst>
                                          <p:attrName>ppt_w</p:attrName>
                                        </p:attrNameLst>
                                      </p:cBhvr>
                                      <p:tavLst>
                                        <p:tav tm="0">
                                          <p:val>
                                            <p:fltVal val="0"/>
                                          </p:val>
                                        </p:tav>
                                        <p:tav tm="100000">
                                          <p:val>
                                            <p:strVal val="#ppt_w"/>
                                          </p:val>
                                        </p:tav>
                                      </p:tavLst>
                                    </p:anim>
                                    <p:anim calcmode="lin" valueType="num">
                                      <p:cBhvr>
                                        <p:cTn id="26" dur="75" fill="hold"/>
                                        <p:tgtEl>
                                          <p:spTgt spid="74"/>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3"/>
                                            </p:cond>
                                          </p:stCondLst>
                                          <p:endCondLst>
                                            <p:cond evt="onStopAudio" delay="0">
                                              <p:tgtEl>
                                                <p:sldTgt/>
                                              </p:tgtEl>
                                            </p:cond>
                                          </p:endCondLst>
                                        </p:cTn>
                                        <p:tgtEl>
                                          <p:sndTgt r:embed="rId3" name="TYP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 grpId="0" autoUpdateAnimBg="0"/>
      <p:bldP spid="74" grpId="0" autoUpdateAnimBg="0"/>
      <p:bldP spid="89" grpId="0" autoUpdateAnimBg="0"/>
      <p:bldP spid="2" grpId="0"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711605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第八章   拉压、剪切与挤压的强度计算</a:t>
            </a:r>
          </a:p>
        </p:txBody>
      </p:sp>
      <p:sp>
        <p:nvSpPr>
          <p:cNvPr id="69" name="Text Box 5">
            <a:extLst>
              <a:ext uri="{FF2B5EF4-FFF2-40B4-BE49-F238E27FC236}">
                <a16:creationId xmlns:a16="http://schemas.microsoft.com/office/drawing/2014/main" id="{453E9F27-D0A0-989B-E627-C80B3765D278}"/>
              </a:ext>
            </a:extLst>
          </p:cNvPr>
          <p:cNvSpPr txBox="1">
            <a:spLocks noChangeArrowheads="1"/>
          </p:cNvSpPr>
          <p:nvPr/>
        </p:nvSpPr>
        <p:spPr bwMode="auto">
          <a:xfrm>
            <a:off x="497359" y="893977"/>
            <a:ext cx="28575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1" lang="en-US" altLang="zh-CN" sz="2400" i="0" u="none" strike="noStrike" kern="0" cap="none" spc="0" normalizeH="0" baseline="0" noProof="0" dirty="0">
                <a:ln>
                  <a:noFill/>
                </a:ln>
                <a:solidFill>
                  <a:srgbClr val="FF00FF"/>
                </a:solidFill>
                <a:effectLst/>
                <a:uLnTx/>
                <a:uFillTx/>
                <a:latin typeface="微软雅黑" panose="020B0503020204020204" pitchFamily="34" charset="-122"/>
                <a:ea typeface="微软雅黑" panose="020B0503020204020204" pitchFamily="34" charset="-122"/>
              </a:rPr>
              <a:t> </a:t>
            </a:r>
            <a:r>
              <a:rPr lang="en-US" altLang="zh-CN" sz="2800" i="0" dirty="0">
                <a:solidFill>
                  <a:srgbClr val="FF00FF"/>
                </a:solidFill>
                <a:latin typeface="+mn-lt"/>
                <a:ea typeface="微软雅黑" panose="020B0503020204020204" pitchFamily="34" charset="-122"/>
              </a:rPr>
              <a:t>2</a:t>
            </a:r>
            <a:r>
              <a:rPr lang="zh-CN" altLang="en-US" sz="2800" i="0" dirty="0">
                <a:solidFill>
                  <a:srgbClr val="FF00FF"/>
                </a:solidFill>
                <a:latin typeface="+mn-lt"/>
                <a:ea typeface="微软雅黑" panose="020B0503020204020204" pitchFamily="34" charset="-122"/>
              </a:rPr>
              <a:t>）屈服阶段</a:t>
            </a:r>
          </a:p>
        </p:txBody>
      </p:sp>
      <p:sp>
        <p:nvSpPr>
          <p:cNvPr id="89" name="Text Box 25">
            <a:extLst>
              <a:ext uri="{FF2B5EF4-FFF2-40B4-BE49-F238E27FC236}">
                <a16:creationId xmlns:a16="http://schemas.microsoft.com/office/drawing/2014/main" id="{E94B3BCF-FF80-03BF-F778-771D78F2B490}"/>
              </a:ext>
            </a:extLst>
          </p:cNvPr>
          <p:cNvSpPr txBox="1">
            <a:spLocks noChangeArrowheads="1"/>
          </p:cNvSpPr>
          <p:nvPr/>
        </p:nvSpPr>
        <p:spPr bwMode="auto">
          <a:xfrm>
            <a:off x="497359" y="1411307"/>
            <a:ext cx="11282141" cy="29015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10000"/>
              </a:lnSpc>
              <a:spcBef>
                <a:spcPct val="50000"/>
              </a:spcBef>
              <a:spcAft>
                <a:spcPts val="0"/>
              </a:spcAft>
              <a:buClrTx/>
              <a:buSzTx/>
              <a:buFontTx/>
              <a:buNone/>
              <a:tabLst/>
              <a:defRPr/>
            </a:pPr>
            <a:r>
              <a:rPr lang="zh-CN" altLang="en-US" sz="2800" i="0" dirty="0">
                <a:solidFill>
                  <a:schemeClr val="tx1"/>
                </a:solidFill>
                <a:latin typeface="+mn-lt"/>
                <a:ea typeface="微软雅黑" panose="020B0503020204020204" pitchFamily="34" charset="-122"/>
              </a:rPr>
              <a:t>当应力超过弹性极限后，图上出现接近水平的小锯齿形波动段</a:t>
            </a:r>
            <a:r>
              <a:rPr lang="en-US" altLang="zh-CN" sz="2800" b="0" dirty="0">
                <a:solidFill>
                  <a:schemeClr val="tx1"/>
                </a:solidFill>
                <a:latin typeface="+mn-lt"/>
                <a:ea typeface="微软雅黑" panose="020B0503020204020204" pitchFamily="34" charset="-122"/>
              </a:rPr>
              <a:t>BC</a:t>
            </a:r>
            <a:r>
              <a:rPr lang="zh-CN" altLang="en-US" sz="2800" i="0" dirty="0">
                <a:solidFill>
                  <a:schemeClr val="tx1"/>
                </a:solidFill>
                <a:latin typeface="+mn-lt"/>
                <a:ea typeface="微软雅黑" panose="020B0503020204020204" pitchFamily="34" charset="-122"/>
              </a:rPr>
              <a:t>，说明此时应力虽有小的波动，但基本保持不变，但应变却迅速增加。这种应力变化不大而变形显著增加的现象称为材料的屈服或流动。</a:t>
            </a:r>
            <a:r>
              <a:rPr lang="en-US" altLang="zh-CN" sz="2800" b="0" dirty="0">
                <a:solidFill>
                  <a:schemeClr val="tx1"/>
                </a:solidFill>
                <a:latin typeface="+mn-lt"/>
                <a:ea typeface="微软雅黑" panose="020B0503020204020204" pitchFamily="34" charset="-122"/>
              </a:rPr>
              <a:t>BC</a:t>
            </a:r>
            <a:r>
              <a:rPr lang="zh-CN" altLang="en-US" sz="2800" i="0" dirty="0">
                <a:solidFill>
                  <a:schemeClr val="tx1"/>
                </a:solidFill>
                <a:latin typeface="+mn-lt"/>
                <a:ea typeface="微软雅黑" panose="020B0503020204020204" pitchFamily="34" charset="-122"/>
              </a:rPr>
              <a:t>段对应的过程称为屈服阶段，屈服阶段的最低应力值</a:t>
            </a:r>
            <a:r>
              <a:rPr lang="zh-CN" altLang="en-US" sz="2800" b="0" dirty="0">
                <a:solidFill>
                  <a:schemeClr val="tx1"/>
                </a:solidFill>
                <a:latin typeface="+mn-lt"/>
                <a:ea typeface="微软雅黑" panose="020B0503020204020204" pitchFamily="34" charset="-122"/>
                <a:sym typeface="Symbol" panose="05050102010706020507" pitchFamily="18" charset="2"/>
              </a:rPr>
              <a:t></a:t>
            </a:r>
            <a:r>
              <a:rPr lang="en-US" altLang="zh-CN" sz="2800" b="0" i="0" baseline="-25000" dirty="0">
                <a:solidFill>
                  <a:schemeClr val="tx1"/>
                </a:solidFill>
                <a:latin typeface="+mn-lt"/>
                <a:ea typeface="微软雅黑" panose="020B0503020204020204" pitchFamily="34" charset="-122"/>
              </a:rPr>
              <a:t>s</a:t>
            </a:r>
            <a:r>
              <a:rPr lang="zh-CN" altLang="en-US" sz="2800" i="0" dirty="0">
                <a:solidFill>
                  <a:schemeClr val="tx1"/>
                </a:solidFill>
                <a:latin typeface="+mn-lt"/>
                <a:ea typeface="微软雅黑" panose="020B0503020204020204" pitchFamily="34" charset="-122"/>
              </a:rPr>
              <a:t>较稳定，称为材料的</a:t>
            </a:r>
            <a:r>
              <a:rPr lang="zh-CN" altLang="en-US" sz="2800" i="0" dirty="0">
                <a:solidFill>
                  <a:srgbClr val="FF00FF"/>
                </a:solidFill>
                <a:latin typeface="+mn-lt"/>
                <a:ea typeface="微软雅黑" panose="020B0503020204020204" pitchFamily="34" charset="-122"/>
              </a:rPr>
              <a:t>屈服点</a:t>
            </a:r>
            <a:r>
              <a:rPr lang="zh-CN" altLang="en-US" sz="2800" i="0" dirty="0">
                <a:solidFill>
                  <a:schemeClr val="tx1"/>
                </a:solidFill>
                <a:latin typeface="+mn-lt"/>
                <a:ea typeface="微软雅黑" panose="020B0503020204020204" pitchFamily="34" charset="-122"/>
              </a:rPr>
              <a:t>。低碳钢的屈服点</a:t>
            </a:r>
            <a:r>
              <a:rPr lang="zh-CN" altLang="en-US" sz="2800" b="0" dirty="0">
                <a:solidFill>
                  <a:schemeClr val="tx1"/>
                </a:solidFill>
                <a:ea typeface="微软雅黑" panose="020B0503020204020204" pitchFamily="34" charset="-122"/>
                <a:sym typeface="Symbol" panose="05050102010706020507" pitchFamily="18" charset="2"/>
              </a:rPr>
              <a:t></a:t>
            </a:r>
            <a:r>
              <a:rPr lang="en-US" altLang="zh-CN" sz="2800" b="0" i="0" baseline="-25000" dirty="0">
                <a:solidFill>
                  <a:schemeClr val="tx1"/>
                </a:solidFill>
                <a:ea typeface="微软雅黑" panose="020B0503020204020204" pitchFamily="34" charset="-122"/>
              </a:rPr>
              <a:t>s</a:t>
            </a:r>
            <a:r>
              <a:rPr lang="zh-CN" altLang="en-US" sz="2800" b="0" i="0" dirty="0">
                <a:solidFill>
                  <a:schemeClr val="tx1"/>
                </a:solidFill>
                <a:latin typeface="+mn-lt"/>
                <a:ea typeface="微软雅黑" panose="020B0503020204020204" pitchFamily="34" charset="-122"/>
              </a:rPr>
              <a:t>＝</a:t>
            </a:r>
            <a:r>
              <a:rPr lang="en-US" altLang="zh-CN" sz="2800" b="0" i="0" dirty="0">
                <a:solidFill>
                  <a:schemeClr val="tx1"/>
                </a:solidFill>
                <a:latin typeface="+mn-lt"/>
                <a:ea typeface="微软雅黑" panose="020B0503020204020204" pitchFamily="34" charset="-122"/>
              </a:rPr>
              <a:t>220</a:t>
            </a:r>
            <a:r>
              <a:rPr lang="zh-CN" altLang="en-US" sz="2800" b="0" i="0" dirty="0">
                <a:solidFill>
                  <a:schemeClr val="tx1"/>
                </a:solidFill>
                <a:latin typeface="+mn-lt"/>
                <a:ea typeface="微软雅黑" panose="020B0503020204020204" pitchFamily="34" charset="-122"/>
              </a:rPr>
              <a:t>～</a:t>
            </a:r>
            <a:r>
              <a:rPr lang="en-US" altLang="zh-CN" sz="2800" b="0" i="0" dirty="0">
                <a:solidFill>
                  <a:schemeClr val="tx1"/>
                </a:solidFill>
                <a:latin typeface="+mn-lt"/>
                <a:ea typeface="微软雅黑" panose="020B0503020204020204" pitchFamily="34" charset="-122"/>
              </a:rPr>
              <a:t>240MPa</a:t>
            </a:r>
            <a:r>
              <a:rPr lang="zh-CN" altLang="en-US" sz="2800" i="0" dirty="0">
                <a:solidFill>
                  <a:schemeClr val="tx1"/>
                </a:solidFill>
                <a:latin typeface="+mn-lt"/>
                <a:ea typeface="微软雅黑" panose="020B0503020204020204" pitchFamily="34" charset="-122"/>
              </a:rPr>
              <a:t>。在屈服阶段，如果试件表面光滑，可以看到试件表面有与轴线大约成</a:t>
            </a:r>
            <a:r>
              <a:rPr lang="en-US" altLang="zh-CN" sz="2800" b="0" i="0" dirty="0">
                <a:solidFill>
                  <a:schemeClr val="tx1"/>
                </a:solidFill>
                <a:latin typeface="+mn-lt"/>
                <a:ea typeface="微软雅黑" panose="020B0503020204020204" pitchFamily="34" charset="-122"/>
              </a:rPr>
              <a:t>45</a:t>
            </a:r>
            <a:r>
              <a:rPr lang="en-US" altLang="zh-CN" sz="2800" b="0" i="0" dirty="0">
                <a:solidFill>
                  <a:schemeClr val="tx1"/>
                </a:solidFill>
                <a:latin typeface="+mn-lt"/>
                <a:ea typeface="微软雅黑" panose="020B0503020204020204" pitchFamily="34" charset="-122"/>
                <a:sym typeface="Symbol" panose="05050102010706020507" pitchFamily="18" charset="2"/>
              </a:rPr>
              <a:t></a:t>
            </a:r>
            <a:r>
              <a:rPr lang="zh-CN" altLang="en-US" sz="2800" i="0" dirty="0">
                <a:solidFill>
                  <a:schemeClr val="tx1"/>
                </a:solidFill>
                <a:latin typeface="+mn-lt"/>
                <a:ea typeface="微软雅黑" panose="020B0503020204020204" pitchFamily="34" charset="-122"/>
              </a:rPr>
              <a:t>的条纹，称为</a:t>
            </a:r>
            <a:r>
              <a:rPr lang="zh-CN" altLang="en-US" sz="2800" i="0" dirty="0">
                <a:solidFill>
                  <a:srgbClr val="FF00FF"/>
                </a:solidFill>
                <a:latin typeface="+mn-lt"/>
                <a:ea typeface="微软雅黑" panose="020B0503020204020204" pitchFamily="34" charset="-122"/>
              </a:rPr>
              <a:t>滑移线</a:t>
            </a:r>
            <a:r>
              <a:rPr lang="zh-CN" altLang="en-US" sz="2800" i="0" dirty="0">
                <a:solidFill>
                  <a:schemeClr val="tx1"/>
                </a:solidFill>
                <a:latin typeface="+mn-lt"/>
                <a:ea typeface="微软雅黑" panose="020B0503020204020204" pitchFamily="34" charset="-122"/>
              </a:rPr>
              <a:t>。</a:t>
            </a:r>
          </a:p>
        </p:txBody>
      </p:sp>
      <p:sp>
        <p:nvSpPr>
          <p:cNvPr id="4" name="Rectangle 61">
            <a:extLst>
              <a:ext uri="{FF2B5EF4-FFF2-40B4-BE49-F238E27FC236}">
                <a16:creationId xmlns:a16="http://schemas.microsoft.com/office/drawing/2014/main" id="{6006E65D-F15A-2C5B-6ACD-AE98ED0020BC}"/>
              </a:ext>
            </a:extLst>
          </p:cNvPr>
          <p:cNvSpPr>
            <a:spLocks noChangeArrowheads="1"/>
          </p:cNvSpPr>
          <p:nvPr/>
        </p:nvSpPr>
        <p:spPr bwMode="auto">
          <a:xfrm>
            <a:off x="3602227" y="4312871"/>
            <a:ext cx="5172549" cy="1944216"/>
          </a:xfrm>
          <a:prstGeom prst="rect">
            <a:avLst/>
          </a:prstGeom>
          <a:solidFill>
            <a:srgbClr val="B9CDE5"/>
          </a:solidFill>
          <a:ln>
            <a:noFill/>
          </a:ln>
          <a:effectLst/>
        </p:spPr>
        <p:txBody>
          <a:bodyPr wrap="none" anchor="ctr"/>
          <a:lstStyle/>
          <a:p>
            <a:endParaRPr lang="zh-CN" altLang="en-US" dirty="0"/>
          </a:p>
        </p:txBody>
      </p:sp>
      <p:pic>
        <p:nvPicPr>
          <p:cNvPr id="5" name="Picture 5" descr="5-2a">
            <a:extLst>
              <a:ext uri="{FF2B5EF4-FFF2-40B4-BE49-F238E27FC236}">
                <a16:creationId xmlns:a16="http://schemas.microsoft.com/office/drawing/2014/main" id="{A25415D8-4768-FFFF-0373-DD20ED199E46}"/>
              </a:ext>
            </a:extLst>
          </p:cNvPr>
          <p:cNvPicPr>
            <a:picLocks noChangeAspect="1" noChangeArrowheads="1"/>
          </p:cNvPicPr>
          <p:nvPr/>
        </p:nvPicPr>
        <p:blipFill>
          <a:blip r:embed="rId4">
            <a:clrChange>
              <a:clrFrom>
                <a:srgbClr val="FFFFFF"/>
              </a:clrFrom>
              <a:clrTo>
                <a:srgbClr val="FFFFFF">
                  <a:alpha val="0"/>
                </a:srgbClr>
              </a:clrTo>
            </a:clrChange>
            <a:lum bright="-54000" contrast="30000"/>
            <a:extLst>
              <a:ext uri="{28A0092B-C50C-407E-A947-70E740481C1C}">
                <a14:useLocalDpi xmlns:a14="http://schemas.microsoft.com/office/drawing/2010/main" val="0"/>
              </a:ext>
            </a:extLst>
          </a:blip>
          <a:srcRect l="4163" t="6490" r="8728" b="8850"/>
          <a:stretch>
            <a:fillRect/>
          </a:stretch>
        </p:blipFill>
        <p:spPr bwMode="auto">
          <a:xfrm>
            <a:off x="4551362" y="4592097"/>
            <a:ext cx="3089275" cy="911225"/>
          </a:xfrm>
          <a:prstGeom prst="rect">
            <a:avLst/>
          </a:prstGeom>
          <a:gradFill rotWithShape="1">
            <a:gsLst>
              <a:gs pos="0">
                <a:srgbClr val="ABABAB"/>
              </a:gs>
              <a:gs pos="50000">
                <a:srgbClr val="EAEAEA"/>
              </a:gs>
              <a:gs pos="100000">
                <a:srgbClr val="ABABAB"/>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pic>
      <p:sp>
        <p:nvSpPr>
          <p:cNvPr id="6" name="Text Box 5">
            <a:extLst>
              <a:ext uri="{FF2B5EF4-FFF2-40B4-BE49-F238E27FC236}">
                <a16:creationId xmlns:a16="http://schemas.microsoft.com/office/drawing/2014/main" id="{E5084EDB-2787-E78D-FD43-E395241D2A1B}"/>
              </a:ext>
            </a:extLst>
          </p:cNvPr>
          <p:cNvSpPr txBox="1">
            <a:spLocks noChangeArrowheads="1"/>
          </p:cNvSpPr>
          <p:nvPr/>
        </p:nvSpPr>
        <p:spPr bwMode="auto">
          <a:xfrm>
            <a:off x="5375920" y="5774070"/>
            <a:ext cx="28575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lang="zh-CN" altLang="en-US" i="0" dirty="0">
                <a:solidFill>
                  <a:schemeClr val="tx1"/>
                </a:solidFill>
                <a:latin typeface="+mn-lt"/>
                <a:ea typeface="微软雅黑" panose="020B0503020204020204" pitchFamily="34" charset="-122"/>
              </a:rPr>
              <a:t>屈服现象</a:t>
            </a:r>
          </a:p>
        </p:txBody>
      </p:sp>
    </p:spTree>
    <p:extLst>
      <p:ext uri="{BB962C8B-B14F-4D97-AF65-F5344CB8AC3E}">
        <p14:creationId xmlns:p14="http://schemas.microsoft.com/office/powerpoint/2010/main" val="2347706121"/>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type="lt">
                                    <p:tmPct val="100000"/>
                                  </p:iterate>
                                  <p:childTnLst>
                                    <p:set>
                                      <p:cBhvr>
                                        <p:cTn id="6" dur="1" fill="hold">
                                          <p:stCondLst>
                                            <p:cond delay="0"/>
                                          </p:stCondLst>
                                        </p:cTn>
                                        <p:tgtEl>
                                          <p:spTgt spid="69"/>
                                        </p:tgtEl>
                                        <p:attrNameLst>
                                          <p:attrName>style.visibility</p:attrName>
                                        </p:attrNameLst>
                                      </p:cBhvr>
                                      <p:to>
                                        <p:strVal val="visible"/>
                                      </p:to>
                                    </p:set>
                                    <p:animEffect transition="in" filter="wipe(left)">
                                      <p:cBhvr>
                                        <p:cTn id="7" dur="75"/>
                                        <p:tgtEl>
                                          <p:spTgt spid="69"/>
                                        </p:tgtEl>
                                      </p:cBhvr>
                                    </p:animEffect>
                                  </p:childTnLst>
                                  <p:subTnLst>
                                    <p:audio>
                                      <p:cMediaNode>
                                        <p:cTn display="0" masterRel="sameClick">
                                          <p:stCondLst>
                                            <p:cond evt="begin" delay="0">
                                              <p:tn val="5"/>
                                            </p:cond>
                                          </p:stCondLst>
                                          <p:endCondLst>
                                            <p:cond evt="onStopAudio" delay="0">
                                              <p:tgtEl>
                                                <p:sldTgt/>
                                              </p:tgtEl>
                                            </p:cond>
                                          </p:endCondLst>
                                        </p:cTn>
                                        <p:tgtEl>
                                          <p:sndTgt r:embed="rId3" name="TYPE.WAV"/>
                                        </p:tgtEl>
                                      </p:cMediaNode>
                                    </p:audio>
                                  </p:subTnLst>
                                </p:cTn>
                              </p:par>
                            </p:childTnLst>
                          </p:cTn>
                        </p:par>
                        <p:par>
                          <p:cTn id="8" fill="hold">
                            <p:stCondLst>
                              <p:cond delay="450"/>
                            </p:stCondLst>
                            <p:childTnLst>
                              <p:par>
                                <p:cTn id="9" presetID="22" presetClass="entr" presetSubtype="8" fill="hold" grpId="0" nodeType="afterEffect">
                                  <p:stCondLst>
                                    <p:cond delay="0"/>
                                  </p:stCondLst>
                                  <p:iterate type="lt">
                                    <p:tmPct val="100000"/>
                                  </p:iterate>
                                  <p:childTnLst>
                                    <p:set>
                                      <p:cBhvr>
                                        <p:cTn id="10" dur="1" fill="hold">
                                          <p:stCondLst>
                                            <p:cond delay="0"/>
                                          </p:stCondLst>
                                        </p:cTn>
                                        <p:tgtEl>
                                          <p:spTgt spid="89"/>
                                        </p:tgtEl>
                                        <p:attrNameLst>
                                          <p:attrName>style.visibility</p:attrName>
                                        </p:attrNameLst>
                                      </p:cBhvr>
                                      <p:to>
                                        <p:strVal val="visible"/>
                                      </p:to>
                                    </p:set>
                                    <p:animEffect transition="in" filter="wipe(left)">
                                      <p:cBhvr>
                                        <p:cTn id="11" dur="75"/>
                                        <p:tgtEl>
                                          <p:spTgt spid="89"/>
                                        </p:tgtEl>
                                      </p:cBhvr>
                                    </p:animEffect>
                                  </p:childTnLst>
                                  <p:subTnLst>
                                    <p:audio>
                                      <p:cMediaNode>
                                        <p:cTn display="0" masterRel="sameClick">
                                          <p:stCondLst>
                                            <p:cond evt="begin" delay="0">
                                              <p:tn val="9"/>
                                            </p:cond>
                                          </p:stCondLst>
                                          <p:endCondLst>
                                            <p:cond evt="onStopAudio" delay="0">
                                              <p:tgtEl>
                                                <p:sldTgt/>
                                              </p:tgtEl>
                                            </p:cond>
                                          </p:endCondLst>
                                        </p:cTn>
                                        <p:tgtEl>
                                          <p:sndTgt r:embed="rId3" name="TYPE.WAV"/>
                                        </p:tgtEl>
                                      </p:cMediaNode>
                                    </p:audio>
                                  </p:sub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5"/>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 grpId="0" autoUpdateAnimBg="0"/>
      <p:bldP spid="89" grpId="0" autoUpdateAnimBg="0"/>
      <p:bldP spid="6"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711605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第八章   拉压、剪切与挤压的强度计算</a:t>
            </a:r>
          </a:p>
        </p:txBody>
      </p:sp>
      <p:sp>
        <p:nvSpPr>
          <p:cNvPr id="69" name="Text Box 5">
            <a:extLst>
              <a:ext uri="{FF2B5EF4-FFF2-40B4-BE49-F238E27FC236}">
                <a16:creationId xmlns:a16="http://schemas.microsoft.com/office/drawing/2014/main" id="{453E9F27-D0A0-989B-E627-C80B3765D278}"/>
              </a:ext>
            </a:extLst>
          </p:cNvPr>
          <p:cNvSpPr txBox="1">
            <a:spLocks noChangeArrowheads="1"/>
          </p:cNvSpPr>
          <p:nvPr/>
        </p:nvSpPr>
        <p:spPr bwMode="auto">
          <a:xfrm>
            <a:off x="497359" y="893977"/>
            <a:ext cx="28575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1" lang="en-US" altLang="zh-CN" sz="2400" i="0" u="none" strike="noStrike" kern="0" cap="none" spc="0" normalizeH="0" baseline="0" noProof="0" dirty="0">
                <a:ln>
                  <a:noFill/>
                </a:ln>
                <a:solidFill>
                  <a:srgbClr val="FF00FF"/>
                </a:solidFill>
                <a:effectLst/>
                <a:uLnTx/>
                <a:uFillTx/>
                <a:latin typeface="微软雅黑" panose="020B0503020204020204" pitchFamily="34" charset="-122"/>
                <a:ea typeface="微软雅黑" panose="020B0503020204020204" pitchFamily="34" charset="-122"/>
              </a:rPr>
              <a:t> </a:t>
            </a:r>
            <a:r>
              <a:rPr lang="en-US" altLang="zh-CN" sz="2800" i="0" dirty="0">
                <a:solidFill>
                  <a:srgbClr val="FF00FF"/>
                </a:solidFill>
                <a:latin typeface="+mn-lt"/>
                <a:ea typeface="微软雅黑" panose="020B0503020204020204" pitchFamily="34" charset="-122"/>
              </a:rPr>
              <a:t>3</a:t>
            </a:r>
            <a:r>
              <a:rPr lang="zh-CN" altLang="en-US" sz="2800" i="0" dirty="0">
                <a:solidFill>
                  <a:srgbClr val="FF00FF"/>
                </a:solidFill>
                <a:latin typeface="+mn-lt"/>
                <a:ea typeface="微软雅黑" panose="020B0503020204020204" pitchFamily="34" charset="-122"/>
              </a:rPr>
              <a:t>）强化阶段</a:t>
            </a:r>
          </a:p>
        </p:txBody>
      </p:sp>
      <p:sp>
        <p:nvSpPr>
          <p:cNvPr id="89" name="Text Box 25">
            <a:extLst>
              <a:ext uri="{FF2B5EF4-FFF2-40B4-BE49-F238E27FC236}">
                <a16:creationId xmlns:a16="http://schemas.microsoft.com/office/drawing/2014/main" id="{E94B3BCF-FF80-03BF-F778-771D78F2B490}"/>
              </a:ext>
            </a:extLst>
          </p:cNvPr>
          <p:cNvSpPr txBox="1">
            <a:spLocks noChangeArrowheads="1"/>
          </p:cNvSpPr>
          <p:nvPr/>
        </p:nvSpPr>
        <p:spPr bwMode="auto">
          <a:xfrm>
            <a:off x="497359" y="1411307"/>
            <a:ext cx="10639201" cy="2427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10000"/>
              </a:lnSpc>
              <a:spcBef>
                <a:spcPct val="50000"/>
              </a:spcBef>
              <a:spcAft>
                <a:spcPts val="0"/>
              </a:spcAft>
              <a:buClrTx/>
              <a:buSzTx/>
              <a:buFontTx/>
              <a:buNone/>
              <a:tabLst/>
              <a:defRPr/>
            </a:pPr>
            <a:r>
              <a:rPr lang="zh-CN" altLang="en-US" sz="2800" i="0" dirty="0">
                <a:solidFill>
                  <a:schemeClr val="tx1"/>
                </a:solidFill>
                <a:latin typeface="+mn-lt"/>
                <a:ea typeface="微软雅黑" panose="020B0503020204020204" pitchFamily="34" charset="-122"/>
              </a:rPr>
              <a:t>屈服阶段后，图上出现上凸的曲线</a:t>
            </a:r>
            <a:r>
              <a:rPr lang="en-US" altLang="zh-CN" sz="2800" b="0" dirty="0">
                <a:solidFill>
                  <a:schemeClr val="tx1"/>
                </a:solidFill>
                <a:latin typeface="+mn-lt"/>
                <a:ea typeface="微软雅黑" panose="020B0503020204020204" pitchFamily="34" charset="-122"/>
              </a:rPr>
              <a:t>CD</a:t>
            </a:r>
            <a:r>
              <a:rPr lang="zh-CN" altLang="en-US" sz="2800" i="0" dirty="0">
                <a:solidFill>
                  <a:schemeClr val="tx1"/>
                </a:solidFill>
                <a:latin typeface="+mn-lt"/>
                <a:ea typeface="微软雅黑" panose="020B0503020204020204" pitchFamily="34" charset="-122"/>
              </a:rPr>
              <a:t>段。这表明，若要使材料继续变形，必须增加应力，即材料又恢复了抵抗变形的能力，这种现象称为材料的强化，</a:t>
            </a:r>
            <a:r>
              <a:rPr lang="en-US" altLang="zh-CN" sz="2800" b="0" dirty="0">
                <a:solidFill>
                  <a:schemeClr val="tx1"/>
                </a:solidFill>
                <a:latin typeface="+mn-lt"/>
                <a:ea typeface="微软雅黑" panose="020B0503020204020204" pitchFamily="34" charset="-122"/>
              </a:rPr>
              <a:t>CD</a:t>
            </a:r>
            <a:r>
              <a:rPr lang="zh-CN" altLang="en-US" sz="2800" i="0" dirty="0">
                <a:solidFill>
                  <a:schemeClr val="tx1"/>
                </a:solidFill>
                <a:latin typeface="+mn-lt"/>
                <a:ea typeface="微软雅黑" panose="020B0503020204020204" pitchFamily="34" charset="-122"/>
              </a:rPr>
              <a:t>段对应的过程称为材料的强化阶段。曲线最高点</a:t>
            </a:r>
            <a:r>
              <a:rPr lang="en-US" altLang="zh-CN" sz="2800" b="0" dirty="0">
                <a:solidFill>
                  <a:schemeClr val="tx1"/>
                </a:solidFill>
                <a:latin typeface="+mn-lt"/>
                <a:ea typeface="微软雅黑" panose="020B0503020204020204" pitchFamily="34" charset="-122"/>
              </a:rPr>
              <a:t>D</a:t>
            </a:r>
            <a:r>
              <a:rPr lang="zh-CN" altLang="en-US" sz="2800" i="0" dirty="0">
                <a:solidFill>
                  <a:schemeClr val="tx1"/>
                </a:solidFill>
                <a:latin typeface="+mn-lt"/>
                <a:ea typeface="微软雅黑" panose="020B0503020204020204" pitchFamily="34" charset="-122"/>
              </a:rPr>
              <a:t>所对应的应力值用</a:t>
            </a:r>
            <a:r>
              <a:rPr lang="zh-CN" altLang="en-US" sz="2800" b="0" dirty="0">
                <a:solidFill>
                  <a:schemeClr val="tx1"/>
                </a:solidFill>
                <a:latin typeface="+mn-lt"/>
                <a:ea typeface="微软雅黑" panose="020B0503020204020204" pitchFamily="34" charset="-122"/>
                <a:sym typeface="Symbol" panose="05050102010706020507" pitchFamily="18" charset="2"/>
              </a:rPr>
              <a:t></a:t>
            </a:r>
            <a:r>
              <a:rPr lang="en-US" altLang="zh-CN" sz="2800" b="0" i="0" baseline="-25000" dirty="0">
                <a:solidFill>
                  <a:schemeClr val="tx1"/>
                </a:solidFill>
                <a:latin typeface="+mn-lt"/>
                <a:ea typeface="微软雅黑" panose="020B0503020204020204" pitchFamily="34" charset="-122"/>
              </a:rPr>
              <a:t>b</a:t>
            </a:r>
            <a:r>
              <a:rPr lang="zh-CN" altLang="en-US" sz="2800" i="0" dirty="0">
                <a:solidFill>
                  <a:schemeClr val="tx1"/>
                </a:solidFill>
                <a:latin typeface="+mn-lt"/>
                <a:ea typeface="微软雅黑" panose="020B0503020204020204" pitchFamily="34" charset="-122"/>
              </a:rPr>
              <a:t>表示，称为材料的</a:t>
            </a:r>
            <a:r>
              <a:rPr lang="zh-CN" altLang="en-US" sz="2800" i="0" dirty="0">
                <a:solidFill>
                  <a:srgbClr val="FF00FF"/>
                </a:solidFill>
                <a:latin typeface="+mn-lt"/>
                <a:ea typeface="微软雅黑" panose="020B0503020204020204" pitchFamily="34" charset="-122"/>
              </a:rPr>
              <a:t>抗拉强度</a:t>
            </a:r>
            <a:r>
              <a:rPr lang="zh-CN" altLang="en-US" sz="2800" i="0" dirty="0">
                <a:solidFill>
                  <a:schemeClr val="tx1"/>
                </a:solidFill>
                <a:latin typeface="+mn-lt"/>
                <a:ea typeface="微软雅黑" panose="020B0503020204020204" pitchFamily="34" charset="-122"/>
              </a:rPr>
              <a:t>，是材料所能承受的最大应力。低碳钢的抗拉强度</a:t>
            </a:r>
            <a:r>
              <a:rPr lang="zh-CN" altLang="en-US" sz="2800" b="0" dirty="0">
                <a:solidFill>
                  <a:schemeClr val="tx1"/>
                </a:solidFill>
                <a:latin typeface="+mn-lt"/>
                <a:ea typeface="微软雅黑" panose="020B0503020204020204" pitchFamily="34" charset="-122"/>
                <a:sym typeface="Symbol" panose="05050102010706020507" pitchFamily="18" charset="2"/>
              </a:rPr>
              <a:t></a:t>
            </a:r>
            <a:r>
              <a:rPr lang="en-US" altLang="zh-CN" sz="2800" b="0" i="0" baseline="-25000" dirty="0">
                <a:solidFill>
                  <a:schemeClr val="tx1"/>
                </a:solidFill>
                <a:latin typeface="+mn-lt"/>
                <a:ea typeface="微软雅黑" panose="020B0503020204020204" pitchFamily="34" charset="-122"/>
              </a:rPr>
              <a:t>b</a:t>
            </a:r>
            <a:r>
              <a:rPr lang="en-US" altLang="zh-CN" sz="2800" b="0" i="0" dirty="0">
                <a:solidFill>
                  <a:schemeClr val="tx1"/>
                </a:solidFill>
                <a:latin typeface="+mn-lt"/>
                <a:ea typeface="微软雅黑" panose="020B0503020204020204" pitchFamily="34" charset="-122"/>
              </a:rPr>
              <a:t>=370</a:t>
            </a:r>
            <a:r>
              <a:rPr lang="zh-CN" altLang="en-US" sz="2800" b="0" i="0" dirty="0">
                <a:solidFill>
                  <a:schemeClr val="tx1"/>
                </a:solidFill>
                <a:latin typeface="+mn-lt"/>
                <a:ea typeface="微软雅黑" panose="020B0503020204020204" pitchFamily="34" charset="-122"/>
              </a:rPr>
              <a:t>～</a:t>
            </a:r>
            <a:r>
              <a:rPr lang="en-US" altLang="zh-CN" sz="2800" b="0" i="0" dirty="0">
                <a:solidFill>
                  <a:schemeClr val="tx1"/>
                </a:solidFill>
                <a:latin typeface="+mn-lt"/>
                <a:ea typeface="微软雅黑" panose="020B0503020204020204" pitchFamily="34" charset="-122"/>
              </a:rPr>
              <a:t>460MPa</a:t>
            </a:r>
            <a:r>
              <a:rPr lang="zh-CN" altLang="en-US" sz="2800" i="0" dirty="0">
                <a:solidFill>
                  <a:schemeClr val="tx1"/>
                </a:solidFill>
                <a:latin typeface="+mn-lt"/>
                <a:ea typeface="微软雅黑" panose="020B0503020204020204" pitchFamily="34" charset="-122"/>
              </a:rPr>
              <a:t>。</a:t>
            </a:r>
          </a:p>
        </p:txBody>
      </p:sp>
    </p:spTree>
    <p:extLst>
      <p:ext uri="{BB962C8B-B14F-4D97-AF65-F5344CB8AC3E}">
        <p14:creationId xmlns:p14="http://schemas.microsoft.com/office/powerpoint/2010/main" val="3749862742"/>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type="lt">
                                    <p:tmPct val="100000"/>
                                  </p:iterate>
                                  <p:childTnLst>
                                    <p:set>
                                      <p:cBhvr>
                                        <p:cTn id="6" dur="1" fill="hold">
                                          <p:stCondLst>
                                            <p:cond delay="0"/>
                                          </p:stCondLst>
                                        </p:cTn>
                                        <p:tgtEl>
                                          <p:spTgt spid="69"/>
                                        </p:tgtEl>
                                        <p:attrNameLst>
                                          <p:attrName>style.visibility</p:attrName>
                                        </p:attrNameLst>
                                      </p:cBhvr>
                                      <p:to>
                                        <p:strVal val="visible"/>
                                      </p:to>
                                    </p:set>
                                    <p:animEffect transition="in" filter="wipe(left)">
                                      <p:cBhvr>
                                        <p:cTn id="7" dur="75"/>
                                        <p:tgtEl>
                                          <p:spTgt spid="69"/>
                                        </p:tgtEl>
                                      </p:cBhvr>
                                    </p:animEffect>
                                  </p:childTnLst>
                                  <p:subTnLst>
                                    <p:audio>
                                      <p:cMediaNode>
                                        <p:cTn display="0" masterRel="sameClick">
                                          <p:stCondLst>
                                            <p:cond evt="begin" delay="0">
                                              <p:tn val="5"/>
                                            </p:cond>
                                          </p:stCondLst>
                                          <p:endCondLst>
                                            <p:cond evt="onStopAudio" delay="0">
                                              <p:tgtEl>
                                                <p:sldTgt/>
                                              </p:tgtEl>
                                            </p:cond>
                                          </p:endCondLst>
                                        </p:cTn>
                                        <p:tgtEl>
                                          <p:sndTgt r:embed="rId3" name="TYPE.WAV"/>
                                        </p:tgtEl>
                                      </p:cMediaNode>
                                    </p:audio>
                                  </p:subTnLst>
                                </p:cTn>
                              </p:par>
                            </p:childTnLst>
                          </p:cTn>
                        </p:par>
                        <p:par>
                          <p:cTn id="8" fill="hold">
                            <p:stCondLst>
                              <p:cond delay="450"/>
                            </p:stCondLst>
                            <p:childTnLst>
                              <p:par>
                                <p:cTn id="9" presetID="22" presetClass="entr" presetSubtype="8" fill="hold" grpId="0" nodeType="afterEffect">
                                  <p:stCondLst>
                                    <p:cond delay="1000"/>
                                  </p:stCondLst>
                                  <p:iterate type="lt">
                                    <p:tmPct val="100000"/>
                                  </p:iterate>
                                  <p:childTnLst>
                                    <p:set>
                                      <p:cBhvr>
                                        <p:cTn id="10" dur="1" fill="hold">
                                          <p:stCondLst>
                                            <p:cond delay="0"/>
                                          </p:stCondLst>
                                        </p:cTn>
                                        <p:tgtEl>
                                          <p:spTgt spid="89"/>
                                        </p:tgtEl>
                                        <p:attrNameLst>
                                          <p:attrName>style.visibility</p:attrName>
                                        </p:attrNameLst>
                                      </p:cBhvr>
                                      <p:to>
                                        <p:strVal val="visible"/>
                                      </p:to>
                                    </p:set>
                                    <p:animEffect transition="in" filter="wipe(left)">
                                      <p:cBhvr>
                                        <p:cTn id="11" dur="75"/>
                                        <p:tgtEl>
                                          <p:spTgt spid="89"/>
                                        </p:tgtEl>
                                      </p:cBhvr>
                                    </p:animEffect>
                                  </p:childTnLst>
                                  <p:subTnLst>
                                    <p:audio>
                                      <p:cMediaNode>
                                        <p:cTn display="0" masterRel="sameClick">
                                          <p:stCondLst>
                                            <p:cond evt="begin" delay="0">
                                              <p:tn val="9"/>
                                            </p:cond>
                                          </p:stCondLst>
                                          <p:endCondLst>
                                            <p:cond evt="onStopAudio" delay="0">
                                              <p:tgtEl>
                                                <p:sldTgt/>
                                              </p:tgtEl>
                                            </p:cond>
                                          </p:endCondLst>
                                        </p:cTn>
                                        <p:tgtEl>
                                          <p:sndTgt r:embed="rId3" name="TYP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 grpId="0" autoUpdateAnimBg="0"/>
      <p:bldP spid="89" grpId="0"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711605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第八章   拉压、剪切与挤压的强度计算</a:t>
            </a:r>
          </a:p>
        </p:txBody>
      </p:sp>
      <p:sp>
        <p:nvSpPr>
          <p:cNvPr id="69" name="Text Box 5">
            <a:extLst>
              <a:ext uri="{FF2B5EF4-FFF2-40B4-BE49-F238E27FC236}">
                <a16:creationId xmlns:a16="http://schemas.microsoft.com/office/drawing/2014/main" id="{453E9F27-D0A0-989B-E627-C80B3765D278}"/>
              </a:ext>
            </a:extLst>
          </p:cNvPr>
          <p:cNvSpPr txBox="1">
            <a:spLocks noChangeArrowheads="1"/>
          </p:cNvSpPr>
          <p:nvPr/>
        </p:nvSpPr>
        <p:spPr bwMode="auto">
          <a:xfrm>
            <a:off x="497358" y="893977"/>
            <a:ext cx="372643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1" lang="en-US" altLang="zh-CN" sz="2400" i="0" u="none" strike="noStrike" kern="0" cap="none" spc="0" normalizeH="0" baseline="0" noProof="0" dirty="0">
                <a:ln>
                  <a:noFill/>
                </a:ln>
                <a:solidFill>
                  <a:srgbClr val="FF00FF"/>
                </a:solidFill>
                <a:effectLst/>
                <a:uLnTx/>
                <a:uFillTx/>
                <a:latin typeface="微软雅黑" panose="020B0503020204020204" pitchFamily="34" charset="-122"/>
                <a:ea typeface="微软雅黑" panose="020B0503020204020204" pitchFamily="34" charset="-122"/>
              </a:rPr>
              <a:t> </a:t>
            </a:r>
            <a:r>
              <a:rPr lang="en-US" altLang="zh-CN" sz="2800" i="0" dirty="0">
                <a:solidFill>
                  <a:srgbClr val="FF00FF"/>
                </a:solidFill>
                <a:latin typeface="+mn-lt"/>
                <a:ea typeface="微软雅黑" panose="020B0503020204020204" pitchFamily="34" charset="-122"/>
              </a:rPr>
              <a:t>4</a:t>
            </a:r>
            <a:r>
              <a:rPr lang="zh-CN" altLang="en-US" sz="2800" i="0" dirty="0">
                <a:solidFill>
                  <a:srgbClr val="FF00FF"/>
                </a:solidFill>
                <a:latin typeface="+mn-lt"/>
                <a:ea typeface="微软雅黑" panose="020B0503020204020204" pitchFamily="34" charset="-122"/>
              </a:rPr>
              <a:t>）颈缩断裂阶段</a:t>
            </a:r>
          </a:p>
        </p:txBody>
      </p:sp>
      <p:sp>
        <p:nvSpPr>
          <p:cNvPr id="89" name="Text Box 25">
            <a:extLst>
              <a:ext uri="{FF2B5EF4-FFF2-40B4-BE49-F238E27FC236}">
                <a16:creationId xmlns:a16="http://schemas.microsoft.com/office/drawing/2014/main" id="{E94B3BCF-FF80-03BF-F778-771D78F2B490}"/>
              </a:ext>
            </a:extLst>
          </p:cNvPr>
          <p:cNvSpPr txBox="1">
            <a:spLocks noChangeArrowheads="1"/>
          </p:cNvSpPr>
          <p:nvPr/>
        </p:nvSpPr>
        <p:spPr bwMode="auto">
          <a:xfrm>
            <a:off x="497359" y="1411307"/>
            <a:ext cx="10927233" cy="31129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fontAlgn="auto" hangingPunct="1">
              <a:lnSpc>
                <a:spcPct val="110000"/>
              </a:lnSpc>
              <a:spcBef>
                <a:spcPct val="50000"/>
              </a:spcBef>
              <a:spcAft>
                <a:spcPts val="0"/>
              </a:spcAft>
            </a:pPr>
            <a:r>
              <a:rPr lang="zh-CN" altLang="en-US" sz="2800" i="0" dirty="0">
                <a:solidFill>
                  <a:schemeClr val="tx1"/>
                </a:solidFill>
                <a:latin typeface="+mn-lt"/>
                <a:ea typeface="微软雅黑" panose="020B0503020204020204" pitchFamily="34" charset="-122"/>
              </a:rPr>
              <a:t>应力达到抗拉强度后，在试件较薄弱的横截面处发生急剧的局部收缩，出现缩颈现象。由于缩颈处的横截面面积迅速减小，所需拉力也相应降低，最终导致试件断裂，应力</a:t>
            </a:r>
            <a:r>
              <a:rPr lang="en-US" altLang="zh-CN" sz="2800" i="0" dirty="0">
                <a:solidFill>
                  <a:schemeClr val="tx1"/>
                </a:solidFill>
                <a:latin typeface="+mn-lt"/>
                <a:ea typeface="微软雅黑" panose="020B0503020204020204" pitchFamily="34" charset="-122"/>
              </a:rPr>
              <a:t>—</a:t>
            </a:r>
            <a:r>
              <a:rPr lang="zh-CN" altLang="en-US" sz="2800" i="0" dirty="0">
                <a:solidFill>
                  <a:schemeClr val="tx1"/>
                </a:solidFill>
                <a:latin typeface="+mn-lt"/>
                <a:ea typeface="微软雅黑" panose="020B0503020204020204" pitchFamily="34" charset="-122"/>
              </a:rPr>
              <a:t>应变曲线呈下降的</a:t>
            </a:r>
            <a:r>
              <a:rPr lang="en-US" altLang="zh-CN" sz="2800" b="0" dirty="0">
                <a:solidFill>
                  <a:schemeClr val="tx1"/>
                </a:solidFill>
                <a:latin typeface="+mn-lt"/>
                <a:ea typeface="微软雅黑" panose="020B0503020204020204" pitchFamily="34" charset="-122"/>
              </a:rPr>
              <a:t>DE</a:t>
            </a:r>
            <a:r>
              <a:rPr lang="zh-CN" altLang="en-US" sz="2800" i="0" dirty="0">
                <a:solidFill>
                  <a:schemeClr val="tx1"/>
                </a:solidFill>
                <a:latin typeface="+mn-lt"/>
                <a:ea typeface="微软雅黑" panose="020B0503020204020204" pitchFamily="34" charset="-122"/>
              </a:rPr>
              <a:t>段形状。</a:t>
            </a:r>
          </a:p>
          <a:p>
            <a:pPr marL="0" marR="0" lvl="0" indent="0" algn="just" defTabSz="914400" eaLnBrk="1" fontAlgn="auto" latinLnBrk="0" hangingPunct="1">
              <a:lnSpc>
                <a:spcPct val="110000"/>
              </a:lnSpc>
              <a:spcBef>
                <a:spcPct val="50000"/>
              </a:spcBef>
              <a:spcAft>
                <a:spcPts val="0"/>
              </a:spcAft>
              <a:buClrTx/>
              <a:buSzTx/>
              <a:buFontTx/>
              <a:buNone/>
              <a:tabLst/>
              <a:defRPr/>
            </a:pPr>
            <a:r>
              <a:rPr lang="zh-CN" altLang="en-US" sz="2800" i="0" dirty="0">
                <a:solidFill>
                  <a:schemeClr val="tx1"/>
                </a:solidFill>
                <a:latin typeface="+mn-lt"/>
                <a:ea typeface="微软雅黑" panose="020B0503020204020204" pitchFamily="34" charset="-122"/>
              </a:rPr>
              <a:t>综上所述，当应力增大到屈服点时，材料出现了明显的</a:t>
            </a:r>
            <a:r>
              <a:rPr lang="zh-CN" altLang="en-US" sz="2800" i="0" dirty="0">
                <a:solidFill>
                  <a:srgbClr val="FF00FF"/>
                </a:solidFill>
                <a:latin typeface="+mn-lt"/>
                <a:ea typeface="微软雅黑" panose="020B0503020204020204" pitchFamily="34" charset="-122"/>
              </a:rPr>
              <a:t>塑性变形</a:t>
            </a:r>
            <a:r>
              <a:rPr lang="zh-CN" altLang="en-US" sz="2800" i="0" dirty="0">
                <a:solidFill>
                  <a:schemeClr val="tx1"/>
                </a:solidFill>
                <a:latin typeface="+mn-lt"/>
                <a:ea typeface="微软雅黑" panose="020B0503020204020204" pitchFamily="34" charset="-122"/>
              </a:rPr>
              <a:t>。抗拉强度表示材料抵抗破坏的最大能力，故</a:t>
            </a:r>
            <a:r>
              <a:rPr lang="zh-CN" altLang="en-US" sz="2800" b="0" dirty="0">
                <a:solidFill>
                  <a:srgbClr val="FF00FF"/>
                </a:solidFill>
                <a:latin typeface="+mn-lt"/>
                <a:ea typeface="微软雅黑" panose="020B0503020204020204" pitchFamily="34" charset="-122"/>
                <a:sym typeface="Symbol" panose="05050102010706020507" pitchFamily="18" charset="2"/>
              </a:rPr>
              <a:t></a:t>
            </a:r>
            <a:r>
              <a:rPr lang="en-US" altLang="zh-CN" sz="2800" b="0" i="0" baseline="-25000" dirty="0">
                <a:solidFill>
                  <a:srgbClr val="FF00FF"/>
                </a:solidFill>
                <a:latin typeface="+mn-lt"/>
                <a:ea typeface="微软雅黑" panose="020B0503020204020204" pitchFamily="34" charset="-122"/>
              </a:rPr>
              <a:t>s</a:t>
            </a:r>
            <a:r>
              <a:rPr lang="zh-CN" altLang="en-US" sz="2800" i="0" dirty="0">
                <a:solidFill>
                  <a:srgbClr val="FF00FF"/>
                </a:solidFill>
                <a:latin typeface="+mn-lt"/>
                <a:ea typeface="微软雅黑" panose="020B0503020204020204" pitchFamily="34" charset="-122"/>
              </a:rPr>
              <a:t>和</a:t>
            </a:r>
            <a:r>
              <a:rPr lang="zh-CN" altLang="en-US" sz="2800" b="0" dirty="0">
                <a:solidFill>
                  <a:srgbClr val="FF00FF"/>
                </a:solidFill>
                <a:latin typeface="+mn-lt"/>
                <a:ea typeface="微软雅黑" panose="020B0503020204020204" pitchFamily="34" charset="-122"/>
                <a:sym typeface="Symbol" panose="05050102010706020507" pitchFamily="18" charset="2"/>
              </a:rPr>
              <a:t></a:t>
            </a:r>
            <a:r>
              <a:rPr lang="en-US" altLang="zh-CN" sz="2800" b="0" i="0" baseline="-25000" dirty="0">
                <a:solidFill>
                  <a:srgbClr val="FF00FF"/>
                </a:solidFill>
                <a:latin typeface="+mn-lt"/>
                <a:ea typeface="微软雅黑" panose="020B0503020204020204" pitchFamily="34" charset="-122"/>
              </a:rPr>
              <a:t>b</a:t>
            </a:r>
            <a:r>
              <a:rPr lang="zh-CN" altLang="en-US" sz="2800" i="0" dirty="0">
                <a:solidFill>
                  <a:srgbClr val="FF00FF"/>
                </a:solidFill>
                <a:latin typeface="+mn-lt"/>
                <a:ea typeface="微软雅黑" panose="020B0503020204020204" pitchFamily="34" charset="-122"/>
              </a:rPr>
              <a:t>是衡量材料强度的两个重要指标。</a:t>
            </a:r>
          </a:p>
        </p:txBody>
      </p:sp>
      <p:sp>
        <p:nvSpPr>
          <p:cNvPr id="2" name="Rectangle 61">
            <a:extLst>
              <a:ext uri="{FF2B5EF4-FFF2-40B4-BE49-F238E27FC236}">
                <a16:creationId xmlns:a16="http://schemas.microsoft.com/office/drawing/2014/main" id="{7BB16F77-FEC6-C419-6EB8-AE926934E7F7}"/>
              </a:ext>
            </a:extLst>
          </p:cNvPr>
          <p:cNvSpPr>
            <a:spLocks noChangeArrowheads="1"/>
          </p:cNvSpPr>
          <p:nvPr/>
        </p:nvSpPr>
        <p:spPr bwMode="auto">
          <a:xfrm>
            <a:off x="3287689" y="4312871"/>
            <a:ext cx="5487088" cy="1944216"/>
          </a:xfrm>
          <a:prstGeom prst="rect">
            <a:avLst/>
          </a:prstGeom>
          <a:solidFill>
            <a:srgbClr val="B9CDE5"/>
          </a:solidFill>
          <a:ln>
            <a:noFill/>
          </a:ln>
          <a:effectLst/>
        </p:spPr>
        <p:txBody>
          <a:bodyPr wrap="none" anchor="ctr"/>
          <a:lstStyle/>
          <a:p>
            <a:endParaRPr lang="zh-CN" altLang="en-US" dirty="0"/>
          </a:p>
        </p:txBody>
      </p:sp>
      <p:sp>
        <p:nvSpPr>
          <p:cNvPr id="4" name="Text Box 5">
            <a:extLst>
              <a:ext uri="{FF2B5EF4-FFF2-40B4-BE49-F238E27FC236}">
                <a16:creationId xmlns:a16="http://schemas.microsoft.com/office/drawing/2014/main" id="{22E31355-F040-CF29-0DC3-FFAEAA4964CE}"/>
              </a:ext>
            </a:extLst>
          </p:cNvPr>
          <p:cNvSpPr txBox="1">
            <a:spLocks noChangeArrowheads="1"/>
          </p:cNvSpPr>
          <p:nvPr/>
        </p:nvSpPr>
        <p:spPr bwMode="auto">
          <a:xfrm>
            <a:off x="5375920" y="5774070"/>
            <a:ext cx="28575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lang="zh-CN" altLang="en-US" i="0" dirty="0">
                <a:solidFill>
                  <a:schemeClr val="tx1"/>
                </a:solidFill>
                <a:latin typeface="+mn-lt"/>
                <a:ea typeface="微软雅黑" panose="020B0503020204020204" pitchFamily="34" charset="-122"/>
              </a:rPr>
              <a:t>颈缩现象</a:t>
            </a:r>
          </a:p>
        </p:txBody>
      </p:sp>
      <p:grpSp>
        <p:nvGrpSpPr>
          <p:cNvPr id="24" name="Group 3">
            <a:extLst>
              <a:ext uri="{FF2B5EF4-FFF2-40B4-BE49-F238E27FC236}">
                <a16:creationId xmlns:a16="http://schemas.microsoft.com/office/drawing/2014/main" id="{D9C5D98B-D613-9983-9FE2-C3604CDC7403}"/>
              </a:ext>
            </a:extLst>
          </p:cNvPr>
          <p:cNvGrpSpPr>
            <a:grpSpLocks/>
          </p:cNvGrpSpPr>
          <p:nvPr/>
        </p:nvGrpSpPr>
        <p:grpSpPr bwMode="auto">
          <a:xfrm>
            <a:off x="3427325" y="4551695"/>
            <a:ext cx="5067300" cy="1222375"/>
            <a:chOff x="1386" y="3278"/>
            <a:chExt cx="3192" cy="770"/>
          </a:xfrm>
        </p:grpSpPr>
        <p:sp>
          <p:nvSpPr>
            <p:cNvPr id="25" name="Freeform 4">
              <a:extLst>
                <a:ext uri="{FF2B5EF4-FFF2-40B4-BE49-F238E27FC236}">
                  <a16:creationId xmlns:a16="http://schemas.microsoft.com/office/drawing/2014/main" id="{B8EA1904-4B49-5049-CEDA-36509ECD343E}"/>
                </a:ext>
              </a:extLst>
            </p:cNvPr>
            <p:cNvSpPr>
              <a:spLocks/>
            </p:cNvSpPr>
            <p:nvPr/>
          </p:nvSpPr>
          <p:spPr bwMode="auto">
            <a:xfrm>
              <a:off x="4178" y="3418"/>
              <a:ext cx="134" cy="246"/>
            </a:xfrm>
            <a:custGeom>
              <a:avLst/>
              <a:gdLst>
                <a:gd name="T0" fmla="*/ 71 w 134"/>
                <a:gd name="T1" fmla="*/ 0 h 246"/>
                <a:gd name="T2" fmla="*/ 50 w 134"/>
                <a:gd name="T3" fmla="*/ 6 h 246"/>
                <a:gd name="T4" fmla="*/ 26 w 134"/>
                <a:gd name="T5" fmla="*/ 49 h 246"/>
                <a:gd name="T6" fmla="*/ 11 w 134"/>
                <a:gd name="T7" fmla="*/ 79 h 246"/>
                <a:gd name="T8" fmla="*/ 62 w 134"/>
                <a:gd name="T9" fmla="*/ 246 h 246"/>
                <a:gd name="T10" fmla="*/ 101 w 134"/>
                <a:gd name="T11" fmla="*/ 211 h 246"/>
                <a:gd name="T12" fmla="*/ 119 w 134"/>
                <a:gd name="T13" fmla="*/ 174 h 246"/>
                <a:gd name="T14" fmla="*/ 128 w 134"/>
                <a:gd name="T15" fmla="*/ 132 h 246"/>
                <a:gd name="T16" fmla="*/ 116 w 134"/>
                <a:gd name="T17" fmla="*/ 57 h 246"/>
                <a:gd name="T18" fmla="*/ 71 w 134"/>
                <a:gd name="T19" fmla="*/ 0 h 24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34"/>
                <a:gd name="T31" fmla="*/ 0 h 246"/>
                <a:gd name="T32" fmla="*/ 134 w 134"/>
                <a:gd name="T33" fmla="*/ 246 h 24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34" h="246">
                  <a:moveTo>
                    <a:pt x="71" y="0"/>
                  </a:moveTo>
                  <a:cubicBezTo>
                    <a:pt x="65" y="6"/>
                    <a:pt x="56" y="0"/>
                    <a:pt x="50" y="6"/>
                  </a:cubicBezTo>
                  <a:cubicBezTo>
                    <a:pt x="39" y="17"/>
                    <a:pt x="35" y="36"/>
                    <a:pt x="26" y="49"/>
                  </a:cubicBezTo>
                  <a:cubicBezTo>
                    <a:pt x="23" y="60"/>
                    <a:pt x="11" y="79"/>
                    <a:pt x="11" y="79"/>
                  </a:cubicBezTo>
                  <a:cubicBezTo>
                    <a:pt x="0" y="134"/>
                    <a:pt x="10" y="211"/>
                    <a:pt x="62" y="246"/>
                  </a:cubicBezTo>
                  <a:cubicBezTo>
                    <a:pt x="72" y="230"/>
                    <a:pt x="91" y="226"/>
                    <a:pt x="101" y="211"/>
                  </a:cubicBezTo>
                  <a:cubicBezTo>
                    <a:pt x="109" y="199"/>
                    <a:pt x="114" y="186"/>
                    <a:pt x="119" y="174"/>
                  </a:cubicBezTo>
                  <a:cubicBezTo>
                    <a:pt x="122" y="164"/>
                    <a:pt x="128" y="153"/>
                    <a:pt x="128" y="132"/>
                  </a:cubicBezTo>
                  <a:cubicBezTo>
                    <a:pt x="133" y="100"/>
                    <a:pt x="134" y="85"/>
                    <a:pt x="116" y="57"/>
                  </a:cubicBezTo>
                  <a:cubicBezTo>
                    <a:pt x="109" y="14"/>
                    <a:pt x="97" y="26"/>
                    <a:pt x="71" y="0"/>
                  </a:cubicBezTo>
                  <a:close/>
                </a:path>
              </a:pathLst>
            </a:custGeom>
            <a:gradFill rotWithShape="0">
              <a:gsLst>
                <a:gs pos="0">
                  <a:srgbClr val="A2A2A2"/>
                </a:gs>
                <a:gs pos="50000">
                  <a:srgbClr val="DDDDDD"/>
                </a:gs>
                <a:gs pos="100000">
                  <a:srgbClr val="A2A2A2"/>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FF"/>
                </a:solidFill>
                <a:effectLst/>
                <a:uLnTx/>
                <a:uFillTx/>
                <a:ea typeface="黑体" panose="02010609060101010101" pitchFamily="49" charset="-122"/>
              </a:endParaRPr>
            </a:p>
          </p:txBody>
        </p:sp>
        <p:sp>
          <p:nvSpPr>
            <p:cNvPr id="26" name="Freeform 5">
              <a:extLst>
                <a:ext uri="{FF2B5EF4-FFF2-40B4-BE49-F238E27FC236}">
                  <a16:creationId xmlns:a16="http://schemas.microsoft.com/office/drawing/2014/main" id="{4D3BE80A-300A-E218-9377-9F5B6BEB23BA}"/>
                </a:ext>
              </a:extLst>
            </p:cNvPr>
            <p:cNvSpPr>
              <a:spLocks/>
            </p:cNvSpPr>
            <p:nvPr/>
          </p:nvSpPr>
          <p:spPr bwMode="auto">
            <a:xfrm>
              <a:off x="1807" y="3663"/>
              <a:ext cx="134" cy="246"/>
            </a:xfrm>
            <a:custGeom>
              <a:avLst/>
              <a:gdLst>
                <a:gd name="T0" fmla="*/ 71 w 134"/>
                <a:gd name="T1" fmla="*/ 0 h 246"/>
                <a:gd name="T2" fmla="*/ 50 w 134"/>
                <a:gd name="T3" fmla="*/ 6 h 246"/>
                <a:gd name="T4" fmla="*/ 26 w 134"/>
                <a:gd name="T5" fmla="*/ 49 h 246"/>
                <a:gd name="T6" fmla="*/ 11 w 134"/>
                <a:gd name="T7" fmla="*/ 79 h 246"/>
                <a:gd name="T8" fmla="*/ 62 w 134"/>
                <a:gd name="T9" fmla="*/ 246 h 246"/>
                <a:gd name="T10" fmla="*/ 101 w 134"/>
                <a:gd name="T11" fmla="*/ 211 h 246"/>
                <a:gd name="T12" fmla="*/ 119 w 134"/>
                <a:gd name="T13" fmla="*/ 174 h 246"/>
                <a:gd name="T14" fmla="*/ 128 w 134"/>
                <a:gd name="T15" fmla="*/ 132 h 246"/>
                <a:gd name="T16" fmla="*/ 116 w 134"/>
                <a:gd name="T17" fmla="*/ 57 h 246"/>
                <a:gd name="T18" fmla="*/ 71 w 134"/>
                <a:gd name="T19" fmla="*/ 0 h 24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34"/>
                <a:gd name="T31" fmla="*/ 0 h 246"/>
                <a:gd name="T32" fmla="*/ 134 w 134"/>
                <a:gd name="T33" fmla="*/ 246 h 24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34" h="246">
                  <a:moveTo>
                    <a:pt x="71" y="0"/>
                  </a:moveTo>
                  <a:cubicBezTo>
                    <a:pt x="65" y="6"/>
                    <a:pt x="56" y="0"/>
                    <a:pt x="50" y="6"/>
                  </a:cubicBezTo>
                  <a:cubicBezTo>
                    <a:pt x="39" y="17"/>
                    <a:pt x="35" y="36"/>
                    <a:pt x="26" y="49"/>
                  </a:cubicBezTo>
                  <a:cubicBezTo>
                    <a:pt x="23" y="60"/>
                    <a:pt x="11" y="79"/>
                    <a:pt x="11" y="79"/>
                  </a:cubicBezTo>
                  <a:cubicBezTo>
                    <a:pt x="0" y="134"/>
                    <a:pt x="10" y="211"/>
                    <a:pt x="62" y="246"/>
                  </a:cubicBezTo>
                  <a:cubicBezTo>
                    <a:pt x="72" y="230"/>
                    <a:pt x="91" y="226"/>
                    <a:pt x="101" y="211"/>
                  </a:cubicBezTo>
                  <a:cubicBezTo>
                    <a:pt x="109" y="199"/>
                    <a:pt x="114" y="186"/>
                    <a:pt x="119" y="174"/>
                  </a:cubicBezTo>
                  <a:cubicBezTo>
                    <a:pt x="122" y="164"/>
                    <a:pt x="128" y="153"/>
                    <a:pt x="128" y="132"/>
                  </a:cubicBezTo>
                  <a:cubicBezTo>
                    <a:pt x="133" y="100"/>
                    <a:pt x="134" y="85"/>
                    <a:pt x="116" y="57"/>
                  </a:cubicBezTo>
                  <a:cubicBezTo>
                    <a:pt x="109" y="14"/>
                    <a:pt x="97" y="26"/>
                    <a:pt x="71" y="0"/>
                  </a:cubicBezTo>
                  <a:close/>
                </a:path>
              </a:pathLst>
            </a:custGeom>
            <a:gradFill rotWithShape="0">
              <a:gsLst>
                <a:gs pos="0">
                  <a:srgbClr val="A2A2A2"/>
                </a:gs>
                <a:gs pos="50000">
                  <a:srgbClr val="DDDDDD"/>
                </a:gs>
                <a:gs pos="100000">
                  <a:srgbClr val="A2A2A2"/>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FF"/>
                </a:solidFill>
                <a:effectLst/>
                <a:uLnTx/>
                <a:uFillTx/>
                <a:ea typeface="黑体" panose="02010609060101010101" pitchFamily="49" charset="-122"/>
              </a:endParaRPr>
            </a:p>
          </p:txBody>
        </p:sp>
        <p:sp>
          <p:nvSpPr>
            <p:cNvPr id="27" name="Freeform 6">
              <a:extLst>
                <a:ext uri="{FF2B5EF4-FFF2-40B4-BE49-F238E27FC236}">
                  <a16:creationId xmlns:a16="http://schemas.microsoft.com/office/drawing/2014/main" id="{3793B0E3-AAC9-0377-A39C-548EACEFD479}"/>
                </a:ext>
              </a:extLst>
            </p:cNvPr>
            <p:cNvSpPr>
              <a:spLocks/>
            </p:cNvSpPr>
            <p:nvPr/>
          </p:nvSpPr>
          <p:spPr bwMode="auto">
            <a:xfrm>
              <a:off x="1813" y="3409"/>
              <a:ext cx="2499" cy="518"/>
            </a:xfrm>
            <a:custGeom>
              <a:avLst/>
              <a:gdLst>
                <a:gd name="T0" fmla="*/ 66 w 2499"/>
                <a:gd name="T1" fmla="*/ 0 h 518"/>
                <a:gd name="T2" fmla="*/ 863 w 2499"/>
                <a:gd name="T3" fmla="*/ 5 h 518"/>
                <a:gd name="T4" fmla="*/ 986 w 2499"/>
                <a:gd name="T5" fmla="*/ 86 h 518"/>
                <a:gd name="T6" fmla="*/ 1271 w 2499"/>
                <a:gd name="T7" fmla="*/ 134 h 518"/>
                <a:gd name="T8" fmla="*/ 1469 w 2499"/>
                <a:gd name="T9" fmla="*/ 92 h 518"/>
                <a:gd name="T10" fmla="*/ 1562 w 2499"/>
                <a:gd name="T11" fmla="*/ 56 h 518"/>
                <a:gd name="T12" fmla="*/ 1620 w 2499"/>
                <a:gd name="T13" fmla="*/ 15 h 518"/>
                <a:gd name="T14" fmla="*/ 1650 w 2499"/>
                <a:gd name="T15" fmla="*/ 3 h 518"/>
                <a:gd name="T16" fmla="*/ 2451 w 2499"/>
                <a:gd name="T17" fmla="*/ 6 h 518"/>
                <a:gd name="T18" fmla="*/ 2360 w 2499"/>
                <a:gd name="T19" fmla="*/ 116 h 518"/>
                <a:gd name="T20" fmla="*/ 2391 w 2499"/>
                <a:gd name="T21" fmla="*/ 201 h 518"/>
                <a:gd name="T22" fmla="*/ 2463 w 2499"/>
                <a:gd name="T23" fmla="*/ 282 h 518"/>
                <a:gd name="T24" fmla="*/ 2499 w 2499"/>
                <a:gd name="T25" fmla="*/ 411 h 518"/>
                <a:gd name="T26" fmla="*/ 2480 w 2499"/>
                <a:gd name="T27" fmla="*/ 473 h 518"/>
                <a:gd name="T28" fmla="*/ 2438 w 2499"/>
                <a:gd name="T29" fmla="*/ 512 h 518"/>
                <a:gd name="T30" fmla="*/ 1640 w 2499"/>
                <a:gd name="T31" fmla="*/ 503 h 518"/>
                <a:gd name="T32" fmla="*/ 1571 w 2499"/>
                <a:gd name="T33" fmla="*/ 452 h 518"/>
                <a:gd name="T34" fmla="*/ 1445 w 2499"/>
                <a:gd name="T35" fmla="*/ 398 h 518"/>
                <a:gd name="T36" fmla="*/ 1301 w 2499"/>
                <a:gd name="T37" fmla="*/ 374 h 518"/>
                <a:gd name="T38" fmla="*/ 1181 w 2499"/>
                <a:gd name="T39" fmla="*/ 374 h 518"/>
                <a:gd name="T40" fmla="*/ 1076 w 2499"/>
                <a:gd name="T41" fmla="*/ 395 h 518"/>
                <a:gd name="T42" fmla="*/ 1007 w 2499"/>
                <a:gd name="T43" fmla="*/ 422 h 518"/>
                <a:gd name="T44" fmla="*/ 917 w 2499"/>
                <a:gd name="T45" fmla="*/ 482 h 518"/>
                <a:gd name="T46" fmla="*/ 851 w 2499"/>
                <a:gd name="T47" fmla="*/ 518 h 518"/>
                <a:gd name="T48" fmla="*/ 83 w 2499"/>
                <a:gd name="T49" fmla="*/ 509 h 518"/>
                <a:gd name="T50" fmla="*/ 99 w 2499"/>
                <a:gd name="T51" fmla="*/ 483 h 518"/>
                <a:gd name="T52" fmla="*/ 123 w 2499"/>
                <a:gd name="T53" fmla="*/ 426 h 518"/>
                <a:gd name="T54" fmla="*/ 138 w 2499"/>
                <a:gd name="T55" fmla="*/ 390 h 518"/>
                <a:gd name="T56" fmla="*/ 75 w 2499"/>
                <a:gd name="T57" fmla="*/ 255 h 518"/>
                <a:gd name="T58" fmla="*/ 32 w 2499"/>
                <a:gd name="T59" fmla="*/ 203 h 518"/>
                <a:gd name="T60" fmla="*/ 9 w 2499"/>
                <a:gd name="T61" fmla="*/ 147 h 518"/>
                <a:gd name="T62" fmla="*/ 15 w 2499"/>
                <a:gd name="T63" fmla="*/ 66 h 518"/>
                <a:gd name="T64" fmla="*/ 29 w 2499"/>
                <a:gd name="T65" fmla="*/ 29 h 518"/>
                <a:gd name="T66" fmla="*/ 66 w 2499"/>
                <a:gd name="T67" fmla="*/ 0 h 51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499"/>
                <a:gd name="T103" fmla="*/ 0 h 518"/>
                <a:gd name="T104" fmla="*/ 2499 w 2499"/>
                <a:gd name="T105" fmla="*/ 518 h 51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499" h="518">
                  <a:moveTo>
                    <a:pt x="66" y="0"/>
                  </a:moveTo>
                  <a:cubicBezTo>
                    <a:pt x="336" y="1"/>
                    <a:pt x="593" y="3"/>
                    <a:pt x="863" y="5"/>
                  </a:cubicBezTo>
                  <a:cubicBezTo>
                    <a:pt x="873" y="5"/>
                    <a:pt x="971" y="78"/>
                    <a:pt x="986" y="86"/>
                  </a:cubicBezTo>
                  <a:cubicBezTo>
                    <a:pt x="1070" y="122"/>
                    <a:pt x="1178" y="125"/>
                    <a:pt x="1271" y="134"/>
                  </a:cubicBezTo>
                  <a:cubicBezTo>
                    <a:pt x="1339" y="129"/>
                    <a:pt x="1403" y="109"/>
                    <a:pt x="1469" y="92"/>
                  </a:cubicBezTo>
                  <a:cubicBezTo>
                    <a:pt x="1499" y="72"/>
                    <a:pt x="1517" y="74"/>
                    <a:pt x="1562" y="56"/>
                  </a:cubicBezTo>
                  <a:cubicBezTo>
                    <a:pt x="1587" y="44"/>
                    <a:pt x="1606" y="22"/>
                    <a:pt x="1620" y="15"/>
                  </a:cubicBezTo>
                  <a:cubicBezTo>
                    <a:pt x="1632" y="6"/>
                    <a:pt x="1640" y="13"/>
                    <a:pt x="1650" y="3"/>
                  </a:cubicBezTo>
                  <a:cubicBezTo>
                    <a:pt x="1822" y="4"/>
                    <a:pt x="2250" y="9"/>
                    <a:pt x="2451" y="6"/>
                  </a:cubicBezTo>
                  <a:cubicBezTo>
                    <a:pt x="2405" y="23"/>
                    <a:pt x="2369" y="71"/>
                    <a:pt x="2360" y="116"/>
                  </a:cubicBezTo>
                  <a:cubicBezTo>
                    <a:pt x="2361" y="143"/>
                    <a:pt x="2387" y="174"/>
                    <a:pt x="2391" y="201"/>
                  </a:cubicBezTo>
                  <a:cubicBezTo>
                    <a:pt x="2394" y="221"/>
                    <a:pt x="2448" y="274"/>
                    <a:pt x="2463" y="282"/>
                  </a:cubicBezTo>
                  <a:cubicBezTo>
                    <a:pt x="2483" y="311"/>
                    <a:pt x="2492" y="375"/>
                    <a:pt x="2499" y="411"/>
                  </a:cubicBezTo>
                  <a:cubicBezTo>
                    <a:pt x="2498" y="437"/>
                    <a:pt x="2496" y="453"/>
                    <a:pt x="2480" y="473"/>
                  </a:cubicBezTo>
                  <a:cubicBezTo>
                    <a:pt x="2472" y="491"/>
                    <a:pt x="2456" y="497"/>
                    <a:pt x="2438" y="512"/>
                  </a:cubicBezTo>
                  <a:cubicBezTo>
                    <a:pt x="2032" y="499"/>
                    <a:pt x="1640" y="503"/>
                    <a:pt x="1640" y="503"/>
                  </a:cubicBezTo>
                  <a:cubicBezTo>
                    <a:pt x="1592" y="470"/>
                    <a:pt x="1603" y="465"/>
                    <a:pt x="1571" y="452"/>
                  </a:cubicBezTo>
                  <a:cubicBezTo>
                    <a:pt x="1530" y="421"/>
                    <a:pt x="1495" y="409"/>
                    <a:pt x="1445" y="398"/>
                  </a:cubicBezTo>
                  <a:cubicBezTo>
                    <a:pt x="1402" y="389"/>
                    <a:pt x="1343" y="374"/>
                    <a:pt x="1301" y="374"/>
                  </a:cubicBezTo>
                  <a:cubicBezTo>
                    <a:pt x="1263" y="376"/>
                    <a:pt x="1219" y="370"/>
                    <a:pt x="1181" y="374"/>
                  </a:cubicBezTo>
                  <a:cubicBezTo>
                    <a:pt x="1145" y="381"/>
                    <a:pt x="1107" y="389"/>
                    <a:pt x="1076" y="395"/>
                  </a:cubicBezTo>
                  <a:cubicBezTo>
                    <a:pt x="1052" y="400"/>
                    <a:pt x="1031" y="419"/>
                    <a:pt x="1007" y="422"/>
                  </a:cubicBezTo>
                  <a:cubicBezTo>
                    <a:pt x="973" y="433"/>
                    <a:pt x="947" y="462"/>
                    <a:pt x="917" y="482"/>
                  </a:cubicBezTo>
                  <a:cubicBezTo>
                    <a:pt x="898" y="495"/>
                    <a:pt x="868" y="501"/>
                    <a:pt x="851" y="518"/>
                  </a:cubicBezTo>
                  <a:cubicBezTo>
                    <a:pt x="713" y="509"/>
                    <a:pt x="211" y="515"/>
                    <a:pt x="83" y="509"/>
                  </a:cubicBezTo>
                  <a:cubicBezTo>
                    <a:pt x="95" y="515"/>
                    <a:pt x="92" y="490"/>
                    <a:pt x="99" y="483"/>
                  </a:cubicBezTo>
                  <a:cubicBezTo>
                    <a:pt x="119" y="463"/>
                    <a:pt x="108" y="448"/>
                    <a:pt x="123" y="426"/>
                  </a:cubicBezTo>
                  <a:cubicBezTo>
                    <a:pt x="130" y="415"/>
                    <a:pt x="138" y="390"/>
                    <a:pt x="138" y="390"/>
                  </a:cubicBezTo>
                  <a:cubicBezTo>
                    <a:pt x="135" y="357"/>
                    <a:pt x="113" y="268"/>
                    <a:pt x="75" y="255"/>
                  </a:cubicBezTo>
                  <a:cubicBezTo>
                    <a:pt x="52" y="237"/>
                    <a:pt x="49" y="225"/>
                    <a:pt x="32" y="203"/>
                  </a:cubicBezTo>
                  <a:cubicBezTo>
                    <a:pt x="22" y="196"/>
                    <a:pt x="14" y="170"/>
                    <a:pt x="9" y="147"/>
                  </a:cubicBezTo>
                  <a:cubicBezTo>
                    <a:pt x="3" y="123"/>
                    <a:pt x="0" y="90"/>
                    <a:pt x="15" y="66"/>
                  </a:cubicBezTo>
                  <a:cubicBezTo>
                    <a:pt x="26" y="49"/>
                    <a:pt x="14" y="44"/>
                    <a:pt x="29" y="29"/>
                  </a:cubicBezTo>
                  <a:cubicBezTo>
                    <a:pt x="37" y="18"/>
                    <a:pt x="63" y="9"/>
                    <a:pt x="66" y="0"/>
                  </a:cubicBezTo>
                  <a:close/>
                </a:path>
              </a:pathLst>
            </a:custGeom>
            <a:gradFill rotWithShape="1">
              <a:gsLst>
                <a:gs pos="0">
                  <a:srgbClr val="666666"/>
                </a:gs>
                <a:gs pos="50000">
                  <a:srgbClr val="DDDDDD"/>
                </a:gs>
                <a:gs pos="100000">
                  <a:srgbClr val="666666"/>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FF"/>
                </a:solidFill>
                <a:effectLst/>
                <a:uLnTx/>
                <a:uFillTx/>
                <a:ea typeface="黑体" panose="02010609060101010101" pitchFamily="49" charset="-122"/>
              </a:endParaRPr>
            </a:p>
          </p:txBody>
        </p:sp>
        <p:grpSp>
          <p:nvGrpSpPr>
            <p:cNvPr id="28" name="Group 7">
              <a:extLst>
                <a:ext uri="{FF2B5EF4-FFF2-40B4-BE49-F238E27FC236}">
                  <a16:creationId xmlns:a16="http://schemas.microsoft.com/office/drawing/2014/main" id="{5BF61714-F786-863E-1038-10933E0BE56A}"/>
                </a:ext>
              </a:extLst>
            </p:cNvPr>
            <p:cNvGrpSpPr>
              <a:grpSpLocks/>
            </p:cNvGrpSpPr>
            <p:nvPr/>
          </p:nvGrpSpPr>
          <p:grpSpPr bwMode="auto">
            <a:xfrm>
              <a:off x="1805" y="3278"/>
              <a:ext cx="2511" cy="770"/>
              <a:chOff x="1805" y="3278"/>
              <a:chExt cx="2511" cy="770"/>
            </a:xfrm>
          </p:grpSpPr>
          <p:sp>
            <p:nvSpPr>
              <p:cNvPr id="30" name="Line 8">
                <a:extLst>
                  <a:ext uri="{FF2B5EF4-FFF2-40B4-BE49-F238E27FC236}">
                    <a16:creationId xmlns:a16="http://schemas.microsoft.com/office/drawing/2014/main" id="{0F7A0119-BD0F-360A-1074-8BE76791F7F3}"/>
                  </a:ext>
                </a:extLst>
              </p:cNvPr>
              <p:cNvSpPr>
                <a:spLocks noChangeShapeType="1"/>
              </p:cNvSpPr>
              <p:nvPr/>
            </p:nvSpPr>
            <p:spPr bwMode="auto">
              <a:xfrm>
                <a:off x="1870" y="3407"/>
                <a:ext cx="797"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FF"/>
                  </a:solidFill>
                  <a:effectLst/>
                  <a:uLnTx/>
                  <a:uFillTx/>
                  <a:ea typeface="黑体" panose="02010609060101010101" pitchFamily="49" charset="-122"/>
                </a:endParaRPr>
              </a:p>
            </p:txBody>
          </p:sp>
          <p:sp>
            <p:nvSpPr>
              <p:cNvPr id="31" name="Line 9">
                <a:extLst>
                  <a:ext uri="{FF2B5EF4-FFF2-40B4-BE49-F238E27FC236}">
                    <a16:creationId xmlns:a16="http://schemas.microsoft.com/office/drawing/2014/main" id="{B3C3076B-234F-B61D-A984-4C908082699B}"/>
                  </a:ext>
                </a:extLst>
              </p:cNvPr>
              <p:cNvSpPr>
                <a:spLocks noChangeShapeType="1"/>
              </p:cNvSpPr>
              <p:nvPr/>
            </p:nvSpPr>
            <p:spPr bwMode="auto">
              <a:xfrm>
                <a:off x="1875" y="3917"/>
                <a:ext cx="821"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FF"/>
                  </a:solidFill>
                  <a:effectLst/>
                  <a:uLnTx/>
                  <a:uFillTx/>
                  <a:ea typeface="黑体" panose="02010609060101010101" pitchFamily="49" charset="-122"/>
                </a:endParaRPr>
              </a:p>
            </p:txBody>
          </p:sp>
          <p:sp>
            <p:nvSpPr>
              <p:cNvPr id="64" name="Line 10">
                <a:extLst>
                  <a:ext uri="{FF2B5EF4-FFF2-40B4-BE49-F238E27FC236}">
                    <a16:creationId xmlns:a16="http://schemas.microsoft.com/office/drawing/2014/main" id="{66D12422-B28F-5E13-7FC5-DBAAE0EB774F}"/>
                  </a:ext>
                </a:extLst>
              </p:cNvPr>
              <p:cNvSpPr>
                <a:spLocks noChangeShapeType="1"/>
              </p:cNvSpPr>
              <p:nvPr/>
            </p:nvSpPr>
            <p:spPr bwMode="auto">
              <a:xfrm>
                <a:off x="3434" y="3414"/>
                <a:ext cx="81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FF"/>
                  </a:solidFill>
                  <a:effectLst/>
                  <a:uLnTx/>
                  <a:uFillTx/>
                  <a:ea typeface="黑体" panose="02010609060101010101" pitchFamily="49" charset="-122"/>
                </a:endParaRPr>
              </a:p>
            </p:txBody>
          </p:sp>
          <p:sp>
            <p:nvSpPr>
              <p:cNvPr id="65" name="Line 11">
                <a:extLst>
                  <a:ext uri="{FF2B5EF4-FFF2-40B4-BE49-F238E27FC236}">
                    <a16:creationId xmlns:a16="http://schemas.microsoft.com/office/drawing/2014/main" id="{4E9AD72D-FC45-0053-E4DC-C2F19F3FEC90}"/>
                  </a:ext>
                </a:extLst>
              </p:cNvPr>
              <p:cNvSpPr>
                <a:spLocks noChangeShapeType="1"/>
              </p:cNvSpPr>
              <p:nvPr/>
            </p:nvSpPr>
            <p:spPr bwMode="auto">
              <a:xfrm>
                <a:off x="3451" y="3917"/>
                <a:ext cx="797"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FF"/>
                  </a:solidFill>
                  <a:effectLst/>
                  <a:uLnTx/>
                  <a:uFillTx/>
                  <a:ea typeface="黑体" panose="02010609060101010101" pitchFamily="49" charset="-122"/>
                </a:endParaRPr>
              </a:p>
            </p:txBody>
          </p:sp>
          <p:sp>
            <p:nvSpPr>
              <p:cNvPr id="66" name="Arc 12">
                <a:extLst>
                  <a:ext uri="{FF2B5EF4-FFF2-40B4-BE49-F238E27FC236}">
                    <a16:creationId xmlns:a16="http://schemas.microsoft.com/office/drawing/2014/main" id="{CF1E6D12-6D18-EF3C-53B5-13034FAF6DAC}"/>
                  </a:ext>
                </a:extLst>
              </p:cNvPr>
              <p:cNvSpPr>
                <a:spLocks/>
              </p:cNvSpPr>
              <p:nvPr/>
            </p:nvSpPr>
            <p:spPr bwMode="auto">
              <a:xfrm flipV="1">
                <a:off x="2669" y="3278"/>
                <a:ext cx="768" cy="265"/>
              </a:xfrm>
              <a:custGeom>
                <a:avLst/>
                <a:gdLst>
                  <a:gd name="T0" fmla="*/ 0 w 37723"/>
                  <a:gd name="T1" fmla="*/ 2 h 21600"/>
                  <a:gd name="T2" fmla="*/ 16 w 37723"/>
                  <a:gd name="T3" fmla="*/ 2 h 21600"/>
                  <a:gd name="T4" fmla="*/ 8 w 37723"/>
                  <a:gd name="T5" fmla="*/ 3 h 21600"/>
                  <a:gd name="T6" fmla="*/ 0 60000 65536"/>
                  <a:gd name="T7" fmla="*/ 0 60000 65536"/>
                  <a:gd name="T8" fmla="*/ 0 60000 65536"/>
                  <a:gd name="T9" fmla="*/ 0 w 37723"/>
                  <a:gd name="T10" fmla="*/ 0 h 21600"/>
                  <a:gd name="T11" fmla="*/ 37723 w 37723"/>
                  <a:gd name="T12" fmla="*/ 21600 h 21600"/>
                </a:gdLst>
                <a:ahLst/>
                <a:cxnLst>
                  <a:cxn ang="T6">
                    <a:pos x="T0" y="T1"/>
                  </a:cxn>
                  <a:cxn ang="T7">
                    <a:pos x="T2" y="T3"/>
                  </a:cxn>
                  <a:cxn ang="T8">
                    <a:pos x="T4" y="T5"/>
                  </a:cxn>
                </a:cxnLst>
                <a:rect l="T9" t="T10" r="T11" b="T12"/>
                <a:pathLst>
                  <a:path w="37723" h="21600" fill="none" extrusionOk="0">
                    <a:moveTo>
                      <a:pt x="0" y="11318"/>
                    </a:moveTo>
                    <a:cubicBezTo>
                      <a:pt x="3774" y="4344"/>
                      <a:pt x="11066" y="-1"/>
                      <a:pt x="18996" y="0"/>
                    </a:cubicBezTo>
                    <a:cubicBezTo>
                      <a:pt x="26727" y="0"/>
                      <a:pt x="33869" y="4132"/>
                      <a:pt x="37722" y="10836"/>
                    </a:cubicBezTo>
                  </a:path>
                  <a:path w="37723" h="21600" stroke="0" extrusionOk="0">
                    <a:moveTo>
                      <a:pt x="0" y="11318"/>
                    </a:moveTo>
                    <a:cubicBezTo>
                      <a:pt x="3774" y="4344"/>
                      <a:pt x="11066" y="-1"/>
                      <a:pt x="18996" y="0"/>
                    </a:cubicBezTo>
                    <a:cubicBezTo>
                      <a:pt x="26727" y="0"/>
                      <a:pt x="33869" y="4132"/>
                      <a:pt x="37722" y="10836"/>
                    </a:cubicBezTo>
                    <a:lnTo>
                      <a:pt x="18996" y="21600"/>
                    </a:lnTo>
                    <a:close/>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FF"/>
                  </a:solidFill>
                  <a:effectLst/>
                  <a:uLnTx/>
                  <a:uFillTx/>
                  <a:ea typeface="黑体" panose="02010609060101010101" pitchFamily="49" charset="-122"/>
                </a:endParaRPr>
              </a:p>
            </p:txBody>
          </p:sp>
          <p:sp>
            <p:nvSpPr>
              <p:cNvPr id="67" name="Arc 13">
                <a:extLst>
                  <a:ext uri="{FF2B5EF4-FFF2-40B4-BE49-F238E27FC236}">
                    <a16:creationId xmlns:a16="http://schemas.microsoft.com/office/drawing/2014/main" id="{476F344F-C82A-BA34-C535-6D0B4C2D6BF8}"/>
                  </a:ext>
                </a:extLst>
              </p:cNvPr>
              <p:cNvSpPr>
                <a:spLocks/>
              </p:cNvSpPr>
              <p:nvPr/>
            </p:nvSpPr>
            <p:spPr bwMode="auto">
              <a:xfrm>
                <a:off x="2688" y="3783"/>
                <a:ext cx="768" cy="265"/>
              </a:xfrm>
              <a:custGeom>
                <a:avLst/>
                <a:gdLst>
                  <a:gd name="T0" fmla="*/ 0 w 37723"/>
                  <a:gd name="T1" fmla="*/ 2 h 21600"/>
                  <a:gd name="T2" fmla="*/ 16 w 37723"/>
                  <a:gd name="T3" fmla="*/ 2 h 21600"/>
                  <a:gd name="T4" fmla="*/ 8 w 37723"/>
                  <a:gd name="T5" fmla="*/ 3 h 21600"/>
                  <a:gd name="T6" fmla="*/ 0 60000 65536"/>
                  <a:gd name="T7" fmla="*/ 0 60000 65536"/>
                  <a:gd name="T8" fmla="*/ 0 60000 65536"/>
                  <a:gd name="T9" fmla="*/ 0 w 37723"/>
                  <a:gd name="T10" fmla="*/ 0 h 21600"/>
                  <a:gd name="T11" fmla="*/ 37723 w 37723"/>
                  <a:gd name="T12" fmla="*/ 21600 h 21600"/>
                </a:gdLst>
                <a:ahLst/>
                <a:cxnLst>
                  <a:cxn ang="T6">
                    <a:pos x="T0" y="T1"/>
                  </a:cxn>
                  <a:cxn ang="T7">
                    <a:pos x="T2" y="T3"/>
                  </a:cxn>
                  <a:cxn ang="T8">
                    <a:pos x="T4" y="T5"/>
                  </a:cxn>
                </a:cxnLst>
                <a:rect l="T9" t="T10" r="T11" b="T12"/>
                <a:pathLst>
                  <a:path w="37723" h="21600" fill="none" extrusionOk="0">
                    <a:moveTo>
                      <a:pt x="0" y="11318"/>
                    </a:moveTo>
                    <a:cubicBezTo>
                      <a:pt x="3774" y="4344"/>
                      <a:pt x="11066" y="-1"/>
                      <a:pt x="18996" y="0"/>
                    </a:cubicBezTo>
                    <a:cubicBezTo>
                      <a:pt x="26727" y="0"/>
                      <a:pt x="33869" y="4132"/>
                      <a:pt x="37722" y="10836"/>
                    </a:cubicBezTo>
                  </a:path>
                  <a:path w="37723" h="21600" stroke="0" extrusionOk="0">
                    <a:moveTo>
                      <a:pt x="0" y="11318"/>
                    </a:moveTo>
                    <a:cubicBezTo>
                      <a:pt x="3774" y="4344"/>
                      <a:pt x="11066" y="-1"/>
                      <a:pt x="18996" y="0"/>
                    </a:cubicBezTo>
                    <a:cubicBezTo>
                      <a:pt x="26727" y="0"/>
                      <a:pt x="33869" y="4132"/>
                      <a:pt x="37722" y="10836"/>
                    </a:cubicBezTo>
                    <a:lnTo>
                      <a:pt x="18996" y="21600"/>
                    </a:lnTo>
                    <a:close/>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FF"/>
                  </a:solidFill>
                  <a:effectLst/>
                  <a:uLnTx/>
                  <a:uFillTx/>
                  <a:ea typeface="黑体" panose="02010609060101010101" pitchFamily="49" charset="-122"/>
                </a:endParaRPr>
              </a:p>
            </p:txBody>
          </p:sp>
          <p:sp>
            <p:nvSpPr>
              <p:cNvPr id="68" name="Arc 14">
                <a:extLst>
                  <a:ext uri="{FF2B5EF4-FFF2-40B4-BE49-F238E27FC236}">
                    <a16:creationId xmlns:a16="http://schemas.microsoft.com/office/drawing/2014/main" id="{B7A76AA2-B4DA-380E-E28B-93699B43CEC2}"/>
                  </a:ext>
                </a:extLst>
              </p:cNvPr>
              <p:cNvSpPr>
                <a:spLocks/>
              </p:cNvSpPr>
              <p:nvPr/>
            </p:nvSpPr>
            <p:spPr bwMode="auto">
              <a:xfrm rot="16200000" flipV="1">
                <a:off x="1747" y="3721"/>
                <a:ext cx="258" cy="138"/>
              </a:xfrm>
              <a:custGeom>
                <a:avLst/>
                <a:gdLst>
                  <a:gd name="T0" fmla="*/ 0 w 37723"/>
                  <a:gd name="T1" fmla="*/ 0 h 21600"/>
                  <a:gd name="T2" fmla="*/ 2 w 37723"/>
                  <a:gd name="T3" fmla="*/ 0 h 21600"/>
                  <a:gd name="T4" fmla="*/ 1 w 37723"/>
                  <a:gd name="T5" fmla="*/ 1 h 21600"/>
                  <a:gd name="T6" fmla="*/ 0 60000 65536"/>
                  <a:gd name="T7" fmla="*/ 0 60000 65536"/>
                  <a:gd name="T8" fmla="*/ 0 60000 65536"/>
                  <a:gd name="T9" fmla="*/ 0 w 37723"/>
                  <a:gd name="T10" fmla="*/ 0 h 21600"/>
                  <a:gd name="T11" fmla="*/ 37723 w 37723"/>
                  <a:gd name="T12" fmla="*/ 21600 h 21600"/>
                </a:gdLst>
                <a:ahLst/>
                <a:cxnLst>
                  <a:cxn ang="T6">
                    <a:pos x="T0" y="T1"/>
                  </a:cxn>
                  <a:cxn ang="T7">
                    <a:pos x="T2" y="T3"/>
                  </a:cxn>
                  <a:cxn ang="T8">
                    <a:pos x="T4" y="T5"/>
                  </a:cxn>
                </a:cxnLst>
                <a:rect l="T9" t="T10" r="T11" b="T12"/>
                <a:pathLst>
                  <a:path w="37723" h="21600" fill="none" extrusionOk="0">
                    <a:moveTo>
                      <a:pt x="0" y="11318"/>
                    </a:moveTo>
                    <a:cubicBezTo>
                      <a:pt x="3774" y="4344"/>
                      <a:pt x="11066" y="-1"/>
                      <a:pt x="18996" y="0"/>
                    </a:cubicBezTo>
                    <a:cubicBezTo>
                      <a:pt x="26727" y="0"/>
                      <a:pt x="33869" y="4132"/>
                      <a:pt x="37722" y="10836"/>
                    </a:cubicBezTo>
                  </a:path>
                  <a:path w="37723" h="21600" stroke="0" extrusionOk="0">
                    <a:moveTo>
                      <a:pt x="0" y="11318"/>
                    </a:moveTo>
                    <a:cubicBezTo>
                      <a:pt x="3774" y="4344"/>
                      <a:pt x="11066" y="-1"/>
                      <a:pt x="18996" y="0"/>
                    </a:cubicBezTo>
                    <a:cubicBezTo>
                      <a:pt x="26727" y="0"/>
                      <a:pt x="33869" y="4132"/>
                      <a:pt x="37722" y="10836"/>
                    </a:cubicBezTo>
                    <a:lnTo>
                      <a:pt x="18996" y="21600"/>
                    </a:lnTo>
                    <a:close/>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FF"/>
                  </a:solidFill>
                  <a:effectLst/>
                  <a:uLnTx/>
                  <a:uFillTx/>
                  <a:ea typeface="黑体" panose="02010609060101010101" pitchFamily="49" charset="-122"/>
                </a:endParaRPr>
              </a:p>
            </p:txBody>
          </p:sp>
          <p:sp>
            <p:nvSpPr>
              <p:cNvPr id="70" name="Arc 15">
                <a:extLst>
                  <a:ext uri="{FF2B5EF4-FFF2-40B4-BE49-F238E27FC236}">
                    <a16:creationId xmlns:a16="http://schemas.microsoft.com/office/drawing/2014/main" id="{DDBB6F65-5080-3AB9-B61D-C33C98AED4A1}"/>
                  </a:ext>
                </a:extLst>
              </p:cNvPr>
              <p:cNvSpPr>
                <a:spLocks/>
              </p:cNvSpPr>
              <p:nvPr/>
            </p:nvSpPr>
            <p:spPr bwMode="auto">
              <a:xfrm rot="16200000" flipV="1">
                <a:off x="4118" y="3725"/>
                <a:ext cx="258" cy="138"/>
              </a:xfrm>
              <a:custGeom>
                <a:avLst/>
                <a:gdLst>
                  <a:gd name="T0" fmla="*/ 0 w 37723"/>
                  <a:gd name="T1" fmla="*/ 0 h 21600"/>
                  <a:gd name="T2" fmla="*/ 2 w 37723"/>
                  <a:gd name="T3" fmla="*/ 0 h 21600"/>
                  <a:gd name="T4" fmla="*/ 1 w 37723"/>
                  <a:gd name="T5" fmla="*/ 1 h 21600"/>
                  <a:gd name="T6" fmla="*/ 0 60000 65536"/>
                  <a:gd name="T7" fmla="*/ 0 60000 65536"/>
                  <a:gd name="T8" fmla="*/ 0 60000 65536"/>
                  <a:gd name="T9" fmla="*/ 0 w 37723"/>
                  <a:gd name="T10" fmla="*/ 0 h 21600"/>
                  <a:gd name="T11" fmla="*/ 37723 w 37723"/>
                  <a:gd name="T12" fmla="*/ 21600 h 21600"/>
                </a:gdLst>
                <a:ahLst/>
                <a:cxnLst>
                  <a:cxn ang="T6">
                    <a:pos x="T0" y="T1"/>
                  </a:cxn>
                  <a:cxn ang="T7">
                    <a:pos x="T2" y="T3"/>
                  </a:cxn>
                  <a:cxn ang="T8">
                    <a:pos x="T4" y="T5"/>
                  </a:cxn>
                </a:cxnLst>
                <a:rect l="T9" t="T10" r="T11" b="T12"/>
                <a:pathLst>
                  <a:path w="37723" h="21600" fill="none" extrusionOk="0">
                    <a:moveTo>
                      <a:pt x="0" y="11318"/>
                    </a:moveTo>
                    <a:cubicBezTo>
                      <a:pt x="3774" y="4344"/>
                      <a:pt x="11066" y="-1"/>
                      <a:pt x="18996" y="0"/>
                    </a:cubicBezTo>
                    <a:cubicBezTo>
                      <a:pt x="26727" y="0"/>
                      <a:pt x="33869" y="4132"/>
                      <a:pt x="37722" y="10836"/>
                    </a:cubicBezTo>
                  </a:path>
                  <a:path w="37723" h="21600" stroke="0" extrusionOk="0">
                    <a:moveTo>
                      <a:pt x="0" y="11318"/>
                    </a:moveTo>
                    <a:cubicBezTo>
                      <a:pt x="3774" y="4344"/>
                      <a:pt x="11066" y="-1"/>
                      <a:pt x="18996" y="0"/>
                    </a:cubicBezTo>
                    <a:cubicBezTo>
                      <a:pt x="26727" y="0"/>
                      <a:pt x="33869" y="4132"/>
                      <a:pt x="37722" y="10836"/>
                    </a:cubicBezTo>
                    <a:lnTo>
                      <a:pt x="18996" y="21600"/>
                    </a:lnTo>
                    <a:close/>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FF"/>
                  </a:solidFill>
                  <a:effectLst/>
                  <a:uLnTx/>
                  <a:uFillTx/>
                  <a:ea typeface="黑体" panose="02010609060101010101" pitchFamily="49" charset="-122"/>
                </a:endParaRPr>
              </a:p>
            </p:txBody>
          </p:sp>
          <p:sp>
            <p:nvSpPr>
              <p:cNvPr id="71" name="Arc 16">
                <a:extLst>
                  <a:ext uri="{FF2B5EF4-FFF2-40B4-BE49-F238E27FC236}">
                    <a16:creationId xmlns:a16="http://schemas.microsoft.com/office/drawing/2014/main" id="{CEA7B2DC-EF0D-969C-AECC-E94CBF11569A}"/>
                  </a:ext>
                </a:extLst>
              </p:cNvPr>
              <p:cNvSpPr>
                <a:spLocks/>
              </p:cNvSpPr>
              <p:nvPr/>
            </p:nvSpPr>
            <p:spPr bwMode="auto">
              <a:xfrm rot="16200000" flipV="1">
                <a:off x="4115" y="3476"/>
                <a:ext cx="258" cy="138"/>
              </a:xfrm>
              <a:custGeom>
                <a:avLst/>
                <a:gdLst>
                  <a:gd name="T0" fmla="*/ 0 w 37723"/>
                  <a:gd name="T1" fmla="*/ 0 h 21600"/>
                  <a:gd name="T2" fmla="*/ 2 w 37723"/>
                  <a:gd name="T3" fmla="*/ 0 h 21600"/>
                  <a:gd name="T4" fmla="*/ 1 w 37723"/>
                  <a:gd name="T5" fmla="*/ 1 h 21600"/>
                  <a:gd name="T6" fmla="*/ 0 60000 65536"/>
                  <a:gd name="T7" fmla="*/ 0 60000 65536"/>
                  <a:gd name="T8" fmla="*/ 0 60000 65536"/>
                  <a:gd name="T9" fmla="*/ 0 w 37723"/>
                  <a:gd name="T10" fmla="*/ 0 h 21600"/>
                  <a:gd name="T11" fmla="*/ 37723 w 37723"/>
                  <a:gd name="T12" fmla="*/ 21600 h 21600"/>
                </a:gdLst>
                <a:ahLst/>
                <a:cxnLst>
                  <a:cxn ang="T6">
                    <a:pos x="T0" y="T1"/>
                  </a:cxn>
                  <a:cxn ang="T7">
                    <a:pos x="T2" y="T3"/>
                  </a:cxn>
                  <a:cxn ang="T8">
                    <a:pos x="T4" y="T5"/>
                  </a:cxn>
                </a:cxnLst>
                <a:rect l="T9" t="T10" r="T11" b="T12"/>
                <a:pathLst>
                  <a:path w="37723" h="21600" fill="none" extrusionOk="0">
                    <a:moveTo>
                      <a:pt x="0" y="11318"/>
                    </a:moveTo>
                    <a:cubicBezTo>
                      <a:pt x="3774" y="4344"/>
                      <a:pt x="11066" y="-1"/>
                      <a:pt x="18996" y="0"/>
                    </a:cubicBezTo>
                    <a:cubicBezTo>
                      <a:pt x="26727" y="0"/>
                      <a:pt x="33869" y="4132"/>
                      <a:pt x="37722" y="10836"/>
                    </a:cubicBezTo>
                  </a:path>
                  <a:path w="37723" h="21600" stroke="0" extrusionOk="0">
                    <a:moveTo>
                      <a:pt x="0" y="11318"/>
                    </a:moveTo>
                    <a:cubicBezTo>
                      <a:pt x="3774" y="4344"/>
                      <a:pt x="11066" y="-1"/>
                      <a:pt x="18996" y="0"/>
                    </a:cubicBezTo>
                    <a:cubicBezTo>
                      <a:pt x="26727" y="0"/>
                      <a:pt x="33869" y="4132"/>
                      <a:pt x="37722" y="10836"/>
                    </a:cubicBezTo>
                    <a:lnTo>
                      <a:pt x="18996" y="21600"/>
                    </a:lnTo>
                    <a:close/>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FF"/>
                  </a:solidFill>
                  <a:effectLst/>
                  <a:uLnTx/>
                  <a:uFillTx/>
                  <a:ea typeface="黑体" panose="02010609060101010101" pitchFamily="49" charset="-122"/>
                </a:endParaRPr>
              </a:p>
            </p:txBody>
          </p:sp>
          <p:sp>
            <p:nvSpPr>
              <p:cNvPr id="72" name="Arc 17">
                <a:extLst>
                  <a:ext uri="{FF2B5EF4-FFF2-40B4-BE49-F238E27FC236}">
                    <a16:creationId xmlns:a16="http://schemas.microsoft.com/office/drawing/2014/main" id="{A47E9840-E0C4-B768-BF42-DC515D94503B}"/>
                  </a:ext>
                </a:extLst>
              </p:cNvPr>
              <p:cNvSpPr>
                <a:spLocks/>
              </p:cNvSpPr>
              <p:nvPr/>
            </p:nvSpPr>
            <p:spPr bwMode="auto">
              <a:xfrm rot="5400000" flipH="1" flipV="1">
                <a:off x="1748" y="3464"/>
                <a:ext cx="258" cy="138"/>
              </a:xfrm>
              <a:custGeom>
                <a:avLst/>
                <a:gdLst>
                  <a:gd name="T0" fmla="*/ 0 w 37723"/>
                  <a:gd name="T1" fmla="*/ 0 h 21600"/>
                  <a:gd name="T2" fmla="*/ 2 w 37723"/>
                  <a:gd name="T3" fmla="*/ 0 h 21600"/>
                  <a:gd name="T4" fmla="*/ 1 w 37723"/>
                  <a:gd name="T5" fmla="*/ 1 h 21600"/>
                  <a:gd name="T6" fmla="*/ 0 60000 65536"/>
                  <a:gd name="T7" fmla="*/ 0 60000 65536"/>
                  <a:gd name="T8" fmla="*/ 0 60000 65536"/>
                  <a:gd name="T9" fmla="*/ 0 w 37723"/>
                  <a:gd name="T10" fmla="*/ 0 h 21600"/>
                  <a:gd name="T11" fmla="*/ 37723 w 37723"/>
                  <a:gd name="T12" fmla="*/ 21600 h 21600"/>
                </a:gdLst>
                <a:ahLst/>
                <a:cxnLst>
                  <a:cxn ang="T6">
                    <a:pos x="T0" y="T1"/>
                  </a:cxn>
                  <a:cxn ang="T7">
                    <a:pos x="T2" y="T3"/>
                  </a:cxn>
                  <a:cxn ang="T8">
                    <a:pos x="T4" y="T5"/>
                  </a:cxn>
                </a:cxnLst>
                <a:rect l="T9" t="T10" r="T11" b="T12"/>
                <a:pathLst>
                  <a:path w="37723" h="21600" fill="none" extrusionOk="0">
                    <a:moveTo>
                      <a:pt x="0" y="11318"/>
                    </a:moveTo>
                    <a:cubicBezTo>
                      <a:pt x="3774" y="4344"/>
                      <a:pt x="11066" y="-1"/>
                      <a:pt x="18996" y="0"/>
                    </a:cubicBezTo>
                    <a:cubicBezTo>
                      <a:pt x="26727" y="0"/>
                      <a:pt x="33869" y="4132"/>
                      <a:pt x="37722" y="10836"/>
                    </a:cubicBezTo>
                  </a:path>
                  <a:path w="37723" h="21600" stroke="0" extrusionOk="0">
                    <a:moveTo>
                      <a:pt x="0" y="11318"/>
                    </a:moveTo>
                    <a:cubicBezTo>
                      <a:pt x="3774" y="4344"/>
                      <a:pt x="11066" y="-1"/>
                      <a:pt x="18996" y="0"/>
                    </a:cubicBezTo>
                    <a:cubicBezTo>
                      <a:pt x="26727" y="0"/>
                      <a:pt x="33869" y="4132"/>
                      <a:pt x="37722" y="10836"/>
                    </a:cubicBezTo>
                    <a:lnTo>
                      <a:pt x="18996" y="21600"/>
                    </a:lnTo>
                    <a:close/>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FF"/>
                  </a:solidFill>
                  <a:effectLst/>
                  <a:uLnTx/>
                  <a:uFillTx/>
                  <a:ea typeface="黑体" panose="02010609060101010101" pitchFamily="49" charset="-122"/>
                </a:endParaRPr>
              </a:p>
            </p:txBody>
          </p:sp>
          <p:sp>
            <p:nvSpPr>
              <p:cNvPr id="73" name="Arc 18">
                <a:extLst>
                  <a:ext uri="{FF2B5EF4-FFF2-40B4-BE49-F238E27FC236}">
                    <a16:creationId xmlns:a16="http://schemas.microsoft.com/office/drawing/2014/main" id="{4473B71E-2D5A-EE7B-97FE-384C19FBAF45}"/>
                  </a:ext>
                </a:extLst>
              </p:cNvPr>
              <p:cNvSpPr>
                <a:spLocks/>
              </p:cNvSpPr>
              <p:nvPr/>
            </p:nvSpPr>
            <p:spPr bwMode="auto">
              <a:xfrm rot="5400000" flipH="1" flipV="1">
                <a:off x="1745" y="3719"/>
                <a:ext cx="258" cy="138"/>
              </a:xfrm>
              <a:custGeom>
                <a:avLst/>
                <a:gdLst>
                  <a:gd name="T0" fmla="*/ 0 w 37723"/>
                  <a:gd name="T1" fmla="*/ 0 h 21600"/>
                  <a:gd name="T2" fmla="*/ 2 w 37723"/>
                  <a:gd name="T3" fmla="*/ 0 h 21600"/>
                  <a:gd name="T4" fmla="*/ 1 w 37723"/>
                  <a:gd name="T5" fmla="*/ 1 h 21600"/>
                  <a:gd name="T6" fmla="*/ 0 60000 65536"/>
                  <a:gd name="T7" fmla="*/ 0 60000 65536"/>
                  <a:gd name="T8" fmla="*/ 0 60000 65536"/>
                  <a:gd name="T9" fmla="*/ 0 w 37723"/>
                  <a:gd name="T10" fmla="*/ 0 h 21600"/>
                  <a:gd name="T11" fmla="*/ 37723 w 37723"/>
                  <a:gd name="T12" fmla="*/ 21600 h 21600"/>
                </a:gdLst>
                <a:ahLst/>
                <a:cxnLst>
                  <a:cxn ang="T6">
                    <a:pos x="T0" y="T1"/>
                  </a:cxn>
                  <a:cxn ang="T7">
                    <a:pos x="T2" y="T3"/>
                  </a:cxn>
                  <a:cxn ang="T8">
                    <a:pos x="T4" y="T5"/>
                  </a:cxn>
                </a:cxnLst>
                <a:rect l="T9" t="T10" r="T11" b="T12"/>
                <a:pathLst>
                  <a:path w="37723" h="21600" fill="none" extrusionOk="0">
                    <a:moveTo>
                      <a:pt x="0" y="11318"/>
                    </a:moveTo>
                    <a:cubicBezTo>
                      <a:pt x="3774" y="4344"/>
                      <a:pt x="11066" y="-1"/>
                      <a:pt x="18996" y="0"/>
                    </a:cubicBezTo>
                    <a:cubicBezTo>
                      <a:pt x="26727" y="0"/>
                      <a:pt x="33869" y="4132"/>
                      <a:pt x="37722" y="10836"/>
                    </a:cubicBezTo>
                  </a:path>
                  <a:path w="37723" h="21600" stroke="0" extrusionOk="0">
                    <a:moveTo>
                      <a:pt x="0" y="11318"/>
                    </a:moveTo>
                    <a:cubicBezTo>
                      <a:pt x="3774" y="4344"/>
                      <a:pt x="11066" y="-1"/>
                      <a:pt x="18996" y="0"/>
                    </a:cubicBezTo>
                    <a:cubicBezTo>
                      <a:pt x="26727" y="0"/>
                      <a:pt x="33869" y="4132"/>
                      <a:pt x="37722" y="10836"/>
                    </a:cubicBezTo>
                    <a:lnTo>
                      <a:pt x="18996" y="21600"/>
                    </a:lnTo>
                    <a:close/>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FF"/>
                  </a:solidFill>
                  <a:effectLst/>
                  <a:uLnTx/>
                  <a:uFillTx/>
                  <a:ea typeface="黑体" panose="02010609060101010101" pitchFamily="49" charset="-122"/>
                </a:endParaRPr>
              </a:p>
            </p:txBody>
          </p:sp>
          <p:sp>
            <p:nvSpPr>
              <p:cNvPr id="74" name="Arc 19">
                <a:extLst>
                  <a:ext uri="{FF2B5EF4-FFF2-40B4-BE49-F238E27FC236}">
                    <a16:creationId xmlns:a16="http://schemas.microsoft.com/office/drawing/2014/main" id="{5BB6EB81-66D8-029A-75A7-9A20C2A4F09E}"/>
                  </a:ext>
                </a:extLst>
              </p:cNvPr>
              <p:cNvSpPr>
                <a:spLocks/>
              </p:cNvSpPr>
              <p:nvPr/>
            </p:nvSpPr>
            <p:spPr bwMode="auto">
              <a:xfrm rot="5400000" flipH="1" flipV="1">
                <a:off x="4118" y="3470"/>
                <a:ext cx="258" cy="138"/>
              </a:xfrm>
              <a:custGeom>
                <a:avLst/>
                <a:gdLst>
                  <a:gd name="T0" fmla="*/ 0 w 37723"/>
                  <a:gd name="T1" fmla="*/ 0 h 21600"/>
                  <a:gd name="T2" fmla="*/ 2 w 37723"/>
                  <a:gd name="T3" fmla="*/ 0 h 21600"/>
                  <a:gd name="T4" fmla="*/ 1 w 37723"/>
                  <a:gd name="T5" fmla="*/ 1 h 21600"/>
                  <a:gd name="T6" fmla="*/ 0 60000 65536"/>
                  <a:gd name="T7" fmla="*/ 0 60000 65536"/>
                  <a:gd name="T8" fmla="*/ 0 60000 65536"/>
                  <a:gd name="T9" fmla="*/ 0 w 37723"/>
                  <a:gd name="T10" fmla="*/ 0 h 21600"/>
                  <a:gd name="T11" fmla="*/ 37723 w 37723"/>
                  <a:gd name="T12" fmla="*/ 21600 h 21600"/>
                </a:gdLst>
                <a:ahLst/>
                <a:cxnLst>
                  <a:cxn ang="T6">
                    <a:pos x="T0" y="T1"/>
                  </a:cxn>
                  <a:cxn ang="T7">
                    <a:pos x="T2" y="T3"/>
                  </a:cxn>
                  <a:cxn ang="T8">
                    <a:pos x="T4" y="T5"/>
                  </a:cxn>
                </a:cxnLst>
                <a:rect l="T9" t="T10" r="T11" b="T12"/>
                <a:pathLst>
                  <a:path w="37723" h="21600" fill="none" extrusionOk="0">
                    <a:moveTo>
                      <a:pt x="0" y="11318"/>
                    </a:moveTo>
                    <a:cubicBezTo>
                      <a:pt x="3774" y="4344"/>
                      <a:pt x="11066" y="-1"/>
                      <a:pt x="18996" y="0"/>
                    </a:cubicBezTo>
                    <a:cubicBezTo>
                      <a:pt x="26727" y="0"/>
                      <a:pt x="33869" y="4132"/>
                      <a:pt x="37722" y="10836"/>
                    </a:cubicBezTo>
                  </a:path>
                  <a:path w="37723" h="21600" stroke="0" extrusionOk="0">
                    <a:moveTo>
                      <a:pt x="0" y="11318"/>
                    </a:moveTo>
                    <a:cubicBezTo>
                      <a:pt x="3774" y="4344"/>
                      <a:pt x="11066" y="-1"/>
                      <a:pt x="18996" y="0"/>
                    </a:cubicBezTo>
                    <a:cubicBezTo>
                      <a:pt x="26727" y="0"/>
                      <a:pt x="33869" y="4132"/>
                      <a:pt x="37722" y="10836"/>
                    </a:cubicBezTo>
                    <a:lnTo>
                      <a:pt x="18996" y="21600"/>
                    </a:lnTo>
                    <a:close/>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FF"/>
                  </a:solidFill>
                  <a:effectLst/>
                  <a:uLnTx/>
                  <a:uFillTx/>
                  <a:ea typeface="黑体" panose="02010609060101010101" pitchFamily="49" charset="-122"/>
                </a:endParaRPr>
              </a:p>
            </p:txBody>
          </p:sp>
        </p:grpSp>
        <p:sp>
          <p:nvSpPr>
            <p:cNvPr id="29" name="Line 20">
              <a:extLst>
                <a:ext uri="{FF2B5EF4-FFF2-40B4-BE49-F238E27FC236}">
                  <a16:creationId xmlns:a16="http://schemas.microsoft.com/office/drawing/2014/main" id="{C10DCFC4-4567-B6D9-29D0-EA23E88ED3BD}"/>
                </a:ext>
              </a:extLst>
            </p:cNvPr>
            <p:cNvSpPr>
              <a:spLocks noChangeShapeType="1"/>
            </p:cNvSpPr>
            <p:nvPr/>
          </p:nvSpPr>
          <p:spPr bwMode="auto">
            <a:xfrm>
              <a:off x="1386" y="3675"/>
              <a:ext cx="3192" cy="0"/>
            </a:xfrm>
            <a:prstGeom prst="line">
              <a:avLst/>
            </a:prstGeom>
            <a:noFill/>
            <a:ln w="9525">
              <a:solidFill>
                <a:srgbClr val="000000"/>
              </a:solidFill>
              <a:prstDash val="lgDashDot"/>
              <a:round/>
              <a:headEnd/>
              <a:tailE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FF"/>
                </a:solidFill>
                <a:effectLst/>
                <a:uLnTx/>
                <a:uFillTx/>
                <a:ea typeface="黑体" panose="02010609060101010101" pitchFamily="49" charset="-122"/>
              </a:endParaRPr>
            </a:p>
          </p:txBody>
        </p:sp>
      </p:grpSp>
    </p:spTree>
    <p:extLst>
      <p:ext uri="{BB962C8B-B14F-4D97-AF65-F5344CB8AC3E}">
        <p14:creationId xmlns:p14="http://schemas.microsoft.com/office/powerpoint/2010/main" val="2070300063"/>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type="lt">
                                    <p:tmPct val="100000"/>
                                  </p:iterate>
                                  <p:childTnLst>
                                    <p:set>
                                      <p:cBhvr>
                                        <p:cTn id="6" dur="1" fill="hold">
                                          <p:stCondLst>
                                            <p:cond delay="0"/>
                                          </p:stCondLst>
                                        </p:cTn>
                                        <p:tgtEl>
                                          <p:spTgt spid="69"/>
                                        </p:tgtEl>
                                        <p:attrNameLst>
                                          <p:attrName>style.visibility</p:attrName>
                                        </p:attrNameLst>
                                      </p:cBhvr>
                                      <p:to>
                                        <p:strVal val="visible"/>
                                      </p:to>
                                    </p:set>
                                    <p:animEffect transition="in" filter="wipe(left)">
                                      <p:cBhvr>
                                        <p:cTn id="7" dur="75"/>
                                        <p:tgtEl>
                                          <p:spTgt spid="69"/>
                                        </p:tgtEl>
                                      </p:cBhvr>
                                    </p:animEffect>
                                  </p:childTnLst>
                                  <p:subTnLst>
                                    <p:audio>
                                      <p:cMediaNode>
                                        <p:cTn display="0" masterRel="sameClick">
                                          <p:stCondLst>
                                            <p:cond evt="begin" delay="0">
                                              <p:tn val="5"/>
                                            </p:cond>
                                          </p:stCondLst>
                                          <p:endCondLst>
                                            <p:cond evt="onStopAudio" delay="0">
                                              <p:tgtEl>
                                                <p:sldTgt/>
                                              </p:tgtEl>
                                            </p:cond>
                                          </p:endCondLst>
                                        </p:cTn>
                                        <p:tgtEl>
                                          <p:sndTgt r:embed="rId3" name="TYPE.WAV"/>
                                        </p:tgtEl>
                                      </p:cMediaNode>
                                    </p:audio>
                                  </p:subTnLst>
                                </p:cTn>
                              </p:par>
                            </p:childTnLst>
                          </p:cTn>
                        </p:par>
                        <p:par>
                          <p:cTn id="8" fill="hold">
                            <p:stCondLst>
                              <p:cond delay="600"/>
                            </p:stCondLst>
                            <p:childTnLst>
                              <p:par>
                                <p:cTn id="9" presetID="22" presetClass="entr" presetSubtype="8" fill="hold" grpId="0" nodeType="afterEffect">
                                  <p:stCondLst>
                                    <p:cond delay="1000"/>
                                  </p:stCondLst>
                                  <p:iterate type="lt">
                                    <p:tmPct val="100000"/>
                                  </p:iterate>
                                  <p:childTnLst>
                                    <p:set>
                                      <p:cBhvr>
                                        <p:cTn id="10" dur="1" fill="hold">
                                          <p:stCondLst>
                                            <p:cond delay="0"/>
                                          </p:stCondLst>
                                        </p:cTn>
                                        <p:tgtEl>
                                          <p:spTgt spid="89"/>
                                        </p:tgtEl>
                                        <p:attrNameLst>
                                          <p:attrName>style.visibility</p:attrName>
                                        </p:attrNameLst>
                                      </p:cBhvr>
                                      <p:to>
                                        <p:strVal val="visible"/>
                                      </p:to>
                                    </p:set>
                                    <p:animEffect transition="in" filter="wipe(left)">
                                      <p:cBhvr>
                                        <p:cTn id="11" dur="75"/>
                                        <p:tgtEl>
                                          <p:spTgt spid="89"/>
                                        </p:tgtEl>
                                      </p:cBhvr>
                                    </p:animEffect>
                                  </p:childTnLst>
                                  <p:subTnLst>
                                    <p:audio>
                                      <p:cMediaNode>
                                        <p:cTn display="0" masterRel="sameClick">
                                          <p:stCondLst>
                                            <p:cond evt="begin" delay="0">
                                              <p:tn val="9"/>
                                            </p:cond>
                                          </p:stCondLst>
                                          <p:endCondLst>
                                            <p:cond evt="onStopAudio" delay="0">
                                              <p:tgtEl>
                                                <p:sldTgt/>
                                              </p:tgtEl>
                                            </p:cond>
                                          </p:endCondLst>
                                        </p:cTn>
                                        <p:tgtEl>
                                          <p:sndTgt r:embed="rId3" name="TYPE.WAV"/>
                                        </p:tgtEl>
                                      </p:cMediaNode>
                                    </p:audio>
                                  </p:sub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iterate type="lt">
                                    <p:tmPct val="100000"/>
                                  </p:iterate>
                                  <p:childTnLst>
                                    <p:set>
                                      <p:cBhvr>
                                        <p:cTn id="15" dur="1" fill="hold">
                                          <p:stCondLst>
                                            <p:cond delay="0"/>
                                          </p:stCondLst>
                                        </p:cTn>
                                        <p:tgtEl>
                                          <p:spTgt spid="4"/>
                                        </p:tgtEl>
                                        <p:attrNameLst>
                                          <p:attrName>style.visibility</p:attrName>
                                        </p:attrNameLst>
                                      </p:cBhvr>
                                      <p:to>
                                        <p:strVal val="visible"/>
                                      </p:to>
                                    </p:set>
                                    <p:animEffect transition="in" filter="wipe(left)">
                                      <p:cBhvr>
                                        <p:cTn id="16" dur="75"/>
                                        <p:tgtEl>
                                          <p:spTgt spid="4"/>
                                        </p:tgtEl>
                                      </p:cBhvr>
                                    </p:animEffect>
                                  </p:childTnLst>
                                  <p:subTnLst>
                                    <p:audio>
                                      <p:cMediaNode>
                                        <p:cTn display="0" masterRel="sameClick">
                                          <p:stCondLst>
                                            <p:cond evt="begin" delay="0">
                                              <p:tn val="14"/>
                                            </p:cond>
                                          </p:stCondLst>
                                          <p:endCondLst>
                                            <p:cond evt="onStopAudio" delay="0">
                                              <p:tgtEl>
                                                <p:sldTgt/>
                                              </p:tgtEl>
                                            </p:cond>
                                          </p:endCondLst>
                                        </p:cTn>
                                        <p:tgtEl>
                                          <p:sndTgt r:embed="rId3" name="TYPE.WAV"/>
                                        </p:tgtEl>
                                      </p:cMediaNode>
                                    </p:audio>
                                  </p:subTnLst>
                                </p:cTn>
                              </p:par>
                            </p:childTnLst>
                          </p:cTn>
                        </p:par>
                        <p:par>
                          <p:cTn id="17" fill="hold">
                            <p:stCondLst>
                              <p:cond delay="300"/>
                            </p:stCondLst>
                            <p:childTnLst>
                              <p:par>
                                <p:cTn id="18" presetID="16" presetClass="entr" presetSubtype="37" fill="hold" nodeType="afterEffect">
                                  <p:stCondLst>
                                    <p:cond delay="0"/>
                                  </p:stCondLst>
                                  <p:childTnLst>
                                    <p:set>
                                      <p:cBhvr>
                                        <p:cTn id="19" dur="1" fill="hold">
                                          <p:stCondLst>
                                            <p:cond delay="0"/>
                                          </p:stCondLst>
                                        </p:cTn>
                                        <p:tgtEl>
                                          <p:spTgt spid="24"/>
                                        </p:tgtEl>
                                        <p:attrNameLst>
                                          <p:attrName>style.visibility</p:attrName>
                                        </p:attrNameLst>
                                      </p:cBhvr>
                                      <p:to>
                                        <p:strVal val="visible"/>
                                      </p:to>
                                    </p:set>
                                    <p:animEffect transition="in" filter="barn(outVertical)">
                                      <p:cBhvr>
                                        <p:cTn id="20" dur="50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 grpId="0" autoUpdateAnimBg="0"/>
      <p:bldP spid="89" grpId="0" autoUpdateAnimBg="0"/>
      <p:bldP spid="4" grpId="0"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711605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第八章   拉压、剪切与挤压的强度计算</a:t>
            </a:r>
          </a:p>
        </p:txBody>
      </p:sp>
      <p:sp>
        <p:nvSpPr>
          <p:cNvPr id="89" name="Text Box 25">
            <a:extLst>
              <a:ext uri="{FF2B5EF4-FFF2-40B4-BE49-F238E27FC236}">
                <a16:creationId xmlns:a16="http://schemas.microsoft.com/office/drawing/2014/main" id="{E94B3BCF-FF80-03BF-F778-771D78F2B490}"/>
              </a:ext>
            </a:extLst>
          </p:cNvPr>
          <p:cNvSpPr txBox="1">
            <a:spLocks noChangeArrowheads="1"/>
          </p:cNvSpPr>
          <p:nvPr/>
        </p:nvSpPr>
        <p:spPr bwMode="auto">
          <a:xfrm>
            <a:off x="497359" y="1060642"/>
            <a:ext cx="10855225" cy="10070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fontAlgn="auto" hangingPunct="1">
              <a:lnSpc>
                <a:spcPct val="110000"/>
              </a:lnSpc>
              <a:spcBef>
                <a:spcPct val="50000"/>
              </a:spcBef>
              <a:spcAft>
                <a:spcPts val="0"/>
              </a:spcAft>
            </a:pPr>
            <a:r>
              <a:rPr lang="zh-CN" altLang="en-US" sz="2800" i="0" dirty="0">
                <a:solidFill>
                  <a:schemeClr val="tx1"/>
                </a:solidFill>
                <a:latin typeface="+mn-lt"/>
                <a:ea typeface="微软雅黑" panose="020B0503020204020204" pitchFamily="34" charset="-122"/>
              </a:rPr>
              <a:t>试样拉断后，弹性变形消失，但塑性变形保留下来。工程中用试件拉断后残留的塑性变形来表示材料的塑性性能。常用的塑性指标有两个：</a:t>
            </a:r>
          </a:p>
        </p:txBody>
      </p:sp>
      <p:sp>
        <p:nvSpPr>
          <p:cNvPr id="2" name="Rectangle 61">
            <a:extLst>
              <a:ext uri="{FF2B5EF4-FFF2-40B4-BE49-F238E27FC236}">
                <a16:creationId xmlns:a16="http://schemas.microsoft.com/office/drawing/2014/main" id="{7BB16F77-FEC6-C419-6EB8-AE926934E7F7}"/>
              </a:ext>
            </a:extLst>
          </p:cNvPr>
          <p:cNvSpPr>
            <a:spLocks noChangeArrowheads="1"/>
          </p:cNvSpPr>
          <p:nvPr/>
        </p:nvSpPr>
        <p:spPr bwMode="auto">
          <a:xfrm>
            <a:off x="2639616" y="4254311"/>
            <a:ext cx="6984776" cy="2002776"/>
          </a:xfrm>
          <a:prstGeom prst="rect">
            <a:avLst/>
          </a:prstGeom>
          <a:solidFill>
            <a:srgbClr val="B9CDE5"/>
          </a:solidFill>
          <a:ln>
            <a:noFill/>
          </a:ln>
          <a:effectLst/>
        </p:spPr>
        <p:txBody>
          <a:bodyPr wrap="none" anchor="ctr"/>
          <a:lstStyle/>
          <a:p>
            <a:endParaRPr lang="zh-CN" altLang="en-US" dirty="0"/>
          </a:p>
        </p:txBody>
      </p:sp>
      <p:sp>
        <p:nvSpPr>
          <p:cNvPr id="3" name="Text Box 25">
            <a:extLst>
              <a:ext uri="{FF2B5EF4-FFF2-40B4-BE49-F238E27FC236}">
                <a16:creationId xmlns:a16="http://schemas.microsoft.com/office/drawing/2014/main" id="{638487EA-16CD-6F79-85B4-83CFA1F1429E}"/>
              </a:ext>
            </a:extLst>
          </p:cNvPr>
          <p:cNvSpPr txBox="1">
            <a:spLocks noChangeArrowheads="1"/>
          </p:cNvSpPr>
          <p:nvPr/>
        </p:nvSpPr>
        <p:spPr bwMode="auto">
          <a:xfrm>
            <a:off x="830923" y="2384807"/>
            <a:ext cx="2407679" cy="531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fontAlgn="auto" hangingPunct="1">
              <a:lnSpc>
                <a:spcPct val="110000"/>
              </a:lnSpc>
              <a:spcBef>
                <a:spcPct val="50000"/>
              </a:spcBef>
              <a:spcAft>
                <a:spcPts val="0"/>
              </a:spcAft>
            </a:pPr>
            <a:r>
              <a:rPr lang="zh-CN" altLang="en-US" sz="2800" i="0" dirty="0">
                <a:solidFill>
                  <a:srgbClr val="FF00FF"/>
                </a:solidFill>
                <a:latin typeface="微软雅黑" panose="020B0503020204020204" pitchFamily="34" charset="-122"/>
                <a:ea typeface="微软雅黑" panose="020B0503020204020204" pitchFamily="34" charset="-122"/>
              </a:rPr>
              <a:t>伸长率</a:t>
            </a:r>
            <a:r>
              <a:rPr lang="zh-CN" altLang="en-US" sz="2800" b="0" dirty="0">
                <a:solidFill>
                  <a:srgbClr val="FF00FF"/>
                </a:solidFill>
                <a:latin typeface="微软雅黑" panose="020B0503020204020204" pitchFamily="34" charset="-122"/>
                <a:ea typeface="微软雅黑" panose="020B0503020204020204" pitchFamily="34" charset="-122"/>
                <a:sym typeface="Symbol" panose="05050102010706020507" pitchFamily="18" charset="2"/>
              </a:rPr>
              <a:t></a:t>
            </a:r>
            <a:endParaRPr lang="zh-CN" altLang="en-US" sz="2800" i="0" dirty="0">
              <a:solidFill>
                <a:schemeClr val="tx1"/>
              </a:solidFill>
              <a:latin typeface="+mn-lt"/>
              <a:ea typeface="微软雅黑" panose="020B0503020204020204" pitchFamily="34" charset="-122"/>
            </a:endParaRPr>
          </a:p>
        </p:txBody>
      </p:sp>
      <p:graphicFrame>
        <p:nvGraphicFramePr>
          <p:cNvPr id="5" name="Object 33">
            <a:extLst>
              <a:ext uri="{FF2B5EF4-FFF2-40B4-BE49-F238E27FC236}">
                <a16:creationId xmlns:a16="http://schemas.microsoft.com/office/drawing/2014/main" id="{EA2943EA-F321-3839-1076-C57545CCAF7F}"/>
              </a:ext>
            </a:extLst>
          </p:cNvPr>
          <p:cNvGraphicFramePr>
            <a:graphicFrameLocks noChangeAspect="1"/>
          </p:cNvGraphicFramePr>
          <p:nvPr>
            <p:extLst>
              <p:ext uri="{D42A27DB-BD31-4B8C-83A1-F6EECF244321}">
                <p14:modId xmlns:p14="http://schemas.microsoft.com/office/powerpoint/2010/main" val="3246607969"/>
              </p:ext>
            </p:extLst>
          </p:nvPr>
        </p:nvGraphicFramePr>
        <p:xfrm>
          <a:off x="2579775" y="2280374"/>
          <a:ext cx="2263775" cy="827087"/>
        </p:xfrm>
        <a:graphic>
          <a:graphicData uri="http://schemas.openxmlformats.org/presentationml/2006/ole">
            <mc:AlternateContent xmlns:mc="http://schemas.openxmlformats.org/markup-compatibility/2006">
              <mc:Choice xmlns:v="urn:schemas-microsoft-com:vml" Requires="v">
                <p:oleObj name="Equation" r:id="rId5" imgW="1041120" imgH="393480" progId="Equation.DSMT4">
                  <p:embed/>
                </p:oleObj>
              </mc:Choice>
              <mc:Fallback>
                <p:oleObj name="Equation" r:id="rId5" imgW="1041120" imgH="393480" progId="Equation.DSMT4">
                  <p:embed/>
                  <p:pic>
                    <p:nvPicPr>
                      <p:cNvPr id="5" name="Object 33">
                        <a:extLst>
                          <a:ext uri="{FF2B5EF4-FFF2-40B4-BE49-F238E27FC236}">
                            <a16:creationId xmlns:a16="http://schemas.microsoft.com/office/drawing/2014/main" id="{EA2943EA-F321-3839-1076-C57545CCAF7F}"/>
                          </a:ext>
                        </a:extLst>
                      </p:cNvPr>
                      <p:cNvPicPr>
                        <a:picLocks noChangeAspect="1" noChangeArrowheads="1"/>
                      </p:cNvPicPr>
                      <p:nvPr/>
                    </p:nvPicPr>
                    <p:blipFill>
                      <a:blip r:embed="rId6"/>
                      <a:srcRect/>
                      <a:stretch>
                        <a:fillRect/>
                      </a:stretch>
                    </p:blipFill>
                    <p:spPr bwMode="auto">
                      <a:xfrm>
                        <a:off x="2579775" y="2280374"/>
                        <a:ext cx="2263775" cy="827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 name="Text Box 25">
            <a:extLst>
              <a:ext uri="{FF2B5EF4-FFF2-40B4-BE49-F238E27FC236}">
                <a16:creationId xmlns:a16="http://schemas.microsoft.com/office/drawing/2014/main" id="{5D891B9F-55F5-26AD-5137-0F5C7AE81010}"/>
              </a:ext>
            </a:extLst>
          </p:cNvPr>
          <p:cNvSpPr txBox="1">
            <a:spLocks noChangeArrowheads="1"/>
          </p:cNvSpPr>
          <p:nvPr/>
        </p:nvSpPr>
        <p:spPr bwMode="auto">
          <a:xfrm>
            <a:off x="5825741" y="2384807"/>
            <a:ext cx="2407679" cy="531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fontAlgn="auto" hangingPunct="1">
              <a:lnSpc>
                <a:spcPct val="110000"/>
              </a:lnSpc>
              <a:spcBef>
                <a:spcPct val="50000"/>
              </a:spcBef>
              <a:spcAft>
                <a:spcPts val="0"/>
              </a:spcAft>
            </a:pPr>
            <a:r>
              <a:rPr lang="zh-CN" altLang="en-US" sz="2800" i="0" dirty="0">
                <a:solidFill>
                  <a:srgbClr val="FF00FF"/>
                </a:solidFill>
                <a:latin typeface="微软雅黑" panose="020B0503020204020204" pitchFamily="34" charset="-122"/>
                <a:ea typeface="微软雅黑" panose="020B0503020204020204" pitchFamily="34" charset="-122"/>
              </a:rPr>
              <a:t>断面收缩率</a:t>
            </a:r>
            <a:r>
              <a:rPr lang="zh-CN" altLang="en-US" sz="2800" b="0" dirty="0">
                <a:solidFill>
                  <a:srgbClr val="FF00FF"/>
                </a:solidFill>
                <a:latin typeface="微软雅黑" panose="020B0503020204020204" pitchFamily="34" charset="-122"/>
                <a:ea typeface="微软雅黑" panose="020B0503020204020204" pitchFamily="34" charset="-122"/>
                <a:sym typeface="Symbol" panose="05050102010706020507" pitchFamily="18" charset="2"/>
              </a:rPr>
              <a:t></a:t>
            </a:r>
            <a:endParaRPr lang="zh-CN" altLang="en-US" sz="2800" i="0" dirty="0">
              <a:solidFill>
                <a:schemeClr val="tx1"/>
              </a:solidFill>
              <a:latin typeface="+mn-lt"/>
              <a:ea typeface="微软雅黑" panose="020B0503020204020204" pitchFamily="34" charset="-122"/>
            </a:endParaRPr>
          </a:p>
        </p:txBody>
      </p:sp>
      <p:graphicFrame>
        <p:nvGraphicFramePr>
          <p:cNvPr id="8" name="Object 48">
            <a:extLst>
              <a:ext uri="{FF2B5EF4-FFF2-40B4-BE49-F238E27FC236}">
                <a16:creationId xmlns:a16="http://schemas.microsoft.com/office/drawing/2014/main" id="{4987B431-E148-6BD3-89E2-A3E87F907121}"/>
              </a:ext>
            </a:extLst>
          </p:cNvPr>
          <p:cNvGraphicFramePr>
            <a:graphicFrameLocks noChangeAspect="1"/>
          </p:cNvGraphicFramePr>
          <p:nvPr>
            <p:extLst>
              <p:ext uri="{D42A27DB-BD31-4B8C-83A1-F6EECF244321}">
                <p14:modId xmlns:p14="http://schemas.microsoft.com/office/powerpoint/2010/main" val="2639892007"/>
              </p:ext>
            </p:extLst>
          </p:nvPr>
        </p:nvGraphicFramePr>
        <p:xfrm>
          <a:off x="8317516" y="2280373"/>
          <a:ext cx="2508250" cy="827087"/>
        </p:xfrm>
        <a:graphic>
          <a:graphicData uri="http://schemas.openxmlformats.org/presentationml/2006/ole">
            <mc:AlternateContent xmlns:mc="http://schemas.openxmlformats.org/markup-compatibility/2006">
              <mc:Choice xmlns:v="urn:schemas-microsoft-com:vml" Requires="v">
                <p:oleObj name="Equation" r:id="rId7" imgW="1168200" imgH="393480" progId="Equation.DSMT4">
                  <p:embed/>
                </p:oleObj>
              </mc:Choice>
              <mc:Fallback>
                <p:oleObj name="Equation" r:id="rId7" imgW="1168200" imgH="393480" progId="Equation.DSMT4">
                  <p:embed/>
                  <p:pic>
                    <p:nvPicPr>
                      <p:cNvPr id="8" name="Object 48">
                        <a:extLst>
                          <a:ext uri="{FF2B5EF4-FFF2-40B4-BE49-F238E27FC236}">
                            <a16:creationId xmlns:a16="http://schemas.microsoft.com/office/drawing/2014/main" id="{4987B431-E148-6BD3-89E2-A3E87F907121}"/>
                          </a:ext>
                        </a:extLst>
                      </p:cNvPr>
                      <p:cNvPicPr>
                        <a:picLocks noChangeAspect="1" noChangeArrowheads="1"/>
                      </p:cNvPicPr>
                      <p:nvPr/>
                    </p:nvPicPr>
                    <p:blipFill>
                      <a:blip r:embed="rId8"/>
                      <a:srcRect/>
                      <a:stretch>
                        <a:fillRect/>
                      </a:stretch>
                    </p:blipFill>
                    <p:spPr bwMode="auto">
                      <a:xfrm>
                        <a:off x="8317516" y="2280373"/>
                        <a:ext cx="2508250" cy="827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 name="Text Box 25">
            <a:extLst>
              <a:ext uri="{FF2B5EF4-FFF2-40B4-BE49-F238E27FC236}">
                <a16:creationId xmlns:a16="http://schemas.microsoft.com/office/drawing/2014/main" id="{FED3326B-ADE6-2233-D387-ADB6443E5E0C}"/>
              </a:ext>
            </a:extLst>
          </p:cNvPr>
          <p:cNvSpPr txBox="1">
            <a:spLocks noChangeArrowheads="1"/>
          </p:cNvSpPr>
          <p:nvPr/>
        </p:nvSpPr>
        <p:spPr bwMode="auto">
          <a:xfrm>
            <a:off x="497359" y="3214500"/>
            <a:ext cx="10855225" cy="10070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fontAlgn="auto" hangingPunct="1">
              <a:lnSpc>
                <a:spcPct val="110000"/>
              </a:lnSpc>
              <a:spcBef>
                <a:spcPct val="50000"/>
              </a:spcBef>
              <a:spcAft>
                <a:spcPts val="0"/>
              </a:spcAft>
            </a:pPr>
            <a:r>
              <a:rPr lang="en-US" altLang="zh-CN" sz="2800" b="0" dirty="0">
                <a:solidFill>
                  <a:schemeClr val="tx1"/>
                </a:solidFill>
                <a:ea typeface="微软雅黑" panose="020B0503020204020204" pitchFamily="34" charset="-122"/>
                <a:cs typeface="Times New Roman" panose="02020603050405020304" pitchFamily="18" charset="0"/>
              </a:rPr>
              <a:t>l </a:t>
            </a:r>
            <a:r>
              <a:rPr lang="zh-CN" altLang="en-US" sz="2800" i="0" dirty="0">
                <a:solidFill>
                  <a:schemeClr val="tx1"/>
                </a:solidFill>
                <a:ea typeface="微软雅黑" panose="020B0503020204020204" pitchFamily="34" charset="-122"/>
                <a:cs typeface="Times New Roman" panose="02020603050405020304" pitchFamily="18" charset="0"/>
              </a:rPr>
              <a:t>标距原长；</a:t>
            </a:r>
            <a:r>
              <a:rPr lang="en-US" altLang="zh-CN" sz="2800" b="0" dirty="0">
                <a:solidFill>
                  <a:schemeClr val="tx1"/>
                </a:solidFill>
                <a:ea typeface="微软雅黑" panose="020B0503020204020204" pitchFamily="34" charset="-122"/>
                <a:cs typeface="Times New Roman" panose="02020603050405020304" pitchFamily="18" charset="0"/>
              </a:rPr>
              <a:t>l</a:t>
            </a:r>
            <a:r>
              <a:rPr lang="en-US" altLang="zh-CN" sz="2800" b="0" i="0" baseline="-25000" dirty="0">
                <a:solidFill>
                  <a:schemeClr val="tx1"/>
                </a:solidFill>
                <a:ea typeface="微软雅黑" panose="020B0503020204020204" pitchFamily="34" charset="-122"/>
                <a:cs typeface="Times New Roman" panose="02020603050405020304" pitchFamily="18" charset="0"/>
              </a:rPr>
              <a:t>1</a:t>
            </a:r>
            <a:r>
              <a:rPr lang="zh-CN" altLang="en-US" sz="2800" i="0" dirty="0">
                <a:solidFill>
                  <a:schemeClr val="tx1"/>
                </a:solidFill>
                <a:ea typeface="微软雅黑" panose="020B0503020204020204" pitchFamily="34" charset="-122"/>
                <a:cs typeface="Times New Roman" panose="02020603050405020304" pitchFamily="18" charset="0"/>
              </a:rPr>
              <a:t>是拉断后标距的长度；</a:t>
            </a:r>
            <a:r>
              <a:rPr lang="en-US" altLang="zh-CN" sz="2800" b="0" dirty="0">
                <a:solidFill>
                  <a:schemeClr val="tx1"/>
                </a:solidFill>
                <a:ea typeface="微软雅黑" panose="020B0503020204020204" pitchFamily="34" charset="-122"/>
                <a:cs typeface="Times New Roman" panose="02020603050405020304" pitchFamily="18" charset="0"/>
              </a:rPr>
              <a:t>A</a:t>
            </a:r>
            <a:r>
              <a:rPr lang="zh-CN" altLang="en-US" sz="2800" i="0" dirty="0">
                <a:solidFill>
                  <a:schemeClr val="tx1"/>
                </a:solidFill>
                <a:ea typeface="微软雅黑" panose="020B0503020204020204" pitchFamily="34" charset="-122"/>
                <a:cs typeface="Times New Roman" panose="02020603050405020304" pitchFamily="18" charset="0"/>
              </a:rPr>
              <a:t>为试件原横截面面积；</a:t>
            </a:r>
            <a:r>
              <a:rPr lang="en-US" altLang="zh-CN" sz="2800" b="0" dirty="0">
                <a:solidFill>
                  <a:schemeClr val="tx1"/>
                </a:solidFill>
                <a:ea typeface="微软雅黑" panose="020B0503020204020204" pitchFamily="34" charset="-122"/>
                <a:cs typeface="Times New Roman" panose="02020603050405020304" pitchFamily="18" charset="0"/>
              </a:rPr>
              <a:t>A</a:t>
            </a:r>
            <a:r>
              <a:rPr lang="en-US" altLang="zh-CN" sz="2800" b="0" i="0" baseline="-25000" dirty="0">
                <a:solidFill>
                  <a:schemeClr val="tx1"/>
                </a:solidFill>
                <a:ea typeface="微软雅黑" panose="020B0503020204020204" pitchFamily="34" charset="-122"/>
                <a:cs typeface="Times New Roman" panose="02020603050405020304" pitchFamily="18" charset="0"/>
              </a:rPr>
              <a:t>1</a:t>
            </a:r>
            <a:r>
              <a:rPr lang="zh-CN" altLang="en-US" sz="2800" i="0" dirty="0">
                <a:solidFill>
                  <a:schemeClr val="tx1"/>
                </a:solidFill>
                <a:ea typeface="微软雅黑" panose="020B0503020204020204" pitchFamily="34" charset="-122"/>
                <a:cs typeface="Times New Roman" panose="02020603050405020304" pitchFamily="18" charset="0"/>
              </a:rPr>
              <a:t>为试件断裂后缩颈处的最小横截面面积。</a:t>
            </a:r>
          </a:p>
        </p:txBody>
      </p:sp>
      <p:grpSp>
        <p:nvGrpSpPr>
          <p:cNvPr id="10" name="Group 2">
            <a:extLst>
              <a:ext uri="{FF2B5EF4-FFF2-40B4-BE49-F238E27FC236}">
                <a16:creationId xmlns:a16="http://schemas.microsoft.com/office/drawing/2014/main" id="{7024441E-CD61-15CA-79D4-225842FA4789}"/>
              </a:ext>
            </a:extLst>
          </p:cNvPr>
          <p:cNvGrpSpPr>
            <a:grpSpLocks/>
          </p:cNvGrpSpPr>
          <p:nvPr/>
        </p:nvGrpSpPr>
        <p:grpSpPr bwMode="auto">
          <a:xfrm>
            <a:off x="2951572" y="4979752"/>
            <a:ext cx="5911850" cy="735012"/>
            <a:chOff x="972" y="1591"/>
            <a:chExt cx="3724" cy="463"/>
          </a:xfrm>
        </p:grpSpPr>
        <p:sp>
          <p:nvSpPr>
            <p:cNvPr id="11" name="Freeform 3">
              <a:extLst>
                <a:ext uri="{FF2B5EF4-FFF2-40B4-BE49-F238E27FC236}">
                  <a16:creationId xmlns:a16="http://schemas.microsoft.com/office/drawing/2014/main" id="{15602AE4-8537-2748-5087-74461DFA966B}"/>
                </a:ext>
              </a:extLst>
            </p:cNvPr>
            <p:cNvSpPr>
              <a:spLocks noChangeAspect="1"/>
            </p:cNvSpPr>
            <p:nvPr/>
          </p:nvSpPr>
          <p:spPr bwMode="auto">
            <a:xfrm>
              <a:off x="1116" y="1595"/>
              <a:ext cx="620" cy="456"/>
            </a:xfrm>
            <a:custGeom>
              <a:avLst/>
              <a:gdLst>
                <a:gd name="T0" fmla="*/ 612 w 620"/>
                <a:gd name="T1" fmla="*/ 351 h 456"/>
                <a:gd name="T2" fmla="*/ 510 w 620"/>
                <a:gd name="T3" fmla="*/ 456 h 456"/>
                <a:gd name="T4" fmla="*/ 0 w 620"/>
                <a:gd name="T5" fmla="*/ 454 h 456"/>
                <a:gd name="T6" fmla="*/ 0 w 620"/>
                <a:gd name="T7" fmla="*/ 3 h 456"/>
                <a:gd name="T8" fmla="*/ 507 w 620"/>
                <a:gd name="T9" fmla="*/ 0 h 456"/>
                <a:gd name="T10" fmla="*/ 612 w 620"/>
                <a:gd name="T11" fmla="*/ 93 h 456"/>
                <a:gd name="T12" fmla="*/ 620 w 620"/>
                <a:gd name="T13" fmla="*/ 341 h 456"/>
                <a:gd name="T14" fmla="*/ 612 w 620"/>
                <a:gd name="T15" fmla="*/ 351 h 456"/>
                <a:gd name="T16" fmla="*/ 0 60000 65536"/>
                <a:gd name="T17" fmla="*/ 0 60000 65536"/>
                <a:gd name="T18" fmla="*/ 0 60000 65536"/>
                <a:gd name="T19" fmla="*/ 0 60000 65536"/>
                <a:gd name="T20" fmla="*/ 0 60000 65536"/>
                <a:gd name="T21" fmla="*/ 0 60000 65536"/>
                <a:gd name="T22" fmla="*/ 0 60000 65536"/>
                <a:gd name="T23" fmla="*/ 0 60000 65536"/>
                <a:gd name="T24" fmla="*/ 0 w 620"/>
                <a:gd name="T25" fmla="*/ 0 h 456"/>
                <a:gd name="T26" fmla="*/ 620 w 620"/>
                <a:gd name="T27" fmla="*/ 456 h 45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620" h="456">
                  <a:moveTo>
                    <a:pt x="612" y="351"/>
                  </a:moveTo>
                  <a:lnTo>
                    <a:pt x="510" y="456"/>
                  </a:lnTo>
                  <a:lnTo>
                    <a:pt x="0" y="454"/>
                  </a:lnTo>
                  <a:lnTo>
                    <a:pt x="0" y="3"/>
                  </a:lnTo>
                  <a:lnTo>
                    <a:pt x="507" y="0"/>
                  </a:lnTo>
                  <a:lnTo>
                    <a:pt x="612" y="93"/>
                  </a:lnTo>
                  <a:lnTo>
                    <a:pt x="620" y="341"/>
                  </a:lnTo>
                  <a:lnTo>
                    <a:pt x="612" y="351"/>
                  </a:lnTo>
                  <a:close/>
                </a:path>
              </a:pathLst>
            </a:custGeom>
            <a:gradFill rotWithShape="0">
              <a:gsLst>
                <a:gs pos="0">
                  <a:srgbClr val="838383"/>
                </a:gs>
                <a:gs pos="50000">
                  <a:srgbClr val="DDDDDD"/>
                </a:gs>
                <a:gs pos="100000">
                  <a:srgbClr val="838383"/>
                </a:gs>
              </a:gsLst>
              <a:lin ang="5400000" scaled="1"/>
            </a:gradFill>
            <a:ln w="28575" cmpd="sng">
              <a:solidFill>
                <a:srgbClr val="000000"/>
              </a:solidFill>
              <a:round/>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FF"/>
                </a:solidFill>
                <a:effectLst/>
                <a:uLnTx/>
                <a:uFillTx/>
                <a:ea typeface="黑体" panose="02010609060101010101" pitchFamily="49" charset="-122"/>
              </a:endParaRPr>
            </a:p>
          </p:txBody>
        </p:sp>
        <p:sp>
          <p:nvSpPr>
            <p:cNvPr id="12" name="Freeform 4">
              <a:extLst>
                <a:ext uri="{FF2B5EF4-FFF2-40B4-BE49-F238E27FC236}">
                  <a16:creationId xmlns:a16="http://schemas.microsoft.com/office/drawing/2014/main" id="{04906FCE-53A5-1E98-0859-085793A7FD72}"/>
                </a:ext>
              </a:extLst>
            </p:cNvPr>
            <p:cNvSpPr>
              <a:spLocks noChangeAspect="1"/>
            </p:cNvSpPr>
            <p:nvPr/>
          </p:nvSpPr>
          <p:spPr bwMode="auto">
            <a:xfrm>
              <a:off x="3923" y="1591"/>
              <a:ext cx="612" cy="456"/>
            </a:xfrm>
            <a:custGeom>
              <a:avLst/>
              <a:gdLst>
                <a:gd name="T0" fmla="*/ 102 w 612"/>
                <a:gd name="T1" fmla="*/ 456 h 456"/>
                <a:gd name="T2" fmla="*/ 612 w 612"/>
                <a:gd name="T3" fmla="*/ 454 h 456"/>
                <a:gd name="T4" fmla="*/ 612 w 612"/>
                <a:gd name="T5" fmla="*/ 3 h 456"/>
                <a:gd name="T6" fmla="*/ 105 w 612"/>
                <a:gd name="T7" fmla="*/ 0 h 456"/>
                <a:gd name="T8" fmla="*/ 0 w 612"/>
                <a:gd name="T9" fmla="*/ 93 h 456"/>
                <a:gd name="T10" fmla="*/ 4 w 612"/>
                <a:gd name="T11" fmla="*/ 336 h 456"/>
                <a:gd name="T12" fmla="*/ 102 w 612"/>
                <a:gd name="T13" fmla="*/ 456 h 456"/>
                <a:gd name="T14" fmla="*/ 0 60000 65536"/>
                <a:gd name="T15" fmla="*/ 0 60000 65536"/>
                <a:gd name="T16" fmla="*/ 0 60000 65536"/>
                <a:gd name="T17" fmla="*/ 0 60000 65536"/>
                <a:gd name="T18" fmla="*/ 0 60000 65536"/>
                <a:gd name="T19" fmla="*/ 0 60000 65536"/>
                <a:gd name="T20" fmla="*/ 0 60000 65536"/>
                <a:gd name="T21" fmla="*/ 0 w 612"/>
                <a:gd name="T22" fmla="*/ 0 h 456"/>
                <a:gd name="T23" fmla="*/ 612 w 612"/>
                <a:gd name="T24" fmla="*/ 456 h 4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12" h="456">
                  <a:moveTo>
                    <a:pt x="102" y="456"/>
                  </a:moveTo>
                  <a:lnTo>
                    <a:pt x="612" y="454"/>
                  </a:lnTo>
                  <a:lnTo>
                    <a:pt x="612" y="3"/>
                  </a:lnTo>
                  <a:lnTo>
                    <a:pt x="105" y="0"/>
                  </a:lnTo>
                  <a:lnTo>
                    <a:pt x="0" y="93"/>
                  </a:lnTo>
                  <a:lnTo>
                    <a:pt x="4" y="336"/>
                  </a:lnTo>
                  <a:lnTo>
                    <a:pt x="102" y="456"/>
                  </a:lnTo>
                  <a:close/>
                </a:path>
              </a:pathLst>
            </a:custGeom>
            <a:gradFill rotWithShape="0">
              <a:gsLst>
                <a:gs pos="0">
                  <a:srgbClr val="838383"/>
                </a:gs>
                <a:gs pos="50000">
                  <a:srgbClr val="DDDDDD"/>
                </a:gs>
                <a:gs pos="100000">
                  <a:srgbClr val="838383"/>
                </a:gs>
              </a:gsLst>
              <a:lin ang="5400000" scaled="1"/>
            </a:gradFill>
            <a:ln w="28575" cmpd="sng">
              <a:solidFill>
                <a:srgbClr val="000000"/>
              </a:solidFill>
              <a:round/>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FF"/>
                </a:solidFill>
                <a:effectLst/>
                <a:uLnTx/>
                <a:uFillTx/>
                <a:ea typeface="黑体" panose="02010609060101010101" pitchFamily="49" charset="-122"/>
              </a:endParaRPr>
            </a:p>
          </p:txBody>
        </p:sp>
        <p:sp>
          <p:nvSpPr>
            <p:cNvPr id="13" name="Freeform 5">
              <a:extLst>
                <a:ext uri="{FF2B5EF4-FFF2-40B4-BE49-F238E27FC236}">
                  <a16:creationId xmlns:a16="http://schemas.microsoft.com/office/drawing/2014/main" id="{012CB557-4A0A-2C79-08E5-CD8E3C05F6F4}"/>
                </a:ext>
              </a:extLst>
            </p:cNvPr>
            <p:cNvSpPr>
              <a:spLocks/>
            </p:cNvSpPr>
            <p:nvPr/>
          </p:nvSpPr>
          <p:spPr bwMode="auto">
            <a:xfrm>
              <a:off x="1647" y="1617"/>
              <a:ext cx="2358" cy="375"/>
            </a:xfrm>
            <a:custGeom>
              <a:avLst/>
              <a:gdLst>
                <a:gd name="T0" fmla="*/ 81 w 2358"/>
                <a:gd name="T1" fmla="*/ 75 h 375"/>
                <a:gd name="T2" fmla="*/ 915 w 2358"/>
                <a:gd name="T3" fmla="*/ 78 h 375"/>
                <a:gd name="T4" fmla="*/ 991 w 2358"/>
                <a:gd name="T5" fmla="*/ 118 h 375"/>
                <a:gd name="T6" fmla="*/ 1165 w 2358"/>
                <a:gd name="T7" fmla="*/ 142 h 375"/>
                <a:gd name="T8" fmla="*/ 1286 w 2358"/>
                <a:gd name="T9" fmla="*/ 121 h 375"/>
                <a:gd name="T10" fmla="*/ 1343 w 2358"/>
                <a:gd name="T11" fmla="*/ 103 h 375"/>
                <a:gd name="T12" fmla="*/ 1379 w 2358"/>
                <a:gd name="T13" fmla="*/ 83 h 375"/>
                <a:gd name="T14" fmla="*/ 1397 w 2358"/>
                <a:gd name="T15" fmla="*/ 77 h 375"/>
                <a:gd name="T16" fmla="*/ 2274 w 2358"/>
                <a:gd name="T17" fmla="*/ 78 h 375"/>
                <a:gd name="T18" fmla="*/ 2280 w 2358"/>
                <a:gd name="T19" fmla="*/ 315 h 375"/>
                <a:gd name="T20" fmla="*/ 1391 w 2358"/>
                <a:gd name="T21" fmla="*/ 327 h 375"/>
                <a:gd name="T22" fmla="*/ 1349 w 2358"/>
                <a:gd name="T23" fmla="*/ 301 h 375"/>
                <a:gd name="T24" fmla="*/ 1272 w 2358"/>
                <a:gd name="T25" fmla="*/ 274 h 375"/>
                <a:gd name="T26" fmla="*/ 1184 w 2358"/>
                <a:gd name="T27" fmla="*/ 262 h 375"/>
                <a:gd name="T28" fmla="*/ 1110 w 2358"/>
                <a:gd name="T29" fmla="*/ 262 h 375"/>
                <a:gd name="T30" fmla="*/ 1046 w 2358"/>
                <a:gd name="T31" fmla="*/ 273 h 375"/>
                <a:gd name="T32" fmla="*/ 1004 w 2358"/>
                <a:gd name="T33" fmla="*/ 286 h 375"/>
                <a:gd name="T34" fmla="*/ 948 w 2358"/>
                <a:gd name="T35" fmla="*/ 316 h 375"/>
                <a:gd name="T36" fmla="*/ 908 w 2358"/>
                <a:gd name="T37" fmla="*/ 334 h 375"/>
                <a:gd name="T38" fmla="*/ 84 w 2358"/>
                <a:gd name="T39" fmla="*/ 324 h 375"/>
                <a:gd name="T40" fmla="*/ 81 w 2358"/>
                <a:gd name="T41" fmla="*/ 75 h 37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358"/>
                <a:gd name="T64" fmla="*/ 0 h 375"/>
                <a:gd name="T65" fmla="*/ 2358 w 2358"/>
                <a:gd name="T66" fmla="*/ 375 h 375"/>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358" h="375">
                  <a:moveTo>
                    <a:pt x="81" y="75"/>
                  </a:moveTo>
                  <a:cubicBezTo>
                    <a:pt x="247" y="76"/>
                    <a:pt x="750" y="77"/>
                    <a:pt x="915" y="78"/>
                  </a:cubicBezTo>
                  <a:cubicBezTo>
                    <a:pt x="921" y="78"/>
                    <a:pt x="981" y="114"/>
                    <a:pt x="991" y="118"/>
                  </a:cubicBezTo>
                  <a:cubicBezTo>
                    <a:pt x="1042" y="136"/>
                    <a:pt x="1108" y="138"/>
                    <a:pt x="1165" y="142"/>
                  </a:cubicBezTo>
                  <a:cubicBezTo>
                    <a:pt x="1207" y="140"/>
                    <a:pt x="1246" y="130"/>
                    <a:pt x="1286" y="121"/>
                  </a:cubicBezTo>
                  <a:cubicBezTo>
                    <a:pt x="1305" y="111"/>
                    <a:pt x="1316" y="112"/>
                    <a:pt x="1343" y="103"/>
                  </a:cubicBezTo>
                  <a:cubicBezTo>
                    <a:pt x="1359" y="97"/>
                    <a:pt x="1370" y="86"/>
                    <a:pt x="1379" y="83"/>
                  </a:cubicBezTo>
                  <a:cubicBezTo>
                    <a:pt x="1386" y="78"/>
                    <a:pt x="1391" y="82"/>
                    <a:pt x="1397" y="77"/>
                  </a:cubicBezTo>
                  <a:cubicBezTo>
                    <a:pt x="1503" y="77"/>
                    <a:pt x="2151" y="80"/>
                    <a:pt x="2274" y="78"/>
                  </a:cubicBezTo>
                  <a:cubicBezTo>
                    <a:pt x="2358" y="0"/>
                    <a:pt x="2319" y="246"/>
                    <a:pt x="2280" y="315"/>
                  </a:cubicBezTo>
                  <a:cubicBezTo>
                    <a:pt x="2028" y="318"/>
                    <a:pt x="1391" y="327"/>
                    <a:pt x="1391" y="327"/>
                  </a:cubicBezTo>
                  <a:cubicBezTo>
                    <a:pt x="1362" y="310"/>
                    <a:pt x="1368" y="308"/>
                    <a:pt x="1349" y="301"/>
                  </a:cubicBezTo>
                  <a:cubicBezTo>
                    <a:pt x="1324" y="286"/>
                    <a:pt x="1302" y="280"/>
                    <a:pt x="1272" y="274"/>
                  </a:cubicBezTo>
                  <a:cubicBezTo>
                    <a:pt x="1245" y="270"/>
                    <a:pt x="1209" y="262"/>
                    <a:pt x="1184" y="262"/>
                  </a:cubicBezTo>
                  <a:cubicBezTo>
                    <a:pt x="1160" y="263"/>
                    <a:pt x="1133" y="260"/>
                    <a:pt x="1110" y="262"/>
                  </a:cubicBezTo>
                  <a:cubicBezTo>
                    <a:pt x="1088" y="266"/>
                    <a:pt x="1065" y="270"/>
                    <a:pt x="1046" y="273"/>
                  </a:cubicBezTo>
                  <a:cubicBezTo>
                    <a:pt x="1031" y="275"/>
                    <a:pt x="1018" y="285"/>
                    <a:pt x="1004" y="286"/>
                  </a:cubicBezTo>
                  <a:cubicBezTo>
                    <a:pt x="983" y="292"/>
                    <a:pt x="967" y="306"/>
                    <a:pt x="948" y="316"/>
                  </a:cubicBezTo>
                  <a:cubicBezTo>
                    <a:pt x="937" y="323"/>
                    <a:pt x="918" y="326"/>
                    <a:pt x="908" y="334"/>
                  </a:cubicBezTo>
                  <a:cubicBezTo>
                    <a:pt x="824" y="330"/>
                    <a:pt x="162" y="327"/>
                    <a:pt x="84" y="324"/>
                  </a:cubicBezTo>
                  <a:cubicBezTo>
                    <a:pt x="27" y="375"/>
                    <a:pt x="0" y="9"/>
                    <a:pt x="81" y="75"/>
                  </a:cubicBezTo>
                  <a:close/>
                </a:path>
              </a:pathLst>
            </a:custGeom>
            <a:gradFill rotWithShape="1">
              <a:gsLst>
                <a:gs pos="0">
                  <a:srgbClr val="666666"/>
                </a:gs>
                <a:gs pos="50000">
                  <a:srgbClr val="DDDDDD"/>
                </a:gs>
                <a:gs pos="100000">
                  <a:srgbClr val="666666"/>
                </a:gs>
              </a:gsLst>
              <a:lin ang="5400000" scaled="1"/>
            </a:gradFill>
            <a:ln>
              <a:noFill/>
            </a:ln>
            <a:extLst>
              <a:ext uri="{91240B29-F687-4F45-9708-019B960494DF}">
                <a14:hiddenLine xmlns:a14="http://schemas.microsoft.com/office/drawing/2010/main" w="19050" cmpd="sng">
                  <a:solidFill>
                    <a:srgbClr val="000000"/>
                  </a:solidFill>
                  <a:round/>
                  <a:headEnd/>
                  <a:tailEnd/>
                </a14:hiddenLine>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FF"/>
                </a:solidFill>
                <a:effectLst/>
                <a:uLnTx/>
                <a:uFillTx/>
                <a:ea typeface="黑体" panose="02010609060101010101" pitchFamily="49" charset="-122"/>
              </a:endParaRPr>
            </a:p>
          </p:txBody>
        </p:sp>
        <p:sp>
          <p:nvSpPr>
            <p:cNvPr id="14" name="Line 6">
              <a:extLst>
                <a:ext uri="{FF2B5EF4-FFF2-40B4-BE49-F238E27FC236}">
                  <a16:creationId xmlns:a16="http://schemas.microsoft.com/office/drawing/2014/main" id="{673C6F50-E3EA-8E0B-A733-81D88D83EE64}"/>
                </a:ext>
              </a:extLst>
            </p:cNvPr>
            <p:cNvSpPr>
              <a:spLocks noChangeShapeType="1"/>
            </p:cNvSpPr>
            <p:nvPr/>
          </p:nvSpPr>
          <p:spPr bwMode="auto">
            <a:xfrm>
              <a:off x="1724" y="1691"/>
              <a:ext cx="833"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FF"/>
                </a:solidFill>
                <a:effectLst/>
                <a:uLnTx/>
                <a:uFillTx/>
                <a:ea typeface="黑体" panose="02010609060101010101" pitchFamily="49" charset="-122"/>
              </a:endParaRPr>
            </a:p>
          </p:txBody>
        </p:sp>
        <p:sp>
          <p:nvSpPr>
            <p:cNvPr id="15" name="Line 7">
              <a:extLst>
                <a:ext uri="{FF2B5EF4-FFF2-40B4-BE49-F238E27FC236}">
                  <a16:creationId xmlns:a16="http://schemas.microsoft.com/office/drawing/2014/main" id="{BEA36F98-C38D-A4DA-6AC9-3B3308E75E32}"/>
                </a:ext>
              </a:extLst>
            </p:cNvPr>
            <p:cNvSpPr>
              <a:spLocks noChangeShapeType="1"/>
            </p:cNvSpPr>
            <p:nvPr/>
          </p:nvSpPr>
          <p:spPr bwMode="auto">
            <a:xfrm>
              <a:off x="1733" y="1943"/>
              <a:ext cx="84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FF"/>
                </a:solidFill>
                <a:effectLst/>
                <a:uLnTx/>
                <a:uFillTx/>
                <a:ea typeface="黑体" panose="02010609060101010101" pitchFamily="49" charset="-122"/>
              </a:endParaRPr>
            </a:p>
          </p:txBody>
        </p:sp>
        <p:sp>
          <p:nvSpPr>
            <p:cNvPr id="16" name="Line 8">
              <a:extLst>
                <a:ext uri="{FF2B5EF4-FFF2-40B4-BE49-F238E27FC236}">
                  <a16:creationId xmlns:a16="http://schemas.microsoft.com/office/drawing/2014/main" id="{1B7E26E9-AB9D-6773-7957-199576DCFBFB}"/>
                </a:ext>
              </a:extLst>
            </p:cNvPr>
            <p:cNvSpPr>
              <a:spLocks noChangeShapeType="1"/>
            </p:cNvSpPr>
            <p:nvPr/>
          </p:nvSpPr>
          <p:spPr bwMode="auto">
            <a:xfrm>
              <a:off x="3027" y="1694"/>
              <a:ext cx="895"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FF"/>
                </a:solidFill>
                <a:effectLst/>
                <a:uLnTx/>
                <a:uFillTx/>
                <a:ea typeface="黑体" panose="02010609060101010101" pitchFamily="49" charset="-122"/>
              </a:endParaRPr>
            </a:p>
          </p:txBody>
        </p:sp>
        <p:sp>
          <p:nvSpPr>
            <p:cNvPr id="17" name="Freeform 9">
              <a:extLst>
                <a:ext uri="{FF2B5EF4-FFF2-40B4-BE49-F238E27FC236}">
                  <a16:creationId xmlns:a16="http://schemas.microsoft.com/office/drawing/2014/main" id="{6BE7E8B3-80F8-98A9-B49F-16C1C6683184}"/>
                </a:ext>
              </a:extLst>
            </p:cNvPr>
            <p:cNvSpPr>
              <a:spLocks/>
            </p:cNvSpPr>
            <p:nvPr/>
          </p:nvSpPr>
          <p:spPr bwMode="auto">
            <a:xfrm>
              <a:off x="3037" y="1939"/>
              <a:ext cx="890" cy="4"/>
            </a:xfrm>
            <a:custGeom>
              <a:avLst/>
              <a:gdLst>
                <a:gd name="T0" fmla="*/ 0 w 890"/>
                <a:gd name="T1" fmla="*/ 4 h 4"/>
                <a:gd name="T2" fmla="*/ 890 w 890"/>
                <a:gd name="T3" fmla="*/ 0 h 4"/>
                <a:gd name="T4" fmla="*/ 0 60000 65536"/>
                <a:gd name="T5" fmla="*/ 0 60000 65536"/>
                <a:gd name="T6" fmla="*/ 0 w 890"/>
                <a:gd name="T7" fmla="*/ 0 h 4"/>
                <a:gd name="T8" fmla="*/ 890 w 890"/>
                <a:gd name="T9" fmla="*/ 4 h 4"/>
              </a:gdLst>
              <a:ahLst/>
              <a:cxnLst>
                <a:cxn ang="T4">
                  <a:pos x="T0" y="T1"/>
                </a:cxn>
                <a:cxn ang="T5">
                  <a:pos x="T2" y="T3"/>
                </a:cxn>
              </a:cxnLst>
              <a:rect l="T6" t="T7" r="T8" b="T9"/>
              <a:pathLst>
                <a:path w="890" h="4">
                  <a:moveTo>
                    <a:pt x="0" y="4"/>
                  </a:moveTo>
                  <a:lnTo>
                    <a:pt x="890" y="0"/>
                  </a:lnTo>
                </a:path>
              </a:pathLst>
            </a:custGeom>
            <a:noFill/>
            <a:ln w="19050" cmpd="sng">
              <a:solidFill>
                <a:srgbClr val="000000"/>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FF"/>
                </a:solidFill>
                <a:effectLst/>
                <a:uLnTx/>
                <a:uFillTx/>
                <a:ea typeface="黑体" panose="02010609060101010101" pitchFamily="49" charset="-122"/>
              </a:endParaRPr>
            </a:p>
          </p:txBody>
        </p:sp>
        <p:sp>
          <p:nvSpPr>
            <p:cNvPr id="18" name="Arc 10">
              <a:extLst>
                <a:ext uri="{FF2B5EF4-FFF2-40B4-BE49-F238E27FC236}">
                  <a16:creationId xmlns:a16="http://schemas.microsoft.com/office/drawing/2014/main" id="{32245577-7FBB-B599-BABF-3016ADA4F2E3}"/>
                </a:ext>
              </a:extLst>
            </p:cNvPr>
            <p:cNvSpPr>
              <a:spLocks/>
            </p:cNvSpPr>
            <p:nvPr/>
          </p:nvSpPr>
          <p:spPr bwMode="auto">
            <a:xfrm flipV="1">
              <a:off x="2558" y="1626"/>
              <a:ext cx="471" cy="133"/>
            </a:xfrm>
            <a:custGeom>
              <a:avLst/>
              <a:gdLst>
                <a:gd name="T0" fmla="*/ 0 w 37723"/>
                <a:gd name="T1" fmla="*/ 0 h 21600"/>
                <a:gd name="T2" fmla="*/ 6 w 37723"/>
                <a:gd name="T3" fmla="*/ 0 h 21600"/>
                <a:gd name="T4" fmla="*/ 3 w 37723"/>
                <a:gd name="T5" fmla="*/ 1 h 21600"/>
                <a:gd name="T6" fmla="*/ 0 60000 65536"/>
                <a:gd name="T7" fmla="*/ 0 60000 65536"/>
                <a:gd name="T8" fmla="*/ 0 60000 65536"/>
                <a:gd name="T9" fmla="*/ 0 w 37723"/>
                <a:gd name="T10" fmla="*/ 0 h 21600"/>
                <a:gd name="T11" fmla="*/ 37723 w 37723"/>
                <a:gd name="T12" fmla="*/ 21600 h 21600"/>
              </a:gdLst>
              <a:ahLst/>
              <a:cxnLst>
                <a:cxn ang="T6">
                  <a:pos x="T0" y="T1"/>
                </a:cxn>
                <a:cxn ang="T7">
                  <a:pos x="T2" y="T3"/>
                </a:cxn>
                <a:cxn ang="T8">
                  <a:pos x="T4" y="T5"/>
                </a:cxn>
              </a:cxnLst>
              <a:rect l="T9" t="T10" r="T11" b="T12"/>
              <a:pathLst>
                <a:path w="37723" h="21600" fill="none" extrusionOk="0">
                  <a:moveTo>
                    <a:pt x="0" y="11318"/>
                  </a:moveTo>
                  <a:cubicBezTo>
                    <a:pt x="3774" y="4344"/>
                    <a:pt x="11066" y="-1"/>
                    <a:pt x="18996" y="0"/>
                  </a:cubicBezTo>
                  <a:cubicBezTo>
                    <a:pt x="26727" y="0"/>
                    <a:pt x="33869" y="4132"/>
                    <a:pt x="37722" y="10836"/>
                  </a:cubicBezTo>
                </a:path>
                <a:path w="37723" h="21600" stroke="0" extrusionOk="0">
                  <a:moveTo>
                    <a:pt x="0" y="11318"/>
                  </a:moveTo>
                  <a:cubicBezTo>
                    <a:pt x="3774" y="4344"/>
                    <a:pt x="11066" y="-1"/>
                    <a:pt x="18996" y="0"/>
                  </a:cubicBezTo>
                  <a:cubicBezTo>
                    <a:pt x="26727" y="0"/>
                    <a:pt x="33869" y="4132"/>
                    <a:pt x="37722" y="10836"/>
                  </a:cubicBezTo>
                  <a:lnTo>
                    <a:pt x="18996" y="21600"/>
                  </a:lnTo>
                  <a:close/>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FF"/>
                </a:solidFill>
                <a:effectLst/>
                <a:uLnTx/>
                <a:uFillTx/>
                <a:ea typeface="黑体" panose="02010609060101010101" pitchFamily="49" charset="-122"/>
              </a:endParaRPr>
            </a:p>
          </p:txBody>
        </p:sp>
        <p:sp>
          <p:nvSpPr>
            <p:cNvPr id="19" name="Arc 11">
              <a:extLst>
                <a:ext uri="{FF2B5EF4-FFF2-40B4-BE49-F238E27FC236}">
                  <a16:creationId xmlns:a16="http://schemas.microsoft.com/office/drawing/2014/main" id="{4AD8E2A0-83E9-A61A-4FCD-3C6924F940A5}"/>
                </a:ext>
              </a:extLst>
            </p:cNvPr>
            <p:cNvSpPr>
              <a:spLocks/>
            </p:cNvSpPr>
            <p:nvPr/>
          </p:nvSpPr>
          <p:spPr bwMode="auto">
            <a:xfrm>
              <a:off x="2570" y="1879"/>
              <a:ext cx="470" cy="133"/>
            </a:xfrm>
            <a:custGeom>
              <a:avLst/>
              <a:gdLst>
                <a:gd name="T0" fmla="*/ 0 w 37723"/>
                <a:gd name="T1" fmla="*/ 0 h 21600"/>
                <a:gd name="T2" fmla="*/ 6 w 37723"/>
                <a:gd name="T3" fmla="*/ 0 h 21600"/>
                <a:gd name="T4" fmla="*/ 3 w 37723"/>
                <a:gd name="T5" fmla="*/ 1 h 21600"/>
                <a:gd name="T6" fmla="*/ 0 60000 65536"/>
                <a:gd name="T7" fmla="*/ 0 60000 65536"/>
                <a:gd name="T8" fmla="*/ 0 60000 65536"/>
                <a:gd name="T9" fmla="*/ 0 w 37723"/>
                <a:gd name="T10" fmla="*/ 0 h 21600"/>
                <a:gd name="T11" fmla="*/ 37723 w 37723"/>
                <a:gd name="T12" fmla="*/ 21600 h 21600"/>
              </a:gdLst>
              <a:ahLst/>
              <a:cxnLst>
                <a:cxn ang="T6">
                  <a:pos x="T0" y="T1"/>
                </a:cxn>
                <a:cxn ang="T7">
                  <a:pos x="T2" y="T3"/>
                </a:cxn>
                <a:cxn ang="T8">
                  <a:pos x="T4" y="T5"/>
                </a:cxn>
              </a:cxnLst>
              <a:rect l="T9" t="T10" r="T11" b="T12"/>
              <a:pathLst>
                <a:path w="37723" h="21600" fill="none" extrusionOk="0">
                  <a:moveTo>
                    <a:pt x="0" y="11318"/>
                  </a:moveTo>
                  <a:cubicBezTo>
                    <a:pt x="3774" y="4344"/>
                    <a:pt x="11066" y="-1"/>
                    <a:pt x="18996" y="0"/>
                  </a:cubicBezTo>
                  <a:cubicBezTo>
                    <a:pt x="26727" y="0"/>
                    <a:pt x="33869" y="4132"/>
                    <a:pt x="37722" y="10836"/>
                  </a:cubicBezTo>
                </a:path>
                <a:path w="37723" h="21600" stroke="0" extrusionOk="0">
                  <a:moveTo>
                    <a:pt x="0" y="11318"/>
                  </a:moveTo>
                  <a:cubicBezTo>
                    <a:pt x="3774" y="4344"/>
                    <a:pt x="11066" y="-1"/>
                    <a:pt x="18996" y="0"/>
                  </a:cubicBezTo>
                  <a:cubicBezTo>
                    <a:pt x="26727" y="0"/>
                    <a:pt x="33869" y="4132"/>
                    <a:pt x="37722" y="10836"/>
                  </a:cubicBezTo>
                  <a:lnTo>
                    <a:pt x="18996" y="21600"/>
                  </a:lnTo>
                  <a:close/>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FF"/>
                </a:solidFill>
                <a:effectLst/>
                <a:uLnTx/>
                <a:uFillTx/>
                <a:ea typeface="黑体" panose="02010609060101010101" pitchFamily="49" charset="-122"/>
              </a:endParaRPr>
            </a:p>
          </p:txBody>
        </p:sp>
        <p:sp>
          <p:nvSpPr>
            <p:cNvPr id="20" name="Line 12">
              <a:extLst>
                <a:ext uri="{FF2B5EF4-FFF2-40B4-BE49-F238E27FC236}">
                  <a16:creationId xmlns:a16="http://schemas.microsoft.com/office/drawing/2014/main" id="{BB83D689-676A-B131-31E5-4C411843E2D3}"/>
                </a:ext>
              </a:extLst>
            </p:cNvPr>
            <p:cNvSpPr>
              <a:spLocks noChangeShapeType="1"/>
            </p:cNvSpPr>
            <p:nvPr/>
          </p:nvSpPr>
          <p:spPr bwMode="auto">
            <a:xfrm>
              <a:off x="972" y="1825"/>
              <a:ext cx="3724" cy="0"/>
            </a:xfrm>
            <a:prstGeom prst="line">
              <a:avLst/>
            </a:prstGeom>
            <a:noFill/>
            <a:ln w="19050">
              <a:solidFill>
                <a:srgbClr val="00FFFF"/>
              </a:solidFill>
              <a:prstDash val="lgDashDot"/>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FF"/>
                </a:solidFill>
                <a:effectLst/>
                <a:uLnTx/>
                <a:uFillTx/>
                <a:ea typeface="黑体" panose="02010609060101010101" pitchFamily="49" charset="-122"/>
              </a:endParaRPr>
            </a:p>
          </p:txBody>
        </p:sp>
        <p:sp>
          <p:nvSpPr>
            <p:cNvPr id="21" name="AutoShape 13">
              <a:extLst>
                <a:ext uri="{FF2B5EF4-FFF2-40B4-BE49-F238E27FC236}">
                  <a16:creationId xmlns:a16="http://schemas.microsoft.com/office/drawing/2014/main" id="{34E2D1A6-605B-517C-E934-28D628C07168}"/>
                </a:ext>
              </a:extLst>
            </p:cNvPr>
            <p:cNvSpPr>
              <a:spLocks noChangeAspect="1" noChangeArrowheads="1"/>
            </p:cNvSpPr>
            <p:nvPr/>
          </p:nvSpPr>
          <p:spPr bwMode="auto">
            <a:xfrm rot="-5400000">
              <a:off x="1457" y="1764"/>
              <a:ext cx="444" cy="109"/>
            </a:xfrm>
            <a:custGeom>
              <a:avLst/>
              <a:gdLst>
                <a:gd name="T0" fmla="*/ 8 w 21600"/>
                <a:gd name="T1" fmla="*/ 0 h 21600"/>
                <a:gd name="T2" fmla="*/ 5 w 21600"/>
                <a:gd name="T3" fmla="*/ 1 h 21600"/>
                <a:gd name="T4" fmla="*/ 1 w 21600"/>
                <a:gd name="T5" fmla="*/ 0 h 21600"/>
                <a:gd name="T6" fmla="*/ 5 w 21600"/>
                <a:gd name="T7" fmla="*/ 0 h 21600"/>
                <a:gd name="T8" fmla="*/ 0 60000 65536"/>
                <a:gd name="T9" fmla="*/ 0 60000 65536"/>
                <a:gd name="T10" fmla="*/ 0 60000 65536"/>
                <a:gd name="T11" fmla="*/ 0 60000 65536"/>
                <a:gd name="T12" fmla="*/ 4524 w 21600"/>
                <a:gd name="T13" fmla="*/ 4558 h 21600"/>
                <a:gd name="T14" fmla="*/ 17124 w 21600"/>
                <a:gd name="T15" fmla="*/ 17042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gradFill rotWithShape="0">
              <a:gsLst>
                <a:gs pos="0">
                  <a:srgbClr val="838383"/>
                </a:gs>
                <a:gs pos="100000">
                  <a:srgbClr val="A6A6A6"/>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FF"/>
                </a:solidFill>
                <a:effectLst/>
                <a:uLnTx/>
                <a:uFillTx/>
                <a:ea typeface="黑体" panose="02010609060101010101" pitchFamily="49" charset="-122"/>
              </a:endParaRPr>
            </a:p>
          </p:txBody>
        </p:sp>
        <p:sp>
          <p:nvSpPr>
            <p:cNvPr id="22" name="Freeform 14">
              <a:extLst>
                <a:ext uri="{FF2B5EF4-FFF2-40B4-BE49-F238E27FC236}">
                  <a16:creationId xmlns:a16="http://schemas.microsoft.com/office/drawing/2014/main" id="{F64F45F9-8176-4860-86D5-BAEC4BF91AFB}"/>
                </a:ext>
              </a:extLst>
            </p:cNvPr>
            <p:cNvSpPr>
              <a:spLocks noChangeAspect="1"/>
            </p:cNvSpPr>
            <p:nvPr/>
          </p:nvSpPr>
          <p:spPr bwMode="auto">
            <a:xfrm>
              <a:off x="1632" y="1594"/>
              <a:ext cx="1" cy="451"/>
            </a:xfrm>
            <a:custGeom>
              <a:avLst/>
              <a:gdLst>
                <a:gd name="T0" fmla="*/ 0 w 1"/>
                <a:gd name="T1" fmla="*/ 0 h 254"/>
                <a:gd name="T2" fmla="*/ 0 w 1"/>
                <a:gd name="T3" fmla="*/ 451 h 254"/>
                <a:gd name="T4" fmla="*/ 0 60000 65536"/>
                <a:gd name="T5" fmla="*/ 0 60000 65536"/>
                <a:gd name="T6" fmla="*/ 0 w 1"/>
                <a:gd name="T7" fmla="*/ 0 h 254"/>
                <a:gd name="T8" fmla="*/ 1 w 1"/>
                <a:gd name="T9" fmla="*/ 254 h 254"/>
              </a:gdLst>
              <a:ahLst/>
              <a:cxnLst>
                <a:cxn ang="T4">
                  <a:pos x="T0" y="T1"/>
                </a:cxn>
                <a:cxn ang="T5">
                  <a:pos x="T2" y="T3"/>
                </a:cxn>
              </a:cxnLst>
              <a:rect l="T6" t="T7" r="T8" b="T9"/>
              <a:pathLst>
                <a:path w="1" h="254">
                  <a:moveTo>
                    <a:pt x="0" y="0"/>
                  </a:moveTo>
                  <a:lnTo>
                    <a:pt x="0" y="254"/>
                  </a:lnTo>
                </a:path>
              </a:pathLst>
            </a:custGeom>
            <a:noFill/>
            <a:ln w="19050" cmpd="sng">
              <a:solidFill>
                <a:srgbClr val="000000"/>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FF"/>
                </a:solidFill>
                <a:effectLst/>
                <a:uLnTx/>
                <a:uFillTx/>
                <a:ea typeface="黑体" panose="02010609060101010101" pitchFamily="49" charset="-122"/>
              </a:endParaRPr>
            </a:p>
          </p:txBody>
        </p:sp>
        <p:sp>
          <p:nvSpPr>
            <p:cNvPr id="23" name="Line 15">
              <a:extLst>
                <a:ext uri="{FF2B5EF4-FFF2-40B4-BE49-F238E27FC236}">
                  <a16:creationId xmlns:a16="http://schemas.microsoft.com/office/drawing/2014/main" id="{8A18C0E6-B203-ED10-337E-C2088F117187}"/>
                </a:ext>
              </a:extLst>
            </p:cNvPr>
            <p:cNvSpPr>
              <a:spLocks noChangeAspect="1" noChangeShapeType="1"/>
            </p:cNvSpPr>
            <p:nvPr/>
          </p:nvSpPr>
          <p:spPr bwMode="auto">
            <a:xfrm>
              <a:off x="4020" y="1600"/>
              <a:ext cx="0" cy="454"/>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FF"/>
                </a:solidFill>
                <a:effectLst/>
                <a:uLnTx/>
                <a:uFillTx/>
                <a:ea typeface="黑体" panose="02010609060101010101" pitchFamily="49" charset="-122"/>
              </a:endParaRPr>
            </a:p>
          </p:txBody>
        </p:sp>
        <p:sp>
          <p:nvSpPr>
            <p:cNvPr id="75" name="AutoShape 16">
              <a:extLst>
                <a:ext uri="{FF2B5EF4-FFF2-40B4-BE49-F238E27FC236}">
                  <a16:creationId xmlns:a16="http://schemas.microsoft.com/office/drawing/2014/main" id="{51FD88A4-936E-0C18-D337-E12FC0921797}"/>
                </a:ext>
              </a:extLst>
            </p:cNvPr>
            <p:cNvSpPr>
              <a:spLocks noChangeAspect="1" noChangeArrowheads="1"/>
            </p:cNvSpPr>
            <p:nvPr/>
          </p:nvSpPr>
          <p:spPr bwMode="auto">
            <a:xfrm rot="5400000" flipH="1">
              <a:off x="3765" y="1781"/>
              <a:ext cx="419" cy="82"/>
            </a:xfrm>
            <a:custGeom>
              <a:avLst/>
              <a:gdLst>
                <a:gd name="T0" fmla="*/ 7 w 21600"/>
                <a:gd name="T1" fmla="*/ 0 h 21600"/>
                <a:gd name="T2" fmla="*/ 4 w 21600"/>
                <a:gd name="T3" fmla="*/ 0 h 21600"/>
                <a:gd name="T4" fmla="*/ 1 w 21600"/>
                <a:gd name="T5" fmla="*/ 0 h 21600"/>
                <a:gd name="T6" fmla="*/ 4 w 21600"/>
                <a:gd name="T7" fmla="*/ 0 h 21600"/>
                <a:gd name="T8" fmla="*/ 0 60000 65536"/>
                <a:gd name="T9" fmla="*/ 0 60000 65536"/>
                <a:gd name="T10" fmla="*/ 0 60000 65536"/>
                <a:gd name="T11" fmla="*/ 0 60000 65536"/>
                <a:gd name="T12" fmla="*/ 4382 w 21600"/>
                <a:gd name="T13" fmla="*/ 4478 h 21600"/>
                <a:gd name="T14" fmla="*/ 17218 w 21600"/>
                <a:gd name="T15" fmla="*/ 17122 h 21600"/>
              </a:gdLst>
              <a:ahLst/>
              <a:cxnLst>
                <a:cxn ang="T8">
                  <a:pos x="T0" y="T1"/>
                </a:cxn>
                <a:cxn ang="T9">
                  <a:pos x="T2" y="T3"/>
                </a:cxn>
                <a:cxn ang="T10">
                  <a:pos x="T4" y="T5"/>
                </a:cxn>
                <a:cxn ang="T11">
                  <a:pos x="T6" y="T7"/>
                </a:cxn>
              </a:cxnLst>
              <a:rect l="T12" t="T13" r="T14" b="T15"/>
              <a:pathLst>
                <a:path w="21600" h="21600">
                  <a:moveTo>
                    <a:pt x="0" y="0"/>
                  </a:moveTo>
                  <a:lnTo>
                    <a:pt x="5206" y="21600"/>
                  </a:lnTo>
                  <a:lnTo>
                    <a:pt x="16394" y="21600"/>
                  </a:lnTo>
                  <a:lnTo>
                    <a:pt x="21600" y="0"/>
                  </a:lnTo>
                  <a:close/>
                </a:path>
              </a:pathLst>
            </a:custGeom>
            <a:gradFill rotWithShape="1">
              <a:gsLst>
                <a:gs pos="0">
                  <a:srgbClr val="666666"/>
                </a:gs>
                <a:gs pos="50000">
                  <a:srgbClr val="DDDDDD"/>
                </a:gs>
                <a:gs pos="100000">
                  <a:srgbClr val="666666"/>
                </a:gs>
              </a:gsLst>
              <a:lin ang="0" scaled="1"/>
            </a:gradFill>
            <a:ln>
              <a:noFill/>
            </a:ln>
            <a:extLst>
              <a:ext uri="{91240B29-F687-4F45-9708-019B960494DF}">
                <a14:hiddenLine xmlns:a14="http://schemas.microsoft.com/office/drawing/2010/main" w="19050" algn="ctr">
                  <a:solidFill>
                    <a:srgbClr val="000000"/>
                  </a:solidFill>
                  <a:miter lim="800000"/>
                  <a:headEnd/>
                  <a:tailEnd/>
                </a14:hiddenLine>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FF"/>
                </a:solidFill>
                <a:effectLst/>
                <a:uLnTx/>
                <a:uFillTx/>
                <a:ea typeface="黑体" panose="02010609060101010101" pitchFamily="49" charset="-122"/>
              </a:endParaRPr>
            </a:p>
          </p:txBody>
        </p:sp>
      </p:grpSp>
      <p:grpSp>
        <p:nvGrpSpPr>
          <p:cNvPr id="76" name="Group 17">
            <a:extLst>
              <a:ext uri="{FF2B5EF4-FFF2-40B4-BE49-F238E27FC236}">
                <a16:creationId xmlns:a16="http://schemas.microsoft.com/office/drawing/2014/main" id="{95B11D95-56DE-7658-3807-E0F3504B8252}"/>
              </a:ext>
            </a:extLst>
          </p:cNvPr>
          <p:cNvGrpSpPr>
            <a:grpSpLocks/>
          </p:cNvGrpSpPr>
          <p:nvPr/>
        </p:nvGrpSpPr>
        <p:grpSpPr bwMode="auto">
          <a:xfrm>
            <a:off x="3189697" y="4657489"/>
            <a:ext cx="5272087" cy="1703387"/>
            <a:chOff x="1105" y="2042"/>
            <a:chExt cx="3321" cy="1073"/>
          </a:xfrm>
        </p:grpSpPr>
        <p:sp>
          <p:nvSpPr>
            <p:cNvPr id="77" name="Freeform 18">
              <a:extLst>
                <a:ext uri="{FF2B5EF4-FFF2-40B4-BE49-F238E27FC236}">
                  <a16:creationId xmlns:a16="http://schemas.microsoft.com/office/drawing/2014/main" id="{B5B56E73-9DF5-128A-B83C-57938222F59F}"/>
                </a:ext>
              </a:extLst>
            </p:cNvPr>
            <p:cNvSpPr>
              <a:spLocks noChangeAspect="1"/>
            </p:cNvSpPr>
            <p:nvPr/>
          </p:nvSpPr>
          <p:spPr bwMode="auto">
            <a:xfrm>
              <a:off x="1375" y="2250"/>
              <a:ext cx="2817" cy="451"/>
            </a:xfrm>
            <a:custGeom>
              <a:avLst/>
              <a:gdLst>
                <a:gd name="T0" fmla="*/ 2321 w 1568"/>
                <a:gd name="T1" fmla="*/ 447 h 254"/>
                <a:gd name="T2" fmla="*/ 2235 w 1568"/>
                <a:gd name="T3" fmla="*/ 348 h 254"/>
                <a:gd name="T4" fmla="*/ 604 w 1568"/>
                <a:gd name="T5" fmla="*/ 344 h 254"/>
                <a:gd name="T6" fmla="*/ 507 w 1568"/>
                <a:gd name="T7" fmla="*/ 451 h 254"/>
                <a:gd name="T8" fmla="*/ 0 w 1568"/>
                <a:gd name="T9" fmla="*/ 451 h 254"/>
                <a:gd name="T10" fmla="*/ 0 w 1568"/>
                <a:gd name="T11" fmla="*/ 0 h 254"/>
                <a:gd name="T12" fmla="*/ 510 w 1568"/>
                <a:gd name="T13" fmla="*/ 0 h 254"/>
                <a:gd name="T14" fmla="*/ 604 w 1568"/>
                <a:gd name="T15" fmla="*/ 92 h 254"/>
                <a:gd name="T16" fmla="*/ 2249 w 1568"/>
                <a:gd name="T17" fmla="*/ 92 h 254"/>
                <a:gd name="T18" fmla="*/ 2314 w 1568"/>
                <a:gd name="T19" fmla="*/ 0 h 254"/>
                <a:gd name="T20" fmla="*/ 2817 w 1568"/>
                <a:gd name="T21" fmla="*/ 0 h 254"/>
                <a:gd name="T22" fmla="*/ 2817 w 1568"/>
                <a:gd name="T23" fmla="*/ 447 h 254"/>
                <a:gd name="T24" fmla="*/ 2321 w 1568"/>
                <a:gd name="T25" fmla="*/ 447 h 2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568"/>
                <a:gd name="T40" fmla="*/ 0 h 254"/>
                <a:gd name="T41" fmla="*/ 1568 w 1568"/>
                <a:gd name="T42" fmla="*/ 254 h 25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568" h="254">
                  <a:moveTo>
                    <a:pt x="1292" y="252"/>
                  </a:moveTo>
                  <a:lnTo>
                    <a:pt x="1244" y="196"/>
                  </a:lnTo>
                  <a:lnTo>
                    <a:pt x="336" y="194"/>
                  </a:lnTo>
                  <a:lnTo>
                    <a:pt x="282" y="254"/>
                  </a:lnTo>
                  <a:lnTo>
                    <a:pt x="0" y="254"/>
                  </a:lnTo>
                  <a:lnTo>
                    <a:pt x="0" y="0"/>
                  </a:lnTo>
                  <a:lnTo>
                    <a:pt x="284" y="0"/>
                  </a:lnTo>
                  <a:lnTo>
                    <a:pt x="336" y="52"/>
                  </a:lnTo>
                  <a:lnTo>
                    <a:pt x="1252" y="52"/>
                  </a:lnTo>
                  <a:lnTo>
                    <a:pt x="1288" y="0"/>
                  </a:lnTo>
                  <a:lnTo>
                    <a:pt x="1568" y="0"/>
                  </a:lnTo>
                  <a:lnTo>
                    <a:pt x="1568" y="252"/>
                  </a:lnTo>
                  <a:lnTo>
                    <a:pt x="1292" y="252"/>
                  </a:lnTo>
                  <a:close/>
                </a:path>
              </a:pathLst>
            </a:custGeom>
            <a:gradFill rotWithShape="0">
              <a:gsLst>
                <a:gs pos="0">
                  <a:srgbClr val="838383"/>
                </a:gs>
                <a:gs pos="50000">
                  <a:srgbClr val="DDDDDD"/>
                </a:gs>
                <a:gs pos="100000">
                  <a:srgbClr val="838383"/>
                </a:gs>
              </a:gsLst>
              <a:lin ang="5400000" scaled="1"/>
            </a:gradFill>
            <a:ln w="28575" cmpd="sng">
              <a:solidFill>
                <a:srgbClr val="000000"/>
              </a:solidFill>
              <a:round/>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FF"/>
                </a:solidFill>
                <a:effectLst/>
                <a:uLnTx/>
                <a:uFillTx/>
                <a:ea typeface="黑体" panose="02010609060101010101" pitchFamily="49" charset="-122"/>
              </a:endParaRPr>
            </a:p>
          </p:txBody>
        </p:sp>
        <p:sp>
          <p:nvSpPr>
            <p:cNvPr id="78" name="Freeform 19">
              <a:extLst>
                <a:ext uri="{FF2B5EF4-FFF2-40B4-BE49-F238E27FC236}">
                  <a16:creationId xmlns:a16="http://schemas.microsoft.com/office/drawing/2014/main" id="{A07048CA-E12F-12AE-8111-C651C5E14FF7}"/>
                </a:ext>
              </a:extLst>
            </p:cNvPr>
            <p:cNvSpPr>
              <a:spLocks noChangeAspect="1"/>
            </p:cNvSpPr>
            <p:nvPr/>
          </p:nvSpPr>
          <p:spPr bwMode="auto">
            <a:xfrm>
              <a:off x="1882" y="2250"/>
              <a:ext cx="1" cy="451"/>
            </a:xfrm>
            <a:custGeom>
              <a:avLst/>
              <a:gdLst>
                <a:gd name="T0" fmla="*/ 0 w 1"/>
                <a:gd name="T1" fmla="*/ 0 h 254"/>
                <a:gd name="T2" fmla="*/ 0 w 1"/>
                <a:gd name="T3" fmla="*/ 451 h 254"/>
                <a:gd name="T4" fmla="*/ 0 60000 65536"/>
                <a:gd name="T5" fmla="*/ 0 60000 65536"/>
                <a:gd name="T6" fmla="*/ 0 w 1"/>
                <a:gd name="T7" fmla="*/ 0 h 254"/>
                <a:gd name="T8" fmla="*/ 1 w 1"/>
                <a:gd name="T9" fmla="*/ 254 h 254"/>
              </a:gdLst>
              <a:ahLst/>
              <a:cxnLst>
                <a:cxn ang="T4">
                  <a:pos x="T0" y="T1"/>
                </a:cxn>
                <a:cxn ang="T5">
                  <a:pos x="T2" y="T3"/>
                </a:cxn>
              </a:cxnLst>
              <a:rect l="T6" t="T7" r="T8" b="T9"/>
              <a:pathLst>
                <a:path w="1" h="254">
                  <a:moveTo>
                    <a:pt x="0" y="0"/>
                  </a:moveTo>
                  <a:lnTo>
                    <a:pt x="0" y="254"/>
                  </a:lnTo>
                </a:path>
              </a:pathLst>
            </a:custGeom>
            <a:noFill/>
            <a:ln w="19050" cmpd="sng">
              <a:solidFill>
                <a:srgbClr val="000000"/>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FF"/>
                </a:solidFill>
                <a:effectLst/>
                <a:uLnTx/>
                <a:uFillTx/>
                <a:ea typeface="黑体" panose="02010609060101010101" pitchFamily="49" charset="-122"/>
              </a:endParaRPr>
            </a:p>
          </p:txBody>
        </p:sp>
        <p:sp>
          <p:nvSpPr>
            <p:cNvPr id="79" name="AutoShape 20">
              <a:extLst>
                <a:ext uri="{FF2B5EF4-FFF2-40B4-BE49-F238E27FC236}">
                  <a16:creationId xmlns:a16="http://schemas.microsoft.com/office/drawing/2014/main" id="{8155DD19-CD78-BC43-3F23-2BFD42DA4D05}"/>
                </a:ext>
              </a:extLst>
            </p:cNvPr>
            <p:cNvSpPr>
              <a:spLocks noChangeAspect="1" noChangeArrowheads="1"/>
            </p:cNvSpPr>
            <p:nvPr/>
          </p:nvSpPr>
          <p:spPr bwMode="auto">
            <a:xfrm rot="-5400000">
              <a:off x="1758" y="2415"/>
              <a:ext cx="372" cy="85"/>
            </a:xfrm>
            <a:custGeom>
              <a:avLst/>
              <a:gdLst>
                <a:gd name="T0" fmla="*/ 6 w 21600"/>
                <a:gd name="T1" fmla="*/ 0 h 21600"/>
                <a:gd name="T2" fmla="*/ 3 w 21600"/>
                <a:gd name="T3" fmla="*/ 0 h 21600"/>
                <a:gd name="T4" fmla="*/ 1 w 21600"/>
                <a:gd name="T5" fmla="*/ 0 h 21600"/>
                <a:gd name="T6" fmla="*/ 3 w 21600"/>
                <a:gd name="T7" fmla="*/ 0 h 21600"/>
                <a:gd name="T8" fmla="*/ 0 60000 65536"/>
                <a:gd name="T9" fmla="*/ 0 60000 65536"/>
                <a:gd name="T10" fmla="*/ 0 60000 65536"/>
                <a:gd name="T11" fmla="*/ 0 60000 65536"/>
                <a:gd name="T12" fmla="*/ 4529 w 21600"/>
                <a:gd name="T13" fmla="*/ 4574 h 21600"/>
                <a:gd name="T14" fmla="*/ 17129 w 21600"/>
                <a:gd name="T15" fmla="*/ 17026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gradFill rotWithShape="0">
              <a:gsLst>
                <a:gs pos="0">
                  <a:srgbClr val="838383"/>
                </a:gs>
                <a:gs pos="100000">
                  <a:srgbClr val="A6A6A6"/>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FF"/>
                </a:solidFill>
                <a:effectLst/>
                <a:uLnTx/>
                <a:uFillTx/>
                <a:ea typeface="黑体" panose="02010609060101010101" pitchFamily="49" charset="-122"/>
              </a:endParaRPr>
            </a:p>
          </p:txBody>
        </p:sp>
        <p:sp>
          <p:nvSpPr>
            <p:cNvPr id="80" name="Line 21">
              <a:extLst>
                <a:ext uri="{FF2B5EF4-FFF2-40B4-BE49-F238E27FC236}">
                  <a16:creationId xmlns:a16="http://schemas.microsoft.com/office/drawing/2014/main" id="{980F114E-0422-2993-FF54-D5C2B4E56921}"/>
                </a:ext>
              </a:extLst>
            </p:cNvPr>
            <p:cNvSpPr>
              <a:spLocks noChangeAspect="1" noChangeShapeType="1"/>
            </p:cNvSpPr>
            <p:nvPr/>
          </p:nvSpPr>
          <p:spPr bwMode="auto">
            <a:xfrm>
              <a:off x="3703" y="2257"/>
              <a:ext cx="0" cy="433"/>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FF"/>
                </a:solidFill>
                <a:effectLst/>
                <a:uLnTx/>
                <a:uFillTx/>
                <a:ea typeface="黑体" panose="02010609060101010101" pitchFamily="49" charset="-122"/>
              </a:endParaRPr>
            </a:p>
          </p:txBody>
        </p:sp>
        <p:sp>
          <p:nvSpPr>
            <p:cNvPr id="81" name="AutoShape 22">
              <a:extLst>
                <a:ext uri="{FF2B5EF4-FFF2-40B4-BE49-F238E27FC236}">
                  <a16:creationId xmlns:a16="http://schemas.microsoft.com/office/drawing/2014/main" id="{69056069-8DC0-E9FC-5426-8FAB0DCEB728}"/>
                </a:ext>
              </a:extLst>
            </p:cNvPr>
            <p:cNvSpPr>
              <a:spLocks noChangeAspect="1" noChangeArrowheads="1"/>
            </p:cNvSpPr>
            <p:nvPr/>
          </p:nvSpPr>
          <p:spPr bwMode="auto">
            <a:xfrm rot="5400000" flipH="1">
              <a:off x="3450" y="2424"/>
              <a:ext cx="419" cy="85"/>
            </a:xfrm>
            <a:custGeom>
              <a:avLst/>
              <a:gdLst>
                <a:gd name="T0" fmla="*/ 7 w 21600"/>
                <a:gd name="T1" fmla="*/ 0 h 21600"/>
                <a:gd name="T2" fmla="*/ 4 w 21600"/>
                <a:gd name="T3" fmla="*/ 0 h 21600"/>
                <a:gd name="T4" fmla="*/ 1 w 21600"/>
                <a:gd name="T5" fmla="*/ 0 h 21600"/>
                <a:gd name="T6" fmla="*/ 4 w 21600"/>
                <a:gd name="T7" fmla="*/ 0 h 21600"/>
                <a:gd name="T8" fmla="*/ 0 60000 65536"/>
                <a:gd name="T9" fmla="*/ 0 60000 65536"/>
                <a:gd name="T10" fmla="*/ 0 60000 65536"/>
                <a:gd name="T11" fmla="*/ 0 60000 65536"/>
                <a:gd name="T12" fmla="*/ 4485 w 21600"/>
                <a:gd name="T13" fmla="*/ 4574 h 21600"/>
                <a:gd name="T14" fmla="*/ 17115 w 21600"/>
                <a:gd name="T15" fmla="*/ 17026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gradFill rotWithShape="0">
              <a:gsLst>
                <a:gs pos="0">
                  <a:srgbClr val="A6A6A6"/>
                </a:gs>
                <a:gs pos="100000">
                  <a:srgbClr val="838383"/>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FF"/>
                </a:solidFill>
                <a:effectLst/>
                <a:uLnTx/>
                <a:uFillTx/>
                <a:ea typeface="黑体" panose="02010609060101010101" pitchFamily="49" charset="-122"/>
              </a:endParaRPr>
            </a:p>
          </p:txBody>
        </p:sp>
        <p:sp>
          <p:nvSpPr>
            <p:cNvPr id="82" name="Line 23">
              <a:extLst>
                <a:ext uri="{FF2B5EF4-FFF2-40B4-BE49-F238E27FC236}">
                  <a16:creationId xmlns:a16="http://schemas.microsoft.com/office/drawing/2014/main" id="{62E10560-B4EA-27FB-5C56-B68671F99B0A}"/>
                </a:ext>
              </a:extLst>
            </p:cNvPr>
            <p:cNvSpPr>
              <a:spLocks noChangeAspect="1" noChangeShapeType="1"/>
            </p:cNvSpPr>
            <p:nvPr/>
          </p:nvSpPr>
          <p:spPr bwMode="auto">
            <a:xfrm>
              <a:off x="1105" y="2473"/>
              <a:ext cx="3321" cy="0"/>
            </a:xfrm>
            <a:prstGeom prst="line">
              <a:avLst/>
            </a:prstGeom>
            <a:noFill/>
            <a:ln w="3175">
              <a:solidFill>
                <a:srgbClr val="33CC33"/>
              </a:solidFill>
              <a:prstDash val="lgDashDot"/>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FF"/>
                </a:solidFill>
                <a:effectLst/>
                <a:uLnTx/>
                <a:uFillTx/>
                <a:ea typeface="黑体" panose="02010609060101010101" pitchFamily="49" charset="-122"/>
              </a:endParaRPr>
            </a:p>
          </p:txBody>
        </p:sp>
        <p:sp>
          <p:nvSpPr>
            <p:cNvPr id="83" name="Line 24">
              <a:extLst>
                <a:ext uri="{FF2B5EF4-FFF2-40B4-BE49-F238E27FC236}">
                  <a16:creationId xmlns:a16="http://schemas.microsoft.com/office/drawing/2014/main" id="{6C732C5A-84C1-1BEE-B4C5-0B4CF0F472E2}"/>
                </a:ext>
              </a:extLst>
            </p:cNvPr>
            <p:cNvSpPr>
              <a:spLocks noChangeAspect="1" noChangeShapeType="1"/>
            </p:cNvSpPr>
            <p:nvPr/>
          </p:nvSpPr>
          <p:spPr bwMode="auto">
            <a:xfrm>
              <a:off x="2041" y="2951"/>
              <a:ext cx="1529" cy="0"/>
            </a:xfrm>
            <a:prstGeom prst="line">
              <a:avLst/>
            </a:prstGeom>
            <a:noFill/>
            <a:ln w="3175">
              <a:solidFill>
                <a:schemeClr val="tx1"/>
              </a:solidFill>
              <a:round/>
              <a:headEnd type="stealth" w="sm" len="lg"/>
              <a:tailEnd type="stealth" w="sm" len="lg"/>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FF"/>
                </a:solidFill>
                <a:effectLst/>
                <a:uLnTx/>
                <a:uFillTx/>
                <a:ea typeface="黑体" panose="02010609060101010101" pitchFamily="49" charset="-122"/>
              </a:endParaRPr>
            </a:p>
          </p:txBody>
        </p:sp>
        <p:sp>
          <p:nvSpPr>
            <p:cNvPr id="84" name="Line 25">
              <a:extLst>
                <a:ext uri="{FF2B5EF4-FFF2-40B4-BE49-F238E27FC236}">
                  <a16:creationId xmlns:a16="http://schemas.microsoft.com/office/drawing/2014/main" id="{6D5E0C1A-F013-AD67-17D3-9A66A0CDA9C4}"/>
                </a:ext>
              </a:extLst>
            </p:cNvPr>
            <p:cNvSpPr>
              <a:spLocks noChangeAspect="1" noChangeShapeType="1"/>
            </p:cNvSpPr>
            <p:nvPr/>
          </p:nvSpPr>
          <p:spPr bwMode="auto">
            <a:xfrm flipV="1">
              <a:off x="2038" y="2487"/>
              <a:ext cx="0" cy="5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FF"/>
                </a:solidFill>
                <a:effectLst/>
                <a:uLnTx/>
                <a:uFillTx/>
                <a:ea typeface="黑体" panose="02010609060101010101" pitchFamily="49" charset="-122"/>
              </a:endParaRPr>
            </a:p>
          </p:txBody>
        </p:sp>
        <p:sp>
          <p:nvSpPr>
            <p:cNvPr id="85" name="Line 26">
              <a:extLst>
                <a:ext uri="{FF2B5EF4-FFF2-40B4-BE49-F238E27FC236}">
                  <a16:creationId xmlns:a16="http://schemas.microsoft.com/office/drawing/2014/main" id="{6E2A1BEF-9D1A-4A65-6D7E-311CB4E32AB9}"/>
                </a:ext>
              </a:extLst>
            </p:cNvPr>
            <p:cNvSpPr>
              <a:spLocks noChangeAspect="1" noChangeShapeType="1"/>
            </p:cNvSpPr>
            <p:nvPr/>
          </p:nvSpPr>
          <p:spPr bwMode="auto">
            <a:xfrm flipV="1">
              <a:off x="3563" y="2487"/>
              <a:ext cx="0" cy="62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FF"/>
                </a:solidFill>
                <a:effectLst/>
                <a:uLnTx/>
                <a:uFillTx/>
                <a:ea typeface="黑体" panose="02010609060101010101" pitchFamily="49" charset="-122"/>
              </a:endParaRPr>
            </a:p>
          </p:txBody>
        </p:sp>
        <p:sp>
          <p:nvSpPr>
            <p:cNvPr id="86" name="Text Box 27">
              <a:extLst>
                <a:ext uri="{FF2B5EF4-FFF2-40B4-BE49-F238E27FC236}">
                  <a16:creationId xmlns:a16="http://schemas.microsoft.com/office/drawing/2014/main" id="{0933B6D6-54F5-2364-3136-B11D0E904EB5}"/>
                </a:ext>
              </a:extLst>
            </p:cNvPr>
            <p:cNvSpPr txBox="1">
              <a:spLocks noChangeAspect="1" noChangeArrowheads="1"/>
            </p:cNvSpPr>
            <p:nvPr/>
          </p:nvSpPr>
          <p:spPr bwMode="auto">
            <a:xfrm>
              <a:off x="1932" y="2042"/>
              <a:ext cx="436"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1" lang="en-US" altLang="zh-CN" sz="5400" b="0" i="0" u="none" strike="noStrike" kern="0" cap="none" spc="0" normalizeH="0" baseline="0" noProof="0">
                  <a:ln>
                    <a:noFill/>
                  </a:ln>
                  <a:solidFill>
                    <a:srgbClr val="FF00FF"/>
                  </a:solidFill>
                  <a:effectLst/>
                  <a:uLnTx/>
                  <a:uFillTx/>
                  <a:latin typeface="" pitchFamily="18" charset="-52"/>
                  <a:ea typeface="宋体" panose="02010600030101010101" pitchFamily="2" charset="-122"/>
                </a:rPr>
                <a:t>.</a:t>
              </a:r>
            </a:p>
          </p:txBody>
        </p:sp>
        <p:sp>
          <p:nvSpPr>
            <p:cNvPr id="87" name="Text Box 28">
              <a:extLst>
                <a:ext uri="{FF2B5EF4-FFF2-40B4-BE49-F238E27FC236}">
                  <a16:creationId xmlns:a16="http://schemas.microsoft.com/office/drawing/2014/main" id="{A4832648-525A-84E3-4DA4-E96F9B5ABC96}"/>
                </a:ext>
              </a:extLst>
            </p:cNvPr>
            <p:cNvSpPr txBox="1">
              <a:spLocks noChangeAspect="1" noChangeArrowheads="1"/>
            </p:cNvSpPr>
            <p:nvPr/>
          </p:nvSpPr>
          <p:spPr bwMode="auto">
            <a:xfrm>
              <a:off x="3450" y="2043"/>
              <a:ext cx="435"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1" lang="en-US" altLang="zh-CN" sz="5400" b="0" i="0" u="none" strike="noStrike" kern="0" cap="none" spc="0" normalizeH="0" baseline="0" noProof="0">
                  <a:ln>
                    <a:noFill/>
                  </a:ln>
                  <a:solidFill>
                    <a:srgbClr val="FF00FF"/>
                  </a:solidFill>
                  <a:effectLst/>
                  <a:uLnTx/>
                  <a:uFillTx/>
                  <a:latin typeface="" pitchFamily="18" charset="-52"/>
                  <a:ea typeface="宋体" panose="02010600030101010101" pitchFamily="2" charset="-122"/>
                </a:rPr>
                <a:t>.</a:t>
              </a:r>
            </a:p>
          </p:txBody>
        </p:sp>
        <p:sp>
          <p:nvSpPr>
            <p:cNvPr id="88" name="Text Box 29">
              <a:extLst>
                <a:ext uri="{FF2B5EF4-FFF2-40B4-BE49-F238E27FC236}">
                  <a16:creationId xmlns:a16="http://schemas.microsoft.com/office/drawing/2014/main" id="{7724C7C7-1EC8-932D-0AB2-AEA9548013DC}"/>
                </a:ext>
              </a:extLst>
            </p:cNvPr>
            <p:cNvSpPr txBox="1">
              <a:spLocks noChangeAspect="1" noChangeArrowheads="1"/>
            </p:cNvSpPr>
            <p:nvPr/>
          </p:nvSpPr>
          <p:spPr bwMode="auto">
            <a:xfrm>
              <a:off x="2701" y="2662"/>
              <a:ext cx="539"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1" lang="en-US" altLang="zh-CN" sz="2400" b="0" u="none" strike="noStrike" kern="0" cap="none" spc="0" normalizeH="0" baseline="0" noProof="0" dirty="0">
                  <a:ln>
                    <a:noFill/>
                  </a:ln>
                  <a:solidFill>
                    <a:schemeClr val="tx1"/>
                  </a:solidFill>
                  <a:effectLst/>
                  <a:uLnTx/>
                  <a:uFillTx/>
                  <a:latin typeface="+mn-lt"/>
                  <a:ea typeface="宋体" panose="02010600030101010101" pitchFamily="2" charset="-122"/>
                </a:rPr>
                <a:t>l</a:t>
              </a:r>
            </a:p>
          </p:txBody>
        </p:sp>
      </p:grpSp>
      <p:sp>
        <p:nvSpPr>
          <p:cNvPr id="90" name="Text Box 34">
            <a:extLst>
              <a:ext uri="{FF2B5EF4-FFF2-40B4-BE49-F238E27FC236}">
                <a16:creationId xmlns:a16="http://schemas.microsoft.com/office/drawing/2014/main" id="{9D440173-C880-6AC4-E4D2-E6ECEE4AC008}"/>
              </a:ext>
            </a:extLst>
          </p:cNvPr>
          <p:cNvSpPr txBox="1">
            <a:spLocks noChangeAspect="1" noChangeArrowheads="1"/>
          </p:cNvSpPr>
          <p:nvPr/>
        </p:nvSpPr>
        <p:spPr bwMode="auto">
          <a:xfrm>
            <a:off x="4089809" y="4668601"/>
            <a:ext cx="69215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eaLnBrk="1" hangingPunct="1">
              <a:spcBef>
                <a:spcPct val="50000"/>
              </a:spcBef>
            </a:pPr>
            <a:r>
              <a:rPr lang="en-US" altLang="zh-CN" sz="5400" b="0" i="0">
                <a:solidFill>
                  <a:srgbClr val="FF0000"/>
                </a:solidFill>
                <a:latin typeface="" pitchFamily="18" charset="-52"/>
                <a:ea typeface="宋体" panose="02010600030101010101" pitchFamily="2" charset="-122"/>
              </a:rPr>
              <a:t>.</a:t>
            </a:r>
          </a:p>
        </p:txBody>
      </p:sp>
      <p:sp>
        <p:nvSpPr>
          <p:cNvPr id="91" name="Text Box 35">
            <a:extLst>
              <a:ext uri="{FF2B5EF4-FFF2-40B4-BE49-F238E27FC236}">
                <a16:creationId xmlns:a16="http://schemas.microsoft.com/office/drawing/2014/main" id="{8ECF298B-9C11-E00E-606A-8CE2ECFE87C8}"/>
              </a:ext>
            </a:extLst>
          </p:cNvPr>
          <p:cNvSpPr txBox="1">
            <a:spLocks noChangeAspect="1" noChangeArrowheads="1"/>
          </p:cNvSpPr>
          <p:nvPr/>
        </p:nvSpPr>
        <p:spPr bwMode="auto">
          <a:xfrm>
            <a:off x="7348947" y="4665426"/>
            <a:ext cx="690562"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eaLnBrk="1" hangingPunct="1">
              <a:spcBef>
                <a:spcPct val="50000"/>
              </a:spcBef>
            </a:pPr>
            <a:r>
              <a:rPr lang="en-US" altLang="zh-CN" sz="5400" b="0" i="0">
                <a:solidFill>
                  <a:srgbClr val="FF0000"/>
                </a:solidFill>
                <a:latin typeface="" pitchFamily="18" charset="-52"/>
                <a:ea typeface="宋体" panose="02010600030101010101" pitchFamily="2" charset="-122"/>
              </a:rPr>
              <a:t>.</a:t>
            </a:r>
          </a:p>
        </p:txBody>
      </p:sp>
      <p:sp>
        <p:nvSpPr>
          <p:cNvPr id="92" name="Line 36">
            <a:extLst>
              <a:ext uri="{FF2B5EF4-FFF2-40B4-BE49-F238E27FC236}">
                <a16:creationId xmlns:a16="http://schemas.microsoft.com/office/drawing/2014/main" id="{BDD2DAF7-980A-C779-2C59-705236A91507}"/>
              </a:ext>
            </a:extLst>
          </p:cNvPr>
          <p:cNvSpPr>
            <a:spLocks noChangeAspect="1" noChangeShapeType="1"/>
          </p:cNvSpPr>
          <p:nvPr/>
        </p:nvSpPr>
        <p:spPr bwMode="auto">
          <a:xfrm flipV="1">
            <a:off x="4256497" y="4392376"/>
            <a:ext cx="0" cy="9461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ctr" fontAlgn="auto">
              <a:spcBef>
                <a:spcPts val="0"/>
              </a:spcBef>
              <a:spcAft>
                <a:spcPts val="0"/>
              </a:spcAft>
            </a:pPr>
            <a:endParaRPr kumimoji="1" lang="zh-CN" altLang="en-US" sz="1800" b="0" i="0" kern="0">
              <a:solidFill>
                <a:srgbClr val="0000FF"/>
              </a:solidFill>
              <a:ea typeface="黑体" panose="02010609060101010101" pitchFamily="49" charset="-122"/>
            </a:endParaRPr>
          </a:p>
        </p:txBody>
      </p:sp>
      <p:sp>
        <p:nvSpPr>
          <p:cNvPr id="93" name="Line 37">
            <a:extLst>
              <a:ext uri="{FF2B5EF4-FFF2-40B4-BE49-F238E27FC236}">
                <a16:creationId xmlns:a16="http://schemas.microsoft.com/office/drawing/2014/main" id="{69F2E761-8C9B-5AA0-6531-CA5BE4705746}"/>
              </a:ext>
            </a:extLst>
          </p:cNvPr>
          <p:cNvSpPr>
            <a:spLocks noChangeAspect="1" noChangeShapeType="1"/>
          </p:cNvSpPr>
          <p:nvPr/>
        </p:nvSpPr>
        <p:spPr bwMode="auto">
          <a:xfrm>
            <a:off x="4261259" y="4725144"/>
            <a:ext cx="3260725" cy="0"/>
          </a:xfrm>
          <a:prstGeom prst="line">
            <a:avLst/>
          </a:prstGeom>
          <a:noFill/>
          <a:ln w="3175">
            <a:solidFill>
              <a:schemeClr val="tx1"/>
            </a:solidFill>
            <a:round/>
            <a:headEnd type="stealth" w="sm" len="lg"/>
            <a:tailEnd type="stealth" w="sm" len="lg"/>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FF"/>
              </a:solidFill>
              <a:effectLst/>
              <a:uLnTx/>
              <a:uFillTx/>
              <a:ea typeface="黑体" panose="02010609060101010101" pitchFamily="49" charset="-122"/>
            </a:endParaRPr>
          </a:p>
        </p:txBody>
      </p:sp>
      <p:sp>
        <p:nvSpPr>
          <p:cNvPr id="94" name="Line 38">
            <a:extLst>
              <a:ext uri="{FF2B5EF4-FFF2-40B4-BE49-F238E27FC236}">
                <a16:creationId xmlns:a16="http://schemas.microsoft.com/office/drawing/2014/main" id="{262562A5-382A-5FB5-E431-3265A96D892F}"/>
              </a:ext>
            </a:extLst>
          </p:cNvPr>
          <p:cNvSpPr>
            <a:spLocks noChangeAspect="1" noChangeShapeType="1"/>
          </p:cNvSpPr>
          <p:nvPr/>
        </p:nvSpPr>
        <p:spPr bwMode="auto">
          <a:xfrm flipV="1">
            <a:off x="7526747" y="4362214"/>
            <a:ext cx="0" cy="9969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FF"/>
              </a:solidFill>
              <a:effectLst/>
              <a:uLnTx/>
              <a:uFillTx/>
              <a:ea typeface="黑体" panose="02010609060101010101" pitchFamily="49" charset="-122"/>
            </a:endParaRPr>
          </a:p>
        </p:txBody>
      </p:sp>
      <p:sp>
        <p:nvSpPr>
          <p:cNvPr id="95" name="Text Box 39">
            <a:extLst>
              <a:ext uri="{FF2B5EF4-FFF2-40B4-BE49-F238E27FC236}">
                <a16:creationId xmlns:a16="http://schemas.microsoft.com/office/drawing/2014/main" id="{BC58D9CD-55AC-D833-A126-A13022DFFE37}"/>
              </a:ext>
            </a:extLst>
          </p:cNvPr>
          <p:cNvSpPr txBox="1">
            <a:spLocks noChangeAspect="1" noChangeArrowheads="1"/>
          </p:cNvSpPr>
          <p:nvPr/>
        </p:nvSpPr>
        <p:spPr bwMode="auto">
          <a:xfrm>
            <a:off x="5804309" y="4233178"/>
            <a:ext cx="501650"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eaLnBrk="1" hangingPunct="1">
              <a:spcBef>
                <a:spcPct val="50000"/>
              </a:spcBef>
            </a:pPr>
            <a:r>
              <a:rPr lang="en-US" altLang="zh-CN" b="0" dirty="0">
                <a:solidFill>
                  <a:schemeClr val="tx1"/>
                </a:solidFill>
                <a:latin typeface="+mj-lt"/>
                <a:ea typeface="宋体" panose="02010600030101010101" pitchFamily="2" charset="-122"/>
              </a:rPr>
              <a:t>l</a:t>
            </a:r>
            <a:r>
              <a:rPr lang="en-US" altLang="zh-CN" b="0" i="0" baseline="-25000" dirty="0">
                <a:solidFill>
                  <a:schemeClr val="tx1"/>
                </a:solidFill>
                <a:latin typeface="+mj-lt"/>
                <a:ea typeface="宋体" panose="02010600030101010101" pitchFamily="2" charset="-122"/>
              </a:rPr>
              <a:t>1</a:t>
            </a:r>
            <a:endParaRPr lang="en-US" altLang="zh-CN" b="0" dirty="0">
              <a:solidFill>
                <a:schemeClr val="tx1"/>
              </a:solidFill>
              <a:latin typeface="+mj-lt"/>
              <a:ea typeface="宋体" panose="02010600030101010101" pitchFamily="2" charset="-122"/>
            </a:endParaRPr>
          </a:p>
        </p:txBody>
      </p:sp>
      <p:sp>
        <p:nvSpPr>
          <p:cNvPr id="96" name="Freeform 40">
            <a:extLst>
              <a:ext uri="{FF2B5EF4-FFF2-40B4-BE49-F238E27FC236}">
                <a16:creationId xmlns:a16="http://schemas.microsoft.com/office/drawing/2014/main" id="{5E3DABC0-7C6C-0519-F6D1-01F9D120B229}"/>
              </a:ext>
            </a:extLst>
          </p:cNvPr>
          <p:cNvSpPr>
            <a:spLocks/>
          </p:cNvSpPr>
          <p:nvPr/>
        </p:nvSpPr>
        <p:spPr bwMode="auto">
          <a:xfrm>
            <a:off x="5817009" y="5251214"/>
            <a:ext cx="122238" cy="192087"/>
          </a:xfrm>
          <a:custGeom>
            <a:avLst/>
            <a:gdLst>
              <a:gd name="T0" fmla="*/ 0 w 77"/>
              <a:gd name="T1" fmla="*/ 0 h 138"/>
              <a:gd name="T2" fmla="*/ 80963 w 77"/>
              <a:gd name="T3" fmla="*/ 47326 h 138"/>
              <a:gd name="T4" fmla="*/ 39688 w 77"/>
              <a:gd name="T5" fmla="*/ 155897 h 138"/>
              <a:gd name="T6" fmla="*/ 122238 w 77"/>
              <a:gd name="T7" fmla="*/ 192087 h 138"/>
              <a:gd name="T8" fmla="*/ 0 60000 65536"/>
              <a:gd name="T9" fmla="*/ 0 60000 65536"/>
              <a:gd name="T10" fmla="*/ 0 60000 65536"/>
              <a:gd name="T11" fmla="*/ 0 60000 65536"/>
              <a:gd name="T12" fmla="*/ 0 w 77"/>
              <a:gd name="T13" fmla="*/ 0 h 138"/>
              <a:gd name="T14" fmla="*/ 77 w 77"/>
              <a:gd name="T15" fmla="*/ 138 h 138"/>
            </a:gdLst>
            <a:ahLst/>
            <a:cxnLst>
              <a:cxn ang="T8">
                <a:pos x="T0" y="T1"/>
              </a:cxn>
              <a:cxn ang="T9">
                <a:pos x="T2" y="T3"/>
              </a:cxn>
              <a:cxn ang="T10">
                <a:pos x="T4" y="T5"/>
              </a:cxn>
              <a:cxn ang="T11">
                <a:pos x="T6" y="T7"/>
              </a:cxn>
            </a:cxnLst>
            <a:rect l="T12" t="T13" r="T14" b="T15"/>
            <a:pathLst>
              <a:path w="77" h="138">
                <a:moveTo>
                  <a:pt x="0" y="0"/>
                </a:moveTo>
                <a:cubicBezTo>
                  <a:pt x="23" y="7"/>
                  <a:pt x="47" y="15"/>
                  <a:pt x="51" y="34"/>
                </a:cubicBezTo>
                <a:cubicBezTo>
                  <a:pt x="55" y="53"/>
                  <a:pt x="21" y="95"/>
                  <a:pt x="25" y="112"/>
                </a:cubicBezTo>
                <a:cubicBezTo>
                  <a:pt x="29" y="129"/>
                  <a:pt x="66" y="132"/>
                  <a:pt x="77" y="138"/>
                </a:cubicBezTo>
              </a:path>
            </a:pathLst>
          </a:custGeom>
          <a:noFill/>
          <a:ln w="1905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FF"/>
              </a:solidFill>
              <a:effectLst/>
              <a:uLnTx/>
              <a:uFillTx/>
              <a:ea typeface="黑体" panose="02010609060101010101" pitchFamily="49" charset="-122"/>
            </a:endParaRPr>
          </a:p>
        </p:txBody>
      </p:sp>
      <p:sp>
        <p:nvSpPr>
          <p:cNvPr id="97" name="Text Box 44">
            <a:extLst>
              <a:ext uri="{FF2B5EF4-FFF2-40B4-BE49-F238E27FC236}">
                <a16:creationId xmlns:a16="http://schemas.microsoft.com/office/drawing/2014/main" id="{DCBE5BE8-F1E3-943E-826F-1716EEFA85C6}"/>
              </a:ext>
            </a:extLst>
          </p:cNvPr>
          <p:cNvSpPr txBox="1">
            <a:spLocks noChangeAspect="1" noChangeArrowheads="1"/>
          </p:cNvSpPr>
          <p:nvPr/>
        </p:nvSpPr>
        <p:spPr bwMode="auto">
          <a:xfrm>
            <a:off x="5910114" y="5081750"/>
            <a:ext cx="501650"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eaLnBrk="1" hangingPunct="1">
              <a:spcBef>
                <a:spcPct val="50000"/>
              </a:spcBef>
            </a:pPr>
            <a:r>
              <a:rPr lang="en-US" altLang="zh-CN" b="0" dirty="0">
                <a:solidFill>
                  <a:schemeClr val="tx1"/>
                </a:solidFill>
                <a:latin typeface="+mn-lt"/>
                <a:ea typeface="宋体" panose="02010600030101010101" pitchFamily="2" charset="-122"/>
              </a:rPr>
              <a:t>A</a:t>
            </a:r>
            <a:r>
              <a:rPr lang="en-US" altLang="zh-CN" b="0" i="0" baseline="-25000" dirty="0">
                <a:solidFill>
                  <a:schemeClr val="tx1"/>
                </a:solidFill>
                <a:latin typeface="+mn-lt"/>
                <a:ea typeface="宋体" panose="02010600030101010101" pitchFamily="2" charset="-122"/>
              </a:rPr>
              <a:t>1</a:t>
            </a:r>
            <a:endParaRPr lang="en-US" altLang="zh-CN" b="0" dirty="0">
              <a:solidFill>
                <a:schemeClr val="tx1"/>
              </a:solidFill>
              <a:latin typeface="+mn-lt"/>
              <a:ea typeface="宋体" panose="02010600030101010101" pitchFamily="2" charset="-122"/>
            </a:endParaRPr>
          </a:p>
        </p:txBody>
      </p:sp>
    </p:spTree>
    <p:extLst>
      <p:ext uri="{BB962C8B-B14F-4D97-AF65-F5344CB8AC3E}">
        <p14:creationId xmlns:p14="http://schemas.microsoft.com/office/powerpoint/2010/main" val="1920707279"/>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1000"/>
                                  </p:stCondLst>
                                  <p:iterate type="lt">
                                    <p:tmPct val="100000"/>
                                  </p:iterate>
                                  <p:childTnLst>
                                    <p:set>
                                      <p:cBhvr>
                                        <p:cTn id="6" dur="1" fill="hold">
                                          <p:stCondLst>
                                            <p:cond delay="0"/>
                                          </p:stCondLst>
                                        </p:cTn>
                                        <p:tgtEl>
                                          <p:spTgt spid="89"/>
                                        </p:tgtEl>
                                        <p:attrNameLst>
                                          <p:attrName>style.visibility</p:attrName>
                                        </p:attrNameLst>
                                      </p:cBhvr>
                                      <p:to>
                                        <p:strVal val="visible"/>
                                      </p:to>
                                    </p:set>
                                    <p:animEffect transition="in" filter="wipe(left)">
                                      <p:cBhvr>
                                        <p:cTn id="7" dur="75"/>
                                        <p:tgtEl>
                                          <p:spTgt spid="89"/>
                                        </p:tgtEl>
                                      </p:cBhvr>
                                    </p:animEffect>
                                  </p:childTnLst>
                                  <p:subTnLst>
                                    <p:audio>
                                      <p:cMediaNode>
                                        <p:cTn display="0" masterRel="sameClick">
                                          <p:stCondLst>
                                            <p:cond evt="begin" delay="0">
                                              <p:tn val="5"/>
                                            </p:cond>
                                          </p:stCondLst>
                                          <p:endCondLst>
                                            <p:cond evt="onStopAudio" delay="0">
                                              <p:tgtEl>
                                                <p:sldTgt/>
                                              </p:tgtEl>
                                            </p:cond>
                                          </p:endCondLst>
                                        </p:cTn>
                                        <p:tgtEl>
                                          <p:sndTgt r:embed="rId3" name="TYPE.WAV"/>
                                        </p:tgtEl>
                                      </p:cMediaNode>
                                    </p:audio>
                                  </p:subTnLst>
                                </p:cTn>
                              </p:par>
                            </p:childTnLst>
                          </p:cTn>
                        </p:par>
                        <p:par>
                          <p:cTn id="8" fill="hold">
                            <p:stCondLst>
                              <p:cond delay="5575"/>
                            </p:stCondLst>
                            <p:childTnLst>
                              <p:par>
                                <p:cTn id="9" presetID="22" presetClass="entr" presetSubtype="8" fill="hold" grpId="0" nodeType="afterEffect">
                                  <p:stCondLst>
                                    <p:cond delay="1000"/>
                                  </p:stCondLst>
                                  <p:iterate type="lt">
                                    <p:tmPct val="100000"/>
                                  </p:iterate>
                                  <p:childTnLst>
                                    <p:set>
                                      <p:cBhvr>
                                        <p:cTn id="10" dur="1" fill="hold">
                                          <p:stCondLst>
                                            <p:cond delay="0"/>
                                          </p:stCondLst>
                                        </p:cTn>
                                        <p:tgtEl>
                                          <p:spTgt spid="3"/>
                                        </p:tgtEl>
                                        <p:attrNameLst>
                                          <p:attrName>style.visibility</p:attrName>
                                        </p:attrNameLst>
                                      </p:cBhvr>
                                      <p:to>
                                        <p:strVal val="visible"/>
                                      </p:to>
                                    </p:set>
                                    <p:animEffect transition="in" filter="wipe(left)">
                                      <p:cBhvr>
                                        <p:cTn id="11" dur="75"/>
                                        <p:tgtEl>
                                          <p:spTgt spid="3"/>
                                        </p:tgtEl>
                                      </p:cBhvr>
                                    </p:animEffect>
                                  </p:childTnLst>
                                  <p:subTnLst>
                                    <p:audio>
                                      <p:cMediaNode>
                                        <p:cTn display="0" masterRel="sameClick">
                                          <p:stCondLst>
                                            <p:cond evt="begin" delay="0">
                                              <p:tn val="9"/>
                                            </p:cond>
                                          </p:stCondLst>
                                          <p:endCondLst>
                                            <p:cond evt="onStopAudio" delay="0">
                                              <p:tgtEl>
                                                <p:sldTgt/>
                                              </p:tgtEl>
                                            </p:cond>
                                          </p:endCondLst>
                                        </p:cTn>
                                        <p:tgtEl>
                                          <p:sndTgt r:embed="rId3" name="TYPE.WAV"/>
                                        </p:tgtEl>
                                      </p:cMediaNode>
                                    </p:audio>
                                  </p:sub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ipe(left)">
                                      <p:cBhvr>
                                        <p:cTn id="16" dur="500"/>
                                        <p:tgtEl>
                                          <p:spTgt spid="5"/>
                                        </p:tgtEl>
                                      </p:cBhvr>
                                    </p:animEffect>
                                  </p:childTnLst>
                                  <p:subTnLst>
                                    <p:audio>
                                      <p:cMediaNode>
                                        <p:cTn display="0" masterRel="sameClick">
                                          <p:stCondLst>
                                            <p:cond evt="begin" delay="0">
                                              <p:tn val="14"/>
                                            </p:cond>
                                          </p:stCondLst>
                                          <p:endCondLst>
                                            <p:cond evt="onStopAudio" delay="0">
                                              <p:tgtEl>
                                                <p:sldTgt/>
                                              </p:tgtEl>
                                            </p:cond>
                                          </p:endCondLst>
                                        </p:cTn>
                                        <p:tgtEl>
                                          <p:sndTgt r:embed="rId3" name="TYPE.WAV"/>
                                        </p:tgtEl>
                                      </p:cMediaNode>
                                    </p:audio>
                                  </p:subTnLst>
                                </p:cTn>
                              </p:par>
                            </p:childTnLst>
                          </p:cTn>
                        </p:par>
                        <p:par>
                          <p:cTn id="17" fill="hold">
                            <p:stCondLst>
                              <p:cond delay="500"/>
                            </p:stCondLst>
                            <p:childTnLst>
                              <p:par>
                                <p:cTn id="18" presetID="22" presetClass="entr" presetSubtype="8" fill="hold" grpId="0" nodeType="afterEffect">
                                  <p:stCondLst>
                                    <p:cond delay="1000"/>
                                  </p:stCondLst>
                                  <p:iterate type="lt">
                                    <p:tmPct val="100000"/>
                                  </p:iterate>
                                  <p:childTnLst>
                                    <p:set>
                                      <p:cBhvr>
                                        <p:cTn id="19" dur="1" fill="hold">
                                          <p:stCondLst>
                                            <p:cond delay="0"/>
                                          </p:stCondLst>
                                        </p:cTn>
                                        <p:tgtEl>
                                          <p:spTgt spid="6"/>
                                        </p:tgtEl>
                                        <p:attrNameLst>
                                          <p:attrName>style.visibility</p:attrName>
                                        </p:attrNameLst>
                                      </p:cBhvr>
                                      <p:to>
                                        <p:strVal val="visible"/>
                                      </p:to>
                                    </p:set>
                                    <p:animEffect transition="in" filter="wipe(left)">
                                      <p:cBhvr>
                                        <p:cTn id="20" dur="75"/>
                                        <p:tgtEl>
                                          <p:spTgt spid="6"/>
                                        </p:tgtEl>
                                      </p:cBhvr>
                                    </p:animEffect>
                                  </p:childTnLst>
                                  <p:subTnLst>
                                    <p:audio>
                                      <p:cMediaNode>
                                        <p:cTn display="0" masterRel="sameClick">
                                          <p:stCondLst>
                                            <p:cond evt="begin" delay="0">
                                              <p:tn val="18"/>
                                            </p:cond>
                                          </p:stCondLst>
                                          <p:endCondLst>
                                            <p:cond evt="onStopAudio" delay="0">
                                              <p:tgtEl>
                                                <p:sldTgt/>
                                              </p:tgtEl>
                                            </p:cond>
                                          </p:endCondLst>
                                        </p:cTn>
                                        <p:tgtEl>
                                          <p:sndTgt r:embed="rId3" name="TYPE.WAV"/>
                                        </p:tgtEl>
                                      </p:cMediaNode>
                                    </p:audio>
                                  </p:sub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wipe(left)">
                                      <p:cBhvr>
                                        <p:cTn id="25" dur="500"/>
                                        <p:tgtEl>
                                          <p:spTgt spid="8"/>
                                        </p:tgtEl>
                                      </p:cBhvr>
                                    </p:animEffect>
                                  </p:childTnLst>
                                  <p:subTnLst>
                                    <p:audio>
                                      <p:cMediaNode>
                                        <p:cTn display="0" masterRel="sameClick">
                                          <p:stCondLst>
                                            <p:cond evt="begin" delay="0">
                                              <p:tn val="23"/>
                                            </p:cond>
                                          </p:stCondLst>
                                          <p:endCondLst>
                                            <p:cond evt="onStopAudio" delay="0">
                                              <p:tgtEl>
                                                <p:sldTgt/>
                                              </p:tgtEl>
                                            </p:cond>
                                          </p:endCondLst>
                                        </p:cTn>
                                        <p:tgtEl>
                                          <p:sndTgt r:embed="rId3" name="TYPE.WAV"/>
                                        </p:tgtEl>
                                      </p:cMediaNode>
                                    </p:audio>
                                  </p:subTnLst>
                                </p:cTn>
                              </p:par>
                            </p:childTnLst>
                          </p:cTn>
                        </p:par>
                        <p:par>
                          <p:cTn id="26" fill="hold">
                            <p:stCondLst>
                              <p:cond delay="500"/>
                            </p:stCondLst>
                            <p:childTnLst>
                              <p:par>
                                <p:cTn id="27" presetID="22" presetClass="entr" presetSubtype="8" fill="hold" grpId="0" nodeType="afterEffect">
                                  <p:stCondLst>
                                    <p:cond delay="1000"/>
                                  </p:stCondLst>
                                  <p:iterate type="lt">
                                    <p:tmPct val="100000"/>
                                  </p:iterate>
                                  <p:childTnLst>
                                    <p:set>
                                      <p:cBhvr>
                                        <p:cTn id="28" dur="1" fill="hold">
                                          <p:stCondLst>
                                            <p:cond delay="0"/>
                                          </p:stCondLst>
                                        </p:cTn>
                                        <p:tgtEl>
                                          <p:spTgt spid="9"/>
                                        </p:tgtEl>
                                        <p:attrNameLst>
                                          <p:attrName>style.visibility</p:attrName>
                                        </p:attrNameLst>
                                      </p:cBhvr>
                                      <p:to>
                                        <p:strVal val="visible"/>
                                      </p:to>
                                    </p:set>
                                    <p:animEffect transition="in" filter="wipe(left)">
                                      <p:cBhvr>
                                        <p:cTn id="29" dur="75"/>
                                        <p:tgtEl>
                                          <p:spTgt spid="9"/>
                                        </p:tgtEl>
                                      </p:cBhvr>
                                    </p:animEffect>
                                  </p:childTnLst>
                                  <p:subTnLst>
                                    <p:audio>
                                      <p:cMediaNode>
                                        <p:cTn display="0" masterRel="sameClick">
                                          <p:stCondLst>
                                            <p:cond evt="begin" delay="0">
                                              <p:tn val="27"/>
                                            </p:cond>
                                          </p:stCondLst>
                                          <p:endCondLst>
                                            <p:cond evt="onStopAudio" delay="0">
                                              <p:tgtEl>
                                                <p:sldTgt/>
                                              </p:tgtEl>
                                            </p:cond>
                                          </p:endCondLst>
                                        </p:cTn>
                                        <p:tgtEl>
                                          <p:sndTgt r:embed="rId3" name="TYPE.WAV"/>
                                        </p:tgtEl>
                                      </p:cMediaNode>
                                    </p:audio>
                                  </p:subTnLst>
                                </p:cTn>
                              </p:par>
                              <p:par>
                                <p:cTn id="30" presetID="10" presetClass="entr" presetSubtype="0" fill="hold" nodeType="withEffect">
                                  <p:stCondLst>
                                    <p:cond delay="0"/>
                                  </p:stCondLst>
                                  <p:childTnLst>
                                    <p:set>
                                      <p:cBhvr>
                                        <p:cTn id="31" dur="1" fill="hold">
                                          <p:stCondLst>
                                            <p:cond delay="0"/>
                                          </p:stCondLst>
                                        </p:cTn>
                                        <p:tgtEl>
                                          <p:spTgt spid="76"/>
                                        </p:tgtEl>
                                        <p:attrNameLst>
                                          <p:attrName>style.visibility</p:attrName>
                                        </p:attrNameLst>
                                      </p:cBhvr>
                                      <p:to>
                                        <p:strVal val="visible"/>
                                      </p:to>
                                    </p:set>
                                    <p:animEffect transition="in" filter="fade">
                                      <p:cBhvr>
                                        <p:cTn id="32" dur="5000"/>
                                        <p:tgtEl>
                                          <p:spTgt spid="76"/>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0"/>
                                        </p:tgtEl>
                                        <p:attrNameLst>
                                          <p:attrName>style.visibility</p:attrName>
                                        </p:attrNameLst>
                                      </p:cBhvr>
                                      <p:to>
                                        <p:strVal val="visible"/>
                                      </p:to>
                                    </p:set>
                                  </p:childTnLst>
                                </p:cTn>
                              </p:par>
                              <p:par>
                                <p:cTn id="37" presetID="6" presetClass="emph" presetSubtype="0" fill="hold" nodeType="withEffect">
                                  <p:stCondLst>
                                    <p:cond delay="0"/>
                                  </p:stCondLst>
                                  <p:childTnLst>
                                    <p:animScale>
                                      <p:cBhvr>
                                        <p:cTn id="38" dur="100" fill="hold"/>
                                        <p:tgtEl>
                                          <p:spTgt spid="10"/>
                                        </p:tgtEl>
                                      </p:cBhvr>
                                      <p:by x="85000" y="100000"/>
                                    </p:animScale>
                                  </p:childTnLst>
                                </p:cTn>
                              </p:par>
                              <p:par>
                                <p:cTn id="39" presetID="6" presetClass="emph" presetSubtype="0" fill="hold" nodeType="withEffect">
                                  <p:stCondLst>
                                    <p:cond delay="0"/>
                                  </p:stCondLst>
                                  <p:childTnLst>
                                    <p:animScale>
                                      <p:cBhvr>
                                        <p:cTn id="40" dur="5000" fill="hold"/>
                                        <p:tgtEl>
                                          <p:spTgt spid="10"/>
                                        </p:tgtEl>
                                      </p:cBhvr>
                                      <p:by x="115000" y="100000"/>
                                    </p:animScale>
                                  </p:childTnLst>
                                </p:cTn>
                              </p:par>
                            </p:childTnLst>
                          </p:cTn>
                        </p:par>
                        <p:par>
                          <p:cTn id="41" fill="hold">
                            <p:stCondLst>
                              <p:cond delay="5000"/>
                            </p:stCondLst>
                            <p:childTnLst>
                              <p:par>
                                <p:cTn id="42" presetID="9" presetClass="emph" presetSubtype="0" nodeType="afterEffect">
                                  <p:stCondLst>
                                    <p:cond delay="0"/>
                                  </p:stCondLst>
                                  <p:childTnLst>
                                    <p:set>
                                      <p:cBhvr rctx="PPT">
                                        <p:cTn id="43" dur="indefinite"/>
                                        <p:tgtEl>
                                          <p:spTgt spid="76"/>
                                        </p:tgtEl>
                                        <p:attrNameLst>
                                          <p:attrName>style.opacity</p:attrName>
                                        </p:attrNameLst>
                                      </p:cBhvr>
                                      <p:to>
                                        <p:strVal val="0.6"/>
                                      </p:to>
                                    </p:set>
                                    <p:animEffect filter="image" prLst="opacity: 0.6">
                                      <p:cBhvr rctx="IE">
                                        <p:cTn id="44" dur="indefinite"/>
                                        <p:tgtEl>
                                          <p:spTgt spid="76"/>
                                        </p:tgtEl>
                                      </p:cBhvr>
                                    </p:animEffect>
                                  </p:childTnLst>
                                </p:cTn>
                              </p:par>
                            </p:childTnLst>
                          </p:cTn>
                        </p:par>
                        <p:par>
                          <p:cTn id="45" fill="hold">
                            <p:stCondLst>
                              <p:cond delay="5000"/>
                            </p:stCondLst>
                            <p:childTnLst>
                              <p:par>
                                <p:cTn id="46" presetID="16" presetClass="entr" presetSubtype="26" fill="hold" nodeType="afterEffect">
                                  <p:stCondLst>
                                    <p:cond delay="0"/>
                                  </p:stCondLst>
                                  <p:childTnLst>
                                    <p:set>
                                      <p:cBhvr>
                                        <p:cTn id="47" dur="1" fill="hold">
                                          <p:stCondLst>
                                            <p:cond delay="0"/>
                                          </p:stCondLst>
                                        </p:cTn>
                                        <p:tgtEl>
                                          <p:spTgt spid="96"/>
                                        </p:tgtEl>
                                        <p:attrNameLst>
                                          <p:attrName>style.visibility</p:attrName>
                                        </p:attrNameLst>
                                      </p:cBhvr>
                                      <p:to>
                                        <p:strVal val="visible"/>
                                      </p:to>
                                    </p:set>
                                    <p:animEffect transition="in" filter="barn(inHorizontal)">
                                      <p:cBhvr>
                                        <p:cTn id="48" dur="3000"/>
                                        <p:tgtEl>
                                          <p:spTgt spid="96"/>
                                        </p:tgtEl>
                                      </p:cBhvr>
                                    </p:animEffect>
                                  </p:childTnLst>
                                  <p:subTnLst>
                                    <p:audio>
                                      <p:cMediaNode vol="10000">
                                        <p:cTn display="0" masterRel="sameClick">
                                          <p:stCondLst>
                                            <p:cond evt="begin" delay="0">
                                              <p:tn val="46"/>
                                            </p:cond>
                                          </p:stCondLst>
                                          <p:endCondLst>
                                            <p:cond evt="onStopAudio" delay="0">
                                              <p:tgtEl>
                                                <p:sldTgt/>
                                              </p:tgtEl>
                                            </p:cond>
                                          </p:endCondLst>
                                        </p:cTn>
                                        <p:tgtEl>
                                          <p:sndTgt r:embed="rId4" name="GLASS.WAV"/>
                                        </p:tgtEl>
                                      </p:cMediaNode>
                                    </p:audio>
                                  </p:subTnLst>
                                </p:cTn>
                              </p:par>
                            </p:childTnLst>
                          </p:cTn>
                        </p:par>
                        <p:par>
                          <p:cTn id="49" fill="hold">
                            <p:stCondLst>
                              <p:cond delay="8000"/>
                            </p:stCondLst>
                            <p:childTnLst>
                              <p:par>
                                <p:cTn id="50" presetID="10" presetClass="entr" presetSubtype="0" fill="hold" grpId="0" nodeType="afterEffect">
                                  <p:stCondLst>
                                    <p:cond delay="0"/>
                                  </p:stCondLst>
                                  <p:childTnLst>
                                    <p:set>
                                      <p:cBhvr>
                                        <p:cTn id="51" dur="1" fill="hold">
                                          <p:stCondLst>
                                            <p:cond delay="0"/>
                                          </p:stCondLst>
                                        </p:cTn>
                                        <p:tgtEl>
                                          <p:spTgt spid="90"/>
                                        </p:tgtEl>
                                        <p:attrNameLst>
                                          <p:attrName>style.visibility</p:attrName>
                                        </p:attrNameLst>
                                      </p:cBhvr>
                                      <p:to>
                                        <p:strVal val="visible"/>
                                      </p:to>
                                    </p:set>
                                    <p:animEffect transition="in" filter="fade">
                                      <p:cBhvr>
                                        <p:cTn id="52" dur="2000"/>
                                        <p:tgtEl>
                                          <p:spTgt spid="9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91"/>
                                        </p:tgtEl>
                                        <p:attrNameLst>
                                          <p:attrName>style.visibility</p:attrName>
                                        </p:attrNameLst>
                                      </p:cBhvr>
                                      <p:to>
                                        <p:strVal val="visible"/>
                                      </p:to>
                                    </p:set>
                                    <p:animEffect transition="in" filter="fade">
                                      <p:cBhvr>
                                        <p:cTn id="55" dur="2000"/>
                                        <p:tgtEl>
                                          <p:spTgt spid="91"/>
                                        </p:tgtEl>
                                      </p:cBhvr>
                                    </p:animEffect>
                                  </p:childTnLst>
                                </p:cTn>
                              </p:par>
                            </p:childTnLst>
                          </p:cTn>
                        </p:par>
                        <p:par>
                          <p:cTn id="56" fill="hold">
                            <p:stCondLst>
                              <p:cond delay="10000"/>
                            </p:stCondLst>
                            <p:childTnLst>
                              <p:par>
                                <p:cTn id="57" presetID="17" presetClass="entr" presetSubtype="4" fill="hold" nodeType="afterEffect">
                                  <p:stCondLst>
                                    <p:cond delay="0"/>
                                  </p:stCondLst>
                                  <p:childTnLst>
                                    <p:set>
                                      <p:cBhvr>
                                        <p:cTn id="58" dur="1" fill="hold">
                                          <p:stCondLst>
                                            <p:cond delay="0"/>
                                          </p:stCondLst>
                                        </p:cTn>
                                        <p:tgtEl>
                                          <p:spTgt spid="92"/>
                                        </p:tgtEl>
                                        <p:attrNameLst>
                                          <p:attrName>style.visibility</p:attrName>
                                        </p:attrNameLst>
                                      </p:cBhvr>
                                      <p:to>
                                        <p:strVal val="visible"/>
                                      </p:to>
                                    </p:set>
                                    <p:anim calcmode="lin" valueType="num">
                                      <p:cBhvr>
                                        <p:cTn id="59" dur="3000" fill="hold"/>
                                        <p:tgtEl>
                                          <p:spTgt spid="92"/>
                                        </p:tgtEl>
                                        <p:attrNameLst>
                                          <p:attrName>ppt_x</p:attrName>
                                        </p:attrNameLst>
                                      </p:cBhvr>
                                      <p:tavLst>
                                        <p:tav tm="0">
                                          <p:val>
                                            <p:strVal val="#ppt_x"/>
                                          </p:val>
                                        </p:tav>
                                        <p:tav tm="100000">
                                          <p:val>
                                            <p:strVal val="#ppt_x"/>
                                          </p:val>
                                        </p:tav>
                                      </p:tavLst>
                                    </p:anim>
                                    <p:anim calcmode="lin" valueType="num">
                                      <p:cBhvr>
                                        <p:cTn id="60" dur="3000" fill="hold"/>
                                        <p:tgtEl>
                                          <p:spTgt spid="92"/>
                                        </p:tgtEl>
                                        <p:attrNameLst>
                                          <p:attrName>ppt_y</p:attrName>
                                        </p:attrNameLst>
                                      </p:cBhvr>
                                      <p:tavLst>
                                        <p:tav tm="0">
                                          <p:val>
                                            <p:strVal val="#ppt_y+#ppt_h/2"/>
                                          </p:val>
                                        </p:tav>
                                        <p:tav tm="100000">
                                          <p:val>
                                            <p:strVal val="#ppt_y"/>
                                          </p:val>
                                        </p:tav>
                                      </p:tavLst>
                                    </p:anim>
                                    <p:anim calcmode="lin" valueType="num">
                                      <p:cBhvr>
                                        <p:cTn id="61" dur="3000" fill="hold"/>
                                        <p:tgtEl>
                                          <p:spTgt spid="92"/>
                                        </p:tgtEl>
                                        <p:attrNameLst>
                                          <p:attrName>ppt_w</p:attrName>
                                        </p:attrNameLst>
                                      </p:cBhvr>
                                      <p:tavLst>
                                        <p:tav tm="0">
                                          <p:val>
                                            <p:strVal val="#ppt_w"/>
                                          </p:val>
                                        </p:tav>
                                        <p:tav tm="100000">
                                          <p:val>
                                            <p:strVal val="#ppt_w"/>
                                          </p:val>
                                        </p:tav>
                                      </p:tavLst>
                                    </p:anim>
                                    <p:anim calcmode="lin" valueType="num">
                                      <p:cBhvr>
                                        <p:cTn id="62" dur="3000" fill="hold"/>
                                        <p:tgtEl>
                                          <p:spTgt spid="92"/>
                                        </p:tgtEl>
                                        <p:attrNameLst>
                                          <p:attrName>ppt_h</p:attrName>
                                        </p:attrNameLst>
                                      </p:cBhvr>
                                      <p:tavLst>
                                        <p:tav tm="0">
                                          <p:val>
                                            <p:fltVal val="0"/>
                                          </p:val>
                                        </p:tav>
                                        <p:tav tm="100000">
                                          <p:val>
                                            <p:strVal val="#ppt_h"/>
                                          </p:val>
                                        </p:tav>
                                      </p:tavLst>
                                    </p:anim>
                                  </p:childTnLst>
                                </p:cTn>
                              </p:par>
                              <p:par>
                                <p:cTn id="63" presetID="17" presetClass="entr" presetSubtype="4" fill="hold" nodeType="withEffect">
                                  <p:stCondLst>
                                    <p:cond delay="0"/>
                                  </p:stCondLst>
                                  <p:childTnLst>
                                    <p:set>
                                      <p:cBhvr>
                                        <p:cTn id="64" dur="1" fill="hold">
                                          <p:stCondLst>
                                            <p:cond delay="0"/>
                                          </p:stCondLst>
                                        </p:cTn>
                                        <p:tgtEl>
                                          <p:spTgt spid="94"/>
                                        </p:tgtEl>
                                        <p:attrNameLst>
                                          <p:attrName>style.visibility</p:attrName>
                                        </p:attrNameLst>
                                      </p:cBhvr>
                                      <p:to>
                                        <p:strVal val="visible"/>
                                      </p:to>
                                    </p:set>
                                    <p:anim calcmode="lin" valueType="num">
                                      <p:cBhvr>
                                        <p:cTn id="65" dur="3000" fill="hold"/>
                                        <p:tgtEl>
                                          <p:spTgt spid="94"/>
                                        </p:tgtEl>
                                        <p:attrNameLst>
                                          <p:attrName>ppt_x</p:attrName>
                                        </p:attrNameLst>
                                      </p:cBhvr>
                                      <p:tavLst>
                                        <p:tav tm="0">
                                          <p:val>
                                            <p:strVal val="#ppt_x"/>
                                          </p:val>
                                        </p:tav>
                                        <p:tav tm="100000">
                                          <p:val>
                                            <p:strVal val="#ppt_x"/>
                                          </p:val>
                                        </p:tav>
                                      </p:tavLst>
                                    </p:anim>
                                    <p:anim calcmode="lin" valueType="num">
                                      <p:cBhvr>
                                        <p:cTn id="66" dur="3000" fill="hold"/>
                                        <p:tgtEl>
                                          <p:spTgt spid="94"/>
                                        </p:tgtEl>
                                        <p:attrNameLst>
                                          <p:attrName>ppt_y</p:attrName>
                                        </p:attrNameLst>
                                      </p:cBhvr>
                                      <p:tavLst>
                                        <p:tav tm="0">
                                          <p:val>
                                            <p:strVal val="#ppt_y+#ppt_h/2"/>
                                          </p:val>
                                        </p:tav>
                                        <p:tav tm="100000">
                                          <p:val>
                                            <p:strVal val="#ppt_y"/>
                                          </p:val>
                                        </p:tav>
                                      </p:tavLst>
                                    </p:anim>
                                    <p:anim calcmode="lin" valueType="num">
                                      <p:cBhvr>
                                        <p:cTn id="67" dur="3000" fill="hold"/>
                                        <p:tgtEl>
                                          <p:spTgt spid="94"/>
                                        </p:tgtEl>
                                        <p:attrNameLst>
                                          <p:attrName>ppt_w</p:attrName>
                                        </p:attrNameLst>
                                      </p:cBhvr>
                                      <p:tavLst>
                                        <p:tav tm="0">
                                          <p:val>
                                            <p:strVal val="#ppt_w"/>
                                          </p:val>
                                        </p:tav>
                                        <p:tav tm="100000">
                                          <p:val>
                                            <p:strVal val="#ppt_w"/>
                                          </p:val>
                                        </p:tav>
                                      </p:tavLst>
                                    </p:anim>
                                    <p:anim calcmode="lin" valueType="num">
                                      <p:cBhvr>
                                        <p:cTn id="68" dur="3000" fill="hold"/>
                                        <p:tgtEl>
                                          <p:spTgt spid="94"/>
                                        </p:tgtEl>
                                        <p:attrNameLst>
                                          <p:attrName>ppt_h</p:attrName>
                                        </p:attrNameLst>
                                      </p:cBhvr>
                                      <p:tavLst>
                                        <p:tav tm="0">
                                          <p:val>
                                            <p:fltVal val="0"/>
                                          </p:val>
                                        </p:tav>
                                        <p:tav tm="100000">
                                          <p:val>
                                            <p:strVal val="#ppt_h"/>
                                          </p:val>
                                        </p:tav>
                                      </p:tavLst>
                                    </p:anim>
                                  </p:childTnLst>
                                </p:cTn>
                              </p:par>
                            </p:childTnLst>
                          </p:cTn>
                        </p:par>
                        <p:par>
                          <p:cTn id="69" fill="hold">
                            <p:stCondLst>
                              <p:cond delay="13000"/>
                            </p:stCondLst>
                            <p:childTnLst>
                              <p:par>
                                <p:cTn id="70" presetID="16" presetClass="entr" presetSubtype="37" fill="hold" nodeType="afterEffect">
                                  <p:stCondLst>
                                    <p:cond delay="0"/>
                                  </p:stCondLst>
                                  <p:childTnLst>
                                    <p:set>
                                      <p:cBhvr>
                                        <p:cTn id="71" dur="1" fill="hold">
                                          <p:stCondLst>
                                            <p:cond delay="0"/>
                                          </p:stCondLst>
                                        </p:cTn>
                                        <p:tgtEl>
                                          <p:spTgt spid="93"/>
                                        </p:tgtEl>
                                        <p:attrNameLst>
                                          <p:attrName>style.visibility</p:attrName>
                                        </p:attrNameLst>
                                      </p:cBhvr>
                                      <p:to>
                                        <p:strVal val="visible"/>
                                      </p:to>
                                    </p:set>
                                    <p:animEffect transition="in" filter="barn(outVertical)">
                                      <p:cBhvr>
                                        <p:cTn id="72" dur="5000"/>
                                        <p:tgtEl>
                                          <p:spTgt spid="93"/>
                                        </p:tgtEl>
                                      </p:cBhvr>
                                    </p:animEffect>
                                  </p:childTnLst>
                                </p:cTn>
                              </p:par>
                            </p:childTnLst>
                          </p:cTn>
                        </p:par>
                        <p:par>
                          <p:cTn id="73" fill="hold">
                            <p:stCondLst>
                              <p:cond delay="18000"/>
                            </p:stCondLst>
                            <p:childTnLst>
                              <p:par>
                                <p:cTn id="74" presetID="19" presetClass="entr" presetSubtype="10" fill="hold" grpId="0" nodeType="afterEffect">
                                  <p:stCondLst>
                                    <p:cond delay="0"/>
                                  </p:stCondLst>
                                  <p:childTnLst>
                                    <p:set>
                                      <p:cBhvr>
                                        <p:cTn id="75" dur="1" fill="hold">
                                          <p:stCondLst>
                                            <p:cond delay="0"/>
                                          </p:stCondLst>
                                        </p:cTn>
                                        <p:tgtEl>
                                          <p:spTgt spid="95"/>
                                        </p:tgtEl>
                                        <p:attrNameLst>
                                          <p:attrName>style.visibility</p:attrName>
                                        </p:attrNameLst>
                                      </p:cBhvr>
                                      <p:to>
                                        <p:strVal val="visible"/>
                                      </p:to>
                                    </p:set>
                                    <p:anim calcmode="lin" valueType="num">
                                      <p:cBhvr>
                                        <p:cTn id="76" dur="5000" fill="hold"/>
                                        <p:tgtEl>
                                          <p:spTgt spid="95"/>
                                        </p:tgtEl>
                                        <p:attrNameLst>
                                          <p:attrName>ppt_w</p:attrName>
                                        </p:attrNameLst>
                                      </p:cBhvr>
                                      <p:tavLst>
                                        <p:tav tm="0" fmla="#ppt_w*sin(2.5*pi*$)">
                                          <p:val>
                                            <p:fltVal val="0"/>
                                          </p:val>
                                        </p:tav>
                                        <p:tav tm="100000">
                                          <p:val>
                                            <p:fltVal val="1"/>
                                          </p:val>
                                        </p:tav>
                                      </p:tavLst>
                                    </p:anim>
                                    <p:anim calcmode="lin" valueType="num">
                                      <p:cBhvr>
                                        <p:cTn id="77" dur="5000" fill="hold"/>
                                        <p:tgtEl>
                                          <p:spTgt spid="95"/>
                                        </p:tgtEl>
                                        <p:attrNameLst>
                                          <p:attrName>ppt_h</p:attrName>
                                        </p:attrNameLst>
                                      </p:cBhvr>
                                      <p:tavLst>
                                        <p:tav tm="0">
                                          <p:val>
                                            <p:strVal val="#ppt_h"/>
                                          </p:val>
                                        </p:tav>
                                        <p:tav tm="100000">
                                          <p:val>
                                            <p:strVal val="#ppt_h"/>
                                          </p:val>
                                        </p:tav>
                                      </p:tavLst>
                                    </p:anim>
                                  </p:childTnLst>
                                </p:cTn>
                              </p:par>
                            </p:childTnLst>
                          </p:cTn>
                        </p:par>
                        <p:par>
                          <p:cTn id="78" fill="hold">
                            <p:stCondLst>
                              <p:cond delay="23000"/>
                            </p:stCondLst>
                            <p:childTnLst>
                              <p:par>
                                <p:cTn id="79" presetID="19" presetClass="entr" presetSubtype="10" fill="hold" grpId="0" nodeType="afterEffect">
                                  <p:stCondLst>
                                    <p:cond delay="0"/>
                                  </p:stCondLst>
                                  <p:childTnLst>
                                    <p:set>
                                      <p:cBhvr>
                                        <p:cTn id="80" dur="1" fill="hold">
                                          <p:stCondLst>
                                            <p:cond delay="0"/>
                                          </p:stCondLst>
                                        </p:cTn>
                                        <p:tgtEl>
                                          <p:spTgt spid="97"/>
                                        </p:tgtEl>
                                        <p:attrNameLst>
                                          <p:attrName>style.visibility</p:attrName>
                                        </p:attrNameLst>
                                      </p:cBhvr>
                                      <p:to>
                                        <p:strVal val="visible"/>
                                      </p:to>
                                    </p:set>
                                    <p:anim calcmode="lin" valueType="num">
                                      <p:cBhvr>
                                        <p:cTn id="81" dur="5000" fill="hold"/>
                                        <p:tgtEl>
                                          <p:spTgt spid="97"/>
                                        </p:tgtEl>
                                        <p:attrNameLst>
                                          <p:attrName>ppt_w</p:attrName>
                                        </p:attrNameLst>
                                      </p:cBhvr>
                                      <p:tavLst>
                                        <p:tav tm="0" fmla="#ppt_w*sin(2.5*pi*$)">
                                          <p:val>
                                            <p:fltVal val="0"/>
                                          </p:val>
                                        </p:tav>
                                        <p:tav tm="100000">
                                          <p:val>
                                            <p:fltVal val="1"/>
                                          </p:val>
                                        </p:tav>
                                      </p:tavLst>
                                    </p:anim>
                                    <p:anim calcmode="lin" valueType="num">
                                      <p:cBhvr>
                                        <p:cTn id="82" dur="5000" fill="hold"/>
                                        <p:tgtEl>
                                          <p:spTgt spid="9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 grpId="0" autoUpdateAnimBg="0"/>
      <p:bldP spid="3" grpId="0" autoUpdateAnimBg="0"/>
      <p:bldP spid="6" grpId="0" autoUpdateAnimBg="0"/>
      <p:bldP spid="9" grpId="0" autoUpdateAnimBg="0"/>
      <p:bldP spid="90" grpId="0"/>
      <p:bldP spid="91" grpId="0"/>
      <p:bldP spid="95" grpId="0"/>
      <p:bldP spid="97"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711605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第八章   拉压、剪切与挤压的强度计算</a:t>
            </a:r>
          </a:p>
        </p:txBody>
      </p:sp>
      <p:sp>
        <p:nvSpPr>
          <p:cNvPr id="89" name="Text Box 25">
            <a:extLst>
              <a:ext uri="{FF2B5EF4-FFF2-40B4-BE49-F238E27FC236}">
                <a16:creationId xmlns:a16="http://schemas.microsoft.com/office/drawing/2014/main" id="{E94B3BCF-FF80-03BF-F778-771D78F2B490}"/>
              </a:ext>
            </a:extLst>
          </p:cNvPr>
          <p:cNvSpPr txBox="1">
            <a:spLocks noChangeArrowheads="1"/>
          </p:cNvSpPr>
          <p:nvPr/>
        </p:nvSpPr>
        <p:spPr bwMode="auto">
          <a:xfrm>
            <a:off x="497359" y="1700808"/>
            <a:ext cx="10855225" cy="2428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fontAlgn="auto" hangingPunct="1">
              <a:lnSpc>
                <a:spcPct val="110000"/>
              </a:lnSpc>
              <a:spcBef>
                <a:spcPct val="50000"/>
              </a:spcBef>
              <a:spcAft>
                <a:spcPts val="0"/>
              </a:spcAft>
            </a:pPr>
            <a:r>
              <a:rPr lang="zh-CN" altLang="en-US" sz="2800" i="0" dirty="0">
                <a:solidFill>
                  <a:schemeClr val="tx1"/>
                </a:solidFill>
                <a:latin typeface="+mn-lt"/>
                <a:ea typeface="微软雅黑" panose="020B0503020204020204" pitchFamily="34" charset="-122"/>
              </a:rPr>
              <a:t>低碳钢的伸长率在</a:t>
            </a:r>
            <a:r>
              <a:rPr lang="en-US" altLang="zh-CN" sz="2800" i="0" dirty="0">
                <a:solidFill>
                  <a:schemeClr val="tx1"/>
                </a:solidFill>
                <a:latin typeface="+mn-lt"/>
                <a:ea typeface="微软雅黑" panose="020B0503020204020204" pitchFamily="34" charset="-122"/>
              </a:rPr>
              <a:t>20</a:t>
            </a:r>
            <a:r>
              <a:rPr lang="zh-CN" altLang="en-US" sz="2800" i="0" dirty="0">
                <a:solidFill>
                  <a:schemeClr val="tx1"/>
                </a:solidFill>
                <a:latin typeface="+mn-lt"/>
                <a:ea typeface="微软雅黑" panose="020B0503020204020204" pitchFamily="34" charset="-122"/>
              </a:rPr>
              <a:t>％～</a:t>
            </a:r>
            <a:r>
              <a:rPr lang="en-US" altLang="zh-CN" sz="2800" i="0" dirty="0">
                <a:solidFill>
                  <a:schemeClr val="tx1"/>
                </a:solidFill>
                <a:latin typeface="+mn-lt"/>
                <a:ea typeface="微软雅黑" panose="020B0503020204020204" pitchFamily="34" charset="-122"/>
              </a:rPr>
              <a:t>30</a:t>
            </a:r>
            <a:r>
              <a:rPr lang="zh-CN" altLang="en-US" sz="2800" i="0" dirty="0">
                <a:solidFill>
                  <a:schemeClr val="tx1"/>
                </a:solidFill>
                <a:latin typeface="+mn-lt"/>
                <a:ea typeface="微软雅黑" panose="020B0503020204020204" pitchFamily="34" charset="-122"/>
              </a:rPr>
              <a:t>％之间，断面收缩率约为</a:t>
            </a:r>
            <a:r>
              <a:rPr lang="en-US" altLang="zh-CN" sz="2800" i="0" dirty="0">
                <a:solidFill>
                  <a:schemeClr val="tx1"/>
                </a:solidFill>
                <a:latin typeface="+mn-lt"/>
                <a:ea typeface="微软雅黑" panose="020B0503020204020204" pitchFamily="34" charset="-122"/>
              </a:rPr>
              <a:t>60%</a:t>
            </a:r>
            <a:r>
              <a:rPr lang="zh-CN" altLang="en-US" sz="2800" i="0" dirty="0">
                <a:solidFill>
                  <a:schemeClr val="tx1"/>
                </a:solidFill>
                <a:latin typeface="+mn-lt"/>
                <a:ea typeface="微软雅黑" panose="020B0503020204020204" pitchFamily="34" charset="-122"/>
              </a:rPr>
              <a:t>，故低碳钢是很好的塑性材料。工程上经常用标距与直径之比为</a:t>
            </a:r>
            <a:r>
              <a:rPr lang="en-US" altLang="zh-CN" sz="2800" i="0" dirty="0">
                <a:solidFill>
                  <a:schemeClr val="tx1"/>
                </a:solidFill>
                <a:latin typeface="+mn-lt"/>
                <a:ea typeface="微软雅黑" panose="020B0503020204020204" pitchFamily="34" charset="-122"/>
              </a:rPr>
              <a:t>10</a:t>
            </a:r>
            <a:r>
              <a:rPr lang="zh-CN" altLang="en-US" sz="2800" i="0" dirty="0">
                <a:solidFill>
                  <a:schemeClr val="tx1"/>
                </a:solidFill>
                <a:latin typeface="+mn-lt"/>
                <a:ea typeface="微软雅黑" panose="020B0503020204020204" pitchFamily="34" charset="-122"/>
              </a:rPr>
              <a:t>的试件的伸长率区分塑性材料和脆性材料。把</a:t>
            </a:r>
            <a:r>
              <a:rPr lang="zh-CN" altLang="en-US" sz="2800" i="0" dirty="0">
                <a:solidFill>
                  <a:schemeClr val="tx1"/>
                </a:solidFill>
                <a:latin typeface="+mn-lt"/>
                <a:ea typeface="微软雅黑" panose="020B0503020204020204" pitchFamily="34" charset="-122"/>
                <a:sym typeface="Symbol" panose="05050102010706020507" pitchFamily="18" charset="2"/>
              </a:rPr>
              <a:t></a:t>
            </a:r>
            <a:r>
              <a:rPr lang="en-US" altLang="zh-CN" sz="2800" i="0" baseline="-25000" dirty="0">
                <a:solidFill>
                  <a:schemeClr val="tx1"/>
                </a:solidFill>
                <a:latin typeface="+mn-lt"/>
                <a:ea typeface="微软雅黑" panose="020B0503020204020204" pitchFamily="34" charset="-122"/>
              </a:rPr>
              <a:t>10</a:t>
            </a:r>
            <a:r>
              <a:rPr lang="en-US" altLang="zh-CN" sz="2800" i="0" dirty="0">
                <a:solidFill>
                  <a:schemeClr val="tx1"/>
                </a:solidFill>
                <a:latin typeface="+mn-lt"/>
                <a:ea typeface="微软雅黑" panose="020B0503020204020204" pitchFamily="34" charset="-122"/>
              </a:rPr>
              <a:t>≥5%</a:t>
            </a:r>
            <a:r>
              <a:rPr lang="zh-CN" altLang="en-US" sz="2800" i="0" dirty="0">
                <a:solidFill>
                  <a:schemeClr val="tx1"/>
                </a:solidFill>
                <a:latin typeface="+mn-lt"/>
                <a:ea typeface="微软雅黑" panose="020B0503020204020204" pitchFamily="34" charset="-122"/>
              </a:rPr>
              <a:t>的材料材料称为</a:t>
            </a:r>
            <a:r>
              <a:rPr lang="zh-CN" altLang="en-US" sz="2800" i="0" dirty="0">
                <a:solidFill>
                  <a:srgbClr val="FF00FF"/>
                </a:solidFill>
                <a:latin typeface="+mn-lt"/>
                <a:ea typeface="微软雅黑" panose="020B0503020204020204" pitchFamily="34" charset="-122"/>
              </a:rPr>
              <a:t>塑性材料</a:t>
            </a:r>
            <a:r>
              <a:rPr lang="zh-CN" altLang="en-US" sz="2800" i="0" dirty="0">
                <a:solidFill>
                  <a:schemeClr val="tx1"/>
                </a:solidFill>
                <a:latin typeface="+mn-lt"/>
                <a:ea typeface="微软雅黑" panose="020B0503020204020204" pitchFamily="34" charset="-122"/>
              </a:rPr>
              <a:t>，如钢材、铜和铝等；拉断试件图把</a:t>
            </a:r>
            <a:r>
              <a:rPr lang="zh-CN" altLang="en-US" sz="2800" i="0" dirty="0">
                <a:solidFill>
                  <a:schemeClr val="tx1"/>
                </a:solidFill>
                <a:latin typeface="+mn-lt"/>
                <a:ea typeface="微软雅黑" panose="020B0503020204020204" pitchFamily="34" charset="-122"/>
                <a:sym typeface="Symbol" panose="05050102010706020507" pitchFamily="18" charset="2"/>
              </a:rPr>
              <a:t></a:t>
            </a:r>
            <a:r>
              <a:rPr lang="en-US" altLang="zh-CN" sz="2800" i="0" baseline="-25000" dirty="0">
                <a:solidFill>
                  <a:schemeClr val="tx1"/>
                </a:solidFill>
                <a:latin typeface="+mn-lt"/>
                <a:ea typeface="微软雅黑" panose="020B0503020204020204" pitchFamily="34" charset="-122"/>
              </a:rPr>
              <a:t>10</a:t>
            </a:r>
            <a:r>
              <a:rPr lang="zh-CN" altLang="en-US" sz="2800" i="0" dirty="0">
                <a:solidFill>
                  <a:schemeClr val="tx1"/>
                </a:solidFill>
                <a:latin typeface="+mn-lt"/>
                <a:ea typeface="微软雅黑" panose="020B0503020204020204" pitchFamily="34" charset="-122"/>
              </a:rPr>
              <a:t>＜</a:t>
            </a:r>
            <a:r>
              <a:rPr lang="en-US" altLang="zh-CN" sz="2800" i="0" dirty="0">
                <a:solidFill>
                  <a:schemeClr val="tx1"/>
                </a:solidFill>
                <a:latin typeface="+mn-lt"/>
                <a:ea typeface="微软雅黑" panose="020B0503020204020204" pitchFamily="34" charset="-122"/>
              </a:rPr>
              <a:t>5% </a:t>
            </a:r>
            <a:r>
              <a:rPr lang="zh-CN" altLang="en-US" sz="2800" i="0" dirty="0">
                <a:solidFill>
                  <a:schemeClr val="tx1"/>
                </a:solidFill>
                <a:latin typeface="+mn-lt"/>
                <a:ea typeface="微软雅黑" panose="020B0503020204020204" pitchFamily="34" charset="-122"/>
              </a:rPr>
              <a:t>的材料称为</a:t>
            </a:r>
            <a:r>
              <a:rPr lang="zh-CN" altLang="en-US" sz="2800" i="0" dirty="0">
                <a:solidFill>
                  <a:srgbClr val="FF00FF"/>
                </a:solidFill>
                <a:latin typeface="+mn-lt"/>
                <a:ea typeface="微软雅黑" panose="020B0503020204020204" pitchFamily="34" charset="-122"/>
              </a:rPr>
              <a:t>脆性材料</a:t>
            </a:r>
            <a:r>
              <a:rPr lang="zh-CN" altLang="en-US" sz="2800" i="0" dirty="0">
                <a:solidFill>
                  <a:schemeClr val="tx1"/>
                </a:solidFill>
                <a:latin typeface="+mn-lt"/>
                <a:ea typeface="微软雅黑" panose="020B0503020204020204" pitchFamily="34" charset="-122"/>
              </a:rPr>
              <a:t>，如铸铁、砖石等。</a:t>
            </a:r>
          </a:p>
        </p:txBody>
      </p:sp>
    </p:spTree>
    <p:extLst>
      <p:ext uri="{BB962C8B-B14F-4D97-AF65-F5344CB8AC3E}">
        <p14:creationId xmlns:p14="http://schemas.microsoft.com/office/powerpoint/2010/main" val="2543913970"/>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1000"/>
                                  </p:stCondLst>
                                  <p:iterate type="lt">
                                    <p:tmPct val="100000"/>
                                  </p:iterate>
                                  <p:childTnLst>
                                    <p:set>
                                      <p:cBhvr>
                                        <p:cTn id="6" dur="1" fill="hold">
                                          <p:stCondLst>
                                            <p:cond delay="0"/>
                                          </p:stCondLst>
                                        </p:cTn>
                                        <p:tgtEl>
                                          <p:spTgt spid="89"/>
                                        </p:tgtEl>
                                        <p:attrNameLst>
                                          <p:attrName>style.visibility</p:attrName>
                                        </p:attrNameLst>
                                      </p:cBhvr>
                                      <p:to>
                                        <p:strVal val="visible"/>
                                      </p:to>
                                    </p:set>
                                    <p:animEffect transition="in" filter="wipe(left)">
                                      <p:cBhvr>
                                        <p:cTn id="7" dur="75"/>
                                        <p:tgtEl>
                                          <p:spTgt spid="89"/>
                                        </p:tgtEl>
                                      </p:cBhvr>
                                    </p:animEffect>
                                  </p:childTnLst>
                                  <p:subTnLst>
                                    <p:audio>
                                      <p:cMediaNode>
                                        <p:cTn display="0" masterRel="sameClick">
                                          <p:stCondLst>
                                            <p:cond evt="begin" delay="0">
                                              <p:tn val="5"/>
                                            </p:cond>
                                          </p:stCondLst>
                                          <p:endCondLst>
                                            <p:cond evt="onStopAudio" delay="0">
                                              <p:tgtEl>
                                                <p:sldTgt/>
                                              </p:tgtEl>
                                            </p:cond>
                                          </p:endCondLst>
                                        </p:cTn>
                                        <p:tgtEl>
                                          <p:sndTgt r:embed="rId3" name="TYP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 grpId="0"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711605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第八章   拉压、剪切与挤压的强度计算</a:t>
            </a:r>
          </a:p>
        </p:txBody>
      </p:sp>
      <p:pic>
        <p:nvPicPr>
          <p:cNvPr id="16" name="拉伸变形e.avi">
            <a:hlinkClick r:id="" action="ppaction://media"/>
            <a:extLst>
              <a:ext uri="{FF2B5EF4-FFF2-40B4-BE49-F238E27FC236}">
                <a16:creationId xmlns:a16="http://schemas.microsoft.com/office/drawing/2014/main" id="{F4E9EE81-46B3-6A6F-1DCD-0289B0B74111}"/>
              </a:ext>
            </a:extLst>
          </p:cNvPr>
          <p:cNvPicPr>
            <a:picLocks noRot="1" noChangeAspect="1" noChangeArrowheads="1"/>
          </p:cNvPicPr>
          <p:nvPr>
            <a:videoFile r:link="rId1"/>
          </p:nvPr>
        </p:nvPicPr>
        <p:blipFill>
          <a:blip r:embed="rId7">
            <a:extLst>
              <a:ext uri="{28A0092B-C50C-407E-A947-70E740481C1C}">
                <a14:useLocalDpi xmlns:a14="http://schemas.microsoft.com/office/drawing/2010/main" val="0"/>
              </a:ext>
            </a:extLst>
          </a:blip>
          <a:srcRect/>
          <a:stretch>
            <a:fillRect/>
          </a:stretch>
        </p:blipFill>
        <p:spPr bwMode="auto">
          <a:xfrm>
            <a:off x="6337300" y="836712"/>
            <a:ext cx="5854700" cy="549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Text Box 8">
            <a:extLst>
              <a:ext uri="{FF2B5EF4-FFF2-40B4-BE49-F238E27FC236}">
                <a16:creationId xmlns:a16="http://schemas.microsoft.com/office/drawing/2014/main" id="{367FD07A-6510-A9C8-693B-3A82F5336A24}"/>
              </a:ext>
            </a:extLst>
          </p:cNvPr>
          <p:cNvSpPr txBox="1">
            <a:spLocks noChangeArrowheads="1"/>
          </p:cNvSpPr>
          <p:nvPr/>
        </p:nvSpPr>
        <p:spPr bwMode="auto">
          <a:xfrm>
            <a:off x="8024813" y="1562199"/>
            <a:ext cx="5524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l" eaLnBrk="1" hangingPunct="1">
              <a:spcBef>
                <a:spcPct val="50000"/>
              </a:spcBef>
            </a:pPr>
            <a:r>
              <a:rPr lang="en-US" altLang="zh-CN" sz="3200" b="0" i="1" dirty="0">
                <a:solidFill>
                  <a:srgbClr val="000000"/>
                </a:solidFill>
                <a:latin typeface="+mn-lt"/>
                <a:ea typeface="宋体" panose="02010600030101010101" pitchFamily="2" charset="-122"/>
                <a:sym typeface="Symbol" panose="05050102010706020507" pitchFamily="18" charset="2"/>
              </a:rPr>
              <a:t>F</a:t>
            </a:r>
          </a:p>
        </p:txBody>
      </p:sp>
      <p:sp>
        <p:nvSpPr>
          <p:cNvPr id="18" name="Text Box 11">
            <a:extLst>
              <a:ext uri="{FF2B5EF4-FFF2-40B4-BE49-F238E27FC236}">
                <a16:creationId xmlns:a16="http://schemas.microsoft.com/office/drawing/2014/main" id="{91082BAF-20D4-C2D4-7A5A-71FDF83BBF70}"/>
              </a:ext>
            </a:extLst>
          </p:cNvPr>
          <p:cNvSpPr txBox="1">
            <a:spLocks noChangeArrowheads="1"/>
          </p:cNvSpPr>
          <p:nvPr/>
        </p:nvSpPr>
        <p:spPr bwMode="auto">
          <a:xfrm>
            <a:off x="11418888" y="5507137"/>
            <a:ext cx="4921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l" eaLnBrk="1" hangingPunct="1">
              <a:spcBef>
                <a:spcPct val="50000"/>
              </a:spcBef>
            </a:pPr>
            <a:r>
              <a:rPr lang="en-US" altLang="zh-CN" sz="2800" i="1">
                <a:solidFill>
                  <a:srgbClr val="000000"/>
                </a:solidFill>
                <a:latin typeface="" pitchFamily="18" charset="-52"/>
                <a:ea typeface="宋体" panose="02010600030101010101" pitchFamily="2" charset="-122"/>
                <a:sym typeface="Symbol" panose="05050102010706020507" pitchFamily="18" charset="2"/>
              </a:rPr>
              <a:t></a:t>
            </a:r>
          </a:p>
        </p:txBody>
      </p:sp>
      <p:sp>
        <p:nvSpPr>
          <p:cNvPr id="19" name="Freeform 12">
            <a:extLst>
              <a:ext uri="{FF2B5EF4-FFF2-40B4-BE49-F238E27FC236}">
                <a16:creationId xmlns:a16="http://schemas.microsoft.com/office/drawing/2014/main" id="{A2F809D3-55F1-7B48-2BEA-6B2FB8C476BD}"/>
              </a:ext>
            </a:extLst>
          </p:cNvPr>
          <p:cNvSpPr>
            <a:spLocks/>
          </p:cNvSpPr>
          <p:nvPr/>
        </p:nvSpPr>
        <p:spPr bwMode="auto">
          <a:xfrm>
            <a:off x="7685088" y="2008287"/>
            <a:ext cx="642937" cy="4010025"/>
          </a:xfrm>
          <a:custGeom>
            <a:avLst/>
            <a:gdLst>
              <a:gd name="T0" fmla="*/ 0 w 492"/>
              <a:gd name="T1" fmla="*/ 4010025 h 2526"/>
              <a:gd name="T2" fmla="*/ 595893 w 492"/>
              <a:gd name="T3" fmla="*/ 147637 h 2526"/>
              <a:gd name="T4" fmla="*/ 641630 w 492"/>
              <a:gd name="T5" fmla="*/ 25400 h 2526"/>
              <a:gd name="T6" fmla="*/ 0 60000 65536"/>
              <a:gd name="T7" fmla="*/ 0 60000 65536"/>
              <a:gd name="T8" fmla="*/ 0 60000 65536"/>
              <a:gd name="T9" fmla="*/ 0 w 492"/>
              <a:gd name="T10" fmla="*/ 0 h 2526"/>
              <a:gd name="T11" fmla="*/ 492 w 492"/>
              <a:gd name="T12" fmla="*/ 2526 h 2526"/>
            </a:gdLst>
            <a:ahLst/>
            <a:cxnLst>
              <a:cxn ang="T6">
                <a:pos x="T0" y="T1"/>
              </a:cxn>
              <a:cxn ang="T7">
                <a:pos x="T2" y="T3"/>
              </a:cxn>
              <a:cxn ang="T8">
                <a:pos x="T4" y="T5"/>
              </a:cxn>
            </a:cxnLst>
            <a:rect l="T9" t="T10" r="T11" b="T12"/>
            <a:pathLst>
              <a:path w="492" h="2526">
                <a:moveTo>
                  <a:pt x="0" y="2526"/>
                </a:moveTo>
                <a:lnTo>
                  <a:pt x="456" y="93"/>
                </a:lnTo>
                <a:cubicBezTo>
                  <a:pt x="492" y="0"/>
                  <a:pt x="484" y="32"/>
                  <a:pt x="491" y="16"/>
                </a:cubicBezTo>
              </a:path>
            </a:pathLst>
          </a:custGeom>
          <a:noFill/>
          <a:ln w="38100" cap="flat" cmpd="sng">
            <a:solidFill>
              <a:srgbClr val="FB1C05"/>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0" name="Text Box 13">
            <a:extLst>
              <a:ext uri="{FF2B5EF4-FFF2-40B4-BE49-F238E27FC236}">
                <a16:creationId xmlns:a16="http://schemas.microsoft.com/office/drawing/2014/main" id="{3CD51D9A-D241-72C4-4BBB-D01F7F264AF8}"/>
              </a:ext>
            </a:extLst>
          </p:cNvPr>
          <p:cNvSpPr txBox="1">
            <a:spLocks noChangeArrowheads="1"/>
          </p:cNvSpPr>
          <p:nvPr/>
        </p:nvSpPr>
        <p:spPr bwMode="auto">
          <a:xfrm>
            <a:off x="7132638" y="2951262"/>
            <a:ext cx="5524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l" eaLnBrk="1" hangingPunct="1">
              <a:spcBef>
                <a:spcPct val="50000"/>
              </a:spcBef>
            </a:pPr>
            <a:r>
              <a:rPr lang="en-US" altLang="zh-CN" sz="2800" b="0" i="1" dirty="0">
                <a:solidFill>
                  <a:srgbClr val="000000"/>
                </a:solidFill>
                <a:latin typeface="+mj-lt"/>
                <a:ea typeface="宋体" panose="02010600030101010101" pitchFamily="2" charset="-122"/>
                <a:sym typeface="Symbol" panose="05050102010706020507" pitchFamily="18" charset="2"/>
              </a:rPr>
              <a:t>A</a:t>
            </a:r>
          </a:p>
        </p:txBody>
      </p:sp>
      <p:sp>
        <p:nvSpPr>
          <p:cNvPr id="21" name="Text Box 14">
            <a:extLst>
              <a:ext uri="{FF2B5EF4-FFF2-40B4-BE49-F238E27FC236}">
                <a16:creationId xmlns:a16="http://schemas.microsoft.com/office/drawing/2014/main" id="{E41ACBC2-B4C1-46F0-CF10-FE5C342F016A}"/>
              </a:ext>
            </a:extLst>
          </p:cNvPr>
          <p:cNvSpPr txBox="1">
            <a:spLocks noChangeArrowheads="1"/>
          </p:cNvSpPr>
          <p:nvPr/>
        </p:nvSpPr>
        <p:spPr bwMode="auto">
          <a:xfrm>
            <a:off x="7910513" y="5523012"/>
            <a:ext cx="5524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l" eaLnBrk="1" hangingPunct="1">
              <a:spcBef>
                <a:spcPct val="50000"/>
              </a:spcBef>
            </a:pPr>
            <a:r>
              <a:rPr lang="en-US" altLang="zh-CN" sz="2800" b="0" i="1" dirty="0">
                <a:solidFill>
                  <a:srgbClr val="000000"/>
                </a:solidFill>
                <a:latin typeface="+mn-lt"/>
                <a:ea typeface="宋体" panose="02010600030101010101" pitchFamily="2" charset="-122"/>
                <a:sym typeface="Symbol" panose="05050102010706020507" pitchFamily="18" charset="2"/>
              </a:rPr>
              <a:t>H</a:t>
            </a:r>
          </a:p>
        </p:txBody>
      </p:sp>
      <p:sp>
        <p:nvSpPr>
          <p:cNvPr id="22" name="Text Box 15">
            <a:extLst>
              <a:ext uri="{FF2B5EF4-FFF2-40B4-BE49-F238E27FC236}">
                <a16:creationId xmlns:a16="http://schemas.microsoft.com/office/drawing/2014/main" id="{FA00A5F0-B0D0-1889-8799-89AFEF7E5BF6}"/>
              </a:ext>
            </a:extLst>
          </p:cNvPr>
          <p:cNvSpPr txBox="1">
            <a:spLocks noChangeArrowheads="1"/>
          </p:cNvSpPr>
          <p:nvPr/>
        </p:nvSpPr>
        <p:spPr bwMode="auto">
          <a:xfrm>
            <a:off x="6315075" y="5708749"/>
            <a:ext cx="5524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l" eaLnBrk="1" hangingPunct="1">
              <a:spcBef>
                <a:spcPct val="50000"/>
              </a:spcBef>
            </a:pPr>
            <a:r>
              <a:rPr lang="en-US" altLang="zh-CN" sz="2800" b="0" dirty="0">
                <a:solidFill>
                  <a:srgbClr val="000000"/>
                </a:solidFill>
                <a:latin typeface="+mn-lt"/>
                <a:ea typeface="宋体" panose="02010600030101010101" pitchFamily="2" charset="-122"/>
                <a:sym typeface="Symbol" panose="05050102010706020507" pitchFamily="18" charset="2"/>
              </a:rPr>
              <a:t>O</a:t>
            </a:r>
          </a:p>
        </p:txBody>
      </p:sp>
      <p:sp>
        <p:nvSpPr>
          <p:cNvPr id="23" name="Text Box 16">
            <a:extLst>
              <a:ext uri="{FF2B5EF4-FFF2-40B4-BE49-F238E27FC236}">
                <a16:creationId xmlns:a16="http://schemas.microsoft.com/office/drawing/2014/main" id="{ADE8001C-5AA2-D626-371D-8BB28DE6CEA1}"/>
              </a:ext>
            </a:extLst>
          </p:cNvPr>
          <p:cNvSpPr txBox="1">
            <a:spLocks noChangeArrowheads="1"/>
          </p:cNvSpPr>
          <p:nvPr/>
        </p:nvSpPr>
        <p:spPr bwMode="auto">
          <a:xfrm>
            <a:off x="6716713" y="893862"/>
            <a:ext cx="5524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l" eaLnBrk="1" hangingPunct="1">
              <a:spcBef>
                <a:spcPct val="50000"/>
              </a:spcBef>
            </a:pPr>
            <a:r>
              <a:rPr lang="en-US" altLang="zh-CN" sz="2800" i="1">
                <a:solidFill>
                  <a:srgbClr val="000000"/>
                </a:solidFill>
                <a:latin typeface="" pitchFamily="18" charset="-52"/>
                <a:ea typeface="宋体" panose="02010600030101010101" pitchFamily="2" charset="-122"/>
                <a:sym typeface="Symbol" panose="05050102010706020507" pitchFamily="18" charset="2"/>
              </a:rPr>
              <a:t></a:t>
            </a:r>
          </a:p>
        </p:txBody>
      </p:sp>
      <p:sp>
        <p:nvSpPr>
          <p:cNvPr id="24" name="Oval 18">
            <a:extLst>
              <a:ext uri="{FF2B5EF4-FFF2-40B4-BE49-F238E27FC236}">
                <a16:creationId xmlns:a16="http://schemas.microsoft.com/office/drawing/2014/main" id="{8E260F32-B01B-0486-8747-BEDA0B7979D0}"/>
              </a:ext>
            </a:extLst>
          </p:cNvPr>
          <p:cNvSpPr>
            <a:spLocks noChangeArrowheads="1"/>
          </p:cNvSpPr>
          <p:nvPr/>
        </p:nvSpPr>
        <p:spPr bwMode="auto">
          <a:xfrm>
            <a:off x="7089775" y="3144937"/>
            <a:ext cx="88900" cy="88900"/>
          </a:xfrm>
          <a:prstGeom prst="ellipse">
            <a:avLst/>
          </a:prstGeom>
          <a:solidFill>
            <a:srgbClr val="FB1C05"/>
          </a:solidFill>
          <a:ln w="9525">
            <a:solidFill>
              <a:schemeClr val="tx1"/>
            </a:solidFill>
            <a:round/>
            <a:headEnd/>
            <a:tailEnd/>
          </a:ln>
        </p:spPr>
        <p:txBody>
          <a:bodyPr wrap="none" anchor="ct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eaLnBrk="1" hangingPunct="1"/>
            <a:endParaRPr lang="zh-CN" altLang="en-US">
              <a:solidFill>
                <a:srgbClr val="0000FF"/>
              </a:solidFill>
            </a:endParaRPr>
          </a:p>
        </p:txBody>
      </p:sp>
      <p:sp>
        <p:nvSpPr>
          <p:cNvPr id="25" name="Line 19">
            <a:extLst>
              <a:ext uri="{FF2B5EF4-FFF2-40B4-BE49-F238E27FC236}">
                <a16:creationId xmlns:a16="http://schemas.microsoft.com/office/drawing/2014/main" id="{7C3355D5-DC0A-42AF-12DC-2C698D5B23C2}"/>
              </a:ext>
            </a:extLst>
          </p:cNvPr>
          <p:cNvSpPr>
            <a:spLocks noChangeShapeType="1"/>
          </p:cNvSpPr>
          <p:nvPr/>
        </p:nvSpPr>
        <p:spPr bwMode="auto">
          <a:xfrm>
            <a:off x="8299450" y="2032099"/>
            <a:ext cx="0" cy="3976688"/>
          </a:xfrm>
          <a:prstGeom prst="line">
            <a:avLst/>
          </a:prstGeom>
          <a:noFill/>
          <a:ln w="9525">
            <a:solidFill>
              <a:schemeClr val="bg2"/>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 name="Text Box 20">
            <a:extLst>
              <a:ext uri="{FF2B5EF4-FFF2-40B4-BE49-F238E27FC236}">
                <a16:creationId xmlns:a16="http://schemas.microsoft.com/office/drawing/2014/main" id="{2C0CFD33-CC67-19FF-EAED-89395AA82D2D}"/>
              </a:ext>
            </a:extLst>
          </p:cNvPr>
          <p:cNvSpPr txBox="1">
            <a:spLocks noChangeArrowheads="1"/>
          </p:cNvSpPr>
          <p:nvPr/>
        </p:nvSpPr>
        <p:spPr bwMode="auto">
          <a:xfrm>
            <a:off x="7294563" y="5530949"/>
            <a:ext cx="5524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l" eaLnBrk="1" hangingPunct="1">
              <a:spcBef>
                <a:spcPct val="50000"/>
              </a:spcBef>
            </a:pPr>
            <a:r>
              <a:rPr lang="en-US" altLang="zh-CN" sz="2800" b="0" i="1" dirty="0">
                <a:solidFill>
                  <a:srgbClr val="000000"/>
                </a:solidFill>
                <a:ea typeface="宋体" panose="02010600030101010101" pitchFamily="2" charset="-122"/>
                <a:cs typeface="Times New Roman" panose="02020603050405020304" pitchFamily="18" charset="0"/>
                <a:sym typeface="Symbol" panose="05050102010706020507" pitchFamily="18" charset="2"/>
              </a:rPr>
              <a:t>G</a:t>
            </a:r>
          </a:p>
        </p:txBody>
      </p:sp>
      <p:sp>
        <p:nvSpPr>
          <p:cNvPr id="27" name="Oval 17">
            <a:extLst>
              <a:ext uri="{FF2B5EF4-FFF2-40B4-BE49-F238E27FC236}">
                <a16:creationId xmlns:a16="http://schemas.microsoft.com/office/drawing/2014/main" id="{F6B50D37-F3BF-1206-59C9-125847F10D40}"/>
              </a:ext>
            </a:extLst>
          </p:cNvPr>
          <p:cNvSpPr>
            <a:spLocks noChangeArrowheads="1"/>
          </p:cNvSpPr>
          <p:nvPr/>
        </p:nvSpPr>
        <p:spPr bwMode="auto">
          <a:xfrm>
            <a:off x="8272463" y="2017812"/>
            <a:ext cx="88900" cy="88900"/>
          </a:xfrm>
          <a:prstGeom prst="ellipse">
            <a:avLst/>
          </a:prstGeom>
          <a:solidFill>
            <a:srgbClr val="FB1C05"/>
          </a:solidFill>
          <a:ln w="9525">
            <a:solidFill>
              <a:schemeClr val="tx1"/>
            </a:solidFill>
            <a:round/>
            <a:headEnd/>
            <a:tailEnd/>
          </a:ln>
        </p:spPr>
        <p:txBody>
          <a:bodyPr wrap="none" anchor="ct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eaLnBrk="1" hangingPunct="1"/>
            <a:endParaRPr lang="zh-CN" altLang="en-US">
              <a:solidFill>
                <a:srgbClr val="0000FF"/>
              </a:solidFill>
            </a:endParaRPr>
          </a:p>
        </p:txBody>
      </p:sp>
      <p:sp>
        <p:nvSpPr>
          <p:cNvPr id="89" name="Text Box 25">
            <a:extLst>
              <a:ext uri="{FF2B5EF4-FFF2-40B4-BE49-F238E27FC236}">
                <a16:creationId xmlns:a16="http://schemas.microsoft.com/office/drawing/2014/main" id="{E94B3BCF-FF80-03BF-F778-771D78F2B490}"/>
              </a:ext>
            </a:extLst>
          </p:cNvPr>
          <p:cNvSpPr txBox="1">
            <a:spLocks noChangeArrowheads="1"/>
          </p:cNvSpPr>
          <p:nvPr/>
        </p:nvSpPr>
        <p:spPr bwMode="auto">
          <a:xfrm>
            <a:off x="263353" y="980728"/>
            <a:ext cx="6204122" cy="2428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fontAlgn="auto" hangingPunct="1">
              <a:lnSpc>
                <a:spcPct val="110000"/>
              </a:lnSpc>
              <a:spcBef>
                <a:spcPct val="50000"/>
              </a:spcBef>
              <a:spcAft>
                <a:spcPts val="0"/>
              </a:spcAft>
            </a:pPr>
            <a:r>
              <a:rPr lang="zh-CN" altLang="en-US" sz="2800" i="0" dirty="0">
                <a:solidFill>
                  <a:srgbClr val="000000"/>
                </a:solidFill>
                <a:ea typeface="微软雅黑" panose="020B0503020204020204" pitchFamily="34" charset="-122"/>
                <a:cs typeface="Times New Roman" panose="02020603050405020304" pitchFamily="18" charset="0"/>
              </a:rPr>
              <a:t>实验中如将试件拉伸到超过屈服点</a:t>
            </a:r>
            <a:r>
              <a:rPr lang="zh-CN" altLang="en-US" sz="2800" b="0" dirty="0">
                <a:solidFill>
                  <a:srgbClr val="000000"/>
                </a:solidFill>
                <a:ea typeface="微软雅黑" panose="020B0503020204020204" pitchFamily="34" charset="-122"/>
                <a:cs typeface="Times New Roman" panose="02020603050405020304" pitchFamily="18" charset="0"/>
                <a:sym typeface="Symbol" panose="05050102010706020507" pitchFamily="18" charset="2"/>
              </a:rPr>
              <a:t></a:t>
            </a:r>
            <a:r>
              <a:rPr lang="en-US" altLang="zh-CN" sz="2800" b="0" i="0" baseline="-25000" dirty="0">
                <a:solidFill>
                  <a:srgbClr val="000000"/>
                </a:solidFill>
                <a:ea typeface="微软雅黑" panose="020B0503020204020204" pitchFamily="34" charset="-122"/>
                <a:cs typeface="Times New Roman" panose="02020603050405020304" pitchFamily="18" charset="0"/>
              </a:rPr>
              <a:t>s</a:t>
            </a:r>
            <a:r>
              <a:rPr lang="zh-CN" altLang="en-US" sz="2800" i="0" dirty="0">
                <a:solidFill>
                  <a:srgbClr val="000000"/>
                </a:solidFill>
                <a:ea typeface="微软雅黑" panose="020B0503020204020204" pitchFamily="34" charset="-122"/>
                <a:cs typeface="Times New Roman" panose="02020603050405020304" pitchFamily="18" charset="0"/>
              </a:rPr>
              <a:t>后，如图中</a:t>
            </a:r>
            <a:r>
              <a:rPr lang="en-US" altLang="zh-CN" sz="2800" b="0" dirty="0">
                <a:solidFill>
                  <a:srgbClr val="000000"/>
                </a:solidFill>
                <a:ea typeface="微软雅黑" panose="020B0503020204020204" pitchFamily="34" charset="-122"/>
                <a:cs typeface="Times New Roman" panose="02020603050405020304" pitchFamily="18" charset="0"/>
              </a:rPr>
              <a:t>F</a:t>
            </a:r>
            <a:r>
              <a:rPr lang="zh-CN" altLang="en-US" sz="2800" i="0" dirty="0">
                <a:solidFill>
                  <a:srgbClr val="000000"/>
                </a:solidFill>
                <a:ea typeface="微软雅黑" panose="020B0503020204020204" pitchFamily="34" charset="-122"/>
                <a:cs typeface="Times New Roman" panose="02020603050405020304" pitchFamily="18" charset="0"/>
              </a:rPr>
              <a:t>点，然后缓慢卸载。卸载过程中试件的应力</a:t>
            </a:r>
            <a:r>
              <a:rPr lang="en-US" altLang="zh-CN" sz="2800" i="0" dirty="0">
                <a:solidFill>
                  <a:srgbClr val="000000"/>
                </a:solidFill>
                <a:ea typeface="微软雅黑" panose="020B0503020204020204" pitchFamily="34" charset="-122"/>
                <a:cs typeface="Times New Roman" panose="02020603050405020304" pitchFamily="18" charset="0"/>
              </a:rPr>
              <a:t>-</a:t>
            </a:r>
            <a:r>
              <a:rPr lang="zh-CN" altLang="en-US" sz="2800" i="0" dirty="0">
                <a:solidFill>
                  <a:srgbClr val="000000"/>
                </a:solidFill>
                <a:ea typeface="微软雅黑" panose="020B0503020204020204" pitchFamily="34" charset="-122"/>
                <a:cs typeface="Times New Roman" panose="02020603050405020304" pitchFamily="18" charset="0"/>
              </a:rPr>
              <a:t>应变保持直线关系，沿着与</a:t>
            </a:r>
            <a:r>
              <a:rPr lang="en-US" altLang="zh-CN" sz="2800" b="0" dirty="0">
                <a:solidFill>
                  <a:srgbClr val="000000"/>
                </a:solidFill>
                <a:ea typeface="微软雅黑" panose="020B0503020204020204" pitchFamily="34" charset="-122"/>
                <a:cs typeface="Times New Roman" panose="02020603050405020304" pitchFamily="18" charset="0"/>
              </a:rPr>
              <a:t>OA</a:t>
            </a:r>
            <a:r>
              <a:rPr lang="zh-CN" altLang="en-US" sz="2800" i="0" dirty="0">
                <a:solidFill>
                  <a:srgbClr val="000000"/>
                </a:solidFill>
                <a:ea typeface="微软雅黑" panose="020B0503020204020204" pitchFamily="34" charset="-122"/>
                <a:cs typeface="Times New Roman" panose="02020603050405020304" pitchFamily="18" charset="0"/>
              </a:rPr>
              <a:t>近似平行的直线</a:t>
            </a:r>
            <a:r>
              <a:rPr lang="en-US" altLang="zh-CN" sz="2800" b="0" dirty="0">
                <a:solidFill>
                  <a:srgbClr val="000000"/>
                </a:solidFill>
                <a:ea typeface="微软雅黑" panose="020B0503020204020204" pitchFamily="34" charset="-122"/>
                <a:cs typeface="Times New Roman" panose="02020603050405020304" pitchFamily="18" charset="0"/>
              </a:rPr>
              <a:t>FG</a:t>
            </a:r>
            <a:r>
              <a:rPr lang="zh-CN" altLang="en-US" sz="2800" i="0" dirty="0">
                <a:solidFill>
                  <a:srgbClr val="000000"/>
                </a:solidFill>
                <a:ea typeface="微软雅黑" panose="020B0503020204020204" pitchFamily="34" charset="-122"/>
                <a:cs typeface="Times New Roman" panose="02020603050405020304" pitchFamily="18" charset="0"/>
              </a:rPr>
              <a:t>回到</a:t>
            </a:r>
            <a:r>
              <a:rPr lang="en-US" altLang="zh-CN" sz="2800" b="0" dirty="0">
                <a:solidFill>
                  <a:srgbClr val="000000"/>
                </a:solidFill>
                <a:ea typeface="微软雅黑" panose="020B0503020204020204" pitchFamily="34" charset="-122"/>
                <a:cs typeface="Times New Roman" panose="02020603050405020304" pitchFamily="18" charset="0"/>
              </a:rPr>
              <a:t>G</a:t>
            </a:r>
            <a:r>
              <a:rPr lang="zh-CN" altLang="en-US" sz="2800" i="0" dirty="0">
                <a:solidFill>
                  <a:srgbClr val="000000"/>
                </a:solidFill>
                <a:ea typeface="微软雅黑" panose="020B0503020204020204" pitchFamily="34" charset="-122"/>
                <a:cs typeface="Times New Roman" panose="02020603050405020304" pitchFamily="18" charset="0"/>
              </a:rPr>
              <a:t>点，而不是沿原来的加载曲线回到</a:t>
            </a:r>
            <a:r>
              <a:rPr lang="en-US" altLang="zh-CN" sz="2800" b="0" dirty="0">
                <a:solidFill>
                  <a:srgbClr val="000000"/>
                </a:solidFill>
                <a:ea typeface="微软雅黑" panose="020B0503020204020204" pitchFamily="34" charset="-122"/>
                <a:cs typeface="Times New Roman" panose="02020603050405020304" pitchFamily="18" charset="0"/>
              </a:rPr>
              <a:t>O</a:t>
            </a:r>
            <a:r>
              <a:rPr lang="zh-CN" altLang="en-US" sz="2800" i="0" dirty="0">
                <a:solidFill>
                  <a:srgbClr val="000000"/>
                </a:solidFill>
                <a:ea typeface="微软雅黑" panose="020B0503020204020204" pitchFamily="34" charset="-122"/>
                <a:cs typeface="Times New Roman" panose="02020603050405020304" pitchFamily="18" charset="0"/>
              </a:rPr>
              <a:t>点。</a:t>
            </a:r>
            <a:endParaRPr lang="zh-CN" altLang="en-US" sz="2800" i="0" dirty="0">
              <a:solidFill>
                <a:schemeClr val="tx1"/>
              </a:solidFill>
              <a:ea typeface="微软雅黑" panose="020B0503020204020204" pitchFamily="34" charset="-122"/>
              <a:cs typeface="Times New Roman" panose="02020603050405020304" pitchFamily="18" charset="0"/>
            </a:endParaRPr>
          </a:p>
        </p:txBody>
      </p:sp>
      <p:sp>
        <p:nvSpPr>
          <p:cNvPr id="28" name="Text Box 25">
            <a:extLst>
              <a:ext uri="{FF2B5EF4-FFF2-40B4-BE49-F238E27FC236}">
                <a16:creationId xmlns:a16="http://schemas.microsoft.com/office/drawing/2014/main" id="{5E64F772-7623-300C-EDD7-BE982441230A}"/>
              </a:ext>
            </a:extLst>
          </p:cNvPr>
          <p:cNvSpPr txBox="1">
            <a:spLocks noChangeArrowheads="1"/>
          </p:cNvSpPr>
          <p:nvPr/>
        </p:nvSpPr>
        <p:spPr bwMode="auto">
          <a:xfrm>
            <a:off x="263353" y="3536542"/>
            <a:ext cx="6204122" cy="2428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fontAlgn="auto" hangingPunct="1">
              <a:lnSpc>
                <a:spcPct val="110000"/>
              </a:lnSpc>
              <a:spcBef>
                <a:spcPct val="50000"/>
              </a:spcBef>
              <a:spcAft>
                <a:spcPts val="0"/>
              </a:spcAft>
            </a:pPr>
            <a:r>
              <a:rPr lang="en-US" altLang="zh-CN" sz="2800" b="0" dirty="0">
                <a:solidFill>
                  <a:srgbClr val="000000"/>
                </a:solidFill>
                <a:ea typeface="微软雅黑" panose="020B0503020204020204" pitchFamily="34" charset="-122"/>
                <a:cs typeface="Times New Roman" panose="02020603050405020304" pitchFamily="18" charset="0"/>
              </a:rPr>
              <a:t>OG</a:t>
            </a:r>
            <a:r>
              <a:rPr lang="zh-CN" altLang="en-US" sz="2800" i="0" dirty="0">
                <a:solidFill>
                  <a:srgbClr val="000000"/>
                </a:solidFill>
                <a:ea typeface="微软雅黑" panose="020B0503020204020204" pitchFamily="34" charset="-122"/>
                <a:cs typeface="Times New Roman" panose="02020603050405020304" pitchFamily="18" charset="0"/>
              </a:rPr>
              <a:t>是残留的塑性应变。</a:t>
            </a:r>
            <a:r>
              <a:rPr lang="en-US" altLang="zh-CN" sz="2800" b="0" dirty="0">
                <a:solidFill>
                  <a:srgbClr val="000000"/>
                </a:solidFill>
                <a:ea typeface="微软雅黑" panose="020B0503020204020204" pitchFamily="34" charset="-122"/>
                <a:cs typeface="Times New Roman" panose="02020603050405020304" pitchFamily="18" charset="0"/>
              </a:rPr>
              <a:t>GH</a:t>
            </a:r>
            <a:r>
              <a:rPr lang="zh-CN" altLang="en-US" sz="2800" i="0" dirty="0">
                <a:solidFill>
                  <a:srgbClr val="000000"/>
                </a:solidFill>
                <a:ea typeface="微软雅黑" panose="020B0503020204020204" pitchFamily="34" charset="-122"/>
                <a:cs typeface="Times New Roman" panose="02020603050405020304" pitchFamily="18" charset="0"/>
              </a:rPr>
              <a:t>是消失的弹性应变。如重新加载，则其</a:t>
            </a:r>
            <a:r>
              <a:rPr lang="zh-CN" altLang="en-US" sz="2800" b="0" dirty="0">
                <a:solidFill>
                  <a:srgbClr val="000000"/>
                </a:solidFill>
                <a:ea typeface="微软雅黑" panose="020B0503020204020204" pitchFamily="34" charset="-122"/>
                <a:cs typeface="Times New Roman" panose="02020603050405020304" pitchFamily="18" charset="0"/>
                <a:sym typeface="Symbol" panose="05050102010706020507" pitchFamily="18" charset="2"/>
              </a:rPr>
              <a:t></a:t>
            </a:r>
            <a:r>
              <a:rPr lang="en-US" altLang="zh-CN" sz="2800" b="0" dirty="0">
                <a:solidFill>
                  <a:srgbClr val="000000"/>
                </a:solidFill>
                <a:ea typeface="微软雅黑" panose="020B0503020204020204" pitchFamily="34" charset="-122"/>
                <a:cs typeface="Times New Roman" panose="02020603050405020304" pitchFamily="18" charset="0"/>
              </a:rPr>
              <a:t>-</a:t>
            </a:r>
            <a:r>
              <a:rPr lang="en-US" altLang="zh-CN" sz="2800" b="0" dirty="0">
                <a:solidFill>
                  <a:srgbClr val="000000"/>
                </a:solidFill>
                <a:ea typeface="微软雅黑" panose="020B0503020204020204" pitchFamily="34" charset="-122"/>
                <a:cs typeface="Times New Roman" panose="02020603050405020304" pitchFamily="18" charset="0"/>
                <a:sym typeface="Symbol" panose="05050102010706020507" pitchFamily="18" charset="2"/>
              </a:rPr>
              <a:t></a:t>
            </a:r>
            <a:r>
              <a:rPr lang="zh-CN" altLang="en-US" sz="2800" i="0" dirty="0">
                <a:solidFill>
                  <a:srgbClr val="000000"/>
                </a:solidFill>
                <a:ea typeface="微软雅黑" panose="020B0503020204020204" pitchFamily="34" charset="-122"/>
                <a:cs typeface="Times New Roman" panose="02020603050405020304" pitchFamily="18" charset="0"/>
              </a:rPr>
              <a:t>曲线将沿直线</a:t>
            </a:r>
            <a:r>
              <a:rPr lang="en-US" altLang="zh-CN" sz="2800" b="0" dirty="0">
                <a:solidFill>
                  <a:srgbClr val="000000"/>
                </a:solidFill>
                <a:ea typeface="微软雅黑" panose="020B0503020204020204" pitchFamily="34" charset="-122"/>
                <a:cs typeface="Times New Roman" panose="02020603050405020304" pitchFamily="18" charset="0"/>
              </a:rPr>
              <a:t>GF</a:t>
            </a:r>
            <a:r>
              <a:rPr lang="zh-CN" altLang="en-US" sz="2800" i="0" dirty="0">
                <a:solidFill>
                  <a:srgbClr val="000000"/>
                </a:solidFill>
                <a:ea typeface="微软雅黑" panose="020B0503020204020204" pitchFamily="34" charset="-122"/>
                <a:cs typeface="Times New Roman" panose="02020603050405020304" pitchFamily="18" charset="0"/>
              </a:rPr>
              <a:t>上升，后面的曲线和原来的</a:t>
            </a:r>
            <a:r>
              <a:rPr lang="zh-CN" altLang="en-US" sz="2800" b="0" dirty="0">
                <a:solidFill>
                  <a:srgbClr val="000000"/>
                </a:solidFill>
                <a:ea typeface="微软雅黑" panose="020B0503020204020204" pitchFamily="34" charset="-122"/>
                <a:cs typeface="Times New Roman" panose="02020603050405020304" pitchFamily="18" charset="0"/>
                <a:sym typeface="Symbol" panose="05050102010706020507" pitchFamily="18" charset="2"/>
              </a:rPr>
              <a:t></a:t>
            </a:r>
            <a:r>
              <a:rPr lang="en-US" altLang="zh-CN" sz="2800" b="0" dirty="0">
                <a:solidFill>
                  <a:srgbClr val="000000"/>
                </a:solidFill>
                <a:ea typeface="微软雅黑" panose="020B0503020204020204" pitchFamily="34" charset="-122"/>
                <a:cs typeface="Times New Roman" panose="02020603050405020304" pitchFamily="18" charset="0"/>
              </a:rPr>
              <a:t>-</a:t>
            </a:r>
            <a:r>
              <a:rPr lang="en-US" altLang="zh-CN" sz="2800" b="0" dirty="0">
                <a:solidFill>
                  <a:srgbClr val="000000"/>
                </a:solidFill>
                <a:ea typeface="微软雅黑" panose="020B0503020204020204" pitchFamily="34" charset="-122"/>
                <a:cs typeface="Times New Roman" panose="02020603050405020304" pitchFamily="18" charset="0"/>
                <a:sym typeface="Symbol" panose="05050102010706020507" pitchFamily="18" charset="2"/>
              </a:rPr>
              <a:t></a:t>
            </a:r>
            <a:r>
              <a:rPr lang="zh-CN" altLang="en-US" sz="2800" i="0" dirty="0">
                <a:solidFill>
                  <a:srgbClr val="000000"/>
                </a:solidFill>
                <a:ea typeface="微软雅黑" panose="020B0503020204020204" pitchFamily="34" charset="-122"/>
                <a:cs typeface="Times New Roman" panose="02020603050405020304" pitchFamily="18" charset="0"/>
              </a:rPr>
              <a:t>曲线相同，材料的比例极限有所提高。此现象称为</a:t>
            </a:r>
            <a:r>
              <a:rPr lang="zh-CN" altLang="en-US" sz="2800" i="0" dirty="0">
                <a:solidFill>
                  <a:srgbClr val="FF00FF"/>
                </a:solidFill>
                <a:ea typeface="微软雅黑" panose="020B0503020204020204" pitchFamily="34" charset="-122"/>
                <a:cs typeface="Times New Roman" panose="02020603050405020304" pitchFamily="18" charset="0"/>
              </a:rPr>
              <a:t>冷作硬化。</a:t>
            </a:r>
            <a:endParaRPr lang="zh-CN" altLang="en-US" sz="2800" i="0" dirty="0">
              <a:solidFill>
                <a:schemeClr val="tx1"/>
              </a:solidFill>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172185886"/>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1000"/>
                                  </p:stCondLst>
                                  <p:iterate type="lt">
                                    <p:tmPct val="100000"/>
                                  </p:iterate>
                                  <p:childTnLst>
                                    <p:set>
                                      <p:cBhvr>
                                        <p:cTn id="6" dur="1" fill="hold">
                                          <p:stCondLst>
                                            <p:cond delay="0"/>
                                          </p:stCondLst>
                                        </p:cTn>
                                        <p:tgtEl>
                                          <p:spTgt spid="89"/>
                                        </p:tgtEl>
                                        <p:attrNameLst>
                                          <p:attrName>style.visibility</p:attrName>
                                        </p:attrNameLst>
                                      </p:cBhvr>
                                      <p:to>
                                        <p:strVal val="visible"/>
                                      </p:to>
                                    </p:set>
                                    <p:animEffect transition="in" filter="wipe(left)">
                                      <p:cBhvr>
                                        <p:cTn id="7" dur="75"/>
                                        <p:tgtEl>
                                          <p:spTgt spid="89"/>
                                        </p:tgtEl>
                                      </p:cBhvr>
                                    </p:animEffect>
                                  </p:childTnLst>
                                  <p:subTnLst>
                                    <p:audio>
                                      <p:cMediaNode>
                                        <p:cTn display="0" masterRel="sameClick">
                                          <p:stCondLst>
                                            <p:cond evt="begin" delay="0">
                                              <p:tn val="5"/>
                                            </p:cond>
                                          </p:stCondLst>
                                          <p:endCondLst>
                                            <p:cond evt="onStopAudio" delay="0">
                                              <p:tgtEl>
                                                <p:sldTgt/>
                                              </p:tgtEl>
                                            </p:cond>
                                          </p:endCondLst>
                                        </p:cTn>
                                        <p:tgtEl>
                                          <p:sndTgt r:embed="rId4" name="TYPE.WAV"/>
                                        </p:tgtEl>
                                      </p:cMediaNode>
                                    </p:audio>
                                  </p:subTnLst>
                                </p:cTn>
                              </p:par>
                            </p:childTnLst>
                          </p:cTn>
                        </p:par>
                        <p:par>
                          <p:cTn id="8" fill="hold">
                            <p:stCondLst>
                              <p:cond delay="7525"/>
                            </p:stCondLst>
                            <p:childTnLst>
                              <p:par>
                                <p:cTn id="9" presetID="50" presetClass="entr" presetSubtype="0" decel="100000" fill="hold" grpId="0" nodeType="afterEffect">
                                  <p:stCondLst>
                                    <p:cond delay="0"/>
                                  </p:stCondLst>
                                  <p:childTnLst>
                                    <p:set>
                                      <p:cBhvr>
                                        <p:cTn id="10" dur="1" fill="hold">
                                          <p:stCondLst>
                                            <p:cond delay="0"/>
                                          </p:stCondLst>
                                        </p:cTn>
                                        <p:tgtEl>
                                          <p:spTgt spid="27"/>
                                        </p:tgtEl>
                                        <p:attrNameLst>
                                          <p:attrName>style.visibility</p:attrName>
                                        </p:attrNameLst>
                                      </p:cBhvr>
                                      <p:to>
                                        <p:strVal val="visible"/>
                                      </p:to>
                                    </p:set>
                                    <p:anim calcmode="lin" valueType="num">
                                      <p:cBhvr>
                                        <p:cTn id="11" dur="500" fill="hold"/>
                                        <p:tgtEl>
                                          <p:spTgt spid="27"/>
                                        </p:tgtEl>
                                        <p:attrNameLst>
                                          <p:attrName>ppt_w</p:attrName>
                                        </p:attrNameLst>
                                      </p:cBhvr>
                                      <p:tavLst>
                                        <p:tav tm="0">
                                          <p:val>
                                            <p:strVal val="#ppt_w+.3"/>
                                          </p:val>
                                        </p:tav>
                                        <p:tav tm="100000">
                                          <p:val>
                                            <p:strVal val="#ppt_w"/>
                                          </p:val>
                                        </p:tav>
                                      </p:tavLst>
                                    </p:anim>
                                    <p:anim calcmode="lin" valueType="num">
                                      <p:cBhvr>
                                        <p:cTn id="12" dur="500" fill="hold"/>
                                        <p:tgtEl>
                                          <p:spTgt spid="27"/>
                                        </p:tgtEl>
                                        <p:attrNameLst>
                                          <p:attrName>ppt_h</p:attrName>
                                        </p:attrNameLst>
                                      </p:cBhvr>
                                      <p:tavLst>
                                        <p:tav tm="0">
                                          <p:val>
                                            <p:strVal val="#ppt_h"/>
                                          </p:val>
                                        </p:tav>
                                        <p:tav tm="100000">
                                          <p:val>
                                            <p:strVal val="#ppt_h"/>
                                          </p:val>
                                        </p:tav>
                                      </p:tavLst>
                                    </p:anim>
                                    <p:animEffect transition="in" filter="fade">
                                      <p:cBhvr>
                                        <p:cTn id="13" dur="500"/>
                                        <p:tgtEl>
                                          <p:spTgt spid="27"/>
                                        </p:tgtEl>
                                      </p:cBhvr>
                                    </p:animEffect>
                                  </p:childTnLst>
                                  <p:subTnLst>
                                    <p:audio>
                                      <p:cMediaNode>
                                        <p:cTn display="0" masterRel="sameClick">
                                          <p:stCondLst>
                                            <p:cond evt="begin" delay="0">
                                              <p:tn val="9"/>
                                            </p:cond>
                                          </p:stCondLst>
                                          <p:endCondLst>
                                            <p:cond evt="onStopAudio" delay="0">
                                              <p:tgtEl>
                                                <p:sldTgt/>
                                              </p:tgtEl>
                                            </p:cond>
                                          </p:endCondLst>
                                        </p:cTn>
                                        <p:tgtEl>
                                          <p:sndTgt r:embed="rId5" name="bomb.wav"/>
                                        </p:tgtEl>
                                      </p:cMediaNode>
                                    </p:audio>
                                  </p:subTnLst>
                                </p:cTn>
                              </p:par>
                              <p:par>
                                <p:cTn id="14" presetID="19" presetClass="entr" presetSubtype="10" fill="hold" grpId="0" nodeType="withEffect">
                                  <p:stCondLst>
                                    <p:cond delay="0"/>
                                  </p:stCondLst>
                                  <p:childTnLst>
                                    <p:set>
                                      <p:cBhvr>
                                        <p:cTn id="15" dur="1" fill="hold">
                                          <p:stCondLst>
                                            <p:cond delay="0"/>
                                          </p:stCondLst>
                                        </p:cTn>
                                        <p:tgtEl>
                                          <p:spTgt spid="17"/>
                                        </p:tgtEl>
                                        <p:attrNameLst>
                                          <p:attrName>style.visibility</p:attrName>
                                        </p:attrNameLst>
                                      </p:cBhvr>
                                      <p:to>
                                        <p:strVal val="visible"/>
                                      </p:to>
                                    </p:set>
                                    <p:anim calcmode="lin" valueType="num">
                                      <p:cBhvr>
                                        <p:cTn id="16" dur="5000" fill="hold"/>
                                        <p:tgtEl>
                                          <p:spTgt spid="17"/>
                                        </p:tgtEl>
                                        <p:attrNameLst>
                                          <p:attrName>ppt_w</p:attrName>
                                        </p:attrNameLst>
                                      </p:cBhvr>
                                      <p:tavLst>
                                        <p:tav tm="0" fmla="#ppt_w*sin(2.5*pi*$)">
                                          <p:val>
                                            <p:fltVal val="0"/>
                                          </p:val>
                                        </p:tav>
                                        <p:tav tm="100000">
                                          <p:val>
                                            <p:fltVal val="1"/>
                                          </p:val>
                                        </p:tav>
                                      </p:tavLst>
                                    </p:anim>
                                    <p:anim calcmode="lin" valueType="num">
                                      <p:cBhvr>
                                        <p:cTn id="17" dur="5000" fill="hold"/>
                                        <p:tgtEl>
                                          <p:spTgt spid="17"/>
                                        </p:tgtEl>
                                        <p:attrNameLst>
                                          <p:attrName>ppt_h</p:attrName>
                                        </p:attrNameLst>
                                      </p:cBhvr>
                                      <p:tavLst>
                                        <p:tav tm="0">
                                          <p:val>
                                            <p:strVal val="#ppt_h"/>
                                          </p:val>
                                        </p:tav>
                                        <p:tav tm="100000">
                                          <p:val>
                                            <p:strVal val="#ppt_h"/>
                                          </p:val>
                                        </p:tav>
                                      </p:tavLst>
                                    </p:anim>
                                  </p:childTnLst>
                                </p:cTn>
                              </p:par>
                            </p:childTnLst>
                          </p:cTn>
                        </p:par>
                        <p:par>
                          <p:cTn id="18" fill="hold">
                            <p:stCondLst>
                              <p:cond delay="12525"/>
                            </p:stCondLst>
                            <p:childTnLst>
                              <p:par>
                                <p:cTn id="19" presetID="22" presetClass="entr" presetSubtype="1" fill="hold" nodeType="afterEffect">
                                  <p:stCondLst>
                                    <p:cond delay="0"/>
                                  </p:stCondLst>
                                  <p:childTnLst>
                                    <p:set>
                                      <p:cBhvr>
                                        <p:cTn id="20" dur="1" fill="hold">
                                          <p:stCondLst>
                                            <p:cond delay="0"/>
                                          </p:stCondLst>
                                        </p:cTn>
                                        <p:tgtEl>
                                          <p:spTgt spid="19"/>
                                        </p:tgtEl>
                                        <p:attrNameLst>
                                          <p:attrName>style.visibility</p:attrName>
                                        </p:attrNameLst>
                                      </p:cBhvr>
                                      <p:to>
                                        <p:strVal val="visible"/>
                                      </p:to>
                                    </p:set>
                                    <p:animEffect transition="in" filter="wipe(up)">
                                      <p:cBhvr>
                                        <p:cTn id="21" dur="10000"/>
                                        <p:tgtEl>
                                          <p:spTgt spid="19"/>
                                        </p:tgtEl>
                                      </p:cBhvr>
                                    </p:animEffect>
                                  </p:childTnLst>
                                  <p:subTnLst>
                                    <p:audio>
                                      <p:cMediaNode>
                                        <p:cTn display="0" masterRel="sameClick">
                                          <p:stCondLst>
                                            <p:cond evt="begin" delay="0">
                                              <p:tn val="19"/>
                                            </p:cond>
                                          </p:stCondLst>
                                          <p:endCondLst>
                                            <p:cond evt="onStopAudio" delay="0">
                                              <p:tgtEl>
                                                <p:sldTgt/>
                                              </p:tgtEl>
                                            </p:cond>
                                          </p:endCondLst>
                                        </p:cTn>
                                        <p:tgtEl>
                                          <p:sndTgt r:embed="rId6" name="push.wav"/>
                                        </p:tgtEl>
                                      </p:cMediaNode>
                                    </p:audio>
                                  </p:subTnLst>
                                </p:cTn>
                              </p:par>
                            </p:childTnLst>
                          </p:cTn>
                        </p:par>
                        <p:par>
                          <p:cTn id="22" fill="hold">
                            <p:stCondLst>
                              <p:cond delay="22525"/>
                            </p:stCondLst>
                            <p:childTnLst>
                              <p:par>
                                <p:cTn id="23" presetID="19" presetClass="entr" presetSubtype="10" fill="hold" grpId="0" nodeType="afterEffect">
                                  <p:stCondLst>
                                    <p:cond delay="0"/>
                                  </p:stCondLst>
                                  <p:childTnLst>
                                    <p:set>
                                      <p:cBhvr>
                                        <p:cTn id="24" dur="1" fill="hold">
                                          <p:stCondLst>
                                            <p:cond delay="0"/>
                                          </p:stCondLst>
                                        </p:cTn>
                                        <p:tgtEl>
                                          <p:spTgt spid="26"/>
                                        </p:tgtEl>
                                        <p:attrNameLst>
                                          <p:attrName>style.visibility</p:attrName>
                                        </p:attrNameLst>
                                      </p:cBhvr>
                                      <p:to>
                                        <p:strVal val="visible"/>
                                      </p:to>
                                    </p:set>
                                    <p:anim calcmode="lin" valueType="num">
                                      <p:cBhvr>
                                        <p:cTn id="25" dur="5000" fill="hold"/>
                                        <p:tgtEl>
                                          <p:spTgt spid="26"/>
                                        </p:tgtEl>
                                        <p:attrNameLst>
                                          <p:attrName>ppt_w</p:attrName>
                                        </p:attrNameLst>
                                      </p:cBhvr>
                                      <p:tavLst>
                                        <p:tav tm="0" fmla="#ppt_w*sin(2.5*pi*$)">
                                          <p:val>
                                            <p:fltVal val="0"/>
                                          </p:val>
                                        </p:tav>
                                        <p:tav tm="100000">
                                          <p:val>
                                            <p:fltVal val="1"/>
                                          </p:val>
                                        </p:tav>
                                      </p:tavLst>
                                    </p:anim>
                                    <p:anim calcmode="lin" valueType="num">
                                      <p:cBhvr>
                                        <p:cTn id="26" dur="5000" fill="hold"/>
                                        <p:tgtEl>
                                          <p:spTgt spid="26"/>
                                        </p:tgtEl>
                                        <p:attrNameLst>
                                          <p:attrName>ppt_h</p:attrName>
                                        </p:attrNameLst>
                                      </p:cBhvr>
                                      <p:tavLst>
                                        <p:tav tm="0">
                                          <p:val>
                                            <p:strVal val="#ppt_h"/>
                                          </p:val>
                                        </p:tav>
                                        <p:tav tm="100000">
                                          <p:val>
                                            <p:strVal val="#ppt_h"/>
                                          </p:val>
                                        </p:tav>
                                      </p:tavLst>
                                    </p:anim>
                                  </p:childTnLst>
                                </p:cTn>
                              </p:par>
                            </p:childTnLst>
                          </p:cTn>
                        </p:par>
                        <p:par>
                          <p:cTn id="27" fill="hold">
                            <p:stCondLst>
                              <p:cond delay="27525"/>
                            </p:stCondLst>
                            <p:childTnLst>
                              <p:par>
                                <p:cTn id="28" presetID="22" presetClass="entr" presetSubtype="1" fill="hold" nodeType="afterEffect">
                                  <p:stCondLst>
                                    <p:cond delay="0"/>
                                  </p:stCondLst>
                                  <p:childTnLst>
                                    <p:set>
                                      <p:cBhvr>
                                        <p:cTn id="29" dur="1" fill="hold">
                                          <p:stCondLst>
                                            <p:cond delay="0"/>
                                          </p:stCondLst>
                                        </p:cTn>
                                        <p:tgtEl>
                                          <p:spTgt spid="25"/>
                                        </p:tgtEl>
                                        <p:attrNameLst>
                                          <p:attrName>style.visibility</p:attrName>
                                        </p:attrNameLst>
                                      </p:cBhvr>
                                      <p:to>
                                        <p:strVal val="visible"/>
                                      </p:to>
                                    </p:set>
                                    <p:animEffect transition="in" filter="wipe(up)">
                                      <p:cBhvr>
                                        <p:cTn id="30" dur="3000"/>
                                        <p:tgtEl>
                                          <p:spTgt spid="25"/>
                                        </p:tgtEl>
                                      </p:cBhvr>
                                    </p:animEffect>
                                  </p:childTnLst>
                                </p:cTn>
                              </p:par>
                              <p:par>
                                <p:cTn id="31" presetID="19" presetClass="entr" presetSubtype="10" fill="hold" grpId="0" nodeType="withEffect">
                                  <p:stCondLst>
                                    <p:cond delay="0"/>
                                  </p:stCondLst>
                                  <p:childTnLst>
                                    <p:set>
                                      <p:cBhvr>
                                        <p:cTn id="32" dur="1" fill="hold">
                                          <p:stCondLst>
                                            <p:cond delay="0"/>
                                          </p:stCondLst>
                                        </p:cTn>
                                        <p:tgtEl>
                                          <p:spTgt spid="21"/>
                                        </p:tgtEl>
                                        <p:attrNameLst>
                                          <p:attrName>style.visibility</p:attrName>
                                        </p:attrNameLst>
                                      </p:cBhvr>
                                      <p:to>
                                        <p:strVal val="visible"/>
                                      </p:to>
                                    </p:set>
                                    <p:anim calcmode="lin" valueType="num">
                                      <p:cBhvr>
                                        <p:cTn id="33" dur="5000" fill="hold"/>
                                        <p:tgtEl>
                                          <p:spTgt spid="21"/>
                                        </p:tgtEl>
                                        <p:attrNameLst>
                                          <p:attrName>ppt_w</p:attrName>
                                        </p:attrNameLst>
                                      </p:cBhvr>
                                      <p:tavLst>
                                        <p:tav tm="0" fmla="#ppt_w*sin(2.5*pi*$)">
                                          <p:val>
                                            <p:fltVal val="0"/>
                                          </p:val>
                                        </p:tav>
                                        <p:tav tm="100000">
                                          <p:val>
                                            <p:fltVal val="1"/>
                                          </p:val>
                                        </p:tav>
                                      </p:tavLst>
                                    </p:anim>
                                    <p:anim calcmode="lin" valueType="num">
                                      <p:cBhvr>
                                        <p:cTn id="34" dur="5000" fill="hold"/>
                                        <p:tgtEl>
                                          <p:spTgt spid="21"/>
                                        </p:tgtEl>
                                        <p:attrNameLst>
                                          <p:attrName>ppt_h</p:attrName>
                                        </p:attrNameLst>
                                      </p:cBhvr>
                                      <p:tavLst>
                                        <p:tav tm="0">
                                          <p:val>
                                            <p:strVal val="#ppt_h"/>
                                          </p:val>
                                        </p:tav>
                                        <p:tav tm="100000">
                                          <p:val>
                                            <p:strVal val="#ppt_h"/>
                                          </p:val>
                                        </p:tav>
                                      </p:tavLst>
                                    </p:anim>
                                  </p:childTnLst>
                                </p:cTn>
                              </p:par>
                              <p:par>
                                <p:cTn id="35" presetID="9" presetClass="emph" presetSubtype="0" nodeType="withEffect">
                                  <p:stCondLst>
                                    <p:cond delay="0"/>
                                  </p:stCondLst>
                                  <p:endCondLst>
                                    <p:cond evt="onNext" delay="0">
                                      <p:tgtEl>
                                        <p:sldTgt/>
                                      </p:tgtEl>
                                    </p:cond>
                                  </p:endCondLst>
                                  <p:childTnLst>
                                    <p:set>
                                      <p:cBhvr rctx="PPT">
                                        <p:cTn id="36" dur="indefinite"/>
                                        <p:tgtEl>
                                          <p:spTgt spid="19"/>
                                        </p:tgtEl>
                                        <p:attrNameLst>
                                          <p:attrName>style.opacity</p:attrName>
                                        </p:attrNameLst>
                                      </p:cBhvr>
                                      <p:to>
                                        <p:strVal val="0.25"/>
                                      </p:to>
                                    </p:set>
                                    <p:animEffect filter="image" prLst="opacity: 0.25">
                                      <p:cBhvr rctx="IE">
                                        <p:cTn id="37" dur="indefinite"/>
                                        <p:tgtEl>
                                          <p:spTgt spid="1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wipe(down)">
                                      <p:cBhvr>
                                        <p:cTn id="42" dur="7000"/>
                                        <p:tgtEl>
                                          <p:spTgt spid="19"/>
                                        </p:tgtEl>
                                      </p:cBhvr>
                                    </p:animEffect>
                                  </p:childTnLst>
                                </p:cTn>
                              </p:par>
                              <p:par>
                                <p:cTn id="43" presetID="9" presetClass="emph" presetSubtype="0" nodeType="withEffect">
                                  <p:stCondLst>
                                    <p:cond delay="0"/>
                                  </p:stCondLst>
                                  <p:childTnLst>
                                    <p:set>
                                      <p:cBhvr rctx="PPT">
                                        <p:cTn id="44" dur="indefinite"/>
                                        <p:tgtEl>
                                          <p:spTgt spid="16"/>
                                        </p:tgtEl>
                                        <p:attrNameLst>
                                          <p:attrName>style.opacity</p:attrName>
                                        </p:attrNameLst>
                                      </p:cBhvr>
                                      <p:to>
                                        <p:strVal val="0.5"/>
                                      </p:to>
                                    </p:set>
                                    <p:animEffect filter="image" prLst="opacity: 0.5">
                                      <p:cBhvr rctx="IE">
                                        <p:cTn id="45" dur="indefinite"/>
                                        <p:tgtEl>
                                          <p:spTgt spid="16"/>
                                        </p:tgtEl>
                                      </p:cBhvr>
                                    </p:animEffect>
                                  </p:childTnLst>
                                </p:cTn>
                              </p:par>
                            </p:childTnLst>
                          </p:cTn>
                        </p:par>
                        <p:par>
                          <p:cTn id="46" fill="hold">
                            <p:stCondLst>
                              <p:cond delay="7000"/>
                            </p:stCondLst>
                            <p:childTnLst>
                              <p:par>
                                <p:cTn id="47" presetID="22" presetClass="entr" presetSubtype="8" fill="hold" grpId="0" nodeType="afterEffect">
                                  <p:stCondLst>
                                    <p:cond delay="1000"/>
                                  </p:stCondLst>
                                  <p:iterate type="lt">
                                    <p:tmPct val="100000"/>
                                  </p:iterate>
                                  <p:childTnLst>
                                    <p:set>
                                      <p:cBhvr>
                                        <p:cTn id="48" dur="1" fill="hold">
                                          <p:stCondLst>
                                            <p:cond delay="0"/>
                                          </p:stCondLst>
                                        </p:cTn>
                                        <p:tgtEl>
                                          <p:spTgt spid="28"/>
                                        </p:tgtEl>
                                        <p:attrNameLst>
                                          <p:attrName>style.visibility</p:attrName>
                                        </p:attrNameLst>
                                      </p:cBhvr>
                                      <p:to>
                                        <p:strVal val="visible"/>
                                      </p:to>
                                    </p:set>
                                    <p:animEffect transition="in" filter="wipe(left)">
                                      <p:cBhvr>
                                        <p:cTn id="49" dur="75"/>
                                        <p:tgtEl>
                                          <p:spTgt spid="28"/>
                                        </p:tgtEl>
                                      </p:cBhvr>
                                    </p:animEffect>
                                  </p:childTnLst>
                                  <p:subTnLst>
                                    <p:audio>
                                      <p:cMediaNode>
                                        <p:cTn display="0" masterRel="sameClick">
                                          <p:stCondLst>
                                            <p:cond evt="begin" delay="0">
                                              <p:tn val="47"/>
                                            </p:cond>
                                          </p:stCondLst>
                                          <p:endCondLst>
                                            <p:cond evt="onStopAudio" delay="0">
                                              <p:tgtEl>
                                                <p:sldTgt/>
                                              </p:tgtEl>
                                            </p:cond>
                                          </p:endCondLst>
                                        </p:cTn>
                                        <p:tgtEl>
                                          <p:sndTgt r:embed="rId4" name="TYPE.WAV"/>
                                        </p:tgtEl>
                                      </p:cMediaNode>
                                    </p:audio>
                                  </p:subTnLst>
                                </p:cTn>
                              </p:par>
                            </p:childTnLst>
                          </p:cTn>
                        </p:par>
                      </p:childTnLst>
                    </p:cTn>
                  </p:par>
                </p:childTnLst>
              </p:cTn>
              <p:prevCondLst>
                <p:cond evt="onPrev" delay="0">
                  <p:tgtEl>
                    <p:sldTgt/>
                  </p:tgtEl>
                </p:cond>
              </p:prevCondLst>
              <p:nextCondLst>
                <p:cond evt="onNext" delay="0">
                  <p:tgtEl>
                    <p:sldTgt/>
                  </p:tgtEl>
                </p:cond>
              </p:nextCondLst>
            </p:seq>
            <p:video>
              <p:cMediaNode>
                <p:cTn id="50" fill="hold" display="0">
                  <p:stCondLst>
                    <p:cond delay="indefinite"/>
                  </p:stCondLst>
                  <p:endCondLst>
                    <p:cond evt="onNext" delay="0">
                      <p:tgtEl>
                        <p:sldTgt/>
                      </p:tgtEl>
                    </p:cond>
                    <p:cond evt="onPrev" delay="0">
                      <p:tgtEl>
                        <p:sldTgt/>
                      </p:tgtEl>
                    </p:cond>
                  </p:endCondLst>
                </p:cTn>
                <p:tgtEl>
                  <p:spTgt spid="16"/>
                </p:tgtEl>
              </p:cMediaNode>
            </p:video>
          </p:childTnLst>
        </p:cTn>
      </p:par>
    </p:tnLst>
    <p:bldLst>
      <p:bldP spid="17" grpId="0"/>
      <p:bldP spid="21" grpId="0" autoUpdateAnimBg="0"/>
      <p:bldP spid="26" grpId="0"/>
      <p:bldP spid="27" grpId="0" animBg="1"/>
      <p:bldP spid="89" grpId="0" autoUpdateAnimBg="0"/>
      <p:bldP spid="28" grpId="0"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711605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第八章   拉压、剪切与挤压的强度计算</a:t>
            </a:r>
          </a:p>
        </p:txBody>
      </p:sp>
      <p:sp>
        <p:nvSpPr>
          <p:cNvPr id="9" name="Rectangle 61"/>
          <p:cNvSpPr>
            <a:spLocks noChangeArrowheads="1"/>
          </p:cNvSpPr>
          <p:nvPr/>
        </p:nvSpPr>
        <p:spPr bwMode="auto">
          <a:xfrm>
            <a:off x="6918098" y="1676807"/>
            <a:ext cx="4997809" cy="4334312"/>
          </a:xfrm>
          <a:prstGeom prst="rect">
            <a:avLst/>
          </a:prstGeom>
          <a:solidFill>
            <a:srgbClr val="B9CDE5"/>
          </a:solidFill>
          <a:ln>
            <a:noFill/>
          </a:ln>
          <a:effectLst/>
        </p:spPr>
        <p:txBody>
          <a:bodyPr wrap="none" anchor="ctr"/>
          <a:lstStyle/>
          <a:p>
            <a:endParaRPr lang="zh-CN" altLang="en-US"/>
          </a:p>
        </p:txBody>
      </p:sp>
      <p:sp>
        <p:nvSpPr>
          <p:cNvPr id="53" name="Text Box 1032"/>
          <p:cNvSpPr txBox="1">
            <a:spLocks noChangeArrowheads="1"/>
          </p:cNvSpPr>
          <p:nvPr/>
        </p:nvSpPr>
        <p:spPr bwMode="auto">
          <a:xfrm>
            <a:off x="276093" y="1451370"/>
            <a:ext cx="6000655" cy="3667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lnSpc>
                <a:spcPct val="120000"/>
              </a:lnSpc>
            </a:pPr>
            <a:r>
              <a:rPr kumimoji="1" lang="zh-CN" altLang="en-US" sz="2800" i="0" dirty="0">
                <a:solidFill>
                  <a:srgbClr val="FF00FF"/>
                </a:solidFill>
                <a:latin typeface="+mn-lt"/>
                <a:ea typeface="微软雅黑" panose="020B0503020204020204" pitchFamily="34" charset="-122"/>
              </a:rPr>
              <a:t>其它金属材料在拉伸时的力学性能</a:t>
            </a:r>
            <a:endParaRPr kumimoji="1" lang="en-US" altLang="zh-CN" sz="2800" i="0" dirty="0">
              <a:solidFill>
                <a:srgbClr val="FF00FF"/>
              </a:solidFill>
              <a:latin typeface="+mn-lt"/>
              <a:ea typeface="微软雅黑" panose="020B0503020204020204" pitchFamily="34" charset="-122"/>
            </a:endParaRPr>
          </a:p>
          <a:p>
            <a:pPr algn="just">
              <a:lnSpc>
                <a:spcPct val="120000"/>
              </a:lnSpc>
            </a:pPr>
            <a:r>
              <a:rPr kumimoji="1" lang="zh-CN" altLang="en-US" sz="2800" i="0" dirty="0">
                <a:latin typeface="+mn-lt"/>
                <a:ea typeface="微软雅黑" panose="020B0503020204020204" pitchFamily="34" charset="-122"/>
              </a:rPr>
              <a:t>其它金属材料的拉伸试验和低碳钢拉伸试验相同，但材料所显示的力学性能有很大的差异。图中给出了锰钢、硬铝、退火球墨铸铁和低碳钢的应力</a:t>
            </a:r>
            <a:r>
              <a:rPr kumimoji="1" lang="en-US" altLang="zh-CN" sz="2800" i="0" dirty="0">
                <a:latin typeface="+mn-lt"/>
                <a:ea typeface="微软雅黑" panose="020B0503020204020204" pitchFamily="34" charset="-122"/>
              </a:rPr>
              <a:t>-</a:t>
            </a:r>
            <a:r>
              <a:rPr kumimoji="1" lang="zh-CN" altLang="en-US" sz="2800" i="0" dirty="0">
                <a:latin typeface="+mn-lt"/>
                <a:ea typeface="微软雅黑" panose="020B0503020204020204" pitchFamily="34" charset="-122"/>
              </a:rPr>
              <a:t>应变曲线。这些都是塑性材料，但前三种材料没有明显的屈服阶段。 </a:t>
            </a:r>
          </a:p>
        </p:txBody>
      </p:sp>
      <p:sp>
        <p:nvSpPr>
          <p:cNvPr id="2" name="矩形 1">
            <a:extLst>
              <a:ext uri="{FF2B5EF4-FFF2-40B4-BE49-F238E27FC236}">
                <a16:creationId xmlns:a16="http://schemas.microsoft.com/office/drawing/2014/main" id="{8A892F5C-7536-F031-6CD4-1C9902B467DE}"/>
              </a:ext>
            </a:extLst>
          </p:cNvPr>
          <p:cNvSpPr/>
          <p:nvPr/>
        </p:nvSpPr>
        <p:spPr>
          <a:xfrm>
            <a:off x="3659427" y="876972"/>
            <a:ext cx="5299849" cy="599331"/>
          </a:xfrm>
          <a:prstGeom prst="rect">
            <a:avLst/>
          </a:prstGeom>
        </p:spPr>
        <p:txBody>
          <a:bodyPr wrap="none">
            <a:spAutoFit/>
          </a:bodyPr>
          <a:lstStyle/>
          <a:p>
            <a:pPr>
              <a:lnSpc>
                <a:spcPct val="120000"/>
              </a:lnSpc>
            </a:pPr>
            <a:r>
              <a:rPr lang="zh-CN" altLang="en-US" sz="3000" i="0" dirty="0">
                <a:solidFill>
                  <a:srgbClr val="4F81BD"/>
                </a:solidFill>
                <a:latin typeface="微软雅黑" panose="020B0503020204020204" pitchFamily="34" charset="-122"/>
                <a:ea typeface="微软雅黑" panose="020B0503020204020204" pitchFamily="34" charset="-122"/>
              </a:rPr>
              <a:t>其它材料在拉伸时的力学性能 </a:t>
            </a:r>
          </a:p>
        </p:txBody>
      </p:sp>
      <p:sp>
        <p:nvSpPr>
          <p:cNvPr id="47" name="Line 28">
            <a:extLst>
              <a:ext uri="{FF2B5EF4-FFF2-40B4-BE49-F238E27FC236}">
                <a16:creationId xmlns:a16="http://schemas.microsoft.com/office/drawing/2014/main" id="{5523ACB8-48C6-CBF8-B328-2A1942B0A5D7}"/>
              </a:ext>
            </a:extLst>
          </p:cNvPr>
          <p:cNvSpPr>
            <a:spLocks noChangeAspect="1" noChangeShapeType="1"/>
          </p:cNvSpPr>
          <p:nvPr/>
        </p:nvSpPr>
        <p:spPr bwMode="auto">
          <a:xfrm>
            <a:off x="7903778" y="5850415"/>
            <a:ext cx="3436938" cy="0"/>
          </a:xfrm>
          <a:prstGeom prst="line">
            <a:avLst/>
          </a:prstGeom>
          <a:noFill/>
          <a:ln w="9525">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 name="Line 29">
            <a:extLst>
              <a:ext uri="{FF2B5EF4-FFF2-40B4-BE49-F238E27FC236}">
                <a16:creationId xmlns:a16="http://schemas.microsoft.com/office/drawing/2014/main" id="{93427D0F-11A3-ECF0-B5C9-77E98FB83E4F}"/>
              </a:ext>
            </a:extLst>
          </p:cNvPr>
          <p:cNvSpPr>
            <a:spLocks noChangeAspect="1" noChangeShapeType="1"/>
          </p:cNvSpPr>
          <p:nvPr/>
        </p:nvSpPr>
        <p:spPr bwMode="auto">
          <a:xfrm flipH="1" flipV="1">
            <a:off x="7913303" y="1772127"/>
            <a:ext cx="0" cy="4097338"/>
          </a:xfrm>
          <a:prstGeom prst="line">
            <a:avLst/>
          </a:prstGeom>
          <a:noFill/>
          <a:ln w="9525">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9" name="Text Box 31">
            <a:extLst>
              <a:ext uri="{FF2B5EF4-FFF2-40B4-BE49-F238E27FC236}">
                <a16:creationId xmlns:a16="http://schemas.microsoft.com/office/drawing/2014/main" id="{2951DAAC-2F6F-333E-BE4B-8AB8CF63C45A}"/>
              </a:ext>
            </a:extLst>
          </p:cNvPr>
          <p:cNvSpPr txBox="1">
            <a:spLocks noChangeAspect="1" noChangeArrowheads="1"/>
          </p:cNvSpPr>
          <p:nvPr/>
        </p:nvSpPr>
        <p:spPr bwMode="auto">
          <a:xfrm>
            <a:off x="7537066" y="1635602"/>
            <a:ext cx="4397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l" eaLnBrk="1" hangingPunct="1">
              <a:spcBef>
                <a:spcPct val="50000"/>
              </a:spcBef>
            </a:pPr>
            <a:r>
              <a:rPr lang="en-US" altLang="zh-CN" i="1">
                <a:solidFill>
                  <a:srgbClr val="000000"/>
                </a:solidFill>
                <a:sym typeface="Symbol" panose="05050102010706020507" pitchFamily="18" charset="2"/>
              </a:rPr>
              <a:t></a:t>
            </a:r>
            <a:endParaRPr lang="en-US" altLang="zh-CN">
              <a:solidFill>
                <a:srgbClr val="000000"/>
              </a:solidFill>
              <a:ea typeface="宋体" panose="02010600030101010101" pitchFamily="2" charset="-122"/>
            </a:endParaRPr>
          </a:p>
        </p:txBody>
      </p:sp>
      <p:sp>
        <p:nvSpPr>
          <p:cNvPr id="50" name="Freeform 33">
            <a:extLst>
              <a:ext uri="{FF2B5EF4-FFF2-40B4-BE49-F238E27FC236}">
                <a16:creationId xmlns:a16="http://schemas.microsoft.com/office/drawing/2014/main" id="{E756B1BA-20BB-6D8E-CA68-07F40BFBCCBB}"/>
              </a:ext>
            </a:extLst>
          </p:cNvPr>
          <p:cNvSpPr>
            <a:spLocks/>
          </p:cNvSpPr>
          <p:nvPr/>
        </p:nvSpPr>
        <p:spPr bwMode="auto">
          <a:xfrm>
            <a:off x="7919653" y="5083652"/>
            <a:ext cx="3130550" cy="771525"/>
          </a:xfrm>
          <a:custGeom>
            <a:avLst/>
            <a:gdLst>
              <a:gd name="T0" fmla="*/ 0 w 1972"/>
              <a:gd name="T1" fmla="*/ 771525 h 486"/>
              <a:gd name="T2" fmla="*/ 207963 w 1972"/>
              <a:gd name="T3" fmla="*/ 536575 h 486"/>
              <a:gd name="T4" fmla="*/ 385763 w 1972"/>
              <a:gd name="T5" fmla="*/ 396875 h 486"/>
              <a:gd name="T6" fmla="*/ 554038 w 1972"/>
              <a:gd name="T7" fmla="*/ 314325 h 486"/>
              <a:gd name="T8" fmla="*/ 957263 w 1972"/>
              <a:gd name="T9" fmla="*/ 187325 h 486"/>
              <a:gd name="T10" fmla="*/ 1412875 w 1972"/>
              <a:gd name="T11" fmla="*/ 106363 h 486"/>
              <a:gd name="T12" fmla="*/ 1814513 w 1972"/>
              <a:gd name="T13" fmla="*/ 53975 h 486"/>
              <a:gd name="T14" fmla="*/ 2201863 w 1972"/>
              <a:gd name="T15" fmla="*/ 23813 h 486"/>
              <a:gd name="T16" fmla="*/ 2825750 w 1972"/>
              <a:gd name="T17" fmla="*/ 9525 h 486"/>
              <a:gd name="T18" fmla="*/ 2992438 w 1972"/>
              <a:gd name="T19" fmla="*/ 79375 h 486"/>
              <a:gd name="T20" fmla="*/ 3060700 w 1972"/>
              <a:gd name="T21" fmla="*/ 161925 h 486"/>
              <a:gd name="T22" fmla="*/ 3130550 w 1972"/>
              <a:gd name="T23" fmla="*/ 246063 h 48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972"/>
              <a:gd name="T37" fmla="*/ 0 h 486"/>
              <a:gd name="T38" fmla="*/ 1972 w 1972"/>
              <a:gd name="T39" fmla="*/ 486 h 48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972" h="486">
                <a:moveTo>
                  <a:pt x="0" y="486"/>
                </a:moveTo>
                <a:cubicBezTo>
                  <a:pt x="46" y="434"/>
                  <a:pt x="91" y="377"/>
                  <a:pt x="131" y="338"/>
                </a:cubicBezTo>
                <a:cubicBezTo>
                  <a:pt x="171" y="299"/>
                  <a:pt x="207" y="273"/>
                  <a:pt x="243" y="250"/>
                </a:cubicBezTo>
                <a:cubicBezTo>
                  <a:pt x="279" y="227"/>
                  <a:pt x="289" y="220"/>
                  <a:pt x="349" y="198"/>
                </a:cubicBezTo>
                <a:cubicBezTo>
                  <a:pt x="409" y="176"/>
                  <a:pt x="513" y="140"/>
                  <a:pt x="603" y="118"/>
                </a:cubicBezTo>
                <a:cubicBezTo>
                  <a:pt x="693" y="96"/>
                  <a:pt x="800" y="81"/>
                  <a:pt x="890" y="67"/>
                </a:cubicBezTo>
                <a:cubicBezTo>
                  <a:pt x="980" y="53"/>
                  <a:pt x="1060" y="43"/>
                  <a:pt x="1143" y="34"/>
                </a:cubicBezTo>
                <a:cubicBezTo>
                  <a:pt x="1226" y="25"/>
                  <a:pt x="1281" y="20"/>
                  <a:pt x="1387" y="15"/>
                </a:cubicBezTo>
                <a:cubicBezTo>
                  <a:pt x="1493" y="10"/>
                  <a:pt x="1697" y="0"/>
                  <a:pt x="1780" y="6"/>
                </a:cubicBezTo>
                <a:cubicBezTo>
                  <a:pt x="1863" y="12"/>
                  <a:pt x="1860" y="34"/>
                  <a:pt x="1885" y="50"/>
                </a:cubicBezTo>
                <a:cubicBezTo>
                  <a:pt x="1910" y="66"/>
                  <a:pt x="1913" y="84"/>
                  <a:pt x="1928" y="102"/>
                </a:cubicBezTo>
                <a:cubicBezTo>
                  <a:pt x="1943" y="120"/>
                  <a:pt x="1957" y="137"/>
                  <a:pt x="1972" y="155"/>
                </a:cubicBezTo>
              </a:path>
            </a:pathLst>
          </a:custGeom>
          <a:noFill/>
          <a:ln w="19050" cap="flat" cmpd="sng">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1" name="Freeform 34">
            <a:extLst>
              <a:ext uri="{FF2B5EF4-FFF2-40B4-BE49-F238E27FC236}">
                <a16:creationId xmlns:a16="http://schemas.microsoft.com/office/drawing/2014/main" id="{3FB59AFC-642B-B781-18AA-7E9A57B8F3C1}"/>
              </a:ext>
            </a:extLst>
          </p:cNvPr>
          <p:cNvSpPr>
            <a:spLocks/>
          </p:cNvSpPr>
          <p:nvPr/>
        </p:nvSpPr>
        <p:spPr bwMode="auto">
          <a:xfrm>
            <a:off x="7911716" y="4032727"/>
            <a:ext cx="2527300" cy="1806575"/>
          </a:xfrm>
          <a:custGeom>
            <a:avLst/>
            <a:gdLst>
              <a:gd name="T0" fmla="*/ 0 w 1592"/>
              <a:gd name="T1" fmla="*/ 1806575 h 1138"/>
              <a:gd name="T2" fmla="*/ 146050 w 1592"/>
              <a:gd name="T3" fmla="*/ 593725 h 1138"/>
              <a:gd name="T4" fmla="*/ 177800 w 1592"/>
              <a:gd name="T5" fmla="*/ 561975 h 1138"/>
              <a:gd name="T6" fmla="*/ 234950 w 1592"/>
              <a:gd name="T7" fmla="*/ 485775 h 1138"/>
              <a:gd name="T8" fmla="*/ 292100 w 1592"/>
              <a:gd name="T9" fmla="*/ 523875 h 1138"/>
              <a:gd name="T10" fmla="*/ 361950 w 1592"/>
              <a:gd name="T11" fmla="*/ 542925 h 1138"/>
              <a:gd name="T12" fmla="*/ 438150 w 1592"/>
              <a:gd name="T13" fmla="*/ 530225 h 1138"/>
              <a:gd name="T14" fmla="*/ 488950 w 1592"/>
              <a:gd name="T15" fmla="*/ 492125 h 1138"/>
              <a:gd name="T16" fmla="*/ 622300 w 1592"/>
              <a:gd name="T17" fmla="*/ 358775 h 1138"/>
              <a:gd name="T18" fmla="*/ 768350 w 1592"/>
              <a:gd name="T19" fmla="*/ 250825 h 1138"/>
              <a:gd name="T20" fmla="*/ 908050 w 1592"/>
              <a:gd name="T21" fmla="*/ 168275 h 1138"/>
              <a:gd name="T22" fmla="*/ 1035050 w 1592"/>
              <a:gd name="T23" fmla="*/ 98425 h 1138"/>
              <a:gd name="T24" fmla="*/ 1187450 w 1592"/>
              <a:gd name="T25" fmla="*/ 47625 h 1138"/>
              <a:gd name="T26" fmla="*/ 1346200 w 1592"/>
              <a:gd name="T27" fmla="*/ 15875 h 1138"/>
              <a:gd name="T28" fmla="*/ 1670050 w 1592"/>
              <a:gd name="T29" fmla="*/ 3175 h 1138"/>
              <a:gd name="T30" fmla="*/ 1865313 w 1592"/>
              <a:gd name="T31" fmla="*/ 33337 h 1138"/>
              <a:gd name="T32" fmla="*/ 2022475 w 1592"/>
              <a:gd name="T33" fmla="*/ 85725 h 1138"/>
              <a:gd name="T34" fmla="*/ 2165350 w 1592"/>
              <a:gd name="T35" fmla="*/ 142875 h 1138"/>
              <a:gd name="T36" fmla="*/ 2311400 w 1592"/>
              <a:gd name="T37" fmla="*/ 225425 h 1138"/>
              <a:gd name="T38" fmla="*/ 2438400 w 1592"/>
              <a:gd name="T39" fmla="*/ 314325 h 1138"/>
              <a:gd name="T40" fmla="*/ 2527300 w 1592"/>
              <a:gd name="T41" fmla="*/ 371475 h 113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592"/>
              <a:gd name="T64" fmla="*/ 0 h 1138"/>
              <a:gd name="T65" fmla="*/ 1592 w 1592"/>
              <a:gd name="T66" fmla="*/ 1138 h 1138"/>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592" h="1138">
                <a:moveTo>
                  <a:pt x="0" y="1138"/>
                </a:moveTo>
                <a:cubicBezTo>
                  <a:pt x="36" y="821"/>
                  <a:pt x="73" y="505"/>
                  <a:pt x="92" y="374"/>
                </a:cubicBezTo>
                <a:cubicBezTo>
                  <a:pt x="111" y="243"/>
                  <a:pt x="103" y="365"/>
                  <a:pt x="112" y="354"/>
                </a:cubicBezTo>
                <a:cubicBezTo>
                  <a:pt x="121" y="343"/>
                  <a:pt x="136" y="310"/>
                  <a:pt x="148" y="306"/>
                </a:cubicBezTo>
                <a:cubicBezTo>
                  <a:pt x="160" y="302"/>
                  <a:pt x="171" y="324"/>
                  <a:pt x="184" y="330"/>
                </a:cubicBezTo>
                <a:cubicBezTo>
                  <a:pt x="197" y="336"/>
                  <a:pt x="213" y="341"/>
                  <a:pt x="228" y="342"/>
                </a:cubicBezTo>
                <a:cubicBezTo>
                  <a:pt x="243" y="343"/>
                  <a:pt x="263" y="339"/>
                  <a:pt x="276" y="334"/>
                </a:cubicBezTo>
                <a:cubicBezTo>
                  <a:pt x="289" y="329"/>
                  <a:pt x="289" y="328"/>
                  <a:pt x="308" y="310"/>
                </a:cubicBezTo>
                <a:cubicBezTo>
                  <a:pt x="327" y="292"/>
                  <a:pt x="363" y="251"/>
                  <a:pt x="392" y="226"/>
                </a:cubicBezTo>
                <a:cubicBezTo>
                  <a:pt x="421" y="201"/>
                  <a:pt x="454" y="178"/>
                  <a:pt x="484" y="158"/>
                </a:cubicBezTo>
                <a:cubicBezTo>
                  <a:pt x="514" y="138"/>
                  <a:pt x="544" y="122"/>
                  <a:pt x="572" y="106"/>
                </a:cubicBezTo>
                <a:cubicBezTo>
                  <a:pt x="600" y="90"/>
                  <a:pt x="623" y="75"/>
                  <a:pt x="652" y="62"/>
                </a:cubicBezTo>
                <a:cubicBezTo>
                  <a:pt x="681" y="49"/>
                  <a:pt x="716" y="39"/>
                  <a:pt x="748" y="30"/>
                </a:cubicBezTo>
                <a:cubicBezTo>
                  <a:pt x="780" y="21"/>
                  <a:pt x="797" y="15"/>
                  <a:pt x="848" y="10"/>
                </a:cubicBezTo>
                <a:cubicBezTo>
                  <a:pt x="899" y="5"/>
                  <a:pt x="998" y="0"/>
                  <a:pt x="1052" y="2"/>
                </a:cubicBezTo>
                <a:cubicBezTo>
                  <a:pt x="1106" y="4"/>
                  <a:pt x="1138" y="12"/>
                  <a:pt x="1175" y="21"/>
                </a:cubicBezTo>
                <a:cubicBezTo>
                  <a:pt x="1212" y="30"/>
                  <a:pt x="1242" y="42"/>
                  <a:pt x="1274" y="54"/>
                </a:cubicBezTo>
                <a:cubicBezTo>
                  <a:pt x="1306" y="66"/>
                  <a:pt x="1334" y="75"/>
                  <a:pt x="1364" y="90"/>
                </a:cubicBezTo>
                <a:cubicBezTo>
                  <a:pt x="1394" y="105"/>
                  <a:pt x="1427" y="124"/>
                  <a:pt x="1456" y="142"/>
                </a:cubicBezTo>
                <a:cubicBezTo>
                  <a:pt x="1485" y="160"/>
                  <a:pt x="1513" y="183"/>
                  <a:pt x="1536" y="198"/>
                </a:cubicBezTo>
                <a:cubicBezTo>
                  <a:pt x="1559" y="213"/>
                  <a:pt x="1575" y="223"/>
                  <a:pt x="1592" y="234"/>
                </a:cubicBezTo>
              </a:path>
            </a:pathLst>
          </a:custGeom>
          <a:noFill/>
          <a:ln w="19050" cap="flat" cmpd="sng">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2" name="Freeform 35">
            <a:extLst>
              <a:ext uri="{FF2B5EF4-FFF2-40B4-BE49-F238E27FC236}">
                <a16:creationId xmlns:a16="http://schemas.microsoft.com/office/drawing/2014/main" id="{ED6AED54-781D-EE25-40D2-EC6B2727B552}"/>
              </a:ext>
            </a:extLst>
          </p:cNvPr>
          <p:cNvSpPr>
            <a:spLocks/>
          </p:cNvSpPr>
          <p:nvPr/>
        </p:nvSpPr>
        <p:spPr bwMode="auto">
          <a:xfrm>
            <a:off x="7930766" y="3947002"/>
            <a:ext cx="876300" cy="1879600"/>
          </a:xfrm>
          <a:custGeom>
            <a:avLst/>
            <a:gdLst>
              <a:gd name="T0" fmla="*/ 0 w 552"/>
              <a:gd name="T1" fmla="*/ 1879600 h 1184"/>
              <a:gd name="T2" fmla="*/ 304800 w 552"/>
              <a:gd name="T3" fmla="*/ 508000 h 1184"/>
              <a:gd name="T4" fmla="*/ 342900 w 552"/>
              <a:gd name="T5" fmla="*/ 368300 h 1184"/>
              <a:gd name="T6" fmla="*/ 412750 w 552"/>
              <a:gd name="T7" fmla="*/ 254000 h 1184"/>
              <a:gd name="T8" fmla="*/ 533400 w 552"/>
              <a:gd name="T9" fmla="*/ 133350 h 1184"/>
              <a:gd name="T10" fmla="*/ 654050 w 552"/>
              <a:gd name="T11" fmla="*/ 69850 h 1184"/>
              <a:gd name="T12" fmla="*/ 762000 w 552"/>
              <a:gd name="T13" fmla="*/ 25400 h 1184"/>
              <a:gd name="T14" fmla="*/ 876300 w 552"/>
              <a:gd name="T15" fmla="*/ 0 h 1184"/>
              <a:gd name="T16" fmla="*/ 0 60000 65536"/>
              <a:gd name="T17" fmla="*/ 0 60000 65536"/>
              <a:gd name="T18" fmla="*/ 0 60000 65536"/>
              <a:gd name="T19" fmla="*/ 0 60000 65536"/>
              <a:gd name="T20" fmla="*/ 0 60000 65536"/>
              <a:gd name="T21" fmla="*/ 0 60000 65536"/>
              <a:gd name="T22" fmla="*/ 0 60000 65536"/>
              <a:gd name="T23" fmla="*/ 0 60000 65536"/>
              <a:gd name="T24" fmla="*/ 0 w 552"/>
              <a:gd name="T25" fmla="*/ 0 h 1184"/>
              <a:gd name="T26" fmla="*/ 552 w 552"/>
              <a:gd name="T27" fmla="*/ 1184 h 118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52" h="1184">
                <a:moveTo>
                  <a:pt x="0" y="1184"/>
                </a:moveTo>
                <a:cubicBezTo>
                  <a:pt x="78" y="831"/>
                  <a:pt x="156" y="479"/>
                  <a:pt x="192" y="320"/>
                </a:cubicBezTo>
                <a:cubicBezTo>
                  <a:pt x="228" y="161"/>
                  <a:pt x="205" y="259"/>
                  <a:pt x="216" y="232"/>
                </a:cubicBezTo>
                <a:cubicBezTo>
                  <a:pt x="227" y="205"/>
                  <a:pt x="240" y="185"/>
                  <a:pt x="260" y="160"/>
                </a:cubicBezTo>
                <a:cubicBezTo>
                  <a:pt x="280" y="135"/>
                  <a:pt x="311" y="103"/>
                  <a:pt x="336" y="84"/>
                </a:cubicBezTo>
                <a:cubicBezTo>
                  <a:pt x="361" y="65"/>
                  <a:pt x="388" y="55"/>
                  <a:pt x="412" y="44"/>
                </a:cubicBezTo>
                <a:cubicBezTo>
                  <a:pt x="436" y="33"/>
                  <a:pt x="457" y="23"/>
                  <a:pt x="480" y="16"/>
                </a:cubicBezTo>
                <a:cubicBezTo>
                  <a:pt x="503" y="9"/>
                  <a:pt x="527" y="4"/>
                  <a:pt x="552" y="0"/>
                </a:cubicBezTo>
              </a:path>
            </a:pathLst>
          </a:custGeom>
          <a:noFill/>
          <a:ln w="19050" cap="flat" cmpd="sng">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4" name="Freeform 36">
            <a:extLst>
              <a:ext uri="{FF2B5EF4-FFF2-40B4-BE49-F238E27FC236}">
                <a16:creationId xmlns:a16="http://schemas.microsoft.com/office/drawing/2014/main" id="{099250B3-B3D9-C307-EDF0-798BCCDF4128}"/>
              </a:ext>
            </a:extLst>
          </p:cNvPr>
          <p:cNvSpPr>
            <a:spLocks/>
          </p:cNvSpPr>
          <p:nvPr/>
        </p:nvSpPr>
        <p:spPr bwMode="auto">
          <a:xfrm>
            <a:off x="7930766" y="3278665"/>
            <a:ext cx="1517650" cy="2560637"/>
          </a:xfrm>
          <a:custGeom>
            <a:avLst/>
            <a:gdLst>
              <a:gd name="T0" fmla="*/ 0 w 956"/>
              <a:gd name="T1" fmla="*/ 2560637 h 1613"/>
              <a:gd name="T2" fmla="*/ 615950 w 956"/>
              <a:gd name="T3" fmla="*/ 731837 h 1613"/>
              <a:gd name="T4" fmla="*/ 673100 w 956"/>
              <a:gd name="T5" fmla="*/ 560387 h 1613"/>
              <a:gd name="T6" fmla="*/ 755650 w 956"/>
              <a:gd name="T7" fmla="*/ 411162 h 1613"/>
              <a:gd name="T8" fmla="*/ 901700 w 956"/>
              <a:gd name="T9" fmla="*/ 255587 h 1613"/>
              <a:gd name="T10" fmla="*/ 1035050 w 956"/>
              <a:gd name="T11" fmla="*/ 160337 h 1613"/>
              <a:gd name="T12" fmla="*/ 1168400 w 956"/>
              <a:gd name="T13" fmla="*/ 90487 h 1613"/>
              <a:gd name="T14" fmla="*/ 1365250 w 956"/>
              <a:gd name="T15" fmla="*/ 14287 h 1613"/>
              <a:gd name="T16" fmla="*/ 1517650 w 956"/>
              <a:gd name="T17" fmla="*/ 1587 h 161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56"/>
              <a:gd name="T28" fmla="*/ 0 h 1613"/>
              <a:gd name="T29" fmla="*/ 956 w 956"/>
              <a:gd name="T30" fmla="*/ 1613 h 161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56" h="1613">
                <a:moveTo>
                  <a:pt x="0" y="1613"/>
                </a:moveTo>
                <a:cubicBezTo>
                  <a:pt x="158" y="1142"/>
                  <a:pt x="317" y="671"/>
                  <a:pt x="388" y="461"/>
                </a:cubicBezTo>
                <a:cubicBezTo>
                  <a:pt x="459" y="251"/>
                  <a:pt x="409" y="387"/>
                  <a:pt x="424" y="353"/>
                </a:cubicBezTo>
                <a:cubicBezTo>
                  <a:pt x="439" y="319"/>
                  <a:pt x="452" y="291"/>
                  <a:pt x="476" y="259"/>
                </a:cubicBezTo>
                <a:cubicBezTo>
                  <a:pt x="500" y="227"/>
                  <a:pt x="539" y="187"/>
                  <a:pt x="568" y="161"/>
                </a:cubicBezTo>
                <a:cubicBezTo>
                  <a:pt x="597" y="135"/>
                  <a:pt x="624" y="118"/>
                  <a:pt x="652" y="101"/>
                </a:cubicBezTo>
                <a:cubicBezTo>
                  <a:pt x="680" y="84"/>
                  <a:pt x="701" y="72"/>
                  <a:pt x="736" y="57"/>
                </a:cubicBezTo>
                <a:cubicBezTo>
                  <a:pt x="771" y="42"/>
                  <a:pt x="823" y="18"/>
                  <a:pt x="860" y="9"/>
                </a:cubicBezTo>
                <a:cubicBezTo>
                  <a:pt x="897" y="0"/>
                  <a:pt x="940" y="2"/>
                  <a:pt x="956" y="1"/>
                </a:cubicBezTo>
              </a:path>
            </a:pathLst>
          </a:custGeom>
          <a:noFill/>
          <a:ln w="19050" cap="flat" cmpd="sng">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5" name="Freeform 37">
            <a:extLst>
              <a:ext uri="{FF2B5EF4-FFF2-40B4-BE49-F238E27FC236}">
                <a16:creationId xmlns:a16="http://schemas.microsoft.com/office/drawing/2014/main" id="{5D3759C2-A6B9-57CF-687E-C5EBA7A74B07}"/>
              </a:ext>
            </a:extLst>
          </p:cNvPr>
          <p:cNvSpPr>
            <a:spLocks/>
          </p:cNvSpPr>
          <p:nvPr/>
        </p:nvSpPr>
        <p:spPr bwMode="auto">
          <a:xfrm>
            <a:off x="7924416" y="2156302"/>
            <a:ext cx="2257425" cy="3676650"/>
          </a:xfrm>
          <a:custGeom>
            <a:avLst/>
            <a:gdLst>
              <a:gd name="T0" fmla="*/ 0 w 1422"/>
              <a:gd name="T1" fmla="*/ 3676650 h 2316"/>
              <a:gd name="T2" fmla="*/ 247650 w 1422"/>
              <a:gd name="T3" fmla="*/ 2257425 h 2316"/>
              <a:gd name="T4" fmla="*/ 338137 w 1422"/>
              <a:gd name="T5" fmla="*/ 1795463 h 2316"/>
              <a:gd name="T6" fmla="*/ 447675 w 1422"/>
              <a:gd name="T7" fmla="*/ 1371600 h 2316"/>
              <a:gd name="T8" fmla="*/ 552450 w 1422"/>
              <a:gd name="T9" fmla="*/ 1104900 h 2316"/>
              <a:gd name="T10" fmla="*/ 714375 w 1422"/>
              <a:gd name="T11" fmla="*/ 819150 h 2316"/>
              <a:gd name="T12" fmla="*/ 1000125 w 1422"/>
              <a:gd name="T13" fmla="*/ 504825 h 2316"/>
              <a:gd name="T14" fmla="*/ 1333500 w 1422"/>
              <a:gd name="T15" fmla="*/ 266700 h 2316"/>
              <a:gd name="T16" fmla="*/ 1704975 w 1422"/>
              <a:gd name="T17" fmla="*/ 114300 h 2316"/>
              <a:gd name="T18" fmla="*/ 2000250 w 1422"/>
              <a:gd name="T19" fmla="*/ 38100 h 2316"/>
              <a:gd name="T20" fmla="*/ 2257425 w 1422"/>
              <a:gd name="T21" fmla="*/ 0 h 231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422"/>
              <a:gd name="T34" fmla="*/ 0 h 2316"/>
              <a:gd name="T35" fmla="*/ 1422 w 1422"/>
              <a:gd name="T36" fmla="*/ 2316 h 231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422" h="2316">
                <a:moveTo>
                  <a:pt x="0" y="2316"/>
                </a:moveTo>
                <a:cubicBezTo>
                  <a:pt x="61" y="1967"/>
                  <a:pt x="121" y="1619"/>
                  <a:pt x="156" y="1422"/>
                </a:cubicBezTo>
                <a:cubicBezTo>
                  <a:pt x="191" y="1225"/>
                  <a:pt x="192" y="1224"/>
                  <a:pt x="213" y="1131"/>
                </a:cubicBezTo>
                <a:cubicBezTo>
                  <a:pt x="234" y="1038"/>
                  <a:pt x="260" y="936"/>
                  <a:pt x="282" y="864"/>
                </a:cubicBezTo>
                <a:cubicBezTo>
                  <a:pt x="304" y="792"/>
                  <a:pt x="320" y="754"/>
                  <a:pt x="348" y="696"/>
                </a:cubicBezTo>
                <a:cubicBezTo>
                  <a:pt x="376" y="638"/>
                  <a:pt x="403" y="579"/>
                  <a:pt x="450" y="516"/>
                </a:cubicBezTo>
                <a:cubicBezTo>
                  <a:pt x="497" y="453"/>
                  <a:pt x="565" y="376"/>
                  <a:pt x="630" y="318"/>
                </a:cubicBezTo>
                <a:cubicBezTo>
                  <a:pt x="695" y="260"/>
                  <a:pt x="766" y="209"/>
                  <a:pt x="840" y="168"/>
                </a:cubicBezTo>
                <a:cubicBezTo>
                  <a:pt x="914" y="127"/>
                  <a:pt x="1004" y="96"/>
                  <a:pt x="1074" y="72"/>
                </a:cubicBezTo>
                <a:cubicBezTo>
                  <a:pt x="1144" y="48"/>
                  <a:pt x="1202" y="36"/>
                  <a:pt x="1260" y="24"/>
                </a:cubicBezTo>
                <a:cubicBezTo>
                  <a:pt x="1318" y="12"/>
                  <a:pt x="1370" y="6"/>
                  <a:pt x="1422" y="0"/>
                </a:cubicBezTo>
              </a:path>
            </a:pathLst>
          </a:custGeom>
          <a:noFill/>
          <a:ln w="19050" cap="flat" cmpd="sng">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6" name="Text Box 40">
            <a:extLst>
              <a:ext uri="{FF2B5EF4-FFF2-40B4-BE49-F238E27FC236}">
                <a16:creationId xmlns:a16="http://schemas.microsoft.com/office/drawing/2014/main" id="{DC880A83-C99B-920A-A4CA-B10486A47EF3}"/>
              </a:ext>
            </a:extLst>
          </p:cNvPr>
          <p:cNvSpPr txBox="1">
            <a:spLocks noChangeArrowheads="1"/>
          </p:cNvSpPr>
          <p:nvPr/>
        </p:nvSpPr>
        <p:spPr bwMode="auto">
          <a:xfrm>
            <a:off x="9591291" y="1727677"/>
            <a:ext cx="1000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eaLnBrk="1" hangingPunct="1">
              <a:spcBef>
                <a:spcPct val="50000"/>
              </a:spcBef>
            </a:pPr>
            <a:r>
              <a:rPr lang="zh-CN" altLang="en-US" i="0" dirty="0">
                <a:solidFill>
                  <a:srgbClr val="000000"/>
                </a:solidFill>
              </a:rPr>
              <a:t>锰钢</a:t>
            </a:r>
          </a:p>
        </p:txBody>
      </p:sp>
      <p:sp>
        <p:nvSpPr>
          <p:cNvPr id="57" name="Text Box 41">
            <a:extLst>
              <a:ext uri="{FF2B5EF4-FFF2-40B4-BE49-F238E27FC236}">
                <a16:creationId xmlns:a16="http://schemas.microsoft.com/office/drawing/2014/main" id="{1FC6EBD7-6147-6C6D-710F-40FDFFD98902}"/>
              </a:ext>
            </a:extLst>
          </p:cNvPr>
          <p:cNvSpPr txBox="1">
            <a:spLocks noChangeArrowheads="1"/>
          </p:cNvSpPr>
          <p:nvPr/>
        </p:nvSpPr>
        <p:spPr bwMode="auto">
          <a:xfrm>
            <a:off x="9216641" y="2896077"/>
            <a:ext cx="1000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eaLnBrk="1" hangingPunct="1">
              <a:spcBef>
                <a:spcPct val="50000"/>
              </a:spcBef>
            </a:pPr>
            <a:r>
              <a:rPr lang="zh-CN" altLang="en-US" i="0" dirty="0">
                <a:solidFill>
                  <a:srgbClr val="000000"/>
                </a:solidFill>
              </a:rPr>
              <a:t>硬铝</a:t>
            </a:r>
          </a:p>
        </p:txBody>
      </p:sp>
      <p:sp>
        <p:nvSpPr>
          <p:cNvPr id="58" name="Text Box 42">
            <a:extLst>
              <a:ext uri="{FF2B5EF4-FFF2-40B4-BE49-F238E27FC236}">
                <a16:creationId xmlns:a16="http://schemas.microsoft.com/office/drawing/2014/main" id="{0FC6577D-937B-5E7D-16AA-3207F8A2DA82}"/>
              </a:ext>
            </a:extLst>
          </p:cNvPr>
          <p:cNvSpPr txBox="1">
            <a:spLocks noChangeArrowheads="1"/>
          </p:cNvSpPr>
          <p:nvPr/>
        </p:nvSpPr>
        <p:spPr bwMode="auto">
          <a:xfrm>
            <a:off x="8613391" y="3569177"/>
            <a:ext cx="21621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eaLnBrk="1" hangingPunct="1">
              <a:spcBef>
                <a:spcPct val="50000"/>
              </a:spcBef>
            </a:pPr>
            <a:r>
              <a:rPr lang="zh-CN" altLang="en-US" i="0" dirty="0">
                <a:solidFill>
                  <a:srgbClr val="000000"/>
                </a:solidFill>
              </a:rPr>
              <a:t>退火球墨铸铁</a:t>
            </a:r>
          </a:p>
        </p:txBody>
      </p:sp>
      <p:sp>
        <p:nvSpPr>
          <p:cNvPr id="59" name="Text Box 43">
            <a:extLst>
              <a:ext uri="{FF2B5EF4-FFF2-40B4-BE49-F238E27FC236}">
                <a16:creationId xmlns:a16="http://schemas.microsoft.com/office/drawing/2014/main" id="{D035A4F3-3EDB-4F22-F47C-5386D8FE032B}"/>
              </a:ext>
            </a:extLst>
          </p:cNvPr>
          <p:cNvSpPr txBox="1">
            <a:spLocks noChangeArrowheads="1"/>
          </p:cNvSpPr>
          <p:nvPr/>
        </p:nvSpPr>
        <p:spPr bwMode="auto">
          <a:xfrm>
            <a:off x="9565891" y="4293077"/>
            <a:ext cx="1581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eaLnBrk="1" hangingPunct="1">
              <a:spcBef>
                <a:spcPct val="50000"/>
              </a:spcBef>
            </a:pPr>
            <a:r>
              <a:rPr lang="zh-CN" altLang="en-US" i="0" dirty="0">
                <a:solidFill>
                  <a:srgbClr val="000000"/>
                </a:solidFill>
              </a:rPr>
              <a:t>低碳钢</a:t>
            </a:r>
          </a:p>
        </p:txBody>
      </p:sp>
      <p:sp>
        <p:nvSpPr>
          <p:cNvPr id="60" name="Text Box 44">
            <a:extLst>
              <a:ext uri="{FF2B5EF4-FFF2-40B4-BE49-F238E27FC236}">
                <a16:creationId xmlns:a16="http://schemas.microsoft.com/office/drawing/2014/main" id="{18F7D22B-322F-427F-63F4-7F20C1B1941A}"/>
              </a:ext>
            </a:extLst>
          </p:cNvPr>
          <p:cNvSpPr txBox="1">
            <a:spLocks noChangeArrowheads="1"/>
          </p:cNvSpPr>
          <p:nvPr/>
        </p:nvSpPr>
        <p:spPr bwMode="auto">
          <a:xfrm>
            <a:off x="10099291" y="5112227"/>
            <a:ext cx="1000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eaLnBrk="1" hangingPunct="1">
              <a:spcBef>
                <a:spcPct val="50000"/>
              </a:spcBef>
            </a:pPr>
            <a:r>
              <a:rPr lang="zh-CN" altLang="en-US" i="0" dirty="0">
                <a:solidFill>
                  <a:srgbClr val="000000"/>
                </a:solidFill>
              </a:rPr>
              <a:t>青铜</a:t>
            </a:r>
          </a:p>
        </p:txBody>
      </p:sp>
      <p:sp>
        <p:nvSpPr>
          <p:cNvPr id="61" name="Text Box 30">
            <a:extLst>
              <a:ext uri="{FF2B5EF4-FFF2-40B4-BE49-F238E27FC236}">
                <a16:creationId xmlns:a16="http://schemas.microsoft.com/office/drawing/2014/main" id="{D553BD7D-B415-E497-B495-18FD5D766D2E}"/>
              </a:ext>
            </a:extLst>
          </p:cNvPr>
          <p:cNvSpPr txBox="1">
            <a:spLocks noChangeAspect="1" noChangeArrowheads="1"/>
          </p:cNvSpPr>
          <p:nvPr/>
        </p:nvSpPr>
        <p:spPr bwMode="auto">
          <a:xfrm>
            <a:off x="11347066" y="5553919"/>
            <a:ext cx="6889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l" eaLnBrk="1" hangingPunct="1">
              <a:spcBef>
                <a:spcPct val="50000"/>
              </a:spcBef>
            </a:pPr>
            <a:r>
              <a:rPr lang="en-US" altLang="zh-CN" i="1" dirty="0">
                <a:solidFill>
                  <a:srgbClr val="000000"/>
                </a:solidFill>
                <a:sym typeface="Symbol" panose="05050102010706020507" pitchFamily="18" charset="2"/>
              </a:rPr>
              <a:t></a:t>
            </a:r>
            <a:endParaRPr lang="en-US" altLang="zh-CN" dirty="0">
              <a:solidFill>
                <a:srgbClr val="000000"/>
              </a:solidFill>
              <a:ea typeface="宋体" panose="02010600030101010101" pitchFamily="2" charset="-122"/>
            </a:endParaRPr>
          </a:p>
        </p:txBody>
      </p:sp>
    </p:spTree>
    <p:extLst>
      <p:ext uri="{BB962C8B-B14F-4D97-AF65-F5344CB8AC3E}">
        <p14:creationId xmlns:p14="http://schemas.microsoft.com/office/powerpoint/2010/main" val="3340550241"/>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5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2" presetClass="entr" presetSubtype="8" fill="hold" nodeType="clickEffect">
                                  <p:stCondLst>
                                    <p:cond delay="0"/>
                                  </p:stCondLst>
                                  <p:childTnLst>
                                    <p:set>
                                      <p:cBhvr>
                                        <p:cTn id="14" dur="1" fill="hold">
                                          <p:stCondLst>
                                            <p:cond delay="0"/>
                                          </p:stCondLst>
                                        </p:cTn>
                                        <p:tgtEl>
                                          <p:spTgt spid="47"/>
                                        </p:tgtEl>
                                        <p:attrNameLst>
                                          <p:attrName>style.visibility</p:attrName>
                                        </p:attrNameLst>
                                      </p:cBhvr>
                                      <p:to>
                                        <p:strVal val="visible"/>
                                      </p:to>
                                    </p:set>
                                    <p:animEffect transition="in" filter="slide(fromLeft)">
                                      <p:cBhvr>
                                        <p:cTn id="15" dur="3000"/>
                                        <p:tgtEl>
                                          <p:spTgt spid="47"/>
                                        </p:tgtEl>
                                      </p:cBhvr>
                                    </p:animEffect>
                                  </p:childTnLst>
                                  <p:subTnLst>
                                    <p:audio>
                                      <p:cMediaNode>
                                        <p:cTn display="0" masterRel="sameClick">
                                          <p:stCondLst>
                                            <p:cond evt="begin" delay="0">
                                              <p:tn val="13"/>
                                            </p:cond>
                                          </p:stCondLst>
                                          <p:endCondLst>
                                            <p:cond evt="onStopAudio" delay="0">
                                              <p:tgtEl>
                                                <p:sldTgt/>
                                              </p:tgtEl>
                                            </p:cond>
                                          </p:endCondLst>
                                        </p:cTn>
                                        <p:tgtEl>
                                          <p:sndTgt r:embed="rId3" name="CHIMES.WAV"/>
                                        </p:tgtEl>
                                      </p:cMediaNode>
                                    </p:audio>
                                  </p:subTnLst>
                                </p:cTn>
                              </p:par>
                              <p:par>
                                <p:cTn id="16" presetID="12" presetClass="entr" presetSubtype="4" fill="hold" nodeType="withEffect">
                                  <p:stCondLst>
                                    <p:cond delay="0"/>
                                  </p:stCondLst>
                                  <p:childTnLst>
                                    <p:set>
                                      <p:cBhvr>
                                        <p:cTn id="17" dur="1" fill="hold">
                                          <p:stCondLst>
                                            <p:cond delay="0"/>
                                          </p:stCondLst>
                                        </p:cTn>
                                        <p:tgtEl>
                                          <p:spTgt spid="48"/>
                                        </p:tgtEl>
                                        <p:attrNameLst>
                                          <p:attrName>style.visibility</p:attrName>
                                        </p:attrNameLst>
                                      </p:cBhvr>
                                      <p:to>
                                        <p:strVal val="visible"/>
                                      </p:to>
                                    </p:set>
                                    <p:animEffect transition="in" filter="slide(fromBottom)">
                                      <p:cBhvr>
                                        <p:cTn id="18" dur="3000"/>
                                        <p:tgtEl>
                                          <p:spTgt spid="48"/>
                                        </p:tgtEl>
                                      </p:cBhvr>
                                    </p:animEffect>
                                  </p:childTnLst>
                                  <p:subTnLst>
                                    <p:audio>
                                      <p:cMediaNode>
                                        <p:cTn display="0" masterRel="sameClick">
                                          <p:stCondLst>
                                            <p:cond evt="begin" delay="0">
                                              <p:tn val="16"/>
                                            </p:cond>
                                          </p:stCondLst>
                                          <p:endCondLst>
                                            <p:cond evt="onStopAudio" delay="0">
                                              <p:tgtEl>
                                                <p:sldTgt/>
                                              </p:tgtEl>
                                            </p:cond>
                                          </p:endCondLst>
                                        </p:cTn>
                                        <p:tgtEl>
                                          <p:sndTgt r:embed="rId3" name="CHIMES.WAV"/>
                                        </p:tgtEl>
                                      </p:cMediaNode>
                                    </p:audio>
                                  </p:subTnLst>
                                </p:cTn>
                              </p:par>
                              <p:par>
                                <p:cTn id="19" presetID="19" presetClass="entr" presetSubtype="10" fill="hold" grpId="0" nodeType="withEffect">
                                  <p:stCondLst>
                                    <p:cond delay="0"/>
                                  </p:stCondLst>
                                  <p:childTnLst>
                                    <p:set>
                                      <p:cBhvr>
                                        <p:cTn id="20" dur="1" fill="hold">
                                          <p:stCondLst>
                                            <p:cond delay="0"/>
                                          </p:stCondLst>
                                        </p:cTn>
                                        <p:tgtEl>
                                          <p:spTgt spid="49"/>
                                        </p:tgtEl>
                                        <p:attrNameLst>
                                          <p:attrName>style.visibility</p:attrName>
                                        </p:attrNameLst>
                                      </p:cBhvr>
                                      <p:to>
                                        <p:strVal val="visible"/>
                                      </p:to>
                                    </p:set>
                                    <p:anim calcmode="lin" valueType="num">
                                      <p:cBhvr>
                                        <p:cTn id="21" dur="5000" fill="hold"/>
                                        <p:tgtEl>
                                          <p:spTgt spid="49"/>
                                        </p:tgtEl>
                                        <p:attrNameLst>
                                          <p:attrName>ppt_w</p:attrName>
                                        </p:attrNameLst>
                                      </p:cBhvr>
                                      <p:tavLst>
                                        <p:tav tm="0" fmla="#ppt_w*sin(2.5*pi*$)">
                                          <p:val>
                                            <p:fltVal val="0"/>
                                          </p:val>
                                        </p:tav>
                                        <p:tav tm="100000">
                                          <p:val>
                                            <p:fltVal val="1"/>
                                          </p:val>
                                        </p:tav>
                                      </p:tavLst>
                                    </p:anim>
                                    <p:anim calcmode="lin" valueType="num">
                                      <p:cBhvr>
                                        <p:cTn id="22" dur="5000" fill="hold"/>
                                        <p:tgtEl>
                                          <p:spTgt spid="49"/>
                                        </p:tgtEl>
                                        <p:attrNameLst>
                                          <p:attrName>ppt_h</p:attrName>
                                        </p:attrNameLst>
                                      </p:cBhvr>
                                      <p:tavLst>
                                        <p:tav tm="0">
                                          <p:val>
                                            <p:strVal val="#ppt_h"/>
                                          </p:val>
                                        </p:tav>
                                        <p:tav tm="100000">
                                          <p:val>
                                            <p:strVal val="#ppt_h"/>
                                          </p:val>
                                        </p:tav>
                                      </p:tavLst>
                                    </p:anim>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55"/>
                                        </p:tgtEl>
                                        <p:attrNameLst>
                                          <p:attrName>style.visibility</p:attrName>
                                        </p:attrNameLst>
                                      </p:cBhvr>
                                      <p:to>
                                        <p:strVal val="visible"/>
                                      </p:to>
                                    </p:set>
                                    <p:animEffect transition="in" filter="wipe(down)">
                                      <p:cBhvr>
                                        <p:cTn id="27" dur="5000"/>
                                        <p:tgtEl>
                                          <p:spTgt spid="55"/>
                                        </p:tgtEl>
                                      </p:cBhvr>
                                    </p:animEffect>
                                  </p:childTnLst>
                                </p:cTn>
                              </p:par>
                              <p:par>
                                <p:cTn id="28" presetID="19" presetClass="entr" presetSubtype="10" fill="hold" grpId="0" nodeType="withEffect">
                                  <p:stCondLst>
                                    <p:cond delay="0"/>
                                  </p:stCondLst>
                                  <p:childTnLst>
                                    <p:set>
                                      <p:cBhvr>
                                        <p:cTn id="29" dur="1" fill="hold">
                                          <p:stCondLst>
                                            <p:cond delay="0"/>
                                          </p:stCondLst>
                                        </p:cTn>
                                        <p:tgtEl>
                                          <p:spTgt spid="56"/>
                                        </p:tgtEl>
                                        <p:attrNameLst>
                                          <p:attrName>style.visibility</p:attrName>
                                        </p:attrNameLst>
                                      </p:cBhvr>
                                      <p:to>
                                        <p:strVal val="visible"/>
                                      </p:to>
                                    </p:set>
                                    <p:anim calcmode="lin" valueType="num">
                                      <p:cBhvr>
                                        <p:cTn id="30" dur="5000" fill="hold"/>
                                        <p:tgtEl>
                                          <p:spTgt spid="56"/>
                                        </p:tgtEl>
                                        <p:attrNameLst>
                                          <p:attrName>ppt_w</p:attrName>
                                        </p:attrNameLst>
                                      </p:cBhvr>
                                      <p:tavLst>
                                        <p:tav tm="0" fmla="#ppt_w*sin(2.5*pi*$)">
                                          <p:val>
                                            <p:fltVal val="0"/>
                                          </p:val>
                                        </p:tav>
                                        <p:tav tm="100000">
                                          <p:val>
                                            <p:fltVal val="1"/>
                                          </p:val>
                                        </p:tav>
                                      </p:tavLst>
                                    </p:anim>
                                    <p:anim calcmode="lin" valueType="num">
                                      <p:cBhvr>
                                        <p:cTn id="31" dur="5000" fill="hold"/>
                                        <p:tgtEl>
                                          <p:spTgt spid="56"/>
                                        </p:tgtEl>
                                        <p:attrNameLst>
                                          <p:attrName>ppt_h</p:attrName>
                                        </p:attrNameLst>
                                      </p:cBhvr>
                                      <p:tavLst>
                                        <p:tav tm="0">
                                          <p:val>
                                            <p:strVal val="#ppt_h"/>
                                          </p:val>
                                        </p:tav>
                                        <p:tav tm="100000">
                                          <p:val>
                                            <p:strVal val="#ppt_h"/>
                                          </p:val>
                                        </p:tav>
                                      </p:tavLst>
                                    </p:anim>
                                  </p:childTnLst>
                                </p:cTn>
                              </p:par>
                            </p:childTnLst>
                          </p:cTn>
                        </p:par>
                        <p:par>
                          <p:cTn id="32" fill="hold">
                            <p:stCondLst>
                              <p:cond delay="5000"/>
                            </p:stCondLst>
                            <p:childTnLst>
                              <p:par>
                                <p:cTn id="33" presetID="22" presetClass="entr" presetSubtype="4" fill="hold" nodeType="afterEffect">
                                  <p:stCondLst>
                                    <p:cond delay="0"/>
                                  </p:stCondLst>
                                  <p:childTnLst>
                                    <p:set>
                                      <p:cBhvr>
                                        <p:cTn id="34" dur="1" fill="hold">
                                          <p:stCondLst>
                                            <p:cond delay="0"/>
                                          </p:stCondLst>
                                        </p:cTn>
                                        <p:tgtEl>
                                          <p:spTgt spid="54"/>
                                        </p:tgtEl>
                                        <p:attrNameLst>
                                          <p:attrName>style.visibility</p:attrName>
                                        </p:attrNameLst>
                                      </p:cBhvr>
                                      <p:to>
                                        <p:strVal val="visible"/>
                                      </p:to>
                                    </p:set>
                                    <p:animEffect transition="in" filter="wipe(down)">
                                      <p:cBhvr>
                                        <p:cTn id="35" dur="5000"/>
                                        <p:tgtEl>
                                          <p:spTgt spid="54"/>
                                        </p:tgtEl>
                                      </p:cBhvr>
                                    </p:animEffect>
                                  </p:childTnLst>
                                </p:cTn>
                              </p:par>
                              <p:par>
                                <p:cTn id="36" presetID="19" presetClass="entr" presetSubtype="10" fill="hold" grpId="0" nodeType="withEffect">
                                  <p:stCondLst>
                                    <p:cond delay="0"/>
                                  </p:stCondLst>
                                  <p:childTnLst>
                                    <p:set>
                                      <p:cBhvr>
                                        <p:cTn id="37" dur="1" fill="hold">
                                          <p:stCondLst>
                                            <p:cond delay="0"/>
                                          </p:stCondLst>
                                        </p:cTn>
                                        <p:tgtEl>
                                          <p:spTgt spid="57"/>
                                        </p:tgtEl>
                                        <p:attrNameLst>
                                          <p:attrName>style.visibility</p:attrName>
                                        </p:attrNameLst>
                                      </p:cBhvr>
                                      <p:to>
                                        <p:strVal val="visible"/>
                                      </p:to>
                                    </p:set>
                                    <p:anim calcmode="lin" valueType="num">
                                      <p:cBhvr>
                                        <p:cTn id="38" dur="5000" fill="hold"/>
                                        <p:tgtEl>
                                          <p:spTgt spid="57"/>
                                        </p:tgtEl>
                                        <p:attrNameLst>
                                          <p:attrName>ppt_w</p:attrName>
                                        </p:attrNameLst>
                                      </p:cBhvr>
                                      <p:tavLst>
                                        <p:tav tm="0" fmla="#ppt_w*sin(2.5*pi*$)">
                                          <p:val>
                                            <p:fltVal val="0"/>
                                          </p:val>
                                        </p:tav>
                                        <p:tav tm="100000">
                                          <p:val>
                                            <p:fltVal val="1"/>
                                          </p:val>
                                        </p:tav>
                                      </p:tavLst>
                                    </p:anim>
                                    <p:anim calcmode="lin" valueType="num">
                                      <p:cBhvr>
                                        <p:cTn id="39" dur="5000" fill="hold"/>
                                        <p:tgtEl>
                                          <p:spTgt spid="57"/>
                                        </p:tgtEl>
                                        <p:attrNameLst>
                                          <p:attrName>ppt_h</p:attrName>
                                        </p:attrNameLst>
                                      </p:cBhvr>
                                      <p:tavLst>
                                        <p:tav tm="0">
                                          <p:val>
                                            <p:strVal val="#ppt_h"/>
                                          </p:val>
                                        </p:tav>
                                        <p:tav tm="100000">
                                          <p:val>
                                            <p:strVal val="#ppt_h"/>
                                          </p:val>
                                        </p:tav>
                                      </p:tavLst>
                                    </p:anim>
                                  </p:childTnLst>
                                </p:cTn>
                              </p:par>
                            </p:childTnLst>
                          </p:cTn>
                        </p:par>
                        <p:par>
                          <p:cTn id="40" fill="hold">
                            <p:stCondLst>
                              <p:cond delay="10000"/>
                            </p:stCondLst>
                            <p:childTnLst>
                              <p:par>
                                <p:cTn id="41" presetID="22" presetClass="entr" presetSubtype="4" fill="hold" nodeType="afterEffect">
                                  <p:stCondLst>
                                    <p:cond delay="0"/>
                                  </p:stCondLst>
                                  <p:childTnLst>
                                    <p:set>
                                      <p:cBhvr>
                                        <p:cTn id="42" dur="1" fill="hold">
                                          <p:stCondLst>
                                            <p:cond delay="0"/>
                                          </p:stCondLst>
                                        </p:cTn>
                                        <p:tgtEl>
                                          <p:spTgt spid="52"/>
                                        </p:tgtEl>
                                        <p:attrNameLst>
                                          <p:attrName>style.visibility</p:attrName>
                                        </p:attrNameLst>
                                      </p:cBhvr>
                                      <p:to>
                                        <p:strVal val="visible"/>
                                      </p:to>
                                    </p:set>
                                    <p:animEffect transition="in" filter="wipe(down)">
                                      <p:cBhvr>
                                        <p:cTn id="43" dur="5000"/>
                                        <p:tgtEl>
                                          <p:spTgt spid="52"/>
                                        </p:tgtEl>
                                      </p:cBhvr>
                                    </p:animEffect>
                                  </p:childTnLst>
                                </p:cTn>
                              </p:par>
                              <p:par>
                                <p:cTn id="44" presetID="19" presetClass="entr" presetSubtype="10" fill="hold" grpId="0" nodeType="withEffect">
                                  <p:stCondLst>
                                    <p:cond delay="0"/>
                                  </p:stCondLst>
                                  <p:childTnLst>
                                    <p:set>
                                      <p:cBhvr>
                                        <p:cTn id="45" dur="1" fill="hold">
                                          <p:stCondLst>
                                            <p:cond delay="0"/>
                                          </p:stCondLst>
                                        </p:cTn>
                                        <p:tgtEl>
                                          <p:spTgt spid="58"/>
                                        </p:tgtEl>
                                        <p:attrNameLst>
                                          <p:attrName>style.visibility</p:attrName>
                                        </p:attrNameLst>
                                      </p:cBhvr>
                                      <p:to>
                                        <p:strVal val="visible"/>
                                      </p:to>
                                    </p:set>
                                    <p:anim calcmode="lin" valueType="num">
                                      <p:cBhvr>
                                        <p:cTn id="46" dur="5000" fill="hold"/>
                                        <p:tgtEl>
                                          <p:spTgt spid="58"/>
                                        </p:tgtEl>
                                        <p:attrNameLst>
                                          <p:attrName>ppt_w</p:attrName>
                                        </p:attrNameLst>
                                      </p:cBhvr>
                                      <p:tavLst>
                                        <p:tav tm="0" fmla="#ppt_w*sin(2.5*pi*$)">
                                          <p:val>
                                            <p:fltVal val="0"/>
                                          </p:val>
                                        </p:tav>
                                        <p:tav tm="100000">
                                          <p:val>
                                            <p:fltVal val="1"/>
                                          </p:val>
                                        </p:tav>
                                      </p:tavLst>
                                    </p:anim>
                                    <p:anim calcmode="lin" valueType="num">
                                      <p:cBhvr>
                                        <p:cTn id="47" dur="5000" fill="hold"/>
                                        <p:tgtEl>
                                          <p:spTgt spid="58"/>
                                        </p:tgtEl>
                                        <p:attrNameLst>
                                          <p:attrName>ppt_h</p:attrName>
                                        </p:attrNameLst>
                                      </p:cBhvr>
                                      <p:tavLst>
                                        <p:tav tm="0">
                                          <p:val>
                                            <p:strVal val="#ppt_h"/>
                                          </p:val>
                                        </p:tav>
                                        <p:tav tm="100000">
                                          <p:val>
                                            <p:strVal val="#ppt_h"/>
                                          </p:val>
                                        </p:tav>
                                      </p:tavLst>
                                    </p:anim>
                                  </p:childTnLst>
                                </p:cTn>
                              </p:par>
                            </p:childTnLst>
                          </p:cTn>
                        </p:par>
                        <p:par>
                          <p:cTn id="48" fill="hold">
                            <p:stCondLst>
                              <p:cond delay="15000"/>
                            </p:stCondLst>
                            <p:childTnLst>
                              <p:par>
                                <p:cTn id="49" presetID="18" presetClass="entr" presetSubtype="3" fill="hold" nodeType="afterEffect">
                                  <p:stCondLst>
                                    <p:cond delay="0"/>
                                  </p:stCondLst>
                                  <p:childTnLst>
                                    <p:set>
                                      <p:cBhvr>
                                        <p:cTn id="50" dur="1" fill="hold">
                                          <p:stCondLst>
                                            <p:cond delay="0"/>
                                          </p:stCondLst>
                                        </p:cTn>
                                        <p:tgtEl>
                                          <p:spTgt spid="51"/>
                                        </p:tgtEl>
                                        <p:attrNameLst>
                                          <p:attrName>style.visibility</p:attrName>
                                        </p:attrNameLst>
                                      </p:cBhvr>
                                      <p:to>
                                        <p:strVal val="visible"/>
                                      </p:to>
                                    </p:set>
                                    <p:animEffect transition="in" filter="strips(upRight)">
                                      <p:cBhvr>
                                        <p:cTn id="51" dur="5000"/>
                                        <p:tgtEl>
                                          <p:spTgt spid="51"/>
                                        </p:tgtEl>
                                      </p:cBhvr>
                                    </p:animEffect>
                                  </p:childTnLst>
                                </p:cTn>
                              </p:par>
                              <p:par>
                                <p:cTn id="52" presetID="19" presetClass="entr" presetSubtype="10" fill="hold" grpId="0" nodeType="withEffect">
                                  <p:stCondLst>
                                    <p:cond delay="0"/>
                                  </p:stCondLst>
                                  <p:childTnLst>
                                    <p:set>
                                      <p:cBhvr>
                                        <p:cTn id="53" dur="1" fill="hold">
                                          <p:stCondLst>
                                            <p:cond delay="0"/>
                                          </p:stCondLst>
                                        </p:cTn>
                                        <p:tgtEl>
                                          <p:spTgt spid="59"/>
                                        </p:tgtEl>
                                        <p:attrNameLst>
                                          <p:attrName>style.visibility</p:attrName>
                                        </p:attrNameLst>
                                      </p:cBhvr>
                                      <p:to>
                                        <p:strVal val="visible"/>
                                      </p:to>
                                    </p:set>
                                    <p:anim calcmode="lin" valueType="num">
                                      <p:cBhvr>
                                        <p:cTn id="54" dur="5000" fill="hold"/>
                                        <p:tgtEl>
                                          <p:spTgt spid="59"/>
                                        </p:tgtEl>
                                        <p:attrNameLst>
                                          <p:attrName>ppt_w</p:attrName>
                                        </p:attrNameLst>
                                      </p:cBhvr>
                                      <p:tavLst>
                                        <p:tav tm="0" fmla="#ppt_w*sin(2.5*pi*$)">
                                          <p:val>
                                            <p:fltVal val="0"/>
                                          </p:val>
                                        </p:tav>
                                        <p:tav tm="100000">
                                          <p:val>
                                            <p:fltVal val="1"/>
                                          </p:val>
                                        </p:tav>
                                      </p:tavLst>
                                    </p:anim>
                                    <p:anim calcmode="lin" valueType="num">
                                      <p:cBhvr>
                                        <p:cTn id="55" dur="5000" fill="hold"/>
                                        <p:tgtEl>
                                          <p:spTgt spid="59"/>
                                        </p:tgtEl>
                                        <p:attrNameLst>
                                          <p:attrName>ppt_h</p:attrName>
                                        </p:attrNameLst>
                                      </p:cBhvr>
                                      <p:tavLst>
                                        <p:tav tm="0">
                                          <p:val>
                                            <p:strVal val="#ppt_h"/>
                                          </p:val>
                                        </p:tav>
                                        <p:tav tm="100000">
                                          <p:val>
                                            <p:strVal val="#ppt_h"/>
                                          </p:val>
                                        </p:tav>
                                      </p:tavLst>
                                    </p:anim>
                                  </p:childTnLst>
                                </p:cTn>
                              </p:par>
                            </p:childTnLst>
                          </p:cTn>
                        </p:par>
                        <p:par>
                          <p:cTn id="56" fill="hold">
                            <p:stCondLst>
                              <p:cond delay="20000"/>
                            </p:stCondLst>
                            <p:childTnLst>
                              <p:par>
                                <p:cTn id="57" presetID="22" presetClass="entr" presetSubtype="8" fill="hold" nodeType="afterEffect">
                                  <p:stCondLst>
                                    <p:cond delay="0"/>
                                  </p:stCondLst>
                                  <p:childTnLst>
                                    <p:set>
                                      <p:cBhvr>
                                        <p:cTn id="58" dur="1" fill="hold">
                                          <p:stCondLst>
                                            <p:cond delay="0"/>
                                          </p:stCondLst>
                                        </p:cTn>
                                        <p:tgtEl>
                                          <p:spTgt spid="50"/>
                                        </p:tgtEl>
                                        <p:attrNameLst>
                                          <p:attrName>style.visibility</p:attrName>
                                        </p:attrNameLst>
                                      </p:cBhvr>
                                      <p:to>
                                        <p:strVal val="visible"/>
                                      </p:to>
                                    </p:set>
                                    <p:animEffect transition="in" filter="wipe(left)">
                                      <p:cBhvr>
                                        <p:cTn id="59" dur="5000"/>
                                        <p:tgtEl>
                                          <p:spTgt spid="50"/>
                                        </p:tgtEl>
                                      </p:cBhvr>
                                    </p:animEffect>
                                  </p:childTnLst>
                                </p:cTn>
                              </p:par>
                              <p:par>
                                <p:cTn id="60" presetID="19" presetClass="entr" presetSubtype="10" fill="hold" grpId="0" nodeType="withEffect">
                                  <p:stCondLst>
                                    <p:cond delay="0"/>
                                  </p:stCondLst>
                                  <p:childTnLst>
                                    <p:set>
                                      <p:cBhvr>
                                        <p:cTn id="61" dur="1" fill="hold">
                                          <p:stCondLst>
                                            <p:cond delay="0"/>
                                          </p:stCondLst>
                                        </p:cTn>
                                        <p:tgtEl>
                                          <p:spTgt spid="60"/>
                                        </p:tgtEl>
                                        <p:attrNameLst>
                                          <p:attrName>style.visibility</p:attrName>
                                        </p:attrNameLst>
                                      </p:cBhvr>
                                      <p:to>
                                        <p:strVal val="visible"/>
                                      </p:to>
                                    </p:set>
                                    <p:anim calcmode="lin" valueType="num">
                                      <p:cBhvr>
                                        <p:cTn id="62" dur="5000" fill="hold"/>
                                        <p:tgtEl>
                                          <p:spTgt spid="60"/>
                                        </p:tgtEl>
                                        <p:attrNameLst>
                                          <p:attrName>ppt_w</p:attrName>
                                        </p:attrNameLst>
                                      </p:cBhvr>
                                      <p:tavLst>
                                        <p:tav tm="0" fmla="#ppt_w*sin(2.5*pi*$)">
                                          <p:val>
                                            <p:fltVal val="0"/>
                                          </p:val>
                                        </p:tav>
                                        <p:tav tm="100000">
                                          <p:val>
                                            <p:fltVal val="1"/>
                                          </p:val>
                                        </p:tav>
                                      </p:tavLst>
                                    </p:anim>
                                    <p:anim calcmode="lin" valueType="num">
                                      <p:cBhvr>
                                        <p:cTn id="63" dur="5000" fill="hold"/>
                                        <p:tgtEl>
                                          <p:spTgt spid="60"/>
                                        </p:tgtEl>
                                        <p:attrNameLst>
                                          <p:attrName>ppt_h</p:attrName>
                                        </p:attrNameLst>
                                      </p:cBhvr>
                                      <p:tavLst>
                                        <p:tav tm="0">
                                          <p:val>
                                            <p:strVal val="#ppt_h"/>
                                          </p:val>
                                        </p:tav>
                                        <p:tav tm="100000">
                                          <p:val>
                                            <p:strVal val="#ppt_h"/>
                                          </p:val>
                                        </p:tav>
                                      </p:tavLst>
                                    </p:anim>
                                  </p:childTnLst>
                                </p:cTn>
                              </p:par>
                              <p:par>
                                <p:cTn id="64" presetID="19" presetClass="entr" presetSubtype="10" fill="hold" grpId="0" nodeType="withEffect">
                                  <p:stCondLst>
                                    <p:cond delay="0"/>
                                  </p:stCondLst>
                                  <p:childTnLst>
                                    <p:set>
                                      <p:cBhvr>
                                        <p:cTn id="65" dur="1" fill="hold">
                                          <p:stCondLst>
                                            <p:cond delay="0"/>
                                          </p:stCondLst>
                                        </p:cTn>
                                        <p:tgtEl>
                                          <p:spTgt spid="61"/>
                                        </p:tgtEl>
                                        <p:attrNameLst>
                                          <p:attrName>style.visibility</p:attrName>
                                        </p:attrNameLst>
                                      </p:cBhvr>
                                      <p:to>
                                        <p:strVal val="visible"/>
                                      </p:to>
                                    </p:set>
                                    <p:anim calcmode="lin" valueType="num">
                                      <p:cBhvr>
                                        <p:cTn id="66" dur="5000" fill="hold"/>
                                        <p:tgtEl>
                                          <p:spTgt spid="61"/>
                                        </p:tgtEl>
                                        <p:attrNameLst>
                                          <p:attrName>ppt_w</p:attrName>
                                        </p:attrNameLst>
                                      </p:cBhvr>
                                      <p:tavLst>
                                        <p:tav tm="0" fmla="#ppt_w*sin(2.5*pi*$)">
                                          <p:val>
                                            <p:fltVal val="0"/>
                                          </p:val>
                                        </p:tav>
                                        <p:tav tm="100000">
                                          <p:val>
                                            <p:fltVal val="1"/>
                                          </p:val>
                                        </p:tav>
                                      </p:tavLst>
                                    </p:anim>
                                    <p:anim calcmode="lin" valueType="num">
                                      <p:cBhvr>
                                        <p:cTn id="67" dur="5000" fill="hold"/>
                                        <p:tgtEl>
                                          <p:spTgt spid="61"/>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53" grpId="0" autoUpdateAnimBg="0"/>
      <p:bldP spid="49" grpId="0" autoUpdateAnimBg="0"/>
      <p:bldP spid="56" grpId="0"/>
      <p:bldP spid="57" grpId="0"/>
      <p:bldP spid="58" grpId="0"/>
      <p:bldP spid="59" grpId="0"/>
      <p:bldP spid="60" grpId="0"/>
      <p:bldP spid="61" grpId="0"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711605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第八章   拉压、剪切与挤压的强度计算</a:t>
            </a:r>
          </a:p>
        </p:txBody>
      </p:sp>
      <p:sp>
        <p:nvSpPr>
          <p:cNvPr id="9" name="Rectangle 61"/>
          <p:cNvSpPr>
            <a:spLocks noChangeArrowheads="1"/>
          </p:cNvSpPr>
          <p:nvPr/>
        </p:nvSpPr>
        <p:spPr bwMode="auto">
          <a:xfrm>
            <a:off x="3431704" y="2521317"/>
            <a:ext cx="4997809" cy="3312369"/>
          </a:xfrm>
          <a:prstGeom prst="rect">
            <a:avLst/>
          </a:prstGeom>
          <a:solidFill>
            <a:srgbClr val="B9CDE5"/>
          </a:solidFill>
          <a:ln>
            <a:noFill/>
          </a:ln>
          <a:effectLst/>
        </p:spPr>
        <p:txBody>
          <a:bodyPr wrap="none" anchor="ctr"/>
          <a:lstStyle/>
          <a:p>
            <a:endParaRPr lang="zh-CN" altLang="en-US"/>
          </a:p>
        </p:txBody>
      </p:sp>
      <p:sp>
        <p:nvSpPr>
          <p:cNvPr id="53" name="Text Box 1032"/>
          <p:cNvSpPr txBox="1">
            <a:spLocks noChangeArrowheads="1"/>
          </p:cNvSpPr>
          <p:nvPr/>
        </p:nvSpPr>
        <p:spPr bwMode="auto">
          <a:xfrm>
            <a:off x="276093" y="1058360"/>
            <a:ext cx="11436531" cy="1081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lnSpc>
                <a:spcPct val="120000"/>
              </a:lnSpc>
            </a:pPr>
            <a:r>
              <a:rPr lang="zh-CN" altLang="en-US" sz="2800" i="0" dirty="0">
                <a:latin typeface="+mn-lt"/>
                <a:ea typeface="微软雅黑" panose="020B0503020204020204" pitchFamily="34" charset="-122"/>
              </a:rPr>
              <a:t>对于没有明显屈服点的塑性材料，工程上规定，取对应于试件产生</a:t>
            </a:r>
            <a:r>
              <a:rPr lang="en-US" altLang="zh-CN" sz="2800" b="0" i="0" dirty="0">
                <a:latin typeface="+mn-lt"/>
                <a:ea typeface="微软雅黑" panose="020B0503020204020204" pitchFamily="34" charset="-122"/>
              </a:rPr>
              <a:t>0.2%</a:t>
            </a:r>
            <a:r>
              <a:rPr lang="zh-CN" altLang="en-US" sz="2800" i="0" dirty="0">
                <a:latin typeface="+mn-lt"/>
                <a:ea typeface="微软雅黑" panose="020B0503020204020204" pitchFamily="34" charset="-122"/>
              </a:rPr>
              <a:t>的塑性应变时所对应的应力值为材料的</a:t>
            </a:r>
            <a:r>
              <a:rPr lang="zh-CN" altLang="en-US" sz="2800" i="0" dirty="0">
                <a:solidFill>
                  <a:srgbClr val="FF00FF"/>
                </a:solidFill>
                <a:latin typeface="+mn-lt"/>
                <a:ea typeface="微软雅黑" panose="020B0503020204020204" pitchFamily="34" charset="-122"/>
              </a:rPr>
              <a:t>名义屈服强度</a:t>
            </a:r>
            <a:r>
              <a:rPr lang="zh-CN" altLang="en-US" sz="2800" i="0" dirty="0">
                <a:latin typeface="+mn-lt"/>
                <a:ea typeface="微软雅黑" panose="020B0503020204020204" pitchFamily="34" charset="-122"/>
              </a:rPr>
              <a:t>，以</a:t>
            </a:r>
            <a:r>
              <a:rPr lang="zh-CN" altLang="en-US" sz="2800" b="0" dirty="0">
                <a:latin typeface="+mn-lt"/>
                <a:ea typeface="微软雅黑" panose="020B0503020204020204" pitchFamily="34" charset="-122"/>
                <a:sym typeface="Symbol" panose="05050102010706020507" pitchFamily="18" charset="2"/>
              </a:rPr>
              <a:t></a:t>
            </a:r>
            <a:r>
              <a:rPr lang="en-US" altLang="zh-CN" sz="2800" b="0" i="0" baseline="-25000" dirty="0">
                <a:latin typeface="+mn-lt"/>
                <a:ea typeface="微软雅黑" panose="020B0503020204020204" pitchFamily="34" charset="-122"/>
              </a:rPr>
              <a:t>0.2</a:t>
            </a:r>
            <a:r>
              <a:rPr lang="zh-CN" altLang="en-US" sz="2800" i="0" dirty="0">
                <a:latin typeface="+mn-lt"/>
                <a:ea typeface="微软雅黑" panose="020B0503020204020204" pitchFamily="34" charset="-122"/>
              </a:rPr>
              <a:t>表示。</a:t>
            </a:r>
            <a:r>
              <a:rPr kumimoji="1" lang="zh-CN" altLang="en-US" sz="2800" i="0" dirty="0">
                <a:latin typeface="+mn-lt"/>
                <a:ea typeface="微软雅黑" panose="020B0503020204020204" pitchFamily="34" charset="-122"/>
              </a:rPr>
              <a:t> </a:t>
            </a:r>
          </a:p>
        </p:txBody>
      </p:sp>
      <p:grpSp>
        <p:nvGrpSpPr>
          <p:cNvPr id="3" name="Group 6">
            <a:extLst>
              <a:ext uri="{FF2B5EF4-FFF2-40B4-BE49-F238E27FC236}">
                <a16:creationId xmlns:a16="http://schemas.microsoft.com/office/drawing/2014/main" id="{C4C67E52-3641-68F8-5934-EB6599097887}"/>
              </a:ext>
            </a:extLst>
          </p:cNvPr>
          <p:cNvGrpSpPr>
            <a:grpSpLocks/>
          </p:cNvGrpSpPr>
          <p:nvPr/>
        </p:nvGrpSpPr>
        <p:grpSpPr bwMode="auto">
          <a:xfrm>
            <a:off x="5066326" y="2737550"/>
            <a:ext cx="2184460" cy="2924175"/>
            <a:chOff x="4203" y="1954"/>
            <a:chExt cx="1306" cy="1814"/>
          </a:xfrm>
        </p:grpSpPr>
        <p:sp>
          <p:nvSpPr>
            <p:cNvPr id="4" name="Line 7">
              <a:extLst>
                <a:ext uri="{FF2B5EF4-FFF2-40B4-BE49-F238E27FC236}">
                  <a16:creationId xmlns:a16="http://schemas.microsoft.com/office/drawing/2014/main" id="{17E7EDCB-C7B8-3CE0-F1CF-EC499A4F5B0B}"/>
                </a:ext>
              </a:extLst>
            </p:cNvPr>
            <p:cNvSpPr>
              <a:spLocks noChangeShapeType="1"/>
            </p:cNvSpPr>
            <p:nvPr/>
          </p:nvSpPr>
          <p:spPr bwMode="auto">
            <a:xfrm>
              <a:off x="4468" y="3542"/>
              <a:ext cx="81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5" name="Group 8">
              <a:extLst>
                <a:ext uri="{FF2B5EF4-FFF2-40B4-BE49-F238E27FC236}">
                  <a16:creationId xmlns:a16="http://schemas.microsoft.com/office/drawing/2014/main" id="{B7DDD57F-0715-5339-8A8F-86662F7D84B8}"/>
                </a:ext>
              </a:extLst>
            </p:cNvPr>
            <p:cNvGrpSpPr>
              <a:grpSpLocks/>
            </p:cNvGrpSpPr>
            <p:nvPr/>
          </p:nvGrpSpPr>
          <p:grpSpPr bwMode="auto">
            <a:xfrm>
              <a:off x="4203" y="1954"/>
              <a:ext cx="1306" cy="1814"/>
              <a:chOff x="4203" y="1797"/>
              <a:chExt cx="1306" cy="1814"/>
            </a:xfrm>
          </p:grpSpPr>
          <p:graphicFrame>
            <p:nvGraphicFramePr>
              <p:cNvPr id="6" name="Object 9">
                <a:extLst>
                  <a:ext uri="{FF2B5EF4-FFF2-40B4-BE49-F238E27FC236}">
                    <a16:creationId xmlns:a16="http://schemas.microsoft.com/office/drawing/2014/main" id="{3F5F5065-BFD2-3D54-673A-9AFCBABD692F}"/>
                  </a:ext>
                </a:extLst>
              </p:cNvPr>
              <p:cNvGraphicFramePr>
                <a:graphicFrameLocks noChangeAspect="1"/>
              </p:cNvGraphicFramePr>
              <p:nvPr/>
            </p:nvGraphicFramePr>
            <p:xfrm>
              <a:off x="4332" y="3340"/>
              <a:ext cx="204" cy="226"/>
            </p:xfrm>
            <a:graphic>
              <a:graphicData uri="http://schemas.openxmlformats.org/presentationml/2006/ole">
                <mc:AlternateContent xmlns:mc="http://schemas.openxmlformats.org/markup-compatibility/2006">
                  <mc:Choice xmlns:v="urn:schemas-microsoft-com:vml" Requires="v">
                    <p:oleObj name="公式" r:id="rId3" imgW="114185" imgH="133347" progId="Equation.3">
                      <p:embed/>
                    </p:oleObj>
                  </mc:Choice>
                  <mc:Fallback>
                    <p:oleObj name="公式" r:id="rId3" imgW="114185" imgH="133347" progId="Equation.3">
                      <p:embed/>
                      <p:pic>
                        <p:nvPicPr>
                          <p:cNvPr id="6" name="Object 9">
                            <a:extLst>
                              <a:ext uri="{FF2B5EF4-FFF2-40B4-BE49-F238E27FC236}">
                                <a16:creationId xmlns:a16="http://schemas.microsoft.com/office/drawing/2014/main" id="{3F5F5065-BFD2-3D54-673A-9AFCBABD692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32" y="3340"/>
                            <a:ext cx="204"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Line 10">
                <a:extLst>
                  <a:ext uri="{FF2B5EF4-FFF2-40B4-BE49-F238E27FC236}">
                    <a16:creationId xmlns:a16="http://schemas.microsoft.com/office/drawing/2014/main" id="{4D869CD8-1419-E9DA-FF37-7D9971533130}"/>
                  </a:ext>
                </a:extLst>
              </p:cNvPr>
              <p:cNvSpPr>
                <a:spLocks noChangeShapeType="1"/>
              </p:cNvSpPr>
              <p:nvPr/>
            </p:nvSpPr>
            <p:spPr bwMode="auto">
              <a:xfrm flipV="1">
                <a:off x="4468" y="1797"/>
                <a:ext cx="0" cy="15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0" name="Group 11">
                <a:extLst>
                  <a:ext uri="{FF2B5EF4-FFF2-40B4-BE49-F238E27FC236}">
                    <a16:creationId xmlns:a16="http://schemas.microsoft.com/office/drawing/2014/main" id="{A9861579-E698-146C-EBC1-333B7B158CD8}"/>
                  </a:ext>
                </a:extLst>
              </p:cNvPr>
              <p:cNvGrpSpPr>
                <a:grpSpLocks/>
              </p:cNvGrpSpPr>
              <p:nvPr/>
            </p:nvGrpSpPr>
            <p:grpSpPr bwMode="auto">
              <a:xfrm>
                <a:off x="4468" y="2069"/>
                <a:ext cx="771" cy="1316"/>
                <a:chOff x="4468" y="2069"/>
                <a:chExt cx="771" cy="1316"/>
              </a:xfrm>
            </p:grpSpPr>
            <p:sp>
              <p:nvSpPr>
                <p:cNvPr id="13" name="Line 12">
                  <a:extLst>
                    <a:ext uri="{FF2B5EF4-FFF2-40B4-BE49-F238E27FC236}">
                      <a16:creationId xmlns:a16="http://schemas.microsoft.com/office/drawing/2014/main" id="{776F15C6-11C4-7EDB-0447-7AC618FF203F}"/>
                    </a:ext>
                  </a:extLst>
                </p:cNvPr>
                <p:cNvSpPr>
                  <a:spLocks noChangeShapeType="1"/>
                </p:cNvSpPr>
                <p:nvPr/>
              </p:nvSpPr>
              <p:spPr bwMode="auto">
                <a:xfrm flipV="1">
                  <a:off x="4468" y="2568"/>
                  <a:ext cx="181" cy="817"/>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 name="Freeform 13">
                  <a:extLst>
                    <a:ext uri="{FF2B5EF4-FFF2-40B4-BE49-F238E27FC236}">
                      <a16:creationId xmlns:a16="http://schemas.microsoft.com/office/drawing/2014/main" id="{97E92CDF-A7D0-4CAA-0ED8-75E17DBFA302}"/>
                    </a:ext>
                  </a:extLst>
                </p:cNvPr>
                <p:cNvSpPr>
                  <a:spLocks/>
                </p:cNvSpPr>
                <p:nvPr/>
              </p:nvSpPr>
              <p:spPr bwMode="auto">
                <a:xfrm>
                  <a:off x="4649" y="2069"/>
                  <a:ext cx="590" cy="499"/>
                </a:xfrm>
                <a:custGeom>
                  <a:avLst/>
                  <a:gdLst>
                    <a:gd name="T0" fmla="*/ 0 w 590"/>
                    <a:gd name="T1" fmla="*/ 499 h 499"/>
                    <a:gd name="T2" fmla="*/ 45 w 590"/>
                    <a:gd name="T3" fmla="*/ 318 h 499"/>
                    <a:gd name="T4" fmla="*/ 136 w 590"/>
                    <a:gd name="T5" fmla="*/ 182 h 499"/>
                    <a:gd name="T6" fmla="*/ 318 w 590"/>
                    <a:gd name="T7" fmla="*/ 46 h 499"/>
                    <a:gd name="T8" fmla="*/ 590 w 590"/>
                    <a:gd name="T9" fmla="*/ 0 h 499"/>
                    <a:gd name="T10" fmla="*/ 0 60000 65536"/>
                    <a:gd name="T11" fmla="*/ 0 60000 65536"/>
                    <a:gd name="T12" fmla="*/ 0 60000 65536"/>
                    <a:gd name="T13" fmla="*/ 0 60000 65536"/>
                    <a:gd name="T14" fmla="*/ 0 60000 65536"/>
                    <a:gd name="T15" fmla="*/ 0 w 590"/>
                    <a:gd name="T16" fmla="*/ 0 h 499"/>
                    <a:gd name="T17" fmla="*/ 590 w 590"/>
                    <a:gd name="T18" fmla="*/ 499 h 499"/>
                  </a:gdLst>
                  <a:ahLst/>
                  <a:cxnLst>
                    <a:cxn ang="T10">
                      <a:pos x="T0" y="T1"/>
                    </a:cxn>
                    <a:cxn ang="T11">
                      <a:pos x="T2" y="T3"/>
                    </a:cxn>
                    <a:cxn ang="T12">
                      <a:pos x="T4" y="T5"/>
                    </a:cxn>
                    <a:cxn ang="T13">
                      <a:pos x="T6" y="T7"/>
                    </a:cxn>
                    <a:cxn ang="T14">
                      <a:pos x="T8" y="T9"/>
                    </a:cxn>
                  </a:cxnLst>
                  <a:rect l="T15" t="T16" r="T17" b="T18"/>
                  <a:pathLst>
                    <a:path w="590" h="499">
                      <a:moveTo>
                        <a:pt x="0" y="499"/>
                      </a:moveTo>
                      <a:cubicBezTo>
                        <a:pt x="11" y="435"/>
                        <a:pt x="22" y="371"/>
                        <a:pt x="45" y="318"/>
                      </a:cubicBezTo>
                      <a:cubicBezTo>
                        <a:pt x="68" y="265"/>
                        <a:pt x="91" y="227"/>
                        <a:pt x="136" y="182"/>
                      </a:cubicBezTo>
                      <a:cubicBezTo>
                        <a:pt x="181" y="137"/>
                        <a:pt x="242" y="76"/>
                        <a:pt x="318" y="46"/>
                      </a:cubicBezTo>
                      <a:cubicBezTo>
                        <a:pt x="394" y="16"/>
                        <a:pt x="492" y="8"/>
                        <a:pt x="590" y="0"/>
                      </a:cubicBezTo>
                    </a:path>
                  </a:pathLst>
                </a:custGeom>
                <a:noFill/>
                <a:ln w="3810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aphicFrame>
            <p:nvGraphicFramePr>
              <p:cNvPr id="11" name="Object 14">
                <a:extLst>
                  <a:ext uri="{FF2B5EF4-FFF2-40B4-BE49-F238E27FC236}">
                    <a16:creationId xmlns:a16="http://schemas.microsoft.com/office/drawing/2014/main" id="{3727E6DF-8B06-7682-D0B4-ABAE85DD0786}"/>
                  </a:ext>
                </a:extLst>
              </p:cNvPr>
              <p:cNvGraphicFramePr>
                <a:graphicFrameLocks noChangeAspect="1"/>
              </p:cNvGraphicFramePr>
              <p:nvPr>
                <p:extLst>
                  <p:ext uri="{D42A27DB-BD31-4B8C-83A1-F6EECF244321}">
                    <p14:modId xmlns:p14="http://schemas.microsoft.com/office/powerpoint/2010/main" val="1911554213"/>
                  </p:ext>
                </p:extLst>
              </p:nvPr>
            </p:nvGraphicFramePr>
            <p:xfrm>
              <a:off x="4203" y="1799"/>
              <a:ext cx="245" cy="226"/>
            </p:xfrm>
            <a:graphic>
              <a:graphicData uri="http://schemas.openxmlformats.org/presentationml/2006/ole">
                <mc:AlternateContent xmlns:mc="http://schemas.openxmlformats.org/markup-compatibility/2006">
                  <mc:Choice xmlns:v="urn:schemas-microsoft-com:vml" Requires="v">
                    <p:oleObj name="公式" r:id="rId5" imgW="142799" imgH="133347" progId="Equation.3">
                      <p:embed/>
                    </p:oleObj>
                  </mc:Choice>
                  <mc:Fallback>
                    <p:oleObj name="公式" r:id="rId5" imgW="142799" imgH="133347" progId="Equation.3">
                      <p:embed/>
                      <p:pic>
                        <p:nvPicPr>
                          <p:cNvPr id="11" name="Object 14">
                            <a:extLst>
                              <a:ext uri="{FF2B5EF4-FFF2-40B4-BE49-F238E27FC236}">
                                <a16:creationId xmlns:a16="http://schemas.microsoft.com/office/drawing/2014/main" id="{3727E6DF-8B06-7682-D0B4-ABAE85DD078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03" y="1799"/>
                            <a:ext cx="245"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 name="Object 15">
                <a:extLst>
                  <a:ext uri="{FF2B5EF4-FFF2-40B4-BE49-F238E27FC236}">
                    <a16:creationId xmlns:a16="http://schemas.microsoft.com/office/drawing/2014/main" id="{594D0FFA-1C44-7889-6B49-E854CE37D3DC}"/>
                  </a:ext>
                </a:extLst>
              </p:cNvPr>
              <p:cNvGraphicFramePr>
                <a:graphicFrameLocks noChangeAspect="1"/>
              </p:cNvGraphicFramePr>
              <p:nvPr/>
            </p:nvGraphicFramePr>
            <p:xfrm>
              <a:off x="5304" y="3385"/>
              <a:ext cx="205" cy="226"/>
            </p:xfrm>
            <a:graphic>
              <a:graphicData uri="http://schemas.openxmlformats.org/presentationml/2006/ole">
                <mc:AlternateContent xmlns:mc="http://schemas.openxmlformats.org/markup-compatibility/2006">
                  <mc:Choice xmlns:v="urn:schemas-microsoft-com:vml" Requires="v">
                    <p:oleObj name="公式" r:id="rId7" imgW="114185" imgH="133347" progId="Equation.3">
                      <p:embed/>
                    </p:oleObj>
                  </mc:Choice>
                  <mc:Fallback>
                    <p:oleObj name="公式" r:id="rId7" imgW="114185" imgH="133347" progId="Equation.3">
                      <p:embed/>
                      <p:pic>
                        <p:nvPicPr>
                          <p:cNvPr id="12" name="Object 15">
                            <a:extLst>
                              <a:ext uri="{FF2B5EF4-FFF2-40B4-BE49-F238E27FC236}">
                                <a16:creationId xmlns:a16="http://schemas.microsoft.com/office/drawing/2014/main" id="{594D0FFA-1C44-7889-6B49-E854CE37D3D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04" y="3385"/>
                            <a:ext cx="205"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grpSp>
        <p:nvGrpSpPr>
          <p:cNvPr id="15" name="Group 17">
            <a:extLst>
              <a:ext uri="{FF2B5EF4-FFF2-40B4-BE49-F238E27FC236}">
                <a16:creationId xmlns:a16="http://schemas.microsoft.com/office/drawing/2014/main" id="{AA8D1201-55F7-22DA-0BF1-9C84FD9CCF7B}"/>
              </a:ext>
            </a:extLst>
          </p:cNvPr>
          <p:cNvGrpSpPr>
            <a:grpSpLocks/>
          </p:cNvGrpSpPr>
          <p:nvPr/>
        </p:nvGrpSpPr>
        <p:grpSpPr bwMode="auto">
          <a:xfrm>
            <a:off x="6247486" y="5256912"/>
            <a:ext cx="711200" cy="441325"/>
            <a:chOff x="4740" y="3363"/>
            <a:chExt cx="425" cy="273"/>
          </a:xfrm>
        </p:grpSpPr>
        <p:sp>
          <p:nvSpPr>
            <p:cNvPr id="16" name="Oval 18">
              <a:extLst>
                <a:ext uri="{FF2B5EF4-FFF2-40B4-BE49-F238E27FC236}">
                  <a16:creationId xmlns:a16="http://schemas.microsoft.com/office/drawing/2014/main" id="{36EC243F-4EDF-FD5C-0D26-C564EDADE24B}"/>
                </a:ext>
              </a:extLst>
            </p:cNvPr>
            <p:cNvSpPr>
              <a:spLocks noChangeArrowheads="1"/>
            </p:cNvSpPr>
            <p:nvPr/>
          </p:nvSpPr>
          <p:spPr bwMode="auto">
            <a:xfrm>
              <a:off x="4785" y="3363"/>
              <a:ext cx="46" cy="46"/>
            </a:xfrm>
            <a:prstGeom prst="ellipse">
              <a:avLst/>
            </a:prstGeom>
            <a:solidFill>
              <a:srgbClr val="800000"/>
            </a:solidFill>
            <a:ln w="9525" algn="ctr">
              <a:solidFill>
                <a:schemeClr val="tx1"/>
              </a:solidFill>
              <a:round/>
              <a:headEnd/>
              <a:tailEnd/>
            </a:ln>
          </p:spPr>
          <p:txBody>
            <a:bodyPr wrap="none" anchor="ctr"/>
            <a:lstStyle/>
            <a:p>
              <a:pPr eaLnBrk="1" hangingPunct="1">
                <a:buFontTx/>
                <a:buChar char="•"/>
              </a:pPr>
              <a:endParaRPr lang="zh-CN" altLang="en-US"/>
            </a:p>
          </p:txBody>
        </p:sp>
        <p:graphicFrame>
          <p:nvGraphicFramePr>
            <p:cNvPr id="17" name="Object 19">
              <a:extLst>
                <a:ext uri="{FF2B5EF4-FFF2-40B4-BE49-F238E27FC236}">
                  <a16:creationId xmlns:a16="http://schemas.microsoft.com/office/drawing/2014/main" id="{95274E6B-19AA-F426-2993-6FE00DBBF30D}"/>
                </a:ext>
              </a:extLst>
            </p:cNvPr>
            <p:cNvGraphicFramePr>
              <a:graphicFrameLocks noChangeAspect="1"/>
            </p:cNvGraphicFramePr>
            <p:nvPr/>
          </p:nvGraphicFramePr>
          <p:xfrm>
            <a:off x="4740" y="3430"/>
            <a:ext cx="425" cy="206"/>
          </p:xfrm>
          <a:graphic>
            <a:graphicData uri="http://schemas.openxmlformats.org/presentationml/2006/ole">
              <mc:AlternateContent xmlns:mc="http://schemas.openxmlformats.org/markup-compatibility/2006">
                <mc:Choice xmlns:v="urn:schemas-microsoft-com:vml" Requires="v">
                  <p:oleObj name="公式" r:id="rId9" imgW="361991" imgH="171408" progId="Equation.3">
                    <p:embed/>
                  </p:oleObj>
                </mc:Choice>
                <mc:Fallback>
                  <p:oleObj name="公式" r:id="rId9" imgW="361991" imgH="171408" progId="Equation.3">
                    <p:embed/>
                    <p:pic>
                      <p:nvPicPr>
                        <p:cNvPr id="17" name="Object 19">
                          <a:extLst>
                            <a:ext uri="{FF2B5EF4-FFF2-40B4-BE49-F238E27FC236}">
                              <a16:creationId xmlns:a16="http://schemas.microsoft.com/office/drawing/2014/main" id="{95274E6B-19AA-F426-2993-6FE00DBBF30D}"/>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740" y="3430"/>
                          <a:ext cx="425" cy="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18" name="Group 20">
            <a:extLst>
              <a:ext uri="{FF2B5EF4-FFF2-40B4-BE49-F238E27FC236}">
                <a16:creationId xmlns:a16="http://schemas.microsoft.com/office/drawing/2014/main" id="{E10859BC-099E-6FEB-3549-2D596F8A871E}"/>
              </a:ext>
            </a:extLst>
          </p:cNvPr>
          <p:cNvGrpSpPr>
            <a:grpSpLocks/>
          </p:cNvGrpSpPr>
          <p:nvPr/>
        </p:nvGrpSpPr>
        <p:grpSpPr bwMode="auto">
          <a:xfrm>
            <a:off x="6366548" y="3107437"/>
            <a:ext cx="493713" cy="2133600"/>
            <a:chOff x="4830" y="2061"/>
            <a:chExt cx="295" cy="1324"/>
          </a:xfrm>
        </p:grpSpPr>
        <p:sp>
          <p:nvSpPr>
            <p:cNvPr id="19" name="Oval 21">
              <a:extLst>
                <a:ext uri="{FF2B5EF4-FFF2-40B4-BE49-F238E27FC236}">
                  <a16:creationId xmlns:a16="http://schemas.microsoft.com/office/drawing/2014/main" id="{D8BFF565-0783-5C2C-FA0A-98E65478FFE6}"/>
                </a:ext>
              </a:extLst>
            </p:cNvPr>
            <p:cNvSpPr>
              <a:spLocks noChangeArrowheads="1"/>
            </p:cNvSpPr>
            <p:nvPr/>
          </p:nvSpPr>
          <p:spPr bwMode="auto">
            <a:xfrm>
              <a:off x="5079" y="2061"/>
              <a:ext cx="46" cy="46"/>
            </a:xfrm>
            <a:prstGeom prst="ellipse">
              <a:avLst/>
            </a:prstGeom>
            <a:solidFill>
              <a:srgbClr val="800000"/>
            </a:solidFill>
            <a:ln w="9525" algn="ctr">
              <a:solidFill>
                <a:schemeClr val="tx1"/>
              </a:solidFill>
              <a:round/>
              <a:headEnd/>
              <a:tailEnd/>
            </a:ln>
          </p:spPr>
          <p:txBody>
            <a:bodyPr wrap="none" anchor="ctr"/>
            <a:lstStyle/>
            <a:p>
              <a:pPr eaLnBrk="1" hangingPunct="1">
                <a:buFontTx/>
                <a:buChar char="•"/>
              </a:pPr>
              <a:endParaRPr lang="zh-CN" altLang="en-US"/>
            </a:p>
          </p:txBody>
        </p:sp>
        <p:sp>
          <p:nvSpPr>
            <p:cNvPr id="20" name="Line 22">
              <a:extLst>
                <a:ext uri="{FF2B5EF4-FFF2-40B4-BE49-F238E27FC236}">
                  <a16:creationId xmlns:a16="http://schemas.microsoft.com/office/drawing/2014/main" id="{3AC153F9-061E-AE38-DAB3-46BDD78CB583}"/>
                </a:ext>
              </a:extLst>
            </p:cNvPr>
            <p:cNvSpPr>
              <a:spLocks noChangeShapeType="1"/>
            </p:cNvSpPr>
            <p:nvPr/>
          </p:nvSpPr>
          <p:spPr bwMode="auto">
            <a:xfrm flipV="1">
              <a:off x="4830" y="2069"/>
              <a:ext cx="273" cy="131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21" name="Group 23">
            <a:extLst>
              <a:ext uri="{FF2B5EF4-FFF2-40B4-BE49-F238E27FC236}">
                <a16:creationId xmlns:a16="http://schemas.microsoft.com/office/drawing/2014/main" id="{C057AB63-1C2C-E71D-A459-3366A716210F}"/>
              </a:ext>
            </a:extLst>
          </p:cNvPr>
          <p:cNvGrpSpPr>
            <a:grpSpLocks/>
          </p:cNvGrpSpPr>
          <p:nvPr/>
        </p:nvGrpSpPr>
        <p:grpSpPr bwMode="auto">
          <a:xfrm>
            <a:off x="4825086" y="3131250"/>
            <a:ext cx="1820862" cy="2171700"/>
            <a:chOff x="4014" y="2069"/>
            <a:chExt cx="1089" cy="1316"/>
          </a:xfrm>
        </p:grpSpPr>
        <p:sp>
          <p:nvSpPr>
            <p:cNvPr id="22" name="Line 24">
              <a:extLst>
                <a:ext uri="{FF2B5EF4-FFF2-40B4-BE49-F238E27FC236}">
                  <a16:creationId xmlns:a16="http://schemas.microsoft.com/office/drawing/2014/main" id="{E9BB9C15-2FD5-C3F4-B823-D409208A62E5}"/>
                </a:ext>
              </a:extLst>
            </p:cNvPr>
            <p:cNvSpPr>
              <a:spLocks noChangeShapeType="1"/>
            </p:cNvSpPr>
            <p:nvPr/>
          </p:nvSpPr>
          <p:spPr bwMode="auto">
            <a:xfrm flipH="1">
              <a:off x="4014" y="2077"/>
              <a:ext cx="108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 name="Line 25">
              <a:extLst>
                <a:ext uri="{FF2B5EF4-FFF2-40B4-BE49-F238E27FC236}">
                  <a16:creationId xmlns:a16="http://schemas.microsoft.com/office/drawing/2014/main" id="{20CECB70-6191-BDF2-0E6E-182BC4BB8339}"/>
                </a:ext>
              </a:extLst>
            </p:cNvPr>
            <p:cNvSpPr>
              <a:spLocks noChangeShapeType="1"/>
            </p:cNvSpPr>
            <p:nvPr/>
          </p:nvSpPr>
          <p:spPr bwMode="auto">
            <a:xfrm flipH="1">
              <a:off x="4014" y="3385"/>
              <a:ext cx="45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 name="Line 26">
              <a:extLst>
                <a:ext uri="{FF2B5EF4-FFF2-40B4-BE49-F238E27FC236}">
                  <a16:creationId xmlns:a16="http://schemas.microsoft.com/office/drawing/2014/main" id="{5080FA72-0528-644E-4461-F2802C6C2EEA}"/>
                </a:ext>
              </a:extLst>
            </p:cNvPr>
            <p:cNvSpPr>
              <a:spLocks noChangeShapeType="1"/>
            </p:cNvSpPr>
            <p:nvPr/>
          </p:nvSpPr>
          <p:spPr bwMode="auto">
            <a:xfrm flipV="1">
              <a:off x="4059" y="2069"/>
              <a:ext cx="0" cy="131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25" name="Object 27">
              <a:extLst>
                <a:ext uri="{FF2B5EF4-FFF2-40B4-BE49-F238E27FC236}">
                  <a16:creationId xmlns:a16="http://schemas.microsoft.com/office/drawing/2014/main" id="{A749AA89-43F2-C616-7059-B92577D0795D}"/>
                </a:ext>
              </a:extLst>
            </p:cNvPr>
            <p:cNvGraphicFramePr>
              <a:graphicFrameLocks noChangeAspect="1"/>
            </p:cNvGraphicFramePr>
            <p:nvPr>
              <p:extLst>
                <p:ext uri="{D42A27DB-BD31-4B8C-83A1-F6EECF244321}">
                  <p14:modId xmlns:p14="http://schemas.microsoft.com/office/powerpoint/2010/main" val="1444835534"/>
                </p:ext>
              </p:extLst>
            </p:nvPr>
          </p:nvGraphicFramePr>
          <p:xfrm>
            <a:off x="4059" y="2087"/>
            <a:ext cx="361" cy="371"/>
          </p:xfrm>
          <a:graphic>
            <a:graphicData uri="http://schemas.openxmlformats.org/presentationml/2006/ole">
              <mc:AlternateContent xmlns:mc="http://schemas.openxmlformats.org/markup-compatibility/2006">
                <mc:Choice xmlns:v="urn:schemas-microsoft-com:vml" Requires="v">
                  <p:oleObj name="公式" r:id="rId11" imgW="247536" imgH="219186" progId="Equation.3">
                    <p:embed/>
                  </p:oleObj>
                </mc:Choice>
                <mc:Fallback>
                  <p:oleObj name="公式" r:id="rId11" imgW="247536" imgH="219186" progId="Equation.3">
                    <p:embed/>
                    <p:pic>
                      <p:nvPicPr>
                        <p:cNvPr id="25" name="Object 27">
                          <a:extLst>
                            <a:ext uri="{FF2B5EF4-FFF2-40B4-BE49-F238E27FC236}">
                              <a16:creationId xmlns:a16="http://schemas.microsoft.com/office/drawing/2014/main" id="{A749AA89-43F2-C616-7059-B92577D0795D}"/>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059" y="2087"/>
                          <a:ext cx="361" cy="371"/>
                        </a:xfrm>
                        <a:prstGeom prst="rect">
                          <a:avLst/>
                        </a:prstGeom>
                        <a:noFill/>
                        <a:ln>
                          <a:noFill/>
                        </a:ln>
                      </p:spPr>
                    </p:pic>
                  </p:oleObj>
                </mc:Fallback>
              </mc:AlternateContent>
            </a:graphicData>
          </a:graphic>
        </p:graphicFrame>
      </p:grpSp>
    </p:spTree>
    <p:extLst>
      <p:ext uri="{BB962C8B-B14F-4D97-AF65-F5344CB8AC3E}">
        <p14:creationId xmlns:p14="http://schemas.microsoft.com/office/powerpoint/2010/main" val="1478371899"/>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5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left)">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nodeType="click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wipe(up)">
                                      <p:cBhvr>
                                        <p:cTn id="20" dur="500"/>
                                        <p:tgtEl>
                                          <p:spTgt spid="15"/>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nodeType="click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wipe(down)">
                                      <p:cBhvr>
                                        <p:cTn id="25" dur="500"/>
                                        <p:tgtEl>
                                          <p:spTgt spid="18"/>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2" fill="hold" nodeType="clickEffect">
                                  <p:stCondLst>
                                    <p:cond delay="0"/>
                                  </p:stCondLst>
                                  <p:childTnLst>
                                    <p:set>
                                      <p:cBhvr>
                                        <p:cTn id="29" dur="1" fill="hold">
                                          <p:stCondLst>
                                            <p:cond delay="0"/>
                                          </p:stCondLst>
                                        </p:cTn>
                                        <p:tgtEl>
                                          <p:spTgt spid="21"/>
                                        </p:tgtEl>
                                        <p:attrNameLst>
                                          <p:attrName>style.visibility</p:attrName>
                                        </p:attrNameLst>
                                      </p:cBhvr>
                                      <p:to>
                                        <p:strVal val="visible"/>
                                      </p:to>
                                    </p:set>
                                    <p:animEffect transition="in" filter="wipe(right)">
                                      <p:cBhvr>
                                        <p:cTn id="30"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53" grpId="0"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711605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第八章   拉压、剪切与挤压的强度计算</a:t>
            </a:r>
          </a:p>
        </p:txBody>
      </p:sp>
      <p:sp>
        <p:nvSpPr>
          <p:cNvPr id="9" name="Rectangle 61"/>
          <p:cNvSpPr>
            <a:spLocks noChangeArrowheads="1"/>
          </p:cNvSpPr>
          <p:nvPr/>
        </p:nvSpPr>
        <p:spPr bwMode="auto">
          <a:xfrm>
            <a:off x="6918098" y="908720"/>
            <a:ext cx="4997809" cy="5184577"/>
          </a:xfrm>
          <a:prstGeom prst="rect">
            <a:avLst/>
          </a:prstGeom>
          <a:solidFill>
            <a:srgbClr val="B9CDE5"/>
          </a:solidFill>
          <a:ln>
            <a:noFill/>
          </a:ln>
          <a:effectLst/>
        </p:spPr>
        <p:txBody>
          <a:bodyPr wrap="none" anchor="ctr"/>
          <a:lstStyle/>
          <a:p>
            <a:endParaRPr lang="zh-CN" altLang="en-US"/>
          </a:p>
        </p:txBody>
      </p:sp>
      <p:sp>
        <p:nvSpPr>
          <p:cNvPr id="53" name="Text Box 1032"/>
          <p:cNvSpPr txBox="1">
            <a:spLocks noChangeArrowheads="1"/>
          </p:cNvSpPr>
          <p:nvPr/>
        </p:nvSpPr>
        <p:spPr bwMode="auto">
          <a:xfrm>
            <a:off x="276093" y="1058360"/>
            <a:ext cx="6179947" cy="52727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lnSpc>
                <a:spcPct val="110000"/>
              </a:lnSpc>
            </a:pPr>
            <a:r>
              <a:rPr lang="zh-CN" altLang="en-US" sz="2800" i="0" dirty="0">
                <a:latin typeface="+mn-lt"/>
                <a:ea typeface="微软雅黑" panose="020B0503020204020204" pitchFamily="34" charset="-122"/>
              </a:rPr>
              <a:t>灰铸铁拉伸时的应力</a:t>
            </a:r>
            <a:r>
              <a:rPr lang="en-US" altLang="zh-CN" sz="2800" i="0" dirty="0">
                <a:latin typeface="+mn-lt"/>
                <a:ea typeface="微软雅黑" panose="020B0503020204020204" pitchFamily="34" charset="-122"/>
              </a:rPr>
              <a:t>-</a:t>
            </a:r>
            <a:r>
              <a:rPr lang="zh-CN" altLang="en-US" sz="2800" i="0" dirty="0">
                <a:latin typeface="+mn-lt"/>
                <a:ea typeface="微软雅黑" panose="020B0503020204020204" pitchFamily="34" charset="-122"/>
              </a:rPr>
              <a:t>应变曲线。由图可见，</a:t>
            </a:r>
            <a:r>
              <a:rPr lang="zh-CN" altLang="en-US" sz="2800" b="0" dirty="0">
                <a:latin typeface="+mn-lt"/>
                <a:ea typeface="微软雅黑" panose="020B0503020204020204" pitchFamily="34" charset="-122"/>
                <a:sym typeface="Symbol" panose="05050102010706020507" pitchFamily="18" charset="2"/>
              </a:rPr>
              <a:t></a:t>
            </a:r>
            <a:r>
              <a:rPr lang="en-US" altLang="zh-CN" sz="2800" b="0" dirty="0">
                <a:latin typeface="+mn-lt"/>
                <a:ea typeface="微软雅黑" panose="020B0503020204020204" pitchFamily="34" charset="-122"/>
              </a:rPr>
              <a:t>-</a:t>
            </a:r>
            <a:r>
              <a:rPr lang="en-US" altLang="zh-CN" sz="2800" b="0" dirty="0">
                <a:latin typeface="+mn-lt"/>
                <a:ea typeface="微软雅黑" panose="020B0503020204020204" pitchFamily="34" charset="-122"/>
                <a:sym typeface="Symbol" panose="05050102010706020507" pitchFamily="18" charset="2"/>
              </a:rPr>
              <a:t> </a:t>
            </a:r>
            <a:r>
              <a:rPr lang="zh-CN" altLang="en-US" sz="2800" i="0" dirty="0">
                <a:latin typeface="+mn-lt"/>
                <a:ea typeface="微软雅黑" panose="020B0503020204020204" pitchFamily="34" charset="-122"/>
              </a:rPr>
              <a:t>曲线。它没有明显的直线部分，既无屈服阶段，亦无缩颈现象；断裂时应变通常只有</a:t>
            </a:r>
            <a:r>
              <a:rPr lang="en-US" altLang="zh-CN" sz="2800" b="0" i="0" dirty="0">
                <a:latin typeface="+mn-lt"/>
                <a:ea typeface="微软雅黑" panose="020B0503020204020204" pitchFamily="34" charset="-122"/>
              </a:rPr>
              <a:t>0.4%</a:t>
            </a:r>
            <a:r>
              <a:rPr lang="zh-CN" altLang="en-US" sz="2800" b="0" i="0" dirty="0">
                <a:latin typeface="+mn-lt"/>
                <a:ea typeface="微软雅黑" panose="020B0503020204020204" pitchFamily="34" charset="-122"/>
              </a:rPr>
              <a:t>～</a:t>
            </a:r>
            <a:r>
              <a:rPr lang="en-US" altLang="zh-CN" sz="2800" b="0" i="0" dirty="0">
                <a:latin typeface="+mn-lt"/>
                <a:ea typeface="微软雅黑" panose="020B0503020204020204" pitchFamily="34" charset="-122"/>
              </a:rPr>
              <a:t>0.5%</a:t>
            </a:r>
            <a:r>
              <a:rPr lang="zh-CN" altLang="en-US" sz="2800" b="0" i="0" dirty="0">
                <a:latin typeface="+mn-lt"/>
                <a:ea typeface="微软雅黑" panose="020B0503020204020204" pitchFamily="34" charset="-122"/>
              </a:rPr>
              <a:t>，</a:t>
            </a:r>
            <a:r>
              <a:rPr lang="zh-CN" altLang="en-US" sz="2800" i="0" dirty="0">
                <a:latin typeface="+mn-lt"/>
                <a:ea typeface="微软雅黑" panose="020B0503020204020204" pitchFamily="34" charset="-122"/>
              </a:rPr>
              <a:t>断口垂直于试件轴线。因铸铁构件在实际使用的应力范围内，其应力</a:t>
            </a:r>
            <a:r>
              <a:rPr lang="en-US" altLang="zh-CN" sz="2800" i="0" dirty="0">
                <a:latin typeface="+mn-lt"/>
                <a:ea typeface="微软雅黑" panose="020B0503020204020204" pitchFamily="34" charset="-122"/>
              </a:rPr>
              <a:t>-</a:t>
            </a:r>
            <a:r>
              <a:rPr lang="zh-CN" altLang="en-US" sz="2800" i="0" dirty="0">
                <a:latin typeface="+mn-lt"/>
                <a:ea typeface="微软雅黑" panose="020B0503020204020204" pitchFamily="34" charset="-122"/>
              </a:rPr>
              <a:t>应变曲线的曲率很小，实际计算时常近似地以直线</a:t>
            </a:r>
            <a:r>
              <a:rPr lang="en-US" altLang="zh-CN" sz="2800" i="0" dirty="0">
                <a:latin typeface="+mn-lt"/>
                <a:ea typeface="微软雅黑" panose="020B0503020204020204" pitchFamily="34" charset="-122"/>
              </a:rPr>
              <a:t>(</a:t>
            </a:r>
            <a:r>
              <a:rPr lang="zh-CN" altLang="en-US" sz="2800" i="0" dirty="0">
                <a:latin typeface="+mn-lt"/>
                <a:ea typeface="微软雅黑" panose="020B0503020204020204" pitchFamily="34" charset="-122"/>
              </a:rPr>
              <a:t>图中的虚线</a:t>
            </a:r>
            <a:r>
              <a:rPr lang="en-US" altLang="zh-CN" sz="2800" i="0" dirty="0">
                <a:latin typeface="+mn-lt"/>
                <a:ea typeface="微软雅黑" panose="020B0503020204020204" pitchFamily="34" charset="-122"/>
              </a:rPr>
              <a:t>)</a:t>
            </a:r>
            <a:r>
              <a:rPr lang="zh-CN" altLang="en-US" sz="2800" i="0" dirty="0">
                <a:latin typeface="+mn-lt"/>
                <a:ea typeface="微软雅黑" panose="020B0503020204020204" pitchFamily="34" charset="-122"/>
              </a:rPr>
              <a:t>代替。铸铁的伸长率通常只有</a:t>
            </a:r>
            <a:r>
              <a:rPr lang="en-US" altLang="zh-CN" sz="2800" b="0" i="0" dirty="0">
                <a:latin typeface="+mn-lt"/>
                <a:ea typeface="微软雅黑" panose="020B0503020204020204" pitchFamily="34" charset="-122"/>
              </a:rPr>
              <a:t>0.4%</a:t>
            </a:r>
            <a:r>
              <a:rPr lang="zh-CN" altLang="en-US" sz="2800" b="0" i="0" dirty="0">
                <a:latin typeface="+mn-lt"/>
                <a:ea typeface="微软雅黑" panose="020B0503020204020204" pitchFamily="34" charset="-122"/>
              </a:rPr>
              <a:t>～</a:t>
            </a:r>
            <a:r>
              <a:rPr lang="en-US" altLang="zh-CN" sz="2800" b="0" i="0" dirty="0">
                <a:ea typeface="微软雅黑" panose="020B0503020204020204" pitchFamily="34" charset="-122"/>
              </a:rPr>
              <a:t> 0. 6%</a:t>
            </a:r>
            <a:r>
              <a:rPr lang="zh-CN" altLang="en-US" sz="2800" b="0" i="0" dirty="0">
                <a:latin typeface="+mn-lt"/>
                <a:ea typeface="微软雅黑" panose="020B0503020204020204" pitchFamily="34" charset="-122"/>
              </a:rPr>
              <a:t>，</a:t>
            </a:r>
            <a:r>
              <a:rPr lang="zh-CN" altLang="en-US" sz="2800" i="0" dirty="0">
                <a:latin typeface="+mn-lt"/>
                <a:ea typeface="微软雅黑" panose="020B0503020204020204" pitchFamily="34" charset="-122"/>
              </a:rPr>
              <a:t>是典型的</a:t>
            </a:r>
            <a:r>
              <a:rPr lang="zh-CN" altLang="en-US" sz="2800" i="0" dirty="0">
                <a:solidFill>
                  <a:srgbClr val="FF00FF"/>
                </a:solidFill>
                <a:latin typeface="+mn-lt"/>
                <a:ea typeface="微软雅黑" panose="020B0503020204020204" pitchFamily="34" charset="-122"/>
              </a:rPr>
              <a:t>脆性材料</a:t>
            </a:r>
            <a:r>
              <a:rPr lang="zh-CN" altLang="en-US" sz="2800" i="0" dirty="0">
                <a:latin typeface="+mn-lt"/>
                <a:ea typeface="微软雅黑" panose="020B0503020204020204" pitchFamily="34" charset="-122"/>
              </a:rPr>
              <a:t>。拉伸强度</a:t>
            </a:r>
            <a:r>
              <a:rPr lang="zh-CN" altLang="en-US" sz="2800" b="0" dirty="0">
                <a:latin typeface="+mn-lt"/>
                <a:ea typeface="微软雅黑" panose="020B0503020204020204" pitchFamily="34" charset="-122"/>
                <a:sym typeface="Symbol" panose="05050102010706020507" pitchFamily="18" charset="2"/>
              </a:rPr>
              <a:t></a:t>
            </a:r>
            <a:r>
              <a:rPr lang="en-US" altLang="zh-CN" sz="2800" b="0" i="0" baseline="-25000" dirty="0">
                <a:latin typeface="+mn-lt"/>
                <a:ea typeface="微软雅黑" panose="020B0503020204020204" pitchFamily="34" charset="-122"/>
              </a:rPr>
              <a:t>b</a:t>
            </a:r>
            <a:r>
              <a:rPr lang="zh-CN" altLang="en-US" sz="2800" i="0" dirty="0">
                <a:latin typeface="+mn-lt"/>
                <a:ea typeface="微软雅黑" panose="020B0503020204020204" pitchFamily="34" charset="-122"/>
              </a:rPr>
              <a:t>是衡量其强度的唯一指标。</a:t>
            </a:r>
            <a:r>
              <a:rPr kumimoji="1" lang="zh-CN" altLang="en-US" sz="2800" i="0" dirty="0">
                <a:latin typeface="+mn-lt"/>
                <a:ea typeface="微软雅黑" panose="020B0503020204020204" pitchFamily="34" charset="-122"/>
              </a:rPr>
              <a:t> </a:t>
            </a:r>
          </a:p>
        </p:txBody>
      </p:sp>
      <p:pic>
        <p:nvPicPr>
          <p:cNvPr id="2" name="铸铁拉伸.avi">
            <a:hlinkClick r:id="" action="ppaction://media"/>
            <a:extLst>
              <a:ext uri="{FF2B5EF4-FFF2-40B4-BE49-F238E27FC236}">
                <a16:creationId xmlns:a16="http://schemas.microsoft.com/office/drawing/2014/main" id="{F0E66C8F-0E2D-3B8F-8F15-B7890BEB2F0D}"/>
              </a:ext>
            </a:extLst>
          </p:cNvPr>
          <p:cNvPicPr>
            <a:picLocks noChangeAspect="1" noChangeArrowheads="1"/>
          </p:cNvPicPr>
          <p:nvPr>
            <a:videoFile r:link="rId2"/>
            <p:extLst>
              <p:ext uri="{DAA4B4D4-6D71-4841-9C94-3DE7FCFB9230}">
                <p14:media xmlns:p14="http://schemas.microsoft.com/office/powerpoint/2010/main" r:link="rId1"/>
              </p:ext>
            </p:extLst>
          </p:nvPr>
        </p:nvPicPr>
        <p:blipFill>
          <a:blip r:embed="rId8">
            <a:extLst>
              <a:ext uri="{28A0092B-C50C-407E-A947-70E740481C1C}">
                <a14:useLocalDpi xmlns:a14="http://schemas.microsoft.com/office/drawing/2010/main" val="0"/>
              </a:ext>
            </a:extLst>
          </a:blip>
          <a:srcRect/>
          <a:stretch>
            <a:fillRect/>
          </a:stretch>
        </p:blipFill>
        <p:spPr bwMode="auto">
          <a:xfrm>
            <a:off x="8544272" y="1206996"/>
            <a:ext cx="2036762" cy="4348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Line 4">
            <a:extLst>
              <a:ext uri="{FF2B5EF4-FFF2-40B4-BE49-F238E27FC236}">
                <a16:creationId xmlns:a16="http://schemas.microsoft.com/office/drawing/2014/main" id="{6C27915C-D419-869E-7658-993D78BE4AB3}"/>
              </a:ext>
            </a:extLst>
          </p:cNvPr>
          <p:cNvSpPr>
            <a:spLocks noChangeShapeType="1"/>
          </p:cNvSpPr>
          <p:nvPr/>
        </p:nvSpPr>
        <p:spPr bwMode="auto">
          <a:xfrm>
            <a:off x="7515572" y="5561509"/>
            <a:ext cx="3840162" cy="0"/>
          </a:xfrm>
          <a:prstGeom prst="line">
            <a:avLst/>
          </a:prstGeom>
          <a:noFill/>
          <a:ln w="9525">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FF"/>
              </a:solidFill>
              <a:effectLst/>
              <a:uLnTx/>
              <a:uFillTx/>
              <a:ea typeface="黑体" panose="02010609060101010101" pitchFamily="49" charset="-122"/>
            </a:endParaRPr>
          </a:p>
        </p:txBody>
      </p:sp>
      <p:sp>
        <p:nvSpPr>
          <p:cNvPr id="27" name="Line 5">
            <a:extLst>
              <a:ext uri="{FF2B5EF4-FFF2-40B4-BE49-F238E27FC236}">
                <a16:creationId xmlns:a16="http://schemas.microsoft.com/office/drawing/2014/main" id="{59FBF90A-1C9D-839F-52BE-BBA44D86FC64}"/>
              </a:ext>
            </a:extLst>
          </p:cNvPr>
          <p:cNvSpPr>
            <a:spLocks noChangeShapeType="1"/>
          </p:cNvSpPr>
          <p:nvPr/>
        </p:nvSpPr>
        <p:spPr bwMode="auto">
          <a:xfrm flipH="1" flipV="1">
            <a:off x="8350597" y="2456359"/>
            <a:ext cx="0" cy="3105150"/>
          </a:xfrm>
          <a:prstGeom prst="line">
            <a:avLst/>
          </a:prstGeom>
          <a:noFill/>
          <a:ln w="9525">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FF"/>
              </a:solidFill>
              <a:effectLst/>
              <a:uLnTx/>
              <a:uFillTx/>
              <a:ea typeface="黑体" panose="02010609060101010101" pitchFamily="49" charset="-122"/>
            </a:endParaRPr>
          </a:p>
        </p:txBody>
      </p:sp>
      <p:sp>
        <p:nvSpPr>
          <p:cNvPr id="28" name="Text Box 6">
            <a:extLst>
              <a:ext uri="{FF2B5EF4-FFF2-40B4-BE49-F238E27FC236}">
                <a16:creationId xmlns:a16="http://schemas.microsoft.com/office/drawing/2014/main" id="{5C8D6DA6-F44A-9949-C06A-9B9B44F34754}"/>
              </a:ext>
            </a:extLst>
          </p:cNvPr>
          <p:cNvSpPr txBox="1">
            <a:spLocks noChangeArrowheads="1"/>
          </p:cNvSpPr>
          <p:nvPr/>
        </p:nvSpPr>
        <p:spPr bwMode="auto">
          <a:xfrm>
            <a:off x="10560397" y="5509121"/>
            <a:ext cx="9001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1"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sym typeface="Symbol" panose="05050102010706020507" pitchFamily="18" charset="2"/>
              </a:rPr>
              <a:t> </a:t>
            </a:r>
            <a:r>
              <a:rPr kumimoji="1" lang="en-US" altLang="zh-CN" sz="2400" b="0" u="none" strike="noStrike" kern="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sym typeface="Symbol" panose="05050102010706020507" pitchFamily="18" charset="2"/>
              </a:rPr>
              <a:t></a:t>
            </a:r>
            <a:r>
              <a:rPr kumimoji="1"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rPr>
              <a:t>/%</a:t>
            </a:r>
          </a:p>
        </p:txBody>
      </p:sp>
      <p:sp>
        <p:nvSpPr>
          <p:cNvPr id="29" name="Text Box 7">
            <a:extLst>
              <a:ext uri="{FF2B5EF4-FFF2-40B4-BE49-F238E27FC236}">
                <a16:creationId xmlns:a16="http://schemas.microsoft.com/office/drawing/2014/main" id="{864B4305-4AED-CD6B-D52D-1BCC7CD15187}"/>
              </a:ext>
            </a:extLst>
          </p:cNvPr>
          <p:cNvSpPr txBox="1">
            <a:spLocks noChangeArrowheads="1"/>
          </p:cNvSpPr>
          <p:nvPr/>
        </p:nvSpPr>
        <p:spPr bwMode="auto">
          <a:xfrm>
            <a:off x="7969598" y="5512296"/>
            <a:ext cx="2676526"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eaLnBrk="1" hangingPunct="1">
              <a:spcBef>
                <a:spcPct val="50000"/>
              </a:spcBef>
            </a:pPr>
            <a:r>
              <a:rPr lang="en-US" altLang="zh-CN" b="0" dirty="0">
                <a:solidFill>
                  <a:schemeClr val="tx1"/>
                </a:solidFill>
                <a:ea typeface="宋体" panose="02010600030101010101" pitchFamily="2" charset="-122"/>
              </a:rPr>
              <a:t>O</a:t>
            </a:r>
            <a:r>
              <a:rPr lang="en-US" altLang="zh-CN" b="0" i="0" dirty="0">
                <a:solidFill>
                  <a:schemeClr val="tx1"/>
                </a:solidFill>
                <a:ea typeface="宋体" panose="02010600030101010101" pitchFamily="2" charset="-122"/>
              </a:rPr>
              <a:t>   0.15  0.30  0.45</a:t>
            </a:r>
          </a:p>
        </p:txBody>
      </p:sp>
      <p:sp>
        <p:nvSpPr>
          <p:cNvPr id="30" name="Text Box 8">
            <a:extLst>
              <a:ext uri="{FF2B5EF4-FFF2-40B4-BE49-F238E27FC236}">
                <a16:creationId xmlns:a16="http://schemas.microsoft.com/office/drawing/2014/main" id="{5DD13DCC-0823-9E50-7506-7CF3BDA892B5}"/>
              </a:ext>
            </a:extLst>
          </p:cNvPr>
          <p:cNvSpPr txBox="1">
            <a:spLocks noChangeArrowheads="1"/>
          </p:cNvSpPr>
          <p:nvPr/>
        </p:nvSpPr>
        <p:spPr bwMode="auto">
          <a:xfrm>
            <a:off x="7680672" y="2740227"/>
            <a:ext cx="706437"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r" eaLnBrk="1" hangingPunct="1">
              <a:spcBef>
                <a:spcPct val="50000"/>
              </a:spcBef>
            </a:pPr>
            <a:r>
              <a:rPr lang="en-US" altLang="zh-CN" b="0" i="0" dirty="0">
                <a:solidFill>
                  <a:schemeClr val="tx1"/>
                </a:solidFill>
                <a:ea typeface="宋体" panose="02010600030101010101" pitchFamily="2" charset="-122"/>
              </a:rPr>
              <a:t>125</a:t>
            </a:r>
          </a:p>
          <a:p>
            <a:pPr algn="r" eaLnBrk="1" hangingPunct="1">
              <a:spcBef>
                <a:spcPct val="50000"/>
              </a:spcBef>
            </a:pPr>
            <a:r>
              <a:rPr lang="en-US" altLang="zh-CN" b="0" i="0" dirty="0">
                <a:solidFill>
                  <a:schemeClr val="tx1"/>
                </a:solidFill>
                <a:ea typeface="宋体" panose="02010600030101010101" pitchFamily="2" charset="-122"/>
              </a:rPr>
              <a:t>100</a:t>
            </a:r>
          </a:p>
          <a:p>
            <a:pPr algn="r" eaLnBrk="1" hangingPunct="1">
              <a:spcBef>
                <a:spcPct val="50000"/>
              </a:spcBef>
            </a:pPr>
            <a:r>
              <a:rPr lang="en-US" altLang="zh-CN" b="0" i="0" dirty="0">
                <a:solidFill>
                  <a:schemeClr val="tx1"/>
                </a:solidFill>
                <a:ea typeface="宋体" panose="02010600030101010101" pitchFamily="2" charset="-122"/>
              </a:rPr>
              <a:t>75</a:t>
            </a:r>
          </a:p>
          <a:p>
            <a:pPr algn="r" eaLnBrk="1" hangingPunct="1">
              <a:spcBef>
                <a:spcPct val="50000"/>
              </a:spcBef>
            </a:pPr>
            <a:r>
              <a:rPr lang="en-US" altLang="zh-CN" b="0" i="0" dirty="0">
                <a:solidFill>
                  <a:schemeClr val="tx1"/>
                </a:solidFill>
                <a:ea typeface="宋体" panose="02010600030101010101" pitchFamily="2" charset="-122"/>
              </a:rPr>
              <a:t>50</a:t>
            </a:r>
          </a:p>
          <a:p>
            <a:pPr algn="r" eaLnBrk="1" hangingPunct="1">
              <a:spcBef>
                <a:spcPct val="50000"/>
              </a:spcBef>
            </a:pPr>
            <a:r>
              <a:rPr lang="en-US" altLang="zh-CN" b="0" i="0" dirty="0">
                <a:solidFill>
                  <a:schemeClr val="tx1"/>
                </a:solidFill>
                <a:ea typeface="宋体" panose="02010600030101010101" pitchFamily="2" charset="-122"/>
              </a:rPr>
              <a:t>25</a:t>
            </a:r>
          </a:p>
        </p:txBody>
      </p:sp>
      <p:sp>
        <p:nvSpPr>
          <p:cNvPr id="31" name="Arc 9">
            <a:extLst>
              <a:ext uri="{FF2B5EF4-FFF2-40B4-BE49-F238E27FC236}">
                <a16:creationId xmlns:a16="http://schemas.microsoft.com/office/drawing/2014/main" id="{2B9793C1-BFCC-99C1-17B3-667909C99BB6}"/>
              </a:ext>
            </a:extLst>
          </p:cNvPr>
          <p:cNvSpPr>
            <a:spLocks noChangeAspect="1"/>
          </p:cNvSpPr>
          <p:nvPr/>
        </p:nvSpPr>
        <p:spPr bwMode="auto">
          <a:xfrm flipH="1">
            <a:off x="8369647" y="2850059"/>
            <a:ext cx="1927225" cy="2706687"/>
          </a:xfrm>
          <a:custGeom>
            <a:avLst/>
            <a:gdLst>
              <a:gd name="T0" fmla="*/ 17099839 w 21600"/>
              <a:gd name="T1" fmla="*/ 0 h 21493"/>
              <a:gd name="T2" fmla="*/ 171953510 w 21600"/>
              <a:gd name="T3" fmla="*/ 340862227 h 21493"/>
              <a:gd name="T4" fmla="*/ 0 w 21600"/>
              <a:gd name="T5" fmla="*/ 340862227 h 21493"/>
              <a:gd name="T6" fmla="*/ 0 60000 65536"/>
              <a:gd name="T7" fmla="*/ 0 60000 65536"/>
              <a:gd name="T8" fmla="*/ 0 60000 65536"/>
              <a:gd name="T9" fmla="*/ 0 w 21600"/>
              <a:gd name="T10" fmla="*/ 0 h 21493"/>
              <a:gd name="T11" fmla="*/ 21600 w 21600"/>
              <a:gd name="T12" fmla="*/ 21493 h 21493"/>
            </a:gdLst>
            <a:ahLst/>
            <a:cxnLst>
              <a:cxn ang="T6">
                <a:pos x="T0" y="T1"/>
              </a:cxn>
              <a:cxn ang="T7">
                <a:pos x="T2" y="T3"/>
              </a:cxn>
              <a:cxn ang="T8">
                <a:pos x="T4" y="T5"/>
              </a:cxn>
            </a:cxnLst>
            <a:rect l="T9" t="T10" r="T11" b="T12"/>
            <a:pathLst>
              <a:path w="21600" h="21493" fill="none" extrusionOk="0">
                <a:moveTo>
                  <a:pt x="2147" y="0"/>
                </a:moveTo>
                <a:cubicBezTo>
                  <a:pt x="13190" y="1103"/>
                  <a:pt x="21600" y="10395"/>
                  <a:pt x="21600" y="21493"/>
                </a:cubicBezTo>
              </a:path>
              <a:path w="21600" h="21493" stroke="0" extrusionOk="0">
                <a:moveTo>
                  <a:pt x="2147" y="0"/>
                </a:moveTo>
                <a:cubicBezTo>
                  <a:pt x="13190" y="1103"/>
                  <a:pt x="21600" y="10395"/>
                  <a:pt x="21600" y="21493"/>
                </a:cubicBezTo>
                <a:lnTo>
                  <a:pt x="0" y="21493"/>
                </a:lnTo>
                <a:close/>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endParaRPr kumimoji="1" lang="zh-CN" altLang="en-US" b="0" i="0">
              <a:solidFill>
                <a:srgbClr val="0000FF"/>
              </a:solidFill>
              <a:ea typeface="黑体" panose="02010609060101010101" pitchFamily="49" charset="-122"/>
            </a:endParaRPr>
          </a:p>
        </p:txBody>
      </p:sp>
      <p:sp>
        <p:nvSpPr>
          <p:cNvPr id="32" name="Oval 10">
            <a:extLst>
              <a:ext uri="{FF2B5EF4-FFF2-40B4-BE49-F238E27FC236}">
                <a16:creationId xmlns:a16="http://schemas.microsoft.com/office/drawing/2014/main" id="{5AD24F53-49B9-34C8-427F-B4BD8F7F12B9}"/>
              </a:ext>
            </a:extLst>
          </p:cNvPr>
          <p:cNvSpPr>
            <a:spLocks noChangeArrowheads="1"/>
          </p:cNvSpPr>
          <p:nvPr/>
        </p:nvSpPr>
        <p:spPr bwMode="auto">
          <a:xfrm>
            <a:off x="8861772" y="5526584"/>
            <a:ext cx="74612" cy="74612"/>
          </a:xfrm>
          <a:prstGeom prst="ellipse">
            <a:avLst/>
          </a:prstGeom>
          <a:solidFill>
            <a:srgbClr val="FF0000"/>
          </a:solidFill>
          <a:ln w="9525">
            <a:solidFill>
              <a:srgbClr val="FFFFFF"/>
            </a:solidFill>
            <a:round/>
            <a:headEnd/>
            <a:tailEnd/>
          </a:ln>
        </p:spPr>
        <p:txBody>
          <a:bodyPr wrap="none" anchor="ct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FF"/>
              </a:solidFill>
              <a:effectLst/>
              <a:uLnTx/>
              <a:uFillTx/>
              <a:latin typeface="Times New Roman" panose="02020603050405020304" pitchFamily="18" charset="0"/>
              <a:ea typeface="黑体" panose="02010609060101010101" pitchFamily="49" charset="-122"/>
            </a:endParaRPr>
          </a:p>
        </p:txBody>
      </p:sp>
      <p:sp>
        <p:nvSpPr>
          <p:cNvPr id="33" name="Oval 11">
            <a:extLst>
              <a:ext uri="{FF2B5EF4-FFF2-40B4-BE49-F238E27FC236}">
                <a16:creationId xmlns:a16="http://schemas.microsoft.com/office/drawing/2014/main" id="{37B84C28-882E-82E3-0CB7-C72BBBA1FD4F}"/>
              </a:ext>
            </a:extLst>
          </p:cNvPr>
          <p:cNvSpPr>
            <a:spLocks noChangeArrowheads="1"/>
          </p:cNvSpPr>
          <p:nvPr/>
        </p:nvSpPr>
        <p:spPr bwMode="auto">
          <a:xfrm>
            <a:off x="9438034" y="5520234"/>
            <a:ext cx="74613" cy="74612"/>
          </a:xfrm>
          <a:prstGeom prst="ellipse">
            <a:avLst/>
          </a:prstGeom>
          <a:solidFill>
            <a:srgbClr val="FF0000"/>
          </a:solidFill>
          <a:ln w="9525">
            <a:solidFill>
              <a:srgbClr val="FFFFFF"/>
            </a:solidFill>
            <a:round/>
            <a:headEnd/>
            <a:tailEnd/>
          </a:ln>
        </p:spPr>
        <p:txBody>
          <a:bodyPr wrap="none" anchor="ct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FF"/>
              </a:solidFill>
              <a:effectLst/>
              <a:uLnTx/>
              <a:uFillTx/>
              <a:latin typeface="Times New Roman" panose="02020603050405020304" pitchFamily="18" charset="0"/>
              <a:ea typeface="黑体" panose="02010609060101010101" pitchFamily="49" charset="-122"/>
            </a:endParaRPr>
          </a:p>
        </p:txBody>
      </p:sp>
      <p:sp>
        <p:nvSpPr>
          <p:cNvPr id="34" name="Oval 12">
            <a:extLst>
              <a:ext uri="{FF2B5EF4-FFF2-40B4-BE49-F238E27FC236}">
                <a16:creationId xmlns:a16="http://schemas.microsoft.com/office/drawing/2014/main" id="{710DB057-FDDE-1BD7-AD3D-AAA7BDD6A602}"/>
              </a:ext>
            </a:extLst>
          </p:cNvPr>
          <p:cNvSpPr>
            <a:spLocks noChangeArrowheads="1"/>
          </p:cNvSpPr>
          <p:nvPr/>
        </p:nvSpPr>
        <p:spPr bwMode="auto">
          <a:xfrm>
            <a:off x="10022234" y="5520234"/>
            <a:ext cx="74613" cy="74612"/>
          </a:xfrm>
          <a:prstGeom prst="ellipse">
            <a:avLst/>
          </a:prstGeom>
          <a:solidFill>
            <a:srgbClr val="FF0000"/>
          </a:solidFill>
          <a:ln w="9525">
            <a:solidFill>
              <a:srgbClr val="FFFFFF"/>
            </a:solidFill>
            <a:round/>
            <a:headEnd/>
            <a:tailEnd/>
          </a:ln>
        </p:spPr>
        <p:txBody>
          <a:bodyPr wrap="none" anchor="ct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FF"/>
              </a:solidFill>
              <a:effectLst/>
              <a:uLnTx/>
              <a:uFillTx/>
              <a:latin typeface="Times New Roman" panose="02020603050405020304" pitchFamily="18" charset="0"/>
              <a:ea typeface="黑体" panose="02010609060101010101" pitchFamily="49" charset="-122"/>
            </a:endParaRPr>
          </a:p>
        </p:txBody>
      </p:sp>
      <p:sp>
        <p:nvSpPr>
          <p:cNvPr id="35" name="Oval 13">
            <a:extLst>
              <a:ext uri="{FF2B5EF4-FFF2-40B4-BE49-F238E27FC236}">
                <a16:creationId xmlns:a16="http://schemas.microsoft.com/office/drawing/2014/main" id="{5F2D648C-B12C-42EC-DEB4-464FB0F8D8DA}"/>
              </a:ext>
            </a:extLst>
          </p:cNvPr>
          <p:cNvSpPr>
            <a:spLocks noChangeArrowheads="1"/>
          </p:cNvSpPr>
          <p:nvPr/>
        </p:nvSpPr>
        <p:spPr bwMode="auto">
          <a:xfrm>
            <a:off x="8314084" y="5085259"/>
            <a:ext cx="74613" cy="74612"/>
          </a:xfrm>
          <a:prstGeom prst="ellipse">
            <a:avLst/>
          </a:prstGeom>
          <a:solidFill>
            <a:srgbClr val="FF0000"/>
          </a:solidFill>
          <a:ln w="9525">
            <a:solidFill>
              <a:srgbClr val="FFFFFF"/>
            </a:solidFill>
            <a:round/>
            <a:headEnd/>
            <a:tailEnd/>
          </a:ln>
        </p:spPr>
        <p:txBody>
          <a:bodyPr wrap="none" anchor="ct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FF"/>
              </a:solidFill>
              <a:effectLst/>
              <a:uLnTx/>
              <a:uFillTx/>
              <a:latin typeface="Times New Roman" panose="02020603050405020304" pitchFamily="18" charset="0"/>
              <a:ea typeface="黑体" panose="02010609060101010101" pitchFamily="49" charset="-122"/>
            </a:endParaRPr>
          </a:p>
        </p:txBody>
      </p:sp>
      <p:sp>
        <p:nvSpPr>
          <p:cNvPr id="36" name="Oval 14">
            <a:extLst>
              <a:ext uri="{FF2B5EF4-FFF2-40B4-BE49-F238E27FC236}">
                <a16:creationId xmlns:a16="http://schemas.microsoft.com/office/drawing/2014/main" id="{32444332-D1D7-E3ED-C712-EB3F2C2FFEC0}"/>
              </a:ext>
            </a:extLst>
          </p:cNvPr>
          <p:cNvSpPr>
            <a:spLocks noChangeArrowheads="1"/>
          </p:cNvSpPr>
          <p:nvPr/>
        </p:nvSpPr>
        <p:spPr bwMode="auto">
          <a:xfrm>
            <a:off x="8314084" y="4556621"/>
            <a:ext cx="74613" cy="74613"/>
          </a:xfrm>
          <a:prstGeom prst="ellipse">
            <a:avLst/>
          </a:prstGeom>
          <a:solidFill>
            <a:srgbClr val="FF0000"/>
          </a:solidFill>
          <a:ln w="9525">
            <a:solidFill>
              <a:srgbClr val="FFFFFF"/>
            </a:solidFill>
            <a:round/>
            <a:headEnd/>
            <a:tailEnd/>
          </a:ln>
        </p:spPr>
        <p:txBody>
          <a:bodyPr wrap="none" anchor="ct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FF"/>
              </a:solidFill>
              <a:effectLst/>
              <a:uLnTx/>
              <a:uFillTx/>
              <a:latin typeface="Times New Roman" panose="02020603050405020304" pitchFamily="18" charset="0"/>
              <a:ea typeface="黑体" panose="02010609060101010101" pitchFamily="49" charset="-122"/>
            </a:endParaRPr>
          </a:p>
        </p:txBody>
      </p:sp>
      <p:sp>
        <p:nvSpPr>
          <p:cNvPr id="37" name="Oval 15">
            <a:extLst>
              <a:ext uri="{FF2B5EF4-FFF2-40B4-BE49-F238E27FC236}">
                <a16:creationId xmlns:a16="http://schemas.microsoft.com/office/drawing/2014/main" id="{13A50BE4-E7F9-40AF-9B01-DFC1DE62FC37}"/>
              </a:ext>
            </a:extLst>
          </p:cNvPr>
          <p:cNvSpPr>
            <a:spLocks noChangeArrowheads="1"/>
          </p:cNvSpPr>
          <p:nvPr/>
        </p:nvSpPr>
        <p:spPr bwMode="auto">
          <a:xfrm>
            <a:off x="8314084" y="4027984"/>
            <a:ext cx="74613" cy="74612"/>
          </a:xfrm>
          <a:prstGeom prst="ellipse">
            <a:avLst/>
          </a:prstGeom>
          <a:solidFill>
            <a:srgbClr val="FF0000"/>
          </a:solidFill>
          <a:ln w="9525">
            <a:solidFill>
              <a:srgbClr val="FFFFFF"/>
            </a:solidFill>
            <a:round/>
            <a:headEnd/>
            <a:tailEnd/>
          </a:ln>
        </p:spPr>
        <p:txBody>
          <a:bodyPr wrap="none" anchor="ct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FF"/>
              </a:solidFill>
              <a:effectLst/>
              <a:uLnTx/>
              <a:uFillTx/>
              <a:latin typeface="Times New Roman" panose="02020603050405020304" pitchFamily="18" charset="0"/>
              <a:ea typeface="黑体" panose="02010609060101010101" pitchFamily="49" charset="-122"/>
            </a:endParaRPr>
          </a:p>
        </p:txBody>
      </p:sp>
      <p:sp>
        <p:nvSpPr>
          <p:cNvPr id="38" name="Oval 16">
            <a:extLst>
              <a:ext uri="{FF2B5EF4-FFF2-40B4-BE49-F238E27FC236}">
                <a16:creationId xmlns:a16="http://schemas.microsoft.com/office/drawing/2014/main" id="{7C821613-342B-0FE5-12AE-5F6595B55996}"/>
              </a:ext>
            </a:extLst>
          </p:cNvPr>
          <p:cNvSpPr>
            <a:spLocks noChangeArrowheads="1"/>
          </p:cNvSpPr>
          <p:nvPr/>
        </p:nvSpPr>
        <p:spPr bwMode="auto">
          <a:xfrm>
            <a:off x="8314084" y="3462834"/>
            <a:ext cx="74613" cy="74612"/>
          </a:xfrm>
          <a:prstGeom prst="ellipse">
            <a:avLst/>
          </a:prstGeom>
          <a:solidFill>
            <a:srgbClr val="FF0000"/>
          </a:solidFill>
          <a:ln w="9525">
            <a:solidFill>
              <a:srgbClr val="FFFFFF"/>
            </a:solidFill>
            <a:round/>
            <a:headEnd/>
            <a:tailEnd/>
          </a:ln>
        </p:spPr>
        <p:txBody>
          <a:bodyPr wrap="none" anchor="ct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FF"/>
              </a:solidFill>
              <a:effectLst/>
              <a:uLnTx/>
              <a:uFillTx/>
              <a:latin typeface="Times New Roman" panose="02020603050405020304" pitchFamily="18" charset="0"/>
              <a:ea typeface="黑体" panose="02010609060101010101" pitchFamily="49" charset="-122"/>
            </a:endParaRPr>
          </a:p>
        </p:txBody>
      </p:sp>
      <p:sp>
        <p:nvSpPr>
          <p:cNvPr id="39" name="Oval 17">
            <a:extLst>
              <a:ext uri="{FF2B5EF4-FFF2-40B4-BE49-F238E27FC236}">
                <a16:creationId xmlns:a16="http://schemas.microsoft.com/office/drawing/2014/main" id="{27C77BE0-EF6D-950B-8D53-3EE00E4F415F}"/>
              </a:ext>
            </a:extLst>
          </p:cNvPr>
          <p:cNvSpPr>
            <a:spLocks noChangeArrowheads="1"/>
          </p:cNvSpPr>
          <p:nvPr/>
        </p:nvSpPr>
        <p:spPr bwMode="auto">
          <a:xfrm>
            <a:off x="8314084" y="2915146"/>
            <a:ext cx="74613" cy="74613"/>
          </a:xfrm>
          <a:prstGeom prst="ellipse">
            <a:avLst/>
          </a:prstGeom>
          <a:solidFill>
            <a:srgbClr val="FF0000"/>
          </a:solidFill>
          <a:ln w="9525">
            <a:solidFill>
              <a:srgbClr val="FFFFFF"/>
            </a:solidFill>
            <a:round/>
            <a:headEnd/>
            <a:tailEnd/>
          </a:ln>
        </p:spPr>
        <p:txBody>
          <a:bodyPr wrap="none" anchor="ct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FF"/>
              </a:solidFill>
              <a:effectLst/>
              <a:uLnTx/>
              <a:uFillTx/>
              <a:latin typeface="Times New Roman" panose="02020603050405020304" pitchFamily="18" charset="0"/>
              <a:ea typeface="黑体" panose="02010609060101010101" pitchFamily="49" charset="-122"/>
            </a:endParaRPr>
          </a:p>
        </p:txBody>
      </p:sp>
      <p:sp>
        <p:nvSpPr>
          <p:cNvPr id="40" name="Text Box 18">
            <a:extLst>
              <a:ext uri="{FF2B5EF4-FFF2-40B4-BE49-F238E27FC236}">
                <a16:creationId xmlns:a16="http://schemas.microsoft.com/office/drawing/2014/main" id="{D35ECF86-DAE6-78FE-F93E-74395342F312}"/>
              </a:ext>
            </a:extLst>
          </p:cNvPr>
          <p:cNvSpPr txBox="1">
            <a:spLocks noChangeArrowheads="1"/>
          </p:cNvSpPr>
          <p:nvPr/>
        </p:nvSpPr>
        <p:spPr bwMode="auto">
          <a:xfrm>
            <a:off x="7239347" y="2267533"/>
            <a:ext cx="11636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1"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sym typeface="Symbol" panose="05050102010706020507" pitchFamily="18" charset="2"/>
              </a:rPr>
              <a:t> </a:t>
            </a:r>
            <a:r>
              <a:rPr kumimoji="1" lang="en-US" altLang="zh-CN" sz="2400" b="0" u="none" strike="noStrike" kern="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sym typeface="Symbol" panose="05050102010706020507" pitchFamily="18" charset="2"/>
              </a:rPr>
              <a:t></a:t>
            </a:r>
            <a:r>
              <a:rPr kumimoji="1"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rPr>
              <a:t>/MPa</a:t>
            </a:r>
          </a:p>
        </p:txBody>
      </p:sp>
      <p:sp>
        <p:nvSpPr>
          <p:cNvPr id="41" name="Oval 20">
            <a:extLst>
              <a:ext uri="{FF2B5EF4-FFF2-40B4-BE49-F238E27FC236}">
                <a16:creationId xmlns:a16="http://schemas.microsoft.com/office/drawing/2014/main" id="{5A1A5E4D-BA27-353D-C024-49108CC21B12}"/>
              </a:ext>
            </a:extLst>
          </p:cNvPr>
          <p:cNvSpPr>
            <a:spLocks noChangeArrowheads="1"/>
          </p:cNvSpPr>
          <p:nvPr/>
        </p:nvSpPr>
        <p:spPr bwMode="auto">
          <a:xfrm>
            <a:off x="10857259" y="1068884"/>
            <a:ext cx="88900" cy="88900"/>
          </a:xfrm>
          <a:prstGeom prst="ellipse">
            <a:avLst/>
          </a:prstGeom>
          <a:solidFill>
            <a:srgbClr val="FB1C05"/>
          </a:solidFill>
          <a:ln w="9525">
            <a:solidFill>
              <a:srgbClr val="FFFFFF"/>
            </a:solidFill>
            <a:round/>
            <a:headEnd/>
            <a:tailEnd/>
          </a:ln>
        </p:spPr>
        <p:txBody>
          <a:bodyPr wrap="none" anchor="ct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FF"/>
              </a:solidFill>
              <a:effectLst/>
              <a:uLnTx/>
              <a:uFillTx/>
              <a:latin typeface="Times New Roman" panose="02020603050405020304" pitchFamily="18" charset="0"/>
              <a:ea typeface="黑体" panose="02010609060101010101" pitchFamily="49" charset="-122"/>
            </a:endParaRPr>
          </a:p>
        </p:txBody>
      </p:sp>
      <p:sp>
        <p:nvSpPr>
          <p:cNvPr id="42" name="Text Box 21">
            <a:extLst>
              <a:ext uri="{FF2B5EF4-FFF2-40B4-BE49-F238E27FC236}">
                <a16:creationId xmlns:a16="http://schemas.microsoft.com/office/drawing/2014/main" id="{CF2B9394-8018-60CF-3D37-4412E4BB4787}"/>
              </a:ext>
            </a:extLst>
          </p:cNvPr>
          <p:cNvSpPr txBox="1">
            <a:spLocks noChangeArrowheads="1"/>
          </p:cNvSpPr>
          <p:nvPr/>
        </p:nvSpPr>
        <p:spPr bwMode="auto">
          <a:xfrm>
            <a:off x="10121237" y="4315819"/>
            <a:ext cx="2100263"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1" lang="zh-CN" altLang="en-US" sz="2400" i="0" u="none" strike="noStrike" kern="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rPr>
              <a:t>灰铸铁 </a:t>
            </a:r>
          </a:p>
          <a:p>
            <a:pPr marL="0" marR="0" lvl="0" indent="0" algn="ctr" defTabSz="914400" eaLnBrk="1" fontAlgn="auto" latinLnBrk="0" hangingPunct="1">
              <a:lnSpc>
                <a:spcPct val="100000"/>
              </a:lnSpc>
              <a:spcBef>
                <a:spcPct val="50000"/>
              </a:spcBef>
              <a:spcAft>
                <a:spcPts val="0"/>
              </a:spcAft>
              <a:buClrTx/>
              <a:buSzTx/>
              <a:buFontTx/>
              <a:buNone/>
              <a:tabLst/>
              <a:defRPr/>
            </a:pPr>
            <a:r>
              <a:rPr kumimoji="1"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rPr>
              <a:t> </a:t>
            </a:r>
            <a:r>
              <a:rPr kumimoji="1" lang="zh-CN" altLang="en-US" sz="2400" b="0" u="none" strike="noStrike" kern="0" cap="none" spc="0" normalizeH="0" baseline="0" noProof="0" dirty="0">
                <a:ln>
                  <a:noFill/>
                </a:ln>
                <a:solidFill>
                  <a:schemeClr val="tx1"/>
                </a:solidFill>
                <a:effectLst/>
                <a:uLnTx/>
                <a:uFillTx/>
                <a:sym typeface="Symbol" panose="05050102010706020507" pitchFamily="18" charset="2"/>
              </a:rPr>
              <a:t></a:t>
            </a:r>
            <a:r>
              <a:rPr kumimoji="1" lang="en-US" altLang="zh-CN" sz="2400" b="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1" lang="en-US" altLang="zh-CN" sz="2400" b="0" u="none" strike="noStrike" kern="0" cap="none" spc="0" normalizeH="0" baseline="0" noProof="0" dirty="0">
                <a:ln>
                  <a:noFill/>
                </a:ln>
                <a:solidFill>
                  <a:schemeClr val="tx1"/>
                </a:solidFill>
                <a:effectLst/>
                <a:uLnTx/>
                <a:uFillTx/>
                <a:sym typeface="Symbol" panose="05050102010706020507" pitchFamily="18" charset="2"/>
              </a:rPr>
              <a:t> </a:t>
            </a:r>
            <a:r>
              <a:rPr kumimoji="1"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rPr>
              <a:t>曲线</a:t>
            </a:r>
          </a:p>
        </p:txBody>
      </p:sp>
      <p:sp>
        <p:nvSpPr>
          <p:cNvPr id="43" name="Line 25">
            <a:extLst>
              <a:ext uri="{FF2B5EF4-FFF2-40B4-BE49-F238E27FC236}">
                <a16:creationId xmlns:a16="http://schemas.microsoft.com/office/drawing/2014/main" id="{E2A22957-D2AA-AB6C-02B9-0149EBDFB3AE}"/>
              </a:ext>
            </a:extLst>
          </p:cNvPr>
          <p:cNvSpPr>
            <a:spLocks noChangeShapeType="1"/>
          </p:cNvSpPr>
          <p:nvPr/>
        </p:nvSpPr>
        <p:spPr bwMode="auto">
          <a:xfrm flipH="1">
            <a:off x="7558434" y="2840534"/>
            <a:ext cx="251301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FF"/>
              </a:solidFill>
              <a:effectLst/>
              <a:uLnTx/>
              <a:uFillTx/>
              <a:ea typeface="黑体" panose="02010609060101010101" pitchFamily="49" charset="-122"/>
            </a:endParaRPr>
          </a:p>
        </p:txBody>
      </p:sp>
      <p:sp>
        <p:nvSpPr>
          <p:cNvPr id="44" name="Line 26">
            <a:extLst>
              <a:ext uri="{FF2B5EF4-FFF2-40B4-BE49-F238E27FC236}">
                <a16:creationId xmlns:a16="http://schemas.microsoft.com/office/drawing/2014/main" id="{271F96E7-7C92-DC70-2A61-95B41D3341BE}"/>
              </a:ext>
            </a:extLst>
          </p:cNvPr>
          <p:cNvSpPr>
            <a:spLocks noChangeShapeType="1"/>
          </p:cNvSpPr>
          <p:nvPr/>
        </p:nvSpPr>
        <p:spPr bwMode="auto">
          <a:xfrm>
            <a:off x="7739409" y="2838946"/>
            <a:ext cx="0" cy="2697163"/>
          </a:xfrm>
          <a:prstGeom prst="line">
            <a:avLst/>
          </a:prstGeom>
          <a:noFill/>
          <a:ln w="9525">
            <a:solidFill>
              <a:schemeClr val="tx1"/>
            </a:solidFill>
            <a:round/>
            <a:headEnd type="stealth" w="sm" len="lg"/>
            <a:tailEnd type="stealth" w="sm" len="lg"/>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FF"/>
              </a:solidFill>
              <a:effectLst/>
              <a:uLnTx/>
              <a:uFillTx/>
              <a:ea typeface="黑体" panose="02010609060101010101" pitchFamily="49" charset="-122"/>
            </a:endParaRPr>
          </a:p>
        </p:txBody>
      </p:sp>
      <p:sp>
        <p:nvSpPr>
          <p:cNvPr id="45" name="Text Box 27">
            <a:extLst>
              <a:ext uri="{FF2B5EF4-FFF2-40B4-BE49-F238E27FC236}">
                <a16:creationId xmlns:a16="http://schemas.microsoft.com/office/drawing/2014/main" id="{77C8031F-BE3A-4619-CD8F-8F1EBED0E7DA}"/>
              </a:ext>
            </a:extLst>
          </p:cNvPr>
          <p:cNvSpPr txBox="1">
            <a:spLocks noChangeArrowheads="1"/>
          </p:cNvSpPr>
          <p:nvPr/>
        </p:nvSpPr>
        <p:spPr bwMode="auto">
          <a:xfrm rot="16200000">
            <a:off x="7109171" y="4215309"/>
            <a:ext cx="7207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1" lang="en-US" altLang="zh-CN" sz="2400" b="0" i="0" u="none" strike="noStrike" kern="0" cap="none" spc="0" normalizeH="0" baseline="0" noProof="0" dirty="0">
                <a:ln>
                  <a:noFill/>
                </a:ln>
                <a:solidFill>
                  <a:srgbClr val="FFFFFF"/>
                </a:solidFill>
                <a:effectLst/>
                <a:uLnTx/>
                <a:uFillTx/>
                <a:latin typeface="Times New Roman" panose="02020603050405020304" pitchFamily="18" charset="0"/>
                <a:ea typeface="黑体" panose="02010609060101010101" pitchFamily="49" charset="-122"/>
                <a:sym typeface="Symbol" panose="05050102010706020507" pitchFamily="18" charset="2"/>
              </a:rPr>
              <a:t> </a:t>
            </a:r>
            <a:r>
              <a:rPr kumimoji="1" lang="en-US" altLang="zh-CN" sz="2400" b="0" u="none" strike="noStrike" kern="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sym typeface="Symbol" panose="05050102010706020507" pitchFamily="18" charset="2"/>
              </a:rPr>
              <a:t></a:t>
            </a:r>
            <a:r>
              <a:rPr kumimoji="1"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宋体" panose="02010600030101010101" pitchFamily="2" charset="-122"/>
              </a:rPr>
              <a:t>b</a:t>
            </a:r>
          </a:p>
        </p:txBody>
      </p:sp>
      <p:sp>
        <p:nvSpPr>
          <p:cNvPr id="46" name="Line 28">
            <a:extLst>
              <a:ext uri="{FF2B5EF4-FFF2-40B4-BE49-F238E27FC236}">
                <a16:creationId xmlns:a16="http://schemas.microsoft.com/office/drawing/2014/main" id="{FC5BB9E7-F67E-FE48-FBCA-7EDA0517F5DE}"/>
              </a:ext>
            </a:extLst>
          </p:cNvPr>
          <p:cNvSpPr>
            <a:spLocks noChangeShapeType="1"/>
          </p:cNvSpPr>
          <p:nvPr/>
        </p:nvSpPr>
        <p:spPr bwMode="auto">
          <a:xfrm flipH="1">
            <a:off x="8360122" y="2837359"/>
            <a:ext cx="1154112" cy="2716212"/>
          </a:xfrm>
          <a:prstGeom prst="line">
            <a:avLst/>
          </a:prstGeom>
          <a:noFill/>
          <a:ln w="19050">
            <a:solidFill>
              <a:schemeClr val="tx1"/>
            </a:solidFill>
            <a:prstDash val="lgDash"/>
            <a:round/>
            <a:headEnd/>
            <a:tailE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FF"/>
              </a:solidFill>
              <a:effectLst/>
              <a:uLnTx/>
              <a:uFillTx/>
              <a:ea typeface="黑体" panose="02010609060101010101" pitchFamily="49" charset="-122"/>
            </a:endParaRPr>
          </a:p>
        </p:txBody>
      </p:sp>
    </p:spTree>
    <p:extLst>
      <p:ext uri="{BB962C8B-B14F-4D97-AF65-F5344CB8AC3E}">
        <p14:creationId xmlns:p14="http://schemas.microsoft.com/office/powerpoint/2010/main" val="3802205612"/>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5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mediacall" presetSubtype="0" fill="hold" nodeType="clickEffect">
                                  <p:stCondLst>
                                    <p:cond delay="0"/>
                                  </p:stCondLst>
                                  <p:childTnLst>
                                    <p:cmd type="call" cmd="playFrom(0.0)">
                                      <p:cBhvr>
                                        <p:cTn id="14" dur="1034" fill="hold"/>
                                        <p:tgtEl>
                                          <p:spTgt spid="2"/>
                                        </p:tgtEl>
                                      </p:cBhvr>
                                    </p:cmd>
                                  </p:childTnLst>
                                </p:cTn>
                              </p:par>
                            </p:childTnLst>
                          </p:cTn>
                        </p:par>
                        <p:par>
                          <p:cTn id="15" fill="hold">
                            <p:stCondLst>
                              <p:cond delay="1034"/>
                            </p:stCondLst>
                            <p:childTnLst>
                              <p:par>
                                <p:cTn id="16" presetID="50" presetClass="entr" presetSubtype="0" decel="100000" fill="hold" grpId="0" nodeType="afterEffect">
                                  <p:stCondLst>
                                    <p:cond delay="0"/>
                                  </p:stCondLst>
                                  <p:childTnLst>
                                    <p:set>
                                      <p:cBhvr>
                                        <p:cTn id="17" dur="1" fill="hold">
                                          <p:stCondLst>
                                            <p:cond delay="0"/>
                                          </p:stCondLst>
                                        </p:cTn>
                                        <p:tgtEl>
                                          <p:spTgt spid="41"/>
                                        </p:tgtEl>
                                        <p:attrNameLst>
                                          <p:attrName>style.visibility</p:attrName>
                                        </p:attrNameLst>
                                      </p:cBhvr>
                                      <p:to>
                                        <p:strVal val="visible"/>
                                      </p:to>
                                    </p:set>
                                    <p:anim calcmode="lin" valueType="num">
                                      <p:cBhvr>
                                        <p:cTn id="18" dur="500" fill="hold"/>
                                        <p:tgtEl>
                                          <p:spTgt spid="41"/>
                                        </p:tgtEl>
                                        <p:attrNameLst>
                                          <p:attrName>ppt_w</p:attrName>
                                        </p:attrNameLst>
                                      </p:cBhvr>
                                      <p:tavLst>
                                        <p:tav tm="0">
                                          <p:val>
                                            <p:strVal val="#ppt_w+.3"/>
                                          </p:val>
                                        </p:tav>
                                        <p:tav tm="100000">
                                          <p:val>
                                            <p:strVal val="#ppt_w"/>
                                          </p:val>
                                        </p:tav>
                                      </p:tavLst>
                                    </p:anim>
                                    <p:anim calcmode="lin" valueType="num">
                                      <p:cBhvr>
                                        <p:cTn id="19" dur="500" fill="hold"/>
                                        <p:tgtEl>
                                          <p:spTgt spid="41"/>
                                        </p:tgtEl>
                                        <p:attrNameLst>
                                          <p:attrName>ppt_h</p:attrName>
                                        </p:attrNameLst>
                                      </p:cBhvr>
                                      <p:tavLst>
                                        <p:tav tm="0">
                                          <p:val>
                                            <p:strVal val="#ppt_h"/>
                                          </p:val>
                                        </p:tav>
                                        <p:tav tm="100000">
                                          <p:val>
                                            <p:strVal val="#ppt_h"/>
                                          </p:val>
                                        </p:tav>
                                      </p:tavLst>
                                    </p:anim>
                                    <p:animEffect transition="in" filter="fade">
                                      <p:cBhvr>
                                        <p:cTn id="20" dur="500"/>
                                        <p:tgtEl>
                                          <p:spTgt spid="41"/>
                                        </p:tgtEl>
                                      </p:cBhvr>
                                    </p:animEffect>
                                  </p:childTnLst>
                                  <p:subTnLst>
                                    <p:set>
                                      <p:cBhvr override="childStyle">
                                        <p:cTn dur="1" fill="hold" display="0" masterRel="sameClick" afterEffect="1">
                                          <p:stCondLst>
                                            <p:cond evt="end" delay="0">
                                              <p:tn val="16"/>
                                            </p:cond>
                                          </p:stCondLst>
                                        </p:cTn>
                                        <p:tgtEl>
                                          <p:spTgt spid="41"/>
                                        </p:tgtEl>
                                        <p:attrNameLst>
                                          <p:attrName>style.visibility</p:attrName>
                                        </p:attrNameLst>
                                      </p:cBhvr>
                                      <p:to>
                                        <p:strVal val="hidden"/>
                                      </p:to>
                                    </p:set>
                                    <p:audio>
                                      <p:cMediaNode vol="100000">
                                        <p:cTn display="0" masterRel="sameClick">
                                          <p:stCondLst>
                                            <p:cond evt="begin" delay="0">
                                              <p:tn val="16"/>
                                            </p:cond>
                                          </p:stCondLst>
                                          <p:endCondLst>
                                            <p:cond evt="onStopAudio" delay="0">
                                              <p:tgtEl>
                                                <p:sldTgt/>
                                              </p:tgtEl>
                                            </p:cond>
                                          </p:endCondLst>
                                        </p:cTn>
                                        <p:tgtEl>
                                          <p:sndTgt r:embed="rId5" name="hammer.wav"/>
                                        </p:tgtEl>
                                      </p:cMediaNode>
                                    </p:audio>
                                  </p:subTnLst>
                                </p:cTn>
                              </p:par>
                            </p:childTnLst>
                          </p:cTn>
                        </p:par>
                      </p:childTnLst>
                    </p:cTn>
                  </p:par>
                  <p:par>
                    <p:cTn id="21" fill="hold">
                      <p:stCondLst>
                        <p:cond delay="indefinite"/>
                      </p:stCondLst>
                      <p:childTnLst>
                        <p:par>
                          <p:cTn id="22" fill="hold">
                            <p:stCondLst>
                              <p:cond delay="0"/>
                            </p:stCondLst>
                            <p:childTnLst>
                              <p:par>
                                <p:cTn id="23" presetID="2" presetClass="mediacall" presetSubtype="0" fill="hold" nodeType="clickEffect">
                                  <p:stCondLst>
                                    <p:cond delay="0"/>
                                  </p:stCondLst>
                                  <p:childTnLst>
                                    <p:cmd type="call" cmd="togglePause">
                                      <p:cBhvr>
                                        <p:cTn id="24" dur="1" fill="hold"/>
                                        <p:tgtEl>
                                          <p:spTgt spid="2"/>
                                        </p:tgtEl>
                                      </p:cBhvr>
                                    </p:cmd>
                                  </p:childTnLst>
                                </p:cTn>
                              </p:par>
                            </p:childTnLst>
                          </p:cTn>
                        </p:par>
                      </p:childTnLst>
                    </p:cTn>
                  </p:par>
                  <p:par>
                    <p:cTn id="25" fill="hold">
                      <p:stCondLst>
                        <p:cond delay="indefinite"/>
                      </p:stCondLst>
                      <p:childTnLst>
                        <p:par>
                          <p:cTn id="26" fill="hold">
                            <p:stCondLst>
                              <p:cond delay="0"/>
                            </p:stCondLst>
                            <p:childTnLst>
                              <p:par>
                                <p:cTn id="27" presetID="17" presetClass="entr" presetSubtype="8"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 calcmode="lin" valueType="num">
                                      <p:cBhvr>
                                        <p:cTn id="29" dur="500" fill="hold"/>
                                        <p:tgtEl>
                                          <p:spTgt spid="26"/>
                                        </p:tgtEl>
                                        <p:attrNameLst>
                                          <p:attrName>ppt_x</p:attrName>
                                        </p:attrNameLst>
                                      </p:cBhvr>
                                      <p:tavLst>
                                        <p:tav tm="0">
                                          <p:val>
                                            <p:strVal val="#ppt_x-#ppt_w/2"/>
                                          </p:val>
                                        </p:tav>
                                        <p:tav tm="100000">
                                          <p:val>
                                            <p:strVal val="#ppt_x"/>
                                          </p:val>
                                        </p:tav>
                                      </p:tavLst>
                                    </p:anim>
                                    <p:anim calcmode="lin" valueType="num">
                                      <p:cBhvr>
                                        <p:cTn id="30" dur="500" fill="hold"/>
                                        <p:tgtEl>
                                          <p:spTgt spid="26"/>
                                        </p:tgtEl>
                                        <p:attrNameLst>
                                          <p:attrName>ppt_y</p:attrName>
                                        </p:attrNameLst>
                                      </p:cBhvr>
                                      <p:tavLst>
                                        <p:tav tm="0">
                                          <p:val>
                                            <p:strVal val="#ppt_y"/>
                                          </p:val>
                                        </p:tav>
                                        <p:tav tm="100000">
                                          <p:val>
                                            <p:strVal val="#ppt_y"/>
                                          </p:val>
                                        </p:tav>
                                      </p:tavLst>
                                    </p:anim>
                                    <p:anim calcmode="lin" valueType="num">
                                      <p:cBhvr>
                                        <p:cTn id="31" dur="500" fill="hold"/>
                                        <p:tgtEl>
                                          <p:spTgt spid="26"/>
                                        </p:tgtEl>
                                        <p:attrNameLst>
                                          <p:attrName>ppt_w</p:attrName>
                                        </p:attrNameLst>
                                      </p:cBhvr>
                                      <p:tavLst>
                                        <p:tav tm="0">
                                          <p:val>
                                            <p:fltVal val="0"/>
                                          </p:val>
                                        </p:tav>
                                        <p:tav tm="100000">
                                          <p:val>
                                            <p:strVal val="#ppt_w"/>
                                          </p:val>
                                        </p:tav>
                                      </p:tavLst>
                                    </p:anim>
                                    <p:anim calcmode="lin" valueType="num">
                                      <p:cBhvr>
                                        <p:cTn id="32" dur="500" fill="hold"/>
                                        <p:tgtEl>
                                          <p:spTgt spid="26"/>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7"/>
                                            </p:cond>
                                          </p:stCondLst>
                                          <p:endCondLst>
                                            <p:cond evt="onStopAudio" delay="0">
                                              <p:tgtEl>
                                                <p:sldTgt/>
                                              </p:tgtEl>
                                            </p:cond>
                                          </p:endCondLst>
                                        </p:cTn>
                                        <p:tgtEl>
                                          <p:sndTgt r:embed="rId6" name="CHIMES.WAV"/>
                                        </p:tgtEl>
                                      </p:cMediaNode>
                                    </p:audio>
                                  </p:subTnLst>
                                </p:cTn>
                              </p:par>
                            </p:childTnLst>
                          </p:cTn>
                        </p:par>
                        <p:par>
                          <p:cTn id="33" fill="hold">
                            <p:stCondLst>
                              <p:cond delay="500"/>
                            </p:stCondLst>
                            <p:childTnLst>
                              <p:par>
                                <p:cTn id="34" presetID="17" presetClass="entr" presetSubtype="4" fill="hold" nodeType="afterEffect">
                                  <p:stCondLst>
                                    <p:cond delay="500"/>
                                  </p:stCondLst>
                                  <p:childTnLst>
                                    <p:set>
                                      <p:cBhvr>
                                        <p:cTn id="35" dur="1" fill="hold">
                                          <p:stCondLst>
                                            <p:cond delay="0"/>
                                          </p:stCondLst>
                                        </p:cTn>
                                        <p:tgtEl>
                                          <p:spTgt spid="27"/>
                                        </p:tgtEl>
                                        <p:attrNameLst>
                                          <p:attrName>style.visibility</p:attrName>
                                        </p:attrNameLst>
                                      </p:cBhvr>
                                      <p:to>
                                        <p:strVal val="visible"/>
                                      </p:to>
                                    </p:set>
                                    <p:anim calcmode="lin" valueType="num">
                                      <p:cBhvr>
                                        <p:cTn id="36" dur="500" fill="hold"/>
                                        <p:tgtEl>
                                          <p:spTgt spid="27"/>
                                        </p:tgtEl>
                                        <p:attrNameLst>
                                          <p:attrName>ppt_x</p:attrName>
                                        </p:attrNameLst>
                                      </p:cBhvr>
                                      <p:tavLst>
                                        <p:tav tm="0">
                                          <p:val>
                                            <p:strVal val="#ppt_x"/>
                                          </p:val>
                                        </p:tav>
                                        <p:tav tm="100000">
                                          <p:val>
                                            <p:strVal val="#ppt_x"/>
                                          </p:val>
                                        </p:tav>
                                      </p:tavLst>
                                    </p:anim>
                                    <p:anim calcmode="lin" valueType="num">
                                      <p:cBhvr>
                                        <p:cTn id="37" dur="500" fill="hold"/>
                                        <p:tgtEl>
                                          <p:spTgt spid="27"/>
                                        </p:tgtEl>
                                        <p:attrNameLst>
                                          <p:attrName>ppt_y</p:attrName>
                                        </p:attrNameLst>
                                      </p:cBhvr>
                                      <p:tavLst>
                                        <p:tav tm="0">
                                          <p:val>
                                            <p:strVal val="#ppt_y+#ppt_h/2"/>
                                          </p:val>
                                        </p:tav>
                                        <p:tav tm="100000">
                                          <p:val>
                                            <p:strVal val="#ppt_y"/>
                                          </p:val>
                                        </p:tav>
                                      </p:tavLst>
                                    </p:anim>
                                    <p:anim calcmode="lin" valueType="num">
                                      <p:cBhvr>
                                        <p:cTn id="38" dur="500" fill="hold"/>
                                        <p:tgtEl>
                                          <p:spTgt spid="27"/>
                                        </p:tgtEl>
                                        <p:attrNameLst>
                                          <p:attrName>ppt_w</p:attrName>
                                        </p:attrNameLst>
                                      </p:cBhvr>
                                      <p:tavLst>
                                        <p:tav tm="0">
                                          <p:val>
                                            <p:strVal val="#ppt_w"/>
                                          </p:val>
                                        </p:tav>
                                        <p:tav tm="100000">
                                          <p:val>
                                            <p:strVal val="#ppt_w"/>
                                          </p:val>
                                        </p:tav>
                                      </p:tavLst>
                                    </p:anim>
                                    <p:anim calcmode="lin" valueType="num">
                                      <p:cBhvr>
                                        <p:cTn id="39" dur="500" fill="hold"/>
                                        <p:tgtEl>
                                          <p:spTgt spid="27"/>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34"/>
                                            </p:cond>
                                          </p:stCondLst>
                                          <p:endCondLst>
                                            <p:cond evt="onStopAudio" delay="0">
                                              <p:tgtEl>
                                                <p:sldTgt/>
                                              </p:tgtEl>
                                            </p:cond>
                                          </p:endCondLst>
                                        </p:cTn>
                                        <p:tgtEl>
                                          <p:sndTgt r:embed="rId6" name="CHIMES.WAV"/>
                                        </p:tgtEl>
                                      </p:cMediaNode>
                                    </p:audio>
                                  </p:subTnLst>
                                </p:cTn>
                              </p:par>
                            </p:childTnLst>
                          </p:cTn>
                        </p:par>
                        <p:par>
                          <p:cTn id="40" fill="hold">
                            <p:stCondLst>
                              <p:cond delay="1500"/>
                            </p:stCondLst>
                            <p:childTnLst>
                              <p:par>
                                <p:cTn id="41" presetID="17" presetClass="entr" presetSubtype="10" fill="hold" grpId="0" nodeType="afterEffect">
                                  <p:stCondLst>
                                    <p:cond delay="500"/>
                                  </p:stCondLst>
                                  <p:childTnLst>
                                    <p:set>
                                      <p:cBhvr>
                                        <p:cTn id="42" dur="1" fill="hold">
                                          <p:stCondLst>
                                            <p:cond delay="0"/>
                                          </p:stCondLst>
                                        </p:cTn>
                                        <p:tgtEl>
                                          <p:spTgt spid="28"/>
                                        </p:tgtEl>
                                        <p:attrNameLst>
                                          <p:attrName>style.visibility</p:attrName>
                                        </p:attrNameLst>
                                      </p:cBhvr>
                                      <p:to>
                                        <p:strVal val="visible"/>
                                      </p:to>
                                    </p:set>
                                    <p:anim calcmode="lin" valueType="num">
                                      <p:cBhvr>
                                        <p:cTn id="43" dur="500" fill="hold"/>
                                        <p:tgtEl>
                                          <p:spTgt spid="28"/>
                                        </p:tgtEl>
                                        <p:attrNameLst>
                                          <p:attrName>ppt_w</p:attrName>
                                        </p:attrNameLst>
                                      </p:cBhvr>
                                      <p:tavLst>
                                        <p:tav tm="0">
                                          <p:val>
                                            <p:fltVal val="0"/>
                                          </p:val>
                                        </p:tav>
                                        <p:tav tm="100000">
                                          <p:val>
                                            <p:strVal val="#ppt_w"/>
                                          </p:val>
                                        </p:tav>
                                      </p:tavLst>
                                    </p:anim>
                                    <p:anim calcmode="lin" valueType="num">
                                      <p:cBhvr>
                                        <p:cTn id="44" dur="500" fill="hold"/>
                                        <p:tgtEl>
                                          <p:spTgt spid="28"/>
                                        </p:tgtEl>
                                        <p:attrNameLst>
                                          <p:attrName>ppt_h</p:attrName>
                                        </p:attrNameLst>
                                      </p:cBhvr>
                                      <p:tavLst>
                                        <p:tav tm="0">
                                          <p:val>
                                            <p:strVal val="#ppt_h"/>
                                          </p:val>
                                        </p:tav>
                                        <p:tav tm="100000">
                                          <p:val>
                                            <p:strVal val="#ppt_h"/>
                                          </p:val>
                                        </p:tav>
                                      </p:tavLst>
                                    </p:anim>
                                  </p:childTnLst>
                                </p:cTn>
                              </p:par>
                            </p:childTnLst>
                          </p:cTn>
                        </p:par>
                        <p:par>
                          <p:cTn id="45" fill="hold">
                            <p:stCondLst>
                              <p:cond delay="2500"/>
                            </p:stCondLst>
                            <p:childTnLst>
                              <p:par>
                                <p:cTn id="46" presetID="17" presetClass="entr" presetSubtype="10" fill="hold" grpId="0" nodeType="afterEffect">
                                  <p:stCondLst>
                                    <p:cond delay="500"/>
                                  </p:stCondLst>
                                  <p:childTnLst>
                                    <p:set>
                                      <p:cBhvr>
                                        <p:cTn id="47" dur="1" fill="hold">
                                          <p:stCondLst>
                                            <p:cond delay="0"/>
                                          </p:stCondLst>
                                        </p:cTn>
                                        <p:tgtEl>
                                          <p:spTgt spid="40"/>
                                        </p:tgtEl>
                                        <p:attrNameLst>
                                          <p:attrName>style.visibility</p:attrName>
                                        </p:attrNameLst>
                                      </p:cBhvr>
                                      <p:to>
                                        <p:strVal val="visible"/>
                                      </p:to>
                                    </p:set>
                                    <p:anim calcmode="lin" valueType="num">
                                      <p:cBhvr>
                                        <p:cTn id="48" dur="500" fill="hold"/>
                                        <p:tgtEl>
                                          <p:spTgt spid="40"/>
                                        </p:tgtEl>
                                        <p:attrNameLst>
                                          <p:attrName>ppt_w</p:attrName>
                                        </p:attrNameLst>
                                      </p:cBhvr>
                                      <p:tavLst>
                                        <p:tav tm="0">
                                          <p:val>
                                            <p:fltVal val="0"/>
                                          </p:val>
                                        </p:tav>
                                        <p:tav tm="100000">
                                          <p:val>
                                            <p:strVal val="#ppt_w"/>
                                          </p:val>
                                        </p:tav>
                                      </p:tavLst>
                                    </p:anim>
                                    <p:anim calcmode="lin" valueType="num">
                                      <p:cBhvr>
                                        <p:cTn id="49" dur="500" fill="hold"/>
                                        <p:tgtEl>
                                          <p:spTgt spid="40"/>
                                        </p:tgtEl>
                                        <p:attrNameLst>
                                          <p:attrName>ppt_h</p:attrName>
                                        </p:attrNameLst>
                                      </p:cBhvr>
                                      <p:tavLst>
                                        <p:tav tm="0">
                                          <p:val>
                                            <p:strVal val="#ppt_h"/>
                                          </p:val>
                                        </p:tav>
                                        <p:tav tm="100000">
                                          <p:val>
                                            <p:strVal val="#ppt_h"/>
                                          </p:val>
                                        </p:tav>
                                      </p:tavLst>
                                    </p:anim>
                                  </p:childTnLst>
                                </p:cTn>
                              </p:par>
                            </p:childTnLst>
                          </p:cTn>
                        </p:par>
                        <p:par>
                          <p:cTn id="50" fill="hold">
                            <p:stCondLst>
                              <p:cond delay="3500"/>
                            </p:stCondLst>
                            <p:childTnLst>
                              <p:par>
                                <p:cTn id="51" presetID="23" presetClass="entr" presetSubtype="272" fill="hold" grpId="0" nodeType="afterEffect">
                                  <p:stCondLst>
                                    <p:cond delay="300"/>
                                  </p:stCondLst>
                                  <p:childTnLst>
                                    <p:set>
                                      <p:cBhvr>
                                        <p:cTn id="52" dur="1" fill="hold">
                                          <p:stCondLst>
                                            <p:cond delay="0"/>
                                          </p:stCondLst>
                                        </p:cTn>
                                        <p:tgtEl>
                                          <p:spTgt spid="32"/>
                                        </p:tgtEl>
                                        <p:attrNameLst>
                                          <p:attrName>style.visibility</p:attrName>
                                        </p:attrNameLst>
                                      </p:cBhvr>
                                      <p:to>
                                        <p:strVal val="visible"/>
                                      </p:to>
                                    </p:set>
                                    <p:anim calcmode="lin" valueType="num">
                                      <p:cBhvr>
                                        <p:cTn id="53" dur="500" fill="hold"/>
                                        <p:tgtEl>
                                          <p:spTgt spid="32"/>
                                        </p:tgtEl>
                                        <p:attrNameLst>
                                          <p:attrName>ppt_w</p:attrName>
                                        </p:attrNameLst>
                                      </p:cBhvr>
                                      <p:tavLst>
                                        <p:tav tm="0">
                                          <p:val>
                                            <p:strVal val="2/3*#ppt_w"/>
                                          </p:val>
                                        </p:tav>
                                        <p:tav tm="100000">
                                          <p:val>
                                            <p:strVal val="#ppt_w"/>
                                          </p:val>
                                        </p:tav>
                                      </p:tavLst>
                                    </p:anim>
                                    <p:anim calcmode="lin" valueType="num">
                                      <p:cBhvr>
                                        <p:cTn id="54" dur="500" fill="hold"/>
                                        <p:tgtEl>
                                          <p:spTgt spid="32"/>
                                        </p:tgtEl>
                                        <p:attrNameLst>
                                          <p:attrName>ppt_h</p:attrName>
                                        </p:attrNameLst>
                                      </p:cBhvr>
                                      <p:tavLst>
                                        <p:tav tm="0">
                                          <p:val>
                                            <p:strVal val="2/3*#ppt_h"/>
                                          </p:val>
                                        </p:tav>
                                        <p:tav tm="100000">
                                          <p:val>
                                            <p:strVal val="#ppt_h"/>
                                          </p:val>
                                        </p:tav>
                                      </p:tavLst>
                                    </p:anim>
                                  </p:childTnLst>
                                  <p:subTnLst>
                                    <p:audio>
                                      <p:cMediaNode>
                                        <p:cTn display="0" masterRel="sameClick">
                                          <p:stCondLst>
                                            <p:cond evt="begin" delay="0">
                                              <p:tn val="51"/>
                                            </p:cond>
                                          </p:stCondLst>
                                          <p:endCondLst>
                                            <p:cond evt="onStopAudio" delay="0">
                                              <p:tgtEl>
                                                <p:sldTgt/>
                                              </p:tgtEl>
                                            </p:cond>
                                          </p:endCondLst>
                                        </p:cTn>
                                        <p:tgtEl>
                                          <p:sndTgt r:embed="rId6" name="CHIMES.WAV"/>
                                        </p:tgtEl>
                                      </p:cMediaNode>
                                    </p:audio>
                                  </p:subTnLst>
                                </p:cTn>
                              </p:par>
                            </p:childTnLst>
                          </p:cTn>
                        </p:par>
                        <p:par>
                          <p:cTn id="55" fill="hold">
                            <p:stCondLst>
                              <p:cond delay="4300"/>
                            </p:stCondLst>
                            <p:childTnLst>
                              <p:par>
                                <p:cTn id="56" presetID="23" presetClass="entr" presetSubtype="272" fill="hold" grpId="0" nodeType="afterEffect">
                                  <p:stCondLst>
                                    <p:cond delay="300"/>
                                  </p:stCondLst>
                                  <p:childTnLst>
                                    <p:set>
                                      <p:cBhvr>
                                        <p:cTn id="57" dur="1" fill="hold">
                                          <p:stCondLst>
                                            <p:cond delay="0"/>
                                          </p:stCondLst>
                                        </p:cTn>
                                        <p:tgtEl>
                                          <p:spTgt spid="33"/>
                                        </p:tgtEl>
                                        <p:attrNameLst>
                                          <p:attrName>style.visibility</p:attrName>
                                        </p:attrNameLst>
                                      </p:cBhvr>
                                      <p:to>
                                        <p:strVal val="visible"/>
                                      </p:to>
                                    </p:set>
                                    <p:anim calcmode="lin" valueType="num">
                                      <p:cBhvr>
                                        <p:cTn id="58" dur="500" fill="hold"/>
                                        <p:tgtEl>
                                          <p:spTgt spid="33"/>
                                        </p:tgtEl>
                                        <p:attrNameLst>
                                          <p:attrName>ppt_w</p:attrName>
                                        </p:attrNameLst>
                                      </p:cBhvr>
                                      <p:tavLst>
                                        <p:tav tm="0">
                                          <p:val>
                                            <p:strVal val="2/3*#ppt_w"/>
                                          </p:val>
                                        </p:tav>
                                        <p:tav tm="100000">
                                          <p:val>
                                            <p:strVal val="#ppt_w"/>
                                          </p:val>
                                        </p:tav>
                                      </p:tavLst>
                                    </p:anim>
                                    <p:anim calcmode="lin" valueType="num">
                                      <p:cBhvr>
                                        <p:cTn id="59" dur="500" fill="hold"/>
                                        <p:tgtEl>
                                          <p:spTgt spid="33"/>
                                        </p:tgtEl>
                                        <p:attrNameLst>
                                          <p:attrName>ppt_h</p:attrName>
                                        </p:attrNameLst>
                                      </p:cBhvr>
                                      <p:tavLst>
                                        <p:tav tm="0">
                                          <p:val>
                                            <p:strVal val="2/3*#ppt_h"/>
                                          </p:val>
                                        </p:tav>
                                        <p:tav tm="100000">
                                          <p:val>
                                            <p:strVal val="#ppt_h"/>
                                          </p:val>
                                        </p:tav>
                                      </p:tavLst>
                                    </p:anim>
                                  </p:childTnLst>
                                  <p:subTnLst>
                                    <p:audio>
                                      <p:cMediaNode>
                                        <p:cTn display="0" masterRel="sameClick">
                                          <p:stCondLst>
                                            <p:cond evt="begin" delay="0">
                                              <p:tn val="56"/>
                                            </p:cond>
                                          </p:stCondLst>
                                          <p:endCondLst>
                                            <p:cond evt="onStopAudio" delay="0">
                                              <p:tgtEl>
                                                <p:sldTgt/>
                                              </p:tgtEl>
                                            </p:cond>
                                          </p:endCondLst>
                                        </p:cTn>
                                        <p:tgtEl>
                                          <p:sndTgt r:embed="rId6" name="CHIMES.WAV"/>
                                        </p:tgtEl>
                                      </p:cMediaNode>
                                    </p:audio>
                                  </p:subTnLst>
                                </p:cTn>
                              </p:par>
                            </p:childTnLst>
                          </p:cTn>
                        </p:par>
                        <p:par>
                          <p:cTn id="60" fill="hold">
                            <p:stCondLst>
                              <p:cond delay="5100"/>
                            </p:stCondLst>
                            <p:childTnLst>
                              <p:par>
                                <p:cTn id="61" presetID="23" presetClass="entr" presetSubtype="272" fill="hold" grpId="0" nodeType="afterEffect">
                                  <p:stCondLst>
                                    <p:cond delay="300"/>
                                  </p:stCondLst>
                                  <p:childTnLst>
                                    <p:set>
                                      <p:cBhvr>
                                        <p:cTn id="62" dur="1" fill="hold">
                                          <p:stCondLst>
                                            <p:cond delay="0"/>
                                          </p:stCondLst>
                                        </p:cTn>
                                        <p:tgtEl>
                                          <p:spTgt spid="34"/>
                                        </p:tgtEl>
                                        <p:attrNameLst>
                                          <p:attrName>style.visibility</p:attrName>
                                        </p:attrNameLst>
                                      </p:cBhvr>
                                      <p:to>
                                        <p:strVal val="visible"/>
                                      </p:to>
                                    </p:set>
                                    <p:anim calcmode="lin" valueType="num">
                                      <p:cBhvr>
                                        <p:cTn id="63" dur="500" fill="hold"/>
                                        <p:tgtEl>
                                          <p:spTgt spid="34"/>
                                        </p:tgtEl>
                                        <p:attrNameLst>
                                          <p:attrName>ppt_w</p:attrName>
                                        </p:attrNameLst>
                                      </p:cBhvr>
                                      <p:tavLst>
                                        <p:tav tm="0">
                                          <p:val>
                                            <p:strVal val="2/3*#ppt_w"/>
                                          </p:val>
                                        </p:tav>
                                        <p:tav tm="100000">
                                          <p:val>
                                            <p:strVal val="#ppt_w"/>
                                          </p:val>
                                        </p:tav>
                                      </p:tavLst>
                                    </p:anim>
                                    <p:anim calcmode="lin" valueType="num">
                                      <p:cBhvr>
                                        <p:cTn id="64" dur="500" fill="hold"/>
                                        <p:tgtEl>
                                          <p:spTgt spid="34"/>
                                        </p:tgtEl>
                                        <p:attrNameLst>
                                          <p:attrName>ppt_h</p:attrName>
                                        </p:attrNameLst>
                                      </p:cBhvr>
                                      <p:tavLst>
                                        <p:tav tm="0">
                                          <p:val>
                                            <p:strVal val="2/3*#ppt_h"/>
                                          </p:val>
                                        </p:tav>
                                        <p:tav tm="100000">
                                          <p:val>
                                            <p:strVal val="#ppt_h"/>
                                          </p:val>
                                        </p:tav>
                                      </p:tavLst>
                                    </p:anim>
                                  </p:childTnLst>
                                  <p:subTnLst>
                                    <p:audio>
                                      <p:cMediaNode>
                                        <p:cTn display="0" masterRel="sameClick">
                                          <p:stCondLst>
                                            <p:cond evt="begin" delay="0">
                                              <p:tn val="61"/>
                                            </p:cond>
                                          </p:stCondLst>
                                          <p:endCondLst>
                                            <p:cond evt="onStopAudio" delay="0">
                                              <p:tgtEl>
                                                <p:sldTgt/>
                                              </p:tgtEl>
                                            </p:cond>
                                          </p:endCondLst>
                                        </p:cTn>
                                        <p:tgtEl>
                                          <p:sndTgt r:embed="rId6" name="CHIMES.WAV"/>
                                        </p:tgtEl>
                                      </p:cMediaNode>
                                    </p:audio>
                                  </p:subTnLst>
                                </p:cTn>
                              </p:par>
                            </p:childTnLst>
                          </p:cTn>
                        </p:par>
                        <p:par>
                          <p:cTn id="65" fill="hold">
                            <p:stCondLst>
                              <p:cond delay="5900"/>
                            </p:stCondLst>
                            <p:childTnLst>
                              <p:par>
                                <p:cTn id="66" presetID="23" presetClass="entr" presetSubtype="272" fill="hold" grpId="0" nodeType="afterEffect">
                                  <p:stCondLst>
                                    <p:cond delay="300"/>
                                  </p:stCondLst>
                                  <p:childTnLst>
                                    <p:set>
                                      <p:cBhvr>
                                        <p:cTn id="67" dur="1" fill="hold">
                                          <p:stCondLst>
                                            <p:cond delay="0"/>
                                          </p:stCondLst>
                                        </p:cTn>
                                        <p:tgtEl>
                                          <p:spTgt spid="35"/>
                                        </p:tgtEl>
                                        <p:attrNameLst>
                                          <p:attrName>style.visibility</p:attrName>
                                        </p:attrNameLst>
                                      </p:cBhvr>
                                      <p:to>
                                        <p:strVal val="visible"/>
                                      </p:to>
                                    </p:set>
                                    <p:anim calcmode="lin" valueType="num">
                                      <p:cBhvr>
                                        <p:cTn id="68" dur="500" fill="hold"/>
                                        <p:tgtEl>
                                          <p:spTgt spid="35"/>
                                        </p:tgtEl>
                                        <p:attrNameLst>
                                          <p:attrName>ppt_w</p:attrName>
                                        </p:attrNameLst>
                                      </p:cBhvr>
                                      <p:tavLst>
                                        <p:tav tm="0">
                                          <p:val>
                                            <p:strVal val="2/3*#ppt_w"/>
                                          </p:val>
                                        </p:tav>
                                        <p:tav tm="100000">
                                          <p:val>
                                            <p:strVal val="#ppt_w"/>
                                          </p:val>
                                        </p:tav>
                                      </p:tavLst>
                                    </p:anim>
                                    <p:anim calcmode="lin" valueType="num">
                                      <p:cBhvr>
                                        <p:cTn id="69" dur="500" fill="hold"/>
                                        <p:tgtEl>
                                          <p:spTgt spid="35"/>
                                        </p:tgtEl>
                                        <p:attrNameLst>
                                          <p:attrName>ppt_h</p:attrName>
                                        </p:attrNameLst>
                                      </p:cBhvr>
                                      <p:tavLst>
                                        <p:tav tm="0">
                                          <p:val>
                                            <p:strVal val="2/3*#ppt_h"/>
                                          </p:val>
                                        </p:tav>
                                        <p:tav tm="100000">
                                          <p:val>
                                            <p:strVal val="#ppt_h"/>
                                          </p:val>
                                        </p:tav>
                                      </p:tavLst>
                                    </p:anim>
                                  </p:childTnLst>
                                  <p:subTnLst>
                                    <p:audio>
                                      <p:cMediaNode>
                                        <p:cTn display="0" masterRel="sameClick">
                                          <p:stCondLst>
                                            <p:cond evt="begin" delay="0">
                                              <p:tn val="66"/>
                                            </p:cond>
                                          </p:stCondLst>
                                          <p:endCondLst>
                                            <p:cond evt="onStopAudio" delay="0">
                                              <p:tgtEl>
                                                <p:sldTgt/>
                                              </p:tgtEl>
                                            </p:cond>
                                          </p:endCondLst>
                                        </p:cTn>
                                        <p:tgtEl>
                                          <p:sndTgt r:embed="rId6" name="CHIMES.WAV"/>
                                        </p:tgtEl>
                                      </p:cMediaNode>
                                    </p:audio>
                                  </p:subTnLst>
                                </p:cTn>
                              </p:par>
                            </p:childTnLst>
                          </p:cTn>
                        </p:par>
                        <p:par>
                          <p:cTn id="70" fill="hold">
                            <p:stCondLst>
                              <p:cond delay="6700"/>
                            </p:stCondLst>
                            <p:childTnLst>
                              <p:par>
                                <p:cTn id="71" presetID="23" presetClass="entr" presetSubtype="272" fill="hold" grpId="0" nodeType="afterEffect">
                                  <p:stCondLst>
                                    <p:cond delay="300"/>
                                  </p:stCondLst>
                                  <p:childTnLst>
                                    <p:set>
                                      <p:cBhvr>
                                        <p:cTn id="72" dur="1" fill="hold">
                                          <p:stCondLst>
                                            <p:cond delay="0"/>
                                          </p:stCondLst>
                                        </p:cTn>
                                        <p:tgtEl>
                                          <p:spTgt spid="36"/>
                                        </p:tgtEl>
                                        <p:attrNameLst>
                                          <p:attrName>style.visibility</p:attrName>
                                        </p:attrNameLst>
                                      </p:cBhvr>
                                      <p:to>
                                        <p:strVal val="visible"/>
                                      </p:to>
                                    </p:set>
                                    <p:anim calcmode="lin" valueType="num">
                                      <p:cBhvr>
                                        <p:cTn id="73" dur="500" fill="hold"/>
                                        <p:tgtEl>
                                          <p:spTgt spid="36"/>
                                        </p:tgtEl>
                                        <p:attrNameLst>
                                          <p:attrName>ppt_w</p:attrName>
                                        </p:attrNameLst>
                                      </p:cBhvr>
                                      <p:tavLst>
                                        <p:tav tm="0">
                                          <p:val>
                                            <p:strVal val="2/3*#ppt_w"/>
                                          </p:val>
                                        </p:tav>
                                        <p:tav tm="100000">
                                          <p:val>
                                            <p:strVal val="#ppt_w"/>
                                          </p:val>
                                        </p:tav>
                                      </p:tavLst>
                                    </p:anim>
                                    <p:anim calcmode="lin" valueType="num">
                                      <p:cBhvr>
                                        <p:cTn id="74" dur="500" fill="hold"/>
                                        <p:tgtEl>
                                          <p:spTgt spid="36"/>
                                        </p:tgtEl>
                                        <p:attrNameLst>
                                          <p:attrName>ppt_h</p:attrName>
                                        </p:attrNameLst>
                                      </p:cBhvr>
                                      <p:tavLst>
                                        <p:tav tm="0">
                                          <p:val>
                                            <p:strVal val="2/3*#ppt_h"/>
                                          </p:val>
                                        </p:tav>
                                        <p:tav tm="100000">
                                          <p:val>
                                            <p:strVal val="#ppt_h"/>
                                          </p:val>
                                        </p:tav>
                                      </p:tavLst>
                                    </p:anim>
                                  </p:childTnLst>
                                  <p:subTnLst>
                                    <p:audio>
                                      <p:cMediaNode>
                                        <p:cTn display="0" masterRel="sameClick">
                                          <p:stCondLst>
                                            <p:cond evt="begin" delay="0">
                                              <p:tn val="71"/>
                                            </p:cond>
                                          </p:stCondLst>
                                          <p:endCondLst>
                                            <p:cond evt="onStopAudio" delay="0">
                                              <p:tgtEl>
                                                <p:sldTgt/>
                                              </p:tgtEl>
                                            </p:cond>
                                          </p:endCondLst>
                                        </p:cTn>
                                        <p:tgtEl>
                                          <p:sndTgt r:embed="rId6" name="CHIMES.WAV"/>
                                        </p:tgtEl>
                                      </p:cMediaNode>
                                    </p:audio>
                                  </p:subTnLst>
                                </p:cTn>
                              </p:par>
                            </p:childTnLst>
                          </p:cTn>
                        </p:par>
                        <p:par>
                          <p:cTn id="75" fill="hold">
                            <p:stCondLst>
                              <p:cond delay="7500"/>
                            </p:stCondLst>
                            <p:childTnLst>
                              <p:par>
                                <p:cTn id="76" presetID="23" presetClass="entr" presetSubtype="272" fill="hold" grpId="0" nodeType="afterEffect">
                                  <p:stCondLst>
                                    <p:cond delay="300"/>
                                  </p:stCondLst>
                                  <p:childTnLst>
                                    <p:set>
                                      <p:cBhvr>
                                        <p:cTn id="77" dur="1" fill="hold">
                                          <p:stCondLst>
                                            <p:cond delay="0"/>
                                          </p:stCondLst>
                                        </p:cTn>
                                        <p:tgtEl>
                                          <p:spTgt spid="37"/>
                                        </p:tgtEl>
                                        <p:attrNameLst>
                                          <p:attrName>style.visibility</p:attrName>
                                        </p:attrNameLst>
                                      </p:cBhvr>
                                      <p:to>
                                        <p:strVal val="visible"/>
                                      </p:to>
                                    </p:set>
                                    <p:anim calcmode="lin" valueType="num">
                                      <p:cBhvr>
                                        <p:cTn id="78" dur="500" fill="hold"/>
                                        <p:tgtEl>
                                          <p:spTgt spid="37"/>
                                        </p:tgtEl>
                                        <p:attrNameLst>
                                          <p:attrName>ppt_w</p:attrName>
                                        </p:attrNameLst>
                                      </p:cBhvr>
                                      <p:tavLst>
                                        <p:tav tm="0">
                                          <p:val>
                                            <p:strVal val="2/3*#ppt_w"/>
                                          </p:val>
                                        </p:tav>
                                        <p:tav tm="100000">
                                          <p:val>
                                            <p:strVal val="#ppt_w"/>
                                          </p:val>
                                        </p:tav>
                                      </p:tavLst>
                                    </p:anim>
                                    <p:anim calcmode="lin" valueType="num">
                                      <p:cBhvr>
                                        <p:cTn id="79" dur="500" fill="hold"/>
                                        <p:tgtEl>
                                          <p:spTgt spid="37"/>
                                        </p:tgtEl>
                                        <p:attrNameLst>
                                          <p:attrName>ppt_h</p:attrName>
                                        </p:attrNameLst>
                                      </p:cBhvr>
                                      <p:tavLst>
                                        <p:tav tm="0">
                                          <p:val>
                                            <p:strVal val="2/3*#ppt_h"/>
                                          </p:val>
                                        </p:tav>
                                        <p:tav tm="100000">
                                          <p:val>
                                            <p:strVal val="#ppt_h"/>
                                          </p:val>
                                        </p:tav>
                                      </p:tavLst>
                                    </p:anim>
                                  </p:childTnLst>
                                  <p:subTnLst>
                                    <p:audio>
                                      <p:cMediaNode>
                                        <p:cTn display="0" masterRel="sameClick">
                                          <p:stCondLst>
                                            <p:cond evt="begin" delay="0">
                                              <p:tn val="76"/>
                                            </p:cond>
                                          </p:stCondLst>
                                          <p:endCondLst>
                                            <p:cond evt="onStopAudio" delay="0">
                                              <p:tgtEl>
                                                <p:sldTgt/>
                                              </p:tgtEl>
                                            </p:cond>
                                          </p:endCondLst>
                                        </p:cTn>
                                        <p:tgtEl>
                                          <p:sndTgt r:embed="rId6" name="CHIMES.WAV"/>
                                        </p:tgtEl>
                                      </p:cMediaNode>
                                    </p:audio>
                                  </p:subTnLst>
                                </p:cTn>
                              </p:par>
                            </p:childTnLst>
                          </p:cTn>
                        </p:par>
                        <p:par>
                          <p:cTn id="80" fill="hold">
                            <p:stCondLst>
                              <p:cond delay="8300"/>
                            </p:stCondLst>
                            <p:childTnLst>
                              <p:par>
                                <p:cTn id="81" presetID="23" presetClass="entr" presetSubtype="272" fill="hold" grpId="0" nodeType="afterEffect">
                                  <p:stCondLst>
                                    <p:cond delay="300"/>
                                  </p:stCondLst>
                                  <p:childTnLst>
                                    <p:set>
                                      <p:cBhvr>
                                        <p:cTn id="82" dur="1" fill="hold">
                                          <p:stCondLst>
                                            <p:cond delay="0"/>
                                          </p:stCondLst>
                                        </p:cTn>
                                        <p:tgtEl>
                                          <p:spTgt spid="38"/>
                                        </p:tgtEl>
                                        <p:attrNameLst>
                                          <p:attrName>style.visibility</p:attrName>
                                        </p:attrNameLst>
                                      </p:cBhvr>
                                      <p:to>
                                        <p:strVal val="visible"/>
                                      </p:to>
                                    </p:set>
                                    <p:anim calcmode="lin" valueType="num">
                                      <p:cBhvr>
                                        <p:cTn id="83" dur="500" fill="hold"/>
                                        <p:tgtEl>
                                          <p:spTgt spid="38"/>
                                        </p:tgtEl>
                                        <p:attrNameLst>
                                          <p:attrName>ppt_w</p:attrName>
                                        </p:attrNameLst>
                                      </p:cBhvr>
                                      <p:tavLst>
                                        <p:tav tm="0">
                                          <p:val>
                                            <p:strVal val="2/3*#ppt_w"/>
                                          </p:val>
                                        </p:tav>
                                        <p:tav tm="100000">
                                          <p:val>
                                            <p:strVal val="#ppt_w"/>
                                          </p:val>
                                        </p:tav>
                                      </p:tavLst>
                                    </p:anim>
                                    <p:anim calcmode="lin" valueType="num">
                                      <p:cBhvr>
                                        <p:cTn id="84" dur="500" fill="hold"/>
                                        <p:tgtEl>
                                          <p:spTgt spid="38"/>
                                        </p:tgtEl>
                                        <p:attrNameLst>
                                          <p:attrName>ppt_h</p:attrName>
                                        </p:attrNameLst>
                                      </p:cBhvr>
                                      <p:tavLst>
                                        <p:tav tm="0">
                                          <p:val>
                                            <p:strVal val="2/3*#ppt_h"/>
                                          </p:val>
                                        </p:tav>
                                        <p:tav tm="100000">
                                          <p:val>
                                            <p:strVal val="#ppt_h"/>
                                          </p:val>
                                        </p:tav>
                                      </p:tavLst>
                                    </p:anim>
                                  </p:childTnLst>
                                  <p:subTnLst>
                                    <p:audio>
                                      <p:cMediaNode>
                                        <p:cTn display="0" masterRel="sameClick">
                                          <p:stCondLst>
                                            <p:cond evt="begin" delay="0">
                                              <p:tn val="81"/>
                                            </p:cond>
                                          </p:stCondLst>
                                          <p:endCondLst>
                                            <p:cond evt="onStopAudio" delay="0">
                                              <p:tgtEl>
                                                <p:sldTgt/>
                                              </p:tgtEl>
                                            </p:cond>
                                          </p:endCondLst>
                                        </p:cTn>
                                        <p:tgtEl>
                                          <p:sndTgt r:embed="rId6" name="CHIMES.WAV"/>
                                        </p:tgtEl>
                                      </p:cMediaNode>
                                    </p:audio>
                                  </p:subTnLst>
                                </p:cTn>
                              </p:par>
                            </p:childTnLst>
                          </p:cTn>
                        </p:par>
                        <p:par>
                          <p:cTn id="85" fill="hold">
                            <p:stCondLst>
                              <p:cond delay="9100"/>
                            </p:stCondLst>
                            <p:childTnLst>
                              <p:par>
                                <p:cTn id="86" presetID="23" presetClass="entr" presetSubtype="272" fill="hold" grpId="0" nodeType="afterEffect">
                                  <p:stCondLst>
                                    <p:cond delay="300"/>
                                  </p:stCondLst>
                                  <p:childTnLst>
                                    <p:set>
                                      <p:cBhvr>
                                        <p:cTn id="87" dur="1" fill="hold">
                                          <p:stCondLst>
                                            <p:cond delay="0"/>
                                          </p:stCondLst>
                                        </p:cTn>
                                        <p:tgtEl>
                                          <p:spTgt spid="39"/>
                                        </p:tgtEl>
                                        <p:attrNameLst>
                                          <p:attrName>style.visibility</p:attrName>
                                        </p:attrNameLst>
                                      </p:cBhvr>
                                      <p:to>
                                        <p:strVal val="visible"/>
                                      </p:to>
                                    </p:set>
                                    <p:anim calcmode="lin" valueType="num">
                                      <p:cBhvr>
                                        <p:cTn id="88" dur="500" fill="hold"/>
                                        <p:tgtEl>
                                          <p:spTgt spid="39"/>
                                        </p:tgtEl>
                                        <p:attrNameLst>
                                          <p:attrName>ppt_w</p:attrName>
                                        </p:attrNameLst>
                                      </p:cBhvr>
                                      <p:tavLst>
                                        <p:tav tm="0">
                                          <p:val>
                                            <p:strVal val="2/3*#ppt_w"/>
                                          </p:val>
                                        </p:tav>
                                        <p:tav tm="100000">
                                          <p:val>
                                            <p:strVal val="#ppt_w"/>
                                          </p:val>
                                        </p:tav>
                                      </p:tavLst>
                                    </p:anim>
                                    <p:anim calcmode="lin" valueType="num">
                                      <p:cBhvr>
                                        <p:cTn id="89" dur="500" fill="hold"/>
                                        <p:tgtEl>
                                          <p:spTgt spid="39"/>
                                        </p:tgtEl>
                                        <p:attrNameLst>
                                          <p:attrName>ppt_h</p:attrName>
                                        </p:attrNameLst>
                                      </p:cBhvr>
                                      <p:tavLst>
                                        <p:tav tm="0">
                                          <p:val>
                                            <p:strVal val="2/3*#ppt_h"/>
                                          </p:val>
                                        </p:tav>
                                        <p:tav tm="100000">
                                          <p:val>
                                            <p:strVal val="#ppt_h"/>
                                          </p:val>
                                        </p:tav>
                                      </p:tavLst>
                                    </p:anim>
                                  </p:childTnLst>
                                  <p:subTnLst>
                                    <p:audio>
                                      <p:cMediaNode>
                                        <p:cTn display="0" masterRel="sameClick">
                                          <p:stCondLst>
                                            <p:cond evt="begin" delay="0">
                                              <p:tn val="86"/>
                                            </p:cond>
                                          </p:stCondLst>
                                          <p:endCondLst>
                                            <p:cond evt="onStopAudio" delay="0">
                                              <p:tgtEl>
                                                <p:sldTgt/>
                                              </p:tgtEl>
                                            </p:cond>
                                          </p:endCondLst>
                                        </p:cTn>
                                        <p:tgtEl>
                                          <p:sndTgt r:embed="rId6" name="CHIMES.WAV"/>
                                        </p:tgtEl>
                                      </p:cMediaNode>
                                    </p:audio>
                                  </p:subTnLst>
                                </p:cTn>
                              </p:par>
                            </p:childTnLst>
                          </p:cTn>
                        </p:par>
                        <p:par>
                          <p:cTn id="90" fill="hold">
                            <p:stCondLst>
                              <p:cond delay="9900"/>
                            </p:stCondLst>
                            <p:childTnLst>
                              <p:par>
                                <p:cTn id="91" presetID="17" presetClass="entr" presetSubtype="10" fill="hold" grpId="0" nodeType="afterEffect">
                                  <p:stCondLst>
                                    <p:cond delay="500"/>
                                  </p:stCondLst>
                                  <p:iterate type="wd">
                                    <p:tmPct val="100000"/>
                                  </p:iterate>
                                  <p:childTnLst>
                                    <p:set>
                                      <p:cBhvr>
                                        <p:cTn id="92" dur="1" fill="hold">
                                          <p:stCondLst>
                                            <p:cond delay="0"/>
                                          </p:stCondLst>
                                        </p:cTn>
                                        <p:tgtEl>
                                          <p:spTgt spid="29"/>
                                        </p:tgtEl>
                                        <p:attrNameLst>
                                          <p:attrName>style.visibility</p:attrName>
                                        </p:attrNameLst>
                                      </p:cBhvr>
                                      <p:to>
                                        <p:strVal val="visible"/>
                                      </p:to>
                                    </p:set>
                                    <p:anim calcmode="lin" valueType="num">
                                      <p:cBhvr>
                                        <p:cTn id="93" dur="300" fill="hold"/>
                                        <p:tgtEl>
                                          <p:spTgt spid="29"/>
                                        </p:tgtEl>
                                        <p:attrNameLst>
                                          <p:attrName>ppt_w</p:attrName>
                                        </p:attrNameLst>
                                      </p:cBhvr>
                                      <p:tavLst>
                                        <p:tav tm="0">
                                          <p:val>
                                            <p:fltVal val="0"/>
                                          </p:val>
                                        </p:tav>
                                        <p:tav tm="100000">
                                          <p:val>
                                            <p:strVal val="#ppt_w"/>
                                          </p:val>
                                        </p:tav>
                                      </p:tavLst>
                                    </p:anim>
                                    <p:anim calcmode="lin" valueType="num">
                                      <p:cBhvr>
                                        <p:cTn id="94" dur="300" fill="hold"/>
                                        <p:tgtEl>
                                          <p:spTgt spid="29"/>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91"/>
                                            </p:cond>
                                          </p:stCondLst>
                                          <p:endCondLst>
                                            <p:cond evt="onStopAudio" delay="0">
                                              <p:tgtEl>
                                                <p:sldTgt/>
                                              </p:tgtEl>
                                            </p:cond>
                                          </p:endCondLst>
                                        </p:cTn>
                                        <p:tgtEl>
                                          <p:sndTgt r:embed="rId6" name="CHIMES.WAV"/>
                                        </p:tgtEl>
                                      </p:cMediaNode>
                                    </p:audio>
                                  </p:subTnLst>
                                </p:cTn>
                              </p:par>
                            </p:childTnLst>
                          </p:cTn>
                        </p:par>
                        <p:par>
                          <p:cTn id="95" fill="hold">
                            <p:stCondLst>
                              <p:cond delay="11600"/>
                            </p:stCondLst>
                            <p:childTnLst>
                              <p:par>
                                <p:cTn id="96" presetID="17" presetClass="entr" presetSubtype="4" fill="hold" grpId="0" nodeType="afterEffect">
                                  <p:stCondLst>
                                    <p:cond delay="500"/>
                                  </p:stCondLst>
                                  <p:iterate type="wd">
                                    <p:tmPct val="100000"/>
                                  </p:iterate>
                                  <p:childTnLst>
                                    <p:set>
                                      <p:cBhvr>
                                        <p:cTn id="97" dur="1" fill="hold">
                                          <p:stCondLst>
                                            <p:cond delay="0"/>
                                          </p:stCondLst>
                                        </p:cTn>
                                        <p:tgtEl>
                                          <p:spTgt spid="30"/>
                                        </p:tgtEl>
                                        <p:attrNameLst>
                                          <p:attrName>style.visibility</p:attrName>
                                        </p:attrNameLst>
                                      </p:cBhvr>
                                      <p:to>
                                        <p:strVal val="visible"/>
                                      </p:to>
                                    </p:set>
                                    <p:anim calcmode="lin" valueType="num">
                                      <p:cBhvr>
                                        <p:cTn id="98" dur="300" fill="hold"/>
                                        <p:tgtEl>
                                          <p:spTgt spid="30"/>
                                        </p:tgtEl>
                                        <p:attrNameLst>
                                          <p:attrName>ppt_x</p:attrName>
                                        </p:attrNameLst>
                                      </p:cBhvr>
                                      <p:tavLst>
                                        <p:tav tm="0">
                                          <p:val>
                                            <p:strVal val="#ppt_x"/>
                                          </p:val>
                                        </p:tav>
                                        <p:tav tm="100000">
                                          <p:val>
                                            <p:strVal val="#ppt_x"/>
                                          </p:val>
                                        </p:tav>
                                      </p:tavLst>
                                    </p:anim>
                                    <p:anim calcmode="lin" valueType="num">
                                      <p:cBhvr>
                                        <p:cTn id="99" dur="300" fill="hold"/>
                                        <p:tgtEl>
                                          <p:spTgt spid="30"/>
                                        </p:tgtEl>
                                        <p:attrNameLst>
                                          <p:attrName>ppt_y</p:attrName>
                                        </p:attrNameLst>
                                      </p:cBhvr>
                                      <p:tavLst>
                                        <p:tav tm="0">
                                          <p:val>
                                            <p:strVal val="#ppt_y+#ppt_h/2"/>
                                          </p:val>
                                        </p:tav>
                                        <p:tav tm="100000">
                                          <p:val>
                                            <p:strVal val="#ppt_y"/>
                                          </p:val>
                                        </p:tav>
                                      </p:tavLst>
                                    </p:anim>
                                    <p:anim calcmode="lin" valueType="num">
                                      <p:cBhvr>
                                        <p:cTn id="100" dur="300" fill="hold"/>
                                        <p:tgtEl>
                                          <p:spTgt spid="30"/>
                                        </p:tgtEl>
                                        <p:attrNameLst>
                                          <p:attrName>ppt_w</p:attrName>
                                        </p:attrNameLst>
                                      </p:cBhvr>
                                      <p:tavLst>
                                        <p:tav tm="0">
                                          <p:val>
                                            <p:strVal val="#ppt_w"/>
                                          </p:val>
                                        </p:tav>
                                        <p:tav tm="100000">
                                          <p:val>
                                            <p:strVal val="#ppt_w"/>
                                          </p:val>
                                        </p:tav>
                                      </p:tavLst>
                                    </p:anim>
                                    <p:anim calcmode="lin" valueType="num">
                                      <p:cBhvr>
                                        <p:cTn id="101" dur="300" fill="hold"/>
                                        <p:tgtEl>
                                          <p:spTgt spid="30"/>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96"/>
                                            </p:cond>
                                          </p:stCondLst>
                                          <p:endCondLst>
                                            <p:cond evt="onStopAudio" delay="0">
                                              <p:tgtEl>
                                                <p:sldTgt/>
                                              </p:tgtEl>
                                            </p:cond>
                                          </p:endCondLst>
                                        </p:cTn>
                                        <p:tgtEl>
                                          <p:sndTgt r:embed="rId6" name="CHIMES.WAV"/>
                                        </p:tgtEl>
                                      </p:cMediaNode>
                                    </p:audio>
                                  </p:subTnLst>
                                </p:cTn>
                              </p:par>
                            </p:childTnLst>
                          </p:cTn>
                        </p:par>
                        <p:par>
                          <p:cTn id="102" fill="hold">
                            <p:stCondLst>
                              <p:cond delay="13600"/>
                            </p:stCondLst>
                            <p:childTnLst>
                              <p:par>
                                <p:cTn id="103" presetID="10" presetClass="exit" presetSubtype="0" fill="hold" nodeType="afterEffect">
                                  <p:stCondLst>
                                    <p:cond delay="0"/>
                                  </p:stCondLst>
                                  <p:childTnLst>
                                    <p:animEffect transition="out" filter="fade">
                                      <p:cBhvr>
                                        <p:cTn id="104" dur="2000"/>
                                        <p:tgtEl>
                                          <p:spTgt spid="2"/>
                                        </p:tgtEl>
                                      </p:cBhvr>
                                    </p:animEffect>
                                    <p:set>
                                      <p:cBhvr>
                                        <p:cTn id="105" dur="1" fill="hold">
                                          <p:stCondLst>
                                            <p:cond delay="1999"/>
                                          </p:stCondLst>
                                        </p:cTn>
                                        <p:tgtEl>
                                          <p:spTgt spid="2"/>
                                        </p:tgtEl>
                                        <p:attrNameLst>
                                          <p:attrName>style.visibility</p:attrName>
                                        </p:attrNameLst>
                                      </p:cBhvr>
                                      <p:to>
                                        <p:strVal val="hidden"/>
                                      </p:to>
                                    </p:set>
                                    <p:cmd type="call" cmd="stop">
                                      <p:cBhvr>
                                        <p:cTn id="106" dur="1">
                                          <p:stCondLst>
                                            <p:cond delay="1999"/>
                                          </p:stCondLst>
                                        </p:cTn>
                                        <p:tgtEl>
                                          <p:spTgt spid="2"/>
                                        </p:tgtEl>
                                      </p:cBhvr>
                                    </p:cmd>
                                  </p:childTnLst>
                                </p:cTn>
                              </p:par>
                            </p:childTnLst>
                          </p:cTn>
                        </p:par>
                        <p:par>
                          <p:cTn id="107" fill="hold">
                            <p:stCondLst>
                              <p:cond delay="15600"/>
                            </p:stCondLst>
                            <p:childTnLst>
                              <p:par>
                                <p:cTn id="108" presetID="17" presetClass="entr" presetSubtype="10" fill="hold" grpId="0" nodeType="afterEffect">
                                  <p:stCondLst>
                                    <p:cond delay="500"/>
                                  </p:stCondLst>
                                  <p:iterate type="lt">
                                    <p:tmPct val="100000"/>
                                  </p:iterate>
                                  <p:childTnLst>
                                    <p:set>
                                      <p:cBhvr>
                                        <p:cTn id="109" dur="1" fill="hold">
                                          <p:stCondLst>
                                            <p:cond delay="0"/>
                                          </p:stCondLst>
                                        </p:cTn>
                                        <p:tgtEl>
                                          <p:spTgt spid="42"/>
                                        </p:tgtEl>
                                        <p:attrNameLst>
                                          <p:attrName>style.visibility</p:attrName>
                                        </p:attrNameLst>
                                      </p:cBhvr>
                                      <p:to>
                                        <p:strVal val="visible"/>
                                      </p:to>
                                    </p:set>
                                    <p:anim calcmode="lin" valueType="num">
                                      <p:cBhvr>
                                        <p:cTn id="110" dur="75" fill="hold"/>
                                        <p:tgtEl>
                                          <p:spTgt spid="42"/>
                                        </p:tgtEl>
                                        <p:attrNameLst>
                                          <p:attrName>ppt_w</p:attrName>
                                        </p:attrNameLst>
                                      </p:cBhvr>
                                      <p:tavLst>
                                        <p:tav tm="0">
                                          <p:val>
                                            <p:fltVal val="0"/>
                                          </p:val>
                                        </p:tav>
                                        <p:tav tm="100000">
                                          <p:val>
                                            <p:strVal val="#ppt_w"/>
                                          </p:val>
                                        </p:tav>
                                      </p:tavLst>
                                    </p:anim>
                                    <p:anim calcmode="lin" valueType="num">
                                      <p:cBhvr>
                                        <p:cTn id="111" dur="75" fill="hold"/>
                                        <p:tgtEl>
                                          <p:spTgt spid="42"/>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08"/>
                                            </p:cond>
                                          </p:stCondLst>
                                          <p:endCondLst>
                                            <p:cond evt="onStopAudio" delay="0">
                                              <p:tgtEl>
                                                <p:sldTgt/>
                                              </p:tgtEl>
                                            </p:cond>
                                          </p:endCondLst>
                                        </p:cTn>
                                        <p:tgtEl>
                                          <p:sndTgt r:embed="rId6" name="CHIMES.WAV"/>
                                        </p:tgtEl>
                                      </p:cMediaNode>
                                    </p:audio>
                                  </p:subTnLst>
                                </p:cTn>
                              </p:par>
                            </p:childTnLst>
                          </p:cTn>
                        </p:par>
                        <p:par>
                          <p:cTn id="112" fill="hold">
                            <p:stCondLst>
                              <p:cond delay="16700"/>
                            </p:stCondLst>
                            <p:childTnLst>
                              <p:par>
                                <p:cTn id="113" presetID="18" presetClass="entr" presetSubtype="3" fill="hold" nodeType="afterEffect">
                                  <p:stCondLst>
                                    <p:cond delay="3000"/>
                                  </p:stCondLst>
                                  <p:childTnLst>
                                    <p:set>
                                      <p:cBhvr>
                                        <p:cTn id="114" dur="1" fill="hold">
                                          <p:stCondLst>
                                            <p:cond delay="0"/>
                                          </p:stCondLst>
                                        </p:cTn>
                                        <p:tgtEl>
                                          <p:spTgt spid="31"/>
                                        </p:tgtEl>
                                        <p:attrNameLst>
                                          <p:attrName>style.visibility</p:attrName>
                                        </p:attrNameLst>
                                      </p:cBhvr>
                                      <p:to>
                                        <p:strVal val="visible"/>
                                      </p:to>
                                    </p:set>
                                    <p:animEffect transition="in" filter="strips(upRight)">
                                      <p:cBhvr>
                                        <p:cTn id="115" dur="5000"/>
                                        <p:tgtEl>
                                          <p:spTgt spid="31"/>
                                        </p:tgtEl>
                                      </p:cBhvr>
                                    </p:animEffect>
                                  </p:childTnLst>
                                  <p:subTnLst>
                                    <p:audio>
                                      <p:cMediaNode>
                                        <p:cTn display="0" masterRel="sameClick">
                                          <p:stCondLst>
                                            <p:cond evt="begin" delay="0">
                                              <p:tn val="113"/>
                                            </p:cond>
                                          </p:stCondLst>
                                          <p:endCondLst>
                                            <p:cond evt="onStopAudio" delay="0">
                                              <p:tgtEl>
                                                <p:sldTgt/>
                                              </p:tgtEl>
                                            </p:cond>
                                          </p:endCondLst>
                                        </p:cTn>
                                        <p:tgtEl>
                                          <p:sndTgt r:embed="rId7" name="LASER.WAV"/>
                                        </p:tgtEl>
                                      </p:cMediaNode>
                                    </p:audio>
                                  </p:subTnLst>
                                </p:cTn>
                              </p:par>
                            </p:childTnLst>
                          </p:cTn>
                        </p:par>
                        <p:par>
                          <p:cTn id="116" fill="hold">
                            <p:stCondLst>
                              <p:cond delay="24700"/>
                            </p:stCondLst>
                            <p:childTnLst>
                              <p:par>
                                <p:cTn id="117" presetID="22" presetClass="entr" presetSubtype="4" fill="hold" nodeType="afterEffect">
                                  <p:stCondLst>
                                    <p:cond delay="0"/>
                                  </p:stCondLst>
                                  <p:childTnLst>
                                    <p:set>
                                      <p:cBhvr>
                                        <p:cTn id="118" dur="1" fill="hold">
                                          <p:stCondLst>
                                            <p:cond delay="0"/>
                                          </p:stCondLst>
                                        </p:cTn>
                                        <p:tgtEl>
                                          <p:spTgt spid="46"/>
                                        </p:tgtEl>
                                        <p:attrNameLst>
                                          <p:attrName>style.visibility</p:attrName>
                                        </p:attrNameLst>
                                      </p:cBhvr>
                                      <p:to>
                                        <p:strVal val="visible"/>
                                      </p:to>
                                    </p:set>
                                    <p:animEffect transition="in" filter="wipe(down)">
                                      <p:cBhvr>
                                        <p:cTn id="119" dur="5000"/>
                                        <p:tgtEl>
                                          <p:spTgt spid="46"/>
                                        </p:tgtEl>
                                      </p:cBhvr>
                                    </p:animEffect>
                                  </p:childTnLst>
                                </p:cTn>
                              </p:par>
                            </p:childTnLst>
                          </p:cTn>
                        </p:par>
                        <p:par>
                          <p:cTn id="120" fill="hold">
                            <p:stCondLst>
                              <p:cond delay="29700"/>
                            </p:stCondLst>
                            <p:childTnLst>
                              <p:par>
                                <p:cTn id="121" presetID="22" presetClass="entr" presetSubtype="2" fill="hold" nodeType="afterEffect">
                                  <p:stCondLst>
                                    <p:cond delay="0"/>
                                  </p:stCondLst>
                                  <p:childTnLst>
                                    <p:set>
                                      <p:cBhvr>
                                        <p:cTn id="122" dur="1" fill="hold">
                                          <p:stCondLst>
                                            <p:cond delay="0"/>
                                          </p:stCondLst>
                                        </p:cTn>
                                        <p:tgtEl>
                                          <p:spTgt spid="43"/>
                                        </p:tgtEl>
                                        <p:attrNameLst>
                                          <p:attrName>style.visibility</p:attrName>
                                        </p:attrNameLst>
                                      </p:cBhvr>
                                      <p:to>
                                        <p:strVal val="visible"/>
                                      </p:to>
                                    </p:set>
                                    <p:animEffect transition="in" filter="wipe(right)">
                                      <p:cBhvr>
                                        <p:cTn id="123" dur="3000"/>
                                        <p:tgtEl>
                                          <p:spTgt spid="43"/>
                                        </p:tgtEl>
                                      </p:cBhvr>
                                    </p:animEffect>
                                  </p:childTnLst>
                                </p:cTn>
                              </p:par>
                            </p:childTnLst>
                          </p:cTn>
                        </p:par>
                        <p:par>
                          <p:cTn id="124" fill="hold">
                            <p:stCondLst>
                              <p:cond delay="32700"/>
                            </p:stCondLst>
                            <p:childTnLst>
                              <p:par>
                                <p:cTn id="125" presetID="16" presetClass="entr" presetSubtype="42" fill="hold" nodeType="afterEffect">
                                  <p:stCondLst>
                                    <p:cond delay="0"/>
                                  </p:stCondLst>
                                  <p:childTnLst>
                                    <p:set>
                                      <p:cBhvr>
                                        <p:cTn id="126" dur="1" fill="hold">
                                          <p:stCondLst>
                                            <p:cond delay="0"/>
                                          </p:stCondLst>
                                        </p:cTn>
                                        <p:tgtEl>
                                          <p:spTgt spid="44"/>
                                        </p:tgtEl>
                                        <p:attrNameLst>
                                          <p:attrName>style.visibility</p:attrName>
                                        </p:attrNameLst>
                                      </p:cBhvr>
                                      <p:to>
                                        <p:strVal val="visible"/>
                                      </p:to>
                                    </p:set>
                                    <p:animEffect transition="in" filter="barn(outHorizontal)">
                                      <p:cBhvr>
                                        <p:cTn id="127" dur="5000"/>
                                        <p:tgtEl>
                                          <p:spTgt spid="44"/>
                                        </p:tgtEl>
                                      </p:cBhvr>
                                    </p:animEffect>
                                  </p:childTnLst>
                                </p:cTn>
                              </p:par>
                              <p:par>
                                <p:cTn id="128" presetID="19" presetClass="entr" presetSubtype="5" fill="hold" grpId="0" nodeType="withEffect">
                                  <p:stCondLst>
                                    <p:cond delay="0"/>
                                  </p:stCondLst>
                                  <p:childTnLst>
                                    <p:set>
                                      <p:cBhvr>
                                        <p:cTn id="129" dur="1" fill="hold">
                                          <p:stCondLst>
                                            <p:cond delay="0"/>
                                          </p:stCondLst>
                                        </p:cTn>
                                        <p:tgtEl>
                                          <p:spTgt spid="45"/>
                                        </p:tgtEl>
                                        <p:attrNameLst>
                                          <p:attrName>style.visibility</p:attrName>
                                        </p:attrNameLst>
                                      </p:cBhvr>
                                      <p:to>
                                        <p:strVal val="visible"/>
                                      </p:to>
                                    </p:set>
                                    <p:anim calcmode="lin" valueType="num">
                                      <p:cBhvr>
                                        <p:cTn id="130" dur="5000" fill="hold"/>
                                        <p:tgtEl>
                                          <p:spTgt spid="45"/>
                                        </p:tgtEl>
                                        <p:attrNameLst>
                                          <p:attrName>ppt_w</p:attrName>
                                        </p:attrNameLst>
                                      </p:cBhvr>
                                      <p:tavLst>
                                        <p:tav tm="0">
                                          <p:val>
                                            <p:strVal val="#ppt_w"/>
                                          </p:val>
                                        </p:tav>
                                        <p:tav tm="100000">
                                          <p:val>
                                            <p:strVal val="#ppt_w"/>
                                          </p:val>
                                        </p:tav>
                                      </p:tavLst>
                                    </p:anim>
                                    <p:anim calcmode="lin" valueType="num">
                                      <p:cBhvr>
                                        <p:cTn id="131" dur="5000" fill="hold"/>
                                        <p:tgtEl>
                                          <p:spTgt spid="45"/>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p:cTn id="132" fill="hold" display="0">
                  <p:stCondLst>
                    <p:cond delay="indefinite"/>
                  </p:stCondLst>
                  <p:endCondLst>
                    <p:cond evt="onNext" delay="0">
                      <p:tgtEl>
                        <p:sldTgt/>
                      </p:tgtEl>
                    </p:cond>
                    <p:cond evt="onPrev" delay="0">
                      <p:tgtEl>
                        <p:sldTgt/>
                      </p:tgtEl>
                    </p:cond>
                  </p:endCondLst>
                </p:cTn>
                <p:tgtEl>
                  <p:spTgt spid="2"/>
                </p:tgtEl>
              </p:cMediaNode>
            </p:video>
          </p:childTnLst>
        </p:cTn>
      </p:par>
    </p:tnLst>
    <p:bldLst>
      <p:bldP spid="9" grpId="0" animBg="1"/>
      <p:bldP spid="53" grpId="0" autoUpdateAnimBg="0"/>
      <p:bldP spid="28" grpId="0" autoUpdateAnimBg="0"/>
      <p:bldP spid="29" grpId="0" autoUpdateAnimBg="0"/>
      <p:bldP spid="30" grpId="0" autoUpdateAnimBg="0"/>
      <p:bldP spid="32" grpId="0" animBg="1"/>
      <p:bldP spid="33" grpId="0" animBg="1"/>
      <p:bldP spid="34" grpId="0" animBg="1"/>
      <p:bldP spid="35" grpId="0" animBg="1"/>
      <p:bldP spid="36" grpId="0" animBg="1"/>
      <p:bldP spid="37" grpId="0" animBg="1"/>
      <p:bldP spid="38" grpId="0" animBg="1"/>
      <p:bldP spid="39" grpId="0" animBg="1"/>
      <p:bldP spid="40" grpId="0" autoUpdateAnimBg="0"/>
      <p:bldP spid="41" grpId="0" animBg="1"/>
      <p:bldP spid="42" grpId="0" autoUpdateAnimBg="0"/>
      <p:bldP spid="45" grpId="0"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711605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第八章   拉压、剪切与挤压的强度计算</a:t>
            </a:r>
          </a:p>
        </p:txBody>
      </p:sp>
      <p:sp>
        <p:nvSpPr>
          <p:cNvPr id="9" name="Rectangle 61"/>
          <p:cNvSpPr>
            <a:spLocks noChangeArrowheads="1"/>
          </p:cNvSpPr>
          <p:nvPr/>
        </p:nvSpPr>
        <p:spPr bwMode="auto">
          <a:xfrm>
            <a:off x="6500910" y="1700808"/>
            <a:ext cx="5461877" cy="4382319"/>
          </a:xfrm>
          <a:prstGeom prst="rect">
            <a:avLst/>
          </a:prstGeom>
          <a:solidFill>
            <a:srgbClr val="B9CDE5"/>
          </a:solidFill>
          <a:ln>
            <a:noFill/>
          </a:ln>
          <a:effectLst/>
        </p:spPr>
        <p:txBody>
          <a:bodyPr wrap="none" anchor="ctr"/>
          <a:lstStyle/>
          <a:p>
            <a:endParaRPr lang="zh-CN" altLang="en-US"/>
          </a:p>
        </p:txBody>
      </p:sp>
      <p:sp>
        <p:nvSpPr>
          <p:cNvPr id="53" name="Text Box 1032"/>
          <p:cNvSpPr txBox="1">
            <a:spLocks noChangeArrowheads="1"/>
          </p:cNvSpPr>
          <p:nvPr/>
        </p:nvSpPr>
        <p:spPr bwMode="auto">
          <a:xfrm>
            <a:off x="276093" y="1123198"/>
            <a:ext cx="6000655" cy="37117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lnSpc>
                <a:spcPct val="120000"/>
              </a:lnSpc>
            </a:pPr>
            <a:r>
              <a:rPr kumimoji="1" lang="zh-CN" altLang="en-US" sz="2800" i="0" dirty="0">
                <a:solidFill>
                  <a:srgbClr val="FF00FF"/>
                </a:solidFill>
                <a:latin typeface="+mn-lt"/>
                <a:ea typeface="微软雅黑" panose="020B0503020204020204" pitchFamily="34" charset="-122"/>
              </a:rPr>
              <a:t>工程塑料的力学性能 </a:t>
            </a:r>
            <a:endParaRPr kumimoji="1" lang="en-US" altLang="zh-CN" sz="2800" i="0" dirty="0">
              <a:solidFill>
                <a:srgbClr val="FF00FF"/>
              </a:solidFill>
              <a:latin typeface="+mn-lt"/>
              <a:ea typeface="微软雅黑" panose="020B0503020204020204" pitchFamily="34" charset="-122"/>
            </a:endParaRPr>
          </a:p>
          <a:p>
            <a:pPr algn="just">
              <a:lnSpc>
                <a:spcPct val="120000"/>
              </a:lnSpc>
            </a:pPr>
            <a:r>
              <a:rPr lang="zh-CN" altLang="en-US" sz="2800" i="0" dirty="0">
                <a:latin typeface="+mn-lt"/>
                <a:ea typeface="微软雅黑" panose="020B0503020204020204" pitchFamily="34" charset="-122"/>
              </a:rPr>
              <a:t>工程塑料是一种耐热、耐蚀、耐磨和高强度的高分子材料，目前在各领域已广泛采用。并在许多地方取代了金属材料，图所示是几种高分子材料拉伸的</a:t>
            </a:r>
            <a:r>
              <a:rPr lang="zh-CN" altLang="en-US" sz="2800" b="0" dirty="0">
                <a:latin typeface="+mn-lt"/>
                <a:ea typeface="微软雅黑" panose="020B0503020204020204" pitchFamily="34" charset="-122"/>
                <a:sym typeface="Symbol" panose="05050102010706020507" pitchFamily="18" charset="2"/>
              </a:rPr>
              <a:t></a:t>
            </a:r>
            <a:r>
              <a:rPr lang="en-US" altLang="zh-CN" sz="2800" b="0" dirty="0">
                <a:latin typeface="+mn-lt"/>
                <a:ea typeface="微软雅黑" panose="020B0503020204020204" pitchFamily="34" charset="-122"/>
              </a:rPr>
              <a:t>-</a:t>
            </a:r>
            <a:r>
              <a:rPr lang="en-US" altLang="zh-CN" sz="2800" b="0" dirty="0">
                <a:latin typeface="+mn-lt"/>
                <a:ea typeface="微软雅黑" panose="020B0503020204020204" pitchFamily="34" charset="-122"/>
                <a:sym typeface="Symbol" panose="05050102010706020507" pitchFamily="18" charset="2"/>
              </a:rPr>
              <a:t></a:t>
            </a:r>
            <a:r>
              <a:rPr lang="zh-CN" altLang="en-US" sz="2800" i="0" dirty="0">
                <a:latin typeface="+mn-lt"/>
                <a:ea typeface="微软雅黑" panose="020B0503020204020204" pitchFamily="34" charset="-122"/>
              </a:rPr>
              <a:t>曲线由图可知，它们之间的差别也很大。</a:t>
            </a:r>
            <a:endParaRPr kumimoji="1" lang="zh-CN" altLang="en-US" sz="2800" i="0" dirty="0">
              <a:latin typeface="+mn-lt"/>
              <a:ea typeface="微软雅黑" panose="020B0503020204020204" pitchFamily="34" charset="-122"/>
            </a:endParaRPr>
          </a:p>
        </p:txBody>
      </p:sp>
      <p:sp>
        <p:nvSpPr>
          <p:cNvPr id="28" name="Freeform 13">
            <a:extLst>
              <a:ext uri="{FF2B5EF4-FFF2-40B4-BE49-F238E27FC236}">
                <a16:creationId xmlns:a16="http://schemas.microsoft.com/office/drawing/2014/main" id="{7C057687-3215-36E8-7ABF-61BFEF8DBEB2}"/>
              </a:ext>
            </a:extLst>
          </p:cNvPr>
          <p:cNvSpPr>
            <a:spLocks/>
          </p:cNvSpPr>
          <p:nvPr/>
        </p:nvSpPr>
        <p:spPr bwMode="auto">
          <a:xfrm>
            <a:off x="7562105" y="4768404"/>
            <a:ext cx="2825750" cy="762000"/>
          </a:xfrm>
          <a:custGeom>
            <a:avLst/>
            <a:gdLst>
              <a:gd name="T0" fmla="*/ 0 w 1780"/>
              <a:gd name="T1" fmla="*/ 762000 h 480"/>
              <a:gd name="T2" fmla="*/ 182562 w 1780"/>
              <a:gd name="T3" fmla="*/ 511175 h 480"/>
              <a:gd name="T4" fmla="*/ 274638 w 1780"/>
              <a:gd name="T5" fmla="*/ 417513 h 480"/>
              <a:gd name="T6" fmla="*/ 500063 w 1780"/>
              <a:gd name="T7" fmla="*/ 231775 h 480"/>
              <a:gd name="T8" fmla="*/ 896938 w 1780"/>
              <a:gd name="T9" fmla="*/ 127000 h 480"/>
              <a:gd name="T10" fmla="*/ 1401763 w 1780"/>
              <a:gd name="T11" fmla="*/ 73025 h 480"/>
              <a:gd name="T12" fmla="*/ 1814513 w 1780"/>
              <a:gd name="T13" fmla="*/ 44450 h 480"/>
              <a:gd name="T14" fmla="*/ 2201863 w 1780"/>
              <a:gd name="T15" fmla="*/ 14288 h 480"/>
              <a:gd name="T16" fmla="*/ 2825750 w 1780"/>
              <a:gd name="T17" fmla="*/ 0 h 48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80"/>
              <a:gd name="T28" fmla="*/ 0 h 480"/>
              <a:gd name="T29" fmla="*/ 1780 w 1780"/>
              <a:gd name="T30" fmla="*/ 480 h 48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80" h="480">
                <a:moveTo>
                  <a:pt x="0" y="480"/>
                </a:moveTo>
                <a:cubicBezTo>
                  <a:pt x="19" y="454"/>
                  <a:pt x="86" y="358"/>
                  <a:pt x="115" y="322"/>
                </a:cubicBezTo>
                <a:cubicBezTo>
                  <a:pt x="144" y="286"/>
                  <a:pt x="140" y="292"/>
                  <a:pt x="173" y="263"/>
                </a:cubicBezTo>
                <a:cubicBezTo>
                  <a:pt x="206" y="234"/>
                  <a:pt x="250" y="177"/>
                  <a:pt x="315" y="146"/>
                </a:cubicBezTo>
                <a:cubicBezTo>
                  <a:pt x="380" y="115"/>
                  <a:pt x="470" y="97"/>
                  <a:pt x="565" y="80"/>
                </a:cubicBezTo>
                <a:cubicBezTo>
                  <a:pt x="660" y="63"/>
                  <a:pt x="787" y="55"/>
                  <a:pt x="883" y="46"/>
                </a:cubicBezTo>
                <a:cubicBezTo>
                  <a:pt x="979" y="37"/>
                  <a:pt x="1059" y="34"/>
                  <a:pt x="1143" y="28"/>
                </a:cubicBezTo>
                <a:cubicBezTo>
                  <a:pt x="1227" y="22"/>
                  <a:pt x="1281" y="14"/>
                  <a:pt x="1387" y="9"/>
                </a:cubicBezTo>
                <a:cubicBezTo>
                  <a:pt x="1493" y="4"/>
                  <a:pt x="1715" y="1"/>
                  <a:pt x="1780" y="0"/>
                </a:cubicBezTo>
              </a:path>
            </a:pathLst>
          </a:custGeom>
          <a:noFill/>
          <a:ln w="19050" cap="flat"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29" name="Freeform 14">
            <a:extLst>
              <a:ext uri="{FF2B5EF4-FFF2-40B4-BE49-F238E27FC236}">
                <a16:creationId xmlns:a16="http://schemas.microsoft.com/office/drawing/2014/main" id="{72C5D85B-C70C-2E9D-5BE1-17EAA96C9612}"/>
              </a:ext>
            </a:extLst>
          </p:cNvPr>
          <p:cNvSpPr>
            <a:spLocks/>
          </p:cNvSpPr>
          <p:nvPr/>
        </p:nvSpPr>
        <p:spPr bwMode="auto">
          <a:xfrm>
            <a:off x="7595443" y="3473004"/>
            <a:ext cx="2525712" cy="2054225"/>
          </a:xfrm>
          <a:custGeom>
            <a:avLst/>
            <a:gdLst>
              <a:gd name="T0" fmla="*/ 0 w 1591"/>
              <a:gd name="T1" fmla="*/ 2054225 h 1294"/>
              <a:gd name="T2" fmla="*/ 146050 w 1591"/>
              <a:gd name="T3" fmla="*/ 841375 h 1294"/>
              <a:gd name="T4" fmla="*/ 244475 w 1591"/>
              <a:gd name="T5" fmla="*/ 552450 h 1294"/>
              <a:gd name="T6" fmla="*/ 506412 w 1591"/>
              <a:gd name="T7" fmla="*/ 747712 h 1294"/>
              <a:gd name="T8" fmla="*/ 720725 w 1591"/>
              <a:gd name="T9" fmla="*/ 871538 h 1294"/>
              <a:gd name="T10" fmla="*/ 949325 w 1591"/>
              <a:gd name="T11" fmla="*/ 842963 h 1294"/>
              <a:gd name="T12" fmla="*/ 1268412 w 1591"/>
              <a:gd name="T13" fmla="*/ 747712 h 1294"/>
              <a:gd name="T14" fmla="*/ 1611312 w 1591"/>
              <a:gd name="T15" fmla="*/ 614362 h 1294"/>
              <a:gd name="T16" fmla="*/ 1882775 w 1591"/>
              <a:gd name="T17" fmla="*/ 485775 h 1294"/>
              <a:gd name="T18" fmla="*/ 2068512 w 1591"/>
              <a:gd name="T19" fmla="*/ 385762 h 1294"/>
              <a:gd name="T20" fmla="*/ 2297112 w 1591"/>
              <a:gd name="T21" fmla="*/ 228600 h 1294"/>
              <a:gd name="T22" fmla="*/ 2525712 w 1591"/>
              <a:gd name="T23" fmla="*/ 0 h 129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591"/>
              <a:gd name="T37" fmla="*/ 0 h 1294"/>
              <a:gd name="T38" fmla="*/ 1591 w 1591"/>
              <a:gd name="T39" fmla="*/ 1294 h 129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591" h="1294">
                <a:moveTo>
                  <a:pt x="0" y="1294"/>
                </a:moveTo>
                <a:cubicBezTo>
                  <a:pt x="36" y="977"/>
                  <a:pt x="66" y="688"/>
                  <a:pt x="92" y="530"/>
                </a:cubicBezTo>
                <a:cubicBezTo>
                  <a:pt x="118" y="372"/>
                  <a:pt x="116" y="358"/>
                  <a:pt x="154" y="348"/>
                </a:cubicBezTo>
                <a:cubicBezTo>
                  <a:pt x="192" y="338"/>
                  <a:pt x="269" y="438"/>
                  <a:pt x="319" y="471"/>
                </a:cubicBezTo>
                <a:cubicBezTo>
                  <a:pt x="369" y="504"/>
                  <a:pt x="408" y="539"/>
                  <a:pt x="454" y="549"/>
                </a:cubicBezTo>
                <a:cubicBezTo>
                  <a:pt x="500" y="559"/>
                  <a:pt x="541" y="544"/>
                  <a:pt x="598" y="531"/>
                </a:cubicBezTo>
                <a:cubicBezTo>
                  <a:pt x="655" y="518"/>
                  <a:pt x="730" y="495"/>
                  <a:pt x="799" y="471"/>
                </a:cubicBezTo>
                <a:cubicBezTo>
                  <a:pt x="868" y="447"/>
                  <a:pt x="951" y="414"/>
                  <a:pt x="1015" y="387"/>
                </a:cubicBezTo>
                <a:cubicBezTo>
                  <a:pt x="1079" y="360"/>
                  <a:pt x="1138" y="330"/>
                  <a:pt x="1186" y="306"/>
                </a:cubicBezTo>
                <a:cubicBezTo>
                  <a:pt x="1234" y="282"/>
                  <a:pt x="1259" y="270"/>
                  <a:pt x="1303" y="243"/>
                </a:cubicBezTo>
                <a:cubicBezTo>
                  <a:pt x="1347" y="216"/>
                  <a:pt x="1399" y="184"/>
                  <a:pt x="1447" y="144"/>
                </a:cubicBezTo>
                <a:cubicBezTo>
                  <a:pt x="1495" y="104"/>
                  <a:pt x="1561" y="30"/>
                  <a:pt x="1591" y="0"/>
                </a:cubicBezTo>
              </a:path>
            </a:pathLst>
          </a:custGeom>
          <a:noFill/>
          <a:ln w="19050" cap="flat"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30" name="Text Box 20">
            <a:extLst>
              <a:ext uri="{FF2B5EF4-FFF2-40B4-BE49-F238E27FC236}">
                <a16:creationId xmlns:a16="http://schemas.microsoft.com/office/drawing/2014/main" id="{CE75E9D7-BD99-EC4C-40A6-C56CE83D7BF9}"/>
              </a:ext>
            </a:extLst>
          </p:cNvPr>
          <p:cNvSpPr txBox="1">
            <a:spLocks noChangeArrowheads="1"/>
          </p:cNvSpPr>
          <p:nvPr/>
        </p:nvSpPr>
        <p:spPr bwMode="auto">
          <a:xfrm>
            <a:off x="9368680" y="4292154"/>
            <a:ext cx="21621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1" lang="zh-CN" altLang="en-US" sz="2400" i="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rPr>
              <a:t>聚四氟乙烯</a:t>
            </a:r>
          </a:p>
        </p:txBody>
      </p:sp>
      <p:sp>
        <p:nvSpPr>
          <p:cNvPr id="31" name="Text Box 21">
            <a:extLst>
              <a:ext uri="{FF2B5EF4-FFF2-40B4-BE49-F238E27FC236}">
                <a16:creationId xmlns:a16="http://schemas.microsoft.com/office/drawing/2014/main" id="{132ED24C-3850-2DDA-E376-90E6C0D1BCDA}"/>
              </a:ext>
            </a:extLst>
          </p:cNvPr>
          <p:cNvSpPr txBox="1">
            <a:spLocks noChangeArrowheads="1"/>
          </p:cNvSpPr>
          <p:nvPr/>
        </p:nvSpPr>
        <p:spPr bwMode="auto">
          <a:xfrm>
            <a:off x="9408368" y="3573016"/>
            <a:ext cx="1581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1" lang="zh-CN" altLang="en-US" sz="2400" i="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rPr>
              <a:t>尼龙</a:t>
            </a:r>
          </a:p>
        </p:txBody>
      </p:sp>
      <p:sp>
        <p:nvSpPr>
          <p:cNvPr id="32" name="Line 24">
            <a:extLst>
              <a:ext uri="{FF2B5EF4-FFF2-40B4-BE49-F238E27FC236}">
                <a16:creationId xmlns:a16="http://schemas.microsoft.com/office/drawing/2014/main" id="{2043CAB9-8EB2-6953-4115-B65FBF5E9405}"/>
              </a:ext>
            </a:extLst>
          </p:cNvPr>
          <p:cNvSpPr>
            <a:spLocks noChangeShapeType="1"/>
          </p:cNvSpPr>
          <p:nvPr/>
        </p:nvSpPr>
        <p:spPr bwMode="auto">
          <a:xfrm>
            <a:off x="7520830" y="5528816"/>
            <a:ext cx="4295775" cy="0"/>
          </a:xfrm>
          <a:prstGeom prst="line">
            <a:avLst/>
          </a:prstGeom>
          <a:noFill/>
          <a:ln w="9525">
            <a:solidFill>
              <a:srgbClr val="000000"/>
            </a:solidFill>
            <a:round/>
            <a:headEnd/>
            <a:tailEnd type="stealth" w="sm" len="lg"/>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33" name="Line 25">
            <a:extLst>
              <a:ext uri="{FF2B5EF4-FFF2-40B4-BE49-F238E27FC236}">
                <a16:creationId xmlns:a16="http://schemas.microsoft.com/office/drawing/2014/main" id="{95F2DCE0-B806-3D92-9F7D-C9661C3A4028}"/>
              </a:ext>
            </a:extLst>
          </p:cNvPr>
          <p:cNvSpPr>
            <a:spLocks noChangeShapeType="1"/>
          </p:cNvSpPr>
          <p:nvPr/>
        </p:nvSpPr>
        <p:spPr bwMode="auto">
          <a:xfrm flipH="1" flipV="1">
            <a:off x="7565280" y="2423666"/>
            <a:ext cx="0" cy="3105150"/>
          </a:xfrm>
          <a:prstGeom prst="line">
            <a:avLst/>
          </a:prstGeom>
          <a:noFill/>
          <a:ln w="9525">
            <a:solidFill>
              <a:srgbClr val="000000"/>
            </a:solidFill>
            <a:round/>
            <a:headEnd/>
            <a:tailEnd type="stealth" w="sm" len="lg"/>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34" name="Text Box 26">
            <a:extLst>
              <a:ext uri="{FF2B5EF4-FFF2-40B4-BE49-F238E27FC236}">
                <a16:creationId xmlns:a16="http://schemas.microsoft.com/office/drawing/2014/main" id="{6F4F379B-4FF8-8B1B-8A27-59C09569438A}"/>
              </a:ext>
            </a:extLst>
          </p:cNvPr>
          <p:cNvSpPr txBox="1">
            <a:spLocks noChangeArrowheads="1"/>
          </p:cNvSpPr>
          <p:nvPr/>
        </p:nvSpPr>
        <p:spPr bwMode="auto">
          <a:xfrm>
            <a:off x="11164143" y="5476429"/>
            <a:ext cx="9001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1"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sym typeface="Symbol" panose="05050102010706020507" pitchFamily="18" charset="2"/>
              </a:rPr>
              <a:t> </a:t>
            </a: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sym typeface="Symbol" panose="05050102010706020507" pitchFamily="18" charset="2"/>
              </a:rPr>
              <a:t></a:t>
            </a:r>
            <a:r>
              <a:rPr kumimoji="1"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p>
        </p:txBody>
      </p:sp>
      <p:sp>
        <p:nvSpPr>
          <p:cNvPr id="35" name="Text Box 27">
            <a:extLst>
              <a:ext uri="{FF2B5EF4-FFF2-40B4-BE49-F238E27FC236}">
                <a16:creationId xmlns:a16="http://schemas.microsoft.com/office/drawing/2014/main" id="{838DF3CE-2903-29AB-15F3-B93B041FE712}"/>
              </a:ext>
            </a:extLst>
          </p:cNvPr>
          <p:cNvSpPr txBox="1">
            <a:spLocks noChangeArrowheads="1"/>
          </p:cNvSpPr>
          <p:nvPr/>
        </p:nvSpPr>
        <p:spPr bwMode="auto">
          <a:xfrm>
            <a:off x="7362080" y="5479604"/>
            <a:ext cx="38020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eaLnBrk="1" hangingPunct="1">
              <a:spcBef>
                <a:spcPct val="50000"/>
              </a:spcBef>
            </a:pPr>
            <a:r>
              <a:rPr lang="en-US" altLang="zh-CN" b="0" i="0">
                <a:solidFill>
                  <a:srgbClr val="000000"/>
                </a:solidFill>
                <a:ea typeface="宋体" panose="02010600030101010101" pitchFamily="2" charset="-122"/>
              </a:rPr>
              <a:t>0   50  100 150 200 250 300</a:t>
            </a:r>
          </a:p>
        </p:txBody>
      </p:sp>
      <p:sp>
        <p:nvSpPr>
          <p:cNvPr id="36" name="Text Box 28">
            <a:extLst>
              <a:ext uri="{FF2B5EF4-FFF2-40B4-BE49-F238E27FC236}">
                <a16:creationId xmlns:a16="http://schemas.microsoft.com/office/drawing/2014/main" id="{A86AEADF-E7CB-4764-4174-AA2F100CCCE0}"/>
              </a:ext>
            </a:extLst>
          </p:cNvPr>
          <p:cNvSpPr txBox="1">
            <a:spLocks noChangeArrowheads="1"/>
          </p:cNvSpPr>
          <p:nvPr/>
        </p:nvSpPr>
        <p:spPr bwMode="auto">
          <a:xfrm>
            <a:off x="6895355" y="2657029"/>
            <a:ext cx="706438" cy="264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r" eaLnBrk="1" hangingPunct="1">
              <a:spcBef>
                <a:spcPct val="50000"/>
              </a:spcBef>
            </a:pPr>
            <a:r>
              <a:rPr lang="en-US" altLang="zh-CN" b="0" i="0">
                <a:solidFill>
                  <a:srgbClr val="000000"/>
                </a:solidFill>
                <a:ea typeface="宋体" panose="02010600030101010101" pitchFamily="2" charset="-122"/>
              </a:rPr>
              <a:t>100</a:t>
            </a:r>
          </a:p>
          <a:p>
            <a:pPr algn="r" eaLnBrk="1" hangingPunct="1">
              <a:spcBef>
                <a:spcPct val="50000"/>
              </a:spcBef>
            </a:pPr>
            <a:r>
              <a:rPr lang="en-US" altLang="zh-CN" b="0" i="0">
                <a:solidFill>
                  <a:srgbClr val="000000"/>
                </a:solidFill>
                <a:ea typeface="宋体" panose="02010600030101010101" pitchFamily="2" charset="-122"/>
              </a:rPr>
              <a:t>80</a:t>
            </a:r>
          </a:p>
          <a:p>
            <a:pPr algn="r" eaLnBrk="1" hangingPunct="1">
              <a:spcBef>
                <a:spcPct val="50000"/>
              </a:spcBef>
            </a:pPr>
            <a:r>
              <a:rPr lang="en-US" altLang="zh-CN" b="0" i="0">
                <a:solidFill>
                  <a:srgbClr val="000000"/>
                </a:solidFill>
                <a:ea typeface="宋体" panose="02010600030101010101" pitchFamily="2" charset="-122"/>
              </a:rPr>
              <a:t>60</a:t>
            </a:r>
          </a:p>
          <a:p>
            <a:pPr algn="r" eaLnBrk="1" hangingPunct="1">
              <a:spcBef>
                <a:spcPct val="50000"/>
              </a:spcBef>
            </a:pPr>
            <a:r>
              <a:rPr lang="en-US" altLang="zh-CN" b="0" i="0">
                <a:solidFill>
                  <a:srgbClr val="000000"/>
                </a:solidFill>
                <a:ea typeface="宋体" panose="02010600030101010101" pitchFamily="2" charset="-122"/>
              </a:rPr>
              <a:t>40</a:t>
            </a:r>
          </a:p>
          <a:p>
            <a:pPr algn="r" eaLnBrk="1" hangingPunct="1">
              <a:spcBef>
                <a:spcPct val="50000"/>
              </a:spcBef>
            </a:pPr>
            <a:r>
              <a:rPr lang="en-US" altLang="zh-CN" b="0" i="0">
                <a:solidFill>
                  <a:srgbClr val="000000"/>
                </a:solidFill>
                <a:ea typeface="宋体" panose="02010600030101010101" pitchFamily="2" charset="-122"/>
              </a:rPr>
              <a:t>20</a:t>
            </a:r>
          </a:p>
        </p:txBody>
      </p:sp>
      <p:sp>
        <p:nvSpPr>
          <p:cNvPr id="37" name="Oval 30">
            <a:extLst>
              <a:ext uri="{FF2B5EF4-FFF2-40B4-BE49-F238E27FC236}">
                <a16:creationId xmlns:a16="http://schemas.microsoft.com/office/drawing/2014/main" id="{CA9298C8-6B25-4955-06BD-1AF7C530C948}"/>
              </a:ext>
            </a:extLst>
          </p:cNvPr>
          <p:cNvSpPr>
            <a:spLocks noChangeArrowheads="1"/>
          </p:cNvSpPr>
          <p:nvPr/>
        </p:nvSpPr>
        <p:spPr bwMode="auto">
          <a:xfrm>
            <a:off x="8012955" y="5493891"/>
            <a:ext cx="74613" cy="74613"/>
          </a:xfrm>
          <a:prstGeom prst="ellipse">
            <a:avLst/>
          </a:prstGeom>
          <a:solidFill>
            <a:srgbClr val="FF0000"/>
          </a:solidFill>
          <a:ln w="9525">
            <a:solidFill>
              <a:srgbClr val="000000"/>
            </a:solidFill>
            <a:round/>
            <a:headEnd/>
            <a:tailEnd/>
          </a:ln>
        </p:spPr>
        <p:txBody>
          <a:bodyPr wrap="none" anchor="ct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38" name="Oval 31">
            <a:extLst>
              <a:ext uri="{FF2B5EF4-FFF2-40B4-BE49-F238E27FC236}">
                <a16:creationId xmlns:a16="http://schemas.microsoft.com/office/drawing/2014/main" id="{C778CFDF-E5FB-524A-730A-04E327271218}"/>
              </a:ext>
            </a:extLst>
          </p:cNvPr>
          <p:cNvSpPr>
            <a:spLocks noChangeArrowheads="1"/>
          </p:cNvSpPr>
          <p:nvPr/>
        </p:nvSpPr>
        <p:spPr bwMode="auto">
          <a:xfrm>
            <a:off x="8540005" y="5487541"/>
            <a:ext cx="74613" cy="74613"/>
          </a:xfrm>
          <a:prstGeom prst="ellipse">
            <a:avLst/>
          </a:prstGeom>
          <a:solidFill>
            <a:srgbClr val="FF0000"/>
          </a:solidFill>
          <a:ln w="9525">
            <a:solidFill>
              <a:srgbClr val="000000"/>
            </a:solidFill>
            <a:round/>
            <a:headEnd/>
            <a:tailEnd/>
          </a:ln>
        </p:spPr>
        <p:txBody>
          <a:bodyPr wrap="none" anchor="ct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39" name="Oval 32">
            <a:extLst>
              <a:ext uri="{FF2B5EF4-FFF2-40B4-BE49-F238E27FC236}">
                <a16:creationId xmlns:a16="http://schemas.microsoft.com/office/drawing/2014/main" id="{A8684D95-653E-9317-9D8E-7A3A27F5AC87}"/>
              </a:ext>
            </a:extLst>
          </p:cNvPr>
          <p:cNvSpPr>
            <a:spLocks noChangeArrowheads="1"/>
          </p:cNvSpPr>
          <p:nvPr/>
        </p:nvSpPr>
        <p:spPr bwMode="auto">
          <a:xfrm>
            <a:off x="9027368" y="5487541"/>
            <a:ext cx="74612" cy="74613"/>
          </a:xfrm>
          <a:prstGeom prst="ellipse">
            <a:avLst/>
          </a:prstGeom>
          <a:solidFill>
            <a:srgbClr val="FF0000"/>
          </a:solidFill>
          <a:ln w="9525">
            <a:solidFill>
              <a:srgbClr val="000000"/>
            </a:solidFill>
            <a:round/>
            <a:headEnd/>
            <a:tailEnd/>
          </a:ln>
        </p:spPr>
        <p:txBody>
          <a:bodyPr wrap="none" anchor="ct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40" name="Oval 33">
            <a:extLst>
              <a:ext uri="{FF2B5EF4-FFF2-40B4-BE49-F238E27FC236}">
                <a16:creationId xmlns:a16="http://schemas.microsoft.com/office/drawing/2014/main" id="{EA6615DF-5189-9339-5FF5-303C552A0C04}"/>
              </a:ext>
            </a:extLst>
          </p:cNvPr>
          <p:cNvSpPr>
            <a:spLocks noChangeArrowheads="1"/>
          </p:cNvSpPr>
          <p:nvPr/>
        </p:nvSpPr>
        <p:spPr bwMode="auto">
          <a:xfrm>
            <a:off x="7528768" y="5052566"/>
            <a:ext cx="74612" cy="74613"/>
          </a:xfrm>
          <a:prstGeom prst="ellipse">
            <a:avLst/>
          </a:prstGeom>
          <a:solidFill>
            <a:srgbClr val="FF0000"/>
          </a:solidFill>
          <a:ln w="9525">
            <a:solidFill>
              <a:srgbClr val="000000"/>
            </a:solidFill>
            <a:round/>
            <a:headEnd/>
            <a:tailEnd/>
          </a:ln>
        </p:spPr>
        <p:txBody>
          <a:bodyPr wrap="none" anchor="ct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41" name="Oval 34">
            <a:extLst>
              <a:ext uri="{FF2B5EF4-FFF2-40B4-BE49-F238E27FC236}">
                <a16:creationId xmlns:a16="http://schemas.microsoft.com/office/drawing/2014/main" id="{5BA68028-DA10-9623-DF70-78A311CB1704}"/>
              </a:ext>
            </a:extLst>
          </p:cNvPr>
          <p:cNvSpPr>
            <a:spLocks noChangeArrowheads="1"/>
          </p:cNvSpPr>
          <p:nvPr/>
        </p:nvSpPr>
        <p:spPr bwMode="auto">
          <a:xfrm>
            <a:off x="7528768" y="4523929"/>
            <a:ext cx="74612" cy="74612"/>
          </a:xfrm>
          <a:prstGeom prst="ellipse">
            <a:avLst/>
          </a:prstGeom>
          <a:solidFill>
            <a:srgbClr val="FF0000"/>
          </a:solidFill>
          <a:ln w="9525">
            <a:solidFill>
              <a:srgbClr val="000000"/>
            </a:solidFill>
            <a:round/>
            <a:headEnd/>
            <a:tailEnd/>
          </a:ln>
        </p:spPr>
        <p:txBody>
          <a:bodyPr wrap="none" anchor="ct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42" name="Oval 35">
            <a:extLst>
              <a:ext uri="{FF2B5EF4-FFF2-40B4-BE49-F238E27FC236}">
                <a16:creationId xmlns:a16="http://schemas.microsoft.com/office/drawing/2014/main" id="{C064D623-CFF1-3C01-A668-62E78373AB94}"/>
              </a:ext>
            </a:extLst>
          </p:cNvPr>
          <p:cNvSpPr>
            <a:spLocks noChangeArrowheads="1"/>
          </p:cNvSpPr>
          <p:nvPr/>
        </p:nvSpPr>
        <p:spPr bwMode="auto">
          <a:xfrm>
            <a:off x="7528768" y="3995291"/>
            <a:ext cx="74612" cy="74613"/>
          </a:xfrm>
          <a:prstGeom prst="ellipse">
            <a:avLst/>
          </a:prstGeom>
          <a:solidFill>
            <a:srgbClr val="FF0000"/>
          </a:solidFill>
          <a:ln w="9525">
            <a:solidFill>
              <a:srgbClr val="000000"/>
            </a:solidFill>
            <a:round/>
            <a:headEnd/>
            <a:tailEnd/>
          </a:ln>
        </p:spPr>
        <p:txBody>
          <a:bodyPr wrap="none" anchor="ct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43" name="Oval 36">
            <a:extLst>
              <a:ext uri="{FF2B5EF4-FFF2-40B4-BE49-F238E27FC236}">
                <a16:creationId xmlns:a16="http://schemas.microsoft.com/office/drawing/2014/main" id="{5592BD9C-69F1-6F80-212C-E805665D9D6C}"/>
              </a:ext>
            </a:extLst>
          </p:cNvPr>
          <p:cNvSpPr>
            <a:spLocks noChangeArrowheads="1"/>
          </p:cNvSpPr>
          <p:nvPr/>
        </p:nvSpPr>
        <p:spPr bwMode="auto">
          <a:xfrm>
            <a:off x="7528768" y="3430141"/>
            <a:ext cx="74612" cy="74613"/>
          </a:xfrm>
          <a:prstGeom prst="ellipse">
            <a:avLst/>
          </a:prstGeom>
          <a:solidFill>
            <a:srgbClr val="FF0000"/>
          </a:solidFill>
          <a:ln w="9525">
            <a:solidFill>
              <a:srgbClr val="000000"/>
            </a:solidFill>
            <a:round/>
            <a:headEnd/>
            <a:tailEnd/>
          </a:ln>
        </p:spPr>
        <p:txBody>
          <a:bodyPr wrap="none" anchor="ct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44" name="Oval 37">
            <a:extLst>
              <a:ext uri="{FF2B5EF4-FFF2-40B4-BE49-F238E27FC236}">
                <a16:creationId xmlns:a16="http://schemas.microsoft.com/office/drawing/2014/main" id="{7149A738-0190-B5BF-3D06-1118280165E1}"/>
              </a:ext>
            </a:extLst>
          </p:cNvPr>
          <p:cNvSpPr>
            <a:spLocks noChangeArrowheads="1"/>
          </p:cNvSpPr>
          <p:nvPr/>
        </p:nvSpPr>
        <p:spPr bwMode="auto">
          <a:xfrm>
            <a:off x="7528768" y="2882454"/>
            <a:ext cx="74612" cy="74612"/>
          </a:xfrm>
          <a:prstGeom prst="ellipse">
            <a:avLst/>
          </a:prstGeom>
          <a:solidFill>
            <a:srgbClr val="FF0000"/>
          </a:solidFill>
          <a:ln w="9525">
            <a:solidFill>
              <a:srgbClr val="000000"/>
            </a:solidFill>
            <a:round/>
            <a:headEnd/>
            <a:tailEnd/>
          </a:ln>
        </p:spPr>
        <p:txBody>
          <a:bodyPr wrap="none" anchor="ct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45" name="Text Box 38">
            <a:extLst>
              <a:ext uri="{FF2B5EF4-FFF2-40B4-BE49-F238E27FC236}">
                <a16:creationId xmlns:a16="http://schemas.microsoft.com/office/drawing/2014/main" id="{4887519D-47CA-B642-A0D3-8CE61756B57D}"/>
              </a:ext>
            </a:extLst>
          </p:cNvPr>
          <p:cNvSpPr txBox="1">
            <a:spLocks noChangeArrowheads="1"/>
          </p:cNvSpPr>
          <p:nvPr/>
        </p:nvSpPr>
        <p:spPr bwMode="auto">
          <a:xfrm>
            <a:off x="6454030" y="2274441"/>
            <a:ext cx="11636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1"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sym typeface="Symbol" panose="05050102010706020507" pitchFamily="18" charset="2"/>
              </a:rPr>
              <a:t> </a:t>
            </a: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sym typeface="Symbol" panose="05050102010706020507" pitchFamily="18" charset="2"/>
              </a:rPr>
              <a:t></a:t>
            </a:r>
            <a:r>
              <a:rPr kumimoji="1"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/MPa</a:t>
            </a:r>
          </a:p>
        </p:txBody>
      </p:sp>
      <p:sp>
        <p:nvSpPr>
          <p:cNvPr id="46" name="Text Box 39">
            <a:extLst>
              <a:ext uri="{FF2B5EF4-FFF2-40B4-BE49-F238E27FC236}">
                <a16:creationId xmlns:a16="http://schemas.microsoft.com/office/drawing/2014/main" id="{BA7B0DEC-E63F-2AC7-0684-E0D1B2869827}"/>
              </a:ext>
            </a:extLst>
          </p:cNvPr>
          <p:cNvSpPr txBox="1">
            <a:spLocks noChangeArrowheads="1"/>
          </p:cNvSpPr>
          <p:nvPr/>
        </p:nvSpPr>
        <p:spPr bwMode="auto">
          <a:xfrm>
            <a:off x="7384305" y="3169791"/>
            <a:ext cx="21002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1" lang="zh-CN" altLang="en-US" sz="2400" i="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rPr>
              <a:t>聚苯乙烯</a:t>
            </a:r>
          </a:p>
        </p:txBody>
      </p:sp>
      <p:sp>
        <p:nvSpPr>
          <p:cNvPr id="62" name="Oval 44">
            <a:extLst>
              <a:ext uri="{FF2B5EF4-FFF2-40B4-BE49-F238E27FC236}">
                <a16:creationId xmlns:a16="http://schemas.microsoft.com/office/drawing/2014/main" id="{3104C803-0D08-C171-00A4-855EB333CE3C}"/>
              </a:ext>
            </a:extLst>
          </p:cNvPr>
          <p:cNvSpPr>
            <a:spLocks noChangeArrowheads="1"/>
          </p:cNvSpPr>
          <p:nvPr/>
        </p:nvSpPr>
        <p:spPr bwMode="auto">
          <a:xfrm>
            <a:off x="9540130" y="5484366"/>
            <a:ext cx="74613" cy="74613"/>
          </a:xfrm>
          <a:prstGeom prst="ellipse">
            <a:avLst/>
          </a:prstGeom>
          <a:solidFill>
            <a:srgbClr val="FF0000"/>
          </a:solidFill>
          <a:ln w="9525">
            <a:solidFill>
              <a:srgbClr val="000000"/>
            </a:solidFill>
            <a:round/>
            <a:headEnd/>
            <a:tailEnd/>
          </a:ln>
        </p:spPr>
        <p:txBody>
          <a:bodyPr wrap="none" anchor="ct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63" name="Oval 45">
            <a:extLst>
              <a:ext uri="{FF2B5EF4-FFF2-40B4-BE49-F238E27FC236}">
                <a16:creationId xmlns:a16="http://schemas.microsoft.com/office/drawing/2014/main" id="{0C440EC5-365C-B9D5-1C18-B0D021705300}"/>
              </a:ext>
            </a:extLst>
          </p:cNvPr>
          <p:cNvSpPr>
            <a:spLocks noChangeArrowheads="1"/>
          </p:cNvSpPr>
          <p:nvPr/>
        </p:nvSpPr>
        <p:spPr bwMode="auto">
          <a:xfrm>
            <a:off x="10095755" y="5489129"/>
            <a:ext cx="74613" cy="74612"/>
          </a:xfrm>
          <a:prstGeom prst="ellipse">
            <a:avLst/>
          </a:prstGeom>
          <a:solidFill>
            <a:srgbClr val="FF0000"/>
          </a:solidFill>
          <a:ln w="9525">
            <a:solidFill>
              <a:srgbClr val="000000"/>
            </a:solidFill>
            <a:round/>
            <a:headEnd/>
            <a:tailEnd/>
          </a:ln>
        </p:spPr>
        <p:txBody>
          <a:bodyPr wrap="none" anchor="ct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64" name="Oval 46">
            <a:extLst>
              <a:ext uri="{FF2B5EF4-FFF2-40B4-BE49-F238E27FC236}">
                <a16:creationId xmlns:a16="http://schemas.microsoft.com/office/drawing/2014/main" id="{6B98B9A6-95EB-26B9-4E1B-66F2E9F418A6}"/>
              </a:ext>
            </a:extLst>
          </p:cNvPr>
          <p:cNvSpPr>
            <a:spLocks noChangeArrowheads="1"/>
          </p:cNvSpPr>
          <p:nvPr/>
        </p:nvSpPr>
        <p:spPr bwMode="auto">
          <a:xfrm>
            <a:off x="10608518" y="5490716"/>
            <a:ext cx="74612" cy="74613"/>
          </a:xfrm>
          <a:prstGeom prst="ellipse">
            <a:avLst/>
          </a:prstGeom>
          <a:solidFill>
            <a:srgbClr val="FF0000"/>
          </a:solidFill>
          <a:ln w="9525">
            <a:solidFill>
              <a:srgbClr val="000000"/>
            </a:solidFill>
            <a:round/>
            <a:headEnd/>
            <a:tailEnd/>
          </a:ln>
        </p:spPr>
        <p:txBody>
          <a:bodyPr wrap="none" anchor="ct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65" name="Freeform 47">
            <a:extLst>
              <a:ext uri="{FF2B5EF4-FFF2-40B4-BE49-F238E27FC236}">
                <a16:creationId xmlns:a16="http://schemas.microsoft.com/office/drawing/2014/main" id="{A29E0298-B72C-2BB4-50EB-E799CACCE862}"/>
              </a:ext>
            </a:extLst>
          </p:cNvPr>
          <p:cNvSpPr>
            <a:spLocks/>
          </p:cNvSpPr>
          <p:nvPr/>
        </p:nvSpPr>
        <p:spPr bwMode="auto">
          <a:xfrm>
            <a:off x="7584330" y="3503166"/>
            <a:ext cx="185738" cy="2028825"/>
          </a:xfrm>
          <a:custGeom>
            <a:avLst/>
            <a:gdLst>
              <a:gd name="T0" fmla="*/ 0 w 117"/>
              <a:gd name="T1" fmla="*/ 2028825 h 1278"/>
              <a:gd name="T2" fmla="*/ 87313 w 117"/>
              <a:gd name="T3" fmla="*/ 179387 h 1278"/>
              <a:gd name="T4" fmla="*/ 117475 w 117"/>
              <a:gd name="T5" fmla="*/ 73025 h 1278"/>
              <a:gd name="T6" fmla="*/ 185738 w 117"/>
              <a:gd name="T7" fmla="*/ 0 h 1278"/>
              <a:gd name="T8" fmla="*/ 0 60000 65536"/>
              <a:gd name="T9" fmla="*/ 0 60000 65536"/>
              <a:gd name="T10" fmla="*/ 0 60000 65536"/>
              <a:gd name="T11" fmla="*/ 0 60000 65536"/>
              <a:gd name="T12" fmla="*/ 0 w 117"/>
              <a:gd name="T13" fmla="*/ 0 h 1278"/>
              <a:gd name="T14" fmla="*/ 117 w 117"/>
              <a:gd name="T15" fmla="*/ 1278 h 1278"/>
            </a:gdLst>
            <a:ahLst/>
            <a:cxnLst>
              <a:cxn ang="T8">
                <a:pos x="T0" y="T1"/>
              </a:cxn>
              <a:cxn ang="T9">
                <a:pos x="T2" y="T3"/>
              </a:cxn>
              <a:cxn ang="T10">
                <a:pos x="T4" y="T5"/>
              </a:cxn>
              <a:cxn ang="T11">
                <a:pos x="T6" y="T7"/>
              </a:cxn>
            </a:cxnLst>
            <a:rect l="T12" t="T13" r="T14" b="T15"/>
            <a:pathLst>
              <a:path w="117" h="1278">
                <a:moveTo>
                  <a:pt x="0" y="1278"/>
                </a:moveTo>
                <a:lnTo>
                  <a:pt x="55" y="113"/>
                </a:lnTo>
                <a:cubicBezTo>
                  <a:pt x="60" y="80"/>
                  <a:pt x="64" y="65"/>
                  <a:pt x="74" y="46"/>
                </a:cubicBezTo>
                <a:cubicBezTo>
                  <a:pt x="84" y="27"/>
                  <a:pt x="108" y="10"/>
                  <a:pt x="117" y="0"/>
                </a:cubicBezTo>
              </a:path>
            </a:pathLst>
          </a:custGeom>
          <a:noFill/>
          <a:ln w="19050" cap="flat"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Tree>
    <p:extLst>
      <p:ext uri="{BB962C8B-B14F-4D97-AF65-F5344CB8AC3E}">
        <p14:creationId xmlns:p14="http://schemas.microsoft.com/office/powerpoint/2010/main" val="2828109077"/>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5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7" presetClass="entr" presetSubtype="8" fill="hold" nodeType="clickEffect">
                                  <p:stCondLst>
                                    <p:cond delay="0"/>
                                  </p:stCondLst>
                                  <p:childTnLst>
                                    <p:set>
                                      <p:cBhvr>
                                        <p:cTn id="14" dur="1" fill="hold">
                                          <p:stCondLst>
                                            <p:cond delay="0"/>
                                          </p:stCondLst>
                                        </p:cTn>
                                        <p:tgtEl>
                                          <p:spTgt spid="32"/>
                                        </p:tgtEl>
                                        <p:attrNameLst>
                                          <p:attrName>style.visibility</p:attrName>
                                        </p:attrNameLst>
                                      </p:cBhvr>
                                      <p:to>
                                        <p:strVal val="visible"/>
                                      </p:to>
                                    </p:set>
                                    <p:anim calcmode="lin" valueType="num">
                                      <p:cBhvr>
                                        <p:cTn id="15" dur="5000" fill="hold"/>
                                        <p:tgtEl>
                                          <p:spTgt spid="32"/>
                                        </p:tgtEl>
                                        <p:attrNameLst>
                                          <p:attrName>ppt_x</p:attrName>
                                        </p:attrNameLst>
                                      </p:cBhvr>
                                      <p:tavLst>
                                        <p:tav tm="0">
                                          <p:val>
                                            <p:strVal val="#ppt_x-#ppt_w/2"/>
                                          </p:val>
                                        </p:tav>
                                        <p:tav tm="100000">
                                          <p:val>
                                            <p:strVal val="#ppt_x"/>
                                          </p:val>
                                        </p:tav>
                                      </p:tavLst>
                                    </p:anim>
                                    <p:anim calcmode="lin" valueType="num">
                                      <p:cBhvr>
                                        <p:cTn id="16" dur="5000" fill="hold"/>
                                        <p:tgtEl>
                                          <p:spTgt spid="32"/>
                                        </p:tgtEl>
                                        <p:attrNameLst>
                                          <p:attrName>ppt_y</p:attrName>
                                        </p:attrNameLst>
                                      </p:cBhvr>
                                      <p:tavLst>
                                        <p:tav tm="0">
                                          <p:val>
                                            <p:strVal val="#ppt_y"/>
                                          </p:val>
                                        </p:tav>
                                        <p:tav tm="100000">
                                          <p:val>
                                            <p:strVal val="#ppt_y"/>
                                          </p:val>
                                        </p:tav>
                                      </p:tavLst>
                                    </p:anim>
                                    <p:anim calcmode="lin" valueType="num">
                                      <p:cBhvr>
                                        <p:cTn id="17" dur="5000" fill="hold"/>
                                        <p:tgtEl>
                                          <p:spTgt spid="32"/>
                                        </p:tgtEl>
                                        <p:attrNameLst>
                                          <p:attrName>ppt_w</p:attrName>
                                        </p:attrNameLst>
                                      </p:cBhvr>
                                      <p:tavLst>
                                        <p:tav tm="0">
                                          <p:val>
                                            <p:fltVal val="0"/>
                                          </p:val>
                                        </p:tav>
                                        <p:tav tm="100000">
                                          <p:val>
                                            <p:strVal val="#ppt_w"/>
                                          </p:val>
                                        </p:tav>
                                      </p:tavLst>
                                    </p:anim>
                                    <p:anim calcmode="lin" valueType="num">
                                      <p:cBhvr>
                                        <p:cTn id="18" dur="5000" fill="hold"/>
                                        <p:tgtEl>
                                          <p:spTgt spid="32"/>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3"/>
                                            </p:cond>
                                          </p:stCondLst>
                                          <p:endCondLst>
                                            <p:cond evt="onStopAudio" delay="0">
                                              <p:tgtEl>
                                                <p:sldTgt/>
                                              </p:tgtEl>
                                            </p:cond>
                                          </p:endCondLst>
                                        </p:cTn>
                                        <p:tgtEl>
                                          <p:sndTgt r:embed="rId3" name="CHIMES.WAV"/>
                                        </p:tgtEl>
                                      </p:cMediaNode>
                                    </p:audio>
                                  </p:subTnLst>
                                </p:cTn>
                              </p:par>
                              <p:par>
                                <p:cTn id="19" presetID="12" presetClass="entr" presetSubtype="4" fill="hold" nodeType="withEffect">
                                  <p:stCondLst>
                                    <p:cond delay="0"/>
                                  </p:stCondLst>
                                  <p:childTnLst>
                                    <p:set>
                                      <p:cBhvr>
                                        <p:cTn id="20" dur="1" fill="hold">
                                          <p:stCondLst>
                                            <p:cond delay="0"/>
                                          </p:stCondLst>
                                        </p:cTn>
                                        <p:tgtEl>
                                          <p:spTgt spid="33"/>
                                        </p:tgtEl>
                                        <p:attrNameLst>
                                          <p:attrName>style.visibility</p:attrName>
                                        </p:attrNameLst>
                                      </p:cBhvr>
                                      <p:to>
                                        <p:strVal val="visible"/>
                                      </p:to>
                                    </p:set>
                                    <p:animEffect transition="in" filter="slide(fromBottom)">
                                      <p:cBhvr>
                                        <p:cTn id="21" dur="5000"/>
                                        <p:tgtEl>
                                          <p:spTgt spid="33"/>
                                        </p:tgtEl>
                                      </p:cBhvr>
                                    </p:animEffect>
                                  </p:childTnLst>
                                  <p:subTnLst>
                                    <p:audio>
                                      <p:cMediaNode>
                                        <p:cTn display="0" masterRel="sameClick">
                                          <p:stCondLst>
                                            <p:cond evt="begin" delay="0">
                                              <p:tn val="19"/>
                                            </p:cond>
                                          </p:stCondLst>
                                          <p:endCondLst>
                                            <p:cond evt="onStopAudio" delay="0">
                                              <p:tgtEl>
                                                <p:sldTgt/>
                                              </p:tgtEl>
                                            </p:cond>
                                          </p:endCondLst>
                                        </p:cTn>
                                        <p:tgtEl>
                                          <p:sndTgt r:embed="rId3" name="CHIMES.WAV"/>
                                        </p:tgtEl>
                                      </p:cMediaNode>
                                    </p:audio>
                                  </p:subTnLst>
                                </p:cTn>
                              </p:par>
                              <p:par>
                                <p:cTn id="22" presetID="19" presetClass="entr" presetSubtype="10" fill="hold" grpId="0" nodeType="withEffect">
                                  <p:stCondLst>
                                    <p:cond delay="0"/>
                                  </p:stCondLst>
                                  <p:childTnLst>
                                    <p:set>
                                      <p:cBhvr>
                                        <p:cTn id="23" dur="1" fill="hold">
                                          <p:stCondLst>
                                            <p:cond delay="0"/>
                                          </p:stCondLst>
                                        </p:cTn>
                                        <p:tgtEl>
                                          <p:spTgt spid="34"/>
                                        </p:tgtEl>
                                        <p:attrNameLst>
                                          <p:attrName>style.visibility</p:attrName>
                                        </p:attrNameLst>
                                      </p:cBhvr>
                                      <p:to>
                                        <p:strVal val="visible"/>
                                      </p:to>
                                    </p:set>
                                    <p:anim calcmode="lin" valueType="num">
                                      <p:cBhvr>
                                        <p:cTn id="24" dur="5000" fill="hold"/>
                                        <p:tgtEl>
                                          <p:spTgt spid="34"/>
                                        </p:tgtEl>
                                        <p:attrNameLst>
                                          <p:attrName>ppt_w</p:attrName>
                                        </p:attrNameLst>
                                      </p:cBhvr>
                                      <p:tavLst>
                                        <p:tav tm="0" fmla="#ppt_w*sin(2.5*pi*$)">
                                          <p:val>
                                            <p:fltVal val="0"/>
                                          </p:val>
                                        </p:tav>
                                        <p:tav tm="100000">
                                          <p:val>
                                            <p:fltVal val="1"/>
                                          </p:val>
                                        </p:tav>
                                      </p:tavLst>
                                    </p:anim>
                                    <p:anim calcmode="lin" valueType="num">
                                      <p:cBhvr>
                                        <p:cTn id="25" dur="5000" fill="hold"/>
                                        <p:tgtEl>
                                          <p:spTgt spid="34"/>
                                        </p:tgtEl>
                                        <p:attrNameLst>
                                          <p:attrName>ppt_h</p:attrName>
                                        </p:attrNameLst>
                                      </p:cBhvr>
                                      <p:tavLst>
                                        <p:tav tm="0">
                                          <p:val>
                                            <p:strVal val="#ppt_h"/>
                                          </p:val>
                                        </p:tav>
                                        <p:tav tm="100000">
                                          <p:val>
                                            <p:strVal val="#ppt_h"/>
                                          </p:val>
                                        </p:tav>
                                      </p:tavLst>
                                    </p:anim>
                                  </p:childTnLst>
                                </p:cTn>
                              </p:par>
                              <p:par>
                                <p:cTn id="26" presetID="19" presetClass="entr" presetSubtype="10" fill="hold" grpId="0" nodeType="withEffect">
                                  <p:stCondLst>
                                    <p:cond delay="0"/>
                                  </p:stCondLst>
                                  <p:childTnLst>
                                    <p:set>
                                      <p:cBhvr>
                                        <p:cTn id="27" dur="1" fill="hold">
                                          <p:stCondLst>
                                            <p:cond delay="0"/>
                                          </p:stCondLst>
                                        </p:cTn>
                                        <p:tgtEl>
                                          <p:spTgt spid="45"/>
                                        </p:tgtEl>
                                        <p:attrNameLst>
                                          <p:attrName>style.visibility</p:attrName>
                                        </p:attrNameLst>
                                      </p:cBhvr>
                                      <p:to>
                                        <p:strVal val="visible"/>
                                      </p:to>
                                    </p:set>
                                    <p:anim calcmode="lin" valueType="num">
                                      <p:cBhvr>
                                        <p:cTn id="28" dur="5000" fill="hold"/>
                                        <p:tgtEl>
                                          <p:spTgt spid="45"/>
                                        </p:tgtEl>
                                        <p:attrNameLst>
                                          <p:attrName>ppt_w</p:attrName>
                                        </p:attrNameLst>
                                      </p:cBhvr>
                                      <p:tavLst>
                                        <p:tav tm="0" fmla="#ppt_w*sin(2.5*pi*$)">
                                          <p:val>
                                            <p:fltVal val="0"/>
                                          </p:val>
                                        </p:tav>
                                        <p:tav tm="100000">
                                          <p:val>
                                            <p:fltVal val="1"/>
                                          </p:val>
                                        </p:tav>
                                      </p:tavLst>
                                    </p:anim>
                                    <p:anim calcmode="lin" valueType="num">
                                      <p:cBhvr>
                                        <p:cTn id="29" dur="5000" fill="hold"/>
                                        <p:tgtEl>
                                          <p:spTgt spid="45"/>
                                        </p:tgtEl>
                                        <p:attrNameLst>
                                          <p:attrName>ppt_h</p:attrName>
                                        </p:attrNameLst>
                                      </p:cBhvr>
                                      <p:tavLst>
                                        <p:tav tm="0">
                                          <p:val>
                                            <p:strVal val="#ppt_h"/>
                                          </p:val>
                                        </p:tav>
                                        <p:tav tm="100000">
                                          <p:val>
                                            <p:strVal val="#ppt_h"/>
                                          </p:val>
                                        </p:tav>
                                      </p:tavLst>
                                    </p:anim>
                                  </p:childTnLst>
                                </p:cTn>
                              </p:par>
                            </p:childTnLst>
                          </p:cTn>
                        </p:par>
                        <p:par>
                          <p:cTn id="30" fill="hold">
                            <p:stCondLst>
                              <p:cond delay="5000"/>
                            </p:stCondLst>
                            <p:childTnLst>
                              <p:par>
                                <p:cTn id="31" presetID="23" presetClass="entr" presetSubtype="272" fill="hold" grpId="0" nodeType="afterEffect">
                                  <p:stCondLst>
                                    <p:cond delay="300"/>
                                  </p:stCondLst>
                                  <p:childTnLst>
                                    <p:set>
                                      <p:cBhvr>
                                        <p:cTn id="32" dur="1" fill="hold">
                                          <p:stCondLst>
                                            <p:cond delay="0"/>
                                          </p:stCondLst>
                                        </p:cTn>
                                        <p:tgtEl>
                                          <p:spTgt spid="37"/>
                                        </p:tgtEl>
                                        <p:attrNameLst>
                                          <p:attrName>style.visibility</p:attrName>
                                        </p:attrNameLst>
                                      </p:cBhvr>
                                      <p:to>
                                        <p:strVal val="visible"/>
                                      </p:to>
                                    </p:set>
                                    <p:anim calcmode="lin" valueType="num">
                                      <p:cBhvr>
                                        <p:cTn id="33" dur="500" fill="hold"/>
                                        <p:tgtEl>
                                          <p:spTgt spid="37"/>
                                        </p:tgtEl>
                                        <p:attrNameLst>
                                          <p:attrName>ppt_w</p:attrName>
                                        </p:attrNameLst>
                                      </p:cBhvr>
                                      <p:tavLst>
                                        <p:tav tm="0">
                                          <p:val>
                                            <p:strVal val="2/3*#ppt_w"/>
                                          </p:val>
                                        </p:tav>
                                        <p:tav tm="100000">
                                          <p:val>
                                            <p:strVal val="#ppt_w"/>
                                          </p:val>
                                        </p:tav>
                                      </p:tavLst>
                                    </p:anim>
                                    <p:anim calcmode="lin" valueType="num">
                                      <p:cBhvr>
                                        <p:cTn id="34" dur="500" fill="hold"/>
                                        <p:tgtEl>
                                          <p:spTgt spid="37"/>
                                        </p:tgtEl>
                                        <p:attrNameLst>
                                          <p:attrName>ppt_h</p:attrName>
                                        </p:attrNameLst>
                                      </p:cBhvr>
                                      <p:tavLst>
                                        <p:tav tm="0">
                                          <p:val>
                                            <p:strVal val="2/3*#ppt_h"/>
                                          </p:val>
                                        </p:tav>
                                        <p:tav tm="100000">
                                          <p:val>
                                            <p:strVal val="#ppt_h"/>
                                          </p:val>
                                        </p:tav>
                                      </p:tavLst>
                                    </p:anim>
                                  </p:childTnLst>
                                  <p:subTnLst>
                                    <p:audio>
                                      <p:cMediaNode>
                                        <p:cTn display="0" masterRel="sameClick">
                                          <p:stCondLst>
                                            <p:cond evt="begin" delay="0">
                                              <p:tn val="31"/>
                                            </p:cond>
                                          </p:stCondLst>
                                          <p:endCondLst>
                                            <p:cond evt="onStopAudio" delay="0">
                                              <p:tgtEl>
                                                <p:sldTgt/>
                                              </p:tgtEl>
                                            </p:cond>
                                          </p:endCondLst>
                                        </p:cTn>
                                        <p:tgtEl>
                                          <p:sndTgt r:embed="rId3" name="CHIMES.WAV"/>
                                        </p:tgtEl>
                                      </p:cMediaNode>
                                    </p:audio>
                                  </p:subTnLst>
                                </p:cTn>
                              </p:par>
                            </p:childTnLst>
                          </p:cTn>
                        </p:par>
                        <p:par>
                          <p:cTn id="35" fill="hold">
                            <p:stCondLst>
                              <p:cond delay="5800"/>
                            </p:stCondLst>
                            <p:childTnLst>
                              <p:par>
                                <p:cTn id="36" presetID="23" presetClass="entr" presetSubtype="272" fill="hold" grpId="0" nodeType="afterEffect">
                                  <p:stCondLst>
                                    <p:cond delay="300"/>
                                  </p:stCondLst>
                                  <p:childTnLst>
                                    <p:set>
                                      <p:cBhvr>
                                        <p:cTn id="37" dur="1" fill="hold">
                                          <p:stCondLst>
                                            <p:cond delay="0"/>
                                          </p:stCondLst>
                                        </p:cTn>
                                        <p:tgtEl>
                                          <p:spTgt spid="38"/>
                                        </p:tgtEl>
                                        <p:attrNameLst>
                                          <p:attrName>style.visibility</p:attrName>
                                        </p:attrNameLst>
                                      </p:cBhvr>
                                      <p:to>
                                        <p:strVal val="visible"/>
                                      </p:to>
                                    </p:set>
                                    <p:anim calcmode="lin" valueType="num">
                                      <p:cBhvr>
                                        <p:cTn id="38" dur="500" fill="hold"/>
                                        <p:tgtEl>
                                          <p:spTgt spid="38"/>
                                        </p:tgtEl>
                                        <p:attrNameLst>
                                          <p:attrName>ppt_w</p:attrName>
                                        </p:attrNameLst>
                                      </p:cBhvr>
                                      <p:tavLst>
                                        <p:tav tm="0">
                                          <p:val>
                                            <p:strVal val="2/3*#ppt_w"/>
                                          </p:val>
                                        </p:tav>
                                        <p:tav tm="100000">
                                          <p:val>
                                            <p:strVal val="#ppt_w"/>
                                          </p:val>
                                        </p:tav>
                                      </p:tavLst>
                                    </p:anim>
                                    <p:anim calcmode="lin" valueType="num">
                                      <p:cBhvr>
                                        <p:cTn id="39" dur="500" fill="hold"/>
                                        <p:tgtEl>
                                          <p:spTgt spid="38"/>
                                        </p:tgtEl>
                                        <p:attrNameLst>
                                          <p:attrName>ppt_h</p:attrName>
                                        </p:attrNameLst>
                                      </p:cBhvr>
                                      <p:tavLst>
                                        <p:tav tm="0">
                                          <p:val>
                                            <p:strVal val="2/3*#ppt_h"/>
                                          </p:val>
                                        </p:tav>
                                        <p:tav tm="100000">
                                          <p:val>
                                            <p:strVal val="#ppt_h"/>
                                          </p:val>
                                        </p:tav>
                                      </p:tavLst>
                                    </p:anim>
                                  </p:childTnLst>
                                  <p:subTnLst>
                                    <p:audio>
                                      <p:cMediaNode>
                                        <p:cTn display="0" masterRel="sameClick">
                                          <p:stCondLst>
                                            <p:cond evt="begin" delay="0">
                                              <p:tn val="36"/>
                                            </p:cond>
                                          </p:stCondLst>
                                          <p:endCondLst>
                                            <p:cond evt="onStopAudio" delay="0">
                                              <p:tgtEl>
                                                <p:sldTgt/>
                                              </p:tgtEl>
                                            </p:cond>
                                          </p:endCondLst>
                                        </p:cTn>
                                        <p:tgtEl>
                                          <p:sndTgt r:embed="rId3" name="CHIMES.WAV"/>
                                        </p:tgtEl>
                                      </p:cMediaNode>
                                    </p:audio>
                                  </p:subTnLst>
                                </p:cTn>
                              </p:par>
                            </p:childTnLst>
                          </p:cTn>
                        </p:par>
                        <p:par>
                          <p:cTn id="40" fill="hold">
                            <p:stCondLst>
                              <p:cond delay="6600"/>
                            </p:stCondLst>
                            <p:childTnLst>
                              <p:par>
                                <p:cTn id="41" presetID="23" presetClass="entr" presetSubtype="272" fill="hold" grpId="0" nodeType="afterEffect">
                                  <p:stCondLst>
                                    <p:cond delay="300"/>
                                  </p:stCondLst>
                                  <p:childTnLst>
                                    <p:set>
                                      <p:cBhvr>
                                        <p:cTn id="42" dur="1" fill="hold">
                                          <p:stCondLst>
                                            <p:cond delay="0"/>
                                          </p:stCondLst>
                                        </p:cTn>
                                        <p:tgtEl>
                                          <p:spTgt spid="39"/>
                                        </p:tgtEl>
                                        <p:attrNameLst>
                                          <p:attrName>style.visibility</p:attrName>
                                        </p:attrNameLst>
                                      </p:cBhvr>
                                      <p:to>
                                        <p:strVal val="visible"/>
                                      </p:to>
                                    </p:set>
                                    <p:anim calcmode="lin" valueType="num">
                                      <p:cBhvr>
                                        <p:cTn id="43" dur="500" fill="hold"/>
                                        <p:tgtEl>
                                          <p:spTgt spid="39"/>
                                        </p:tgtEl>
                                        <p:attrNameLst>
                                          <p:attrName>ppt_w</p:attrName>
                                        </p:attrNameLst>
                                      </p:cBhvr>
                                      <p:tavLst>
                                        <p:tav tm="0">
                                          <p:val>
                                            <p:strVal val="2/3*#ppt_w"/>
                                          </p:val>
                                        </p:tav>
                                        <p:tav tm="100000">
                                          <p:val>
                                            <p:strVal val="#ppt_w"/>
                                          </p:val>
                                        </p:tav>
                                      </p:tavLst>
                                    </p:anim>
                                    <p:anim calcmode="lin" valueType="num">
                                      <p:cBhvr>
                                        <p:cTn id="44" dur="500" fill="hold"/>
                                        <p:tgtEl>
                                          <p:spTgt spid="39"/>
                                        </p:tgtEl>
                                        <p:attrNameLst>
                                          <p:attrName>ppt_h</p:attrName>
                                        </p:attrNameLst>
                                      </p:cBhvr>
                                      <p:tavLst>
                                        <p:tav tm="0">
                                          <p:val>
                                            <p:strVal val="2/3*#ppt_h"/>
                                          </p:val>
                                        </p:tav>
                                        <p:tav tm="100000">
                                          <p:val>
                                            <p:strVal val="#ppt_h"/>
                                          </p:val>
                                        </p:tav>
                                      </p:tavLst>
                                    </p:anim>
                                  </p:childTnLst>
                                  <p:subTnLst>
                                    <p:audio>
                                      <p:cMediaNode>
                                        <p:cTn display="0" masterRel="sameClick">
                                          <p:stCondLst>
                                            <p:cond evt="begin" delay="0">
                                              <p:tn val="41"/>
                                            </p:cond>
                                          </p:stCondLst>
                                          <p:endCondLst>
                                            <p:cond evt="onStopAudio" delay="0">
                                              <p:tgtEl>
                                                <p:sldTgt/>
                                              </p:tgtEl>
                                            </p:cond>
                                          </p:endCondLst>
                                        </p:cTn>
                                        <p:tgtEl>
                                          <p:sndTgt r:embed="rId3" name="CHIMES.WAV"/>
                                        </p:tgtEl>
                                      </p:cMediaNode>
                                    </p:audio>
                                  </p:subTnLst>
                                </p:cTn>
                              </p:par>
                            </p:childTnLst>
                          </p:cTn>
                        </p:par>
                        <p:par>
                          <p:cTn id="45" fill="hold">
                            <p:stCondLst>
                              <p:cond delay="7400"/>
                            </p:stCondLst>
                            <p:childTnLst>
                              <p:par>
                                <p:cTn id="46" presetID="23" presetClass="entr" presetSubtype="272" fill="hold" grpId="0" nodeType="afterEffect">
                                  <p:stCondLst>
                                    <p:cond delay="0"/>
                                  </p:stCondLst>
                                  <p:childTnLst>
                                    <p:set>
                                      <p:cBhvr>
                                        <p:cTn id="47" dur="1" fill="hold">
                                          <p:stCondLst>
                                            <p:cond delay="0"/>
                                          </p:stCondLst>
                                        </p:cTn>
                                        <p:tgtEl>
                                          <p:spTgt spid="62"/>
                                        </p:tgtEl>
                                        <p:attrNameLst>
                                          <p:attrName>style.visibility</p:attrName>
                                        </p:attrNameLst>
                                      </p:cBhvr>
                                      <p:to>
                                        <p:strVal val="visible"/>
                                      </p:to>
                                    </p:set>
                                    <p:anim calcmode="lin" valueType="num">
                                      <p:cBhvr>
                                        <p:cTn id="48" dur="500" fill="hold"/>
                                        <p:tgtEl>
                                          <p:spTgt spid="62"/>
                                        </p:tgtEl>
                                        <p:attrNameLst>
                                          <p:attrName>ppt_w</p:attrName>
                                        </p:attrNameLst>
                                      </p:cBhvr>
                                      <p:tavLst>
                                        <p:tav tm="0">
                                          <p:val>
                                            <p:strVal val="2/3*#ppt_w"/>
                                          </p:val>
                                        </p:tav>
                                        <p:tav tm="100000">
                                          <p:val>
                                            <p:strVal val="#ppt_w"/>
                                          </p:val>
                                        </p:tav>
                                      </p:tavLst>
                                    </p:anim>
                                    <p:anim calcmode="lin" valueType="num">
                                      <p:cBhvr>
                                        <p:cTn id="49" dur="500" fill="hold"/>
                                        <p:tgtEl>
                                          <p:spTgt spid="62"/>
                                        </p:tgtEl>
                                        <p:attrNameLst>
                                          <p:attrName>ppt_h</p:attrName>
                                        </p:attrNameLst>
                                      </p:cBhvr>
                                      <p:tavLst>
                                        <p:tav tm="0">
                                          <p:val>
                                            <p:strVal val="2/3*#ppt_h"/>
                                          </p:val>
                                        </p:tav>
                                        <p:tav tm="100000">
                                          <p:val>
                                            <p:strVal val="#ppt_h"/>
                                          </p:val>
                                        </p:tav>
                                      </p:tavLst>
                                    </p:anim>
                                  </p:childTnLst>
                                  <p:subTnLst>
                                    <p:audio>
                                      <p:cMediaNode>
                                        <p:cTn display="0" masterRel="sameClick">
                                          <p:stCondLst>
                                            <p:cond evt="begin" delay="0">
                                              <p:tn val="46"/>
                                            </p:cond>
                                          </p:stCondLst>
                                          <p:endCondLst>
                                            <p:cond evt="onStopAudio" delay="0">
                                              <p:tgtEl>
                                                <p:sldTgt/>
                                              </p:tgtEl>
                                            </p:cond>
                                          </p:endCondLst>
                                        </p:cTn>
                                        <p:tgtEl>
                                          <p:sndTgt r:embed="rId3" name="CHIMES.WAV"/>
                                        </p:tgtEl>
                                      </p:cMediaNode>
                                    </p:audio>
                                  </p:subTnLst>
                                </p:cTn>
                              </p:par>
                            </p:childTnLst>
                          </p:cTn>
                        </p:par>
                        <p:par>
                          <p:cTn id="50" fill="hold">
                            <p:stCondLst>
                              <p:cond delay="7900"/>
                            </p:stCondLst>
                            <p:childTnLst>
                              <p:par>
                                <p:cTn id="51" presetID="23" presetClass="entr" presetSubtype="272" fill="hold" grpId="0" nodeType="afterEffect">
                                  <p:stCondLst>
                                    <p:cond delay="0"/>
                                  </p:stCondLst>
                                  <p:childTnLst>
                                    <p:set>
                                      <p:cBhvr>
                                        <p:cTn id="52" dur="1" fill="hold">
                                          <p:stCondLst>
                                            <p:cond delay="0"/>
                                          </p:stCondLst>
                                        </p:cTn>
                                        <p:tgtEl>
                                          <p:spTgt spid="63"/>
                                        </p:tgtEl>
                                        <p:attrNameLst>
                                          <p:attrName>style.visibility</p:attrName>
                                        </p:attrNameLst>
                                      </p:cBhvr>
                                      <p:to>
                                        <p:strVal val="visible"/>
                                      </p:to>
                                    </p:set>
                                    <p:anim calcmode="lin" valueType="num">
                                      <p:cBhvr>
                                        <p:cTn id="53" dur="500" fill="hold"/>
                                        <p:tgtEl>
                                          <p:spTgt spid="63"/>
                                        </p:tgtEl>
                                        <p:attrNameLst>
                                          <p:attrName>ppt_w</p:attrName>
                                        </p:attrNameLst>
                                      </p:cBhvr>
                                      <p:tavLst>
                                        <p:tav tm="0">
                                          <p:val>
                                            <p:strVal val="2/3*#ppt_w"/>
                                          </p:val>
                                        </p:tav>
                                        <p:tav tm="100000">
                                          <p:val>
                                            <p:strVal val="#ppt_w"/>
                                          </p:val>
                                        </p:tav>
                                      </p:tavLst>
                                    </p:anim>
                                    <p:anim calcmode="lin" valueType="num">
                                      <p:cBhvr>
                                        <p:cTn id="54" dur="500" fill="hold"/>
                                        <p:tgtEl>
                                          <p:spTgt spid="63"/>
                                        </p:tgtEl>
                                        <p:attrNameLst>
                                          <p:attrName>ppt_h</p:attrName>
                                        </p:attrNameLst>
                                      </p:cBhvr>
                                      <p:tavLst>
                                        <p:tav tm="0">
                                          <p:val>
                                            <p:strVal val="2/3*#ppt_h"/>
                                          </p:val>
                                        </p:tav>
                                        <p:tav tm="100000">
                                          <p:val>
                                            <p:strVal val="#ppt_h"/>
                                          </p:val>
                                        </p:tav>
                                      </p:tavLst>
                                    </p:anim>
                                  </p:childTnLst>
                                  <p:subTnLst>
                                    <p:audio>
                                      <p:cMediaNode>
                                        <p:cTn display="0" masterRel="sameClick">
                                          <p:stCondLst>
                                            <p:cond evt="begin" delay="0">
                                              <p:tn val="51"/>
                                            </p:cond>
                                          </p:stCondLst>
                                          <p:endCondLst>
                                            <p:cond evt="onStopAudio" delay="0">
                                              <p:tgtEl>
                                                <p:sldTgt/>
                                              </p:tgtEl>
                                            </p:cond>
                                          </p:endCondLst>
                                        </p:cTn>
                                        <p:tgtEl>
                                          <p:sndTgt r:embed="rId3" name="CHIMES.WAV"/>
                                        </p:tgtEl>
                                      </p:cMediaNode>
                                    </p:audio>
                                  </p:subTnLst>
                                </p:cTn>
                              </p:par>
                            </p:childTnLst>
                          </p:cTn>
                        </p:par>
                        <p:par>
                          <p:cTn id="55" fill="hold">
                            <p:stCondLst>
                              <p:cond delay="8400"/>
                            </p:stCondLst>
                            <p:childTnLst>
                              <p:par>
                                <p:cTn id="56" presetID="23" presetClass="entr" presetSubtype="272" fill="hold" grpId="0" nodeType="afterEffect">
                                  <p:stCondLst>
                                    <p:cond delay="0"/>
                                  </p:stCondLst>
                                  <p:childTnLst>
                                    <p:set>
                                      <p:cBhvr>
                                        <p:cTn id="57" dur="1" fill="hold">
                                          <p:stCondLst>
                                            <p:cond delay="0"/>
                                          </p:stCondLst>
                                        </p:cTn>
                                        <p:tgtEl>
                                          <p:spTgt spid="64"/>
                                        </p:tgtEl>
                                        <p:attrNameLst>
                                          <p:attrName>style.visibility</p:attrName>
                                        </p:attrNameLst>
                                      </p:cBhvr>
                                      <p:to>
                                        <p:strVal val="visible"/>
                                      </p:to>
                                    </p:set>
                                    <p:anim calcmode="lin" valueType="num">
                                      <p:cBhvr>
                                        <p:cTn id="58" dur="500" fill="hold"/>
                                        <p:tgtEl>
                                          <p:spTgt spid="64"/>
                                        </p:tgtEl>
                                        <p:attrNameLst>
                                          <p:attrName>ppt_w</p:attrName>
                                        </p:attrNameLst>
                                      </p:cBhvr>
                                      <p:tavLst>
                                        <p:tav tm="0">
                                          <p:val>
                                            <p:strVal val="2/3*#ppt_w"/>
                                          </p:val>
                                        </p:tav>
                                        <p:tav tm="100000">
                                          <p:val>
                                            <p:strVal val="#ppt_w"/>
                                          </p:val>
                                        </p:tav>
                                      </p:tavLst>
                                    </p:anim>
                                    <p:anim calcmode="lin" valueType="num">
                                      <p:cBhvr>
                                        <p:cTn id="59" dur="500" fill="hold"/>
                                        <p:tgtEl>
                                          <p:spTgt spid="64"/>
                                        </p:tgtEl>
                                        <p:attrNameLst>
                                          <p:attrName>ppt_h</p:attrName>
                                        </p:attrNameLst>
                                      </p:cBhvr>
                                      <p:tavLst>
                                        <p:tav tm="0">
                                          <p:val>
                                            <p:strVal val="2/3*#ppt_h"/>
                                          </p:val>
                                        </p:tav>
                                        <p:tav tm="100000">
                                          <p:val>
                                            <p:strVal val="#ppt_h"/>
                                          </p:val>
                                        </p:tav>
                                      </p:tavLst>
                                    </p:anim>
                                  </p:childTnLst>
                                  <p:subTnLst>
                                    <p:audio>
                                      <p:cMediaNode>
                                        <p:cTn display="0" masterRel="sameClick">
                                          <p:stCondLst>
                                            <p:cond evt="begin" delay="0">
                                              <p:tn val="56"/>
                                            </p:cond>
                                          </p:stCondLst>
                                          <p:endCondLst>
                                            <p:cond evt="onStopAudio" delay="0">
                                              <p:tgtEl>
                                                <p:sldTgt/>
                                              </p:tgtEl>
                                            </p:cond>
                                          </p:endCondLst>
                                        </p:cTn>
                                        <p:tgtEl>
                                          <p:sndTgt r:embed="rId3" name="CHIMES.WAV"/>
                                        </p:tgtEl>
                                      </p:cMediaNode>
                                    </p:audio>
                                  </p:subTnLst>
                                </p:cTn>
                              </p:par>
                            </p:childTnLst>
                          </p:cTn>
                        </p:par>
                        <p:par>
                          <p:cTn id="60" fill="hold">
                            <p:stCondLst>
                              <p:cond delay="8900"/>
                            </p:stCondLst>
                            <p:childTnLst>
                              <p:par>
                                <p:cTn id="61" presetID="17" presetClass="entr" presetSubtype="10" fill="hold" grpId="0" nodeType="afterEffect">
                                  <p:stCondLst>
                                    <p:cond delay="0"/>
                                  </p:stCondLst>
                                  <p:iterate type="wd">
                                    <p:tmPct val="100000"/>
                                  </p:iterate>
                                  <p:childTnLst>
                                    <p:set>
                                      <p:cBhvr>
                                        <p:cTn id="62" dur="1" fill="hold">
                                          <p:stCondLst>
                                            <p:cond delay="0"/>
                                          </p:stCondLst>
                                        </p:cTn>
                                        <p:tgtEl>
                                          <p:spTgt spid="35"/>
                                        </p:tgtEl>
                                        <p:attrNameLst>
                                          <p:attrName>style.visibility</p:attrName>
                                        </p:attrNameLst>
                                      </p:cBhvr>
                                      <p:to>
                                        <p:strVal val="visible"/>
                                      </p:to>
                                    </p:set>
                                    <p:anim calcmode="lin" valueType="num">
                                      <p:cBhvr>
                                        <p:cTn id="63" dur="300" fill="hold"/>
                                        <p:tgtEl>
                                          <p:spTgt spid="35"/>
                                        </p:tgtEl>
                                        <p:attrNameLst>
                                          <p:attrName>ppt_w</p:attrName>
                                        </p:attrNameLst>
                                      </p:cBhvr>
                                      <p:tavLst>
                                        <p:tav tm="0">
                                          <p:val>
                                            <p:fltVal val="0"/>
                                          </p:val>
                                        </p:tav>
                                        <p:tav tm="100000">
                                          <p:val>
                                            <p:strVal val="#ppt_w"/>
                                          </p:val>
                                        </p:tav>
                                      </p:tavLst>
                                    </p:anim>
                                    <p:anim calcmode="lin" valueType="num">
                                      <p:cBhvr>
                                        <p:cTn id="64" dur="300" fill="hold"/>
                                        <p:tgtEl>
                                          <p:spTgt spid="35"/>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61"/>
                                            </p:cond>
                                          </p:stCondLst>
                                          <p:endCondLst>
                                            <p:cond evt="onStopAudio" delay="0">
                                              <p:tgtEl>
                                                <p:sldTgt/>
                                              </p:tgtEl>
                                            </p:cond>
                                          </p:endCondLst>
                                        </p:cTn>
                                        <p:tgtEl>
                                          <p:sndTgt r:embed="rId3" name="CHIMES.WAV"/>
                                        </p:tgtEl>
                                      </p:cMediaNode>
                                    </p:audio>
                                  </p:subTnLst>
                                </p:cTn>
                              </p:par>
                            </p:childTnLst>
                          </p:cTn>
                        </p:par>
                        <p:par>
                          <p:cTn id="65" fill="hold">
                            <p:stCondLst>
                              <p:cond delay="11000"/>
                            </p:stCondLst>
                            <p:childTnLst>
                              <p:par>
                                <p:cTn id="66" presetID="23" presetClass="entr" presetSubtype="272" fill="hold" grpId="0" nodeType="afterEffect">
                                  <p:stCondLst>
                                    <p:cond delay="300"/>
                                  </p:stCondLst>
                                  <p:childTnLst>
                                    <p:set>
                                      <p:cBhvr>
                                        <p:cTn id="67" dur="1" fill="hold">
                                          <p:stCondLst>
                                            <p:cond delay="0"/>
                                          </p:stCondLst>
                                        </p:cTn>
                                        <p:tgtEl>
                                          <p:spTgt spid="40"/>
                                        </p:tgtEl>
                                        <p:attrNameLst>
                                          <p:attrName>style.visibility</p:attrName>
                                        </p:attrNameLst>
                                      </p:cBhvr>
                                      <p:to>
                                        <p:strVal val="visible"/>
                                      </p:to>
                                    </p:set>
                                    <p:anim calcmode="lin" valueType="num">
                                      <p:cBhvr>
                                        <p:cTn id="68" dur="500" fill="hold"/>
                                        <p:tgtEl>
                                          <p:spTgt spid="40"/>
                                        </p:tgtEl>
                                        <p:attrNameLst>
                                          <p:attrName>ppt_w</p:attrName>
                                        </p:attrNameLst>
                                      </p:cBhvr>
                                      <p:tavLst>
                                        <p:tav tm="0">
                                          <p:val>
                                            <p:strVal val="2/3*#ppt_w"/>
                                          </p:val>
                                        </p:tav>
                                        <p:tav tm="100000">
                                          <p:val>
                                            <p:strVal val="#ppt_w"/>
                                          </p:val>
                                        </p:tav>
                                      </p:tavLst>
                                    </p:anim>
                                    <p:anim calcmode="lin" valueType="num">
                                      <p:cBhvr>
                                        <p:cTn id="69" dur="500" fill="hold"/>
                                        <p:tgtEl>
                                          <p:spTgt spid="40"/>
                                        </p:tgtEl>
                                        <p:attrNameLst>
                                          <p:attrName>ppt_h</p:attrName>
                                        </p:attrNameLst>
                                      </p:cBhvr>
                                      <p:tavLst>
                                        <p:tav tm="0">
                                          <p:val>
                                            <p:strVal val="2/3*#ppt_h"/>
                                          </p:val>
                                        </p:tav>
                                        <p:tav tm="100000">
                                          <p:val>
                                            <p:strVal val="#ppt_h"/>
                                          </p:val>
                                        </p:tav>
                                      </p:tavLst>
                                    </p:anim>
                                  </p:childTnLst>
                                  <p:subTnLst>
                                    <p:audio>
                                      <p:cMediaNode>
                                        <p:cTn display="0" masterRel="sameClick">
                                          <p:stCondLst>
                                            <p:cond evt="begin" delay="0">
                                              <p:tn val="66"/>
                                            </p:cond>
                                          </p:stCondLst>
                                          <p:endCondLst>
                                            <p:cond evt="onStopAudio" delay="0">
                                              <p:tgtEl>
                                                <p:sldTgt/>
                                              </p:tgtEl>
                                            </p:cond>
                                          </p:endCondLst>
                                        </p:cTn>
                                        <p:tgtEl>
                                          <p:sndTgt r:embed="rId3" name="CHIMES.WAV"/>
                                        </p:tgtEl>
                                      </p:cMediaNode>
                                    </p:audio>
                                  </p:subTnLst>
                                </p:cTn>
                              </p:par>
                            </p:childTnLst>
                          </p:cTn>
                        </p:par>
                        <p:par>
                          <p:cTn id="70" fill="hold">
                            <p:stCondLst>
                              <p:cond delay="11800"/>
                            </p:stCondLst>
                            <p:childTnLst>
                              <p:par>
                                <p:cTn id="71" presetID="23" presetClass="entr" presetSubtype="272" fill="hold" grpId="0" nodeType="afterEffect">
                                  <p:stCondLst>
                                    <p:cond delay="300"/>
                                  </p:stCondLst>
                                  <p:childTnLst>
                                    <p:set>
                                      <p:cBhvr>
                                        <p:cTn id="72" dur="1" fill="hold">
                                          <p:stCondLst>
                                            <p:cond delay="0"/>
                                          </p:stCondLst>
                                        </p:cTn>
                                        <p:tgtEl>
                                          <p:spTgt spid="41"/>
                                        </p:tgtEl>
                                        <p:attrNameLst>
                                          <p:attrName>style.visibility</p:attrName>
                                        </p:attrNameLst>
                                      </p:cBhvr>
                                      <p:to>
                                        <p:strVal val="visible"/>
                                      </p:to>
                                    </p:set>
                                    <p:anim calcmode="lin" valueType="num">
                                      <p:cBhvr>
                                        <p:cTn id="73" dur="500" fill="hold"/>
                                        <p:tgtEl>
                                          <p:spTgt spid="41"/>
                                        </p:tgtEl>
                                        <p:attrNameLst>
                                          <p:attrName>ppt_w</p:attrName>
                                        </p:attrNameLst>
                                      </p:cBhvr>
                                      <p:tavLst>
                                        <p:tav tm="0">
                                          <p:val>
                                            <p:strVal val="2/3*#ppt_w"/>
                                          </p:val>
                                        </p:tav>
                                        <p:tav tm="100000">
                                          <p:val>
                                            <p:strVal val="#ppt_w"/>
                                          </p:val>
                                        </p:tav>
                                      </p:tavLst>
                                    </p:anim>
                                    <p:anim calcmode="lin" valueType="num">
                                      <p:cBhvr>
                                        <p:cTn id="74" dur="500" fill="hold"/>
                                        <p:tgtEl>
                                          <p:spTgt spid="41"/>
                                        </p:tgtEl>
                                        <p:attrNameLst>
                                          <p:attrName>ppt_h</p:attrName>
                                        </p:attrNameLst>
                                      </p:cBhvr>
                                      <p:tavLst>
                                        <p:tav tm="0">
                                          <p:val>
                                            <p:strVal val="2/3*#ppt_h"/>
                                          </p:val>
                                        </p:tav>
                                        <p:tav tm="100000">
                                          <p:val>
                                            <p:strVal val="#ppt_h"/>
                                          </p:val>
                                        </p:tav>
                                      </p:tavLst>
                                    </p:anim>
                                  </p:childTnLst>
                                  <p:subTnLst>
                                    <p:audio>
                                      <p:cMediaNode>
                                        <p:cTn display="0" masterRel="sameClick">
                                          <p:stCondLst>
                                            <p:cond evt="begin" delay="0">
                                              <p:tn val="71"/>
                                            </p:cond>
                                          </p:stCondLst>
                                          <p:endCondLst>
                                            <p:cond evt="onStopAudio" delay="0">
                                              <p:tgtEl>
                                                <p:sldTgt/>
                                              </p:tgtEl>
                                            </p:cond>
                                          </p:endCondLst>
                                        </p:cTn>
                                        <p:tgtEl>
                                          <p:sndTgt r:embed="rId3" name="CHIMES.WAV"/>
                                        </p:tgtEl>
                                      </p:cMediaNode>
                                    </p:audio>
                                  </p:subTnLst>
                                </p:cTn>
                              </p:par>
                            </p:childTnLst>
                          </p:cTn>
                        </p:par>
                        <p:par>
                          <p:cTn id="75" fill="hold">
                            <p:stCondLst>
                              <p:cond delay="12600"/>
                            </p:stCondLst>
                            <p:childTnLst>
                              <p:par>
                                <p:cTn id="76" presetID="23" presetClass="entr" presetSubtype="272" fill="hold" grpId="0" nodeType="afterEffect">
                                  <p:stCondLst>
                                    <p:cond delay="300"/>
                                  </p:stCondLst>
                                  <p:childTnLst>
                                    <p:set>
                                      <p:cBhvr>
                                        <p:cTn id="77" dur="1" fill="hold">
                                          <p:stCondLst>
                                            <p:cond delay="0"/>
                                          </p:stCondLst>
                                        </p:cTn>
                                        <p:tgtEl>
                                          <p:spTgt spid="42"/>
                                        </p:tgtEl>
                                        <p:attrNameLst>
                                          <p:attrName>style.visibility</p:attrName>
                                        </p:attrNameLst>
                                      </p:cBhvr>
                                      <p:to>
                                        <p:strVal val="visible"/>
                                      </p:to>
                                    </p:set>
                                    <p:anim calcmode="lin" valueType="num">
                                      <p:cBhvr>
                                        <p:cTn id="78" dur="500" fill="hold"/>
                                        <p:tgtEl>
                                          <p:spTgt spid="42"/>
                                        </p:tgtEl>
                                        <p:attrNameLst>
                                          <p:attrName>ppt_w</p:attrName>
                                        </p:attrNameLst>
                                      </p:cBhvr>
                                      <p:tavLst>
                                        <p:tav tm="0">
                                          <p:val>
                                            <p:strVal val="2/3*#ppt_w"/>
                                          </p:val>
                                        </p:tav>
                                        <p:tav tm="100000">
                                          <p:val>
                                            <p:strVal val="#ppt_w"/>
                                          </p:val>
                                        </p:tav>
                                      </p:tavLst>
                                    </p:anim>
                                    <p:anim calcmode="lin" valueType="num">
                                      <p:cBhvr>
                                        <p:cTn id="79" dur="500" fill="hold"/>
                                        <p:tgtEl>
                                          <p:spTgt spid="42"/>
                                        </p:tgtEl>
                                        <p:attrNameLst>
                                          <p:attrName>ppt_h</p:attrName>
                                        </p:attrNameLst>
                                      </p:cBhvr>
                                      <p:tavLst>
                                        <p:tav tm="0">
                                          <p:val>
                                            <p:strVal val="2/3*#ppt_h"/>
                                          </p:val>
                                        </p:tav>
                                        <p:tav tm="100000">
                                          <p:val>
                                            <p:strVal val="#ppt_h"/>
                                          </p:val>
                                        </p:tav>
                                      </p:tavLst>
                                    </p:anim>
                                  </p:childTnLst>
                                  <p:subTnLst>
                                    <p:audio>
                                      <p:cMediaNode>
                                        <p:cTn display="0" masterRel="sameClick">
                                          <p:stCondLst>
                                            <p:cond evt="begin" delay="0">
                                              <p:tn val="76"/>
                                            </p:cond>
                                          </p:stCondLst>
                                          <p:endCondLst>
                                            <p:cond evt="onStopAudio" delay="0">
                                              <p:tgtEl>
                                                <p:sldTgt/>
                                              </p:tgtEl>
                                            </p:cond>
                                          </p:endCondLst>
                                        </p:cTn>
                                        <p:tgtEl>
                                          <p:sndTgt r:embed="rId3" name="CHIMES.WAV"/>
                                        </p:tgtEl>
                                      </p:cMediaNode>
                                    </p:audio>
                                  </p:subTnLst>
                                </p:cTn>
                              </p:par>
                            </p:childTnLst>
                          </p:cTn>
                        </p:par>
                        <p:par>
                          <p:cTn id="80" fill="hold">
                            <p:stCondLst>
                              <p:cond delay="13400"/>
                            </p:stCondLst>
                            <p:childTnLst>
                              <p:par>
                                <p:cTn id="81" presetID="23" presetClass="entr" presetSubtype="272" fill="hold" grpId="0" nodeType="afterEffect">
                                  <p:stCondLst>
                                    <p:cond delay="300"/>
                                  </p:stCondLst>
                                  <p:childTnLst>
                                    <p:set>
                                      <p:cBhvr>
                                        <p:cTn id="82" dur="1" fill="hold">
                                          <p:stCondLst>
                                            <p:cond delay="0"/>
                                          </p:stCondLst>
                                        </p:cTn>
                                        <p:tgtEl>
                                          <p:spTgt spid="43"/>
                                        </p:tgtEl>
                                        <p:attrNameLst>
                                          <p:attrName>style.visibility</p:attrName>
                                        </p:attrNameLst>
                                      </p:cBhvr>
                                      <p:to>
                                        <p:strVal val="visible"/>
                                      </p:to>
                                    </p:set>
                                    <p:anim calcmode="lin" valueType="num">
                                      <p:cBhvr>
                                        <p:cTn id="83" dur="500" fill="hold"/>
                                        <p:tgtEl>
                                          <p:spTgt spid="43"/>
                                        </p:tgtEl>
                                        <p:attrNameLst>
                                          <p:attrName>ppt_w</p:attrName>
                                        </p:attrNameLst>
                                      </p:cBhvr>
                                      <p:tavLst>
                                        <p:tav tm="0">
                                          <p:val>
                                            <p:strVal val="2/3*#ppt_w"/>
                                          </p:val>
                                        </p:tav>
                                        <p:tav tm="100000">
                                          <p:val>
                                            <p:strVal val="#ppt_w"/>
                                          </p:val>
                                        </p:tav>
                                      </p:tavLst>
                                    </p:anim>
                                    <p:anim calcmode="lin" valueType="num">
                                      <p:cBhvr>
                                        <p:cTn id="84" dur="500" fill="hold"/>
                                        <p:tgtEl>
                                          <p:spTgt spid="43"/>
                                        </p:tgtEl>
                                        <p:attrNameLst>
                                          <p:attrName>ppt_h</p:attrName>
                                        </p:attrNameLst>
                                      </p:cBhvr>
                                      <p:tavLst>
                                        <p:tav tm="0">
                                          <p:val>
                                            <p:strVal val="2/3*#ppt_h"/>
                                          </p:val>
                                        </p:tav>
                                        <p:tav tm="100000">
                                          <p:val>
                                            <p:strVal val="#ppt_h"/>
                                          </p:val>
                                        </p:tav>
                                      </p:tavLst>
                                    </p:anim>
                                  </p:childTnLst>
                                  <p:subTnLst>
                                    <p:audio>
                                      <p:cMediaNode>
                                        <p:cTn display="0" masterRel="sameClick">
                                          <p:stCondLst>
                                            <p:cond evt="begin" delay="0">
                                              <p:tn val="81"/>
                                            </p:cond>
                                          </p:stCondLst>
                                          <p:endCondLst>
                                            <p:cond evt="onStopAudio" delay="0">
                                              <p:tgtEl>
                                                <p:sldTgt/>
                                              </p:tgtEl>
                                            </p:cond>
                                          </p:endCondLst>
                                        </p:cTn>
                                        <p:tgtEl>
                                          <p:sndTgt r:embed="rId3" name="CHIMES.WAV"/>
                                        </p:tgtEl>
                                      </p:cMediaNode>
                                    </p:audio>
                                  </p:subTnLst>
                                </p:cTn>
                              </p:par>
                            </p:childTnLst>
                          </p:cTn>
                        </p:par>
                        <p:par>
                          <p:cTn id="85" fill="hold">
                            <p:stCondLst>
                              <p:cond delay="14200"/>
                            </p:stCondLst>
                            <p:childTnLst>
                              <p:par>
                                <p:cTn id="86" presetID="23" presetClass="entr" presetSubtype="272" fill="hold" grpId="0" nodeType="afterEffect">
                                  <p:stCondLst>
                                    <p:cond delay="300"/>
                                  </p:stCondLst>
                                  <p:childTnLst>
                                    <p:set>
                                      <p:cBhvr>
                                        <p:cTn id="87" dur="1" fill="hold">
                                          <p:stCondLst>
                                            <p:cond delay="0"/>
                                          </p:stCondLst>
                                        </p:cTn>
                                        <p:tgtEl>
                                          <p:spTgt spid="44"/>
                                        </p:tgtEl>
                                        <p:attrNameLst>
                                          <p:attrName>style.visibility</p:attrName>
                                        </p:attrNameLst>
                                      </p:cBhvr>
                                      <p:to>
                                        <p:strVal val="visible"/>
                                      </p:to>
                                    </p:set>
                                    <p:anim calcmode="lin" valueType="num">
                                      <p:cBhvr>
                                        <p:cTn id="88" dur="500" fill="hold"/>
                                        <p:tgtEl>
                                          <p:spTgt spid="44"/>
                                        </p:tgtEl>
                                        <p:attrNameLst>
                                          <p:attrName>ppt_w</p:attrName>
                                        </p:attrNameLst>
                                      </p:cBhvr>
                                      <p:tavLst>
                                        <p:tav tm="0">
                                          <p:val>
                                            <p:strVal val="2/3*#ppt_w"/>
                                          </p:val>
                                        </p:tav>
                                        <p:tav tm="100000">
                                          <p:val>
                                            <p:strVal val="#ppt_w"/>
                                          </p:val>
                                        </p:tav>
                                      </p:tavLst>
                                    </p:anim>
                                    <p:anim calcmode="lin" valueType="num">
                                      <p:cBhvr>
                                        <p:cTn id="89" dur="500" fill="hold"/>
                                        <p:tgtEl>
                                          <p:spTgt spid="44"/>
                                        </p:tgtEl>
                                        <p:attrNameLst>
                                          <p:attrName>ppt_h</p:attrName>
                                        </p:attrNameLst>
                                      </p:cBhvr>
                                      <p:tavLst>
                                        <p:tav tm="0">
                                          <p:val>
                                            <p:strVal val="2/3*#ppt_h"/>
                                          </p:val>
                                        </p:tav>
                                        <p:tav tm="100000">
                                          <p:val>
                                            <p:strVal val="#ppt_h"/>
                                          </p:val>
                                        </p:tav>
                                      </p:tavLst>
                                    </p:anim>
                                  </p:childTnLst>
                                  <p:subTnLst>
                                    <p:audio>
                                      <p:cMediaNode>
                                        <p:cTn display="0" masterRel="sameClick">
                                          <p:stCondLst>
                                            <p:cond evt="begin" delay="0">
                                              <p:tn val="86"/>
                                            </p:cond>
                                          </p:stCondLst>
                                          <p:endCondLst>
                                            <p:cond evt="onStopAudio" delay="0">
                                              <p:tgtEl>
                                                <p:sldTgt/>
                                              </p:tgtEl>
                                            </p:cond>
                                          </p:endCondLst>
                                        </p:cTn>
                                        <p:tgtEl>
                                          <p:sndTgt r:embed="rId3" name="CHIMES.WAV"/>
                                        </p:tgtEl>
                                      </p:cMediaNode>
                                    </p:audio>
                                  </p:subTnLst>
                                </p:cTn>
                              </p:par>
                            </p:childTnLst>
                          </p:cTn>
                        </p:par>
                        <p:par>
                          <p:cTn id="90" fill="hold">
                            <p:stCondLst>
                              <p:cond delay="15000"/>
                            </p:stCondLst>
                            <p:childTnLst>
                              <p:par>
                                <p:cTn id="91" presetID="17" presetClass="entr" presetSubtype="4" fill="hold" grpId="0" nodeType="afterEffect">
                                  <p:stCondLst>
                                    <p:cond delay="500"/>
                                  </p:stCondLst>
                                  <p:iterate type="wd">
                                    <p:tmPct val="100000"/>
                                  </p:iterate>
                                  <p:childTnLst>
                                    <p:set>
                                      <p:cBhvr>
                                        <p:cTn id="92" dur="1" fill="hold">
                                          <p:stCondLst>
                                            <p:cond delay="0"/>
                                          </p:stCondLst>
                                        </p:cTn>
                                        <p:tgtEl>
                                          <p:spTgt spid="36"/>
                                        </p:tgtEl>
                                        <p:attrNameLst>
                                          <p:attrName>style.visibility</p:attrName>
                                        </p:attrNameLst>
                                      </p:cBhvr>
                                      <p:to>
                                        <p:strVal val="visible"/>
                                      </p:to>
                                    </p:set>
                                    <p:anim calcmode="lin" valueType="num">
                                      <p:cBhvr>
                                        <p:cTn id="93" dur="300" fill="hold"/>
                                        <p:tgtEl>
                                          <p:spTgt spid="36"/>
                                        </p:tgtEl>
                                        <p:attrNameLst>
                                          <p:attrName>ppt_x</p:attrName>
                                        </p:attrNameLst>
                                      </p:cBhvr>
                                      <p:tavLst>
                                        <p:tav tm="0">
                                          <p:val>
                                            <p:strVal val="#ppt_x"/>
                                          </p:val>
                                        </p:tav>
                                        <p:tav tm="100000">
                                          <p:val>
                                            <p:strVal val="#ppt_x"/>
                                          </p:val>
                                        </p:tav>
                                      </p:tavLst>
                                    </p:anim>
                                    <p:anim calcmode="lin" valueType="num">
                                      <p:cBhvr>
                                        <p:cTn id="94" dur="300" fill="hold"/>
                                        <p:tgtEl>
                                          <p:spTgt spid="36"/>
                                        </p:tgtEl>
                                        <p:attrNameLst>
                                          <p:attrName>ppt_y</p:attrName>
                                        </p:attrNameLst>
                                      </p:cBhvr>
                                      <p:tavLst>
                                        <p:tav tm="0">
                                          <p:val>
                                            <p:strVal val="#ppt_y+#ppt_h/2"/>
                                          </p:val>
                                        </p:tav>
                                        <p:tav tm="100000">
                                          <p:val>
                                            <p:strVal val="#ppt_y"/>
                                          </p:val>
                                        </p:tav>
                                      </p:tavLst>
                                    </p:anim>
                                    <p:anim calcmode="lin" valueType="num">
                                      <p:cBhvr>
                                        <p:cTn id="95" dur="300" fill="hold"/>
                                        <p:tgtEl>
                                          <p:spTgt spid="36"/>
                                        </p:tgtEl>
                                        <p:attrNameLst>
                                          <p:attrName>ppt_w</p:attrName>
                                        </p:attrNameLst>
                                      </p:cBhvr>
                                      <p:tavLst>
                                        <p:tav tm="0">
                                          <p:val>
                                            <p:strVal val="#ppt_w"/>
                                          </p:val>
                                        </p:tav>
                                        <p:tav tm="100000">
                                          <p:val>
                                            <p:strVal val="#ppt_w"/>
                                          </p:val>
                                        </p:tav>
                                      </p:tavLst>
                                    </p:anim>
                                    <p:anim calcmode="lin" valueType="num">
                                      <p:cBhvr>
                                        <p:cTn id="96" dur="300" fill="hold"/>
                                        <p:tgtEl>
                                          <p:spTgt spid="36"/>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91"/>
                                            </p:cond>
                                          </p:stCondLst>
                                          <p:endCondLst>
                                            <p:cond evt="onStopAudio" delay="0">
                                              <p:tgtEl>
                                                <p:sldTgt/>
                                              </p:tgtEl>
                                            </p:cond>
                                          </p:endCondLst>
                                        </p:cTn>
                                        <p:tgtEl>
                                          <p:sndTgt r:embed="rId3" name="CHIMES.WAV"/>
                                        </p:tgtEl>
                                      </p:cMediaNode>
                                    </p:audio>
                                  </p:subTnLst>
                                </p:cTn>
                              </p:par>
                            </p:childTnLst>
                          </p:cTn>
                        </p:par>
                        <p:par>
                          <p:cTn id="97" fill="hold">
                            <p:stCondLst>
                              <p:cond delay="17000"/>
                            </p:stCondLst>
                            <p:childTnLst>
                              <p:par>
                                <p:cTn id="98" presetID="22" presetClass="entr" presetSubtype="4" fill="hold" nodeType="afterEffect">
                                  <p:stCondLst>
                                    <p:cond delay="0"/>
                                  </p:stCondLst>
                                  <p:childTnLst>
                                    <p:set>
                                      <p:cBhvr>
                                        <p:cTn id="99" dur="1" fill="hold">
                                          <p:stCondLst>
                                            <p:cond delay="0"/>
                                          </p:stCondLst>
                                        </p:cTn>
                                        <p:tgtEl>
                                          <p:spTgt spid="65"/>
                                        </p:tgtEl>
                                        <p:attrNameLst>
                                          <p:attrName>style.visibility</p:attrName>
                                        </p:attrNameLst>
                                      </p:cBhvr>
                                      <p:to>
                                        <p:strVal val="visible"/>
                                      </p:to>
                                    </p:set>
                                    <p:animEffect transition="in" filter="wipe(down)">
                                      <p:cBhvr>
                                        <p:cTn id="100" dur="5000"/>
                                        <p:tgtEl>
                                          <p:spTgt spid="65"/>
                                        </p:tgtEl>
                                      </p:cBhvr>
                                    </p:animEffect>
                                  </p:childTnLst>
                                  <p:subTnLst>
                                    <p:audio>
                                      <p:cMediaNode>
                                        <p:cTn display="0" masterRel="sameClick">
                                          <p:stCondLst>
                                            <p:cond evt="begin" delay="0">
                                              <p:tn val="98"/>
                                            </p:cond>
                                          </p:stCondLst>
                                          <p:endCondLst>
                                            <p:cond evt="onStopAudio" delay="0">
                                              <p:tgtEl>
                                                <p:sldTgt/>
                                              </p:tgtEl>
                                            </p:cond>
                                          </p:endCondLst>
                                        </p:cTn>
                                        <p:tgtEl>
                                          <p:sndTgt r:embed="rId4" name="push.wav"/>
                                        </p:tgtEl>
                                      </p:cMediaNode>
                                    </p:audio>
                                  </p:subTnLst>
                                </p:cTn>
                              </p:par>
                              <p:par>
                                <p:cTn id="101" presetID="19" presetClass="entr" presetSubtype="10" fill="hold" grpId="0" nodeType="withEffect">
                                  <p:stCondLst>
                                    <p:cond delay="0"/>
                                  </p:stCondLst>
                                  <p:childTnLst>
                                    <p:set>
                                      <p:cBhvr>
                                        <p:cTn id="102" dur="1" fill="hold">
                                          <p:stCondLst>
                                            <p:cond delay="0"/>
                                          </p:stCondLst>
                                        </p:cTn>
                                        <p:tgtEl>
                                          <p:spTgt spid="46"/>
                                        </p:tgtEl>
                                        <p:attrNameLst>
                                          <p:attrName>style.visibility</p:attrName>
                                        </p:attrNameLst>
                                      </p:cBhvr>
                                      <p:to>
                                        <p:strVal val="visible"/>
                                      </p:to>
                                    </p:set>
                                    <p:anim calcmode="lin" valueType="num">
                                      <p:cBhvr>
                                        <p:cTn id="103" dur="5000" fill="hold"/>
                                        <p:tgtEl>
                                          <p:spTgt spid="46"/>
                                        </p:tgtEl>
                                        <p:attrNameLst>
                                          <p:attrName>ppt_w</p:attrName>
                                        </p:attrNameLst>
                                      </p:cBhvr>
                                      <p:tavLst>
                                        <p:tav tm="0" fmla="#ppt_w*sin(2.5*pi*$)">
                                          <p:val>
                                            <p:fltVal val="0"/>
                                          </p:val>
                                        </p:tav>
                                        <p:tav tm="100000">
                                          <p:val>
                                            <p:fltVal val="1"/>
                                          </p:val>
                                        </p:tav>
                                      </p:tavLst>
                                    </p:anim>
                                    <p:anim calcmode="lin" valueType="num">
                                      <p:cBhvr>
                                        <p:cTn id="104" dur="5000" fill="hold"/>
                                        <p:tgtEl>
                                          <p:spTgt spid="46"/>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01"/>
                                            </p:cond>
                                          </p:stCondLst>
                                          <p:endCondLst>
                                            <p:cond evt="onStopAudio" delay="0">
                                              <p:tgtEl>
                                                <p:sldTgt/>
                                              </p:tgtEl>
                                            </p:cond>
                                          </p:endCondLst>
                                        </p:cTn>
                                        <p:tgtEl>
                                          <p:sndTgt r:embed="rId3" name="CHIMES.WAV"/>
                                        </p:tgtEl>
                                      </p:cMediaNode>
                                    </p:audio>
                                  </p:subTnLst>
                                </p:cTn>
                              </p:par>
                            </p:childTnLst>
                          </p:cTn>
                        </p:par>
                        <p:par>
                          <p:cTn id="105" fill="hold">
                            <p:stCondLst>
                              <p:cond delay="22000"/>
                            </p:stCondLst>
                            <p:childTnLst>
                              <p:par>
                                <p:cTn id="106" presetID="18" presetClass="entr" presetSubtype="3" fill="hold" nodeType="afterEffect">
                                  <p:stCondLst>
                                    <p:cond delay="0"/>
                                  </p:stCondLst>
                                  <p:childTnLst>
                                    <p:set>
                                      <p:cBhvr>
                                        <p:cTn id="107" dur="1" fill="hold">
                                          <p:stCondLst>
                                            <p:cond delay="0"/>
                                          </p:stCondLst>
                                        </p:cTn>
                                        <p:tgtEl>
                                          <p:spTgt spid="29"/>
                                        </p:tgtEl>
                                        <p:attrNameLst>
                                          <p:attrName>style.visibility</p:attrName>
                                        </p:attrNameLst>
                                      </p:cBhvr>
                                      <p:to>
                                        <p:strVal val="visible"/>
                                      </p:to>
                                    </p:set>
                                    <p:animEffect transition="in" filter="strips(upRight)">
                                      <p:cBhvr>
                                        <p:cTn id="108" dur="5000"/>
                                        <p:tgtEl>
                                          <p:spTgt spid="29"/>
                                        </p:tgtEl>
                                      </p:cBhvr>
                                    </p:animEffect>
                                  </p:childTnLst>
                                </p:cTn>
                              </p:par>
                              <p:par>
                                <p:cTn id="109" presetID="19" presetClass="entr" presetSubtype="10" fill="hold" grpId="0" nodeType="withEffect">
                                  <p:stCondLst>
                                    <p:cond delay="0"/>
                                  </p:stCondLst>
                                  <p:childTnLst>
                                    <p:set>
                                      <p:cBhvr>
                                        <p:cTn id="110" dur="1" fill="hold">
                                          <p:stCondLst>
                                            <p:cond delay="0"/>
                                          </p:stCondLst>
                                        </p:cTn>
                                        <p:tgtEl>
                                          <p:spTgt spid="31"/>
                                        </p:tgtEl>
                                        <p:attrNameLst>
                                          <p:attrName>style.visibility</p:attrName>
                                        </p:attrNameLst>
                                      </p:cBhvr>
                                      <p:to>
                                        <p:strVal val="visible"/>
                                      </p:to>
                                    </p:set>
                                    <p:anim calcmode="lin" valueType="num">
                                      <p:cBhvr>
                                        <p:cTn id="111" dur="5000" fill="hold"/>
                                        <p:tgtEl>
                                          <p:spTgt spid="31"/>
                                        </p:tgtEl>
                                        <p:attrNameLst>
                                          <p:attrName>ppt_w</p:attrName>
                                        </p:attrNameLst>
                                      </p:cBhvr>
                                      <p:tavLst>
                                        <p:tav tm="0" fmla="#ppt_w*sin(2.5*pi*$)">
                                          <p:val>
                                            <p:fltVal val="0"/>
                                          </p:val>
                                        </p:tav>
                                        <p:tav tm="100000">
                                          <p:val>
                                            <p:fltVal val="1"/>
                                          </p:val>
                                        </p:tav>
                                      </p:tavLst>
                                    </p:anim>
                                    <p:anim calcmode="lin" valueType="num">
                                      <p:cBhvr>
                                        <p:cTn id="112" dur="5000" fill="hold"/>
                                        <p:tgtEl>
                                          <p:spTgt spid="31"/>
                                        </p:tgtEl>
                                        <p:attrNameLst>
                                          <p:attrName>ppt_h</p:attrName>
                                        </p:attrNameLst>
                                      </p:cBhvr>
                                      <p:tavLst>
                                        <p:tav tm="0">
                                          <p:val>
                                            <p:strVal val="#ppt_h"/>
                                          </p:val>
                                        </p:tav>
                                        <p:tav tm="100000">
                                          <p:val>
                                            <p:strVal val="#ppt_h"/>
                                          </p:val>
                                        </p:tav>
                                      </p:tavLst>
                                    </p:anim>
                                  </p:childTnLst>
                                </p:cTn>
                              </p:par>
                            </p:childTnLst>
                          </p:cTn>
                        </p:par>
                        <p:par>
                          <p:cTn id="113" fill="hold">
                            <p:stCondLst>
                              <p:cond delay="27000"/>
                            </p:stCondLst>
                            <p:childTnLst>
                              <p:par>
                                <p:cTn id="114" presetID="22" presetClass="entr" presetSubtype="8" fill="hold" nodeType="afterEffect">
                                  <p:stCondLst>
                                    <p:cond delay="0"/>
                                  </p:stCondLst>
                                  <p:childTnLst>
                                    <p:set>
                                      <p:cBhvr>
                                        <p:cTn id="115" dur="1" fill="hold">
                                          <p:stCondLst>
                                            <p:cond delay="0"/>
                                          </p:stCondLst>
                                        </p:cTn>
                                        <p:tgtEl>
                                          <p:spTgt spid="28"/>
                                        </p:tgtEl>
                                        <p:attrNameLst>
                                          <p:attrName>style.visibility</p:attrName>
                                        </p:attrNameLst>
                                      </p:cBhvr>
                                      <p:to>
                                        <p:strVal val="visible"/>
                                      </p:to>
                                    </p:set>
                                    <p:animEffect transition="in" filter="wipe(left)">
                                      <p:cBhvr>
                                        <p:cTn id="116" dur="5000"/>
                                        <p:tgtEl>
                                          <p:spTgt spid="28"/>
                                        </p:tgtEl>
                                      </p:cBhvr>
                                    </p:animEffect>
                                  </p:childTnLst>
                                </p:cTn>
                              </p:par>
                              <p:par>
                                <p:cTn id="117" presetID="19" presetClass="entr" presetSubtype="10" fill="hold" grpId="0" nodeType="withEffect">
                                  <p:stCondLst>
                                    <p:cond delay="0"/>
                                  </p:stCondLst>
                                  <p:childTnLst>
                                    <p:set>
                                      <p:cBhvr>
                                        <p:cTn id="118" dur="1" fill="hold">
                                          <p:stCondLst>
                                            <p:cond delay="0"/>
                                          </p:stCondLst>
                                        </p:cTn>
                                        <p:tgtEl>
                                          <p:spTgt spid="30"/>
                                        </p:tgtEl>
                                        <p:attrNameLst>
                                          <p:attrName>style.visibility</p:attrName>
                                        </p:attrNameLst>
                                      </p:cBhvr>
                                      <p:to>
                                        <p:strVal val="visible"/>
                                      </p:to>
                                    </p:set>
                                    <p:anim calcmode="lin" valueType="num">
                                      <p:cBhvr>
                                        <p:cTn id="119" dur="5000" fill="hold"/>
                                        <p:tgtEl>
                                          <p:spTgt spid="30"/>
                                        </p:tgtEl>
                                        <p:attrNameLst>
                                          <p:attrName>ppt_w</p:attrName>
                                        </p:attrNameLst>
                                      </p:cBhvr>
                                      <p:tavLst>
                                        <p:tav tm="0" fmla="#ppt_w*sin(2.5*pi*$)">
                                          <p:val>
                                            <p:fltVal val="0"/>
                                          </p:val>
                                        </p:tav>
                                        <p:tav tm="100000">
                                          <p:val>
                                            <p:fltVal val="1"/>
                                          </p:val>
                                        </p:tav>
                                      </p:tavLst>
                                    </p:anim>
                                    <p:anim calcmode="lin" valueType="num">
                                      <p:cBhvr>
                                        <p:cTn id="120" dur="5000" fill="hold"/>
                                        <p:tgtEl>
                                          <p:spTgt spid="30"/>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53" grpId="0" autoUpdateAnimBg="0"/>
      <p:bldP spid="30" grpId="0"/>
      <p:bldP spid="31" grpId="0"/>
      <p:bldP spid="34" grpId="0" autoUpdateAnimBg="0"/>
      <p:bldP spid="35" grpId="0" autoUpdateAnimBg="0"/>
      <p:bldP spid="36" grpId="0" autoUpdateAnimBg="0"/>
      <p:bldP spid="37" grpId="0" animBg="1"/>
      <p:bldP spid="38" grpId="0" animBg="1"/>
      <p:bldP spid="39" grpId="0" animBg="1"/>
      <p:bldP spid="40" grpId="0" animBg="1"/>
      <p:bldP spid="41" grpId="0" animBg="1"/>
      <p:bldP spid="42" grpId="0" animBg="1"/>
      <p:bldP spid="43" grpId="0" animBg="1"/>
      <p:bldP spid="44" grpId="0" animBg="1"/>
      <p:bldP spid="45" grpId="0" autoUpdateAnimBg="0"/>
      <p:bldP spid="46" grpId="0" autoUpdateAnimBg="0"/>
      <p:bldP spid="62" grpId="0" animBg="1"/>
      <p:bldP spid="63" grpId="0" animBg="1"/>
      <p:bldP spid="64"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711605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第八章   拉压、剪切与挤压的强度计算</a:t>
            </a:r>
          </a:p>
        </p:txBody>
      </p:sp>
      <p:sp>
        <p:nvSpPr>
          <p:cNvPr id="9" name="Rectangle 61"/>
          <p:cNvSpPr>
            <a:spLocks noChangeArrowheads="1"/>
          </p:cNvSpPr>
          <p:nvPr/>
        </p:nvSpPr>
        <p:spPr bwMode="auto">
          <a:xfrm>
            <a:off x="6500910" y="1421341"/>
            <a:ext cx="5461877" cy="4382319"/>
          </a:xfrm>
          <a:prstGeom prst="rect">
            <a:avLst/>
          </a:prstGeom>
          <a:solidFill>
            <a:srgbClr val="B9CDE5"/>
          </a:solidFill>
          <a:ln>
            <a:noFill/>
          </a:ln>
          <a:effectLst/>
        </p:spPr>
        <p:txBody>
          <a:bodyPr wrap="none" anchor="ctr"/>
          <a:lstStyle/>
          <a:p>
            <a:endParaRPr lang="zh-CN" altLang="en-US"/>
          </a:p>
        </p:txBody>
      </p:sp>
      <p:sp>
        <p:nvSpPr>
          <p:cNvPr id="53" name="Text Box 1032"/>
          <p:cNvSpPr txBox="1">
            <a:spLocks noChangeArrowheads="1"/>
          </p:cNvSpPr>
          <p:nvPr/>
        </p:nvSpPr>
        <p:spPr bwMode="auto">
          <a:xfrm>
            <a:off x="276093" y="1519973"/>
            <a:ext cx="6000655" cy="4228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lnSpc>
                <a:spcPct val="120000"/>
              </a:lnSpc>
            </a:pPr>
            <a:r>
              <a:rPr lang="zh-CN" altLang="en-US" sz="2800" i="0" dirty="0">
                <a:latin typeface="微软雅黑" panose="020B0503020204020204" pitchFamily="34" charset="-122"/>
                <a:ea typeface="微软雅黑" panose="020B0503020204020204" pitchFamily="34" charset="-122"/>
              </a:rPr>
              <a:t>温度和时间会对高分子材料的性态产生很大的影响，图示高分子材料的</a:t>
            </a:r>
            <a:r>
              <a:rPr lang="zh-CN" altLang="en-US" sz="2800" b="0" dirty="0">
                <a:latin typeface="微软雅黑" panose="020B0503020204020204" pitchFamily="34" charset="-122"/>
                <a:ea typeface="微软雅黑" panose="020B0503020204020204" pitchFamily="34" charset="-122"/>
                <a:sym typeface="Symbol" panose="05050102010706020507" pitchFamily="18" charset="2"/>
              </a:rPr>
              <a:t> </a:t>
            </a:r>
            <a:r>
              <a:rPr lang="en-US" altLang="zh-CN" sz="2800" b="0" dirty="0">
                <a:latin typeface="微软雅黑" panose="020B0503020204020204" pitchFamily="34" charset="-122"/>
                <a:ea typeface="微软雅黑" panose="020B0503020204020204" pitchFamily="34" charset="-122"/>
              </a:rPr>
              <a:t>-</a:t>
            </a:r>
            <a:r>
              <a:rPr lang="en-US" altLang="zh-CN" sz="2800" b="0" dirty="0">
                <a:latin typeface="微软雅黑" panose="020B0503020204020204" pitchFamily="34" charset="-122"/>
                <a:ea typeface="微软雅黑" panose="020B0503020204020204" pitchFamily="34" charset="-122"/>
                <a:sym typeface="Symbol" panose="05050102010706020507" pitchFamily="18" charset="2"/>
              </a:rPr>
              <a:t></a:t>
            </a:r>
            <a:r>
              <a:rPr lang="zh-CN" altLang="en-US" sz="2800" i="0" dirty="0">
                <a:latin typeface="微软雅黑" panose="020B0503020204020204" pitchFamily="34" charset="-122"/>
                <a:ea typeface="微软雅黑" panose="020B0503020204020204" pitchFamily="34" charset="-122"/>
              </a:rPr>
              <a:t>曲线还随温度而异。这种现象称为粘弹性。在温度改变的条件下（如图），温度由</a:t>
            </a:r>
            <a:r>
              <a:rPr lang="en-US" altLang="zh-CN" sz="2800" b="0" dirty="0">
                <a:latin typeface="+mn-lt"/>
                <a:ea typeface="微软雅黑" panose="020B0503020204020204" pitchFamily="34" charset="-122"/>
              </a:rPr>
              <a:t>t</a:t>
            </a:r>
            <a:r>
              <a:rPr lang="en-US" altLang="zh-CN" sz="2800" b="0" i="0" baseline="-25000" dirty="0">
                <a:latin typeface="+mn-lt"/>
                <a:ea typeface="微软雅黑" panose="020B0503020204020204" pitchFamily="34" charset="-122"/>
              </a:rPr>
              <a:t>1</a:t>
            </a:r>
            <a:r>
              <a:rPr lang="en-US" altLang="zh-CN" sz="2800" b="0" i="0" dirty="0">
                <a:latin typeface="+mn-lt"/>
                <a:ea typeface="微软雅黑" panose="020B0503020204020204" pitchFamily="34" charset="-122"/>
              </a:rPr>
              <a:t>→</a:t>
            </a:r>
            <a:r>
              <a:rPr lang="en-US" altLang="zh-CN" sz="2800" b="0" dirty="0">
                <a:latin typeface="+mn-lt"/>
                <a:ea typeface="微软雅黑" panose="020B0503020204020204" pitchFamily="34" charset="-122"/>
              </a:rPr>
              <a:t>t</a:t>
            </a:r>
            <a:r>
              <a:rPr lang="en-US" altLang="zh-CN" sz="2800" b="0" i="0" baseline="-25000" dirty="0">
                <a:latin typeface="+mn-lt"/>
                <a:ea typeface="微软雅黑" panose="020B0503020204020204" pitchFamily="34" charset="-122"/>
              </a:rPr>
              <a:t>2</a:t>
            </a:r>
            <a:r>
              <a:rPr lang="zh-CN" altLang="en-US" sz="2800" i="0" dirty="0">
                <a:latin typeface="微软雅黑" panose="020B0503020204020204" pitchFamily="34" charset="-122"/>
                <a:ea typeface="微软雅黑" panose="020B0503020204020204" pitchFamily="34" charset="-122"/>
              </a:rPr>
              <a:t>，高分子材料还会产生明显的</a:t>
            </a:r>
            <a:r>
              <a:rPr lang="zh-CN" altLang="en-US" sz="2800" i="0" dirty="0">
                <a:solidFill>
                  <a:srgbClr val="FF00FF"/>
                </a:solidFill>
                <a:latin typeface="微软雅黑" panose="020B0503020204020204" pitchFamily="34" charset="-122"/>
                <a:ea typeface="微软雅黑" panose="020B0503020204020204" pitchFamily="34" charset="-122"/>
              </a:rPr>
              <a:t>蠕变（即应力不变，应变增加）</a:t>
            </a:r>
            <a:r>
              <a:rPr lang="zh-CN" altLang="en-US" sz="2800" i="0" dirty="0">
                <a:latin typeface="微软雅黑" panose="020B0503020204020204" pitchFamily="34" charset="-122"/>
                <a:ea typeface="微软雅黑" panose="020B0503020204020204" pitchFamily="34" charset="-122"/>
              </a:rPr>
              <a:t>及</a:t>
            </a:r>
            <a:r>
              <a:rPr lang="zh-CN" altLang="en-US" sz="2800" i="0" dirty="0">
                <a:solidFill>
                  <a:srgbClr val="FF00FF"/>
                </a:solidFill>
                <a:latin typeface="微软雅黑" panose="020B0503020204020204" pitchFamily="34" charset="-122"/>
                <a:ea typeface="微软雅黑" panose="020B0503020204020204" pitchFamily="34" charset="-122"/>
              </a:rPr>
              <a:t>松弛（即应变不变，应力下降）</a:t>
            </a:r>
            <a:r>
              <a:rPr lang="zh-CN" altLang="en-US" sz="2800" i="0" dirty="0">
                <a:latin typeface="微软雅黑" panose="020B0503020204020204" pitchFamily="34" charset="-122"/>
                <a:ea typeface="微软雅黑" panose="020B0503020204020204" pitchFamily="34" charset="-122"/>
              </a:rPr>
              <a:t>等现象。 </a:t>
            </a:r>
            <a:endParaRPr kumimoji="1" lang="zh-CN" altLang="en-US" sz="2800" i="0" dirty="0">
              <a:latin typeface="微软雅黑" panose="020B0503020204020204" pitchFamily="34" charset="-122"/>
              <a:ea typeface="微软雅黑" panose="020B0503020204020204" pitchFamily="34" charset="-122"/>
            </a:endParaRPr>
          </a:p>
        </p:txBody>
      </p:sp>
      <p:grpSp>
        <p:nvGrpSpPr>
          <p:cNvPr id="47" name="Group 38"/>
          <p:cNvGrpSpPr>
            <a:grpSpLocks/>
          </p:cNvGrpSpPr>
          <p:nvPr/>
        </p:nvGrpSpPr>
        <p:grpSpPr bwMode="auto">
          <a:xfrm>
            <a:off x="6462100" y="1624156"/>
            <a:ext cx="5500687" cy="3976687"/>
            <a:chOff x="2295" y="1815"/>
            <a:chExt cx="3465" cy="2505"/>
          </a:xfrm>
        </p:grpSpPr>
        <p:sp>
          <p:nvSpPr>
            <p:cNvPr id="48" name="Rectangle 2"/>
            <p:cNvSpPr>
              <a:spLocks noChangeArrowheads="1"/>
            </p:cNvSpPr>
            <p:nvPr/>
          </p:nvSpPr>
          <p:spPr bwMode="auto">
            <a:xfrm>
              <a:off x="2295" y="1815"/>
              <a:ext cx="3465" cy="25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49" name="Text Box 9"/>
            <p:cNvSpPr txBox="1">
              <a:spLocks noChangeArrowheads="1"/>
            </p:cNvSpPr>
            <p:nvPr/>
          </p:nvSpPr>
          <p:spPr bwMode="auto">
            <a:xfrm>
              <a:off x="4045" y="1885"/>
              <a:ext cx="41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rPr>
                <a:t>t</a:t>
              </a:r>
              <a:r>
                <a:rPr kumimoji="1" lang="en-US" altLang="zh-CN" sz="2400" b="0" i="0" u="none" strike="noStrike" kern="0" cap="none" spc="0" normalizeH="0" baseline="-25000" noProof="0" dirty="0">
                  <a:ln>
                    <a:noFill/>
                  </a:ln>
                  <a:solidFill>
                    <a:srgbClr val="000000"/>
                  </a:solidFill>
                  <a:effectLst/>
                  <a:uLnTx/>
                  <a:uFillTx/>
                  <a:latin typeface="Times New Roman" panose="02020603050405020304" pitchFamily="18" charset="0"/>
                  <a:ea typeface="黑体" panose="02010609060101010101" pitchFamily="49" charset="-122"/>
                </a:rPr>
                <a:t>1</a:t>
              </a:r>
            </a:p>
          </p:txBody>
        </p:sp>
        <p:sp>
          <p:nvSpPr>
            <p:cNvPr id="50" name="Text Box 10"/>
            <p:cNvSpPr txBox="1">
              <a:spLocks noChangeArrowheads="1"/>
            </p:cNvSpPr>
            <p:nvPr/>
          </p:nvSpPr>
          <p:spPr bwMode="auto">
            <a:xfrm>
              <a:off x="3578" y="2074"/>
              <a:ext cx="284" cy="4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90000"/>
                </a:lnSpc>
                <a:spcBef>
                  <a:spcPct val="50000"/>
                </a:spcBef>
                <a:spcAft>
                  <a:spcPts val="0"/>
                </a:spcAft>
                <a:buClrTx/>
                <a:buSzTx/>
                <a:buFontTx/>
                <a:buNone/>
                <a:tabLst/>
                <a:defRPr/>
              </a:pPr>
              <a:r>
                <a:rPr kumimoji="1" lang="zh-CN" altLang="en-US" sz="2400" i="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rPr>
                <a:t>松驰</a:t>
              </a:r>
            </a:p>
          </p:txBody>
        </p:sp>
        <p:sp>
          <p:nvSpPr>
            <p:cNvPr id="51" name="Line 12"/>
            <p:cNvSpPr>
              <a:spLocks noChangeShapeType="1"/>
            </p:cNvSpPr>
            <p:nvPr/>
          </p:nvSpPr>
          <p:spPr bwMode="auto">
            <a:xfrm>
              <a:off x="2796" y="3968"/>
              <a:ext cx="2198" cy="0"/>
            </a:xfrm>
            <a:prstGeom prst="line">
              <a:avLst/>
            </a:prstGeom>
            <a:noFill/>
            <a:ln w="9525">
              <a:solidFill>
                <a:srgbClr val="000000"/>
              </a:solidFill>
              <a:round/>
              <a:headEnd/>
              <a:tailEnd type="stealth" w="sm" len="lg"/>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52" name="Line 13"/>
            <p:cNvSpPr>
              <a:spLocks noChangeShapeType="1"/>
            </p:cNvSpPr>
            <p:nvPr/>
          </p:nvSpPr>
          <p:spPr bwMode="auto">
            <a:xfrm flipH="1" flipV="1">
              <a:off x="2824" y="2012"/>
              <a:ext cx="0" cy="1956"/>
            </a:xfrm>
            <a:prstGeom prst="line">
              <a:avLst/>
            </a:prstGeom>
            <a:noFill/>
            <a:ln w="9525">
              <a:solidFill>
                <a:srgbClr val="000000"/>
              </a:solidFill>
              <a:round/>
              <a:headEnd/>
              <a:tailEnd type="stealth" w="sm" len="lg"/>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54" name="Text Box 14"/>
            <p:cNvSpPr txBox="1">
              <a:spLocks noChangeArrowheads="1"/>
            </p:cNvSpPr>
            <p:nvPr/>
          </p:nvSpPr>
          <p:spPr bwMode="auto">
            <a:xfrm>
              <a:off x="4922" y="3918"/>
              <a:ext cx="39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1"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sym typeface="Symbol" panose="05050102010706020507" pitchFamily="18" charset="2"/>
                </a:rPr>
                <a:t> </a:t>
              </a: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sym typeface="Symbol" panose="05050102010706020507" pitchFamily="18" charset="2"/>
                </a:rPr>
                <a:t></a:t>
              </a:r>
              <a:endPar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55" name="Text Box 15"/>
            <p:cNvSpPr txBox="1">
              <a:spLocks noChangeArrowheads="1"/>
            </p:cNvSpPr>
            <p:nvPr/>
          </p:nvSpPr>
          <p:spPr bwMode="auto">
            <a:xfrm>
              <a:off x="2484" y="3835"/>
              <a:ext cx="36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O</a:t>
              </a:r>
            </a:p>
          </p:txBody>
        </p:sp>
        <p:sp>
          <p:nvSpPr>
            <p:cNvPr id="56" name="Text Box 25"/>
            <p:cNvSpPr txBox="1">
              <a:spLocks noChangeArrowheads="1"/>
            </p:cNvSpPr>
            <p:nvPr/>
          </p:nvSpPr>
          <p:spPr bwMode="auto">
            <a:xfrm>
              <a:off x="2565" y="1968"/>
              <a:ext cx="32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1"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sym typeface="Symbol" panose="05050102010706020507" pitchFamily="18" charset="2"/>
                </a:rPr>
                <a:t> </a:t>
              </a: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sym typeface="Symbol" panose="05050102010706020507" pitchFamily="18" charset="2"/>
                </a:rPr>
                <a:t></a:t>
              </a:r>
              <a:endPar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57" name="Text Box 26"/>
            <p:cNvSpPr txBox="1">
              <a:spLocks noChangeArrowheads="1"/>
            </p:cNvSpPr>
            <p:nvPr/>
          </p:nvSpPr>
          <p:spPr bwMode="auto">
            <a:xfrm>
              <a:off x="4387" y="3025"/>
              <a:ext cx="8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1" lang="zh-CN" altLang="en-US" sz="2400" i="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rPr>
                <a:t>蠕变</a:t>
              </a:r>
            </a:p>
          </p:txBody>
        </p:sp>
        <p:sp>
          <p:nvSpPr>
            <p:cNvPr id="58" name="Line 31"/>
            <p:cNvSpPr>
              <a:spLocks noChangeShapeType="1"/>
            </p:cNvSpPr>
            <p:nvPr/>
          </p:nvSpPr>
          <p:spPr bwMode="auto">
            <a:xfrm flipV="1">
              <a:off x="2828" y="2779"/>
              <a:ext cx="1949" cy="118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59" name="Line 32"/>
            <p:cNvSpPr>
              <a:spLocks noChangeShapeType="1"/>
            </p:cNvSpPr>
            <p:nvPr/>
          </p:nvSpPr>
          <p:spPr bwMode="auto">
            <a:xfrm flipV="1">
              <a:off x="2812" y="2118"/>
              <a:ext cx="1398" cy="185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60" name="Text Box 33"/>
            <p:cNvSpPr txBox="1">
              <a:spLocks noChangeArrowheads="1"/>
            </p:cNvSpPr>
            <p:nvPr/>
          </p:nvSpPr>
          <p:spPr bwMode="auto">
            <a:xfrm>
              <a:off x="4689" y="2597"/>
              <a:ext cx="41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rPr>
                <a:t>t</a:t>
              </a:r>
              <a:r>
                <a:rPr kumimoji="1" lang="en-US" altLang="zh-CN" sz="2400" b="0" i="0" u="none" strike="noStrike" kern="0" cap="none" spc="0" normalizeH="0" baseline="-25000" noProof="0" dirty="0">
                  <a:ln>
                    <a:noFill/>
                  </a:ln>
                  <a:solidFill>
                    <a:srgbClr val="000000"/>
                  </a:solidFill>
                  <a:effectLst/>
                  <a:uLnTx/>
                  <a:uFillTx/>
                  <a:latin typeface="Times New Roman" panose="02020603050405020304" pitchFamily="18" charset="0"/>
                  <a:ea typeface="黑体" panose="02010609060101010101" pitchFamily="49" charset="-122"/>
                </a:rPr>
                <a:t>2</a:t>
              </a:r>
            </a:p>
          </p:txBody>
        </p:sp>
        <p:sp>
          <p:nvSpPr>
            <p:cNvPr id="61" name="Text Box 34"/>
            <p:cNvSpPr txBox="1">
              <a:spLocks noChangeArrowheads="1"/>
            </p:cNvSpPr>
            <p:nvPr/>
          </p:nvSpPr>
          <p:spPr bwMode="auto">
            <a:xfrm>
              <a:off x="4359" y="2215"/>
              <a:ext cx="61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rPr>
                <a:t>t</a:t>
              </a:r>
              <a:r>
                <a:rPr kumimoji="1" lang="en-US" altLang="zh-CN" sz="2400" b="0" i="0" u="none" strike="noStrike" kern="0" cap="none" spc="0" normalizeH="0" baseline="-25000" noProof="0" dirty="0">
                  <a:ln>
                    <a:noFill/>
                  </a:ln>
                  <a:solidFill>
                    <a:srgbClr val="000000"/>
                  </a:solidFill>
                  <a:effectLst/>
                  <a:uLnTx/>
                  <a:uFillTx/>
                  <a:latin typeface="Times New Roman" panose="02020603050405020304" pitchFamily="18" charset="0"/>
                  <a:ea typeface="黑体" panose="02010609060101010101" pitchFamily="49" charset="-122"/>
                </a:rPr>
                <a:t>2</a:t>
              </a:r>
              <a:r>
                <a:rPr kumimoji="1"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rPr>
                <a:t>&gt; </a:t>
              </a: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rPr>
                <a:t>t</a:t>
              </a:r>
              <a:r>
                <a:rPr kumimoji="1" lang="en-US" altLang="zh-CN" sz="2400" b="0" i="0" u="none" strike="noStrike" kern="0" cap="none" spc="0" normalizeH="0" baseline="-25000" noProof="0" dirty="0">
                  <a:ln>
                    <a:noFill/>
                  </a:ln>
                  <a:solidFill>
                    <a:srgbClr val="000000"/>
                  </a:solidFill>
                  <a:effectLst/>
                  <a:uLnTx/>
                  <a:uFillTx/>
                  <a:latin typeface="Times New Roman" panose="02020603050405020304" pitchFamily="18" charset="0"/>
                  <a:ea typeface="黑体" panose="02010609060101010101" pitchFamily="49" charset="-122"/>
                </a:rPr>
                <a:t>1</a:t>
              </a:r>
            </a:p>
          </p:txBody>
        </p:sp>
        <p:sp>
          <p:nvSpPr>
            <p:cNvPr id="66" name="Line 36"/>
            <p:cNvSpPr>
              <a:spLocks noChangeShapeType="1"/>
            </p:cNvSpPr>
            <p:nvPr/>
          </p:nvSpPr>
          <p:spPr bwMode="auto">
            <a:xfrm>
              <a:off x="2820" y="3083"/>
              <a:ext cx="1821" cy="0"/>
            </a:xfrm>
            <a:prstGeom prst="line">
              <a:avLst/>
            </a:prstGeom>
            <a:noFill/>
            <a:ln w="9525">
              <a:solidFill>
                <a:srgbClr val="000000"/>
              </a:solidFill>
              <a:prstDash val="lgDash"/>
              <a:round/>
              <a:headEnd/>
              <a:tailE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67" name="Line 37"/>
            <p:cNvSpPr>
              <a:spLocks noChangeShapeType="1"/>
            </p:cNvSpPr>
            <p:nvPr/>
          </p:nvSpPr>
          <p:spPr bwMode="auto">
            <a:xfrm flipV="1">
              <a:off x="3854" y="2194"/>
              <a:ext cx="0" cy="1779"/>
            </a:xfrm>
            <a:prstGeom prst="line">
              <a:avLst/>
            </a:prstGeom>
            <a:noFill/>
            <a:ln w="9525">
              <a:solidFill>
                <a:srgbClr val="000000"/>
              </a:solidFill>
              <a:prstDash val="lgDash"/>
              <a:round/>
              <a:headEnd/>
              <a:tailE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Tree>
    <p:extLst>
      <p:ext uri="{BB962C8B-B14F-4D97-AF65-F5344CB8AC3E}">
        <p14:creationId xmlns:p14="http://schemas.microsoft.com/office/powerpoint/2010/main" val="2322303446"/>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5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47"/>
                                        </p:tgtEl>
                                        <p:attrNameLst>
                                          <p:attrName>style.visibility</p:attrName>
                                        </p:attrNameLst>
                                      </p:cBhvr>
                                      <p:to>
                                        <p:strVal val="visible"/>
                                      </p:to>
                                    </p:set>
                                    <p:animEffect transition="in" filter="fade">
                                      <p:cBhvr>
                                        <p:cTn id="15" dur="20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53" grpId="0"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711605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第八章   拉压、剪切与挤压的强度计算</a:t>
            </a:r>
          </a:p>
        </p:txBody>
      </p:sp>
      <p:sp>
        <p:nvSpPr>
          <p:cNvPr id="9" name="Rectangle 61"/>
          <p:cNvSpPr>
            <a:spLocks noChangeArrowheads="1"/>
          </p:cNvSpPr>
          <p:nvPr/>
        </p:nvSpPr>
        <p:spPr bwMode="auto">
          <a:xfrm>
            <a:off x="6500910" y="980728"/>
            <a:ext cx="5461877" cy="5184576"/>
          </a:xfrm>
          <a:prstGeom prst="rect">
            <a:avLst/>
          </a:prstGeom>
          <a:solidFill>
            <a:srgbClr val="B9CDE5"/>
          </a:solidFill>
          <a:ln>
            <a:noFill/>
          </a:ln>
          <a:effectLst/>
        </p:spPr>
        <p:txBody>
          <a:bodyPr wrap="none" anchor="ctr"/>
          <a:lstStyle/>
          <a:p>
            <a:endParaRPr lang="zh-CN" altLang="en-US"/>
          </a:p>
        </p:txBody>
      </p:sp>
      <p:sp>
        <p:nvSpPr>
          <p:cNvPr id="53" name="Text Box 1032"/>
          <p:cNvSpPr txBox="1">
            <a:spLocks noChangeArrowheads="1"/>
          </p:cNvSpPr>
          <p:nvPr/>
        </p:nvSpPr>
        <p:spPr bwMode="auto">
          <a:xfrm>
            <a:off x="276093" y="1123198"/>
            <a:ext cx="6000655" cy="4745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lnSpc>
                <a:spcPct val="120000"/>
              </a:lnSpc>
            </a:pPr>
            <a:r>
              <a:rPr kumimoji="1" lang="zh-CN" altLang="en-US" sz="2800" i="0" dirty="0">
                <a:solidFill>
                  <a:srgbClr val="FF00FF"/>
                </a:solidFill>
                <a:latin typeface="+mn-lt"/>
                <a:ea typeface="微软雅黑" panose="020B0503020204020204" pitchFamily="34" charset="-122"/>
              </a:rPr>
              <a:t>复合材料的力学性能 </a:t>
            </a:r>
            <a:endParaRPr kumimoji="1" lang="en-US" altLang="zh-CN" sz="2800" i="0" dirty="0">
              <a:solidFill>
                <a:srgbClr val="FF00FF"/>
              </a:solidFill>
              <a:latin typeface="+mn-lt"/>
              <a:ea typeface="微软雅黑" panose="020B0503020204020204" pitchFamily="34" charset="-122"/>
            </a:endParaRPr>
          </a:p>
          <a:p>
            <a:pPr algn="just">
              <a:lnSpc>
                <a:spcPct val="120000"/>
              </a:lnSpc>
            </a:pPr>
            <a:r>
              <a:rPr lang="zh-CN" altLang="en-US" sz="2800" i="0" dirty="0">
                <a:latin typeface="+mj-lt"/>
                <a:ea typeface="微软雅黑" panose="020B0503020204020204" pitchFamily="34" charset="-122"/>
              </a:rPr>
              <a:t>复合材料是指两种以上不同材质的材料通过一定复合方式组合而成的一种具有优异性能新型材料，如众所周知的玻璃钢是由玻璃纤维与聚酯类树脂组成的复合材料，它具有强度高、重量轻、耐冲击、耐腐蚀、绝缘性好等优点。这类纤维增强的复合材料已广泛被应用于各个方面。</a:t>
            </a:r>
            <a:endParaRPr kumimoji="1" lang="zh-CN" altLang="en-US" sz="2800" i="0" dirty="0">
              <a:latin typeface="+mj-lt"/>
              <a:ea typeface="微软雅黑" panose="020B0503020204020204" pitchFamily="34" charset="-122"/>
            </a:endParaRPr>
          </a:p>
        </p:txBody>
      </p:sp>
      <p:pic>
        <p:nvPicPr>
          <p:cNvPr id="1026" name="Picture 2" descr="https://gimg2.baidu.com/image_search/src=http%3A%2F%2Fpic4.zhimg.com%2Fv2-5ea2e7222082da485fbf2e974c3d1227_r.jpg&amp;refer=http%3A%2F%2Fpic4.zhimg.com&amp;app=2002&amp;size=f9999,10000&amp;q=a80&amp;n=0&amp;g=0n&amp;fmt=auto?sec=1669994958&amp;t=6cfdb37acdc9bf6f3a450a1a1e712e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20136" y="3789040"/>
            <a:ext cx="3976939" cy="230547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ttps://gimg2.baidu.com/image_search/src=http%3A%2F%2Fp7.itc.cn%2Fimages01%2F20210928%2F52b25b62901e4a10a8e6792db929e6d1.jpeg&amp;refer=http%3A%2F%2Fp7.itc.cn&amp;app=2002&amp;size=f9999,10000&amp;q=a80&amp;n=0&amp;g=0n&amp;fmt=auto?sec=1669994994&amp;t=b92b5838f794268fe95a78d94557925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20135" y="1268760"/>
            <a:ext cx="3976939" cy="22094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061002"/>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53" grpId="0"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711605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第八章   拉压、剪切与挤压的强度计算</a:t>
            </a:r>
          </a:p>
        </p:txBody>
      </p:sp>
      <p:sp>
        <p:nvSpPr>
          <p:cNvPr id="9" name="Rectangle 61"/>
          <p:cNvSpPr>
            <a:spLocks noChangeArrowheads="1"/>
          </p:cNvSpPr>
          <p:nvPr/>
        </p:nvSpPr>
        <p:spPr bwMode="auto">
          <a:xfrm>
            <a:off x="7134407" y="2251204"/>
            <a:ext cx="4997809" cy="3999939"/>
          </a:xfrm>
          <a:prstGeom prst="rect">
            <a:avLst/>
          </a:prstGeom>
          <a:solidFill>
            <a:srgbClr val="B9CDE5"/>
          </a:solidFill>
          <a:ln>
            <a:noFill/>
          </a:ln>
          <a:effectLst/>
        </p:spPr>
        <p:txBody>
          <a:bodyPr wrap="none" anchor="ctr"/>
          <a:lstStyle/>
          <a:p>
            <a:endParaRPr lang="zh-CN" altLang="en-US"/>
          </a:p>
        </p:txBody>
      </p:sp>
      <p:sp>
        <p:nvSpPr>
          <p:cNvPr id="53" name="Text Box 1032"/>
          <p:cNvSpPr txBox="1">
            <a:spLocks noChangeArrowheads="1"/>
          </p:cNvSpPr>
          <p:nvPr/>
        </p:nvSpPr>
        <p:spPr bwMode="auto">
          <a:xfrm>
            <a:off x="276093" y="1451370"/>
            <a:ext cx="11148499" cy="1126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lnSpc>
                <a:spcPct val="120000"/>
              </a:lnSpc>
            </a:pPr>
            <a:r>
              <a:rPr lang="zh-CN" altLang="en-US" sz="2800" i="0" dirty="0">
                <a:latin typeface="+mj-lt"/>
                <a:ea typeface="微软雅黑" panose="020B0503020204020204" pitchFamily="34" charset="-122"/>
              </a:rPr>
              <a:t>金属的压缩试样常制成短的圆柱，圆柱的高度约为直径的</a:t>
            </a:r>
            <a:r>
              <a:rPr lang="en-US" altLang="zh-CN" sz="2800" b="0" i="0" dirty="0">
                <a:latin typeface="+mj-lt"/>
                <a:ea typeface="微软雅黑" panose="020B0503020204020204" pitchFamily="34" charset="-122"/>
              </a:rPr>
              <a:t>1.5</a:t>
            </a:r>
            <a:r>
              <a:rPr lang="zh-CN" altLang="en-US" sz="2800" b="0" i="0" dirty="0">
                <a:latin typeface="+mj-lt"/>
                <a:ea typeface="微软雅黑" panose="020B0503020204020204" pitchFamily="34" charset="-122"/>
              </a:rPr>
              <a:t>～</a:t>
            </a:r>
            <a:r>
              <a:rPr lang="en-US" altLang="zh-CN" sz="2800" b="0" i="0" dirty="0">
                <a:latin typeface="+mj-lt"/>
                <a:ea typeface="微软雅黑" panose="020B0503020204020204" pitchFamily="34" charset="-122"/>
              </a:rPr>
              <a:t>3</a:t>
            </a:r>
            <a:r>
              <a:rPr lang="zh-CN" altLang="en-US" sz="2800" i="0" dirty="0">
                <a:latin typeface="+mj-lt"/>
                <a:ea typeface="微软雅黑" panose="020B0503020204020204" pitchFamily="34" charset="-122"/>
              </a:rPr>
              <a:t>倍；非金属材料</a:t>
            </a:r>
            <a:r>
              <a:rPr lang="en-US" altLang="zh-CN" sz="2800" i="0" dirty="0">
                <a:latin typeface="+mj-lt"/>
                <a:ea typeface="微软雅黑" panose="020B0503020204020204" pitchFamily="34" charset="-122"/>
              </a:rPr>
              <a:t>(</a:t>
            </a:r>
            <a:r>
              <a:rPr lang="zh-CN" altLang="en-US" sz="2800" i="0" dirty="0">
                <a:latin typeface="+mj-lt"/>
                <a:ea typeface="微软雅黑" panose="020B0503020204020204" pitchFamily="34" charset="-122"/>
              </a:rPr>
              <a:t>如水泥</a:t>
            </a:r>
            <a:r>
              <a:rPr lang="en-US" altLang="zh-CN" sz="2800" i="0" dirty="0">
                <a:latin typeface="+mj-lt"/>
                <a:ea typeface="微软雅黑" panose="020B0503020204020204" pitchFamily="34" charset="-122"/>
              </a:rPr>
              <a:t>)</a:t>
            </a:r>
            <a:r>
              <a:rPr lang="zh-CN" altLang="en-US" sz="2800" i="0" dirty="0">
                <a:latin typeface="+mj-lt"/>
                <a:ea typeface="微软雅黑" panose="020B0503020204020204" pitchFamily="34" charset="-122"/>
              </a:rPr>
              <a:t>的试样常采用立方体形状。</a:t>
            </a:r>
            <a:endParaRPr kumimoji="1" lang="zh-CN" altLang="en-US" sz="2800" i="0" dirty="0">
              <a:latin typeface="+mn-lt"/>
              <a:ea typeface="微软雅黑" panose="020B0503020204020204" pitchFamily="34" charset="-122"/>
            </a:endParaRPr>
          </a:p>
        </p:txBody>
      </p:sp>
      <p:sp>
        <p:nvSpPr>
          <p:cNvPr id="2" name="矩形 1">
            <a:extLst>
              <a:ext uri="{FF2B5EF4-FFF2-40B4-BE49-F238E27FC236}">
                <a16:creationId xmlns:a16="http://schemas.microsoft.com/office/drawing/2014/main" id="{8A892F5C-7536-F031-6CD4-1C9902B467DE}"/>
              </a:ext>
            </a:extLst>
          </p:cNvPr>
          <p:cNvSpPr/>
          <p:nvPr/>
        </p:nvSpPr>
        <p:spPr>
          <a:xfrm>
            <a:off x="3659427" y="876972"/>
            <a:ext cx="4416594" cy="599331"/>
          </a:xfrm>
          <a:prstGeom prst="rect">
            <a:avLst/>
          </a:prstGeom>
        </p:spPr>
        <p:txBody>
          <a:bodyPr wrap="none">
            <a:spAutoFit/>
          </a:bodyPr>
          <a:lstStyle/>
          <a:p>
            <a:pPr>
              <a:lnSpc>
                <a:spcPct val="120000"/>
              </a:lnSpc>
            </a:pPr>
            <a:r>
              <a:rPr lang="zh-CN" altLang="en-US" sz="3000" i="0" dirty="0">
                <a:solidFill>
                  <a:srgbClr val="4F81BD"/>
                </a:solidFill>
                <a:latin typeface="微软雅黑" panose="020B0503020204020204" pitchFamily="34" charset="-122"/>
                <a:ea typeface="微软雅黑" panose="020B0503020204020204" pitchFamily="34" charset="-122"/>
              </a:rPr>
              <a:t>材料在压缩时的力学性能</a:t>
            </a:r>
          </a:p>
        </p:txBody>
      </p:sp>
      <p:sp>
        <p:nvSpPr>
          <p:cNvPr id="20" name="Text Box 1032"/>
          <p:cNvSpPr txBox="1">
            <a:spLocks noChangeArrowheads="1"/>
          </p:cNvSpPr>
          <p:nvPr/>
        </p:nvSpPr>
        <p:spPr bwMode="auto">
          <a:xfrm>
            <a:off x="276093" y="2588999"/>
            <a:ext cx="6684003" cy="1643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lnSpc>
                <a:spcPct val="120000"/>
              </a:lnSpc>
            </a:pPr>
            <a:r>
              <a:rPr lang="zh-CN" altLang="en-US" sz="2800" i="0" dirty="0">
                <a:latin typeface="+mj-lt"/>
                <a:ea typeface="微软雅黑" panose="020B0503020204020204" pitchFamily="34" charset="-122"/>
              </a:rPr>
              <a:t>试验表明，低碳钢等塑性材料压缩时的弹性模量</a:t>
            </a:r>
            <a:r>
              <a:rPr lang="en-US" altLang="zh-CN" sz="2800" b="0" dirty="0">
                <a:latin typeface="+mj-lt"/>
                <a:ea typeface="微软雅黑" panose="020B0503020204020204" pitchFamily="34" charset="-122"/>
              </a:rPr>
              <a:t>E </a:t>
            </a:r>
            <a:r>
              <a:rPr lang="zh-CN" altLang="en-US" sz="2800" i="0" dirty="0">
                <a:latin typeface="+mj-lt"/>
                <a:ea typeface="微软雅黑" panose="020B0503020204020204" pitchFamily="34" charset="-122"/>
              </a:rPr>
              <a:t>和屈服应力</a:t>
            </a:r>
            <a:r>
              <a:rPr lang="zh-CN" altLang="en-US" sz="2800" b="0" dirty="0">
                <a:latin typeface="+mj-lt"/>
                <a:ea typeface="微软雅黑" panose="020B0503020204020204" pitchFamily="34" charset="-122"/>
                <a:sym typeface="Symbol" panose="05050102010706020507" pitchFamily="18" charset="2"/>
              </a:rPr>
              <a:t></a:t>
            </a:r>
            <a:r>
              <a:rPr lang="en-US" altLang="zh-CN" sz="2800" b="0" i="0" baseline="-25000" dirty="0">
                <a:latin typeface="+mj-lt"/>
                <a:ea typeface="微软雅黑" panose="020B0503020204020204" pitchFamily="34" charset="-122"/>
              </a:rPr>
              <a:t>s</a:t>
            </a:r>
            <a:r>
              <a:rPr lang="en-US" altLang="zh-CN" sz="2800" b="0" i="0" dirty="0">
                <a:latin typeface="+mj-lt"/>
                <a:ea typeface="微软雅黑" panose="020B0503020204020204" pitchFamily="34" charset="-122"/>
              </a:rPr>
              <a:t>  </a:t>
            </a:r>
            <a:r>
              <a:rPr lang="zh-CN" altLang="en-US" sz="2800" i="0" dirty="0">
                <a:latin typeface="+mj-lt"/>
                <a:ea typeface="微软雅黑" panose="020B0503020204020204" pitchFamily="34" charset="-122"/>
              </a:rPr>
              <a:t>都与拉伸时基本相同。屈服阶段以后，试样越压越扁。</a:t>
            </a:r>
            <a:endParaRPr kumimoji="1" lang="zh-CN" altLang="en-US" sz="2800" i="0" dirty="0">
              <a:latin typeface="+mj-lt"/>
              <a:ea typeface="微软雅黑" panose="020B0503020204020204" pitchFamily="34" charset="-122"/>
            </a:endParaRPr>
          </a:p>
        </p:txBody>
      </p:sp>
      <p:sp>
        <p:nvSpPr>
          <p:cNvPr id="75" name="Freeform 2"/>
          <p:cNvSpPr>
            <a:spLocks/>
          </p:cNvSpPr>
          <p:nvPr/>
        </p:nvSpPr>
        <p:spPr bwMode="auto">
          <a:xfrm>
            <a:off x="8370995" y="4229075"/>
            <a:ext cx="231775" cy="157163"/>
          </a:xfrm>
          <a:custGeom>
            <a:avLst/>
            <a:gdLst>
              <a:gd name="T0" fmla="*/ 0 w 146"/>
              <a:gd name="T1" fmla="*/ 157163 h 99"/>
              <a:gd name="T2" fmla="*/ 19050 w 146"/>
              <a:gd name="T3" fmla="*/ 114300 h 99"/>
              <a:gd name="T4" fmla="*/ 66675 w 146"/>
              <a:gd name="T5" fmla="*/ 80963 h 99"/>
              <a:gd name="T6" fmla="*/ 107950 w 146"/>
              <a:gd name="T7" fmla="*/ 53975 h 99"/>
              <a:gd name="T8" fmla="*/ 152400 w 146"/>
              <a:gd name="T9" fmla="*/ 41275 h 99"/>
              <a:gd name="T10" fmla="*/ 168275 w 146"/>
              <a:gd name="T11" fmla="*/ 34925 h 99"/>
              <a:gd name="T12" fmla="*/ 196850 w 146"/>
              <a:gd name="T13" fmla="*/ 25400 h 99"/>
              <a:gd name="T14" fmla="*/ 231775 w 146"/>
              <a:gd name="T15" fmla="*/ 0 h 99"/>
              <a:gd name="T16" fmla="*/ 0 60000 65536"/>
              <a:gd name="T17" fmla="*/ 0 60000 65536"/>
              <a:gd name="T18" fmla="*/ 0 60000 65536"/>
              <a:gd name="T19" fmla="*/ 0 60000 65536"/>
              <a:gd name="T20" fmla="*/ 0 60000 65536"/>
              <a:gd name="T21" fmla="*/ 0 60000 65536"/>
              <a:gd name="T22" fmla="*/ 0 60000 65536"/>
              <a:gd name="T23" fmla="*/ 0 60000 65536"/>
              <a:gd name="T24" fmla="*/ 0 w 146"/>
              <a:gd name="T25" fmla="*/ 0 h 99"/>
              <a:gd name="T26" fmla="*/ 146 w 146"/>
              <a:gd name="T27" fmla="*/ 99 h 9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6" h="99">
                <a:moveTo>
                  <a:pt x="0" y="99"/>
                </a:moveTo>
                <a:cubicBezTo>
                  <a:pt x="4" y="93"/>
                  <a:pt x="0" y="81"/>
                  <a:pt x="12" y="72"/>
                </a:cubicBezTo>
                <a:cubicBezTo>
                  <a:pt x="39" y="48"/>
                  <a:pt x="24" y="60"/>
                  <a:pt x="42" y="51"/>
                </a:cubicBezTo>
                <a:cubicBezTo>
                  <a:pt x="70" y="34"/>
                  <a:pt x="41" y="43"/>
                  <a:pt x="68" y="34"/>
                </a:cubicBezTo>
                <a:cubicBezTo>
                  <a:pt x="92" y="26"/>
                  <a:pt x="74" y="34"/>
                  <a:pt x="96" y="26"/>
                </a:cubicBezTo>
                <a:cubicBezTo>
                  <a:pt x="103" y="24"/>
                  <a:pt x="101" y="24"/>
                  <a:pt x="106" y="22"/>
                </a:cubicBezTo>
                <a:cubicBezTo>
                  <a:pt x="111" y="20"/>
                  <a:pt x="117" y="20"/>
                  <a:pt x="124" y="16"/>
                </a:cubicBezTo>
                <a:cubicBezTo>
                  <a:pt x="144" y="4"/>
                  <a:pt x="140" y="6"/>
                  <a:pt x="146" y="0"/>
                </a:cubicBezTo>
              </a:path>
            </a:pathLst>
          </a:custGeom>
          <a:noFill/>
          <a:ln w="28575" cap="flat" cmpd="sng">
            <a:solidFill>
              <a:srgbClr val="FFFFFF"/>
            </a:solidFill>
            <a:prstDash val="dash"/>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FF"/>
              </a:solidFill>
              <a:effectLst/>
              <a:uLnTx/>
              <a:uFillTx/>
              <a:ea typeface="黑体" panose="02010609060101010101" pitchFamily="49" charset="-122"/>
            </a:endParaRPr>
          </a:p>
        </p:txBody>
      </p:sp>
      <p:sp>
        <p:nvSpPr>
          <p:cNvPr id="76" name="Line 5"/>
          <p:cNvSpPr>
            <a:spLocks noChangeAspect="1" noChangeShapeType="1"/>
          </p:cNvSpPr>
          <p:nvPr/>
        </p:nvSpPr>
        <p:spPr bwMode="auto">
          <a:xfrm>
            <a:off x="8250345" y="5270475"/>
            <a:ext cx="2890838" cy="0"/>
          </a:xfrm>
          <a:prstGeom prst="line">
            <a:avLst/>
          </a:prstGeom>
          <a:noFill/>
          <a:ln w="9525">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FF"/>
              </a:solidFill>
              <a:effectLst/>
              <a:uLnTx/>
              <a:uFillTx/>
              <a:ea typeface="黑体" panose="02010609060101010101" pitchFamily="49" charset="-122"/>
            </a:endParaRPr>
          </a:p>
        </p:txBody>
      </p:sp>
      <p:sp>
        <p:nvSpPr>
          <p:cNvPr id="77" name="Line 6"/>
          <p:cNvSpPr>
            <a:spLocks noChangeAspect="1" noChangeShapeType="1"/>
          </p:cNvSpPr>
          <p:nvPr/>
        </p:nvSpPr>
        <p:spPr bwMode="auto">
          <a:xfrm flipH="1" flipV="1">
            <a:off x="8250345" y="2632050"/>
            <a:ext cx="0" cy="2638425"/>
          </a:xfrm>
          <a:prstGeom prst="line">
            <a:avLst/>
          </a:prstGeom>
          <a:noFill/>
          <a:ln w="9525">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FF"/>
              </a:solidFill>
              <a:effectLst/>
              <a:uLnTx/>
              <a:uFillTx/>
              <a:ea typeface="黑体" panose="02010609060101010101" pitchFamily="49" charset="-122"/>
            </a:endParaRPr>
          </a:p>
        </p:txBody>
      </p:sp>
      <p:sp>
        <p:nvSpPr>
          <p:cNvPr id="78" name="Text Box 7"/>
          <p:cNvSpPr txBox="1">
            <a:spLocks noChangeAspect="1" noChangeArrowheads="1"/>
          </p:cNvSpPr>
          <p:nvPr/>
        </p:nvSpPr>
        <p:spPr bwMode="auto">
          <a:xfrm>
            <a:off x="10937983" y="5270475"/>
            <a:ext cx="9937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1"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sym typeface="Symbol" panose="05050102010706020507" pitchFamily="18" charset="2"/>
              </a:rPr>
              <a:t> </a:t>
            </a:r>
            <a:r>
              <a:rPr kumimoji="1" lang="en-US" altLang="zh-CN" sz="2400" b="0" u="none" strike="noStrike" kern="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sym typeface="Symbol" panose="05050102010706020507" pitchFamily="18" charset="2"/>
              </a:rPr>
              <a:t></a:t>
            </a:r>
            <a:r>
              <a:rPr kumimoji="1"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rPr>
              <a:t>/%</a:t>
            </a:r>
          </a:p>
        </p:txBody>
      </p:sp>
      <p:sp>
        <p:nvSpPr>
          <p:cNvPr id="79" name="Text Box 8"/>
          <p:cNvSpPr txBox="1">
            <a:spLocks noChangeAspect="1" noChangeArrowheads="1"/>
          </p:cNvSpPr>
          <p:nvPr/>
        </p:nvSpPr>
        <p:spPr bwMode="auto">
          <a:xfrm>
            <a:off x="7926496" y="5229200"/>
            <a:ext cx="30114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eaLnBrk="1" hangingPunct="1">
              <a:spcBef>
                <a:spcPct val="50000"/>
              </a:spcBef>
            </a:pPr>
            <a:r>
              <a:rPr lang="en-US" altLang="zh-CN" b="0" dirty="0">
                <a:solidFill>
                  <a:schemeClr val="tx1"/>
                </a:solidFill>
                <a:ea typeface="宋体" panose="02010600030101010101" pitchFamily="2" charset="-122"/>
              </a:rPr>
              <a:t>O</a:t>
            </a:r>
            <a:r>
              <a:rPr lang="en-US" altLang="zh-CN" b="0" i="0" dirty="0">
                <a:solidFill>
                  <a:srgbClr val="FFFFFF"/>
                </a:solidFill>
                <a:ea typeface="宋体" panose="02010600030101010101" pitchFamily="2" charset="-122"/>
              </a:rPr>
              <a:t>     </a:t>
            </a:r>
            <a:r>
              <a:rPr lang="en-US" altLang="zh-CN" b="0" i="0" dirty="0">
                <a:solidFill>
                  <a:schemeClr val="tx1"/>
                </a:solidFill>
                <a:ea typeface="宋体" panose="02010600030101010101" pitchFamily="2" charset="-122"/>
              </a:rPr>
              <a:t>5</a:t>
            </a:r>
            <a:r>
              <a:rPr lang="en-US" altLang="zh-CN" b="0" i="0" dirty="0">
                <a:solidFill>
                  <a:srgbClr val="FFFFFF"/>
                </a:solidFill>
                <a:ea typeface="宋体" panose="02010600030101010101" pitchFamily="2" charset="-122"/>
              </a:rPr>
              <a:t>    </a:t>
            </a:r>
            <a:r>
              <a:rPr lang="en-US" altLang="zh-CN" b="0" i="0" dirty="0">
                <a:solidFill>
                  <a:schemeClr val="tx1"/>
                </a:solidFill>
                <a:ea typeface="宋体" panose="02010600030101010101" pitchFamily="2" charset="-122"/>
              </a:rPr>
              <a:t>10</a:t>
            </a:r>
            <a:r>
              <a:rPr lang="en-US" altLang="zh-CN" b="0" i="0" dirty="0">
                <a:solidFill>
                  <a:srgbClr val="FFFFFF"/>
                </a:solidFill>
                <a:ea typeface="宋体" panose="02010600030101010101" pitchFamily="2" charset="-122"/>
              </a:rPr>
              <a:t>  </a:t>
            </a:r>
            <a:r>
              <a:rPr lang="en-US" altLang="zh-CN" b="0" i="0" dirty="0">
                <a:solidFill>
                  <a:schemeClr val="tx1"/>
                </a:solidFill>
                <a:ea typeface="宋体" panose="02010600030101010101" pitchFamily="2" charset="-122"/>
              </a:rPr>
              <a:t>15</a:t>
            </a:r>
            <a:r>
              <a:rPr lang="en-US" altLang="zh-CN" b="0" i="0" dirty="0">
                <a:solidFill>
                  <a:srgbClr val="FFFFFF"/>
                </a:solidFill>
                <a:ea typeface="宋体" panose="02010600030101010101" pitchFamily="2" charset="-122"/>
              </a:rPr>
              <a:t>  </a:t>
            </a:r>
            <a:r>
              <a:rPr lang="en-US" altLang="zh-CN" b="0" i="0" dirty="0">
                <a:solidFill>
                  <a:schemeClr val="tx1"/>
                </a:solidFill>
                <a:ea typeface="宋体" panose="02010600030101010101" pitchFamily="2" charset="-122"/>
              </a:rPr>
              <a:t>20</a:t>
            </a:r>
            <a:r>
              <a:rPr lang="en-US" altLang="zh-CN" b="0" i="0" dirty="0">
                <a:solidFill>
                  <a:srgbClr val="FFFFFF"/>
                </a:solidFill>
                <a:ea typeface="宋体" panose="02010600030101010101" pitchFamily="2" charset="-122"/>
              </a:rPr>
              <a:t>  </a:t>
            </a:r>
            <a:r>
              <a:rPr lang="en-US" altLang="zh-CN" b="0" i="0" dirty="0">
                <a:solidFill>
                  <a:schemeClr val="tx1"/>
                </a:solidFill>
                <a:ea typeface="宋体" panose="02010600030101010101" pitchFamily="2" charset="-122"/>
              </a:rPr>
              <a:t>25</a:t>
            </a:r>
          </a:p>
        </p:txBody>
      </p:sp>
      <p:sp>
        <p:nvSpPr>
          <p:cNvPr id="80" name="Text Box 9"/>
          <p:cNvSpPr txBox="1">
            <a:spLocks noChangeAspect="1" noChangeArrowheads="1"/>
          </p:cNvSpPr>
          <p:nvPr/>
        </p:nvSpPr>
        <p:spPr bwMode="auto">
          <a:xfrm>
            <a:off x="7293083" y="2900338"/>
            <a:ext cx="989012" cy="2218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r" eaLnBrk="1" hangingPunct="1">
              <a:lnSpc>
                <a:spcPct val="75000"/>
              </a:lnSpc>
              <a:spcBef>
                <a:spcPct val="50000"/>
              </a:spcBef>
            </a:pPr>
            <a:r>
              <a:rPr lang="en-US" altLang="zh-CN" b="0" i="0" dirty="0">
                <a:solidFill>
                  <a:schemeClr val="tx1"/>
                </a:solidFill>
                <a:ea typeface="宋体" panose="02010600030101010101" pitchFamily="2" charset="-122"/>
              </a:rPr>
              <a:t>500</a:t>
            </a:r>
          </a:p>
          <a:p>
            <a:pPr algn="r" eaLnBrk="1" hangingPunct="1">
              <a:lnSpc>
                <a:spcPct val="75000"/>
              </a:lnSpc>
              <a:spcBef>
                <a:spcPct val="50000"/>
              </a:spcBef>
            </a:pPr>
            <a:r>
              <a:rPr lang="en-US" altLang="zh-CN" b="0" i="0" dirty="0">
                <a:solidFill>
                  <a:schemeClr val="tx1"/>
                </a:solidFill>
                <a:ea typeface="宋体" panose="02010600030101010101" pitchFamily="2" charset="-122"/>
              </a:rPr>
              <a:t>400</a:t>
            </a:r>
          </a:p>
          <a:p>
            <a:pPr algn="r" eaLnBrk="1" hangingPunct="1">
              <a:lnSpc>
                <a:spcPct val="75000"/>
              </a:lnSpc>
              <a:spcBef>
                <a:spcPct val="50000"/>
              </a:spcBef>
            </a:pPr>
            <a:r>
              <a:rPr lang="en-US" altLang="zh-CN" b="0" i="0" dirty="0">
                <a:solidFill>
                  <a:schemeClr val="tx1"/>
                </a:solidFill>
                <a:ea typeface="宋体" panose="02010600030101010101" pitchFamily="2" charset="-122"/>
              </a:rPr>
              <a:t>300</a:t>
            </a:r>
          </a:p>
          <a:p>
            <a:pPr algn="r" eaLnBrk="1" hangingPunct="1">
              <a:lnSpc>
                <a:spcPct val="75000"/>
              </a:lnSpc>
              <a:spcBef>
                <a:spcPct val="50000"/>
              </a:spcBef>
            </a:pPr>
            <a:r>
              <a:rPr lang="en-US" altLang="zh-CN" b="0" i="0" dirty="0">
                <a:solidFill>
                  <a:schemeClr val="tx1"/>
                </a:solidFill>
                <a:ea typeface="宋体" panose="02010600030101010101" pitchFamily="2" charset="-122"/>
              </a:rPr>
              <a:t>200</a:t>
            </a:r>
          </a:p>
          <a:p>
            <a:pPr algn="r" eaLnBrk="1" hangingPunct="1">
              <a:lnSpc>
                <a:spcPct val="75000"/>
              </a:lnSpc>
              <a:spcBef>
                <a:spcPct val="50000"/>
              </a:spcBef>
            </a:pPr>
            <a:r>
              <a:rPr lang="en-US" altLang="zh-CN" b="0" i="0" dirty="0">
                <a:solidFill>
                  <a:schemeClr val="tx1"/>
                </a:solidFill>
                <a:ea typeface="宋体" panose="02010600030101010101" pitchFamily="2" charset="-122"/>
              </a:rPr>
              <a:t>100</a:t>
            </a:r>
          </a:p>
        </p:txBody>
      </p:sp>
      <p:sp>
        <p:nvSpPr>
          <p:cNvPr id="81" name="Oval 10"/>
          <p:cNvSpPr>
            <a:spLocks noChangeAspect="1" noChangeArrowheads="1"/>
          </p:cNvSpPr>
          <p:nvPr/>
        </p:nvSpPr>
        <p:spPr bwMode="auto">
          <a:xfrm>
            <a:off x="8685320" y="5241900"/>
            <a:ext cx="63500" cy="63500"/>
          </a:xfrm>
          <a:prstGeom prst="ellipse">
            <a:avLst/>
          </a:prstGeom>
          <a:solidFill>
            <a:srgbClr val="FF0000"/>
          </a:solidFill>
          <a:ln w="9525">
            <a:solidFill>
              <a:srgbClr val="FFFFFF"/>
            </a:solidFill>
            <a:round/>
            <a:headEnd/>
            <a:tailEnd/>
          </a:ln>
        </p:spPr>
        <p:txBody>
          <a:bodyPr wrap="none" anchor="ct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FF"/>
              </a:solidFill>
              <a:effectLst/>
              <a:uLnTx/>
              <a:uFillTx/>
              <a:latin typeface="Times New Roman" panose="02020603050405020304" pitchFamily="18" charset="0"/>
              <a:ea typeface="黑体" panose="02010609060101010101" pitchFamily="49" charset="-122"/>
            </a:endParaRPr>
          </a:p>
        </p:txBody>
      </p:sp>
      <p:sp>
        <p:nvSpPr>
          <p:cNvPr id="82" name="Oval 11"/>
          <p:cNvSpPr>
            <a:spLocks noChangeAspect="1" noChangeArrowheads="1"/>
          </p:cNvSpPr>
          <p:nvPr/>
        </p:nvSpPr>
        <p:spPr bwMode="auto">
          <a:xfrm>
            <a:off x="9174270" y="5235550"/>
            <a:ext cx="63500" cy="63500"/>
          </a:xfrm>
          <a:prstGeom prst="ellipse">
            <a:avLst/>
          </a:prstGeom>
          <a:solidFill>
            <a:srgbClr val="FF0000"/>
          </a:solidFill>
          <a:ln w="9525">
            <a:solidFill>
              <a:srgbClr val="FFFFFF"/>
            </a:solidFill>
            <a:round/>
            <a:headEnd/>
            <a:tailEnd/>
          </a:ln>
        </p:spPr>
        <p:txBody>
          <a:bodyPr wrap="none" anchor="ct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FF"/>
              </a:solidFill>
              <a:effectLst/>
              <a:uLnTx/>
              <a:uFillTx/>
              <a:latin typeface="Times New Roman" panose="02020603050405020304" pitchFamily="18" charset="0"/>
              <a:ea typeface="黑体" panose="02010609060101010101" pitchFamily="49" charset="-122"/>
            </a:endParaRPr>
          </a:p>
        </p:txBody>
      </p:sp>
      <p:sp>
        <p:nvSpPr>
          <p:cNvPr id="83" name="Oval 12"/>
          <p:cNvSpPr>
            <a:spLocks noChangeAspect="1" noChangeArrowheads="1"/>
          </p:cNvSpPr>
          <p:nvPr/>
        </p:nvSpPr>
        <p:spPr bwMode="auto">
          <a:xfrm>
            <a:off x="9671158" y="5235550"/>
            <a:ext cx="63500" cy="63500"/>
          </a:xfrm>
          <a:prstGeom prst="ellipse">
            <a:avLst/>
          </a:prstGeom>
          <a:solidFill>
            <a:srgbClr val="FF0000"/>
          </a:solidFill>
          <a:ln w="9525">
            <a:solidFill>
              <a:srgbClr val="FFFFFF"/>
            </a:solidFill>
            <a:round/>
            <a:headEnd/>
            <a:tailEnd/>
          </a:ln>
        </p:spPr>
        <p:txBody>
          <a:bodyPr wrap="none" anchor="ct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FF"/>
              </a:solidFill>
              <a:effectLst/>
              <a:uLnTx/>
              <a:uFillTx/>
              <a:latin typeface="Times New Roman" panose="02020603050405020304" pitchFamily="18" charset="0"/>
              <a:ea typeface="黑体" panose="02010609060101010101" pitchFamily="49" charset="-122"/>
            </a:endParaRPr>
          </a:p>
        </p:txBody>
      </p:sp>
      <p:sp>
        <p:nvSpPr>
          <p:cNvPr id="84" name="Oval 13"/>
          <p:cNvSpPr>
            <a:spLocks noChangeAspect="1" noChangeArrowheads="1"/>
          </p:cNvSpPr>
          <p:nvPr/>
        </p:nvSpPr>
        <p:spPr bwMode="auto">
          <a:xfrm>
            <a:off x="8218595" y="4865663"/>
            <a:ext cx="63500" cy="63500"/>
          </a:xfrm>
          <a:prstGeom prst="ellipse">
            <a:avLst/>
          </a:prstGeom>
          <a:solidFill>
            <a:srgbClr val="FF0000"/>
          </a:solidFill>
          <a:ln w="9525">
            <a:solidFill>
              <a:srgbClr val="FFFFFF"/>
            </a:solidFill>
            <a:round/>
            <a:headEnd/>
            <a:tailEnd/>
          </a:ln>
        </p:spPr>
        <p:txBody>
          <a:bodyPr wrap="none" anchor="ct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FF"/>
              </a:solidFill>
              <a:effectLst/>
              <a:uLnTx/>
              <a:uFillTx/>
              <a:latin typeface="Times New Roman" panose="02020603050405020304" pitchFamily="18" charset="0"/>
              <a:ea typeface="黑体" panose="02010609060101010101" pitchFamily="49" charset="-122"/>
            </a:endParaRPr>
          </a:p>
        </p:txBody>
      </p:sp>
      <p:sp>
        <p:nvSpPr>
          <p:cNvPr id="85" name="Oval 14"/>
          <p:cNvSpPr>
            <a:spLocks noChangeAspect="1" noChangeArrowheads="1"/>
          </p:cNvSpPr>
          <p:nvPr/>
        </p:nvSpPr>
        <p:spPr bwMode="auto">
          <a:xfrm>
            <a:off x="8218595" y="4416400"/>
            <a:ext cx="63500" cy="63500"/>
          </a:xfrm>
          <a:prstGeom prst="ellipse">
            <a:avLst/>
          </a:prstGeom>
          <a:solidFill>
            <a:srgbClr val="FF0000"/>
          </a:solidFill>
          <a:ln w="9525">
            <a:solidFill>
              <a:srgbClr val="FFFFFF"/>
            </a:solidFill>
            <a:round/>
            <a:headEnd/>
            <a:tailEnd/>
          </a:ln>
        </p:spPr>
        <p:txBody>
          <a:bodyPr wrap="none" anchor="ct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FF"/>
              </a:solidFill>
              <a:effectLst/>
              <a:uLnTx/>
              <a:uFillTx/>
              <a:latin typeface="Times New Roman" panose="02020603050405020304" pitchFamily="18" charset="0"/>
              <a:ea typeface="黑体" panose="02010609060101010101" pitchFamily="49" charset="-122"/>
            </a:endParaRPr>
          </a:p>
        </p:txBody>
      </p:sp>
      <p:sp>
        <p:nvSpPr>
          <p:cNvPr id="86" name="Oval 15"/>
          <p:cNvSpPr>
            <a:spLocks noChangeAspect="1" noChangeArrowheads="1"/>
          </p:cNvSpPr>
          <p:nvPr/>
        </p:nvSpPr>
        <p:spPr bwMode="auto">
          <a:xfrm>
            <a:off x="8218595" y="3967138"/>
            <a:ext cx="63500" cy="63500"/>
          </a:xfrm>
          <a:prstGeom prst="ellipse">
            <a:avLst/>
          </a:prstGeom>
          <a:solidFill>
            <a:srgbClr val="FF0000"/>
          </a:solidFill>
          <a:ln w="9525">
            <a:solidFill>
              <a:srgbClr val="FFFFFF"/>
            </a:solidFill>
            <a:round/>
            <a:headEnd/>
            <a:tailEnd/>
          </a:ln>
        </p:spPr>
        <p:txBody>
          <a:bodyPr wrap="none" anchor="ct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FF"/>
              </a:solidFill>
              <a:effectLst/>
              <a:uLnTx/>
              <a:uFillTx/>
              <a:latin typeface="Times New Roman" panose="02020603050405020304" pitchFamily="18" charset="0"/>
              <a:ea typeface="黑体" panose="02010609060101010101" pitchFamily="49" charset="-122"/>
            </a:endParaRPr>
          </a:p>
        </p:txBody>
      </p:sp>
      <p:sp>
        <p:nvSpPr>
          <p:cNvPr id="87" name="Oval 16"/>
          <p:cNvSpPr>
            <a:spLocks noChangeAspect="1" noChangeArrowheads="1"/>
          </p:cNvSpPr>
          <p:nvPr/>
        </p:nvSpPr>
        <p:spPr bwMode="auto">
          <a:xfrm>
            <a:off x="8218595" y="3487713"/>
            <a:ext cx="63500" cy="63500"/>
          </a:xfrm>
          <a:prstGeom prst="ellipse">
            <a:avLst/>
          </a:prstGeom>
          <a:solidFill>
            <a:srgbClr val="FF0000"/>
          </a:solidFill>
          <a:ln w="9525">
            <a:solidFill>
              <a:srgbClr val="FFFFFF"/>
            </a:solidFill>
            <a:round/>
            <a:headEnd/>
            <a:tailEnd/>
          </a:ln>
        </p:spPr>
        <p:txBody>
          <a:bodyPr wrap="none" anchor="ct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FF"/>
              </a:solidFill>
              <a:effectLst/>
              <a:uLnTx/>
              <a:uFillTx/>
              <a:latin typeface="Times New Roman" panose="02020603050405020304" pitchFamily="18" charset="0"/>
              <a:ea typeface="黑体" panose="02010609060101010101" pitchFamily="49" charset="-122"/>
            </a:endParaRPr>
          </a:p>
        </p:txBody>
      </p:sp>
      <p:sp>
        <p:nvSpPr>
          <p:cNvPr id="88" name="Oval 17"/>
          <p:cNvSpPr>
            <a:spLocks noChangeAspect="1" noChangeArrowheads="1"/>
          </p:cNvSpPr>
          <p:nvPr/>
        </p:nvSpPr>
        <p:spPr bwMode="auto">
          <a:xfrm>
            <a:off x="8218595" y="3022575"/>
            <a:ext cx="63500" cy="61913"/>
          </a:xfrm>
          <a:prstGeom prst="ellipse">
            <a:avLst/>
          </a:prstGeom>
          <a:solidFill>
            <a:srgbClr val="FF0000"/>
          </a:solidFill>
          <a:ln w="9525">
            <a:solidFill>
              <a:srgbClr val="FFFFFF"/>
            </a:solidFill>
            <a:round/>
            <a:headEnd/>
            <a:tailEnd/>
          </a:ln>
        </p:spPr>
        <p:txBody>
          <a:bodyPr wrap="none" anchor="ct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FF"/>
              </a:solidFill>
              <a:effectLst/>
              <a:uLnTx/>
              <a:uFillTx/>
              <a:latin typeface="Times New Roman" panose="02020603050405020304" pitchFamily="18" charset="0"/>
              <a:ea typeface="黑体" panose="02010609060101010101" pitchFamily="49" charset="-122"/>
            </a:endParaRPr>
          </a:p>
        </p:txBody>
      </p:sp>
      <p:sp>
        <p:nvSpPr>
          <p:cNvPr id="89" name="Text Box 19"/>
          <p:cNvSpPr txBox="1">
            <a:spLocks noChangeAspect="1" noChangeArrowheads="1"/>
          </p:cNvSpPr>
          <p:nvPr/>
        </p:nvSpPr>
        <p:spPr bwMode="auto">
          <a:xfrm>
            <a:off x="8129695" y="2316138"/>
            <a:ext cx="13541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1"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sym typeface="Symbol" panose="05050102010706020507" pitchFamily="18" charset="2"/>
              </a:rPr>
              <a:t> </a:t>
            </a:r>
            <a:r>
              <a:rPr kumimoji="1" lang="en-US" altLang="zh-CN" sz="2400" b="0" u="none" strike="noStrike" kern="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sym typeface="Symbol" panose="05050102010706020507" pitchFamily="18" charset="2"/>
              </a:rPr>
              <a:t></a:t>
            </a:r>
            <a:r>
              <a:rPr kumimoji="1"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rPr>
              <a:t>/</a:t>
            </a:r>
            <a:r>
              <a:rPr kumimoji="1" lang="en-US" altLang="zh-CN" sz="2400" b="0" i="0" u="none" strike="noStrike" kern="0" cap="none" spc="0" normalizeH="0" baseline="0" noProof="0" dirty="0" err="1">
                <a:ln>
                  <a:noFill/>
                </a:ln>
                <a:solidFill>
                  <a:schemeClr val="tx1"/>
                </a:solidFill>
                <a:effectLst/>
                <a:uLnTx/>
                <a:uFillTx/>
                <a:latin typeface="Times New Roman" panose="02020603050405020304" pitchFamily="18" charset="0"/>
                <a:ea typeface="宋体" panose="02010600030101010101" pitchFamily="2" charset="-122"/>
              </a:rPr>
              <a:t>MPa</a:t>
            </a:r>
            <a:endParaRPr kumimoji="1"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endParaRPr>
          </a:p>
        </p:txBody>
      </p:sp>
      <p:sp>
        <p:nvSpPr>
          <p:cNvPr id="90" name="Oval 20"/>
          <p:cNvSpPr>
            <a:spLocks noChangeAspect="1" noChangeArrowheads="1"/>
          </p:cNvSpPr>
          <p:nvPr/>
        </p:nvSpPr>
        <p:spPr bwMode="auto">
          <a:xfrm>
            <a:off x="10137883" y="5230788"/>
            <a:ext cx="63500" cy="63500"/>
          </a:xfrm>
          <a:prstGeom prst="ellipse">
            <a:avLst/>
          </a:prstGeom>
          <a:solidFill>
            <a:srgbClr val="FF0000"/>
          </a:solidFill>
          <a:ln w="9525">
            <a:solidFill>
              <a:srgbClr val="FFFFFF"/>
            </a:solidFill>
            <a:round/>
            <a:headEnd/>
            <a:tailEnd/>
          </a:ln>
        </p:spPr>
        <p:txBody>
          <a:bodyPr wrap="none" anchor="ct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FF"/>
              </a:solidFill>
              <a:effectLst/>
              <a:uLnTx/>
              <a:uFillTx/>
              <a:latin typeface="Times New Roman" panose="02020603050405020304" pitchFamily="18" charset="0"/>
              <a:ea typeface="黑体" panose="02010609060101010101" pitchFamily="49" charset="-122"/>
            </a:endParaRPr>
          </a:p>
        </p:txBody>
      </p:sp>
      <p:sp>
        <p:nvSpPr>
          <p:cNvPr id="91" name="Line 21"/>
          <p:cNvSpPr>
            <a:spLocks noChangeShapeType="1"/>
          </p:cNvSpPr>
          <p:nvPr/>
        </p:nvSpPr>
        <p:spPr bwMode="auto">
          <a:xfrm flipV="1">
            <a:off x="8263045" y="4379888"/>
            <a:ext cx="106363" cy="882650"/>
          </a:xfrm>
          <a:prstGeom prst="line">
            <a:avLst/>
          </a:prstGeom>
          <a:noFill/>
          <a:ln w="28575">
            <a:solidFill>
              <a:schemeClr val="tx2"/>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FF"/>
              </a:solidFill>
              <a:effectLst/>
              <a:uLnTx/>
              <a:uFillTx/>
              <a:ea typeface="黑体" panose="02010609060101010101" pitchFamily="49" charset="-122"/>
            </a:endParaRPr>
          </a:p>
        </p:txBody>
      </p:sp>
      <p:sp>
        <p:nvSpPr>
          <p:cNvPr id="92" name="Arc 22"/>
          <p:cNvSpPr>
            <a:spLocks/>
          </p:cNvSpPr>
          <p:nvPr/>
        </p:nvSpPr>
        <p:spPr bwMode="auto">
          <a:xfrm flipV="1">
            <a:off x="8471008" y="3401988"/>
            <a:ext cx="527050" cy="750887"/>
          </a:xfrm>
          <a:custGeom>
            <a:avLst/>
            <a:gdLst>
              <a:gd name="T0" fmla="*/ 6338434 w 21600"/>
              <a:gd name="T1" fmla="*/ 0 h 18794"/>
              <a:gd name="T2" fmla="*/ 12860265 w 21600"/>
              <a:gd name="T3" fmla="*/ 30000598 h 18794"/>
              <a:gd name="T4" fmla="*/ 0 w 21600"/>
              <a:gd name="T5" fmla="*/ 30000598 h 18794"/>
              <a:gd name="T6" fmla="*/ 0 60000 65536"/>
              <a:gd name="T7" fmla="*/ 0 60000 65536"/>
              <a:gd name="T8" fmla="*/ 0 60000 65536"/>
              <a:gd name="T9" fmla="*/ 0 w 21600"/>
              <a:gd name="T10" fmla="*/ 0 h 18794"/>
              <a:gd name="T11" fmla="*/ 21600 w 21600"/>
              <a:gd name="T12" fmla="*/ 18794 h 18794"/>
            </a:gdLst>
            <a:ahLst/>
            <a:cxnLst>
              <a:cxn ang="T6">
                <a:pos x="T0" y="T1"/>
              </a:cxn>
              <a:cxn ang="T7">
                <a:pos x="T2" y="T3"/>
              </a:cxn>
              <a:cxn ang="T8">
                <a:pos x="T4" y="T5"/>
              </a:cxn>
            </a:cxnLst>
            <a:rect l="T9" t="T10" r="T11" b="T12"/>
            <a:pathLst>
              <a:path w="21600" h="18794" fill="none" extrusionOk="0">
                <a:moveTo>
                  <a:pt x="10646" y="-1"/>
                </a:moveTo>
                <a:cubicBezTo>
                  <a:pt x="17415" y="3834"/>
                  <a:pt x="21600" y="11013"/>
                  <a:pt x="21600" y="18794"/>
                </a:cubicBezTo>
              </a:path>
              <a:path w="21600" h="18794" stroke="0" extrusionOk="0">
                <a:moveTo>
                  <a:pt x="10646" y="-1"/>
                </a:moveTo>
                <a:cubicBezTo>
                  <a:pt x="17415" y="3834"/>
                  <a:pt x="21600" y="11013"/>
                  <a:pt x="21600" y="18794"/>
                </a:cubicBezTo>
                <a:lnTo>
                  <a:pt x="0" y="18794"/>
                </a:lnTo>
                <a:close/>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endParaRPr kumimoji="1" lang="zh-CN" altLang="en-US" b="0" i="0">
              <a:solidFill>
                <a:srgbClr val="0000FF"/>
              </a:solidFill>
              <a:ea typeface="黑体" panose="02010609060101010101" pitchFamily="49" charset="-122"/>
            </a:endParaRPr>
          </a:p>
        </p:txBody>
      </p:sp>
      <p:sp>
        <p:nvSpPr>
          <p:cNvPr id="93" name="Oval 23"/>
          <p:cNvSpPr>
            <a:spLocks noChangeAspect="1" noChangeArrowheads="1"/>
          </p:cNvSpPr>
          <p:nvPr/>
        </p:nvSpPr>
        <p:spPr bwMode="auto">
          <a:xfrm>
            <a:off x="10587145" y="5238725"/>
            <a:ext cx="63500" cy="63500"/>
          </a:xfrm>
          <a:prstGeom prst="ellipse">
            <a:avLst/>
          </a:prstGeom>
          <a:solidFill>
            <a:srgbClr val="FF0000"/>
          </a:solidFill>
          <a:ln w="9525">
            <a:solidFill>
              <a:srgbClr val="FFFFFF"/>
            </a:solidFill>
            <a:round/>
            <a:headEnd/>
            <a:tailEnd/>
          </a:ln>
        </p:spPr>
        <p:txBody>
          <a:bodyPr wrap="none" anchor="ct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FF"/>
              </a:solidFill>
              <a:effectLst/>
              <a:uLnTx/>
              <a:uFillTx/>
              <a:latin typeface="Times New Roman" panose="02020603050405020304" pitchFamily="18" charset="0"/>
              <a:ea typeface="黑体" panose="02010609060101010101" pitchFamily="49" charset="-122"/>
            </a:endParaRPr>
          </a:p>
        </p:txBody>
      </p:sp>
      <p:sp>
        <p:nvSpPr>
          <p:cNvPr id="94" name="Line 24"/>
          <p:cNvSpPr>
            <a:spLocks noChangeShapeType="1"/>
          </p:cNvSpPr>
          <p:nvPr/>
        </p:nvSpPr>
        <p:spPr bwMode="auto">
          <a:xfrm flipV="1">
            <a:off x="8240820" y="4394175"/>
            <a:ext cx="106363" cy="88265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anchor="ctr"/>
          <a:lstStyle/>
          <a:p>
            <a:pPr algn="ctr"/>
            <a:endParaRPr kumimoji="1" lang="zh-CN" altLang="en-US" b="0" i="0">
              <a:solidFill>
                <a:srgbClr val="0000FF"/>
              </a:solidFill>
              <a:ea typeface="黑体" panose="02010609060101010101" pitchFamily="49" charset="-122"/>
            </a:endParaRPr>
          </a:p>
        </p:txBody>
      </p:sp>
      <p:sp>
        <p:nvSpPr>
          <p:cNvPr id="95" name="Text Box 25"/>
          <p:cNvSpPr txBox="1">
            <a:spLocks noChangeArrowheads="1"/>
          </p:cNvSpPr>
          <p:nvPr/>
        </p:nvSpPr>
        <p:spPr bwMode="auto">
          <a:xfrm>
            <a:off x="8263045" y="4344963"/>
            <a:ext cx="4238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eaLnBrk="1" hangingPunct="1">
              <a:spcBef>
                <a:spcPct val="50000"/>
              </a:spcBef>
            </a:pPr>
            <a:r>
              <a:rPr lang="en-US" altLang="zh-CN" b="0" dirty="0">
                <a:solidFill>
                  <a:srgbClr val="FF0000"/>
                </a:solidFill>
                <a:ea typeface="宋体" panose="02010600030101010101" pitchFamily="2" charset="-122"/>
              </a:rPr>
              <a:t>p</a:t>
            </a:r>
          </a:p>
        </p:txBody>
      </p:sp>
      <p:sp>
        <p:nvSpPr>
          <p:cNvPr id="96" name="Text Box 26"/>
          <p:cNvSpPr txBox="1">
            <a:spLocks noChangeArrowheads="1"/>
          </p:cNvSpPr>
          <p:nvPr/>
        </p:nvSpPr>
        <p:spPr bwMode="auto">
          <a:xfrm>
            <a:off x="8345595" y="3846488"/>
            <a:ext cx="4238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eaLnBrk="1" hangingPunct="1">
              <a:spcBef>
                <a:spcPct val="50000"/>
              </a:spcBef>
            </a:pPr>
            <a:r>
              <a:rPr lang="en-US" altLang="zh-CN" b="0">
                <a:solidFill>
                  <a:srgbClr val="FF0000"/>
                </a:solidFill>
                <a:ea typeface="宋体" panose="02010600030101010101" pitchFamily="2" charset="-122"/>
              </a:rPr>
              <a:t>y</a:t>
            </a:r>
          </a:p>
        </p:txBody>
      </p:sp>
      <p:sp>
        <p:nvSpPr>
          <p:cNvPr id="97" name="Arc 27"/>
          <p:cNvSpPr>
            <a:spLocks/>
          </p:cNvSpPr>
          <p:nvPr/>
        </p:nvSpPr>
        <p:spPr bwMode="auto">
          <a:xfrm rot="21327480" flipH="1">
            <a:off x="8337658" y="4281463"/>
            <a:ext cx="274637" cy="138112"/>
          </a:xfrm>
          <a:custGeom>
            <a:avLst/>
            <a:gdLst>
              <a:gd name="T0" fmla="*/ 1187576 w 21600"/>
              <a:gd name="T1" fmla="*/ 0 h 20312"/>
              <a:gd name="T2" fmla="*/ 3491921 w 21600"/>
              <a:gd name="T3" fmla="*/ 939096 h 20312"/>
              <a:gd name="T4" fmla="*/ 0 w 21600"/>
              <a:gd name="T5" fmla="*/ 939096 h 20312"/>
              <a:gd name="T6" fmla="*/ 0 60000 65536"/>
              <a:gd name="T7" fmla="*/ 0 60000 65536"/>
              <a:gd name="T8" fmla="*/ 0 60000 65536"/>
              <a:gd name="T9" fmla="*/ 0 w 21600"/>
              <a:gd name="T10" fmla="*/ 0 h 20312"/>
              <a:gd name="T11" fmla="*/ 21600 w 21600"/>
              <a:gd name="T12" fmla="*/ 20312 h 20312"/>
            </a:gdLst>
            <a:ahLst/>
            <a:cxnLst>
              <a:cxn ang="T6">
                <a:pos x="T0" y="T1"/>
              </a:cxn>
              <a:cxn ang="T7">
                <a:pos x="T2" y="T3"/>
              </a:cxn>
              <a:cxn ang="T8">
                <a:pos x="T4" y="T5"/>
              </a:cxn>
            </a:cxnLst>
            <a:rect l="T9" t="T10" r="T11" b="T12"/>
            <a:pathLst>
              <a:path w="21600" h="20312" fill="none" extrusionOk="0">
                <a:moveTo>
                  <a:pt x="7346" y="-1"/>
                </a:moveTo>
                <a:cubicBezTo>
                  <a:pt x="15900" y="3093"/>
                  <a:pt x="21600" y="11215"/>
                  <a:pt x="21600" y="20312"/>
                </a:cubicBezTo>
              </a:path>
              <a:path w="21600" h="20312" stroke="0" extrusionOk="0">
                <a:moveTo>
                  <a:pt x="7346" y="-1"/>
                </a:moveTo>
                <a:cubicBezTo>
                  <a:pt x="15900" y="3093"/>
                  <a:pt x="21600" y="11215"/>
                  <a:pt x="21600" y="20312"/>
                </a:cubicBezTo>
                <a:lnTo>
                  <a:pt x="0" y="20312"/>
                </a:lnTo>
                <a:close/>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endParaRPr kumimoji="1" lang="zh-CN" altLang="en-US" b="0" i="0">
              <a:solidFill>
                <a:srgbClr val="0000FF"/>
              </a:solidFill>
              <a:ea typeface="黑体" panose="02010609060101010101" pitchFamily="49" charset="-122"/>
            </a:endParaRPr>
          </a:p>
        </p:txBody>
      </p:sp>
      <p:sp>
        <p:nvSpPr>
          <p:cNvPr id="98" name="Oval 28"/>
          <p:cNvSpPr>
            <a:spLocks noChangeAspect="1" noChangeArrowheads="1"/>
          </p:cNvSpPr>
          <p:nvPr/>
        </p:nvSpPr>
        <p:spPr bwMode="auto">
          <a:xfrm>
            <a:off x="8317020" y="4356075"/>
            <a:ext cx="63500" cy="61913"/>
          </a:xfrm>
          <a:prstGeom prst="ellipse">
            <a:avLst/>
          </a:prstGeom>
          <a:solidFill>
            <a:srgbClr val="FF0000"/>
          </a:solidFill>
          <a:ln w="9525">
            <a:solidFill>
              <a:srgbClr val="FFFFFF"/>
            </a:solidFill>
            <a:round/>
            <a:headEnd/>
            <a:tailEnd/>
          </a:ln>
        </p:spPr>
        <p:txBody>
          <a:bodyPr wrap="none" anchor="ct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FF"/>
              </a:solidFill>
              <a:effectLst/>
              <a:uLnTx/>
              <a:uFillTx/>
              <a:latin typeface="Times New Roman" panose="02020603050405020304" pitchFamily="18" charset="0"/>
              <a:ea typeface="黑体" panose="02010609060101010101" pitchFamily="49" charset="-122"/>
            </a:endParaRPr>
          </a:p>
        </p:txBody>
      </p:sp>
      <p:sp>
        <p:nvSpPr>
          <p:cNvPr id="99" name="Text Box 29"/>
          <p:cNvSpPr txBox="1">
            <a:spLocks noChangeArrowheads="1"/>
          </p:cNvSpPr>
          <p:nvPr/>
        </p:nvSpPr>
        <p:spPr bwMode="auto">
          <a:xfrm>
            <a:off x="10204558" y="3497238"/>
            <a:ext cx="1022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eaLnBrk="1" hangingPunct="1">
              <a:spcBef>
                <a:spcPct val="50000"/>
              </a:spcBef>
            </a:pPr>
            <a:r>
              <a:rPr lang="zh-CN" altLang="en-US" b="0" i="0" dirty="0">
                <a:solidFill>
                  <a:schemeClr val="tx1"/>
                </a:solidFill>
                <a:latin typeface="黑体" panose="02010609060101010101" pitchFamily="49" charset="-122"/>
              </a:rPr>
              <a:t>拉伸</a:t>
            </a:r>
          </a:p>
        </p:txBody>
      </p:sp>
      <p:sp>
        <p:nvSpPr>
          <p:cNvPr id="100" name="Text Box 30"/>
          <p:cNvSpPr txBox="1">
            <a:spLocks noChangeArrowheads="1"/>
          </p:cNvSpPr>
          <p:nvPr/>
        </p:nvSpPr>
        <p:spPr bwMode="auto">
          <a:xfrm>
            <a:off x="8821845" y="2925738"/>
            <a:ext cx="1022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eaLnBrk="1" hangingPunct="1">
              <a:spcBef>
                <a:spcPct val="50000"/>
              </a:spcBef>
            </a:pPr>
            <a:r>
              <a:rPr lang="zh-CN" altLang="en-US" b="0" i="0" dirty="0">
                <a:solidFill>
                  <a:schemeClr val="tx1"/>
                </a:solidFill>
                <a:latin typeface="黑体" panose="02010609060101010101" pitchFamily="49" charset="-122"/>
              </a:rPr>
              <a:t>压缩</a:t>
            </a:r>
          </a:p>
        </p:txBody>
      </p:sp>
      <p:sp>
        <p:nvSpPr>
          <p:cNvPr id="101" name="Rectangle 31"/>
          <p:cNvSpPr>
            <a:spLocks noChangeArrowheads="1"/>
          </p:cNvSpPr>
          <p:nvPr/>
        </p:nvSpPr>
        <p:spPr bwMode="auto">
          <a:xfrm>
            <a:off x="9383820" y="4473550"/>
            <a:ext cx="330200" cy="482600"/>
          </a:xfrm>
          <a:prstGeom prst="rect">
            <a:avLst/>
          </a:prstGeom>
          <a:gradFill rotWithShape="0">
            <a:gsLst>
              <a:gs pos="0">
                <a:srgbClr val="C0C0C0"/>
              </a:gs>
              <a:gs pos="50000">
                <a:srgbClr val="EAEAEA"/>
              </a:gs>
              <a:gs pos="100000">
                <a:srgbClr val="C0C0C0"/>
              </a:gs>
            </a:gsLst>
            <a:lin ang="0" scaled="1"/>
          </a:gradFill>
          <a:ln w="9525">
            <a:solidFill>
              <a:srgbClr val="CC9900"/>
            </a:solidFill>
            <a:miter lim="800000"/>
            <a:headEnd/>
            <a:tailEnd/>
          </a:ln>
        </p:spPr>
        <p:txBody>
          <a:bodyPr wrap="none" anchor="ct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FF"/>
              </a:solidFill>
              <a:effectLst/>
              <a:uLnTx/>
              <a:uFillTx/>
              <a:latin typeface="Times New Roman" panose="02020603050405020304" pitchFamily="18" charset="0"/>
              <a:ea typeface="黑体" panose="02010609060101010101" pitchFamily="49" charset="-122"/>
            </a:endParaRPr>
          </a:p>
        </p:txBody>
      </p:sp>
      <p:sp>
        <p:nvSpPr>
          <p:cNvPr id="102" name="Line 32"/>
          <p:cNvSpPr>
            <a:spLocks noChangeShapeType="1"/>
          </p:cNvSpPr>
          <p:nvPr/>
        </p:nvSpPr>
        <p:spPr bwMode="auto">
          <a:xfrm>
            <a:off x="9564795" y="3990950"/>
            <a:ext cx="0" cy="495300"/>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wrap="none" anchor="ctr"/>
          <a:lstStyle/>
          <a:p>
            <a:pPr algn="ctr"/>
            <a:endParaRPr kumimoji="1" lang="zh-CN" altLang="en-US" b="0" i="0">
              <a:solidFill>
                <a:srgbClr val="0000FF"/>
              </a:solidFill>
              <a:ea typeface="黑体" panose="02010609060101010101" pitchFamily="49" charset="-122"/>
            </a:endParaRPr>
          </a:p>
        </p:txBody>
      </p:sp>
      <p:sp>
        <p:nvSpPr>
          <p:cNvPr id="103" name="Text Box 33"/>
          <p:cNvSpPr txBox="1">
            <a:spLocks noChangeArrowheads="1"/>
          </p:cNvSpPr>
          <p:nvPr/>
        </p:nvSpPr>
        <p:spPr bwMode="auto">
          <a:xfrm>
            <a:off x="9472720" y="3851250"/>
            <a:ext cx="5461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eaLnBrk="1" hangingPunct="1">
              <a:spcBef>
                <a:spcPct val="50000"/>
              </a:spcBef>
            </a:pPr>
            <a:r>
              <a:rPr lang="en-US" altLang="zh-CN">
                <a:solidFill>
                  <a:srgbClr val="FF0000"/>
                </a:solidFill>
                <a:ea typeface="宋体" panose="02010600030101010101" pitchFamily="2" charset="-122"/>
              </a:rPr>
              <a:t>F</a:t>
            </a:r>
            <a:r>
              <a:rPr lang="en-US" altLang="zh-CN" b="0" i="0" baseline="-25000">
                <a:solidFill>
                  <a:srgbClr val="FF0000"/>
                </a:solidFill>
                <a:ea typeface="宋体" panose="02010600030101010101" pitchFamily="2" charset="-122"/>
              </a:rPr>
              <a:t>P</a:t>
            </a:r>
            <a:endParaRPr lang="en-US" altLang="zh-CN" b="0">
              <a:solidFill>
                <a:srgbClr val="FF0000"/>
              </a:solidFill>
              <a:ea typeface="宋体" panose="02010600030101010101" pitchFamily="2" charset="-122"/>
            </a:endParaRPr>
          </a:p>
        </p:txBody>
      </p:sp>
      <p:grpSp>
        <p:nvGrpSpPr>
          <p:cNvPr id="104" name="Group 34"/>
          <p:cNvGrpSpPr>
            <a:grpSpLocks/>
          </p:cNvGrpSpPr>
          <p:nvPr/>
        </p:nvGrpSpPr>
        <p:grpSpPr bwMode="auto">
          <a:xfrm>
            <a:off x="9129820" y="3933800"/>
            <a:ext cx="942975" cy="1022350"/>
            <a:chOff x="2446" y="2862"/>
            <a:chExt cx="594" cy="644"/>
          </a:xfrm>
        </p:grpSpPr>
        <p:sp>
          <p:nvSpPr>
            <p:cNvPr id="105" name="AutoShape 35"/>
            <p:cNvSpPr>
              <a:spLocks noChangeArrowheads="1"/>
            </p:cNvSpPr>
            <p:nvPr/>
          </p:nvSpPr>
          <p:spPr bwMode="auto">
            <a:xfrm>
              <a:off x="2446" y="3386"/>
              <a:ext cx="512" cy="120"/>
            </a:xfrm>
            <a:prstGeom prst="roundRect">
              <a:avLst>
                <a:gd name="adj" fmla="val 44319"/>
              </a:avLst>
            </a:prstGeom>
            <a:gradFill rotWithShape="0">
              <a:gsLst>
                <a:gs pos="0">
                  <a:srgbClr val="C0C0C0"/>
                </a:gs>
                <a:gs pos="50000">
                  <a:srgbClr val="EAEAEA"/>
                </a:gs>
                <a:gs pos="100000">
                  <a:srgbClr val="C0C0C0"/>
                </a:gs>
              </a:gsLst>
              <a:lin ang="0" scaled="1"/>
            </a:gradFill>
            <a:ln w="9525">
              <a:solidFill>
                <a:srgbClr val="CC9900"/>
              </a:solidFill>
              <a:round/>
              <a:headEnd/>
              <a:tailEnd/>
            </a:ln>
          </p:spPr>
          <p:txBody>
            <a:bodyPr wrap="none" anchor="ct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FF"/>
                </a:solidFill>
                <a:effectLst/>
                <a:uLnTx/>
                <a:uFillTx/>
                <a:latin typeface="Times New Roman" panose="02020603050405020304" pitchFamily="18" charset="0"/>
                <a:ea typeface="黑体" panose="02010609060101010101" pitchFamily="49" charset="-122"/>
              </a:endParaRPr>
            </a:p>
          </p:txBody>
        </p:sp>
        <p:sp>
          <p:nvSpPr>
            <p:cNvPr id="106" name="Line 36"/>
            <p:cNvSpPr>
              <a:spLocks noChangeShapeType="1"/>
            </p:cNvSpPr>
            <p:nvPr/>
          </p:nvSpPr>
          <p:spPr bwMode="auto">
            <a:xfrm>
              <a:off x="2718" y="2983"/>
              <a:ext cx="0" cy="435"/>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FF"/>
                </a:solidFill>
                <a:effectLst/>
                <a:uLnTx/>
                <a:uFillTx/>
                <a:ea typeface="黑体" panose="02010609060101010101" pitchFamily="49" charset="-122"/>
              </a:endParaRPr>
            </a:p>
          </p:txBody>
        </p:sp>
        <p:sp>
          <p:nvSpPr>
            <p:cNvPr id="107" name="Text Box 37"/>
            <p:cNvSpPr txBox="1">
              <a:spLocks noChangeArrowheads="1"/>
            </p:cNvSpPr>
            <p:nvPr/>
          </p:nvSpPr>
          <p:spPr bwMode="auto">
            <a:xfrm>
              <a:off x="2696" y="2862"/>
              <a:ext cx="3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1" lang="en-US" altLang="zh-CN" sz="2400" b="0" i="0" u="none" strike="noStrike" kern="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rPr>
                <a:t>F</a:t>
              </a:r>
              <a:r>
                <a:rPr kumimoji="1" lang="en-US" altLang="zh-CN" sz="2400" b="0" i="0" u="none" strike="noStrike" kern="0" cap="none" spc="0" normalizeH="0" baseline="-25000" noProof="0">
                  <a:ln>
                    <a:noFill/>
                  </a:ln>
                  <a:solidFill>
                    <a:srgbClr val="FF0000"/>
                  </a:solidFill>
                  <a:effectLst/>
                  <a:uLnTx/>
                  <a:uFillTx/>
                  <a:latin typeface="Times New Roman" panose="02020603050405020304" pitchFamily="18" charset="0"/>
                  <a:ea typeface="宋体" panose="02010600030101010101" pitchFamily="2" charset="-122"/>
                </a:rPr>
                <a:t>P</a:t>
              </a:r>
              <a:endParaRPr kumimoji="1" lang="en-US" altLang="zh-CN" sz="2400" b="0" i="0" u="none" strike="noStrike" kern="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endParaRPr>
            </a:p>
          </p:txBody>
        </p:sp>
      </p:grpSp>
      <p:sp>
        <p:nvSpPr>
          <p:cNvPr id="108" name="Rectangle 39" descr="宽上对角线"/>
          <p:cNvSpPr>
            <a:spLocks noChangeArrowheads="1"/>
          </p:cNvSpPr>
          <p:nvPr/>
        </p:nvSpPr>
        <p:spPr bwMode="auto">
          <a:xfrm>
            <a:off x="8952020" y="4981550"/>
            <a:ext cx="1146175" cy="106363"/>
          </a:xfrm>
          <a:prstGeom prst="rect">
            <a:avLst/>
          </a:prstGeom>
          <a:pattFill prst="wdUpDiag">
            <a:fgClr>
              <a:srgbClr val="000000"/>
            </a:fgClr>
            <a:bgClr>
              <a:srgbClr val="CC9900"/>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FF"/>
              </a:solidFill>
              <a:effectLst/>
              <a:uLnTx/>
              <a:uFillTx/>
              <a:latin typeface="Times New Roman" panose="02020603050405020304" pitchFamily="18" charset="0"/>
              <a:ea typeface="黑体" panose="02010609060101010101" pitchFamily="49" charset="-122"/>
            </a:endParaRPr>
          </a:p>
        </p:txBody>
      </p:sp>
      <p:sp>
        <p:nvSpPr>
          <p:cNvPr id="109" name="Line 40"/>
          <p:cNvSpPr>
            <a:spLocks noChangeShapeType="1"/>
          </p:cNvSpPr>
          <p:nvPr/>
        </p:nvSpPr>
        <p:spPr bwMode="auto">
          <a:xfrm>
            <a:off x="8940908" y="4964088"/>
            <a:ext cx="114617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FF"/>
              </a:solidFill>
              <a:effectLst/>
              <a:uLnTx/>
              <a:uFillTx/>
              <a:ea typeface="黑体" panose="02010609060101010101" pitchFamily="49" charset="-122"/>
            </a:endParaRPr>
          </a:p>
        </p:txBody>
      </p:sp>
      <p:sp>
        <p:nvSpPr>
          <p:cNvPr id="110" name="Arc 41"/>
          <p:cNvSpPr>
            <a:spLocks noChangeAspect="1"/>
          </p:cNvSpPr>
          <p:nvPr/>
        </p:nvSpPr>
        <p:spPr bwMode="auto">
          <a:xfrm rot="3175183" flipH="1">
            <a:off x="8938526" y="3521844"/>
            <a:ext cx="1322388" cy="1562100"/>
          </a:xfrm>
          <a:custGeom>
            <a:avLst/>
            <a:gdLst>
              <a:gd name="T0" fmla="*/ 20249063 w 21597"/>
              <a:gd name="T1" fmla="*/ 0 h 20914"/>
              <a:gd name="T2" fmla="*/ 80970045 w 21597"/>
              <a:gd name="T3" fmla="*/ 114605955 h 20914"/>
              <a:gd name="T4" fmla="*/ 0 w 21597"/>
              <a:gd name="T5" fmla="*/ 116675733 h 20914"/>
              <a:gd name="T6" fmla="*/ 0 60000 65536"/>
              <a:gd name="T7" fmla="*/ 0 60000 65536"/>
              <a:gd name="T8" fmla="*/ 0 60000 65536"/>
              <a:gd name="T9" fmla="*/ 0 w 21597"/>
              <a:gd name="T10" fmla="*/ 0 h 20914"/>
              <a:gd name="T11" fmla="*/ 21597 w 21597"/>
              <a:gd name="T12" fmla="*/ 20914 h 20914"/>
            </a:gdLst>
            <a:ahLst/>
            <a:cxnLst>
              <a:cxn ang="T6">
                <a:pos x="T0" y="T1"/>
              </a:cxn>
              <a:cxn ang="T7">
                <a:pos x="T2" y="T3"/>
              </a:cxn>
              <a:cxn ang="T8">
                <a:pos x="T4" y="T5"/>
              </a:cxn>
            </a:cxnLst>
            <a:rect l="T9" t="T10" r="T11" b="T12"/>
            <a:pathLst>
              <a:path w="21597" h="20914" fill="none" extrusionOk="0">
                <a:moveTo>
                  <a:pt x="5400" y="0"/>
                </a:moveTo>
                <a:cubicBezTo>
                  <a:pt x="14803" y="2428"/>
                  <a:pt x="21430" y="10833"/>
                  <a:pt x="21596" y="20543"/>
                </a:cubicBezTo>
              </a:path>
              <a:path w="21597" h="20914" stroke="0" extrusionOk="0">
                <a:moveTo>
                  <a:pt x="5400" y="0"/>
                </a:moveTo>
                <a:cubicBezTo>
                  <a:pt x="14803" y="2428"/>
                  <a:pt x="21430" y="10833"/>
                  <a:pt x="21596" y="20543"/>
                </a:cubicBezTo>
                <a:lnTo>
                  <a:pt x="0" y="20914"/>
                </a:lnTo>
                <a:close/>
              </a:path>
            </a:pathLst>
          </a:custGeom>
          <a:noFill/>
          <a:ln w="2857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FF"/>
              </a:solidFill>
              <a:effectLst/>
              <a:uLnTx/>
              <a:uFillTx/>
              <a:ea typeface="黑体" panose="02010609060101010101" pitchFamily="49" charset="-122"/>
            </a:endParaRPr>
          </a:p>
        </p:txBody>
      </p:sp>
      <p:sp>
        <p:nvSpPr>
          <p:cNvPr id="111" name="Arc 42"/>
          <p:cNvSpPr>
            <a:spLocks/>
          </p:cNvSpPr>
          <p:nvPr/>
        </p:nvSpPr>
        <p:spPr bwMode="auto">
          <a:xfrm rot="21312774" flipV="1">
            <a:off x="8366233" y="4122713"/>
            <a:ext cx="371475" cy="150812"/>
          </a:xfrm>
          <a:custGeom>
            <a:avLst/>
            <a:gdLst>
              <a:gd name="T0" fmla="*/ 2267661 w 21143"/>
              <a:gd name="T1" fmla="*/ 0 h 20312"/>
              <a:gd name="T2" fmla="*/ 6526684 w 21143"/>
              <a:gd name="T3" fmla="*/ 876138 h 20312"/>
              <a:gd name="T4" fmla="*/ 0 w 21143"/>
              <a:gd name="T5" fmla="*/ 1119745 h 20312"/>
              <a:gd name="T6" fmla="*/ 0 60000 65536"/>
              <a:gd name="T7" fmla="*/ 0 60000 65536"/>
              <a:gd name="T8" fmla="*/ 0 60000 65536"/>
              <a:gd name="T9" fmla="*/ 0 w 21143"/>
              <a:gd name="T10" fmla="*/ 0 h 20312"/>
              <a:gd name="T11" fmla="*/ 21143 w 21143"/>
              <a:gd name="T12" fmla="*/ 20312 h 20312"/>
            </a:gdLst>
            <a:ahLst/>
            <a:cxnLst>
              <a:cxn ang="T6">
                <a:pos x="T0" y="T1"/>
              </a:cxn>
              <a:cxn ang="T7">
                <a:pos x="T2" y="T3"/>
              </a:cxn>
              <a:cxn ang="T8">
                <a:pos x="T4" y="T5"/>
              </a:cxn>
            </a:cxnLst>
            <a:rect l="T9" t="T10" r="T11" b="T12"/>
            <a:pathLst>
              <a:path w="21143" h="20312" fill="none" extrusionOk="0">
                <a:moveTo>
                  <a:pt x="7346" y="-1"/>
                </a:moveTo>
                <a:cubicBezTo>
                  <a:pt x="14389" y="2546"/>
                  <a:pt x="19610" y="8561"/>
                  <a:pt x="21143" y="15892"/>
                </a:cubicBezTo>
              </a:path>
              <a:path w="21143" h="20312" stroke="0" extrusionOk="0">
                <a:moveTo>
                  <a:pt x="7346" y="-1"/>
                </a:moveTo>
                <a:cubicBezTo>
                  <a:pt x="14389" y="2546"/>
                  <a:pt x="19610" y="8561"/>
                  <a:pt x="21143" y="15892"/>
                </a:cubicBezTo>
                <a:lnTo>
                  <a:pt x="0" y="20312"/>
                </a:lnTo>
                <a:close/>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endParaRPr kumimoji="1" lang="zh-CN" altLang="en-US" b="0" i="0">
              <a:solidFill>
                <a:srgbClr val="0000FF"/>
              </a:solidFill>
              <a:ea typeface="黑体" panose="02010609060101010101" pitchFamily="49" charset="-122"/>
            </a:endParaRPr>
          </a:p>
        </p:txBody>
      </p:sp>
      <p:sp>
        <p:nvSpPr>
          <p:cNvPr id="112" name="Oval 43"/>
          <p:cNvSpPr>
            <a:spLocks noChangeAspect="1" noChangeArrowheads="1"/>
          </p:cNvSpPr>
          <p:nvPr/>
        </p:nvSpPr>
        <p:spPr bwMode="auto">
          <a:xfrm>
            <a:off x="8494820" y="4235425"/>
            <a:ext cx="63500" cy="61913"/>
          </a:xfrm>
          <a:prstGeom prst="ellipse">
            <a:avLst/>
          </a:prstGeom>
          <a:solidFill>
            <a:srgbClr val="FF0000"/>
          </a:solidFill>
          <a:ln w="9525">
            <a:solidFill>
              <a:srgbClr val="FFFFFF"/>
            </a:solidFill>
            <a:round/>
            <a:headEnd/>
            <a:tailEnd/>
          </a:ln>
        </p:spPr>
        <p:txBody>
          <a:bodyPr wrap="none" anchor="ct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FF"/>
              </a:solidFill>
              <a:effectLst/>
              <a:uLnTx/>
              <a:uFillTx/>
              <a:latin typeface="Times New Roman" panose="02020603050405020304" pitchFamily="18" charset="0"/>
              <a:ea typeface="黑体" panose="02010609060101010101" pitchFamily="49" charset="-122"/>
            </a:endParaRPr>
          </a:p>
        </p:txBody>
      </p:sp>
      <p:sp>
        <p:nvSpPr>
          <p:cNvPr id="113" name="Oval 44"/>
          <p:cNvSpPr>
            <a:spLocks noChangeArrowheads="1"/>
          </p:cNvSpPr>
          <p:nvPr/>
        </p:nvSpPr>
        <p:spPr bwMode="auto">
          <a:xfrm>
            <a:off x="10495070" y="4783113"/>
            <a:ext cx="88900" cy="88900"/>
          </a:xfrm>
          <a:prstGeom prst="ellipse">
            <a:avLst/>
          </a:prstGeom>
          <a:solidFill>
            <a:srgbClr val="FB1C05"/>
          </a:solidFill>
          <a:ln w="9525">
            <a:solidFill>
              <a:srgbClr val="FFFFFF"/>
            </a:solidFill>
            <a:round/>
            <a:headEnd/>
            <a:tailEnd/>
          </a:ln>
        </p:spPr>
        <p:txBody>
          <a:bodyPr wrap="none" anchor="ct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FF"/>
              </a:solidFill>
              <a:effectLst/>
              <a:uLnTx/>
              <a:uFillTx/>
              <a:latin typeface="Times New Roman" panose="02020603050405020304" pitchFamily="18" charset="0"/>
              <a:ea typeface="黑体" panose="02010609060101010101" pitchFamily="49" charset="-122"/>
            </a:endParaRPr>
          </a:p>
        </p:txBody>
      </p:sp>
      <p:sp>
        <p:nvSpPr>
          <p:cNvPr id="114" name="Text Box 1032"/>
          <p:cNvSpPr txBox="1">
            <a:spLocks noChangeArrowheads="1"/>
          </p:cNvSpPr>
          <p:nvPr/>
        </p:nvSpPr>
        <p:spPr bwMode="auto">
          <a:xfrm>
            <a:off x="276093" y="4213992"/>
            <a:ext cx="6684003" cy="21605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lnSpc>
                <a:spcPct val="120000"/>
              </a:lnSpc>
            </a:pPr>
            <a:r>
              <a:rPr lang="zh-CN" altLang="en-US" sz="2800" i="0" dirty="0">
                <a:latin typeface="+mj-lt"/>
                <a:ea typeface="微软雅黑" panose="020B0503020204020204" pitchFamily="34" charset="-122"/>
              </a:rPr>
              <a:t>进入强化阶段后，两曲线逐渐分离，压缩曲线上升，此时测不出材料的抗压强度极限。这是因为超过屈服点后试样被越压越扁，横截面面积不断增大的缘故。</a:t>
            </a:r>
          </a:p>
        </p:txBody>
      </p:sp>
      <p:sp>
        <p:nvSpPr>
          <p:cNvPr id="3" name="矩形 2"/>
          <p:cNvSpPr/>
          <p:nvPr/>
        </p:nvSpPr>
        <p:spPr>
          <a:xfrm>
            <a:off x="8466976" y="5754690"/>
            <a:ext cx="2535363" cy="461665"/>
          </a:xfrm>
          <a:prstGeom prst="rect">
            <a:avLst/>
          </a:prstGeom>
        </p:spPr>
        <p:txBody>
          <a:bodyPr wrap="square">
            <a:spAutoFit/>
          </a:bodyPr>
          <a:lstStyle/>
          <a:p>
            <a:pPr eaLnBrk="1" hangingPunct="1">
              <a:spcBef>
                <a:spcPct val="50000"/>
              </a:spcBef>
            </a:pPr>
            <a:r>
              <a:rPr lang="zh-CN" altLang="en-US" i="0" dirty="0">
                <a:solidFill>
                  <a:schemeClr val="tx1"/>
                </a:solidFill>
                <a:latin typeface="微软雅黑" panose="020B0503020204020204" pitchFamily="34" charset="-122"/>
                <a:ea typeface="微软雅黑" panose="020B0503020204020204" pitchFamily="34" charset="-122"/>
              </a:rPr>
              <a:t>低碳钢</a:t>
            </a:r>
            <a:r>
              <a:rPr lang="zh-CN" altLang="en-US" b="0" dirty="0">
                <a:solidFill>
                  <a:schemeClr val="tx1"/>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b="0" dirty="0">
                <a:solidFill>
                  <a:schemeClr val="tx1"/>
                </a:solidFill>
                <a:latin typeface="微软雅黑" panose="020B0503020204020204" pitchFamily="34" charset="-122"/>
                <a:ea typeface="微软雅黑" panose="020B0503020204020204" pitchFamily="34" charset="-122"/>
              </a:rPr>
              <a:t>-</a:t>
            </a:r>
            <a:r>
              <a:rPr lang="en-US" altLang="zh-CN" b="0" dirty="0">
                <a:solidFill>
                  <a:schemeClr val="tx1"/>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i="0" dirty="0">
                <a:solidFill>
                  <a:schemeClr val="tx1"/>
                </a:solidFill>
                <a:latin typeface="微软雅黑" panose="020B0503020204020204" pitchFamily="34" charset="-122"/>
                <a:ea typeface="微软雅黑" panose="020B0503020204020204" pitchFamily="34" charset="-122"/>
                <a:sym typeface="Symbol" panose="05050102010706020507" pitchFamily="18" charset="2"/>
              </a:rPr>
              <a:t> </a:t>
            </a:r>
            <a:r>
              <a:rPr lang="zh-CN" altLang="en-US" i="0" dirty="0">
                <a:solidFill>
                  <a:schemeClr val="tx1"/>
                </a:solidFill>
                <a:latin typeface="微软雅黑" panose="020B0503020204020204" pitchFamily="34" charset="-122"/>
                <a:ea typeface="微软雅黑" panose="020B0503020204020204" pitchFamily="34" charset="-122"/>
              </a:rPr>
              <a:t>曲线</a:t>
            </a:r>
            <a:endParaRPr lang="zh-CN" altLang="en-US" i="0" dirty="0">
              <a:solidFill>
                <a:schemeClr val="tx1"/>
              </a:solidFill>
              <a:ea typeface="微软雅黑" panose="020B0503020204020204" pitchFamily="34" charset="-122"/>
            </a:endParaRPr>
          </a:p>
        </p:txBody>
      </p:sp>
    </p:spTree>
    <p:extLst>
      <p:ext uri="{BB962C8B-B14F-4D97-AF65-F5344CB8AC3E}">
        <p14:creationId xmlns:p14="http://schemas.microsoft.com/office/powerpoint/2010/main" val="4237521920"/>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5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7" presetClass="entr" presetSubtype="8" fill="hold" grpId="0" nodeType="clickEffect">
                                  <p:stCondLst>
                                    <p:cond delay="0"/>
                                  </p:stCondLst>
                                  <p:childTnLst>
                                    <p:set>
                                      <p:cBhvr>
                                        <p:cTn id="14" dur="1" fill="hold">
                                          <p:stCondLst>
                                            <p:cond delay="0"/>
                                          </p:stCondLst>
                                        </p:cTn>
                                        <p:tgtEl>
                                          <p:spTgt spid="76"/>
                                        </p:tgtEl>
                                        <p:attrNameLst>
                                          <p:attrName>style.visibility</p:attrName>
                                        </p:attrNameLst>
                                      </p:cBhvr>
                                      <p:to>
                                        <p:strVal val="visible"/>
                                      </p:to>
                                    </p:set>
                                    <p:anim calcmode="lin" valueType="num">
                                      <p:cBhvr>
                                        <p:cTn id="15" dur="500" fill="hold"/>
                                        <p:tgtEl>
                                          <p:spTgt spid="76"/>
                                        </p:tgtEl>
                                        <p:attrNameLst>
                                          <p:attrName>ppt_x</p:attrName>
                                        </p:attrNameLst>
                                      </p:cBhvr>
                                      <p:tavLst>
                                        <p:tav tm="0">
                                          <p:val>
                                            <p:strVal val="#ppt_x-#ppt_w/2"/>
                                          </p:val>
                                        </p:tav>
                                        <p:tav tm="100000">
                                          <p:val>
                                            <p:strVal val="#ppt_x"/>
                                          </p:val>
                                        </p:tav>
                                      </p:tavLst>
                                    </p:anim>
                                    <p:anim calcmode="lin" valueType="num">
                                      <p:cBhvr>
                                        <p:cTn id="16" dur="500" fill="hold"/>
                                        <p:tgtEl>
                                          <p:spTgt spid="76"/>
                                        </p:tgtEl>
                                        <p:attrNameLst>
                                          <p:attrName>ppt_y</p:attrName>
                                        </p:attrNameLst>
                                      </p:cBhvr>
                                      <p:tavLst>
                                        <p:tav tm="0">
                                          <p:val>
                                            <p:strVal val="#ppt_y"/>
                                          </p:val>
                                        </p:tav>
                                        <p:tav tm="100000">
                                          <p:val>
                                            <p:strVal val="#ppt_y"/>
                                          </p:val>
                                        </p:tav>
                                      </p:tavLst>
                                    </p:anim>
                                    <p:anim calcmode="lin" valueType="num">
                                      <p:cBhvr>
                                        <p:cTn id="17" dur="500" fill="hold"/>
                                        <p:tgtEl>
                                          <p:spTgt spid="76"/>
                                        </p:tgtEl>
                                        <p:attrNameLst>
                                          <p:attrName>ppt_w</p:attrName>
                                        </p:attrNameLst>
                                      </p:cBhvr>
                                      <p:tavLst>
                                        <p:tav tm="0">
                                          <p:val>
                                            <p:fltVal val="0"/>
                                          </p:val>
                                        </p:tav>
                                        <p:tav tm="100000">
                                          <p:val>
                                            <p:strVal val="#ppt_w"/>
                                          </p:val>
                                        </p:tav>
                                      </p:tavLst>
                                    </p:anim>
                                    <p:anim calcmode="lin" valueType="num">
                                      <p:cBhvr>
                                        <p:cTn id="18" dur="500" fill="hold"/>
                                        <p:tgtEl>
                                          <p:spTgt spid="76"/>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3"/>
                                            </p:cond>
                                          </p:stCondLst>
                                          <p:endCondLst>
                                            <p:cond evt="onStopAudio" delay="0">
                                              <p:tgtEl>
                                                <p:sldTgt/>
                                              </p:tgtEl>
                                            </p:cond>
                                          </p:endCondLst>
                                        </p:cTn>
                                        <p:tgtEl>
                                          <p:sndTgt r:embed="rId3" name="CHIMES.WAV"/>
                                        </p:tgtEl>
                                      </p:cMediaNode>
                                    </p:audio>
                                  </p:subTnLst>
                                </p:cTn>
                              </p:par>
                            </p:childTnLst>
                          </p:cTn>
                        </p:par>
                        <p:par>
                          <p:cTn id="19" fill="hold">
                            <p:stCondLst>
                              <p:cond delay="500"/>
                            </p:stCondLst>
                            <p:childTnLst>
                              <p:par>
                                <p:cTn id="20" presetID="17" presetClass="entr" presetSubtype="4" fill="hold" grpId="0" nodeType="afterEffect">
                                  <p:stCondLst>
                                    <p:cond delay="500"/>
                                  </p:stCondLst>
                                  <p:childTnLst>
                                    <p:set>
                                      <p:cBhvr>
                                        <p:cTn id="21" dur="1" fill="hold">
                                          <p:stCondLst>
                                            <p:cond delay="0"/>
                                          </p:stCondLst>
                                        </p:cTn>
                                        <p:tgtEl>
                                          <p:spTgt spid="77"/>
                                        </p:tgtEl>
                                        <p:attrNameLst>
                                          <p:attrName>style.visibility</p:attrName>
                                        </p:attrNameLst>
                                      </p:cBhvr>
                                      <p:to>
                                        <p:strVal val="visible"/>
                                      </p:to>
                                    </p:set>
                                    <p:anim calcmode="lin" valueType="num">
                                      <p:cBhvr>
                                        <p:cTn id="22" dur="500" fill="hold"/>
                                        <p:tgtEl>
                                          <p:spTgt spid="77"/>
                                        </p:tgtEl>
                                        <p:attrNameLst>
                                          <p:attrName>ppt_x</p:attrName>
                                        </p:attrNameLst>
                                      </p:cBhvr>
                                      <p:tavLst>
                                        <p:tav tm="0">
                                          <p:val>
                                            <p:strVal val="#ppt_x"/>
                                          </p:val>
                                        </p:tav>
                                        <p:tav tm="100000">
                                          <p:val>
                                            <p:strVal val="#ppt_x"/>
                                          </p:val>
                                        </p:tav>
                                      </p:tavLst>
                                    </p:anim>
                                    <p:anim calcmode="lin" valueType="num">
                                      <p:cBhvr>
                                        <p:cTn id="23" dur="500" fill="hold"/>
                                        <p:tgtEl>
                                          <p:spTgt spid="77"/>
                                        </p:tgtEl>
                                        <p:attrNameLst>
                                          <p:attrName>ppt_y</p:attrName>
                                        </p:attrNameLst>
                                      </p:cBhvr>
                                      <p:tavLst>
                                        <p:tav tm="0">
                                          <p:val>
                                            <p:strVal val="#ppt_y+#ppt_h/2"/>
                                          </p:val>
                                        </p:tav>
                                        <p:tav tm="100000">
                                          <p:val>
                                            <p:strVal val="#ppt_y"/>
                                          </p:val>
                                        </p:tav>
                                      </p:tavLst>
                                    </p:anim>
                                    <p:anim calcmode="lin" valueType="num">
                                      <p:cBhvr>
                                        <p:cTn id="24" dur="500" fill="hold"/>
                                        <p:tgtEl>
                                          <p:spTgt spid="77"/>
                                        </p:tgtEl>
                                        <p:attrNameLst>
                                          <p:attrName>ppt_w</p:attrName>
                                        </p:attrNameLst>
                                      </p:cBhvr>
                                      <p:tavLst>
                                        <p:tav tm="0">
                                          <p:val>
                                            <p:strVal val="#ppt_w"/>
                                          </p:val>
                                        </p:tav>
                                        <p:tav tm="100000">
                                          <p:val>
                                            <p:strVal val="#ppt_w"/>
                                          </p:val>
                                        </p:tav>
                                      </p:tavLst>
                                    </p:anim>
                                    <p:anim calcmode="lin" valueType="num">
                                      <p:cBhvr>
                                        <p:cTn id="25" dur="500" fill="hold"/>
                                        <p:tgtEl>
                                          <p:spTgt spid="77"/>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20"/>
                                            </p:cond>
                                          </p:stCondLst>
                                          <p:endCondLst>
                                            <p:cond evt="onStopAudio" delay="0">
                                              <p:tgtEl>
                                                <p:sldTgt/>
                                              </p:tgtEl>
                                            </p:cond>
                                          </p:endCondLst>
                                        </p:cTn>
                                        <p:tgtEl>
                                          <p:sndTgt r:embed="rId3" name="CHIMES.WAV"/>
                                        </p:tgtEl>
                                      </p:cMediaNode>
                                    </p:audio>
                                  </p:subTnLst>
                                </p:cTn>
                              </p:par>
                            </p:childTnLst>
                          </p:cTn>
                        </p:par>
                        <p:par>
                          <p:cTn id="26" fill="hold">
                            <p:stCondLst>
                              <p:cond delay="1500"/>
                            </p:stCondLst>
                            <p:childTnLst>
                              <p:par>
                                <p:cTn id="27" presetID="17" presetClass="entr" presetSubtype="10" fill="hold" grpId="0" nodeType="afterEffect">
                                  <p:stCondLst>
                                    <p:cond delay="500"/>
                                  </p:stCondLst>
                                  <p:childTnLst>
                                    <p:set>
                                      <p:cBhvr>
                                        <p:cTn id="28" dur="1" fill="hold">
                                          <p:stCondLst>
                                            <p:cond delay="0"/>
                                          </p:stCondLst>
                                        </p:cTn>
                                        <p:tgtEl>
                                          <p:spTgt spid="78"/>
                                        </p:tgtEl>
                                        <p:attrNameLst>
                                          <p:attrName>style.visibility</p:attrName>
                                        </p:attrNameLst>
                                      </p:cBhvr>
                                      <p:to>
                                        <p:strVal val="visible"/>
                                      </p:to>
                                    </p:set>
                                    <p:anim calcmode="lin" valueType="num">
                                      <p:cBhvr>
                                        <p:cTn id="29" dur="500" fill="hold"/>
                                        <p:tgtEl>
                                          <p:spTgt spid="78"/>
                                        </p:tgtEl>
                                        <p:attrNameLst>
                                          <p:attrName>ppt_w</p:attrName>
                                        </p:attrNameLst>
                                      </p:cBhvr>
                                      <p:tavLst>
                                        <p:tav tm="0">
                                          <p:val>
                                            <p:fltVal val="0"/>
                                          </p:val>
                                        </p:tav>
                                        <p:tav tm="100000">
                                          <p:val>
                                            <p:strVal val="#ppt_w"/>
                                          </p:val>
                                        </p:tav>
                                      </p:tavLst>
                                    </p:anim>
                                    <p:anim calcmode="lin" valueType="num">
                                      <p:cBhvr>
                                        <p:cTn id="30" dur="500" fill="hold"/>
                                        <p:tgtEl>
                                          <p:spTgt spid="78"/>
                                        </p:tgtEl>
                                        <p:attrNameLst>
                                          <p:attrName>ppt_h</p:attrName>
                                        </p:attrNameLst>
                                      </p:cBhvr>
                                      <p:tavLst>
                                        <p:tav tm="0">
                                          <p:val>
                                            <p:strVal val="#ppt_h"/>
                                          </p:val>
                                        </p:tav>
                                        <p:tav tm="100000">
                                          <p:val>
                                            <p:strVal val="#ppt_h"/>
                                          </p:val>
                                        </p:tav>
                                      </p:tavLst>
                                    </p:anim>
                                  </p:childTnLst>
                                </p:cTn>
                              </p:par>
                            </p:childTnLst>
                          </p:cTn>
                        </p:par>
                        <p:par>
                          <p:cTn id="31" fill="hold">
                            <p:stCondLst>
                              <p:cond delay="2500"/>
                            </p:stCondLst>
                            <p:childTnLst>
                              <p:par>
                                <p:cTn id="32" presetID="17" presetClass="entr" presetSubtype="10" fill="hold" grpId="0" nodeType="afterEffect">
                                  <p:stCondLst>
                                    <p:cond delay="500"/>
                                  </p:stCondLst>
                                  <p:childTnLst>
                                    <p:set>
                                      <p:cBhvr>
                                        <p:cTn id="33" dur="1" fill="hold">
                                          <p:stCondLst>
                                            <p:cond delay="0"/>
                                          </p:stCondLst>
                                        </p:cTn>
                                        <p:tgtEl>
                                          <p:spTgt spid="89"/>
                                        </p:tgtEl>
                                        <p:attrNameLst>
                                          <p:attrName>style.visibility</p:attrName>
                                        </p:attrNameLst>
                                      </p:cBhvr>
                                      <p:to>
                                        <p:strVal val="visible"/>
                                      </p:to>
                                    </p:set>
                                    <p:anim calcmode="lin" valueType="num">
                                      <p:cBhvr>
                                        <p:cTn id="34" dur="500" fill="hold"/>
                                        <p:tgtEl>
                                          <p:spTgt spid="89"/>
                                        </p:tgtEl>
                                        <p:attrNameLst>
                                          <p:attrName>ppt_w</p:attrName>
                                        </p:attrNameLst>
                                      </p:cBhvr>
                                      <p:tavLst>
                                        <p:tav tm="0">
                                          <p:val>
                                            <p:fltVal val="0"/>
                                          </p:val>
                                        </p:tav>
                                        <p:tav tm="100000">
                                          <p:val>
                                            <p:strVal val="#ppt_w"/>
                                          </p:val>
                                        </p:tav>
                                      </p:tavLst>
                                    </p:anim>
                                    <p:anim calcmode="lin" valueType="num">
                                      <p:cBhvr>
                                        <p:cTn id="35" dur="500" fill="hold"/>
                                        <p:tgtEl>
                                          <p:spTgt spid="89"/>
                                        </p:tgtEl>
                                        <p:attrNameLst>
                                          <p:attrName>ppt_h</p:attrName>
                                        </p:attrNameLst>
                                      </p:cBhvr>
                                      <p:tavLst>
                                        <p:tav tm="0">
                                          <p:val>
                                            <p:strVal val="#ppt_h"/>
                                          </p:val>
                                        </p:tav>
                                        <p:tav tm="100000">
                                          <p:val>
                                            <p:strVal val="#ppt_h"/>
                                          </p:val>
                                        </p:tav>
                                      </p:tavLst>
                                    </p:anim>
                                  </p:childTnLst>
                                </p:cTn>
                              </p:par>
                            </p:childTnLst>
                          </p:cTn>
                        </p:par>
                        <p:par>
                          <p:cTn id="36" fill="hold">
                            <p:stCondLst>
                              <p:cond delay="3500"/>
                            </p:stCondLst>
                            <p:childTnLst>
                              <p:par>
                                <p:cTn id="37" presetID="23" presetClass="entr" presetSubtype="272" fill="hold" grpId="0" nodeType="afterEffect">
                                  <p:stCondLst>
                                    <p:cond delay="300"/>
                                  </p:stCondLst>
                                  <p:childTnLst>
                                    <p:set>
                                      <p:cBhvr>
                                        <p:cTn id="38" dur="1" fill="hold">
                                          <p:stCondLst>
                                            <p:cond delay="0"/>
                                          </p:stCondLst>
                                        </p:cTn>
                                        <p:tgtEl>
                                          <p:spTgt spid="81"/>
                                        </p:tgtEl>
                                        <p:attrNameLst>
                                          <p:attrName>style.visibility</p:attrName>
                                        </p:attrNameLst>
                                      </p:cBhvr>
                                      <p:to>
                                        <p:strVal val="visible"/>
                                      </p:to>
                                    </p:set>
                                    <p:anim calcmode="lin" valueType="num">
                                      <p:cBhvr>
                                        <p:cTn id="39" dur="500" fill="hold"/>
                                        <p:tgtEl>
                                          <p:spTgt spid="81"/>
                                        </p:tgtEl>
                                        <p:attrNameLst>
                                          <p:attrName>ppt_w</p:attrName>
                                        </p:attrNameLst>
                                      </p:cBhvr>
                                      <p:tavLst>
                                        <p:tav tm="0">
                                          <p:val>
                                            <p:strVal val="2/3*#ppt_w"/>
                                          </p:val>
                                        </p:tav>
                                        <p:tav tm="100000">
                                          <p:val>
                                            <p:strVal val="#ppt_w"/>
                                          </p:val>
                                        </p:tav>
                                      </p:tavLst>
                                    </p:anim>
                                    <p:anim calcmode="lin" valueType="num">
                                      <p:cBhvr>
                                        <p:cTn id="40" dur="500" fill="hold"/>
                                        <p:tgtEl>
                                          <p:spTgt spid="81"/>
                                        </p:tgtEl>
                                        <p:attrNameLst>
                                          <p:attrName>ppt_h</p:attrName>
                                        </p:attrNameLst>
                                      </p:cBhvr>
                                      <p:tavLst>
                                        <p:tav tm="0">
                                          <p:val>
                                            <p:strVal val="2/3*#ppt_h"/>
                                          </p:val>
                                        </p:tav>
                                        <p:tav tm="100000">
                                          <p:val>
                                            <p:strVal val="#ppt_h"/>
                                          </p:val>
                                        </p:tav>
                                      </p:tavLst>
                                    </p:anim>
                                  </p:childTnLst>
                                  <p:subTnLst>
                                    <p:audio>
                                      <p:cMediaNode>
                                        <p:cTn display="0" masterRel="sameClick">
                                          <p:stCondLst>
                                            <p:cond evt="begin" delay="0">
                                              <p:tn val="37"/>
                                            </p:cond>
                                          </p:stCondLst>
                                          <p:endCondLst>
                                            <p:cond evt="onStopAudio" delay="0">
                                              <p:tgtEl>
                                                <p:sldTgt/>
                                              </p:tgtEl>
                                            </p:cond>
                                          </p:endCondLst>
                                        </p:cTn>
                                        <p:tgtEl>
                                          <p:sndTgt r:embed="rId3" name="CHIMES.WAV"/>
                                        </p:tgtEl>
                                      </p:cMediaNode>
                                    </p:audio>
                                  </p:subTnLst>
                                </p:cTn>
                              </p:par>
                            </p:childTnLst>
                          </p:cTn>
                        </p:par>
                        <p:par>
                          <p:cTn id="41" fill="hold">
                            <p:stCondLst>
                              <p:cond delay="4300"/>
                            </p:stCondLst>
                            <p:childTnLst>
                              <p:par>
                                <p:cTn id="42" presetID="23" presetClass="entr" presetSubtype="272" fill="hold" grpId="0" nodeType="afterEffect">
                                  <p:stCondLst>
                                    <p:cond delay="300"/>
                                  </p:stCondLst>
                                  <p:childTnLst>
                                    <p:set>
                                      <p:cBhvr>
                                        <p:cTn id="43" dur="1" fill="hold">
                                          <p:stCondLst>
                                            <p:cond delay="0"/>
                                          </p:stCondLst>
                                        </p:cTn>
                                        <p:tgtEl>
                                          <p:spTgt spid="82"/>
                                        </p:tgtEl>
                                        <p:attrNameLst>
                                          <p:attrName>style.visibility</p:attrName>
                                        </p:attrNameLst>
                                      </p:cBhvr>
                                      <p:to>
                                        <p:strVal val="visible"/>
                                      </p:to>
                                    </p:set>
                                    <p:anim calcmode="lin" valueType="num">
                                      <p:cBhvr>
                                        <p:cTn id="44" dur="500" fill="hold"/>
                                        <p:tgtEl>
                                          <p:spTgt spid="82"/>
                                        </p:tgtEl>
                                        <p:attrNameLst>
                                          <p:attrName>ppt_w</p:attrName>
                                        </p:attrNameLst>
                                      </p:cBhvr>
                                      <p:tavLst>
                                        <p:tav tm="0">
                                          <p:val>
                                            <p:strVal val="2/3*#ppt_w"/>
                                          </p:val>
                                        </p:tav>
                                        <p:tav tm="100000">
                                          <p:val>
                                            <p:strVal val="#ppt_w"/>
                                          </p:val>
                                        </p:tav>
                                      </p:tavLst>
                                    </p:anim>
                                    <p:anim calcmode="lin" valueType="num">
                                      <p:cBhvr>
                                        <p:cTn id="45" dur="500" fill="hold"/>
                                        <p:tgtEl>
                                          <p:spTgt spid="82"/>
                                        </p:tgtEl>
                                        <p:attrNameLst>
                                          <p:attrName>ppt_h</p:attrName>
                                        </p:attrNameLst>
                                      </p:cBhvr>
                                      <p:tavLst>
                                        <p:tav tm="0">
                                          <p:val>
                                            <p:strVal val="2/3*#ppt_h"/>
                                          </p:val>
                                        </p:tav>
                                        <p:tav tm="100000">
                                          <p:val>
                                            <p:strVal val="#ppt_h"/>
                                          </p:val>
                                        </p:tav>
                                      </p:tavLst>
                                    </p:anim>
                                  </p:childTnLst>
                                  <p:subTnLst>
                                    <p:audio>
                                      <p:cMediaNode>
                                        <p:cTn display="0" masterRel="sameClick">
                                          <p:stCondLst>
                                            <p:cond evt="begin" delay="0">
                                              <p:tn val="42"/>
                                            </p:cond>
                                          </p:stCondLst>
                                          <p:endCondLst>
                                            <p:cond evt="onStopAudio" delay="0">
                                              <p:tgtEl>
                                                <p:sldTgt/>
                                              </p:tgtEl>
                                            </p:cond>
                                          </p:endCondLst>
                                        </p:cTn>
                                        <p:tgtEl>
                                          <p:sndTgt r:embed="rId3" name="CHIMES.WAV"/>
                                        </p:tgtEl>
                                      </p:cMediaNode>
                                    </p:audio>
                                  </p:subTnLst>
                                </p:cTn>
                              </p:par>
                            </p:childTnLst>
                          </p:cTn>
                        </p:par>
                        <p:par>
                          <p:cTn id="46" fill="hold">
                            <p:stCondLst>
                              <p:cond delay="5100"/>
                            </p:stCondLst>
                            <p:childTnLst>
                              <p:par>
                                <p:cTn id="47" presetID="23" presetClass="entr" presetSubtype="272" fill="hold" grpId="0" nodeType="afterEffect">
                                  <p:stCondLst>
                                    <p:cond delay="300"/>
                                  </p:stCondLst>
                                  <p:childTnLst>
                                    <p:set>
                                      <p:cBhvr>
                                        <p:cTn id="48" dur="1" fill="hold">
                                          <p:stCondLst>
                                            <p:cond delay="0"/>
                                          </p:stCondLst>
                                        </p:cTn>
                                        <p:tgtEl>
                                          <p:spTgt spid="83"/>
                                        </p:tgtEl>
                                        <p:attrNameLst>
                                          <p:attrName>style.visibility</p:attrName>
                                        </p:attrNameLst>
                                      </p:cBhvr>
                                      <p:to>
                                        <p:strVal val="visible"/>
                                      </p:to>
                                    </p:set>
                                    <p:anim calcmode="lin" valueType="num">
                                      <p:cBhvr>
                                        <p:cTn id="49" dur="500" fill="hold"/>
                                        <p:tgtEl>
                                          <p:spTgt spid="83"/>
                                        </p:tgtEl>
                                        <p:attrNameLst>
                                          <p:attrName>ppt_w</p:attrName>
                                        </p:attrNameLst>
                                      </p:cBhvr>
                                      <p:tavLst>
                                        <p:tav tm="0">
                                          <p:val>
                                            <p:strVal val="2/3*#ppt_w"/>
                                          </p:val>
                                        </p:tav>
                                        <p:tav tm="100000">
                                          <p:val>
                                            <p:strVal val="#ppt_w"/>
                                          </p:val>
                                        </p:tav>
                                      </p:tavLst>
                                    </p:anim>
                                    <p:anim calcmode="lin" valueType="num">
                                      <p:cBhvr>
                                        <p:cTn id="50" dur="500" fill="hold"/>
                                        <p:tgtEl>
                                          <p:spTgt spid="83"/>
                                        </p:tgtEl>
                                        <p:attrNameLst>
                                          <p:attrName>ppt_h</p:attrName>
                                        </p:attrNameLst>
                                      </p:cBhvr>
                                      <p:tavLst>
                                        <p:tav tm="0">
                                          <p:val>
                                            <p:strVal val="2/3*#ppt_h"/>
                                          </p:val>
                                        </p:tav>
                                        <p:tav tm="100000">
                                          <p:val>
                                            <p:strVal val="#ppt_h"/>
                                          </p:val>
                                        </p:tav>
                                      </p:tavLst>
                                    </p:anim>
                                  </p:childTnLst>
                                  <p:subTnLst>
                                    <p:audio>
                                      <p:cMediaNode>
                                        <p:cTn display="0" masterRel="sameClick">
                                          <p:stCondLst>
                                            <p:cond evt="begin" delay="0">
                                              <p:tn val="47"/>
                                            </p:cond>
                                          </p:stCondLst>
                                          <p:endCondLst>
                                            <p:cond evt="onStopAudio" delay="0">
                                              <p:tgtEl>
                                                <p:sldTgt/>
                                              </p:tgtEl>
                                            </p:cond>
                                          </p:endCondLst>
                                        </p:cTn>
                                        <p:tgtEl>
                                          <p:sndTgt r:embed="rId3" name="CHIMES.WAV"/>
                                        </p:tgtEl>
                                      </p:cMediaNode>
                                    </p:audio>
                                  </p:subTnLst>
                                </p:cTn>
                              </p:par>
                            </p:childTnLst>
                          </p:cTn>
                        </p:par>
                        <p:par>
                          <p:cTn id="51" fill="hold">
                            <p:stCondLst>
                              <p:cond delay="5900"/>
                            </p:stCondLst>
                            <p:childTnLst>
                              <p:par>
                                <p:cTn id="52" presetID="23" presetClass="entr" presetSubtype="272" fill="hold" grpId="0" nodeType="afterEffect">
                                  <p:stCondLst>
                                    <p:cond delay="300"/>
                                  </p:stCondLst>
                                  <p:childTnLst>
                                    <p:set>
                                      <p:cBhvr>
                                        <p:cTn id="53" dur="1" fill="hold">
                                          <p:stCondLst>
                                            <p:cond delay="0"/>
                                          </p:stCondLst>
                                        </p:cTn>
                                        <p:tgtEl>
                                          <p:spTgt spid="90"/>
                                        </p:tgtEl>
                                        <p:attrNameLst>
                                          <p:attrName>style.visibility</p:attrName>
                                        </p:attrNameLst>
                                      </p:cBhvr>
                                      <p:to>
                                        <p:strVal val="visible"/>
                                      </p:to>
                                    </p:set>
                                    <p:anim calcmode="lin" valueType="num">
                                      <p:cBhvr>
                                        <p:cTn id="54" dur="500" fill="hold"/>
                                        <p:tgtEl>
                                          <p:spTgt spid="90"/>
                                        </p:tgtEl>
                                        <p:attrNameLst>
                                          <p:attrName>ppt_w</p:attrName>
                                        </p:attrNameLst>
                                      </p:cBhvr>
                                      <p:tavLst>
                                        <p:tav tm="0">
                                          <p:val>
                                            <p:strVal val="2/3*#ppt_w"/>
                                          </p:val>
                                        </p:tav>
                                        <p:tav tm="100000">
                                          <p:val>
                                            <p:strVal val="#ppt_w"/>
                                          </p:val>
                                        </p:tav>
                                      </p:tavLst>
                                    </p:anim>
                                    <p:anim calcmode="lin" valueType="num">
                                      <p:cBhvr>
                                        <p:cTn id="55" dur="500" fill="hold"/>
                                        <p:tgtEl>
                                          <p:spTgt spid="90"/>
                                        </p:tgtEl>
                                        <p:attrNameLst>
                                          <p:attrName>ppt_h</p:attrName>
                                        </p:attrNameLst>
                                      </p:cBhvr>
                                      <p:tavLst>
                                        <p:tav tm="0">
                                          <p:val>
                                            <p:strVal val="2/3*#ppt_h"/>
                                          </p:val>
                                        </p:tav>
                                        <p:tav tm="100000">
                                          <p:val>
                                            <p:strVal val="#ppt_h"/>
                                          </p:val>
                                        </p:tav>
                                      </p:tavLst>
                                    </p:anim>
                                  </p:childTnLst>
                                  <p:subTnLst>
                                    <p:audio>
                                      <p:cMediaNode>
                                        <p:cTn display="0" masterRel="sameClick">
                                          <p:stCondLst>
                                            <p:cond evt="begin" delay="0">
                                              <p:tn val="52"/>
                                            </p:cond>
                                          </p:stCondLst>
                                          <p:endCondLst>
                                            <p:cond evt="onStopAudio" delay="0">
                                              <p:tgtEl>
                                                <p:sldTgt/>
                                              </p:tgtEl>
                                            </p:cond>
                                          </p:endCondLst>
                                        </p:cTn>
                                        <p:tgtEl>
                                          <p:sndTgt r:embed="rId3" name="CHIMES.WAV"/>
                                        </p:tgtEl>
                                      </p:cMediaNode>
                                    </p:audio>
                                  </p:subTnLst>
                                </p:cTn>
                              </p:par>
                            </p:childTnLst>
                          </p:cTn>
                        </p:par>
                        <p:par>
                          <p:cTn id="56" fill="hold">
                            <p:stCondLst>
                              <p:cond delay="6700"/>
                            </p:stCondLst>
                            <p:childTnLst>
                              <p:par>
                                <p:cTn id="57" presetID="23" presetClass="entr" presetSubtype="272" fill="hold" grpId="0" nodeType="afterEffect">
                                  <p:stCondLst>
                                    <p:cond delay="300"/>
                                  </p:stCondLst>
                                  <p:childTnLst>
                                    <p:set>
                                      <p:cBhvr>
                                        <p:cTn id="58" dur="1" fill="hold">
                                          <p:stCondLst>
                                            <p:cond delay="0"/>
                                          </p:stCondLst>
                                        </p:cTn>
                                        <p:tgtEl>
                                          <p:spTgt spid="93"/>
                                        </p:tgtEl>
                                        <p:attrNameLst>
                                          <p:attrName>style.visibility</p:attrName>
                                        </p:attrNameLst>
                                      </p:cBhvr>
                                      <p:to>
                                        <p:strVal val="visible"/>
                                      </p:to>
                                    </p:set>
                                    <p:anim calcmode="lin" valueType="num">
                                      <p:cBhvr>
                                        <p:cTn id="59" dur="500" fill="hold"/>
                                        <p:tgtEl>
                                          <p:spTgt spid="93"/>
                                        </p:tgtEl>
                                        <p:attrNameLst>
                                          <p:attrName>ppt_w</p:attrName>
                                        </p:attrNameLst>
                                      </p:cBhvr>
                                      <p:tavLst>
                                        <p:tav tm="0">
                                          <p:val>
                                            <p:strVal val="2/3*#ppt_w"/>
                                          </p:val>
                                        </p:tav>
                                        <p:tav tm="100000">
                                          <p:val>
                                            <p:strVal val="#ppt_w"/>
                                          </p:val>
                                        </p:tav>
                                      </p:tavLst>
                                    </p:anim>
                                    <p:anim calcmode="lin" valueType="num">
                                      <p:cBhvr>
                                        <p:cTn id="60" dur="500" fill="hold"/>
                                        <p:tgtEl>
                                          <p:spTgt spid="93"/>
                                        </p:tgtEl>
                                        <p:attrNameLst>
                                          <p:attrName>ppt_h</p:attrName>
                                        </p:attrNameLst>
                                      </p:cBhvr>
                                      <p:tavLst>
                                        <p:tav tm="0">
                                          <p:val>
                                            <p:strVal val="2/3*#ppt_h"/>
                                          </p:val>
                                        </p:tav>
                                        <p:tav tm="100000">
                                          <p:val>
                                            <p:strVal val="#ppt_h"/>
                                          </p:val>
                                        </p:tav>
                                      </p:tavLst>
                                    </p:anim>
                                  </p:childTnLst>
                                  <p:subTnLst>
                                    <p:audio>
                                      <p:cMediaNode>
                                        <p:cTn display="0" masterRel="sameClick">
                                          <p:stCondLst>
                                            <p:cond evt="begin" delay="0">
                                              <p:tn val="57"/>
                                            </p:cond>
                                          </p:stCondLst>
                                          <p:endCondLst>
                                            <p:cond evt="onStopAudio" delay="0">
                                              <p:tgtEl>
                                                <p:sldTgt/>
                                              </p:tgtEl>
                                            </p:cond>
                                          </p:endCondLst>
                                        </p:cTn>
                                        <p:tgtEl>
                                          <p:sndTgt r:embed="rId3" name="CHIMES.WAV"/>
                                        </p:tgtEl>
                                      </p:cMediaNode>
                                    </p:audio>
                                  </p:subTnLst>
                                </p:cTn>
                              </p:par>
                            </p:childTnLst>
                          </p:cTn>
                        </p:par>
                        <p:par>
                          <p:cTn id="61" fill="hold">
                            <p:stCondLst>
                              <p:cond delay="7500"/>
                            </p:stCondLst>
                            <p:childTnLst>
                              <p:par>
                                <p:cTn id="62" presetID="23" presetClass="entr" presetSubtype="272" fill="hold" grpId="0" nodeType="afterEffect">
                                  <p:stCondLst>
                                    <p:cond delay="300"/>
                                  </p:stCondLst>
                                  <p:childTnLst>
                                    <p:set>
                                      <p:cBhvr>
                                        <p:cTn id="63" dur="1" fill="hold">
                                          <p:stCondLst>
                                            <p:cond delay="0"/>
                                          </p:stCondLst>
                                        </p:cTn>
                                        <p:tgtEl>
                                          <p:spTgt spid="84"/>
                                        </p:tgtEl>
                                        <p:attrNameLst>
                                          <p:attrName>style.visibility</p:attrName>
                                        </p:attrNameLst>
                                      </p:cBhvr>
                                      <p:to>
                                        <p:strVal val="visible"/>
                                      </p:to>
                                    </p:set>
                                    <p:anim calcmode="lin" valueType="num">
                                      <p:cBhvr>
                                        <p:cTn id="64" dur="500" fill="hold"/>
                                        <p:tgtEl>
                                          <p:spTgt spid="84"/>
                                        </p:tgtEl>
                                        <p:attrNameLst>
                                          <p:attrName>ppt_w</p:attrName>
                                        </p:attrNameLst>
                                      </p:cBhvr>
                                      <p:tavLst>
                                        <p:tav tm="0">
                                          <p:val>
                                            <p:strVal val="2/3*#ppt_w"/>
                                          </p:val>
                                        </p:tav>
                                        <p:tav tm="100000">
                                          <p:val>
                                            <p:strVal val="#ppt_w"/>
                                          </p:val>
                                        </p:tav>
                                      </p:tavLst>
                                    </p:anim>
                                    <p:anim calcmode="lin" valueType="num">
                                      <p:cBhvr>
                                        <p:cTn id="65" dur="500" fill="hold"/>
                                        <p:tgtEl>
                                          <p:spTgt spid="84"/>
                                        </p:tgtEl>
                                        <p:attrNameLst>
                                          <p:attrName>ppt_h</p:attrName>
                                        </p:attrNameLst>
                                      </p:cBhvr>
                                      <p:tavLst>
                                        <p:tav tm="0">
                                          <p:val>
                                            <p:strVal val="2/3*#ppt_h"/>
                                          </p:val>
                                        </p:tav>
                                        <p:tav tm="100000">
                                          <p:val>
                                            <p:strVal val="#ppt_h"/>
                                          </p:val>
                                        </p:tav>
                                      </p:tavLst>
                                    </p:anim>
                                  </p:childTnLst>
                                  <p:subTnLst>
                                    <p:audio>
                                      <p:cMediaNode>
                                        <p:cTn display="0" masterRel="sameClick">
                                          <p:stCondLst>
                                            <p:cond evt="begin" delay="0">
                                              <p:tn val="62"/>
                                            </p:cond>
                                          </p:stCondLst>
                                          <p:endCondLst>
                                            <p:cond evt="onStopAudio" delay="0">
                                              <p:tgtEl>
                                                <p:sldTgt/>
                                              </p:tgtEl>
                                            </p:cond>
                                          </p:endCondLst>
                                        </p:cTn>
                                        <p:tgtEl>
                                          <p:sndTgt r:embed="rId3" name="CHIMES.WAV"/>
                                        </p:tgtEl>
                                      </p:cMediaNode>
                                    </p:audio>
                                  </p:subTnLst>
                                </p:cTn>
                              </p:par>
                            </p:childTnLst>
                          </p:cTn>
                        </p:par>
                        <p:par>
                          <p:cTn id="66" fill="hold">
                            <p:stCondLst>
                              <p:cond delay="8300"/>
                            </p:stCondLst>
                            <p:childTnLst>
                              <p:par>
                                <p:cTn id="67" presetID="23" presetClass="entr" presetSubtype="272" fill="hold" grpId="0" nodeType="afterEffect">
                                  <p:stCondLst>
                                    <p:cond delay="300"/>
                                  </p:stCondLst>
                                  <p:childTnLst>
                                    <p:set>
                                      <p:cBhvr>
                                        <p:cTn id="68" dur="1" fill="hold">
                                          <p:stCondLst>
                                            <p:cond delay="0"/>
                                          </p:stCondLst>
                                        </p:cTn>
                                        <p:tgtEl>
                                          <p:spTgt spid="85"/>
                                        </p:tgtEl>
                                        <p:attrNameLst>
                                          <p:attrName>style.visibility</p:attrName>
                                        </p:attrNameLst>
                                      </p:cBhvr>
                                      <p:to>
                                        <p:strVal val="visible"/>
                                      </p:to>
                                    </p:set>
                                    <p:anim calcmode="lin" valueType="num">
                                      <p:cBhvr>
                                        <p:cTn id="69" dur="500" fill="hold"/>
                                        <p:tgtEl>
                                          <p:spTgt spid="85"/>
                                        </p:tgtEl>
                                        <p:attrNameLst>
                                          <p:attrName>ppt_w</p:attrName>
                                        </p:attrNameLst>
                                      </p:cBhvr>
                                      <p:tavLst>
                                        <p:tav tm="0">
                                          <p:val>
                                            <p:strVal val="2/3*#ppt_w"/>
                                          </p:val>
                                        </p:tav>
                                        <p:tav tm="100000">
                                          <p:val>
                                            <p:strVal val="#ppt_w"/>
                                          </p:val>
                                        </p:tav>
                                      </p:tavLst>
                                    </p:anim>
                                    <p:anim calcmode="lin" valueType="num">
                                      <p:cBhvr>
                                        <p:cTn id="70" dur="500" fill="hold"/>
                                        <p:tgtEl>
                                          <p:spTgt spid="85"/>
                                        </p:tgtEl>
                                        <p:attrNameLst>
                                          <p:attrName>ppt_h</p:attrName>
                                        </p:attrNameLst>
                                      </p:cBhvr>
                                      <p:tavLst>
                                        <p:tav tm="0">
                                          <p:val>
                                            <p:strVal val="2/3*#ppt_h"/>
                                          </p:val>
                                        </p:tav>
                                        <p:tav tm="100000">
                                          <p:val>
                                            <p:strVal val="#ppt_h"/>
                                          </p:val>
                                        </p:tav>
                                      </p:tavLst>
                                    </p:anim>
                                  </p:childTnLst>
                                  <p:subTnLst>
                                    <p:audio>
                                      <p:cMediaNode>
                                        <p:cTn display="0" masterRel="sameClick">
                                          <p:stCondLst>
                                            <p:cond evt="begin" delay="0">
                                              <p:tn val="67"/>
                                            </p:cond>
                                          </p:stCondLst>
                                          <p:endCondLst>
                                            <p:cond evt="onStopAudio" delay="0">
                                              <p:tgtEl>
                                                <p:sldTgt/>
                                              </p:tgtEl>
                                            </p:cond>
                                          </p:endCondLst>
                                        </p:cTn>
                                        <p:tgtEl>
                                          <p:sndTgt r:embed="rId3" name="CHIMES.WAV"/>
                                        </p:tgtEl>
                                      </p:cMediaNode>
                                    </p:audio>
                                  </p:subTnLst>
                                </p:cTn>
                              </p:par>
                            </p:childTnLst>
                          </p:cTn>
                        </p:par>
                        <p:par>
                          <p:cTn id="71" fill="hold">
                            <p:stCondLst>
                              <p:cond delay="9100"/>
                            </p:stCondLst>
                            <p:childTnLst>
                              <p:par>
                                <p:cTn id="72" presetID="23" presetClass="entr" presetSubtype="272" fill="hold" grpId="0" nodeType="afterEffect">
                                  <p:stCondLst>
                                    <p:cond delay="300"/>
                                  </p:stCondLst>
                                  <p:childTnLst>
                                    <p:set>
                                      <p:cBhvr>
                                        <p:cTn id="73" dur="1" fill="hold">
                                          <p:stCondLst>
                                            <p:cond delay="0"/>
                                          </p:stCondLst>
                                        </p:cTn>
                                        <p:tgtEl>
                                          <p:spTgt spid="86"/>
                                        </p:tgtEl>
                                        <p:attrNameLst>
                                          <p:attrName>style.visibility</p:attrName>
                                        </p:attrNameLst>
                                      </p:cBhvr>
                                      <p:to>
                                        <p:strVal val="visible"/>
                                      </p:to>
                                    </p:set>
                                    <p:anim calcmode="lin" valueType="num">
                                      <p:cBhvr>
                                        <p:cTn id="74" dur="500" fill="hold"/>
                                        <p:tgtEl>
                                          <p:spTgt spid="86"/>
                                        </p:tgtEl>
                                        <p:attrNameLst>
                                          <p:attrName>ppt_w</p:attrName>
                                        </p:attrNameLst>
                                      </p:cBhvr>
                                      <p:tavLst>
                                        <p:tav tm="0">
                                          <p:val>
                                            <p:strVal val="2/3*#ppt_w"/>
                                          </p:val>
                                        </p:tav>
                                        <p:tav tm="100000">
                                          <p:val>
                                            <p:strVal val="#ppt_w"/>
                                          </p:val>
                                        </p:tav>
                                      </p:tavLst>
                                    </p:anim>
                                    <p:anim calcmode="lin" valueType="num">
                                      <p:cBhvr>
                                        <p:cTn id="75" dur="500" fill="hold"/>
                                        <p:tgtEl>
                                          <p:spTgt spid="86"/>
                                        </p:tgtEl>
                                        <p:attrNameLst>
                                          <p:attrName>ppt_h</p:attrName>
                                        </p:attrNameLst>
                                      </p:cBhvr>
                                      <p:tavLst>
                                        <p:tav tm="0">
                                          <p:val>
                                            <p:strVal val="2/3*#ppt_h"/>
                                          </p:val>
                                        </p:tav>
                                        <p:tav tm="100000">
                                          <p:val>
                                            <p:strVal val="#ppt_h"/>
                                          </p:val>
                                        </p:tav>
                                      </p:tavLst>
                                    </p:anim>
                                  </p:childTnLst>
                                  <p:subTnLst>
                                    <p:audio>
                                      <p:cMediaNode>
                                        <p:cTn display="0" masterRel="sameClick">
                                          <p:stCondLst>
                                            <p:cond evt="begin" delay="0">
                                              <p:tn val="72"/>
                                            </p:cond>
                                          </p:stCondLst>
                                          <p:endCondLst>
                                            <p:cond evt="onStopAudio" delay="0">
                                              <p:tgtEl>
                                                <p:sldTgt/>
                                              </p:tgtEl>
                                            </p:cond>
                                          </p:endCondLst>
                                        </p:cTn>
                                        <p:tgtEl>
                                          <p:sndTgt r:embed="rId3" name="CHIMES.WAV"/>
                                        </p:tgtEl>
                                      </p:cMediaNode>
                                    </p:audio>
                                  </p:subTnLst>
                                </p:cTn>
                              </p:par>
                            </p:childTnLst>
                          </p:cTn>
                        </p:par>
                        <p:par>
                          <p:cTn id="76" fill="hold">
                            <p:stCondLst>
                              <p:cond delay="9900"/>
                            </p:stCondLst>
                            <p:childTnLst>
                              <p:par>
                                <p:cTn id="77" presetID="23" presetClass="entr" presetSubtype="272" fill="hold" grpId="0" nodeType="afterEffect">
                                  <p:stCondLst>
                                    <p:cond delay="300"/>
                                  </p:stCondLst>
                                  <p:childTnLst>
                                    <p:set>
                                      <p:cBhvr>
                                        <p:cTn id="78" dur="1" fill="hold">
                                          <p:stCondLst>
                                            <p:cond delay="0"/>
                                          </p:stCondLst>
                                        </p:cTn>
                                        <p:tgtEl>
                                          <p:spTgt spid="87"/>
                                        </p:tgtEl>
                                        <p:attrNameLst>
                                          <p:attrName>style.visibility</p:attrName>
                                        </p:attrNameLst>
                                      </p:cBhvr>
                                      <p:to>
                                        <p:strVal val="visible"/>
                                      </p:to>
                                    </p:set>
                                    <p:anim calcmode="lin" valueType="num">
                                      <p:cBhvr>
                                        <p:cTn id="79" dur="500" fill="hold"/>
                                        <p:tgtEl>
                                          <p:spTgt spid="87"/>
                                        </p:tgtEl>
                                        <p:attrNameLst>
                                          <p:attrName>ppt_w</p:attrName>
                                        </p:attrNameLst>
                                      </p:cBhvr>
                                      <p:tavLst>
                                        <p:tav tm="0">
                                          <p:val>
                                            <p:strVal val="2/3*#ppt_w"/>
                                          </p:val>
                                        </p:tav>
                                        <p:tav tm="100000">
                                          <p:val>
                                            <p:strVal val="#ppt_w"/>
                                          </p:val>
                                        </p:tav>
                                      </p:tavLst>
                                    </p:anim>
                                    <p:anim calcmode="lin" valueType="num">
                                      <p:cBhvr>
                                        <p:cTn id="80" dur="500" fill="hold"/>
                                        <p:tgtEl>
                                          <p:spTgt spid="87"/>
                                        </p:tgtEl>
                                        <p:attrNameLst>
                                          <p:attrName>ppt_h</p:attrName>
                                        </p:attrNameLst>
                                      </p:cBhvr>
                                      <p:tavLst>
                                        <p:tav tm="0">
                                          <p:val>
                                            <p:strVal val="2/3*#ppt_h"/>
                                          </p:val>
                                        </p:tav>
                                        <p:tav tm="100000">
                                          <p:val>
                                            <p:strVal val="#ppt_h"/>
                                          </p:val>
                                        </p:tav>
                                      </p:tavLst>
                                    </p:anim>
                                  </p:childTnLst>
                                  <p:subTnLst>
                                    <p:audio>
                                      <p:cMediaNode>
                                        <p:cTn display="0" masterRel="sameClick">
                                          <p:stCondLst>
                                            <p:cond evt="begin" delay="0">
                                              <p:tn val="77"/>
                                            </p:cond>
                                          </p:stCondLst>
                                          <p:endCondLst>
                                            <p:cond evt="onStopAudio" delay="0">
                                              <p:tgtEl>
                                                <p:sldTgt/>
                                              </p:tgtEl>
                                            </p:cond>
                                          </p:endCondLst>
                                        </p:cTn>
                                        <p:tgtEl>
                                          <p:sndTgt r:embed="rId3" name="CHIMES.WAV"/>
                                        </p:tgtEl>
                                      </p:cMediaNode>
                                    </p:audio>
                                  </p:subTnLst>
                                </p:cTn>
                              </p:par>
                            </p:childTnLst>
                          </p:cTn>
                        </p:par>
                        <p:par>
                          <p:cTn id="81" fill="hold">
                            <p:stCondLst>
                              <p:cond delay="10700"/>
                            </p:stCondLst>
                            <p:childTnLst>
                              <p:par>
                                <p:cTn id="82" presetID="23" presetClass="entr" presetSubtype="272" fill="hold" grpId="0" nodeType="afterEffect">
                                  <p:stCondLst>
                                    <p:cond delay="300"/>
                                  </p:stCondLst>
                                  <p:childTnLst>
                                    <p:set>
                                      <p:cBhvr>
                                        <p:cTn id="83" dur="1" fill="hold">
                                          <p:stCondLst>
                                            <p:cond delay="0"/>
                                          </p:stCondLst>
                                        </p:cTn>
                                        <p:tgtEl>
                                          <p:spTgt spid="88"/>
                                        </p:tgtEl>
                                        <p:attrNameLst>
                                          <p:attrName>style.visibility</p:attrName>
                                        </p:attrNameLst>
                                      </p:cBhvr>
                                      <p:to>
                                        <p:strVal val="visible"/>
                                      </p:to>
                                    </p:set>
                                    <p:anim calcmode="lin" valueType="num">
                                      <p:cBhvr>
                                        <p:cTn id="84" dur="500" fill="hold"/>
                                        <p:tgtEl>
                                          <p:spTgt spid="88"/>
                                        </p:tgtEl>
                                        <p:attrNameLst>
                                          <p:attrName>ppt_w</p:attrName>
                                        </p:attrNameLst>
                                      </p:cBhvr>
                                      <p:tavLst>
                                        <p:tav tm="0">
                                          <p:val>
                                            <p:strVal val="2/3*#ppt_w"/>
                                          </p:val>
                                        </p:tav>
                                        <p:tav tm="100000">
                                          <p:val>
                                            <p:strVal val="#ppt_w"/>
                                          </p:val>
                                        </p:tav>
                                      </p:tavLst>
                                    </p:anim>
                                    <p:anim calcmode="lin" valueType="num">
                                      <p:cBhvr>
                                        <p:cTn id="85" dur="500" fill="hold"/>
                                        <p:tgtEl>
                                          <p:spTgt spid="88"/>
                                        </p:tgtEl>
                                        <p:attrNameLst>
                                          <p:attrName>ppt_h</p:attrName>
                                        </p:attrNameLst>
                                      </p:cBhvr>
                                      <p:tavLst>
                                        <p:tav tm="0">
                                          <p:val>
                                            <p:strVal val="2/3*#ppt_h"/>
                                          </p:val>
                                        </p:tav>
                                        <p:tav tm="100000">
                                          <p:val>
                                            <p:strVal val="#ppt_h"/>
                                          </p:val>
                                        </p:tav>
                                      </p:tavLst>
                                    </p:anim>
                                  </p:childTnLst>
                                  <p:subTnLst>
                                    <p:audio>
                                      <p:cMediaNode>
                                        <p:cTn display="0" masterRel="sameClick">
                                          <p:stCondLst>
                                            <p:cond evt="begin" delay="0">
                                              <p:tn val="82"/>
                                            </p:cond>
                                          </p:stCondLst>
                                          <p:endCondLst>
                                            <p:cond evt="onStopAudio" delay="0">
                                              <p:tgtEl>
                                                <p:sldTgt/>
                                              </p:tgtEl>
                                            </p:cond>
                                          </p:endCondLst>
                                        </p:cTn>
                                        <p:tgtEl>
                                          <p:sndTgt r:embed="rId3" name="CHIMES.WAV"/>
                                        </p:tgtEl>
                                      </p:cMediaNode>
                                    </p:audio>
                                  </p:subTnLst>
                                </p:cTn>
                              </p:par>
                            </p:childTnLst>
                          </p:cTn>
                        </p:par>
                        <p:par>
                          <p:cTn id="86" fill="hold">
                            <p:stCondLst>
                              <p:cond delay="11500"/>
                            </p:stCondLst>
                            <p:childTnLst>
                              <p:par>
                                <p:cTn id="87" presetID="17" presetClass="entr" presetSubtype="10" fill="hold" grpId="0" nodeType="afterEffect">
                                  <p:stCondLst>
                                    <p:cond delay="500"/>
                                  </p:stCondLst>
                                  <p:iterate type="wd">
                                    <p:tmPct val="100000"/>
                                  </p:iterate>
                                  <p:childTnLst>
                                    <p:set>
                                      <p:cBhvr>
                                        <p:cTn id="88" dur="1" fill="hold">
                                          <p:stCondLst>
                                            <p:cond delay="0"/>
                                          </p:stCondLst>
                                        </p:cTn>
                                        <p:tgtEl>
                                          <p:spTgt spid="79"/>
                                        </p:tgtEl>
                                        <p:attrNameLst>
                                          <p:attrName>style.visibility</p:attrName>
                                        </p:attrNameLst>
                                      </p:cBhvr>
                                      <p:to>
                                        <p:strVal val="visible"/>
                                      </p:to>
                                    </p:set>
                                    <p:anim calcmode="lin" valueType="num">
                                      <p:cBhvr>
                                        <p:cTn id="89" dur="300" fill="hold"/>
                                        <p:tgtEl>
                                          <p:spTgt spid="79"/>
                                        </p:tgtEl>
                                        <p:attrNameLst>
                                          <p:attrName>ppt_w</p:attrName>
                                        </p:attrNameLst>
                                      </p:cBhvr>
                                      <p:tavLst>
                                        <p:tav tm="0">
                                          <p:val>
                                            <p:fltVal val="0"/>
                                          </p:val>
                                        </p:tav>
                                        <p:tav tm="100000">
                                          <p:val>
                                            <p:strVal val="#ppt_w"/>
                                          </p:val>
                                        </p:tav>
                                      </p:tavLst>
                                    </p:anim>
                                    <p:anim calcmode="lin" valueType="num">
                                      <p:cBhvr>
                                        <p:cTn id="90" dur="300" fill="hold"/>
                                        <p:tgtEl>
                                          <p:spTgt spid="79"/>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87"/>
                                            </p:cond>
                                          </p:stCondLst>
                                          <p:endCondLst>
                                            <p:cond evt="onStopAudio" delay="0">
                                              <p:tgtEl>
                                                <p:sldTgt/>
                                              </p:tgtEl>
                                            </p:cond>
                                          </p:endCondLst>
                                        </p:cTn>
                                        <p:tgtEl>
                                          <p:sndTgt r:embed="rId3" name="CHIMES.WAV"/>
                                        </p:tgtEl>
                                      </p:cMediaNode>
                                    </p:audio>
                                  </p:subTnLst>
                                </p:cTn>
                              </p:par>
                            </p:childTnLst>
                          </p:cTn>
                        </p:par>
                        <p:par>
                          <p:cTn id="91" fill="hold">
                            <p:stCondLst>
                              <p:cond delay="13800"/>
                            </p:stCondLst>
                            <p:childTnLst>
                              <p:par>
                                <p:cTn id="92" presetID="17" presetClass="entr" presetSubtype="4" fill="hold" grpId="0" nodeType="afterEffect">
                                  <p:stCondLst>
                                    <p:cond delay="500"/>
                                  </p:stCondLst>
                                  <p:iterate type="wd">
                                    <p:tmPct val="100000"/>
                                  </p:iterate>
                                  <p:childTnLst>
                                    <p:set>
                                      <p:cBhvr>
                                        <p:cTn id="93" dur="1" fill="hold">
                                          <p:stCondLst>
                                            <p:cond delay="0"/>
                                          </p:stCondLst>
                                        </p:cTn>
                                        <p:tgtEl>
                                          <p:spTgt spid="80"/>
                                        </p:tgtEl>
                                        <p:attrNameLst>
                                          <p:attrName>style.visibility</p:attrName>
                                        </p:attrNameLst>
                                      </p:cBhvr>
                                      <p:to>
                                        <p:strVal val="visible"/>
                                      </p:to>
                                    </p:set>
                                    <p:anim calcmode="lin" valueType="num">
                                      <p:cBhvr>
                                        <p:cTn id="94" dur="300" fill="hold"/>
                                        <p:tgtEl>
                                          <p:spTgt spid="80"/>
                                        </p:tgtEl>
                                        <p:attrNameLst>
                                          <p:attrName>ppt_x</p:attrName>
                                        </p:attrNameLst>
                                      </p:cBhvr>
                                      <p:tavLst>
                                        <p:tav tm="0">
                                          <p:val>
                                            <p:strVal val="#ppt_x"/>
                                          </p:val>
                                        </p:tav>
                                        <p:tav tm="100000">
                                          <p:val>
                                            <p:strVal val="#ppt_x"/>
                                          </p:val>
                                        </p:tav>
                                      </p:tavLst>
                                    </p:anim>
                                    <p:anim calcmode="lin" valueType="num">
                                      <p:cBhvr>
                                        <p:cTn id="95" dur="300" fill="hold"/>
                                        <p:tgtEl>
                                          <p:spTgt spid="80"/>
                                        </p:tgtEl>
                                        <p:attrNameLst>
                                          <p:attrName>ppt_y</p:attrName>
                                        </p:attrNameLst>
                                      </p:cBhvr>
                                      <p:tavLst>
                                        <p:tav tm="0">
                                          <p:val>
                                            <p:strVal val="#ppt_y+#ppt_h/2"/>
                                          </p:val>
                                        </p:tav>
                                        <p:tav tm="100000">
                                          <p:val>
                                            <p:strVal val="#ppt_y"/>
                                          </p:val>
                                        </p:tav>
                                      </p:tavLst>
                                    </p:anim>
                                    <p:anim calcmode="lin" valueType="num">
                                      <p:cBhvr>
                                        <p:cTn id="96" dur="300" fill="hold"/>
                                        <p:tgtEl>
                                          <p:spTgt spid="80"/>
                                        </p:tgtEl>
                                        <p:attrNameLst>
                                          <p:attrName>ppt_w</p:attrName>
                                        </p:attrNameLst>
                                      </p:cBhvr>
                                      <p:tavLst>
                                        <p:tav tm="0">
                                          <p:val>
                                            <p:strVal val="#ppt_w"/>
                                          </p:val>
                                        </p:tav>
                                        <p:tav tm="100000">
                                          <p:val>
                                            <p:strVal val="#ppt_w"/>
                                          </p:val>
                                        </p:tav>
                                      </p:tavLst>
                                    </p:anim>
                                    <p:anim calcmode="lin" valueType="num">
                                      <p:cBhvr>
                                        <p:cTn id="97" dur="300" fill="hold"/>
                                        <p:tgtEl>
                                          <p:spTgt spid="80"/>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92"/>
                                            </p:cond>
                                          </p:stCondLst>
                                          <p:endCondLst>
                                            <p:cond evt="onStopAudio" delay="0">
                                              <p:tgtEl>
                                                <p:sldTgt/>
                                              </p:tgtEl>
                                            </p:cond>
                                          </p:endCondLst>
                                        </p:cTn>
                                        <p:tgtEl>
                                          <p:sndTgt r:embed="rId3" name="CHIMES.WAV"/>
                                        </p:tgtEl>
                                      </p:cMediaNode>
                                    </p:audio>
                                  </p:subTnLst>
                                </p:cTn>
                              </p:par>
                            </p:childTnLst>
                          </p:cTn>
                        </p:par>
                      </p:childTnLst>
                    </p:cTn>
                  </p:par>
                  <p:par>
                    <p:cTn id="98" fill="hold">
                      <p:stCondLst>
                        <p:cond delay="indefinite"/>
                      </p:stCondLst>
                      <p:childTnLst>
                        <p:par>
                          <p:cTn id="99" fill="hold">
                            <p:stCondLst>
                              <p:cond delay="0"/>
                            </p:stCondLst>
                            <p:childTnLst>
                              <p:par>
                                <p:cTn id="100" presetID="19" presetClass="entr" presetSubtype="10" repeatCount="3000" fill="hold" grpId="0" nodeType="clickEffect">
                                  <p:stCondLst>
                                    <p:cond delay="0"/>
                                  </p:stCondLst>
                                  <p:childTnLst>
                                    <p:set>
                                      <p:cBhvr>
                                        <p:cTn id="101" dur="1" fill="hold">
                                          <p:stCondLst>
                                            <p:cond delay="0"/>
                                          </p:stCondLst>
                                        </p:cTn>
                                        <p:tgtEl>
                                          <p:spTgt spid="99"/>
                                        </p:tgtEl>
                                        <p:attrNameLst>
                                          <p:attrName>style.visibility</p:attrName>
                                        </p:attrNameLst>
                                      </p:cBhvr>
                                      <p:to>
                                        <p:strVal val="visible"/>
                                      </p:to>
                                    </p:set>
                                    <p:anim calcmode="lin" valueType="num">
                                      <p:cBhvr>
                                        <p:cTn id="102" dur="5000" fill="hold"/>
                                        <p:tgtEl>
                                          <p:spTgt spid="99"/>
                                        </p:tgtEl>
                                        <p:attrNameLst>
                                          <p:attrName>ppt_w</p:attrName>
                                        </p:attrNameLst>
                                      </p:cBhvr>
                                      <p:tavLst>
                                        <p:tav tm="0" fmla="#ppt_w*sin(2.5*pi*$)">
                                          <p:val>
                                            <p:fltVal val="0"/>
                                          </p:val>
                                        </p:tav>
                                        <p:tav tm="100000">
                                          <p:val>
                                            <p:fltVal val="1"/>
                                          </p:val>
                                        </p:tav>
                                      </p:tavLst>
                                    </p:anim>
                                    <p:anim calcmode="lin" valueType="num">
                                      <p:cBhvr>
                                        <p:cTn id="103" dur="5000" fill="hold"/>
                                        <p:tgtEl>
                                          <p:spTgt spid="99"/>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00"/>
                                            </p:cond>
                                          </p:stCondLst>
                                          <p:endCondLst>
                                            <p:cond evt="onStopAudio" delay="0">
                                              <p:tgtEl>
                                                <p:sldTgt/>
                                              </p:tgtEl>
                                            </p:cond>
                                          </p:endCondLst>
                                        </p:cTn>
                                        <p:tgtEl>
                                          <p:sndTgt r:embed="rId3" name="CHIMES.WAV"/>
                                        </p:tgtEl>
                                      </p:cMediaNode>
                                    </p:audio>
                                  </p:subTnLst>
                                </p:cTn>
                              </p:par>
                              <p:par>
                                <p:cTn id="104" presetID="18" presetClass="entr" presetSubtype="3" fill="hold" grpId="0" nodeType="withEffect">
                                  <p:stCondLst>
                                    <p:cond delay="0"/>
                                  </p:stCondLst>
                                  <p:childTnLst>
                                    <p:set>
                                      <p:cBhvr>
                                        <p:cTn id="105" dur="1" fill="hold">
                                          <p:stCondLst>
                                            <p:cond delay="0"/>
                                          </p:stCondLst>
                                        </p:cTn>
                                        <p:tgtEl>
                                          <p:spTgt spid="91"/>
                                        </p:tgtEl>
                                        <p:attrNameLst>
                                          <p:attrName>style.visibility</p:attrName>
                                        </p:attrNameLst>
                                      </p:cBhvr>
                                      <p:to>
                                        <p:strVal val="visible"/>
                                      </p:to>
                                    </p:set>
                                    <p:animEffect transition="in" filter="strips(upRight)">
                                      <p:cBhvr>
                                        <p:cTn id="106" dur="5000"/>
                                        <p:tgtEl>
                                          <p:spTgt spid="91"/>
                                        </p:tgtEl>
                                      </p:cBhvr>
                                    </p:animEffect>
                                  </p:childTnLst>
                                  <p:subTnLst>
                                    <p:audio>
                                      <p:cMediaNode>
                                        <p:cTn display="0" masterRel="sameClick">
                                          <p:stCondLst>
                                            <p:cond evt="begin" delay="0">
                                              <p:tn val="104"/>
                                            </p:cond>
                                          </p:stCondLst>
                                          <p:endCondLst>
                                            <p:cond evt="onStopAudio" delay="0">
                                              <p:tgtEl>
                                                <p:sldTgt/>
                                              </p:tgtEl>
                                            </p:cond>
                                          </p:endCondLst>
                                        </p:cTn>
                                        <p:tgtEl>
                                          <p:sndTgt r:embed="rId3" name="CHIMES.WAV"/>
                                        </p:tgtEl>
                                      </p:cMediaNode>
                                    </p:audio>
                                  </p:subTnLst>
                                </p:cTn>
                              </p:par>
                              <p:par>
                                <p:cTn id="107" presetID="22" presetClass="entr" presetSubtype="4" fill="hold" grpId="0" nodeType="withEffect">
                                  <p:stCondLst>
                                    <p:cond delay="5000"/>
                                  </p:stCondLst>
                                  <p:childTnLst>
                                    <p:set>
                                      <p:cBhvr>
                                        <p:cTn id="108" dur="1" fill="hold">
                                          <p:stCondLst>
                                            <p:cond delay="0"/>
                                          </p:stCondLst>
                                        </p:cTn>
                                        <p:tgtEl>
                                          <p:spTgt spid="75"/>
                                        </p:tgtEl>
                                        <p:attrNameLst>
                                          <p:attrName>style.visibility</p:attrName>
                                        </p:attrNameLst>
                                      </p:cBhvr>
                                      <p:to>
                                        <p:strVal val="visible"/>
                                      </p:to>
                                    </p:set>
                                    <p:animEffect transition="in" filter="wipe(down)">
                                      <p:cBhvr>
                                        <p:cTn id="109" dur="5000"/>
                                        <p:tgtEl>
                                          <p:spTgt spid="75"/>
                                        </p:tgtEl>
                                      </p:cBhvr>
                                    </p:animEffect>
                                  </p:childTnLst>
                                  <p:subTnLst>
                                    <p:audio>
                                      <p:cMediaNode>
                                        <p:cTn display="0" masterRel="sameClick">
                                          <p:stCondLst>
                                            <p:cond evt="begin" delay="0">
                                              <p:tn val="107"/>
                                            </p:cond>
                                          </p:stCondLst>
                                          <p:endCondLst>
                                            <p:cond evt="onStopAudio" delay="0">
                                              <p:tgtEl>
                                                <p:sldTgt/>
                                              </p:tgtEl>
                                            </p:cond>
                                          </p:endCondLst>
                                        </p:cTn>
                                        <p:tgtEl>
                                          <p:sndTgt r:embed="rId4" name="LASER.WAV"/>
                                        </p:tgtEl>
                                      </p:cMediaNode>
                                    </p:audio>
                                  </p:subTnLst>
                                </p:cTn>
                              </p:par>
                              <p:par>
                                <p:cTn id="110" presetID="18" presetClass="entr" presetSubtype="3" fill="hold" grpId="0" nodeType="withEffect">
                                  <p:stCondLst>
                                    <p:cond delay="10000"/>
                                  </p:stCondLst>
                                  <p:childTnLst>
                                    <p:set>
                                      <p:cBhvr>
                                        <p:cTn id="111" dur="1" fill="hold">
                                          <p:stCondLst>
                                            <p:cond delay="0"/>
                                          </p:stCondLst>
                                        </p:cTn>
                                        <p:tgtEl>
                                          <p:spTgt spid="110"/>
                                        </p:tgtEl>
                                        <p:attrNameLst>
                                          <p:attrName>style.visibility</p:attrName>
                                        </p:attrNameLst>
                                      </p:cBhvr>
                                      <p:to>
                                        <p:strVal val="visible"/>
                                      </p:to>
                                    </p:set>
                                    <p:animEffect transition="in" filter="strips(upRight)">
                                      <p:cBhvr>
                                        <p:cTn id="112" dur="5000"/>
                                        <p:tgtEl>
                                          <p:spTgt spid="110"/>
                                        </p:tgtEl>
                                      </p:cBhvr>
                                    </p:animEffect>
                                  </p:childTnLst>
                                  <p:subTnLst>
                                    <p:audio>
                                      <p:cMediaNode>
                                        <p:cTn display="0" masterRel="sameClick">
                                          <p:stCondLst>
                                            <p:cond evt="begin" delay="0">
                                              <p:tn val="110"/>
                                            </p:cond>
                                          </p:stCondLst>
                                          <p:endCondLst>
                                            <p:cond evt="onStopAudio" delay="0">
                                              <p:tgtEl>
                                                <p:sldTgt/>
                                              </p:tgtEl>
                                            </p:cond>
                                          </p:endCondLst>
                                        </p:cTn>
                                        <p:tgtEl>
                                          <p:sndTgt r:embed="rId4" name="LASER.WAV"/>
                                        </p:tgtEl>
                                      </p:cMediaNode>
                                    </p:audio>
                                  </p:subTnLst>
                                </p:cTn>
                              </p:par>
                            </p:childTnLst>
                          </p:cTn>
                        </p:par>
                        <p:par>
                          <p:cTn id="113" fill="hold">
                            <p:stCondLst>
                              <p:cond delay="15000"/>
                            </p:stCondLst>
                            <p:childTnLst>
                              <p:par>
                                <p:cTn id="114" presetID="50" presetClass="entr" presetSubtype="0" decel="100000" fill="hold" grpId="0" nodeType="afterEffect">
                                  <p:stCondLst>
                                    <p:cond delay="0"/>
                                  </p:stCondLst>
                                  <p:childTnLst>
                                    <p:set>
                                      <p:cBhvr>
                                        <p:cTn id="115" dur="1" fill="hold">
                                          <p:stCondLst>
                                            <p:cond delay="0"/>
                                          </p:stCondLst>
                                        </p:cTn>
                                        <p:tgtEl>
                                          <p:spTgt spid="113"/>
                                        </p:tgtEl>
                                        <p:attrNameLst>
                                          <p:attrName>style.visibility</p:attrName>
                                        </p:attrNameLst>
                                      </p:cBhvr>
                                      <p:to>
                                        <p:strVal val="visible"/>
                                      </p:to>
                                    </p:set>
                                    <p:anim calcmode="lin" valueType="num">
                                      <p:cBhvr>
                                        <p:cTn id="116" dur="500" fill="hold"/>
                                        <p:tgtEl>
                                          <p:spTgt spid="113"/>
                                        </p:tgtEl>
                                        <p:attrNameLst>
                                          <p:attrName>ppt_w</p:attrName>
                                        </p:attrNameLst>
                                      </p:cBhvr>
                                      <p:tavLst>
                                        <p:tav tm="0">
                                          <p:val>
                                            <p:strVal val="#ppt_w+.3"/>
                                          </p:val>
                                        </p:tav>
                                        <p:tav tm="100000">
                                          <p:val>
                                            <p:strVal val="#ppt_w"/>
                                          </p:val>
                                        </p:tav>
                                      </p:tavLst>
                                    </p:anim>
                                    <p:anim calcmode="lin" valueType="num">
                                      <p:cBhvr>
                                        <p:cTn id="117" dur="500" fill="hold"/>
                                        <p:tgtEl>
                                          <p:spTgt spid="113"/>
                                        </p:tgtEl>
                                        <p:attrNameLst>
                                          <p:attrName>ppt_h</p:attrName>
                                        </p:attrNameLst>
                                      </p:cBhvr>
                                      <p:tavLst>
                                        <p:tav tm="0">
                                          <p:val>
                                            <p:strVal val="#ppt_h"/>
                                          </p:val>
                                        </p:tav>
                                        <p:tav tm="100000">
                                          <p:val>
                                            <p:strVal val="#ppt_h"/>
                                          </p:val>
                                        </p:tav>
                                      </p:tavLst>
                                    </p:anim>
                                    <p:animEffect transition="in" filter="fade">
                                      <p:cBhvr>
                                        <p:cTn id="118" dur="500"/>
                                        <p:tgtEl>
                                          <p:spTgt spid="113"/>
                                        </p:tgtEl>
                                      </p:cBhvr>
                                    </p:animEffect>
                                  </p:childTnLst>
                                  <p:subTnLst>
                                    <p:set>
                                      <p:cBhvr override="childStyle">
                                        <p:cTn dur="1" fill="hold" display="0" masterRel="sameClick" afterEffect="1">
                                          <p:stCondLst>
                                            <p:cond evt="end" delay="0">
                                              <p:tn val="114"/>
                                            </p:cond>
                                          </p:stCondLst>
                                        </p:cTn>
                                        <p:tgtEl>
                                          <p:spTgt spid="113"/>
                                        </p:tgtEl>
                                        <p:attrNameLst>
                                          <p:attrName>style.visibility</p:attrName>
                                        </p:attrNameLst>
                                      </p:cBhvr>
                                      <p:to>
                                        <p:strVal val="hidden"/>
                                      </p:to>
                                    </p:set>
                                    <p:audio>
                                      <p:cMediaNode>
                                        <p:cTn display="0" masterRel="sameClick">
                                          <p:stCondLst>
                                            <p:cond evt="begin" delay="0">
                                              <p:tn val="114"/>
                                            </p:cond>
                                          </p:stCondLst>
                                          <p:endCondLst>
                                            <p:cond evt="onStopAudio" delay="0">
                                              <p:tgtEl>
                                                <p:sldTgt/>
                                              </p:tgtEl>
                                            </p:cond>
                                          </p:endCondLst>
                                        </p:cTn>
                                        <p:tgtEl>
                                          <p:sndTgt r:embed="rId5" name="bomb.wav"/>
                                        </p:tgtEl>
                                      </p:cMediaNode>
                                    </p:audio>
                                  </p:subTnLst>
                                </p:cTn>
                              </p:par>
                            </p:childTnLst>
                          </p:cTn>
                        </p:par>
                      </p:childTnLst>
                    </p:cTn>
                  </p:par>
                  <p:par>
                    <p:cTn id="119" fill="hold">
                      <p:stCondLst>
                        <p:cond delay="indefinite"/>
                      </p:stCondLst>
                      <p:childTnLst>
                        <p:par>
                          <p:cTn id="120" fill="hold">
                            <p:stCondLst>
                              <p:cond delay="0"/>
                            </p:stCondLst>
                            <p:childTnLst>
                              <p:par>
                                <p:cTn id="121" presetID="19" presetClass="entr" presetSubtype="10" fill="hold" grpId="0" nodeType="clickEffect">
                                  <p:stCondLst>
                                    <p:cond delay="0"/>
                                  </p:stCondLst>
                                  <p:childTnLst>
                                    <p:set>
                                      <p:cBhvr>
                                        <p:cTn id="122" dur="1" fill="hold">
                                          <p:stCondLst>
                                            <p:cond delay="0"/>
                                          </p:stCondLst>
                                        </p:cTn>
                                        <p:tgtEl>
                                          <p:spTgt spid="100"/>
                                        </p:tgtEl>
                                        <p:attrNameLst>
                                          <p:attrName>style.visibility</p:attrName>
                                        </p:attrNameLst>
                                      </p:cBhvr>
                                      <p:to>
                                        <p:strVal val="visible"/>
                                      </p:to>
                                    </p:set>
                                    <p:anim calcmode="lin" valueType="num">
                                      <p:cBhvr>
                                        <p:cTn id="123" dur="5000" fill="hold"/>
                                        <p:tgtEl>
                                          <p:spTgt spid="100"/>
                                        </p:tgtEl>
                                        <p:attrNameLst>
                                          <p:attrName>ppt_w</p:attrName>
                                        </p:attrNameLst>
                                      </p:cBhvr>
                                      <p:tavLst>
                                        <p:tav tm="0" fmla="#ppt_w*sin(2.5*pi*$)">
                                          <p:val>
                                            <p:fltVal val="0"/>
                                          </p:val>
                                        </p:tav>
                                        <p:tav tm="100000">
                                          <p:val>
                                            <p:fltVal val="1"/>
                                          </p:val>
                                        </p:tav>
                                      </p:tavLst>
                                    </p:anim>
                                    <p:anim calcmode="lin" valueType="num">
                                      <p:cBhvr>
                                        <p:cTn id="124" dur="5000" fill="hold"/>
                                        <p:tgtEl>
                                          <p:spTgt spid="100"/>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21"/>
                                            </p:cond>
                                          </p:stCondLst>
                                          <p:endCondLst>
                                            <p:cond evt="onStopAudio" delay="0">
                                              <p:tgtEl>
                                                <p:sldTgt/>
                                              </p:tgtEl>
                                            </p:cond>
                                          </p:endCondLst>
                                        </p:cTn>
                                        <p:tgtEl>
                                          <p:sndTgt r:embed="rId3" name="CHIMES.WAV"/>
                                        </p:tgtEl>
                                      </p:cMediaNode>
                                    </p:audio>
                                  </p:subTnLst>
                                </p:cTn>
                              </p:par>
                              <p:par>
                                <p:cTn id="125" presetID="1" presetClass="entr" presetSubtype="0" fill="hold" grpId="0" nodeType="withEffect">
                                  <p:stCondLst>
                                    <p:cond delay="0"/>
                                  </p:stCondLst>
                                  <p:childTnLst>
                                    <p:set>
                                      <p:cBhvr>
                                        <p:cTn id="126" dur="1" fill="hold">
                                          <p:stCondLst>
                                            <p:cond delay="499"/>
                                          </p:stCondLst>
                                        </p:cTn>
                                        <p:tgtEl>
                                          <p:spTgt spid="109"/>
                                        </p:tgtEl>
                                        <p:attrNameLst>
                                          <p:attrName>style.visibility</p:attrName>
                                        </p:attrNameLst>
                                      </p:cBhvr>
                                      <p:to>
                                        <p:strVal val="visible"/>
                                      </p:to>
                                    </p:set>
                                  </p:childTnLst>
                                </p:cTn>
                              </p:par>
                              <p:par>
                                <p:cTn id="127" presetID="1" presetClass="entr" presetSubtype="0" fill="hold" grpId="0" nodeType="withEffect">
                                  <p:stCondLst>
                                    <p:cond delay="0"/>
                                  </p:stCondLst>
                                  <p:childTnLst>
                                    <p:set>
                                      <p:cBhvr>
                                        <p:cTn id="128" dur="1" fill="hold">
                                          <p:stCondLst>
                                            <p:cond delay="499"/>
                                          </p:stCondLst>
                                        </p:cTn>
                                        <p:tgtEl>
                                          <p:spTgt spid="108"/>
                                        </p:tgtEl>
                                        <p:attrNameLst>
                                          <p:attrName>style.visibility</p:attrName>
                                        </p:attrNameLst>
                                      </p:cBhvr>
                                      <p:to>
                                        <p:strVal val="visible"/>
                                      </p:to>
                                    </p:set>
                                  </p:childTnLst>
                                </p:cTn>
                              </p:par>
                              <p:par>
                                <p:cTn id="129" presetID="10" presetClass="entr" presetSubtype="0" fill="hold" grpId="0" nodeType="withEffect">
                                  <p:stCondLst>
                                    <p:cond delay="0"/>
                                  </p:stCondLst>
                                  <p:childTnLst>
                                    <p:set>
                                      <p:cBhvr>
                                        <p:cTn id="130" dur="1" fill="hold">
                                          <p:stCondLst>
                                            <p:cond delay="0"/>
                                          </p:stCondLst>
                                        </p:cTn>
                                        <p:tgtEl>
                                          <p:spTgt spid="101"/>
                                        </p:tgtEl>
                                        <p:attrNameLst>
                                          <p:attrName>style.visibility</p:attrName>
                                        </p:attrNameLst>
                                      </p:cBhvr>
                                      <p:to>
                                        <p:strVal val="visible"/>
                                      </p:to>
                                    </p:set>
                                    <p:animEffect transition="in" filter="fade">
                                      <p:cBhvr>
                                        <p:cTn id="131" dur="5000"/>
                                        <p:tgtEl>
                                          <p:spTgt spid="101"/>
                                        </p:tgtEl>
                                      </p:cBhvr>
                                    </p:animEffect>
                                  </p:childTnLst>
                                  <p:subTnLst>
                                    <p:audio>
                                      <p:cMediaNode>
                                        <p:cTn display="0" masterRel="sameClick">
                                          <p:stCondLst>
                                            <p:cond evt="begin" delay="0">
                                              <p:tn val="129"/>
                                            </p:cond>
                                          </p:stCondLst>
                                          <p:endCondLst>
                                            <p:cond evt="onStopAudio" delay="0">
                                              <p:tgtEl>
                                                <p:sldTgt/>
                                              </p:tgtEl>
                                            </p:cond>
                                          </p:endCondLst>
                                        </p:cTn>
                                        <p:tgtEl>
                                          <p:sndTgt r:embed="rId3" name="CHIMES.WAV"/>
                                        </p:tgtEl>
                                      </p:cMediaNode>
                                    </p:audio>
                                  </p:subTnLst>
                                </p:cTn>
                              </p:par>
                            </p:childTnLst>
                          </p:cTn>
                        </p:par>
                      </p:childTnLst>
                    </p:cTn>
                  </p:par>
                  <p:par>
                    <p:cTn id="132" fill="hold">
                      <p:stCondLst>
                        <p:cond delay="indefinite"/>
                      </p:stCondLst>
                      <p:childTnLst>
                        <p:par>
                          <p:cTn id="133" fill="hold">
                            <p:stCondLst>
                              <p:cond delay="0"/>
                            </p:stCondLst>
                            <p:childTnLst>
                              <p:par>
                                <p:cTn id="134" presetID="17" presetClass="entr" presetSubtype="4" fill="hold" grpId="0" nodeType="clickEffect">
                                  <p:stCondLst>
                                    <p:cond delay="0"/>
                                  </p:stCondLst>
                                  <p:childTnLst>
                                    <p:set>
                                      <p:cBhvr>
                                        <p:cTn id="135" dur="1" fill="hold">
                                          <p:stCondLst>
                                            <p:cond delay="0"/>
                                          </p:stCondLst>
                                        </p:cTn>
                                        <p:tgtEl>
                                          <p:spTgt spid="102"/>
                                        </p:tgtEl>
                                        <p:attrNameLst>
                                          <p:attrName>style.visibility</p:attrName>
                                        </p:attrNameLst>
                                      </p:cBhvr>
                                      <p:to>
                                        <p:strVal val="visible"/>
                                      </p:to>
                                    </p:set>
                                    <p:anim calcmode="lin" valueType="num">
                                      <p:cBhvr>
                                        <p:cTn id="136" dur="5000" fill="hold"/>
                                        <p:tgtEl>
                                          <p:spTgt spid="102"/>
                                        </p:tgtEl>
                                        <p:attrNameLst>
                                          <p:attrName>ppt_x</p:attrName>
                                        </p:attrNameLst>
                                      </p:cBhvr>
                                      <p:tavLst>
                                        <p:tav tm="0">
                                          <p:val>
                                            <p:strVal val="#ppt_x"/>
                                          </p:val>
                                        </p:tav>
                                        <p:tav tm="100000">
                                          <p:val>
                                            <p:strVal val="#ppt_x"/>
                                          </p:val>
                                        </p:tav>
                                      </p:tavLst>
                                    </p:anim>
                                    <p:anim calcmode="lin" valueType="num">
                                      <p:cBhvr>
                                        <p:cTn id="137" dur="5000" fill="hold"/>
                                        <p:tgtEl>
                                          <p:spTgt spid="102"/>
                                        </p:tgtEl>
                                        <p:attrNameLst>
                                          <p:attrName>ppt_y</p:attrName>
                                        </p:attrNameLst>
                                      </p:cBhvr>
                                      <p:tavLst>
                                        <p:tav tm="0">
                                          <p:val>
                                            <p:strVal val="#ppt_y+#ppt_h/2"/>
                                          </p:val>
                                        </p:tav>
                                        <p:tav tm="100000">
                                          <p:val>
                                            <p:strVal val="#ppt_y"/>
                                          </p:val>
                                        </p:tav>
                                      </p:tavLst>
                                    </p:anim>
                                    <p:anim calcmode="lin" valueType="num">
                                      <p:cBhvr>
                                        <p:cTn id="138" dur="5000" fill="hold"/>
                                        <p:tgtEl>
                                          <p:spTgt spid="102"/>
                                        </p:tgtEl>
                                        <p:attrNameLst>
                                          <p:attrName>ppt_w</p:attrName>
                                        </p:attrNameLst>
                                      </p:cBhvr>
                                      <p:tavLst>
                                        <p:tav tm="0">
                                          <p:val>
                                            <p:strVal val="#ppt_w"/>
                                          </p:val>
                                        </p:tav>
                                        <p:tav tm="100000">
                                          <p:val>
                                            <p:strVal val="#ppt_w"/>
                                          </p:val>
                                        </p:tav>
                                      </p:tavLst>
                                    </p:anim>
                                    <p:anim calcmode="lin" valueType="num">
                                      <p:cBhvr>
                                        <p:cTn id="139" dur="5000" fill="hold"/>
                                        <p:tgtEl>
                                          <p:spTgt spid="102"/>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134"/>
                                            </p:cond>
                                          </p:stCondLst>
                                          <p:endCondLst>
                                            <p:cond evt="onStopAudio" delay="0">
                                              <p:tgtEl>
                                                <p:sldTgt/>
                                              </p:tgtEl>
                                            </p:cond>
                                          </p:endCondLst>
                                        </p:cTn>
                                        <p:tgtEl>
                                          <p:sndTgt r:embed="rId3" name="CHIMES.WAV"/>
                                        </p:tgtEl>
                                      </p:cMediaNode>
                                    </p:audio>
                                  </p:subTnLst>
                                </p:cTn>
                              </p:par>
                              <p:par>
                                <p:cTn id="140" presetID="19" presetClass="entr" presetSubtype="10" fill="hold" grpId="0" nodeType="withEffect">
                                  <p:stCondLst>
                                    <p:cond delay="0"/>
                                  </p:stCondLst>
                                  <p:childTnLst>
                                    <p:set>
                                      <p:cBhvr>
                                        <p:cTn id="141" dur="1" fill="hold">
                                          <p:stCondLst>
                                            <p:cond delay="0"/>
                                          </p:stCondLst>
                                        </p:cTn>
                                        <p:tgtEl>
                                          <p:spTgt spid="103"/>
                                        </p:tgtEl>
                                        <p:attrNameLst>
                                          <p:attrName>style.visibility</p:attrName>
                                        </p:attrNameLst>
                                      </p:cBhvr>
                                      <p:to>
                                        <p:strVal val="visible"/>
                                      </p:to>
                                    </p:set>
                                    <p:anim calcmode="lin" valueType="num">
                                      <p:cBhvr>
                                        <p:cTn id="142" dur="5000" fill="hold"/>
                                        <p:tgtEl>
                                          <p:spTgt spid="103"/>
                                        </p:tgtEl>
                                        <p:attrNameLst>
                                          <p:attrName>ppt_w</p:attrName>
                                        </p:attrNameLst>
                                      </p:cBhvr>
                                      <p:tavLst>
                                        <p:tav tm="0" fmla="#ppt_w*sin(2.5*pi*$)">
                                          <p:val>
                                            <p:fltVal val="0"/>
                                          </p:val>
                                        </p:tav>
                                        <p:tav tm="100000">
                                          <p:val>
                                            <p:fltVal val="1"/>
                                          </p:val>
                                        </p:tav>
                                      </p:tavLst>
                                    </p:anim>
                                    <p:anim calcmode="lin" valueType="num">
                                      <p:cBhvr>
                                        <p:cTn id="143" dur="5000" fill="hold"/>
                                        <p:tgtEl>
                                          <p:spTgt spid="103"/>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40"/>
                                            </p:cond>
                                          </p:stCondLst>
                                          <p:endCondLst>
                                            <p:cond evt="onStopAudio" delay="0">
                                              <p:tgtEl>
                                                <p:sldTgt/>
                                              </p:tgtEl>
                                            </p:cond>
                                          </p:endCondLst>
                                        </p:cTn>
                                        <p:tgtEl>
                                          <p:sndTgt r:embed="rId3" name="CHIMES.WAV"/>
                                        </p:tgtEl>
                                      </p:cMediaNode>
                                    </p:audio>
                                  </p:subTnLst>
                                </p:cTn>
                              </p:par>
                              <p:par>
                                <p:cTn id="144" presetID="18" presetClass="entr" presetSubtype="3" fill="hold" grpId="0" nodeType="withEffect">
                                  <p:stCondLst>
                                    <p:cond delay="0"/>
                                  </p:stCondLst>
                                  <p:childTnLst>
                                    <p:set>
                                      <p:cBhvr>
                                        <p:cTn id="145" dur="1" fill="hold">
                                          <p:stCondLst>
                                            <p:cond delay="0"/>
                                          </p:stCondLst>
                                        </p:cTn>
                                        <p:tgtEl>
                                          <p:spTgt spid="94"/>
                                        </p:tgtEl>
                                        <p:attrNameLst>
                                          <p:attrName>style.visibility</p:attrName>
                                        </p:attrNameLst>
                                      </p:cBhvr>
                                      <p:to>
                                        <p:strVal val="visible"/>
                                      </p:to>
                                    </p:set>
                                    <p:animEffect transition="in" filter="strips(upRight)">
                                      <p:cBhvr>
                                        <p:cTn id="146" dur="5000"/>
                                        <p:tgtEl>
                                          <p:spTgt spid="94"/>
                                        </p:tgtEl>
                                      </p:cBhvr>
                                    </p:animEffect>
                                  </p:childTnLst>
                                  <p:subTnLst>
                                    <p:audio>
                                      <p:cMediaNode>
                                        <p:cTn display="0" masterRel="sameClick">
                                          <p:stCondLst>
                                            <p:cond evt="begin" delay="0">
                                              <p:tn val="144"/>
                                            </p:cond>
                                          </p:stCondLst>
                                          <p:endCondLst>
                                            <p:cond evt="onStopAudio" delay="0">
                                              <p:tgtEl>
                                                <p:sldTgt/>
                                              </p:tgtEl>
                                            </p:cond>
                                          </p:endCondLst>
                                        </p:cTn>
                                        <p:tgtEl>
                                          <p:sndTgt r:embed="rId3" name="CHIMES.WAV"/>
                                        </p:tgtEl>
                                      </p:cMediaNode>
                                    </p:audio>
                                  </p:subTnLst>
                                </p:cTn>
                              </p:par>
                              <p:par>
                                <p:cTn id="147" presetID="6" presetClass="emph" presetSubtype="0" fill="hold" grpId="1" nodeType="withEffect">
                                  <p:stCondLst>
                                    <p:cond delay="0"/>
                                  </p:stCondLst>
                                  <p:childTnLst>
                                    <p:animScale>
                                      <p:cBhvr>
                                        <p:cTn id="148" dur="10000" fill="hold"/>
                                        <p:tgtEl>
                                          <p:spTgt spid="101"/>
                                        </p:tgtEl>
                                      </p:cBhvr>
                                      <p:by x="105000" y="100000"/>
                                    </p:animScale>
                                  </p:childTnLst>
                                </p:cTn>
                              </p:par>
                              <p:par>
                                <p:cTn id="149" presetID="6" presetClass="emph" presetSubtype="0" fill="hold" grpId="2" nodeType="withEffect">
                                  <p:stCondLst>
                                    <p:cond delay="0"/>
                                  </p:stCondLst>
                                  <p:childTnLst>
                                    <p:animScale>
                                      <p:cBhvr>
                                        <p:cTn id="150" dur="10000" fill="hold"/>
                                        <p:tgtEl>
                                          <p:spTgt spid="101"/>
                                        </p:tgtEl>
                                      </p:cBhvr>
                                      <p:by x="100000" y="95000"/>
                                    </p:animScale>
                                  </p:childTnLst>
                                </p:cTn>
                              </p:par>
                              <p:par>
                                <p:cTn id="151" presetID="18" presetClass="entr" presetSubtype="3" fill="hold" grpId="0" nodeType="withEffect">
                                  <p:stCondLst>
                                    <p:cond delay="5000"/>
                                  </p:stCondLst>
                                  <p:childTnLst>
                                    <p:set>
                                      <p:cBhvr>
                                        <p:cTn id="152" dur="1" fill="hold">
                                          <p:stCondLst>
                                            <p:cond delay="0"/>
                                          </p:stCondLst>
                                        </p:cTn>
                                        <p:tgtEl>
                                          <p:spTgt spid="97"/>
                                        </p:tgtEl>
                                        <p:attrNameLst>
                                          <p:attrName>style.visibility</p:attrName>
                                        </p:attrNameLst>
                                      </p:cBhvr>
                                      <p:to>
                                        <p:strVal val="visible"/>
                                      </p:to>
                                    </p:set>
                                    <p:animEffect transition="in" filter="strips(upRight)">
                                      <p:cBhvr>
                                        <p:cTn id="153" dur="5000"/>
                                        <p:tgtEl>
                                          <p:spTgt spid="97"/>
                                        </p:tgtEl>
                                      </p:cBhvr>
                                    </p:animEffect>
                                  </p:childTnLst>
                                  <p:subTnLst>
                                    <p:audio>
                                      <p:cMediaNode>
                                        <p:cTn display="0" masterRel="sameClick">
                                          <p:stCondLst>
                                            <p:cond evt="begin" delay="0">
                                              <p:tn val="151"/>
                                            </p:cond>
                                          </p:stCondLst>
                                          <p:endCondLst>
                                            <p:cond evt="onStopAudio" delay="0">
                                              <p:tgtEl>
                                                <p:sldTgt/>
                                              </p:tgtEl>
                                            </p:cond>
                                          </p:endCondLst>
                                        </p:cTn>
                                        <p:tgtEl>
                                          <p:sndTgt r:embed="rId3" name="CHIMES.WAV"/>
                                        </p:tgtEl>
                                      </p:cMediaNode>
                                    </p:audio>
                                  </p:subTnLst>
                                </p:cTn>
                              </p:par>
                            </p:childTnLst>
                          </p:cTn>
                        </p:par>
                        <p:par>
                          <p:cTn id="154" fill="hold">
                            <p:stCondLst>
                              <p:cond delay="10000"/>
                            </p:stCondLst>
                            <p:childTnLst>
                              <p:par>
                                <p:cTn id="155" presetID="18" presetClass="entr" presetSubtype="3" fill="hold" grpId="0" nodeType="afterEffect">
                                  <p:stCondLst>
                                    <p:cond delay="0"/>
                                  </p:stCondLst>
                                  <p:childTnLst>
                                    <p:set>
                                      <p:cBhvr>
                                        <p:cTn id="156" dur="1" fill="hold">
                                          <p:stCondLst>
                                            <p:cond delay="0"/>
                                          </p:stCondLst>
                                        </p:cTn>
                                        <p:tgtEl>
                                          <p:spTgt spid="111"/>
                                        </p:tgtEl>
                                        <p:attrNameLst>
                                          <p:attrName>style.visibility</p:attrName>
                                        </p:attrNameLst>
                                      </p:cBhvr>
                                      <p:to>
                                        <p:strVal val="visible"/>
                                      </p:to>
                                    </p:set>
                                    <p:animEffect transition="in" filter="strips(upRight)">
                                      <p:cBhvr>
                                        <p:cTn id="157" dur="5000"/>
                                        <p:tgtEl>
                                          <p:spTgt spid="111"/>
                                        </p:tgtEl>
                                      </p:cBhvr>
                                    </p:animEffect>
                                  </p:childTnLst>
                                  <p:subTnLst>
                                    <p:audio>
                                      <p:cMediaNode>
                                        <p:cTn display="0" masterRel="sameClick">
                                          <p:stCondLst>
                                            <p:cond evt="begin" delay="0">
                                              <p:tn val="155"/>
                                            </p:cond>
                                          </p:stCondLst>
                                          <p:endCondLst>
                                            <p:cond evt="onStopAudio" delay="0">
                                              <p:tgtEl>
                                                <p:sldTgt/>
                                              </p:tgtEl>
                                            </p:cond>
                                          </p:endCondLst>
                                        </p:cTn>
                                        <p:tgtEl>
                                          <p:sndTgt r:embed="rId3" name="CHIMES.WAV"/>
                                        </p:tgtEl>
                                      </p:cMediaNode>
                                    </p:audio>
                                  </p:subTnLst>
                                </p:cTn>
                              </p:par>
                              <p:par>
                                <p:cTn id="158" presetID="6" presetClass="emph" presetSubtype="0" fill="hold" grpId="1" nodeType="withEffect">
                                  <p:stCondLst>
                                    <p:cond delay="0"/>
                                  </p:stCondLst>
                                  <p:childTnLst>
                                    <p:animScale>
                                      <p:cBhvr>
                                        <p:cTn id="159" dur="9000" fill="hold"/>
                                        <p:tgtEl>
                                          <p:spTgt spid="102"/>
                                        </p:tgtEl>
                                      </p:cBhvr>
                                      <p:by x="100000" y="150000"/>
                                    </p:animScale>
                                  </p:childTnLst>
                                </p:cTn>
                              </p:par>
                              <p:par>
                                <p:cTn id="160" presetID="6" presetClass="emph" presetSubtype="0" fill="hold" grpId="3" nodeType="withEffect">
                                  <p:stCondLst>
                                    <p:cond delay="0"/>
                                  </p:stCondLst>
                                  <p:childTnLst>
                                    <p:animScale>
                                      <p:cBhvr>
                                        <p:cTn id="161" dur="9000" fill="hold"/>
                                        <p:tgtEl>
                                          <p:spTgt spid="101"/>
                                        </p:tgtEl>
                                      </p:cBhvr>
                                      <p:by x="200000" y="100000"/>
                                    </p:animScale>
                                  </p:childTnLst>
                                </p:cTn>
                              </p:par>
                              <p:par>
                                <p:cTn id="162" presetID="6" presetClass="emph" presetSubtype="0" fill="hold" grpId="4" nodeType="withEffect">
                                  <p:stCondLst>
                                    <p:cond delay="0"/>
                                  </p:stCondLst>
                                  <p:childTnLst>
                                    <p:animScale>
                                      <p:cBhvr>
                                        <p:cTn id="163" dur="9000" fill="hold"/>
                                        <p:tgtEl>
                                          <p:spTgt spid="101"/>
                                        </p:tgtEl>
                                      </p:cBhvr>
                                      <p:by x="100000" y="40000"/>
                                    </p:animScale>
                                  </p:childTnLst>
                                </p:cTn>
                              </p:par>
                              <p:par>
                                <p:cTn id="164" presetID="0" presetClass="path" presetSubtype="0" accel="50000" decel="50000" fill="hold" grpId="5" nodeType="withEffect">
                                  <p:stCondLst>
                                    <p:cond delay="0"/>
                                  </p:stCondLst>
                                  <p:childTnLst>
                                    <p:animMotion origin="layout" path="M 3.05556E-6 -4.44444E-6 L 0.00104 0.01528 " pathEditMode="relative" rAng="0" ptsTypes="AA">
                                      <p:cBhvr>
                                        <p:cTn id="165" dur="5000" fill="hold"/>
                                        <p:tgtEl>
                                          <p:spTgt spid="101"/>
                                        </p:tgtEl>
                                        <p:attrNameLst>
                                          <p:attrName>ppt_x</p:attrName>
                                          <p:attrName>ppt_y</p:attrName>
                                        </p:attrNameLst>
                                      </p:cBhvr>
                                      <p:rCtr x="5200" y="76400"/>
                                    </p:animMotion>
                                  </p:childTnLst>
                                </p:cTn>
                              </p:par>
                              <p:par>
                                <p:cTn id="166" presetID="0" presetClass="path" presetSubtype="0" accel="50000" decel="50000" fill="hold" grpId="2" nodeType="withEffect">
                                  <p:stCondLst>
                                    <p:cond delay="0"/>
                                  </p:stCondLst>
                                  <p:childTnLst>
                                    <p:animMotion origin="layout" path="M -3.05556E-6 -2.22222E-6 L -0.00104 0.01597 " pathEditMode="relative" rAng="0" ptsTypes="AA">
                                      <p:cBhvr>
                                        <p:cTn id="167" dur="5000" fill="hold"/>
                                        <p:tgtEl>
                                          <p:spTgt spid="102"/>
                                        </p:tgtEl>
                                        <p:attrNameLst>
                                          <p:attrName>ppt_x</p:attrName>
                                          <p:attrName>ppt_y</p:attrName>
                                        </p:attrNameLst>
                                      </p:cBhvr>
                                      <p:rCtr x="-5200" y="78700"/>
                                    </p:animMotion>
                                  </p:childTnLst>
                                </p:cTn>
                              </p:par>
                              <p:par>
                                <p:cTn id="168" presetID="18" presetClass="entr" presetSubtype="3" fill="hold" grpId="0" nodeType="withEffect">
                                  <p:stCondLst>
                                    <p:cond delay="5000"/>
                                  </p:stCondLst>
                                  <p:childTnLst>
                                    <p:set>
                                      <p:cBhvr>
                                        <p:cTn id="169" dur="1" fill="hold">
                                          <p:stCondLst>
                                            <p:cond delay="0"/>
                                          </p:stCondLst>
                                        </p:cTn>
                                        <p:tgtEl>
                                          <p:spTgt spid="92"/>
                                        </p:tgtEl>
                                        <p:attrNameLst>
                                          <p:attrName>style.visibility</p:attrName>
                                        </p:attrNameLst>
                                      </p:cBhvr>
                                      <p:to>
                                        <p:strVal val="visible"/>
                                      </p:to>
                                    </p:set>
                                    <p:animEffect transition="in" filter="strips(upRight)">
                                      <p:cBhvr>
                                        <p:cTn id="170" dur="5000"/>
                                        <p:tgtEl>
                                          <p:spTgt spid="92"/>
                                        </p:tgtEl>
                                      </p:cBhvr>
                                    </p:animEffect>
                                  </p:childTnLst>
                                  <p:subTnLst>
                                    <p:audio>
                                      <p:cMediaNode>
                                        <p:cTn display="0" masterRel="sameClick">
                                          <p:stCondLst>
                                            <p:cond evt="begin" delay="0">
                                              <p:tn val="168"/>
                                            </p:cond>
                                          </p:stCondLst>
                                          <p:endCondLst>
                                            <p:cond evt="onStopAudio" delay="0">
                                              <p:tgtEl>
                                                <p:sldTgt/>
                                              </p:tgtEl>
                                            </p:cond>
                                          </p:endCondLst>
                                        </p:cTn>
                                        <p:tgtEl>
                                          <p:sndTgt r:embed="rId4" name="LASER.WAV"/>
                                        </p:tgtEl>
                                      </p:cMediaNode>
                                    </p:audio>
                                  </p:subTnLst>
                                </p:cTn>
                              </p:par>
                            </p:childTnLst>
                          </p:cTn>
                        </p:par>
                        <p:par>
                          <p:cTn id="171" fill="hold">
                            <p:stCondLst>
                              <p:cond delay="20000"/>
                            </p:stCondLst>
                            <p:childTnLst>
                              <p:par>
                                <p:cTn id="172" presetID="14" presetClass="exit" presetSubtype="10" fill="hold" grpId="1" nodeType="afterEffect">
                                  <p:stCondLst>
                                    <p:cond delay="0"/>
                                  </p:stCondLst>
                                  <p:childTnLst>
                                    <p:animEffect transition="out" filter="randombar(horizontal)">
                                      <p:cBhvr>
                                        <p:cTn id="173" dur="500"/>
                                        <p:tgtEl>
                                          <p:spTgt spid="103"/>
                                        </p:tgtEl>
                                      </p:cBhvr>
                                    </p:animEffect>
                                    <p:set>
                                      <p:cBhvr>
                                        <p:cTn id="174" dur="1" fill="hold">
                                          <p:stCondLst>
                                            <p:cond delay="499"/>
                                          </p:stCondLst>
                                        </p:cTn>
                                        <p:tgtEl>
                                          <p:spTgt spid="103"/>
                                        </p:tgtEl>
                                        <p:attrNameLst>
                                          <p:attrName>style.visibility</p:attrName>
                                        </p:attrNameLst>
                                      </p:cBhvr>
                                      <p:to>
                                        <p:strVal val="hidden"/>
                                      </p:to>
                                    </p:set>
                                  </p:childTnLst>
                                </p:cTn>
                              </p:par>
                            </p:childTnLst>
                          </p:cTn>
                        </p:par>
                        <p:par>
                          <p:cTn id="175" fill="hold">
                            <p:stCondLst>
                              <p:cond delay="20500"/>
                            </p:stCondLst>
                            <p:childTnLst>
                              <p:par>
                                <p:cTn id="176" presetID="37" presetClass="exit" presetSubtype="0" fill="hold" grpId="3" nodeType="afterEffect">
                                  <p:stCondLst>
                                    <p:cond delay="0"/>
                                  </p:stCondLst>
                                  <p:childTnLst>
                                    <p:animEffect transition="out" filter="fade">
                                      <p:cBhvr>
                                        <p:cTn id="177" dur="500"/>
                                        <p:tgtEl>
                                          <p:spTgt spid="102"/>
                                        </p:tgtEl>
                                      </p:cBhvr>
                                    </p:animEffect>
                                    <p:anim calcmode="lin" valueType="num">
                                      <p:cBhvr>
                                        <p:cTn id="178" dur="500"/>
                                        <p:tgtEl>
                                          <p:spTgt spid="102"/>
                                        </p:tgtEl>
                                        <p:attrNameLst>
                                          <p:attrName>ppt_x</p:attrName>
                                        </p:attrNameLst>
                                      </p:cBhvr>
                                      <p:tavLst>
                                        <p:tav tm="0">
                                          <p:val>
                                            <p:strVal val="ppt_x"/>
                                          </p:val>
                                        </p:tav>
                                        <p:tav tm="100000">
                                          <p:val>
                                            <p:strVal val="ppt_x"/>
                                          </p:val>
                                        </p:tav>
                                      </p:tavLst>
                                    </p:anim>
                                    <p:anim calcmode="lin" valueType="num">
                                      <p:cBhvr>
                                        <p:cTn id="179" dur="50" decel="100000"/>
                                        <p:tgtEl>
                                          <p:spTgt spid="102"/>
                                        </p:tgtEl>
                                        <p:attrNameLst>
                                          <p:attrName>ppt_y</p:attrName>
                                        </p:attrNameLst>
                                      </p:cBhvr>
                                      <p:tavLst>
                                        <p:tav tm="0">
                                          <p:val>
                                            <p:strVal val="ppt_y"/>
                                          </p:val>
                                        </p:tav>
                                        <p:tav tm="100000">
                                          <p:val>
                                            <p:strVal val="ppt_y-.03"/>
                                          </p:val>
                                        </p:tav>
                                      </p:tavLst>
                                    </p:anim>
                                    <p:anim calcmode="lin" valueType="num">
                                      <p:cBhvr>
                                        <p:cTn id="180" dur="450" accel="100000">
                                          <p:stCondLst>
                                            <p:cond delay="50"/>
                                          </p:stCondLst>
                                        </p:cTn>
                                        <p:tgtEl>
                                          <p:spTgt spid="102"/>
                                        </p:tgtEl>
                                        <p:attrNameLst>
                                          <p:attrName>ppt_y</p:attrName>
                                        </p:attrNameLst>
                                      </p:cBhvr>
                                      <p:tavLst>
                                        <p:tav tm="0">
                                          <p:val>
                                            <p:strVal val="ppt_y"/>
                                          </p:val>
                                        </p:tav>
                                        <p:tav tm="100000">
                                          <p:val>
                                            <p:strVal val="ppt_y+1"/>
                                          </p:val>
                                        </p:tav>
                                      </p:tavLst>
                                    </p:anim>
                                    <p:set>
                                      <p:cBhvr>
                                        <p:cTn id="181" dur="1" fill="hold">
                                          <p:stCondLst>
                                            <p:cond delay="499"/>
                                          </p:stCondLst>
                                        </p:cTn>
                                        <p:tgtEl>
                                          <p:spTgt spid="102"/>
                                        </p:tgtEl>
                                        <p:attrNameLst>
                                          <p:attrName>style.visibility</p:attrName>
                                        </p:attrNameLst>
                                      </p:cBhvr>
                                      <p:to>
                                        <p:strVal val="hidden"/>
                                      </p:to>
                                    </p:set>
                                  </p:childTnLst>
                                </p:cTn>
                              </p:par>
                            </p:childTnLst>
                          </p:cTn>
                        </p:par>
                        <p:par>
                          <p:cTn id="182" fill="hold">
                            <p:stCondLst>
                              <p:cond delay="21000"/>
                            </p:stCondLst>
                            <p:childTnLst>
                              <p:par>
                                <p:cTn id="183" presetID="55" presetClass="exit" presetSubtype="0" fill="hold" grpId="6" nodeType="afterEffect">
                                  <p:stCondLst>
                                    <p:cond delay="0"/>
                                  </p:stCondLst>
                                  <p:childTnLst>
                                    <p:anim calcmode="lin" valueType="num">
                                      <p:cBhvr>
                                        <p:cTn id="184" dur="500"/>
                                        <p:tgtEl>
                                          <p:spTgt spid="101"/>
                                        </p:tgtEl>
                                        <p:attrNameLst>
                                          <p:attrName>ppt_w</p:attrName>
                                        </p:attrNameLst>
                                      </p:cBhvr>
                                      <p:tavLst>
                                        <p:tav tm="0">
                                          <p:val>
                                            <p:strVal val="ppt_w"/>
                                          </p:val>
                                        </p:tav>
                                        <p:tav tm="100000">
                                          <p:val>
                                            <p:strVal val="ppt_w*0.70"/>
                                          </p:val>
                                        </p:tav>
                                      </p:tavLst>
                                    </p:anim>
                                    <p:anim calcmode="lin" valueType="num">
                                      <p:cBhvr>
                                        <p:cTn id="185" dur="500"/>
                                        <p:tgtEl>
                                          <p:spTgt spid="101"/>
                                        </p:tgtEl>
                                        <p:attrNameLst>
                                          <p:attrName>ppt_h</p:attrName>
                                        </p:attrNameLst>
                                      </p:cBhvr>
                                      <p:tavLst>
                                        <p:tav tm="0">
                                          <p:val>
                                            <p:strVal val="ppt_h"/>
                                          </p:val>
                                        </p:tav>
                                        <p:tav tm="100000">
                                          <p:val>
                                            <p:strVal val="ppt_h"/>
                                          </p:val>
                                        </p:tav>
                                      </p:tavLst>
                                    </p:anim>
                                    <p:animEffect transition="out" filter="fade">
                                      <p:cBhvr>
                                        <p:cTn id="186" dur="500"/>
                                        <p:tgtEl>
                                          <p:spTgt spid="101"/>
                                        </p:tgtEl>
                                      </p:cBhvr>
                                    </p:animEffect>
                                    <p:set>
                                      <p:cBhvr>
                                        <p:cTn id="187" dur="1" fill="hold">
                                          <p:stCondLst>
                                            <p:cond delay="499"/>
                                          </p:stCondLst>
                                        </p:cTn>
                                        <p:tgtEl>
                                          <p:spTgt spid="101"/>
                                        </p:tgtEl>
                                        <p:attrNameLst>
                                          <p:attrName>style.visibility</p:attrName>
                                        </p:attrNameLst>
                                      </p:cBhvr>
                                      <p:to>
                                        <p:strVal val="hidden"/>
                                      </p:to>
                                    </p:set>
                                  </p:childTnLst>
                                </p:cTn>
                              </p:par>
                              <p:par>
                                <p:cTn id="188" presetID="1" presetClass="entr" presetSubtype="0" fill="hold" nodeType="withEffect">
                                  <p:stCondLst>
                                    <p:cond delay="0"/>
                                  </p:stCondLst>
                                  <p:childTnLst>
                                    <p:set>
                                      <p:cBhvr>
                                        <p:cTn id="189" dur="1" fill="hold">
                                          <p:stCondLst>
                                            <p:cond delay="0"/>
                                          </p:stCondLst>
                                        </p:cTn>
                                        <p:tgtEl>
                                          <p:spTgt spid="104"/>
                                        </p:tgtEl>
                                        <p:attrNameLst>
                                          <p:attrName>style.visibility</p:attrName>
                                        </p:attrNameLst>
                                      </p:cBhvr>
                                      <p:to>
                                        <p:strVal val="visible"/>
                                      </p:to>
                                    </p:set>
                                  </p:childTnLst>
                                </p:cTn>
                              </p:par>
                            </p:childTnLst>
                          </p:cTn>
                        </p:par>
                      </p:childTnLst>
                    </p:cTn>
                  </p:par>
                  <p:par>
                    <p:cTn id="190" fill="hold">
                      <p:stCondLst>
                        <p:cond delay="indefinite"/>
                      </p:stCondLst>
                      <p:childTnLst>
                        <p:par>
                          <p:cTn id="191" fill="hold">
                            <p:stCondLst>
                              <p:cond delay="0"/>
                            </p:stCondLst>
                            <p:childTnLst>
                              <p:par>
                                <p:cTn id="192" presetID="23" presetClass="entr" presetSubtype="272" fill="hold" grpId="0" nodeType="clickEffect">
                                  <p:stCondLst>
                                    <p:cond delay="0"/>
                                  </p:stCondLst>
                                  <p:childTnLst>
                                    <p:set>
                                      <p:cBhvr>
                                        <p:cTn id="193" dur="1" fill="hold">
                                          <p:stCondLst>
                                            <p:cond delay="0"/>
                                          </p:stCondLst>
                                        </p:cTn>
                                        <p:tgtEl>
                                          <p:spTgt spid="98"/>
                                        </p:tgtEl>
                                        <p:attrNameLst>
                                          <p:attrName>style.visibility</p:attrName>
                                        </p:attrNameLst>
                                      </p:cBhvr>
                                      <p:to>
                                        <p:strVal val="visible"/>
                                      </p:to>
                                    </p:set>
                                    <p:anim calcmode="lin" valueType="num">
                                      <p:cBhvr>
                                        <p:cTn id="194" dur="500" fill="hold"/>
                                        <p:tgtEl>
                                          <p:spTgt spid="98"/>
                                        </p:tgtEl>
                                        <p:attrNameLst>
                                          <p:attrName>ppt_w</p:attrName>
                                        </p:attrNameLst>
                                      </p:cBhvr>
                                      <p:tavLst>
                                        <p:tav tm="0">
                                          <p:val>
                                            <p:strVal val="2/3*#ppt_w"/>
                                          </p:val>
                                        </p:tav>
                                        <p:tav tm="100000">
                                          <p:val>
                                            <p:strVal val="#ppt_w"/>
                                          </p:val>
                                        </p:tav>
                                      </p:tavLst>
                                    </p:anim>
                                    <p:anim calcmode="lin" valueType="num">
                                      <p:cBhvr>
                                        <p:cTn id="195" dur="500" fill="hold"/>
                                        <p:tgtEl>
                                          <p:spTgt spid="98"/>
                                        </p:tgtEl>
                                        <p:attrNameLst>
                                          <p:attrName>ppt_h</p:attrName>
                                        </p:attrNameLst>
                                      </p:cBhvr>
                                      <p:tavLst>
                                        <p:tav tm="0">
                                          <p:val>
                                            <p:strVal val="2/3*#ppt_h"/>
                                          </p:val>
                                        </p:tav>
                                        <p:tav tm="100000">
                                          <p:val>
                                            <p:strVal val="#ppt_h"/>
                                          </p:val>
                                        </p:tav>
                                      </p:tavLst>
                                    </p:anim>
                                  </p:childTnLst>
                                  <p:subTnLst>
                                    <p:audio>
                                      <p:cMediaNode>
                                        <p:cTn display="0" masterRel="sameClick">
                                          <p:stCondLst>
                                            <p:cond evt="begin" delay="0">
                                              <p:tn val="192"/>
                                            </p:cond>
                                          </p:stCondLst>
                                          <p:endCondLst>
                                            <p:cond evt="onStopAudio" delay="0">
                                              <p:tgtEl>
                                                <p:sldTgt/>
                                              </p:tgtEl>
                                            </p:cond>
                                          </p:endCondLst>
                                        </p:cTn>
                                        <p:tgtEl>
                                          <p:sndTgt r:embed="rId3" name="CHIMES.WAV"/>
                                        </p:tgtEl>
                                      </p:cMediaNode>
                                    </p:audio>
                                  </p:subTnLst>
                                </p:cTn>
                              </p:par>
                            </p:childTnLst>
                          </p:cTn>
                        </p:par>
                        <p:par>
                          <p:cTn id="196" fill="hold">
                            <p:stCondLst>
                              <p:cond delay="500"/>
                            </p:stCondLst>
                            <p:childTnLst>
                              <p:par>
                                <p:cTn id="197" presetID="17" presetClass="entr" presetSubtype="10" fill="hold" grpId="0" nodeType="afterEffect">
                                  <p:stCondLst>
                                    <p:cond delay="500"/>
                                  </p:stCondLst>
                                  <p:childTnLst>
                                    <p:set>
                                      <p:cBhvr>
                                        <p:cTn id="198" dur="1" fill="hold">
                                          <p:stCondLst>
                                            <p:cond delay="0"/>
                                          </p:stCondLst>
                                        </p:cTn>
                                        <p:tgtEl>
                                          <p:spTgt spid="95"/>
                                        </p:tgtEl>
                                        <p:attrNameLst>
                                          <p:attrName>style.visibility</p:attrName>
                                        </p:attrNameLst>
                                      </p:cBhvr>
                                      <p:to>
                                        <p:strVal val="visible"/>
                                      </p:to>
                                    </p:set>
                                    <p:anim calcmode="lin" valueType="num">
                                      <p:cBhvr>
                                        <p:cTn id="199" dur="500" fill="hold"/>
                                        <p:tgtEl>
                                          <p:spTgt spid="95"/>
                                        </p:tgtEl>
                                        <p:attrNameLst>
                                          <p:attrName>ppt_w</p:attrName>
                                        </p:attrNameLst>
                                      </p:cBhvr>
                                      <p:tavLst>
                                        <p:tav tm="0">
                                          <p:val>
                                            <p:fltVal val="0"/>
                                          </p:val>
                                        </p:tav>
                                        <p:tav tm="100000">
                                          <p:val>
                                            <p:strVal val="#ppt_w"/>
                                          </p:val>
                                        </p:tav>
                                      </p:tavLst>
                                    </p:anim>
                                    <p:anim calcmode="lin" valueType="num">
                                      <p:cBhvr>
                                        <p:cTn id="200" dur="500" fill="hold"/>
                                        <p:tgtEl>
                                          <p:spTgt spid="95"/>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97"/>
                                            </p:cond>
                                          </p:stCondLst>
                                          <p:endCondLst>
                                            <p:cond evt="onStopAudio" delay="0">
                                              <p:tgtEl>
                                                <p:sldTgt/>
                                              </p:tgtEl>
                                            </p:cond>
                                          </p:endCondLst>
                                        </p:cTn>
                                        <p:tgtEl>
                                          <p:sndTgt r:embed="rId3" name="CHIMES.WAV"/>
                                        </p:tgtEl>
                                      </p:cMediaNode>
                                    </p:audio>
                                  </p:subTnLst>
                                </p:cTn>
                              </p:par>
                            </p:childTnLst>
                          </p:cTn>
                        </p:par>
                      </p:childTnLst>
                    </p:cTn>
                  </p:par>
                  <p:par>
                    <p:cTn id="201" fill="hold">
                      <p:stCondLst>
                        <p:cond delay="indefinite"/>
                      </p:stCondLst>
                      <p:childTnLst>
                        <p:par>
                          <p:cTn id="202" fill="hold">
                            <p:stCondLst>
                              <p:cond delay="0"/>
                            </p:stCondLst>
                            <p:childTnLst>
                              <p:par>
                                <p:cTn id="203" presetID="23" presetClass="entr" presetSubtype="272" fill="hold" grpId="0" nodeType="clickEffect">
                                  <p:stCondLst>
                                    <p:cond delay="0"/>
                                  </p:stCondLst>
                                  <p:childTnLst>
                                    <p:set>
                                      <p:cBhvr>
                                        <p:cTn id="204" dur="1" fill="hold">
                                          <p:stCondLst>
                                            <p:cond delay="0"/>
                                          </p:stCondLst>
                                        </p:cTn>
                                        <p:tgtEl>
                                          <p:spTgt spid="112"/>
                                        </p:tgtEl>
                                        <p:attrNameLst>
                                          <p:attrName>style.visibility</p:attrName>
                                        </p:attrNameLst>
                                      </p:cBhvr>
                                      <p:to>
                                        <p:strVal val="visible"/>
                                      </p:to>
                                    </p:set>
                                    <p:anim calcmode="lin" valueType="num">
                                      <p:cBhvr>
                                        <p:cTn id="205" dur="500" fill="hold"/>
                                        <p:tgtEl>
                                          <p:spTgt spid="112"/>
                                        </p:tgtEl>
                                        <p:attrNameLst>
                                          <p:attrName>ppt_w</p:attrName>
                                        </p:attrNameLst>
                                      </p:cBhvr>
                                      <p:tavLst>
                                        <p:tav tm="0">
                                          <p:val>
                                            <p:strVal val="2/3*#ppt_w"/>
                                          </p:val>
                                        </p:tav>
                                        <p:tav tm="100000">
                                          <p:val>
                                            <p:strVal val="#ppt_w"/>
                                          </p:val>
                                        </p:tav>
                                      </p:tavLst>
                                    </p:anim>
                                    <p:anim calcmode="lin" valueType="num">
                                      <p:cBhvr>
                                        <p:cTn id="206" dur="500" fill="hold"/>
                                        <p:tgtEl>
                                          <p:spTgt spid="112"/>
                                        </p:tgtEl>
                                        <p:attrNameLst>
                                          <p:attrName>ppt_h</p:attrName>
                                        </p:attrNameLst>
                                      </p:cBhvr>
                                      <p:tavLst>
                                        <p:tav tm="0">
                                          <p:val>
                                            <p:strVal val="2/3*#ppt_h"/>
                                          </p:val>
                                        </p:tav>
                                        <p:tav tm="100000">
                                          <p:val>
                                            <p:strVal val="#ppt_h"/>
                                          </p:val>
                                        </p:tav>
                                      </p:tavLst>
                                    </p:anim>
                                  </p:childTnLst>
                                  <p:subTnLst>
                                    <p:audio>
                                      <p:cMediaNode>
                                        <p:cTn display="0" masterRel="sameClick">
                                          <p:stCondLst>
                                            <p:cond evt="begin" delay="0">
                                              <p:tn val="203"/>
                                            </p:cond>
                                          </p:stCondLst>
                                          <p:endCondLst>
                                            <p:cond evt="onStopAudio" delay="0">
                                              <p:tgtEl>
                                                <p:sldTgt/>
                                              </p:tgtEl>
                                            </p:cond>
                                          </p:endCondLst>
                                        </p:cTn>
                                        <p:tgtEl>
                                          <p:sndTgt r:embed="rId3" name="CHIMES.WAV"/>
                                        </p:tgtEl>
                                      </p:cMediaNode>
                                    </p:audio>
                                  </p:subTnLst>
                                </p:cTn>
                              </p:par>
                            </p:childTnLst>
                          </p:cTn>
                        </p:par>
                        <p:par>
                          <p:cTn id="207" fill="hold">
                            <p:stCondLst>
                              <p:cond delay="500"/>
                            </p:stCondLst>
                            <p:childTnLst>
                              <p:par>
                                <p:cTn id="208" presetID="17" presetClass="entr" presetSubtype="10" fill="hold" grpId="0" nodeType="afterEffect">
                                  <p:stCondLst>
                                    <p:cond delay="500"/>
                                  </p:stCondLst>
                                  <p:childTnLst>
                                    <p:set>
                                      <p:cBhvr>
                                        <p:cTn id="209" dur="1" fill="hold">
                                          <p:stCondLst>
                                            <p:cond delay="0"/>
                                          </p:stCondLst>
                                        </p:cTn>
                                        <p:tgtEl>
                                          <p:spTgt spid="96"/>
                                        </p:tgtEl>
                                        <p:attrNameLst>
                                          <p:attrName>style.visibility</p:attrName>
                                        </p:attrNameLst>
                                      </p:cBhvr>
                                      <p:to>
                                        <p:strVal val="visible"/>
                                      </p:to>
                                    </p:set>
                                    <p:anim calcmode="lin" valueType="num">
                                      <p:cBhvr>
                                        <p:cTn id="210" dur="500" fill="hold"/>
                                        <p:tgtEl>
                                          <p:spTgt spid="96"/>
                                        </p:tgtEl>
                                        <p:attrNameLst>
                                          <p:attrName>ppt_w</p:attrName>
                                        </p:attrNameLst>
                                      </p:cBhvr>
                                      <p:tavLst>
                                        <p:tav tm="0">
                                          <p:val>
                                            <p:fltVal val="0"/>
                                          </p:val>
                                        </p:tav>
                                        <p:tav tm="100000">
                                          <p:val>
                                            <p:strVal val="#ppt_w"/>
                                          </p:val>
                                        </p:tav>
                                      </p:tavLst>
                                    </p:anim>
                                    <p:anim calcmode="lin" valueType="num">
                                      <p:cBhvr>
                                        <p:cTn id="211" dur="500" fill="hold"/>
                                        <p:tgtEl>
                                          <p:spTgt spid="96"/>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08"/>
                                            </p:cond>
                                          </p:stCondLst>
                                          <p:endCondLst>
                                            <p:cond evt="onStopAudio" delay="0">
                                              <p:tgtEl>
                                                <p:sldTgt/>
                                              </p:tgtEl>
                                            </p:cond>
                                          </p:endCondLst>
                                        </p:cTn>
                                        <p:tgtEl>
                                          <p:sndTgt r:embed="rId3" name="CHIMES.WAV"/>
                                        </p:tgtEl>
                                      </p:cMediaNode>
                                    </p:audio>
                                  </p:subTnLst>
                                </p:cTn>
                              </p:par>
                            </p:childTnLst>
                          </p:cTn>
                        </p:par>
                      </p:childTnLst>
                    </p:cTn>
                  </p:par>
                  <p:par>
                    <p:cTn id="212" fill="hold">
                      <p:stCondLst>
                        <p:cond delay="indefinite"/>
                      </p:stCondLst>
                      <p:childTnLst>
                        <p:par>
                          <p:cTn id="213" fill="hold">
                            <p:stCondLst>
                              <p:cond delay="0"/>
                            </p:stCondLst>
                            <p:childTnLst>
                              <p:par>
                                <p:cTn id="214" presetID="1" presetClass="entr" presetSubtype="0" fill="hold" grpId="0" nodeType="clickEffect">
                                  <p:stCondLst>
                                    <p:cond delay="0"/>
                                  </p:stCondLst>
                                  <p:childTnLst>
                                    <p:set>
                                      <p:cBhvr>
                                        <p:cTn id="215" dur="1" fill="hold">
                                          <p:stCondLst>
                                            <p:cond delay="0"/>
                                          </p:stCondLst>
                                        </p:cTn>
                                        <p:tgtEl>
                                          <p:spTgt spid="3"/>
                                        </p:tgtEl>
                                        <p:attrNameLst>
                                          <p:attrName>style.visibility</p:attrName>
                                        </p:attrNameLst>
                                      </p:cBhvr>
                                      <p:to>
                                        <p:strVal val="visible"/>
                                      </p:to>
                                    </p:set>
                                  </p:childTnLst>
                                </p:cTn>
                              </p:par>
                            </p:childTnLst>
                          </p:cTn>
                        </p:par>
                      </p:childTnLst>
                    </p:cTn>
                  </p:par>
                  <p:par>
                    <p:cTn id="216" fill="hold">
                      <p:stCondLst>
                        <p:cond delay="indefinite"/>
                      </p:stCondLst>
                      <p:childTnLst>
                        <p:par>
                          <p:cTn id="217" fill="hold">
                            <p:stCondLst>
                              <p:cond delay="0"/>
                            </p:stCondLst>
                            <p:childTnLst>
                              <p:par>
                                <p:cTn id="218" presetID="1" presetClass="entr" presetSubtype="0" fill="hold" grpId="0" nodeType="clickEffect">
                                  <p:stCondLst>
                                    <p:cond delay="0"/>
                                  </p:stCondLst>
                                  <p:childTnLst>
                                    <p:set>
                                      <p:cBhvr>
                                        <p:cTn id="219" dur="1" fill="hold">
                                          <p:stCondLst>
                                            <p:cond delay="499"/>
                                          </p:stCondLst>
                                        </p:cTn>
                                        <p:tgtEl>
                                          <p:spTgt spid="20"/>
                                        </p:tgtEl>
                                        <p:attrNameLst>
                                          <p:attrName>style.visibility</p:attrName>
                                        </p:attrNameLst>
                                      </p:cBhvr>
                                      <p:to>
                                        <p:strVal val="visible"/>
                                      </p:to>
                                    </p:set>
                                  </p:childTnLst>
                                </p:cTn>
                              </p:par>
                            </p:childTnLst>
                          </p:cTn>
                        </p:par>
                      </p:childTnLst>
                    </p:cTn>
                  </p:par>
                  <p:par>
                    <p:cTn id="220" fill="hold">
                      <p:stCondLst>
                        <p:cond delay="indefinite"/>
                      </p:stCondLst>
                      <p:childTnLst>
                        <p:par>
                          <p:cTn id="221" fill="hold">
                            <p:stCondLst>
                              <p:cond delay="0"/>
                            </p:stCondLst>
                            <p:childTnLst>
                              <p:par>
                                <p:cTn id="222" presetID="1" presetClass="entr" presetSubtype="0" fill="hold" grpId="0" nodeType="clickEffect">
                                  <p:stCondLst>
                                    <p:cond delay="0"/>
                                  </p:stCondLst>
                                  <p:childTnLst>
                                    <p:set>
                                      <p:cBhvr>
                                        <p:cTn id="223" dur="1" fill="hold">
                                          <p:stCondLst>
                                            <p:cond delay="499"/>
                                          </p:stCondLst>
                                        </p:cTn>
                                        <p:tgtEl>
                                          <p:spTgt spid="1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53" grpId="0" autoUpdateAnimBg="0"/>
      <p:bldP spid="20" grpId="0" autoUpdateAnimBg="0"/>
      <p:bldP spid="75" grpId="0" animBg="1"/>
      <p:bldP spid="76" grpId="0" animBg="1"/>
      <p:bldP spid="77" grpId="0" animBg="1"/>
      <p:bldP spid="78" grpId="0" autoUpdateAnimBg="0"/>
      <p:bldP spid="79" grpId="0" autoUpdateAnimBg="0"/>
      <p:bldP spid="80" grpId="0" autoUpdateAnimBg="0"/>
      <p:bldP spid="81" grpId="0" animBg="1"/>
      <p:bldP spid="82" grpId="0" animBg="1"/>
      <p:bldP spid="83" grpId="0" animBg="1"/>
      <p:bldP spid="84" grpId="0" animBg="1"/>
      <p:bldP spid="85" grpId="0" animBg="1"/>
      <p:bldP spid="86" grpId="0" animBg="1"/>
      <p:bldP spid="87" grpId="0" animBg="1"/>
      <p:bldP spid="88" grpId="0" animBg="1"/>
      <p:bldP spid="89" grpId="0" autoUpdateAnimBg="0"/>
      <p:bldP spid="90" grpId="0" animBg="1"/>
      <p:bldP spid="91" grpId="0" animBg="1"/>
      <p:bldP spid="92" grpId="0" animBg="1"/>
      <p:bldP spid="93" grpId="0" animBg="1"/>
      <p:bldP spid="94" grpId="0" animBg="1"/>
      <p:bldP spid="95" grpId="0" autoUpdateAnimBg="0"/>
      <p:bldP spid="96" grpId="0" autoUpdateAnimBg="0"/>
      <p:bldP spid="97" grpId="0" animBg="1"/>
      <p:bldP spid="98" grpId="0" animBg="1"/>
      <p:bldP spid="99" grpId="0" autoUpdateAnimBg="0"/>
      <p:bldP spid="100" grpId="0" autoUpdateAnimBg="0"/>
      <p:bldP spid="101" grpId="0" animBg="1"/>
      <p:bldP spid="101" grpId="1" animBg="1"/>
      <p:bldP spid="101" grpId="2" animBg="1"/>
      <p:bldP spid="101" grpId="3" animBg="1"/>
      <p:bldP spid="101" grpId="4" animBg="1"/>
      <p:bldP spid="101" grpId="5" animBg="1"/>
      <p:bldP spid="101" grpId="6" animBg="1"/>
      <p:bldP spid="102" grpId="0" animBg="1"/>
      <p:bldP spid="102" grpId="1" animBg="1"/>
      <p:bldP spid="102" grpId="2" animBg="1"/>
      <p:bldP spid="102" grpId="3" animBg="1"/>
      <p:bldP spid="103" grpId="0" autoUpdateAnimBg="0"/>
      <p:bldP spid="103" grpId="1"/>
      <p:bldP spid="108" grpId="0" animBg="1"/>
      <p:bldP spid="109" grpId="0" animBg="1"/>
      <p:bldP spid="110" grpId="0" animBg="1"/>
      <p:bldP spid="111" grpId="0" animBg="1"/>
      <p:bldP spid="112" grpId="0" animBg="1"/>
      <p:bldP spid="113" grpId="0" animBg="1"/>
      <p:bldP spid="114" grpId="0" autoUpdateAnimBg="0"/>
      <p:bldP spid="3"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711605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第八章   拉压、剪切与挤压的强度计算</a:t>
            </a:r>
          </a:p>
        </p:txBody>
      </p:sp>
      <p:sp>
        <p:nvSpPr>
          <p:cNvPr id="9" name="Rectangle 61"/>
          <p:cNvSpPr>
            <a:spLocks noChangeArrowheads="1"/>
          </p:cNvSpPr>
          <p:nvPr/>
        </p:nvSpPr>
        <p:spPr bwMode="auto">
          <a:xfrm>
            <a:off x="6816080" y="2251204"/>
            <a:ext cx="4997809" cy="3999939"/>
          </a:xfrm>
          <a:prstGeom prst="rect">
            <a:avLst/>
          </a:prstGeom>
          <a:solidFill>
            <a:srgbClr val="B9CDE5"/>
          </a:solidFill>
          <a:ln>
            <a:noFill/>
          </a:ln>
          <a:effectLst/>
        </p:spPr>
        <p:txBody>
          <a:bodyPr wrap="none" anchor="ctr"/>
          <a:lstStyle/>
          <a:p>
            <a:endParaRPr lang="zh-CN" altLang="en-US"/>
          </a:p>
        </p:txBody>
      </p:sp>
      <p:sp>
        <p:nvSpPr>
          <p:cNvPr id="53" name="Text Box 1032"/>
          <p:cNvSpPr txBox="1">
            <a:spLocks noChangeArrowheads="1"/>
          </p:cNvSpPr>
          <p:nvPr/>
        </p:nvSpPr>
        <p:spPr bwMode="auto">
          <a:xfrm>
            <a:off x="276094" y="977310"/>
            <a:ext cx="11148498" cy="1643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lnSpc>
                <a:spcPct val="120000"/>
              </a:lnSpc>
            </a:pPr>
            <a:r>
              <a:rPr lang="zh-CN" altLang="en-US" sz="2800" i="0" dirty="0">
                <a:latin typeface="+mn-lt"/>
                <a:ea typeface="微软雅黑" panose="020B0503020204020204" pitchFamily="34" charset="-122"/>
              </a:rPr>
              <a:t>铸铁压缩时的</a:t>
            </a:r>
            <a:r>
              <a:rPr lang="zh-CN" altLang="en-US" sz="2800" b="0" dirty="0">
                <a:latin typeface="+mn-lt"/>
                <a:ea typeface="微软雅黑" panose="020B0503020204020204" pitchFamily="34" charset="-122"/>
                <a:sym typeface="Symbol" panose="05050102010706020507" pitchFamily="18" charset="2"/>
              </a:rPr>
              <a:t></a:t>
            </a:r>
            <a:r>
              <a:rPr lang="en-US" altLang="zh-CN" sz="2800" b="0" dirty="0">
                <a:latin typeface="+mn-lt"/>
                <a:ea typeface="微软雅黑" panose="020B0503020204020204" pitchFamily="34" charset="-122"/>
              </a:rPr>
              <a:t>-</a:t>
            </a:r>
            <a:r>
              <a:rPr lang="en-US" altLang="zh-CN" sz="2800" b="0" dirty="0">
                <a:latin typeface="+mn-lt"/>
                <a:ea typeface="微软雅黑" panose="020B0503020204020204" pitchFamily="34" charset="-122"/>
                <a:sym typeface="Symbol" panose="05050102010706020507" pitchFamily="18" charset="2"/>
              </a:rPr>
              <a:t> </a:t>
            </a:r>
            <a:r>
              <a:rPr lang="zh-CN" altLang="en-US" sz="2800" i="0" dirty="0">
                <a:latin typeface="+mn-lt"/>
                <a:ea typeface="微软雅黑" panose="020B0503020204020204" pitchFamily="34" charset="-122"/>
              </a:rPr>
              <a:t>曲线也没有直线部分。因此，压缩时也只是近似地服从胡克定律。铸铁压缩时的抗压强度比抗拉强度高出</a:t>
            </a:r>
            <a:r>
              <a:rPr lang="en-US" altLang="zh-CN" sz="2800" b="0" i="0" dirty="0">
                <a:latin typeface="+mn-lt"/>
                <a:ea typeface="微软雅黑" panose="020B0503020204020204" pitchFamily="34" charset="-122"/>
              </a:rPr>
              <a:t>4</a:t>
            </a:r>
            <a:r>
              <a:rPr lang="zh-CN" altLang="en-US" sz="2800" b="0" i="0" dirty="0">
                <a:latin typeface="+mn-lt"/>
                <a:ea typeface="微软雅黑" panose="020B0503020204020204" pitchFamily="34" charset="-122"/>
              </a:rPr>
              <a:t>～</a:t>
            </a:r>
            <a:r>
              <a:rPr lang="en-US" altLang="zh-CN" sz="2800" b="0" i="0" dirty="0">
                <a:latin typeface="+mn-lt"/>
                <a:ea typeface="微软雅黑" panose="020B0503020204020204" pitchFamily="34" charset="-122"/>
              </a:rPr>
              <a:t>5</a:t>
            </a:r>
            <a:r>
              <a:rPr lang="zh-CN" altLang="en-US" sz="2800" i="0" dirty="0">
                <a:latin typeface="+mn-lt"/>
                <a:ea typeface="微软雅黑" panose="020B0503020204020204" pitchFamily="34" charset="-122"/>
              </a:rPr>
              <a:t>倍。</a:t>
            </a:r>
            <a:r>
              <a:rPr lang="zh-CN" altLang="en-US" sz="2800" i="0" dirty="0">
                <a:latin typeface="+mn-lt"/>
                <a:ea typeface="微软雅黑" panose="020B0503020204020204" pitchFamily="34" charset="-122"/>
                <a:cs typeface="楷体_GB2312"/>
              </a:rPr>
              <a:t>断裂面为与轴向大致成</a:t>
            </a:r>
            <a:r>
              <a:rPr lang="en-US" altLang="zh-CN" sz="2800" b="0" i="0" dirty="0">
                <a:latin typeface="+mn-lt"/>
                <a:ea typeface="微软雅黑" panose="020B0503020204020204" pitchFamily="34" charset="-122"/>
                <a:cs typeface="楷体_GB2312"/>
              </a:rPr>
              <a:t>45</a:t>
            </a:r>
            <a:r>
              <a:rPr lang="en-US" altLang="zh-CN" sz="2800" b="0" i="0" baseline="30000" dirty="0">
                <a:latin typeface="+mn-lt"/>
                <a:ea typeface="微软雅黑" panose="020B0503020204020204" pitchFamily="34" charset="-122"/>
                <a:cs typeface="楷体_GB2312"/>
              </a:rPr>
              <a:t>o</a:t>
            </a:r>
            <a:r>
              <a:rPr lang="zh-CN" altLang="en-US" sz="2800" b="0" i="0" dirty="0">
                <a:latin typeface="+mn-lt"/>
                <a:ea typeface="微软雅黑" panose="020B0503020204020204" pitchFamily="34" charset="-122"/>
                <a:cs typeface="楷体_GB2312"/>
              </a:rPr>
              <a:t>～</a:t>
            </a:r>
            <a:r>
              <a:rPr lang="en-US" altLang="zh-CN" sz="2800" b="0" i="0" dirty="0">
                <a:latin typeface="+mn-lt"/>
                <a:ea typeface="微软雅黑" panose="020B0503020204020204" pitchFamily="34" charset="-122"/>
                <a:cs typeface="楷体_GB2312"/>
              </a:rPr>
              <a:t>55</a:t>
            </a:r>
            <a:r>
              <a:rPr lang="en-US" altLang="zh-CN" sz="2800" b="0" i="0" baseline="30000" dirty="0">
                <a:latin typeface="+mn-lt"/>
                <a:ea typeface="微软雅黑" panose="020B0503020204020204" pitchFamily="34" charset="-122"/>
                <a:cs typeface="楷体_GB2312"/>
              </a:rPr>
              <a:t>o</a:t>
            </a:r>
            <a:r>
              <a:rPr lang="zh-CN" altLang="en-US" sz="2800" i="0" dirty="0">
                <a:latin typeface="+mn-lt"/>
                <a:ea typeface="微软雅黑" panose="020B0503020204020204" pitchFamily="34" charset="-122"/>
                <a:cs typeface="楷体_GB2312"/>
              </a:rPr>
              <a:t>的滑移面破坏。</a:t>
            </a:r>
            <a:endParaRPr kumimoji="1" lang="zh-CN" altLang="en-US" sz="2800" i="0" dirty="0">
              <a:latin typeface="+mn-lt"/>
              <a:ea typeface="微软雅黑" panose="020B0503020204020204" pitchFamily="34" charset="-122"/>
            </a:endParaRPr>
          </a:p>
        </p:txBody>
      </p:sp>
      <p:sp>
        <p:nvSpPr>
          <p:cNvPr id="3" name="矩形 2"/>
          <p:cNvSpPr/>
          <p:nvPr/>
        </p:nvSpPr>
        <p:spPr>
          <a:xfrm>
            <a:off x="8362053" y="5754690"/>
            <a:ext cx="2535363" cy="461665"/>
          </a:xfrm>
          <a:prstGeom prst="rect">
            <a:avLst/>
          </a:prstGeom>
        </p:spPr>
        <p:txBody>
          <a:bodyPr wrap="square">
            <a:spAutoFit/>
          </a:bodyPr>
          <a:lstStyle/>
          <a:p>
            <a:pPr eaLnBrk="1" hangingPunct="1">
              <a:spcBef>
                <a:spcPct val="50000"/>
              </a:spcBef>
            </a:pPr>
            <a:r>
              <a:rPr lang="zh-CN" altLang="en-US" i="0" dirty="0">
                <a:solidFill>
                  <a:schemeClr val="tx1"/>
                </a:solidFill>
                <a:latin typeface="微软雅黑" panose="020B0503020204020204" pitchFamily="34" charset="-122"/>
                <a:ea typeface="微软雅黑" panose="020B0503020204020204" pitchFamily="34" charset="-122"/>
                <a:sym typeface="Symbol" panose="05050102010706020507" pitchFamily="18" charset="2"/>
              </a:rPr>
              <a:t>灰铸铁</a:t>
            </a:r>
            <a:r>
              <a:rPr lang="zh-CN" altLang="en-US" b="0" dirty="0">
                <a:solidFill>
                  <a:schemeClr val="tx1"/>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b="0" dirty="0">
                <a:solidFill>
                  <a:schemeClr val="tx1"/>
                </a:solidFill>
                <a:latin typeface="微软雅黑" panose="020B0503020204020204" pitchFamily="34" charset="-122"/>
                <a:ea typeface="微软雅黑" panose="020B0503020204020204" pitchFamily="34" charset="-122"/>
              </a:rPr>
              <a:t>-</a:t>
            </a:r>
            <a:r>
              <a:rPr lang="en-US" altLang="zh-CN" b="0" dirty="0">
                <a:solidFill>
                  <a:schemeClr val="tx1"/>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i="0" dirty="0">
                <a:solidFill>
                  <a:schemeClr val="tx1"/>
                </a:solidFill>
                <a:latin typeface="微软雅黑" panose="020B0503020204020204" pitchFamily="34" charset="-122"/>
                <a:ea typeface="微软雅黑" panose="020B0503020204020204" pitchFamily="34" charset="-122"/>
                <a:sym typeface="Symbol" panose="05050102010706020507" pitchFamily="18" charset="2"/>
              </a:rPr>
              <a:t> </a:t>
            </a:r>
            <a:r>
              <a:rPr lang="zh-CN" altLang="en-US" i="0" dirty="0">
                <a:solidFill>
                  <a:schemeClr val="tx1"/>
                </a:solidFill>
                <a:latin typeface="微软雅黑" panose="020B0503020204020204" pitchFamily="34" charset="-122"/>
                <a:ea typeface="微软雅黑" panose="020B0503020204020204" pitchFamily="34" charset="-122"/>
              </a:rPr>
              <a:t>曲线</a:t>
            </a:r>
            <a:endParaRPr lang="zh-CN" altLang="en-US" i="0" dirty="0">
              <a:solidFill>
                <a:schemeClr val="tx1"/>
              </a:solidFill>
              <a:ea typeface="微软雅黑" panose="020B0503020204020204" pitchFamily="34" charset="-122"/>
            </a:endParaRPr>
          </a:p>
        </p:txBody>
      </p:sp>
      <p:sp>
        <p:nvSpPr>
          <p:cNvPr id="48" name="Text Box 1032"/>
          <p:cNvSpPr txBox="1">
            <a:spLocks noChangeArrowheads="1"/>
          </p:cNvSpPr>
          <p:nvPr/>
        </p:nvSpPr>
        <p:spPr bwMode="auto">
          <a:xfrm>
            <a:off x="276094" y="2691810"/>
            <a:ext cx="5783502"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lnSpc>
                <a:spcPct val="120000"/>
              </a:lnSpc>
            </a:pPr>
            <a:r>
              <a:rPr lang="zh-CN" altLang="en-US" sz="2800" i="0" dirty="0">
                <a:latin typeface="+mn-lt"/>
                <a:ea typeface="微软雅黑" panose="020B0503020204020204" pitchFamily="34" charset="-122"/>
              </a:rPr>
              <a:t>对于其他脆性材料，如硅石、 水泥等，其抗压能力也显著地高于抗拉能力。一般脆性材料的价格较便宜，因此，工程上常用脆性材料做承压构件。</a:t>
            </a:r>
            <a:endParaRPr kumimoji="1" lang="zh-CN" altLang="en-US" sz="2800" i="0" dirty="0">
              <a:latin typeface="+mn-lt"/>
              <a:ea typeface="微软雅黑" panose="020B0503020204020204" pitchFamily="34" charset="-122"/>
            </a:endParaRPr>
          </a:p>
        </p:txBody>
      </p:sp>
      <p:grpSp>
        <p:nvGrpSpPr>
          <p:cNvPr id="131" name="Group 2"/>
          <p:cNvGrpSpPr>
            <a:grpSpLocks/>
          </p:cNvGrpSpPr>
          <p:nvPr/>
        </p:nvGrpSpPr>
        <p:grpSpPr bwMode="auto">
          <a:xfrm>
            <a:off x="9399548" y="3616866"/>
            <a:ext cx="776287" cy="1266825"/>
            <a:chOff x="2454" y="2994"/>
            <a:chExt cx="489" cy="798"/>
          </a:xfrm>
        </p:grpSpPr>
        <p:sp>
          <p:nvSpPr>
            <p:cNvPr id="132" name="Text Box 3"/>
            <p:cNvSpPr txBox="1">
              <a:spLocks noChangeArrowheads="1"/>
            </p:cNvSpPr>
            <p:nvPr/>
          </p:nvSpPr>
          <p:spPr bwMode="auto">
            <a:xfrm>
              <a:off x="2599" y="2994"/>
              <a:ext cx="3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1" lang="en-US" altLang="zh-CN" sz="2400" b="0" i="0" u="none" strike="noStrike" kern="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rPr>
                <a:t>F</a:t>
              </a:r>
              <a:r>
                <a:rPr kumimoji="1" lang="en-US" altLang="zh-CN" sz="2400" b="0" i="0" u="none" strike="noStrike" kern="0" cap="none" spc="0" normalizeH="0" baseline="-25000" noProof="0">
                  <a:ln>
                    <a:noFill/>
                  </a:ln>
                  <a:solidFill>
                    <a:srgbClr val="FF0000"/>
                  </a:solidFill>
                  <a:effectLst/>
                  <a:uLnTx/>
                  <a:uFillTx/>
                  <a:latin typeface="Times New Roman" panose="02020603050405020304" pitchFamily="18" charset="0"/>
                  <a:ea typeface="宋体" panose="02010600030101010101" pitchFamily="2" charset="-122"/>
                </a:rPr>
                <a:t>P</a:t>
              </a:r>
              <a:endParaRPr kumimoji="1" lang="en-US" altLang="zh-CN" sz="2400" b="0" i="0" u="none" strike="noStrike" kern="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endParaRPr>
            </a:p>
          </p:txBody>
        </p:sp>
        <p:sp>
          <p:nvSpPr>
            <p:cNvPr id="133" name="Oval 4"/>
            <p:cNvSpPr>
              <a:spLocks noChangeArrowheads="1"/>
            </p:cNvSpPr>
            <p:nvPr/>
          </p:nvSpPr>
          <p:spPr bwMode="auto">
            <a:xfrm>
              <a:off x="2454" y="3252"/>
              <a:ext cx="342" cy="540"/>
            </a:xfrm>
            <a:prstGeom prst="ellipse">
              <a:avLst/>
            </a:prstGeom>
            <a:gradFill rotWithShape="0">
              <a:gsLst>
                <a:gs pos="0">
                  <a:srgbClr val="969696"/>
                </a:gs>
                <a:gs pos="50000">
                  <a:srgbClr val="C0C0C0"/>
                </a:gs>
                <a:gs pos="100000">
                  <a:srgbClr val="969696"/>
                </a:gs>
              </a:gsLst>
              <a:lin ang="0" scaled="1"/>
            </a:gradFill>
            <a:ln w="9525">
              <a:solidFill>
                <a:srgbClr val="CC9900"/>
              </a:solidFill>
              <a:round/>
              <a:headEnd/>
              <a:tailEnd/>
            </a:ln>
          </p:spPr>
          <p:txBody>
            <a:bodyPr wrap="none" anchor="ct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FF"/>
                </a:solidFill>
                <a:effectLst/>
                <a:uLnTx/>
                <a:uFillTx/>
                <a:latin typeface="Times New Roman" panose="02020603050405020304" pitchFamily="18" charset="0"/>
                <a:ea typeface="黑体" panose="02010609060101010101" pitchFamily="49" charset="-122"/>
              </a:endParaRPr>
            </a:p>
          </p:txBody>
        </p:sp>
        <p:sp>
          <p:nvSpPr>
            <p:cNvPr id="134" name="Rectangle 5"/>
            <p:cNvSpPr>
              <a:spLocks noChangeArrowheads="1"/>
            </p:cNvSpPr>
            <p:nvPr/>
          </p:nvSpPr>
          <p:spPr bwMode="auto">
            <a:xfrm>
              <a:off x="2484" y="3252"/>
              <a:ext cx="294" cy="120"/>
            </a:xfrm>
            <a:prstGeom prst="rect">
              <a:avLst/>
            </a:prstGeom>
            <a:solidFill>
              <a:srgbClr val="0000A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FF"/>
                </a:solidFill>
                <a:effectLst/>
                <a:uLnTx/>
                <a:uFillTx/>
                <a:latin typeface="Times New Roman" panose="02020603050405020304" pitchFamily="18" charset="0"/>
                <a:ea typeface="黑体" panose="02010609060101010101" pitchFamily="49" charset="-122"/>
              </a:endParaRPr>
            </a:p>
          </p:txBody>
        </p:sp>
        <p:sp>
          <p:nvSpPr>
            <p:cNvPr id="135" name="Line 6"/>
            <p:cNvSpPr>
              <a:spLocks noChangeShapeType="1"/>
            </p:cNvSpPr>
            <p:nvPr/>
          </p:nvSpPr>
          <p:spPr bwMode="auto">
            <a:xfrm>
              <a:off x="2629" y="3072"/>
              <a:ext cx="0" cy="312"/>
            </a:xfrm>
            <a:prstGeom prst="line">
              <a:avLst/>
            </a:prstGeom>
            <a:noFill/>
            <a:ln w="28575">
              <a:solidFill>
                <a:srgbClr val="FF0000"/>
              </a:solidFill>
              <a:round/>
              <a:headEnd/>
              <a:tailEnd type="stealth" w="sm" len="lg"/>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FF"/>
                </a:solidFill>
                <a:effectLst/>
                <a:uLnTx/>
                <a:uFillTx/>
                <a:ea typeface="黑体" panose="02010609060101010101" pitchFamily="49" charset="-122"/>
              </a:endParaRPr>
            </a:p>
          </p:txBody>
        </p:sp>
      </p:grpSp>
      <p:sp>
        <p:nvSpPr>
          <p:cNvPr id="136" name="Line 8"/>
          <p:cNvSpPr>
            <a:spLocks noChangeAspect="1" noChangeShapeType="1"/>
          </p:cNvSpPr>
          <p:nvPr/>
        </p:nvSpPr>
        <p:spPr bwMode="auto">
          <a:xfrm>
            <a:off x="8048585" y="5448841"/>
            <a:ext cx="3436938" cy="0"/>
          </a:xfrm>
          <a:prstGeom prst="line">
            <a:avLst/>
          </a:prstGeom>
          <a:noFill/>
          <a:ln w="9525">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FF"/>
              </a:solidFill>
              <a:effectLst/>
              <a:uLnTx/>
              <a:uFillTx/>
              <a:ea typeface="黑体" panose="02010609060101010101" pitchFamily="49" charset="-122"/>
            </a:endParaRPr>
          </a:p>
        </p:txBody>
      </p:sp>
      <p:sp>
        <p:nvSpPr>
          <p:cNvPr id="137" name="Line 9"/>
          <p:cNvSpPr>
            <a:spLocks noChangeAspect="1" noChangeShapeType="1"/>
          </p:cNvSpPr>
          <p:nvPr/>
        </p:nvSpPr>
        <p:spPr bwMode="auto">
          <a:xfrm flipH="1" flipV="1">
            <a:off x="8048585" y="2404016"/>
            <a:ext cx="0" cy="3044825"/>
          </a:xfrm>
          <a:prstGeom prst="line">
            <a:avLst/>
          </a:prstGeom>
          <a:noFill/>
          <a:ln w="9525">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FF"/>
              </a:solidFill>
              <a:effectLst/>
              <a:uLnTx/>
              <a:uFillTx/>
              <a:ea typeface="黑体" panose="02010609060101010101" pitchFamily="49" charset="-122"/>
            </a:endParaRPr>
          </a:p>
        </p:txBody>
      </p:sp>
      <p:sp>
        <p:nvSpPr>
          <p:cNvPr id="138" name="Text Box 10"/>
          <p:cNvSpPr txBox="1">
            <a:spLocks noChangeAspect="1" noChangeArrowheads="1"/>
          </p:cNvSpPr>
          <p:nvPr/>
        </p:nvSpPr>
        <p:spPr bwMode="auto">
          <a:xfrm>
            <a:off x="10988636" y="5369466"/>
            <a:ext cx="85700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lang="en-US" altLang="zh-CN" b="0" dirty="0">
                <a:solidFill>
                  <a:schemeClr val="tx1"/>
                </a:solidFill>
                <a:ea typeface="宋体" panose="02010600030101010101" pitchFamily="2" charset="-122"/>
                <a:sym typeface="Symbol" panose="05050102010706020507" pitchFamily="18" charset="2"/>
              </a:rPr>
              <a:t></a:t>
            </a:r>
            <a:r>
              <a:rPr lang="en-US" altLang="zh-CN" b="0" dirty="0">
                <a:solidFill>
                  <a:schemeClr val="tx1"/>
                </a:solidFill>
                <a:ea typeface="宋体" panose="02010600030101010101" pitchFamily="2" charset="-122"/>
              </a:rPr>
              <a:t> </a:t>
            </a:r>
            <a:r>
              <a:rPr lang="en-US" altLang="zh-CN" b="0" i="0" dirty="0">
                <a:solidFill>
                  <a:schemeClr val="tx1"/>
                </a:solidFill>
                <a:ea typeface="宋体" panose="02010600030101010101" pitchFamily="2" charset="-122"/>
              </a:rPr>
              <a:t>/%</a:t>
            </a:r>
          </a:p>
        </p:txBody>
      </p:sp>
      <p:sp>
        <p:nvSpPr>
          <p:cNvPr id="139" name="Text Box 11"/>
          <p:cNvSpPr txBox="1">
            <a:spLocks noChangeAspect="1" noChangeArrowheads="1"/>
          </p:cNvSpPr>
          <p:nvPr/>
        </p:nvSpPr>
        <p:spPr bwMode="auto">
          <a:xfrm>
            <a:off x="7742198" y="5417091"/>
            <a:ext cx="350808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eaLnBrk="1" hangingPunct="1">
              <a:spcBef>
                <a:spcPct val="50000"/>
              </a:spcBef>
            </a:pPr>
            <a:r>
              <a:rPr lang="en-US" altLang="zh-CN" b="0" dirty="0">
                <a:solidFill>
                  <a:schemeClr val="tx1"/>
                </a:solidFill>
                <a:ea typeface="宋体" panose="02010600030101010101" pitchFamily="2" charset="-122"/>
              </a:rPr>
              <a:t>O</a:t>
            </a:r>
            <a:r>
              <a:rPr lang="en-US" altLang="zh-CN" b="0" i="0" dirty="0">
                <a:solidFill>
                  <a:srgbClr val="FFFFFF"/>
                </a:solidFill>
                <a:ea typeface="宋体" panose="02010600030101010101" pitchFamily="2" charset="-122"/>
              </a:rPr>
              <a:t>     </a:t>
            </a:r>
            <a:r>
              <a:rPr lang="en-US" altLang="zh-CN" b="0" i="0" dirty="0">
                <a:solidFill>
                  <a:schemeClr val="tx1"/>
                </a:solidFill>
                <a:ea typeface="宋体" panose="02010600030101010101" pitchFamily="2" charset="-122"/>
              </a:rPr>
              <a:t>2     4    6    8   10  12</a:t>
            </a:r>
          </a:p>
        </p:txBody>
      </p:sp>
      <p:sp>
        <p:nvSpPr>
          <p:cNvPr id="140" name="Text Box 12"/>
          <p:cNvSpPr txBox="1">
            <a:spLocks noChangeAspect="1" noChangeArrowheads="1"/>
          </p:cNvSpPr>
          <p:nvPr/>
        </p:nvSpPr>
        <p:spPr bwMode="auto">
          <a:xfrm>
            <a:off x="7091323" y="2638966"/>
            <a:ext cx="989012" cy="26805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r" eaLnBrk="1" hangingPunct="1">
              <a:lnSpc>
                <a:spcPct val="75000"/>
              </a:lnSpc>
              <a:spcBef>
                <a:spcPct val="50000"/>
              </a:spcBef>
            </a:pPr>
            <a:r>
              <a:rPr lang="en-US" altLang="zh-CN" b="0" i="0" dirty="0">
                <a:solidFill>
                  <a:schemeClr val="tx1"/>
                </a:solidFill>
                <a:ea typeface="宋体" panose="02010600030101010101" pitchFamily="2" charset="-122"/>
              </a:rPr>
              <a:t>600</a:t>
            </a:r>
          </a:p>
          <a:p>
            <a:pPr algn="r" eaLnBrk="1" hangingPunct="1">
              <a:lnSpc>
                <a:spcPct val="75000"/>
              </a:lnSpc>
              <a:spcBef>
                <a:spcPct val="50000"/>
              </a:spcBef>
            </a:pPr>
            <a:r>
              <a:rPr lang="en-US" altLang="zh-CN" b="0" i="0" dirty="0">
                <a:solidFill>
                  <a:schemeClr val="tx1"/>
                </a:solidFill>
                <a:ea typeface="宋体" panose="02010600030101010101" pitchFamily="2" charset="-122"/>
              </a:rPr>
              <a:t>500</a:t>
            </a:r>
          </a:p>
          <a:p>
            <a:pPr algn="r" eaLnBrk="1" hangingPunct="1">
              <a:lnSpc>
                <a:spcPct val="75000"/>
              </a:lnSpc>
              <a:spcBef>
                <a:spcPct val="50000"/>
              </a:spcBef>
            </a:pPr>
            <a:r>
              <a:rPr lang="en-US" altLang="zh-CN" b="0" i="0" dirty="0">
                <a:solidFill>
                  <a:schemeClr val="tx1"/>
                </a:solidFill>
                <a:ea typeface="宋体" panose="02010600030101010101" pitchFamily="2" charset="-122"/>
              </a:rPr>
              <a:t>400</a:t>
            </a:r>
          </a:p>
          <a:p>
            <a:pPr algn="r" eaLnBrk="1" hangingPunct="1">
              <a:lnSpc>
                <a:spcPct val="75000"/>
              </a:lnSpc>
              <a:spcBef>
                <a:spcPct val="50000"/>
              </a:spcBef>
            </a:pPr>
            <a:r>
              <a:rPr lang="en-US" altLang="zh-CN" b="0" i="0" dirty="0">
                <a:solidFill>
                  <a:schemeClr val="tx1"/>
                </a:solidFill>
                <a:ea typeface="宋体" panose="02010600030101010101" pitchFamily="2" charset="-122"/>
              </a:rPr>
              <a:t>300</a:t>
            </a:r>
          </a:p>
          <a:p>
            <a:pPr algn="r" eaLnBrk="1" hangingPunct="1">
              <a:lnSpc>
                <a:spcPct val="75000"/>
              </a:lnSpc>
              <a:spcBef>
                <a:spcPct val="50000"/>
              </a:spcBef>
            </a:pPr>
            <a:r>
              <a:rPr lang="en-US" altLang="zh-CN" b="0" i="0" dirty="0">
                <a:solidFill>
                  <a:schemeClr val="tx1"/>
                </a:solidFill>
                <a:ea typeface="宋体" panose="02010600030101010101" pitchFamily="2" charset="-122"/>
              </a:rPr>
              <a:t>200</a:t>
            </a:r>
          </a:p>
          <a:p>
            <a:pPr algn="r" eaLnBrk="1" hangingPunct="1">
              <a:lnSpc>
                <a:spcPct val="75000"/>
              </a:lnSpc>
              <a:spcBef>
                <a:spcPct val="50000"/>
              </a:spcBef>
            </a:pPr>
            <a:r>
              <a:rPr lang="en-US" altLang="zh-CN" b="0" i="0" dirty="0">
                <a:solidFill>
                  <a:schemeClr val="tx1"/>
                </a:solidFill>
                <a:ea typeface="宋体" panose="02010600030101010101" pitchFamily="2" charset="-122"/>
              </a:rPr>
              <a:t>100</a:t>
            </a:r>
          </a:p>
        </p:txBody>
      </p:sp>
      <p:sp>
        <p:nvSpPr>
          <p:cNvPr id="141" name="Oval 13"/>
          <p:cNvSpPr>
            <a:spLocks noChangeAspect="1" noChangeArrowheads="1"/>
          </p:cNvSpPr>
          <p:nvPr/>
        </p:nvSpPr>
        <p:spPr bwMode="auto">
          <a:xfrm>
            <a:off x="8483560" y="5420266"/>
            <a:ext cx="63500" cy="63500"/>
          </a:xfrm>
          <a:prstGeom prst="ellipse">
            <a:avLst/>
          </a:prstGeom>
          <a:solidFill>
            <a:srgbClr val="FF0000"/>
          </a:solidFill>
          <a:ln w="9525">
            <a:solidFill>
              <a:srgbClr val="FFFFFF"/>
            </a:solidFill>
            <a:round/>
            <a:headEnd/>
            <a:tailEnd/>
          </a:ln>
        </p:spPr>
        <p:txBody>
          <a:bodyPr wrap="none" anchor="ct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FF"/>
              </a:solidFill>
              <a:effectLst/>
              <a:uLnTx/>
              <a:uFillTx/>
              <a:latin typeface="Times New Roman" panose="02020603050405020304" pitchFamily="18" charset="0"/>
              <a:ea typeface="黑体" panose="02010609060101010101" pitchFamily="49" charset="-122"/>
            </a:endParaRPr>
          </a:p>
        </p:txBody>
      </p:sp>
      <p:sp>
        <p:nvSpPr>
          <p:cNvPr id="142" name="Oval 14"/>
          <p:cNvSpPr>
            <a:spLocks noChangeAspect="1" noChangeArrowheads="1"/>
          </p:cNvSpPr>
          <p:nvPr/>
        </p:nvSpPr>
        <p:spPr bwMode="auto">
          <a:xfrm>
            <a:off x="8972510" y="5413916"/>
            <a:ext cx="63500" cy="63500"/>
          </a:xfrm>
          <a:prstGeom prst="ellipse">
            <a:avLst/>
          </a:prstGeom>
          <a:solidFill>
            <a:srgbClr val="FF0000"/>
          </a:solidFill>
          <a:ln w="9525">
            <a:solidFill>
              <a:srgbClr val="FFFFFF"/>
            </a:solidFill>
            <a:round/>
            <a:headEnd/>
            <a:tailEnd/>
          </a:ln>
        </p:spPr>
        <p:txBody>
          <a:bodyPr wrap="none" anchor="ct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FF"/>
              </a:solidFill>
              <a:effectLst/>
              <a:uLnTx/>
              <a:uFillTx/>
              <a:latin typeface="Times New Roman" panose="02020603050405020304" pitchFamily="18" charset="0"/>
              <a:ea typeface="黑体" panose="02010609060101010101" pitchFamily="49" charset="-122"/>
            </a:endParaRPr>
          </a:p>
        </p:txBody>
      </p:sp>
      <p:sp>
        <p:nvSpPr>
          <p:cNvPr id="143" name="Oval 15"/>
          <p:cNvSpPr>
            <a:spLocks noChangeAspect="1" noChangeArrowheads="1"/>
          </p:cNvSpPr>
          <p:nvPr/>
        </p:nvSpPr>
        <p:spPr bwMode="auto">
          <a:xfrm>
            <a:off x="9469398" y="5413916"/>
            <a:ext cx="63500" cy="63500"/>
          </a:xfrm>
          <a:prstGeom prst="ellipse">
            <a:avLst/>
          </a:prstGeom>
          <a:solidFill>
            <a:srgbClr val="FF0000"/>
          </a:solidFill>
          <a:ln w="9525">
            <a:solidFill>
              <a:srgbClr val="FFFFFF"/>
            </a:solidFill>
            <a:round/>
            <a:headEnd/>
            <a:tailEnd/>
          </a:ln>
        </p:spPr>
        <p:txBody>
          <a:bodyPr wrap="none" anchor="ct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FF"/>
              </a:solidFill>
              <a:effectLst/>
              <a:uLnTx/>
              <a:uFillTx/>
              <a:latin typeface="Times New Roman" panose="02020603050405020304" pitchFamily="18" charset="0"/>
              <a:ea typeface="黑体" panose="02010609060101010101" pitchFamily="49" charset="-122"/>
            </a:endParaRPr>
          </a:p>
        </p:txBody>
      </p:sp>
      <p:sp>
        <p:nvSpPr>
          <p:cNvPr id="144" name="Oval 16"/>
          <p:cNvSpPr>
            <a:spLocks noChangeAspect="1" noChangeArrowheads="1"/>
          </p:cNvSpPr>
          <p:nvPr/>
        </p:nvSpPr>
        <p:spPr bwMode="auto">
          <a:xfrm>
            <a:off x="8016835" y="5044028"/>
            <a:ext cx="63500" cy="63500"/>
          </a:xfrm>
          <a:prstGeom prst="ellipse">
            <a:avLst/>
          </a:prstGeom>
          <a:solidFill>
            <a:srgbClr val="FF0000"/>
          </a:solidFill>
          <a:ln w="9525">
            <a:solidFill>
              <a:srgbClr val="FFFFFF"/>
            </a:solidFill>
            <a:round/>
            <a:headEnd/>
            <a:tailEnd/>
          </a:ln>
        </p:spPr>
        <p:txBody>
          <a:bodyPr wrap="none" anchor="ct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FF"/>
              </a:solidFill>
              <a:effectLst/>
              <a:uLnTx/>
              <a:uFillTx/>
              <a:latin typeface="Times New Roman" panose="02020603050405020304" pitchFamily="18" charset="0"/>
              <a:ea typeface="黑体" panose="02010609060101010101" pitchFamily="49" charset="-122"/>
            </a:endParaRPr>
          </a:p>
        </p:txBody>
      </p:sp>
      <p:sp>
        <p:nvSpPr>
          <p:cNvPr id="145" name="Oval 17"/>
          <p:cNvSpPr>
            <a:spLocks noChangeAspect="1" noChangeArrowheads="1"/>
          </p:cNvSpPr>
          <p:nvPr/>
        </p:nvSpPr>
        <p:spPr bwMode="auto">
          <a:xfrm>
            <a:off x="8016835" y="4594766"/>
            <a:ext cx="63500" cy="63500"/>
          </a:xfrm>
          <a:prstGeom prst="ellipse">
            <a:avLst/>
          </a:prstGeom>
          <a:solidFill>
            <a:srgbClr val="FF0000"/>
          </a:solidFill>
          <a:ln w="9525">
            <a:solidFill>
              <a:srgbClr val="FFFFFF"/>
            </a:solidFill>
            <a:round/>
            <a:headEnd/>
            <a:tailEnd/>
          </a:ln>
        </p:spPr>
        <p:txBody>
          <a:bodyPr wrap="none" anchor="ct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FF"/>
              </a:solidFill>
              <a:effectLst/>
              <a:uLnTx/>
              <a:uFillTx/>
              <a:latin typeface="Times New Roman" panose="02020603050405020304" pitchFamily="18" charset="0"/>
              <a:ea typeface="黑体" panose="02010609060101010101" pitchFamily="49" charset="-122"/>
            </a:endParaRPr>
          </a:p>
        </p:txBody>
      </p:sp>
      <p:sp>
        <p:nvSpPr>
          <p:cNvPr id="146" name="Oval 18"/>
          <p:cNvSpPr>
            <a:spLocks noChangeAspect="1" noChangeArrowheads="1"/>
          </p:cNvSpPr>
          <p:nvPr/>
        </p:nvSpPr>
        <p:spPr bwMode="auto">
          <a:xfrm>
            <a:off x="8016835" y="4145503"/>
            <a:ext cx="63500" cy="63500"/>
          </a:xfrm>
          <a:prstGeom prst="ellipse">
            <a:avLst/>
          </a:prstGeom>
          <a:solidFill>
            <a:srgbClr val="FF0000"/>
          </a:solidFill>
          <a:ln w="9525">
            <a:solidFill>
              <a:srgbClr val="FFFFFF"/>
            </a:solidFill>
            <a:round/>
            <a:headEnd/>
            <a:tailEnd/>
          </a:ln>
        </p:spPr>
        <p:txBody>
          <a:bodyPr wrap="none" anchor="ct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FF"/>
              </a:solidFill>
              <a:effectLst/>
              <a:uLnTx/>
              <a:uFillTx/>
              <a:latin typeface="Times New Roman" panose="02020603050405020304" pitchFamily="18" charset="0"/>
              <a:ea typeface="黑体" panose="02010609060101010101" pitchFamily="49" charset="-122"/>
            </a:endParaRPr>
          </a:p>
        </p:txBody>
      </p:sp>
      <p:sp>
        <p:nvSpPr>
          <p:cNvPr id="147" name="Oval 19"/>
          <p:cNvSpPr>
            <a:spLocks noChangeAspect="1" noChangeArrowheads="1"/>
          </p:cNvSpPr>
          <p:nvPr/>
        </p:nvSpPr>
        <p:spPr bwMode="auto">
          <a:xfrm>
            <a:off x="8016835" y="3666078"/>
            <a:ext cx="63500" cy="63500"/>
          </a:xfrm>
          <a:prstGeom prst="ellipse">
            <a:avLst/>
          </a:prstGeom>
          <a:solidFill>
            <a:srgbClr val="FF0000"/>
          </a:solidFill>
          <a:ln w="9525">
            <a:solidFill>
              <a:srgbClr val="FFFFFF"/>
            </a:solidFill>
            <a:round/>
            <a:headEnd/>
            <a:tailEnd/>
          </a:ln>
        </p:spPr>
        <p:txBody>
          <a:bodyPr wrap="none" anchor="ct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FF"/>
              </a:solidFill>
              <a:effectLst/>
              <a:uLnTx/>
              <a:uFillTx/>
              <a:latin typeface="Times New Roman" panose="02020603050405020304" pitchFamily="18" charset="0"/>
              <a:ea typeface="黑体" panose="02010609060101010101" pitchFamily="49" charset="-122"/>
            </a:endParaRPr>
          </a:p>
        </p:txBody>
      </p:sp>
      <p:sp>
        <p:nvSpPr>
          <p:cNvPr id="148" name="Oval 20"/>
          <p:cNvSpPr>
            <a:spLocks noChangeAspect="1" noChangeArrowheads="1"/>
          </p:cNvSpPr>
          <p:nvPr/>
        </p:nvSpPr>
        <p:spPr bwMode="auto">
          <a:xfrm>
            <a:off x="8016835" y="3200941"/>
            <a:ext cx="63500" cy="61912"/>
          </a:xfrm>
          <a:prstGeom prst="ellipse">
            <a:avLst/>
          </a:prstGeom>
          <a:solidFill>
            <a:srgbClr val="FF0000"/>
          </a:solidFill>
          <a:ln w="9525">
            <a:solidFill>
              <a:srgbClr val="FFFFFF"/>
            </a:solidFill>
            <a:round/>
            <a:headEnd/>
            <a:tailEnd/>
          </a:ln>
        </p:spPr>
        <p:txBody>
          <a:bodyPr wrap="none" anchor="ct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FF"/>
              </a:solidFill>
              <a:effectLst/>
              <a:uLnTx/>
              <a:uFillTx/>
              <a:latin typeface="Times New Roman" panose="02020603050405020304" pitchFamily="18" charset="0"/>
              <a:ea typeface="黑体" panose="02010609060101010101" pitchFamily="49" charset="-122"/>
            </a:endParaRPr>
          </a:p>
        </p:txBody>
      </p:sp>
      <p:sp>
        <p:nvSpPr>
          <p:cNvPr id="149" name="Text Box 22"/>
          <p:cNvSpPr txBox="1">
            <a:spLocks noChangeAspect="1" noChangeArrowheads="1"/>
          </p:cNvSpPr>
          <p:nvPr/>
        </p:nvSpPr>
        <p:spPr bwMode="auto">
          <a:xfrm>
            <a:off x="6791285" y="2296066"/>
            <a:ext cx="11382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lang="en-US" altLang="zh-CN" b="0" dirty="0">
                <a:solidFill>
                  <a:schemeClr val="tx1"/>
                </a:solidFill>
                <a:ea typeface="宋体" panose="02010600030101010101" pitchFamily="2" charset="-122"/>
                <a:sym typeface="Symbol" panose="05050102010706020507" pitchFamily="18" charset="2"/>
              </a:rPr>
              <a:t></a:t>
            </a:r>
            <a:r>
              <a:rPr lang="en-US" altLang="zh-CN" b="0" i="0" dirty="0">
                <a:solidFill>
                  <a:schemeClr val="tx1"/>
                </a:solidFill>
                <a:ea typeface="宋体" panose="02010600030101010101" pitchFamily="2" charset="-122"/>
              </a:rPr>
              <a:t> /</a:t>
            </a:r>
            <a:r>
              <a:rPr lang="en-US" altLang="zh-CN" b="0" i="0" dirty="0" err="1">
                <a:solidFill>
                  <a:schemeClr val="tx1"/>
                </a:solidFill>
                <a:ea typeface="宋体" panose="02010600030101010101" pitchFamily="2" charset="-122"/>
              </a:rPr>
              <a:t>MPa</a:t>
            </a:r>
            <a:endParaRPr lang="en-US" altLang="zh-CN" b="0" i="0" dirty="0">
              <a:solidFill>
                <a:schemeClr val="tx1"/>
              </a:solidFill>
              <a:ea typeface="宋体" panose="02010600030101010101" pitchFamily="2" charset="-122"/>
            </a:endParaRPr>
          </a:p>
        </p:txBody>
      </p:sp>
      <p:sp>
        <p:nvSpPr>
          <p:cNvPr id="150" name="Oval 23"/>
          <p:cNvSpPr>
            <a:spLocks noChangeAspect="1" noChangeArrowheads="1"/>
          </p:cNvSpPr>
          <p:nvPr/>
        </p:nvSpPr>
        <p:spPr bwMode="auto">
          <a:xfrm>
            <a:off x="9936123" y="5409153"/>
            <a:ext cx="63500" cy="63500"/>
          </a:xfrm>
          <a:prstGeom prst="ellipse">
            <a:avLst/>
          </a:prstGeom>
          <a:solidFill>
            <a:srgbClr val="FF0000"/>
          </a:solidFill>
          <a:ln w="9525">
            <a:solidFill>
              <a:srgbClr val="FFFFFF"/>
            </a:solidFill>
            <a:round/>
            <a:headEnd/>
            <a:tailEnd/>
          </a:ln>
        </p:spPr>
        <p:txBody>
          <a:bodyPr wrap="none" anchor="ct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FF"/>
              </a:solidFill>
              <a:effectLst/>
              <a:uLnTx/>
              <a:uFillTx/>
              <a:latin typeface="Times New Roman" panose="02020603050405020304" pitchFamily="18" charset="0"/>
              <a:ea typeface="黑体" panose="02010609060101010101" pitchFamily="49" charset="-122"/>
            </a:endParaRPr>
          </a:p>
        </p:txBody>
      </p:sp>
      <p:sp>
        <p:nvSpPr>
          <p:cNvPr id="151" name="Oval 24"/>
          <p:cNvSpPr>
            <a:spLocks noChangeAspect="1" noChangeArrowheads="1"/>
          </p:cNvSpPr>
          <p:nvPr/>
        </p:nvSpPr>
        <p:spPr bwMode="auto">
          <a:xfrm>
            <a:off x="10385385" y="5417091"/>
            <a:ext cx="63500" cy="63500"/>
          </a:xfrm>
          <a:prstGeom prst="ellipse">
            <a:avLst/>
          </a:prstGeom>
          <a:solidFill>
            <a:srgbClr val="FF0000"/>
          </a:solidFill>
          <a:ln w="9525">
            <a:solidFill>
              <a:srgbClr val="FFFFFF"/>
            </a:solidFill>
            <a:round/>
            <a:headEnd/>
            <a:tailEnd/>
          </a:ln>
        </p:spPr>
        <p:txBody>
          <a:bodyPr wrap="none" anchor="ct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FF"/>
              </a:solidFill>
              <a:effectLst/>
              <a:uLnTx/>
              <a:uFillTx/>
              <a:latin typeface="Times New Roman" panose="02020603050405020304" pitchFamily="18" charset="0"/>
              <a:ea typeface="黑体" panose="02010609060101010101" pitchFamily="49" charset="-122"/>
            </a:endParaRPr>
          </a:p>
        </p:txBody>
      </p:sp>
      <p:sp>
        <p:nvSpPr>
          <p:cNvPr id="152" name="Text Box 25"/>
          <p:cNvSpPr txBox="1">
            <a:spLocks noChangeArrowheads="1"/>
          </p:cNvSpPr>
          <p:nvPr/>
        </p:nvSpPr>
        <p:spPr bwMode="auto">
          <a:xfrm>
            <a:off x="8078748" y="4951953"/>
            <a:ext cx="1022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1" lang="zh-CN" altLang="en-US" sz="2400" i="0" u="none" strike="noStrike" kern="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rPr>
              <a:t>拉伸</a:t>
            </a:r>
          </a:p>
        </p:txBody>
      </p:sp>
      <p:sp>
        <p:nvSpPr>
          <p:cNvPr id="153" name="Text Box 26"/>
          <p:cNvSpPr txBox="1">
            <a:spLocks noChangeArrowheads="1"/>
          </p:cNvSpPr>
          <p:nvPr/>
        </p:nvSpPr>
        <p:spPr bwMode="auto">
          <a:xfrm>
            <a:off x="8543885" y="2532603"/>
            <a:ext cx="1022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1" lang="zh-CN" altLang="en-US" sz="2400" i="0" u="none" strike="noStrike" kern="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rPr>
              <a:t>压缩</a:t>
            </a:r>
          </a:p>
        </p:txBody>
      </p:sp>
      <p:sp>
        <p:nvSpPr>
          <p:cNvPr id="154" name="Text Box 27"/>
          <p:cNvSpPr txBox="1">
            <a:spLocks noChangeArrowheads="1"/>
          </p:cNvSpPr>
          <p:nvPr/>
        </p:nvSpPr>
        <p:spPr bwMode="auto">
          <a:xfrm>
            <a:off x="9642435" y="3448591"/>
            <a:ext cx="5461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eaLnBrk="1" hangingPunct="1">
              <a:spcBef>
                <a:spcPct val="50000"/>
              </a:spcBef>
            </a:pPr>
            <a:r>
              <a:rPr lang="en-US" altLang="zh-CN">
                <a:solidFill>
                  <a:srgbClr val="FF0000"/>
                </a:solidFill>
                <a:ea typeface="宋体" panose="02010600030101010101" pitchFamily="2" charset="-122"/>
              </a:rPr>
              <a:t>F</a:t>
            </a:r>
            <a:r>
              <a:rPr lang="en-US" altLang="zh-CN" b="0" i="0" baseline="-25000">
                <a:solidFill>
                  <a:srgbClr val="FF0000"/>
                </a:solidFill>
                <a:ea typeface="宋体" panose="02010600030101010101" pitchFamily="2" charset="-122"/>
              </a:rPr>
              <a:t>P</a:t>
            </a:r>
            <a:endParaRPr lang="en-US" altLang="zh-CN" b="0">
              <a:solidFill>
                <a:srgbClr val="FF0000"/>
              </a:solidFill>
              <a:ea typeface="宋体" panose="02010600030101010101" pitchFamily="2" charset="-122"/>
            </a:endParaRPr>
          </a:p>
        </p:txBody>
      </p:sp>
      <p:sp>
        <p:nvSpPr>
          <p:cNvPr id="155" name="Oval 29"/>
          <p:cNvSpPr>
            <a:spLocks noChangeAspect="1" noChangeArrowheads="1"/>
          </p:cNvSpPr>
          <p:nvPr/>
        </p:nvSpPr>
        <p:spPr bwMode="auto">
          <a:xfrm>
            <a:off x="8010485" y="2754853"/>
            <a:ext cx="63500" cy="61913"/>
          </a:xfrm>
          <a:prstGeom prst="ellipse">
            <a:avLst/>
          </a:prstGeom>
          <a:solidFill>
            <a:srgbClr val="FF0000"/>
          </a:solidFill>
          <a:ln w="9525">
            <a:solidFill>
              <a:srgbClr val="FFFFFF"/>
            </a:solidFill>
            <a:round/>
            <a:headEnd/>
            <a:tailEnd/>
          </a:ln>
        </p:spPr>
        <p:txBody>
          <a:bodyPr wrap="none" anchor="ct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FF"/>
              </a:solidFill>
              <a:effectLst/>
              <a:uLnTx/>
              <a:uFillTx/>
              <a:latin typeface="Times New Roman" panose="02020603050405020304" pitchFamily="18" charset="0"/>
              <a:ea typeface="黑体" panose="02010609060101010101" pitchFamily="49" charset="-122"/>
            </a:endParaRPr>
          </a:p>
        </p:txBody>
      </p:sp>
      <p:sp>
        <p:nvSpPr>
          <p:cNvPr id="156" name="Oval 30"/>
          <p:cNvSpPr>
            <a:spLocks noChangeAspect="1" noChangeArrowheads="1"/>
          </p:cNvSpPr>
          <p:nvPr/>
        </p:nvSpPr>
        <p:spPr bwMode="auto">
          <a:xfrm>
            <a:off x="10856873" y="5410741"/>
            <a:ext cx="63500" cy="63500"/>
          </a:xfrm>
          <a:prstGeom prst="ellipse">
            <a:avLst/>
          </a:prstGeom>
          <a:solidFill>
            <a:srgbClr val="FF0000"/>
          </a:solidFill>
          <a:ln w="9525">
            <a:solidFill>
              <a:srgbClr val="FFFFFF"/>
            </a:solidFill>
            <a:round/>
            <a:headEnd/>
            <a:tailEnd/>
          </a:ln>
        </p:spPr>
        <p:txBody>
          <a:bodyPr wrap="none" anchor="ct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FF"/>
              </a:solidFill>
              <a:effectLst/>
              <a:uLnTx/>
              <a:uFillTx/>
              <a:latin typeface="Times New Roman" panose="02020603050405020304" pitchFamily="18" charset="0"/>
              <a:ea typeface="黑体" panose="02010609060101010101" pitchFamily="49" charset="-122"/>
            </a:endParaRPr>
          </a:p>
        </p:txBody>
      </p:sp>
      <p:sp>
        <p:nvSpPr>
          <p:cNvPr id="157" name="Arc 31"/>
          <p:cNvSpPr>
            <a:spLocks noChangeAspect="1"/>
          </p:cNvSpPr>
          <p:nvPr/>
        </p:nvSpPr>
        <p:spPr bwMode="auto">
          <a:xfrm flipH="1">
            <a:off x="8058110" y="4885278"/>
            <a:ext cx="187325" cy="569913"/>
          </a:xfrm>
          <a:custGeom>
            <a:avLst/>
            <a:gdLst>
              <a:gd name="T0" fmla="*/ 161550 w 21600"/>
              <a:gd name="T1" fmla="*/ 0 h 21493"/>
              <a:gd name="T2" fmla="*/ 1624567 w 21600"/>
              <a:gd name="T3" fmla="*/ 15111937 h 21493"/>
              <a:gd name="T4" fmla="*/ 0 w 21600"/>
              <a:gd name="T5" fmla="*/ 15111937 h 21493"/>
              <a:gd name="T6" fmla="*/ 0 60000 65536"/>
              <a:gd name="T7" fmla="*/ 0 60000 65536"/>
              <a:gd name="T8" fmla="*/ 0 60000 65536"/>
              <a:gd name="T9" fmla="*/ 0 w 21600"/>
              <a:gd name="T10" fmla="*/ 0 h 21493"/>
              <a:gd name="T11" fmla="*/ 21600 w 21600"/>
              <a:gd name="T12" fmla="*/ 21493 h 21493"/>
            </a:gdLst>
            <a:ahLst/>
            <a:cxnLst>
              <a:cxn ang="T6">
                <a:pos x="T0" y="T1"/>
              </a:cxn>
              <a:cxn ang="T7">
                <a:pos x="T2" y="T3"/>
              </a:cxn>
              <a:cxn ang="T8">
                <a:pos x="T4" y="T5"/>
              </a:cxn>
            </a:cxnLst>
            <a:rect l="T9" t="T10" r="T11" b="T12"/>
            <a:pathLst>
              <a:path w="21600" h="21493" fill="none" extrusionOk="0">
                <a:moveTo>
                  <a:pt x="2147" y="0"/>
                </a:moveTo>
                <a:cubicBezTo>
                  <a:pt x="13190" y="1103"/>
                  <a:pt x="21600" y="10395"/>
                  <a:pt x="21600" y="21493"/>
                </a:cubicBezTo>
              </a:path>
              <a:path w="21600" h="21493" stroke="0" extrusionOk="0">
                <a:moveTo>
                  <a:pt x="2147" y="0"/>
                </a:moveTo>
                <a:cubicBezTo>
                  <a:pt x="13190" y="1103"/>
                  <a:pt x="21600" y="10395"/>
                  <a:pt x="21600" y="21493"/>
                </a:cubicBezTo>
                <a:lnTo>
                  <a:pt x="0" y="21493"/>
                </a:lnTo>
                <a:close/>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FF"/>
              </a:solidFill>
              <a:effectLst/>
              <a:uLnTx/>
              <a:uFillTx/>
              <a:ea typeface="黑体" panose="02010609060101010101" pitchFamily="49" charset="-122"/>
            </a:endParaRPr>
          </a:p>
        </p:txBody>
      </p:sp>
      <p:sp>
        <p:nvSpPr>
          <p:cNvPr id="158" name="Arc 32"/>
          <p:cNvSpPr>
            <a:spLocks noChangeAspect="1"/>
          </p:cNvSpPr>
          <p:nvPr/>
        </p:nvSpPr>
        <p:spPr bwMode="auto">
          <a:xfrm flipH="1">
            <a:off x="8051760" y="2710403"/>
            <a:ext cx="2413000" cy="2744788"/>
          </a:xfrm>
          <a:custGeom>
            <a:avLst/>
            <a:gdLst>
              <a:gd name="T0" fmla="*/ 26806528 w 21600"/>
              <a:gd name="T1" fmla="*/ 0 h 21493"/>
              <a:gd name="T2" fmla="*/ 269563394 w 21600"/>
              <a:gd name="T3" fmla="*/ 350526272 h 21493"/>
              <a:gd name="T4" fmla="*/ 0 w 21600"/>
              <a:gd name="T5" fmla="*/ 350526272 h 21493"/>
              <a:gd name="T6" fmla="*/ 0 60000 65536"/>
              <a:gd name="T7" fmla="*/ 0 60000 65536"/>
              <a:gd name="T8" fmla="*/ 0 60000 65536"/>
              <a:gd name="T9" fmla="*/ 0 w 21600"/>
              <a:gd name="T10" fmla="*/ 0 h 21493"/>
              <a:gd name="T11" fmla="*/ 21600 w 21600"/>
              <a:gd name="T12" fmla="*/ 21493 h 21493"/>
            </a:gdLst>
            <a:ahLst/>
            <a:cxnLst>
              <a:cxn ang="T6">
                <a:pos x="T0" y="T1"/>
              </a:cxn>
              <a:cxn ang="T7">
                <a:pos x="T2" y="T3"/>
              </a:cxn>
              <a:cxn ang="T8">
                <a:pos x="T4" y="T5"/>
              </a:cxn>
            </a:cxnLst>
            <a:rect l="T9" t="T10" r="T11" b="T12"/>
            <a:pathLst>
              <a:path w="21600" h="21493" fill="none" extrusionOk="0">
                <a:moveTo>
                  <a:pt x="2147" y="0"/>
                </a:moveTo>
                <a:cubicBezTo>
                  <a:pt x="13190" y="1103"/>
                  <a:pt x="21600" y="10395"/>
                  <a:pt x="21600" y="21493"/>
                </a:cubicBezTo>
              </a:path>
              <a:path w="21600" h="21493" stroke="0" extrusionOk="0">
                <a:moveTo>
                  <a:pt x="2147" y="0"/>
                </a:moveTo>
                <a:cubicBezTo>
                  <a:pt x="13190" y="1103"/>
                  <a:pt x="21600" y="10395"/>
                  <a:pt x="21600" y="21493"/>
                </a:cubicBezTo>
                <a:lnTo>
                  <a:pt x="0" y="21493"/>
                </a:lnTo>
                <a:close/>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endParaRPr kumimoji="1" lang="zh-CN" altLang="en-US" b="0" i="0">
              <a:solidFill>
                <a:srgbClr val="0000FF"/>
              </a:solidFill>
              <a:ea typeface="黑体" panose="02010609060101010101" pitchFamily="49" charset="-122"/>
            </a:endParaRPr>
          </a:p>
        </p:txBody>
      </p:sp>
      <p:sp>
        <p:nvSpPr>
          <p:cNvPr id="159" name="Rectangle 33"/>
          <p:cNvSpPr>
            <a:spLocks noChangeArrowheads="1"/>
          </p:cNvSpPr>
          <p:nvPr/>
        </p:nvSpPr>
        <p:spPr bwMode="auto">
          <a:xfrm>
            <a:off x="9450348" y="4156616"/>
            <a:ext cx="434975" cy="568325"/>
          </a:xfrm>
          <a:prstGeom prst="rect">
            <a:avLst/>
          </a:prstGeom>
          <a:gradFill rotWithShape="0">
            <a:gsLst>
              <a:gs pos="0">
                <a:srgbClr val="969696"/>
              </a:gs>
              <a:gs pos="50000">
                <a:srgbClr val="C0C0C0"/>
              </a:gs>
              <a:gs pos="100000">
                <a:srgbClr val="969696"/>
              </a:gs>
            </a:gsLst>
            <a:lin ang="0" scaled="1"/>
          </a:gradFill>
          <a:ln w="9525">
            <a:solidFill>
              <a:srgbClr val="CC9900"/>
            </a:solidFill>
            <a:miter lim="800000"/>
            <a:headEnd/>
            <a:tailEnd/>
          </a:ln>
        </p:spPr>
        <p:txBody>
          <a:bodyPr wrap="none" anchor="ct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FF"/>
              </a:solidFill>
              <a:effectLst/>
              <a:uLnTx/>
              <a:uFillTx/>
              <a:latin typeface="Times New Roman" panose="02020603050405020304" pitchFamily="18" charset="0"/>
              <a:ea typeface="黑体" panose="02010609060101010101" pitchFamily="49" charset="-122"/>
            </a:endParaRPr>
          </a:p>
        </p:txBody>
      </p:sp>
      <p:sp>
        <p:nvSpPr>
          <p:cNvPr id="160" name="Line 34"/>
          <p:cNvSpPr>
            <a:spLocks noChangeShapeType="1"/>
          </p:cNvSpPr>
          <p:nvPr/>
        </p:nvSpPr>
        <p:spPr bwMode="auto">
          <a:xfrm>
            <a:off x="9678948" y="3645441"/>
            <a:ext cx="0" cy="495300"/>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wrap="none" anchor="ctr"/>
          <a:lstStyle/>
          <a:p>
            <a:pPr algn="ctr"/>
            <a:endParaRPr kumimoji="1" lang="zh-CN" altLang="en-US" b="0" i="0">
              <a:solidFill>
                <a:srgbClr val="0000FF"/>
              </a:solidFill>
              <a:ea typeface="黑体" panose="02010609060101010101" pitchFamily="49" charset="-122"/>
            </a:endParaRPr>
          </a:p>
        </p:txBody>
      </p:sp>
      <p:sp>
        <p:nvSpPr>
          <p:cNvPr id="161" name="Rectangle 35" descr="宽上对角线"/>
          <p:cNvSpPr>
            <a:spLocks noChangeArrowheads="1"/>
          </p:cNvSpPr>
          <p:nvPr/>
        </p:nvSpPr>
        <p:spPr bwMode="auto">
          <a:xfrm>
            <a:off x="9123323" y="4715416"/>
            <a:ext cx="1146175" cy="179387"/>
          </a:xfrm>
          <a:prstGeom prst="rect">
            <a:avLst/>
          </a:prstGeom>
          <a:pattFill prst="wdUpDiag">
            <a:fgClr>
              <a:srgbClr val="000000"/>
            </a:fgClr>
            <a:bgClr>
              <a:srgbClr val="CC9900"/>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FF"/>
              </a:solidFill>
              <a:effectLst/>
              <a:uLnTx/>
              <a:uFillTx/>
              <a:latin typeface="Times New Roman" panose="02020603050405020304" pitchFamily="18" charset="0"/>
              <a:ea typeface="黑体" panose="02010609060101010101" pitchFamily="49" charset="-122"/>
            </a:endParaRPr>
          </a:p>
        </p:txBody>
      </p:sp>
      <p:sp>
        <p:nvSpPr>
          <p:cNvPr id="162" name="Line 36"/>
          <p:cNvSpPr>
            <a:spLocks noChangeShapeType="1"/>
          </p:cNvSpPr>
          <p:nvPr/>
        </p:nvSpPr>
        <p:spPr bwMode="auto">
          <a:xfrm>
            <a:off x="9112210" y="4718591"/>
            <a:ext cx="114617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FF"/>
              </a:solidFill>
              <a:effectLst/>
              <a:uLnTx/>
              <a:uFillTx/>
              <a:ea typeface="黑体" panose="02010609060101010101" pitchFamily="49" charset="-122"/>
            </a:endParaRPr>
          </a:p>
        </p:txBody>
      </p:sp>
      <p:sp>
        <p:nvSpPr>
          <p:cNvPr id="163" name="Arc 37"/>
          <p:cNvSpPr>
            <a:spLocks/>
          </p:cNvSpPr>
          <p:nvPr/>
        </p:nvSpPr>
        <p:spPr bwMode="auto">
          <a:xfrm flipV="1">
            <a:off x="9399548" y="4293141"/>
            <a:ext cx="533400" cy="323850"/>
          </a:xfrm>
          <a:custGeom>
            <a:avLst/>
            <a:gdLst>
              <a:gd name="T0" fmla="*/ 823856 w 21600"/>
              <a:gd name="T1" fmla="*/ 0 h 21558"/>
              <a:gd name="T2" fmla="*/ 13172018 w 21600"/>
              <a:gd name="T3" fmla="*/ 4864961 h 21558"/>
              <a:gd name="T4" fmla="*/ 0 w 21600"/>
              <a:gd name="T5" fmla="*/ 4864961 h 21558"/>
              <a:gd name="T6" fmla="*/ 0 60000 65536"/>
              <a:gd name="T7" fmla="*/ 0 60000 65536"/>
              <a:gd name="T8" fmla="*/ 0 60000 65536"/>
              <a:gd name="T9" fmla="*/ 0 w 21600"/>
              <a:gd name="T10" fmla="*/ 0 h 21558"/>
              <a:gd name="T11" fmla="*/ 21600 w 21600"/>
              <a:gd name="T12" fmla="*/ 21558 h 21558"/>
            </a:gdLst>
            <a:ahLst/>
            <a:cxnLst>
              <a:cxn ang="T6">
                <a:pos x="T0" y="T1"/>
              </a:cxn>
              <a:cxn ang="T7">
                <a:pos x="T2" y="T3"/>
              </a:cxn>
              <a:cxn ang="T8">
                <a:pos x="T4" y="T5"/>
              </a:cxn>
            </a:cxnLst>
            <a:rect l="T9" t="T10" r="T11" b="T12"/>
            <a:pathLst>
              <a:path w="21600" h="21558" fill="none" extrusionOk="0">
                <a:moveTo>
                  <a:pt x="1350" y="0"/>
                </a:moveTo>
                <a:cubicBezTo>
                  <a:pt x="12733" y="713"/>
                  <a:pt x="21600" y="10153"/>
                  <a:pt x="21600" y="21558"/>
                </a:cubicBezTo>
              </a:path>
              <a:path w="21600" h="21558" stroke="0" extrusionOk="0">
                <a:moveTo>
                  <a:pt x="1350" y="0"/>
                </a:moveTo>
                <a:cubicBezTo>
                  <a:pt x="12733" y="713"/>
                  <a:pt x="21600" y="10153"/>
                  <a:pt x="21600" y="21558"/>
                </a:cubicBezTo>
                <a:lnTo>
                  <a:pt x="0" y="21558"/>
                </a:lnTo>
                <a:close/>
              </a:path>
            </a:pathLst>
          </a:custGeom>
          <a:noFill/>
          <a:ln w="9525">
            <a:solidFill>
              <a:srgbClr val="FFFF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FF"/>
              </a:solidFill>
              <a:effectLst/>
              <a:uLnTx/>
              <a:uFillTx/>
              <a:ea typeface="黑体" panose="02010609060101010101" pitchFamily="49" charset="-122"/>
            </a:endParaRPr>
          </a:p>
        </p:txBody>
      </p:sp>
      <p:sp>
        <p:nvSpPr>
          <p:cNvPr id="164" name="Line 38"/>
          <p:cNvSpPr>
            <a:spLocks noChangeShapeType="1"/>
          </p:cNvSpPr>
          <p:nvPr/>
        </p:nvSpPr>
        <p:spPr bwMode="auto">
          <a:xfrm flipH="1">
            <a:off x="9475748" y="4607466"/>
            <a:ext cx="28575" cy="66675"/>
          </a:xfrm>
          <a:prstGeom prst="line">
            <a:avLst/>
          </a:prstGeom>
          <a:noFill/>
          <a:ln w="9525">
            <a:solidFill>
              <a:srgbClr val="FFFFFF"/>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FF"/>
              </a:solidFill>
              <a:effectLst/>
              <a:uLnTx/>
              <a:uFillTx/>
              <a:ea typeface="黑体" panose="02010609060101010101" pitchFamily="49" charset="-122"/>
            </a:endParaRPr>
          </a:p>
        </p:txBody>
      </p:sp>
      <p:sp>
        <p:nvSpPr>
          <p:cNvPr id="165" name="Line 39"/>
          <p:cNvSpPr>
            <a:spLocks noChangeShapeType="1"/>
          </p:cNvSpPr>
          <p:nvPr/>
        </p:nvSpPr>
        <p:spPr bwMode="auto">
          <a:xfrm>
            <a:off x="9599573" y="4597941"/>
            <a:ext cx="0" cy="47625"/>
          </a:xfrm>
          <a:prstGeom prst="line">
            <a:avLst/>
          </a:prstGeom>
          <a:noFill/>
          <a:ln w="9525">
            <a:solidFill>
              <a:srgbClr val="FFFFFF"/>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FF"/>
              </a:solidFill>
              <a:effectLst/>
              <a:uLnTx/>
              <a:uFillTx/>
              <a:ea typeface="黑体" panose="02010609060101010101" pitchFamily="49" charset="-122"/>
            </a:endParaRPr>
          </a:p>
        </p:txBody>
      </p:sp>
      <p:sp>
        <p:nvSpPr>
          <p:cNvPr id="166" name="Line 40"/>
          <p:cNvSpPr>
            <a:spLocks noChangeShapeType="1"/>
          </p:cNvSpPr>
          <p:nvPr/>
        </p:nvSpPr>
        <p:spPr bwMode="auto">
          <a:xfrm>
            <a:off x="9656723" y="4578891"/>
            <a:ext cx="28575" cy="38100"/>
          </a:xfrm>
          <a:prstGeom prst="line">
            <a:avLst/>
          </a:prstGeom>
          <a:noFill/>
          <a:ln w="9525">
            <a:solidFill>
              <a:srgbClr val="FFFFFF"/>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FF"/>
              </a:solidFill>
              <a:effectLst/>
              <a:uLnTx/>
              <a:uFillTx/>
              <a:ea typeface="黑体" panose="02010609060101010101" pitchFamily="49" charset="-122"/>
            </a:endParaRPr>
          </a:p>
        </p:txBody>
      </p:sp>
      <p:sp>
        <p:nvSpPr>
          <p:cNvPr id="167" name="Line 41"/>
          <p:cNvSpPr>
            <a:spLocks noChangeShapeType="1"/>
          </p:cNvSpPr>
          <p:nvPr/>
        </p:nvSpPr>
        <p:spPr bwMode="auto">
          <a:xfrm>
            <a:off x="9790073" y="4531266"/>
            <a:ext cx="19050" cy="47625"/>
          </a:xfrm>
          <a:prstGeom prst="line">
            <a:avLst/>
          </a:prstGeom>
          <a:noFill/>
          <a:ln w="9525">
            <a:solidFill>
              <a:srgbClr val="FFFFFF"/>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FF"/>
              </a:solidFill>
              <a:effectLst/>
              <a:uLnTx/>
              <a:uFillTx/>
              <a:ea typeface="黑体" panose="02010609060101010101" pitchFamily="49" charset="-122"/>
            </a:endParaRPr>
          </a:p>
        </p:txBody>
      </p:sp>
      <p:sp>
        <p:nvSpPr>
          <p:cNvPr id="168" name="Line 42"/>
          <p:cNvSpPr>
            <a:spLocks noChangeShapeType="1"/>
          </p:cNvSpPr>
          <p:nvPr/>
        </p:nvSpPr>
        <p:spPr bwMode="auto">
          <a:xfrm>
            <a:off x="9856748" y="4464591"/>
            <a:ext cx="38100" cy="66675"/>
          </a:xfrm>
          <a:prstGeom prst="line">
            <a:avLst/>
          </a:prstGeom>
          <a:noFill/>
          <a:ln w="9525">
            <a:solidFill>
              <a:srgbClr val="FFFFFF"/>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FF"/>
              </a:solidFill>
              <a:effectLst/>
              <a:uLnTx/>
              <a:uFillTx/>
              <a:ea typeface="黑体" panose="02010609060101010101" pitchFamily="49" charset="-122"/>
            </a:endParaRPr>
          </a:p>
        </p:txBody>
      </p:sp>
      <p:sp>
        <p:nvSpPr>
          <p:cNvPr id="169" name="Line 43"/>
          <p:cNvSpPr>
            <a:spLocks noChangeShapeType="1"/>
          </p:cNvSpPr>
          <p:nvPr/>
        </p:nvSpPr>
        <p:spPr bwMode="auto">
          <a:xfrm>
            <a:off x="9904373" y="4407441"/>
            <a:ext cx="38100" cy="19050"/>
          </a:xfrm>
          <a:prstGeom prst="line">
            <a:avLst/>
          </a:prstGeom>
          <a:noFill/>
          <a:ln w="9525">
            <a:solidFill>
              <a:srgbClr val="FFFFFF"/>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FF"/>
              </a:solidFill>
              <a:effectLst/>
              <a:uLnTx/>
              <a:uFillTx/>
              <a:ea typeface="黑体" panose="02010609060101010101" pitchFamily="49" charset="-122"/>
            </a:endParaRPr>
          </a:p>
        </p:txBody>
      </p:sp>
      <p:sp>
        <p:nvSpPr>
          <p:cNvPr id="170" name="Oval 44"/>
          <p:cNvSpPr>
            <a:spLocks noChangeArrowheads="1"/>
          </p:cNvSpPr>
          <p:nvPr/>
        </p:nvSpPr>
        <p:spPr bwMode="auto">
          <a:xfrm>
            <a:off x="10180598" y="2686591"/>
            <a:ext cx="88900" cy="88900"/>
          </a:xfrm>
          <a:prstGeom prst="ellipse">
            <a:avLst/>
          </a:prstGeom>
          <a:solidFill>
            <a:srgbClr val="FB1C05"/>
          </a:solidFill>
          <a:ln w="9525">
            <a:solidFill>
              <a:srgbClr val="FFFFFF"/>
            </a:solidFill>
            <a:round/>
            <a:headEnd/>
            <a:tailEnd/>
          </a:ln>
        </p:spPr>
        <p:txBody>
          <a:bodyPr wrap="none" anchor="ct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FF"/>
              </a:solidFill>
              <a:effectLst/>
              <a:uLnTx/>
              <a:uFillTx/>
              <a:latin typeface="Times New Roman" panose="02020603050405020304" pitchFamily="18" charset="0"/>
              <a:ea typeface="黑体" panose="02010609060101010101" pitchFamily="49" charset="-122"/>
            </a:endParaRPr>
          </a:p>
        </p:txBody>
      </p:sp>
      <p:sp>
        <p:nvSpPr>
          <p:cNvPr id="171" name="Oval 45"/>
          <p:cNvSpPr>
            <a:spLocks noChangeArrowheads="1"/>
          </p:cNvSpPr>
          <p:nvPr/>
        </p:nvSpPr>
        <p:spPr bwMode="auto">
          <a:xfrm>
            <a:off x="8859798" y="5151978"/>
            <a:ext cx="88900" cy="88900"/>
          </a:xfrm>
          <a:prstGeom prst="ellipse">
            <a:avLst/>
          </a:prstGeom>
          <a:solidFill>
            <a:srgbClr val="FB1C05"/>
          </a:solidFill>
          <a:ln w="9525">
            <a:solidFill>
              <a:srgbClr val="FFFFFF"/>
            </a:solidFill>
            <a:round/>
            <a:headEnd/>
            <a:tailEnd/>
          </a:ln>
        </p:spPr>
        <p:txBody>
          <a:bodyPr wrap="none" anchor="ct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FF"/>
              </a:solidFill>
              <a:effectLst/>
              <a:uLnTx/>
              <a:uFillTx/>
              <a:latin typeface="Times New Roman" panose="02020603050405020304" pitchFamily="18" charset="0"/>
              <a:ea typeface="黑体" panose="02010609060101010101" pitchFamily="49" charset="-122"/>
            </a:endParaRPr>
          </a:p>
        </p:txBody>
      </p:sp>
    </p:spTree>
    <p:extLst>
      <p:ext uri="{BB962C8B-B14F-4D97-AF65-F5344CB8AC3E}">
        <p14:creationId xmlns:p14="http://schemas.microsoft.com/office/powerpoint/2010/main" val="2963609204"/>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5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7" presetClass="entr" presetSubtype="8" fill="hold" grpId="0" nodeType="clickEffect">
                                  <p:stCondLst>
                                    <p:cond delay="0"/>
                                  </p:stCondLst>
                                  <p:childTnLst>
                                    <p:set>
                                      <p:cBhvr>
                                        <p:cTn id="14" dur="1" fill="hold">
                                          <p:stCondLst>
                                            <p:cond delay="0"/>
                                          </p:stCondLst>
                                        </p:cTn>
                                        <p:tgtEl>
                                          <p:spTgt spid="136"/>
                                        </p:tgtEl>
                                        <p:attrNameLst>
                                          <p:attrName>style.visibility</p:attrName>
                                        </p:attrNameLst>
                                      </p:cBhvr>
                                      <p:to>
                                        <p:strVal val="visible"/>
                                      </p:to>
                                    </p:set>
                                    <p:anim calcmode="lin" valueType="num">
                                      <p:cBhvr>
                                        <p:cTn id="15" dur="500" fill="hold"/>
                                        <p:tgtEl>
                                          <p:spTgt spid="136"/>
                                        </p:tgtEl>
                                        <p:attrNameLst>
                                          <p:attrName>ppt_x</p:attrName>
                                        </p:attrNameLst>
                                      </p:cBhvr>
                                      <p:tavLst>
                                        <p:tav tm="0">
                                          <p:val>
                                            <p:strVal val="#ppt_x-#ppt_w/2"/>
                                          </p:val>
                                        </p:tav>
                                        <p:tav tm="100000">
                                          <p:val>
                                            <p:strVal val="#ppt_x"/>
                                          </p:val>
                                        </p:tav>
                                      </p:tavLst>
                                    </p:anim>
                                    <p:anim calcmode="lin" valueType="num">
                                      <p:cBhvr>
                                        <p:cTn id="16" dur="500" fill="hold"/>
                                        <p:tgtEl>
                                          <p:spTgt spid="136"/>
                                        </p:tgtEl>
                                        <p:attrNameLst>
                                          <p:attrName>ppt_y</p:attrName>
                                        </p:attrNameLst>
                                      </p:cBhvr>
                                      <p:tavLst>
                                        <p:tav tm="0">
                                          <p:val>
                                            <p:strVal val="#ppt_y"/>
                                          </p:val>
                                        </p:tav>
                                        <p:tav tm="100000">
                                          <p:val>
                                            <p:strVal val="#ppt_y"/>
                                          </p:val>
                                        </p:tav>
                                      </p:tavLst>
                                    </p:anim>
                                    <p:anim calcmode="lin" valueType="num">
                                      <p:cBhvr>
                                        <p:cTn id="17" dur="500" fill="hold"/>
                                        <p:tgtEl>
                                          <p:spTgt spid="136"/>
                                        </p:tgtEl>
                                        <p:attrNameLst>
                                          <p:attrName>ppt_w</p:attrName>
                                        </p:attrNameLst>
                                      </p:cBhvr>
                                      <p:tavLst>
                                        <p:tav tm="0">
                                          <p:val>
                                            <p:fltVal val="0"/>
                                          </p:val>
                                        </p:tav>
                                        <p:tav tm="100000">
                                          <p:val>
                                            <p:strVal val="#ppt_w"/>
                                          </p:val>
                                        </p:tav>
                                      </p:tavLst>
                                    </p:anim>
                                    <p:anim calcmode="lin" valueType="num">
                                      <p:cBhvr>
                                        <p:cTn id="18" dur="500" fill="hold"/>
                                        <p:tgtEl>
                                          <p:spTgt spid="136"/>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3"/>
                                            </p:cond>
                                          </p:stCondLst>
                                          <p:endCondLst>
                                            <p:cond evt="onStopAudio" delay="0">
                                              <p:tgtEl>
                                                <p:sldTgt/>
                                              </p:tgtEl>
                                            </p:cond>
                                          </p:endCondLst>
                                        </p:cTn>
                                        <p:tgtEl>
                                          <p:sndTgt r:embed="rId3" name="CHIMES.WAV"/>
                                        </p:tgtEl>
                                      </p:cMediaNode>
                                    </p:audio>
                                  </p:subTnLst>
                                </p:cTn>
                              </p:par>
                            </p:childTnLst>
                          </p:cTn>
                        </p:par>
                        <p:par>
                          <p:cTn id="19" fill="hold">
                            <p:stCondLst>
                              <p:cond delay="500"/>
                            </p:stCondLst>
                            <p:childTnLst>
                              <p:par>
                                <p:cTn id="20" presetID="17" presetClass="entr" presetSubtype="4" fill="hold" grpId="0" nodeType="afterEffect">
                                  <p:stCondLst>
                                    <p:cond delay="500"/>
                                  </p:stCondLst>
                                  <p:childTnLst>
                                    <p:set>
                                      <p:cBhvr>
                                        <p:cTn id="21" dur="1" fill="hold">
                                          <p:stCondLst>
                                            <p:cond delay="0"/>
                                          </p:stCondLst>
                                        </p:cTn>
                                        <p:tgtEl>
                                          <p:spTgt spid="137"/>
                                        </p:tgtEl>
                                        <p:attrNameLst>
                                          <p:attrName>style.visibility</p:attrName>
                                        </p:attrNameLst>
                                      </p:cBhvr>
                                      <p:to>
                                        <p:strVal val="visible"/>
                                      </p:to>
                                    </p:set>
                                    <p:anim calcmode="lin" valueType="num">
                                      <p:cBhvr>
                                        <p:cTn id="22" dur="500" fill="hold"/>
                                        <p:tgtEl>
                                          <p:spTgt spid="137"/>
                                        </p:tgtEl>
                                        <p:attrNameLst>
                                          <p:attrName>ppt_x</p:attrName>
                                        </p:attrNameLst>
                                      </p:cBhvr>
                                      <p:tavLst>
                                        <p:tav tm="0">
                                          <p:val>
                                            <p:strVal val="#ppt_x"/>
                                          </p:val>
                                        </p:tav>
                                        <p:tav tm="100000">
                                          <p:val>
                                            <p:strVal val="#ppt_x"/>
                                          </p:val>
                                        </p:tav>
                                      </p:tavLst>
                                    </p:anim>
                                    <p:anim calcmode="lin" valueType="num">
                                      <p:cBhvr>
                                        <p:cTn id="23" dur="500" fill="hold"/>
                                        <p:tgtEl>
                                          <p:spTgt spid="137"/>
                                        </p:tgtEl>
                                        <p:attrNameLst>
                                          <p:attrName>ppt_y</p:attrName>
                                        </p:attrNameLst>
                                      </p:cBhvr>
                                      <p:tavLst>
                                        <p:tav tm="0">
                                          <p:val>
                                            <p:strVal val="#ppt_y+#ppt_h/2"/>
                                          </p:val>
                                        </p:tav>
                                        <p:tav tm="100000">
                                          <p:val>
                                            <p:strVal val="#ppt_y"/>
                                          </p:val>
                                        </p:tav>
                                      </p:tavLst>
                                    </p:anim>
                                    <p:anim calcmode="lin" valueType="num">
                                      <p:cBhvr>
                                        <p:cTn id="24" dur="500" fill="hold"/>
                                        <p:tgtEl>
                                          <p:spTgt spid="137"/>
                                        </p:tgtEl>
                                        <p:attrNameLst>
                                          <p:attrName>ppt_w</p:attrName>
                                        </p:attrNameLst>
                                      </p:cBhvr>
                                      <p:tavLst>
                                        <p:tav tm="0">
                                          <p:val>
                                            <p:strVal val="#ppt_w"/>
                                          </p:val>
                                        </p:tav>
                                        <p:tav tm="100000">
                                          <p:val>
                                            <p:strVal val="#ppt_w"/>
                                          </p:val>
                                        </p:tav>
                                      </p:tavLst>
                                    </p:anim>
                                    <p:anim calcmode="lin" valueType="num">
                                      <p:cBhvr>
                                        <p:cTn id="25" dur="500" fill="hold"/>
                                        <p:tgtEl>
                                          <p:spTgt spid="137"/>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20"/>
                                            </p:cond>
                                          </p:stCondLst>
                                          <p:endCondLst>
                                            <p:cond evt="onStopAudio" delay="0">
                                              <p:tgtEl>
                                                <p:sldTgt/>
                                              </p:tgtEl>
                                            </p:cond>
                                          </p:endCondLst>
                                        </p:cTn>
                                        <p:tgtEl>
                                          <p:sndTgt r:embed="rId3" name="CHIMES.WAV"/>
                                        </p:tgtEl>
                                      </p:cMediaNode>
                                    </p:audio>
                                  </p:subTnLst>
                                </p:cTn>
                              </p:par>
                            </p:childTnLst>
                          </p:cTn>
                        </p:par>
                        <p:par>
                          <p:cTn id="26" fill="hold">
                            <p:stCondLst>
                              <p:cond delay="1500"/>
                            </p:stCondLst>
                            <p:childTnLst>
                              <p:par>
                                <p:cTn id="27" presetID="17" presetClass="entr" presetSubtype="10" fill="hold" grpId="0" nodeType="afterEffect">
                                  <p:stCondLst>
                                    <p:cond delay="500"/>
                                  </p:stCondLst>
                                  <p:childTnLst>
                                    <p:set>
                                      <p:cBhvr>
                                        <p:cTn id="28" dur="1" fill="hold">
                                          <p:stCondLst>
                                            <p:cond delay="0"/>
                                          </p:stCondLst>
                                        </p:cTn>
                                        <p:tgtEl>
                                          <p:spTgt spid="138"/>
                                        </p:tgtEl>
                                        <p:attrNameLst>
                                          <p:attrName>style.visibility</p:attrName>
                                        </p:attrNameLst>
                                      </p:cBhvr>
                                      <p:to>
                                        <p:strVal val="visible"/>
                                      </p:to>
                                    </p:set>
                                    <p:anim calcmode="lin" valueType="num">
                                      <p:cBhvr>
                                        <p:cTn id="29" dur="500" fill="hold"/>
                                        <p:tgtEl>
                                          <p:spTgt spid="138"/>
                                        </p:tgtEl>
                                        <p:attrNameLst>
                                          <p:attrName>ppt_w</p:attrName>
                                        </p:attrNameLst>
                                      </p:cBhvr>
                                      <p:tavLst>
                                        <p:tav tm="0">
                                          <p:val>
                                            <p:fltVal val="0"/>
                                          </p:val>
                                        </p:tav>
                                        <p:tav tm="100000">
                                          <p:val>
                                            <p:strVal val="#ppt_w"/>
                                          </p:val>
                                        </p:tav>
                                      </p:tavLst>
                                    </p:anim>
                                    <p:anim calcmode="lin" valueType="num">
                                      <p:cBhvr>
                                        <p:cTn id="30" dur="500" fill="hold"/>
                                        <p:tgtEl>
                                          <p:spTgt spid="138"/>
                                        </p:tgtEl>
                                        <p:attrNameLst>
                                          <p:attrName>ppt_h</p:attrName>
                                        </p:attrNameLst>
                                      </p:cBhvr>
                                      <p:tavLst>
                                        <p:tav tm="0">
                                          <p:val>
                                            <p:strVal val="#ppt_h"/>
                                          </p:val>
                                        </p:tav>
                                        <p:tav tm="100000">
                                          <p:val>
                                            <p:strVal val="#ppt_h"/>
                                          </p:val>
                                        </p:tav>
                                      </p:tavLst>
                                    </p:anim>
                                  </p:childTnLst>
                                </p:cTn>
                              </p:par>
                            </p:childTnLst>
                          </p:cTn>
                        </p:par>
                        <p:par>
                          <p:cTn id="31" fill="hold">
                            <p:stCondLst>
                              <p:cond delay="2500"/>
                            </p:stCondLst>
                            <p:childTnLst>
                              <p:par>
                                <p:cTn id="32" presetID="17" presetClass="entr" presetSubtype="10" fill="hold" grpId="0" nodeType="afterEffect">
                                  <p:stCondLst>
                                    <p:cond delay="500"/>
                                  </p:stCondLst>
                                  <p:childTnLst>
                                    <p:set>
                                      <p:cBhvr>
                                        <p:cTn id="33" dur="1" fill="hold">
                                          <p:stCondLst>
                                            <p:cond delay="0"/>
                                          </p:stCondLst>
                                        </p:cTn>
                                        <p:tgtEl>
                                          <p:spTgt spid="149"/>
                                        </p:tgtEl>
                                        <p:attrNameLst>
                                          <p:attrName>style.visibility</p:attrName>
                                        </p:attrNameLst>
                                      </p:cBhvr>
                                      <p:to>
                                        <p:strVal val="visible"/>
                                      </p:to>
                                    </p:set>
                                    <p:anim calcmode="lin" valueType="num">
                                      <p:cBhvr>
                                        <p:cTn id="34" dur="500" fill="hold"/>
                                        <p:tgtEl>
                                          <p:spTgt spid="149"/>
                                        </p:tgtEl>
                                        <p:attrNameLst>
                                          <p:attrName>ppt_w</p:attrName>
                                        </p:attrNameLst>
                                      </p:cBhvr>
                                      <p:tavLst>
                                        <p:tav tm="0">
                                          <p:val>
                                            <p:fltVal val="0"/>
                                          </p:val>
                                        </p:tav>
                                        <p:tav tm="100000">
                                          <p:val>
                                            <p:strVal val="#ppt_w"/>
                                          </p:val>
                                        </p:tav>
                                      </p:tavLst>
                                    </p:anim>
                                    <p:anim calcmode="lin" valueType="num">
                                      <p:cBhvr>
                                        <p:cTn id="35" dur="500" fill="hold"/>
                                        <p:tgtEl>
                                          <p:spTgt spid="149"/>
                                        </p:tgtEl>
                                        <p:attrNameLst>
                                          <p:attrName>ppt_h</p:attrName>
                                        </p:attrNameLst>
                                      </p:cBhvr>
                                      <p:tavLst>
                                        <p:tav tm="0">
                                          <p:val>
                                            <p:strVal val="#ppt_h"/>
                                          </p:val>
                                        </p:tav>
                                        <p:tav tm="100000">
                                          <p:val>
                                            <p:strVal val="#ppt_h"/>
                                          </p:val>
                                        </p:tav>
                                      </p:tavLst>
                                    </p:anim>
                                  </p:childTnLst>
                                </p:cTn>
                              </p:par>
                            </p:childTnLst>
                          </p:cTn>
                        </p:par>
                        <p:par>
                          <p:cTn id="36" fill="hold">
                            <p:stCondLst>
                              <p:cond delay="3500"/>
                            </p:stCondLst>
                            <p:childTnLst>
                              <p:par>
                                <p:cTn id="37" presetID="23" presetClass="entr" presetSubtype="272" fill="hold" grpId="0" nodeType="afterEffect">
                                  <p:stCondLst>
                                    <p:cond delay="300"/>
                                  </p:stCondLst>
                                  <p:childTnLst>
                                    <p:set>
                                      <p:cBhvr>
                                        <p:cTn id="38" dur="1" fill="hold">
                                          <p:stCondLst>
                                            <p:cond delay="0"/>
                                          </p:stCondLst>
                                        </p:cTn>
                                        <p:tgtEl>
                                          <p:spTgt spid="141"/>
                                        </p:tgtEl>
                                        <p:attrNameLst>
                                          <p:attrName>style.visibility</p:attrName>
                                        </p:attrNameLst>
                                      </p:cBhvr>
                                      <p:to>
                                        <p:strVal val="visible"/>
                                      </p:to>
                                    </p:set>
                                    <p:anim calcmode="lin" valueType="num">
                                      <p:cBhvr>
                                        <p:cTn id="39" dur="500" fill="hold"/>
                                        <p:tgtEl>
                                          <p:spTgt spid="141"/>
                                        </p:tgtEl>
                                        <p:attrNameLst>
                                          <p:attrName>ppt_w</p:attrName>
                                        </p:attrNameLst>
                                      </p:cBhvr>
                                      <p:tavLst>
                                        <p:tav tm="0">
                                          <p:val>
                                            <p:strVal val="2/3*#ppt_w"/>
                                          </p:val>
                                        </p:tav>
                                        <p:tav tm="100000">
                                          <p:val>
                                            <p:strVal val="#ppt_w"/>
                                          </p:val>
                                        </p:tav>
                                      </p:tavLst>
                                    </p:anim>
                                    <p:anim calcmode="lin" valueType="num">
                                      <p:cBhvr>
                                        <p:cTn id="40" dur="500" fill="hold"/>
                                        <p:tgtEl>
                                          <p:spTgt spid="141"/>
                                        </p:tgtEl>
                                        <p:attrNameLst>
                                          <p:attrName>ppt_h</p:attrName>
                                        </p:attrNameLst>
                                      </p:cBhvr>
                                      <p:tavLst>
                                        <p:tav tm="0">
                                          <p:val>
                                            <p:strVal val="2/3*#ppt_h"/>
                                          </p:val>
                                        </p:tav>
                                        <p:tav tm="100000">
                                          <p:val>
                                            <p:strVal val="#ppt_h"/>
                                          </p:val>
                                        </p:tav>
                                      </p:tavLst>
                                    </p:anim>
                                  </p:childTnLst>
                                  <p:subTnLst>
                                    <p:audio>
                                      <p:cMediaNode>
                                        <p:cTn display="0" masterRel="sameClick">
                                          <p:stCondLst>
                                            <p:cond evt="begin" delay="0">
                                              <p:tn val="37"/>
                                            </p:cond>
                                          </p:stCondLst>
                                          <p:endCondLst>
                                            <p:cond evt="onStopAudio" delay="0">
                                              <p:tgtEl>
                                                <p:sldTgt/>
                                              </p:tgtEl>
                                            </p:cond>
                                          </p:endCondLst>
                                        </p:cTn>
                                        <p:tgtEl>
                                          <p:sndTgt r:embed="rId3" name="CHIMES.WAV"/>
                                        </p:tgtEl>
                                      </p:cMediaNode>
                                    </p:audio>
                                  </p:subTnLst>
                                </p:cTn>
                              </p:par>
                            </p:childTnLst>
                          </p:cTn>
                        </p:par>
                        <p:par>
                          <p:cTn id="41" fill="hold">
                            <p:stCondLst>
                              <p:cond delay="4300"/>
                            </p:stCondLst>
                            <p:childTnLst>
                              <p:par>
                                <p:cTn id="42" presetID="23" presetClass="entr" presetSubtype="272" fill="hold" grpId="0" nodeType="afterEffect">
                                  <p:stCondLst>
                                    <p:cond delay="300"/>
                                  </p:stCondLst>
                                  <p:childTnLst>
                                    <p:set>
                                      <p:cBhvr>
                                        <p:cTn id="43" dur="1" fill="hold">
                                          <p:stCondLst>
                                            <p:cond delay="0"/>
                                          </p:stCondLst>
                                        </p:cTn>
                                        <p:tgtEl>
                                          <p:spTgt spid="142"/>
                                        </p:tgtEl>
                                        <p:attrNameLst>
                                          <p:attrName>style.visibility</p:attrName>
                                        </p:attrNameLst>
                                      </p:cBhvr>
                                      <p:to>
                                        <p:strVal val="visible"/>
                                      </p:to>
                                    </p:set>
                                    <p:anim calcmode="lin" valueType="num">
                                      <p:cBhvr>
                                        <p:cTn id="44" dur="500" fill="hold"/>
                                        <p:tgtEl>
                                          <p:spTgt spid="142"/>
                                        </p:tgtEl>
                                        <p:attrNameLst>
                                          <p:attrName>ppt_w</p:attrName>
                                        </p:attrNameLst>
                                      </p:cBhvr>
                                      <p:tavLst>
                                        <p:tav tm="0">
                                          <p:val>
                                            <p:strVal val="2/3*#ppt_w"/>
                                          </p:val>
                                        </p:tav>
                                        <p:tav tm="100000">
                                          <p:val>
                                            <p:strVal val="#ppt_w"/>
                                          </p:val>
                                        </p:tav>
                                      </p:tavLst>
                                    </p:anim>
                                    <p:anim calcmode="lin" valueType="num">
                                      <p:cBhvr>
                                        <p:cTn id="45" dur="500" fill="hold"/>
                                        <p:tgtEl>
                                          <p:spTgt spid="142"/>
                                        </p:tgtEl>
                                        <p:attrNameLst>
                                          <p:attrName>ppt_h</p:attrName>
                                        </p:attrNameLst>
                                      </p:cBhvr>
                                      <p:tavLst>
                                        <p:tav tm="0">
                                          <p:val>
                                            <p:strVal val="2/3*#ppt_h"/>
                                          </p:val>
                                        </p:tav>
                                        <p:tav tm="100000">
                                          <p:val>
                                            <p:strVal val="#ppt_h"/>
                                          </p:val>
                                        </p:tav>
                                      </p:tavLst>
                                    </p:anim>
                                  </p:childTnLst>
                                  <p:subTnLst>
                                    <p:audio>
                                      <p:cMediaNode>
                                        <p:cTn display="0" masterRel="sameClick">
                                          <p:stCondLst>
                                            <p:cond evt="begin" delay="0">
                                              <p:tn val="42"/>
                                            </p:cond>
                                          </p:stCondLst>
                                          <p:endCondLst>
                                            <p:cond evt="onStopAudio" delay="0">
                                              <p:tgtEl>
                                                <p:sldTgt/>
                                              </p:tgtEl>
                                            </p:cond>
                                          </p:endCondLst>
                                        </p:cTn>
                                        <p:tgtEl>
                                          <p:sndTgt r:embed="rId3" name="CHIMES.WAV"/>
                                        </p:tgtEl>
                                      </p:cMediaNode>
                                    </p:audio>
                                  </p:subTnLst>
                                </p:cTn>
                              </p:par>
                            </p:childTnLst>
                          </p:cTn>
                        </p:par>
                        <p:par>
                          <p:cTn id="46" fill="hold">
                            <p:stCondLst>
                              <p:cond delay="5100"/>
                            </p:stCondLst>
                            <p:childTnLst>
                              <p:par>
                                <p:cTn id="47" presetID="23" presetClass="entr" presetSubtype="272" fill="hold" grpId="0" nodeType="afterEffect">
                                  <p:stCondLst>
                                    <p:cond delay="300"/>
                                  </p:stCondLst>
                                  <p:childTnLst>
                                    <p:set>
                                      <p:cBhvr>
                                        <p:cTn id="48" dur="1" fill="hold">
                                          <p:stCondLst>
                                            <p:cond delay="0"/>
                                          </p:stCondLst>
                                        </p:cTn>
                                        <p:tgtEl>
                                          <p:spTgt spid="143"/>
                                        </p:tgtEl>
                                        <p:attrNameLst>
                                          <p:attrName>style.visibility</p:attrName>
                                        </p:attrNameLst>
                                      </p:cBhvr>
                                      <p:to>
                                        <p:strVal val="visible"/>
                                      </p:to>
                                    </p:set>
                                    <p:anim calcmode="lin" valueType="num">
                                      <p:cBhvr>
                                        <p:cTn id="49" dur="500" fill="hold"/>
                                        <p:tgtEl>
                                          <p:spTgt spid="143"/>
                                        </p:tgtEl>
                                        <p:attrNameLst>
                                          <p:attrName>ppt_w</p:attrName>
                                        </p:attrNameLst>
                                      </p:cBhvr>
                                      <p:tavLst>
                                        <p:tav tm="0">
                                          <p:val>
                                            <p:strVal val="2/3*#ppt_w"/>
                                          </p:val>
                                        </p:tav>
                                        <p:tav tm="100000">
                                          <p:val>
                                            <p:strVal val="#ppt_w"/>
                                          </p:val>
                                        </p:tav>
                                      </p:tavLst>
                                    </p:anim>
                                    <p:anim calcmode="lin" valueType="num">
                                      <p:cBhvr>
                                        <p:cTn id="50" dur="500" fill="hold"/>
                                        <p:tgtEl>
                                          <p:spTgt spid="143"/>
                                        </p:tgtEl>
                                        <p:attrNameLst>
                                          <p:attrName>ppt_h</p:attrName>
                                        </p:attrNameLst>
                                      </p:cBhvr>
                                      <p:tavLst>
                                        <p:tav tm="0">
                                          <p:val>
                                            <p:strVal val="2/3*#ppt_h"/>
                                          </p:val>
                                        </p:tav>
                                        <p:tav tm="100000">
                                          <p:val>
                                            <p:strVal val="#ppt_h"/>
                                          </p:val>
                                        </p:tav>
                                      </p:tavLst>
                                    </p:anim>
                                  </p:childTnLst>
                                  <p:subTnLst>
                                    <p:audio>
                                      <p:cMediaNode>
                                        <p:cTn display="0" masterRel="sameClick">
                                          <p:stCondLst>
                                            <p:cond evt="begin" delay="0">
                                              <p:tn val="47"/>
                                            </p:cond>
                                          </p:stCondLst>
                                          <p:endCondLst>
                                            <p:cond evt="onStopAudio" delay="0">
                                              <p:tgtEl>
                                                <p:sldTgt/>
                                              </p:tgtEl>
                                            </p:cond>
                                          </p:endCondLst>
                                        </p:cTn>
                                        <p:tgtEl>
                                          <p:sndTgt r:embed="rId3" name="CHIMES.WAV"/>
                                        </p:tgtEl>
                                      </p:cMediaNode>
                                    </p:audio>
                                  </p:subTnLst>
                                </p:cTn>
                              </p:par>
                            </p:childTnLst>
                          </p:cTn>
                        </p:par>
                        <p:par>
                          <p:cTn id="51" fill="hold">
                            <p:stCondLst>
                              <p:cond delay="5900"/>
                            </p:stCondLst>
                            <p:childTnLst>
                              <p:par>
                                <p:cTn id="52" presetID="23" presetClass="entr" presetSubtype="272" fill="hold" grpId="0" nodeType="afterEffect">
                                  <p:stCondLst>
                                    <p:cond delay="300"/>
                                  </p:stCondLst>
                                  <p:childTnLst>
                                    <p:set>
                                      <p:cBhvr>
                                        <p:cTn id="53" dur="1" fill="hold">
                                          <p:stCondLst>
                                            <p:cond delay="0"/>
                                          </p:stCondLst>
                                        </p:cTn>
                                        <p:tgtEl>
                                          <p:spTgt spid="150"/>
                                        </p:tgtEl>
                                        <p:attrNameLst>
                                          <p:attrName>style.visibility</p:attrName>
                                        </p:attrNameLst>
                                      </p:cBhvr>
                                      <p:to>
                                        <p:strVal val="visible"/>
                                      </p:to>
                                    </p:set>
                                    <p:anim calcmode="lin" valueType="num">
                                      <p:cBhvr>
                                        <p:cTn id="54" dur="500" fill="hold"/>
                                        <p:tgtEl>
                                          <p:spTgt spid="150"/>
                                        </p:tgtEl>
                                        <p:attrNameLst>
                                          <p:attrName>ppt_w</p:attrName>
                                        </p:attrNameLst>
                                      </p:cBhvr>
                                      <p:tavLst>
                                        <p:tav tm="0">
                                          <p:val>
                                            <p:strVal val="2/3*#ppt_w"/>
                                          </p:val>
                                        </p:tav>
                                        <p:tav tm="100000">
                                          <p:val>
                                            <p:strVal val="#ppt_w"/>
                                          </p:val>
                                        </p:tav>
                                      </p:tavLst>
                                    </p:anim>
                                    <p:anim calcmode="lin" valueType="num">
                                      <p:cBhvr>
                                        <p:cTn id="55" dur="500" fill="hold"/>
                                        <p:tgtEl>
                                          <p:spTgt spid="150"/>
                                        </p:tgtEl>
                                        <p:attrNameLst>
                                          <p:attrName>ppt_h</p:attrName>
                                        </p:attrNameLst>
                                      </p:cBhvr>
                                      <p:tavLst>
                                        <p:tav tm="0">
                                          <p:val>
                                            <p:strVal val="2/3*#ppt_h"/>
                                          </p:val>
                                        </p:tav>
                                        <p:tav tm="100000">
                                          <p:val>
                                            <p:strVal val="#ppt_h"/>
                                          </p:val>
                                        </p:tav>
                                      </p:tavLst>
                                    </p:anim>
                                  </p:childTnLst>
                                  <p:subTnLst>
                                    <p:audio>
                                      <p:cMediaNode>
                                        <p:cTn display="0" masterRel="sameClick">
                                          <p:stCondLst>
                                            <p:cond evt="begin" delay="0">
                                              <p:tn val="52"/>
                                            </p:cond>
                                          </p:stCondLst>
                                          <p:endCondLst>
                                            <p:cond evt="onStopAudio" delay="0">
                                              <p:tgtEl>
                                                <p:sldTgt/>
                                              </p:tgtEl>
                                            </p:cond>
                                          </p:endCondLst>
                                        </p:cTn>
                                        <p:tgtEl>
                                          <p:sndTgt r:embed="rId3" name="CHIMES.WAV"/>
                                        </p:tgtEl>
                                      </p:cMediaNode>
                                    </p:audio>
                                  </p:subTnLst>
                                </p:cTn>
                              </p:par>
                            </p:childTnLst>
                          </p:cTn>
                        </p:par>
                        <p:par>
                          <p:cTn id="56" fill="hold">
                            <p:stCondLst>
                              <p:cond delay="6700"/>
                            </p:stCondLst>
                            <p:childTnLst>
                              <p:par>
                                <p:cTn id="57" presetID="23" presetClass="entr" presetSubtype="272" fill="hold" grpId="0" nodeType="afterEffect">
                                  <p:stCondLst>
                                    <p:cond delay="300"/>
                                  </p:stCondLst>
                                  <p:childTnLst>
                                    <p:set>
                                      <p:cBhvr>
                                        <p:cTn id="58" dur="1" fill="hold">
                                          <p:stCondLst>
                                            <p:cond delay="0"/>
                                          </p:stCondLst>
                                        </p:cTn>
                                        <p:tgtEl>
                                          <p:spTgt spid="151"/>
                                        </p:tgtEl>
                                        <p:attrNameLst>
                                          <p:attrName>style.visibility</p:attrName>
                                        </p:attrNameLst>
                                      </p:cBhvr>
                                      <p:to>
                                        <p:strVal val="visible"/>
                                      </p:to>
                                    </p:set>
                                    <p:anim calcmode="lin" valueType="num">
                                      <p:cBhvr>
                                        <p:cTn id="59" dur="500" fill="hold"/>
                                        <p:tgtEl>
                                          <p:spTgt spid="151"/>
                                        </p:tgtEl>
                                        <p:attrNameLst>
                                          <p:attrName>ppt_w</p:attrName>
                                        </p:attrNameLst>
                                      </p:cBhvr>
                                      <p:tavLst>
                                        <p:tav tm="0">
                                          <p:val>
                                            <p:strVal val="2/3*#ppt_w"/>
                                          </p:val>
                                        </p:tav>
                                        <p:tav tm="100000">
                                          <p:val>
                                            <p:strVal val="#ppt_w"/>
                                          </p:val>
                                        </p:tav>
                                      </p:tavLst>
                                    </p:anim>
                                    <p:anim calcmode="lin" valueType="num">
                                      <p:cBhvr>
                                        <p:cTn id="60" dur="500" fill="hold"/>
                                        <p:tgtEl>
                                          <p:spTgt spid="151"/>
                                        </p:tgtEl>
                                        <p:attrNameLst>
                                          <p:attrName>ppt_h</p:attrName>
                                        </p:attrNameLst>
                                      </p:cBhvr>
                                      <p:tavLst>
                                        <p:tav tm="0">
                                          <p:val>
                                            <p:strVal val="2/3*#ppt_h"/>
                                          </p:val>
                                        </p:tav>
                                        <p:tav tm="100000">
                                          <p:val>
                                            <p:strVal val="#ppt_h"/>
                                          </p:val>
                                        </p:tav>
                                      </p:tavLst>
                                    </p:anim>
                                  </p:childTnLst>
                                  <p:subTnLst>
                                    <p:audio>
                                      <p:cMediaNode>
                                        <p:cTn display="0" masterRel="sameClick">
                                          <p:stCondLst>
                                            <p:cond evt="begin" delay="0">
                                              <p:tn val="57"/>
                                            </p:cond>
                                          </p:stCondLst>
                                          <p:endCondLst>
                                            <p:cond evt="onStopAudio" delay="0">
                                              <p:tgtEl>
                                                <p:sldTgt/>
                                              </p:tgtEl>
                                            </p:cond>
                                          </p:endCondLst>
                                        </p:cTn>
                                        <p:tgtEl>
                                          <p:sndTgt r:embed="rId3" name="CHIMES.WAV"/>
                                        </p:tgtEl>
                                      </p:cMediaNode>
                                    </p:audio>
                                  </p:subTnLst>
                                </p:cTn>
                              </p:par>
                            </p:childTnLst>
                          </p:cTn>
                        </p:par>
                        <p:par>
                          <p:cTn id="61" fill="hold">
                            <p:stCondLst>
                              <p:cond delay="7500"/>
                            </p:stCondLst>
                            <p:childTnLst>
                              <p:par>
                                <p:cTn id="62" presetID="23" presetClass="entr" presetSubtype="272" fill="hold" grpId="0" nodeType="afterEffect">
                                  <p:stCondLst>
                                    <p:cond delay="300"/>
                                  </p:stCondLst>
                                  <p:childTnLst>
                                    <p:set>
                                      <p:cBhvr>
                                        <p:cTn id="63" dur="1" fill="hold">
                                          <p:stCondLst>
                                            <p:cond delay="0"/>
                                          </p:stCondLst>
                                        </p:cTn>
                                        <p:tgtEl>
                                          <p:spTgt spid="156"/>
                                        </p:tgtEl>
                                        <p:attrNameLst>
                                          <p:attrName>style.visibility</p:attrName>
                                        </p:attrNameLst>
                                      </p:cBhvr>
                                      <p:to>
                                        <p:strVal val="visible"/>
                                      </p:to>
                                    </p:set>
                                    <p:anim calcmode="lin" valueType="num">
                                      <p:cBhvr>
                                        <p:cTn id="64" dur="500" fill="hold"/>
                                        <p:tgtEl>
                                          <p:spTgt spid="156"/>
                                        </p:tgtEl>
                                        <p:attrNameLst>
                                          <p:attrName>ppt_w</p:attrName>
                                        </p:attrNameLst>
                                      </p:cBhvr>
                                      <p:tavLst>
                                        <p:tav tm="0">
                                          <p:val>
                                            <p:strVal val="2/3*#ppt_w"/>
                                          </p:val>
                                        </p:tav>
                                        <p:tav tm="100000">
                                          <p:val>
                                            <p:strVal val="#ppt_w"/>
                                          </p:val>
                                        </p:tav>
                                      </p:tavLst>
                                    </p:anim>
                                    <p:anim calcmode="lin" valueType="num">
                                      <p:cBhvr>
                                        <p:cTn id="65" dur="500" fill="hold"/>
                                        <p:tgtEl>
                                          <p:spTgt spid="156"/>
                                        </p:tgtEl>
                                        <p:attrNameLst>
                                          <p:attrName>ppt_h</p:attrName>
                                        </p:attrNameLst>
                                      </p:cBhvr>
                                      <p:tavLst>
                                        <p:tav tm="0">
                                          <p:val>
                                            <p:strVal val="2/3*#ppt_h"/>
                                          </p:val>
                                        </p:tav>
                                        <p:tav tm="100000">
                                          <p:val>
                                            <p:strVal val="#ppt_h"/>
                                          </p:val>
                                        </p:tav>
                                      </p:tavLst>
                                    </p:anim>
                                  </p:childTnLst>
                                  <p:subTnLst>
                                    <p:audio>
                                      <p:cMediaNode>
                                        <p:cTn display="0" masterRel="sameClick">
                                          <p:stCondLst>
                                            <p:cond evt="begin" delay="0">
                                              <p:tn val="62"/>
                                            </p:cond>
                                          </p:stCondLst>
                                          <p:endCondLst>
                                            <p:cond evt="onStopAudio" delay="0">
                                              <p:tgtEl>
                                                <p:sldTgt/>
                                              </p:tgtEl>
                                            </p:cond>
                                          </p:endCondLst>
                                        </p:cTn>
                                        <p:tgtEl>
                                          <p:sndTgt r:embed="rId3" name="CHIMES.WAV"/>
                                        </p:tgtEl>
                                      </p:cMediaNode>
                                    </p:audio>
                                  </p:subTnLst>
                                </p:cTn>
                              </p:par>
                            </p:childTnLst>
                          </p:cTn>
                        </p:par>
                        <p:par>
                          <p:cTn id="66" fill="hold">
                            <p:stCondLst>
                              <p:cond delay="8300"/>
                            </p:stCondLst>
                            <p:childTnLst>
                              <p:par>
                                <p:cTn id="67" presetID="23" presetClass="entr" presetSubtype="272" fill="hold" grpId="0" nodeType="afterEffect">
                                  <p:stCondLst>
                                    <p:cond delay="300"/>
                                  </p:stCondLst>
                                  <p:childTnLst>
                                    <p:set>
                                      <p:cBhvr>
                                        <p:cTn id="68" dur="1" fill="hold">
                                          <p:stCondLst>
                                            <p:cond delay="0"/>
                                          </p:stCondLst>
                                        </p:cTn>
                                        <p:tgtEl>
                                          <p:spTgt spid="144"/>
                                        </p:tgtEl>
                                        <p:attrNameLst>
                                          <p:attrName>style.visibility</p:attrName>
                                        </p:attrNameLst>
                                      </p:cBhvr>
                                      <p:to>
                                        <p:strVal val="visible"/>
                                      </p:to>
                                    </p:set>
                                    <p:anim calcmode="lin" valueType="num">
                                      <p:cBhvr>
                                        <p:cTn id="69" dur="500" fill="hold"/>
                                        <p:tgtEl>
                                          <p:spTgt spid="144"/>
                                        </p:tgtEl>
                                        <p:attrNameLst>
                                          <p:attrName>ppt_w</p:attrName>
                                        </p:attrNameLst>
                                      </p:cBhvr>
                                      <p:tavLst>
                                        <p:tav tm="0">
                                          <p:val>
                                            <p:strVal val="2/3*#ppt_w"/>
                                          </p:val>
                                        </p:tav>
                                        <p:tav tm="100000">
                                          <p:val>
                                            <p:strVal val="#ppt_w"/>
                                          </p:val>
                                        </p:tav>
                                      </p:tavLst>
                                    </p:anim>
                                    <p:anim calcmode="lin" valueType="num">
                                      <p:cBhvr>
                                        <p:cTn id="70" dur="500" fill="hold"/>
                                        <p:tgtEl>
                                          <p:spTgt spid="144"/>
                                        </p:tgtEl>
                                        <p:attrNameLst>
                                          <p:attrName>ppt_h</p:attrName>
                                        </p:attrNameLst>
                                      </p:cBhvr>
                                      <p:tavLst>
                                        <p:tav tm="0">
                                          <p:val>
                                            <p:strVal val="2/3*#ppt_h"/>
                                          </p:val>
                                        </p:tav>
                                        <p:tav tm="100000">
                                          <p:val>
                                            <p:strVal val="#ppt_h"/>
                                          </p:val>
                                        </p:tav>
                                      </p:tavLst>
                                    </p:anim>
                                  </p:childTnLst>
                                  <p:subTnLst>
                                    <p:audio>
                                      <p:cMediaNode>
                                        <p:cTn display="0" masterRel="sameClick">
                                          <p:stCondLst>
                                            <p:cond evt="begin" delay="0">
                                              <p:tn val="67"/>
                                            </p:cond>
                                          </p:stCondLst>
                                          <p:endCondLst>
                                            <p:cond evt="onStopAudio" delay="0">
                                              <p:tgtEl>
                                                <p:sldTgt/>
                                              </p:tgtEl>
                                            </p:cond>
                                          </p:endCondLst>
                                        </p:cTn>
                                        <p:tgtEl>
                                          <p:sndTgt r:embed="rId3" name="CHIMES.WAV"/>
                                        </p:tgtEl>
                                      </p:cMediaNode>
                                    </p:audio>
                                  </p:subTnLst>
                                </p:cTn>
                              </p:par>
                            </p:childTnLst>
                          </p:cTn>
                        </p:par>
                        <p:par>
                          <p:cTn id="71" fill="hold">
                            <p:stCondLst>
                              <p:cond delay="9100"/>
                            </p:stCondLst>
                            <p:childTnLst>
                              <p:par>
                                <p:cTn id="72" presetID="23" presetClass="entr" presetSubtype="272" fill="hold" grpId="0" nodeType="afterEffect">
                                  <p:stCondLst>
                                    <p:cond delay="300"/>
                                  </p:stCondLst>
                                  <p:childTnLst>
                                    <p:set>
                                      <p:cBhvr>
                                        <p:cTn id="73" dur="1" fill="hold">
                                          <p:stCondLst>
                                            <p:cond delay="0"/>
                                          </p:stCondLst>
                                        </p:cTn>
                                        <p:tgtEl>
                                          <p:spTgt spid="145"/>
                                        </p:tgtEl>
                                        <p:attrNameLst>
                                          <p:attrName>style.visibility</p:attrName>
                                        </p:attrNameLst>
                                      </p:cBhvr>
                                      <p:to>
                                        <p:strVal val="visible"/>
                                      </p:to>
                                    </p:set>
                                    <p:anim calcmode="lin" valueType="num">
                                      <p:cBhvr>
                                        <p:cTn id="74" dur="500" fill="hold"/>
                                        <p:tgtEl>
                                          <p:spTgt spid="145"/>
                                        </p:tgtEl>
                                        <p:attrNameLst>
                                          <p:attrName>ppt_w</p:attrName>
                                        </p:attrNameLst>
                                      </p:cBhvr>
                                      <p:tavLst>
                                        <p:tav tm="0">
                                          <p:val>
                                            <p:strVal val="2/3*#ppt_w"/>
                                          </p:val>
                                        </p:tav>
                                        <p:tav tm="100000">
                                          <p:val>
                                            <p:strVal val="#ppt_w"/>
                                          </p:val>
                                        </p:tav>
                                      </p:tavLst>
                                    </p:anim>
                                    <p:anim calcmode="lin" valueType="num">
                                      <p:cBhvr>
                                        <p:cTn id="75" dur="500" fill="hold"/>
                                        <p:tgtEl>
                                          <p:spTgt spid="145"/>
                                        </p:tgtEl>
                                        <p:attrNameLst>
                                          <p:attrName>ppt_h</p:attrName>
                                        </p:attrNameLst>
                                      </p:cBhvr>
                                      <p:tavLst>
                                        <p:tav tm="0">
                                          <p:val>
                                            <p:strVal val="2/3*#ppt_h"/>
                                          </p:val>
                                        </p:tav>
                                        <p:tav tm="100000">
                                          <p:val>
                                            <p:strVal val="#ppt_h"/>
                                          </p:val>
                                        </p:tav>
                                      </p:tavLst>
                                    </p:anim>
                                  </p:childTnLst>
                                  <p:subTnLst>
                                    <p:audio>
                                      <p:cMediaNode>
                                        <p:cTn display="0" masterRel="sameClick">
                                          <p:stCondLst>
                                            <p:cond evt="begin" delay="0">
                                              <p:tn val="72"/>
                                            </p:cond>
                                          </p:stCondLst>
                                          <p:endCondLst>
                                            <p:cond evt="onStopAudio" delay="0">
                                              <p:tgtEl>
                                                <p:sldTgt/>
                                              </p:tgtEl>
                                            </p:cond>
                                          </p:endCondLst>
                                        </p:cTn>
                                        <p:tgtEl>
                                          <p:sndTgt r:embed="rId3" name="CHIMES.WAV"/>
                                        </p:tgtEl>
                                      </p:cMediaNode>
                                    </p:audio>
                                  </p:subTnLst>
                                </p:cTn>
                              </p:par>
                            </p:childTnLst>
                          </p:cTn>
                        </p:par>
                        <p:par>
                          <p:cTn id="76" fill="hold">
                            <p:stCondLst>
                              <p:cond delay="9900"/>
                            </p:stCondLst>
                            <p:childTnLst>
                              <p:par>
                                <p:cTn id="77" presetID="23" presetClass="entr" presetSubtype="272" fill="hold" grpId="0" nodeType="afterEffect">
                                  <p:stCondLst>
                                    <p:cond delay="300"/>
                                  </p:stCondLst>
                                  <p:childTnLst>
                                    <p:set>
                                      <p:cBhvr>
                                        <p:cTn id="78" dur="1" fill="hold">
                                          <p:stCondLst>
                                            <p:cond delay="0"/>
                                          </p:stCondLst>
                                        </p:cTn>
                                        <p:tgtEl>
                                          <p:spTgt spid="146"/>
                                        </p:tgtEl>
                                        <p:attrNameLst>
                                          <p:attrName>style.visibility</p:attrName>
                                        </p:attrNameLst>
                                      </p:cBhvr>
                                      <p:to>
                                        <p:strVal val="visible"/>
                                      </p:to>
                                    </p:set>
                                    <p:anim calcmode="lin" valueType="num">
                                      <p:cBhvr>
                                        <p:cTn id="79" dur="500" fill="hold"/>
                                        <p:tgtEl>
                                          <p:spTgt spid="146"/>
                                        </p:tgtEl>
                                        <p:attrNameLst>
                                          <p:attrName>ppt_w</p:attrName>
                                        </p:attrNameLst>
                                      </p:cBhvr>
                                      <p:tavLst>
                                        <p:tav tm="0">
                                          <p:val>
                                            <p:strVal val="2/3*#ppt_w"/>
                                          </p:val>
                                        </p:tav>
                                        <p:tav tm="100000">
                                          <p:val>
                                            <p:strVal val="#ppt_w"/>
                                          </p:val>
                                        </p:tav>
                                      </p:tavLst>
                                    </p:anim>
                                    <p:anim calcmode="lin" valueType="num">
                                      <p:cBhvr>
                                        <p:cTn id="80" dur="500" fill="hold"/>
                                        <p:tgtEl>
                                          <p:spTgt spid="146"/>
                                        </p:tgtEl>
                                        <p:attrNameLst>
                                          <p:attrName>ppt_h</p:attrName>
                                        </p:attrNameLst>
                                      </p:cBhvr>
                                      <p:tavLst>
                                        <p:tav tm="0">
                                          <p:val>
                                            <p:strVal val="2/3*#ppt_h"/>
                                          </p:val>
                                        </p:tav>
                                        <p:tav tm="100000">
                                          <p:val>
                                            <p:strVal val="#ppt_h"/>
                                          </p:val>
                                        </p:tav>
                                      </p:tavLst>
                                    </p:anim>
                                  </p:childTnLst>
                                  <p:subTnLst>
                                    <p:audio>
                                      <p:cMediaNode>
                                        <p:cTn display="0" masterRel="sameClick">
                                          <p:stCondLst>
                                            <p:cond evt="begin" delay="0">
                                              <p:tn val="77"/>
                                            </p:cond>
                                          </p:stCondLst>
                                          <p:endCondLst>
                                            <p:cond evt="onStopAudio" delay="0">
                                              <p:tgtEl>
                                                <p:sldTgt/>
                                              </p:tgtEl>
                                            </p:cond>
                                          </p:endCondLst>
                                        </p:cTn>
                                        <p:tgtEl>
                                          <p:sndTgt r:embed="rId3" name="CHIMES.WAV"/>
                                        </p:tgtEl>
                                      </p:cMediaNode>
                                    </p:audio>
                                  </p:subTnLst>
                                </p:cTn>
                              </p:par>
                            </p:childTnLst>
                          </p:cTn>
                        </p:par>
                        <p:par>
                          <p:cTn id="81" fill="hold">
                            <p:stCondLst>
                              <p:cond delay="10700"/>
                            </p:stCondLst>
                            <p:childTnLst>
                              <p:par>
                                <p:cTn id="82" presetID="23" presetClass="entr" presetSubtype="272" fill="hold" grpId="0" nodeType="afterEffect">
                                  <p:stCondLst>
                                    <p:cond delay="300"/>
                                  </p:stCondLst>
                                  <p:childTnLst>
                                    <p:set>
                                      <p:cBhvr>
                                        <p:cTn id="83" dur="1" fill="hold">
                                          <p:stCondLst>
                                            <p:cond delay="0"/>
                                          </p:stCondLst>
                                        </p:cTn>
                                        <p:tgtEl>
                                          <p:spTgt spid="147"/>
                                        </p:tgtEl>
                                        <p:attrNameLst>
                                          <p:attrName>style.visibility</p:attrName>
                                        </p:attrNameLst>
                                      </p:cBhvr>
                                      <p:to>
                                        <p:strVal val="visible"/>
                                      </p:to>
                                    </p:set>
                                    <p:anim calcmode="lin" valueType="num">
                                      <p:cBhvr>
                                        <p:cTn id="84" dur="500" fill="hold"/>
                                        <p:tgtEl>
                                          <p:spTgt spid="147"/>
                                        </p:tgtEl>
                                        <p:attrNameLst>
                                          <p:attrName>ppt_w</p:attrName>
                                        </p:attrNameLst>
                                      </p:cBhvr>
                                      <p:tavLst>
                                        <p:tav tm="0">
                                          <p:val>
                                            <p:strVal val="2/3*#ppt_w"/>
                                          </p:val>
                                        </p:tav>
                                        <p:tav tm="100000">
                                          <p:val>
                                            <p:strVal val="#ppt_w"/>
                                          </p:val>
                                        </p:tav>
                                      </p:tavLst>
                                    </p:anim>
                                    <p:anim calcmode="lin" valueType="num">
                                      <p:cBhvr>
                                        <p:cTn id="85" dur="500" fill="hold"/>
                                        <p:tgtEl>
                                          <p:spTgt spid="147"/>
                                        </p:tgtEl>
                                        <p:attrNameLst>
                                          <p:attrName>ppt_h</p:attrName>
                                        </p:attrNameLst>
                                      </p:cBhvr>
                                      <p:tavLst>
                                        <p:tav tm="0">
                                          <p:val>
                                            <p:strVal val="2/3*#ppt_h"/>
                                          </p:val>
                                        </p:tav>
                                        <p:tav tm="100000">
                                          <p:val>
                                            <p:strVal val="#ppt_h"/>
                                          </p:val>
                                        </p:tav>
                                      </p:tavLst>
                                    </p:anim>
                                  </p:childTnLst>
                                  <p:subTnLst>
                                    <p:audio>
                                      <p:cMediaNode>
                                        <p:cTn display="0" masterRel="sameClick">
                                          <p:stCondLst>
                                            <p:cond evt="begin" delay="0">
                                              <p:tn val="82"/>
                                            </p:cond>
                                          </p:stCondLst>
                                          <p:endCondLst>
                                            <p:cond evt="onStopAudio" delay="0">
                                              <p:tgtEl>
                                                <p:sldTgt/>
                                              </p:tgtEl>
                                            </p:cond>
                                          </p:endCondLst>
                                        </p:cTn>
                                        <p:tgtEl>
                                          <p:sndTgt r:embed="rId3" name="CHIMES.WAV"/>
                                        </p:tgtEl>
                                      </p:cMediaNode>
                                    </p:audio>
                                  </p:subTnLst>
                                </p:cTn>
                              </p:par>
                            </p:childTnLst>
                          </p:cTn>
                        </p:par>
                        <p:par>
                          <p:cTn id="86" fill="hold">
                            <p:stCondLst>
                              <p:cond delay="11500"/>
                            </p:stCondLst>
                            <p:childTnLst>
                              <p:par>
                                <p:cTn id="87" presetID="23" presetClass="entr" presetSubtype="272" fill="hold" grpId="0" nodeType="afterEffect">
                                  <p:stCondLst>
                                    <p:cond delay="300"/>
                                  </p:stCondLst>
                                  <p:childTnLst>
                                    <p:set>
                                      <p:cBhvr>
                                        <p:cTn id="88" dur="1" fill="hold">
                                          <p:stCondLst>
                                            <p:cond delay="0"/>
                                          </p:stCondLst>
                                        </p:cTn>
                                        <p:tgtEl>
                                          <p:spTgt spid="148"/>
                                        </p:tgtEl>
                                        <p:attrNameLst>
                                          <p:attrName>style.visibility</p:attrName>
                                        </p:attrNameLst>
                                      </p:cBhvr>
                                      <p:to>
                                        <p:strVal val="visible"/>
                                      </p:to>
                                    </p:set>
                                    <p:anim calcmode="lin" valueType="num">
                                      <p:cBhvr>
                                        <p:cTn id="89" dur="500" fill="hold"/>
                                        <p:tgtEl>
                                          <p:spTgt spid="148"/>
                                        </p:tgtEl>
                                        <p:attrNameLst>
                                          <p:attrName>ppt_w</p:attrName>
                                        </p:attrNameLst>
                                      </p:cBhvr>
                                      <p:tavLst>
                                        <p:tav tm="0">
                                          <p:val>
                                            <p:strVal val="2/3*#ppt_w"/>
                                          </p:val>
                                        </p:tav>
                                        <p:tav tm="100000">
                                          <p:val>
                                            <p:strVal val="#ppt_w"/>
                                          </p:val>
                                        </p:tav>
                                      </p:tavLst>
                                    </p:anim>
                                    <p:anim calcmode="lin" valueType="num">
                                      <p:cBhvr>
                                        <p:cTn id="90" dur="500" fill="hold"/>
                                        <p:tgtEl>
                                          <p:spTgt spid="148"/>
                                        </p:tgtEl>
                                        <p:attrNameLst>
                                          <p:attrName>ppt_h</p:attrName>
                                        </p:attrNameLst>
                                      </p:cBhvr>
                                      <p:tavLst>
                                        <p:tav tm="0">
                                          <p:val>
                                            <p:strVal val="2/3*#ppt_h"/>
                                          </p:val>
                                        </p:tav>
                                        <p:tav tm="100000">
                                          <p:val>
                                            <p:strVal val="#ppt_h"/>
                                          </p:val>
                                        </p:tav>
                                      </p:tavLst>
                                    </p:anim>
                                  </p:childTnLst>
                                  <p:subTnLst>
                                    <p:audio>
                                      <p:cMediaNode>
                                        <p:cTn display="0" masterRel="sameClick">
                                          <p:stCondLst>
                                            <p:cond evt="begin" delay="0">
                                              <p:tn val="87"/>
                                            </p:cond>
                                          </p:stCondLst>
                                          <p:endCondLst>
                                            <p:cond evt="onStopAudio" delay="0">
                                              <p:tgtEl>
                                                <p:sldTgt/>
                                              </p:tgtEl>
                                            </p:cond>
                                          </p:endCondLst>
                                        </p:cTn>
                                        <p:tgtEl>
                                          <p:sndTgt r:embed="rId3" name="CHIMES.WAV"/>
                                        </p:tgtEl>
                                      </p:cMediaNode>
                                    </p:audio>
                                  </p:subTnLst>
                                </p:cTn>
                              </p:par>
                            </p:childTnLst>
                          </p:cTn>
                        </p:par>
                        <p:par>
                          <p:cTn id="91" fill="hold">
                            <p:stCondLst>
                              <p:cond delay="12300"/>
                            </p:stCondLst>
                            <p:childTnLst>
                              <p:par>
                                <p:cTn id="92" presetID="23" presetClass="entr" presetSubtype="272" fill="hold" grpId="0" nodeType="afterEffect">
                                  <p:stCondLst>
                                    <p:cond delay="300"/>
                                  </p:stCondLst>
                                  <p:childTnLst>
                                    <p:set>
                                      <p:cBhvr>
                                        <p:cTn id="93" dur="1" fill="hold">
                                          <p:stCondLst>
                                            <p:cond delay="0"/>
                                          </p:stCondLst>
                                        </p:cTn>
                                        <p:tgtEl>
                                          <p:spTgt spid="155"/>
                                        </p:tgtEl>
                                        <p:attrNameLst>
                                          <p:attrName>style.visibility</p:attrName>
                                        </p:attrNameLst>
                                      </p:cBhvr>
                                      <p:to>
                                        <p:strVal val="visible"/>
                                      </p:to>
                                    </p:set>
                                    <p:anim calcmode="lin" valueType="num">
                                      <p:cBhvr>
                                        <p:cTn id="94" dur="500" fill="hold"/>
                                        <p:tgtEl>
                                          <p:spTgt spid="155"/>
                                        </p:tgtEl>
                                        <p:attrNameLst>
                                          <p:attrName>ppt_w</p:attrName>
                                        </p:attrNameLst>
                                      </p:cBhvr>
                                      <p:tavLst>
                                        <p:tav tm="0">
                                          <p:val>
                                            <p:strVal val="2/3*#ppt_w"/>
                                          </p:val>
                                        </p:tav>
                                        <p:tav tm="100000">
                                          <p:val>
                                            <p:strVal val="#ppt_w"/>
                                          </p:val>
                                        </p:tav>
                                      </p:tavLst>
                                    </p:anim>
                                    <p:anim calcmode="lin" valueType="num">
                                      <p:cBhvr>
                                        <p:cTn id="95" dur="500" fill="hold"/>
                                        <p:tgtEl>
                                          <p:spTgt spid="155"/>
                                        </p:tgtEl>
                                        <p:attrNameLst>
                                          <p:attrName>ppt_h</p:attrName>
                                        </p:attrNameLst>
                                      </p:cBhvr>
                                      <p:tavLst>
                                        <p:tav tm="0">
                                          <p:val>
                                            <p:strVal val="2/3*#ppt_h"/>
                                          </p:val>
                                        </p:tav>
                                        <p:tav tm="100000">
                                          <p:val>
                                            <p:strVal val="#ppt_h"/>
                                          </p:val>
                                        </p:tav>
                                      </p:tavLst>
                                    </p:anim>
                                  </p:childTnLst>
                                  <p:subTnLst>
                                    <p:audio>
                                      <p:cMediaNode>
                                        <p:cTn display="0" masterRel="sameClick">
                                          <p:stCondLst>
                                            <p:cond evt="begin" delay="0">
                                              <p:tn val="92"/>
                                            </p:cond>
                                          </p:stCondLst>
                                          <p:endCondLst>
                                            <p:cond evt="onStopAudio" delay="0">
                                              <p:tgtEl>
                                                <p:sldTgt/>
                                              </p:tgtEl>
                                            </p:cond>
                                          </p:endCondLst>
                                        </p:cTn>
                                        <p:tgtEl>
                                          <p:sndTgt r:embed="rId3" name="CHIMES.WAV"/>
                                        </p:tgtEl>
                                      </p:cMediaNode>
                                    </p:audio>
                                  </p:subTnLst>
                                </p:cTn>
                              </p:par>
                            </p:childTnLst>
                          </p:cTn>
                        </p:par>
                        <p:par>
                          <p:cTn id="96" fill="hold">
                            <p:stCondLst>
                              <p:cond delay="13100"/>
                            </p:stCondLst>
                            <p:childTnLst>
                              <p:par>
                                <p:cTn id="97" presetID="17" presetClass="entr" presetSubtype="10" fill="hold" grpId="0" nodeType="afterEffect">
                                  <p:stCondLst>
                                    <p:cond delay="500"/>
                                  </p:stCondLst>
                                  <p:iterate type="wd">
                                    <p:tmPct val="100000"/>
                                  </p:iterate>
                                  <p:childTnLst>
                                    <p:set>
                                      <p:cBhvr>
                                        <p:cTn id="98" dur="1" fill="hold">
                                          <p:stCondLst>
                                            <p:cond delay="0"/>
                                          </p:stCondLst>
                                        </p:cTn>
                                        <p:tgtEl>
                                          <p:spTgt spid="139"/>
                                        </p:tgtEl>
                                        <p:attrNameLst>
                                          <p:attrName>style.visibility</p:attrName>
                                        </p:attrNameLst>
                                      </p:cBhvr>
                                      <p:to>
                                        <p:strVal val="visible"/>
                                      </p:to>
                                    </p:set>
                                    <p:anim calcmode="lin" valueType="num">
                                      <p:cBhvr>
                                        <p:cTn id="99" dur="300" fill="hold"/>
                                        <p:tgtEl>
                                          <p:spTgt spid="139"/>
                                        </p:tgtEl>
                                        <p:attrNameLst>
                                          <p:attrName>ppt_w</p:attrName>
                                        </p:attrNameLst>
                                      </p:cBhvr>
                                      <p:tavLst>
                                        <p:tav tm="0">
                                          <p:val>
                                            <p:fltVal val="0"/>
                                          </p:val>
                                        </p:tav>
                                        <p:tav tm="100000">
                                          <p:val>
                                            <p:strVal val="#ppt_w"/>
                                          </p:val>
                                        </p:tav>
                                      </p:tavLst>
                                    </p:anim>
                                    <p:anim calcmode="lin" valueType="num">
                                      <p:cBhvr>
                                        <p:cTn id="100" dur="300" fill="hold"/>
                                        <p:tgtEl>
                                          <p:spTgt spid="139"/>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97"/>
                                            </p:cond>
                                          </p:stCondLst>
                                          <p:endCondLst>
                                            <p:cond evt="onStopAudio" delay="0">
                                              <p:tgtEl>
                                                <p:sldTgt/>
                                              </p:tgtEl>
                                            </p:cond>
                                          </p:endCondLst>
                                        </p:cTn>
                                        <p:tgtEl>
                                          <p:sndTgt r:embed="rId3" name="CHIMES.WAV"/>
                                        </p:tgtEl>
                                      </p:cMediaNode>
                                    </p:audio>
                                  </p:subTnLst>
                                </p:cTn>
                              </p:par>
                            </p:childTnLst>
                          </p:cTn>
                        </p:par>
                        <p:par>
                          <p:cTn id="101" fill="hold">
                            <p:stCondLst>
                              <p:cond delay="15700"/>
                            </p:stCondLst>
                            <p:childTnLst>
                              <p:par>
                                <p:cTn id="102" presetID="17" presetClass="entr" presetSubtype="4" fill="hold" grpId="0" nodeType="afterEffect">
                                  <p:stCondLst>
                                    <p:cond delay="500"/>
                                  </p:stCondLst>
                                  <p:iterate type="wd">
                                    <p:tmPct val="100000"/>
                                  </p:iterate>
                                  <p:childTnLst>
                                    <p:set>
                                      <p:cBhvr>
                                        <p:cTn id="103" dur="1" fill="hold">
                                          <p:stCondLst>
                                            <p:cond delay="0"/>
                                          </p:stCondLst>
                                        </p:cTn>
                                        <p:tgtEl>
                                          <p:spTgt spid="140"/>
                                        </p:tgtEl>
                                        <p:attrNameLst>
                                          <p:attrName>style.visibility</p:attrName>
                                        </p:attrNameLst>
                                      </p:cBhvr>
                                      <p:to>
                                        <p:strVal val="visible"/>
                                      </p:to>
                                    </p:set>
                                    <p:anim calcmode="lin" valueType="num">
                                      <p:cBhvr>
                                        <p:cTn id="104" dur="300" fill="hold"/>
                                        <p:tgtEl>
                                          <p:spTgt spid="140"/>
                                        </p:tgtEl>
                                        <p:attrNameLst>
                                          <p:attrName>ppt_x</p:attrName>
                                        </p:attrNameLst>
                                      </p:cBhvr>
                                      <p:tavLst>
                                        <p:tav tm="0">
                                          <p:val>
                                            <p:strVal val="#ppt_x"/>
                                          </p:val>
                                        </p:tav>
                                        <p:tav tm="100000">
                                          <p:val>
                                            <p:strVal val="#ppt_x"/>
                                          </p:val>
                                        </p:tav>
                                      </p:tavLst>
                                    </p:anim>
                                    <p:anim calcmode="lin" valueType="num">
                                      <p:cBhvr>
                                        <p:cTn id="105" dur="300" fill="hold"/>
                                        <p:tgtEl>
                                          <p:spTgt spid="140"/>
                                        </p:tgtEl>
                                        <p:attrNameLst>
                                          <p:attrName>ppt_y</p:attrName>
                                        </p:attrNameLst>
                                      </p:cBhvr>
                                      <p:tavLst>
                                        <p:tav tm="0">
                                          <p:val>
                                            <p:strVal val="#ppt_y+#ppt_h/2"/>
                                          </p:val>
                                        </p:tav>
                                        <p:tav tm="100000">
                                          <p:val>
                                            <p:strVal val="#ppt_y"/>
                                          </p:val>
                                        </p:tav>
                                      </p:tavLst>
                                    </p:anim>
                                    <p:anim calcmode="lin" valueType="num">
                                      <p:cBhvr>
                                        <p:cTn id="106" dur="300" fill="hold"/>
                                        <p:tgtEl>
                                          <p:spTgt spid="140"/>
                                        </p:tgtEl>
                                        <p:attrNameLst>
                                          <p:attrName>ppt_w</p:attrName>
                                        </p:attrNameLst>
                                      </p:cBhvr>
                                      <p:tavLst>
                                        <p:tav tm="0">
                                          <p:val>
                                            <p:strVal val="#ppt_w"/>
                                          </p:val>
                                        </p:tav>
                                        <p:tav tm="100000">
                                          <p:val>
                                            <p:strVal val="#ppt_w"/>
                                          </p:val>
                                        </p:tav>
                                      </p:tavLst>
                                    </p:anim>
                                    <p:anim calcmode="lin" valueType="num">
                                      <p:cBhvr>
                                        <p:cTn id="107" dur="300" fill="hold"/>
                                        <p:tgtEl>
                                          <p:spTgt spid="140"/>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102"/>
                                            </p:cond>
                                          </p:stCondLst>
                                          <p:endCondLst>
                                            <p:cond evt="onStopAudio" delay="0">
                                              <p:tgtEl>
                                                <p:sldTgt/>
                                              </p:tgtEl>
                                            </p:cond>
                                          </p:endCondLst>
                                        </p:cTn>
                                        <p:tgtEl>
                                          <p:sndTgt r:embed="rId3" name="CHIMES.WAV"/>
                                        </p:tgtEl>
                                      </p:cMediaNode>
                                    </p:audio>
                                  </p:subTnLst>
                                </p:cTn>
                              </p:par>
                            </p:childTnLst>
                          </p:cTn>
                        </p:par>
                      </p:childTnLst>
                    </p:cTn>
                  </p:par>
                  <p:par>
                    <p:cTn id="108" fill="hold">
                      <p:stCondLst>
                        <p:cond delay="indefinite"/>
                      </p:stCondLst>
                      <p:childTnLst>
                        <p:par>
                          <p:cTn id="109" fill="hold">
                            <p:stCondLst>
                              <p:cond delay="0"/>
                            </p:stCondLst>
                            <p:childTnLst>
                              <p:par>
                                <p:cTn id="110" presetID="19" presetClass="entr" presetSubtype="10" fill="hold" grpId="0" nodeType="clickEffect">
                                  <p:stCondLst>
                                    <p:cond delay="0"/>
                                  </p:stCondLst>
                                  <p:childTnLst>
                                    <p:set>
                                      <p:cBhvr>
                                        <p:cTn id="111" dur="1" fill="hold">
                                          <p:stCondLst>
                                            <p:cond delay="0"/>
                                          </p:stCondLst>
                                        </p:cTn>
                                        <p:tgtEl>
                                          <p:spTgt spid="152"/>
                                        </p:tgtEl>
                                        <p:attrNameLst>
                                          <p:attrName>style.visibility</p:attrName>
                                        </p:attrNameLst>
                                      </p:cBhvr>
                                      <p:to>
                                        <p:strVal val="visible"/>
                                      </p:to>
                                    </p:set>
                                    <p:anim calcmode="lin" valueType="num">
                                      <p:cBhvr>
                                        <p:cTn id="112" dur="5000" fill="hold"/>
                                        <p:tgtEl>
                                          <p:spTgt spid="152"/>
                                        </p:tgtEl>
                                        <p:attrNameLst>
                                          <p:attrName>ppt_w</p:attrName>
                                        </p:attrNameLst>
                                      </p:cBhvr>
                                      <p:tavLst>
                                        <p:tav tm="0" fmla="#ppt_w*sin(2.5*pi*$)">
                                          <p:val>
                                            <p:fltVal val="0"/>
                                          </p:val>
                                        </p:tav>
                                        <p:tav tm="100000">
                                          <p:val>
                                            <p:fltVal val="1"/>
                                          </p:val>
                                        </p:tav>
                                      </p:tavLst>
                                    </p:anim>
                                    <p:anim calcmode="lin" valueType="num">
                                      <p:cBhvr>
                                        <p:cTn id="113" dur="5000" fill="hold"/>
                                        <p:tgtEl>
                                          <p:spTgt spid="152"/>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10"/>
                                            </p:cond>
                                          </p:stCondLst>
                                          <p:endCondLst>
                                            <p:cond evt="onStopAudio" delay="0">
                                              <p:tgtEl>
                                                <p:sldTgt/>
                                              </p:tgtEl>
                                            </p:cond>
                                          </p:endCondLst>
                                        </p:cTn>
                                        <p:tgtEl>
                                          <p:sndTgt r:embed="rId3" name="CHIMES.WAV"/>
                                        </p:tgtEl>
                                      </p:cMediaNode>
                                    </p:audio>
                                  </p:subTnLst>
                                </p:cTn>
                              </p:par>
                              <p:par>
                                <p:cTn id="114" presetID="22" presetClass="entr" presetSubtype="4" fill="hold" grpId="0" nodeType="withEffect">
                                  <p:stCondLst>
                                    <p:cond delay="0"/>
                                  </p:stCondLst>
                                  <p:childTnLst>
                                    <p:set>
                                      <p:cBhvr>
                                        <p:cTn id="115" dur="1" fill="hold">
                                          <p:stCondLst>
                                            <p:cond delay="0"/>
                                          </p:stCondLst>
                                        </p:cTn>
                                        <p:tgtEl>
                                          <p:spTgt spid="157"/>
                                        </p:tgtEl>
                                        <p:attrNameLst>
                                          <p:attrName>style.visibility</p:attrName>
                                        </p:attrNameLst>
                                      </p:cBhvr>
                                      <p:to>
                                        <p:strVal val="visible"/>
                                      </p:to>
                                    </p:set>
                                    <p:animEffect transition="in" filter="wipe(down)">
                                      <p:cBhvr>
                                        <p:cTn id="116" dur="5000"/>
                                        <p:tgtEl>
                                          <p:spTgt spid="157"/>
                                        </p:tgtEl>
                                      </p:cBhvr>
                                    </p:animEffect>
                                  </p:childTnLst>
                                  <p:subTnLst>
                                    <p:audio>
                                      <p:cMediaNode>
                                        <p:cTn display="0" masterRel="sameClick">
                                          <p:stCondLst>
                                            <p:cond evt="begin" delay="0">
                                              <p:tn val="114"/>
                                            </p:cond>
                                          </p:stCondLst>
                                          <p:endCondLst>
                                            <p:cond evt="onStopAudio" delay="0">
                                              <p:tgtEl>
                                                <p:sldTgt/>
                                              </p:tgtEl>
                                            </p:cond>
                                          </p:endCondLst>
                                        </p:cTn>
                                        <p:tgtEl>
                                          <p:sndTgt r:embed="rId4" name="LASER.WAV"/>
                                        </p:tgtEl>
                                      </p:cMediaNode>
                                    </p:audio>
                                  </p:subTnLst>
                                </p:cTn>
                              </p:par>
                            </p:childTnLst>
                          </p:cTn>
                        </p:par>
                        <p:par>
                          <p:cTn id="117" fill="hold">
                            <p:stCondLst>
                              <p:cond delay="5000"/>
                            </p:stCondLst>
                            <p:childTnLst>
                              <p:par>
                                <p:cTn id="118" presetID="50" presetClass="entr" presetSubtype="0" decel="100000" fill="hold" grpId="0" nodeType="afterEffect">
                                  <p:stCondLst>
                                    <p:cond delay="0"/>
                                  </p:stCondLst>
                                  <p:childTnLst>
                                    <p:set>
                                      <p:cBhvr>
                                        <p:cTn id="119" dur="1" fill="hold">
                                          <p:stCondLst>
                                            <p:cond delay="0"/>
                                          </p:stCondLst>
                                        </p:cTn>
                                        <p:tgtEl>
                                          <p:spTgt spid="171"/>
                                        </p:tgtEl>
                                        <p:attrNameLst>
                                          <p:attrName>style.visibility</p:attrName>
                                        </p:attrNameLst>
                                      </p:cBhvr>
                                      <p:to>
                                        <p:strVal val="visible"/>
                                      </p:to>
                                    </p:set>
                                    <p:anim calcmode="lin" valueType="num">
                                      <p:cBhvr>
                                        <p:cTn id="120" dur="500" fill="hold"/>
                                        <p:tgtEl>
                                          <p:spTgt spid="171"/>
                                        </p:tgtEl>
                                        <p:attrNameLst>
                                          <p:attrName>ppt_w</p:attrName>
                                        </p:attrNameLst>
                                      </p:cBhvr>
                                      <p:tavLst>
                                        <p:tav tm="0">
                                          <p:val>
                                            <p:strVal val="#ppt_w+.3"/>
                                          </p:val>
                                        </p:tav>
                                        <p:tav tm="100000">
                                          <p:val>
                                            <p:strVal val="#ppt_w"/>
                                          </p:val>
                                        </p:tav>
                                      </p:tavLst>
                                    </p:anim>
                                    <p:anim calcmode="lin" valueType="num">
                                      <p:cBhvr>
                                        <p:cTn id="121" dur="500" fill="hold"/>
                                        <p:tgtEl>
                                          <p:spTgt spid="171"/>
                                        </p:tgtEl>
                                        <p:attrNameLst>
                                          <p:attrName>ppt_h</p:attrName>
                                        </p:attrNameLst>
                                      </p:cBhvr>
                                      <p:tavLst>
                                        <p:tav tm="0">
                                          <p:val>
                                            <p:strVal val="#ppt_h"/>
                                          </p:val>
                                        </p:tav>
                                        <p:tav tm="100000">
                                          <p:val>
                                            <p:strVal val="#ppt_h"/>
                                          </p:val>
                                        </p:tav>
                                      </p:tavLst>
                                    </p:anim>
                                    <p:animEffect transition="in" filter="fade">
                                      <p:cBhvr>
                                        <p:cTn id="122" dur="500"/>
                                        <p:tgtEl>
                                          <p:spTgt spid="171"/>
                                        </p:tgtEl>
                                      </p:cBhvr>
                                    </p:animEffect>
                                  </p:childTnLst>
                                  <p:subTnLst>
                                    <p:set>
                                      <p:cBhvr override="childStyle">
                                        <p:cTn dur="1" fill="hold" display="0" masterRel="sameClick" afterEffect="1">
                                          <p:stCondLst>
                                            <p:cond evt="end" delay="0">
                                              <p:tn val="118"/>
                                            </p:cond>
                                          </p:stCondLst>
                                        </p:cTn>
                                        <p:tgtEl>
                                          <p:spTgt spid="171"/>
                                        </p:tgtEl>
                                        <p:attrNameLst>
                                          <p:attrName>style.visibility</p:attrName>
                                        </p:attrNameLst>
                                      </p:cBhvr>
                                      <p:to>
                                        <p:strVal val="hidden"/>
                                      </p:to>
                                    </p:set>
                                    <p:audio>
                                      <p:cMediaNode>
                                        <p:cTn display="0" masterRel="sameClick">
                                          <p:stCondLst>
                                            <p:cond evt="begin" delay="0">
                                              <p:tn val="118"/>
                                            </p:cond>
                                          </p:stCondLst>
                                          <p:endCondLst>
                                            <p:cond evt="onStopAudio" delay="0">
                                              <p:tgtEl>
                                                <p:sldTgt/>
                                              </p:tgtEl>
                                            </p:cond>
                                          </p:endCondLst>
                                        </p:cTn>
                                        <p:tgtEl>
                                          <p:sndTgt r:embed="rId5" name="bomb.wav"/>
                                        </p:tgtEl>
                                      </p:cMediaNode>
                                    </p:audio>
                                  </p:subTnLst>
                                </p:cTn>
                              </p:par>
                            </p:childTnLst>
                          </p:cTn>
                        </p:par>
                      </p:childTnLst>
                    </p:cTn>
                  </p:par>
                  <p:par>
                    <p:cTn id="123" fill="hold">
                      <p:stCondLst>
                        <p:cond delay="indefinite"/>
                      </p:stCondLst>
                      <p:childTnLst>
                        <p:par>
                          <p:cTn id="124" fill="hold">
                            <p:stCondLst>
                              <p:cond delay="0"/>
                            </p:stCondLst>
                            <p:childTnLst>
                              <p:par>
                                <p:cTn id="125" presetID="19" presetClass="entr" presetSubtype="10" fill="hold" grpId="0" nodeType="clickEffect">
                                  <p:stCondLst>
                                    <p:cond delay="0"/>
                                  </p:stCondLst>
                                  <p:childTnLst>
                                    <p:set>
                                      <p:cBhvr>
                                        <p:cTn id="126" dur="1" fill="hold">
                                          <p:stCondLst>
                                            <p:cond delay="0"/>
                                          </p:stCondLst>
                                        </p:cTn>
                                        <p:tgtEl>
                                          <p:spTgt spid="153"/>
                                        </p:tgtEl>
                                        <p:attrNameLst>
                                          <p:attrName>style.visibility</p:attrName>
                                        </p:attrNameLst>
                                      </p:cBhvr>
                                      <p:to>
                                        <p:strVal val="visible"/>
                                      </p:to>
                                    </p:set>
                                    <p:anim calcmode="lin" valueType="num">
                                      <p:cBhvr>
                                        <p:cTn id="127" dur="5000" fill="hold"/>
                                        <p:tgtEl>
                                          <p:spTgt spid="153"/>
                                        </p:tgtEl>
                                        <p:attrNameLst>
                                          <p:attrName>ppt_w</p:attrName>
                                        </p:attrNameLst>
                                      </p:cBhvr>
                                      <p:tavLst>
                                        <p:tav tm="0" fmla="#ppt_w*sin(2.5*pi*$)">
                                          <p:val>
                                            <p:fltVal val="0"/>
                                          </p:val>
                                        </p:tav>
                                        <p:tav tm="100000">
                                          <p:val>
                                            <p:fltVal val="1"/>
                                          </p:val>
                                        </p:tav>
                                      </p:tavLst>
                                    </p:anim>
                                    <p:anim calcmode="lin" valueType="num">
                                      <p:cBhvr>
                                        <p:cTn id="128" dur="5000" fill="hold"/>
                                        <p:tgtEl>
                                          <p:spTgt spid="153"/>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25"/>
                                            </p:cond>
                                          </p:stCondLst>
                                          <p:endCondLst>
                                            <p:cond evt="onStopAudio" delay="0">
                                              <p:tgtEl>
                                                <p:sldTgt/>
                                              </p:tgtEl>
                                            </p:cond>
                                          </p:endCondLst>
                                        </p:cTn>
                                        <p:tgtEl>
                                          <p:sndTgt r:embed="rId3" name="CHIMES.WAV"/>
                                        </p:tgtEl>
                                      </p:cMediaNode>
                                    </p:audio>
                                  </p:subTnLst>
                                </p:cTn>
                              </p:par>
                              <p:par>
                                <p:cTn id="129" presetID="1" presetClass="entr" presetSubtype="0" fill="hold" grpId="0" nodeType="withEffect">
                                  <p:stCondLst>
                                    <p:cond delay="0"/>
                                  </p:stCondLst>
                                  <p:childTnLst>
                                    <p:set>
                                      <p:cBhvr>
                                        <p:cTn id="130" dur="1" fill="hold">
                                          <p:stCondLst>
                                            <p:cond delay="499"/>
                                          </p:stCondLst>
                                        </p:cTn>
                                        <p:tgtEl>
                                          <p:spTgt spid="162"/>
                                        </p:tgtEl>
                                        <p:attrNameLst>
                                          <p:attrName>style.visibility</p:attrName>
                                        </p:attrNameLst>
                                      </p:cBhvr>
                                      <p:to>
                                        <p:strVal val="visible"/>
                                      </p:to>
                                    </p:set>
                                  </p:childTnLst>
                                </p:cTn>
                              </p:par>
                            </p:childTnLst>
                          </p:cTn>
                        </p:par>
                        <p:par>
                          <p:cTn id="131" fill="hold">
                            <p:stCondLst>
                              <p:cond delay="5000"/>
                            </p:stCondLst>
                            <p:childTnLst>
                              <p:par>
                                <p:cTn id="132" presetID="1" presetClass="entr" presetSubtype="0" fill="hold" grpId="0" nodeType="afterEffect">
                                  <p:stCondLst>
                                    <p:cond delay="500"/>
                                  </p:stCondLst>
                                  <p:childTnLst>
                                    <p:set>
                                      <p:cBhvr>
                                        <p:cTn id="133" dur="1" fill="hold">
                                          <p:stCondLst>
                                            <p:cond delay="499"/>
                                          </p:stCondLst>
                                        </p:cTn>
                                        <p:tgtEl>
                                          <p:spTgt spid="161"/>
                                        </p:tgtEl>
                                        <p:attrNameLst>
                                          <p:attrName>style.visibility</p:attrName>
                                        </p:attrNameLst>
                                      </p:cBhvr>
                                      <p:to>
                                        <p:strVal val="visible"/>
                                      </p:to>
                                    </p:set>
                                  </p:childTnLst>
                                </p:cTn>
                              </p:par>
                            </p:childTnLst>
                          </p:cTn>
                        </p:par>
                        <p:par>
                          <p:cTn id="134" fill="hold">
                            <p:stCondLst>
                              <p:cond delay="6000"/>
                            </p:stCondLst>
                            <p:childTnLst>
                              <p:par>
                                <p:cTn id="135" presetID="23" presetClass="entr" presetSubtype="16" fill="hold" grpId="0" nodeType="afterEffect">
                                  <p:stCondLst>
                                    <p:cond delay="500"/>
                                  </p:stCondLst>
                                  <p:childTnLst>
                                    <p:set>
                                      <p:cBhvr>
                                        <p:cTn id="136" dur="1" fill="hold">
                                          <p:stCondLst>
                                            <p:cond delay="0"/>
                                          </p:stCondLst>
                                        </p:cTn>
                                        <p:tgtEl>
                                          <p:spTgt spid="159"/>
                                        </p:tgtEl>
                                        <p:attrNameLst>
                                          <p:attrName>style.visibility</p:attrName>
                                        </p:attrNameLst>
                                      </p:cBhvr>
                                      <p:to>
                                        <p:strVal val="visible"/>
                                      </p:to>
                                    </p:set>
                                    <p:anim calcmode="lin" valueType="num">
                                      <p:cBhvr>
                                        <p:cTn id="137" dur="500" fill="hold"/>
                                        <p:tgtEl>
                                          <p:spTgt spid="159"/>
                                        </p:tgtEl>
                                        <p:attrNameLst>
                                          <p:attrName>ppt_w</p:attrName>
                                        </p:attrNameLst>
                                      </p:cBhvr>
                                      <p:tavLst>
                                        <p:tav tm="0">
                                          <p:val>
                                            <p:fltVal val="0"/>
                                          </p:val>
                                        </p:tav>
                                        <p:tav tm="100000">
                                          <p:val>
                                            <p:strVal val="#ppt_w"/>
                                          </p:val>
                                        </p:tav>
                                      </p:tavLst>
                                    </p:anim>
                                    <p:anim calcmode="lin" valueType="num">
                                      <p:cBhvr>
                                        <p:cTn id="138" dur="500" fill="hold"/>
                                        <p:tgtEl>
                                          <p:spTgt spid="159"/>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135"/>
                                            </p:cond>
                                          </p:stCondLst>
                                          <p:endCondLst>
                                            <p:cond evt="onStopAudio" delay="0">
                                              <p:tgtEl>
                                                <p:sldTgt/>
                                              </p:tgtEl>
                                            </p:cond>
                                          </p:endCondLst>
                                        </p:cTn>
                                        <p:tgtEl>
                                          <p:sndTgt r:embed="rId3" name="CHIMES.WAV"/>
                                        </p:tgtEl>
                                      </p:cMediaNode>
                                    </p:audio>
                                  </p:subTnLst>
                                </p:cTn>
                              </p:par>
                            </p:childTnLst>
                          </p:cTn>
                        </p:par>
                      </p:childTnLst>
                    </p:cTn>
                  </p:par>
                  <p:par>
                    <p:cTn id="139" fill="hold">
                      <p:stCondLst>
                        <p:cond delay="indefinite"/>
                      </p:stCondLst>
                      <p:childTnLst>
                        <p:par>
                          <p:cTn id="140" fill="hold">
                            <p:stCondLst>
                              <p:cond delay="0"/>
                            </p:stCondLst>
                            <p:childTnLst>
                              <p:par>
                                <p:cTn id="141" presetID="17" presetClass="entr" presetSubtype="4" fill="hold" grpId="0" nodeType="clickEffect">
                                  <p:stCondLst>
                                    <p:cond delay="0"/>
                                  </p:stCondLst>
                                  <p:childTnLst>
                                    <p:set>
                                      <p:cBhvr>
                                        <p:cTn id="142" dur="1" fill="hold">
                                          <p:stCondLst>
                                            <p:cond delay="0"/>
                                          </p:stCondLst>
                                        </p:cTn>
                                        <p:tgtEl>
                                          <p:spTgt spid="160"/>
                                        </p:tgtEl>
                                        <p:attrNameLst>
                                          <p:attrName>style.visibility</p:attrName>
                                        </p:attrNameLst>
                                      </p:cBhvr>
                                      <p:to>
                                        <p:strVal val="visible"/>
                                      </p:to>
                                    </p:set>
                                    <p:anim calcmode="lin" valueType="num">
                                      <p:cBhvr>
                                        <p:cTn id="143" dur="5000" fill="hold"/>
                                        <p:tgtEl>
                                          <p:spTgt spid="160"/>
                                        </p:tgtEl>
                                        <p:attrNameLst>
                                          <p:attrName>ppt_x</p:attrName>
                                        </p:attrNameLst>
                                      </p:cBhvr>
                                      <p:tavLst>
                                        <p:tav tm="0">
                                          <p:val>
                                            <p:strVal val="#ppt_x"/>
                                          </p:val>
                                        </p:tav>
                                        <p:tav tm="100000">
                                          <p:val>
                                            <p:strVal val="#ppt_x"/>
                                          </p:val>
                                        </p:tav>
                                      </p:tavLst>
                                    </p:anim>
                                    <p:anim calcmode="lin" valueType="num">
                                      <p:cBhvr>
                                        <p:cTn id="144" dur="5000" fill="hold"/>
                                        <p:tgtEl>
                                          <p:spTgt spid="160"/>
                                        </p:tgtEl>
                                        <p:attrNameLst>
                                          <p:attrName>ppt_y</p:attrName>
                                        </p:attrNameLst>
                                      </p:cBhvr>
                                      <p:tavLst>
                                        <p:tav tm="0">
                                          <p:val>
                                            <p:strVal val="#ppt_y+#ppt_h/2"/>
                                          </p:val>
                                        </p:tav>
                                        <p:tav tm="100000">
                                          <p:val>
                                            <p:strVal val="#ppt_y"/>
                                          </p:val>
                                        </p:tav>
                                      </p:tavLst>
                                    </p:anim>
                                    <p:anim calcmode="lin" valueType="num">
                                      <p:cBhvr>
                                        <p:cTn id="145" dur="5000" fill="hold"/>
                                        <p:tgtEl>
                                          <p:spTgt spid="160"/>
                                        </p:tgtEl>
                                        <p:attrNameLst>
                                          <p:attrName>ppt_w</p:attrName>
                                        </p:attrNameLst>
                                      </p:cBhvr>
                                      <p:tavLst>
                                        <p:tav tm="0">
                                          <p:val>
                                            <p:strVal val="#ppt_w"/>
                                          </p:val>
                                        </p:tav>
                                        <p:tav tm="100000">
                                          <p:val>
                                            <p:strVal val="#ppt_w"/>
                                          </p:val>
                                        </p:tav>
                                      </p:tavLst>
                                    </p:anim>
                                    <p:anim calcmode="lin" valueType="num">
                                      <p:cBhvr>
                                        <p:cTn id="146" dur="5000" fill="hold"/>
                                        <p:tgtEl>
                                          <p:spTgt spid="160"/>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141"/>
                                            </p:cond>
                                          </p:stCondLst>
                                          <p:endCondLst>
                                            <p:cond evt="onStopAudio" delay="0">
                                              <p:tgtEl>
                                                <p:sldTgt/>
                                              </p:tgtEl>
                                            </p:cond>
                                          </p:endCondLst>
                                        </p:cTn>
                                        <p:tgtEl>
                                          <p:sndTgt r:embed="rId3" name="CHIMES.WAV"/>
                                        </p:tgtEl>
                                      </p:cMediaNode>
                                    </p:audio>
                                  </p:subTnLst>
                                </p:cTn>
                              </p:par>
                              <p:par>
                                <p:cTn id="147" presetID="19" presetClass="entr" presetSubtype="10" fill="hold" grpId="0" nodeType="withEffect">
                                  <p:stCondLst>
                                    <p:cond delay="500"/>
                                  </p:stCondLst>
                                  <p:childTnLst>
                                    <p:set>
                                      <p:cBhvr>
                                        <p:cTn id="148" dur="1" fill="hold">
                                          <p:stCondLst>
                                            <p:cond delay="0"/>
                                          </p:stCondLst>
                                        </p:cTn>
                                        <p:tgtEl>
                                          <p:spTgt spid="154"/>
                                        </p:tgtEl>
                                        <p:attrNameLst>
                                          <p:attrName>style.visibility</p:attrName>
                                        </p:attrNameLst>
                                      </p:cBhvr>
                                      <p:to>
                                        <p:strVal val="visible"/>
                                      </p:to>
                                    </p:set>
                                    <p:anim calcmode="lin" valueType="num">
                                      <p:cBhvr>
                                        <p:cTn id="149" dur="5000" fill="hold"/>
                                        <p:tgtEl>
                                          <p:spTgt spid="154"/>
                                        </p:tgtEl>
                                        <p:attrNameLst>
                                          <p:attrName>ppt_w</p:attrName>
                                        </p:attrNameLst>
                                      </p:cBhvr>
                                      <p:tavLst>
                                        <p:tav tm="0" fmla="#ppt_w*sin(2.5*pi*$)">
                                          <p:val>
                                            <p:fltVal val="0"/>
                                          </p:val>
                                        </p:tav>
                                        <p:tav tm="100000">
                                          <p:val>
                                            <p:fltVal val="1"/>
                                          </p:val>
                                        </p:tav>
                                      </p:tavLst>
                                    </p:anim>
                                    <p:anim calcmode="lin" valueType="num">
                                      <p:cBhvr>
                                        <p:cTn id="150" dur="5000" fill="hold"/>
                                        <p:tgtEl>
                                          <p:spTgt spid="154"/>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47"/>
                                            </p:cond>
                                          </p:stCondLst>
                                          <p:endCondLst>
                                            <p:cond evt="onStopAudio" delay="0">
                                              <p:tgtEl>
                                                <p:sldTgt/>
                                              </p:tgtEl>
                                            </p:cond>
                                          </p:endCondLst>
                                        </p:cTn>
                                        <p:tgtEl>
                                          <p:sndTgt r:embed="rId3" name="CHIMES.WAV"/>
                                        </p:tgtEl>
                                      </p:cMediaNode>
                                    </p:audio>
                                  </p:subTnLst>
                                </p:cTn>
                              </p:par>
                              <p:par>
                                <p:cTn id="151" presetID="22" presetClass="entr" presetSubtype="4" fill="hold" grpId="0" nodeType="withEffect">
                                  <p:stCondLst>
                                    <p:cond delay="500"/>
                                  </p:stCondLst>
                                  <p:childTnLst>
                                    <p:set>
                                      <p:cBhvr>
                                        <p:cTn id="152" dur="1" fill="hold">
                                          <p:stCondLst>
                                            <p:cond delay="0"/>
                                          </p:stCondLst>
                                        </p:cTn>
                                        <p:tgtEl>
                                          <p:spTgt spid="158"/>
                                        </p:tgtEl>
                                        <p:attrNameLst>
                                          <p:attrName>style.visibility</p:attrName>
                                        </p:attrNameLst>
                                      </p:cBhvr>
                                      <p:to>
                                        <p:strVal val="visible"/>
                                      </p:to>
                                    </p:set>
                                    <p:animEffect transition="in" filter="wipe(down)">
                                      <p:cBhvr>
                                        <p:cTn id="153" dur="5000"/>
                                        <p:tgtEl>
                                          <p:spTgt spid="158"/>
                                        </p:tgtEl>
                                      </p:cBhvr>
                                    </p:animEffect>
                                  </p:childTnLst>
                                  <p:subTnLst>
                                    <p:audio>
                                      <p:cMediaNode>
                                        <p:cTn display="0" masterRel="sameClick">
                                          <p:stCondLst>
                                            <p:cond evt="begin" delay="0">
                                              <p:tn val="151"/>
                                            </p:cond>
                                          </p:stCondLst>
                                          <p:endCondLst>
                                            <p:cond evt="onStopAudio" delay="0">
                                              <p:tgtEl>
                                                <p:sldTgt/>
                                              </p:tgtEl>
                                            </p:cond>
                                          </p:endCondLst>
                                        </p:cTn>
                                        <p:tgtEl>
                                          <p:sndTgt r:embed="rId4" name="LASER.WAV"/>
                                        </p:tgtEl>
                                      </p:cMediaNode>
                                    </p:audio>
                                  </p:subTnLst>
                                </p:cTn>
                              </p:par>
                            </p:childTnLst>
                          </p:cTn>
                        </p:par>
                        <p:par>
                          <p:cTn id="154" fill="hold">
                            <p:stCondLst>
                              <p:cond delay="5500"/>
                            </p:stCondLst>
                            <p:childTnLst>
                              <p:par>
                                <p:cTn id="155" presetID="50" presetClass="entr" presetSubtype="0" decel="100000" fill="hold" grpId="0" nodeType="afterEffect">
                                  <p:stCondLst>
                                    <p:cond delay="0"/>
                                  </p:stCondLst>
                                  <p:childTnLst>
                                    <p:set>
                                      <p:cBhvr>
                                        <p:cTn id="156" dur="1" fill="hold">
                                          <p:stCondLst>
                                            <p:cond delay="0"/>
                                          </p:stCondLst>
                                        </p:cTn>
                                        <p:tgtEl>
                                          <p:spTgt spid="170"/>
                                        </p:tgtEl>
                                        <p:attrNameLst>
                                          <p:attrName>style.visibility</p:attrName>
                                        </p:attrNameLst>
                                      </p:cBhvr>
                                      <p:to>
                                        <p:strVal val="visible"/>
                                      </p:to>
                                    </p:set>
                                    <p:anim calcmode="lin" valueType="num">
                                      <p:cBhvr>
                                        <p:cTn id="157" dur="500" fill="hold"/>
                                        <p:tgtEl>
                                          <p:spTgt spid="170"/>
                                        </p:tgtEl>
                                        <p:attrNameLst>
                                          <p:attrName>ppt_w</p:attrName>
                                        </p:attrNameLst>
                                      </p:cBhvr>
                                      <p:tavLst>
                                        <p:tav tm="0">
                                          <p:val>
                                            <p:strVal val="#ppt_w+.3"/>
                                          </p:val>
                                        </p:tav>
                                        <p:tav tm="100000">
                                          <p:val>
                                            <p:strVal val="#ppt_w"/>
                                          </p:val>
                                        </p:tav>
                                      </p:tavLst>
                                    </p:anim>
                                    <p:anim calcmode="lin" valueType="num">
                                      <p:cBhvr>
                                        <p:cTn id="158" dur="500" fill="hold"/>
                                        <p:tgtEl>
                                          <p:spTgt spid="170"/>
                                        </p:tgtEl>
                                        <p:attrNameLst>
                                          <p:attrName>ppt_h</p:attrName>
                                        </p:attrNameLst>
                                      </p:cBhvr>
                                      <p:tavLst>
                                        <p:tav tm="0">
                                          <p:val>
                                            <p:strVal val="#ppt_h"/>
                                          </p:val>
                                        </p:tav>
                                        <p:tav tm="100000">
                                          <p:val>
                                            <p:strVal val="#ppt_h"/>
                                          </p:val>
                                        </p:tav>
                                      </p:tavLst>
                                    </p:anim>
                                    <p:animEffect transition="in" filter="fade">
                                      <p:cBhvr>
                                        <p:cTn id="159" dur="500"/>
                                        <p:tgtEl>
                                          <p:spTgt spid="170"/>
                                        </p:tgtEl>
                                      </p:cBhvr>
                                    </p:animEffect>
                                  </p:childTnLst>
                                  <p:subTnLst>
                                    <p:set>
                                      <p:cBhvr override="childStyle">
                                        <p:cTn dur="1" fill="hold" display="0" masterRel="sameClick" afterEffect="1">
                                          <p:stCondLst>
                                            <p:cond evt="end" delay="0">
                                              <p:tn val="155"/>
                                            </p:cond>
                                          </p:stCondLst>
                                        </p:cTn>
                                        <p:tgtEl>
                                          <p:spTgt spid="170"/>
                                        </p:tgtEl>
                                        <p:attrNameLst>
                                          <p:attrName>style.visibility</p:attrName>
                                        </p:attrNameLst>
                                      </p:cBhvr>
                                      <p:to>
                                        <p:strVal val="hidden"/>
                                      </p:to>
                                    </p:set>
                                    <p:audio>
                                      <p:cMediaNode vol="100000">
                                        <p:cTn display="0" masterRel="sameClick">
                                          <p:stCondLst>
                                            <p:cond evt="begin" delay="0">
                                              <p:tn val="155"/>
                                            </p:cond>
                                          </p:stCondLst>
                                          <p:endCondLst>
                                            <p:cond evt="onStopAudio" delay="0">
                                              <p:tgtEl>
                                                <p:sldTgt/>
                                              </p:tgtEl>
                                            </p:cond>
                                          </p:endCondLst>
                                        </p:cTn>
                                        <p:tgtEl>
                                          <p:sndTgt r:embed="rId6" name="hammer.wav"/>
                                        </p:tgtEl>
                                      </p:cMediaNode>
                                    </p:audio>
                                  </p:subTnLst>
                                </p:cTn>
                              </p:par>
                            </p:childTnLst>
                          </p:cTn>
                        </p:par>
                        <p:par>
                          <p:cTn id="160" fill="hold">
                            <p:stCondLst>
                              <p:cond delay="6000"/>
                            </p:stCondLst>
                            <p:childTnLst>
                              <p:par>
                                <p:cTn id="161" presetID="55" presetClass="exit" presetSubtype="0" fill="hold" grpId="1" nodeType="afterEffect">
                                  <p:stCondLst>
                                    <p:cond delay="0"/>
                                  </p:stCondLst>
                                  <p:childTnLst>
                                    <p:anim calcmode="lin" valueType="num">
                                      <p:cBhvr>
                                        <p:cTn id="162" dur="1000"/>
                                        <p:tgtEl>
                                          <p:spTgt spid="159"/>
                                        </p:tgtEl>
                                        <p:attrNameLst>
                                          <p:attrName>ppt_w</p:attrName>
                                        </p:attrNameLst>
                                      </p:cBhvr>
                                      <p:tavLst>
                                        <p:tav tm="0">
                                          <p:val>
                                            <p:strVal val="ppt_w"/>
                                          </p:val>
                                        </p:tav>
                                        <p:tav tm="100000">
                                          <p:val>
                                            <p:strVal val="ppt_w*0.70"/>
                                          </p:val>
                                        </p:tav>
                                      </p:tavLst>
                                    </p:anim>
                                    <p:anim calcmode="lin" valueType="num">
                                      <p:cBhvr>
                                        <p:cTn id="163" dur="1000"/>
                                        <p:tgtEl>
                                          <p:spTgt spid="159"/>
                                        </p:tgtEl>
                                        <p:attrNameLst>
                                          <p:attrName>ppt_h</p:attrName>
                                        </p:attrNameLst>
                                      </p:cBhvr>
                                      <p:tavLst>
                                        <p:tav tm="0">
                                          <p:val>
                                            <p:strVal val="ppt_h"/>
                                          </p:val>
                                        </p:tav>
                                        <p:tav tm="100000">
                                          <p:val>
                                            <p:strVal val="ppt_h"/>
                                          </p:val>
                                        </p:tav>
                                      </p:tavLst>
                                    </p:anim>
                                    <p:animEffect transition="out" filter="fade">
                                      <p:cBhvr>
                                        <p:cTn id="164" dur="1000"/>
                                        <p:tgtEl>
                                          <p:spTgt spid="159"/>
                                        </p:tgtEl>
                                      </p:cBhvr>
                                    </p:animEffect>
                                    <p:set>
                                      <p:cBhvr>
                                        <p:cTn id="165" dur="1" fill="hold">
                                          <p:stCondLst>
                                            <p:cond delay="999"/>
                                          </p:stCondLst>
                                        </p:cTn>
                                        <p:tgtEl>
                                          <p:spTgt spid="159"/>
                                        </p:tgtEl>
                                        <p:attrNameLst>
                                          <p:attrName>style.visibility</p:attrName>
                                        </p:attrNameLst>
                                      </p:cBhvr>
                                      <p:to>
                                        <p:strVal val="hidden"/>
                                      </p:to>
                                    </p:set>
                                  </p:childTnLst>
                                </p:cTn>
                              </p:par>
                              <p:par>
                                <p:cTn id="166" presetID="14" presetClass="exit" presetSubtype="10" fill="hold" grpId="1" nodeType="withEffect">
                                  <p:stCondLst>
                                    <p:cond delay="0"/>
                                  </p:stCondLst>
                                  <p:childTnLst>
                                    <p:animEffect transition="out" filter="randombar(horizontal)">
                                      <p:cBhvr>
                                        <p:cTn id="167" dur="500"/>
                                        <p:tgtEl>
                                          <p:spTgt spid="154"/>
                                        </p:tgtEl>
                                      </p:cBhvr>
                                    </p:animEffect>
                                    <p:set>
                                      <p:cBhvr>
                                        <p:cTn id="168" dur="1" fill="hold">
                                          <p:stCondLst>
                                            <p:cond delay="499"/>
                                          </p:stCondLst>
                                        </p:cTn>
                                        <p:tgtEl>
                                          <p:spTgt spid="154"/>
                                        </p:tgtEl>
                                        <p:attrNameLst>
                                          <p:attrName>style.visibility</p:attrName>
                                        </p:attrNameLst>
                                      </p:cBhvr>
                                      <p:to>
                                        <p:strVal val="hidden"/>
                                      </p:to>
                                    </p:set>
                                  </p:childTnLst>
                                </p:cTn>
                              </p:par>
                              <p:par>
                                <p:cTn id="169" presetID="55" presetClass="exit" presetSubtype="0" fill="hold" grpId="1" nodeType="withEffect">
                                  <p:stCondLst>
                                    <p:cond delay="0"/>
                                  </p:stCondLst>
                                  <p:childTnLst>
                                    <p:anim calcmode="lin" valueType="num">
                                      <p:cBhvr>
                                        <p:cTn id="170" dur="1000"/>
                                        <p:tgtEl>
                                          <p:spTgt spid="160"/>
                                        </p:tgtEl>
                                        <p:attrNameLst>
                                          <p:attrName>ppt_w</p:attrName>
                                        </p:attrNameLst>
                                      </p:cBhvr>
                                      <p:tavLst>
                                        <p:tav tm="0">
                                          <p:val>
                                            <p:strVal val="ppt_w"/>
                                          </p:val>
                                        </p:tav>
                                        <p:tav tm="100000">
                                          <p:val>
                                            <p:strVal val="ppt_w*0.70"/>
                                          </p:val>
                                        </p:tav>
                                      </p:tavLst>
                                    </p:anim>
                                    <p:anim calcmode="lin" valueType="num">
                                      <p:cBhvr>
                                        <p:cTn id="171" dur="1000"/>
                                        <p:tgtEl>
                                          <p:spTgt spid="160"/>
                                        </p:tgtEl>
                                        <p:attrNameLst>
                                          <p:attrName>ppt_h</p:attrName>
                                        </p:attrNameLst>
                                      </p:cBhvr>
                                      <p:tavLst>
                                        <p:tav tm="0">
                                          <p:val>
                                            <p:strVal val="ppt_h"/>
                                          </p:val>
                                        </p:tav>
                                        <p:tav tm="100000">
                                          <p:val>
                                            <p:strVal val="ppt_h"/>
                                          </p:val>
                                        </p:tav>
                                      </p:tavLst>
                                    </p:anim>
                                    <p:animEffect transition="out" filter="fade">
                                      <p:cBhvr>
                                        <p:cTn id="172" dur="1000"/>
                                        <p:tgtEl>
                                          <p:spTgt spid="160"/>
                                        </p:tgtEl>
                                      </p:cBhvr>
                                    </p:animEffect>
                                    <p:set>
                                      <p:cBhvr>
                                        <p:cTn id="173" dur="1" fill="hold">
                                          <p:stCondLst>
                                            <p:cond delay="999"/>
                                          </p:stCondLst>
                                        </p:cTn>
                                        <p:tgtEl>
                                          <p:spTgt spid="160"/>
                                        </p:tgtEl>
                                        <p:attrNameLst>
                                          <p:attrName>style.visibility</p:attrName>
                                        </p:attrNameLst>
                                      </p:cBhvr>
                                      <p:to>
                                        <p:strVal val="hidden"/>
                                      </p:to>
                                    </p:set>
                                  </p:childTnLst>
                                </p:cTn>
                              </p:par>
                              <p:par>
                                <p:cTn id="174" presetID="23" presetClass="entr" presetSubtype="288" fill="hold" nodeType="withEffect">
                                  <p:stCondLst>
                                    <p:cond delay="0"/>
                                  </p:stCondLst>
                                  <p:childTnLst>
                                    <p:set>
                                      <p:cBhvr>
                                        <p:cTn id="175" dur="1" fill="hold">
                                          <p:stCondLst>
                                            <p:cond delay="0"/>
                                          </p:stCondLst>
                                        </p:cTn>
                                        <p:tgtEl>
                                          <p:spTgt spid="131"/>
                                        </p:tgtEl>
                                        <p:attrNameLst>
                                          <p:attrName>style.visibility</p:attrName>
                                        </p:attrNameLst>
                                      </p:cBhvr>
                                      <p:to>
                                        <p:strVal val="visible"/>
                                      </p:to>
                                    </p:set>
                                    <p:anim calcmode="lin" valueType="num">
                                      <p:cBhvr>
                                        <p:cTn id="176" dur="500" fill="hold"/>
                                        <p:tgtEl>
                                          <p:spTgt spid="131"/>
                                        </p:tgtEl>
                                        <p:attrNameLst>
                                          <p:attrName>ppt_w</p:attrName>
                                        </p:attrNameLst>
                                      </p:cBhvr>
                                      <p:tavLst>
                                        <p:tav tm="0">
                                          <p:val>
                                            <p:strVal val="4/3*#ppt_w"/>
                                          </p:val>
                                        </p:tav>
                                        <p:tav tm="100000">
                                          <p:val>
                                            <p:strVal val="#ppt_w"/>
                                          </p:val>
                                        </p:tav>
                                      </p:tavLst>
                                    </p:anim>
                                    <p:anim calcmode="lin" valueType="num">
                                      <p:cBhvr>
                                        <p:cTn id="177" dur="500" fill="hold"/>
                                        <p:tgtEl>
                                          <p:spTgt spid="131"/>
                                        </p:tgtEl>
                                        <p:attrNameLst>
                                          <p:attrName>ppt_h</p:attrName>
                                        </p:attrNameLst>
                                      </p:cBhvr>
                                      <p:tavLst>
                                        <p:tav tm="0">
                                          <p:val>
                                            <p:strVal val="4/3*#ppt_h"/>
                                          </p:val>
                                        </p:tav>
                                        <p:tav tm="100000">
                                          <p:val>
                                            <p:strVal val="#ppt_h"/>
                                          </p:val>
                                        </p:tav>
                                      </p:tavLst>
                                    </p:anim>
                                  </p:childTnLst>
                                  <p:subTnLst>
                                    <p:audio>
                                      <p:cMediaNode>
                                        <p:cTn display="0" masterRel="sameClick">
                                          <p:stCondLst>
                                            <p:cond evt="begin" delay="0">
                                              <p:tn val="174"/>
                                            </p:cond>
                                          </p:stCondLst>
                                          <p:endCondLst>
                                            <p:cond evt="onStopAudio" delay="0">
                                              <p:tgtEl>
                                                <p:sldTgt/>
                                              </p:tgtEl>
                                            </p:cond>
                                          </p:endCondLst>
                                        </p:cTn>
                                        <p:tgtEl>
                                          <p:sndTgt r:embed="rId4" name="LASER.WAV"/>
                                        </p:tgtEl>
                                      </p:cMediaNode>
                                    </p:audio>
                                  </p:subTnLst>
                                </p:cTn>
                              </p:par>
                            </p:childTnLst>
                          </p:cTn>
                        </p:par>
                        <p:par>
                          <p:cTn id="178" fill="hold">
                            <p:stCondLst>
                              <p:cond delay="7000"/>
                            </p:stCondLst>
                            <p:childTnLst>
                              <p:par>
                                <p:cTn id="179" presetID="22" presetClass="entr" presetSubtype="1" fill="hold" grpId="0" nodeType="afterEffect">
                                  <p:stCondLst>
                                    <p:cond delay="300"/>
                                  </p:stCondLst>
                                  <p:childTnLst>
                                    <p:set>
                                      <p:cBhvr>
                                        <p:cTn id="180" dur="1" fill="hold">
                                          <p:stCondLst>
                                            <p:cond delay="0"/>
                                          </p:stCondLst>
                                        </p:cTn>
                                        <p:tgtEl>
                                          <p:spTgt spid="163"/>
                                        </p:tgtEl>
                                        <p:attrNameLst>
                                          <p:attrName>style.visibility</p:attrName>
                                        </p:attrNameLst>
                                      </p:cBhvr>
                                      <p:to>
                                        <p:strVal val="visible"/>
                                      </p:to>
                                    </p:set>
                                    <p:animEffect transition="in" filter="wipe(up)">
                                      <p:cBhvr>
                                        <p:cTn id="181" dur="500"/>
                                        <p:tgtEl>
                                          <p:spTgt spid="163"/>
                                        </p:tgtEl>
                                      </p:cBhvr>
                                    </p:animEffect>
                                  </p:childTnLst>
                                  <p:subTnLst>
                                    <p:audio>
                                      <p:cMediaNode>
                                        <p:cTn display="0" masterRel="sameClick">
                                          <p:stCondLst>
                                            <p:cond evt="begin" delay="0">
                                              <p:tn val="179"/>
                                            </p:cond>
                                          </p:stCondLst>
                                          <p:endCondLst>
                                            <p:cond evt="onStopAudio" delay="0">
                                              <p:tgtEl>
                                                <p:sldTgt/>
                                              </p:tgtEl>
                                            </p:cond>
                                          </p:endCondLst>
                                        </p:cTn>
                                        <p:tgtEl>
                                          <p:sndTgt r:embed="rId7" name="GLASS.WAV"/>
                                        </p:tgtEl>
                                      </p:cMediaNode>
                                    </p:audio>
                                  </p:subTnLst>
                                </p:cTn>
                              </p:par>
                            </p:childTnLst>
                          </p:cTn>
                        </p:par>
                        <p:par>
                          <p:cTn id="182" fill="hold">
                            <p:stCondLst>
                              <p:cond delay="7800"/>
                            </p:stCondLst>
                            <p:childTnLst>
                              <p:par>
                                <p:cTn id="183" presetID="18" presetClass="entr" presetSubtype="12" fill="hold" grpId="0" nodeType="afterEffect">
                                  <p:stCondLst>
                                    <p:cond delay="0"/>
                                  </p:stCondLst>
                                  <p:childTnLst>
                                    <p:set>
                                      <p:cBhvr>
                                        <p:cTn id="184" dur="1" fill="hold">
                                          <p:stCondLst>
                                            <p:cond delay="0"/>
                                          </p:stCondLst>
                                        </p:cTn>
                                        <p:tgtEl>
                                          <p:spTgt spid="164"/>
                                        </p:tgtEl>
                                        <p:attrNameLst>
                                          <p:attrName>style.visibility</p:attrName>
                                        </p:attrNameLst>
                                      </p:cBhvr>
                                      <p:to>
                                        <p:strVal val="visible"/>
                                      </p:to>
                                    </p:set>
                                    <p:animEffect transition="in" filter="strips(downLeft)">
                                      <p:cBhvr>
                                        <p:cTn id="185" dur="500"/>
                                        <p:tgtEl>
                                          <p:spTgt spid="164"/>
                                        </p:tgtEl>
                                      </p:cBhvr>
                                    </p:animEffect>
                                  </p:childTnLst>
                                  <p:subTnLst>
                                    <p:audio>
                                      <p:cMediaNode>
                                        <p:cTn display="0" masterRel="sameClick">
                                          <p:stCondLst>
                                            <p:cond evt="begin" delay="0">
                                              <p:tn val="183"/>
                                            </p:cond>
                                          </p:stCondLst>
                                          <p:endCondLst>
                                            <p:cond evt="onStopAudio" delay="0">
                                              <p:tgtEl>
                                                <p:sldTgt/>
                                              </p:tgtEl>
                                            </p:cond>
                                          </p:endCondLst>
                                        </p:cTn>
                                        <p:tgtEl>
                                          <p:sndTgt r:embed="rId8" name="CASHREG.WAV"/>
                                        </p:tgtEl>
                                      </p:cMediaNode>
                                    </p:audio>
                                  </p:subTnLst>
                                </p:cTn>
                              </p:par>
                              <p:par>
                                <p:cTn id="186" presetID="18" presetClass="entr" presetSubtype="12" fill="hold" grpId="0" nodeType="withEffect">
                                  <p:stCondLst>
                                    <p:cond delay="0"/>
                                  </p:stCondLst>
                                  <p:childTnLst>
                                    <p:set>
                                      <p:cBhvr>
                                        <p:cTn id="187" dur="1" fill="hold">
                                          <p:stCondLst>
                                            <p:cond delay="0"/>
                                          </p:stCondLst>
                                        </p:cTn>
                                        <p:tgtEl>
                                          <p:spTgt spid="165"/>
                                        </p:tgtEl>
                                        <p:attrNameLst>
                                          <p:attrName>style.visibility</p:attrName>
                                        </p:attrNameLst>
                                      </p:cBhvr>
                                      <p:to>
                                        <p:strVal val="visible"/>
                                      </p:to>
                                    </p:set>
                                    <p:animEffect transition="in" filter="strips(downLeft)">
                                      <p:cBhvr>
                                        <p:cTn id="188" dur="500"/>
                                        <p:tgtEl>
                                          <p:spTgt spid="165"/>
                                        </p:tgtEl>
                                      </p:cBhvr>
                                    </p:animEffect>
                                  </p:childTnLst>
                                  <p:subTnLst>
                                    <p:audio>
                                      <p:cMediaNode>
                                        <p:cTn display="0" masterRel="sameClick">
                                          <p:stCondLst>
                                            <p:cond evt="begin" delay="0">
                                              <p:tn val="186"/>
                                            </p:cond>
                                          </p:stCondLst>
                                          <p:endCondLst>
                                            <p:cond evt="onStopAudio" delay="0">
                                              <p:tgtEl>
                                                <p:sldTgt/>
                                              </p:tgtEl>
                                            </p:cond>
                                          </p:endCondLst>
                                        </p:cTn>
                                        <p:tgtEl>
                                          <p:sndTgt r:embed="rId8" name="CASHREG.WAV"/>
                                        </p:tgtEl>
                                      </p:cMediaNode>
                                    </p:audio>
                                  </p:subTnLst>
                                </p:cTn>
                              </p:par>
                              <p:par>
                                <p:cTn id="189" presetID="18" presetClass="entr" presetSubtype="12" fill="hold" grpId="0" nodeType="withEffect">
                                  <p:stCondLst>
                                    <p:cond delay="0"/>
                                  </p:stCondLst>
                                  <p:childTnLst>
                                    <p:set>
                                      <p:cBhvr>
                                        <p:cTn id="190" dur="1" fill="hold">
                                          <p:stCondLst>
                                            <p:cond delay="0"/>
                                          </p:stCondLst>
                                        </p:cTn>
                                        <p:tgtEl>
                                          <p:spTgt spid="166"/>
                                        </p:tgtEl>
                                        <p:attrNameLst>
                                          <p:attrName>style.visibility</p:attrName>
                                        </p:attrNameLst>
                                      </p:cBhvr>
                                      <p:to>
                                        <p:strVal val="visible"/>
                                      </p:to>
                                    </p:set>
                                    <p:animEffect transition="in" filter="strips(downLeft)">
                                      <p:cBhvr>
                                        <p:cTn id="191" dur="500"/>
                                        <p:tgtEl>
                                          <p:spTgt spid="166"/>
                                        </p:tgtEl>
                                      </p:cBhvr>
                                    </p:animEffect>
                                  </p:childTnLst>
                                  <p:subTnLst>
                                    <p:audio>
                                      <p:cMediaNode>
                                        <p:cTn display="0" masterRel="sameClick">
                                          <p:stCondLst>
                                            <p:cond evt="begin" delay="0">
                                              <p:tn val="189"/>
                                            </p:cond>
                                          </p:stCondLst>
                                          <p:endCondLst>
                                            <p:cond evt="onStopAudio" delay="0">
                                              <p:tgtEl>
                                                <p:sldTgt/>
                                              </p:tgtEl>
                                            </p:cond>
                                          </p:endCondLst>
                                        </p:cTn>
                                        <p:tgtEl>
                                          <p:sndTgt r:embed="rId8" name="CASHREG.WAV"/>
                                        </p:tgtEl>
                                      </p:cMediaNode>
                                    </p:audio>
                                  </p:subTnLst>
                                </p:cTn>
                              </p:par>
                              <p:par>
                                <p:cTn id="192" presetID="18" presetClass="entr" presetSubtype="12" fill="hold" grpId="0" nodeType="withEffect">
                                  <p:stCondLst>
                                    <p:cond delay="0"/>
                                  </p:stCondLst>
                                  <p:childTnLst>
                                    <p:set>
                                      <p:cBhvr>
                                        <p:cTn id="193" dur="1" fill="hold">
                                          <p:stCondLst>
                                            <p:cond delay="0"/>
                                          </p:stCondLst>
                                        </p:cTn>
                                        <p:tgtEl>
                                          <p:spTgt spid="167"/>
                                        </p:tgtEl>
                                        <p:attrNameLst>
                                          <p:attrName>style.visibility</p:attrName>
                                        </p:attrNameLst>
                                      </p:cBhvr>
                                      <p:to>
                                        <p:strVal val="visible"/>
                                      </p:to>
                                    </p:set>
                                    <p:animEffect transition="in" filter="strips(downLeft)">
                                      <p:cBhvr>
                                        <p:cTn id="194" dur="500"/>
                                        <p:tgtEl>
                                          <p:spTgt spid="167"/>
                                        </p:tgtEl>
                                      </p:cBhvr>
                                    </p:animEffect>
                                  </p:childTnLst>
                                  <p:subTnLst>
                                    <p:audio>
                                      <p:cMediaNode>
                                        <p:cTn display="0" masterRel="sameClick">
                                          <p:stCondLst>
                                            <p:cond evt="begin" delay="0">
                                              <p:tn val="192"/>
                                            </p:cond>
                                          </p:stCondLst>
                                          <p:endCondLst>
                                            <p:cond evt="onStopAudio" delay="0">
                                              <p:tgtEl>
                                                <p:sldTgt/>
                                              </p:tgtEl>
                                            </p:cond>
                                          </p:endCondLst>
                                        </p:cTn>
                                        <p:tgtEl>
                                          <p:sndTgt r:embed="rId8" name="CASHREG.WAV"/>
                                        </p:tgtEl>
                                      </p:cMediaNode>
                                    </p:audio>
                                  </p:subTnLst>
                                </p:cTn>
                              </p:par>
                              <p:par>
                                <p:cTn id="195" presetID="18" presetClass="entr" presetSubtype="12" fill="hold" grpId="0" nodeType="withEffect">
                                  <p:stCondLst>
                                    <p:cond delay="0"/>
                                  </p:stCondLst>
                                  <p:childTnLst>
                                    <p:set>
                                      <p:cBhvr>
                                        <p:cTn id="196" dur="1" fill="hold">
                                          <p:stCondLst>
                                            <p:cond delay="0"/>
                                          </p:stCondLst>
                                        </p:cTn>
                                        <p:tgtEl>
                                          <p:spTgt spid="168"/>
                                        </p:tgtEl>
                                        <p:attrNameLst>
                                          <p:attrName>style.visibility</p:attrName>
                                        </p:attrNameLst>
                                      </p:cBhvr>
                                      <p:to>
                                        <p:strVal val="visible"/>
                                      </p:to>
                                    </p:set>
                                    <p:animEffect transition="in" filter="strips(downLeft)">
                                      <p:cBhvr>
                                        <p:cTn id="197" dur="500"/>
                                        <p:tgtEl>
                                          <p:spTgt spid="168"/>
                                        </p:tgtEl>
                                      </p:cBhvr>
                                    </p:animEffect>
                                  </p:childTnLst>
                                  <p:subTnLst>
                                    <p:audio>
                                      <p:cMediaNode>
                                        <p:cTn display="0" masterRel="sameClick">
                                          <p:stCondLst>
                                            <p:cond evt="begin" delay="0">
                                              <p:tn val="195"/>
                                            </p:cond>
                                          </p:stCondLst>
                                          <p:endCondLst>
                                            <p:cond evt="onStopAudio" delay="0">
                                              <p:tgtEl>
                                                <p:sldTgt/>
                                              </p:tgtEl>
                                            </p:cond>
                                          </p:endCondLst>
                                        </p:cTn>
                                        <p:tgtEl>
                                          <p:sndTgt r:embed="rId8" name="CASHREG.WAV"/>
                                        </p:tgtEl>
                                      </p:cMediaNode>
                                    </p:audio>
                                  </p:subTnLst>
                                </p:cTn>
                              </p:par>
                              <p:par>
                                <p:cTn id="198" presetID="18" presetClass="entr" presetSubtype="12" fill="hold" grpId="0" nodeType="withEffect">
                                  <p:stCondLst>
                                    <p:cond delay="0"/>
                                  </p:stCondLst>
                                  <p:childTnLst>
                                    <p:set>
                                      <p:cBhvr>
                                        <p:cTn id="199" dur="1" fill="hold">
                                          <p:stCondLst>
                                            <p:cond delay="0"/>
                                          </p:stCondLst>
                                        </p:cTn>
                                        <p:tgtEl>
                                          <p:spTgt spid="169"/>
                                        </p:tgtEl>
                                        <p:attrNameLst>
                                          <p:attrName>style.visibility</p:attrName>
                                        </p:attrNameLst>
                                      </p:cBhvr>
                                      <p:to>
                                        <p:strVal val="visible"/>
                                      </p:to>
                                    </p:set>
                                    <p:animEffect transition="in" filter="strips(downLeft)">
                                      <p:cBhvr>
                                        <p:cTn id="200" dur="500"/>
                                        <p:tgtEl>
                                          <p:spTgt spid="169"/>
                                        </p:tgtEl>
                                      </p:cBhvr>
                                    </p:animEffect>
                                  </p:childTnLst>
                                  <p:subTnLst>
                                    <p:audio>
                                      <p:cMediaNode>
                                        <p:cTn display="0" masterRel="sameClick">
                                          <p:stCondLst>
                                            <p:cond evt="begin" delay="0">
                                              <p:tn val="198"/>
                                            </p:cond>
                                          </p:stCondLst>
                                          <p:endCondLst>
                                            <p:cond evt="onStopAudio" delay="0">
                                              <p:tgtEl>
                                                <p:sldTgt/>
                                              </p:tgtEl>
                                            </p:cond>
                                          </p:endCondLst>
                                        </p:cTn>
                                        <p:tgtEl>
                                          <p:sndTgt r:embed="rId8" name="CASHREG.WAV"/>
                                        </p:tgtEl>
                                      </p:cMediaNode>
                                    </p:audio>
                                  </p:subTnLst>
                                </p:cTn>
                              </p:par>
                            </p:childTnLst>
                          </p:cTn>
                        </p:par>
                      </p:childTnLst>
                    </p:cTn>
                  </p:par>
                  <p:par>
                    <p:cTn id="201" fill="hold">
                      <p:stCondLst>
                        <p:cond delay="indefinite"/>
                      </p:stCondLst>
                      <p:childTnLst>
                        <p:par>
                          <p:cTn id="202" fill="hold">
                            <p:stCondLst>
                              <p:cond delay="0"/>
                            </p:stCondLst>
                            <p:childTnLst>
                              <p:par>
                                <p:cTn id="203" presetID="1" presetClass="entr" presetSubtype="0" fill="hold" grpId="0" nodeType="clickEffect">
                                  <p:stCondLst>
                                    <p:cond delay="0"/>
                                  </p:stCondLst>
                                  <p:childTnLst>
                                    <p:set>
                                      <p:cBhvr>
                                        <p:cTn id="204" dur="1" fill="hold">
                                          <p:stCondLst>
                                            <p:cond delay="0"/>
                                          </p:stCondLst>
                                        </p:cTn>
                                        <p:tgtEl>
                                          <p:spTgt spid="3"/>
                                        </p:tgtEl>
                                        <p:attrNameLst>
                                          <p:attrName>style.visibility</p:attrName>
                                        </p:attrNameLst>
                                      </p:cBhvr>
                                      <p:to>
                                        <p:strVal val="visible"/>
                                      </p:to>
                                    </p:set>
                                  </p:childTnLst>
                                </p:cTn>
                              </p:par>
                            </p:childTnLst>
                          </p:cTn>
                        </p:par>
                      </p:childTnLst>
                    </p:cTn>
                  </p:par>
                  <p:par>
                    <p:cTn id="205" fill="hold">
                      <p:stCondLst>
                        <p:cond delay="indefinite"/>
                      </p:stCondLst>
                      <p:childTnLst>
                        <p:par>
                          <p:cTn id="206" fill="hold">
                            <p:stCondLst>
                              <p:cond delay="0"/>
                            </p:stCondLst>
                            <p:childTnLst>
                              <p:par>
                                <p:cTn id="207" presetID="1" presetClass="entr" presetSubtype="0" fill="hold" grpId="0" nodeType="clickEffect">
                                  <p:stCondLst>
                                    <p:cond delay="0"/>
                                  </p:stCondLst>
                                  <p:childTnLst>
                                    <p:set>
                                      <p:cBhvr>
                                        <p:cTn id="208" dur="1" fill="hold">
                                          <p:stCondLst>
                                            <p:cond delay="499"/>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53" grpId="0" autoUpdateAnimBg="0"/>
      <p:bldP spid="3" grpId="0"/>
      <p:bldP spid="48" grpId="0" autoUpdateAnimBg="0"/>
      <p:bldP spid="136" grpId="0" animBg="1"/>
      <p:bldP spid="137" grpId="0" animBg="1"/>
      <p:bldP spid="138" grpId="0" autoUpdateAnimBg="0"/>
      <p:bldP spid="139" grpId="0" autoUpdateAnimBg="0"/>
      <p:bldP spid="140" grpId="0" autoUpdateAnimBg="0"/>
      <p:bldP spid="141" grpId="0" animBg="1"/>
      <p:bldP spid="142" grpId="0" animBg="1"/>
      <p:bldP spid="143" grpId="0" animBg="1"/>
      <p:bldP spid="144" grpId="0" animBg="1"/>
      <p:bldP spid="145" grpId="0" animBg="1"/>
      <p:bldP spid="146" grpId="0" animBg="1"/>
      <p:bldP spid="147" grpId="0" animBg="1"/>
      <p:bldP spid="148" grpId="0" animBg="1"/>
      <p:bldP spid="149" grpId="0" autoUpdateAnimBg="0"/>
      <p:bldP spid="150" grpId="0" animBg="1"/>
      <p:bldP spid="151" grpId="0" animBg="1"/>
      <p:bldP spid="152" grpId="0" autoUpdateAnimBg="0"/>
      <p:bldP spid="153" grpId="0" autoUpdateAnimBg="0"/>
      <p:bldP spid="154" grpId="0" autoUpdateAnimBg="0"/>
      <p:bldP spid="154" grpId="1"/>
      <p:bldP spid="155" grpId="0" animBg="1"/>
      <p:bldP spid="156" grpId="0" animBg="1"/>
      <p:bldP spid="157" grpId="0" animBg="1"/>
      <p:bldP spid="158" grpId="0" animBg="1"/>
      <p:bldP spid="159" grpId="0" animBg="1"/>
      <p:bldP spid="159" grpId="1" animBg="1"/>
      <p:bldP spid="160" grpId="0" animBg="1"/>
      <p:bldP spid="160" grpId="1" animBg="1"/>
      <p:bldP spid="161" grpId="0" animBg="1"/>
      <p:bldP spid="162" grpId="0" animBg="1"/>
      <p:bldP spid="163" grpId="0" animBg="1"/>
      <p:bldP spid="164" grpId="0" animBg="1"/>
      <p:bldP spid="165" grpId="0" animBg="1"/>
      <p:bldP spid="166" grpId="0" animBg="1"/>
      <p:bldP spid="167" grpId="0" animBg="1"/>
      <p:bldP spid="168" grpId="0" animBg="1"/>
      <p:bldP spid="169" grpId="0" animBg="1"/>
      <p:bldP spid="170" grpId="0" animBg="1"/>
      <p:bldP spid="171"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711605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第八章   拉压、剪切与挤压的强度计算</a:t>
            </a:r>
          </a:p>
        </p:txBody>
      </p:sp>
      <p:sp>
        <p:nvSpPr>
          <p:cNvPr id="5" name="Rectangle 2"/>
          <p:cNvSpPr>
            <a:spLocks noChangeArrowheads="1"/>
          </p:cNvSpPr>
          <p:nvPr/>
        </p:nvSpPr>
        <p:spPr bwMode="auto">
          <a:xfrm>
            <a:off x="164442" y="928670"/>
            <a:ext cx="9747982"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3000" i="0" dirty="0">
                <a:solidFill>
                  <a:schemeClr val="accent6">
                    <a:lumMod val="75000"/>
                  </a:schemeClr>
                </a:solidFill>
                <a:latin typeface="+mn-lt"/>
                <a:ea typeface="微软雅黑" panose="020B0503020204020204" pitchFamily="34" charset="-122"/>
              </a:rPr>
              <a:t>§8-4  </a:t>
            </a:r>
            <a:r>
              <a:rPr lang="zh-CN" altLang="en-US" sz="3000" i="0" dirty="0">
                <a:solidFill>
                  <a:schemeClr val="accent6">
                    <a:lumMod val="75000"/>
                  </a:schemeClr>
                </a:solidFill>
                <a:latin typeface="+mn-lt"/>
                <a:ea typeface="微软雅黑" panose="020B0503020204020204" pitchFamily="34" charset="-122"/>
              </a:rPr>
              <a:t>拉压杆的强度计算与拉压超静定问题 </a:t>
            </a:r>
          </a:p>
        </p:txBody>
      </p:sp>
      <p:sp>
        <p:nvSpPr>
          <p:cNvPr id="53" name="Text Box 1032"/>
          <p:cNvSpPr txBox="1">
            <a:spLocks noChangeArrowheads="1"/>
          </p:cNvSpPr>
          <p:nvPr/>
        </p:nvSpPr>
        <p:spPr bwMode="auto">
          <a:xfrm>
            <a:off x="335360" y="2053679"/>
            <a:ext cx="11161239" cy="1643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lnSpc>
                <a:spcPct val="120000"/>
              </a:lnSpc>
            </a:pPr>
            <a:r>
              <a:rPr lang="zh-CN" altLang="en-US" sz="2800" i="0" dirty="0">
                <a:latin typeface="+mn-lt"/>
                <a:ea typeface="微软雅黑" panose="020B0503020204020204" pitchFamily="34" charset="-122"/>
              </a:rPr>
              <a:t>由实验和工程实践可知，当构件应力达到了材料的屈服点或抗拉强度时，将产生较大的塑性变形或断裂，为使构件能正常工作，设定一种</a:t>
            </a:r>
            <a:r>
              <a:rPr lang="zh-CN" altLang="en-US" sz="2800" i="0" dirty="0">
                <a:solidFill>
                  <a:srgbClr val="FF00FF"/>
                </a:solidFill>
                <a:latin typeface="+mn-lt"/>
                <a:ea typeface="微软雅黑" panose="020B0503020204020204" pitchFamily="34" charset="-122"/>
              </a:rPr>
              <a:t>极限应力</a:t>
            </a:r>
            <a:r>
              <a:rPr lang="zh-CN" altLang="en-US" sz="2800" b="0" dirty="0">
                <a:solidFill>
                  <a:srgbClr val="FF00FF"/>
                </a:solidFill>
                <a:latin typeface="+mn-lt"/>
                <a:ea typeface="微软雅黑" panose="020B0503020204020204" pitchFamily="34" charset="-122"/>
                <a:sym typeface="Symbol" panose="05050102010706020507" pitchFamily="18" charset="2"/>
              </a:rPr>
              <a:t> </a:t>
            </a:r>
            <a:r>
              <a:rPr lang="en-US" altLang="zh-CN" sz="2800" b="0" i="0" baseline="30000" dirty="0">
                <a:solidFill>
                  <a:srgbClr val="FF00FF"/>
                </a:solidFill>
                <a:latin typeface="+mn-lt"/>
                <a:ea typeface="微软雅黑" panose="020B0503020204020204" pitchFamily="34" charset="-122"/>
              </a:rPr>
              <a:t>0</a:t>
            </a:r>
            <a:r>
              <a:rPr lang="zh-CN" altLang="en-US" sz="2800" i="0" dirty="0">
                <a:latin typeface="+mn-lt"/>
                <a:ea typeface="微软雅黑" panose="020B0503020204020204" pitchFamily="34" charset="-122"/>
              </a:rPr>
              <a:t>。对于塑性材料常取</a:t>
            </a:r>
            <a:r>
              <a:rPr lang="zh-CN" altLang="en-US" sz="2800" b="0" dirty="0">
                <a:latin typeface="+mn-lt"/>
                <a:ea typeface="微软雅黑" panose="020B0503020204020204" pitchFamily="34" charset="-122"/>
                <a:sym typeface="Symbol" panose="05050102010706020507" pitchFamily="18" charset="2"/>
              </a:rPr>
              <a:t> </a:t>
            </a:r>
            <a:r>
              <a:rPr lang="en-US" altLang="zh-CN" sz="2800" b="0" i="0" baseline="30000" dirty="0">
                <a:latin typeface="+mn-lt"/>
                <a:ea typeface="微软雅黑" panose="020B0503020204020204" pitchFamily="34" charset="-122"/>
              </a:rPr>
              <a:t>0</a:t>
            </a:r>
            <a:r>
              <a:rPr lang="en-US" altLang="zh-CN" sz="2800" b="0" i="0" dirty="0">
                <a:latin typeface="+mn-lt"/>
                <a:ea typeface="微软雅黑" panose="020B0503020204020204" pitchFamily="34" charset="-122"/>
              </a:rPr>
              <a:t>=</a:t>
            </a:r>
            <a:r>
              <a:rPr lang="en-US" altLang="zh-CN" sz="2800" b="0" dirty="0">
                <a:latin typeface="+mn-lt"/>
                <a:ea typeface="微软雅黑" panose="020B0503020204020204" pitchFamily="34" charset="-122"/>
                <a:sym typeface="Symbol" panose="05050102010706020507" pitchFamily="18" charset="2"/>
              </a:rPr>
              <a:t></a:t>
            </a:r>
            <a:r>
              <a:rPr lang="en-US" altLang="zh-CN" sz="2800" b="0" i="0" baseline="-25000" dirty="0">
                <a:latin typeface="+mn-lt"/>
                <a:ea typeface="微软雅黑" panose="020B0503020204020204" pitchFamily="34" charset="-122"/>
              </a:rPr>
              <a:t>s</a:t>
            </a:r>
            <a:r>
              <a:rPr lang="zh-CN" altLang="en-US" sz="2800" i="0" dirty="0">
                <a:latin typeface="+mn-lt"/>
                <a:ea typeface="微软雅黑" panose="020B0503020204020204" pitchFamily="34" charset="-122"/>
              </a:rPr>
              <a:t>；对于脆性材料，常取</a:t>
            </a:r>
            <a:r>
              <a:rPr lang="zh-CN" altLang="en-US" sz="2800" b="0" dirty="0">
                <a:latin typeface="+mn-lt"/>
                <a:ea typeface="微软雅黑" panose="020B0503020204020204" pitchFamily="34" charset="-122"/>
                <a:sym typeface="Symbol" panose="05050102010706020507" pitchFamily="18" charset="2"/>
              </a:rPr>
              <a:t> </a:t>
            </a:r>
            <a:r>
              <a:rPr lang="en-US" altLang="zh-CN" sz="2800" b="0" i="0" baseline="30000" dirty="0">
                <a:latin typeface="+mn-lt"/>
                <a:ea typeface="微软雅黑" panose="020B0503020204020204" pitchFamily="34" charset="-122"/>
              </a:rPr>
              <a:t>0</a:t>
            </a:r>
            <a:r>
              <a:rPr lang="en-US" altLang="zh-CN" sz="2800" b="0" i="0" dirty="0">
                <a:latin typeface="+mn-lt"/>
                <a:ea typeface="微软雅黑" panose="020B0503020204020204" pitchFamily="34" charset="-122"/>
              </a:rPr>
              <a:t>=</a:t>
            </a:r>
            <a:r>
              <a:rPr lang="en-US" altLang="zh-CN" sz="2800" b="0" dirty="0">
                <a:latin typeface="+mn-lt"/>
                <a:ea typeface="微软雅黑" panose="020B0503020204020204" pitchFamily="34" charset="-122"/>
                <a:sym typeface="Symbol" panose="05050102010706020507" pitchFamily="18" charset="2"/>
              </a:rPr>
              <a:t></a:t>
            </a:r>
            <a:r>
              <a:rPr lang="en-US" altLang="zh-CN" sz="2800" b="0" i="0" baseline="-25000" dirty="0">
                <a:latin typeface="+mn-lt"/>
                <a:ea typeface="微软雅黑" panose="020B0503020204020204" pitchFamily="34" charset="-122"/>
              </a:rPr>
              <a:t>b</a:t>
            </a:r>
            <a:r>
              <a:rPr lang="zh-CN" altLang="en-US" sz="2800" i="0" dirty="0">
                <a:latin typeface="+mn-lt"/>
                <a:ea typeface="微软雅黑" panose="020B0503020204020204" pitchFamily="34" charset="-122"/>
              </a:rPr>
              <a:t>。</a:t>
            </a:r>
          </a:p>
        </p:txBody>
      </p:sp>
      <p:sp>
        <p:nvSpPr>
          <p:cNvPr id="6" name="矩形 5">
            <a:extLst>
              <a:ext uri="{FF2B5EF4-FFF2-40B4-BE49-F238E27FC236}">
                <a16:creationId xmlns:a16="http://schemas.microsoft.com/office/drawing/2014/main" id="{8A892F5C-7536-F031-6CD4-1C9902B467DE}"/>
              </a:ext>
            </a:extLst>
          </p:cNvPr>
          <p:cNvSpPr/>
          <p:nvPr/>
        </p:nvSpPr>
        <p:spPr>
          <a:xfrm>
            <a:off x="2567608" y="1482668"/>
            <a:ext cx="5684569" cy="646331"/>
          </a:xfrm>
          <a:prstGeom prst="rect">
            <a:avLst/>
          </a:prstGeom>
        </p:spPr>
        <p:txBody>
          <a:bodyPr wrap="none">
            <a:spAutoFit/>
          </a:bodyPr>
          <a:lstStyle/>
          <a:p>
            <a:pPr>
              <a:lnSpc>
                <a:spcPct val="120000"/>
              </a:lnSpc>
            </a:pPr>
            <a:r>
              <a:rPr lang="zh-CN" altLang="en-US" sz="3000" i="0" dirty="0">
                <a:solidFill>
                  <a:srgbClr val="4F81BD"/>
                </a:solidFill>
                <a:latin typeface="微软雅黑" panose="020B0503020204020204" pitchFamily="34" charset="-122"/>
                <a:ea typeface="微软雅黑" panose="020B0503020204020204" pitchFamily="34" charset="-122"/>
              </a:rPr>
              <a:t>极限应力、许用应力和安全因数 </a:t>
            </a:r>
          </a:p>
        </p:txBody>
      </p:sp>
      <p:sp>
        <p:nvSpPr>
          <p:cNvPr id="2" name="Text Box 1032">
            <a:extLst>
              <a:ext uri="{FF2B5EF4-FFF2-40B4-BE49-F238E27FC236}">
                <a16:creationId xmlns:a16="http://schemas.microsoft.com/office/drawing/2014/main" id="{9313B3B7-54D5-686A-FE7C-5A463A3627F0}"/>
              </a:ext>
            </a:extLst>
          </p:cNvPr>
          <p:cNvSpPr txBox="1">
            <a:spLocks noChangeArrowheads="1"/>
          </p:cNvSpPr>
          <p:nvPr/>
        </p:nvSpPr>
        <p:spPr bwMode="auto">
          <a:xfrm>
            <a:off x="335360" y="3651809"/>
            <a:ext cx="11161239" cy="1598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lnSpc>
                <a:spcPct val="120000"/>
              </a:lnSpc>
            </a:pPr>
            <a:r>
              <a:rPr lang="zh-CN" altLang="en-US" sz="2800" i="0" dirty="0">
                <a:latin typeface="+mn-lt"/>
                <a:ea typeface="微软雅黑" panose="020B0503020204020204" pitchFamily="34" charset="-122"/>
              </a:rPr>
              <a:t>为了保证构件安全可靠地工作，应使它的工作应力小于材料的极限应力，使构件留有适当的强度储备。一般把极限应力除以大于</a:t>
            </a:r>
            <a:r>
              <a:rPr lang="en-US" altLang="zh-CN" sz="2800" b="0" i="0" dirty="0">
                <a:latin typeface="+mn-lt"/>
                <a:ea typeface="微软雅黑" panose="020B0503020204020204" pitchFamily="34" charset="-122"/>
              </a:rPr>
              <a:t>1</a:t>
            </a:r>
            <a:r>
              <a:rPr lang="zh-CN" altLang="en-US" sz="2800" i="0" dirty="0">
                <a:latin typeface="+mn-lt"/>
                <a:ea typeface="微软雅黑" panose="020B0503020204020204" pitchFamily="34" charset="-122"/>
              </a:rPr>
              <a:t>的因数</a:t>
            </a:r>
            <a:r>
              <a:rPr lang="en-US" altLang="zh-CN" sz="2800" b="0" dirty="0">
                <a:latin typeface="+mn-lt"/>
                <a:ea typeface="微软雅黑" panose="020B0503020204020204" pitchFamily="34" charset="-122"/>
              </a:rPr>
              <a:t>n</a:t>
            </a:r>
            <a:r>
              <a:rPr lang="zh-CN" altLang="en-US" sz="2800" i="0" dirty="0">
                <a:latin typeface="+mn-lt"/>
                <a:ea typeface="微软雅黑" panose="020B0503020204020204" pitchFamily="34" charset="-122"/>
              </a:rPr>
              <a:t>，作为设计时应力的最大允许值，称为</a:t>
            </a:r>
            <a:r>
              <a:rPr lang="zh-CN" altLang="en-US" sz="2800" i="0" dirty="0">
                <a:solidFill>
                  <a:srgbClr val="FF00FF"/>
                </a:solidFill>
                <a:latin typeface="+mn-lt"/>
                <a:ea typeface="微软雅黑" panose="020B0503020204020204" pitchFamily="34" charset="-122"/>
              </a:rPr>
              <a:t>许用应力</a:t>
            </a:r>
            <a:r>
              <a:rPr lang="zh-CN" altLang="en-US" sz="2800" i="0" dirty="0">
                <a:latin typeface="+mn-lt"/>
                <a:ea typeface="微软雅黑" panose="020B0503020204020204" pitchFamily="34" charset="-122"/>
              </a:rPr>
              <a:t>，用</a:t>
            </a:r>
            <a:r>
              <a:rPr lang="en-US" altLang="zh-CN" sz="2800" b="0" i="0" dirty="0">
                <a:latin typeface="+mn-lt"/>
                <a:ea typeface="微软雅黑" panose="020B0503020204020204" pitchFamily="34" charset="-122"/>
              </a:rPr>
              <a:t>[</a:t>
            </a:r>
            <a:r>
              <a:rPr lang="en-US" altLang="zh-CN" sz="2800" b="0" dirty="0">
                <a:latin typeface="+mn-lt"/>
                <a:ea typeface="微软雅黑" panose="020B0503020204020204" pitchFamily="34" charset="-122"/>
                <a:sym typeface="Symbol" panose="05050102010706020507" pitchFamily="18" charset="2"/>
              </a:rPr>
              <a:t></a:t>
            </a:r>
            <a:r>
              <a:rPr lang="en-US" altLang="zh-CN" sz="2800" b="0" i="0" dirty="0">
                <a:latin typeface="+mn-lt"/>
                <a:ea typeface="微软雅黑" panose="020B0503020204020204" pitchFamily="34" charset="-122"/>
              </a:rPr>
              <a:t>]</a:t>
            </a:r>
            <a:r>
              <a:rPr lang="zh-CN" altLang="en-US" sz="2800" i="0" dirty="0">
                <a:latin typeface="+mn-lt"/>
                <a:ea typeface="微软雅黑" panose="020B0503020204020204" pitchFamily="34" charset="-122"/>
              </a:rPr>
              <a:t>表示，即</a:t>
            </a:r>
          </a:p>
        </p:txBody>
      </p:sp>
      <p:graphicFrame>
        <p:nvGraphicFramePr>
          <p:cNvPr id="3" name="Object 8">
            <a:extLst>
              <a:ext uri="{FF2B5EF4-FFF2-40B4-BE49-F238E27FC236}">
                <a16:creationId xmlns:a16="http://schemas.microsoft.com/office/drawing/2014/main" id="{C00688A0-6AA2-92B1-A38E-12A8AD47394D}"/>
              </a:ext>
            </a:extLst>
          </p:cNvPr>
          <p:cNvGraphicFramePr>
            <a:graphicFrameLocks noChangeAspect="1"/>
          </p:cNvGraphicFramePr>
          <p:nvPr>
            <p:extLst>
              <p:ext uri="{D42A27DB-BD31-4B8C-83A1-F6EECF244321}">
                <p14:modId xmlns:p14="http://schemas.microsoft.com/office/powerpoint/2010/main" val="284970296"/>
              </p:ext>
            </p:extLst>
          </p:nvPr>
        </p:nvGraphicFramePr>
        <p:xfrm>
          <a:off x="2927648" y="5174619"/>
          <a:ext cx="1641475" cy="1090612"/>
        </p:xfrm>
        <a:graphic>
          <a:graphicData uri="http://schemas.openxmlformats.org/presentationml/2006/ole">
            <mc:AlternateContent xmlns:mc="http://schemas.openxmlformats.org/markup-compatibility/2006">
              <mc:Choice xmlns:v="urn:schemas-microsoft-com:vml" Requires="v">
                <p:oleObj name="Equation" r:id="rId3" imgW="583920" imgH="419040" progId="Equation.DSMT4">
                  <p:embed/>
                </p:oleObj>
              </mc:Choice>
              <mc:Fallback>
                <p:oleObj name="Equation" r:id="rId3" imgW="583920" imgH="419040" progId="Equation.DSMT4">
                  <p:embed/>
                  <p:pic>
                    <p:nvPicPr>
                      <p:cNvPr id="3" name="Object 8">
                        <a:extLst>
                          <a:ext uri="{FF2B5EF4-FFF2-40B4-BE49-F238E27FC236}">
                            <a16:creationId xmlns:a16="http://schemas.microsoft.com/office/drawing/2014/main" id="{C00688A0-6AA2-92B1-A38E-12A8AD47394D}"/>
                          </a:ext>
                        </a:extLst>
                      </p:cNvPr>
                      <p:cNvPicPr>
                        <a:picLocks noChangeAspect="1" noChangeArrowheads="1"/>
                      </p:cNvPicPr>
                      <p:nvPr/>
                    </p:nvPicPr>
                    <p:blipFill>
                      <a:blip r:embed="rId4"/>
                      <a:srcRect/>
                      <a:stretch>
                        <a:fillRect/>
                      </a:stretch>
                    </p:blipFill>
                    <p:spPr bwMode="auto">
                      <a:xfrm>
                        <a:off x="2927648" y="5174619"/>
                        <a:ext cx="1641475" cy="1090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 name="Text Box 1032">
            <a:extLst>
              <a:ext uri="{FF2B5EF4-FFF2-40B4-BE49-F238E27FC236}">
                <a16:creationId xmlns:a16="http://schemas.microsoft.com/office/drawing/2014/main" id="{76F2A5AD-F6E0-6535-E3DC-536765CF1BDF}"/>
              </a:ext>
            </a:extLst>
          </p:cNvPr>
          <p:cNvSpPr txBox="1">
            <a:spLocks noChangeArrowheads="1"/>
          </p:cNvSpPr>
          <p:nvPr/>
        </p:nvSpPr>
        <p:spPr bwMode="auto">
          <a:xfrm>
            <a:off x="4981359" y="5447183"/>
            <a:ext cx="2664296" cy="609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lnSpc>
                <a:spcPct val="120000"/>
              </a:lnSpc>
            </a:pPr>
            <a:r>
              <a:rPr lang="en-US" altLang="zh-CN" sz="2800" b="0" dirty="0">
                <a:solidFill>
                  <a:srgbClr val="FF00FF"/>
                </a:solidFill>
                <a:latin typeface="+mn-lt"/>
                <a:ea typeface="微软雅黑" panose="020B0503020204020204" pitchFamily="34" charset="-122"/>
              </a:rPr>
              <a:t>n</a:t>
            </a:r>
            <a:r>
              <a:rPr lang="en-US" altLang="zh-CN" sz="2800" dirty="0">
                <a:solidFill>
                  <a:srgbClr val="FF00FF"/>
                </a:solidFill>
                <a:latin typeface="+mn-lt"/>
                <a:ea typeface="微软雅黑" panose="020B0503020204020204" pitchFamily="34" charset="-122"/>
              </a:rPr>
              <a:t>  </a:t>
            </a:r>
            <a:r>
              <a:rPr lang="en-US" altLang="zh-CN" sz="2800" i="0" dirty="0">
                <a:solidFill>
                  <a:srgbClr val="FF00FF"/>
                </a:solidFill>
                <a:latin typeface="+mn-lt"/>
                <a:ea typeface="微软雅黑" panose="020B0503020204020204" pitchFamily="34" charset="-122"/>
              </a:rPr>
              <a:t>— </a:t>
            </a:r>
            <a:r>
              <a:rPr lang="zh-CN" altLang="en-US" sz="2800" i="0" dirty="0">
                <a:solidFill>
                  <a:srgbClr val="FF00FF"/>
                </a:solidFill>
                <a:latin typeface="+mn-lt"/>
                <a:ea typeface="微软雅黑" panose="020B0503020204020204" pitchFamily="34" charset="-122"/>
              </a:rPr>
              <a:t>安全因数</a:t>
            </a:r>
            <a:endParaRPr lang="zh-CN" altLang="en-US" sz="2800" i="0" dirty="0">
              <a:latin typeface="+mn-lt"/>
              <a:ea typeface="微软雅黑" panose="020B0503020204020204" pitchFamily="34" charset="-122"/>
            </a:endParaRPr>
          </a:p>
        </p:txBody>
      </p:sp>
      <p:sp>
        <p:nvSpPr>
          <p:cNvPr id="8" name="Text Box 1032">
            <a:extLst>
              <a:ext uri="{FF2B5EF4-FFF2-40B4-BE49-F238E27FC236}">
                <a16:creationId xmlns:a16="http://schemas.microsoft.com/office/drawing/2014/main" id="{E04F7F87-E400-11C6-497A-47D2A46D94BC}"/>
              </a:ext>
            </a:extLst>
          </p:cNvPr>
          <p:cNvSpPr txBox="1">
            <a:spLocks noChangeArrowheads="1"/>
          </p:cNvSpPr>
          <p:nvPr/>
        </p:nvSpPr>
        <p:spPr bwMode="auto">
          <a:xfrm>
            <a:off x="7896200" y="5245891"/>
            <a:ext cx="3744416" cy="1598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lnSpc>
                <a:spcPct val="120000"/>
              </a:lnSpc>
            </a:pPr>
            <a:r>
              <a:rPr lang="zh-CN" altLang="en-US" sz="2800" i="0" dirty="0">
                <a:latin typeface="+mn-lt"/>
                <a:ea typeface="微软雅黑" panose="020B0503020204020204" pitchFamily="34" charset="-122"/>
              </a:rPr>
              <a:t>塑性材料：</a:t>
            </a:r>
            <a:r>
              <a:rPr lang="en-US" altLang="zh-CN" sz="2800" b="0" i="0" dirty="0">
                <a:latin typeface="+mn-lt"/>
                <a:ea typeface="微软雅黑" panose="020B0503020204020204" pitchFamily="34" charset="-122"/>
              </a:rPr>
              <a:t>1.3</a:t>
            </a:r>
            <a:r>
              <a:rPr lang="zh-CN" altLang="en-US" sz="2800" b="0" i="0" dirty="0">
                <a:latin typeface="+mn-lt"/>
                <a:ea typeface="微软雅黑" panose="020B0503020204020204" pitchFamily="34" charset="-122"/>
              </a:rPr>
              <a:t>～</a:t>
            </a:r>
            <a:r>
              <a:rPr lang="en-US" altLang="zh-CN" sz="2800" b="0" i="0" dirty="0">
                <a:latin typeface="+mn-lt"/>
                <a:ea typeface="微软雅黑" panose="020B0503020204020204" pitchFamily="34" charset="-122"/>
              </a:rPr>
              <a:t>2.0</a:t>
            </a:r>
          </a:p>
          <a:p>
            <a:pPr algn="just">
              <a:lnSpc>
                <a:spcPct val="120000"/>
              </a:lnSpc>
            </a:pPr>
            <a:r>
              <a:rPr lang="zh-CN" altLang="en-US" sz="2800" i="0" dirty="0">
                <a:latin typeface="+mn-lt"/>
                <a:ea typeface="微软雅黑" panose="020B0503020204020204" pitchFamily="34" charset="-122"/>
              </a:rPr>
              <a:t>脆性材料：</a:t>
            </a:r>
            <a:r>
              <a:rPr lang="en-US" altLang="zh-CN" sz="2800" b="0" i="0" dirty="0">
                <a:latin typeface="+mn-lt"/>
                <a:ea typeface="微软雅黑" panose="020B0503020204020204" pitchFamily="34" charset="-122"/>
              </a:rPr>
              <a:t>2.0</a:t>
            </a:r>
            <a:r>
              <a:rPr lang="zh-CN" altLang="en-US" sz="2800" b="0" i="0" dirty="0">
                <a:latin typeface="+mn-lt"/>
                <a:ea typeface="微软雅黑" panose="020B0503020204020204" pitchFamily="34" charset="-122"/>
              </a:rPr>
              <a:t>～</a:t>
            </a:r>
            <a:r>
              <a:rPr lang="en-US" altLang="zh-CN" sz="2800" b="0" i="0" dirty="0">
                <a:latin typeface="+mn-lt"/>
                <a:ea typeface="微软雅黑" panose="020B0503020204020204" pitchFamily="34" charset="-122"/>
              </a:rPr>
              <a:t>3.5</a:t>
            </a:r>
            <a:endParaRPr lang="zh-CN" altLang="en-US" sz="2800" b="0" i="0" dirty="0">
              <a:latin typeface="+mn-lt"/>
              <a:ea typeface="微软雅黑" panose="020B0503020204020204" pitchFamily="34" charset="-122"/>
            </a:endParaRPr>
          </a:p>
          <a:p>
            <a:pPr algn="just">
              <a:lnSpc>
                <a:spcPct val="120000"/>
              </a:lnSpc>
            </a:pPr>
            <a:endParaRPr lang="zh-CN" altLang="en-US" sz="2800" i="0" dirty="0">
              <a:latin typeface="+mn-lt"/>
              <a:ea typeface="微软雅黑" panose="020B0503020204020204" pitchFamily="34" charset="-122"/>
            </a:endParaRPr>
          </a:p>
        </p:txBody>
      </p:sp>
    </p:spTree>
    <p:extLst>
      <p:ext uri="{BB962C8B-B14F-4D97-AF65-F5344CB8AC3E}">
        <p14:creationId xmlns:p14="http://schemas.microsoft.com/office/powerpoint/2010/main" val="2752561115"/>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2"/>
                                        </p:tgtEl>
                                        <p:attrNameLst>
                                          <p:attrName>style.visibility</p:attrName>
                                        </p:attrNameLst>
                                      </p:cBhvr>
                                      <p:to>
                                        <p:strVal val="visible"/>
                                      </p:to>
                                    </p:set>
                                  </p:childTnLst>
                                </p:cTn>
                              </p:par>
                            </p:childTnLst>
                          </p:cTn>
                        </p:par>
                        <p:par>
                          <p:cTn id="11" fill="hold">
                            <p:stCondLst>
                              <p:cond delay="500"/>
                            </p:stCondLst>
                            <p:childTnLst>
                              <p:par>
                                <p:cTn id="12" presetID="22" presetClass="entr" presetSubtype="8" fill="hold" nodeType="after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wipe(left)">
                                      <p:cBhvr>
                                        <p:cTn id="14" dur="3000"/>
                                        <p:tgtEl>
                                          <p:spTgt spid="3"/>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autoUpdateAnimBg="0"/>
      <p:bldP spid="2" grpId="0" autoUpdateAnimBg="0"/>
      <p:bldP spid="4" grpId="0" autoUpdateAnimBg="0"/>
      <p:bldP spid="8" grpId="0"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711605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第八章   拉压、剪切与挤压的强度计算</a:t>
            </a:r>
          </a:p>
        </p:txBody>
      </p:sp>
      <p:sp>
        <p:nvSpPr>
          <p:cNvPr id="53" name="Text Box 1032"/>
          <p:cNvSpPr txBox="1">
            <a:spLocks noChangeArrowheads="1"/>
          </p:cNvSpPr>
          <p:nvPr/>
        </p:nvSpPr>
        <p:spPr bwMode="auto">
          <a:xfrm>
            <a:off x="335360" y="1340768"/>
            <a:ext cx="11161239" cy="1081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lnSpc>
                <a:spcPct val="120000"/>
              </a:lnSpc>
            </a:pPr>
            <a:r>
              <a:rPr lang="zh-CN" altLang="en-US" sz="2800" i="0" dirty="0">
                <a:latin typeface="+mn-lt"/>
                <a:ea typeface="微软雅黑" panose="020B0503020204020204" pitchFamily="34" charset="-122"/>
              </a:rPr>
              <a:t>为了保证拉（压）杆的正常工作，必须使杆内的最大工作应力</a:t>
            </a:r>
            <a:r>
              <a:rPr lang="zh-CN" altLang="en-US" sz="2800" b="0" dirty="0">
                <a:latin typeface="+mn-lt"/>
                <a:ea typeface="微软雅黑" panose="020B0503020204020204" pitchFamily="34" charset="-122"/>
                <a:sym typeface="Symbol" panose="05050102010706020507" pitchFamily="18" charset="2"/>
              </a:rPr>
              <a:t></a:t>
            </a:r>
            <a:r>
              <a:rPr lang="en-US" altLang="zh-CN" sz="2800" b="0" i="0" baseline="-25000" dirty="0">
                <a:latin typeface="+mn-lt"/>
                <a:ea typeface="微软雅黑" panose="020B0503020204020204" pitchFamily="34" charset="-122"/>
              </a:rPr>
              <a:t>max</a:t>
            </a:r>
            <a:r>
              <a:rPr lang="zh-CN" altLang="en-US" sz="2800" i="0" dirty="0">
                <a:latin typeface="+mn-lt"/>
                <a:ea typeface="微软雅黑" panose="020B0503020204020204" pitchFamily="34" charset="-122"/>
              </a:rPr>
              <a:t>不超过材料的拉伸或压缩许用应力</a:t>
            </a:r>
            <a:r>
              <a:rPr lang="en-US" altLang="zh-CN" sz="2800" b="0" i="0" dirty="0">
                <a:latin typeface="+mn-lt"/>
                <a:ea typeface="微软雅黑" panose="020B0503020204020204" pitchFamily="34" charset="-122"/>
              </a:rPr>
              <a:t>[</a:t>
            </a:r>
            <a:r>
              <a:rPr lang="en-US" altLang="zh-CN" sz="2800" b="0" dirty="0">
                <a:latin typeface="+mn-lt"/>
                <a:ea typeface="微软雅黑" panose="020B0503020204020204" pitchFamily="34" charset="-122"/>
                <a:sym typeface="Symbol" panose="05050102010706020507" pitchFamily="18" charset="2"/>
              </a:rPr>
              <a:t></a:t>
            </a:r>
            <a:r>
              <a:rPr lang="en-US" altLang="zh-CN" sz="2800" b="0" i="0" dirty="0">
                <a:latin typeface="+mn-lt"/>
                <a:ea typeface="微软雅黑" panose="020B0503020204020204" pitchFamily="34" charset="-122"/>
              </a:rPr>
              <a:t>]</a:t>
            </a:r>
            <a:r>
              <a:rPr lang="zh-CN" altLang="en-US" sz="2800" i="0" dirty="0">
                <a:latin typeface="+mn-lt"/>
                <a:ea typeface="微软雅黑" panose="020B0503020204020204" pitchFamily="34" charset="-122"/>
              </a:rPr>
              <a:t>。</a:t>
            </a:r>
          </a:p>
        </p:txBody>
      </p:sp>
      <p:sp>
        <p:nvSpPr>
          <p:cNvPr id="6" name="矩形 5">
            <a:extLst>
              <a:ext uri="{FF2B5EF4-FFF2-40B4-BE49-F238E27FC236}">
                <a16:creationId xmlns:a16="http://schemas.microsoft.com/office/drawing/2014/main" id="{8A892F5C-7536-F031-6CD4-1C9902B467DE}"/>
              </a:ext>
            </a:extLst>
          </p:cNvPr>
          <p:cNvSpPr/>
          <p:nvPr/>
        </p:nvSpPr>
        <p:spPr>
          <a:xfrm>
            <a:off x="3779807" y="818078"/>
            <a:ext cx="4031873" cy="599331"/>
          </a:xfrm>
          <a:prstGeom prst="rect">
            <a:avLst/>
          </a:prstGeom>
        </p:spPr>
        <p:txBody>
          <a:bodyPr wrap="none">
            <a:spAutoFit/>
          </a:bodyPr>
          <a:lstStyle/>
          <a:p>
            <a:pPr>
              <a:lnSpc>
                <a:spcPct val="120000"/>
              </a:lnSpc>
            </a:pPr>
            <a:r>
              <a:rPr lang="zh-CN" altLang="en-US" sz="3000" i="0" dirty="0">
                <a:solidFill>
                  <a:srgbClr val="4F81BD"/>
                </a:solidFill>
                <a:latin typeface="微软雅黑" panose="020B0503020204020204" pitchFamily="34" charset="-122"/>
                <a:ea typeface="微软雅黑" panose="020B0503020204020204" pitchFamily="34" charset="-122"/>
              </a:rPr>
              <a:t>拉（压）杆的强度条件</a:t>
            </a:r>
          </a:p>
        </p:txBody>
      </p:sp>
      <p:sp>
        <p:nvSpPr>
          <p:cNvPr id="2" name="Text Box 1032">
            <a:extLst>
              <a:ext uri="{FF2B5EF4-FFF2-40B4-BE49-F238E27FC236}">
                <a16:creationId xmlns:a16="http://schemas.microsoft.com/office/drawing/2014/main" id="{9313B3B7-54D5-686A-FE7C-5A463A3627F0}"/>
              </a:ext>
            </a:extLst>
          </p:cNvPr>
          <p:cNvSpPr txBox="1">
            <a:spLocks noChangeArrowheads="1"/>
          </p:cNvSpPr>
          <p:nvPr/>
        </p:nvSpPr>
        <p:spPr bwMode="auto">
          <a:xfrm>
            <a:off x="335360" y="3289774"/>
            <a:ext cx="10729191" cy="10769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lnSpc>
                <a:spcPct val="120000"/>
              </a:lnSpc>
            </a:pPr>
            <a:r>
              <a:rPr lang="en-US" altLang="zh-CN" sz="2800" i="0" dirty="0">
                <a:solidFill>
                  <a:srgbClr val="FF00FF"/>
                </a:solidFill>
                <a:latin typeface="+mn-lt"/>
                <a:ea typeface="微软雅黑" panose="020B0503020204020204" pitchFamily="34" charset="-122"/>
              </a:rPr>
              <a:t>1</a:t>
            </a:r>
            <a:r>
              <a:rPr lang="zh-CN" altLang="en-US" sz="2800" i="0" dirty="0">
                <a:solidFill>
                  <a:srgbClr val="FF00FF"/>
                </a:solidFill>
                <a:latin typeface="+mn-lt"/>
                <a:ea typeface="微软雅黑" panose="020B0503020204020204" pitchFamily="34" charset="-122"/>
              </a:rPr>
              <a:t>）校核强度：</a:t>
            </a:r>
            <a:r>
              <a:rPr lang="zh-CN" altLang="en-US" sz="2800" i="0" dirty="0">
                <a:latin typeface="+mn-lt"/>
                <a:ea typeface="微软雅黑" panose="020B0503020204020204" pitchFamily="34" charset="-122"/>
              </a:rPr>
              <a:t>已知杆件的尺寸、所受载荷和材料的许用应力，验算杆件是否满足强度条件； </a:t>
            </a:r>
          </a:p>
        </p:txBody>
      </p:sp>
      <p:graphicFrame>
        <p:nvGraphicFramePr>
          <p:cNvPr id="3" name="Object 8">
            <a:extLst>
              <a:ext uri="{FF2B5EF4-FFF2-40B4-BE49-F238E27FC236}">
                <a16:creationId xmlns:a16="http://schemas.microsoft.com/office/drawing/2014/main" id="{C00688A0-6AA2-92B1-A38E-12A8AD47394D}"/>
              </a:ext>
            </a:extLst>
          </p:cNvPr>
          <p:cNvGraphicFramePr>
            <a:graphicFrameLocks noChangeAspect="1"/>
          </p:cNvGraphicFramePr>
          <p:nvPr>
            <p:extLst>
              <p:ext uri="{D42A27DB-BD31-4B8C-83A1-F6EECF244321}">
                <p14:modId xmlns:p14="http://schemas.microsoft.com/office/powerpoint/2010/main" val="2510316196"/>
              </p:ext>
            </p:extLst>
          </p:nvPr>
        </p:nvGraphicFramePr>
        <p:xfrm>
          <a:off x="3542989" y="2457308"/>
          <a:ext cx="2372990" cy="861812"/>
        </p:xfrm>
        <a:graphic>
          <a:graphicData uri="http://schemas.openxmlformats.org/presentationml/2006/ole">
            <mc:AlternateContent xmlns:mc="http://schemas.openxmlformats.org/markup-compatibility/2006">
              <mc:Choice xmlns:v="urn:schemas-microsoft-com:vml" Requires="v">
                <p:oleObj name="Equation" r:id="rId3" imgW="1002960" imgH="393480" progId="Equation.DSMT4">
                  <p:embed/>
                </p:oleObj>
              </mc:Choice>
              <mc:Fallback>
                <p:oleObj name="Equation" r:id="rId3" imgW="1002960" imgH="393480" progId="Equation.DSMT4">
                  <p:embed/>
                  <p:pic>
                    <p:nvPicPr>
                      <p:cNvPr id="3" name="Object 8">
                        <a:extLst>
                          <a:ext uri="{FF2B5EF4-FFF2-40B4-BE49-F238E27FC236}">
                            <a16:creationId xmlns:a16="http://schemas.microsoft.com/office/drawing/2014/main" id="{C00688A0-6AA2-92B1-A38E-12A8AD47394D}"/>
                          </a:ext>
                        </a:extLst>
                      </p:cNvPr>
                      <p:cNvPicPr>
                        <a:picLocks noChangeAspect="1" noChangeArrowheads="1"/>
                      </p:cNvPicPr>
                      <p:nvPr/>
                    </p:nvPicPr>
                    <p:blipFill>
                      <a:blip r:embed="rId4"/>
                      <a:srcRect/>
                      <a:stretch>
                        <a:fillRect/>
                      </a:stretch>
                    </p:blipFill>
                    <p:spPr bwMode="auto">
                      <a:xfrm>
                        <a:off x="3542989" y="2457308"/>
                        <a:ext cx="2372990" cy="861812"/>
                      </a:xfrm>
                      <a:prstGeom prst="rect">
                        <a:avLst/>
                      </a:prstGeom>
                      <a:noFill/>
                      <a:ln>
                        <a:noFill/>
                      </a:ln>
                      <a:effectLst/>
                    </p:spPr>
                  </p:pic>
                </p:oleObj>
              </mc:Fallback>
            </mc:AlternateContent>
          </a:graphicData>
        </a:graphic>
      </p:graphicFrame>
      <p:sp>
        <p:nvSpPr>
          <p:cNvPr id="4" name="Text Box 1032">
            <a:extLst>
              <a:ext uri="{FF2B5EF4-FFF2-40B4-BE49-F238E27FC236}">
                <a16:creationId xmlns:a16="http://schemas.microsoft.com/office/drawing/2014/main" id="{76F2A5AD-F6E0-6535-E3DC-536765CF1BDF}"/>
              </a:ext>
            </a:extLst>
          </p:cNvPr>
          <p:cNvSpPr txBox="1">
            <a:spLocks noChangeArrowheads="1"/>
          </p:cNvSpPr>
          <p:nvPr/>
        </p:nvSpPr>
        <p:spPr bwMode="auto">
          <a:xfrm>
            <a:off x="6276022" y="2582571"/>
            <a:ext cx="3564393" cy="565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lnSpc>
                <a:spcPct val="120000"/>
              </a:lnSpc>
            </a:pPr>
            <a:r>
              <a:rPr lang="en-US" altLang="zh-CN" sz="2800" i="0" dirty="0">
                <a:solidFill>
                  <a:srgbClr val="FF00FF"/>
                </a:solidFill>
                <a:latin typeface="+mn-lt"/>
                <a:ea typeface="微软雅黑" panose="020B0503020204020204" pitchFamily="34" charset="-122"/>
              </a:rPr>
              <a:t>— </a:t>
            </a:r>
            <a:r>
              <a:rPr lang="zh-CN" altLang="en-US" sz="2800" i="0" dirty="0">
                <a:solidFill>
                  <a:srgbClr val="FF00FF"/>
                </a:solidFill>
                <a:latin typeface="+mn-lt"/>
                <a:ea typeface="微软雅黑" panose="020B0503020204020204" pitchFamily="34" charset="-122"/>
              </a:rPr>
              <a:t>拉压杆的强度条件</a:t>
            </a:r>
            <a:endParaRPr lang="zh-CN" altLang="en-US" sz="2800" i="0" dirty="0">
              <a:latin typeface="+mn-lt"/>
              <a:ea typeface="微软雅黑" panose="020B0503020204020204" pitchFamily="34" charset="-122"/>
            </a:endParaRPr>
          </a:p>
        </p:txBody>
      </p:sp>
      <p:sp>
        <p:nvSpPr>
          <p:cNvPr id="9" name="Text Box 1032">
            <a:extLst>
              <a:ext uri="{FF2B5EF4-FFF2-40B4-BE49-F238E27FC236}">
                <a16:creationId xmlns:a16="http://schemas.microsoft.com/office/drawing/2014/main" id="{6D166145-737C-A1D8-3723-4B4713280D42}"/>
              </a:ext>
            </a:extLst>
          </p:cNvPr>
          <p:cNvSpPr txBox="1">
            <a:spLocks noChangeArrowheads="1"/>
          </p:cNvSpPr>
          <p:nvPr/>
        </p:nvSpPr>
        <p:spPr bwMode="auto">
          <a:xfrm>
            <a:off x="335360" y="4271137"/>
            <a:ext cx="10801199" cy="108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lnSpc>
                <a:spcPct val="120000"/>
              </a:lnSpc>
            </a:pPr>
            <a:r>
              <a:rPr lang="en-US" altLang="zh-CN" sz="2800" i="0" dirty="0">
                <a:solidFill>
                  <a:srgbClr val="FF00FF"/>
                </a:solidFill>
                <a:latin typeface="+mn-lt"/>
                <a:ea typeface="微软雅黑" panose="020B0503020204020204" pitchFamily="34" charset="-122"/>
              </a:rPr>
              <a:t>2</a:t>
            </a:r>
            <a:r>
              <a:rPr lang="zh-CN" altLang="en-US" sz="2800" i="0" dirty="0">
                <a:solidFill>
                  <a:srgbClr val="FF00FF"/>
                </a:solidFill>
                <a:latin typeface="+mn-lt"/>
                <a:ea typeface="微软雅黑" panose="020B0503020204020204" pitchFamily="34" charset="-122"/>
              </a:rPr>
              <a:t>）设计截面：</a:t>
            </a:r>
            <a:r>
              <a:rPr lang="zh-CN" altLang="en-US" sz="2800" i="0" dirty="0">
                <a:latin typeface="+mn-lt"/>
                <a:ea typeface="微软雅黑" panose="020B0503020204020204" pitchFamily="34" charset="-122"/>
              </a:rPr>
              <a:t>已知杆件所承受的载荷及材料的许用应力，由强度条件可确定杆件的安全横截面面积 </a:t>
            </a:r>
            <a:r>
              <a:rPr lang="en-US" altLang="zh-CN" sz="2800" b="0" dirty="0"/>
              <a:t>A</a:t>
            </a:r>
            <a:r>
              <a:rPr lang="zh-CN" altLang="en-US" sz="2800" i="0" dirty="0">
                <a:latin typeface="+mn-lt"/>
                <a:ea typeface="微软雅黑" panose="020B0503020204020204" pitchFamily="34" charset="-122"/>
              </a:rPr>
              <a:t>；</a:t>
            </a:r>
            <a:r>
              <a:rPr lang="zh-CN" altLang="en-US" sz="2800" b="0" i="0" dirty="0">
                <a:latin typeface="+mn-lt"/>
                <a:ea typeface="微软雅黑" panose="020B0503020204020204" pitchFamily="34" charset="-122"/>
              </a:rPr>
              <a:t> </a:t>
            </a:r>
          </a:p>
        </p:txBody>
      </p:sp>
      <p:sp>
        <p:nvSpPr>
          <p:cNvPr id="10" name="Text Box 1032">
            <a:extLst>
              <a:ext uri="{FF2B5EF4-FFF2-40B4-BE49-F238E27FC236}">
                <a16:creationId xmlns:a16="http://schemas.microsoft.com/office/drawing/2014/main" id="{079F0383-6D29-70BC-DC31-02A195DC3AB5}"/>
              </a:ext>
            </a:extLst>
          </p:cNvPr>
          <p:cNvSpPr txBox="1">
            <a:spLocks noChangeArrowheads="1"/>
          </p:cNvSpPr>
          <p:nvPr/>
        </p:nvSpPr>
        <p:spPr bwMode="auto">
          <a:xfrm>
            <a:off x="335360" y="5252500"/>
            <a:ext cx="10801199" cy="108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lnSpc>
                <a:spcPct val="120000"/>
              </a:lnSpc>
            </a:pPr>
            <a:r>
              <a:rPr lang="en-US" altLang="zh-CN" sz="2800" i="0" dirty="0">
                <a:solidFill>
                  <a:srgbClr val="FF00FF"/>
                </a:solidFill>
                <a:latin typeface="+mn-lt"/>
                <a:ea typeface="微软雅黑" panose="020B0503020204020204" pitchFamily="34" charset="-122"/>
              </a:rPr>
              <a:t>3</a:t>
            </a:r>
            <a:r>
              <a:rPr lang="zh-CN" altLang="en-US" sz="2800" i="0" dirty="0">
                <a:solidFill>
                  <a:srgbClr val="FF00FF"/>
                </a:solidFill>
                <a:latin typeface="+mn-lt"/>
                <a:ea typeface="微软雅黑" panose="020B0503020204020204" pitchFamily="34" charset="-122"/>
              </a:rPr>
              <a:t>）确定承载能力 ：</a:t>
            </a:r>
            <a:r>
              <a:rPr lang="zh-CN" altLang="en-US" sz="2800" i="0" dirty="0">
                <a:latin typeface="+mn-lt"/>
                <a:ea typeface="微软雅黑" panose="020B0503020204020204" pitchFamily="34" charset="-122"/>
              </a:rPr>
              <a:t>已知杆件的横截面尺寸及材料的许用应力，由强度条件确定杆件所能承受的最大轴力。 </a:t>
            </a:r>
          </a:p>
        </p:txBody>
      </p:sp>
      <p:graphicFrame>
        <p:nvGraphicFramePr>
          <p:cNvPr id="11" name="Object 8">
            <a:extLst>
              <a:ext uri="{FF2B5EF4-FFF2-40B4-BE49-F238E27FC236}">
                <a16:creationId xmlns:a16="http://schemas.microsoft.com/office/drawing/2014/main" id="{04901302-2BBD-ECBA-E36E-C720599D8776}"/>
              </a:ext>
            </a:extLst>
          </p:cNvPr>
          <p:cNvGraphicFramePr>
            <a:graphicFrameLocks noChangeAspect="1"/>
          </p:cNvGraphicFramePr>
          <p:nvPr>
            <p:extLst>
              <p:ext uri="{D42A27DB-BD31-4B8C-83A1-F6EECF244321}">
                <p14:modId xmlns:p14="http://schemas.microsoft.com/office/powerpoint/2010/main" val="3353657647"/>
              </p:ext>
            </p:extLst>
          </p:nvPr>
        </p:nvGraphicFramePr>
        <p:xfrm>
          <a:off x="6744072" y="4813543"/>
          <a:ext cx="1872208" cy="570029"/>
        </p:xfrm>
        <a:graphic>
          <a:graphicData uri="http://schemas.openxmlformats.org/presentationml/2006/ole">
            <mc:AlternateContent xmlns:mc="http://schemas.openxmlformats.org/markup-compatibility/2006">
              <mc:Choice xmlns:v="urn:schemas-microsoft-com:vml" Requires="v">
                <p:oleObj name="Equation" r:id="rId5" imgW="774360" imgH="253800" progId="Equation.DSMT4">
                  <p:embed/>
                </p:oleObj>
              </mc:Choice>
              <mc:Fallback>
                <p:oleObj name="Equation" r:id="rId5" imgW="774360" imgH="253800" progId="Equation.DSMT4">
                  <p:embed/>
                  <p:pic>
                    <p:nvPicPr>
                      <p:cNvPr id="11" name="Object 8">
                        <a:extLst>
                          <a:ext uri="{FF2B5EF4-FFF2-40B4-BE49-F238E27FC236}">
                            <a16:creationId xmlns:a16="http://schemas.microsoft.com/office/drawing/2014/main" id="{04901302-2BBD-ECBA-E36E-C720599D8776}"/>
                          </a:ext>
                        </a:extLst>
                      </p:cNvPr>
                      <p:cNvPicPr>
                        <a:picLocks noChangeAspect="1" noChangeArrowheads="1"/>
                      </p:cNvPicPr>
                      <p:nvPr/>
                    </p:nvPicPr>
                    <p:blipFill>
                      <a:blip r:embed="rId6"/>
                      <a:srcRect/>
                      <a:stretch>
                        <a:fillRect/>
                      </a:stretch>
                    </p:blipFill>
                    <p:spPr bwMode="auto">
                      <a:xfrm>
                        <a:off x="6744072" y="4813543"/>
                        <a:ext cx="1872208" cy="570029"/>
                      </a:xfrm>
                      <a:prstGeom prst="rect">
                        <a:avLst/>
                      </a:prstGeom>
                      <a:noFill/>
                      <a:ln>
                        <a:noFill/>
                      </a:ln>
                      <a:effectLst/>
                    </p:spPr>
                  </p:pic>
                </p:oleObj>
              </mc:Fallback>
            </mc:AlternateContent>
          </a:graphicData>
        </a:graphic>
      </p:graphicFrame>
      <p:graphicFrame>
        <p:nvGraphicFramePr>
          <p:cNvPr id="12" name="Object 8">
            <a:extLst>
              <a:ext uri="{FF2B5EF4-FFF2-40B4-BE49-F238E27FC236}">
                <a16:creationId xmlns:a16="http://schemas.microsoft.com/office/drawing/2014/main" id="{76A995FD-50C7-953D-94A3-E675876D4BFC}"/>
              </a:ext>
            </a:extLst>
          </p:cNvPr>
          <p:cNvGraphicFramePr>
            <a:graphicFrameLocks noChangeAspect="1"/>
          </p:cNvGraphicFramePr>
          <p:nvPr>
            <p:extLst>
              <p:ext uri="{D42A27DB-BD31-4B8C-83A1-F6EECF244321}">
                <p14:modId xmlns:p14="http://schemas.microsoft.com/office/powerpoint/2010/main" val="228098620"/>
              </p:ext>
            </p:extLst>
          </p:nvPr>
        </p:nvGraphicFramePr>
        <p:xfrm>
          <a:off x="6744072" y="5799138"/>
          <a:ext cx="2016224" cy="567642"/>
        </p:xfrm>
        <a:graphic>
          <a:graphicData uri="http://schemas.openxmlformats.org/presentationml/2006/ole">
            <mc:AlternateContent xmlns:mc="http://schemas.openxmlformats.org/markup-compatibility/2006">
              <mc:Choice xmlns:v="urn:schemas-microsoft-com:vml" Requires="v">
                <p:oleObj name="Equation" r:id="rId7" imgW="838080" imgH="253800" progId="Equation.DSMT4">
                  <p:embed/>
                </p:oleObj>
              </mc:Choice>
              <mc:Fallback>
                <p:oleObj name="Equation" r:id="rId7" imgW="838080" imgH="253800" progId="Equation.DSMT4">
                  <p:embed/>
                  <p:pic>
                    <p:nvPicPr>
                      <p:cNvPr id="12" name="Object 8">
                        <a:extLst>
                          <a:ext uri="{FF2B5EF4-FFF2-40B4-BE49-F238E27FC236}">
                            <a16:creationId xmlns:a16="http://schemas.microsoft.com/office/drawing/2014/main" id="{76A995FD-50C7-953D-94A3-E675876D4BFC}"/>
                          </a:ext>
                        </a:extLst>
                      </p:cNvPr>
                      <p:cNvPicPr>
                        <a:picLocks noChangeAspect="1" noChangeArrowheads="1"/>
                      </p:cNvPicPr>
                      <p:nvPr/>
                    </p:nvPicPr>
                    <p:blipFill>
                      <a:blip r:embed="rId8"/>
                      <a:srcRect/>
                      <a:stretch>
                        <a:fillRect/>
                      </a:stretch>
                    </p:blipFill>
                    <p:spPr bwMode="auto">
                      <a:xfrm>
                        <a:off x="6744072" y="5799138"/>
                        <a:ext cx="2016224" cy="567642"/>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2988437649"/>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3"/>
                                        </p:tgtEl>
                                        <p:attrNameLst>
                                          <p:attrName>style.visibility</p:attrName>
                                        </p:attrNameLst>
                                      </p:cBhvr>
                                      <p:to>
                                        <p:strVal val="visible"/>
                                      </p:to>
                                    </p:set>
                                  </p:childTnLst>
                                </p:cTn>
                              </p:par>
                            </p:childTnLst>
                          </p:cTn>
                        </p:par>
                        <p:par>
                          <p:cTn id="7" fill="hold">
                            <p:stCondLst>
                              <p:cond delay="500"/>
                            </p:stCondLst>
                            <p:childTnLst>
                              <p:par>
                                <p:cTn id="8" presetID="22" presetClass="entr" presetSubtype="8" fill="hold" nodeType="after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left)">
                                      <p:cBhvr>
                                        <p:cTn id="10" dur="30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9"/>
                                        </p:tgtEl>
                                        <p:attrNameLst>
                                          <p:attrName>style.visibility</p:attrName>
                                        </p:attrNameLst>
                                      </p:cBhvr>
                                      <p:to>
                                        <p:strVal val="visible"/>
                                      </p:to>
                                    </p:set>
                                  </p:childTnLst>
                                </p:cTn>
                              </p:par>
                            </p:childTnLst>
                          </p:cTn>
                        </p:par>
                        <p:par>
                          <p:cTn id="23" fill="hold">
                            <p:stCondLst>
                              <p:cond delay="500"/>
                            </p:stCondLst>
                            <p:childTnLst>
                              <p:par>
                                <p:cTn id="24" presetID="22" presetClass="entr" presetSubtype="8" fill="hold" nodeType="after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wipe(left)">
                                      <p:cBhvr>
                                        <p:cTn id="26" dur="3000"/>
                                        <p:tgtEl>
                                          <p:spTgt spid="11"/>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autoUpdateAnimBg="0"/>
      <p:bldP spid="2" grpId="0" autoUpdateAnimBg="0"/>
      <p:bldP spid="4" grpId="0" autoUpdateAnimBg="0"/>
      <p:bldP spid="9" grpId="0" autoUpdateAnimBg="0"/>
      <p:bldP spid="10"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711605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第八章   拉压、剪切与挤压的强度计算</a:t>
            </a:r>
          </a:p>
        </p:txBody>
      </p:sp>
      <p:sp>
        <p:nvSpPr>
          <p:cNvPr id="19" name="矩形 18">
            <a:extLst>
              <a:ext uri="{FF2B5EF4-FFF2-40B4-BE49-F238E27FC236}">
                <a16:creationId xmlns:a16="http://schemas.microsoft.com/office/drawing/2014/main" id="{396E3A4E-3DCE-51D1-DE56-78AC0CFE008B}"/>
              </a:ext>
            </a:extLst>
          </p:cNvPr>
          <p:cNvSpPr/>
          <p:nvPr/>
        </p:nvSpPr>
        <p:spPr>
          <a:xfrm>
            <a:off x="551383" y="820392"/>
            <a:ext cx="6048673" cy="1684244"/>
          </a:xfrm>
          <a:prstGeom prst="rect">
            <a:avLst/>
          </a:prstGeom>
        </p:spPr>
        <p:txBody>
          <a:bodyPr wrap="square">
            <a:spAutoFit/>
          </a:bodyPr>
          <a:lstStyle/>
          <a:p>
            <a:pPr marL="0" marR="0" lvl="0" indent="0" algn="just" defTabSz="914400" rtl="0" eaLnBrk="1" fontAlgn="base" latinLnBrk="0" hangingPunct="1">
              <a:lnSpc>
                <a:spcPct val="110000"/>
              </a:lnSpc>
              <a:spcBef>
                <a:spcPct val="0"/>
              </a:spcBef>
              <a:spcAft>
                <a:spcPct val="0"/>
              </a:spcAft>
              <a:buClrTx/>
              <a:buSzTx/>
              <a:buFontTx/>
              <a:buNone/>
              <a:tabLst/>
              <a:defRPr/>
            </a:pPr>
            <a:r>
              <a:rPr lang="zh-CN" altLang="en-US" i="0" dirty="0">
                <a:solidFill>
                  <a:srgbClr val="0033CC"/>
                </a:solidFill>
                <a:ea typeface="黑体" panose="02010609060101010101" pitchFamily="49" charset="-122"/>
              </a:rPr>
              <a:t>例</a:t>
            </a:r>
            <a:r>
              <a:rPr lang="zh-CN" altLang="en-US" i="0" dirty="0">
                <a:solidFill>
                  <a:schemeClr val="tx1"/>
                </a:solidFill>
                <a:ea typeface="黑体" panose="02010609060101010101" pitchFamily="49" charset="-122"/>
              </a:rPr>
              <a:t>  </a:t>
            </a:r>
            <a:r>
              <a:rPr lang="zh-CN" altLang="en-US" sz="2400" i="0" dirty="0">
                <a:solidFill>
                  <a:schemeClr val="tx1"/>
                </a:solidFill>
                <a:ea typeface="黑体" panose="02010609060101010101" pitchFamily="49" charset="-122"/>
              </a:rPr>
              <a:t>某机床工作台，进给液压缸如图。已知油压</a:t>
            </a:r>
            <a:r>
              <a:rPr lang="en-US" altLang="zh-CN" sz="2400" b="0" dirty="0">
                <a:solidFill>
                  <a:schemeClr val="tx1"/>
                </a:solidFill>
                <a:ea typeface="黑体" panose="02010609060101010101" pitchFamily="49" charset="-122"/>
              </a:rPr>
              <a:t>p</a:t>
            </a:r>
            <a:r>
              <a:rPr lang="en-US" altLang="zh-CN" sz="2400" b="0" i="0" dirty="0">
                <a:solidFill>
                  <a:schemeClr val="tx1"/>
                </a:solidFill>
                <a:ea typeface="黑体" panose="02010609060101010101" pitchFamily="49" charset="-122"/>
              </a:rPr>
              <a:t>=2MPa</a:t>
            </a:r>
            <a:r>
              <a:rPr lang="zh-CN" altLang="en-US" sz="2400" i="0" dirty="0">
                <a:solidFill>
                  <a:schemeClr val="tx1"/>
                </a:solidFill>
                <a:ea typeface="黑体" panose="02010609060101010101" pitchFamily="49" charset="-122"/>
              </a:rPr>
              <a:t>，液压缸的直径</a:t>
            </a:r>
            <a:r>
              <a:rPr lang="en-US" altLang="zh-CN" sz="2400" b="0" dirty="0">
                <a:solidFill>
                  <a:schemeClr val="tx1"/>
                </a:solidFill>
                <a:ea typeface="黑体" panose="02010609060101010101" pitchFamily="49" charset="-122"/>
              </a:rPr>
              <a:t>D</a:t>
            </a:r>
            <a:r>
              <a:rPr lang="en-US" altLang="zh-CN" sz="2400" b="0" i="0" dirty="0">
                <a:solidFill>
                  <a:schemeClr val="tx1"/>
                </a:solidFill>
                <a:ea typeface="黑体" panose="02010609060101010101" pitchFamily="49" charset="-122"/>
              </a:rPr>
              <a:t>=75mm</a:t>
            </a:r>
            <a:r>
              <a:rPr lang="zh-CN" altLang="en-US" sz="2400" i="0" dirty="0">
                <a:solidFill>
                  <a:schemeClr val="tx1"/>
                </a:solidFill>
                <a:ea typeface="黑体" panose="02010609060101010101" pitchFamily="49" charset="-122"/>
              </a:rPr>
              <a:t>，活塞杆直径</a:t>
            </a:r>
            <a:r>
              <a:rPr lang="en-US" altLang="zh-CN" sz="2400" b="0" dirty="0">
                <a:solidFill>
                  <a:schemeClr val="tx1"/>
                </a:solidFill>
                <a:ea typeface="黑体" panose="02010609060101010101" pitchFamily="49" charset="-122"/>
              </a:rPr>
              <a:t>d</a:t>
            </a:r>
            <a:r>
              <a:rPr lang="en-US" altLang="zh-CN" sz="2400" b="0" i="0" dirty="0">
                <a:solidFill>
                  <a:schemeClr val="tx1"/>
                </a:solidFill>
                <a:ea typeface="黑体" panose="02010609060101010101" pitchFamily="49" charset="-122"/>
              </a:rPr>
              <a:t>=18mm</a:t>
            </a:r>
            <a:r>
              <a:rPr lang="zh-CN" altLang="en-US" sz="2400" i="0" dirty="0">
                <a:solidFill>
                  <a:schemeClr val="tx1"/>
                </a:solidFill>
                <a:ea typeface="黑体" panose="02010609060101010101" pitchFamily="49" charset="-122"/>
              </a:rPr>
              <a:t>，活塞杆材料的许用应力</a:t>
            </a:r>
            <a:r>
              <a:rPr lang="en-US" altLang="zh-CN" sz="2400" b="0" i="0" dirty="0">
                <a:solidFill>
                  <a:schemeClr val="tx1"/>
                </a:solidFill>
                <a:ea typeface="黑体" panose="02010609060101010101" pitchFamily="49" charset="-122"/>
              </a:rPr>
              <a:t>[</a:t>
            </a:r>
            <a:r>
              <a:rPr lang="en-US" altLang="zh-CN" sz="2400" b="0" dirty="0">
                <a:solidFill>
                  <a:schemeClr val="tx1"/>
                </a:solidFill>
                <a:ea typeface="黑体" panose="02010609060101010101" pitchFamily="49" charset="-122"/>
                <a:sym typeface="Symbol" panose="05050102010706020507" pitchFamily="18" charset="2"/>
              </a:rPr>
              <a:t></a:t>
            </a:r>
            <a:r>
              <a:rPr lang="en-US" altLang="zh-CN" sz="2400" b="0" i="0" dirty="0">
                <a:solidFill>
                  <a:schemeClr val="tx1"/>
                </a:solidFill>
                <a:ea typeface="黑体" panose="02010609060101010101" pitchFamily="49" charset="-122"/>
              </a:rPr>
              <a:t>]=50MPa</a:t>
            </a:r>
            <a:r>
              <a:rPr lang="zh-CN" altLang="en-US" sz="2400" i="0" dirty="0">
                <a:solidFill>
                  <a:schemeClr val="tx1"/>
                </a:solidFill>
                <a:ea typeface="黑体" panose="02010609060101010101" pitchFamily="49" charset="-122"/>
              </a:rPr>
              <a:t>，试校核该活塞杆的强度。</a:t>
            </a:r>
            <a:r>
              <a:rPr lang="zh-CN" altLang="en-US" sz="2400" i="0" dirty="0"/>
              <a:t> </a:t>
            </a:r>
            <a:endParaRPr lang="zh-CN" altLang="en-US" i="0" dirty="0">
              <a:solidFill>
                <a:schemeClr val="tx1"/>
              </a:solidFill>
              <a:ea typeface="黑体" panose="02010609060101010101" pitchFamily="49" charset="-122"/>
              <a:cs typeface="Times New Roman" panose="02020603050405020304" pitchFamily="18" charset="0"/>
            </a:endParaRPr>
          </a:p>
        </p:txBody>
      </p:sp>
      <p:sp>
        <p:nvSpPr>
          <p:cNvPr id="136" name="矩形 135">
            <a:extLst>
              <a:ext uri="{FF2B5EF4-FFF2-40B4-BE49-F238E27FC236}">
                <a16:creationId xmlns:a16="http://schemas.microsoft.com/office/drawing/2014/main" id="{396E3A4E-3DCE-51D1-DE56-78AC0CFE008B}"/>
              </a:ext>
            </a:extLst>
          </p:cNvPr>
          <p:cNvSpPr/>
          <p:nvPr/>
        </p:nvSpPr>
        <p:spPr>
          <a:xfrm>
            <a:off x="551383" y="2603988"/>
            <a:ext cx="6585628" cy="493148"/>
          </a:xfrm>
          <a:prstGeom prst="rect">
            <a:avLst/>
          </a:prstGeom>
        </p:spPr>
        <p:txBody>
          <a:bodyPr wrap="square">
            <a:spAutoFit/>
          </a:bodyPr>
          <a:lstStyle/>
          <a:p>
            <a:pPr lvl="0" eaLnBrk="0" hangingPunct="0">
              <a:lnSpc>
                <a:spcPct val="120000"/>
              </a:lnSpc>
            </a:pPr>
            <a:r>
              <a:rPr lang="zh-CN" altLang="en-US" i="0" dirty="0">
                <a:solidFill>
                  <a:srgbClr val="0033CC"/>
                </a:solidFill>
                <a:ea typeface="黑体" panose="02010609060101010101" pitchFamily="49" charset="-122"/>
              </a:rPr>
              <a:t>解  </a:t>
            </a:r>
            <a:r>
              <a:rPr kumimoji="1" lang="en-US" altLang="zh-CN" i="0" dirty="0">
                <a:solidFill>
                  <a:schemeClr val="tx1"/>
                </a:solidFill>
                <a:ea typeface="黑体" panose="02010609060101010101" pitchFamily="49" charset="-122"/>
              </a:rPr>
              <a:t>1</a:t>
            </a:r>
            <a:r>
              <a:rPr kumimoji="1" lang="zh-CN" altLang="en-US" i="0" dirty="0">
                <a:solidFill>
                  <a:schemeClr val="tx1"/>
                </a:solidFill>
                <a:ea typeface="黑体" panose="02010609060101010101" pitchFamily="49" charset="-122"/>
              </a:rPr>
              <a:t>）</a:t>
            </a:r>
            <a:r>
              <a:rPr lang="zh-CN" altLang="en-US" i="0" dirty="0">
                <a:solidFill>
                  <a:schemeClr val="tx1"/>
                </a:solidFill>
                <a:latin typeface="+mn-lt"/>
                <a:ea typeface="黑体" panose="02010609060101010101" pitchFamily="49" charset="-122"/>
              </a:rPr>
              <a:t>求活塞杆的拉力</a:t>
            </a:r>
            <a:endParaRPr kumimoji="1" lang="zh-CN" altLang="en-US" sz="2400" i="0" u="none" strike="noStrike" kern="1200" cap="none" spc="0" normalizeH="0" baseline="0" noProof="0" dirty="0">
              <a:ln>
                <a:noFill/>
              </a:ln>
              <a:solidFill>
                <a:schemeClr val="tx1"/>
              </a:solidFill>
              <a:effectLst/>
              <a:uLnTx/>
              <a:uFillTx/>
              <a:latin typeface="+mn-lt"/>
              <a:ea typeface="黑体" panose="02010609060101010101" pitchFamily="49" charset="-122"/>
            </a:endParaRPr>
          </a:p>
        </p:txBody>
      </p:sp>
      <p:sp>
        <p:nvSpPr>
          <p:cNvPr id="2" name="Rectangle 61">
            <a:extLst>
              <a:ext uri="{FF2B5EF4-FFF2-40B4-BE49-F238E27FC236}">
                <a16:creationId xmlns:a16="http://schemas.microsoft.com/office/drawing/2014/main" id="{E746119E-2B09-2980-E8E2-5F100493CF6E}"/>
              </a:ext>
            </a:extLst>
          </p:cNvPr>
          <p:cNvSpPr>
            <a:spLocks noChangeArrowheads="1"/>
          </p:cNvSpPr>
          <p:nvPr/>
        </p:nvSpPr>
        <p:spPr bwMode="auto">
          <a:xfrm>
            <a:off x="6600056" y="950238"/>
            <a:ext cx="5544616" cy="2063326"/>
          </a:xfrm>
          <a:prstGeom prst="rect">
            <a:avLst/>
          </a:prstGeom>
          <a:solidFill>
            <a:srgbClr val="B9CDE5"/>
          </a:solidFill>
          <a:ln>
            <a:noFill/>
          </a:ln>
          <a:effectLst/>
        </p:spPr>
        <p:txBody>
          <a:bodyPr wrap="none" anchor="ctr"/>
          <a:lstStyle/>
          <a:p>
            <a:endParaRPr lang="zh-CN" altLang="en-US" dirty="0"/>
          </a:p>
        </p:txBody>
      </p:sp>
      <p:sp>
        <p:nvSpPr>
          <p:cNvPr id="263" name="矩形 262">
            <a:extLst>
              <a:ext uri="{FF2B5EF4-FFF2-40B4-BE49-F238E27FC236}">
                <a16:creationId xmlns:a16="http://schemas.microsoft.com/office/drawing/2014/main" id="{869757DD-0866-5287-A0EC-2DBC9D2AE5A6}"/>
              </a:ext>
            </a:extLst>
          </p:cNvPr>
          <p:cNvSpPr/>
          <p:nvPr/>
        </p:nvSpPr>
        <p:spPr>
          <a:xfrm>
            <a:off x="551383" y="5235087"/>
            <a:ext cx="6585628" cy="493148"/>
          </a:xfrm>
          <a:prstGeom prst="rect">
            <a:avLst/>
          </a:prstGeom>
        </p:spPr>
        <p:txBody>
          <a:bodyPr wrap="square">
            <a:spAutoFit/>
          </a:bodyPr>
          <a:lstStyle/>
          <a:p>
            <a:pPr lvl="0" eaLnBrk="0" hangingPunct="0">
              <a:lnSpc>
                <a:spcPct val="120000"/>
              </a:lnSpc>
            </a:pPr>
            <a:r>
              <a:rPr lang="zh-CN" altLang="en-US" i="0" dirty="0">
                <a:solidFill>
                  <a:srgbClr val="0033CC"/>
                </a:solidFill>
                <a:ea typeface="黑体" panose="02010609060101010101" pitchFamily="49" charset="-122"/>
              </a:rPr>
              <a:t>     </a:t>
            </a:r>
            <a:r>
              <a:rPr kumimoji="1" lang="en-US" altLang="zh-CN" i="0" dirty="0">
                <a:solidFill>
                  <a:schemeClr val="tx1"/>
                </a:solidFill>
                <a:ea typeface="黑体" panose="02010609060101010101" pitchFamily="49" charset="-122"/>
              </a:rPr>
              <a:t>2</a:t>
            </a:r>
            <a:r>
              <a:rPr kumimoji="1" lang="zh-CN" altLang="en-US" i="0" dirty="0">
                <a:solidFill>
                  <a:schemeClr val="tx1"/>
                </a:solidFill>
                <a:ea typeface="黑体" panose="02010609060101010101" pitchFamily="49" charset="-122"/>
              </a:rPr>
              <a:t>）校核强度</a:t>
            </a:r>
            <a:endParaRPr lang="zh-CN" altLang="en-US" i="0" dirty="0">
              <a:solidFill>
                <a:schemeClr val="tx1"/>
              </a:solidFill>
              <a:latin typeface="+mn-lt"/>
              <a:ea typeface="黑体" panose="02010609060101010101" pitchFamily="49" charset="-122"/>
            </a:endParaRPr>
          </a:p>
        </p:txBody>
      </p:sp>
      <p:grpSp>
        <p:nvGrpSpPr>
          <p:cNvPr id="29" name="Group 88">
            <a:extLst>
              <a:ext uri="{FF2B5EF4-FFF2-40B4-BE49-F238E27FC236}">
                <a16:creationId xmlns:a16="http://schemas.microsoft.com/office/drawing/2014/main" id="{4222BD70-17A0-7F18-E901-1B1D4EEF28AF}"/>
              </a:ext>
            </a:extLst>
          </p:cNvPr>
          <p:cNvGrpSpPr>
            <a:grpSpLocks/>
          </p:cNvGrpSpPr>
          <p:nvPr/>
        </p:nvGrpSpPr>
        <p:grpSpPr bwMode="auto">
          <a:xfrm>
            <a:off x="6766845" y="1224450"/>
            <a:ext cx="5291138" cy="1789113"/>
            <a:chOff x="858" y="501"/>
            <a:chExt cx="3333" cy="1127"/>
          </a:xfrm>
        </p:grpSpPr>
        <p:sp>
          <p:nvSpPr>
            <p:cNvPr id="30" name="Rectangle 2">
              <a:extLst>
                <a:ext uri="{FF2B5EF4-FFF2-40B4-BE49-F238E27FC236}">
                  <a16:creationId xmlns:a16="http://schemas.microsoft.com/office/drawing/2014/main" id="{40797F54-9A3E-AC83-6D39-FB69B4DFA109}"/>
                </a:ext>
              </a:extLst>
            </p:cNvPr>
            <p:cNvSpPr>
              <a:spLocks noChangeAspect="1" noChangeArrowheads="1"/>
            </p:cNvSpPr>
            <p:nvPr/>
          </p:nvSpPr>
          <p:spPr bwMode="auto">
            <a:xfrm>
              <a:off x="858" y="525"/>
              <a:ext cx="3319" cy="1103"/>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FF"/>
                </a:solidFill>
                <a:effectLst/>
                <a:uLnTx/>
                <a:uFillTx/>
                <a:latin typeface="Times New Roman" panose="02020603050405020304" pitchFamily="18" charset="0"/>
                <a:ea typeface="黑体" panose="02010609060101010101" pitchFamily="49" charset="-122"/>
              </a:endParaRPr>
            </a:p>
          </p:txBody>
        </p:sp>
        <p:grpSp>
          <p:nvGrpSpPr>
            <p:cNvPr id="31" name="Group 87">
              <a:extLst>
                <a:ext uri="{FF2B5EF4-FFF2-40B4-BE49-F238E27FC236}">
                  <a16:creationId xmlns:a16="http://schemas.microsoft.com/office/drawing/2014/main" id="{38983031-EE31-DD33-D66F-E201CECC08EB}"/>
                </a:ext>
              </a:extLst>
            </p:cNvPr>
            <p:cNvGrpSpPr>
              <a:grpSpLocks/>
            </p:cNvGrpSpPr>
            <p:nvPr/>
          </p:nvGrpSpPr>
          <p:grpSpPr bwMode="auto">
            <a:xfrm>
              <a:off x="870" y="501"/>
              <a:ext cx="3321" cy="1096"/>
              <a:chOff x="870" y="501"/>
              <a:chExt cx="3321" cy="1096"/>
            </a:xfrm>
          </p:grpSpPr>
          <p:sp>
            <p:nvSpPr>
              <p:cNvPr id="229" name="Freeform 84">
                <a:extLst>
                  <a:ext uri="{FF2B5EF4-FFF2-40B4-BE49-F238E27FC236}">
                    <a16:creationId xmlns:a16="http://schemas.microsoft.com/office/drawing/2014/main" id="{6379855E-5C8E-ACA0-BCA5-D704D86A79AF}"/>
                  </a:ext>
                </a:extLst>
              </p:cNvPr>
              <p:cNvSpPr>
                <a:spLocks/>
              </p:cNvSpPr>
              <p:nvPr/>
            </p:nvSpPr>
            <p:spPr bwMode="auto">
              <a:xfrm>
                <a:off x="2340" y="903"/>
                <a:ext cx="609" cy="303"/>
              </a:xfrm>
              <a:custGeom>
                <a:avLst/>
                <a:gdLst>
                  <a:gd name="T0" fmla="*/ 0 w 609"/>
                  <a:gd name="T1" fmla="*/ 6 h 303"/>
                  <a:gd name="T2" fmla="*/ 603 w 609"/>
                  <a:gd name="T3" fmla="*/ 0 h 303"/>
                  <a:gd name="T4" fmla="*/ 609 w 609"/>
                  <a:gd name="T5" fmla="*/ 303 h 303"/>
                  <a:gd name="T6" fmla="*/ 3 w 609"/>
                  <a:gd name="T7" fmla="*/ 285 h 303"/>
                  <a:gd name="T8" fmla="*/ 0 w 609"/>
                  <a:gd name="T9" fmla="*/ 6 h 303"/>
                  <a:gd name="T10" fmla="*/ 0 60000 65536"/>
                  <a:gd name="T11" fmla="*/ 0 60000 65536"/>
                  <a:gd name="T12" fmla="*/ 0 60000 65536"/>
                  <a:gd name="T13" fmla="*/ 0 60000 65536"/>
                  <a:gd name="T14" fmla="*/ 0 60000 65536"/>
                  <a:gd name="T15" fmla="*/ 0 w 609"/>
                  <a:gd name="T16" fmla="*/ 0 h 303"/>
                  <a:gd name="T17" fmla="*/ 609 w 609"/>
                  <a:gd name="T18" fmla="*/ 303 h 303"/>
                </a:gdLst>
                <a:ahLst/>
                <a:cxnLst>
                  <a:cxn ang="T10">
                    <a:pos x="T0" y="T1"/>
                  </a:cxn>
                  <a:cxn ang="T11">
                    <a:pos x="T2" y="T3"/>
                  </a:cxn>
                  <a:cxn ang="T12">
                    <a:pos x="T4" y="T5"/>
                  </a:cxn>
                  <a:cxn ang="T13">
                    <a:pos x="T6" y="T7"/>
                  </a:cxn>
                  <a:cxn ang="T14">
                    <a:pos x="T8" y="T9"/>
                  </a:cxn>
                </a:cxnLst>
                <a:rect l="T15" t="T16" r="T17" b="T18"/>
                <a:pathLst>
                  <a:path w="609" h="303">
                    <a:moveTo>
                      <a:pt x="0" y="6"/>
                    </a:moveTo>
                    <a:lnTo>
                      <a:pt x="603" y="0"/>
                    </a:lnTo>
                    <a:lnTo>
                      <a:pt x="609" y="303"/>
                    </a:lnTo>
                    <a:lnTo>
                      <a:pt x="3" y="285"/>
                    </a:lnTo>
                    <a:lnTo>
                      <a:pt x="0" y="6"/>
                    </a:lnTo>
                    <a:close/>
                  </a:path>
                </a:pathLst>
              </a:custGeom>
              <a:gradFill rotWithShape="1">
                <a:gsLst>
                  <a:gs pos="0">
                    <a:srgbClr val="A3FFD1"/>
                  </a:gs>
                  <a:gs pos="50000">
                    <a:srgbClr val="EAFFF5"/>
                  </a:gs>
                  <a:gs pos="100000">
                    <a:srgbClr val="A3FFD1"/>
                  </a:gs>
                </a:gsLst>
                <a:lin ang="54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FF"/>
                  </a:solidFill>
                  <a:effectLst/>
                  <a:uLnTx/>
                  <a:uFillTx/>
                  <a:ea typeface="黑体" panose="02010609060101010101" pitchFamily="49" charset="-122"/>
                </a:endParaRPr>
              </a:p>
            </p:txBody>
          </p:sp>
          <p:sp>
            <p:nvSpPr>
              <p:cNvPr id="230" name="Freeform 83">
                <a:extLst>
                  <a:ext uri="{FF2B5EF4-FFF2-40B4-BE49-F238E27FC236}">
                    <a16:creationId xmlns:a16="http://schemas.microsoft.com/office/drawing/2014/main" id="{7E8C276A-75A6-120F-84CF-22EC0C06E8BA}"/>
                  </a:ext>
                </a:extLst>
              </p:cNvPr>
              <p:cNvSpPr>
                <a:spLocks/>
              </p:cNvSpPr>
              <p:nvPr/>
            </p:nvSpPr>
            <p:spPr bwMode="auto">
              <a:xfrm>
                <a:off x="1647" y="879"/>
                <a:ext cx="1317" cy="354"/>
              </a:xfrm>
              <a:custGeom>
                <a:avLst/>
                <a:gdLst>
                  <a:gd name="T0" fmla="*/ 9 w 1317"/>
                  <a:gd name="T1" fmla="*/ 0 h 354"/>
                  <a:gd name="T2" fmla="*/ 1317 w 1317"/>
                  <a:gd name="T3" fmla="*/ 0 h 354"/>
                  <a:gd name="T4" fmla="*/ 1296 w 1317"/>
                  <a:gd name="T5" fmla="*/ 24 h 354"/>
                  <a:gd name="T6" fmla="*/ 465 w 1317"/>
                  <a:gd name="T7" fmla="*/ 33 h 354"/>
                  <a:gd name="T8" fmla="*/ 447 w 1317"/>
                  <a:gd name="T9" fmla="*/ 114 h 354"/>
                  <a:gd name="T10" fmla="*/ 453 w 1317"/>
                  <a:gd name="T11" fmla="*/ 135 h 354"/>
                  <a:gd name="T12" fmla="*/ 468 w 1317"/>
                  <a:gd name="T13" fmla="*/ 312 h 354"/>
                  <a:gd name="T14" fmla="*/ 1296 w 1317"/>
                  <a:gd name="T15" fmla="*/ 319 h 354"/>
                  <a:gd name="T16" fmla="*/ 1296 w 1317"/>
                  <a:gd name="T17" fmla="*/ 354 h 354"/>
                  <a:gd name="T18" fmla="*/ 0 w 1317"/>
                  <a:gd name="T19" fmla="*/ 354 h 354"/>
                  <a:gd name="T20" fmla="*/ 9 w 1317"/>
                  <a:gd name="T21" fmla="*/ 0 h 35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317"/>
                  <a:gd name="T34" fmla="*/ 0 h 354"/>
                  <a:gd name="T35" fmla="*/ 1317 w 1317"/>
                  <a:gd name="T36" fmla="*/ 354 h 35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317" h="354">
                    <a:moveTo>
                      <a:pt x="9" y="0"/>
                    </a:moveTo>
                    <a:lnTo>
                      <a:pt x="1317" y="0"/>
                    </a:lnTo>
                    <a:lnTo>
                      <a:pt x="1296" y="24"/>
                    </a:lnTo>
                    <a:lnTo>
                      <a:pt x="465" y="33"/>
                    </a:lnTo>
                    <a:cubicBezTo>
                      <a:pt x="462" y="58"/>
                      <a:pt x="450" y="89"/>
                      <a:pt x="447" y="114"/>
                    </a:cubicBezTo>
                    <a:cubicBezTo>
                      <a:pt x="446" y="120"/>
                      <a:pt x="453" y="135"/>
                      <a:pt x="453" y="135"/>
                    </a:cubicBezTo>
                    <a:cubicBezTo>
                      <a:pt x="456" y="196"/>
                      <a:pt x="456" y="198"/>
                      <a:pt x="468" y="312"/>
                    </a:cubicBezTo>
                    <a:cubicBezTo>
                      <a:pt x="882" y="315"/>
                      <a:pt x="1296" y="319"/>
                      <a:pt x="1296" y="319"/>
                    </a:cubicBezTo>
                    <a:lnTo>
                      <a:pt x="1296" y="354"/>
                    </a:lnTo>
                    <a:lnTo>
                      <a:pt x="0" y="354"/>
                    </a:lnTo>
                    <a:lnTo>
                      <a:pt x="9" y="0"/>
                    </a:lnTo>
                    <a:close/>
                  </a:path>
                </a:pathLst>
              </a:custGeom>
              <a:gradFill rotWithShape="1">
                <a:gsLst>
                  <a:gs pos="0">
                    <a:srgbClr val="FF6600"/>
                  </a:gs>
                  <a:gs pos="50000">
                    <a:srgbClr val="FFFF00"/>
                  </a:gs>
                  <a:gs pos="100000">
                    <a:srgbClr val="FF6600"/>
                  </a:gs>
                </a:gsLst>
                <a:lin ang="540000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FF"/>
                  </a:solidFill>
                  <a:effectLst/>
                  <a:uLnTx/>
                  <a:uFillTx/>
                  <a:ea typeface="黑体" panose="02010609060101010101" pitchFamily="49" charset="-122"/>
                </a:endParaRPr>
              </a:p>
            </p:txBody>
          </p:sp>
          <p:sp>
            <p:nvSpPr>
              <p:cNvPr id="231" name="Freeform 81">
                <a:extLst>
                  <a:ext uri="{FF2B5EF4-FFF2-40B4-BE49-F238E27FC236}">
                    <a16:creationId xmlns:a16="http://schemas.microsoft.com/office/drawing/2014/main" id="{985E482A-DD97-AB1D-A92D-9F26F0A34614}"/>
                  </a:ext>
                </a:extLst>
              </p:cNvPr>
              <p:cNvSpPr>
                <a:spLocks/>
              </p:cNvSpPr>
              <p:nvPr/>
            </p:nvSpPr>
            <p:spPr bwMode="auto">
              <a:xfrm>
                <a:off x="2916" y="882"/>
                <a:ext cx="363" cy="351"/>
              </a:xfrm>
              <a:custGeom>
                <a:avLst/>
                <a:gdLst>
                  <a:gd name="T0" fmla="*/ 12 w 363"/>
                  <a:gd name="T1" fmla="*/ 348 h 351"/>
                  <a:gd name="T2" fmla="*/ 9 w 363"/>
                  <a:gd name="T3" fmla="*/ 258 h 351"/>
                  <a:gd name="T4" fmla="*/ 0 w 363"/>
                  <a:gd name="T5" fmla="*/ 213 h 351"/>
                  <a:gd name="T6" fmla="*/ 3 w 363"/>
                  <a:gd name="T7" fmla="*/ 84 h 351"/>
                  <a:gd name="T8" fmla="*/ 18 w 363"/>
                  <a:gd name="T9" fmla="*/ 57 h 351"/>
                  <a:gd name="T10" fmla="*/ 30 w 363"/>
                  <a:gd name="T11" fmla="*/ 0 h 351"/>
                  <a:gd name="T12" fmla="*/ 363 w 363"/>
                  <a:gd name="T13" fmla="*/ 0 h 351"/>
                  <a:gd name="T14" fmla="*/ 363 w 363"/>
                  <a:gd name="T15" fmla="*/ 351 h 351"/>
                  <a:gd name="T16" fmla="*/ 12 w 363"/>
                  <a:gd name="T17" fmla="*/ 348 h 35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63"/>
                  <a:gd name="T28" fmla="*/ 0 h 351"/>
                  <a:gd name="T29" fmla="*/ 363 w 363"/>
                  <a:gd name="T30" fmla="*/ 351 h 35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63" h="351">
                    <a:moveTo>
                      <a:pt x="12" y="348"/>
                    </a:moveTo>
                    <a:cubicBezTo>
                      <a:pt x="11" y="320"/>
                      <a:pt x="11" y="286"/>
                      <a:pt x="9" y="258"/>
                    </a:cubicBezTo>
                    <a:cubicBezTo>
                      <a:pt x="8" y="243"/>
                      <a:pt x="0" y="213"/>
                      <a:pt x="0" y="213"/>
                    </a:cubicBezTo>
                    <a:cubicBezTo>
                      <a:pt x="1" y="170"/>
                      <a:pt x="1" y="127"/>
                      <a:pt x="3" y="84"/>
                    </a:cubicBezTo>
                    <a:cubicBezTo>
                      <a:pt x="3" y="74"/>
                      <a:pt x="18" y="57"/>
                      <a:pt x="18" y="57"/>
                    </a:cubicBezTo>
                    <a:cubicBezTo>
                      <a:pt x="20" y="28"/>
                      <a:pt x="13" y="17"/>
                      <a:pt x="30" y="0"/>
                    </a:cubicBezTo>
                    <a:lnTo>
                      <a:pt x="363" y="0"/>
                    </a:lnTo>
                    <a:lnTo>
                      <a:pt x="363" y="351"/>
                    </a:lnTo>
                    <a:lnTo>
                      <a:pt x="12" y="348"/>
                    </a:lnTo>
                    <a:close/>
                  </a:path>
                </a:pathLst>
              </a:custGeom>
              <a:gradFill rotWithShape="1">
                <a:gsLst>
                  <a:gs pos="0">
                    <a:srgbClr val="FF6600"/>
                  </a:gs>
                  <a:gs pos="50000">
                    <a:srgbClr val="FFFF00"/>
                  </a:gs>
                  <a:gs pos="100000">
                    <a:srgbClr val="FF6600"/>
                  </a:gs>
                </a:gsLst>
                <a:lin ang="540000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FF"/>
                  </a:solidFill>
                  <a:effectLst/>
                  <a:uLnTx/>
                  <a:uFillTx/>
                  <a:ea typeface="黑体" panose="02010609060101010101" pitchFamily="49" charset="-122"/>
                </a:endParaRPr>
              </a:p>
            </p:txBody>
          </p:sp>
          <p:sp>
            <p:nvSpPr>
              <p:cNvPr id="232" name="Rectangle 78">
                <a:extLst>
                  <a:ext uri="{FF2B5EF4-FFF2-40B4-BE49-F238E27FC236}">
                    <a16:creationId xmlns:a16="http://schemas.microsoft.com/office/drawing/2014/main" id="{A5A50DFB-2B10-3253-8B6E-3E33F5C01260}"/>
                  </a:ext>
                </a:extLst>
              </p:cNvPr>
              <p:cNvSpPr>
                <a:spLocks noChangeArrowheads="1"/>
              </p:cNvSpPr>
              <p:nvPr/>
            </p:nvSpPr>
            <p:spPr bwMode="auto">
              <a:xfrm>
                <a:off x="2351" y="1028"/>
                <a:ext cx="570" cy="65"/>
              </a:xfrm>
              <a:prstGeom prst="rect">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9525">
                <a:noFill/>
                <a:miter lim="800000"/>
                <a:headEnd/>
                <a:tailEnd/>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FF"/>
                  </a:solidFill>
                  <a:effectLst/>
                  <a:uLnTx/>
                  <a:uFillTx/>
                  <a:ea typeface="黑体" pitchFamily="2" charset="-122"/>
                </a:endParaRPr>
              </a:p>
            </p:txBody>
          </p:sp>
          <p:sp>
            <p:nvSpPr>
              <p:cNvPr id="233" name="Rectangle 79">
                <a:extLst>
                  <a:ext uri="{FF2B5EF4-FFF2-40B4-BE49-F238E27FC236}">
                    <a16:creationId xmlns:a16="http://schemas.microsoft.com/office/drawing/2014/main" id="{776B93D7-3F6F-559B-2E98-3B455B63148C}"/>
                  </a:ext>
                </a:extLst>
              </p:cNvPr>
              <p:cNvSpPr>
                <a:spLocks noChangeArrowheads="1"/>
              </p:cNvSpPr>
              <p:nvPr/>
            </p:nvSpPr>
            <p:spPr bwMode="auto">
              <a:xfrm>
                <a:off x="3561" y="1020"/>
                <a:ext cx="228" cy="65"/>
              </a:xfrm>
              <a:prstGeom prst="rect">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9525">
                <a:noFill/>
                <a:miter lim="800000"/>
                <a:headEnd/>
                <a:tailEnd/>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FF"/>
                  </a:solidFill>
                  <a:effectLst/>
                  <a:uLnTx/>
                  <a:uFillTx/>
                  <a:ea typeface="黑体" pitchFamily="2" charset="-122"/>
                </a:endParaRPr>
              </a:p>
            </p:txBody>
          </p:sp>
          <p:sp>
            <p:nvSpPr>
              <p:cNvPr id="234" name="Rectangle 80">
                <a:extLst>
                  <a:ext uri="{FF2B5EF4-FFF2-40B4-BE49-F238E27FC236}">
                    <a16:creationId xmlns:a16="http://schemas.microsoft.com/office/drawing/2014/main" id="{ED2A1EB5-6815-C76C-3752-8DD37C9DBAA9}"/>
                  </a:ext>
                </a:extLst>
              </p:cNvPr>
              <p:cNvSpPr>
                <a:spLocks noChangeArrowheads="1"/>
              </p:cNvSpPr>
              <p:nvPr/>
            </p:nvSpPr>
            <p:spPr bwMode="auto">
              <a:xfrm>
                <a:off x="2268" y="915"/>
                <a:ext cx="72" cy="266"/>
              </a:xfrm>
              <a:prstGeom prst="rect">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9525">
                <a:noFill/>
                <a:miter lim="800000"/>
                <a:headEnd/>
                <a:tailEnd/>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FF"/>
                  </a:solidFill>
                  <a:effectLst/>
                  <a:uLnTx/>
                  <a:uFillTx/>
                  <a:ea typeface="黑体" pitchFamily="2" charset="-122"/>
                </a:endParaRPr>
              </a:p>
            </p:txBody>
          </p:sp>
          <p:sp>
            <p:nvSpPr>
              <p:cNvPr id="235" name="Freeform 77">
                <a:extLst>
                  <a:ext uri="{FF2B5EF4-FFF2-40B4-BE49-F238E27FC236}">
                    <a16:creationId xmlns:a16="http://schemas.microsoft.com/office/drawing/2014/main" id="{83F324D8-EAEB-DDDF-2115-3DBF3DA2D0CD}"/>
                  </a:ext>
                </a:extLst>
              </p:cNvPr>
              <p:cNvSpPr>
                <a:spLocks/>
              </p:cNvSpPr>
              <p:nvPr/>
            </p:nvSpPr>
            <p:spPr bwMode="auto">
              <a:xfrm>
                <a:off x="3466" y="1327"/>
                <a:ext cx="94" cy="151"/>
              </a:xfrm>
              <a:custGeom>
                <a:avLst/>
                <a:gdLst/>
                <a:ahLst/>
                <a:cxnLst>
                  <a:cxn ang="0">
                    <a:pos x="0" y="0"/>
                  </a:cxn>
                  <a:cxn ang="0">
                    <a:pos x="34" y="1"/>
                  </a:cxn>
                  <a:cxn ang="0">
                    <a:pos x="46" y="33"/>
                  </a:cxn>
                  <a:cxn ang="0">
                    <a:pos x="94" y="33"/>
                  </a:cxn>
                  <a:cxn ang="0">
                    <a:pos x="94" y="121"/>
                  </a:cxn>
                  <a:cxn ang="0">
                    <a:pos x="40" y="119"/>
                  </a:cxn>
                  <a:cxn ang="0">
                    <a:pos x="38" y="151"/>
                  </a:cxn>
                  <a:cxn ang="0">
                    <a:pos x="3" y="150"/>
                  </a:cxn>
                  <a:cxn ang="0">
                    <a:pos x="0" y="0"/>
                  </a:cxn>
                </a:cxnLst>
                <a:rect l="0" t="0" r="r" b="b"/>
                <a:pathLst>
                  <a:path w="94" h="151">
                    <a:moveTo>
                      <a:pt x="0" y="0"/>
                    </a:moveTo>
                    <a:lnTo>
                      <a:pt x="34" y="1"/>
                    </a:lnTo>
                    <a:lnTo>
                      <a:pt x="46" y="33"/>
                    </a:lnTo>
                    <a:lnTo>
                      <a:pt x="94" y="33"/>
                    </a:lnTo>
                    <a:lnTo>
                      <a:pt x="94" y="121"/>
                    </a:lnTo>
                    <a:lnTo>
                      <a:pt x="40" y="119"/>
                    </a:lnTo>
                    <a:lnTo>
                      <a:pt x="38" y="151"/>
                    </a:lnTo>
                    <a:lnTo>
                      <a:pt x="3" y="150"/>
                    </a:lnTo>
                    <a:lnTo>
                      <a:pt x="0" y="0"/>
                    </a:lnTo>
                    <a:close/>
                  </a:path>
                </a:pathLst>
              </a:custGeom>
              <a:gradFill rotWithShape="1">
                <a:gsLst>
                  <a:gs pos="0">
                    <a:srgbClr val="FFFFFF">
                      <a:gamma/>
                      <a:shade val="46275"/>
                      <a:invGamma/>
                    </a:srgbClr>
                  </a:gs>
                  <a:gs pos="50000">
                    <a:srgbClr val="FFFFFF"/>
                  </a:gs>
                  <a:gs pos="100000">
                    <a:srgbClr val="FFFFFF">
                      <a:gamma/>
                      <a:shade val="46275"/>
                      <a:invGamma/>
                    </a:srgbClr>
                  </a:gs>
                </a:gsLst>
                <a:lin ang="5400000" scaled="1"/>
              </a:gradFill>
              <a:ln w="9525" cap="flat" cmpd="sng">
                <a:noFill/>
                <a:prstDash val="solid"/>
                <a:round/>
                <a:headEnd/>
                <a:tailEnd/>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FF"/>
                  </a:solidFill>
                  <a:effectLst/>
                  <a:uLnTx/>
                  <a:uFillTx/>
                  <a:ea typeface="黑体" pitchFamily="2" charset="-122"/>
                </a:endParaRPr>
              </a:p>
            </p:txBody>
          </p:sp>
          <p:sp>
            <p:nvSpPr>
              <p:cNvPr id="236" name="Freeform 76">
                <a:extLst>
                  <a:ext uri="{FF2B5EF4-FFF2-40B4-BE49-F238E27FC236}">
                    <a16:creationId xmlns:a16="http://schemas.microsoft.com/office/drawing/2014/main" id="{4422F054-25EE-A1EB-087C-043291CA274B}"/>
                  </a:ext>
                </a:extLst>
              </p:cNvPr>
              <p:cNvSpPr>
                <a:spLocks/>
              </p:cNvSpPr>
              <p:nvPr/>
            </p:nvSpPr>
            <p:spPr bwMode="auto">
              <a:xfrm>
                <a:off x="3468" y="651"/>
                <a:ext cx="94" cy="151"/>
              </a:xfrm>
              <a:custGeom>
                <a:avLst/>
                <a:gdLst/>
                <a:ahLst/>
                <a:cxnLst>
                  <a:cxn ang="0">
                    <a:pos x="0" y="0"/>
                  </a:cxn>
                  <a:cxn ang="0">
                    <a:pos x="34" y="1"/>
                  </a:cxn>
                  <a:cxn ang="0">
                    <a:pos x="46" y="33"/>
                  </a:cxn>
                  <a:cxn ang="0">
                    <a:pos x="94" y="33"/>
                  </a:cxn>
                  <a:cxn ang="0">
                    <a:pos x="94" y="121"/>
                  </a:cxn>
                  <a:cxn ang="0">
                    <a:pos x="40" y="119"/>
                  </a:cxn>
                  <a:cxn ang="0">
                    <a:pos x="38" y="151"/>
                  </a:cxn>
                  <a:cxn ang="0">
                    <a:pos x="3" y="150"/>
                  </a:cxn>
                  <a:cxn ang="0">
                    <a:pos x="0" y="0"/>
                  </a:cxn>
                </a:cxnLst>
                <a:rect l="0" t="0" r="r" b="b"/>
                <a:pathLst>
                  <a:path w="94" h="151">
                    <a:moveTo>
                      <a:pt x="0" y="0"/>
                    </a:moveTo>
                    <a:lnTo>
                      <a:pt x="34" y="1"/>
                    </a:lnTo>
                    <a:lnTo>
                      <a:pt x="46" y="33"/>
                    </a:lnTo>
                    <a:lnTo>
                      <a:pt x="94" y="33"/>
                    </a:lnTo>
                    <a:lnTo>
                      <a:pt x="94" y="121"/>
                    </a:lnTo>
                    <a:lnTo>
                      <a:pt x="40" y="119"/>
                    </a:lnTo>
                    <a:lnTo>
                      <a:pt x="38" y="151"/>
                    </a:lnTo>
                    <a:lnTo>
                      <a:pt x="3" y="150"/>
                    </a:lnTo>
                    <a:lnTo>
                      <a:pt x="0" y="0"/>
                    </a:lnTo>
                    <a:close/>
                  </a:path>
                </a:pathLst>
              </a:custGeom>
              <a:gradFill rotWithShape="1">
                <a:gsLst>
                  <a:gs pos="0">
                    <a:srgbClr val="FFFFFF">
                      <a:gamma/>
                      <a:shade val="46275"/>
                      <a:invGamma/>
                    </a:srgbClr>
                  </a:gs>
                  <a:gs pos="50000">
                    <a:srgbClr val="FFFFFF"/>
                  </a:gs>
                  <a:gs pos="100000">
                    <a:srgbClr val="FFFFFF">
                      <a:gamma/>
                      <a:shade val="46275"/>
                      <a:invGamma/>
                    </a:srgbClr>
                  </a:gs>
                </a:gsLst>
                <a:lin ang="5400000" scaled="1"/>
              </a:gradFill>
              <a:ln w="9525" cap="flat" cmpd="sng">
                <a:noFill/>
                <a:prstDash val="solid"/>
                <a:round/>
                <a:headEnd/>
                <a:tailEnd/>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FF"/>
                  </a:solidFill>
                  <a:effectLst/>
                  <a:uLnTx/>
                  <a:uFillTx/>
                  <a:ea typeface="黑体" pitchFamily="2" charset="-122"/>
                </a:endParaRPr>
              </a:p>
            </p:txBody>
          </p:sp>
          <p:sp>
            <p:nvSpPr>
              <p:cNvPr id="237" name="Rectangle 74">
                <a:extLst>
                  <a:ext uri="{FF2B5EF4-FFF2-40B4-BE49-F238E27FC236}">
                    <a16:creationId xmlns:a16="http://schemas.microsoft.com/office/drawing/2014/main" id="{923A3A28-A052-3FD8-537F-13FDBD78B7B1}"/>
                  </a:ext>
                </a:extLst>
              </p:cNvPr>
              <p:cNvSpPr>
                <a:spLocks noChangeArrowheads="1"/>
              </p:cNvSpPr>
              <p:nvPr/>
            </p:nvSpPr>
            <p:spPr bwMode="auto">
              <a:xfrm>
                <a:off x="1636" y="694"/>
                <a:ext cx="1932" cy="59"/>
              </a:xfrm>
              <a:prstGeom prst="rect">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9525">
                <a:noFill/>
                <a:miter lim="800000"/>
                <a:headEnd/>
                <a:tailEnd/>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FF"/>
                  </a:solidFill>
                  <a:effectLst/>
                  <a:uLnTx/>
                  <a:uFillTx/>
                  <a:ea typeface="黑体" pitchFamily="2" charset="-122"/>
                </a:endParaRPr>
              </a:p>
            </p:txBody>
          </p:sp>
          <p:sp>
            <p:nvSpPr>
              <p:cNvPr id="238" name="Rectangle 75">
                <a:extLst>
                  <a:ext uri="{FF2B5EF4-FFF2-40B4-BE49-F238E27FC236}">
                    <a16:creationId xmlns:a16="http://schemas.microsoft.com/office/drawing/2014/main" id="{CFA2EB33-7067-F6AB-A7AB-9DA12F8A01F3}"/>
                  </a:ext>
                </a:extLst>
              </p:cNvPr>
              <p:cNvSpPr>
                <a:spLocks noChangeArrowheads="1"/>
              </p:cNvSpPr>
              <p:nvPr/>
            </p:nvSpPr>
            <p:spPr bwMode="auto">
              <a:xfrm>
                <a:off x="1634" y="1361"/>
                <a:ext cx="1932" cy="59"/>
              </a:xfrm>
              <a:prstGeom prst="rect">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9525">
                <a:noFill/>
                <a:miter lim="800000"/>
                <a:headEnd/>
                <a:tailEnd/>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FF"/>
                  </a:solidFill>
                  <a:effectLst/>
                  <a:uLnTx/>
                  <a:uFillTx/>
                  <a:ea typeface="黑体" pitchFamily="2" charset="-122"/>
                </a:endParaRPr>
              </a:p>
            </p:txBody>
          </p:sp>
          <p:sp>
            <p:nvSpPr>
              <p:cNvPr id="239" name="Freeform 73">
                <a:extLst>
                  <a:ext uri="{FF2B5EF4-FFF2-40B4-BE49-F238E27FC236}">
                    <a16:creationId xmlns:a16="http://schemas.microsoft.com/office/drawing/2014/main" id="{72ECD90B-E7D6-CCD2-80F1-8EAD9E577ADE}"/>
                  </a:ext>
                </a:extLst>
              </p:cNvPr>
              <p:cNvSpPr>
                <a:spLocks/>
              </p:cNvSpPr>
              <p:nvPr/>
            </p:nvSpPr>
            <p:spPr bwMode="auto">
              <a:xfrm>
                <a:off x="3272" y="630"/>
                <a:ext cx="294" cy="886"/>
              </a:xfrm>
              <a:custGeom>
                <a:avLst/>
                <a:gdLst>
                  <a:gd name="T0" fmla="*/ 0 w 294"/>
                  <a:gd name="T1" fmla="*/ 0 h 886"/>
                  <a:gd name="T2" fmla="*/ 188 w 294"/>
                  <a:gd name="T3" fmla="*/ 0 h 886"/>
                  <a:gd name="T4" fmla="*/ 188 w 294"/>
                  <a:gd name="T5" fmla="*/ 254 h 886"/>
                  <a:gd name="T6" fmla="*/ 294 w 294"/>
                  <a:gd name="T7" fmla="*/ 254 h 886"/>
                  <a:gd name="T8" fmla="*/ 294 w 294"/>
                  <a:gd name="T9" fmla="*/ 606 h 886"/>
                  <a:gd name="T10" fmla="*/ 190 w 294"/>
                  <a:gd name="T11" fmla="*/ 606 h 886"/>
                  <a:gd name="T12" fmla="*/ 190 w 294"/>
                  <a:gd name="T13" fmla="*/ 886 h 886"/>
                  <a:gd name="T14" fmla="*/ 8 w 294"/>
                  <a:gd name="T15" fmla="*/ 886 h 886"/>
                  <a:gd name="T16" fmla="*/ 0 w 294"/>
                  <a:gd name="T17" fmla="*/ 0 h 88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94"/>
                  <a:gd name="T28" fmla="*/ 0 h 886"/>
                  <a:gd name="T29" fmla="*/ 294 w 294"/>
                  <a:gd name="T30" fmla="*/ 886 h 88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94" h="886">
                    <a:moveTo>
                      <a:pt x="0" y="0"/>
                    </a:moveTo>
                    <a:lnTo>
                      <a:pt x="188" y="0"/>
                    </a:lnTo>
                    <a:lnTo>
                      <a:pt x="188" y="254"/>
                    </a:lnTo>
                    <a:lnTo>
                      <a:pt x="294" y="254"/>
                    </a:lnTo>
                    <a:lnTo>
                      <a:pt x="294" y="606"/>
                    </a:lnTo>
                    <a:lnTo>
                      <a:pt x="190" y="606"/>
                    </a:lnTo>
                    <a:lnTo>
                      <a:pt x="190" y="886"/>
                    </a:lnTo>
                    <a:lnTo>
                      <a:pt x="8" y="886"/>
                    </a:lnTo>
                    <a:lnTo>
                      <a:pt x="0" y="0"/>
                    </a:lnTo>
                    <a:close/>
                  </a:path>
                </a:pathLst>
              </a:custGeom>
              <a:gradFill rotWithShape="1">
                <a:gsLst>
                  <a:gs pos="0">
                    <a:srgbClr val="FF6600"/>
                  </a:gs>
                  <a:gs pos="50000">
                    <a:srgbClr val="FFFF00"/>
                  </a:gs>
                  <a:gs pos="100000">
                    <a:srgbClr val="FF6600"/>
                  </a:gs>
                </a:gsLst>
                <a:lin ang="540000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FF"/>
                  </a:solidFill>
                  <a:effectLst/>
                  <a:uLnTx/>
                  <a:uFillTx/>
                  <a:ea typeface="黑体" panose="02010609060101010101" pitchFamily="49" charset="-122"/>
                </a:endParaRPr>
              </a:p>
            </p:txBody>
          </p:sp>
          <p:sp>
            <p:nvSpPr>
              <p:cNvPr id="240" name="Rectangle 70">
                <a:extLst>
                  <a:ext uri="{FF2B5EF4-FFF2-40B4-BE49-F238E27FC236}">
                    <a16:creationId xmlns:a16="http://schemas.microsoft.com/office/drawing/2014/main" id="{DA516109-E3A0-F0D6-1026-F6358E40A4AF}"/>
                  </a:ext>
                </a:extLst>
              </p:cNvPr>
              <p:cNvSpPr>
                <a:spLocks noChangeArrowheads="1"/>
              </p:cNvSpPr>
              <p:nvPr/>
            </p:nvSpPr>
            <p:spPr bwMode="auto">
              <a:xfrm>
                <a:off x="870" y="752"/>
                <a:ext cx="132" cy="618"/>
              </a:xfrm>
              <a:prstGeom prst="rect">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FF"/>
                  </a:solidFill>
                  <a:effectLst/>
                  <a:uLnTx/>
                  <a:uFillTx/>
                  <a:latin typeface="Times New Roman" panose="02020603050405020304" pitchFamily="18" charset="0"/>
                  <a:ea typeface="黑体" panose="02010609060101010101" pitchFamily="49" charset="-122"/>
                </a:endParaRPr>
              </a:p>
            </p:txBody>
          </p:sp>
          <p:sp>
            <p:nvSpPr>
              <p:cNvPr id="252" name="Freeform 71">
                <a:extLst>
                  <a:ext uri="{FF2B5EF4-FFF2-40B4-BE49-F238E27FC236}">
                    <a16:creationId xmlns:a16="http://schemas.microsoft.com/office/drawing/2014/main" id="{F8B3A29B-A142-3228-F849-A6AE4F40DC14}"/>
                  </a:ext>
                </a:extLst>
              </p:cNvPr>
              <p:cNvSpPr>
                <a:spLocks/>
              </p:cNvSpPr>
              <p:nvPr/>
            </p:nvSpPr>
            <p:spPr bwMode="auto">
              <a:xfrm>
                <a:off x="1002" y="890"/>
                <a:ext cx="222" cy="348"/>
              </a:xfrm>
              <a:custGeom>
                <a:avLst/>
                <a:gdLst>
                  <a:gd name="T0" fmla="*/ 0 w 222"/>
                  <a:gd name="T1" fmla="*/ 0 h 348"/>
                  <a:gd name="T2" fmla="*/ 222 w 222"/>
                  <a:gd name="T3" fmla="*/ 66 h 348"/>
                  <a:gd name="T4" fmla="*/ 210 w 222"/>
                  <a:gd name="T5" fmla="*/ 258 h 348"/>
                  <a:gd name="T6" fmla="*/ 0 w 222"/>
                  <a:gd name="T7" fmla="*/ 348 h 348"/>
                  <a:gd name="T8" fmla="*/ 0 w 222"/>
                  <a:gd name="T9" fmla="*/ 0 h 348"/>
                  <a:gd name="T10" fmla="*/ 0 60000 65536"/>
                  <a:gd name="T11" fmla="*/ 0 60000 65536"/>
                  <a:gd name="T12" fmla="*/ 0 60000 65536"/>
                  <a:gd name="T13" fmla="*/ 0 60000 65536"/>
                  <a:gd name="T14" fmla="*/ 0 60000 65536"/>
                  <a:gd name="T15" fmla="*/ 0 w 222"/>
                  <a:gd name="T16" fmla="*/ 0 h 348"/>
                  <a:gd name="T17" fmla="*/ 222 w 222"/>
                  <a:gd name="T18" fmla="*/ 348 h 348"/>
                </a:gdLst>
                <a:ahLst/>
                <a:cxnLst>
                  <a:cxn ang="T10">
                    <a:pos x="T0" y="T1"/>
                  </a:cxn>
                  <a:cxn ang="T11">
                    <a:pos x="T2" y="T3"/>
                  </a:cxn>
                  <a:cxn ang="T12">
                    <a:pos x="T4" y="T5"/>
                  </a:cxn>
                  <a:cxn ang="T13">
                    <a:pos x="T6" y="T7"/>
                  </a:cxn>
                  <a:cxn ang="T14">
                    <a:pos x="T8" y="T9"/>
                  </a:cxn>
                </a:cxnLst>
                <a:rect l="T15" t="T16" r="T17" b="T18"/>
                <a:pathLst>
                  <a:path w="222" h="348">
                    <a:moveTo>
                      <a:pt x="0" y="0"/>
                    </a:moveTo>
                    <a:lnTo>
                      <a:pt x="222" y="66"/>
                    </a:lnTo>
                    <a:lnTo>
                      <a:pt x="210" y="258"/>
                    </a:lnTo>
                    <a:lnTo>
                      <a:pt x="0" y="348"/>
                    </a:lnTo>
                    <a:lnTo>
                      <a:pt x="0" y="0"/>
                    </a:lnTo>
                    <a:close/>
                  </a:path>
                </a:pathLst>
              </a:custGeom>
              <a:gradFill rotWithShape="1">
                <a:gsLst>
                  <a:gs pos="0">
                    <a:srgbClr val="007647"/>
                  </a:gs>
                  <a:gs pos="50000">
                    <a:srgbClr val="00FF99"/>
                  </a:gs>
                  <a:gs pos="100000">
                    <a:srgbClr val="007647"/>
                  </a:gs>
                </a:gsLst>
                <a:lin ang="54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FF"/>
                  </a:solidFill>
                  <a:effectLst/>
                  <a:uLnTx/>
                  <a:uFillTx/>
                  <a:ea typeface="黑体" panose="02010609060101010101" pitchFamily="49" charset="-122"/>
                </a:endParaRPr>
              </a:p>
            </p:txBody>
          </p:sp>
          <p:sp>
            <p:nvSpPr>
              <p:cNvPr id="265" name="Freeform 72">
                <a:extLst>
                  <a:ext uri="{FF2B5EF4-FFF2-40B4-BE49-F238E27FC236}">
                    <a16:creationId xmlns:a16="http://schemas.microsoft.com/office/drawing/2014/main" id="{6115E869-A97C-E5DD-611C-70910A6FBC07}"/>
                  </a:ext>
                </a:extLst>
              </p:cNvPr>
              <p:cNvSpPr>
                <a:spLocks/>
              </p:cNvSpPr>
              <p:nvPr/>
            </p:nvSpPr>
            <p:spPr bwMode="auto">
              <a:xfrm>
                <a:off x="1126" y="618"/>
                <a:ext cx="536" cy="896"/>
              </a:xfrm>
              <a:custGeom>
                <a:avLst/>
                <a:gdLst>
                  <a:gd name="T0" fmla="*/ 412 w 536"/>
                  <a:gd name="T1" fmla="*/ 24 h 896"/>
                  <a:gd name="T2" fmla="*/ 72 w 536"/>
                  <a:gd name="T3" fmla="*/ 304 h 896"/>
                  <a:gd name="T4" fmla="*/ 28 w 536"/>
                  <a:gd name="T5" fmla="*/ 346 h 896"/>
                  <a:gd name="T6" fmla="*/ 2 w 536"/>
                  <a:gd name="T7" fmla="*/ 472 h 896"/>
                  <a:gd name="T8" fmla="*/ 50 w 536"/>
                  <a:gd name="T9" fmla="*/ 554 h 896"/>
                  <a:gd name="T10" fmla="*/ 50 w 536"/>
                  <a:gd name="T11" fmla="*/ 540 h 896"/>
                  <a:gd name="T12" fmla="*/ 76 w 536"/>
                  <a:gd name="T13" fmla="*/ 568 h 896"/>
                  <a:gd name="T14" fmla="*/ 414 w 536"/>
                  <a:gd name="T15" fmla="*/ 868 h 896"/>
                  <a:gd name="T16" fmla="*/ 420 w 536"/>
                  <a:gd name="T17" fmla="*/ 890 h 896"/>
                  <a:gd name="T18" fmla="*/ 534 w 536"/>
                  <a:gd name="T19" fmla="*/ 890 h 896"/>
                  <a:gd name="T20" fmla="*/ 536 w 536"/>
                  <a:gd name="T21" fmla="*/ 0 h 896"/>
                  <a:gd name="T22" fmla="*/ 418 w 536"/>
                  <a:gd name="T23" fmla="*/ 0 h 896"/>
                  <a:gd name="T24" fmla="*/ 412 w 536"/>
                  <a:gd name="T25" fmla="*/ 24 h 8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36"/>
                  <a:gd name="T40" fmla="*/ 0 h 896"/>
                  <a:gd name="T41" fmla="*/ 536 w 536"/>
                  <a:gd name="T42" fmla="*/ 896 h 89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36" h="896">
                    <a:moveTo>
                      <a:pt x="412" y="24"/>
                    </a:moveTo>
                    <a:cubicBezTo>
                      <a:pt x="354" y="74"/>
                      <a:pt x="136" y="250"/>
                      <a:pt x="72" y="304"/>
                    </a:cubicBezTo>
                    <a:cubicBezTo>
                      <a:pt x="8" y="358"/>
                      <a:pt x="40" y="318"/>
                      <a:pt x="28" y="346"/>
                    </a:cubicBezTo>
                    <a:cubicBezTo>
                      <a:pt x="3" y="384"/>
                      <a:pt x="0" y="426"/>
                      <a:pt x="2" y="472"/>
                    </a:cubicBezTo>
                    <a:cubicBezTo>
                      <a:pt x="20" y="512"/>
                      <a:pt x="38" y="538"/>
                      <a:pt x="50" y="554"/>
                    </a:cubicBezTo>
                    <a:cubicBezTo>
                      <a:pt x="58" y="565"/>
                      <a:pt x="46" y="538"/>
                      <a:pt x="50" y="540"/>
                    </a:cubicBezTo>
                    <a:cubicBezTo>
                      <a:pt x="54" y="542"/>
                      <a:pt x="15" y="513"/>
                      <a:pt x="76" y="568"/>
                    </a:cubicBezTo>
                    <a:cubicBezTo>
                      <a:pt x="145" y="638"/>
                      <a:pt x="353" y="811"/>
                      <a:pt x="414" y="868"/>
                    </a:cubicBezTo>
                    <a:cubicBezTo>
                      <a:pt x="430" y="866"/>
                      <a:pt x="418" y="866"/>
                      <a:pt x="420" y="890"/>
                    </a:cubicBezTo>
                    <a:cubicBezTo>
                      <a:pt x="483" y="887"/>
                      <a:pt x="464" y="896"/>
                      <a:pt x="534" y="890"/>
                    </a:cubicBezTo>
                    <a:cubicBezTo>
                      <a:pt x="535" y="445"/>
                      <a:pt x="536" y="0"/>
                      <a:pt x="536" y="0"/>
                    </a:cubicBezTo>
                    <a:lnTo>
                      <a:pt x="418" y="0"/>
                    </a:lnTo>
                    <a:lnTo>
                      <a:pt x="412" y="24"/>
                    </a:lnTo>
                    <a:close/>
                  </a:path>
                </a:pathLst>
              </a:custGeom>
              <a:gradFill rotWithShape="1">
                <a:gsLst>
                  <a:gs pos="0">
                    <a:srgbClr val="FF6600"/>
                  </a:gs>
                  <a:gs pos="50000">
                    <a:srgbClr val="FFFF00"/>
                  </a:gs>
                  <a:gs pos="100000">
                    <a:srgbClr val="FF6600"/>
                  </a:gs>
                </a:gsLst>
                <a:lin ang="54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FF"/>
                  </a:solidFill>
                  <a:effectLst/>
                  <a:uLnTx/>
                  <a:uFillTx/>
                  <a:ea typeface="黑体" panose="02010609060101010101" pitchFamily="49" charset="-122"/>
                </a:endParaRPr>
              </a:p>
            </p:txBody>
          </p:sp>
          <p:sp>
            <p:nvSpPr>
              <p:cNvPr id="267" name="Line 30">
                <a:extLst>
                  <a:ext uri="{FF2B5EF4-FFF2-40B4-BE49-F238E27FC236}">
                    <a16:creationId xmlns:a16="http://schemas.microsoft.com/office/drawing/2014/main" id="{78DCB237-9178-C6BA-F101-BD809C12B551}"/>
                  </a:ext>
                </a:extLst>
              </p:cNvPr>
              <p:cNvSpPr>
                <a:spLocks noChangeAspect="1" noChangeShapeType="1"/>
              </p:cNvSpPr>
              <p:nvPr/>
            </p:nvSpPr>
            <p:spPr bwMode="auto">
              <a:xfrm>
                <a:off x="3780" y="1050"/>
                <a:ext cx="363" cy="0"/>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FF"/>
                  </a:solidFill>
                  <a:effectLst/>
                  <a:uLnTx/>
                  <a:uFillTx/>
                  <a:ea typeface="黑体" panose="02010609060101010101" pitchFamily="49" charset="-122"/>
                </a:endParaRPr>
              </a:p>
            </p:txBody>
          </p:sp>
          <p:sp>
            <p:nvSpPr>
              <p:cNvPr id="268" name="Oval 36">
                <a:extLst>
                  <a:ext uri="{FF2B5EF4-FFF2-40B4-BE49-F238E27FC236}">
                    <a16:creationId xmlns:a16="http://schemas.microsoft.com/office/drawing/2014/main" id="{25333F61-F6C2-2690-A3C9-06F1F1BF0360}"/>
                  </a:ext>
                </a:extLst>
              </p:cNvPr>
              <p:cNvSpPr>
                <a:spLocks noChangeAspect="1" noChangeArrowheads="1"/>
              </p:cNvSpPr>
              <p:nvPr/>
            </p:nvSpPr>
            <p:spPr bwMode="auto">
              <a:xfrm>
                <a:off x="1219" y="991"/>
                <a:ext cx="123" cy="123"/>
              </a:xfrm>
              <a:prstGeom prst="ellipse">
                <a:avLst/>
              </a:prstGeom>
              <a:solidFill>
                <a:srgbClr val="FF0000"/>
              </a:solidFill>
              <a:ln>
                <a:noFill/>
              </a:ln>
              <a:extLst>
                <a:ext uri="{91240B29-F687-4F45-9708-019B960494DF}">
                  <a14:hiddenLine xmlns:a14="http://schemas.microsoft.com/office/drawing/2010/main" w="28575">
                    <a:solidFill>
                      <a:srgbClr val="000000"/>
                    </a:solidFill>
                    <a:round/>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FF"/>
                  </a:solidFill>
                  <a:effectLst/>
                  <a:uLnTx/>
                  <a:uFillTx/>
                  <a:latin typeface="Times New Roman" panose="02020603050405020304" pitchFamily="18" charset="0"/>
                  <a:ea typeface="黑体" panose="02010609060101010101" pitchFamily="49" charset="-122"/>
                </a:endParaRPr>
              </a:p>
            </p:txBody>
          </p:sp>
          <p:pic>
            <p:nvPicPr>
              <p:cNvPr id="269" name="Picture 68" descr="3">
                <a:extLst>
                  <a:ext uri="{FF2B5EF4-FFF2-40B4-BE49-F238E27FC236}">
                    <a16:creationId xmlns:a16="http://schemas.microsoft.com/office/drawing/2014/main" id="{37478EDD-E567-B2F2-3A88-1B52AB9C48E9}"/>
                  </a:ext>
                </a:extLst>
              </p:cNvPr>
              <p:cNvPicPr>
                <a:picLocks noChangeAspect="1" noChangeArrowheads="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3053" t="43230" r="53242"/>
              <a:stretch>
                <a:fillRect/>
              </a:stretch>
            </p:blipFill>
            <p:spPr bwMode="auto">
              <a:xfrm>
                <a:off x="874" y="501"/>
                <a:ext cx="2906" cy="10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0" name="Text Box 41">
                <a:extLst>
                  <a:ext uri="{FF2B5EF4-FFF2-40B4-BE49-F238E27FC236}">
                    <a16:creationId xmlns:a16="http://schemas.microsoft.com/office/drawing/2014/main" id="{FB933719-AA26-F81F-AF66-4FF837F1CD6E}"/>
                  </a:ext>
                </a:extLst>
              </p:cNvPr>
              <p:cNvSpPr txBox="1">
                <a:spLocks noChangeAspect="1" noChangeArrowheads="1"/>
              </p:cNvSpPr>
              <p:nvPr/>
            </p:nvSpPr>
            <p:spPr bwMode="auto">
              <a:xfrm>
                <a:off x="3858" y="803"/>
                <a:ext cx="333" cy="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FF0000"/>
                    </a:solidFill>
                    <a:effectLst/>
                    <a:uLnTx/>
                    <a:uFillTx/>
                    <a:latin typeface="+mj-lt"/>
                    <a:ea typeface="宋体" panose="02010600030101010101" pitchFamily="2" charset="-122"/>
                  </a:rPr>
                  <a:t>F</a:t>
                </a:r>
                <a:endParaRPr kumimoji="1" lang="en-US" altLang="zh-CN" sz="2400" b="0" u="none" strike="noStrike" kern="0" cap="none" spc="0" normalizeH="0" baseline="-25000" noProof="0" dirty="0">
                  <a:ln>
                    <a:noFill/>
                  </a:ln>
                  <a:solidFill>
                    <a:srgbClr val="FF0000"/>
                  </a:solidFill>
                  <a:effectLst/>
                  <a:uLnTx/>
                  <a:uFillTx/>
                  <a:latin typeface="+mj-lt"/>
                  <a:ea typeface="宋体" panose="02010600030101010101" pitchFamily="2" charset="-122"/>
                </a:endParaRPr>
              </a:p>
            </p:txBody>
          </p:sp>
          <p:sp>
            <p:nvSpPr>
              <p:cNvPr id="271" name="Text Box 43">
                <a:extLst>
                  <a:ext uri="{FF2B5EF4-FFF2-40B4-BE49-F238E27FC236}">
                    <a16:creationId xmlns:a16="http://schemas.microsoft.com/office/drawing/2014/main" id="{2F834535-B119-4A1B-10D6-83E85B8160B1}"/>
                  </a:ext>
                </a:extLst>
              </p:cNvPr>
              <p:cNvSpPr txBox="1">
                <a:spLocks noChangeAspect="1" noChangeArrowheads="1"/>
              </p:cNvSpPr>
              <p:nvPr/>
            </p:nvSpPr>
            <p:spPr bwMode="auto">
              <a:xfrm>
                <a:off x="2575" y="1090"/>
                <a:ext cx="62" cy="88"/>
              </a:xfrm>
              <a:prstGeom prst="rect">
                <a:avLst/>
              </a:prstGeom>
              <a:gradFill rotWithShape="1">
                <a:gsLst>
                  <a:gs pos="0">
                    <a:srgbClr val="A3FFD1"/>
                  </a:gs>
                  <a:gs pos="50000">
                    <a:srgbClr val="EAFFF5"/>
                  </a:gs>
                  <a:gs pos="100000">
                    <a:srgbClr val="A3FFD1"/>
                  </a:gs>
                </a:gsLst>
                <a:lin ang="5400000" scaled="1"/>
              </a:grad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50000"/>
                  </a:lnSpc>
                  <a:spcBef>
                    <a:spcPts val="0"/>
                  </a:spcBef>
                  <a:spcAft>
                    <a:spcPts val="0"/>
                  </a:spcAft>
                  <a:buClrTx/>
                  <a:buSzTx/>
                  <a:buFontTx/>
                  <a:buNone/>
                  <a:tabLst/>
                  <a:defRPr/>
                </a:pPr>
                <a:r>
                  <a:rPr kumimoji="1" lang="en-US" altLang="zh-CN" sz="2400" b="0" i="0" u="none" strike="noStrike" kern="0" cap="none" spc="0" normalizeH="0" baseline="0" noProof="0" dirty="0">
                    <a:ln>
                      <a:noFill/>
                    </a:ln>
                    <a:solidFill>
                      <a:srgbClr val="000000"/>
                    </a:solidFill>
                    <a:effectLst/>
                    <a:uLnTx/>
                    <a:uFillTx/>
                    <a:latin typeface="" pitchFamily="18" charset="-52"/>
                    <a:ea typeface="宋体" panose="02010600030101010101" pitchFamily="2" charset="-122"/>
                  </a:rPr>
                  <a:t>p</a:t>
                </a:r>
                <a:endParaRPr kumimoji="1" lang="en-US" altLang="zh-CN" sz="2400" b="0" i="0" u="none" strike="noStrike" kern="0" cap="none" spc="0" normalizeH="0" baseline="-25000" noProof="0" dirty="0">
                  <a:ln>
                    <a:noFill/>
                  </a:ln>
                  <a:solidFill>
                    <a:srgbClr val="000000"/>
                  </a:solidFill>
                  <a:effectLst/>
                  <a:uLnTx/>
                  <a:uFillTx/>
                  <a:latin typeface="" pitchFamily="18" charset="-52"/>
                  <a:ea typeface="宋体" panose="02010600030101010101" pitchFamily="2" charset="-122"/>
                </a:endParaRPr>
              </a:p>
            </p:txBody>
          </p:sp>
          <p:sp>
            <p:nvSpPr>
              <p:cNvPr id="272" name="Text Box 85">
                <a:extLst>
                  <a:ext uri="{FF2B5EF4-FFF2-40B4-BE49-F238E27FC236}">
                    <a16:creationId xmlns:a16="http://schemas.microsoft.com/office/drawing/2014/main" id="{2D44523F-2DA0-236B-F03D-23F24EE157B4}"/>
                  </a:ext>
                </a:extLst>
              </p:cNvPr>
              <p:cNvSpPr txBox="1">
                <a:spLocks noChangeAspect="1" noChangeArrowheads="1"/>
              </p:cNvSpPr>
              <p:nvPr/>
            </p:nvSpPr>
            <p:spPr bwMode="auto">
              <a:xfrm>
                <a:off x="2569" y="1047"/>
                <a:ext cx="95" cy="152"/>
              </a:xfrm>
              <a:prstGeom prst="rect">
                <a:avLst/>
              </a:prstGeom>
              <a:gradFill rotWithShape="1">
                <a:gsLst>
                  <a:gs pos="0">
                    <a:srgbClr val="A3FFD1"/>
                  </a:gs>
                  <a:gs pos="50000">
                    <a:srgbClr val="EAFFF5"/>
                  </a:gs>
                  <a:gs pos="100000">
                    <a:srgbClr val="A3FFD1"/>
                  </a:gs>
                </a:gsLst>
                <a:lin ang="5400000" scaled="1"/>
              </a:gradFill>
              <a:ln>
                <a:noFill/>
              </a:ln>
              <a:extLst>
                <a:ext uri="{91240B29-F687-4F45-9708-019B960494DF}">
                  <a14:hiddenLine xmlns:a14="http://schemas.microsoft.com/office/drawing/2010/main" w="9525" algn="ctr">
                    <a:solidFill>
                      <a:srgbClr val="000000"/>
                    </a:solidFill>
                    <a:miter lim="800000"/>
                    <a:headEnd/>
                    <a:tailEnd/>
                  </a14:hiddenLine>
                </a:ext>
              </a:extLst>
            </p:spPr>
            <p:txBody>
              <a:bodyPr lIns="0" tIns="0" rIns="0" bIns="0"/>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5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FF0000"/>
                    </a:solidFill>
                    <a:effectLst/>
                    <a:uLnTx/>
                    <a:uFillTx/>
                    <a:latin typeface="+mn-lt"/>
                    <a:ea typeface="宋体" panose="02010600030101010101" pitchFamily="2" charset="-122"/>
                  </a:rPr>
                  <a:t>p</a:t>
                </a:r>
                <a:endParaRPr kumimoji="1" lang="en-US" altLang="zh-CN" sz="2400" b="0" u="none" strike="noStrike" kern="0" cap="none" spc="0" normalizeH="0" baseline="-25000" noProof="0" dirty="0">
                  <a:ln>
                    <a:noFill/>
                  </a:ln>
                  <a:solidFill>
                    <a:srgbClr val="FF0000"/>
                  </a:solidFill>
                  <a:effectLst/>
                  <a:uLnTx/>
                  <a:uFillTx/>
                  <a:latin typeface="+mn-lt"/>
                  <a:ea typeface="宋体" panose="02010600030101010101" pitchFamily="2" charset="-122"/>
                </a:endParaRPr>
              </a:p>
            </p:txBody>
          </p:sp>
          <p:sp>
            <p:nvSpPr>
              <p:cNvPr id="273" name="Text Box 86">
                <a:extLst>
                  <a:ext uri="{FF2B5EF4-FFF2-40B4-BE49-F238E27FC236}">
                    <a16:creationId xmlns:a16="http://schemas.microsoft.com/office/drawing/2014/main" id="{2026C66F-1362-325C-C033-F6932857DD77}"/>
                  </a:ext>
                </a:extLst>
              </p:cNvPr>
              <p:cNvSpPr txBox="1">
                <a:spLocks noChangeAspect="1" noChangeArrowheads="1"/>
              </p:cNvSpPr>
              <p:nvPr/>
            </p:nvSpPr>
            <p:spPr bwMode="auto">
              <a:xfrm rot="-5400000">
                <a:off x="3578" y="751"/>
                <a:ext cx="121" cy="194"/>
              </a:xfrm>
              <a:prstGeom prst="rect">
                <a:avLst/>
              </a:prstGeom>
              <a:solidFill>
                <a:srgbClr val="00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lIns="0" tIns="0" rIns="0" bIns="0" anchor="b"/>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5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mj-lt"/>
                    <a:ea typeface="宋体" panose="02010600030101010101" pitchFamily="2" charset="-122"/>
                  </a:rPr>
                  <a:t>d</a:t>
                </a:r>
                <a:endParaRPr kumimoji="1" lang="en-US" altLang="zh-CN" sz="2400" b="0" u="none" strike="noStrike" kern="0" cap="none" spc="0" normalizeH="0" baseline="-25000" noProof="0" dirty="0">
                  <a:ln>
                    <a:noFill/>
                  </a:ln>
                  <a:solidFill>
                    <a:srgbClr val="000000"/>
                  </a:solidFill>
                  <a:effectLst/>
                  <a:uLnTx/>
                  <a:uFillTx/>
                  <a:latin typeface="+mj-lt"/>
                  <a:ea typeface="宋体" panose="02010600030101010101" pitchFamily="2" charset="-122"/>
                </a:endParaRPr>
              </a:p>
            </p:txBody>
          </p:sp>
        </p:grpSp>
      </p:grpSp>
      <p:graphicFrame>
        <p:nvGraphicFramePr>
          <p:cNvPr id="274" name="Object 89">
            <a:extLst>
              <a:ext uri="{FF2B5EF4-FFF2-40B4-BE49-F238E27FC236}">
                <a16:creationId xmlns:a16="http://schemas.microsoft.com/office/drawing/2014/main" id="{0142972F-66C4-92C4-5CC3-0B66D75511B8}"/>
              </a:ext>
            </a:extLst>
          </p:cNvPr>
          <p:cNvGraphicFramePr>
            <a:graphicFrameLocks noChangeAspect="1"/>
          </p:cNvGraphicFramePr>
          <p:nvPr>
            <p:extLst>
              <p:ext uri="{D42A27DB-BD31-4B8C-83A1-F6EECF244321}">
                <p14:modId xmlns:p14="http://schemas.microsoft.com/office/powerpoint/2010/main" val="1822937966"/>
              </p:ext>
            </p:extLst>
          </p:nvPr>
        </p:nvGraphicFramePr>
        <p:xfrm>
          <a:off x="1449414" y="3044931"/>
          <a:ext cx="3568700" cy="820738"/>
        </p:xfrm>
        <a:graphic>
          <a:graphicData uri="http://schemas.openxmlformats.org/presentationml/2006/ole">
            <mc:AlternateContent xmlns:mc="http://schemas.openxmlformats.org/markup-compatibility/2006">
              <mc:Choice xmlns:v="urn:schemas-microsoft-com:vml" Requires="v">
                <p:oleObj name="Equation" r:id="rId4" imgW="1701720" imgH="393480" progId="Equation.DSMT4">
                  <p:embed/>
                </p:oleObj>
              </mc:Choice>
              <mc:Fallback>
                <p:oleObj name="Equation" r:id="rId4" imgW="1701720" imgH="393480" progId="Equation.DSMT4">
                  <p:embed/>
                  <p:pic>
                    <p:nvPicPr>
                      <p:cNvPr id="274" name="Object 89">
                        <a:extLst>
                          <a:ext uri="{FF2B5EF4-FFF2-40B4-BE49-F238E27FC236}">
                            <a16:creationId xmlns:a16="http://schemas.microsoft.com/office/drawing/2014/main" id="{0142972F-66C4-92C4-5CC3-0B66D75511B8}"/>
                          </a:ext>
                        </a:extLst>
                      </p:cNvPr>
                      <p:cNvPicPr>
                        <a:picLocks noChangeAspect="1" noChangeArrowheads="1"/>
                      </p:cNvPicPr>
                      <p:nvPr/>
                    </p:nvPicPr>
                    <p:blipFill>
                      <a:blip r:embed="rId5"/>
                      <a:srcRect/>
                      <a:stretch>
                        <a:fillRect/>
                      </a:stretch>
                    </p:blipFill>
                    <p:spPr bwMode="auto">
                      <a:xfrm>
                        <a:off x="1449414" y="3044931"/>
                        <a:ext cx="3568700" cy="8207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6" name="Object 89">
            <a:extLst>
              <a:ext uri="{FF2B5EF4-FFF2-40B4-BE49-F238E27FC236}">
                <a16:creationId xmlns:a16="http://schemas.microsoft.com/office/drawing/2014/main" id="{44454095-2343-78D1-82EB-1F6DE779CB84}"/>
              </a:ext>
            </a:extLst>
          </p:cNvPr>
          <p:cNvGraphicFramePr>
            <a:graphicFrameLocks noChangeAspect="1"/>
          </p:cNvGraphicFramePr>
          <p:nvPr>
            <p:extLst>
              <p:ext uri="{D42A27DB-BD31-4B8C-83A1-F6EECF244321}">
                <p14:modId xmlns:p14="http://schemas.microsoft.com/office/powerpoint/2010/main" val="300724835"/>
              </p:ext>
            </p:extLst>
          </p:nvPr>
        </p:nvGraphicFramePr>
        <p:xfrm>
          <a:off x="1406525" y="4087339"/>
          <a:ext cx="2930525" cy="820737"/>
        </p:xfrm>
        <a:graphic>
          <a:graphicData uri="http://schemas.openxmlformats.org/presentationml/2006/ole">
            <mc:AlternateContent xmlns:mc="http://schemas.openxmlformats.org/markup-compatibility/2006">
              <mc:Choice xmlns:v="urn:schemas-microsoft-com:vml" Requires="v">
                <p:oleObj name="Equation" r:id="rId6" imgW="1396800" imgH="393480" progId="Equation.DSMT4">
                  <p:embed/>
                </p:oleObj>
              </mc:Choice>
              <mc:Fallback>
                <p:oleObj name="Equation" r:id="rId6" imgW="1396800" imgH="393480" progId="Equation.DSMT4">
                  <p:embed/>
                  <p:pic>
                    <p:nvPicPr>
                      <p:cNvPr id="276" name="Object 89">
                        <a:extLst>
                          <a:ext uri="{FF2B5EF4-FFF2-40B4-BE49-F238E27FC236}">
                            <a16:creationId xmlns:a16="http://schemas.microsoft.com/office/drawing/2014/main" id="{44454095-2343-78D1-82EB-1F6DE779CB84}"/>
                          </a:ext>
                        </a:extLst>
                      </p:cNvPr>
                      <p:cNvPicPr>
                        <a:picLocks noChangeAspect="1" noChangeArrowheads="1"/>
                      </p:cNvPicPr>
                      <p:nvPr/>
                    </p:nvPicPr>
                    <p:blipFill>
                      <a:blip r:embed="rId7"/>
                      <a:srcRect/>
                      <a:stretch>
                        <a:fillRect/>
                      </a:stretch>
                    </p:blipFill>
                    <p:spPr bwMode="auto">
                      <a:xfrm>
                        <a:off x="1406525" y="4087339"/>
                        <a:ext cx="2930525" cy="8207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77" name="矩形 276">
            <a:extLst>
              <a:ext uri="{FF2B5EF4-FFF2-40B4-BE49-F238E27FC236}">
                <a16:creationId xmlns:a16="http://schemas.microsoft.com/office/drawing/2014/main" id="{1D9B35FA-CF4B-F1BA-5460-AB20487302C1}"/>
              </a:ext>
            </a:extLst>
          </p:cNvPr>
          <p:cNvSpPr/>
          <p:nvPr/>
        </p:nvSpPr>
        <p:spPr>
          <a:xfrm>
            <a:off x="551383" y="3708564"/>
            <a:ext cx="9082488" cy="493148"/>
          </a:xfrm>
          <a:prstGeom prst="rect">
            <a:avLst/>
          </a:prstGeom>
        </p:spPr>
        <p:txBody>
          <a:bodyPr wrap="square">
            <a:spAutoFit/>
          </a:bodyPr>
          <a:lstStyle/>
          <a:p>
            <a:pPr lvl="0" eaLnBrk="0" hangingPunct="0">
              <a:lnSpc>
                <a:spcPct val="120000"/>
              </a:lnSpc>
            </a:pPr>
            <a:r>
              <a:rPr lang="zh-CN" altLang="en-US" i="0" dirty="0">
                <a:solidFill>
                  <a:srgbClr val="0033CC"/>
                </a:solidFill>
                <a:ea typeface="黑体" panose="02010609060101010101" pitchFamily="49" charset="-122"/>
              </a:rPr>
              <a:t>     </a:t>
            </a:r>
            <a:r>
              <a:rPr kumimoji="1" lang="en-US" altLang="zh-CN" i="0" dirty="0">
                <a:solidFill>
                  <a:schemeClr val="tx1"/>
                </a:solidFill>
                <a:ea typeface="黑体" panose="02010609060101010101" pitchFamily="49" charset="-122"/>
              </a:rPr>
              <a:t>      </a:t>
            </a:r>
            <a:r>
              <a:rPr kumimoji="1" lang="zh-CN" altLang="en-US" i="0" dirty="0">
                <a:solidFill>
                  <a:schemeClr val="tx1"/>
                </a:solidFill>
                <a:ea typeface="黑体" panose="02010609060101010101" pitchFamily="49" charset="-122"/>
              </a:rPr>
              <a:t>由截面法求得</a:t>
            </a:r>
            <a:r>
              <a:rPr lang="zh-CN" altLang="en-US" i="0" dirty="0">
                <a:solidFill>
                  <a:schemeClr val="tx1"/>
                </a:solidFill>
                <a:latin typeface="+mn-lt"/>
                <a:ea typeface="黑体" panose="02010609060101010101" pitchFamily="49" charset="-122"/>
              </a:rPr>
              <a:t>活塞杆轴力</a:t>
            </a:r>
            <a:r>
              <a:rPr lang="en-US" altLang="zh-CN" b="0" dirty="0">
                <a:solidFill>
                  <a:schemeClr val="tx1"/>
                </a:solidFill>
                <a:latin typeface="+mn-lt"/>
                <a:ea typeface="黑体" panose="02010609060101010101" pitchFamily="49" charset="-122"/>
              </a:rPr>
              <a:t>F</a:t>
            </a:r>
            <a:r>
              <a:rPr lang="en-US" altLang="zh-CN" b="0" i="0" baseline="-25000" dirty="0">
                <a:solidFill>
                  <a:schemeClr val="tx1"/>
                </a:solidFill>
                <a:latin typeface="+mn-lt"/>
                <a:ea typeface="黑体" panose="02010609060101010101" pitchFamily="49" charset="-122"/>
              </a:rPr>
              <a:t>N</a:t>
            </a:r>
            <a:r>
              <a:rPr lang="en-US" altLang="zh-CN" b="0" i="0" dirty="0">
                <a:solidFill>
                  <a:schemeClr val="tx1"/>
                </a:solidFill>
                <a:latin typeface="+mn-lt"/>
                <a:ea typeface="黑体" panose="02010609060101010101" pitchFamily="49" charset="-122"/>
              </a:rPr>
              <a:t>=8.3kN</a:t>
            </a:r>
            <a:r>
              <a:rPr lang="zh-CN" altLang="en-US" b="0" i="0" dirty="0">
                <a:solidFill>
                  <a:schemeClr val="tx1"/>
                </a:solidFill>
                <a:latin typeface="+mn-lt"/>
                <a:ea typeface="黑体" panose="02010609060101010101" pitchFamily="49" charset="-122"/>
              </a:rPr>
              <a:t>。再</a:t>
            </a:r>
            <a:r>
              <a:rPr lang="zh-CN" altLang="en-US" i="0" dirty="0">
                <a:solidFill>
                  <a:schemeClr val="tx1"/>
                </a:solidFill>
                <a:latin typeface="+mn-lt"/>
                <a:ea typeface="黑体" panose="02010609060101010101" pitchFamily="49" charset="-122"/>
              </a:rPr>
              <a:t>求活塞杆的压力</a:t>
            </a:r>
            <a:endParaRPr kumimoji="1" lang="zh-CN" altLang="en-US" sz="2400" i="0" u="none" strike="noStrike" kern="1200" cap="none" spc="0" normalizeH="0" baseline="0" noProof="0" dirty="0">
              <a:ln>
                <a:noFill/>
              </a:ln>
              <a:solidFill>
                <a:schemeClr val="tx1"/>
              </a:solidFill>
              <a:effectLst/>
              <a:uLnTx/>
              <a:uFillTx/>
              <a:latin typeface="+mn-lt"/>
              <a:ea typeface="黑体" panose="02010609060101010101" pitchFamily="49" charset="-122"/>
            </a:endParaRPr>
          </a:p>
        </p:txBody>
      </p:sp>
      <p:sp>
        <p:nvSpPr>
          <p:cNvPr id="278" name="矩形 277">
            <a:extLst>
              <a:ext uri="{FF2B5EF4-FFF2-40B4-BE49-F238E27FC236}">
                <a16:creationId xmlns:a16="http://schemas.microsoft.com/office/drawing/2014/main" id="{AFEC9C93-14D3-A6AA-4240-7399EEE15595}"/>
              </a:ext>
            </a:extLst>
          </p:cNvPr>
          <p:cNvSpPr/>
          <p:nvPr/>
        </p:nvSpPr>
        <p:spPr>
          <a:xfrm>
            <a:off x="551383" y="4781719"/>
            <a:ext cx="7491812" cy="493148"/>
          </a:xfrm>
          <a:prstGeom prst="rect">
            <a:avLst/>
          </a:prstGeom>
        </p:spPr>
        <p:txBody>
          <a:bodyPr wrap="square">
            <a:spAutoFit/>
          </a:bodyPr>
          <a:lstStyle/>
          <a:p>
            <a:pPr lvl="0" eaLnBrk="0" hangingPunct="0">
              <a:lnSpc>
                <a:spcPct val="120000"/>
              </a:lnSpc>
            </a:pPr>
            <a:r>
              <a:rPr lang="zh-CN" altLang="en-US" i="0" dirty="0">
                <a:solidFill>
                  <a:srgbClr val="0033CC"/>
                </a:solidFill>
                <a:ea typeface="黑体" panose="02010609060101010101" pitchFamily="49" charset="-122"/>
              </a:rPr>
              <a:t>     </a:t>
            </a:r>
            <a:r>
              <a:rPr kumimoji="1" lang="en-US" altLang="zh-CN" i="0" dirty="0">
                <a:solidFill>
                  <a:schemeClr val="tx1"/>
                </a:solidFill>
                <a:ea typeface="黑体" panose="02010609060101010101" pitchFamily="49" charset="-122"/>
              </a:rPr>
              <a:t>      </a:t>
            </a:r>
            <a:r>
              <a:rPr kumimoji="1" lang="zh-CN" altLang="en-US" i="0" dirty="0">
                <a:solidFill>
                  <a:schemeClr val="tx1"/>
                </a:solidFill>
                <a:ea typeface="黑体" panose="02010609060101010101" pitchFamily="49" charset="-122"/>
              </a:rPr>
              <a:t>由截面法求得</a:t>
            </a:r>
            <a:r>
              <a:rPr lang="zh-CN" altLang="en-US" i="0" dirty="0">
                <a:solidFill>
                  <a:schemeClr val="tx1"/>
                </a:solidFill>
                <a:latin typeface="+mn-lt"/>
                <a:ea typeface="黑体" panose="02010609060101010101" pitchFamily="49" charset="-122"/>
              </a:rPr>
              <a:t>活塞杆轴力</a:t>
            </a:r>
            <a:r>
              <a:rPr lang="en-US" altLang="zh-CN" b="0" dirty="0">
                <a:solidFill>
                  <a:schemeClr val="tx1"/>
                </a:solidFill>
                <a:latin typeface="+mn-lt"/>
                <a:ea typeface="黑体" panose="02010609060101010101" pitchFamily="49" charset="-122"/>
              </a:rPr>
              <a:t>F</a:t>
            </a:r>
            <a:r>
              <a:rPr lang="en-US" altLang="zh-CN" b="0" i="0" baseline="-25000" dirty="0">
                <a:solidFill>
                  <a:schemeClr val="tx1"/>
                </a:solidFill>
                <a:latin typeface="+mn-lt"/>
                <a:ea typeface="黑体" panose="02010609060101010101" pitchFamily="49" charset="-122"/>
              </a:rPr>
              <a:t>N</a:t>
            </a:r>
            <a:r>
              <a:rPr lang="en-US" altLang="zh-CN" b="0" i="0" dirty="0">
                <a:solidFill>
                  <a:schemeClr val="tx1"/>
                </a:solidFill>
                <a:latin typeface="+mn-lt"/>
                <a:ea typeface="黑体" panose="02010609060101010101" pitchFamily="49" charset="-122"/>
              </a:rPr>
              <a:t>=</a:t>
            </a:r>
            <a:r>
              <a:rPr lang="en-US" altLang="zh-CN" b="0" i="0" dirty="0">
                <a:solidFill>
                  <a:schemeClr val="tx1"/>
                </a:solidFill>
                <a:latin typeface="+mj-ea"/>
                <a:ea typeface="+mj-ea"/>
              </a:rPr>
              <a:t>-</a:t>
            </a:r>
            <a:r>
              <a:rPr lang="en-US" altLang="zh-CN" b="0" i="0" dirty="0">
                <a:solidFill>
                  <a:schemeClr val="tx1"/>
                </a:solidFill>
                <a:latin typeface="+mn-lt"/>
                <a:ea typeface="黑体" panose="02010609060101010101" pitchFamily="49" charset="-122"/>
              </a:rPr>
              <a:t>8.84kN</a:t>
            </a:r>
            <a:endParaRPr kumimoji="1" lang="zh-CN" altLang="en-US" sz="2400" i="0" u="none" strike="noStrike" kern="1200" cap="none" spc="0" normalizeH="0" baseline="0" noProof="0" dirty="0">
              <a:ln>
                <a:noFill/>
              </a:ln>
              <a:solidFill>
                <a:schemeClr val="tx1"/>
              </a:solidFill>
              <a:effectLst/>
              <a:uLnTx/>
              <a:uFillTx/>
              <a:latin typeface="+mn-lt"/>
              <a:ea typeface="黑体" panose="02010609060101010101" pitchFamily="49" charset="-122"/>
            </a:endParaRPr>
          </a:p>
        </p:txBody>
      </p:sp>
      <p:graphicFrame>
        <p:nvGraphicFramePr>
          <p:cNvPr id="279" name="Object 41">
            <a:extLst>
              <a:ext uri="{FF2B5EF4-FFF2-40B4-BE49-F238E27FC236}">
                <a16:creationId xmlns:a16="http://schemas.microsoft.com/office/drawing/2014/main" id="{4CD08643-2849-EE5B-9056-713BE4C99D41}"/>
              </a:ext>
            </a:extLst>
          </p:cNvPr>
          <p:cNvGraphicFramePr>
            <a:graphicFrameLocks noChangeAspect="1"/>
          </p:cNvGraphicFramePr>
          <p:nvPr>
            <p:extLst>
              <p:ext uri="{D42A27DB-BD31-4B8C-83A1-F6EECF244321}">
                <p14:modId xmlns:p14="http://schemas.microsoft.com/office/powerpoint/2010/main" val="809242760"/>
              </p:ext>
            </p:extLst>
          </p:nvPr>
        </p:nvGraphicFramePr>
        <p:xfrm>
          <a:off x="2943225" y="5414963"/>
          <a:ext cx="5621338" cy="879475"/>
        </p:xfrm>
        <a:graphic>
          <a:graphicData uri="http://schemas.openxmlformats.org/presentationml/2006/ole">
            <mc:AlternateContent xmlns:mc="http://schemas.openxmlformats.org/markup-compatibility/2006">
              <mc:Choice xmlns:v="urn:schemas-microsoft-com:vml" Requires="v">
                <p:oleObj name="Equation" r:id="rId8" imgW="2679480" imgH="419040" progId="Equation.DSMT4">
                  <p:embed/>
                </p:oleObj>
              </mc:Choice>
              <mc:Fallback>
                <p:oleObj name="Equation" r:id="rId8" imgW="2679480" imgH="419040" progId="Equation.DSMT4">
                  <p:embed/>
                  <p:pic>
                    <p:nvPicPr>
                      <p:cNvPr id="279" name="Object 41">
                        <a:extLst>
                          <a:ext uri="{FF2B5EF4-FFF2-40B4-BE49-F238E27FC236}">
                            <a16:creationId xmlns:a16="http://schemas.microsoft.com/office/drawing/2014/main" id="{4CD08643-2849-EE5B-9056-713BE4C99D41}"/>
                          </a:ext>
                        </a:extLst>
                      </p:cNvPr>
                      <p:cNvPicPr>
                        <a:picLocks noChangeAspect="1" noChangeArrowheads="1"/>
                      </p:cNvPicPr>
                      <p:nvPr/>
                    </p:nvPicPr>
                    <p:blipFill>
                      <a:blip r:embed="rId9"/>
                      <a:srcRect/>
                      <a:stretch>
                        <a:fillRect/>
                      </a:stretch>
                    </p:blipFill>
                    <p:spPr bwMode="auto">
                      <a:xfrm>
                        <a:off x="2943225" y="5414963"/>
                        <a:ext cx="5621338" cy="879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977746123"/>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2" presetClass="entr" presetSubtype="8" fill="hold" nodeType="withEffect">
                                  <p:stCondLst>
                                    <p:cond delay="0"/>
                                  </p:stCondLst>
                                  <p:childTnLst>
                                    <p:set>
                                      <p:cBhvr>
                                        <p:cTn id="8" dur="1" fill="hold">
                                          <p:stCondLst>
                                            <p:cond delay="0"/>
                                          </p:stCondLst>
                                        </p:cTn>
                                        <p:tgtEl>
                                          <p:spTgt spid="29"/>
                                        </p:tgtEl>
                                        <p:attrNameLst>
                                          <p:attrName>style.visibility</p:attrName>
                                        </p:attrNameLst>
                                      </p:cBhvr>
                                      <p:to>
                                        <p:strVal val="visible"/>
                                      </p:to>
                                    </p:set>
                                    <p:animEffect transition="in" filter="slide(fromLeft)">
                                      <p:cBhvr>
                                        <p:cTn id="9" dur="5000"/>
                                        <p:tgtEl>
                                          <p:spTgt spid="29"/>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136"/>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274"/>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277"/>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276"/>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278"/>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263"/>
                                        </p:tgtEl>
                                        <p:attrNameLst>
                                          <p:attrName>style.visibility</p:attrName>
                                        </p:attrNameLst>
                                      </p:cBhvr>
                                      <p:to>
                                        <p:strVal val="visible"/>
                                      </p:to>
                                    </p:set>
                                  </p:childTnLst>
                                </p:cTn>
                              </p:par>
                              <p:par>
                                <p:cTn id="30" presetID="1" presetClass="entr" presetSubtype="0" fill="hold" nodeType="withEffect">
                                  <p:stCondLst>
                                    <p:cond delay="0"/>
                                  </p:stCondLst>
                                  <p:childTnLst>
                                    <p:set>
                                      <p:cBhvr>
                                        <p:cTn id="31" dur="1" fill="hold">
                                          <p:stCondLst>
                                            <p:cond delay="0"/>
                                          </p:stCondLst>
                                        </p:cTn>
                                        <p:tgtEl>
                                          <p:spTgt spid="2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 grpId="0"/>
      <p:bldP spid="2" grpId="0" animBg="1"/>
      <p:bldP spid="263" grpId="0"/>
      <p:bldP spid="277" grpId="0"/>
      <p:bldP spid="278"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711605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第八章   拉压、剪切与挤压的强度计算</a:t>
            </a:r>
          </a:p>
        </p:txBody>
      </p:sp>
      <p:sp>
        <p:nvSpPr>
          <p:cNvPr id="19" name="矩形 18">
            <a:extLst>
              <a:ext uri="{FF2B5EF4-FFF2-40B4-BE49-F238E27FC236}">
                <a16:creationId xmlns:a16="http://schemas.microsoft.com/office/drawing/2014/main" id="{396E3A4E-3DCE-51D1-DE56-78AC0CFE008B}"/>
              </a:ext>
            </a:extLst>
          </p:cNvPr>
          <p:cNvSpPr/>
          <p:nvPr/>
        </p:nvSpPr>
        <p:spPr>
          <a:xfrm>
            <a:off x="551383" y="820392"/>
            <a:ext cx="11244553" cy="1277979"/>
          </a:xfrm>
          <a:prstGeom prst="rect">
            <a:avLst/>
          </a:prstGeom>
        </p:spPr>
        <p:txBody>
          <a:bodyPr wrap="square">
            <a:spAutoFit/>
          </a:bodyPr>
          <a:lstStyle/>
          <a:p>
            <a:pPr marL="0" marR="0" lvl="0" indent="0" algn="just" defTabSz="914400" rtl="0" eaLnBrk="1" fontAlgn="base" latinLnBrk="0" hangingPunct="1">
              <a:lnSpc>
                <a:spcPct val="110000"/>
              </a:lnSpc>
              <a:spcBef>
                <a:spcPct val="0"/>
              </a:spcBef>
              <a:spcAft>
                <a:spcPct val="0"/>
              </a:spcAft>
              <a:buClrTx/>
              <a:buSzTx/>
              <a:buFontTx/>
              <a:buNone/>
              <a:tabLst/>
              <a:defRPr/>
            </a:pPr>
            <a:r>
              <a:rPr lang="zh-CN" altLang="en-US" i="0" dirty="0">
                <a:solidFill>
                  <a:srgbClr val="0033CC"/>
                </a:solidFill>
                <a:ea typeface="黑体" panose="02010609060101010101" pitchFamily="49" charset="-122"/>
              </a:rPr>
              <a:t>例</a:t>
            </a:r>
            <a:r>
              <a:rPr lang="zh-CN" altLang="en-US" i="0" dirty="0">
                <a:solidFill>
                  <a:schemeClr val="tx1"/>
                </a:solidFill>
                <a:ea typeface="黑体" panose="02010609060101010101" pitchFamily="49" charset="-122"/>
              </a:rPr>
              <a:t>  </a:t>
            </a:r>
            <a:r>
              <a:rPr lang="zh-CN" altLang="en-US" i="0" dirty="0">
                <a:solidFill>
                  <a:schemeClr val="tx1"/>
                </a:solidFill>
                <a:latin typeface="+mn-lt"/>
                <a:ea typeface="黑体" panose="02010609060101010101" pitchFamily="49" charset="-122"/>
              </a:rPr>
              <a:t>某冷锻机的曲柄滑块机构如图。锻压工作时，当连杆接近水平位置时锻压力</a:t>
            </a:r>
            <a:r>
              <a:rPr lang="en-US" altLang="zh-CN" b="0" dirty="0">
                <a:solidFill>
                  <a:schemeClr val="tx1"/>
                </a:solidFill>
                <a:latin typeface="+mn-lt"/>
                <a:ea typeface="黑体" panose="02010609060101010101" pitchFamily="49" charset="-122"/>
              </a:rPr>
              <a:t>F</a:t>
            </a:r>
            <a:r>
              <a:rPr lang="zh-CN" altLang="en-US" i="0" dirty="0">
                <a:solidFill>
                  <a:schemeClr val="tx1"/>
                </a:solidFill>
                <a:latin typeface="+mn-lt"/>
                <a:ea typeface="黑体" panose="02010609060101010101" pitchFamily="49" charset="-122"/>
              </a:rPr>
              <a:t>最大，</a:t>
            </a:r>
            <a:r>
              <a:rPr lang="en-US" altLang="zh-CN" b="0" dirty="0">
                <a:solidFill>
                  <a:schemeClr val="tx1"/>
                </a:solidFill>
                <a:latin typeface="+mn-lt"/>
                <a:ea typeface="黑体" panose="02010609060101010101" pitchFamily="49" charset="-122"/>
              </a:rPr>
              <a:t>F</a:t>
            </a:r>
            <a:r>
              <a:rPr lang="zh-CN" altLang="en-US" b="0" i="0" dirty="0">
                <a:solidFill>
                  <a:schemeClr val="tx1"/>
                </a:solidFill>
                <a:latin typeface="+mn-lt"/>
                <a:ea typeface="黑体" panose="02010609060101010101" pitchFamily="49" charset="-122"/>
              </a:rPr>
              <a:t>＝</a:t>
            </a:r>
            <a:r>
              <a:rPr lang="en-US" altLang="zh-CN" b="0" i="0" dirty="0">
                <a:solidFill>
                  <a:schemeClr val="tx1"/>
                </a:solidFill>
                <a:latin typeface="+mn-lt"/>
                <a:ea typeface="黑体" panose="02010609060101010101" pitchFamily="49" charset="-122"/>
              </a:rPr>
              <a:t>3780kN</a:t>
            </a:r>
            <a:r>
              <a:rPr lang="zh-CN" altLang="en-US" i="0" dirty="0">
                <a:solidFill>
                  <a:schemeClr val="tx1"/>
                </a:solidFill>
                <a:latin typeface="+mn-lt"/>
                <a:ea typeface="黑体" panose="02010609060101010101" pitchFamily="49" charset="-122"/>
              </a:rPr>
              <a:t>。连杆横截面为矩形，高与宽之比为</a:t>
            </a:r>
            <a:r>
              <a:rPr lang="en-US" altLang="zh-CN" b="0" dirty="0">
                <a:solidFill>
                  <a:schemeClr val="tx1"/>
                </a:solidFill>
                <a:latin typeface="+mn-lt"/>
                <a:ea typeface="黑体" panose="02010609060101010101" pitchFamily="49" charset="-122"/>
              </a:rPr>
              <a:t>h</a:t>
            </a:r>
            <a:r>
              <a:rPr lang="en-US" altLang="zh-CN" b="0" i="0" dirty="0">
                <a:solidFill>
                  <a:schemeClr val="tx1"/>
                </a:solidFill>
                <a:latin typeface="+mn-lt"/>
                <a:ea typeface="黑体" panose="02010609060101010101" pitchFamily="49" charset="-122"/>
              </a:rPr>
              <a:t>/</a:t>
            </a:r>
            <a:r>
              <a:rPr lang="en-US" altLang="zh-CN" b="0" dirty="0">
                <a:solidFill>
                  <a:schemeClr val="tx1"/>
                </a:solidFill>
                <a:latin typeface="+mn-lt"/>
                <a:ea typeface="黑体" panose="02010609060101010101" pitchFamily="49" charset="-122"/>
              </a:rPr>
              <a:t>b</a:t>
            </a:r>
            <a:r>
              <a:rPr lang="zh-CN" altLang="en-US" b="0" i="0" dirty="0">
                <a:solidFill>
                  <a:schemeClr val="tx1"/>
                </a:solidFill>
                <a:latin typeface="+mn-lt"/>
                <a:ea typeface="黑体" panose="02010609060101010101" pitchFamily="49" charset="-122"/>
              </a:rPr>
              <a:t>＝</a:t>
            </a:r>
            <a:r>
              <a:rPr lang="en-US" altLang="zh-CN" b="0" i="0" dirty="0">
                <a:solidFill>
                  <a:schemeClr val="tx1"/>
                </a:solidFill>
                <a:latin typeface="+mn-lt"/>
                <a:ea typeface="黑体" panose="02010609060101010101" pitchFamily="49" charset="-122"/>
              </a:rPr>
              <a:t>1.4</a:t>
            </a:r>
            <a:r>
              <a:rPr lang="zh-CN" altLang="en-US" i="0" dirty="0">
                <a:solidFill>
                  <a:schemeClr val="tx1"/>
                </a:solidFill>
                <a:latin typeface="+mn-lt"/>
                <a:ea typeface="黑体" panose="02010609060101010101" pitchFamily="49" charset="-122"/>
              </a:rPr>
              <a:t>，材料的许用应力</a:t>
            </a:r>
            <a:r>
              <a:rPr lang="en-US" altLang="zh-CN" b="0" i="0" dirty="0">
                <a:solidFill>
                  <a:schemeClr val="tx1"/>
                </a:solidFill>
                <a:latin typeface="+mn-lt"/>
                <a:ea typeface="黑体" panose="02010609060101010101" pitchFamily="49" charset="-122"/>
              </a:rPr>
              <a:t>[</a:t>
            </a:r>
            <a:r>
              <a:rPr lang="en-US" altLang="zh-CN" b="0" dirty="0">
                <a:solidFill>
                  <a:schemeClr val="tx1"/>
                </a:solidFill>
                <a:latin typeface="+mn-lt"/>
                <a:ea typeface="黑体" panose="02010609060101010101" pitchFamily="49" charset="-122"/>
                <a:sym typeface="Symbol" panose="05050102010706020507" pitchFamily="18" charset="2"/>
              </a:rPr>
              <a:t></a:t>
            </a:r>
            <a:r>
              <a:rPr lang="en-US" altLang="zh-CN" b="0" i="0" dirty="0">
                <a:solidFill>
                  <a:schemeClr val="tx1"/>
                </a:solidFill>
                <a:latin typeface="+mn-lt"/>
                <a:ea typeface="黑体" panose="02010609060101010101" pitchFamily="49" charset="-122"/>
              </a:rPr>
              <a:t>]</a:t>
            </a:r>
            <a:r>
              <a:rPr lang="zh-CN" altLang="en-US" b="0" i="0" dirty="0">
                <a:solidFill>
                  <a:schemeClr val="tx1"/>
                </a:solidFill>
                <a:latin typeface="+mn-lt"/>
                <a:ea typeface="黑体" panose="02010609060101010101" pitchFamily="49" charset="-122"/>
              </a:rPr>
              <a:t>＝</a:t>
            </a:r>
            <a:r>
              <a:rPr lang="en-US" altLang="zh-CN" b="0" i="0" dirty="0">
                <a:solidFill>
                  <a:schemeClr val="tx1"/>
                </a:solidFill>
                <a:latin typeface="+mn-lt"/>
                <a:ea typeface="黑体" panose="02010609060101010101" pitchFamily="49" charset="-122"/>
              </a:rPr>
              <a:t>90MPa</a:t>
            </a:r>
            <a:r>
              <a:rPr lang="zh-CN" altLang="en-US" i="0" dirty="0">
                <a:solidFill>
                  <a:schemeClr val="tx1"/>
                </a:solidFill>
                <a:latin typeface="+mn-lt"/>
                <a:ea typeface="黑体" panose="02010609060101010101" pitchFamily="49" charset="-122"/>
              </a:rPr>
              <a:t>。试设计连杆的尺寸</a:t>
            </a:r>
            <a:r>
              <a:rPr lang="en-US" altLang="zh-CN" b="0" dirty="0">
                <a:solidFill>
                  <a:schemeClr val="tx1"/>
                </a:solidFill>
                <a:latin typeface="+mn-lt"/>
                <a:ea typeface="黑体" panose="02010609060101010101" pitchFamily="49" charset="-122"/>
              </a:rPr>
              <a:t>h</a:t>
            </a:r>
            <a:r>
              <a:rPr lang="zh-CN" altLang="en-US" i="0" dirty="0">
                <a:solidFill>
                  <a:schemeClr val="tx1"/>
                </a:solidFill>
                <a:latin typeface="+mn-lt"/>
                <a:ea typeface="黑体" panose="02010609060101010101" pitchFamily="49" charset="-122"/>
              </a:rPr>
              <a:t>和</a:t>
            </a:r>
            <a:r>
              <a:rPr lang="en-US" altLang="zh-CN" b="0" dirty="0">
                <a:solidFill>
                  <a:schemeClr val="tx1"/>
                </a:solidFill>
                <a:latin typeface="+mn-lt"/>
                <a:ea typeface="黑体" panose="02010609060101010101" pitchFamily="49" charset="-122"/>
              </a:rPr>
              <a:t>b</a:t>
            </a:r>
            <a:r>
              <a:rPr lang="zh-CN" altLang="en-US" i="0" dirty="0">
                <a:solidFill>
                  <a:schemeClr val="tx1"/>
                </a:solidFill>
                <a:latin typeface="+mn-lt"/>
                <a:ea typeface="黑体" panose="02010609060101010101" pitchFamily="49" charset="-122"/>
              </a:rPr>
              <a:t>。 </a:t>
            </a:r>
          </a:p>
        </p:txBody>
      </p:sp>
      <p:sp>
        <p:nvSpPr>
          <p:cNvPr id="136" name="矩形 135">
            <a:extLst>
              <a:ext uri="{FF2B5EF4-FFF2-40B4-BE49-F238E27FC236}">
                <a16:creationId xmlns:a16="http://schemas.microsoft.com/office/drawing/2014/main" id="{396E3A4E-3DCE-51D1-DE56-78AC0CFE008B}"/>
              </a:ext>
            </a:extLst>
          </p:cNvPr>
          <p:cNvSpPr/>
          <p:nvPr/>
        </p:nvSpPr>
        <p:spPr>
          <a:xfrm>
            <a:off x="551382" y="2146485"/>
            <a:ext cx="5246987" cy="1383264"/>
          </a:xfrm>
          <a:prstGeom prst="rect">
            <a:avLst/>
          </a:prstGeom>
        </p:spPr>
        <p:txBody>
          <a:bodyPr wrap="square">
            <a:spAutoFit/>
          </a:bodyPr>
          <a:lstStyle/>
          <a:p>
            <a:pPr eaLnBrk="0" hangingPunct="0">
              <a:lnSpc>
                <a:spcPct val="120000"/>
              </a:lnSpc>
            </a:pPr>
            <a:r>
              <a:rPr lang="zh-CN" altLang="en-US" i="0" dirty="0">
                <a:solidFill>
                  <a:srgbClr val="0033CC"/>
                </a:solidFill>
                <a:ea typeface="黑体" panose="02010609060101010101" pitchFamily="49" charset="-122"/>
              </a:rPr>
              <a:t>解  </a:t>
            </a:r>
            <a:r>
              <a:rPr kumimoji="1" lang="en-US" altLang="zh-CN" i="0" dirty="0">
                <a:solidFill>
                  <a:schemeClr val="tx1"/>
                </a:solidFill>
                <a:ea typeface="黑体" panose="02010609060101010101" pitchFamily="49" charset="-122"/>
              </a:rPr>
              <a:t>1</a:t>
            </a:r>
            <a:r>
              <a:rPr kumimoji="1" lang="zh-CN" altLang="en-US" i="0" dirty="0">
                <a:solidFill>
                  <a:schemeClr val="tx1"/>
                </a:solidFill>
                <a:ea typeface="黑体" panose="02010609060101010101" pitchFamily="49" charset="-122"/>
              </a:rPr>
              <a:t>）</a:t>
            </a:r>
            <a:r>
              <a:rPr lang="zh-CN" altLang="en-US" i="0" dirty="0">
                <a:solidFill>
                  <a:schemeClr val="tx1"/>
                </a:solidFill>
                <a:latin typeface="+mn-lt"/>
                <a:ea typeface="黑体" panose="02010609060101010101" pitchFamily="49" charset="-122"/>
              </a:rPr>
              <a:t>计算轴力。由于锻压时连杆位于水平位置，其轴力为</a:t>
            </a:r>
          </a:p>
          <a:p>
            <a:pPr lvl="0" eaLnBrk="0" hangingPunct="0">
              <a:lnSpc>
                <a:spcPct val="120000"/>
              </a:lnSpc>
            </a:pPr>
            <a:endParaRPr kumimoji="1" lang="zh-CN" altLang="en-US" sz="2400" i="0" u="none" strike="noStrike" kern="1200" cap="none" spc="0" normalizeH="0" baseline="0" noProof="0" dirty="0">
              <a:ln>
                <a:noFill/>
              </a:ln>
              <a:solidFill>
                <a:schemeClr val="tx1"/>
              </a:solidFill>
              <a:effectLst/>
              <a:uLnTx/>
              <a:uFillTx/>
              <a:latin typeface="+mn-lt"/>
              <a:ea typeface="黑体" panose="02010609060101010101" pitchFamily="49" charset="-122"/>
            </a:endParaRPr>
          </a:p>
        </p:txBody>
      </p:sp>
      <p:sp>
        <p:nvSpPr>
          <p:cNvPr id="2" name="Rectangle 61">
            <a:extLst>
              <a:ext uri="{FF2B5EF4-FFF2-40B4-BE49-F238E27FC236}">
                <a16:creationId xmlns:a16="http://schemas.microsoft.com/office/drawing/2014/main" id="{E746119E-2B09-2980-E8E2-5F100493CF6E}"/>
              </a:ext>
            </a:extLst>
          </p:cNvPr>
          <p:cNvSpPr>
            <a:spLocks noChangeArrowheads="1"/>
          </p:cNvSpPr>
          <p:nvPr/>
        </p:nvSpPr>
        <p:spPr bwMode="auto">
          <a:xfrm>
            <a:off x="6168918" y="1763009"/>
            <a:ext cx="5544616" cy="3651954"/>
          </a:xfrm>
          <a:prstGeom prst="rect">
            <a:avLst/>
          </a:prstGeom>
          <a:solidFill>
            <a:srgbClr val="B9CDE5"/>
          </a:solidFill>
          <a:ln>
            <a:noFill/>
          </a:ln>
          <a:effectLst/>
        </p:spPr>
        <p:txBody>
          <a:bodyPr wrap="none" anchor="ctr"/>
          <a:lstStyle/>
          <a:p>
            <a:endParaRPr lang="zh-CN" altLang="en-US" dirty="0"/>
          </a:p>
        </p:txBody>
      </p:sp>
      <p:sp>
        <p:nvSpPr>
          <p:cNvPr id="263" name="矩形 262">
            <a:extLst>
              <a:ext uri="{FF2B5EF4-FFF2-40B4-BE49-F238E27FC236}">
                <a16:creationId xmlns:a16="http://schemas.microsoft.com/office/drawing/2014/main" id="{869757DD-0866-5287-A0EC-2DBC9D2AE5A6}"/>
              </a:ext>
            </a:extLst>
          </p:cNvPr>
          <p:cNvSpPr/>
          <p:nvPr/>
        </p:nvSpPr>
        <p:spPr>
          <a:xfrm>
            <a:off x="551383" y="3583981"/>
            <a:ext cx="4474535" cy="493148"/>
          </a:xfrm>
          <a:prstGeom prst="rect">
            <a:avLst/>
          </a:prstGeom>
        </p:spPr>
        <p:txBody>
          <a:bodyPr wrap="square">
            <a:spAutoFit/>
          </a:bodyPr>
          <a:lstStyle/>
          <a:p>
            <a:pPr lvl="0" eaLnBrk="0" hangingPunct="0">
              <a:lnSpc>
                <a:spcPct val="120000"/>
              </a:lnSpc>
            </a:pPr>
            <a:r>
              <a:rPr lang="zh-CN" altLang="en-US" i="0" dirty="0">
                <a:solidFill>
                  <a:srgbClr val="0033CC"/>
                </a:solidFill>
                <a:ea typeface="黑体" panose="02010609060101010101" pitchFamily="49" charset="-122"/>
              </a:rPr>
              <a:t>     </a:t>
            </a:r>
            <a:r>
              <a:rPr kumimoji="1" lang="en-US" altLang="zh-CN" i="0" dirty="0">
                <a:solidFill>
                  <a:schemeClr val="tx1"/>
                </a:solidFill>
                <a:ea typeface="黑体" panose="02010609060101010101" pitchFamily="49" charset="-122"/>
              </a:rPr>
              <a:t>2</a:t>
            </a:r>
            <a:r>
              <a:rPr kumimoji="1" lang="zh-CN" altLang="en-US" i="0" dirty="0">
                <a:solidFill>
                  <a:schemeClr val="tx1"/>
                </a:solidFill>
                <a:ea typeface="黑体" panose="02010609060101010101" pitchFamily="49" charset="-122"/>
              </a:rPr>
              <a:t>）求横截面面积 </a:t>
            </a:r>
          </a:p>
        </p:txBody>
      </p:sp>
      <p:graphicFrame>
        <p:nvGraphicFramePr>
          <p:cNvPr id="274" name="Object 89">
            <a:extLst>
              <a:ext uri="{FF2B5EF4-FFF2-40B4-BE49-F238E27FC236}">
                <a16:creationId xmlns:a16="http://schemas.microsoft.com/office/drawing/2014/main" id="{0142972F-66C4-92C4-5CC3-0B66D75511B8}"/>
              </a:ext>
            </a:extLst>
          </p:cNvPr>
          <p:cNvGraphicFramePr>
            <a:graphicFrameLocks noChangeAspect="1"/>
          </p:cNvGraphicFramePr>
          <p:nvPr>
            <p:extLst>
              <p:ext uri="{D42A27DB-BD31-4B8C-83A1-F6EECF244321}">
                <p14:modId xmlns:p14="http://schemas.microsoft.com/office/powerpoint/2010/main" val="1350024843"/>
              </p:ext>
            </p:extLst>
          </p:nvPr>
        </p:nvGraphicFramePr>
        <p:xfrm>
          <a:off x="2047875" y="3101613"/>
          <a:ext cx="2370138" cy="476250"/>
        </p:xfrm>
        <a:graphic>
          <a:graphicData uri="http://schemas.openxmlformats.org/presentationml/2006/ole">
            <mc:AlternateContent xmlns:mc="http://schemas.openxmlformats.org/markup-compatibility/2006">
              <mc:Choice xmlns:v="urn:schemas-microsoft-com:vml" Requires="v">
                <p:oleObj name="Equation" r:id="rId3" imgW="1130040" imgH="228600" progId="Equation.DSMT4">
                  <p:embed/>
                </p:oleObj>
              </mc:Choice>
              <mc:Fallback>
                <p:oleObj name="Equation" r:id="rId3" imgW="1130040" imgH="228600" progId="Equation.DSMT4">
                  <p:embed/>
                  <p:pic>
                    <p:nvPicPr>
                      <p:cNvPr id="274" name="Object 89">
                        <a:extLst>
                          <a:ext uri="{FF2B5EF4-FFF2-40B4-BE49-F238E27FC236}">
                            <a16:creationId xmlns:a16="http://schemas.microsoft.com/office/drawing/2014/main" id="{0142972F-66C4-92C4-5CC3-0B66D75511B8}"/>
                          </a:ext>
                        </a:extLst>
                      </p:cNvPr>
                      <p:cNvPicPr>
                        <a:picLocks noChangeAspect="1" noChangeArrowheads="1"/>
                      </p:cNvPicPr>
                      <p:nvPr/>
                    </p:nvPicPr>
                    <p:blipFill>
                      <a:blip r:embed="rId4"/>
                      <a:srcRect/>
                      <a:stretch>
                        <a:fillRect/>
                      </a:stretch>
                    </p:blipFill>
                    <p:spPr bwMode="auto">
                      <a:xfrm>
                        <a:off x="2047875" y="3101613"/>
                        <a:ext cx="2370138" cy="476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 name="Group 90">
            <a:extLst>
              <a:ext uri="{FF2B5EF4-FFF2-40B4-BE49-F238E27FC236}">
                <a16:creationId xmlns:a16="http://schemas.microsoft.com/office/drawing/2014/main" id="{820552F6-9E0D-275C-EE8D-8723F4988715}"/>
              </a:ext>
            </a:extLst>
          </p:cNvPr>
          <p:cNvGrpSpPr>
            <a:grpSpLocks/>
          </p:cNvGrpSpPr>
          <p:nvPr/>
        </p:nvGrpSpPr>
        <p:grpSpPr bwMode="auto">
          <a:xfrm>
            <a:off x="6558260" y="1799066"/>
            <a:ext cx="5056187" cy="1838325"/>
            <a:chOff x="2165" y="1299"/>
            <a:chExt cx="3185" cy="1158"/>
          </a:xfrm>
        </p:grpSpPr>
        <p:sp>
          <p:nvSpPr>
            <p:cNvPr id="4" name="AutoShape 10">
              <a:extLst>
                <a:ext uri="{FF2B5EF4-FFF2-40B4-BE49-F238E27FC236}">
                  <a16:creationId xmlns:a16="http://schemas.microsoft.com/office/drawing/2014/main" id="{5C819BF9-B25F-F99B-6849-1812DC2BCE19}"/>
                </a:ext>
              </a:extLst>
            </p:cNvPr>
            <p:cNvSpPr>
              <a:spLocks noChangeAspect="1" noChangeArrowheads="1"/>
            </p:cNvSpPr>
            <p:nvPr/>
          </p:nvSpPr>
          <p:spPr bwMode="auto">
            <a:xfrm>
              <a:off x="2561" y="1923"/>
              <a:ext cx="202" cy="196"/>
            </a:xfrm>
            <a:prstGeom prst="triangle">
              <a:avLst>
                <a:gd name="adj" fmla="val 50000"/>
              </a:avLst>
            </a:prstGeom>
            <a:solidFill>
              <a:srgbClr val="66FF33"/>
            </a:solidFill>
            <a:ln w="38100">
              <a:solidFill>
                <a:srgbClr val="000000"/>
              </a:solidFill>
              <a:miter lim="800000"/>
              <a:headEnd/>
              <a:tailEnd/>
            </a:ln>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5" name="Rectangle 11" descr="宽上对角线">
              <a:extLst>
                <a:ext uri="{FF2B5EF4-FFF2-40B4-BE49-F238E27FC236}">
                  <a16:creationId xmlns:a16="http://schemas.microsoft.com/office/drawing/2014/main" id="{B449FAED-7006-1556-68F8-7AF1402AD308}"/>
                </a:ext>
              </a:extLst>
            </p:cNvPr>
            <p:cNvSpPr>
              <a:spLocks noChangeAspect="1" noChangeArrowheads="1"/>
            </p:cNvSpPr>
            <p:nvPr/>
          </p:nvSpPr>
          <p:spPr bwMode="auto">
            <a:xfrm>
              <a:off x="2491" y="2107"/>
              <a:ext cx="342" cy="96"/>
            </a:xfrm>
            <a:prstGeom prst="rect">
              <a:avLst/>
            </a:prstGeom>
            <a:pattFill prst="wdUpDiag">
              <a:fgClr>
                <a:srgbClr val="000000"/>
              </a:fgClr>
              <a:bgClr>
                <a:srgbClr val="FFFFCC"/>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6" name="Line 12">
              <a:extLst>
                <a:ext uri="{FF2B5EF4-FFF2-40B4-BE49-F238E27FC236}">
                  <a16:creationId xmlns:a16="http://schemas.microsoft.com/office/drawing/2014/main" id="{C67DF499-9E18-3F93-F542-7D1473D959E3}"/>
                </a:ext>
              </a:extLst>
            </p:cNvPr>
            <p:cNvSpPr>
              <a:spLocks noChangeAspect="1" noChangeShapeType="1"/>
            </p:cNvSpPr>
            <p:nvPr/>
          </p:nvSpPr>
          <p:spPr bwMode="auto">
            <a:xfrm>
              <a:off x="2490" y="2099"/>
              <a:ext cx="344" cy="1"/>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8" name="AutoShape 14">
              <a:extLst>
                <a:ext uri="{FF2B5EF4-FFF2-40B4-BE49-F238E27FC236}">
                  <a16:creationId xmlns:a16="http://schemas.microsoft.com/office/drawing/2014/main" id="{7187A1C7-67F9-ECC8-D9CD-D5FA7788FC7F}"/>
                </a:ext>
              </a:extLst>
            </p:cNvPr>
            <p:cNvSpPr>
              <a:spLocks noChangeArrowheads="1"/>
            </p:cNvSpPr>
            <p:nvPr/>
          </p:nvSpPr>
          <p:spPr bwMode="auto">
            <a:xfrm rot="11760000">
              <a:off x="2780" y="1672"/>
              <a:ext cx="1908" cy="67"/>
            </a:xfrm>
            <a:prstGeom prst="roundRect">
              <a:avLst>
                <a:gd name="adj" fmla="val 50000"/>
              </a:avLst>
            </a:prstGeom>
            <a:gradFill rotWithShape="1">
              <a:gsLst>
                <a:gs pos="0">
                  <a:srgbClr val="00CC99"/>
                </a:gs>
                <a:gs pos="50000">
                  <a:srgbClr val="00CC99">
                    <a:gamma/>
                    <a:tint val="23529"/>
                    <a:invGamma/>
                  </a:srgbClr>
                </a:gs>
                <a:gs pos="100000">
                  <a:srgbClr val="00CC99"/>
                </a:gs>
              </a:gsLst>
              <a:lin ang="5400000" scaled="1"/>
            </a:gradFill>
            <a:ln w="28575">
              <a:solidFill>
                <a:srgbClr val="000000"/>
              </a:solidFill>
              <a:round/>
              <a:headEnd/>
              <a:tailEnd/>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itchFamily="2" charset="-122"/>
              </a:endParaRPr>
            </a:p>
          </p:txBody>
        </p:sp>
        <p:sp>
          <p:nvSpPr>
            <p:cNvPr id="9" name="Text Box 15">
              <a:extLst>
                <a:ext uri="{FF2B5EF4-FFF2-40B4-BE49-F238E27FC236}">
                  <a16:creationId xmlns:a16="http://schemas.microsoft.com/office/drawing/2014/main" id="{5C389515-7A12-1126-724A-92FD041C67E0}"/>
                </a:ext>
              </a:extLst>
            </p:cNvPr>
            <p:cNvSpPr txBox="1">
              <a:spLocks noChangeAspect="1" noChangeArrowheads="1"/>
            </p:cNvSpPr>
            <p:nvPr/>
          </p:nvSpPr>
          <p:spPr bwMode="auto">
            <a:xfrm>
              <a:off x="2393" y="1843"/>
              <a:ext cx="336" cy="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O</a:t>
              </a:r>
            </a:p>
          </p:txBody>
        </p:sp>
        <p:sp>
          <p:nvSpPr>
            <p:cNvPr id="10" name="Text Box 17">
              <a:extLst>
                <a:ext uri="{FF2B5EF4-FFF2-40B4-BE49-F238E27FC236}">
                  <a16:creationId xmlns:a16="http://schemas.microsoft.com/office/drawing/2014/main" id="{58520F1D-AA32-7EFA-EEFC-0A0B2A79F150}"/>
                </a:ext>
              </a:extLst>
            </p:cNvPr>
            <p:cNvSpPr txBox="1">
              <a:spLocks noChangeAspect="1" noChangeArrowheads="1"/>
            </p:cNvSpPr>
            <p:nvPr/>
          </p:nvSpPr>
          <p:spPr bwMode="auto">
            <a:xfrm>
              <a:off x="4616" y="1299"/>
              <a:ext cx="583" cy="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rPr>
                <a:t>工件</a:t>
              </a:r>
            </a:p>
          </p:txBody>
        </p:sp>
        <p:grpSp>
          <p:nvGrpSpPr>
            <p:cNvPr id="11" name="Group 18">
              <a:extLst>
                <a:ext uri="{FF2B5EF4-FFF2-40B4-BE49-F238E27FC236}">
                  <a16:creationId xmlns:a16="http://schemas.microsoft.com/office/drawing/2014/main" id="{21D91B0F-453A-07E5-C5DB-AA5EB9A819D7}"/>
                </a:ext>
              </a:extLst>
            </p:cNvPr>
            <p:cNvGrpSpPr>
              <a:grpSpLocks/>
            </p:cNvGrpSpPr>
            <p:nvPr/>
          </p:nvGrpSpPr>
          <p:grpSpPr bwMode="auto">
            <a:xfrm rot="5400000">
              <a:off x="4484" y="1647"/>
              <a:ext cx="310" cy="585"/>
              <a:chOff x="4427" y="1389"/>
              <a:chExt cx="310" cy="585"/>
            </a:xfrm>
          </p:grpSpPr>
          <p:sp>
            <p:nvSpPr>
              <p:cNvPr id="224" name="Rectangle 19">
                <a:extLst>
                  <a:ext uri="{FF2B5EF4-FFF2-40B4-BE49-F238E27FC236}">
                    <a16:creationId xmlns:a16="http://schemas.microsoft.com/office/drawing/2014/main" id="{568A1F73-45D7-DDBA-3B89-BB59158F983C}"/>
                  </a:ext>
                </a:extLst>
              </p:cNvPr>
              <p:cNvSpPr>
                <a:spLocks noChangeArrowheads="1"/>
              </p:cNvSpPr>
              <p:nvPr/>
            </p:nvSpPr>
            <p:spPr bwMode="auto">
              <a:xfrm>
                <a:off x="4448" y="1514"/>
                <a:ext cx="271" cy="348"/>
              </a:xfrm>
              <a:prstGeom prst="rect">
                <a:avLst/>
              </a:prstGeom>
              <a:gradFill rotWithShape="0">
                <a:gsLst>
                  <a:gs pos="0">
                    <a:srgbClr val="FFFFFF">
                      <a:gamma/>
                      <a:shade val="65490"/>
                      <a:invGamma/>
                    </a:srgbClr>
                  </a:gs>
                  <a:gs pos="50000">
                    <a:srgbClr val="FFFFFF"/>
                  </a:gs>
                  <a:gs pos="100000">
                    <a:srgbClr val="FFFFFF">
                      <a:gamma/>
                      <a:shade val="65490"/>
                      <a:invGamma/>
                    </a:srgbClr>
                  </a:gs>
                </a:gsLst>
                <a:lin ang="0" scaled="1"/>
              </a:gradFill>
              <a:ln w="38100" algn="ctr">
                <a:solidFill>
                  <a:srgbClr val="000000"/>
                </a:solidFill>
                <a:miter lim="800000"/>
                <a:headEnd/>
                <a:tailEnd/>
              </a:ln>
              <a:effectLst>
                <a:outerShdw dist="35921" dir="2700000" algn="ctr" rotWithShape="0">
                  <a:srgbClr val="808080"/>
                </a:outerShdw>
              </a:effec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itchFamily="2" charset="-122"/>
                </a:endParaRPr>
              </a:p>
            </p:txBody>
          </p:sp>
          <p:sp>
            <p:nvSpPr>
              <p:cNvPr id="225" name="Oval 20">
                <a:extLst>
                  <a:ext uri="{FF2B5EF4-FFF2-40B4-BE49-F238E27FC236}">
                    <a16:creationId xmlns:a16="http://schemas.microsoft.com/office/drawing/2014/main" id="{255DB1FB-A442-4772-B6AA-4522FA08709E}"/>
                  </a:ext>
                </a:extLst>
              </p:cNvPr>
              <p:cNvSpPr>
                <a:spLocks noChangeArrowheads="1"/>
              </p:cNvSpPr>
              <p:nvPr/>
            </p:nvSpPr>
            <p:spPr bwMode="auto">
              <a:xfrm>
                <a:off x="4557" y="1711"/>
                <a:ext cx="50" cy="50"/>
              </a:xfrm>
              <a:prstGeom prst="ellipse">
                <a:avLst/>
              </a:prstGeom>
              <a:solidFill>
                <a:srgbClr val="FF0000"/>
              </a:solidFill>
              <a:ln w="9525">
                <a:solidFill>
                  <a:srgbClr val="000000"/>
                </a:solidFill>
                <a:round/>
                <a:headEnd/>
                <a:tailEnd/>
              </a:ln>
            </p:spPr>
            <p:txBody>
              <a:bodyPr wrap="none" anchor="ct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226" name="Rectangle 21">
                <a:extLst>
                  <a:ext uri="{FF2B5EF4-FFF2-40B4-BE49-F238E27FC236}">
                    <a16:creationId xmlns:a16="http://schemas.microsoft.com/office/drawing/2014/main" id="{74FEBB9B-8523-9F90-E6F2-85CC1D593B55}"/>
                  </a:ext>
                </a:extLst>
              </p:cNvPr>
              <p:cNvSpPr>
                <a:spLocks noChangeArrowheads="1"/>
              </p:cNvSpPr>
              <p:nvPr/>
            </p:nvSpPr>
            <p:spPr bwMode="auto">
              <a:xfrm>
                <a:off x="4428" y="1543"/>
                <a:ext cx="309" cy="27"/>
              </a:xfrm>
              <a:prstGeom prst="rect">
                <a:avLst/>
              </a:prstGeom>
              <a:gradFill rotWithShape="1">
                <a:gsLst>
                  <a:gs pos="0">
                    <a:srgbClr val="808080">
                      <a:gamma/>
                      <a:shade val="46275"/>
                      <a:invGamma/>
                    </a:srgbClr>
                  </a:gs>
                  <a:gs pos="50000">
                    <a:srgbClr val="808080"/>
                  </a:gs>
                  <a:gs pos="100000">
                    <a:srgbClr val="808080">
                      <a:gamma/>
                      <a:shade val="46275"/>
                      <a:invGamma/>
                    </a:srgbClr>
                  </a:gs>
                </a:gsLst>
                <a:lin ang="0" scaled="1"/>
              </a:gradFill>
              <a:ln w="19050">
                <a:solidFill>
                  <a:srgbClr val="000000"/>
                </a:solidFill>
                <a:miter lim="800000"/>
                <a:headEnd/>
                <a:tailEnd/>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itchFamily="2" charset="-122"/>
                </a:endParaRPr>
              </a:p>
            </p:txBody>
          </p:sp>
          <p:sp>
            <p:nvSpPr>
              <p:cNvPr id="227" name="Rectangle 22">
                <a:extLst>
                  <a:ext uri="{FF2B5EF4-FFF2-40B4-BE49-F238E27FC236}">
                    <a16:creationId xmlns:a16="http://schemas.microsoft.com/office/drawing/2014/main" id="{DECA7D2C-49D3-E303-79E6-036694F60942}"/>
                  </a:ext>
                </a:extLst>
              </p:cNvPr>
              <p:cNvSpPr>
                <a:spLocks noChangeArrowheads="1"/>
              </p:cNvSpPr>
              <p:nvPr/>
            </p:nvSpPr>
            <p:spPr bwMode="auto">
              <a:xfrm>
                <a:off x="4428" y="1585"/>
                <a:ext cx="309" cy="27"/>
              </a:xfrm>
              <a:prstGeom prst="rect">
                <a:avLst/>
              </a:prstGeom>
              <a:gradFill rotWithShape="1">
                <a:gsLst>
                  <a:gs pos="0">
                    <a:srgbClr val="808080">
                      <a:gamma/>
                      <a:shade val="46275"/>
                      <a:invGamma/>
                    </a:srgbClr>
                  </a:gs>
                  <a:gs pos="50000">
                    <a:srgbClr val="808080"/>
                  </a:gs>
                  <a:gs pos="100000">
                    <a:srgbClr val="808080">
                      <a:gamma/>
                      <a:shade val="46275"/>
                      <a:invGamma/>
                    </a:srgbClr>
                  </a:gs>
                </a:gsLst>
                <a:lin ang="0" scaled="1"/>
              </a:gradFill>
              <a:ln w="19050">
                <a:solidFill>
                  <a:srgbClr val="000000"/>
                </a:solidFill>
                <a:miter lim="800000"/>
                <a:headEnd/>
                <a:tailEnd/>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itchFamily="2" charset="-122"/>
                </a:endParaRPr>
              </a:p>
            </p:txBody>
          </p:sp>
          <p:sp>
            <p:nvSpPr>
              <p:cNvPr id="228" name="Line 23">
                <a:extLst>
                  <a:ext uri="{FF2B5EF4-FFF2-40B4-BE49-F238E27FC236}">
                    <a16:creationId xmlns:a16="http://schemas.microsoft.com/office/drawing/2014/main" id="{2363089B-1407-47F0-50EC-C0F021816AFA}"/>
                  </a:ext>
                </a:extLst>
              </p:cNvPr>
              <p:cNvSpPr>
                <a:spLocks noChangeShapeType="1"/>
              </p:cNvSpPr>
              <p:nvPr/>
            </p:nvSpPr>
            <p:spPr bwMode="auto">
              <a:xfrm>
                <a:off x="4582" y="1389"/>
                <a:ext cx="0" cy="585"/>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12" name="AutoShape 30">
              <a:extLst>
                <a:ext uri="{FF2B5EF4-FFF2-40B4-BE49-F238E27FC236}">
                  <a16:creationId xmlns:a16="http://schemas.microsoft.com/office/drawing/2014/main" id="{6CCAB483-6135-B490-0D1F-75BABC2A48E7}"/>
                </a:ext>
              </a:extLst>
            </p:cNvPr>
            <p:cNvSpPr>
              <a:spLocks noChangeArrowheads="1"/>
            </p:cNvSpPr>
            <p:nvPr/>
          </p:nvSpPr>
          <p:spPr bwMode="auto">
            <a:xfrm rot="6616997">
              <a:off x="2455" y="1651"/>
              <a:ext cx="603" cy="82"/>
            </a:xfrm>
            <a:prstGeom prst="roundRect">
              <a:avLst>
                <a:gd name="adj" fmla="val 50000"/>
              </a:avLst>
            </a:prstGeom>
            <a:gradFill rotWithShape="1">
              <a:gsLst>
                <a:gs pos="0">
                  <a:srgbClr val="767600"/>
                </a:gs>
                <a:gs pos="50000">
                  <a:srgbClr val="FFFF00"/>
                </a:gs>
                <a:gs pos="100000">
                  <a:srgbClr val="767600"/>
                </a:gs>
              </a:gsLst>
              <a:lin ang="5400000" scaled="1"/>
            </a:gradFill>
            <a:ln w="28575">
              <a:solidFill>
                <a:srgbClr val="000000"/>
              </a:solidFill>
              <a:round/>
              <a:headEnd/>
              <a:tailEnd/>
            </a:ln>
          </p:spPr>
          <p:txBody>
            <a:bodyPr wrap="none" anchor="ct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3" name="Oval 31">
              <a:extLst>
                <a:ext uri="{FF2B5EF4-FFF2-40B4-BE49-F238E27FC236}">
                  <a16:creationId xmlns:a16="http://schemas.microsoft.com/office/drawing/2014/main" id="{91DF21D4-13C7-7C37-5A81-D64B432133F3}"/>
                </a:ext>
              </a:extLst>
            </p:cNvPr>
            <p:cNvSpPr>
              <a:spLocks noChangeAspect="1" noChangeArrowheads="1"/>
            </p:cNvSpPr>
            <p:nvPr/>
          </p:nvSpPr>
          <p:spPr bwMode="auto">
            <a:xfrm>
              <a:off x="2630" y="1915"/>
              <a:ext cx="64" cy="64"/>
            </a:xfrm>
            <a:prstGeom prst="ellipse">
              <a:avLst/>
            </a:prstGeom>
            <a:solidFill>
              <a:srgbClr val="FF0000"/>
            </a:solidFill>
            <a:ln w="28575">
              <a:solidFill>
                <a:srgbClr val="000000"/>
              </a:solidFill>
              <a:round/>
              <a:headEnd/>
              <a:tailEnd/>
            </a:ln>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4" name="Oval 32">
              <a:extLst>
                <a:ext uri="{FF2B5EF4-FFF2-40B4-BE49-F238E27FC236}">
                  <a16:creationId xmlns:a16="http://schemas.microsoft.com/office/drawing/2014/main" id="{02420E1A-8839-F98F-7CD1-B896A2CE5D4F}"/>
                </a:ext>
              </a:extLst>
            </p:cNvPr>
            <p:cNvSpPr>
              <a:spLocks noChangeAspect="1" noChangeArrowheads="1"/>
            </p:cNvSpPr>
            <p:nvPr/>
          </p:nvSpPr>
          <p:spPr bwMode="auto">
            <a:xfrm rot="5400000">
              <a:off x="2807" y="1418"/>
              <a:ext cx="64" cy="64"/>
            </a:xfrm>
            <a:prstGeom prst="ellipse">
              <a:avLst/>
            </a:prstGeom>
            <a:solidFill>
              <a:srgbClr val="FF0000"/>
            </a:solidFill>
            <a:ln w="28575">
              <a:solidFill>
                <a:srgbClr val="000000"/>
              </a:solidFill>
              <a:round/>
              <a:headEnd/>
              <a:tailEnd/>
            </a:ln>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5" name="Line 33">
              <a:extLst>
                <a:ext uri="{FF2B5EF4-FFF2-40B4-BE49-F238E27FC236}">
                  <a16:creationId xmlns:a16="http://schemas.microsoft.com/office/drawing/2014/main" id="{E7F4FA62-434D-113D-BC5C-560ACE0E6223}"/>
                </a:ext>
              </a:extLst>
            </p:cNvPr>
            <p:cNvSpPr>
              <a:spLocks noChangeShapeType="1"/>
            </p:cNvSpPr>
            <p:nvPr/>
          </p:nvSpPr>
          <p:spPr bwMode="auto">
            <a:xfrm rot="16200000" flipH="1">
              <a:off x="3991" y="588"/>
              <a:ext cx="0" cy="2719"/>
            </a:xfrm>
            <a:prstGeom prst="line">
              <a:avLst/>
            </a:prstGeom>
            <a:noFill/>
            <a:ln w="3175">
              <a:solidFill>
                <a:srgbClr val="000000"/>
              </a:solidFill>
              <a:prstDash val="lgDashDot"/>
              <a:round/>
              <a:headEnd/>
              <a:tailEnd type="none" w="sm" len="lg"/>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6" name="Line 75">
              <a:extLst>
                <a:ext uri="{FF2B5EF4-FFF2-40B4-BE49-F238E27FC236}">
                  <a16:creationId xmlns:a16="http://schemas.microsoft.com/office/drawing/2014/main" id="{C23E297E-CB22-B26E-4BCE-EB285E8493E2}"/>
                </a:ext>
              </a:extLst>
            </p:cNvPr>
            <p:cNvSpPr>
              <a:spLocks noChangeShapeType="1"/>
            </p:cNvSpPr>
            <p:nvPr/>
          </p:nvSpPr>
          <p:spPr bwMode="auto">
            <a:xfrm flipH="1" flipV="1">
              <a:off x="4862" y="1486"/>
              <a:ext cx="148" cy="40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nvGrpSpPr>
            <p:cNvPr id="17" name="Group 88">
              <a:extLst>
                <a:ext uri="{FF2B5EF4-FFF2-40B4-BE49-F238E27FC236}">
                  <a16:creationId xmlns:a16="http://schemas.microsoft.com/office/drawing/2014/main" id="{A2A67E7B-4881-2378-2941-81292AB47161}"/>
                </a:ext>
              </a:extLst>
            </p:cNvPr>
            <p:cNvGrpSpPr>
              <a:grpSpLocks/>
            </p:cNvGrpSpPr>
            <p:nvPr/>
          </p:nvGrpSpPr>
          <p:grpSpPr bwMode="auto">
            <a:xfrm>
              <a:off x="4326" y="2115"/>
              <a:ext cx="635" cy="99"/>
              <a:chOff x="4278" y="2115"/>
              <a:chExt cx="813" cy="99"/>
            </a:xfrm>
          </p:grpSpPr>
          <p:sp>
            <p:nvSpPr>
              <p:cNvPr id="27" name="Rectangle 82" descr="宽上对角线">
                <a:extLst>
                  <a:ext uri="{FF2B5EF4-FFF2-40B4-BE49-F238E27FC236}">
                    <a16:creationId xmlns:a16="http://schemas.microsoft.com/office/drawing/2014/main" id="{53B5C8D4-76EC-DE70-BE15-5476BE88F916}"/>
                  </a:ext>
                </a:extLst>
              </p:cNvPr>
              <p:cNvSpPr>
                <a:spLocks noChangeAspect="1" noChangeArrowheads="1"/>
              </p:cNvSpPr>
              <p:nvPr/>
            </p:nvSpPr>
            <p:spPr bwMode="auto">
              <a:xfrm>
                <a:off x="4279" y="2123"/>
                <a:ext cx="808" cy="91"/>
              </a:xfrm>
              <a:prstGeom prst="rect">
                <a:avLst/>
              </a:prstGeom>
              <a:pattFill prst="wdUpDiag">
                <a:fgClr>
                  <a:srgbClr val="000000"/>
                </a:fgClr>
                <a:bgClr>
                  <a:srgbClr val="FFFFCC"/>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28" name="Line 83">
                <a:extLst>
                  <a:ext uri="{FF2B5EF4-FFF2-40B4-BE49-F238E27FC236}">
                    <a16:creationId xmlns:a16="http://schemas.microsoft.com/office/drawing/2014/main" id="{60EC78F9-91E5-B29E-31B4-F29CCF969DB2}"/>
                  </a:ext>
                </a:extLst>
              </p:cNvPr>
              <p:cNvSpPr>
                <a:spLocks noChangeAspect="1" noChangeShapeType="1"/>
              </p:cNvSpPr>
              <p:nvPr/>
            </p:nvSpPr>
            <p:spPr bwMode="auto">
              <a:xfrm>
                <a:off x="4278" y="2115"/>
                <a:ext cx="813" cy="1"/>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grpSp>
          <p:nvGrpSpPr>
            <p:cNvPr id="18" name="Group 86">
              <a:extLst>
                <a:ext uri="{FF2B5EF4-FFF2-40B4-BE49-F238E27FC236}">
                  <a16:creationId xmlns:a16="http://schemas.microsoft.com/office/drawing/2014/main" id="{79CABC4D-799A-92B2-FB37-DC7B28C27944}"/>
                </a:ext>
              </a:extLst>
            </p:cNvPr>
            <p:cNvGrpSpPr>
              <a:grpSpLocks/>
            </p:cNvGrpSpPr>
            <p:nvPr/>
          </p:nvGrpSpPr>
          <p:grpSpPr bwMode="auto">
            <a:xfrm flipV="1">
              <a:off x="4310" y="1666"/>
              <a:ext cx="635" cy="99"/>
              <a:chOff x="4414" y="2251"/>
              <a:chExt cx="813" cy="99"/>
            </a:xfrm>
          </p:grpSpPr>
          <p:sp>
            <p:nvSpPr>
              <p:cNvPr id="25" name="Rectangle 84" descr="宽上对角线">
                <a:extLst>
                  <a:ext uri="{FF2B5EF4-FFF2-40B4-BE49-F238E27FC236}">
                    <a16:creationId xmlns:a16="http://schemas.microsoft.com/office/drawing/2014/main" id="{EB285794-846F-3E1F-A6FB-CF347095ADA4}"/>
                  </a:ext>
                </a:extLst>
              </p:cNvPr>
              <p:cNvSpPr>
                <a:spLocks noChangeAspect="1" noChangeArrowheads="1"/>
              </p:cNvSpPr>
              <p:nvPr/>
            </p:nvSpPr>
            <p:spPr bwMode="auto">
              <a:xfrm>
                <a:off x="4415" y="2259"/>
                <a:ext cx="808" cy="91"/>
              </a:xfrm>
              <a:prstGeom prst="rect">
                <a:avLst/>
              </a:prstGeom>
              <a:pattFill prst="wdUpDiag">
                <a:fgClr>
                  <a:srgbClr val="000000"/>
                </a:fgClr>
                <a:bgClr>
                  <a:srgbClr val="FFFFCC"/>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26" name="Line 85">
                <a:extLst>
                  <a:ext uri="{FF2B5EF4-FFF2-40B4-BE49-F238E27FC236}">
                    <a16:creationId xmlns:a16="http://schemas.microsoft.com/office/drawing/2014/main" id="{470607F9-7076-1FFF-0956-B8579AEE8968}"/>
                  </a:ext>
                </a:extLst>
              </p:cNvPr>
              <p:cNvSpPr>
                <a:spLocks noChangeAspect="1" noChangeShapeType="1"/>
              </p:cNvSpPr>
              <p:nvPr/>
            </p:nvSpPr>
            <p:spPr bwMode="auto">
              <a:xfrm>
                <a:off x="4414" y="2251"/>
                <a:ext cx="813" cy="1"/>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20" name="Rectangle 87">
              <a:extLst>
                <a:ext uri="{FF2B5EF4-FFF2-40B4-BE49-F238E27FC236}">
                  <a16:creationId xmlns:a16="http://schemas.microsoft.com/office/drawing/2014/main" id="{A7E3E567-5C98-72E3-0E8F-549BEB0A771B}"/>
                </a:ext>
              </a:extLst>
            </p:cNvPr>
            <p:cNvSpPr>
              <a:spLocks noChangeArrowheads="1"/>
            </p:cNvSpPr>
            <p:nvPr/>
          </p:nvSpPr>
          <p:spPr bwMode="auto">
            <a:xfrm>
              <a:off x="4947" y="1839"/>
              <a:ext cx="119" cy="178"/>
            </a:xfrm>
            <a:prstGeom prst="rect">
              <a:avLst/>
            </a:prstGeom>
            <a:gradFill rotWithShape="0">
              <a:gsLst>
                <a:gs pos="0">
                  <a:srgbClr val="FFFFFF">
                    <a:gamma/>
                    <a:shade val="65490"/>
                    <a:invGamma/>
                  </a:srgbClr>
                </a:gs>
                <a:gs pos="50000">
                  <a:srgbClr val="FFFFFF"/>
                </a:gs>
                <a:gs pos="100000">
                  <a:srgbClr val="FFFFFF">
                    <a:gamma/>
                    <a:shade val="65490"/>
                    <a:invGamma/>
                  </a:srgbClr>
                </a:gs>
              </a:gsLst>
              <a:lin ang="0" scaled="1"/>
            </a:gradFill>
            <a:ln w="38100" algn="ctr">
              <a:solidFill>
                <a:srgbClr val="000000"/>
              </a:solidFill>
              <a:miter lim="800000"/>
              <a:headEnd/>
              <a:tailEnd/>
            </a:ln>
            <a:effectLst>
              <a:outerShdw dist="35921" dir="2700000" algn="ctr" rotWithShape="0">
                <a:srgbClr val="808080"/>
              </a:outerShdw>
            </a:effec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itchFamily="2" charset="-122"/>
              </a:endParaRPr>
            </a:p>
          </p:txBody>
        </p:sp>
        <p:grpSp>
          <p:nvGrpSpPr>
            <p:cNvPr id="21" name="Group 81">
              <a:extLst>
                <a:ext uri="{FF2B5EF4-FFF2-40B4-BE49-F238E27FC236}">
                  <a16:creationId xmlns:a16="http://schemas.microsoft.com/office/drawing/2014/main" id="{D82FABE3-7CE9-C4C8-6FB0-F7191FD5A898}"/>
                </a:ext>
              </a:extLst>
            </p:cNvPr>
            <p:cNvGrpSpPr>
              <a:grpSpLocks/>
            </p:cNvGrpSpPr>
            <p:nvPr/>
          </p:nvGrpSpPr>
          <p:grpSpPr bwMode="auto">
            <a:xfrm rot="-5400000">
              <a:off x="4955" y="1871"/>
              <a:ext cx="344" cy="104"/>
              <a:chOff x="2626" y="2235"/>
              <a:chExt cx="344" cy="104"/>
            </a:xfrm>
          </p:grpSpPr>
          <p:sp>
            <p:nvSpPr>
              <p:cNvPr id="23" name="Rectangle 79" descr="宽上对角线">
                <a:extLst>
                  <a:ext uri="{FF2B5EF4-FFF2-40B4-BE49-F238E27FC236}">
                    <a16:creationId xmlns:a16="http://schemas.microsoft.com/office/drawing/2014/main" id="{7B353014-4020-B8C1-B184-AFAAEEC8E1D6}"/>
                  </a:ext>
                </a:extLst>
              </p:cNvPr>
              <p:cNvSpPr>
                <a:spLocks noChangeAspect="1" noChangeArrowheads="1"/>
              </p:cNvSpPr>
              <p:nvPr/>
            </p:nvSpPr>
            <p:spPr bwMode="auto">
              <a:xfrm>
                <a:off x="2627" y="2243"/>
                <a:ext cx="342" cy="96"/>
              </a:xfrm>
              <a:prstGeom prst="rect">
                <a:avLst/>
              </a:prstGeom>
              <a:pattFill prst="wdUpDiag">
                <a:fgClr>
                  <a:srgbClr val="000000"/>
                </a:fgClr>
                <a:bgClr>
                  <a:srgbClr val="FFFFCC"/>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24" name="Line 80">
                <a:extLst>
                  <a:ext uri="{FF2B5EF4-FFF2-40B4-BE49-F238E27FC236}">
                    <a16:creationId xmlns:a16="http://schemas.microsoft.com/office/drawing/2014/main" id="{1B928120-F481-7138-A782-9306ACD3030B}"/>
                  </a:ext>
                </a:extLst>
              </p:cNvPr>
              <p:cNvSpPr>
                <a:spLocks noChangeAspect="1" noChangeShapeType="1"/>
              </p:cNvSpPr>
              <p:nvPr/>
            </p:nvSpPr>
            <p:spPr bwMode="auto">
              <a:xfrm>
                <a:off x="2626" y="2235"/>
                <a:ext cx="344" cy="1"/>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22" name="Oval 89">
              <a:extLst>
                <a:ext uri="{FF2B5EF4-FFF2-40B4-BE49-F238E27FC236}">
                  <a16:creationId xmlns:a16="http://schemas.microsoft.com/office/drawing/2014/main" id="{68B648E7-928C-6CAC-6360-EB5E0B4AA898}"/>
                </a:ext>
              </a:extLst>
            </p:cNvPr>
            <p:cNvSpPr>
              <a:spLocks noChangeArrowheads="1"/>
            </p:cNvSpPr>
            <p:nvPr/>
          </p:nvSpPr>
          <p:spPr bwMode="auto">
            <a:xfrm>
              <a:off x="2165" y="1424"/>
              <a:ext cx="1033" cy="1033"/>
            </a:xfrm>
            <a:prstGeom prst="ellipse">
              <a:avLst/>
            </a:prstGeom>
            <a:noFill/>
            <a:ln w="9525">
              <a:solidFill>
                <a:srgbClr val="000000"/>
              </a:solidFill>
              <a:prstDash val="lgDash"/>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grpSp>
      <p:grpSp>
        <p:nvGrpSpPr>
          <p:cNvPr id="241" name="Group 96">
            <a:extLst>
              <a:ext uri="{FF2B5EF4-FFF2-40B4-BE49-F238E27FC236}">
                <a16:creationId xmlns:a16="http://schemas.microsoft.com/office/drawing/2014/main" id="{2F129FF9-CDEC-C5A0-BDC5-E63A5CA9E531}"/>
              </a:ext>
            </a:extLst>
          </p:cNvPr>
          <p:cNvGrpSpPr>
            <a:grpSpLocks/>
          </p:cNvGrpSpPr>
          <p:nvPr/>
        </p:nvGrpSpPr>
        <p:grpSpPr bwMode="auto">
          <a:xfrm>
            <a:off x="6323310" y="3621516"/>
            <a:ext cx="5291137" cy="1693862"/>
            <a:chOff x="2427" y="2125"/>
            <a:chExt cx="3333" cy="1067"/>
          </a:xfrm>
        </p:grpSpPr>
        <p:sp>
          <p:nvSpPr>
            <p:cNvPr id="242" name="Freeform 94">
              <a:extLst>
                <a:ext uri="{FF2B5EF4-FFF2-40B4-BE49-F238E27FC236}">
                  <a16:creationId xmlns:a16="http://schemas.microsoft.com/office/drawing/2014/main" id="{38A7E366-ED90-0D28-7C7E-0153BF8C0E1D}"/>
                </a:ext>
              </a:extLst>
            </p:cNvPr>
            <p:cNvSpPr>
              <a:spLocks/>
            </p:cNvSpPr>
            <p:nvPr/>
          </p:nvSpPr>
          <p:spPr bwMode="auto">
            <a:xfrm>
              <a:off x="3296" y="2356"/>
              <a:ext cx="1744" cy="484"/>
            </a:xfrm>
            <a:custGeom>
              <a:avLst/>
              <a:gdLst>
                <a:gd name="T0" fmla="*/ 44 w 1744"/>
                <a:gd name="T1" fmla="*/ 20 h 484"/>
                <a:gd name="T2" fmla="*/ 80 w 1744"/>
                <a:gd name="T3" fmla="*/ 48 h 484"/>
                <a:gd name="T4" fmla="*/ 128 w 1744"/>
                <a:gd name="T5" fmla="*/ 72 h 484"/>
                <a:gd name="T6" fmla="*/ 200 w 1744"/>
                <a:gd name="T7" fmla="*/ 88 h 484"/>
                <a:gd name="T8" fmla="*/ 236 w 1744"/>
                <a:gd name="T9" fmla="*/ 104 h 484"/>
                <a:gd name="T10" fmla="*/ 1732 w 1744"/>
                <a:gd name="T11" fmla="*/ 88 h 484"/>
                <a:gd name="T12" fmla="*/ 1744 w 1744"/>
                <a:gd name="T13" fmla="*/ 428 h 484"/>
                <a:gd name="T14" fmla="*/ 172 w 1744"/>
                <a:gd name="T15" fmla="*/ 432 h 484"/>
                <a:gd name="T16" fmla="*/ 92 w 1744"/>
                <a:gd name="T17" fmla="*/ 456 h 484"/>
                <a:gd name="T18" fmla="*/ 0 w 1744"/>
                <a:gd name="T19" fmla="*/ 484 h 484"/>
                <a:gd name="T20" fmla="*/ 16 w 1744"/>
                <a:gd name="T21" fmla="*/ 0 h 484"/>
                <a:gd name="T22" fmla="*/ 44 w 1744"/>
                <a:gd name="T23" fmla="*/ 20 h 48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744"/>
                <a:gd name="T37" fmla="*/ 0 h 484"/>
                <a:gd name="T38" fmla="*/ 1744 w 1744"/>
                <a:gd name="T39" fmla="*/ 484 h 48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744" h="484">
                  <a:moveTo>
                    <a:pt x="44" y="20"/>
                  </a:moveTo>
                  <a:cubicBezTo>
                    <a:pt x="55" y="22"/>
                    <a:pt x="66" y="39"/>
                    <a:pt x="80" y="48"/>
                  </a:cubicBezTo>
                  <a:cubicBezTo>
                    <a:pt x="93" y="68"/>
                    <a:pt x="108" y="59"/>
                    <a:pt x="128" y="72"/>
                  </a:cubicBezTo>
                  <a:cubicBezTo>
                    <a:pt x="180" y="108"/>
                    <a:pt x="160" y="104"/>
                    <a:pt x="200" y="88"/>
                  </a:cubicBezTo>
                  <a:cubicBezTo>
                    <a:pt x="206" y="105"/>
                    <a:pt x="218" y="104"/>
                    <a:pt x="236" y="104"/>
                  </a:cubicBezTo>
                  <a:lnTo>
                    <a:pt x="1732" y="88"/>
                  </a:lnTo>
                  <a:lnTo>
                    <a:pt x="1744" y="428"/>
                  </a:lnTo>
                  <a:cubicBezTo>
                    <a:pt x="1219" y="429"/>
                    <a:pt x="697" y="428"/>
                    <a:pt x="172" y="432"/>
                  </a:cubicBezTo>
                  <a:cubicBezTo>
                    <a:pt x="141" y="432"/>
                    <a:pt x="123" y="454"/>
                    <a:pt x="92" y="456"/>
                  </a:cubicBezTo>
                  <a:cubicBezTo>
                    <a:pt x="62" y="476"/>
                    <a:pt x="42" y="484"/>
                    <a:pt x="0" y="484"/>
                  </a:cubicBezTo>
                  <a:lnTo>
                    <a:pt x="16" y="0"/>
                  </a:lnTo>
                  <a:lnTo>
                    <a:pt x="44" y="20"/>
                  </a:lnTo>
                  <a:close/>
                </a:path>
              </a:pathLst>
            </a:custGeom>
            <a:gradFill rotWithShape="1">
              <a:gsLst>
                <a:gs pos="0">
                  <a:srgbClr val="EAEAEA"/>
                </a:gs>
                <a:gs pos="100000">
                  <a:srgbClr val="6C6C6C"/>
                </a:gs>
              </a:gsLst>
              <a:path path="rect">
                <a:fillToRect l="50000" t="50000" r="50000" b="50000"/>
              </a:path>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243" name="AutoShape 92">
              <a:extLst>
                <a:ext uri="{FF2B5EF4-FFF2-40B4-BE49-F238E27FC236}">
                  <a16:creationId xmlns:a16="http://schemas.microsoft.com/office/drawing/2014/main" id="{D15B00D5-AB18-8F84-C358-7DB345F2E1FB}"/>
                </a:ext>
              </a:extLst>
            </p:cNvPr>
            <p:cNvSpPr>
              <a:spLocks noChangeArrowheads="1"/>
            </p:cNvSpPr>
            <p:nvPr/>
          </p:nvSpPr>
          <p:spPr bwMode="auto">
            <a:xfrm>
              <a:off x="2639" y="2233"/>
              <a:ext cx="777" cy="777"/>
            </a:xfrm>
            <a:custGeom>
              <a:avLst/>
              <a:gdLst>
                <a:gd name="T0" fmla="*/ 14 w 21600"/>
                <a:gd name="T1" fmla="*/ 0 h 21600"/>
                <a:gd name="T2" fmla="*/ 4 w 21600"/>
                <a:gd name="T3" fmla="*/ 4 h 21600"/>
                <a:gd name="T4" fmla="*/ 0 w 21600"/>
                <a:gd name="T5" fmla="*/ 14 h 21600"/>
                <a:gd name="T6" fmla="*/ 4 w 21600"/>
                <a:gd name="T7" fmla="*/ 24 h 21600"/>
                <a:gd name="T8" fmla="*/ 14 w 21600"/>
                <a:gd name="T9" fmla="*/ 28 h 21600"/>
                <a:gd name="T10" fmla="*/ 24 w 21600"/>
                <a:gd name="T11" fmla="*/ 24 h 21600"/>
                <a:gd name="T12" fmla="*/ 28 w 21600"/>
                <a:gd name="T13" fmla="*/ 14 h 21600"/>
                <a:gd name="T14" fmla="*/ 24 w 21600"/>
                <a:gd name="T15" fmla="*/ 4 h 21600"/>
                <a:gd name="T16" fmla="*/ 0 60000 65536"/>
                <a:gd name="T17" fmla="*/ 0 60000 65536"/>
                <a:gd name="T18" fmla="*/ 0 60000 65536"/>
                <a:gd name="T19" fmla="*/ 0 60000 65536"/>
                <a:gd name="T20" fmla="*/ 0 60000 65536"/>
                <a:gd name="T21" fmla="*/ 0 60000 65536"/>
                <a:gd name="T22" fmla="*/ 0 60000 65536"/>
                <a:gd name="T23" fmla="*/ 0 60000 65536"/>
                <a:gd name="T24" fmla="*/ 3169 w 21600"/>
                <a:gd name="T25" fmla="*/ 3169 h 21600"/>
                <a:gd name="T26" fmla="*/ 18431 w 21600"/>
                <a:gd name="T27" fmla="*/ 18431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4503" y="10800"/>
                  </a:moveTo>
                  <a:cubicBezTo>
                    <a:pt x="4503" y="14278"/>
                    <a:pt x="7322" y="17097"/>
                    <a:pt x="10800" y="17097"/>
                  </a:cubicBezTo>
                  <a:cubicBezTo>
                    <a:pt x="14278" y="17097"/>
                    <a:pt x="17097" y="14278"/>
                    <a:pt x="17097" y="10800"/>
                  </a:cubicBezTo>
                  <a:cubicBezTo>
                    <a:pt x="17097" y="7322"/>
                    <a:pt x="14278" y="4503"/>
                    <a:pt x="10800" y="4503"/>
                  </a:cubicBezTo>
                  <a:cubicBezTo>
                    <a:pt x="7322" y="4503"/>
                    <a:pt x="4503" y="7322"/>
                    <a:pt x="4503" y="10800"/>
                  </a:cubicBezTo>
                  <a:close/>
                </a:path>
              </a:pathLst>
            </a:custGeom>
            <a:gradFill rotWithShape="1">
              <a:gsLst>
                <a:gs pos="0">
                  <a:srgbClr val="EAEAEA"/>
                </a:gs>
                <a:gs pos="100000">
                  <a:srgbClr val="6C6C6C"/>
                </a:gs>
              </a:gsLst>
              <a:path path="rect">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244" name="AutoShape 93">
              <a:extLst>
                <a:ext uri="{FF2B5EF4-FFF2-40B4-BE49-F238E27FC236}">
                  <a16:creationId xmlns:a16="http://schemas.microsoft.com/office/drawing/2014/main" id="{75945AA2-76F7-1211-8798-9952871B7A86}"/>
                </a:ext>
              </a:extLst>
            </p:cNvPr>
            <p:cNvSpPr>
              <a:spLocks noChangeArrowheads="1"/>
            </p:cNvSpPr>
            <p:nvPr/>
          </p:nvSpPr>
          <p:spPr bwMode="auto">
            <a:xfrm>
              <a:off x="4967" y="2365"/>
              <a:ext cx="469" cy="469"/>
            </a:xfrm>
            <a:custGeom>
              <a:avLst/>
              <a:gdLst>
                <a:gd name="T0" fmla="*/ 5 w 21600"/>
                <a:gd name="T1" fmla="*/ 0 h 21600"/>
                <a:gd name="T2" fmla="*/ 1 w 21600"/>
                <a:gd name="T3" fmla="*/ 1 h 21600"/>
                <a:gd name="T4" fmla="*/ 0 w 21600"/>
                <a:gd name="T5" fmla="*/ 5 h 21600"/>
                <a:gd name="T6" fmla="*/ 1 w 21600"/>
                <a:gd name="T7" fmla="*/ 9 h 21600"/>
                <a:gd name="T8" fmla="*/ 5 w 21600"/>
                <a:gd name="T9" fmla="*/ 10 h 21600"/>
                <a:gd name="T10" fmla="*/ 9 w 21600"/>
                <a:gd name="T11" fmla="*/ 9 h 21600"/>
                <a:gd name="T12" fmla="*/ 10 w 21600"/>
                <a:gd name="T13" fmla="*/ 5 h 21600"/>
                <a:gd name="T14" fmla="*/ 9 w 21600"/>
                <a:gd name="T15" fmla="*/ 1 h 21600"/>
                <a:gd name="T16" fmla="*/ 0 60000 65536"/>
                <a:gd name="T17" fmla="*/ 0 60000 65536"/>
                <a:gd name="T18" fmla="*/ 0 60000 65536"/>
                <a:gd name="T19" fmla="*/ 0 60000 65536"/>
                <a:gd name="T20" fmla="*/ 0 60000 65536"/>
                <a:gd name="T21" fmla="*/ 0 60000 65536"/>
                <a:gd name="T22" fmla="*/ 0 60000 65536"/>
                <a:gd name="T23" fmla="*/ 0 60000 65536"/>
                <a:gd name="T24" fmla="*/ 3178 w 21600"/>
                <a:gd name="T25" fmla="*/ 3178 h 21600"/>
                <a:gd name="T26" fmla="*/ 18422 w 21600"/>
                <a:gd name="T27" fmla="*/ 18422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3777" y="10800"/>
                  </a:moveTo>
                  <a:cubicBezTo>
                    <a:pt x="3777" y="14679"/>
                    <a:pt x="6921" y="17823"/>
                    <a:pt x="10800" y="17823"/>
                  </a:cubicBezTo>
                  <a:cubicBezTo>
                    <a:pt x="14679" y="17823"/>
                    <a:pt x="17823" y="14679"/>
                    <a:pt x="17823" y="10800"/>
                  </a:cubicBezTo>
                  <a:cubicBezTo>
                    <a:pt x="17823" y="6921"/>
                    <a:pt x="14679" y="3777"/>
                    <a:pt x="10800" y="3777"/>
                  </a:cubicBezTo>
                  <a:cubicBezTo>
                    <a:pt x="6921" y="3777"/>
                    <a:pt x="3777" y="6921"/>
                    <a:pt x="3777" y="10800"/>
                  </a:cubicBezTo>
                  <a:close/>
                </a:path>
              </a:pathLst>
            </a:custGeom>
            <a:gradFill rotWithShape="1">
              <a:gsLst>
                <a:gs pos="0">
                  <a:srgbClr val="EAEAEA"/>
                </a:gs>
                <a:gs pos="100000">
                  <a:srgbClr val="6C6C6C"/>
                </a:gs>
              </a:gsLst>
              <a:path path="rect">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pic>
          <p:nvPicPr>
            <p:cNvPr id="245" name="Picture 91" descr="3">
              <a:extLst>
                <a:ext uri="{FF2B5EF4-FFF2-40B4-BE49-F238E27FC236}">
                  <a16:creationId xmlns:a16="http://schemas.microsoft.com/office/drawing/2014/main" id="{EA1B299C-D29E-5368-31EE-8299958B447D}"/>
                </a:ext>
              </a:extLst>
            </p:cNvPr>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l="62338" t="54662" r="3987" b="8206"/>
            <a:stretch>
              <a:fillRect/>
            </a:stretch>
          </p:blipFill>
          <p:spPr bwMode="auto">
            <a:xfrm>
              <a:off x="2427" y="2125"/>
              <a:ext cx="3333" cy="10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6" name="Rectangle 95" descr="宽上对角线">
              <a:extLst>
                <a:ext uri="{FF2B5EF4-FFF2-40B4-BE49-F238E27FC236}">
                  <a16:creationId xmlns:a16="http://schemas.microsoft.com/office/drawing/2014/main" id="{2577177A-4929-2A23-EE6D-D6828A9CFB0E}"/>
                </a:ext>
              </a:extLst>
            </p:cNvPr>
            <p:cNvSpPr>
              <a:spLocks noChangeArrowheads="1"/>
            </p:cNvSpPr>
            <p:nvPr/>
          </p:nvSpPr>
          <p:spPr bwMode="auto">
            <a:xfrm>
              <a:off x="3836" y="2448"/>
              <a:ext cx="248" cy="340"/>
            </a:xfrm>
            <a:prstGeom prst="rect">
              <a:avLst/>
            </a:prstGeom>
            <a:pattFill prst="wdUpDiag">
              <a:fgClr>
                <a:srgbClr val="000000"/>
              </a:fgClr>
              <a:bgClr>
                <a:srgbClr val="FFFFFF"/>
              </a:bgClr>
            </a:pattFill>
            <a:ln w="28575">
              <a:solidFill>
                <a:srgbClr val="000000"/>
              </a:solidFill>
              <a:miter lim="800000"/>
              <a:headEnd/>
              <a:tailEnd/>
            </a:ln>
          </p:spPr>
          <p:txBody>
            <a:bodyPr wrap="none" anchor="ct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grpSp>
      <p:graphicFrame>
        <p:nvGraphicFramePr>
          <p:cNvPr id="247" name="Object 97">
            <a:extLst>
              <a:ext uri="{FF2B5EF4-FFF2-40B4-BE49-F238E27FC236}">
                <a16:creationId xmlns:a16="http://schemas.microsoft.com/office/drawing/2014/main" id="{AF8A6C87-C800-9108-17E0-08609C095BAA}"/>
              </a:ext>
            </a:extLst>
          </p:cNvPr>
          <p:cNvGraphicFramePr>
            <a:graphicFrameLocks noChangeAspect="1"/>
          </p:cNvGraphicFramePr>
          <p:nvPr>
            <p:extLst>
              <p:ext uri="{D42A27DB-BD31-4B8C-83A1-F6EECF244321}">
                <p14:modId xmlns:p14="http://schemas.microsoft.com/office/powerpoint/2010/main" val="903318428"/>
              </p:ext>
            </p:extLst>
          </p:nvPr>
        </p:nvGraphicFramePr>
        <p:xfrm>
          <a:off x="1923982" y="4087813"/>
          <a:ext cx="2522537" cy="839787"/>
        </p:xfrm>
        <a:graphic>
          <a:graphicData uri="http://schemas.openxmlformats.org/presentationml/2006/ole">
            <mc:AlternateContent xmlns:mc="http://schemas.openxmlformats.org/markup-compatibility/2006">
              <mc:Choice xmlns:v="urn:schemas-microsoft-com:vml" Requires="v">
                <p:oleObj name="Equation" r:id="rId6" imgW="1346040" imgH="444240" progId="Equation.DSMT4">
                  <p:embed/>
                </p:oleObj>
              </mc:Choice>
              <mc:Fallback>
                <p:oleObj name="Equation" r:id="rId6" imgW="1346040" imgH="444240" progId="Equation.DSMT4">
                  <p:embed/>
                  <p:pic>
                    <p:nvPicPr>
                      <p:cNvPr id="247" name="Object 97">
                        <a:extLst>
                          <a:ext uri="{FF2B5EF4-FFF2-40B4-BE49-F238E27FC236}">
                            <a16:creationId xmlns:a16="http://schemas.microsoft.com/office/drawing/2014/main" id="{AF8A6C87-C800-9108-17E0-08609C095BAA}"/>
                          </a:ext>
                        </a:extLst>
                      </p:cNvPr>
                      <p:cNvPicPr>
                        <a:picLocks noChangeAspect="1" noChangeArrowheads="1"/>
                      </p:cNvPicPr>
                      <p:nvPr/>
                    </p:nvPicPr>
                    <p:blipFill>
                      <a:blip r:embed="rId7"/>
                      <a:srcRect/>
                      <a:stretch>
                        <a:fillRect/>
                      </a:stretch>
                    </p:blipFill>
                    <p:spPr bwMode="auto">
                      <a:xfrm>
                        <a:off x="1923982" y="4087813"/>
                        <a:ext cx="2522537" cy="839787"/>
                      </a:xfrm>
                      <a:prstGeom prst="rect">
                        <a:avLst/>
                      </a:prstGeom>
                      <a:noFill/>
                    </p:spPr>
                  </p:pic>
                </p:oleObj>
              </mc:Fallback>
            </mc:AlternateContent>
          </a:graphicData>
        </a:graphic>
      </p:graphicFrame>
      <p:sp>
        <p:nvSpPr>
          <p:cNvPr id="248" name="矩形 247">
            <a:extLst>
              <a:ext uri="{FF2B5EF4-FFF2-40B4-BE49-F238E27FC236}">
                <a16:creationId xmlns:a16="http://schemas.microsoft.com/office/drawing/2014/main" id="{B118E26E-6E8E-EA7A-5803-6F15A50C2F7F}"/>
              </a:ext>
            </a:extLst>
          </p:cNvPr>
          <p:cNvSpPr/>
          <p:nvPr/>
        </p:nvSpPr>
        <p:spPr>
          <a:xfrm>
            <a:off x="551383" y="4938284"/>
            <a:ext cx="5544616" cy="1379545"/>
          </a:xfrm>
          <a:prstGeom prst="rect">
            <a:avLst/>
          </a:prstGeom>
        </p:spPr>
        <p:txBody>
          <a:bodyPr wrap="square">
            <a:spAutoFit/>
          </a:bodyPr>
          <a:lstStyle/>
          <a:p>
            <a:pPr lvl="0" eaLnBrk="0" hangingPunct="0">
              <a:lnSpc>
                <a:spcPct val="120000"/>
              </a:lnSpc>
            </a:pPr>
            <a:r>
              <a:rPr lang="zh-CN" altLang="en-US" i="0" dirty="0">
                <a:solidFill>
                  <a:srgbClr val="0033CC"/>
                </a:solidFill>
                <a:ea typeface="黑体" panose="02010609060101010101" pitchFamily="49" charset="-122"/>
              </a:rPr>
              <a:t>     </a:t>
            </a:r>
            <a:r>
              <a:rPr kumimoji="1" lang="en-US" altLang="zh-CN" i="0" dirty="0">
                <a:solidFill>
                  <a:schemeClr val="tx1"/>
                </a:solidFill>
                <a:ea typeface="黑体" panose="02010609060101010101" pitchFamily="49" charset="-122"/>
              </a:rPr>
              <a:t>3</a:t>
            </a:r>
            <a:r>
              <a:rPr kumimoji="1" lang="zh-CN" altLang="en-US" i="0" dirty="0">
                <a:solidFill>
                  <a:schemeClr val="tx1"/>
                </a:solidFill>
                <a:ea typeface="黑体" panose="02010609060101010101" pitchFamily="49" charset="-122"/>
              </a:rPr>
              <a:t>）</a:t>
            </a:r>
            <a:r>
              <a:rPr kumimoji="1" lang="zh-CN" altLang="en-US" i="0" dirty="0">
                <a:solidFill>
                  <a:schemeClr val="tx1"/>
                </a:solidFill>
                <a:latin typeface="+mn-lt"/>
                <a:ea typeface="黑体" panose="02010609060101010101" pitchFamily="49" charset="-122"/>
              </a:rPr>
              <a:t>设计尺寸</a:t>
            </a:r>
            <a:r>
              <a:rPr kumimoji="1" lang="en-US" altLang="zh-CN" b="0" dirty="0">
                <a:solidFill>
                  <a:schemeClr val="tx1"/>
                </a:solidFill>
                <a:latin typeface="+mn-lt"/>
                <a:ea typeface="黑体" panose="02010609060101010101" pitchFamily="49" charset="-122"/>
              </a:rPr>
              <a:t>h</a:t>
            </a:r>
            <a:r>
              <a:rPr kumimoji="1" lang="zh-CN" altLang="en-US" i="0" dirty="0">
                <a:solidFill>
                  <a:schemeClr val="tx1"/>
                </a:solidFill>
                <a:latin typeface="+mn-lt"/>
                <a:ea typeface="黑体" panose="02010609060101010101" pitchFamily="49" charset="-122"/>
              </a:rPr>
              <a:t>和</a:t>
            </a:r>
            <a:r>
              <a:rPr kumimoji="1" lang="en-US" altLang="zh-CN" b="0" dirty="0">
                <a:solidFill>
                  <a:schemeClr val="tx1"/>
                </a:solidFill>
                <a:latin typeface="+mn-lt"/>
                <a:ea typeface="黑体" panose="02010609060101010101" pitchFamily="49" charset="-122"/>
              </a:rPr>
              <a:t>b</a:t>
            </a:r>
            <a:r>
              <a:rPr kumimoji="1" lang="zh-CN" altLang="en-US" i="0" dirty="0">
                <a:solidFill>
                  <a:schemeClr val="tx1"/>
                </a:solidFill>
                <a:latin typeface="+mn-lt"/>
                <a:ea typeface="黑体" panose="02010609060101010101" pitchFamily="49" charset="-122"/>
              </a:rPr>
              <a:t>。以</a:t>
            </a:r>
            <a:r>
              <a:rPr kumimoji="1" lang="en-US" altLang="zh-CN" b="0" dirty="0">
                <a:solidFill>
                  <a:schemeClr val="tx1"/>
                </a:solidFill>
                <a:latin typeface="+mn-lt"/>
                <a:ea typeface="黑体" panose="02010609060101010101" pitchFamily="49" charset="-122"/>
              </a:rPr>
              <a:t>h</a:t>
            </a:r>
            <a:r>
              <a:rPr kumimoji="1" lang="en-US" altLang="zh-CN" b="0" i="0" dirty="0">
                <a:solidFill>
                  <a:schemeClr val="tx1"/>
                </a:solidFill>
                <a:latin typeface="+mn-lt"/>
                <a:ea typeface="黑体" panose="02010609060101010101" pitchFamily="49" charset="-122"/>
              </a:rPr>
              <a:t>/</a:t>
            </a:r>
            <a:r>
              <a:rPr kumimoji="1" lang="en-US" altLang="zh-CN" b="0" dirty="0">
                <a:solidFill>
                  <a:schemeClr val="tx1"/>
                </a:solidFill>
                <a:latin typeface="+mn-lt"/>
                <a:ea typeface="黑体" panose="02010609060101010101" pitchFamily="49" charset="-122"/>
              </a:rPr>
              <a:t>b</a:t>
            </a:r>
            <a:r>
              <a:rPr kumimoji="1" lang="en-US" altLang="zh-CN" b="0" i="0" dirty="0">
                <a:solidFill>
                  <a:schemeClr val="tx1"/>
                </a:solidFill>
                <a:latin typeface="+mn-lt"/>
                <a:ea typeface="黑体" panose="02010609060101010101" pitchFamily="49" charset="-122"/>
              </a:rPr>
              <a:t>=1.4</a:t>
            </a:r>
            <a:r>
              <a:rPr kumimoji="1" lang="zh-CN" altLang="en-US" i="0" dirty="0">
                <a:solidFill>
                  <a:schemeClr val="tx1"/>
                </a:solidFill>
                <a:latin typeface="+mn-lt"/>
                <a:ea typeface="黑体" panose="02010609060101010101" pitchFamily="49" charset="-122"/>
              </a:rPr>
              <a:t>代入</a:t>
            </a:r>
            <a:endParaRPr kumimoji="1" lang="en-US" altLang="zh-CN" i="0" dirty="0">
              <a:solidFill>
                <a:schemeClr val="tx1"/>
              </a:solidFill>
              <a:latin typeface="+mn-lt"/>
              <a:ea typeface="黑体" panose="02010609060101010101" pitchFamily="49" charset="-122"/>
            </a:endParaRPr>
          </a:p>
          <a:p>
            <a:pPr eaLnBrk="1" hangingPunct="1">
              <a:lnSpc>
                <a:spcPct val="120000"/>
              </a:lnSpc>
            </a:pPr>
            <a:r>
              <a:rPr lang="en-US" altLang="zh-CN" i="1" dirty="0">
                <a:solidFill>
                  <a:srgbClr val="000000"/>
                </a:solidFill>
              </a:rPr>
              <a:t>           </a:t>
            </a:r>
            <a:r>
              <a:rPr lang="en-US" altLang="zh-CN" b="0" i="1" dirty="0">
                <a:solidFill>
                  <a:srgbClr val="000000"/>
                </a:solidFill>
                <a:latin typeface="+mn-lt"/>
              </a:rPr>
              <a:t>A</a:t>
            </a:r>
            <a:r>
              <a:rPr lang="en-US" altLang="zh-CN" b="0" i="0" dirty="0">
                <a:solidFill>
                  <a:srgbClr val="000000"/>
                </a:solidFill>
                <a:latin typeface="+mn-lt"/>
              </a:rPr>
              <a:t>=</a:t>
            </a:r>
            <a:r>
              <a:rPr lang="en-US" altLang="zh-CN" b="0" i="1" dirty="0" err="1">
                <a:solidFill>
                  <a:srgbClr val="000000"/>
                </a:solidFill>
                <a:latin typeface="+mn-lt"/>
              </a:rPr>
              <a:t>h</a:t>
            </a:r>
            <a:r>
              <a:rPr lang="en-US" altLang="zh-CN" b="0" dirty="0" err="1">
                <a:solidFill>
                  <a:srgbClr val="000000"/>
                </a:solidFill>
                <a:latin typeface="+mn-lt"/>
                <a:sym typeface="Symbol" panose="05050102010706020507" pitchFamily="18" charset="2"/>
              </a:rPr>
              <a:t></a:t>
            </a:r>
            <a:r>
              <a:rPr lang="en-US" altLang="zh-CN" b="0" i="1" dirty="0" err="1">
                <a:solidFill>
                  <a:srgbClr val="000000"/>
                </a:solidFill>
                <a:latin typeface="+mn-lt"/>
              </a:rPr>
              <a:t>b</a:t>
            </a:r>
            <a:r>
              <a:rPr lang="en-US" altLang="zh-CN" b="0" i="0" dirty="0">
                <a:solidFill>
                  <a:srgbClr val="000000"/>
                </a:solidFill>
                <a:latin typeface="+mn-lt"/>
              </a:rPr>
              <a:t>=1.4</a:t>
            </a:r>
            <a:r>
              <a:rPr lang="en-US" altLang="zh-CN" b="0" i="1" dirty="0">
                <a:solidFill>
                  <a:srgbClr val="000000"/>
                </a:solidFill>
                <a:latin typeface="+mn-lt"/>
              </a:rPr>
              <a:t>b</a:t>
            </a:r>
            <a:r>
              <a:rPr lang="en-US" altLang="zh-CN" b="0" i="0" baseline="30000" dirty="0">
                <a:solidFill>
                  <a:srgbClr val="000000"/>
                </a:solidFill>
                <a:latin typeface="+mn-lt"/>
              </a:rPr>
              <a:t>2</a:t>
            </a:r>
            <a:r>
              <a:rPr lang="en-US" altLang="zh-CN" b="0" i="0" dirty="0">
                <a:solidFill>
                  <a:srgbClr val="000000"/>
                </a:solidFill>
                <a:latin typeface="+mn-lt"/>
              </a:rPr>
              <a:t>=42000mm</a:t>
            </a:r>
            <a:r>
              <a:rPr lang="en-US" altLang="zh-CN" b="0" i="0" baseline="30000" dirty="0">
                <a:solidFill>
                  <a:srgbClr val="000000"/>
                </a:solidFill>
                <a:latin typeface="+mn-lt"/>
              </a:rPr>
              <a:t>2</a:t>
            </a:r>
            <a:r>
              <a:rPr lang="en-US" altLang="zh-CN" b="0" dirty="0">
                <a:solidFill>
                  <a:srgbClr val="000000"/>
                </a:solidFill>
                <a:latin typeface="+mn-lt"/>
              </a:rPr>
              <a:t> </a:t>
            </a:r>
          </a:p>
          <a:p>
            <a:pPr eaLnBrk="1" hangingPunct="1">
              <a:lnSpc>
                <a:spcPct val="120000"/>
              </a:lnSpc>
            </a:pPr>
            <a:r>
              <a:rPr lang="zh-CN" altLang="en-US" i="0" dirty="0">
                <a:solidFill>
                  <a:schemeClr val="tx1"/>
                </a:solidFill>
                <a:latin typeface="+mn-lt"/>
                <a:ea typeface="黑体" panose="02010609060101010101" pitchFamily="49" charset="-122"/>
              </a:rPr>
              <a:t>           解之，得</a:t>
            </a:r>
            <a:r>
              <a:rPr lang="en-US" altLang="zh-CN" b="0" dirty="0">
                <a:solidFill>
                  <a:schemeClr val="tx1"/>
                </a:solidFill>
                <a:latin typeface="+mn-lt"/>
                <a:ea typeface="黑体" panose="02010609060101010101" pitchFamily="49" charset="-122"/>
              </a:rPr>
              <a:t>b</a:t>
            </a:r>
            <a:r>
              <a:rPr lang="en-US" altLang="zh-CN" b="0" i="0" dirty="0">
                <a:solidFill>
                  <a:schemeClr val="tx1"/>
                </a:solidFill>
                <a:latin typeface="+mn-lt"/>
                <a:ea typeface="黑体" panose="02010609060101010101" pitchFamily="49" charset="-122"/>
              </a:rPr>
              <a:t>≥173mm</a:t>
            </a:r>
            <a:r>
              <a:rPr lang="zh-CN" altLang="en-US" i="0" dirty="0">
                <a:solidFill>
                  <a:schemeClr val="tx1"/>
                </a:solidFill>
                <a:latin typeface="+mn-lt"/>
                <a:ea typeface="黑体" panose="02010609060101010101" pitchFamily="49" charset="-122"/>
              </a:rPr>
              <a:t>，</a:t>
            </a:r>
            <a:r>
              <a:rPr lang="en-US" altLang="zh-CN" b="0" dirty="0">
                <a:solidFill>
                  <a:srgbClr val="000000"/>
                </a:solidFill>
              </a:rPr>
              <a:t> h </a:t>
            </a:r>
            <a:r>
              <a:rPr lang="en-US" altLang="zh-CN" b="0" i="0" dirty="0">
                <a:solidFill>
                  <a:schemeClr val="tx1"/>
                </a:solidFill>
                <a:latin typeface="+mn-lt"/>
                <a:ea typeface="黑体" panose="02010609060101010101" pitchFamily="49" charset="-122"/>
              </a:rPr>
              <a:t>≥242mm</a:t>
            </a:r>
            <a:r>
              <a:rPr kumimoji="1" lang="zh-CN" altLang="en-US" i="0" dirty="0">
                <a:solidFill>
                  <a:schemeClr val="tx1"/>
                </a:solidFill>
                <a:latin typeface="+mn-lt"/>
                <a:ea typeface="黑体" panose="02010609060101010101" pitchFamily="49" charset="-122"/>
              </a:rPr>
              <a:t> 。</a:t>
            </a:r>
            <a:endParaRPr lang="zh-CN" altLang="en-US" b="0" i="0" dirty="0">
              <a:solidFill>
                <a:schemeClr val="tx1"/>
              </a:solidFill>
              <a:latin typeface="+mn-lt"/>
              <a:ea typeface="黑体" panose="02010609060101010101" pitchFamily="49" charset="-122"/>
            </a:endParaRPr>
          </a:p>
        </p:txBody>
      </p:sp>
      <p:sp>
        <p:nvSpPr>
          <p:cNvPr id="249" name="矩形 248">
            <a:extLst>
              <a:ext uri="{FF2B5EF4-FFF2-40B4-BE49-F238E27FC236}">
                <a16:creationId xmlns:a16="http://schemas.microsoft.com/office/drawing/2014/main" id="{9160E008-03D2-159B-17C3-5142D126C850}"/>
              </a:ext>
            </a:extLst>
          </p:cNvPr>
          <p:cNvSpPr/>
          <p:nvPr/>
        </p:nvSpPr>
        <p:spPr>
          <a:xfrm>
            <a:off x="7091491" y="5535101"/>
            <a:ext cx="4474535" cy="830997"/>
          </a:xfrm>
          <a:prstGeom prst="rect">
            <a:avLst/>
          </a:prstGeom>
        </p:spPr>
        <p:txBody>
          <a:bodyPr wrap="square">
            <a:spAutoFit/>
          </a:bodyPr>
          <a:lstStyle/>
          <a:p>
            <a:pPr algn="l" eaLnBrk="1" hangingPunct="1"/>
            <a:r>
              <a:rPr kumimoji="1" lang="zh-CN" altLang="en-US" i="0" dirty="0">
                <a:solidFill>
                  <a:schemeClr val="tx1"/>
                </a:solidFill>
                <a:ea typeface="黑体" panose="02010609060101010101" pitchFamily="49" charset="-122"/>
              </a:rPr>
              <a:t>具体设计时可将其取整为</a:t>
            </a:r>
          </a:p>
          <a:p>
            <a:pPr algn="l" eaLnBrk="1" hangingPunct="1"/>
            <a:r>
              <a:rPr lang="en-US" altLang="zh-CN" b="0" dirty="0">
                <a:solidFill>
                  <a:srgbClr val="000000"/>
                </a:solidFill>
              </a:rPr>
              <a:t>b</a:t>
            </a:r>
            <a:r>
              <a:rPr lang="en-US" altLang="zh-CN" b="0" i="0" dirty="0">
                <a:solidFill>
                  <a:srgbClr val="000000"/>
                </a:solidFill>
              </a:rPr>
              <a:t>=175mm</a:t>
            </a:r>
            <a:r>
              <a:rPr lang="zh-CN" altLang="en-US" i="0" dirty="0">
                <a:solidFill>
                  <a:schemeClr val="tx1"/>
                </a:solidFill>
                <a:latin typeface="+mn-lt"/>
                <a:ea typeface="黑体" panose="02010609060101010101" pitchFamily="49" charset="-122"/>
              </a:rPr>
              <a:t> ，</a:t>
            </a:r>
            <a:r>
              <a:rPr lang="en-US" altLang="zh-CN" b="0" dirty="0">
                <a:solidFill>
                  <a:srgbClr val="000000"/>
                </a:solidFill>
              </a:rPr>
              <a:t>h</a:t>
            </a:r>
            <a:r>
              <a:rPr lang="en-US" altLang="zh-CN" b="0" i="0" dirty="0">
                <a:solidFill>
                  <a:srgbClr val="000000"/>
                </a:solidFill>
              </a:rPr>
              <a:t>=245mm</a:t>
            </a:r>
            <a:endParaRPr kumimoji="1" lang="zh-CN" altLang="en-US" b="0" i="0" dirty="0">
              <a:solidFill>
                <a:schemeClr val="tx1"/>
              </a:solidFill>
              <a:ea typeface="黑体" panose="02010609060101010101" pitchFamily="49" charset="-122"/>
            </a:endParaRPr>
          </a:p>
        </p:txBody>
      </p:sp>
    </p:spTree>
    <p:extLst>
      <p:ext uri="{BB962C8B-B14F-4D97-AF65-F5344CB8AC3E}">
        <p14:creationId xmlns:p14="http://schemas.microsoft.com/office/powerpoint/2010/main" val="1486755294"/>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2" presetClass="entr" presetSubtype="8" fill="hold" nodeType="withEffect">
                                  <p:stCondLst>
                                    <p:cond delay="0"/>
                                  </p:stCondLst>
                                  <p:childTnLst>
                                    <p:set>
                                      <p:cBhvr>
                                        <p:cTn id="8" dur="1" fill="hold">
                                          <p:stCondLst>
                                            <p:cond delay="0"/>
                                          </p:stCondLst>
                                        </p:cTn>
                                        <p:tgtEl>
                                          <p:spTgt spid="3"/>
                                        </p:tgtEl>
                                        <p:attrNameLst>
                                          <p:attrName>style.visibility</p:attrName>
                                        </p:attrNameLst>
                                      </p:cBhvr>
                                      <p:to>
                                        <p:strVal val="visible"/>
                                      </p:to>
                                    </p:set>
                                    <p:animEffect transition="in" filter="slide(fromLeft)">
                                      <p:cBhvr>
                                        <p:cTn id="9" dur="5000"/>
                                        <p:tgtEl>
                                          <p:spTgt spid="3"/>
                                        </p:tgtEl>
                                      </p:cBhvr>
                                    </p:animEffect>
                                  </p:childTnLst>
                                </p:cTn>
                              </p:par>
                              <p:par>
                                <p:cTn id="10" presetID="13" presetClass="entr" presetSubtype="16" fill="hold" nodeType="withEffect">
                                  <p:stCondLst>
                                    <p:cond delay="0"/>
                                  </p:stCondLst>
                                  <p:childTnLst>
                                    <p:set>
                                      <p:cBhvr>
                                        <p:cTn id="11" dur="1" fill="hold">
                                          <p:stCondLst>
                                            <p:cond delay="0"/>
                                          </p:stCondLst>
                                        </p:cTn>
                                        <p:tgtEl>
                                          <p:spTgt spid="241"/>
                                        </p:tgtEl>
                                        <p:attrNameLst>
                                          <p:attrName>style.visibility</p:attrName>
                                        </p:attrNameLst>
                                      </p:cBhvr>
                                      <p:to>
                                        <p:strVal val="visible"/>
                                      </p:to>
                                    </p:set>
                                    <p:animEffect transition="in" filter="plus(in)">
                                      <p:cBhvr>
                                        <p:cTn id="12" dur="5000"/>
                                        <p:tgtEl>
                                          <p:spTgt spid="241"/>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7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6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4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4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 grpId="0"/>
      <p:bldP spid="2" grpId="0" animBg="1"/>
      <p:bldP spid="263" grpId="0"/>
      <p:bldP spid="248" grpId="0"/>
      <p:bldP spid="249"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711605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第八章   拉压、剪切与挤压的强度计算</a:t>
            </a:r>
          </a:p>
        </p:txBody>
      </p:sp>
      <p:sp>
        <p:nvSpPr>
          <p:cNvPr id="19" name="矩形 18">
            <a:extLst>
              <a:ext uri="{FF2B5EF4-FFF2-40B4-BE49-F238E27FC236}">
                <a16:creationId xmlns:a16="http://schemas.microsoft.com/office/drawing/2014/main" id="{396E3A4E-3DCE-51D1-DE56-78AC0CFE008B}"/>
              </a:ext>
            </a:extLst>
          </p:cNvPr>
          <p:cNvSpPr/>
          <p:nvPr/>
        </p:nvSpPr>
        <p:spPr>
          <a:xfrm>
            <a:off x="551383" y="820392"/>
            <a:ext cx="7208216" cy="1684244"/>
          </a:xfrm>
          <a:prstGeom prst="rect">
            <a:avLst/>
          </a:prstGeom>
        </p:spPr>
        <p:txBody>
          <a:bodyPr wrap="square">
            <a:spAutoFit/>
          </a:bodyPr>
          <a:lstStyle/>
          <a:p>
            <a:pPr marL="0" marR="0" lvl="0" indent="0" algn="just" defTabSz="914400" rtl="0" eaLnBrk="1" fontAlgn="base" latinLnBrk="0" hangingPunct="1">
              <a:lnSpc>
                <a:spcPct val="110000"/>
              </a:lnSpc>
              <a:spcBef>
                <a:spcPct val="0"/>
              </a:spcBef>
              <a:spcAft>
                <a:spcPct val="0"/>
              </a:spcAft>
              <a:buClrTx/>
              <a:buSzTx/>
              <a:buFontTx/>
              <a:buNone/>
              <a:tabLst/>
              <a:defRPr/>
            </a:pPr>
            <a:r>
              <a:rPr lang="zh-CN" altLang="en-US" i="0" dirty="0">
                <a:solidFill>
                  <a:srgbClr val="0033CC"/>
                </a:solidFill>
                <a:ea typeface="黑体" panose="02010609060101010101" pitchFamily="49" charset="-122"/>
              </a:rPr>
              <a:t>例</a:t>
            </a:r>
            <a:r>
              <a:rPr lang="zh-CN" altLang="en-US" i="0" dirty="0">
                <a:solidFill>
                  <a:schemeClr val="tx1"/>
                </a:solidFill>
                <a:ea typeface="黑体" panose="02010609060101010101" pitchFamily="49" charset="-122"/>
              </a:rPr>
              <a:t>  </a:t>
            </a:r>
            <a:r>
              <a:rPr lang="zh-CN" altLang="en-US" i="0" dirty="0">
                <a:solidFill>
                  <a:schemeClr val="tx1"/>
                </a:solidFill>
                <a:latin typeface="+mn-lt"/>
                <a:ea typeface="黑体" panose="02010609060101010101" pitchFamily="49" charset="-122"/>
              </a:rPr>
              <a:t>图示三角构架，</a:t>
            </a:r>
            <a:r>
              <a:rPr lang="en-US" altLang="zh-CN" b="0" dirty="0">
                <a:solidFill>
                  <a:schemeClr val="tx1"/>
                </a:solidFill>
                <a:latin typeface="+mn-lt"/>
                <a:ea typeface="黑体" panose="02010609060101010101" pitchFamily="49" charset="-122"/>
              </a:rPr>
              <a:t>AB</a:t>
            </a:r>
            <a:r>
              <a:rPr lang="zh-CN" altLang="en-US" i="0" dirty="0">
                <a:solidFill>
                  <a:schemeClr val="tx1"/>
                </a:solidFill>
                <a:latin typeface="+mn-lt"/>
                <a:ea typeface="黑体" panose="02010609060101010101" pitchFamily="49" charset="-122"/>
              </a:rPr>
              <a:t>为圆截面钢杆，直径</a:t>
            </a:r>
            <a:r>
              <a:rPr lang="en-US" altLang="zh-CN" b="0" dirty="0">
                <a:solidFill>
                  <a:schemeClr val="tx1"/>
                </a:solidFill>
                <a:latin typeface="+mn-lt"/>
                <a:ea typeface="黑体" panose="02010609060101010101" pitchFamily="49" charset="-122"/>
              </a:rPr>
              <a:t>d</a:t>
            </a:r>
            <a:r>
              <a:rPr lang="en-US" altLang="zh-CN" i="0" dirty="0">
                <a:solidFill>
                  <a:schemeClr val="tx1"/>
                </a:solidFill>
                <a:latin typeface="+mn-lt"/>
                <a:ea typeface="黑体" panose="02010609060101010101" pitchFamily="49" charset="-122"/>
              </a:rPr>
              <a:t>=</a:t>
            </a:r>
            <a:r>
              <a:rPr lang="en-US" altLang="zh-CN" b="0" i="0" dirty="0">
                <a:solidFill>
                  <a:schemeClr val="tx1"/>
                </a:solidFill>
                <a:latin typeface="+mn-lt"/>
                <a:ea typeface="黑体" panose="02010609060101010101" pitchFamily="49" charset="-122"/>
              </a:rPr>
              <a:t>30mm</a:t>
            </a:r>
            <a:r>
              <a:rPr lang="zh-CN" altLang="en-US" i="0" dirty="0">
                <a:solidFill>
                  <a:schemeClr val="tx1"/>
                </a:solidFill>
                <a:latin typeface="+mn-lt"/>
                <a:ea typeface="黑体" panose="02010609060101010101" pitchFamily="49" charset="-122"/>
              </a:rPr>
              <a:t>；</a:t>
            </a:r>
            <a:r>
              <a:rPr lang="en-US" altLang="zh-CN" i="0" dirty="0">
                <a:solidFill>
                  <a:schemeClr val="tx1"/>
                </a:solidFill>
                <a:latin typeface="+mn-lt"/>
                <a:ea typeface="黑体" panose="02010609060101010101" pitchFamily="49" charset="-122"/>
              </a:rPr>
              <a:t>BC</a:t>
            </a:r>
            <a:r>
              <a:rPr lang="zh-CN" altLang="en-US" i="0" dirty="0">
                <a:solidFill>
                  <a:schemeClr val="tx1"/>
                </a:solidFill>
                <a:latin typeface="+mn-lt"/>
                <a:ea typeface="黑体" panose="02010609060101010101" pitchFamily="49" charset="-122"/>
              </a:rPr>
              <a:t>为矩形木杆，尺寸</a:t>
            </a:r>
            <a:r>
              <a:rPr lang="en-US" altLang="zh-CN" b="0" dirty="0">
                <a:solidFill>
                  <a:schemeClr val="tx1"/>
                </a:solidFill>
                <a:latin typeface="+mn-lt"/>
                <a:ea typeface="黑体" panose="02010609060101010101" pitchFamily="49" charset="-122"/>
              </a:rPr>
              <a:t>b</a:t>
            </a:r>
            <a:r>
              <a:rPr lang="en-US" altLang="zh-CN" b="0" i="0" dirty="0">
                <a:solidFill>
                  <a:schemeClr val="tx1"/>
                </a:solidFill>
                <a:latin typeface="+mn-lt"/>
                <a:ea typeface="黑体" panose="02010609060101010101" pitchFamily="49" charset="-122"/>
              </a:rPr>
              <a:t>=600mm</a:t>
            </a:r>
            <a:r>
              <a:rPr lang="zh-CN" altLang="en-US" i="0" dirty="0">
                <a:solidFill>
                  <a:schemeClr val="tx1"/>
                </a:solidFill>
                <a:latin typeface="+mn-lt"/>
                <a:ea typeface="黑体" panose="02010609060101010101" pitchFamily="49" charset="-122"/>
              </a:rPr>
              <a:t>，</a:t>
            </a:r>
            <a:r>
              <a:rPr lang="en-US" altLang="zh-CN" b="0" dirty="0">
                <a:solidFill>
                  <a:schemeClr val="tx1"/>
                </a:solidFill>
                <a:latin typeface="+mn-lt"/>
                <a:ea typeface="黑体" panose="02010609060101010101" pitchFamily="49" charset="-122"/>
              </a:rPr>
              <a:t>A</a:t>
            </a:r>
            <a:r>
              <a:rPr lang="en-US" altLang="zh-CN" b="0" i="0" dirty="0">
                <a:solidFill>
                  <a:schemeClr val="tx1"/>
                </a:solidFill>
                <a:latin typeface="+mn-lt"/>
                <a:ea typeface="黑体" panose="02010609060101010101" pitchFamily="49" charset="-122"/>
              </a:rPr>
              <a:t>=120mm</a:t>
            </a:r>
            <a:r>
              <a:rPr lang="en-US" altLang="zh-CN" b="0" i="0" baseline="30000" dirty="0">
                <a:solidFill>
                  <a:schemeClr val="tx1"/>
                </a:solidFill>
                <a:latin typeface="+mn-lt"/>
                <a:ea typeface="黑体" panose="02010609060101010101" pitchFamily="49" charset="-122"/>
              </a:rPr>
              <a:t>2</a:t>
            </a:r>
            <a:r>
              <a:rPr lang="zh-CN" altLang="en-US" i="0" dirty="0">
                <a:solidFill>
                  <a:schemeClr val="tx1"/>
                </a:solidFill>
                <a:latin typeface="+mn-lt"/>
                <a:ea typeface="黑体" panose="02010609060101010101" pitchFamily="49" charset="-122"/>
              </a:rPr>
              <a:t>。若钢的许用应力</a:t>
            </a:r>
            <a:r>
              <a:rPr lang="en-US" altLang="zh-CN" b="0" i="0" dirty="0">
                <a:solidFill>
                  <a:schemeClr val="tx1"/>
                </a:solidFill>
                <a:latin typeface="+mn-lt"/>
                <a:ea typeface="黑体" panose="02010609060101010101" pitchFamily="49" charset="-122"/>
              </a:rPr>
              <a:t>[</a:t>
            </a:r>
            <a:r>
              <a:rPr lang="en-US" altLang="zh-CN" b="0" dirty="0">
                <a:solidFill>
                  <a:schemeClr val="tx1"/>
                </a:solidFill>
                <a:latin typeface="+mn-lt"/>
                <a:ea typeface="黑体" panose="02010609060101010101" pitchFamily="49" charset="-122"/>
                <a:sym typeface="Symbol" panose="05050102010706020507" pitchFamily="18" charset="2"/>
              </a:rPr>
              <a:t></a:t>
            </a:r>
            <a:r>
              <a:rPr lang="en-US" altLang="zh-CN" b="0" i="0" dirty="0">
                <a:solidFill>
                  <a:schemeClr val="tx1"/>
                </a:solidFill>
                <a:latin typeface="+mn-lt"/>
                <a:ea typeface="黑体" panose="02010609060101010101" pitchFamily="49" charset="-122"/>
              </a:rPr>
              <a:t>]</a:t>
            </a:r>
            <a:r>
              <a:rPr lang="en-US" altLang="zh-CN" b="0" i="0" baseline="-25000" dirty="0">
                <a:solidFill>
                  <a:schemeClr val="tx1"/>
                </a:solidFill>
                <a:latin typeface="+mn-lt"/>
                <a:ea typeface="黑体" panose="02010609060101010101" pitchFamily="49" charset="-122"/>
              </a:rPr>
              <a:t>G</a:t>
            </a:r>
            <a:r>
              <a:rPr lang="en-US" altLang="zh-CN" b="0" i="0" dirty="0">
                <a:solidFill>
                  <a:schemeClr val="tx1"/>
                </a:solidFill>
                <a:latin typeface="+mn-lt"/>
                <a:ea typeface="黑体" panose="02010609060101010101" pitchFamily="49" charset="-122"/>
              </a:rPr>
              <a:t>=170MPa</a:t>
            </a:r>
            <a:r>
              <a:rPr lang="zh-CN" altLang="en-US" i="0" dirty="0">
                <a:solidFill>
                  <a:schemeClr val="tx1"/>
                </a:solidFill>
                <a:latin typeface="+mn-lt"/>
                <a:ea typeface="黑体" panose="02010609060101010101" pitchFamily="49" charset="-122"/>
              </a:rPr>
              <a:t>，木材的</a:t>
            </a:r>
            <a:r>
              <a:rPr lang="en-US" altLang="zh-CN" b="0" i="0" dirty="0">
                <a:solidFill>
                  <a:schemeClr val="tx1"/>
                </a:solidFill>
                <a:latin typeface="+mn-lt"/>
                <a:ea typeface="黑体" panose="02010609060101010101" pitchFamily="49" charset="-122"/>
              </a:rPr>
              <a:t>[</a:t>
            </a:r>
            <a:r>
              <a:rPr lang="en-US" altLang="zh-CN" b="0" dirty="0">
                <a:solidFill>
                  <a:schemeClr val="tx1"/>
                </a:solidFill>
                <a:latin typeface="+mn-lt"/>
                <a:ea typeface="黑体" panose="02010609060101010101" pitchFamily="49" charset="-122"/>
                <a:sym typeface="Symbol" panose="05050102010706020507" pitchFamily="18" charset="2"/>
              </a:rPr>
              <a:t></a:t>
            </a:r>
            <a:r>
              <a:rPr lang="en-US" altLang="zh-CN" b="0" i="0" dirty="0">
                <a:solidFill>
                  <a:schemeClr val="tx1"/>
                </a:solidFill>
                <a:latin typeface="+mn-lt"/>
                <a:ea typeface="黑体" panose="02010609060101010101" pitchFamily="49" charset="-122"/>
              </a:rPr>
              <a:t>]</a:t>
            </a:r>
            <a:r>
              <a:rPr lang="en-US" altLang="zh-CN" b="0" i="0" baseline="-25000" dirty="0">
                <a:solidFill>
                  <a:schemeClr val="tx1"/>
                </a:solidFill>
                <a:latin typeface="+mn-lt"/>
                <a:ea typeface="黑体" panose="02010609060101010101" pitchFamily="49" charset="-122"/>
              </a:rPr>
              <a:t>M</a:t>
            </a:r>
            <a:r>
              <a:rPr lang="en-US" altLang="zh-CN" b="0" i="0" dirty="0">
                <a:solidFill>
                  <a:schemeClr val="tx1"/>
                </a:solidFill>
                <a:latin typeface="+mn-lt"/>
                <a:ea typeface="黑体" panose="02010609060101010101" pitchFamily="49" charset="-122"/>
              </a:rPr>
              <a:t>=10MPa</a:t>
            </a:r>
            <a:r>
              <a:rPr lang="zh-CN" altLang="en-US" i="0" dirty="0">
                <a:solidFill>
                  <a:schemeClr val="tx1"/>
                </a:solidFill>
                <a:latin typeface="+mn-lt"/>
                <a:ea typeface="黑体" panose="02010609060101010101" pitchFamily="49" charset="-122"/>
              </a:rPr>
              <a:t>，试求该结构的许用载荷</a:t>
            </a:r>
            <a:r>
              <a:rPr lang="en-US" altLang="zh-CN" b="0" i="0" dirty="0">
                <a:solidFill>
                  <a:schemeClr val="tx1"/>
                </a:solidFill>
                <a:latin typeface="+mn-lt"/>
                <a:ea typeface="黑体" panose="02010609060101010101" pitchFamily="49" charset="-122"/>
              </a:rPr>
              <a:t>[</a:t>
            </a:r>
            <a:r>
              <a:rPr lang="en-US" altLang="zh-CN" b="0" dirty="0">
                <a:solidFill>
                  <a:schemeClr val="tx1"/>
                </a:solidFill>
                <a:latin typeface="+mn-lt"/>
                <a:ea typeface="黑体" panose="02010609060101010101" pitchFamily="49" charset="-122"/>
              </a:rPr>
              <a:t>F</a:t>
            </a:r>
            <a:r>
              <a:rPr lang="en-US" altLang="zh-CN" b="0" i="0" dirty="0">
                <a:solidFill>
                  <a:schemeClr val="tx1"/>
                </a:solidFill>
                <a:latin typeface="+mn-lt"/>
                <a:ea typeface="黑体" panose="02010609060101010101" pitchFamily="49" charset="-122"/>
              </a:rPr>
              <a:t>]</a:t>
            </a:r>
            <a:r>
              <a:rPr lang="zh-CN" altLang="en-US" i="0" dirty="0">
                <a:solidFill>
                  <a:schemeClr val="tx1"/>
                </a:solidFill>
                <a:latin typeface="+mn-lt"/>
                <a:ea typeface="黑体" panose="02010609060101010101" pitchFamily="49" charset="-122"/>
              </a:rPr>
              <a:t>。 </a:t>
            </a:r>
          </a:p>
        </p:txBody>
      </p:sp>
      <p:sp>
        <p:nvSpPr>
          <p:cNvPr id="136" name="矩形 135">
            <a:extLst>
              <a:ext uri="{FF2B5EF4-FFF2-40B4-BE49-F238E27FC236}">
                <a16:creationId xmlns:a16="http://schemas.microsoft.com/office/drawing/2014/main" id="{396E3A4E-3DCE-51D1-DE56-78AC0CFE008B}"/>
              </a:ext>
            </a:extLst>
          </p:cNvPr>
          <p:cNvSpPr/>
          <p:nvPr/>
        </p:nvSpPr>
        <p:spPr>
          <a:xfrm>
            <a:off x="551382" y="2436685"/>
            <a:ext cx="6614702" cy="1277979"/>
          </a:xfrm>
          <a:prstGeom prst="rect">
            <a:avLst/>
          </a:prstGeom>
        </p:spPr>
        <p:txBody>
          <a:bodyPr wrap="square">
            <a:spAutoFit/>
          </a:bodyPr>
          <a:lstStyle/>
          <a:p>
            <a:pPr algn="l" eaLnBrk="1" hangingPunct="1">
              <a:lnSpc>
                <a:spcPct val="110000"/>
              </a:lnSpc>
            </a:pPr>
            <a:r>
              <a:rPr lang="zh-CN" altLang="en-US" i="0" dirty="0">
                <a:solidFill>
                  <a:srgbClr val="0033CC"/>
                </a:solidFill>
                <a:ea typeface="黑体" panose="02010609060101010101" pitchFamily="49" charset="-122"/>
              </a:rPr>
              <a:t>解  </a:t>
            </a:r>
            <a:r>
              <a:rPr kumimoji="1" lang="en-US" altLang="zh-CN" i="0" dirty="0">
                <a:solidFill>
                  <a:schemeClr val="tx1"/>
                </a:solidFill>
                <a:ea typeface="黑体" panose="02010609060101010101" pitchFamily="49" charset="-122"/>
              </a:rPr>
              <a:t>1</a:t>
            </a:r>
            <a:r>
              <a:rPr kumimoji="1" lang="zh-CN" altLang="en-US" i="0" dirty="0">
                <a:solidFill>
                  <a:schemeClr val="tx1"/>
                </a:solidFill>
                <a:ea typeface="黑体" panose="02010609060101010101" pitchFamily="49" charset="-122"/>
              </a:rPr>
              <a:t>）</a:t>
            </a:r>
            <a:r>
              <a:rPr lang="zh-CN" altLang="en-US" i="0" dirty="0">
                <a:solidFill>
                  <a:schemeClr val="tx1"/>
                </a:solidFill>
                <a:latin typeface="+mn-lt"/>
                <a:ea typeface="黑体" panose="02010609060101010101" pitchFamily="49" charset="-122"/>
              </a:rPr>
              <a:t>求两杆的轴力。由节点</a:t>
            </a:r>
            <a:r>
              <a:rPr lang="en-US" altLang="zh-CN" b="0" dirty="0">
                <a:solidFill>
                  <a:schemeClr val="tx1"/>
                </a:solidFill>
                <a:latin typeface="+mn-lt"/>
                <a:ea typeface="黑体" panose="02010609060101010101" pitchFamily="49" charset="-122"/>
              </a:rPr>
              <a:t>B</a:t>
            </a:r>
            <a:r>
              <a:rPr lang="zh-CN" altLang="en-US" i="0" dirty="0">
                <a:solidFill>
                  <a:schemeClr val="tx1"/>
                </a:solidFill>
                <a:latin typeface="+mn-lt"/>
                <a:ea typeface="黑体" panose="02010609060101010101" pitchFamily="49" charset="-122"/>
              </a:rPr>
              <a:t>的两个平衡方程 </a:t>
            </a:r>
          </a:p>
          <a:p>
            <a:pPr marL="0" marR="0" lvl="0" indent="0" algn="l" defTabSz="914400" rtl="0" eaLnBrk="1" fontAlgn="base" latinLnBrk="0" hangingPunct="1">
              <a:lnSpc>
                <a:spcPct val="110000"/>
              </a:lnSpc>
              <a:spcBef>
                <a:spcPct val="0"/>
              </a:spcBef>
              <a:spcAft>
                <a:spcPct val="0"/>
              </a:spcAft>
              <a:buClrTx/>
              <a:buSzTx/>
              <a:buFontTx/>
              <a:buNone/>
              <a:tabLst/>
              <a:defRPr/>
            </a:pPr>
            <a:r>
              <a:rPr kumimoji="1" lang="en-US" altLang="zh-CN"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          ∑</a:t>
            </a:r>
            <a:r>
              <a:rPr kumimoji="1" lang="en-US" altLang="zh-CN" b="0" i="1" u="none" strike="noStrike" kern="1200" cap="none" spc="0" normalizeH="0" baseline="0" noProof="0" dirty="0" err="1">
                <a:ln>
                  <a:noFill/>
                </a:ln>
                <a:solidFill>
                  <a:schemeClr val="tx1"/>
                </a:solidFill>
                <a:effectLst/>
                <a:uLnTx/>
                <a:uFillTx/>
                <a:latin typeface="Times New Roman" panose="02020603050405020304" pitchFamily="18" charset="0"/>
                <a:ea typeface="黑体" panose="02010609060101010101" pitchFamily="49" charset="-122"/>
                <a:cs typeface="+mn-cs"/>
              </a:rPr>
              <a:t>F</a:t>
            </a:r>
            <a:r>
              <a:rPr kumimoji="1" lang="en-US" altLang="zh-CN" b="0" i="1" u="none" strike="noStrike" kern="1200" cap="none" spc="0" normalizeH="0" baseline="-25000" noProof="0" dirty="0" err="1">
                <a:ln>
                  <a:noFill/>
                </a:ln>
                <a:solidFill>
                  <a:schemeClr val="tx1"/>
                </a:solidFill>
                <a:effectLst/>
                <a:uLnTx/>
                <a:uFillTx/>
                <a:latin typeface="Times New Roman" panose="02020603050405020304" pitchFamily="18" charset="0"/>
                <a:ea typeface="黑体" panose="02010609060101010101" pitchFamily="49" charset="-122"/>
                <a:cs typeface="+mn-cs"/>
              </a:rPr>
              <a:t>x</a:t>
            </a:r>
            <a:r>
              <a:rPr kumimoji="1" lang="en-US" altLang="zh-CN"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=0</a:t>
            </a:r>
            <a:r>
              <a:rPr kumimoji="1" lang="zh-CN" altLang="en-US"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  </a:t>
            </a:r>
            <a:r>
              <a:rPr kumimoji="1" lang="en-US" altLang="zh-CN"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a:t>
            </a:r>
            <a:r>
              <a:rPr kumimoji="1" lang="en-US" altLang="zh-CN" b="0"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F</a:t>
            </a:r>
            <a:r>
              <a:rPr kumimoji="1" lang="en-US" altLang="zh-CN" b="0" i="0" u="none" strike="noStrike" kern="1200" cap="none" spc="0" normalizeH="0" baseline="-25000" noProof="0" dirty="0">
                <a:ln>
                  <a:noFill/>
                </a:ln>
                <a:solidFill>
                  <a:schemeClr val="tx1"/>
                </a:solidFill>
                <a:effectLst/>
                <a:uLnTx/>
                <a:uFillTx/>
                <a:latin typeface="Times New Roman" panose="02020603050405020304" pitchFamily="18" charset="0"/>
                <a:ea typeface="黑体" panose="02010609060101010101" pitchFamily="49" charset="-122"/>
                <a:cs typeface="+mn-cs"/>
              </a:rPr>
              <a:t>N</a:t>
            </a:r>
            <a:r>
              <a:rPr kumimoji="1" lang="en-US" altLang="zh-CN" b="0" i="1" u="none" strike="noStrike" kern="1200" cap="none" spc="0" normalizeH="0" baseline="-25000" noProof="0" dirty="0">
                <a:ln>
                  <a:noFill/>
                </a:ln>
                <a:solidFill>
                  <a:schemeClr val="tx1"/>
                </a:solidFill>
                <a:effectLst/>
                <a:uLnTx/>
                <a:uFillTx/>
                <a:latin typeface="Times New Roman" panose="02020603050405020304" pitchFamily="18" charset="0"/>
                <a:ea typeface="黑体" panose="02010609060101010101" pitchFamily="49" charset="-122"/>
                <a:cs typeface="+mn-cs"/>
              </a:rPr>
              <a:t>AB</a:t>
            </a:r>
            <a:r>
              <a:rPr kumimoji="1" lang="en-US" altLang="zh-CN"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a:t>
            </a:r>
            <a:r>
              <a:rPr kumimoji="1" lang="en-US" altLang="zh-CN" b="0"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F</a:t>
            </a:r>
            <a:r>
              <a:rPr kumimoji="1" lang="en-US" altLang="zh-CN" b="0" i="0" u="none" strike="noStrike" kern="1200" cap="none" spc="0" normalizeH="0" baseline="-25000" noProof="0" dirty="0">
                <a:ln>
                  <a:noFill/>
                </a:ln>
                <a:solidFill>
                  <a:schemeClr val="tx1"/>
                </a:solidFill>
                <a:effectLst/>
                <a:uLnTx/>
                <a:uFillTx/>
                <a:latin typeface="Times New Roman" panose="02020603050405020304" pitchFamily="18" charset="0"/>
                <a:ea typeface="黑体" panose="02010609060101010101" pitchFamily="49" charset="-122"/>
                <a:cs typeface="+mn-cs"/>
              </a:rPr>
              <a:t>N</a:t>
            </a:r>
            <a:r>
              <a:rPr kumimoji="1" lang="en-US" altLang="zh-CN" b="0" i="1" u="none" strike="noStrike" kern="1200" cap="none" spc="0" normalizeH="0" baseline="-25000" noProof="0" dirty="0">
                <a:ln>
                  <a:noFill/>
                </a:ln>
                <a:solidFill>
                  <a:schemeClr val="tx1"/>
                </a:solidFill>
                <a:effectLst/>
                <a:uLnTx/>
                <a:uFillTx/>
                <a:latin typeface="Times New Roman" panose="02020603050405020304" pitchFamily="18" charset="0"/>
                <a:ea typeface="黑体" panose="02010609060101010101" pitchFamily="49" charset="-122"/>
                <a:cs typeface="+mn-cs"/>
              </a:rPr>
              <a:t>BC</a:t>
            </a:r>
            <a:r>
              <a:rPr kumimoji="1" lang="en-US" altLang="zh-CN"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cos30</a:t>
            </a:r>
            <a:r>
              <a:rPr kumimoji="1" lang="en-US" altLang="zh-CN"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sym typeface="Symbol" panose="05050102010706020507" pitchFamily="18" charset="2"/>
              </a:rPr>
              <a:t></a:t>
            </a:r>
            <a:r>
              <a:rPr kumimoji="1" lang="en-US" altLang="zh-CN"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=0</a:t>
            </a:r>
          </a:p>
          <a:p>
            <a:pPr marL="0" marR="0" lvl="0" indent="0" algn="l" defTabSz="914400" rtl="0" eaLnBrk="1" fontAlgn="base" latinLnBrk="0" hangingPunct="1">
              <a:lnSpc>
                <a:spcPct val="110000"/>
              </a:lnSpc>
              <a:spcBef>
                <a:spcPct val="0"/>
              </a:spcBef>
              <a:spcAft>
                <a:spcPct val="0"/>
              </a:spcAft>
              <a:buClrTx/>
              <a:buSzTx/>
              <a:buFontTx/>
              <a:buNone/>
              <a:tabLst/>
              <a:defRPr/>
            </a:pPr>
            <a:r>
              <a:rPr kumimoji="1" lang="en-US" altLang="zh-CN"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          ∑</a:t>
            </a:r>
            <a:r>
              <a:rPr kumimoji="1" lang="en-US" altLang="zh-CN" b="0" i="1" u="none" strike="noStrike" kern="1200" cap="none" spc="0" normalizeH="0" baseline="0" noProof="0" dirty="0" err="1">
                <a:ln>
                  <a:noFill/>
                </a:ln>
                <a:solidFill>
                  <a:schemeClr val="tx1"/>
                </a:solidFill>
                <a:effectLst/>
                <a:uLnTx/>
                <a:uFillTx/>
                <a:latin typeface="Times New Roman" panose="02020603050405020304" pitchFamily="18" charset="0"/>
                <a:ea typeface="黑体" panose="02010609060101010101" pitchFamily="49" charset="-122"/>
                <a:cs typeface="+mn-cs"/>
              </a:rPr>
              <a:t>F</a:t>
            </a:r>
            <a:r>
              <a:rPr kumimoji="1" lang="en-US" altLang="zh-CN" b="0" i="1" u="none" strike="noStrike" kern="1200" cap="none" spc="0" normalizeH="0" baseline="-25000" noProof="0" dirty="0" err="1">
                <a:ln>
                  <a:noFill/>
                </a:ln>
                <a:solidFill>
                  <a:schemeClr val="tx1"/>
                </a:solidFill>
                <a:effectLst/>
                <a:uLnTx/>
                <a:uFillTx/>
                <a:latin typeface="Times New Roman" panose="02020603050405020304" pitchFamily="18" charset="0"/>
                <a:ea typeface="黑体" panose="02010609060101010101" pitchFamily="49" charset="-122"/>
                <a:cs typeface="+mn-cs"/>
              </a:rPr>
              <a:t>y</a:t>
            </a:r>
            <a:r>
              <a:rPr kumimoji="1" lang="en-US" altLang="zh-CN"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=0</a:t>
            </a:r>
            <a:r>
              <a:rPr kumimoji="1" lang="zh-CN" altLang="en-US"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  </a:t>
            </a:r>
            <a:r>
              <a:rPr kumimoji="1" lang="en-US" altLang="zh-CN"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a:t>
            </a:r>
            <a:r>
              <a:rPr kumimoji="1" lang="en-US" altLang="zh-CN" b="0"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F</a:t>
            </a:r>
            <a:r>
              <a:rPr kumimoji="1" lang="en-US" altLang="zh-CN" b="0" i="0" u="none" strike="noStrike" kern="1200" cap="none" spc="0" normalizeH="0" baseline="-25000" noProof="0" dirty="0">
                <a:ln>
                  <a:noFill/>
                </a:ln>
                <a:solidFill>
                  <a:schemeClr val="tx1"/>
                </a:solidFill>
                <a:effectLst/>
                <a:uLnTx/>
                <a:uFillTx/>
                <a:latin typeface="Times New Roman" panose="02020603050405020304" pitchFamily="18" charset="0"/>
                <a:ea typeface="黑体" panose="02010609060101010101" pitchFamily="49" charset="-122"/>
                <a:cs typeface="+mn-cs"/>
              </a:rPr>
              <a:t>N</a:t>
            </a:r>
            <a:r>
              <a:rPr kumimoji="1" lang="en-US" altLang="zh-CN" b="0" i="1" u="none" strike="noStrike" kern="1200" cap="none" spc="0" normalizeH="0" baseline="-25000" noProof="0" dirty="0">
                <a:ln>
                  <a:noFill/>
                </a:ln>
                <a:solidFill>
                  <a:schemeClr val="tx1"/>
                </a:solidFill>
                <a:effectLst/>
                <a:uLnTx/>
                <a:uFillTx/>
                <a:latin typeface="Times New Roman" panose="02020603050405020304" pitchFamily="18" charset="0"/>
                <a:ea typeface="黑体" panose="02010609060101010101" pitchFamily="49" charset="-122"/>
                <a:cs typeface="+mn-cs"/>
              </a:rPr>
              <a:t>BC</a:t>
            </a:r>
            <a:r>
              <a:rPr kumimoji="1" lang="en-US" altLang="zh-CN"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sin30</a:t>
            </a:r>
            <a:r>
              <a:rPr kumimoji="1" lang="en-US" altLang="zh-CN"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sym typeface="Symbol" panose="05050102010706020507" pitchFamily="18" charset="2"/>
              </a:rPr>
              <a:t></a:t>
            </a:r>
            <a:r>
              <a:rPr kumimoji="1" lang="en-US" altLang="zh-CN"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a:t>
            </a:r>
            <a:r>
              <a:rPr kumimoji="1" lang="en-US" altLang="zh-CN" b="0"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F</a:t>
            </a:r>
            <a:r>
              <a:rPr kumimoji="1" lang="en-US" altLang="zh-CN"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=0</a:t>
            </a:r>
            <a:endParaRPr kumimoji="1" lang="zh-CN" altLang="en-US" sz="2400" i="0" u="none" strike="noStrike" kern="1200" cap="none" spc="0" normalizeH="0" baseline="0" noProof="0" dirty="0">
              <a:ln>
                <a:noFill/>
              </a:ln>
              <a:solidFill>
                <a:schemeClr val="tx1"/>
              </a:solidFill>
              <a:effectLst/>
              <a:uLnTx/>
              <a:uFillTx/>
              <a:latin typeface="+mn-lt"/>
              <a:ea typeface="黑体" panose="02010609060101010101" pitchFamily="49" charset="-122"/>
            </a:endParaRPr>
          </a:p>
        </p:txBody>
      </p:sp>
      <p:sp>
        <p:nvSpPr>
          <p:cNvPr id="2" name="Rectangle 61">
            <a:extLst>
              <a:ext uri="{FF2B5EF4-FFF2-40B4-BE49-F238E27FC236}">
                <a16:creationId xmlns:a16="http://schemas.microsoft.com/office/drawing/2014/main" id="{E746119E-2B09-2980-E8E2-5F100493CF6E}"/>
              </a:ext>
            </a:extLst>
          </p:cNvPr>
          <p:cNvSpPr>
            <a:spLocks noChangeArrowheads="1"/>
          </p:cNvSpPr>
          <p:nvPr/>
        </p:nvSpPr>
        <p:spPr bwMode="auto">
          <a:xfrm>
            <a:off x="8112224" y="855752"/>
            <a:ext cx="3988841" cy="4229432"/>
          </a:xfrm>
          <a:prstGeom prst="rect">
            <a:avLst/>
          </a:prstGeom>
          <a:solidFill>
            <a:srgbClr val="B9CDE5"/>
          </a:solidFill>
          <a:ln>
            <a:noFill/>
          </a:ln>
          <a:effectLst/>
        </p:spPr>
        <p:txBody>
          <a:bodyPr wrap="none" anchor="ctr"/>
          <a:lstStyle/>
          <a:p>
            <a:endParaRPr lang="zh-CN" altLang="en-US" dirty="0"/>
          </a:p>
        </p:txBody>
      </p:sp>
      <p:sp>
        <p:nvSpPr>
          <p:cNvPr id="248" name="矩形 247">
            <a:extLst>
              <a:ext uri="{FF2B5EF4-FFF2-40B4-BE49-F238E27FC236}">
                <a16:creationId xmlns:a16="http://schemas.microsoft.com/office/drawing/2014/main" id="{B118E26E-6E8E-EA7A-5803-6F15A50C2F7F}"/>
              </a:ext>
            </a:extLst>
          </p:cNvPr>
          <p:cNvSpPr/>
          <p:nvPr/>
        </p:nvSpPr>
        <p:spPr>
          <a:xfrm>
            <a:off x="574081" y="4222464"/>
            <a:ext cx="5544616" cy="493148"/>
          </a:xfrm>
          <a:prstGeom prst="rect">
            <a:avLst/>
          </a:prstGeom>
        </p:spPr>
        <p:txBody>
          <a:bodyPr wrap="square">
            <a:spAutoFit/>
          </a:bodyPr>
          <a:lstStyle/>
          <a:p>
            <a:pPr lvl="0" eaLnBrk="0" hangingPunct="0">
              <a:lnSpc>
                <a:spcPct val="120000"/>
              </a:lnSpc>
            </a:pPr>
            <a:r>
              <a:rPr lang="zh-CN" altLang="en-US" i="0" dirty="0">
                <a:solidFill>
                  <a:srgbClr val="0033CC"/>
                </a:solidFill>
                <a:ea typeface="黑体" panose="02010609060101010101" pitchFamily="49" charset="-122"/>
              </a:rPr>
              <a:t>     </a:t>
            </a:r>
            <a:r>
              <a:rPr kumimoji="1" lang="en-US" altLang="zh-CN" i="0" dirty="0">
                <a:solidFill>
                  <a:schemeClr val="tx1"/>
                </a:solidFill>
                <a:ea typeface="黑体" panose="02010609060101010101" pitchFamily="49" charset="-122"/>
              </a:rPr>
              <a:t>2</a:t>
            </a:r>
            <a:r>
              <a:rPr kumimoji="1" lang="zh-CN" altLang="en-US" i="0" dirty="0">
                <a:solidFill>
                  <a:schemeClr val="tx1"/>
                </a:solidFill>
                <a:ea typeface="黑体" panose="02010609060101010101" pitchFamily="49" charset="-122"/>
              </a:rPr>
              <a:t>）</a:t>
            </a:r>
            <a:r>
              <a:rPr kumimoji="1" lang="zh-CN" altLang="en-US" i="0" dirty="0">
                <a:solidFill>
                  <a:schemeClr val="tx1"/>
                </a:solidFill>
                <a:latin typeface="+mn-lt"/>
                <a:ea typeface="黑体" panose="02010609060101010101" pitchFamily="49" charset="-122"/>
              </a:rPr>
              <a:t>各杆允许的最大轴力。</a:t>
            </a:r>
            <a:endParaRPr lang="zh-CN" altLang="en-US" b="0" i="0" dirty="0">
              <a:solidFill>
                <a:schemeClr val="tx1"/>
              </a:solidFill>
              <a:latin typeface="+mn-lt"/>
              <a:ea typeface="黑体" panose="02010609060101010101" pitchFamily="49" charset="-122"/>
            </a:endParaRPr>
          </a:p>
        </p:txBody>
      </p:sp>
      <p:sp>
        <p:nvSpPr>
          <p:cNvPr id="249" name="矩形 248">
            <a:extLst>
              <a:ext uri="{FF2B5EF4-FFF2-40B4-BE49-F238E27FC236}">
                <a16:creationId xmlns:a16="http://schemas.microsoft.com/office/drawing/2014/main" id="{9160E008-03D2-159B-17C3-5142D126C850}"/>
              </a:ext>
            </a:extLst>
          </p:cNvPr>
          <p:cNvSpPr/>
          <p:nvPr/>
        </p:nvSpPr>
        <p:spPr>
          <a:xfrm>
            <a:off x="1419472" y="3760499"/>
            <a:ext cx="7463531" cy="461665"/>
          </a:xfrm>
          <a:prstGeom prst="rect">
            <a:avLst/>
          </a:prstGeom>
        </p:spPr>
        <p:txBody>
          <a:bodyPr wrap="square">
            <a:spAutoFit/>
          </a:bodyPr>
          <a:lstStyle/>
          <a:p>
            <a:pPr algn="l" eaLnBrk="1" hangingPunct="1"/>
            <a:r>
              <a:rPr kumimoji="1" lang="zh-CN" altLang="en-US" i="0" dirty="0">
                <a:solidFill>
                  <a:schemeClr val="tx1"/>
                </a:solidFill>
                <a:ea typeface="黑体" panose="02010609060101010101" pitchFamily="49" charset="-122"/>
              </a:rPr>
              <a:t>可求得 </a:t>
            </a:r>
            <a:r>
              <a:rPr kumimoji="1" lang="en-US" altLang="zh-CN" b="0"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F</a:t>
            </a:r>
            <a:r>
              <a:rPr kumimoji="1" lang="en-US" altLang="zh-CN" b="0" i="0" u="none" strike="noStrike" kern="1200" cap="none" spc="0" normalizeH="0" baseline="-25000" noProof="0" dirty="0">
                <a:ln>
                  <a:noFill/>
                </a:ln>
                <a:solidFill>
                  <a:schemeClr val="tx1"/>
                </a:solidFill>
                <a:effectLst/>
                <a:uLnTx/>
                <a:uFillTx/>
                <a:latin typeface="Times New Roman" panose="02020603050405020304" pitchFamily="18" charset="0"/>
                <a:ea typeface="黑体" panose="02010609060101010101" pitchFamily="49" charset="-122"/>
                <a:cs typeface="+mn-cs"/>
              </a:rPr>
              <a:t>N</a:t>
            </a:r>
            <a:r>
              <a:rPr kumimoji="1" lang="en-US" altLang="zh-CN" b="0" i="1" u="none" strike="noStrike" kern="1200" cap="none" spc="0" normalizeH="0" baseline="-25000" noProof="0" dirty="0">
                <a:ln>
                  <a:noFill/>
                </a:ln>
                <a:solidFill>
                  <a:schemeClr val="tx1"/>
                </a:solidFill>
                <a:effectLst/>
                <a:uLnTx/>
                <a:uFillTx/>
                <a:latin typeface="Times New Roman" panose="02020603050405020304" pitchFamily="18" charset="0"/>
                <a:ea typeface="黑体" panose="02010609060101010101" pitchFamily="49" charset="-122"/>
                <a:cs typeface="+mn-cs"/>
              </a:rPr>
              <a:t>AB</a:t>
            </a:r>
            <a:r>
              <a:rPr kumimoji="1" lang="en-US" altLang="zh-CN"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=1.732</a:t>
            </a:r>
            <a:r>
              <a:rPr kumimoji="1" lang="en-US" altLang="zh-CN" b="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F</a:t>
            </a:r>
            <a:r>
              <a:rPr kumimoji="1" lang="zh-CN" altLang="en-US"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（拉力）</a:t>
            </a:r>
            <a:r>
              <a:rPr kumimoji="1" lang="zh-CN" altLang="en-US"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a:t>
            </a:r>
            <a:r>
              <a:rPr kumimoji="1" lang="en-US" altLang="zh-CN" b="0"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F</a:t>
            </a:r>
            <a:r>
              <a:rPr kumimoji="1" lang="en-US" altLang="zh-CN" b="0" i="0" u="none" strike="noStrike" kern="1200" cap="none" spc="0" normalizeH="0" baseline="-25000" noProof="0" dirty="0">
                <a:ln>
                  <a:noFill/>
                </a:ln>
                <a:solidFill>
                  <a:schemeClr val="tx1"/>
                </a:solidFill>
                <a:effectLst/>
                <a:uLnTx/>
                <a:uFillTx/>
                <a:latin typeface="Times New Roman" panose="02020603050405020304" pitchFamily="18" charset="0"/>
                <a:ea typeface="黑体" panose="02010609060101010101" pitchFamily="49" charset="-122"/>
                <a:cs typeface="+mn-cs"/>
              </a:rPr>
              <a:t>N</a:t>
            </a:r>
            <a:r>
              <a:rPr kumimoji="1" lang="en-US" altLang="zh-CN" b="0" i="1" u="none" strike="noStrike" kern="1200" cap="none" spc="0" normalizeH="0" baseline="-25000" noProof="0" dirty="0">
                <a:ln>
                  <a:noFill/>
                </a:ln>
                <a:solidFill>
                  <a:schemeClr val="tx1"/>
                </a:solidFill>
                <a:effectLst/>
                <a:uLnTx/>
                <a:uFillTx/>
                <a:latin typeface="Times New Roman" panose="02020603050405020304" pitchFamily="18" charset="0"/>
                <a:ea typeface="黑体" panose="02010609060101010101" pitchFamily="49" charset="-122"/>
                <a:cs typeface="+mn-cs"/>
              </a:rPr>
              <a:t>BC</a:t>
            </a:r>
            <a:r>
              <a:rPr kumimoji="1" lang="en-US" altLang="zh-CN"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a:t>
            </a:r>
            <a:r>
              <a:rPr kumimoji="1" lang="en-US" altLang="zh-CN"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a:t>
            </a:r>
            <a:r>
              <a:rPr kumimoji="1" lang="en-US" altLang="zh-CN"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2</a:t>
            </a:r>
            <a:r>
              <a:rPr kumimoji="1" lang="en-US" altLang="zh-CN" b="0"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F</a:t>
            </a:r>
            <a:r>
              <a:rPr kumimoji="1" lang="en-US" altLang="zh-CN"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 </a:t>
            </a:r>
            <a:r>
              <a:rPr kumimoji="1" lang="zh-CN" altLang="en-US"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（压力）</a:t>
            </a:r>
            <a:endParaRPr kumimoji="1" lang="zh-CN" altLang="en-US" b="0" i="0" dirty="0">
              <a:solidFill>
                <a:schemeClr val="tx1"/>
              </a:solidFill>
              <a:ea typeface="黑体" panose="02010609060101010101" pitchFamily="49" charset="-122"/>
            </a:endParaRPr>
          </a:p>
        </p:txBody>
      </p:sp>
      <p:sp>
        <p:nvSpPr>
          <p:cNvPr id="284" name="Text Box 9">
            <a:extLst>
              <a:ext uri="{FF2B5EF4-FFF2-40B4-BE49-F238E27FC236}">
                <a16:creationId xmlns:a16="http://schemas.microsoft.com/office/drawing/2014/main" id="{D1067B47-FFD2-4A6A-30AE-F7A1D52DFED7}"/>
              </a:ext>
            </a:extLst>
          </p:cNvPr>
          <p:cNvSpPr txBox="1">
            <a:spLocks noChangeAspect="1" noChangeArrowheads="1"/>
          </p:cNvSpPr>
          <p:nvPr/>
        </p:nvSpPr>
        <p:spPr bwMode="auto">
          <a:xfrm>
            <a:off x="9917259" y="3301093"/>
            <a:ext cx="969963"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ctr" eaLnBrk="1" hangingPunct="1"/>
            <a:r>
              <a:rPr lang="en-US" altLang="zh-CN" b="0" kern="0" dirty="0">
                <a:solidFill>
                  <a:srgbClr val="FF0000"/>
                </a:solidFill>
                <a:latin typeface="+mn-lt"/>
                <a:ea typeface="宋体" panose="02010600030101010101" pitchFamily="2" charset="-122"/>
              </a:rPr>
              <a:t>F</a:t>
            </a:r>
            <a:r>
              <a:rPr lang="en-US" altLang="zh-CN" sz="2800" b="0" i="0" baseline="-25000" dirty="0">
                <a:solidFill>
                  <a:srgbClr val="FF0000"/>
                </a:solidFill>
                <a:latin typeface="+mn-lt"/>
                <a:ea typeface="宋体" panose="02010600030101010101" pitchFamily="2" charset="-122"/>
              </a:rPr>
              <a:t>N</a:t>
            </a:r>
            <a:r>
              <a:rPr lang="en-US" altLang="zh-CN" sz="2800" b="0" baseline="-25000" dirty="0">
                <a:solidFill>
                  <a:srgbClr val="FF0000"/>
                </a:solidFill>
                <a:latin typeface="+mn-lt"/>
                <a:ea typeface="宋体" panose="02010600030101010101" pitchFamily="2" charset="-122"/>
              </a:rPr>
              <a:t>AB</a:t>
            </a:r>
          </a:p>
        </p:txBody>
      </p:sp>
      <p:sp>
        <p:nvSpPr>
          <p:cNvPr id="285" name="Line 14">
            <a:extLst>
              <a:ext uri="{FF2B5EF4-FFF2-40B4-BE49-F238E27FC236}">
                <a16:creationId xmlns:a16="http://schemas.microsoft.com/office/drawing/2014/main" id="{0F4DB9F7-AD97-B17A-0742-69D6A6188CAF}"/>
              </a:ext>
            </a:extLst>
          </p:cNvPr>
          <p:cNvSpPr>
            <a:spLocks noChangeAspect="1" noChangeShapeType="1"/>
          </p:cNvSpPr>
          <p:nvPr/>
        </p:nvSpPr>
        <p:spPr bwMode="auto">
          <a:xfrm flipH="1">
            <a:off x="10300640" y="3823436"/>
            <a:ext cx="765175" cy="0"/>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algn="ctr"/>
            <a:endParaRPr kumimoji="1" lang="zh-CN" altLang="en-US" b="0" i="0">
              <a:solidFill>
                <a:srgbClr val="0000FF"/>
              </a:solidFill>
              <a:ea typeface="黑体" panose="02010609060101010101" pitchFamily="49" charset="-122"/>
            </a:endParaRPr>
          </a:p>
        </p:txBody>
      </p:sp>
      <p:grpSp>
        <p:nvGrpSpPr>
          <p:cNvPr id="286" name="Group 140">
            <a:extLst>
              <a:ext uri="{FF2B5EF4-FFF2-40B4-BE49-F238E27FC236}">
                <a16:creationId xmlns:a16="http://schemas.microsoft.com/office/drawing/2014/main" id="{C6DACA01-930F-7E1F-BB62-D4388E1AE833}"/>
              </a:ext>
            </a:extLst>
          </p:cNvPr>
          <p:cNvGrpSpPr>
            <a:grpSpLocks/>
          </p:cNvGrpSpPr>
          <p:nvPr/>
        </p:nvGrpSpPr>
        <p:grpSpPr bwMode="auto">
          <a:xfrm>
            <a:off x="10794353" y="3417036"/>
            <a:ext cx="954087" cy="1363663"/>
            <a:chOff x="5148" y="1623"/>
            <a:chExt cx="601" cy="859"/>
          </a:xfrm>
        </p:grpSpPr>
        <p:sp>
          <p:nvSpPr>
            <p:cNvPr id="287" name="Text Box 37">
              <a:extLst>
                <a:ext uri="{FF2B5EF4-FFF2-40B4-BE49-F238E27FC236}">
                  <a16:creationId xmlns:a16="http://schemas.microsoft.com/office/drawing/2014/main" id="{86DC7BF6-7EBE-6093-B83C-24738F802993}"/>
                </a:ext>
              </a:extLst>
            </p:cNvPr>
            <p:cNvSpPr txBox="1">
              <a:spLocks noChangeAspect="1" noChangeArrowheads="1"/>
            </p:cNvSpPr>
            <p:nvPr/>
          </p:nvSpPr>
          <p:spPr bwMode="auto">
            <a:xfrm>
              <a:off x="5363" y="2188"/>
              <a:ext cx="386"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altLang="zh-CN" b="0" kern="0" dirty="0">
                  <a:solidFill>
                    <a:srgbClr val="FF0000"/>
                  </a:solidFill>
                  <a:latin typeface="+mn-lt"/>
                  <a:ea typeface="宋体" panose="02010600030101010101" pitchFamily="2" charset="-122"/>
                </a:rPr>
                <a:t>F</a:t>
              </a:r>
            </a:p>
          </p:txBody>
        </p:sp>
        <p:sp>
          <p:nvSpPr>
            <p:cNvPr id="128" name="Line 38">
              <a:extLst>
                <a:ext uri="{FF2B5EF4-FFF2-40B4-BE49-F238E27FC236}">
                  <a16:creationId xmlns:a16="http://schemas.microsoft.com/office/drawing/2014/main" id="{D458044E-AE6C-B471-3B68-F95B2B217FE4}"/>
                </a:ext>
              </a:extLst>
            </p:cNvPr>
            <p:cNvSpPr>
              <a:spLocks noChangeAspect="1" noChangeShapeType="1"/>
            </p:cNvSpPr>
            <p:nvPr/>
          </p:nvSpPr>
          <p:spPr bwMode="auto">
            <a:xfrm>
              <a:off x="5371" y="1918"/>
              <a:ext cx="0" cy="523"/>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FF"/>
                </a:solidFill>
                <a:effectLst/>
                <a:uLnTx/>
                <a:uFillTx/>
                <a:ea typeface="黑体" panose="02010609060101010101" pitchFamily="49" charset="-122"/>
              </a:endParaRPr>
            </a:p>
          </p:txBody>
        </p:sp>
        <p:sp>
          <p:nvSpPr>
            <p:cNvPr id="129" name="Text Box 39">
              <a:extLst>
                <a:ext uri="{FF2B5EF4-FFF2-40B4-BE49-F238E27FC236}">
                  <a16:creationId xmlns:a16="http://schemas.microsoft.com/office/drawing/2014/main" id="{739DF902-A520-2221-AA1F-BEED29B78651}"/>
                </a:ext>
              </a:extLst>
            </p:cNvPr>
            <p:cNvSpPr txBox="1">
              <a:spLocks noChangeAspect="1" noChangeArrowheads="1"/>
            </p:cNvSpPr>
            <p:nvPr/>
          </p:nvSpPr>
          <p:spPr bwMode="auto">
            <a:xfrm>
              <a:off x="5148" y="1623"/>
              <a:ext cx="252"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mj-lt"/>
                  <a:ea typeface="宋体" panose="02010600030101010101" pitchFamily="2" charset="-122"/>
                </a:rPr>
                <a:t>B</a:t>
              </a:r>
            </a:p>
          </p:txBody>
        </p:sp>
        <p:sp>
          <p:nvSpPr>
            <p:cNvPr id="130" name="Oval 42">
              <a:extLst>
                <a:ext uri="{FF2B5EF4-FFF2-40B4-BE49-F238E27FC236}">
                  <a16:creationId xmlns:a16="http://schemas.microsoft.com/office/drawing/2014/main" id="{268EB1A1-4A43-FE91-6BA0-BF9250C6C081}"/>
                </a:ext>
              </a:extLst>
            </p:cNvPr>
            <p:cNvSpPr>
              <a:spLocks noChangeAspect="1" noChangeArrowheads="1"/>
            </p:cNvSpPr>
            <p:nvPr/>
          </p:nvSpPr>
          <p:spPr bwMode="auto">
            <a:xfrm>
              <a:off x="5326" y="1832"/>
              <a:ext cx="90" cy="90"/>
            </a:xfrm>
            <a:prstGeom prst="ellipse">
              <a:avLst/>
            </a:prstGeom>
            <a:solidFill>
              <a:srgbClr val="FF00FF"/>
            </a:solidFill>
            <a:ln w="38100" algn="ctr">
              <a:solidFill>
                <a:srgbClr val="000000"/>
              </a:solidFill>
              <a:round/>
              <a:headEnd/>
              <a:tailEnd/>
            </a:ln>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FF"/>
                </a:solidFill>
                <a:effectLst/>
                <a:uLnTx/>
                <a:uFillTx/>
                <a:latin typeface="Times New Roman" panose="02020603050405020304" pitchFamily="18" charset="0"/>
                <a:ea typeface="黑体" panose="02010609060101010101" pitchFamily="49" charset="-122"/>
              </a:endParaRPr>
            </a:p>
          </p:txBody>
        </p:sp>
      </p:grpSp>
      <p:grpSp>
        <p:nvGrpSpPr>
          <p:cNvPr id="131" name="Group 139">
            <a:extLst>
              <a:ext uri="{FF2B5EF4-FFF2-40B4-BE49-F238E27FC236}">
                <a16:creationId xmlns:a16="http://schemas.microsoft.com/office/drawing/2014/main" id="{EF099FA9-498D-22B8-BF5E-E49877532CA8}"/>
              </a:ext>
            </a:extLst>
          </p:cNvPr>
          <p:cNvGrpSpPr>
            <a:grpSpLocks/>
          </p:cNvGrpSpPr>
          <p:nvPr/>
        </p:nvGrpSpPr>
        <p:grpSpPr bwMode="auto">
          <a:xfrm>
            <a:off x="8649640" y="1056424"/>
            <a:ext cx="3098800" cy="2265362"/>
            <a:chOff x="3808" y="103"/>
            <a:chExt cx="1952" cy="1427"/>
          </a:xfrm>
        </p:grpSpPr>
        <p:sp>
          <p:nvSpPr>
            <p:cNvPr id="132" name="Rectangle 79" descr="深色木质">
              <a:extLst>
                <a:ext uri="{FF2B5EF4-FFF2-40B4-BE49-F238E27FC236}">
                  <a16:creationId xmlns:a16="http://schemas.microsoft.com/office/drawing/2014/main" id="{7211BE18-40B9-E156-94E0-A9C82429E412}"/>
                </a:ext>
              </a:extLst>
            </p:cNvPr>
            <p:cNvSpPr>
              <a:spLocks noChangeAspect="1" noChangeArrowheads="1"/>
            </p:cNvSpPr>
            <p:nvPr/>
          </p:nvSpPr>
          <p:spPr bwMode="auto">
            <a:xfrm rot="-1800000">
              <a:off x="3824" y="797"/>
              <a:ext cx="1677" cy="73"/>
            </a:xfrm>
            <a:prstGeom prst="rect">
              <a:avLst/>
            </a:prstGeom>
            <a:blipFill dpi="0" rotWithShape="1">
              <a:blip r:embed="rId4"/>
              <a:srcRect/>
              <a:tile tx="0" ty="0" sx="100000" sy="100000" flip="none" algn="tl"/>
            </a:blipFill>
            <a:ln w="28575">
              <a:solidFill>
                <a:srgbClr val="000000"/>
              </a:solidFill>
              <a:miter lim="800000"/>
              <a:headEnd/>
              <a:tailEnd/>
            </a:ln>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FF"/>
                </a:solidFill>
                <a:effectLst/>
                <a:uLnTx/>
                <a:uFillTx/>
                <a:latin typeface="Times New Roman" panose="02020603050405020304" pitchFamily="18" charset="0"/>
                <a:ea typeface="黑体" panose="02010609060101010101" pitchFamily="49" charset="-122"/>
              </a:endParaRPr>
            </a:p>
          </p:txBody>
        </p:sp>
        <p:sp>
          <p:nvSpPr>
            <p:cNvPr id="133" name="Rectangle 60">
              <a:extLst>
                <a:ext uri="{FF2B5EF4-FFF2-40B4-BE49-F238E27FC236}">
                  <a16:creationId xmlns:a16="http://schemas.microsoft.com/office/drawing/2014/main" id="{BE93A959-AF3F-7140-34B5-ADEA464BBBB0}"/>
                </a:ext>
              </a:extLst>
            </p:cNvPr>
            <p:cNvSpPr>
              <a:spLocks noChangeAspect="1" noChangeArrowheads="1"/>
            </p:cNvSpPr>
            <p:nvPr/>
          </p:nvSpPr>
          <p:spPr bwMode="auto">
            <a:xfrm>
              <a:off x="3939" y="384"/>
              <a:ext cx="1462" cy="51"/>
            </a:xfrm>
            <a:prstGeom prst="rect">
              <a:avLst/>
            </a:prstGeom>
            <a:gradFill rotWithShape="0">
              <a:gsLst>
                <a:gs pos="0">
                  <a:srgbClr val="767676"/>
                </a:gs>
                <a:gs pos="50000">
                  <a:srgbClr val="FFFFFF"/>
                </a:gs>
                <a:gs pos="100000">
                  <a:srgbClr val="767676"/>
                </a:gs>
              </a:gsLst>
              <a:lin ang="5400000" scaled="1"/>
            </a:gradFill>
            <a:ln w="28575">
              <a:solidFill>
                <a:srgbClr val="000000"/>
              </a:solidFill>
              <a:miter lim="800000"/>
              <a:headEnd/>
              <a:tailEnd/>
            </a:ln>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FF"/>
                </a:solidFill>
                <a:effectLst/>
                <a:uLnTx/>
                <a:uFillTx/>
                <a:latin typeface="Times New Roman" panose="02020603050405020304" pitchFamily="18" charset="0"/>
                <a:ea typeface="黑体" panose="02010609060101010101" pitchFamily="49" charset="-122"/>
              </a:endParaRPr>
            </a:p>
          </p:txBody>
        </p:sp>
        <p:grpSp>
          <p:nvGrpSpPr>
            <p:cNvPr id="134" name="Group 21">
              <a:extLst>
                <a:ext uri="{FF2B5EF4-FFF2-40B4-BE49-F238E27FC236}">
                  <a16:creationId xmlns:a16="http://schemas.microsoft.com/office/drawing/2014/main" id="{DF2A4FE7-9DBE-0FA4-B9AB-6876E1A925DC}"/>
                </a:ext>
              </a:extLst>
            </p:cNvPr>
            <p:cNvGrpSpPr>
              <a:grpSpLocks/>
            </p:cNvGrpSpPr>
            <p:nvPr/>
          </p:nvGrpSpPr>
          <p:grpSpPr bwMode="auto">
            <a:xfrm>
              <a:off x="3808" y="183"/>
              <a:ext cx="103" cy="1276"/>
              <a:chOff x="4180" y="191"/>
              <a:chExt cx="112" cy="1798"/>
            </a:xfrm>
          </p:grpSpPr>
          <p:sp>
            <p:nvSpPr>
              <p:cNvPr id="292" name="Rectangle 22" descr="宽上对角线">
                <a:extLst>
                  <a:ext uri="{FF2B5EF4-FFF2-40B4-BE49-F238E27FC236}">
                    <a16:creationId xmlns:a16="http://schemas.microsoft.com/office/drawing/2014/main" id="{6BB074C3-EF06-5D5D-964A-6BD2487586A9}"/>
                  </a:ext>
                </a:extLst>
              </p:cNvPr>
              <p:cNvSpPr>
                <a:spLocks noChangeAspect="1" noChangeArrowheads="1"/>
              </p:cNvSpPr>
              <p:nvPr/>
            </p:nvSpPr>
            <p:spPr bwMode="auto">
              <a:xfrm>
                <a:off x="4180" y="191"/>
                <a:ext cx="94" cy="1798"/>
              </a:xfrm>
              <a:prstGeom prst="rect">
                <a:avLst/>
              </a:prstGeom>
              <a:pattFill prst="wdUpDiag">
                <a:fgClr>
                  <a:srgbClr val="000000"/>
                </a:fgClr>
                <a:bgClr>
                  <a:srgbClr val="99FFCC"/>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FF"/>
                  </a:solidFill>
                  <a:effectLst/>
                  <a:uLnTx/>
                  <a:uFillTx/>
                  <a:latin typeface="Times New Roman" panose="02020603050405020304" pitchFamily="18" charset="0"/>
                  <a:ea typeface="黑体" panose="02010609060101010101" pitchFamily="49" charset="-122"/>
                </a:endParaRPr>
              </a:p>
            </p:txBody>
          </p:sp>
          <p:sp>
            <p:nvSpPr>
              <p:cNvPr id="293" name="Line 23">
                <a:extLst>
                  <a:ext uri="{FF2B5EF4-FFF2-40B4-BE49-F238E27FC236}">
                    <a16:creationId xmlns:a16="http://schemas.microsoft.com/office/drawing/2014/main" id="{A3995DE2-5F4F-6364-FA02-9330B0D15848}"/>
                  </a:ext>
                </a:extLst>
              </p:cNvPr>
              <p:cNvSpPr>
                <a:spLocks noChangeAspect="1" noChangeShapeType="1"/>
              </p:cNvSpPr>
              <p:nvPr/>
            </p:nvSpPr>
            <p:spPr bwMode="auto">
              <a:xfrm>
                <a:off x="4292" y="191"/>
                <a:ext cx="0" cy="1790"/>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FF"/>
                  </a:solidFill>
                  <a:effectLst/>
                  <a:uLnTx/>
                  <a:uFillTx/>
                  <a:ea typeface="黑体" panose="02010609060101010101" pitchFamily="49" charset="-122"/>
                </a:endParaRPr>
              </a:p>
            </p:txBody>
          </p:sp>
        </p:grpSp>
        <p:sp>
          <p:nvSpPr>
            <p:cNvPr id="135" name="Text Box 26">
              <a:extLst>
                <a:ext uri="{FF2B5EF4-FFF2-40B4-BE49-F238E27FC236}">
                  <a16:creationId xmlns:a16="http://schemas.microsoft.com/office/drawing/2014/main" id="{8BAA0754-41B5-213C-D207-1F00B645E8E8}"/>
                </a:ext>
              </a:extLst>
            </p:cNvPr>
            <p:cNvSpPr txBox="1">
              <a:spLocks noChangeAspect="1" noChangeArrowheads="1"/>
            </p:cNvSpPr>
            <p:nvPr/>
          </p:nvSpPr>
          <p:spPr bwMode="auto">
            <a:xfrm>
              <a:off x="5254" y="116"/>
              <a:ext cx="289"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altLang="zh-CN" b="0" kern="0" dirty="0">
                  <a:solidFill>
                    <a:srgbClr val="000000"/>
                  </a:solidFill>
                  <a:latin typeface="+mn-lt"/>
                  <a:ea typeface="宋体" panose="02010600030101010101" pitchFamily="2" charset="-122"/>
                </a:rPr>
                <a:t>B</a:t>
              </a:r>
            </a:p>
          </p:txBody>
        </p:sp>
        <p:sp>
          <p:nvSpPr>
            <p:cNvPr id="137" name="Oval 30">
              <a:extLst>
                <a:ext uri="{FF2B5EF4-FFF2-40B4-BE49-F238E27FC236}">
                  <a16:creationId xmlns:a16="http://schemas.microsoft.com/office/drawing/2014/main" id="{FBE30F0A-370A-91DC-5609-4F24D149538F}"/>
                </a:ext>
              </a:extLst>
            </p:cNvPr>
            <p:cNvSpPr>
              <a:spLocks noChangeAspect="1" noChangeArrowheads="1"/>
            </p:cNvSpPr>
            <p:nvPr/>
          </p:nvSpPr>
          <p:spPr bwMode="auto">
            <a:xfrm>
              <a:off x="3872" y="1216"/>
              <a:ext cx="90" cy="90"/>
            </a:xfrm>
            <a:prstGeom prst="ellipse">
              <a:avLst/>
            </a:prstGeom>
            <a:solidFill>
              <a:srgbClr val="FF00FF"/>
            </a:solidFill>
            <a:ln w="38100" algn="ctr">
              <a:solidFill>
                <a:srgbClr val="000000"/>
              </a:solidFill>
              <a:round/>
              <a:headEnd/>
              <a:tailEnd/>
            </a:ln>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FF"/>
                </a:solidFill>
                <a:effectLst/>
                <a:uLnTx/>
                <a:uFillTx/>
                <a:latin typeface="Times New Roman" panose="02020603050405020304" pitchFamily="18" charset="0"/>
                <a:ea typeface="黑体" panose="02010609060101010101" pitchFamily="49" charset="-122"/>
              </a:endParaRPr>
            </a:p>
          </p:txBody>
        </p:sp>
        <p:sp>
          <p:nvSpPr>
            <p:cNvPr id="138" name="Oval 61">
              <a:extLst>
                <a:ext uri="{FF2B5EF4-FFF2-40B4-BE49-F238E27FC236}">
                  <a16:creationId xmlns:a16="http://schemas.microsoft.com/office/drawing/2014/main" id="{F8576A07-C35A-398C-A67A-109FCC0723B9}"/>
                </a:ext>
              </a:extLst>
            </p:cNvPr>
            <p:cNvSpPr>
              <a:spLocks noChangeAspect="1" noChangeArrowheads="1"/>
            </p:cNvSpPr>
            <p:nvPr/>
          </p:nvSpPr>
          <p:spPr bwMode="auto">
            <a:xfrm>
              <a:off x="3884" y="374"/>
              <a:ext cx="71" cy="73"/>
            </a:xfrm>
            <a:prstGeom prst="ellipse">
              <a:avLst/>
            </a:prstGeom>
            <a:solidFill>
              <a:srgbClr val="FF0000"/>
            </a:solidFill>
            <a:ln w="28575">
              <a:solidFill>
                <a:srgbClr val="000000"/>
              </a:solidFill>
              <a:round/>
              <a:headEnd/>
              <a:tailEnd/>
            </a:ln>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FF"/>
                </a:solidFill>
                <a:effectLst/>
                <a:uLnTx/>
                <a:uFillTx/>
                <a:latin typeface="Times New Roman" panose="02020603050405020304" pitchFamily="18" charset="0"/>
                <a:ea typeface="黑体" panose="02010609060101010101" pitchFamily="49" charset="-122"/>
              </a:endParaRPr>
            </a:p>
          </p:txBody>
        </p:sp>
        <p:sp>
          <p:nvSpPr>
            <p:cNvPr id="139" name="Arc 63">
              <a:extLst>
                <a:ext uri="{FF2B5EF4-FFF2-40B4-BE49-F238E27FC236}">
                  <a16:creationId xmlns:a16="http://schemas.microsoft.com/office/drawing/2014/main" id="{363E3B19-D080-D6BB-FEE5-857DEAFD0534}"/>
                </a:ext>
              </a:extLst>
            </p:cNvPr>
            <p:cNvSpPr>
              <a:spLocks noChangeAspect="1"/>
            </p:cNvSpPr>
            <p:nvPr/>
          </p:nvSpPr>
          <p:spPr bwMode="auto">
            <a:xfrm rot="18249970" flipH="1">
              <a:off x="4812" y="450"/>
              <a:ext cx="145" cy="175"/>
            </a:xfrm>
            <a:custGeom>
              <a:avLst/>
              <a:gdLst>
                <a:gd name="T0" fmla="*/ 0 w 21600"/>
                <a:gd name="T1" fmla="*/ 0 h 21600"/>
                <a:gd name="T2" fmla="*/ 1 w 21600"/>
                <a:gd name="T3" fmla="*/ 1 h 21600"/>
                <a:gd name="T4" fmla="*/ 0 w 21600"/>
                <a:gd name="T5" fmla="*/ 1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6350">
              <a:solidFill>
                <a:srgbClr val="000000"/>
              </a:solidFill>
              <a:round/>
              <a:headEnd type="stealth" w="sm" len="sm"/>
              <a:tailEnd type="stealth" w="sm" len="sm"/>
            </a:ln>
            <a:extLst>
              <a:ext uri="{909E8E84-426E-40DD-AFC4-6F175D3DCCD1}">
                <a14:hiddenFill xmlns:a14="http://schemas.microsoft.com/office/drawing/2010/main">
                  <a:solidFill>
                    <a:srgbClr val="FFFFFF"/>
                  </a:solid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FF"/>
                </a:solidFill>
                <a:effectLst/>
                <a:uLnTx/>
                <a:uFillTx/>
                <a:ea typeface="黑体" panose="02010609060101010101" pitchFamily="49" charset="-122"/>
              </a:endParaRPr>
            </a:p>
          </p:txBody>
        </p:sp>
        <p:sp>
          <p:nvSpPr>
            <p:cNvPr id="140" name="Text Box 64">
              <a:extLst>
                <a:ext uri="{FF2B5EF4-FFF2-40B4-BE49-F238E27FC236}">
                  <a16:creationId xmlns:a16="http://schemas.microsoft.com/office/drawing/2014/main" id="{7A36A6F0-A26E-F3AE-EEAF-9AE22B523DE0}"/>
                </a:ext>
              </a:extLst>
            </p:cNvPr>
            <p:cNvSpPr txBox="1">
              <a:spLocks noChangeAspect="1" noChangeArrowheads="1"/>
            </p:cNvSpPr>
            <p:nvPr/>
          </p:nvSpPr>
          <p:spPr bwMode="auto">
            <a:xfrm>
              <a:off x="4492" y="419"/>
              <a:ext cx="407" cy="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altLang="zh-CN" b="0" i="0" kern="0" dirty="0">
                  <a:solidFill>
                    <a:srgbClr val="000000"/>
                  </a:solidFill>
                  <a:latin typeface="+mn-lt"/>
                  <a:ea typeface="宋体" panose="02010600030101010101" pitchFamily="2" charset="-122"/>
                </a:rPr>
                <a:t>30</a:t>
              </a:r>
              <a:r>
                <a:rPr lang="en-US" altLang="zh-CN" b="0" i="0" kern="0" dirty="0">
                  <a:solidFill>
                    <a:srgbClr val="000000"/>
                  </a:solidFill>
                  <a:latin typeface="+mn-lt"/>
                  <a:ea typeface="宋体" panose="02010600030101010101" pitchFamily="2" charset="-122"/>
                  <a:sym typeface="Symbol" panose="05050102010706020507" pitchFamily="18" charset="2"/>
                </a:rPr>
                <a:t></a:t>
              </a:r>
            </a:p>
          </p:txBody>
        </p:sp>
        <p:sp>
          <p:nvSpPr>
            <p:cNvPr id="141" name="Text Box 72">
              <a:extLst>
                <a:ext uri="{FF2B5EF4-FFF2-40B4-BE49-F238E27FC236}">
                  <a16:creationId xmlns:a16="http://schemas.microsoft.com/office/drawing/2014/main" id="{91B15407-3FB1-44CE-AEF9-9EB97D93D1B4}"/>
                </a:ext>
              </a:extLst>
            </p:cNvPr>
            <p:cNvSpPr txBox="1">
              <a:spLocks noChangeAspect="1" noChangeArrowheads="1"/>
            </p:cNvSpPr>
            <p:nvPr/>
          </p:nvSpPr>
          <p:spPr bwMode="auto">
            <a:xfrm>
              <a:off x="5368" y="669"/>
              <a:ext cx="392"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800" b="0" u="none" strike="noStrike" kern="0" cap="none" spc="0" normalizeH="0" baseline="0" noProof="0" dirty="0">
                  <a:ln>
                    <a:noFill/>
                  </a:ln>
                  <a:solidFill>
                    <a:srgbClr val="FF0000"/>
                  </a:solidFill>
                  <a:effectLst/>
                  <a:uLnTx/>
                  <a:uFillTx/>
                  <a:latin typeface="+mj-lt"/>
                  <a:ea typeface="宋体" panose="02010600030101010101" pitchFamily="2" charset="-122"/>
                </a:rPr>
                <a:t>F</a:t>
              </a:r>
              <a:endParaRPr kumimoji="1" lang="en-US" altLang="zh-CN" sz="2800" b="0" u="none" strike="noStrike" kern="0" cap="none" spc="0" normalizeH="0" baseline="-25000" noProof="0" dirty="0">
                <a:ln>
                  <a:noFill/>
                </a:ln>
                <a:solidFill>
                  <a:srgbClr val="FF0000"/>
                </a:solidFill>
                <a:effectLst/>
                <a:uLnTx/>
                <a:uFillTx/>
                <a:latin typeface="+mj-lt"/>
                <a:ea typeface="宋体" panose="02010600030101010101" pitchFamily="2" charset="-122"/>
              </a:endParaRPr>
            </a:p>
          </p:txBody>
        </p:sp>
        <p:sp>
          <p:nvSpPr>
            <p:cNvPr id="142" name="Text Box 74">
              <a:extLst>
                <a:ext uri="{FF2B5EF4-FFF2-40B4-BE49-F238E27FC236}">
                  <a16:creationId xmlns:a16="http://schemas.microsoft.com/office/drawing/2014/main" id="{E5F323FF-A571-456D-275E-E6B8176F0BD7}"/>
                </a:ext>
              </a:extLst>
            </p:cNvPr>
            <p:cNvSpPr txBox="1">
              <a:spLocks noChangeAspect="1" noChangeArrowheads="1"/>
            </p:cNvSpPr>
            <p:nvPr/>
          </p:nvSpPr>
          <p:spPr bwMode="auto">
            <a:xfrm>
              <a:off x="3874" y="131"/>
              <a:ext cx="348"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mn-lt"/>
                  <a:ea typeface="宋体" panose="02010600030101010101" pitchFamily="2" charset="-122"/>
                </a:rPr>
                <a:t>A</a:t>
              </a:r>
            </a:p>
          </p:txBody>
        </p:sp>
        <p:sp>
          <p:nvSpPr>
            <p:cNvPr id="143" name="Text Box 75">
              <a:extLst>
                <a:ext uri="{FF2B5EF4-FFF2-40B4-BE49-F238E27FC236}">
                  <a16:creationId xmlns:a16="http://schemas.microsoft.com/office/drawing/2014/main" id="{9621C818-C2AC-ABB6-F7A1-513D8565BEDA}"/>
                </a:ext>
              </a:extLst>
            </p:cNvPr>
            <p:cNvSpPr txBox="1">
              <a:spLocks noChangeAspect="1" noChangeArrowheads="1"/>
            </p:cNvSpPr>
            <p:nvPr/>
          </p:nvSpPr>
          <p:spPr bwMode="auto">
            <a:xfrm>
              <a:off x="3922" y="1210"/>
              <a:ext cx="348"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mn-lt"/>
                  <a:ea typeface="宋体" panose="02010600030101010101" pitchFamily="2" charset="-122"/>
                </a:rPr>
                <a:t>C</a:t>
              </a:r>
            </a:p>
          </p:txBody>
        </p:sp>
        <p:sp>
          <p:nvSpPr>
            <p:cNvPr id="144" name="Line 78">
              <a:extLst>
                <a:ext uri="{FF2B5EF4-FFF2-40B4-BE49-F238E27FC236}">
                  <a16:creationId xmlns:a16="http://schemas.microsoft.com/office/drawing/2014/main" id="{7E1C5904-56E1-6437-1833-508BF451D34A}"/>
                </a:ext>
              </a:extLst>
            </p:cNvPr>
            <p:cNvSpPr>
              <a:spLocks noChangeAspect="1" noChangeShapeType="1"/>
            </p:cNvSpPr>
            <p:nvPr/>
          </p:nvSpPr>
          <p:spPr bwMode="auto">
            <a:xfrm>
              <a:off x="5392" y="466"/>
              <a:ext cx="0" cy="421"/>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FF"/>
                </a:solidFill>
                <a:effectLst/>
                <a:uLnTx/>
                <a:uFillTx/>
                <a:ea typeface="黑体" panose="02010609060101010101" pitchFamily="49" charset="-122"/>
              </a:endParaRPr>
            </a:p>
          </p:txBody>
        </p:sp>
        <p:sp>
          <p:nvSpPr>
            <p:cNvPr id="145" name="Oval 29">
              <a:extLst>
                <a:ext uri="{FF2B5EF4-FFF2-40B4-BE49-F238E27FC236}">
                  <a16:creationId xmlns:a16="http://schemas.microsoft.com/office/drawing/2014/main" id="{B8D7C10E-EED2-0007-4C52-CE604085D2E5}"/>
                </a:ext>
              </a:extLst>
            </p:cNvPr>
            <p:cNvSpPr>
              <a:spLocks noChangeAspect="1" noChangeArrowheads="1"/>
            </p:cNvSpPr>
            <p:nvPr/>
          </p:nvSpPr>
          <p:spPr bwMode="auto">
            <a:xfrm>
              <a:off x="5334" y="364"/>
              <a:ext cx="90" cy="90"/>
            </a:xfrm>
            <a:prstGeom prst="ellipse">
              <a:avLst/>
            </a:prstGeom>
            <a:solidFill>
              <a:srgbClr val="FF00FF"/>
            </a:solidFill>
            <a:ln w="38100">
              <a:solidFill>
                <a:srgbClr val="000000"/>
              </a:solidFill>
              <a:round/>
              <a:headEnd/>
              <a:tailEnd/>
            </a:ln>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FF"/>
                </a:solidFill>
                <a:effectLst/>
                <a:uLnTx/>
                <a:uFillTx/>
                <a:latin typeface="Times New Roman" panose="02020603050405020304" pitchFamily="18" charset="0"/>
                <a:ea typeface="黑体" panose="02010609060101010101" pitchFamily="49" charset="-122"/>
              </a:endParaRPr>
            </a:p>
          </p:txBody>
        </p:sp>
        <p:sp>
          <p:nvSpPr>
            <p:cNvPr id="146" name="Oval 80" descr="宽上对角线">
              <a:extLst>
                <a:ext uri="{FF2B5EF4-FFF2-40B4-BE49-F238E27FC236}">
                  <a16:creationId xmlns:a16="http://schemas.microsoft.com/office/drawing/2014/main" id="{1764D15C-6982-C3C1-894F-60AD002FC771}"/>
                </a:ext>
              </a:extLst>
            </p:cNvPr>
            <p:cNvSpPr>
              <a:spLocks noChangeArrowheads="1"/>
            </p:cNvSpPr>
            <p:nvPr/>
          </p:nvSpPr>
          <p:spPr bwMode="auto">
            <a:xfrm>
              <a:off x="4392" y="108"/>
              <a:ext cx="219" cy="219"/>
            </a:xfrm>
            <a:prstGeom prst="ellipse">
              <a:avLst/>
            </a:prstGeom>
            <a:pattFill prst="wdUpDiag">
              <a:fgClr>
                <a:srgbClr val="000000"/>
              </a:fgClr>
              <a:bgClr>
                <a:srgbClr val="EAEAEA"/>
              </a:bgClr>
            </a:pattFill>
            <a:ln w="28575">
              <a:solidFill>
                <a:srgbClr val="000000"/>
              </a:solidFill>
              <a:round/>
              <a:headEnd/>
              <a:tailEnd/>
            </a:ln>
          </p:spPr>
          <p:txBody>
            <a:bodyPr wrap="none" anchor="ct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FF"/>
                </a:solidFill>
                <a:effectLst/>
                <a:uLnTx/>
                <a:uFillTx/>
                <a:latin typeface="Times New Roman" panose="02020603050405020304" pitchFamily="18" charset="0"/>
                <a:ea typeface="黑体" panose="02010609060101010101" pitchFamily="49" charset="-122"/>
              </a:endParaRPr>
            </a:p>
          </p:txBody>
        </p:sp>
        <p:grpSp>
          <p:nvGrpSpPr>
            <p:cNvPr id="147" name="Group 124">
              <a:extLst>
                <a:ext uri="{FF2B5EF4-FFF2-40B4-BE49-F238E27FC236}">
                  <a16:creationId xmlns:a16="http://schemas.microsoft.com/office/drawing/2014/main" id="{E53DF31D-60D2-7343-82AC-26D292B58E67}"/>
                </a:ext>
              </a:extLst>
            </p:cNvPr>
            <p:cNvGrpSpPr>
              <a:grpSpLocks/>
            </p:cNvGrpSpPr>
            <p:nvPr/>
          </p:nvGrpSpPr>
          <p:grpSpPr bwMode="auto">
            <a:xfrm rot="-1800000">
              <a:off x="4570" y="852"/>
              <a:ext cx="596" cy="576"/>
              <a:chOff x="4794" y="1375"/>
              <a:chExt cx="596" cy="576"/>
            </a:xfrm>
          </p:grpSpPr>
          <p:sp>
            <p:nvSpPr>
              <p:cNvPr id="153" name="Text Box 33">
                <a:extLst>
                  <a:ext uri="{FF2B5EF4-FFF2-40B4-BE49-F238E27FC236}">
                    <a16:creationId xmlns:a16="http://schemas.microsoft.com/office/drawing/2014/main" id="{AE448DC3-B0FF-695A-C8CF-6DE99399C6C9}"/>
                  </a:ext>
                </a:extLst>
              </p:cNvPr>
              <p:cNvSpPr txBox="1">
                <a:spLocks noChangeAspect="1" noChangeArrowheads="1"/>
              </p:cNvSpPr>
              <p:nvPr/>
            </p:nvSpPr>
            <p:spPr bwMode="auto">
              <a:xfrm rot="5400000" flipH="1">
                <a:off x="5128" y="1390"/>
                <a:ext cx="205" cy="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altLang="zh-CN" b="0" kern="0" dirty="0">
                    <a:solidFill>
                      <a:srgbClr val="000000"/>
                    </a:solidFill>
                    <a:latin typeface="+mn-lt"/>
                    <a:ea typeface="宋体" panose="02010600030101010101" pitchFamily="2" charset="-122"/>
                  </a:rPr>
                  <a:t>h</a:t>
                </a:r>
                <a:endParaRPr lang="en-US" altLang="zh-CN" b="0" kern="0" dirty="0">
                  <a:solidFill>
                    <a:srgbClr val="000000"/>
                  </a:solidFill>
                  <a:latin typeface="+mn-lt"/>
                  <a:ea typeface="宋体" panose="02010600030101010101" pitchFamily="2" charset="-122"/>
                  <a:sym typeface="Symbol" panose="05050102010706020507" pitchFamily="18" charset="2"/>
                </a:endParaRPr>
              </a:p>
            </p:txBody>
          </p:sp>
          <p:sp>
            <p:nvSpPr>
              <p:cNvPr id="154" name="Rectangle 81" descr="纸袋">
                <a:extLst>
                  <a:ext uri="{FF2B5EF4-FFF2-40B4-BE49-F238E27FC236}">
                    <a16:creationId xmlns:a16="http://schemas.microsoft.com/office/drawing/2014/main" id="{2085F9C4-E627-6D33-3CCB-F669018D49ED}"/>
                  </a:ext>
                </a:extLst>
              </p:cNvPr>
              <p:cNvSpPr>
                <a:spLocks noChangeArrowheads="1"/>
              </p:cNvSpPr>
              <p:nvPr/>
            </p:nvSpPr>
            <p:spPr bwMode="auto">
              <a:xfrm>
                <a:off x="4803" y="1386"/>
                <a:ext cx="240" cy="342"/>
              </a:xfrm>
              <a:prstGeom prst="rect">
                <a:avLst/>
              </a:prstGeom>
              <a:blipFill dpi="0" rotWithShape="1">
                <a:blip r:embed="rId5"/>
                <a:srcRect/>
                <a:tile tx="0" ty="0" sx="100000" sy="100000" flip="none" algn="tl"/>
              </a:blipFill>
              <a:ln w="28575">
                <a:solidFill>
                  <a:srgbClr val="000000"/>
                </a:solidFill>
                <a:miter lim="800000"/>
                <a:headEnd/>
                <a:tailEnd/>
              </a:ln>
            </p:spPr>
            <p:txBody>
              <a:bodyPr wrap="none" anchor="ct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FF"/>
                  </a:solidFill>
                  <a:effectLst/>
                  <a:uLnTx/>
                  <a:uFillTx/>
                  <a:latin typeface="Times New Roman" panose="02020603050405020304" pitchFamily="18" charset="0"/>
                  <a:ea typeface="黑体" panose="02010609060101010101" pitchFamily="49" charset="-122"/>
                </a:endParaRPr>
              </a:p>
            </p:txBody>
          </p:sp>
          <p:grpSp>
            <p:nvGrpSpPr>
              <p:cNvPr id="155" name="Group 99">
                <a:extLst>
                  <a:ext uri="{FF2B5EF4-FFF2-40B4-BE49-F238E27FC236}">
                    <a16:creationId xmlns:a16="http://schemas.microsoft.com/office/drawing/2014/main" id="{08C7A14B-C6A3-B2A2-1233-8CCC3FADF0F8}"/>
                  </a:ext>
                </a:extLst>
              </p:cNvPr>
              <p:cNvGrpSpPr>
                <a:grpSpLocks/>
              </p:cNvGrpSpPr>
              <p:nvPr/>
            </p:nvGrpSpPr>
            <p:grpSpPr bwMode="auto">
              <a:xfrm>
                <a:off x="4794" y="1792"/>
                <a:ext cx="263" cy="153"/>
                <a:chOff x="2974" y="2993"/>
                <a:chExt cx="373" cy="153"/>
              </a:xfrm>
            </p:grpSpPr>
            <p:sp>
              <p:nvSpPr>
                <p:cNvPr id="289" name="Line 100">
                  <a:extLst>
                    <a:ext uri="{FF2B5EF4-FFF2-40B4-BE49-F238E27FC236}">
                      <a16:creationId xmlns:a16="http://schemas.microsoft.com/office/drawing/2014/main" id="{03BD19F5-2A7C-E977-32DC-E74F1F142A31}"/>
                    </a:ext>
                  </a:extLst>
                </p:cNvPr>
                <p:cNvSpPr>
                  <a:spLocks noChangeShapeType="1"/>
                </p:cNvSpPr>
                <p:nvPr/>
              </p:nvSpPr>
              <p:spPr bwMode="auto">
                <a:xfrm>
                  <a:off x="2977" y="2996"/>
                  <a:ext cx="0" cy="150"/>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FF"/>
                    </a:solidFill>
                    <a:effectLst/>
                    <a:uLnTx/>
                    <a:uFillTx/>
                    <a:ea typeface="黑体" panose="02010609060101010101" pitchFamily="49" charset="-122"/>
                  </a:endParaRPr>
                </a:p>
              </p:txBody>
            </p:sp>
            <p:sp>
              <p:nvSpPr>
                <p:cNvPr id="290" name="Line 101">
                  <a:extLst>
                    <a:ext uri="{FF2B5EF4-FFF2-40B4-BE49-F238E27FC236}">
                      <a16:creationId xmlns:a16="http://schemas.microsoft.com/office/drawing/2014/main" id="{8BEC40B3-4422-A2FE-380A-A8C6FB0B1462}"/>
                    </a:ext>
                  </a:extLst>
                </p:cNvPr>
                <p:cNvSpPr>
                  <a:spLocks noChangeShapeType="1"/>
                </p:cNvSpPr>
                <p:nvPr/>
              </p:nvSpPr>
              <p:spPr bwMode="auto">
                <a:xfrm>
                  <a:off x="3344" y="2993"/>
                  <a:ext cx="0" cy="150"/>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FF"/>
                    </a:solidFill>
                    <a:effectLst/>
                    <a:uLnTx/>
                    <a:uFillTx/>
                    <a:ea typeface="黑体" panose="02010609060101010101" pitchFamily="49" charset="-122"/>
                  </a:endParaRPr>
                </a:p>
              </p:txBody>
            </p:sp>
            <p:sp>
              <p:nvSpPr>
                <p:cNvPr id="291" name="Line 102">
                  <a:extLst>
                    <a:ext uri="{FF2B5EF4-FFF2-40B4-BE49-F238E27FC236}">
                      <a16:creationId xmlns:a16="http://schemas.microsoft.com/office/drawing/2014/main" id="{39F836CA-CAD5-D3CE-A1E9-4B0DE7E5C0B7}"/>
                    </a:ext>
                  </a:extLst>
                </p:cNvPr>
                <p:cNvSpPr>
                  <a:spLocks noChangeShapeType="1"/>
                </p:cNvSpPr>
                <p:nvPr/>
              </p:nvSpPr>
              <p:spPr bwMode="auto">
                <a:xfrm>
                  <a:off x="2974" y="3093"/>
                  <a:ext cx="373" cy="0"/>
                </a:xfrm>
                <a:prstGeom prst="line">
                  <a:avLst/>
                </a:prstGeom>
                <a:noFill/>
                <a:ln w="3175">
                  <a:solidFill>
                    <a:srgbClr val="000000"/>
                  </a:solidFill>
                  <a:round/>
                  <a:headEnd type="stealth" w="sm" len="med"/>
                  <a:tailEnd type="stealth" w="sm" len="me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FF"/>
                    </a:solidFill>
                    <a:effectLst/>
                    <a:uLnTx/>
                    <a:uFillTx/>
                    <a:ea typeface="黑体" panose="02010609060101010101" pitchFamily="49" charset="-122"/>
                  </a:endParaRPr>
                </a:p>
              </p:txBody>
            </p:sp>
          </p:grpSp>
          <p:grpSp>
            <p:nvGrpSpPr>
              <p:cNvPr id="156" name="Group 115">
                <a:extLst>
                  <a:ext uri="{FF2B5EF4-FFF2-40B4-BE49-F238E27FC236}">
                    <a16:creationId xmlns:a16="http://schemas.microsoft.com/office/drawing/2014/main" id="{569539B0-0B3E-FA08-F65A-7D8D1E50CC72}"/>
                  </a:ext>
                </a:extLst>
              </p:cNvPr>
              <p:cNvGrpSpPr>
                <a:grpSpLocks/>
              </p:cNvGrpSpPr>
              <p:nvPr/>
            </p:nvGrpSpPr>
            <p:grpSpPr bwMode="auto">
              <a:xfrm rot="-5400000">
                <a:off x="4956" y="1477"/>
                <a:ext cx="357" cy="153"/>
                <a:chOff x="2974" y="2993"/>
                <a:chExt cx="373" cy="153"/>
              </a:xfrm>
            </p:grpSpPr>
            <p:sp>
              <p:nvSpPr>
                <p:cNvPr id="158" name="Line 116">
                  <a:extLst>
                    <a:ext uri="{FF2B5EF4-FFF2-40B4-BE49-F238E27FC236}">
                      <a16:creationId xmlns:a16="http://schemas.microsoft.com/office/drawing/2014/main" id="{06DBECFD-6F99-B011-C6C8-0FB1F5A12066}"/>
                    </a:ext>
                  </a:extLst>
                </p:cNvPr>
                <p:cNvSpPr>
                  <a:spLocks noChangeShapeType="1"/>
                </p:cNvSpPr>
                <p:nvPr/>
              </p:nvSpPr>
              <p:spPr bwMode="auto">
                <a:xfrm>
                  <a:off x="2977" y="2996"/>
                  <a:ext cx="0" cy="150"/>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FF"/>
                    </a:solidFill>
                    <a:effectLst/>
                    <a:uLnTx/>
                    <a:uFillTx/>
                    <a:ea typeface="黑体" panose="02010609060101010101" pitchFamily="49" charset="-122"/>
                  </a:endParaRPr>
                </a:p>
              </p:txBody>
            </p:sp>
            <p:sp>
              <p:nvSpPr>
                <p:cNvPr id="159" name="Line 117">
                  <a:extLst>
                    <a:ext uri="{FF2B5EF4-FFF2-40B4-BE49-F238E27FC236}">
                      <a16:creationId xmlns:a16="http://schemas.microsoft.com/office/drawing/2014/main" id="{9812B0D1-1481-79D4-8B8F-B7EDE00EE572}"/>
                    </a:ext>
                  </a:extLst>
                </p:cNvPr>
                <p:cNvSpPr>
                  <a:spLocks noChangeShapeType="1"/>
                </p:cNvSpPr>
                <p:nvPr/>
              </p:nvSpPr>
              <p:spPr bwMode="auto">
                <a:xfrm>
                  <a:off x="3344" y="2993"/>
                  <a:ext cx="0" cy="150"/>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FF"/>
                    </a:solidFill>
                    <a:effectLst/>
                    <a:uLnTx/>
                    <a:uFillTx/>
                    <a:ea typeface="黑体" panose="02010609060101010101" pitchFamily="49" charset="-122"/>
                  </a:endParaRPr>
                </a:p>
              </p:txBody>
            </p:sp>
            <p:sp>
              <p:nvSpPr>
                <p:cNvPr id="288" name="Line 118">
                  <a:extLst>
                    <a:ext uri="{FF2B5EF4-FFF2-40B4-BE49-F238E27FC236}">
                      <a16:creationId xmlns:a16="http://schemas.microsoft.com/office/drawing/2014/main" id="{061BE048-1E03-70F9-DB4A-C9F7850193F8}"/>
                    </a:ext>
                  </a:extLst>
                </p:cNvPr>
                <p:cNvSpPr>
                  <a:spLocks noChangeShapeType="1"/>
                </p:cNvSpPr>
                <p:nvPr/>
              </p:nvSpPr>
              <p:spPr bwMode="auto">
                <a:xfrm>
                  <a:off x="2974" y="3093"/>
                  <a:ext cx="373" cy="0"/>
                </a:xfrm>
                <a:prstGeom prst="line">
                  <a:avLst/>
                </a:prstGeom>
                <a:noFill/>
                <a:ln w="3175">
                  <a:solidFill>
                    <a:srgbClr val="000000"/>
                  </a:solidFill>
                  <a:round/>
                  <a:headEnd type="stealth" w="sm" len="med"/>
                  <a:tailEnd type="stealth" w="sm" len="me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FF"/>
                    </a:solidFill>
                    <a:effectLst/>
                    <a:uLnTx/>
                    <a:uFillTx/>
                    <a:ea typeface="黑体" panose="02010609060101010101" pitchFamily="49" charset="-122"/>
                  </a:endParaRPr>
                </a:p>
              </p:txBody>
            </p:sp>
          </p:grpSp>
          <p:sp>
            <p:nvSpPr>
              <p:cNvPr id="157" name="Text Box 123">
                <a:extLst>
                  <a:ext uri="{FF2B5EF4-FFF2-40B4-BE49-F238E27FC236}">
                    <a16:creationId xmlns:a16="http://schemas.microsoft.com/office/drawing/2014/main" id="{9BF0C222-0B26-EC1E-5858-E1E528AA4197}"/>
                  </a:ext>
                </a:extLst>
              </p:cNvPr>
              <p:cNvSpPr txBox="1">
                <a:spLocks noChangeAspect="1" noChangeArrowheads="1"/>
              </p:cNvSpPr>
              <p:nvPr/>
            </p:nvSpPr>
            <p:spPr bwMode="auto">
              <a:xfrm>
                <a:off x="4816" y="1666"/>
                <a:ext cx="207"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altLang="zh-CN" b="0" kern="0" dirty="0">
                    <a:solidFill>
                      <a:srgbClr val="000000"/>
                    </a:solidFill>
                    <a:latin typeface="+mn-lt"/>
                    <a:ea typeface="宋体" panose="02010600030101010101" pitchFamily="2" charset="-122"/>
                  </a:rPr>
                  <a:t>b</a:t>
                </a:r>
                <a:endParaRPr lang="en-US" altLang="zh-CN" b="0" kern="0" dirty="0">
                  <a:solidFill>
                    <a:srgbClr val="000000"/>
                  </a:solidFill>
                  <a:latin typeface="+mn-lt"/>
                  <a:ea typeface="宋体" panose="02010600030101010101" pitchFamily="2" charset="-122"/>
                  <a:sym typeface="Symbol" panose="05050102010706020507" pitchFamily="18" charset="2"/>
                </a:endParaRPr>
              </a:p>
            </p:txBody>
          </p:sp>
        </p:grpSp>
        <p:grpSp>
          <p:nvGrpSpPr>
            <p:cNvPr id="148" name="Group 130">
              <a:extLst>
                <a:ext uri="{FF2B5EF4-FFF2-40B4-BE49-F238E27FC236}">
                  <a16:creationId xmlns:a16="http://schemas.microsoft.com/office/drawing/2014/main" id="{0E6EC9D0-F378-D516-28DB-CF5DD2108761}"/>
                </a:ext>
              </a:extLst>
            </p:cNvPr>
            <p:cNvGrpSpPr>
              <a:grpSpLocks/>
            </p:cNvGrpSpPr>
            <p:nvPr/>
          </p:nvGrpSpPr>
          <p:grpSpPr bwMode="auto">
            <a:xfrm rot="-5400000">
              <a:off x="4683" y="137"/>
              <a:ext cx="221" cy="153"/>
              <a:chOff x="2974" y="2993"/>
              <a:chExt cx="373" cy="153"/>
            </a:xfrm>
          </p:grpSpPr>
          <p:sp>
            <p:nvSpPr>
              <p:cNvPr id="150" name="Line 131">
                <a:extLst>
                  <a:ext uri="{FF2B5EF4-FFF2-40B4-BE49-F238E27FC236}">
                    <a16:creationId xmlns:a16="http://schemas.microsoft.com/office/drawing/2014/main" id="{D5DB712C-8D1D-F319-A30F-14DEB4A1B1B0}"/>
                  </a:ext>
                </a:extLst>
              </p:cNvPr>
              <p:cNvSpPr>
                <a:spLocks noChangeShapeType="1"/>
              </p:cNvSpPr>
              <p:nvPr/>
            </p:nvSpPr>
            <p:spPr bwMode="auto">
              <a:xfrm>
                <a:off x="2977" y="2996"/>
                <a:ext cx="0" cy="150"/>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FF"/>
                  </a:solidFill>
                  <a:effectLst/>
                  <a:uLnTx/>
                  <a:uFillTx/>
                  <a:ea typeface="黑体" panose="02010609060101010101" pitchFamily="49" charset="-122"/>
                </a:endParaRPr>
              </a:p>
            </p:txBody>
          </p:sp>
          <p:sp>
            <p:nvSpPr>
              <p:cNvPr id="151" name="Line 132">
                <a:extLst>
                  <a:ext uri="{FF2B5EF4-FFF2-40B4-BE49-F238E27FC236}">
                    <a16:creationId xmlns:a16="http://schemas.microsoft.com/office/drawing/2014/main" id="{B01CDDD3-4229-39CE-253D-E542180BC042}"/>
                  </a:ext>
                </a:extLst>
              </p:cNvPr>
              <p:cNvSpPr>
                <a:spLocks noChangeShapeType="1"/>
              </p:cNvSpPr>
              <p:nvPr/>
            </p:nvSpPr>
            <p:spPr bwMode="auto">
              <a:xfrm>
                <a:off x="3344" y="2993"/>
                <a:ext cx="0" cy="150"/>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FF"/>
                  </a:solidFill>
                  <a:effectLst/>
                  <a:uLnTx/>
                  <a:uFillTx/>
                  <a:ea typeface="黑体" panose="02010609060101010101" pitchFamily="49" charset="-122"/>
                </a:endParaRPr>
              </a:p>
            </p:txBody>
          </p:sp>
          <p:sp>
            <p:nvSpPr>
              <p:cNvPr id="152" name="Line 133">
                <a:extLst>
                  <a:ext uri="{FF2B5EF4-FFF2-40B4-BE49-F238E27FC236}">
                    <a16:creationId xmlns:a16="http://schemas.microsoft.com/office/drawing/2014/main" id="{6683339F-D969-FD2F-73C9-433B1A465575}"/>
                  </a:ext>
                </a:extLst>
              </p:cNvPr>
              <p:cNvSpPr>
                <a:spLocks noChangeShapeType="1"/>
              </p:cNvSpPr>
              <p:nvPr/>
            </p:nvSpPr>
            <p:spPr bwMode="auto">
              <a:xfrm>
                <a:off x="2974" y="3093"/>
                <a:ext cx="373" cy="0"/>
              </a:xfrm>
              <a:prstGeom prst="line">
                <a:avLst/>
              </a:prstGeom>
              <a:noFill/>
              <a:ln w="3175">
                <a:solidFill>
                  <a:srgbClr val="000000"/>
                </a:solidFill>
                <a:round/>
                <a:headEnd type="stealth" w="sm" len="med"/>
                <a:tailEnd type="stealth" w="sm" len="me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FF"/>
                  </a:solidFill>
                  <a:effectLst/>
                  <a:uLnTx/>
                  <a:uFillTx/>
                  <a:ea typeface="黑体" panose="02010609060101010101" pitchFamily="49" charset="-122"/>
                </a:endParaRPr>
              </a:p>
            </p:txBody>
          </p:sp>
        </p:grpSp>
        <p:sp>
          <p:nvSpPr>
            <p:cNvPr id="149" name="Text Box 138">
              <a:extLst>
                <a:ext uri="{FF2B5EF4-FFF2-40B4-BE49-F238E27FC236}">
                  <a16:creationId xmlns:a16="http://schemas.microsoft.com/office/drawing/2014/main" id="{233C48B8-F332-13CE-542C-C90F0518F2BD}"/>
                </a:ext>
              </a:extLst>
            </p:cNvPr>
            <p:cNvSpPr txBox="1">
              <a:spLocks noChangeAspect="1" noChangeArrowheads="1"/>
            </p:cNvSpPr>
            <p:nvPr/>
          </p:nvSpPr>
          <p:spPr bwMode="auto">
            <a:xfrm rot="-5400000">
              <a:off x="4623" y="79"/>
              <a:ext cx="207"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altLang="zh-CN" b="0" kern="0" dirty="0">
                  <a:solidFill>
                    <a:srgbClr val="000000"/>
                  </a:solidFill>
                  <a:latin typeface="+mn-lt"/>
                  <a:ea typeface="宋体" panose="02010600030101010101" pitchFamily="2" charset="-122"/>
                </a:rPr>
                <a:t>d</a:t>
              </a:r>
              <a:endParaRPr lang="en-US" altLang="zh-CN" b="0" kern="0" dirty="0">
                <a:solidFill>
                  <a:srgbClr val="000000"/>
                </a:solidFill>
                <a:latin typeface="+mn-lt"/>
                <a:ea typeface="宋体" panose="02010600030101010101" pitchFamily="2" charset="-122"/>
                <a:sym typeface="Symbol" panose="05050102010706020507" pitchFamily="18" charset="2"/>
              </a:endParaRPr>
            </a:p>
          </p:txBody>
        </p:sp>
      </p:grpSp>
      <p:sp>
        <p:nvSpPr>
          <p:cNvPr id="294" name="Line 141">
            <a:extLst>
              <a:ext uri="{FF2B5EF4-FFF2-40B4-BE49-F238E27FC236}">
                <a16:creationId xmlns:a16="http://schemas.microsoft.com/office/drawing/2014/main" id="{79260A54-C955-BBE5-4A7A-545A2D3DB3AF}"/>
              </a:ext>
            </a:extLst>
          </p:cNvPr>
          <p:cNvSpPr>
            <a:spLocks noChangeShapeType="1"/>
          </p:cNvSpPr>
          <p:nvPr/>
        </p:nvSpPr>
        <p:spPr bwMode="auto">
          <a:xfrm flipH="1">
            <a:off x="10424465" y="3886936"/>
            <a:ext cx="649288" cy="374650"/>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algn="ctr"/>
            <a:endParaRPr kumimoji="1" lang="zh-CN" altLang="en-US" b="0" i="0">
              <a:solidFill>
                <a:srgbClr val="0000FF"/>
              </a:solidFill>
              <a:ea typeface="黑体" panose="02010609060101010101" pitchFamily="49" charset="-122"/>
            </a:endParaRPr>
          </a:p>
        </p:txBody>
      </p:sp>
      <p:sp>
        <p:nvSpPr>
          <p:cNvPr id="295" name="Text Box 142">
            <a:extLst>
              <a:ext uri="{FF2B5EF4-FFF2-40B4-BE49-F238E27FC236}">
                <a16:creationId xmlns:a16="http://schemas.microsoft.com/office/drawing/2014/main" id="{B3D9E1B8-46E4-09C4-06A0-EC508B0090D7}"/>
              </a:ext>
            </a:extLst>
          </p:cNvPr>
          <p:cNvSpPr txBox="1">
            <a:spLocks noChangeAspect="1" noChangeArrowheads="1"/>
          </p:cNvSpPr>
          <p:nvPr/>
        </p:nvSpPr>
        <p:spPr bwMode="auto">
          <a:xfrm>
            <a:off x="9937103" y="4148874"/>
            <a:ext cx="969962"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ctr" eaLnBrk="1" hangingPunct="1"/>
            <a:r>
              <a:rPr lang="en-US" altLang="zh-CN" b="0" kern="0" dirty="0">
                <a:solidFill>
                  <a:srgbClr val="FF0000"/>
                </a:solidFill>
                <a:latin typeface="+mn-lt"/>
                <a:ea typeface="宋体" panose="02010600030101010101" pitchFamily="2" charset="-122"/>
              </a:rPr>
              <a:t>F</a:t>
            </a:r>
            <a:r>
              <a:rPr lang="en-US" altLang="zh-CN" sz="2800" b="0" i="0" baseline="-25000" dirty="0">
                <a:solidFill>
                  <a:srgbClr val="FF0000"/>
                </a:solidFill>
                <a:latin typeface="+mn-lt"/>
                <a:ea typeface="宋体" panose="02010600030101010101" pitchFamily="2" charset="-122"/>
              </a:rPr>
              <a:t>N</a:t>
            </a:r>
            <a:r>
              <a:rPr lang="en-US" altLang="zh-CN" sz="2800" b="0" baseline="-25000" dirty="0">
                <a:solidFill>
                  <a:srgbClr val="FF0000"/>
                </a:solidFill>
                <a:latin typeface="+mn-lt"/>
                <a:ea typeface="宋体" panose="02010600030101010101" pitchFamily="2" charset="-122"/>
              </a:rPr>
              <a:t>BC</a:t>
            </a:r>
            <a:endParaRPr lang="en-US" altLang="zh-CN" sz="2800" b="0" dirty="0">
              <a:solidFill>
                <a:srgbClr val="FF0000"/>
              </a:solidFill>
              <a:latin typeface="+mn-lt"/>
              <a:ea typeface="宋体" panose="02010600030101010101" pitchFamily="2" charset="-122"/>
            </a:endParaRPr>
          </a:p>
        </p:txBody>
      </p:sp>
      <p:sp>
        <p:nvSpPr>
          <p:cNvPr id="296" name="Line 143">
            <a:extLst>
              <a:ext uri="{FF2B5EF4-FFF2-40B4-BE49-F238E27FC236}">
                <a16:creationId xmlns:a16="http://schemas.microsoft.com/office/drawing/2014/main" id="{EFA03CE1-95A7-6B7B-C550-231C65B6FFE8}"/>
              </a:ext>
            </a:extLst>
          </p:cNvPr>
          <p:cNvSpPr>
            <a:spLocks noChangeAspect="1" noChangeShapeType="1"/>
          </p:cNvSpPr>
          <p:nvPr/>
        </p:nvSpPr>
        <p:spPr bwMode="auto">
          <a:xfrm>
            <a:off x="11124553" y="3815499"/>
            <a:ext cx="581025" cy="0"/>
          </a:xfrm>
          <a:prstGeom prst="line">
            <a:avLst/>
          </a:prstGeom>
          <a:noFill/>
          <a:ln w="9525">
            <a:solidFill>
              <a:srgbClr val="000000"/>
            </a:solidFill>
            <a:round/>
            <a:headEnd/>
            <a:tailEnd type="stealth" w="sm" len="lg"/>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FF"/>
              </a:solidFill>
              <a:effectLst/>
              <a:uLnTx/>
              <a:uFillTx/>
              <a:ea typeface="黑体" panose="02010609060101010101" pitchFamily="49" charset="-122"/>
            </a:endParaRPr>
          </a:p>
        </p:txBody>
      </p:sp>
      <p:sp>
        <p:nvSpPr>
          <p:cNvPr id="297" name="Line 144">
            <a:extLst>
              <a:ext uri="{FF2B5EF4-FFF2-40B4-BE49-F238E27FC236}">
                <a16:creationId xmlns:a16="http://schemas.microsoft.com/office/drawing/2014/main" id="{4B75F97C-8273-F6BB-C458-F96625BF76A2}"/>
              </a:ext>
            </a:extLst>
          </p:cNvPr>
          <p:cNvSpPr>
            <a:spLocks noChangeAspect="1" noChangeShapeType="1"/>
          </p:cNvSpPr>
          <p:nvPr/>
        </p:nvSpPr>
        <p:spPr bwMode="auto">
          <a:xfrm flipH="1" flipV="1">
            <a:off x="11138840" y="3153511"/>
            <a:ext cx="0" cy="661988"/>
          </a:xfrm>
          <a:prstGeom prst="line">
            <a:avLst/>
          </a:prstGeom>
          <a:noFill/>
          <a:ln w="9525">
            <a:solidFill>
              <a:srgbClr val="000000"/>
            </a:solidFill>
            <a:round/>
            <a:headEnd/>
            <a:tailEnd type="stealth" w="sm" len="lg"/>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FF"/>
              </a:solidFill>
              <a:effectLst/>
              <a:uLnTx/>
              <a:uFillTx/>
              <a:ea typeface="黑体" panose="02010609060101010101" pitchFamily="49" charset="-122"/>
            </a:endParaRPr>
          </a:p>
        </p:txBody>
      </p:sp>
      <p:sp>
        <p:nvSpPr>
          <p:cNvPr id="298" name="Text Box 145">
            <a:extLst>
              <a:ext uri="{FF2B5EF4-FFF2-40B4-BE49-F238E27FC236}">
                <a16:creationId xmlns:a16="http://schemas.microsoft.com/office/drawing/2014/main" id="{7C065A89-3E1F-A29B-7CB9-59F506EA55ED}"/>
              </a:ext>
            </a:extLst>
          </p:cNvPr>
          <p:cNvSpPr txBox="1">
            <a:spLocks noChangeAspect="1" noChangeArrowheads="1"/>
          </p:cNvSpPr>
          <p:nvPr/>
        </p:nvSpPr>
        <p:spPr bwMode="auto">
          <a:xfrm>
            <a:off x="11424590" y="3750411"/>
            <a:ext cx="4810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lang="en-US" altLang="zh-CN" b="0" kern="0" dirty="0">
                <a:solidFill>
                  <a:srgbClr val="000000"/>
                </a:solidFill>
                <a:latin typeface="+mn-lt"/>
                <a:ea typeface="宋体" panose="02010600030101010101" pitchFamily="2" charset="-122"/>
                <a:sym typeface="Symbol" panose="05050102010706020507" pitchFamily="18" charset="2"/>
              </a:rPr>
              <a:t>x</a:t>
            </a:r>
            <a:endParaRPr lang="en-US" altLang="zh-CN" b="0" kern="0" dirty="0">
              <a:solidFill>
                <a:srgbClr val="000000"/>
              </a:solidFill>
              <a:latin typeface="+mn-lt"/>
              <a:ea typeface="宋体" panose="02010600030101010101" pitchFamily="2" charset="-122"/>
            </a:endParaRPr>
          </a:p>
        </p:txBody>
      </p:sp>
      <p:sp>
        <p:nvSpPr>
          <p:cNvPr id="299" name="Text Box 146">
            <a:extLst>
              <a:ext uri="{FF2B5EF4-FFF2-40B4-BE49-F238E27FC236}">
                <a16:creationId xmlns:a16="http://schemas.microsoft.com/office/drawing/2014/main" id="{DD33F863-43D8-A5A8-1D47-2B87A5069FB3}"/>
              </a:ext>
            </a:extLst>
          </p:cNvPr>
          <p:cNvSpPr txBox="1">
            <a:spLocks noChangeAspect="1" noChangeArrowheads="1"/>
          </p:cNvSpPr>
          <p:nvPr/>
        </p:nvSpPr>
        <p:spPr bwMode="auto">
          <a:xfrm>
            <a:off x="11100740" y="2977299"/>
            <a:ext cx="3984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lang="en-US" altLang="zh-CN" b="0" kern="0" dirty="0">
                <a:solidFill>
                  <a:srgbClr val="000000"/>
                </a:solidFill>
                <a:latin typeface="+mn-lt"/>
                <a:ea typeface="宋体" panose="02010600030101010101" pitchFamily="2" charset="-122"/>
                <a:sym typeface="Symbol" panose="05050102010706020507" pitchFamily="18" charset="2"/>
              </a:rPr>
              <a:t>y</a:t>
            </a:r>
            <a:endParaRPr lang="en-US" altLang="zh-CN" b="0" kern="0" dirty="0">
              <a:solidFill>
                <a:srgbClr val="000000"/>
              </a:solidFill>
              <a:latin typeface="+mn-lt"/>
              <a:ea typeface="宋体" panose="02010600030101010101" pitchFamily="2" charset="-122"/>
            </a:endParaRPr>
          </a:p>
        </p:txBody>
      </p:sp>
      <p:graphicFrame>
        <p:nvGraphicFramePr>
          <p:cNvPr id="302" name="Object 152">
            <a:extLst>
              <a:ext uri="{FF2B5EF4-FFF2-40B4-BE49-F238E27FC236}">
                <a16:creationId xmlns:a16="http://schemas.microsoft.com/office/drawing/2014/main" id="{6050FB3A-15C6-E4E2-7CA1-40DAB9389E69}"/>
              </a:ext>
            </a:extLst>
          </p:cNvPr>
          <p:cNvGraphicFramePr>
            <a:graphicFrameLocks noChangeAspect="1"/>
          </p:cNvGraphicFramePr>
          <p:nvPr>
            <p:extLst>
              <p:ext uri="{D42A27DB-BD31-4B8C-83A1-F6EECF244321}">
                <p14:modId xmlns:p14="http://schemas.microsoft.com/office/powerpoint/2010/main" val="3681130628"/>
              </p:ext>
            </p:extLst>
          </p:nvPr>
        </p:nvGraphicFramePr>
        <p:xfrm>
          <a:off x="1407930" y="4748213"/>
          <a:ext cx="3286151" cy="498711"/>
        </p:xfrm>
        <a:graphic>
          <a:graphicData uri="http://schemas.openxmlformats.org/presentationml/2006/ole">
            <mc:AlternateContent xmlns:mc="http://schemas.openxmlformats.org/markup-compatibility/2006">
              <mc:Choice xmlns:v="urn:schemas-microsoft-com:vml" Requires="v">
                <p:oleObj name="Equation" r:id="rId6" imgW="1676160" imgH="253800" progId="Equation.DSMT4">
                  <p:embed/>
                </p:oleObj>
              </mc:Choice>
              <mc:Fallback>
                <p:oleObj name="Equation" r:id="rId6" imgW="1676160" imgH="253800" progId="Equation.DSMT4">
                  <p:embed/>
                  <p:pic>
                    <p:nvPicPr>
                      <p:cNvPr id="302" name="Object 152">
                        <a:extLst>
                          <a:ext uri="{FF2B5EF4-FFF2-40B4-BE49-F238E27FC236}">
                            <a16:creationId xmlns:a16="http://schemas.microsoft.com/office/drawing/2014/main" id="{6050FB3A-15C6-E4E2-7CA1-40DAB9389E69}"/>
                          </a:ext>
                        </a:extLst>
                      </p:cNvPr>
                      <p:cNvPicPr>
                        <a:picLocks noChangeAspect="1" noChangeArrowheads="1"/>
                      </p:cNvPicPr>
                      <p:nvPr/>
                    </p:nvPicPr>
                    <p:blipFill>
                      <a:blip r:embed="rId7"/>
                      <a:srcRect/>
                      <a:stretch>
                        <a:fillRect/>
                      </a:stretch>
                    </p:blipFill>
                    <p:spPr bwMode="auto">
                      <a:xfrm>
                        <a:off x="1407930" y="4748213"/>
                        <a:ext cx="3286151" cy="498711"/>
                      </a:xfrm>
                      <a:prstGeom prst="rect">
                        <a:avLst/>
                      </a:prstGeom>
                      <a:noFill/>
                      <a:ln>
                        <a:noFill/>
                      </a:ln>
                      <a:effectLst/>
                    </p:spPr>
                  </p:pic>
                </p:oleObj>
              </mc:Fallback>
            </mc:AlternateContent>
          </a:graphicData>
        </a:graphic>
      </p:graphicFrame>
      <p:graphicFrame>
        <p:nvGraphicFramePr>
          <p:cNvPr id="303" name="Object 154">
            <a:extLst>
              <a:ext uri="{FF2B5EF4-FFF2-40B4-BE49-F238E27FC236}">
                <a16:creationId xmlns:a16="http://schemas.microsoft.com/office/drawing/2014/main" id="{902842F8-B340-9430-39B8-68EC54D92323}"/>
              </a:ext>
            </a:extLst>
          </p:cNvPr>
          <p:cNvGraphicFramePr>
            <a:graphicFrameLocks noChangeAspect="1"/>
          </p:cNvGraphicFramePr>
          <p:nvPr>
            <p:extLst>
              <p:ext uri="{D42A27DB-BD31-4B8C-83A1-F6EECF244321}">
                <p14:modId xmlns:p14="http://schemas.microsoft.com/office/powerpoint/2010/main" val="3747890234"/>
              </p:ext>
            </p:extLst>
          </p:nvPr>
        </p:nvGraphicFramePr>
        <p:xfrm>
          <a:off x="5027134" y="4715613"/>
          <a:ext cx="3013654" cy="495862"/>
        </p:xfrm>
        <a:graphic>
          <a:graphicData uri="http://schemas.openxmlformats.org/presentationml/2006/ole">
            <mc:AlternateContent xmlns:mc="http://schemas.openxmlformats.org/markup-compatibility/2006">
              <mc:Choice xmlns:v="urn:schemas-microsoft-com:vml" Requires="v">
                <p:oleObj name="Equation" r:id="rId8" imgW="1536480" imgH="253800" progId="Equation.DSMT4">
                  <p:embed/>
                </p:oleObj>
              </mc:Choice>
              <mc:Fallback>
                <p:oleObj name="Equation" r:id="rId8" imgW="1536480" imgH="253800" progId="Equation.DSMT4">
                  <p:embed/>
                  <p:pic>
                    <p:nvPicPr>
                      <p:cNvPr id="303" name="Object 154">
                        <a:extLst>
                          <a:ext uri="{FF2B5EF4-FFF2-40B4-BE49-F238E27FC236}">
                            <a16:creationId xmlns:a16="http://schemas.microsoft.com/office/drawing/2014/main" id="{902842F8-B340-9430-39B8-68EC54D92323}"/>
                          </a:ext>
                        </a:extLst>
                      </p:cNvPr>
                      <p:cNvPicPr>
                        <a:picLocks noChangeAspect="1" noChangeArrowheads="1"/>
                      </p:cNvPicPr>
                      <p:nvPr/>
                    </p:nvPicPr>
                    <p:blipFill>
                      <a:blip r:embed="rId9"/>
                      <a:srcRect/>
                      <a:stretch>
                        <a:fillRect/>
                      </a:stretch>
                    </p:blipFill>
                    <p:spPr bwMode="auto">
                      <a:xfrm>
                        <a:off x="5027134" y="4715613"/>
                        <a:ext cx="3013654" cy="495862"/>
                      </a:xfrm>
                      <a:prstGeom prst="rect">
                        <a:avLst/>
                      </a:prstGeom>
                      <a:noFill/>
                      <a:ln>
                        <a:noFill/>
                      </a:ln>
                      <a:effectLst/>
                    </p:spPr>
                  </p:pic>
                </p:oleObj>
              </mc:Fallback>
            </mc:AlternateContent>
          </a:graphicData>
        </a:graphic>
      </p:graphicFrame>
      <p:sp>
        <p:nvSpPr>
          <p:cNvPr id="304" name="矩形 303">
            <a:extLst>
              <a:ext uri="{FF2B5EF4-FFF2-40B4-BE49-F238E27FC236}">
                <a16:creationId xmlns:a16="http://schemas.microsoft.com/office/drawing/2014/main" id="{5B6BEAAA-4CA4-12AA-5E28-3DCC5E18E831}"/>
              </a:ext>
            </a:extLst>
          </p:cNvPr>
          <p:cNvSpPr/>
          <p:nvPr/>
        </p:nvSpPr>
        <p:spPr>
          <a:xfrm>
            <a:off x="574080" y="5209061"/>
            <a:ext cx="10850509" cy="493148"/>
          </a:xfrm>
          <a:prstGeom prst="rect">
            <a:avLst/>
          </a:prstGeom>
        </p:spPr>
        <p:txBody>
          <a:bodyPr wrap="square">
            <a:spAutoFit/>
          </a:bodyPr>
          <a:lstStyle/>
          <a:p>
            <a:pPr lvl="0" eaLnBrk="0" hangingPunct="0">
              <a:lnSpc>
                <a:spcPct val="120000"/>
              </a:lnSpc>
            </a:pPr>
            <a:r>
              <a:rPr lang="zh-CN" altLang="en-US" i="0" dirty="0">
                <a:solidFill>
                  <a:srgbClr val="0033CC"/>
                </a:solidFill>
                <a:ea typeface="黑体" panose="02010609060101010101" pitchFamily="49" charset="-122"/>
              </a:rPr>
              <a:t>     </a:t>
            </a:r>
            <a:r>
              <a:rPr kumimoji="1" lang="en-US" altLang="zh-CN" i="0" dirty="0">
                <a:solidFill>
                  <a:schemeClr val="tx1"/>
                </a:solidFill>
                <a:ea typeface="黑体" panose="02010609060101010101" pitchFamily="49" charset="-122"/>
              </a:rPr>
              <a:t>3</a:t>
            </a:r>
            <a:r>
              <a:rPr kumimoji="1" lang="zh-CN" altLang="en-US" i="0" dirty="0">
                <a:solidFill>
                  <a:schemeClr val="tx1"/>
                </a:solidFill>
                <a:ea typeface="黑体" panose="02010609060101010101" pitchFamily="49" charset="-122"/>
              </a:rPr>
              <a:t>）</a:t>
            </a:r>
            <a:r>
              <a:rPr kumimoji="1" lang="zh-CN" altLang="en-US" i="0" dirty="0">
                <a:solidFill>
                  <a:schemeClr val="tx1"/>
                </a:solidFill>
                <a:latin typeface="+mn-lt"/>
                <a:ea typeface="黑体" panose="02010609060101010101" pitchFamily="49" charset="-122"/>
              </a:rPr>
              <a:t>求结构的许用载荷。两杆允许的最大轴力分别计算结构的许用载荷。</a:t>
            </a:r>
          </a:p>
        </p:txBody>
      </p:sp>
      <p:graphicFrame>
        <p:nvGraphicFramePr>
          <p:cNvPr id="305" name="Object 67">
            <a:extLst>
              <a:ext uri="{FF2B5EF4-FFF2-40B4-BE49-F238E27FC236}">
                <a16:creationId xmlns:a16="http://schemas.microsoft.com/office/drawing/2014/main" id="{14FA3171-E44D-922E-9FB1-3C4F156D2E9B}"/>
              </a:ext>
            </a:extLst>
          </p:cNvPr>
          <p:cNvGraphicFramePr>
            <a:graphicFrameLocks noChangeAspect="1"/>
          </p:cNvGraphicFramePr>
          <p:nvPr>
            <p:extLst>
              <p:ext uri="{D42A27DB-BD31-4B8C-83A1-F6EECF244321}">
                <p14:modId xmlns:p14="http://schemas.microsoft.com/office/powerpoint/2010/main" val="1970024897"/>
              </p:ext>
            </p:extLst>
          </p:nvPr>
        </p:nvGraphicFramePr>
        <p:xfrm>
          <a:off x="1359034" y="5760599"/>
          <a:ext cx="3335047" cy="437670"/>
        </p:xfrm>
        <a:graphic>
          <a:graphicData uri="http://schemas.openxmlformats.org/presentationml/2006/ole">
            <mc:AlternateContent xmlns:mc="http://schemas.openxmlformats.org/markup-compatibility/2006">
              <mc:Choice xmlns:v="urn:schemas-microsoft-com:vml" Requires="v">
                <p:oleObj name="Equation" r:id="rId10" imgW="1726920" imgH="228600" progId="Equation.DSMT4">
                  <p:embed/>
                </p:oleObj>
              </mc:Choice>
              <mc:Fallback>
                <p:oleObj name="Equation" r:id="rId10" imgW="1726920" imgH="228600" progId="Equation.DSMT4">
                  <p:embed/>
                  <p:pic>
                    <p:nvPicPr>
                      <p:cNvPr id="305" name="Object 67">
                        <a:extLst>
                          <a:ext uri="{FF2B5EF4-FFF2-40B4-BE49-F238E27FC236}">
                            <a16:creationId xmlns:a16="http://schemas.microsoft.com/office/drawing/2014/main" id="{14FA3171-E44D-922E-9FB1-3C4F156D2E9B}"/>
                          </a:ext>
                        </a:extLst>
                      </p:cNvPr>
                      <p:cNvPicPr>
                        <a:picLocks noChangeAspect="1" noChangeArrowheads="1"/>
                      </p:cNvPicPr>
                      <p:nvPr/>
                    </p:nvPicPr>
                    <p:blipFill>
                      <a:blip r:embed="rId11"/>
                      <a:srcRect/>
                      <a:stretch>
                        <a:fillRect/>
                      </a:stretch>
                    </p:blipFill>
                    <p:spPr bwMode="auto">
                      <a:xfrm>
                        <a:off x="1359034" y="5760599"/>
                        <a:ext cx="3335047" cy="437670"/>
                      </a:xfrm>
                      <a:prstGeom prst="rect">
                        <a:avLst/>
                      </a:prstGeom>
                      <a:noFill/>
                      <a:ln>
                        <a:noFill/>
                      </a:ln>
                      <a:effectLst/>
                    </p:spPr>
                  </p:pic>
                </p:oleObj>
              </mc:Fallback>
            </mc:AlternateContent>
          </a:graphicData>
        </a:graphic>
      </p:graphicFrame>
      <p:graphicFrame>
        <p:nvGraphicFramePr>
          <p:cNvPr id="306" name="Object 67">
            <a:extLst>
              <a:ext uri="{FF2B5EF4-FFF2-40B4-BE49-F238E27FC236}">
                <a16:creationId xmlns:a16="http://schemas.microsoft.com/office/drawing/2014/main" id="{1413DDC7-F036-05D8-E23F-10B115F75333}"/>
              </a:ext>
            </a:extLst>
          </p:cNvPr>
          <p:cNvGraphicFramePr>
            <a:graphicFrameLocks noChangeAspect="1"/>
          </p:cNvGraphicFramePr>
          <p:nvPr>
            <p:extLst>
              <p:ext uri="{D42A27DB-BD31-4B8C-83A1-F6EECF244321}">
                <p14:modId xmlns:p14="http://schemas.microsoft.com/office/powerpoint/2010/main" val="2431249222"/>
              </p:ext>
            </p:extLst>
          </p:nvPr>
        </p:nvGraphicFramePr>
        <p:xfrm>
          <a:off x="5151237" y="5760359"/>
          <a:ext cx="2647950" cy="438150"/>
        </p:xfrm>
        <a:graphic>
          <a:graphicData uri="http://schemas.openxmlformats.org/presentationml/2006/ole">
            <mc:AlternateContent xmlns:mc="http://schemas.openxmlformats.org/markup-compatibility/2006">
              <mc:Choice xmlns:v="urn:schemas-microsoft-com:vml" Requires="v">
                <p:oleObj name="Equation" r:id="rId12" imgW="1371600" imgH="228600" progId="Equation.DSMT4">
                  <p:embed/>
                </p:oleObj>
              </mc:Choice>
              <mc:Fallback>
                <p:oleObj name="Equation" r:id="rId12" imgW="1371600" imgH="228600" progId="Equation.DSMT4">
                  <p:embed/>
                  <p:pic>
                    <p:nvPicPr>
                      <p:cNvPr id="306" name="Object 67">
                        <a:extLst>
                          <a:ext uri="{FF2B5EF4-FFF2-40B4-BE49-F238E27FC236}">
                            <a16:creationId xmlns:a16="http://schemas.microsoft.com/office/drawing/2014/main" id="{1413DDC7-F036-05D8-E23F-10B115F75333}"/>
                          </a:ext>
                        </a:extLst>
                      </p:cNvPr>
                      <p:cNvPicPr>
                        <a:picLocks noChangeAspect="1" noChangeArrowheads="1"/>
                      </p:cNvPicPr>
                      <p:nvPr/>
                    </p:nvPicPr>
                    <p:blipFill>
                      <a:blip r:embed="rId13"/>
                      <a:srcRect/>
                      <a:stretch>
                        <a:fillRect/>
                      </a:stretch>
                    </p:blipFill>
                    <p:spPr bwMode="auto">
                      <a:xfrm>
                        <a:off x="5151237" y="5760359"/>
                        <a:ext cx="2647950" cy="438150"/>
                      </a:xfrm>
                      <a:prstGeom prst="rect">
                        <a:avLst/>
                      </a:prstGeom>
                      <a:noFill/>
                      <a:ln>
                        <a:noFill/>
                      </a:ln>
                      <a:effectLst/>
                    </p:spPr>
                  </p:pic>
                </p:oleObj>
              </mc:Fallback>
            </mc:AlternateContent>
          </a:graphicData>
        </a:graphic>
      </p:graphicFrame>
      <p:graphicFrame>
        <p:nvGraphicFramePr>
          <p:cNvPr id="307" name="Object 67">
            <a:extLst>
              <a:ext uri="{FF2B5EF4-FFF2-40B4-BE49-F238E27FC236}">
                <a16:creationId xmlns:a16="http://schemas.microsoft.com/office/drawing/2014/main" id="{63884B7F-5D91-7755-D0AE-9D98B67C3C4A}"/>
              </a:ext>
            </a:extLst>
          </p:cNvPr>
          <p:cNvGraphicFramePr>
            <a:graphicFrameLocks noChangeAspect="1"/>
          </p:cNvGraphicFramePr>
          <p:nvPr>
            <p:extLst>
              <p:ext uri="{D42A27DB-BD31-4B8C-83A1-F6EECF244321}">
                <p14:modId xmlns:p14="http://schemas.microsoft.com/office/powerpoint/2010/main" val="2052496204"/>
              </p:ext>
            </p:extLst>
          </p:nvPr>
        </p:nvGraphicFramePr>
        <p:xfrm>
          <a:off x="8888196" y="5737225"/>
          <a:ext cx="1446212" cy="487363"/>
        </p:xfrm>
        <a:graphic>
          <a:graphicData uri="http://schemas.openxmlformats.org/presentationml/2006/ole">
            <mc:AlternateContent xmlns:mc="http://schemas.openxmlformats.org/markup-compatibility/2006">
              <mc:Choice xmlns:v="urn:schemas-microsoft-com:vml" Requires="v">
                <p:oleObj name="Equation" r:id="rId14" imgW="749160" imgH="253800" progId="Equation.DSMT4">
                  <p:embed/>
                </p:oleObj>
              </mc:Choice>
              <mc:Fallback>
                <p:oleObj name="Equation" r:id="rId14" imgW="749160" imgH="253800" progId="Equation.DSMT4">
                  <p:embed/>
                  <p:pic>
                    <p:nvPicPr>
                      <p:cNvPr id="307" name="Object 67">
                        <a:extLst>
                          <a:ext uri="{FF2B5EF4-FFF2-40B4-BE49-F238E27FC236}">
                            <a16:creationId xmlns:a16="http://schemas.microsoft.com/office/drawing/2014/main" id="{63884B7F-5D91-7755-D0AE-9D98B67C3C4A}"/>
                          </a:ext>
                        </a:extLst>
                      </p:cNvPr>
                      <p:cNvPicPr>
                        <a:picLocks noChangeAspect="1" noChangeArrowheads="1"/>
                      </p:cNvPicPr>
                      <p:nvPr/>
                    </p:nvPicPr>
                    <p:blipFill>
                      <a:blip r:embed="rId15"/>
                      <a:srcRect/>
                      <a:stretch>
                        <a:fillRect/>
                      </a:stretch>
                    </p:blipFill>
                    <p:spPr bwMode="auto">
                      <a:xfrm>
                        <a:off x="8888196" y="5737225"/>
                        <a:ext cx="1446212" cy="487363"/>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1213919227"/>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7" presetClass="entr" presetSubtype="8" fill="hold" nodeType="withEffect">
                                  <p:stCondLst>
                                    <p:cond delay="1000"/>
                                  </p:stCondLst>
                                  <p:childTnLst>
                                    <p:set>
                                      <p:cBhvr>
                                        <p:cTn id="8" dur="1" fill="hold">
                                          <p:stCondLst>
                                            <p:cond delay="0"/>
                                          </p:stCondLst>
                                        </p:cTn>
                                        <p:tgtEl>
                                          <p:spTgt spid="131"/>
                                        </p:tgtEl>
                                        <p:attrNameLst>
                                          <p:attrName>style.visibility</p:attrName>
                                        </p:attrNameLst>
                                      </p:cBhvr>
                                      <p:to>
                                        <p:strVal val="visible"/>
                                      </p:to>
                                    </p:set>
                                    <p:anim calcmode="lin" valueType="num">
                                      <p:cBhvr>
                                        <p:cTn id="9" dur="5000" fill="hold"/>
                                        <p:tgtEl>
                                          <p:spTgt spid="131"/>
                                        </p:tgtEl>
                                        <p:attrNameLst>
                                          <p:attrName>ppt_x</p:attrName>
                                        </p:attrNameLst>
                                      </p:cBhvr>
                                      <p:tavLst>
                                        <p:tav tm="0">
                                          <p:val>
                                            <p:strVal val="#ppt_x-#ppt_w/2"/>
                                          </p:val>
                                        </p:tav>
                                        <p:tav tm="100000">
                                          <p:val>
                                            <p:strVal val="#ppt_x"/>
                                          </p:val>
                                        </p:tav>
                                      </p:tavLst>
                                    </p:anim>
                                    <p:anim calcmode="lin" valueType="num">
                                      <p:cBhvr>
                                        <p:cTn id="10" dur="5000" fill="hold"/>
                                        <p:tgtEl>
                                          <p:spTgt spid="131"/>
                                        </p:tgtEl>
                                        <p:attrNameLst>
                                          <p:attrName>ppt_y</p:attrName>
                                        </p:attrNameLst>
                                      </p:cBhvr>
                                      <p:tavLst>
                                        <p:tav tm="0">
                                          <p:val>
                                            <p:strVal val="#ppt_y"/>
                                          </p:val>
                                        </p:tav>
                                        <p:tav tm="100000">
                                          <p:val>
                                            <p:strVal val="#ppt_y"/>
                                          </p:val>
                                        </p:tav>
                                      </p:tavLst>
                                    </p:anim>
                                    <p:anim calcmode="lin" valueType="num">
                                      <p:cBhvr>
                                        <p:cTn id="11" dur="5000" fill="hold"/>
                                        <p:tgtEl>
                                          <p:spTgt spid="131"/>
                                        </p:tgtEl>
                                        <p:attrNameLst>
                                          <p:attrName>ppt_w</p:attrName>
                                        </p:attrNameLst>
                                      </p:cBhvr>
                                      <p:tavLst>
                                        <p:tav tm="0">
                                          <p:val>
                                            <p:fltVal val="0"/>
                                          </p:val>
                                        </p:tav>
                                        <p:tav tm="100000">
                                          <p:val>
                                            <p:strVal val="#ppt_w"/>
                                          </p:val>
                                        </p:tav>
                                      </p:tavLst>
                                    </p:anim>
                                    <p:anim calcmode="lin" valueType="num">
                                      <p:cBhvr>
                                        <p:cTn id="12" dur="5000" fill="hold"/>
                                        <p:tgtEl>
                                          <p:spTgt spid="131"/>
                                        </p:tgtEl>
                                        <p:attrNameLst>
                                          <p:attrName>ppt_h</p:attrName>
                                        </p:attrNameLst>
                                      </p:cBhvr>
                                      <p:tavLst>
                                        <p:tav tm="0">
                                          <p:val>
                                            <p:strVal val="#ppt_h"/>
                                          </p:val>
                                        </p:tav>
                                        <p:tav tm="100000">
                                          <p:val>
                                            <p:strVal val="#ppt_h"/>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86"/>
                                        </p:tgtEl>
                                        <p:attrNameLst>
                                          <p:attrName>style.visibility</p:attrName>
                                        </p:attrNameLst>
                                      </p:cBhvr>
                                      <p:to>
                                        <p:strVal val="visible"/>
                                      </p:to>
                                    </p:set>
                                  </p:childTnLst>
                                </p:cTn>
                              </p:par>
                              <p:par>
                                <p:cTn id="17" presetID="0" presetClass="path" presetSubtype="0" accel="50000" decel="50000" fill="hold" nodeType="withEffect">
                                  <p:stCondLst>
                                    <p:cond delay="0"/>
                                  </p:stCondLst>
                                  <p:childTnLst>
                                    <p:animMotion origin="layout" path="M 8.33333E-7 -3.7037E-6 L 0.00156 -0.33333 " pathEditMode="relative" rAng="0" ptsTypes="AA">
                                      <p:cBhvr>
                                        <p:cTn id="18" dur="5000" spd="-100000" fill="hold"/>
                                        <p:tgtEl>
                                          <p:spTgt spid="286"/>
                                        </p:tgtEl>
                                        <p:attrNameLst>
                                          <p:attrName>ppt_x</p:attrName>
                                          <p:attrName>ppt_y</p:attrName>
                                        </p:attrNameLst>
                                      </p:cBhvr>
                                      <p:rCtr x="78" y="-16667"/>
                                    </p:animMotion>
                                  </p:childTnLst>
                                </p:cTn>
                              </p:par>
                            </p:childTnLst>
                          </p:cTn>
                        </p:par>
                        <p:par>
                          <p:cTn id="19" fill="hold">
                            <p:stCondLst>
                              <p:cond delay="5000"/>
                            </p:stCondLst>
                            <p:childTnLst>
                              <p:par>
                                <p:cTn id="20" presetID="12" presetClass="entr" presetSubtype="2" fill="hold" nodeType="afterEffect">
                                  <p:stCondLst>
                                    <p:cond delay="0"/>
                                  </p:stCondLst>
                                  <p:childTnLst>
                                    <p:set>
                                      <p:cBhvr>
                                        <p:cTn id="21" dur="1" fill="hold">
                                          <p:stCondLst>
                                            <p:cond delay="0"/>
                                          </p:stCondLst>
                                        </p:cTn>
                                        <p:tgtEl>
                                          <p:spTgt spid="285"/>
                                        </p:tgtEl>
                                        <p:attrNameLst>
                                          <p:attrName>style.visibility</p:attrName>
                                        </p:attrNameLst>
                                      </p:cBhvr>
                                      <p:to>
                                        <p:strVal val="visible"/>
                                      </p:to>
                                    </p:set>
                                    <p:animEffect transition="in" filter="slide(fromRight)">
                                      <p:cBhvr>
                                        <p:cTn id="22" dur="5000"/>
                                        <p:tgtEl>
                                          <p:spTgt spid="285"/>
                                        </p:tgtEl>
                                      </p:cBhvr>
                                    </p:animEffect>
                                  </p:childTnLst>
                                </p:cTn>
                              </p:par>
                              <p:par>
                                <p:cTn id="23" presetID="19" presetClass="entr" presetSubtype="10" fill="hold" grpId="0" nodeType="withEffect">
                                  <p:stCondLst>
                                    <p:cond delay="0"/>
                                  </p:stCondLst>
                                  <p:childTnLst>
                                    <p:set>
                                      <p:cBhvr>
                                        <p:cTn id="24" dur="1" fill="hold">
                                          <p:stCondLst>
                                            <p:cond delay="0"/>
                                          </p:stCondLst>
                                        </p:cTn>
                                        <p:tgtEl>
                                          <p:spTgt spid="284"/>
                                        </p:tgtEl>
                                        <p:attrNameLst>
                                          <p:attrName>style.visibility</p:attrName>
                                        </p:attrNameLst>
                                      </p:cBhvr>
                                      <p:to>
                                        <p:strVal val="visible"/>
                                      </p:to>
                                    </p:set>
                                    <p:anim calcmode="lin" valueType="num">
                                      <p:cBhvr>
                                        <p:cTn id="25" dur="5000" fill="hold"/>
                                        <p:tgtEl>
                                          <p:spTgt spid="284"/>
                                        </p:tgtEl>
                                        <p:attrNameLst>
                                          <p:attrName>ppt_w</p:attrName>
                                        </p:attrNameLst>
                                      </p:cBhvr>
                                      <p:tavLst>
                                        <p:tav tm="0" fmla="#ppt_w*sin(2.5*pi*$)">
                                          <p:val>
                                            <p:fltVal val="0"/>
                                          </p:val>
                                        </p:tav>
                                        <p:tav tm="100000">
                                          <p:val>
                                            <p:fltVal val="1"/>
                                          </p:val>
                                        </p:tav>
                                      </p:tavLst>
                                    </p:anim>
                                    <p:anim calcmode="lin" valueType="num">
                                      <p:cBhvr>
                                        <p:cTn id="26" dur="5000" fill="hold"/>
                                        <p:tgtEl>
                                          <p:spTgt spid="284"/>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3"/>
                                            </p:cond>
                                          </p:stCondLst>
                                          <p:endCondLst>
                                            <p:cond evt="onStopAudio" delay="0">
                                              <p:tgtEl>
                                                <p:sldTgt/>
                                              </p:tgtEl>
                                            </p:cond>
                                          </p:endCondLst>
                                        </p:cTn>
                                        <p:tgtEl>
                                          <p:sndTgt r:embed="rId3" name="CHIMES.WAV"/>
                                        </p:tgtEl>
                                      </p:cMediaNode>
                                    </p:audio>
                                  </p:subTnLst>
                                </p:cTn>
                              </p:par>
                            </p:childTnLst>
                          </p:cTn>
                        </p:par>
                        <p:par>
                          <p:cTn id="27" fill="hold">
                            <p:stCondLst>
                              <p:cond delay="10000"/>
                            </p:stCondLst>
                            <p:childTnLst>
                              <p:par>
                                <p:cTn id="28" presetID="18" presetClass="entr" presetSubtype="12" fill="hold" nodeType="afterEffect">
                                  <p:stCondLst>
                                    <p:cond delay="0"/>
                                  </p:stCondLst>
                                  <p:childTnLst>
                                    <p:set>
                                      <p:cBhvr>
                                        <p:cTn id="29" dur="1" fill="hold">
                                          <p:stCondLst>
                                            <p:cond delay="0"/>
                                          </p:stCondLst>
                                        </p:cTn>
                                        <p:tgtEl>
                                          <p:spTgt spid="294"/>
                                        </p:tgtEl>
                                        <p:attrNameLst>
                                          <p:attrName>style.visibility</p:attrName>
                                        </p:attrNameLst>
                                      </p:cBhvr>
                                      <p:to>
                                        <p:strVal val="visible"/>
                                      </p:to>
                                    </p:set>
                                    <p:animEffect transition="in" filter="strips(downLeft)">
                                      <p:cBhvr>
                                        <p:cTn id="30" dur="3000"/>
                                        <p:tgtEl>
                                          <p:spTgt spid="294"/>
                                        </p:tgtEl>
                                      </p:cBhvr>
                                    </p:animEffect>
                                  </p:childTnLst>
                                </p:cTn>
                              </p:par>
                              <p:par>
                                <p:cTn id="31" presetID="19" presetClass="entr" presetSubtype="10" fill="hold" grpId="0" nodeType="withEffect">
                                  <p:stCondLst>
                                    <p:cond delay="0"/>
                                  </p:stCondLst>
                                  <p:childTnLst>
                                    <p:set>
                                      <p:cBhvr>
                                        <p:cTn id="32" dur="1" fill="hold">
                                          <p:stCondLst>
                                            <p:cond delay="0"/>
                                          </p:stCondLst>
                                        </p:cTn>
                                        <p:tgtEl>
                                          <p:spTgt spid="295"/>
                                        </p:tgtEl>
                                        <p:attrNameLst>
                                          <p:attrName>style.visibility</p:attrName>
                                        </p:attrNameLst>
                                      </p:cBhvr>
                                      <p:to>
                                        <p:strVal val="visible"/>
                                      </p:to>
                                    </p:set>
                                    <p:anim calcmode="lin" valueType="num">
                                      <p:cBhvr>
                                        <p:cTn id="33" dur="5000" fill="hold"/>
                                        <p:tgtEl>
                                          <p:spTgt spid="295"/>
                                        </p:tgtEl>
                                        <p:attrNameLst>
                                          <p:attrName>ppt_w</p:attrName>
                                        </p:attrNameLst>
                                      </p:cBhvr>
                                      <p:tavLst>
                                        <p:tav tm="0" fmla="#ppt_w*sin(2.5*pi*$)">
                                          <p:val>
                                            <p:fltVal val="0"/>
                                          </p:val>
                                        </p:tav>
                                        <p:tav tm="100000">
                                          <p:val>
                                            <p:fltVal val="1"/>
                                          </p:val>
                                        </p:tav>
                                      </p:tavLst>
                                    </p:anim>
                                    <p:anim calcmode="lin" valueType="num">
                                      <p:cBhvr>
                                        <p:cTn id="34" dur="5000" fill="hold"/>
                                        <p:tgtEl>
                                          <p:spTgt spid="295"/>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1"/>
                                            </p:cond>
                                          </p:stCondLst>
                                          <p:endCondLst>
                                            <p:cond evt="onStopAudio" delay="0">
                                              <p:tgtEl>
                                                <p:sldTgt/>
                                              </p:tgtEl>
                                            </p:cond>
                                          </p:endCondLst>
                                        </p:cTn>
                                        <p:tgtEl>
                                          <p:sndTgt r:embed="rId3" name="CHIMES.WAV"/>
                                        </p:tgtEl>
                                      </p:cMediaNode>
                                    </p:audio>
                                  </p:subTnLst>
                                </p:cTn>
                              </p:par>
                            </p:childTnLst>
                          </p:cTn>
                        </p:par>
                        <p:par>
                          <p:cTn id="35" fill="hold">
                            <p:stCondLst>
                              <p:cond delay="15000"/>
                            </p:stCondLst>
                            <p:childTnLst>
                              <p:par>
                                <p:cTn id="36" presetID="12" presetClass="entr" presetSubtype="8" fill="hold" nodeType="afterEffect">
                                  <p:stCondLst>
                                    <p:cond delay="0"/>
                                  </p:stCondLst>
                                  <p:childTnLst>
                                    <p:set>
                                      <p:cBhvr>
                                        <p:cTn id="37" dur="1" fill="hold">
                                          <p:stCondLst>
                                            <p:cond delay="0"/>
                                          </p:stCondLst>
                                        </p:cTn>
                                        <p:tgtEl>
                                          <p:spTgt spid="296"/>
                                        </p:tgtEl>
                                        <p:attrNameLst>
                                          <p:attrName>style.visibility</p:attrName>
                                        </p:attrNameLst>
                                      </p:cBhvr>
                                      <p:to>
                                        <p:strVal val="visible"/>
                                      </p:to>
                                    </p:set>
                                    <p:animEffect transition="in" filter="slide(fromLeft)">
                                      <p:cBhvr>
                                        <p:cTn id="38" dur="2000"/>
                                        <p:tgtEl>
                                          <p:spTgt spid="296"/>
                                        </p:tgtEl>
                                      </p:cBhvr>
                                    </p:animEffect>
                                  </p:childTnLst>
                                  <p:subTnLst>
                                    <p:audio>
                                      <p:cMediaNode>
                                        <p:cTn display="0" masterRel="sameClick">
                                          <p:stCondLst>
                                            <p:cond evt="begin" delay="0">
                                              <p:tn val="36"/>
                                            </p:cond>
                                          </p:stCondLst>
                                          <p:endCondLst>
                                            <p:cond evt="onStopAudio" delay="0">
                                              <p:tgtEl>
                                                <p:sldTgt/>
                                              </p:tgtEl>
                                            </p:cond>
                                          </p:endCondLst>
                                        </p:cTn>
                                        <p:tgtEl>
                                          <p:sndTgt r:embed="rId3" name="CHIMES.WAV"/>
                                        </p:tgtEl>
                                      </p:cMediaNode>
                                    </p:audio>
                                  </p:subTnLst>
                                </p:cTn>
                              </p:par>
                              <p:par>
                                <p:cTn id="39" presetID="12" presetClass="entr" presetSubtype="4" fill="hold" nodeType="withEffect">
                                  <p:stCondLst>
                                    <p:cond delay="0"/>
                                  </p:stCondLst>
                                  <p:childTnLst>
                                    <p:set>
                                      <p:cBhvr>
                                        <p:cTn id="40" dur="1" fill="hold">
                                          <p:stCondLst>
                                            <p:cond delay="0"/>
                                          </p:stCondLst>
                                        </p:cTn>
                                        <p:tgtEl>
                                          <p:spTgt spid="297"/>
                                        </p:tgtEl>
                                        <p:attrNameLst>
                                          <p:attrName>style.visibility</p:attrName>
                                        </p:attrNameLst>
                                      </p:cBhvr>
                                      <p:to>
                                        <p:strVal val="visible"/>
                                      </p:to>
                                    </p:set>
                                    <p:animEffect transition="in" filter="slide(fromBottom)">
                                      <p:cBhvr>
                                        <p:cTn id="41" dur="2000"/>
                                        <p:tgtEl>
                                          <p:spTgt spid="297"/>
                                        </p:tgtEl>
                                      </p:cBhvr>
                                    </p:animEffect>
                                  </p:childTnLst>
                                  <p:subTnLst>
                                    <p:audio>
                                      <p:cMediaNode>
                                        <p:cTn display="0" masterRel="sameClick">
                                          <p:stCondLst>
                                            <p:cond evt="begin" delay="0">
                                              <p:tn val="39"/>
                                            </p:cond>
                                          </p:stCondLst>
                                          <p:endCondLst>
                                            <p:cond evt="onStopAudio" delay="0">
                                              <p:tgtEl>
                                                <p:sldTgt/>
                                              </p:tgtEl>
                                            </p:cond>
                                          </p:endCondLst>
                                        </p:cTn>
                                        <p:tgtEl>
                                          <p:sndTgt r:embed="rId3" name="CHIMES.WAV"/>
                                        </p:tgtEl>
                                      </p:cMediaNode>
                                    </p:audio>
                                  </p:subTnLst>
                                </p:cTn>
                              </p:par>
                              <p:par>
                                <p:cTn id="42" presetID="17" presetClass="entr" presetSubtype="10" fill="hold" grpId="0" nodeType="withEffect">
                                  <p:stCondLst>
                                    <p:cond delay="0"/>
                                  </p:stCondLst>
                                  <p:childTnLst>
                                    <p:set>
                                      <p:cBhvr>
                                        <p:cTn id="43" dur="1" fill="hold">
                                          <p:stCondLst>
                                            <p:cond delay="0"/>
                                          </p:stCondLst>
                                        </p:cTn>
                                        <p:tgtEl>
                                          <p:spTgt spid="298"/>
                                        </p:tgtEl>
                                        <p:attrNameLst>
                                          <p:attrName>style.visibility</p:attrName>
                                        </p:attrNameLst>
                                      </p:cBhvr>
                                      <p:to>
                                        <p:strVal val="visible"/>
                                      </p:to>
                                    </p:set>
                                    <p:anim calcmode="lin" valueType="num">
                                      <p:cBhvr>
                                        <p:cTn id="44" dur="2000" fill="hold"/>
                                        <p:tgtEl>
                                          <p:spTgt spid="298"/>
                                        </p:tgtEl>
                                        <p:attrNameLst>
                                          <p:attrName>ppt_w</p:attrName>
                                        </p:attrNameLst>
                                      </p:cBhvr>
                                      <p:tavLst>
                                        <p:tav tm="0">
                                          <p:val>
                                            <p:fltVal val="0"/>
                                          </p:val>
                                        </p:tav>
                                        <p:tav tm="100000">
                                          <p:val>
                                            <p:strVal val="#ppt_w"/>
                                          </p:val>
                                        </p:tav>
                                      </p:tavLst>
                                    </p:anim>
                                    <p:anim calcmode="lin" valueType="num">
                                      <p:cBhvr>
                                        <p:cTn id="45" dur="2000" fill="hold"/>
                                        <p:tgtEl>
                                          <p:spTgt spid="298"/>
                                        </p:tgtEl>
                                        <p:attrNameLst>
                                          <p:attrName>ppt_h</p:attrName>
                                        </p:attrNameLst>
                                      </p:cBhvr>
                                      <p:tavLst>
                                        <p:tav tm="0">
                                          <p:val>
                                            <p:strVal val="#ppt_h"/>
                                          </p:val>
                                        </p:tav>
                                        <p:tav tm="100000">
                                          <p:val>
                                            <p:strVal val="#ppt_h"/>
                                          </p:val>
                                        </p:tav>
                                      </p:tavLst>
                                    </p:anim>
                                  </p:childTnLst>
                                </p:cTn>
                              </p:par>
                              <p:par>
                                <p:cTn id="46" presetID="17" presetClass="entr" presetSubtype="10" fill="hold" grpId="0" nodeType="withEffect">
                                  <p:stCondLst>
                                    <p:cond delay="0"/>
                                  </p:stCondLst>
                                  <p:childTnLst>
                                    <p:set>
                                      <p:cBhvr>
                                        <p:cTn id="47" dur="1" fill="hold">
                                          <p:stCondLst>
                                            <p:cond delay="0"/>
                                          </p:stCondLst>
                                        </p:cTn>
                                        <p:tgtEl>
                                          <p:spTgt spid="299"/>
                                        </p:tgtEl>
                                        <p:attrNameLst>
                                          <p:attrName>style.visibility</p:attrName>
                                        </p:attrNameLst>
                                      </p:cBhvr>
                                      <p:to>
                                        <p:strVal val="visible"/>
                                      </p:to>
                                    </p:set>
                                    <p:anim calcmode="lin" valueType="num">
                                      <p:cBhvr>
                                        <p:cTn id="48" dur="2000" fill="hold"/>
                                        <p:tgtEl>
                                          <p:spTgt spid="299"/>
                                        </p:tgtEl>
                                        <p:attrNameLst>
                                          <p:attrName>ppt_w</p:attrName>
                                        </p:attrNameLst>
                                      </p:cBhvr>
                                      <p:tavLst>
                                        <p:tav tm="0">
                                          <p:val>
                                            <p:fltVal val="0"/>
                                          </p:val>
                                        </p:tav>
                                        <p:tav tm="100000">
                                          <p:val>
                                            <p:strVal val="#ppt_w"/>
                                          </p:val>
                                        </p:tav>
                                      </p:tavLst>
                                    </p:anim>
                                    <p:anim calcmode="lin" valueType="num">
                                      <p:cBhvr>
                                        <p:cTn id="49" dur="2000" fill="hold"/>
                                        <p:tgtEl>
                                          <p:spTgt spid="299"/>
                                        </p:tgtEl>
                                        <p:attrNameLst>
                                          <p:attrName>ppt_h</p:attrName>
                                        </p:attrNameLst>
                                      </p:cBhvr>
                                      <p:tavLst>
                                        <p:tav tm="0">
                                          <p:val>
                                            <p:strVal val="#ppt_h"/>
                                          </p:val>
                                        </p:tav>
                                        <p:tav tm="100000">
                                          <p:val>
                                            <p:strVal val="#ppt_h"/>
                                          </p:val>
                                        </p:tav>
                                      </p:tavLst>
                                    </p:anim>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136"/>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249"/>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248"/>
                                        </p:tgtEl>
                                        <p:attrNameLst>
                                          <p:attrName>style.visibility</p:attrName>
                                        </p:attrNameLst>
                                      </p:cBhvr>
                                      <p:to>
                                        <p:strVal val="visible"/>
                                      </p:to>
                                    </p:set>
                                  </p:childTnLst>
                                </p:cTn>
                              </p:par>
                              <p:par>
                                <p:cTn id="62" presetID="1" presetClass="entr" presetSubtype="0" fill="hold" nodeType="withEffect">
                                  <p:stCondLst>
                                    <p:cond delay="0"/>
                                  </p:stCondLst>
                                  <p:childTnLst>
                                    <p:set>
                                      <p:cBhvr>
                                        <p:cTn id="63" dur="1" fill="hold">
                                          <p:stCondLst>
                                            <p:cond delay="0"/>
                                          </p:stCondLst>
                                        </p:cTn>
                                        <p:tgtEl>
                                          <p:spTgt spid="302"/>
                                        </p:tgtEl>
                                        <p:attrNameLst>
                                          <p:attrName>style.visibility</p:attrName>
                                        </p:attrNameLst>
                                      </p:cBhvr>
                                      <p:to>
                                        <p:strVal val="visible"/>
                                      </p:to>
                                    </p:set>
                                  </p:childTnLst>
                                </p:cTn>
                              </p:par>
                              <p:par>
                                <p:cTn id="64" presetID="1" presetClass="entr" presetSubtype="0" fill="hold" nodeType="withEffect">
                                  <p:stCondLst>
                                    <p:cond delay="0"/>
                                  </p:stCondLst>
                                  <p:childTnLst>
                                    <p:set>
                                      <p:cBhvr>
                                        <p:cTn id="65" dur="1" fill="hold">
                                          <p:stCondLst>
                                            <p:cond delay="0"/>
                                          </p:stCondLst>
                                        </p:cTn>
                                        <p:tgtEl>
                                          <p:spTgt spid="303"/>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grpId="0" nodeType="clickEffect">
                                  <p:stCondLst>
                                    <p:cond delay="0"/>
                                  </p:stCondLst>
                                  <p:childTnLst>
                                    <p:set>
                                      <p:cBhvr>
                                        <p:cTn id="69" dur="1" fill="hold">
                                          <p:stCondLst>
                                            <p:cond delay="0"/>
                                          </p:stCondLst>
                                        </p:cTn>
                                        <p:tgtEl>
                                          <p:spTgt spid="304"/>
                                        </p:tgtEl>
                                        <p:attrNameLst>
                                          <p:attrName>style.visibility</p:attrName>
                                        </p:attrNameLst>
                                      </p:cBhvr>
                                      <p:to>
                                        <p:strVal val="visible"/>
                                      </p:to>
                                    </p:set>
                                  </p:childTnLst>
                                </p:cTn>
                              </p:par>
                              <p:par>
                                <p:cTn id="70" presetID="1" presetClass="entr" presetSubtype="0" fill="hold" nodeType="withEffect">
                                  <p:stCondLst>
                                    <p:cond delay="0"/>
                                  </p:stCondLst>
                                  <p:childTnLst>
                                    <p:set>
                                      <p:cBhvr>
                                        <p:cTn id="71" dur="1" fill="hold">
                                          <p:stCondLst>
                                            <p:cond delay="0"/>
                                          </p:stCondLst>
                                        </p:cTn>
                                        <p:tgtEl>
                                          <p:spTgt spid="305"/>
                                        </p:tgtEl>
                                        <p:attrNameLst>
                                          <p:attrName>style.visibility</p:attrName>
                                        </p:attrNameLst>
                                      </p:cBhvr>
                                      <p:to>
                                        <p:strVal val="visible"/>
                                      </p:to>
                                    </p:set>
                                  </p:childTnLst>
                                </p:cTn>
                              </p:par>
                              <p:par>
                                <p:cTn id="72" presetID="1" presetClass="entr" presetSubtype="0" fill="hold" nodeType="withEffect">
                                  <p:stCondLst>
                                    <p:cond delay="0"/>
                                  </p:stCondLst>
                                  <p:childTnLst>
                                    <p:set>
                                      <p:cBhvr>
                                        <p:cTn id="73" dur="1" fill="hold">
                                          <p:stCondLst>
                                            <p:cond delay="0"/>
                                          </p:stCondLst>
                                        </p:cTn>
                                        <p:tgtEl>
                                          <p:spTgt spid="306"/>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1" presetClass="entr" presetSubtype="0" fill="hold" nodeType="clickEffect">
                                  <p:stCondLst>
                                    <p:cond delay="0"/>
                                  </p:stCondLst>
                                  <p:childTnLst>
                                    <p:set>
                                      <p:cBhvr>
                                        <p:cTn id="77" dur="1" fill="hold">
                                          <p:stCondLst>
                                            <p:cond delay="0"/>
                                          </p:stCondLst>
                                        </p:cTn>
                                        <p:tgtEl>
                                          <p:spTgt spid="3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 grpId="0"/>
      <p:bldP spid="2" grpId="0" animBg="1"/>
      <p:bldP spid="248" grpId="0"/>
      <p:bldP spid="249" grpId="0"/>
      <p:bldP spid="284" grpId="0" autoUpdateAnimBg="0"/>
      <p:bldP spid="295" grpId="0" autoUpdateAnimBg="0"/>
      <p:bldP spid="298" grpId="0" autoUpdateAnimBg="0"/>
      <p:bldP spid="299" grpId="0" autoUpdateAnimBg="0"/>
      <p:bldP spid="304"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711605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第八章   拉压、剪切与挤压的强度计算</a:t>
            </a:r>
          </a:p>
        </p:txBody>
      </p:sp>
      <p:sp>
        <p:nvSpPr>
          <p:cNvPr id="6" name="矩形 5">
            <a:extLst>
              <a:ext uri="{FF2B5EF4-FFF2-40B4-BE49-F238E27FC236}">
                <a16:creationId xmlns:a16="http://schemas.microsoft.com/office/drawing/2014/main" id="{8A892F5C-7536-F031-6CD4-1C9902B467DE}"/>
              </a:ext>
            </a:extLst>
          </p:cNvPr>
          <p:cNvSpPr/>
          <p:nvPr/>
        </p:nvSpPr>
        <p:spPr>
          <a:xfrm>
            <a:off x="3779807" y="818078"/>
            <a:ext cx="3760966" cy="599331"/>
          </a:xfrm>
          <a:prstGeom prst="rect">
            <a:avLst/>
          </a:prstGeom>
        </p:spPr>
        <p:txBody>
          <a:bodyPr wrap="none">
            <a:spAutoFit/>
          </a:bodyPr>
          <a:lstStyle/>
          <a:p>
            <a:pPr>
              <a:lnSpc>
                <a:spcPct val="120000"/>
              </a:lnSpc>
            </a:pPr>
            <a:r>
              <a:rPr lang="zh-CN" altLang="en-US" sz="3000" i="0" dirty="0">
                <a:solidFill>
                  <a:srgbClr val="4F81BD"/>
                </a:solidFill>
                <a:latin typeface="微软雅黑" panose="020B0503020204020204" pitchFamily="34" charset="-122"/>
                <a:ea typeface="微软雅黑" panose="020B0503020204020204" pitchFamily="34" charset="-122"/>
              </a:rPr>
              <a:t>拉压超静定问题简介 </a:t>
            </a:r>
          </a:p>
        </p:txBody>
      </p:sp>
      <p:sp>
        <p:nvSpPr>
          <p:cNvPr id="2" name="Text Box 1032">
            <a:extLst>
              <a:ext uri="{FF2B5EF4-FFF2-40B4-BE49-F238E27FC236}">
                <a16:creationId xmlns:a16="http://schemas.microsoft.com/office/drawing/2014/main" id="{9313B3B7-54D5-686A-FE7C-5A463A3627F0}"/>
              </a:ext>
            </a:extLst>
          </p:cNvPr>
          <p:cNvSpPr txBox="1">
            <a:spLocks noChangeArrowheads="1"/>
          </p:cNvSpPr>
          <p:nvPr/>
        </p:nvSpPr>
        <p:spPr bwMode="auto">
          <a:xfrm>
            <a:off x="335360" y="1355319"/>
            <a:ext cx="10729191" cy="565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lnSpc>
                <a:spcPct val="120000"/>
              </a:lnSpc>
            </a:pPr>
            <a:r>
              <a:rPr lang="zh-CN" altLang="en-US" sz="2800" i="0" dirty="0">
                <a:solidFill>
                  <a:srgbClr val="FF00FF"/>
                </a:solidFill>
                <a:latin typeface="+mn-lt"/>
                <a:ea typeface="微软雅黑" panose="020B0503020204020204" pitchFamily="34" charset="-122"/>
              </a:rPr>
              <a:t>超静定概念及其解法</a:t>
            </a:r>
            <a:endParaRPr lang="zh-CN" altLang="en-US" sz="2800" i="0" dirty="0">
              <a:latin typeface="+mn-lt"/>
              <a:ea typeface="微软雅黑" panose="020B0503020204020204" pitchFamily="34" charset="-122"/>
            </a:endParaRPr>
          </a:p>
        </p:txBody>
      </p:sp>
      <p:sp>
        <p:nvSpPr>
          <p:cNvPr id="9" name="Text Box 1032">
            <a:extLst>
              <a:ext uri="{FF2B5EF4-FFF2-40B4-BE49-F238E27FC236}">
                <a16:creationId xmlns:a16="http://schemas.microsoft.com/office/drawing/2014/main" id="{6D166145-737C-A1D8-3723-4B4713280D42}"/>
              </a:ext>
            </a:extLst>
          </p:cNvPr>
          <p:cNvSpPr txBox="1">
            <a:spLocks noChangeArrowheads="1"/>
          </p:cNvSpPr>
          <p:nvPr/>
        </p:nvSpPr>
        <p:spPr bwMode="auto">
          <a:xfrm>
            <a:off x="335361" y="1844824"/>
            <a:ext cx="6286591" cy="3667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lnSpc>
                <a:spcPct val="120000"/>
              </a:lnSpc>
            </a:pPr>
            <a:r>
              <a:rPr lang="zh-CN" altLang="en-US" sz="2800" i="0" dirty="0">
                <a:latin typeface="+mn-lt"/>
                <a:ea typeface="微软雅黑" panose="020B0503020204020204" pitchFamily="34" charset="-122"/>
              </a:rPr>
              <a:t>仅根据平衡方程不能确定全部未知力的平衡问题称为</a:t>
            </a:r>
            <a:r>
              <a:rPr lang="zh-CN" altLang="en-US" sz="2800" i="0" dirty="0">
                <a:solidFill>
                  <a:srgbClr val="FF00FF"/>
                </a:solidFill>
                <a:latin typeface="+mn-lt"/>
                <a:ea typeface="微软雅黑" panose="020B0503020204020204" pitchFamily="34" charset="-122"/>
              </a:rPr>
              <a:t>超静定问题</a:t>
            </a:r>
            <a:r>
              <a:rPr lang="zh-CN" altLang="en-US" sz="2800" i="0" dirty="0">
                <a:latin typeface="+mn-lt"/>
                <a:ea typeface="微软雅黑" panose="020B0503020204020204" pitchFamily="34" charset="-122"/>
              </a:rPr>
              <a:t>。未知力个数与独立平衡方程数目之差称为</a:t>
            </a:r>
            <a:r>
              <a:rPr lang="zh-CN" altLang="en-US" sz="2800" i="0" dirty="0">
                <a:solidFill>
                  <a:srgbClr val="FF00FF"/>
                </a:solidFill>
                <a:latin typeface="+mn-lt"/>
                <a:ea typeface="微软雅黑" panose="020B0503020204020204" pitchFamily="34" charset="-122"/>
              </a:rPr>
              <a:t>超静定的次数。</a:t>
            </a:r>
            <a:endParaRPr lang="en-US" altLang="zh-CN" sz="2800" i="0" dirty="0">
              <a:solidFill>
                <a:srgbClr val="FF00FF"/>
              </a:solidFill>
              <a:latin typeface="+mn-lt"/>
              <a:ea typeface="微软雅黑" panose="020B0503020204020204" pitchFamily="34" charset="-122"/>
            </a:endParaRPr>
          </a:p>
          <a:p>
            <a:pPr algn="just">
              <a:lnSpc>
                <a:spcPct val="120000"/>
              </a:lnSpc>
            </a:pPr>
            <a:r>
              <a:rPr lang="zh-CN" altLang="en-US" sz="2800" i="0" dirty="0">
                <a:latin typeface="+mn-lt"/>
                <a:ea typeface="微软雅黑" panose="020B0503020204020204" pitchFamily="34" charset="-122"/>
              </a:rPr>
              <a:t>解超静定问题时，除平衡方程外，还需</a:t>
            </a:r>
            <a:r>
              <a:rPr lang="zh-CN" altLang="en-US" sz="2800" i="0" dirty="0">
                <a:solidFill>
                  <a:srgbClr val="FF00FF"/>
                </a:solidFill>
                <a:latin typeface="+mn-lt"/>
                <a:ea typeface="微软雅黑" panose="020B0503020204020204" pitchFamily="34" charset="-122"/>
              </a:rPr>
              <a:t>补充方程</a:t>
            </a:r>
            <a:r>
              <a:rPr lang="zh-CN" altLang="en-US" sz="2800" i="0" dirty="0">
                <a:latin typeface="+mn-lt"/>
                <a:ea typeface="微软雅黑" panose="020B0503020204020204" pitchFamily="34" charset="-122"/>
              </a:rPr>
              <a:t>，可由结构变形的几何条件以及变形和内力间的物理规律来建立。</a:t>
            </a:r>
          </a:p>
        </p:txBody>
      </p:sp>
      <p:sp>
        <p:nvSpPr>
          <p:cNvPr id="5" name="Rectangle 61">
            <a:extLst>
              <a:ext uri="{FF2B5EF4-FFF2-40B4-BE49-F238E27FC236}">
                <a16:creationId xmlns:a16="http://schemas.microsoft.com/office/drawing/2014/main" id="{18CD4DD6-6B67-DEF0-E8FB-A1C2C51935E9}"/>
              </a:ext>
            </a:extLst>
          </p:cNvPr>
          <p:cNvSpPr>
            <a:spLocks noChangeArrowheads="1"/>
          </p:cNvSpPr>
          <p:nvPr/>
        </p:nvSpPr>
        <p:spPr bwMode="auto">
          <a:xfrm>
            <a:off x="6960096" y="1559019"/>
            <a:ext cx="5190764" cy="4625063"/>
          </a:xfrm>
          <a:prstGeom prst="rect">
            <a:avLst/>
          </a:prstGeom>
          <a:solidFill>
            <a:srgbClr val="B9CDE5"/>
          </a:solidFill>
          <a:ln>
            <a:noFill/>
          </a:ln>
          <a:effectLst/>
        </p:spPr>
        <p:txBody>
          <a:bodyPr wrap="none" anchor="ctr"/>
          <a:lstStyle/>
          <a:p>
            <a:endParaRPr lang="zh-CN" altLang="en-US" dirty="0"/>
          </a:p>
        </p:txBody>
      </p:sp>
      <p:grpSp>
        <p:nvGrpSpPr>
          <p:cNvPr id="8" name="Group 27">
            <a:extLst>
              <a:ext uri="{FF2B5EF4-FFF2-40B4-BE49-F238E27FC236}">
                <a16:creationId xmlns:a16="http://schemas.microsoft.com/office/drawing/2014/main" id="{C058BF75-C914-3E13-3ADB-3AABCC6DCC78}"/>
              </a:ext>
            </a:extLst>
          </p:cNvPr>
          <p:cNvGrpSpPr>
            <a:grpSpLocks/>
          </p:cNvGrpSpPr>
          <p:nvPr/>
        </p:nvGrpSpPr>
        <p:grpSpPr bwMode="auto">
          <a:xfrm>
            <a:off x="7134715" y="2609614"/>
            <a:ext cx="2263775" cy="3043237"/>
            <a:chOff x="4147" y="113"/>
            <a:chExt cx="1426" cy="1917"/>
          </a:xfrm>
        </p:grpSpPr>
        <p:sp>
          <p:nvSpPr>
            <p:cNvPr id="13" name="AutoShape 28">
              <a:extLst>
                <a:ext uri="{FF2B5EF4-FFF2-40B4-BE49-F238E27FC236}">
                  <a16:creationId xmlns:a16="http://schemas.microsoft.com/office/drawing/2014/main" id="{AFE915BD-81B8-5753-8337-46D13EB168DB}"/>
                </a:ext>
              </a:extLst>
            </p:cNvPr>
            <p:cNvSpPr>
              <a:spLocks noChangeArrowheads="1"/>
            </p:cNvSpPr>
            <p:nvPr/>
          </p:nvSpPr>
          <p:spPr bwMode="auto">
            <a:xfrm flipV="1">
              <a:off x="4319" y="203"/>
              <a:ext cx="1110" cy="1051"/>
            </a:xfrm>
            <a:prstGeom prst="triangle">
              <a:avLst>
                <a:gd name="adj" fmla="val 50000"/>
              </a:avLst>
            </a:prstGeom>
            <a:noFill/>
            <a:ln w="571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4" name="Text Box 29">
              <a:extLst>
                <a:ext uri="{FF2B5EF4-FFF2-40B4-BE49-F238E27FC236}">
                  <a16:creationId xmlns:a16="http://schemas.microsoft.com/office/drawing/2014/main" id="{3CBE2368-9E23-F13F-54F5-B94BF5E2E06D}"/>
                </a:ext>
              </a:extLst>
            </p:cNvPr>
            <p:cNvSpPr txBox="1">
              <a:spLocks noChangeAspect="1" noChangeArrowheads="1"/>
            </p:cNvSpPr>
            <p:nvPr/>
          </p:nvSpPr>
          <p:spPr bwMode="auto">
            <a:xfrm>
              <a:off x="4198" y="1224"/>
              <a:ext cx="375" cy="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fontAlgn="auto" hangingPunct="1">
                <a:spcBef>
                  <a:spcPts val="0"/>
                </a:spcBef>
                <a:spcAft>
                  <a:spcPts val="0"/>
                </a:spcAft>
              </a:pPr>
              <a:r>
                <a:rPr lang="en-US" altLang="zh-CN" b="0" i="0" kern="0" dirty="0">
                  <a:solidFill>
                    <a:srgbClr val="000000"/>
                  </a:solidFill>
                  <a:latin typeface="+mj-lt"/>
                  <a:ea typeface="宋体" panose="02010600030101010101" pitchFamily="2" charset="-122"/>
                </a:rPr>
                <a:t>(a)</a:t>
              </a:r>
              <a:endParaRPr lang="en-US" altLang="zh-CN" b="0" i="0" kern="0" dirty="0">
                <a:solidFill>
                  <a:srgbClr val="000000"/>
                </a:solidFill>
                <a:latin typeface="+mj-lt"/>
                <a:ea typeface="宋体" panose="02010600030101010101" pitchFamily="2" charset="-122"/>
                <a:sym typeface="Symbol" panose="05050102010706020507" pitchFamily="18" charset="2"/>
              </a:endParaRPr>
            </a:p>
          </p:txBody>
        </p:sp>
        <p:sp>
          <p:nvSpPr>
            <p:cNvPr id="15" name="Text Box 30">
              <a:extLst>
                <a:ext uri="{FF2B5EF4-FFF2-40B4-BE49-F238E27FC236}">
                  <a16:creationId xmlns:a16="http://schemas.microsoft.com/office/drawing/2014/main" id="{53BB264E-0289-D2F2-2FD7-4885273300DB}"/>
                </a:ext>
              </a:extLst>
            </p:cNvPr>
            <p:cNvSpPr txBox="1">
              <a:spLocks noChangeAspect="1" noChangeArrowheads="1"/>
            </p:cNvSpPr>
            <p:nvPr/>
          </p:nvSpPr>
          <p:spPr bwMode="auto">
            <a:xfrm>
              <a:off x="4338" y="546"/>
              <a:ext cx="2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dirty="0">
                  <a:ln>
                    <a:noFill/>
                  </a:ln>
                  <a:solidFill>
                    <a:srgbClr val="000000"/>
                  </a:solidFill>
                  <a:effectLst/>
                  <a:uLnTx/>
                  <a:uFillTx/>
                  <a:latin typeface="+mj-lt"/>
                  <a:ea typeface="宋体" panose="02010600030101010101" pitchFamily="2" charset="-122"/>
                </a:rPr>
                <a:t>1</a:t>
              </a:r>
            </a:p>
          </p:txBody>
        </p:sp>
        <p:sp>
          <p:nvSpPr>
            <p:cNvPr id="16" name="Text Box 31">
              <a:extLst>
                <a:ext uri="{FF2B5EF4-FFF2-40B4-BE49-F238E27FC236}">
                  <a16:creationId xmlns:a16="http://schemas.microsoft.com/office/drawing/2014/main" id="{737C3D70-7B07-D074-4395-91E4427F2B33}"/>
                </a:ext>
              </a:extLst>
            </p:cNvPr>
            <p:cNvSpPr txBox="1">
              <a:spLocks noChangeAspect="1" noChangeArrowheads="1"/>
            </p:cNvSpPr>
            <p:nvPr/>
          </p:nvSpPr>
          <p:spPr bwMode="auto">
            <a:xfrm>
              <a:off x="5163" y="559"/>
              <a:ext cx="259"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fontAlgn="auto" hangingPunct="1">
                <a:spcBef>
                  <a:spcPts val="0"/>
                </a:spcBef>
                <a:spcAft>
                  <a:spcPts val="0"/>
                </a:spcAft>
              </a:pPr>
              <a:r>
                <a:rPr lang="en-US" altLang="zh-CN" b="0" i="0" kern="0" dirty="0">
                  <a:solidFill>
                    <a:srgbClr val="000000"/>
                  </a:solidFill>
                  <a:latin typeface="+mj-lt"/>
                  <a:ea typeface="宋体" panose="02010600030101010101" pitchFamily="2" charset="-122"/>
                </a:rPr>
                <a:t>2</a:t>
              </a:r>
            </a:p>
          </p:txBody>
        </p:sp>
        <p:sp>
          <p:nvSpPr>
            <p:cNvPr id="17" name="Text Box 32">
              <a:extLst>
                <a:ext uri="{FF2B5EF4-FFF2-40B4-BE49-F238E27FC236}">
                  <a16:creationId xmlns:a16="http://schemas.microsoft.com/office/drawing/2014/main" id="{1236371B-4B96-4DF0-66F0-5E7A49DCE99D}"/>
                </a:ext>
              </a:extLst>
            </p:cNvPr>
            <p:cNvSpPr txBox="1">
              <a:spLocks noChangeAspect="1" noChangeArrowheads="1"/>
            </p:cNvSpPr>
            <p:nvPr/>
          </p:nvSpPr>
          <p:spPr bwMode="auto">
            <a:xfrm>
              <a:off x="4867" y="1730"/>
              <a:ext cx="363"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fontAlgn="auto" hangingPunct="1">
                <a:spcBef>
                  <a:spcPts val="0"/>
                </a:spcBef>
                <a:spcAft>
                  <a:spcPts val="0"/>
                </a:spcAft>
              </a:pPr>
              <a:r>
                <a:rPr lang="en-US" altLang="zh-CN" b="0" kern="0" dirty="0">
                  <a:solidFill>
                    <a:srgbClr val="FF0000"/>
                  </a:solidFill>
                  <a:latin typeface="+mj-lt"/>
                  <a:ea typeface="宋体" panose="02010600030101010101" pitchFamily="2" charset="-122"/>
                </a:rPr>
                <a:t>G</a:t>
              </a:r>
            </a:p>
          </p:txBody>
        </p:sp>
        <p:grpSp>
          <p:nvGrpSpPr>
            <p:cNvPr id="18" name="Group 33">
              <a:extLst>
                <a:ext uri="{FF2B5EF4-FFF2-40B4-BE49-F238E27FC236}">
                  <a16:creationId xmlns:a16="http://schemas.microsoft.com/office/drawing/2014/main" id="{23631B52-CEE6-F271-F0A8-49B06080169B}"/>
                </a:ext>
              </a:extLst>
            </p:cNvPr>
            <p:cNvGrpSpPr>
              <a:grpSpLocks/>
            </p:cNvGrpSpPr>
            <p:nvPr/>
          </p:nvGrpSpPr>
          <p:grpSpPr bwMode="auto">
            <a:xfrm rot="5400000">
              <a:off x="4812" y="-552"/>
              <a:ext cx="95" cy="1426"/>
              <a:chOff x="4180" y="191"/>
              <a:chExt cx="112" cy="1798"/>
            </a:xfrm>
          </p:grpSpPr>
          <p:sp>
            <p:nvSpPr>
              <p:cNvPr id="26" name="Rectangle 34" descr="宽上对角线">
                <a:extLst>
                  <a:ext uri="{FF2B5EF4-FFF2-40B4-BE49-F238E27FC236}">
                    <a16:creationId xmlns:a16="http://schemas.microsoft.com/office/drawing/2014/main" id="{E2E6329F-F90F-1F59-E333-A2D08AAC0CEE}"/>
                  </a:ext>
                </a:extLst>
              </p:cNvPr>
              <p:cNvSpPr>
                <a:spLocks noChangeAspect="1" noChangeArrowheads="1"/>
              </p:cNvSpPr>
              <p:nvPr/>
            </p:nvSpPr>
            <p:spPr bwMode="auto">
              <a:xfrm>
                <a:off x="4180" y="191"/>
                <a:ext cx="94" cy="1798"/>
              </a:xfrm>
              <a:prstGeom prst="rect">
                <a:avLst/>
              </a:prstGeom>
              <a:pattFill prst="wdUpDiag">
                <a:fgClr>
                  <a:srgbClr val="000000"/>
                </a:fgClr>
                <a:bgClr>
                  <a:srgbClr val="99FFCC"/>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27" name="Line 35">
                <a:extLst>
                  <a:ext uri="{FF2B5EF4-FFF2-40B4-BE49-F238E27FC236}">
                    <a16:creationId xmlns:a16="http://schemas.microsoft.com/office/drawing/2014/main" id="{12C17B1F-F543-4AAA-CAF8-A7CB7B52AA9E}"/>
                  </a:ext>
                </a:extLst>
              </p:cNvPr>
              <p:cNvSpPr>
                <a:spLocks noChangeAspect="1" noChangeShapeType="1"/>
              </p:cNvSpPr>
              <p:nvPr/>
            </p:nvSpPr>
            <p:spPr bwMode="auto">
              <a:xfrm>
                <a:off x="4292" y="191"/>
                <a:ext cx="0" cy="1790"/>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19" name="Line 36">
              <a:extLst>
                <a:ext uri="{FF2B5EF4-FFF2-40B4-BE49-F238E27FC236}">
                  <a16:creationId xmlns:a16="http://schemas.microsoft.com/office/drawing/2014/main" id="{5DD146A2-7E00-D5A1-EB32-417453C8F0D1}"/>
                </a:ext>
              </a:extLst>
            </p:cNvPr>
            <p:cNvSpPr>
              <a:spLocks noChangeAspect="1" noChangeShapeType="1"/>
            </p:cNvSpPr>
            <p:nvPr/>
          </p:nvSpPr>
          <p:spPr bwMode="auto">
            <a:xfrm>
              <a:off x="4870" y="1608"/>
              <a:ext cx="0" cy="379"/>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20" name="Text Box 37">
              <a:extLst>
                <a:ext uri="{FF2B5EF4-FFF2-40B4-BE49-F238E27FC236}">
                  <a16:creationId xmlns:a16="http://schemas.microsoft.com/office/drawing/2014/main" id="{6ABC81A3-202C-EB2B-24E3-99162BD53767}"/>
                </a:ext>
              </a:extLst>
            </p:cNvPr>
            <p:cNvSpPr txBox="1">
              <a:spLocks noChangeAspect="1" noChangeArrowheads="1"/>
            </p:cNvSpPr>
            <p:nvPr/>
          </p:nvSpPr>
          <p:spPr bwMode="auto">
            <a:xfrm>
              <a:off x="4918" y="1059"/>
              <a:ext cx="296"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mj-lt"/>
                  <a:ea typeface="宋体" panose="02010600030101010101" pitchFamily="2" charset="-122"/>
                </a:rPr>
                <a:t>A</a:t>
              </a:r>
            </a:p>
          </p:txBody>
        </p:sp>
        <p:sp>
          <p:nvSpPr>
            <p:cNvPr id="21" name="Oval 38">
              <a:extLst>
                <a:ext uri="{FF2B5EF4-FFF2-40B4-BE49-F238E27FC236}">
                  <a16:creationId xmlns:a16="http://schemas.microsoft.com/office/drawing/2014/main" id="{A4CA5AC8-603C-FE30-306B-5F990FF37729}"/>
                </a:ext>
              </a:extLst>
            </p:cNvPr>
            <p:cNvSpPr>
              <a:spLocks noChangeAspect="1" noChangeArrowheads="1"/>
            </p:cNvSpPr>
            <p:nvPr/>
          </p:nvSpPr>
          <p:spPr bwMode="auto">
            <a:xfrm rot="5400000">
              <a:off x="4281" y="157"/>
              <a:ext cx="90" cy="90"/>
            </a:xfrm>
            <a:prstGeom prst="ellipse">
              <a:avLst/>
            </a:prstGeom>
            <a:solidFill>
              <a:srgbClr val="FF00FF"/>
            </a:solidFill>
            <a:ln w="38100">
              <a:solidFill>
                <a:srgbClr val="000000"/>
              </a:solidFill>
              <a:round/>
              <a:headEnd/>
              <a:tailEnd/>
            </a:ln>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22" name="Oval 39">
              <a:extLst>
                <a:ext uri="{FF2B5EF4-FFF2-40B4-BE49-F238E27FC236}">
                  <a16:creationId xmlns:a16="http://schemas.microsoft.com/office/drawing/2014/main" id="{D65B45AF-5156-40EB-78D8-8826BC464F8D}"/>
                </a:ext>
              </a:extLst>
            </p:cNvPr>
            <p:cNvSpPr>
              <a:spLocks noChangeAspect="1" noChangeArrowheads="1"/>
            </p:cNvSpPr>
            <p:nvPr/>
          </p:nvSpPr>
          <p:spPr bwMode="auto">
            <a:xfrm rot="5400000">
              <a:off x="5375" y="160"/>
              <a:ext cx="90" cy="90"/>
            </a:xfrm>
            <a:prstGeom prst="ellipse">
              <a:avLst/>
            </a:prstGeom>
            <a:solidFill>
              <a:srgbClr val="FF00FF"/>
            </a:solidFill>
            <a:ln w="38100" algn="ctr">
              <a:solidFill>
                <a:srgbClr val="000000"/>
              </a:solidFill>
              <a:round/>
              <a:headEnd/>
              <a:tailEnd/>
            </a:ln>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23" name="Line 40">
              <a:extLst>
                <a:ext uri="{FF2B5EF4-FFF2-40B4-BE49-F238E27FC236}">
                  <a16:creationId xmlns:a16="http://schemas.microsoft.com/office/drawing/2014/main" id="{CAF3E102-E08A-A703-0C43-36ACF6D634FD}"/>
                </a:ext>
              </a:extLst>
            </p:cNvPr>
            <p:cNvSpPr>
              <a:spLocks noChangeShapeType="1"/>
            </p:cNvSpPr>
            <p:nvPr/>
          </p:nvSpPr>
          <p:spPr bwMode="auto">
            <a:xfrm>
              <a:off x="4871" y="1237"/>
              <a:ext cx="0" cy="313"/>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24" name="Rectangle 41">
              <a:extLst>
                <a:ext uri="{FF2B5EF4-FFF2-40B4-BE49-F238E27FC236}">
                  <a16:creationId xmlns:a16="http://schemas.microsoft.com/office/drawing/2014/main" id="{AE3097AD-0B63-9FB0-2B7E-7E6C957239D7}"/>
                </a:ext>
              </a:extLst>
            </p:cNvPr>
            <p:cNvSpPr>
              <a:spLocks noChangeArrowheads="1"/>
            </p:cNvSpPr>
            <p:nvPr/>
          </p:nvSpPr>
          <p:spPr bwMode="auto">
            <a:xfrm>
              <a:off x="4728" y="1534"/>
              <a:ext cx="279" cy="152"/>
            </a:xfrm>
            <a:prstGeom prst="rect">
              <a:avLst/>
            </a:prstGeom>
            <a:gradFill rotWithShape="1">
              <a:gsLst>
                <a:gs pos="0">
                  <a:srgbClr val="FFFFFF">
                    <a:gamma/>
                    <a:shade val="19216"/>
                    <a:invGamma/>
                  </a:srgbClr>
                </a:gs>
                <a:gs pos="50000">
                  <a:srgbClr val="FFFFFF"/>
                </a:gs>
                <a:gs pos="100000">
                  <a:srgbClr val="FFFFFF">
                    <a:gamma/>
                    <a:shade val="19216"/>
                    <a:invGamma/>
                  </a:srgbClr>
                </a:gs>
              </a:gsLst>
              <a:lin ang="0" scaled="1"/>
            </a:gradFill>
            <a:ln w="28575">
              <a:solidFill>
                <a:srgbClr val="000000"/>
              </a:solidFill>
              <a:miter lim="800000"/>
              <a:headEnd/>
              <a:tailEnd/>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itchFamily="2" charset="-122"/>
              </a:endParaRPr>
            </a:p>
          </p:txBody>
        </p:sp>
        <p:sp>
          <p:nvSpPr>
            <p:cNvPr id="25" name="Oval 42">
              <a:extLst>
                <a:ext uri="{FF2B5EF4-FFF2-40B4-BE49-F238E27FC236}">
                  <a16:creationId xmlns:a16="http://schemas.microsoft.com/office/drawing/2014/main" id="{C4560132-A218-A366-7DC8-CC9F205400F5}"/>
                </a:ext>
              </a:extLst>
            </p:cNvPr>
            <p:cNvSpPr>
              <a:spLocks noChangeAspect="1" noChangeArrowheads="1"/>
            </p:cNvSpPr>
            <p:nvPr/>
          </p:nvSpPr>
          <p:spPr bwMode="auto">
            <a:xfrm>
              <a:off x="4825" y="1194"/>
              <a:ext cx="90" cy="90"/>
            </a:xfrm>
            <a:prstGeom prst="ellipse">
              <a:avLst/>
            </a:prstGeom>
            <a:solidFill>
              <a:srgbClr val="FF00FF"/>
            </a:solidFill>
            <a:ln w="38100" algn="ctr">
              <a:solidFill>
                <a:srgbClr val="000000"/>
              </a:solidFill>
              <a:round/>
              <a:headEnd/>
              <a:tailEnd/>
            </a:ln>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grpSp>
      <p:grpSp>
        <p:nvGrpSpPr>
          <p:cNvPr id="28" name="Group 65">
            <a:extLst>
              <a:ext uri="{FF2B5EF4-FFF2-40B4-BE49-F238E27FC236}">
                <a16:creationId xmlns:a16="http://schemas.microsoft.com/office/drawing/2014/main" id="{F11245B2-8FB6-7DDD-96FB-1FDC947B822F}"/>
              </a:ext>
            </a:extLst>
          </p:cNvPr>
          <p:cNvGrpSpPr>
            <a:grpSpLocks/>
          </p:cNvGrpSpPr>
          <p:nvPr/>
        </p:nvGrpSpPr>
        <p:grpSpPr bwMode="auto">
          <a:xfrm>
            <a:off x="9763616" y="2584445"/>
            <a:ext cx="2322513" cy="3043238"/>
            <a:chOff x="4137" y="2172"/>
            <a:chExt cx="1463" cy="1917"/>
          </a:xfrm>
        </p:grpSpPr>
        <p:sp>
          <p:nvSpPr>
            <p:cNvPr id="29" name="Text Box 44">
              <a:extLst>
                <a:ext uri="{FF2B5EF4-FFF2-40B4-BE49-F238E27FC236}">
                  <a16:creationId xmlns:a16="http://schemas.microsoft.com/office/drawing/2014/main" id="{1AA22809-F321-2744-3FA4-5EE1DF100633}"/>
                </a:ext>
              </a:extLst>
            </p:cNvPr>
            <p:cNvSpPr txBox="1">
              <a:spLocks noChangeAspect="1" noChangeArrowheads="1"/>
            </p:cNvSpPr>
            <p:nvPr/>
          </p:nvSpPr>
          <p:spPr bwMode="auto">
            <a:xfrm>
              <a:off x="4137" y="2229"/>
              <a:ext cx="289"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fontAlgn="auto" hangingPunct="1">
                <a:spcBef>
                  <a:spcPts val="0"/>
                </a:spcBef>
                <a:spcAft>
                  <a:spcPts val="0"/>
                </a:spcAft>
              </a:pPr>
              <a:r>
                <a:rPr lang="en-US" altLang="zh-CN" b="0" kern="0" dirty="0">
                  <a:solidFill>
                    <a:srgbClr val="000000"/>
                  </a:solidFill>
                  <a:latin typeface="+mj-lt"/>
                  <a:ea typeface="宋体" panose="02010600030101010101" pitchFamily="2" charset="-122"/>
                </a:rPr>
                <a:t>B</a:t>
              </a:r>
            </a:p>
          </p:txBody>
        </p:sp>
        <p:sp>
          <p:nvSpPr>
            <p:cNvPr id="30" name="Text Box 45">
              <a:extLst>
                <a:ext uri="{FF2B5EF4-FFF2-40B4-BE49-F238E27FC236}">
                  <a16:creationId xmlns:a16="http://schemas.microsoft.com/office/drawing/2014/main" id="{0B1E758F-93BD-84BA-85B0-FB37AC943319}"/>
                </a:ext>
              </a:extLst>
            </p:cNvPr>
            <p:cNvSpPr txBox="1">
              <a:spLocks noChangeAspect="1" noChangeArrowheads="1"/>
            </p:cNvSpPr>
            <p:nvPr/>
          </p:nvSpPr>
          <p:spPr bwMode="auto">
            <a:xfrm>
              <a:off x="5385" y="2233"/>
              <a:ext cx="215" cy="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fontAlgn="auto" hangingPunct="1">
                <a:spcBef>
                  <a:spcPts val="0"/>
                </a:spcBef>
                <a:spcAft>
                  <a:spcPts val="0"/>
                </a:spcAft>
              </a:pPr>
              <a:r>
                <a:rPr lang="en-US" altLang="zh-CN" b="0" kern="0" dirty="0">
                  <a:solidFill>
                    <a:srgbClr val="000000"/>
                  </a:solidFill>
                  <a:latin typeface="+mj-lt"/>
                  <a:ea typeface="宋体" panose="02010600030101010101" pitchFamily="2" charset="-122"/>
                </a:rPr>
                <a:t>C</a:t>
              </a:r>
            </a:p>
          </p:txBody>
        </p:sp>
        <p:sp>
          <p:nvSpPr>
            <p:cNvPr id="31" name="AutoShape 46">
              <a:extLst>
                <a:ext uri="{FF2B5EF4-FFF2-40B4-BE49-F238E27FC236}">
                  <a16:creationId xmlns:a16="http://schemas.microsoft.com/office/drawing/2014/main" id="{62E4A739-F419-B95A-EEF9-F68D5FBBA2C8}"/>
                </a:ext>
              </a:extLst>
            </p:cNvPr>
            <p:cNvSpPr>
              <a:spLocks noChangeArrowheads="1"/>
            </p:cNvSpPr>
            <p:nvPr/>
          </p:nvSpPr>
          <p:spPr bwMode="auto">
            <a:xfrm flipV="1">
              <a:off x="4319" y="2262"/>
              <a:ext cx="1110" cy="1051"/>
            </a:xfrm>
            <a:prstGeom prst="triangle">
              <a:avLst>
                <a:gd name="adj" fmla="val 50000"/>
              </a:avLst>
            </a:prstGeom>
            <a:noFill/>
            <a:ln w="571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32" name="Text Box 47">
              <a:extLst>
                <a:ext uri="{FF2B5EF4-FFF2-40B4-BE49-F238E27FC236}">
                  <a16:creationId xmlns:a16="http://schemas.microsoft.com/office/drawing/2014/main" id="{327D43CE-612C-E3AB-587B-B55A32388774}"/>
                </a:ext>
              </a:extLst>
            </p:cNvPr>
            <p:cNvSpPr txBox="1">
              <a:spLocks noChangeAspect="1" noChangeArrowheads="1"/>
            </p:cNvSpPr>
            <p:nvPr/>
          </p:nvSpPr>
          <p:spPr bwMode="auto">
            <a:xfrm>
              <a:off x="4198" y="3283"/>
              <a:ext cx="375" cy="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altLang="zh-CN" b="0" i="0" kern="0" dirty="0">
                  <a:solidFill>
                    <a:srgbClr val="000000"/>
                  </a:solidFill>
                  <a:latin typeface="+mj-lt"/>
                  <a:ea typeface="宋体" panose="02010600030101010101" pitchFamily="2" charset="-122"/>
                </a:rPr>
                <a:t>(b)</a:t>
              </a:r>
              <a:endParaRPr lang="en-US" altLang="zh-CN" b="0" i="0" kern="0" dirty="0">
                <a:solidFill>
                  <a:srgbClr val="000000"/>
                </a:solidFill>
                <a:latin typeface="+mj-lt"/>
                <a:ea typeface="宋体" panose="02010600030101010101" pitchFamily="2" charset="-122"/>
                <a:sym typeface="Symbol" panose="05050102010706020507" pitchFamily="18" charset="2"/>
              </a:endParaRPr>
            </a:p>
          </p:txBody>
        </p:sp>
        <p:sp>
          <p:nvSpPr>
            <p:cNvPr id="33" name="Text Box 48">
              <a:extLst>
                <a:ext uri="{FF2B5EF4-FFF2-40B4-BE49-F238E27FC236}">
                  <a16:creationId xmlns:a16="http://schemas.microsoft.com/office/drawing/2014/main" id="{A947D744-4D32-2824-7301-B0C37072BD6F}"/>
                </a:ext>
              </a:extLst>
            </p:cNvPr>
            <p:cNvSpPr txBox="1">
              <a:spLocks noChangeAspect="1" noChangeArrowheads="1"/>
            </p:cNvSpPr>
            <p:nvPr/>
          </p:nvSpPr>
          <p:spPr bwMode="auto">
            <a:xfrm>
              <a:off x="4338" y="2605"/>
              <a:ext cx="2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fontAlgn="auto" hangingPunct="1">
                <a:spcBef>
                  <a:spcPts val="0"/>
                </a:spcBef>
                <a:spcAft>
                  <a:spcPts val="0"/>
                </a:spcAft>
              </a:pPr>
              <a:r>
                <a:rPr lang="en-US" altLang="zh-CN" b="0" i="0" kern="0" dirty="0">
                  <a:solidFill>
                    <a:srgbClr val="000000"/>
                  </a:solidFill>
                  <a:latin typeface="+mj-lt"/>
                  <a:ea typeface="宋体" panose="02010600030101010101" pitchFamily="2" charset="-122"/>
                </a:rPr>
                <a:t>1</a:t>
              </a:r>
            </a:p>
          </p:txBody>
        </p:sp>
        <p:sp>
          <p:nvSpPr>
            <p:cNvPr id="34" name="Text Box 49">
              <a:extLst>
                <a:ext uri="{FF2B5EF4-FFF2-40B4-BE49-F238E27FC236}">
                  <a16:creationId xmlns:a16="http://schemas.microsoft.com/office/drawing/2014/main" id="{EF566317-B5FF-4210-F632-12F5CFC04201}"/>
                </a:ext>
              </a:extLst>
            </p:cNvPr>
            <p:cNvSpPr txBox="1">
              <a:spLocks noChangeAspect="1" noChangeArrowheads="1"/>
            </p:cNvSpPr>
            <p:nvPr/>
          </p:nvSpPr>
          <p:spPr bwMode="auto">
            <a:xfrm>
              <a:off x="5163" y="2618"/>
              <a:ext cx="259"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fontAlgn="auto" hangingPunct="1">
                <a:spcBef>
                  <a:spcPts val="0"/>
                </a:spcBef>
                <a:spcAft>
                  <a:spcPts val="0"/>
                </a:spcAft>
              </a:pPr>
              <a:r>
                <a:rPr lang="en-US" altLang="zh-CN" b="0" i="0" kern="0" dirty="0">
                  <a:solidFill>
                    <a:srgbClr val="000000"/>
                  </a:solidFill>
                  <a:latin typeface="+mj-lt"/>
                  <a:ea typeface="宋体" panose="02010600030101010101" pitchFamily="2" charset="-122"/>
                </a:rPr>
                <a:t>2</a:t>
              </a:r>
            </a:p>
          </p:txBody>
        </p:sp>
        <p:sp>
          <p:nvSpPr>
            <p:cNvPr id="35" name="Text Box 50">
              <a:extLst>
                <a:ext uri="{FF2B5EF4-FFF2-40B4-BE49-F238E27FC236}">
                  <a16:creationId xmlns:a16="http://schemas.microsoft.com/office/drawing/2014/main" id="{E73EBCD5-DD58-6535-1D83-EACD9FFE6FA1}"/>
                </a:ext>
              </a:extLst>
            </p:cNvPr>
            <p:cNvSpPr txBox="1">
              <a:spLocks noChangeAspect="1" noChangeArrowheads="1"/>
            </p:cNvSpPr>
            <p:nvPr/>
          </p:nvSpPr>
          <p:spPr bwMode="auto">
            <a:xfrm>
              <a:off x="4867" y="3789"/>
              <a:ext cx="363"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fontAlgn="auto" hangingPunct="1">
                <a:spcBef>
                  <a:spcPts val="0"/>
                </a:spcBef>
                <a:spcAft>
                  <a:spcPts val="0"/>
                </a:spcAft>
              </a:pPr>
              <a:r>
                <a:rPr lang="en-US" altLang="zh-CN" b="0" kern="0" dirty="0">
                  <a:solidFill>
                    <a:srgbClr val="FF0000"/>
                  </a:solidFill>
                  <a:latin typeface="+mj-lt"/>
                  <a:ea typeface="宋体" panose="02010600030101010101" pitchFamily="2" charset="-122"/>
                </a:rPr>
                <a:t>G</a:t>
              </a:r>
            </a:p>
          </p:txBody>
        </p:sp>
        <p:grpSp>
          <p:nvGrpSpPr>
            <p:cNvPr id="36" name="Group 51">
              <a:extLst>
                <a:ext uri="{FF2B5EF4-FFF2-40B4-BE49-F238E27FC236}">
                  <a16:creationId xmlns:a16="http://schemas.microsoft.com/office/drawing/2014/main" id="{9F6A0E44-2E9F-D60E-D8A5-3A5D4D7ACEE2}"/>
                </a:ext>
              </a:extLst>
            </p:cNvPr>
            <p:cNvGrpSpPr>
              <a:grpSpLocks/>
            </p:cNvGrpSpPr>
            <p:nvPr/>
          </p:nvGrpSpPr>
          <p:grpSpPr bwMode="auto">
            <a:xfrm rot="5400000">
              <a:off x="4812" y="1507"/>
              <a:ext cx="95" cy="1426"/>
              <a:chOff x="4180" y="191"/>
              <a:chExt cx="112" cy="1798"/>
            </a:xfrm>
          </p:grpSpPr>
          <p:sp>
            <p:nvSpPr>
              <p:cNvPr id="48" name="Rectangle 52" descr="宽上对角线">
                <a:extLst>
                  <a:ext uri="{FF2B5EF4-FFF2-40B4-BE49-F238E27FC236}">
                    <a16:creationId xmlns:a16="http://schemas.microsoft.com/office/drawing/2014/main" id="{56BE75D9-61FA-3098-363F-2A339D50F0E2}"/>
                  </a:ext>
                </a:extLst>
              </p:cNvPr>
              <p:cNvSpPr>
                <a:spLocks noChangeAspect="1" noChangeArrowheads="1"/>
              </p:cNvSpPr>
              <p:nvPr/>
            </p:nvSpPr>
            <p:spPr bwMode="auto">
              <a:xfrm>
                <a:off x="4180" y="191"/>
                <a:ext cx="94" cy="1798"/>
              </a:xfrm>
              <a:prstGeom prst="rect">
                <a:avLst/>
              </a:prstGeom>
              <a:pattFill prst="wdUpDiag">
                <a:fgClr>
                  <a:srgbClr val="000000"/>
                </a:fgClr>
                <a:bgClr>
                  <a:srgbClr val="99FFCC"/>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49" name="Line 53">
                <a:extLst>
                  <a:ext uri="{FF2B5EF4-FFF2-40B4-BE49-F238E27FC236}">
                    <a16:creationId xmlns:a16="http://schemas.microsoft.com/office/drawing/2014/main" id="{2CFCD11A-C114-BD72-5D81-D16F7C84CDFA}"/>
                  </a:ext>
                </a:extLst>
              </p:cNvPr>
              <p:cNvSpPr>
                <a:spLocks noChangeAspect="1" noChangeShapeType="1"/>
              </p:cNvSpPr>
              <p:nvPr/>
            </p:nvSpPr>
            <p:spPr bwMode="auto">
              <a:xfrm>
                <a:off x="4292" y="191"/>
                <a:ext cx="0" cy="1790"/>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37" name="Line 54">
              <a:extLst>
                <a:ext uri="{FF2B5EF4-FFF2-40B4-BE49-F238E27FC236}">
                  <a16:creationId xmlns:a16="http://schemas.microsoft.com/office/drawing/2014/main" id="{1B3F63F8-DB6D-C0A5-D33A-ACBA5CCCEE0B}"/>
                </a:ext>
              </a:extLst>
            </p:cNvPr>
            <p:cNvSpPr>
              <a:spLocks noChangeAspect="1" noChangeShapeType="1"/>
            </p:cNvSpPr>
            <p:nvPr/>
          </p:nvSpPr>
          <p:spPr bwMode="auto">
            <a:xfrm>
              <a:off x="4870" y="3667"/>
              <a:ext cx="0" cy="379"/>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38" name="Text Box 55">
              <a:extLst>
                <a:ext uri="{FF2B5EF4-FFF2-40B4-BE49-F238E27FC236}">
                  <a16:creationId xmlns:a16="http://schemas.microsoft.com/office/drawing/2014/main" id="{6D55FBF6-AB6D-BD9A-9BE1-A4AB960841DF}"/>
                </a:ext>
              </a:extLst>
            </p:cNvPr>
            <p:cNvSpPr txBox="1">
              <a:spLocks noChangeAspect="1" noChangeArrowheads="1"/>
            </p:cNvSpPr>
            <p:nvPr/>
          </p:nvSpPr>
          <p:spPr bwMode="auto">
            <a:xfrm>
              <a:off x="4918" y="3118"/>
              <a:ext cx="296"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fontAlgn="auto" hangingPunct="1">
                <a:spcBef>
                  <a:spcPts val="0"/>
                </a:spcBef>
                <a:spcAft>
                  <a:spcPts val="0"/>
                </a:spcAft>
              </a:pPr>
              <a:r>
                <a:rPr lang="en-US" altLang="zh-CN" b="0" kern="0" dirty="0">
                  <a:solidFill>
                    <a:srgbClr val="000000"/>
                  </a:solidFill>
                  <a:latin typeface="+mj-lt"/>
                  <a:ea typeface="宋体" panose="02010600030101010101" pitchFamily="2" charset="-122"/>
                </a:rPr>
                <a:t>A</a:t>
              </a:r>
            </a:p>
          </p:txBody>
        </p:sp>
        <p:sp>
          <p:nvSpPr>
            <p:cNvPr id="39" name="Oval 56">
              <a:extLst>
                <a:ext uri="{FF2B5EF4-FFF2-40B4-BE49-F238E27FC236}">
                  <a16:creationId xmlns:a16="http://schemas.microsoft.com/office/drawing/2014/main" id="{587AD6FB-DCC4-E4E6-2904-C13DAF769B37}"/>
                </a:ext>
              </a:extLst>
            </p:cNvPr>
            <p:cNvSpPr>
              <a:spLocks noChangeAspect="1" noChangeArrowheads="1"/>
            </p:cNvSpPr>
            <p:nvPr/>
          </p:nvSpPr>
          <p:spPr bwMode="auto">
            <a:xfrm rot="5400000">
              <a:off x="4281" y="2216"/>
              <a:ext cx="90" cy="90"/>
            </a:xfrm>
            <a:prstGeom prst="ellipse">
              <a:avLst/>
            </a:prstGeom>
            <a:solidFill>
              <a:srgbClr val="FF00FF"/>
            </a:solidFill>
            <a:ln w="38100">
              <a:solidFill>
                <a:srgbClr val="000000"/>
              </a:solidFill>
              <a:round/>
              <a:headEnd/>
              <a:tailEnd/>
            </a:ln>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40" name="Oval 57">
              <a:extLst>
                <a:ext uri="{FF2B5EF4-FFF2-40B4-BE49-F238E27FC236}">
                  <a16:creationId xmlns:a16="http://schemas.microsoft.com/office/drawing/2014/main" id="{3C83EB93-D461-45E0-082B-A58289A85628}"/>
                </a:ext>
              </a:extLst>
            </p:cNvPr>
            <p:cNvSpPr>
              <a:spLocks noChangeAspect="1" noChangeArrowheads="1"/>
            </p:cNvSpPr>
            <p:nvPr/>
          </p:nvSpPr>
          <p:spPr bwMode="auto">
            <a:xfrm rot="5400000">
              <a:off x="5375" y="2219"/>
              <a:ext cx="90" cy="90"/>
            </a:xfrm>
            <a:prstGeom prst="ellipse">
              <a:avLst/>
            </a:prstGeom>
            <a:solidFill>
              <a:srgbClr val="FF00FF"/>
            </a:solidFill>
            <a:ln w="38100" algn="ctr">
              <a:solidFill>
                <a:srgbClr val="000000"/>
              </a:solidFill>
              <a:round/>
              <a:headEnd/>
              <a:tailEnd/>
            </a:ln>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41" name="Line 58">
              <a:extLst>
                <a:ext uri="{FF2B5EF4-FFF2-40B4-BE49-F238E27FC236}">
                  <a16:creationId xmlns:a16="http://schemas.microsoft.com/office/drawing/2014/main" id="{B9338139-BB6D-A849-B92C-C159035C1C26}"/>
                </a:ext>
              </a:extLst>
            </p:cNvPr>
            <p:cNvSpPr>
              <a:spLocks noChangeShapeType="1"/>
            </p:cNvSpPr>
            <p:nvPr/>
          </p:nvSpPr>
          <p:spPr bwMode="auto">
            <a:xfrm>
              <a:off x="4871" y="3296"/>
              <a:ext cx="0" cy="313"/>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42" name="Rectangle 59">
              <a:extLst>
                <a:ext uri="{FF2B5EF4-FFF2-40B4-BE49-F238E27FC236}">
                  <a16:creationId xmlns:a16="http://schemas.microsoft.com/office/drawing/2014/main" id="{A3D7C55D-07C6-08A5-D771-3D83F635697D}"/>
                </a:ext>
              </a:extLst>
            </p:cNvPr>
            <p:cNvSpPr>
              <a:spLocks noChangeArrowheads="1"/>
            </p:cNvSpPr>
            <p:nvPr/>
          </p:nvSpPr>
          <p:spPr bwMode="auto">
            <a:xfrm>
              <a:off x="4728" y="3593"/>
              <a:ext cx="279" cy="152"/>
            </a:xfrm>
            <a:prstGeom prst="rect">
              <a:avLst/>
            </a:prstGeom>
            <a:gradFill rotWithShape="1">
              <a:gsLst>
                <a:gs pos="0">
                  <a:srgbClr val="FFFFFF">
                    <a:gamma/>
                    <a:shade val="19216"/>
                    <a:invGamma/>
                  </a:srgbClr>
                </a:gs>
                <a:gs pos="50000">
                  <a:srgbClr val="FFFFFF"/>
                </a:gs>
                <a:gs pos="100000">
                  <a:srgbClr val="FFFFFF">
                    <a:gamma/>
                    <a:shade val="19216"/>
                    <a:invGamma/>
                  </a:srgbClr>
                </a:gs>
              </a:gsLst>
              <a:lin ang="0" scaled="1"/>
            </a:gradFill>
            <a:ln w="28575">
              <a:solidFill>
                <a:srgbClr val="000000"/>
              </a:solidFill>
              <a:miter lim="800000"/>
              <a:headEnd/>
              <a:tailEnd/>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itchFamily="2" charset="-122"/>
              </a:endParaRPr>
            </a:p>
          </p:txBody>
        </p:sp>
        <p:sp>
          <p:nvSpPr>
            <p:cNvPr id="43" name="Oval 60">
              <a:extLst>
                <a:ext uri="{FF2B5EF4-FFF2-40B4-BE49-F238E27FC236}">
                  <a16:creationId xmlns:a16="http://schemas.microsoft.com/office/drawing/2014/main" id="{31880B3B-5010-5CED-D14B-00759401BB50}"/>
                </a:ext>
              </a:extLst>
            </p:cNvPr>
            <p:cNvSpPr>
              <a:spLocks noChangeAspect="1" noChangeArrowheads="1"/>
            </p:cNvSpPr>
            <p:nvPr/>
          </p:nvSpPr>
          <p:spPr bwMode="auto">
            <a:xfrm>
              <a:off x="4825" y="3253"/>
              <a:ext cx="90" cy="90"/>
            </a:xfrm>
            <a:prstGeom prst="ellipse">
              <a:avLst/>
            </a:prstGeom>
            <a:solidFill>
              <a:srgbClr val="FF00FF"/>
            </a:solidFill>
            <a:ln w="38100" algn="ctr">
              <a:solidFill>
                <a:srgbClr val="000000"/>
              </a:solidFill>
              <a:round/>
              <a:headEnd/>
              <a:tailEnd/>
            </a:ln>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44" name="Line 61">
              <a:extLst>
                <a:ext uri="{FF2B5EF4-FFF2-40B4-BE49-F238E27FC236}">
                  <a16:creationId xmlns:a16="http://schemas.microsoft.com/office/drawing/2014/main" id="{6B8FF943-C649-33D1-370A-095C507CA99A}"/>
                </a:ext>
              </a:extLst>
            </p:cNvPr>
            <p:cNvSpPr>
              <a:spLocks noChangeShapeType="1"/>
            </p:cNvSpPr>
            <p:nvPr/>
          </p:nvSpPr>
          <p:spPr bwMode="auto">
            <a:xfrm flipV="1">
              <a:off x="4871" y="2270"/>
              <a:ext cx="0" cy="1000"/>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45" name="Oval 62">
              <a:extLst>
                <a:ext uri="{FF2B5EF4-FFF2-40B4-BE49-F238E27FC236}">
                  <a16:creationId xmlns:a16="http://schemas.microsoft.com/office/drawing/2014/main" id="{2A6D0E8D-9EC2-05D3-6F42-D1028EB82449}"/>
                </a:ext>
              </a:extLst>
            </p:cNvPr>
            <p:cNvSpPr>
              <a:spLocks noChangeAspect="1" noChangeArrowheads="1"/>
            </p:cNvSpPr>
            <p:nvPr/>
          </p:nvSpPr>
          <p:spPr bwMode="auto">
            <a:xfrm>
              <a:off x="4824" y="2220"/>
              <a:ext cx="90" cy="90"/>
            </a:xfrm>
            <a:prstGeom prst="ellipse">
              <a:avLst/>
            </a:prstGeom>
            <a:solidFill>
              <a:srgbClr val="FF00FF"/>
            </a:solidFill>
            <a:ln w="38100" algn="ctr">
              <a:solidFill>
                <a:srgbClr val="000000"/>
              </a:solidFill>
              <a:round/>
              <a:headEnd/>
              <a:tailEnd/>
            </a:ln>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46" name="Text Box 63">
              <a:extLst>
                <a:ext uri="{FF2B5EF4-FFF2-40B4-BE49-F238E27FC236}">
                  <a16:creationId xmlns:a16="http://schemas.microsoft.com/office/drawing/2014/main" id="{F402CA30-F74B-821C-855E-8FAEDDD7259D}"/>
                </a:ext>
              </a:extLst>
            </p:cNvPr>
            <p:cNvSpPr txBox="1">
              <a:spLocks noChangeAspect="1" noChangeArrowheads="1"/>
            </p:cNvSpPr>
            <p:nvPr/>
          </p:nvSpPr>
          <p:spPr bwMode="auto">
            <a:xfrm>
              <a:off x="4857" y="2214"/>
              <a:ext cx="215" cy="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fontAlgn="auto" hangingPunct="1">
                <a:spcBef>
                  <a:spcPts val="0"/>
                </a:spcBef>
                <a:spcAft>
                  <a:spcPts val="0"/>
                </a:spcAft>
              </a:pPr>
              <a:r>
                <a:rPr lang="en-US" altLang="zh-CN" b="0" kern="0" dirty="0">
                  <a:solidFill>
                    <a:srgbClr val="000000"/>
                  </a:solidFill>
                  <a:latin typeface="+mj-lt"/>
                  <a:ea typeface="宋体" panose="02010600030101010101" pitchFamily="2" charset="-122"/>
                </a:rPr>
                <a:t>D</a:t>
              </a:r>
            </a:p>
          </p:txBody>
        </p:sp>
        <p:sp>
          <p:nvSpPr>
            <p:cNvPr id="47" name="Text Box 64">
              <a:extLst>
                <a:ext uri="{FF2B5EF4-FFF2-40B4-BE49-F238E27FC236}">
                  <a16:creationId xmlns:a16="http://schemas.microsoft.com/office/drawing/2014/main" id="{7163C3F1-E79B-6921-EA04-3F93C1E7AAF9}"/>
                </a:ext>
              </a:extLst>
            </p:cNvPr>
            <p:cNvSpPr txBox="1">
              <a:spLocks noChangeAspect="1" noChangeArrowheads="1"/>
            </p:cNvSpPr>
            <p:nvPr/>
          </p:nvSpPr>
          <p:spPr bwMode="auto">
            <a:xfrm>
              <a:off x="4837" y="2588"/>
              <a:ext cx="2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fontAlgn="auto" hangingPunct="1">
                <a:spcBef>
                  <a:spcPts val="0"/>
                </a:spcBef>
                <a:spcAft>
                  <a:spcPts val="0"/>
                </a:spcAft>
              </a:pPr>
              <a:r>
                <a:rPr lang="en-US" altLang="zh-CN" b="0" i="0" kern="0" dirty="0">
                  <a:solidFill>
                    <a:srgbClr val="000000"/>
                  </a:solidFill>
                  <a:latin typeface="+mj-lt"/>
                  <a:ea typeface="宋体" panose="02010600030101010101" pitchFamily="2" charset="-122"/>
                </a:rPr>
                <a:t>3</a:t>
              </a:r>
            </a:p>
          </p:txBody>
        </p:sp>
      </p:grpSp>
    </p:spTree>
    <p:extLst>
      <p:ext uri="{BB962C8B-B14F-4D97-AF65-F5344CB8AC3E}">
        <p14:creationId xmlns:p14="http://schemas.microsoft.com/office/powerpoint/2010/main" val="2461139752"/>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p:bldP spid="9" grpId="0" autoUpdateAnimBg="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711605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第八章   拉压、剪切与挤压的强度计算</a:t>
            </a:r>
          </a:p>
        </p:txBody>
      </p:sp>
      <p:sp>
        <p:nvSpPr>
          <p:cNvPr id="19" name="矩形 18">
            <a:extLst>
              <a:ext uri="{FF2B5EF4-FFF2-40B4-BE49-F238E27FC236}">
                <a16:creationId xmlns:a16="http://schemas.microsoft.com/office/drawing/2014/main" id="{396E3A4E-3DCE-51D1-DE56-78AC0CFE008B}"/>
              </a:ext>
            </a:extLst>
          </p:cNvPr>
          <p:cNvSpPr/>
          <p:nvPr/>
        </p:nvSpPr>
        <p:spPr>
          <a:xfrm>
            <a:off x="551383" y="820392"/>
            <a:ext cx="6920757" cy="1311128"/>
          </a:xfrm>
          <a:prstGeom prst="rect">
            <a:avLst/>
          </a:prstGeom>
        </p:spPr>
        <p:txBody>
          <a:bodyPr wrap="square">
            <a:spAutoFit/>
          </a:bodyPr>
          <a:lstStyle/>
          <a:p>
            <a:pPr marL="0" marR="0" lvl="0" indent="0" algn="just" defTabSz="914400" rtl="0" eaLnBrk="1" fontAlgn="base" latinLnBrk="0" hangingPunct="1">
              <a:lnSpc>
                <a:spcPct val="110000"/>
              </a:lnSpc>
              <a:spcBef>
                <a:spcPct val="0"/>
              </a:spcBef>
              <a:spcAft>
                <a:spcPct val="0"/>
              </a:spcAft>
              <a:buClrTx/>
              <a:buSzTx/>
              <a:buFontTx/>
              <a:buNone/>
              <a:tabLst/>
              <a:defRPr/>
            </a:pPr>
            <a:r>
              <a:rPr lang="zh-CN" altLang="en-US" i="0" dirty="0">
                <a:solidFill>
                  <a:srgbClr val="0033CC"/>
                </a:solidFill>
                <a:ea typeface="黑体" panose="02010609060101010101" pitchFamily="49" charset="-122"/>
              </a:rPr>
              <a:t>例</a:t>
            </a:r>
            <a:r>
              <a:rPr lang="zh-CN" altLang="en-US" i="0" dirty="0">
                <a:solidFill>
                  <a:schemeClr val="tx1"/>
                </a:solidFill>
                <a:ea typeface="黑体" panose="02010609060101010101" pitchFamily="49" charset="-122"/>
              </a:rPr>
              <a:t>  </a:t>
            </a:r>
            <a:r>
              <a:rPr kumimoji="1" lang="zh-CN" altLang="en-US" sz="240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试求图中各杆的轴力。已知杆</a:t>
            </a: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l</a:t>
            </a:r>
            <a:r>
              <a:rPr kumimoji="1" lang="zh-CN" altLang="en-US" sz="240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和杆</a:t>
            </a:r>
            <a:r>
              <a:rPr kumimoji="1" lang="en-US" altLang="zh-CN" b="0" i="0" dirty="0">
                <a:solidFill>
                  <a:schemeClr val="tx1"/>
                </a:solidFill>
                <a:ea typeface="黑体" panose="02010609060101010101" pitchFamily="49" charset="-122"/>
              </a:rPr>
              <a:t>2</a:t>
            </a:r>
            <a:r>
              <a:rPr kumimoji="1" lang="zh-CN" altLang="en-US" sz="240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的材料与横截面均相同，其抗拉刚度为</a:t>
            </a:r>
            <a:r>
              <a:rPr kumimoji="1" lang="en-US" altLang="zh-CN" sz="2400" b="0"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E</a:t>
            </a:r>
            <a:r>
              <a:rPr kumimoji="1" lang="en-US" altLang="zh-CN" sz="2400" b="0" i="0" u="none" strike="noStrike" kern="1200" cap="none" spc="0" normalizeH="0" baseline="-25000" noProof="0" dirty="0">
                <a:ln>
                  <a:noFill/>
                </a:ln>
                <a:solidFill>
                  <a:schemeClr val="tx1"/>
                </a:solidFill>
                <a:effectLst/>
                <a:uLnTx/>
                <a:uFillTx/>
                <a:latin typeface="Times New Roman" panose="02020603050405020304" pitchFamily="18" charset="0"/>
                <a:ea typeface="黑体" panose="02010609060101010101" pitchFamily="49" charset="-122"/>
                <a:cs typeface="+mn-cs"/>
              </a:rPr>
              <a:t>1</a:t>
            </a:r>
            <a:r>
              <a:rPr kumimoji="1" lang="en-US" altLang="zh-CN" sz="2400" b="0"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A</a:t>
            </a:r>
            <a:r>
              <a:rPr kumimoji="1" lang="en-US" altLang="zh-CN" sz="2400" b="0" i="0" u="none" strike="noStrike" kern="1200" cap="none" spc="0" normalizeH="0" baseline="-25000" noProof="0" dirty="0">
                <a:ln>
                  <a:noFill/>
                </a:ln>
                <a:solidFill>
                  <a:schemeClr val="tx1"/>
                </a:solidFill>
                <a:effectLst/>
                <a:uLnTx/>
                <a:uFillTx/>
                <a:latin typeface="Times New Roman" panose="02020603050405020304" pitchFamily="18" charset="0"/>
                <a:ea typeface="黑体" panose="02010609060101010101" pitchFamily="49" charset="-122"/>
                <a:cs typeface="+mn-cs"/>
              </a:rPr>
              <a:t>1</a:t>
            </a:r>
            <a:r>
              <a:rPr kumimoji="1" lang="zh-CN" altLang="en-US" sz="240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，杆</a:t>
            </a: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3</a:t>
            </a:r>
            <a:r>
              <a:rPr kumimoji="1" lang="zh-CN" altLang="en-US" sz="240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的抗拉刚度为</a:t>
            </a:r>
            <a:r>
              <a:rPr kumimoji="1" lang="en-US" altLang="zh-CN" sz="2400" b="0"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E</a:t>
            </a:r>
            <a:r>
              <a:rPr kumimoji="1" lang="en-US" altLang="zh-CN" sz="2400" b="0" i="0" u="none" strike="noStrike" kern="1200" cap="none" spc="0" normalizeH="0" baseline="-25000" noProof="0" dirty="0">
                <a:ln>
                  <a:noFill/>
                </a:ln>
                <a:solidFill>
                  <a:schemeClr val="tx1"/>
                </a:solidFill>
                <a:effectLst/>
                <a:uLnTx/>
                <a:uFillTx/>
                <a:latin typeface="Times New Roman" panose="02020603050405020304" pitchFamily="18" charset="0"/>
                <a:ea typeface="黑体" panose="02010609060101010101" pitchFamily="49" charset="-122"/>
                <a:cs typeface="+mn-cs"/>
              </a:rPr>
              <a:t>3</a:t>
            </a:r>
            <a:r>
              <a:rPr kumimoji="1" lang="en-US" altLang="zh-CN" sz="2400" b="0"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A</a:t>
            </a:r>
            <a:r>
              <a:rPr kumimoji="1" lang="en-US" altLang="zh-CN" sz="2400" b="0" i="0" u="none" strike="noStrike" kern="1200" cap="none" spc="0" normalizeH="0" baseline="-25000" noProof="0" dirty="0">
                <a:ln>
                  <a:noFill/>
                </a:ln>
                <a:solidFill>
                  <a:schemeClr val="tx1"/>
                </a:solidFill>
                <a:effectLst/>
                <a:uLnTx/>
                <a:uFillTx/>
                <a:latin typeface="Times New Roman" panose="02020603050405020304" pitchFamily="18" charset="0"/>
                <a:ea typeface="黑体" panose="02010609060101010101" pitchFamily="49" charset="-122"/>
                <a:cs typeface="+mn-cs"/>
              </a:rPr>
              <a:t>3</a:t>
            </a:r>
            <a:r>
              <a:rPr kumimoji="1" lang="zh-CN" altLang="en-US" sz="240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，夹角为</a:t>
            </a:r>
            <a:r>
              <a:rPr kumimoji="1" lang="zh-CN" altLang="en-US" sz="2400" b="0"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sym typeface="Symbol" panose="05050102010706020507" pitchFamily="18" charset="2"/>
              </a:rPr>
              <a:t></a:t>
            </a:r>
            <a:r>
              <a:rPr kumimoji="1" lang="zh-CN" altLang="en-US" sz="240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，悬挂重物的重力为</a:t>
            </a:r>
            <a:r>
              <a:rPr kumimoji="1" lang="en-US" altLang="zh-CN" sz="2400" b="0"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G</a:t>
            </a:r>
            <a:r>
              <a:rPr kumimoji="1" lang="zh-CN" altLang="en-US" sz="240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 </a:t>
            </a:r>
            <a:r>
              <a:rPr lang="zh-CN" altLang="en-US" i="0" dirty="0">
                <a:solidFill>
                  <a:schemeClr val="tx1"/>
                </a:solidFill>
                <a:latin typeface="+mn-lt"/>
                <a:ea typeface="黑体" panose="02010609060101010101" pitchFamily="49" charset="-122"/>
              </a:rPr>
              <a:t> </a:t>
            </a:r>
          </a:p>
        </p:txBody>
      </p:sp>
      <p:sp>
        <p:nvSpPr>
          <p:cNvPr id="136" name="矩形 135">
            <a:extLst>
              <a:ext uri="{FF2B5EF4-FFF2-40B4-BE49-F238E27FC236}">
                <a16:creationId xmlns:a16="http://schemas.microsoft.com/office/drawing/2014/main" id="{396E3A4E-3DCE-51D1-DE56-78AC0CFE008B}"/>
              </a:ext>
            </a:extLst>
          </p:cNvPr>
          <p:cNvSpPr/>
          <p:nvPr/>
        </p:nvSpPr>
        <p:spPr>
          <a:xfrm>
            <a:off x="551383" y="2090910"/>
            <a:ext cx="7006992" cy="2336281"/>
          </a:xfrm>
          <a:prstGeom prst="rect">
            <a:avLst/>
          </a:prstGeom>
        </p:spPr>
        <p:txBody>
          <a:bodyPr wrap="square">
            <a:spAutoFit/>
          </a:bodyPr>
          <a:lstStyle/>
          <a:p>
            <a:pPr algn="l" eaLnBrk="1" hangingPunct="1">
              <a:lnSpc>
                <a:spcPct val="120000"/>
              </a:lnSpc>
            </a:pPr>
            <a:r>
              <a:rPr lang="zh-CN" altLang="en-US" i="0" dirty="0">
                <a:solidFill>
                  <a:srgbClr val="0033CC"/>
                </a:solidFill>
                <a:ea typeface="黑体" panose="02010609060101010101" pitchFamily="49" charset="-122"/>
              </a:rPr>
              <a:t>解  </a:t>
            </a:r>
            <a:r>
              <a:rPr kumimoji="1" lang="en-US" altLang="zh-CN" i="0" dirty="0">
                <a:solidFill>
                  <a:schemeClr val="tx1"/>
                </a:solidFill>
                <a:ea typeface="黑体" panose="02010609060101010101" pitchFamily="49" charset="-122"/>
              </a:rPr>
              <a:t>1</a:t>
            </a:r>
            <a:r>
              <a:rPr kumimoji="1" lang="zh-CN" altLang="en-US" i="0" dirty="0">
                <a:solidFill>
                  <a:schemeClr val="tx1"/>
                </a:solidFill>
                <a:ea typeface="黑体" panose="02010609060101010101" pitchFamily="49" charset="-122"/>
              </a:rPr>
              <a:t>）</a:t>
            </a:r>
            <a:r>
              <a:rPr lang="zh-CN" altLang="en-US" i="0" dirty="0">
                <a:solidFill>
                  <a:schemeClr val="tx1"/>
                </a:solidFill>
                <a:latin typeface="+mn-lt"/>
                <a:ea typeface="黑体" panose="02010609060101010101" pitchFamily="49" charset="-122"/>
              </a:rPr>
              <a:t>列平衡方程。在重力</a:t>
            </a:r>
            <a:r>
              <a:rPr lang="en-US" altLang="zh-CN" b="0" dirty="0">
                <a:solidFill>
                  <a:schemeClr val="tx1"/>
                </a:solidFill>
                <a:latin typeface="+mn-lt"/>
                <a:ea typeface="黑体" panose="02010609060101010101" pitchFamily="49" charset="-122"/>
              </a:rPr>
              <a:t>G</a:t>
            </a:r>
            <a:r>
              <a:rPr lang="zh-CN" altLang="en-US" i="0" dirty="0">
                <a:solidFill>
                  <a:schemeClr val="tx1"/>
                </a:solidFill>
                <a:latin typeface="+mn-lt"/>
                <a:ea typeface="黑体" panose="02010609060101010101" pitchFamily="49" charset="-122"/>
              </a:rPr>
              <a:t>作用下，三杆皆两端铰接且皆伸长，故可设三杆均受拉伸，作</a:t>
            </a:r>
            <a:r>
              <a:rPr lang="en-US" altLang="zh-CN" b="0" dirty="0">
                <a:solidFill>
                  <a:schemeClr val="tx1"/>
                </a:solidFill>
                <a:latin typeface="+mn-lt"/>
                <a:ea typeface="黑体" panose="02010609060101010101" pitchFamily="49" charset="-122"/>
              </a:rPr>
              <a:t>A</a:t>
            </a:r>
            <a:r>
              <a:rPr lang="zh-CN" altLang="en-US" i="0" dirty="0">
                <a:solidFill>
                  <a:schemeClr val="tx1"/>
                </a:solidFill>
                <a:latin typeface="+mn-lt"/>
                <a:ea typeface="黑体" panose="02010609060101010101" pitchFamily="49" charset="-122"/>
              </a:rPr>
              <a:t>点的受力图。列平衡方程则有</a:t>
            </a:r>
          </a:p>
          <a:p>
            <a:pPr marL="0" marR="0" lvl="0" indent="0" algn="l" defTabSz="914400" rtl="0" eaLnBrk="1" fontAlgn="base" latinLnBrk="0" hangingPunct="1">
              <a:lnSpc>
                <a:spcPct val="120000"/>
              </a:lnSpc>
              <a:spcBef>
                <a:spcPct val="0"/>
              </a:spcBef>
              <a:spcAft>
                <a:spcPct val="0"/>
              </a:spcAft>
              <a:buClrTx/>
              <a:buSzTx/>
              <a:buFontTx/>
              <a:buNone/>
              <a:tabLst/>
              <a:defRPr/>
            </a:pPr>
            <a:r>
              <a:rPr kumimoji="1" lang="en-US" altLang="zh-CN" sz="26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          ∑</a:t>
            </a:r>
            <a:r>
              <a:rPr kumimoji="1" lang="en-US" altLang="zh-CN" sz="2600" b="0" i="1" u="none" strike="noStrike" kern="1200" cap="none" spc="0" normalizeH="0" baseline="0" noProof="0" dirty="0" err="1">
                <a:ln>
                  <a:noFill/>
                </a:ln>
                <a:solidFill>
                  <a:schemeClr val="tx1"/>
                </a:solidFill>
                <a:effectLst/>
                <a:uLnTx/>
                <a:uFillTx/>
                <a:latin typeface="Times New Roman" panose="02020603050405020304" pitchFamily="18" charset="0"/>
                <a:ea typeface="黑体" panose="02010609060101010101" pitchFamily="49" charset="-122"/>
                <a:cs typeface="+mn-cs"/>
              </a:rPr>
              <a:t>F</a:t>
            </a:r>
            <a:r>
              <a:rPr kumimoji="1" lang="en-US" altLang="zh-CN" sz="2600" b="0" i="1" u="none" strike="noStrike" kern="1200" cap="none" spc="0" normalizeH="0" baseline="-25000" noProof="0" dirty="0" err="1">
                <a:ln>
                  <a:noFill/>
                </a:ln>
                <a:solidFill>
                  <a:schemeClr val="tx1"/>
                </a:solidFill>
                <a:effectLst/>
                <a:uLnTx/>
                <a:uFillTx/>
                <a:latin typeface="Times New Roman" panose="02020603050405020304" pitchFamily="18" charset="0"/>
                <a:ea typeface="黑体" panose="02010609060101010101" pitchFamily="49" charset="-122"/>
                <a:cs typeface="+mn-cs"/>
              </a:rPr>
              <a:t>x</a:t>
            </a:r>
            <a:r>
              <a:rPr kumimoji="1" lang="en-US" altLang="zh-CN" sz="26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=0</a:t>
            </a:r>
            <a:r>
              <a:rPr kumimoji="1" lang="zh-CN" altLang="en-US" sz="26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a:t>
            </a:r>
            <a:r>
              <a:rPr kumimoji="1" lang="en-US" altLang="zh-CN" sz="26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a:t>
            </a:r>
            <a:r>
              <a:rPr kumimoji="1" lang="en-US" altLang="zh-CN" sz="2600" b="0"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F</a:t>
            </a:r>
            <a:r>
              <a:rPr kumimoji="1" lang="en-US" altLang="zh-CN" sz="2600" b="0" i="0" u="none" strike="noStrike" kern="1200" cap="none" spc="0" normalizeH="0" baseline="-25000" noProof="0" dirty="0">
                <a:ln>
                  <a:noFill/>
                </a:ln>
                <a:solidFill>
                  <a:schemeClr val="tx1"/>
                </a:solidFill>
                <a:effectLst/>
                <a:uLnTx/>
                <a:uFillTx/>
                <a:latin typeface="Times New Roman" panose="02020603050405020304" pitchFamily="18" charset="0"/>
                <a:ea typeface="黑体" panose="02010609060101010101" pitchFamily="49" charset="-122"/>
                <a:cs typeface="+mn-cs"/>
              </a:rPr>
              <a:t>N1</a:t>
            </a: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sin</a:t>
            </a:r>
            <a:r>
              <a:rPr kumimoji="1" lang="en-US" altLang="zh-CN" sz="2600" b="0"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sym typeface="Symbol" panose="05050102010706020507" pitchFamily="18" charset="2"/>
              </a:rPr>
              <a:t></a:t>
            </a:r>
            <a:r>
              <a:rPr kumimoji="1" lang="en-US" altLang="zh-CN" sz="26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a:t>
            </a:r>
            <a:r>
              <a:rPr kumimoji="1" lang="en-US" altLang="zh-CN" sz="2600" b="0"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F</a:t>
            </a:r>
            <a:r>
              <a:rPr kumimoji="1" lang="en-US" altLang="zh-CN" sz="2600" b="0" i="0" u="none" strike="noStrike" kern="1200" cap="none" spc="0" normalizeH="0" baseline="-25000" noProof="0" dirty="0">
                <a:ln>
                  <a:noFill/>
                </a:ln>
                <a:solidFill>
                  <a:schemeClr val="tx1"/>
                </a:solidFill>
                <a:effectLst/>
                <a:uLnTx/>
                <a:uFillTx/>
                <a:latin typeface="Times New Roman" panose="02020603050405020304" pitchFamily="18" charset="0"/>
                <a:ea typeface="黑体" panose="02010609060101010101" pitchFamily="49" charset="-122"/>
                <a:cs typeface="+mn-cs"/>
              </a:rPr>
              <a:t>N2</a:t>
            </a: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sin</a:t>
            </a:r>
            <a:r>
              <a:rPr kumimoji="1" lang="en-US" altLang="zh-CN" sz="2600" b="0"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sym typeface="Symbol" panose="05050102010706020507" pitchFamily="18" charset="2"/>
              </a:rPr>
              <a:t></a:t>
            </a:r>
            <a:r>
              <a:rPr kumimoji="1" lang="en-US" altLang="zh-CN" sz="26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=0</a:t>
            </a:r>
          </a:p>
          <a:p>
            <a:pPr marL="0" marR="0" lvl="0" indent="0" algn="l" defTabSz="914400" rtl="0" eaLnBrk="1" fontAlgn="base" latinLnBrk="0" hangingPunct="1">
              <a:lnSpc>
                <a:spcPct val="120000"/>
              </a:lnSpc>
              <a:spcBef>
                <a:spcPct val="0"/>
              </a:spcBef>
              <a:spcAft>
                <a:spcPct val="0"/>
              </a:spcAft>
              <a:buClrTx/>
              <a:buSzTx/>
              <a:buFontTx/>
              <a:buNone/>
              <a:tabLst/>
              <a:defRPr/>
            </a:pPr>
            <a:r>
              <a:rPr kumimoji="1" lang="en-US" altLang="zh-CN" sz="26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          ∑</a:t>
            </a:r>
            <a:r>
              <a:rPr kumimoji="1" lang="en-US" altLang="zh-CN" sz="2600" b="0" i="1" u="none" strike="noStrike" kern="1200" cap="none" spc="0" normalizeH="0" baseline="0" noProof="0" dirty="0" err="1">
                <a:ln>
                  <a:noFill/>
                </a:ln>
                <a:solidFill>
                  <a:schemeClr val="tx1"/>
                </a:solidFill>
                <a:effectLst/>
                <a:uLnTx/>
                <a:uFillTx/>
                <a:latin typeface="Times New Roman" panose="02020603050405020304" pitchFamily="18" charset="0"/>
                <a:ea typeface="黑体" panose="02010609060101010101" pitchFamily="49" charset="-122"/>
                <a:cs typeface="+mn-cs"/>
              </a:rPr>
              <a:t>F</a:t>
            </a:r>
            <a:r>
              <a:rPr kumimoji="1" lang="en-US" altLang="zh-CN" sz="2600" b="0" i="1" u="none" strike="noStrike" kern="1200" cap="none" spc="0" normalizeH="0" baseline="-25000" noProof="0" dirty="0" err="1">
                <a:ln>
                  <a:noFill/>
                </a:ln>
                <a:solidFill>
                  <a:schemeClr val="tx1"/>
                </a:solidFill>
                <a:effectLst/>
                <a:uLnTx/>
                <a:uFillTx/>
                <a:latin typeface="Times New Roman" panose="02020603050405020304" pitchFamily="18" charset="0"/>
                <a:ea typeface="黑体" panose="02010609060101010101" pitchFamily="49" charset="-122"/>
                <a:cs typeface="+mn-cs"/>
              </a:rPr>
              <a:t>y</a:t>
            </a:r>
            <a:r>
              <a:rPr kumimoji="1" lang="en-US" altLang="zh-CN" sz="26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=0</a:t>
            </a:r>
            <a:r>
              <a:rPr kumimoji="1" lang="zh-CN" altLang="en-US" sz="26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a:t>
            </a:r>
            <a:r>
              <a:rPr kumimoji="1" lang="en-US" altLang="zh-CN" sz="2600" b="0"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F</a:t>
            </a:r>
            <a:r>
              <a:rPr kumimoji="1" lang="en-US" altLang="zh-CN" sz="2600" b="0" i="0" u="none" strike="noStrike" kern="1200" cap="none" spc="0" normalizeH="0" baseline="-25000" noProof="0" dirty="0">
                <a:ln>
                  <a:noFill/>
                </a:ln>
                <a:solidFill>
                  <a:schemeClr val="tx1"/>
                </a:solidFill>
                <a:effectLst/>
                <a:uLnTx/>
                <a:uFillTx/>
                <a:latin typeface="Times New Roman" panose="02020603050405020304" pitchFamily="18" charset="0"/>
                <a:ea typeface="黑体" panose="02010609060101010101" pitchFamily="49" charset="-122"/>
                <a:cs typeface="+mn-cs"/>
              </a:rPr>
              <a:t>N3</a:t>
            </a:r>
            <a:r>
              <a:rPr kumimoji="1" lang="en-US" altLang="zh-CN" sz="26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sym typeface="Symbol" panose="05050102010706020507" pitchFamily="18" charset="2"/>
              </a:rPr>
              <a:t>+</a:t>
            </a:r>
            <a:r>
              <a:rPr kumimoji="1" lang="en-US" altLang="zh-CN" sz="2400" b="0"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F</a:t>
            </a:r>
            <a:r>
              <a:rPr kumimoji="1" lang="en-US" altLang="zh-CN" sz="2400" b="0" i="0" u="none" strike="noStrike" kern="1200" cap="none" spc="0" normalizeH="0" baseline="-25000" noProof="0" dirty="0">
                <a:ln>
                  <a:noFill/>
                </a:ln>
                <a:solidFill>
                  <a:schemeClr val="tx1"/>
                </a:solidFill>
                <a:effectLst/>
                <a:uLnTx/>
                <a:uFillTx/>
                <a:latin typeface="Times New Roman" panose="02020603050405020304" pitchFamily="18" charset="0"/>
                <a:ea typeface="黑体" panose="02010609060101010101" pitchFamily="49" charset="-122"/>
                <a:cs typeface="+mn-cs"/>
              </a:rPr>
              <a:t>N1</a:t>
            </a:r>
            <a:r>
              <a:rPr kumimoji="1" lang="en-US" altLang="zh-CN" sz="26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cos</a:t>
            </a:r>
            <a:r>
              <a:rPr kumimoji="1" lang="en-US" altLang="zh-CN" sz="2600" b="0"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sym typeface="Symbol" panose="05050102010706020507" pitchFamily="18" charset="2"/>
              </a:rPr>
              <a:t></a:t>
            </a: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sym typeface="Symbol" panose="05050102010706020507" pitchFamily="18" charset="2"/>
              </a:rPr>
              <a:t>+</a:t>
            </a:r>
            <a:r>
              <a:rPr kumimoji="1" lang="en-US" altLang="zh-CN" sz="2400" b="0"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F</a:t>
            </a:r>
            <a:r>
              <a:rPr kumimoji="1" lang="en-US" altLang="zh-CN" sz="2400" b="0" i="0" u="none" strike="noStrike" kern="1200" cap="none" spc="0" normalizeH="0" baseline="-25000" noProof="0" dirty="0">
                <a:ln>
                  <a:noFill/>
                </a:ln>
                <a:solidFill>
                  <a:schemeClr val="tx1"/>
                </a:solidFill>
                <a:effectLst/>
                <a:uLnTx/>
                <a:uFillTx/>
                <a:latin typeface="Times New Roman" panose="02020603050405020304" pitchFamily="18" charset="0"/>
                <a:ea typeface="黑体" panose="02010609060101010101" pitchFamily="49" charset="-122"/>
                <a:cs typeface="+mn-cs"/>
              </a:rPr>
              <a:t>N2</a:t>
            </a: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cos</a:t>
            </a:r>
            <a:r>
              <a:rPr kumimoji="1" lang="en-US" altLang="zh-CN" sz="2600" b="0"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sym typeface="Symbol" panose="05050102010706020507" pitchFamily="18" charset="2"/>
              </a:rPr>
              <a:t></a:t>
            </a:r>
            <a:r>
              <a:rPr kumimoji="1" lang="en-US" altLang="zh-CN" sz="26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a:t>
            </a:r>
            <a:r>
              <a:rPr kumimoji="1" lang="en-US" altLang="zh-CN" sz="2600" b="0"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G</a:t>
            </a:r>
            <a:r>
              <a:rPr kumimoji="1" lang="en-US" altLang="zh-CN" sz="26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=0</a:t>
            </a:r>
          </a:p>
        </p:txBody>
      </p:sp>
      <p:sp>
        <p:nvSpPr>
          <p:cNvPr id="2" name="Rectangle 61">
            <a:extLst>
              <a:ext uri="{FF2B5EF4-FFF2-40B4-BE49-F238E27FC236}">
                <a16:creationId xmlns:a16="http://schemas.microsoft.com/office/drawing/2014/main" id="{E746119E-2B09-2980-E8E2-5F100493CF6E}"/>
              </a:ext>
            </a:extLst>
          </p:cNvPr>
          <p:cNvSpPr>
            <a:spLocks noChangeArrowheads="1"/>
          </p:cNvSpPr>
          <p:nvPr/>
        </p:nvSpPr>
        <p:spPr bwMode="auto">
          <a:xfrm>
            <a:off x="7819802" y="798858"/>
            <a:ext cx="4240159" cy="5485380"/>
          </a:xfrm>
          <a:prstGeom prst="rect">
            <a:avLst/>
          </a:prstGeom>
          <a:solidFill>
            <a:srgbClr val="B9CDE5"/>
          </a:solidFill>
          <a:ln>
            <a:noFill/>
          </a:ln>
          <a:effectLst/>
        </p:spPr>
        <p:txBody>
          <a:bodyPr wrap="none" anchor="ctr"/>
          <a:lstStyle/>
          <a:p>
            <a:endParaRPr lang="zh-CN" altLang="en-US" dirty="0"/>
          </a:p>
        </p:txBody>
      </p:sp>
      <p:sp>
        <p:nvSpPr>
          <p:cNvPr id="263" name="矩形 262">
            <a:extLst>
              <a:ext uri="{FF2B5EF4-FFF2-40B4-BE49-F238E27FC236}">
                <a16:creationId xmlns:a16="http://schemas.microsoft.com/office/drawing/2014/main" id="{869757DD-0866-5287-A0EC-2DBC9D2AE5A6}"/>
              </a:ext>
            </a:extLst>
          </p:cNvPr>
          <p:cNvSpPr/>
          <p:nvPr/>
        </p:nvSpPr>
        <p:spPr>
          <a:xfrm>
            <a:off x="551383" y="4427191"/>
            <a:ext cx="4824537" cy="936347"/>
          </a:xfrm>
          <a:prstGeom prst="rect">
            <a:avLst/>
          </a:prstGeom>
        </p:spPr>
        <p:txBody>
          <a:bodyPr wrap="square">
            <a:spAutoFit/>
          </a:bodyPr>
          <a:lstStyle/>
          <a:p>
            <a:pPr lvl="0" eaLnBrk="0" hangingPunct="0">
              <a:lnSpc>
                <a:spcPct val="120000"/>
              </a:lnSpc>
            </a:pPr>
            <a:r>
              <a:rPr lang="zh-CN" altLang="en-US" i="0" dirty="0">
                <a:solidFill>
                  <a:srgbClr val="0033CC"/>
                </a:solidFill>
                <a:ea typeface="黑体" panose="02010609060101010101" pitchFamily="49" charset="-122"/>
              </a:rPr>
              <a:t>     </a:t>
            </a:r>
            <a:r>
              <a:rPr kumimoji="1" lang="en-US" altLang="zh-CN" i="0" dirty="0">
                <a:solidFill>
                  <a:schemeClr val="tx1"/>
                </a:solidFill>
                <a:ea typeface="黑体" panose="02010609060101010101" pitchFamily="49" charset="-122"/>
              </a:rPr>
              <a:t>2</a:t>
            </a:r>
            <a:r>
              <a:rPr kumimoji="1" lang="zh-CN" altLang="en-US" i="0" dirty="0">
                <a:solidFill>
                  <a:schemeClr val="tx1"/>
                </a:solidFill>
                <a:ea typeface="黑体" panose="02010609060101010101" pitchFamily="49" charset="-122"/>
              </a:rPr>
              <a:t>）变形的几何关系。</a:t>
            </a:r>
            <a:r>
              <a:rPr kumimoji="1" lang="en-US" altLang="zh-CN" i="0" dirty="0">
                <a:solidFill>
                  <a:schemeClr val="tx1"/>
                </a:solidFill>
                <a:ea typeface="黑体" panose="02010609060101010101" pitchFamily="49" charset="-122"/>
              </a:rPr>
              <a:t> </a:t>
            </a:r>
          </a:p>
          <a:p>
            <a:pPr lvl="0" eaLnBrk="0" hangingPunct="0">
              <a:lnSpc>
                <a:spcPct val="120000"/>
              </a:lnSpc>
            </a:pP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sym typeface="Symbol" panose="05050102010706020507" pitchFamily="18" charset="2"/>
              </a:rPr>
              <a:t>           </a:t>
            </a:r>
            <a:r>
              <a:rPr kumimoji="1"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sym typeface="Symbol" panose="05050102010706020507" pitchFamily="18" charset="2"/>
              </a:rPr>
              <a:t></a:t>
            </a:r>
            <a:r>
              <a:rPr kumimoji="1" lang="en-US" altLang="zh-CN" sz="2400" b="0"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sym typeface="Symbol" panose="05050102010706020507" pitchFamily="18" charset="2"/>
              </a:rPr>
              <a:t>l</a:t>
            </a:r>
            <a:r>
              <a:rPr kumimoji="1" lang="en-US" altLang="zh-CN" sz="2400" b="0" i="0" u="none" strike="noStrike" kern="1200" cap="none" spc="0" normalizeH="0" baseline="-25000" noProof="0" dirty="0">
                <a:ln>
                  <a:noFill/>
                </a:ln>
                <a:solidFill>
                  <a:schemeClr val="tx1"/>
                </a:solidFill>
                <a:effectLst/>
                <a:uLnTx/>
                <a:uFillTx/>
                <a:latin typeface="Times New Roman" panose="02020603050405020304" pitchFamily="18" charset="0"/>
                <a:ea typeface="黑体" panose="02010609060101010101" pitchFamily="49" charset="-122"/>
                <a:cs typeface="+mn-cs"/>
              </a:rPr>
              <a:t>1</a:t>
            </a:r>
            <a:r>
              <a:rPr kumimoji="1"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a:t>
            </a:r>
            <a:r>
              <a:rPr kumimoji="1"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sym typeface="Symbol" panose="05050102010706020507" pitchFamily="18" charset="2"/>
              </a:rPr>
              <a:t></a:t>
            </a:r>
            <a:r>
              <a:rPr kumimoji="1" lang="en-US" altLang="zh-CN" sz="2400" b="0"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sym typeface="Symbol" panose="05050102010706020507" pitchFamily="18" charset="2"/>
              </a:rPr>
              <a:t>l</a:t>
            </a:r>
            <a:r>
              <a:rPr kumimoji="1" lang="en-US" altLang="zh-CN" sz="2400" b="0" i="0" u="none" strike="noStrike" kern="1200" cap="none" spc="0" normalizeH="0" baseline="-25000" noProof="0" dirty="0">
                <a:ln>
                  <a:noFill/>
                </a:ln>
                <a:solidFill>
                  <a:schemeClr val="tx1"/>
                </a:solidFill>
                <a:effectLst/>
                <a:uLnTx/>
                <a:uFillTx/>
                <a:latin typeface="Times New Roman" panose="02020603050405020304" pitchFamily="18" charset="0"/>
                <a:ea typeface="黑体" panose="02010609060101010101" pitchFamily="49" charset="-122"/>
                <a:cs typeface="+mn-cs"/>
              </a:rPr>
              <a:t>2</a:t>
            </a:r>
            <a:r>
              <a:rPr kumimoji="1"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a:t>
            </a:r>
            <a:r>
              <a:rPr kumimoji="1"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sym typeface="Symbol" panose="05050102010706020507" pitchFamily="18" charset="2"/>
              </a:rPr>
              <a:t></a:t>
            </a:r>
            <a:r>
              <a:rPr kumimoji="1" lang="en-US" altLang="zh-CN" sz="2400" b="0"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sym typeface="Symbol" panose="05050102010706020507" pitchFamily="18" charset="2"/>
              </a:rPr>
              <a:t>l</a:t>
            </a:r>
            <a:r>
              <a:rPr kumimoji="1" lang="en-US" altLang="zh-CN" sz="2400" b="0" i="0" u="none" strike="noStrike" kern="1200" cap="none" spc="0" normalizeH="0" baseline="-25000" noProof="0" dirty="0">
                <a:ln>
                  <a:noFill/>
                </a:ln>
                <a:solidFill>
                  <a:schemeClr val="tx1"/>
                </a:solidFill>
                <a:effectLst/>
                <a:uLnTx/>
                <a:uFillTx/>
                <a:latin typeface="Times New Roman" panose="02020603050405020304" pitchFamily="18" charset="0"/>
                <a:ea typeface="黑体" panose="02010609060101010101" pitchFamily="49" charset="-122"/>
                <a:cs typeface="+mn-cs"/>
              </a:rPr>
              <a:t>3</a:t>
            </a: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cos</a:t>
            </a:r>
            <a:r>
              <a:rPr kumimoji="1" lang="en-US" altLang="zh-CN" sz="2400" b="0"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sym typeface="Symbol" panose="05050102010706020507" pitchFamily="18" charset="2"/>
              </a:rPr>
              <a:t></a:t>
            </a:r>
            <a:endParaRPr kumimoji="1"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endParaRPr>
          </a:p>
        </p:txBody>
      </p:sp>
      <p:sp>
        <p:nvSpPr>
          <p:cNvPr id="248" name="矩形 247">
            <a:extLst>
              <a:ext uri="{FF2B5EF4-FFF2-40B4-BE49-F238E27FC236}">
                <a16:creationId xmlns:a16="http://schemas.microsoft.com/office/drawing/2014/main" id="{B118E26E-6E8E-EA7A-5803-6F15A50C2F7F}"/>
              </a:ext>
            </a:extLst>
          </p:cNvPr>
          <p:cNvSpPr/>
          <p:nvPr/>
        </p:nvSpPr>
        <p:spPr>
          <a:xfrm>
            <a:off x="551383" y="5583236"/>
            <a:ext cx="5544616" cy="493148"/>
          </a:xfrm>
          <a:prstGeom prst="rect">
            <a:avLst/>
          </a:prstGeom>
        </p:spPr>
        <p:txBody>
          <a:bodyPr wrap="square">
            <a:spAutoFit/>
          </a:bodyPr>
          <a:lstStyle/>
          <a:p>
            <a:pPr lvl="0" eaLnBrk="0" hangingPunct="0">
              <a:lnSpc>
                <a:spcPct val="120000"/>
              </a:lnSpc>
            </a:pPr>
            <a:r>
              <a:rPr lang="zh-CN" altLang="en-US" i="0" dirty="0">
                <a:solidFill>
                  <a:srgbClr val="0033CC"/>
                </a:solidFill>
                <a:ea typeface="黑体" panose="02010609060101010101" pitchFamily="49" charset="-122"/>
              </a:rPr>
              <a:t>     </a:t>
            </a:r>
            <a:r>
              <a:rPr kumimoji="1" lang="en-US" altLang="zh-CN" i="0" dirty="0">
                <a:solidFill>
                  <a:schemeClr val="tx1"/>
                </a:solidFill>
                <a:ea typeface="黑体" panose="02010609060101010101" pitchFamily="49" charset="-122"/>
              </a:rPr>
              <a:t>3</a:t>
            </a:r>
            <a:r>
              <a:rPr kumimoji="1" lang="zh-CN" altLang="en-US" i="0" dirty="0">
                <a:solidFill>
                  <a:schemeClr val="tx1"/>
                </a:solidFill>
                <a:ea typeface="黑体" panose="02010609060101010101" pitchFamily="49" charset="-122"/>
              </a:rPr>
              <a:t>）</a:t>
            </a:r>
            <a:r>
              <a:rPr kumimoji="1" lang="zh-CN" altLang="en-US" i="0" dirty="0">
                <a:solidFill>
                  <a:schemeClr val="tx1"/>
                </a:solidFill>
                <a:latin typeface="+mn-lt"/>
                <a:ea typeface="黑体" panose="02010609060101010101" pitchFamily="49" charset="-122"/>
              </a:rPr>
              <a:t>物理关系</a:t>
            </a:r>
            <a:endParaRPr lang="zh-CN" altLang="en-US" b="0" i="0" dirty="0">
              <a:solidFill>
                <a:schemeClr val="tx1"/>
              </a:solidFill>
              <a:latin typeface="+mn-lt"/>
              <a:ea typeface="黑体" panose="02010609060101010101" pitchFamily="49" charset="-122"/>
            </a:endParaRPr>
          </a:p>
        </p:txBody>
      </p:sp>
      <p:sp>
        <p:nvSpPr>
          <p:cNvPr id="153" name="Line 43">
            <a:extLst>
              <a:ext uri="{FF2B5EF4-FFF2-40B4-BE49-F238E27FC236}">
                <a16:creationId xmlns:a16="http://schemas.microsoft.com/office/drawing/2014/main" id="{3474A5E1-1DD9-47EE-4308-353E71D221E7}"/>
              </a:ext>
            </a:extLst>
          </p:cNvPr>
          <p:cNvSpPr>
            <a:spLocks noChangeShapeType="1"/>
          </p:cNvSpPr>
          <p:nvPr/>
        </p:nvSpPr>
        <p:spPr bwMode="auto">
          <a:xfrm>
            <a:off x="8929973" y="2725392"/>
            <a:ext cx="809625" cy="0"/>
          </a:xfrm>
          <a:prstGeom prst="line">
            <a:avLst/>
          </a:prstGeom>
          <a:noFill/>
          <a:ln w="9525">
            <a:solidFill>
              <a:srgbClr val="000000"/>
            </a:solidFill>
            <a:round/>
            <a:headEnd/>
            <a:tailEnd type="stealth" w="sm" len="lg"/>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54" name="Line 44">
            <a:extLst>
              <a:ext uri="{FF2B5EF4-FFF2-40B4-BE49-F238E27FC236}">
                <a16:creationId xmlns:a16="http://schemas.microsoft.com/office/drawing/2014/main" id="{97C50C84-D04A-6A8A-41E6-ADC3CFCD951A}"/>
              </a:ext>
            </a:extLst>
          </p:cNvPr>
          <p:cNvSpPr>
            <a:spLocks noChangeShapeType="1"/>
          </p:cNvSpPr>
          <p:nvPr/>
        </p:nvSpPr>
        <p:spPr bwMode="auto">
          <a:xfrm flipV="1">
            <a:off x="8836311" y="1280767"/>
            <a:ext cx="0" cy="620712"/>
          </a:xfrm>
          <a:prstGeom prst="line">
            <a:avLst/>
          </a:prstGeom>
          <a:noFill/>
          <a:ln w="9525">
            <a:solidFill>
              <a:srgbClr val="000000"/>
            </a:solidFill>
            <a:round/>
            <a:headEnd/>
            <a:tailEnd type="stealth" w="sm" len="lg"/>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55" name="Text Box 48">
            <a:extLst>
              <a:ext uri="{FF2B5EF4-FFF2-40B4-BE49-F238E27FC236}">
                <a16:creationId xmlns:a16="http://schemas.microsoft.com/office/drawing/2014/main" id="{DC53B386-0E02-FF82-E6BB-5853C13D1013}"/>
              </a:ext>
            </a:extLst>
          </p:cNvPr>
          <p:cNvSpPr txBox="1">
            <a:spLocks noChangeAspect="1" noChangeArrowheads="1"/>
          </p:cNvSpPr>
          <p:nvPr/>
        </p:nvSpPr>
        <p:spPr bwMode="auto">
          <a:xfrm rot="4195586">
            <a:off x="9721095" y="5544508"/>
            <a:ext cx="600075" cy="57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sym typeface="Symbol" panose="05050102010706020507" pitchFamily="18" charset="2"/>
              </a:rPr>
              <a:t></a:t>
            </a: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l</a:t>
            </a:r>
            <a:r>
              <a:rPr kumimoji="1" lang="en-US" altLang="zh-CN" sz="2400" b="0" i="0" u="none" strike="noStrike" kern="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rPr>
              <a:t>1</a:t>
            </a:r>
            <a:endParaRPr kumimoji="1" lang="en-US" altLang="zh-CN" sz="2400" b="0" i="0" u="none" strike="noStrike" kern="0" cap="none" spc="0" normalizeH="0" baseline="-25000" noProof="0" dirty="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156" name="Text Box 53">
            <a:extLst>
              <a:ext uri="{FF2B5EF4-FFF2-40B4-BE49-F238E27FC236}">
                <a16:creationId xmlns:a16="http://schemas.microsoft.com/office/drawing/2014/main" id="{47699A8C-DCAF-5B11-9C48-1825ECCFA264}"/>
              </a:ext>
            </a:extLst>
          </p:cNvPr>
          <p:cNvSpPr txBox="1">
            <a:spLocks noChangeAspect="1" noChangeArrowheads="1"/>
          </p:cNvSpPr>
          <p:nvPr/>
        </p:nvSpPr>
        <p:spPr bwMode="auto">
          <a:xfrm>
            <a:off x="9466548" y="2572992"/>
            <a:ext cx="398463" cy="57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x</a:t>
            </a:r>
            <a:endPar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ndParaRPr>
          </a:p>
        </p:txBody>
      </p:sp>
      <p:sp>
        <p:nvSpPr>
          <p:cNvPr id="157" name="Text Box 86">
            <a:extLst>
              <a:ext uri="{FF2B5EF4-FFF2-40B4-BE49-F238E27FC236}">
                <a16:creationId xmlns:a16="http://schemas.microsoft.com/office/drawing/2014/main" id="{C9A8053E-8A6E-FD6B-9017-CF24ADC2C046}"/>
              </a:ext>
            </a:extLst>
          </p:cNvPr>
          <p:cNvSpPr txBox="1">
            <a:spLocks noChangeAspect="1" noChangeArrowheads="1"/>
          </p:cNvSpPr>
          <p:nvPr/>
        </p:nvSpPr>
        <p:spPr bwMode="auto">
          <a:xfrm>
            <a:off x="7906036" y="1872904"/>
            <a:ext cx="731837"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ctr" eaLnBrk="1" hangingPunct="1"/>
            <a:r>
              <a:rPr lang="en-US" altLang="zh-CN" b="0" dirty="0">
                <a:solidFill>
                  <a:srgbClr val="000000"/>
                </a:solidFill>
                <a:latin typeface="+mj-lt"/>
                <a:ea typeface="宋体" panose="02010600030101010101" pitchFamily="2" charset="-122"/>
              </a:rPr>
              <a:t>F</a:t>
            </a:r>
            <a:r>
              <a:rPr lang="en-US" altLang="zh-CN" b="0" i="0" baseline="-25000" dirty="0">
                <a:solidFill>
                  <a:srgbClr val="000000"/>
                </a:solidFill>
                <a:latin typeface="+mj-lt"/>
                <a:ea typeface="宋体" panose="02010600030101010101" pitchFamily="2" charset="-122"/>
              </a:rPr>
              <a:t>N1</a:t>
            </a:r>
            <a:endParaRPr lang="en-US" altLang="zh-CN" b="0" dirty="0">
              <a:solidFill>
                <a:srgbClr val="000000"/>
              </a:solidFill>
              <a:latin typeface="+mj-lt"/>
              <a:ea typeface="宋体" panose="02010600030101010101" pitchFamily="2" charset="-122"/>
            </a:endParaRPr>
          </a:p>
        </p:txBody>
      </p:sp>
      <p:sp>
        <p:nvSpPr>
          <p:cNvPr id="158" name="Text Box 87">
            <a:extLst>
              <a:ext uri="{FF2B5EF4-FFF2-40B4-BE49-F238E27FC236}">
                <a16:creationId xmlns:a16="http://schemas.microsoft.com/office/drawing/2014/main" id="{4A547984-7060-3FB4-D610-00325F4017A1}"/>
              </a:ext>
            </a:extLst>
          </p:cNvPr>
          <p:cNvSpPr txBox="1">
            <a:spLocks noChangeAspect="1" noChangeArrowheads="1"/>
          </p:cNvSpPr>
          <p:nvPr/>
        </p:nvSpPr>
        <p:spPr bwMode="auto">
          <a:xfrm>
            <a:off x="9104598" y="1941167"/>
            <a:ext cx="731838"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ctr" eaLnBrk="1" hangingPunct="1"/>
            <a:r>
              <a:rPr lang="en-US" altLang="zh-CN" b="0" dirty="0">
                <a:solidFill>
                  <a:srgbClr val="000000"/>
                </a:solidFill>
                <a:latin typeface="+mj-lt"/>
                <a:ea typeface="宋体" panose="02010600030101010101" pitchFamily="2" charset="-122"/>
              </a:rPr>
              <a:t>F</a:t>
            </a:r>
            <a:r>
              <a:rPr lang="en-US" altLang="zh-CN" b="0" i="0" baseline="-25000" dirty="0">
                <a:solidFill>
                  <a:srgbClr val="000000"/>
                </a:solidFill>
                <a:latin typeface="+mj-lt"/>
                <a:ea typeface="宋体" panose="02010600030101010101" pitchFamily="2" charset="-122"/>
              </a:rPr>
              <a:t>N2</a:t>
            </a:r>
            <a:endParaRPr lang="en-US" altLang="zh-CN" b="0" dirty="0">
              <a:solidFill>
                <a:srgbClr val="000000"/>
              </a:solidFill>
              <a:latin typeface="+mj-lt"/>
              <a:ea typeface="宋体" panose="02010600030101010101" pitchFamily="2" charset="-122"/>
            </a:endParaRPr>
          </a:p>
        </p:txBody>
      </p:sp>
      <p:sp>
        <p:nvSpPr>
          <p:cNvPr id="159" name="Text Box 91">
            <a:extLst>
              <a:ext uri="{FF2B5EF4-FFF2-40B4-BE49-F238E27FC236}">
                <a16:creationId xmlns:a16="http://schemas.microsoft.com/office/drawing/2014/main" id="{EC6D13E1-87F3-25D6-56CD-09DA859B064D}"/>
              </a:ext>
            </a:extLst>
          </p:cNvPr>
          <p:cNvSpPr txBox="1">
            <a:spLocks noChangeArrowheads="1"/>
          </p:cNvSpPr>
          <p:nvPr/>
        </p:nvSpPr>
        <p:spPr bwMode="auto">
          <a:xfrm>
            <a:off x="8798211" y="1107729"/>
            <a:ext cx="438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eaLnBrk="1" hangingPunct="1">
              <a:spcBef>
                <a:spcPct val="50000"/>
              </a:spcBef>
            </a:pPr>
            <a:r>
              <a:rPr lang="en-US" altLang="zh-CN" b="0">
                <a:solidFill>
                  <a:srgbClr val="000000"/>
                </a:solidFill>
                <a:latin typeface="" pitchFamily="18" charset="-52"/>
                <a:ea typeface="宋体" panose="02010600030101010101" pitchFamily="2" charset="-122"/>
              </a:rPr>
              <a:t>y</a:t>
            </a:r>
          </a:p>
        </p:txBody>
      </p:sp>
      <p:sp>
        <p:nvSpPr>
          <p:cNvPr id="288" name="Line 92">
            <a:extLst>
              <a:ext uri="{FF2B5EF4-FFF2-40B4-BE49-F238E27FC236}">
                <a16:creationId xmlns:a16="http://schemas.microsoft.com/office/drawing/2014/main" id="{3097B75F-E0BF-9586-A883-D1E25AC546DD}"/>
              </a:ext>
            </a:extLst>
          </p:cNvPr>
          <p:cNvSpPr>
            <a:spLocks noChangeAspect="1" noChangeShapeType="1"/>
          </p:cNvSpPr>
          <p:nvPr/>
        </p:nvSpPr>
        <p:spPr bwMode="auto">
          <a:xfrm rot="5400000" flipH="1">
            <a:off x="8455310" y="2245967"/>
            <a:ext cx="765175" cy="0"/>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algn="ctr"/>
            <a:endParaRPr kumimoji="1" lang="zh-CN" altLang="en-US" b="0" i="0">
              <a:solidFill>
                <a:srgbClr val="FFFFFF"/>
              </a:solidFill>
              <a:ea typeface="黑体" panose="02010609060101010101" pitchFamily="49" charset="-122"/>
            </a:endParaRPr>
          </a:p>
        </p:txBody>
      </p:sp>
      <p:grpSp>
        <p:nvGrpSpPr>
          <p:cNvPr id="289" name="Group 108">
            <a:extLst>
              <a:ext uri="{FF2B5EF4-FFF2-40B4-BE49-F238E27FC236}">
                <a16:creationId xmlns:a16="http://schemas.microsoft.com/office/drawing/2014/main" id="{BC619E27-C33A-772C-3D86-39D619B10B0B}"/>
              </a:ext>
            </a:extLst>
          </p:cNvPr>
          <p:cNvGrpSpPr>
            <a:grpSpLocks/>
          </p:cNvGrpSpPr>
          <p:nvPr/>
        </p:nvGrpSpPr>
        <p:grpSpPr bwMode="auto">
          <a:xfrm>
            <a:off x="9183973" y="820392"/>
            <a:ext cx="2279650" cy="2668588"/>
            <a:chOff x="4204" y="105"/>
            <a:chExt cx="1436" cy="1681"/>
          </a:xfrm>
        </p:grpSpPr>
        <p:sp>
          <p:nvSpPr>
            <p:cNvPr id="290" name="Text Box 66">
              <a:extLst>
                <a:ext uri="{FF2B5EF4-FFF2-40B4-BE49-F238E27FC236}">
                  <a16:creationId xmlns:a16="http://schemas.microsoft.com/office/drawing/2014/main" id="{59B1B8CA-45F7-D8AD-DF8A-68B55A5D8D8D}"/>
                </a:ext>
              </a:extLst>
            </p:cNvPr>
            <p:cNvSpPr txBox="1">
              <a:spLocks noChangeAspect="1" noChangeArrowheads="1"/>
            </p:cNvSpPr>
            <p:nvPr/>
          </p:nvSpPr>
          <p:spPr bwMode="auto">
            <a:xfrm>
              <a:off x="4204" y="162"/>
              <a:ext cx="289"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mn-lt"/>
                  <a:ea typeface="宋体" panose="02010600030101010101" pitchFamily="2" charset="-122"/>
                </a:rPr>
                <a:t>B</a:t>
              </a:r>
            </a:p>
          </p:txBody>
        </p:sp>
        <p:sp>
          <p:nvSpPr>
            <p:cNvPr id="291" name="Text Box 67">
              <a:extLst>
                <a:ext uri="{FF2B5EF4-FFF2-40B4-BE49-F238E27FC236}">
                  <a16:creationId xmlns:a16="http://schemas.microsoft.com/office/drawing/2014/main" id="{26DB887E-257F-5D3A-E166-1519D8C4522C}"/>
                </a:ext>
              </a:extLst>
            </p:cNvPr>
            <p:cNvSpPr txBox="1">
              <a:spLocks noChangeAspect="1" noChangeArrowheads="1"/>
            </p:cNvSpPr>
            <p:nvPr/>
          </p:nvSpPr>
          <p:spPr bwMode="auto">
            <a:xfrm>
              <a:off x="5415" y="155"/>
              <a:ext cx="215" cy="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fontAlgn="auto" hangingPunct="1">
                <a:spcBef>
                  <a:spcPts val="0"/>
                </a:spcBef>
                <a:spcAft>
                  <a:spcPts val="0"/>
                </a:spcAft>
              </a:pPr>
              <a:r>
                <a:rPr lang="en-US" altLang="zh-CN" b="0" kern="0" dirty="0">
                  <a:solidFill>
                    <a:srgbClr val="000000"/>
                  </a:solidFill>
                  <a:latin typeface="+mn-lt"/>
                  <a:ea typeface="宋体" panose="02010600030101010101" pitchFamily="2" charset="-122"/>
                </a:rPr>
                <a:t>C</a:t>
              </a:r>
            </a:p>
          </p:txBody>
        </p:sp>
        <p:sp>
          <p:nvSpPr>
            <p:cNvPr id="292" name="AutoShape 68">
              <a:extLst>
                <a:ext uri="{FF2B5EF4-FFF2-40B4-BE49-F238E27FC236}">
                  <a16:creationId xmlns:a16="http://schemas.microsoft.com/office/drawing/2014/main" id="{3BEB1DFA-163C-5AAB-6644-8CB9560E298F}"/>
                </a:ext>
              </a:extLst>
            </p:cNvPr>
            <p:cNvSpPr>
              <a:spLocks noChangeArrowheads="1"/>
            </p:cNvSpPr>
            <p:nvPr/>
          </p:nvSpPr>
          <p:spPr bwMode="auto">
            <a:xfrm flipV="1">
              <a:off x="4386" y="195"/>
              <a:ext cx="1110" cy="1051"/>
            </a:xfrm>
            <a:prstGeom prst="triangle">
              <a:avLst>
                <a:gd name="adj" fmla="val 50000"/>
              </a:avLst>
            </a:prstGeom>
            <a:noFill/>
            <a:ln w="571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293" name="Text Box 70">
              <a:extLst>
                <a:ext uri="{FF2B5EF4-FFF2-40B4-BE49-F238E27FC236}">
                  <a16:creationId xmlns:a16="http://schemas.microsoft.com/office/drawing/2014/main" id="{925C9EDC-3F17-F2A5-E829-424C43774401}"/>
                </a:ext>
              </a:extLst>
            </p:cNvPr>
            <p:cNvSpPr txBox="1">
              <a:spLocks noChangeAspect="1" noChangeArrowheads="1"/>
            </p:cNvSpPr>
            <p:nvPr/>
          </p:nvSpPr>
          <p:spPr bwMode="auto">
            <a:xfrm>
              <a:off x="4405" y="538"/>
              <a:ext cx="2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fontAlgn="auto" hangingPunct="1">
                <a:spcBef>
                  <a:spcPts val="0"/>
                </a:spcBef>
                <a:spcAft>
                  <a:spcPts val="0"/>
                </a:spcAft>
              </a:pPr>
              <a:r>
                <a:rPr lang="en-US" altLang="zh-CN" b="0" i="0" kern="0" dirty="0">
                  <a:solidFill>
                    <a:srgbClr val="000000"/>
                  </a:solidFill>
                  <a:latin typeface="+mj-lt"/>
                  <a:ea typeface="宋体" panose="02010600030101010101" pitchFamily="2" charset="-122"/>
                </a:rPr>
                <a:t>1</a:t>
              </a:r>
            </a:p>
          </p:txBody>
        </p:sp>
        <p:sp>
          <p:nvSpPr>
            <p:cNvPr id="294" name="Text Box 71">
              <a:extLst>
                <a:ext uri="{FF2B5EF4-FFF2-40B4-BE49-F238E27FC236}">
                  <a16:creationId xmlns:a16="http://schemas.microsoft.com/office/drawing/2014/main" id="{41C0FE18-E412-CFD3-A831-CB21F747DA9F}"/>
                </a:ext>
              </a:extLst>
            </p:cNvPr>
            <p:cNvSpPr txBox="1">
              <a:spLocks noChangeAspect="1" noChangeArrowheads="1"/>
            </p:cNvSpPr>
            <p:nvPr/>
          </p:nvSpPr>
          <p:spPr bwMode="auto">
            <a:xfrm>
              <a:off x="5230" y="551"/>
              <a:ext cx="259"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fontAlgn="auto" hangingPunct="1">
                <a:spcBef>
                  <a:spcPts val="0"/>
                </a:spcBef>
                <a:spcAft>
                  <a:spcPts val="0"/>
                </a:spcAft>
              </a:pPr>
              <a:r>
                <a:rPr lang="en-US" altLang="zh-CN" b="0" i="0" kern="0" dirty="0">
                  <a:solidFill>
                    <a:srgbClr val="000000"/>
                  </a:solidFill>
                  <a:latin typeface="+mj-lt"/>
                  <a:ea typeface="宋体" panose="02010600030101010101" pitchFamily="2" charset="-122"/>
                </a:rPr>
                <a:t>2</a:t>
              </a:r>
            </a:p>
          </p:txBody>
        </p:sp>
        <p:sp>
          <p:nvSpPr>
            <p:cNvPr id="295" name="Text Box 72">
              <a:extLst>
                <a:ext uri="{FF2B5EF4-FFF2-40B4-BE49-F238E27FC236}">
                  <a16:creationId xmlns:a16="http://schemas.microsoft.com/office/drawing/2014/main" id="{12E734AB-BA0B-75DD-DD8E-2B2F80CE47F6}"/>
                </a:ext>
              </a:extLst>
            </p:cNvPr>
            <p:cNvSpPr txBox="1">
              <a:spLocks noChangeAspect="1" noChangeArrowheads="1"/>
            </p:cNvSpPr>
            <p:nvPr/>
          </p:nvSpPr>
          <p:spPr bwMode="auto">
            <a:xfrm>
              <a:off x="4934" y="1486"/>
              <a:ext cx="363"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b="0" u="none" strike="noStrike" kern="0" cap="none" spc="0" normalizeH="0" baseline="0" noProof="0" dirty="0">
                  <a:ln>
                    <a:noFill/>
                  </a:ln>
                  <a:solidFill>
                    <a:srgbClr val="FF0000"/>
                  </a:solidFill>
                  <a:effectLst/>
                  <a:uLnTx/>
                  <a:uFillTx/>
                  <a:latin typeface="+mj-lt"/>
                  <a:ea typeface="宋体" panose="02010600030101010101" pitchFamily="2" charset="-122"/>
                </a:rPr>
                <a:t>G</a:t>
              </a:r>
            </a:p>
          </p:txBody>
        </p:sp>
        <p:grpSp>
          <p:nvGrpSpPr>
            <p:cNvPr id="296" name="Group 73">
              <a:extLst>
                <a:ext uri="{FF2B5EF4-FFF2-40B4-BE49-F238E27FC236}">
                  <a16:creationId xmlns:a16="http://schemas.microsoft.com/office/drawing/2014/main" id="{84A5CE10-EF87-4912-862C-88EF5DD07758}"/>
                </a:ext>
              </a:extLst>
            </p:cNvPr>
            <p:cNvGrpSpPr>
              <a:grpSpLocks/>
            </p:cNvGrpSpPr>
            <p:nvPr/>
          </p:nvGrpSpPr>
          <p:grpSpPr bwMode="auto">
            <a:xfrm rot="5400000">
              <a:off x="4879" y="-560"/>
              <a:ext cx="95" cy="1426"/>
              <a:chOff x="4180" y="191"/>
              <a:chExt cx="112" cy="1798"/>
            </a:xfrm>
          </p:grpSpPr>
          <p:sp>
            <p:nvSpPr>
              <p:cNvPr id="312" name="Rectangle 74" descr="宽上对角线">
                <a:extLst>
                  <a:ext uri="{FF2B5EF4-FFF2-40B4-BE49-F238E27FC236}">
                    <a16:creationId xmlns:a16="http://schemas.microsoft.com/office/drawing/2014/main" id="{68C84EB6-E964-1E4B-9241-BA36ADA4134A}"/>
                  </a:ext>
                </a:extLst>
              </p:cNvPr>
              <p:cNvSpPr>
                <a:spLocks noChangeAspect="1" noChangeArrowheads="1"/>
              </p:cNvSpPr>
              <p:nvPr/>
            </p:nvSpPr>
            <p:spPr bwMode="auto">
              <a:xfrm>
                <a:off x="4180" y="191"/>
                <a:ext cx="94" cy="1798"/>
              </a:xfrm>
              <a:prstGeom prst="rect">
                <a:avLst/>
              </a:prstGeom>
              <a:pattFill prst="wdUpDiag">
                <a:fgClr>
                  <a:srgbClr val="000000"/>
                </a:fgClr>
                <a:bgClr>
                  <a:srgbClr val="99FFCC"/>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313" name="Line 75">
                <a:extLst>
                  <a:ext uri="{FF2B5EF4-FFF2-40B4-BE49-F238E27FC236}">
                    <a16:creationId xmlns:a16="http://schemas.microsoft.com/office/drawing/2014/main" id="{B3AC4B51-23D1-0E04-AE94-DCF7F94C92EE}"/>
                  </a:ext>
                </a:extLst>
              </p:cNvPr>
              <p:cNvSpPr>
                <a:spLocks noChangeAspect="1" noChangeShapeType="1"/>
              </p:cNvSpPr>
              <p:nvPr/>
            </p:nvSpPr>
            <p:spPr bwMode="auto">
              <a:xfrm>
                <a:off x="4292" y="191"/>
                <a:ext cx="0" cy="1790"/>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297" name="Line 76">
              <a:extLst>
                <a:ext uri="{FF2B5EF4-FFF2-40B4-BE49-F238E27FC236}">
                  <a16:creationId xmlns:a16="http://schemas.microsoft.com/office/drawing/2014/main" id="{6EF03124-C80F-BF98-F115-43EE6CDFAF6E}"/>
                </a:ext>
              </a:extLst>
            </p:cNvPr>
            <p:cNvSpPr>
              <a:spLocks noChangeAspect="1" noChangeShapeType="1"/>
            </p:cNvSpPr>
            <p:nvPr/>
          </p:nvSpPr>
          <p:spPr bwMode="auto">
            <a:xfrm>
              <a:off x="4937" y="1414"/>
              <a:ext cx="0" cy="277"/>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298" name="Text Box 77">
              <a:extLst>
                <a:ext uri="{FF2B5EF4-FFF2-40B4-BE49-F238E27FC236}">
                  <a16:creationId xmlns:a16="http://schemas.microsoft.com/office/drawing/2014/main" id="{2B8F799C-93DF-358E-814B-193F500D9D82}"/>
                </a:ext>
              </a:extLst>
            </p:cNvPr>
            <p:cNvSpPr txBox="1">
              <a:spLocks noChangeAspect="1" noChangeArrowheads="1"/>
            </p:cNvSpPr>
            <p:nvPr/>
          </p:nvSpPr>
          <p:spPr bwMode="auto">
            <a:xfrm>
              <a:off x="5025" y="1051"/>
              <a:ext cx="296"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fontAlgn="auto" hangingPunct="1">
                <a:spcBef>
                  <a:spcPts val="0"/>
                </a:spcBef>
                <a:spcAft>
                  <a:spcPts val="0"/>
                </a:spcAft>
              </a:pPr>
              <a:r>
                <a:rPr lang="en-US" altLang="zh-CN" b="0" kern="0" dirty="0">
                  <a:solidFill>
                    <a:srgbClr val="000000"/>
                  </a:solidFill>
                  <a:latin typeface="+mn-lt"/>
                  <a:ea typeface="宋体" panose="02010600030101010101" pitchFamily="2" charset="-122"/>
                </a:rPr>
                <a:t>A</a:t>
              </a:r>
            </a:p>
          </p:txBody>
        </p:sp>
        <p:sp>
          <p:nvSpPr>
            <p:cNvPr id="299" name="Oval 78">
              <a:extLst>
                <a:ext uri="{FF2B5EF4-FFF2-40B4-BE49-F238E27FC236}">
                  <a16:creationId xmlns:a16="http://schemas.microsoft.com/office/drawing/2014/main" id="{5ACE6EEF-0B4D-98EF-6E56-9831CCE3025E}"/>
                </a:ext>
              </a:extLst>
            </p:cNvPr>
            <p:cNvSpPr>
              <a:spLocks noChangeAspect="1" noChangeArrowheads="1"/>
            </p:cNvSpPr>
            <p:nvPr/>
          </p:nvSpPr>
          <p:spPr bwMode="auto">
            <a:xfrm rot="5400000">
              <a:off x="4348" y="149"/>
              <a:ext cx="90" cy="90"/>
            </a:xfrm>
            <a:prstGeom prst="ellipse">
              <a:avLst/>
            </a:prstGeom>
            <a:solidFill>
              <a:srgbClr val="FF00FF"/>
            </a:solidFill>
            <a:ln w="38100">
              <a:solidFill>
                <a:srgbClr val="000000"/>
              </a:solidFill>
              <a:round/>
              <a:headEnd/>
              <a:tailEnd/>
            </a:ln>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300" name="Oval 79">
              <a:extLst>
                <a:ext uri="{FF2B5EF4-FFF2-40B4-BE49-F238E27FC236}">
                  <a16:creationId xmlns:a16="http://schemas.microsoft.com/office/drawing/2014/main" id="{A38B2CC3-FD29-C1A5-0C63-7EF903E1F293}"/>
                </a:ext>
              </a:extLst>
            </p:cNvPr>
            <p:cNvSpPr>
              <a:spLocks noChangeAspect="1" noChangeArrowheads="1"/>
            </p:cNvSpPr>
            <p:nvPr/>
          </p:nvSpPr>
          <p:spPr bwMode="auto">
            <a:xfrm rot="5400000">
              <a:off x="5442" y="152"/>
              <a:ext cx="90" cy="90"/>
            </a:xfrm>
            <a:prstGeom prst="ellipse">
              <a:avLst/>
            </a:prstGeom>
            <a:solidFill>
              <a:srgbClr val="FF00FF"/>
            </a:solidFill>
            <a:ln w="38100" algn="ctr">
              <a:solidFill>
                <a:srgbClr val="000000"/>
              </a:solidFill>
              <a:round/>
              <a:headEnd/>
              <a:tailEnd/>
            </a:ln>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301" name="Line 80">
              <a:extLst>
                <a:ext uri="{FF2B5EF4-FFF2-40B4-BE49-F238E27FC236}">
                  <a16:creationId xmlns:a16="http://schemas.microsoft.com/office/drawing/2014/main" id="{3B422F21-62C9-B5FD-A538-5E16283267AF}"/>
                </a:ext>
              </a:extLst>
            </p:cNvPr>
            <p:cNvSpPr>
              <a:spLocks noChangeShapeType="1"/>
            </p:cNvSpPr>
            <p:nvPr/>
          </p:nvSpPr>
          <p:spPr bwMode="auto">
            <a:xfrm>
              <a:off x="4938" y="1229"/>
              <a:ext cx="0" cy="156"/>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302" name="Rectangle 81">
              <a:extLst>
                <a:ext uri="{FF2B5EF4-FFF2-40B4-BE49-F238E27FC236}">
                  <a16:creationId xmlns:a16="http://schemas.microsoft.com/office/drawing/2014/main" id="{420AA27E-45EF-B380-AD6F-FDB8533C65DD}"/>
                </a:ext>
              </a:extLst>
            </p:cNvPr>
            <p:cNvSpPr>
              <a:spLocks noChangeArrowheads="1"/>
            </p:cNvSpPr>
            <p:nvPr/>
          </p:nvSpPr>
          <p:spPr bwMode="auto">
            <a:xfrm>
              <a:off x="4795" y="1340"/>
              <a:ext cx="279" cy="152"/>
            </a:xfrm>
            <a:prstGeom prst="rect">
              <a:avLst/>
            </a:prstGeom>
            <a:gradFill rotWithShape="1">
              <a:gsLst>
                <a:gs pos="0">
                  <a:srgbClr val="FFFFFF">
                    <a:gamma/>
                    <a:shade val="19216"/>
                    <a:invGamma/>
                  </a:srgbClr>
                </a:gs>
                <a:gs pos="50000">
                  <a:srgbClr val="FFFFFF"/>
                </a:gs>
                <a:gs pos="100000">
                  <a:srgbClr val="FFFFFF">
                    <a:gamma/>
                    <a:shade val="19216"/>
                    <a:invGamma/>
                  </a:srgbClr>
                </a:gs>
              </a:gsLst>
              <a:lin ang="0" scaled="1"/>
            </a:gradFill>
            <a:ln w="28575">
              <a:solidFill>
                <a:srgbClr val="000000"/>
              </a:solidFill>
              <a:miter lim="800000"/>
              <a:headEnd/>
              <a:tailEnd/>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itchFamily="2" charset="-122"/>
              </a:endParaRPr>
            </a:p>
          </p:txBody>
        </p:sp>
        <p:sp>
          <p:nvSpPr>
            <p:cNvPr id="303" name="Line 83">
              <a:extLst>
                <a:ext uri="{FF2B5EF4-FFF2-40B4-BE49-F238E27FC236}">
                  <a16:creationId xmlns:a16="http://schemas.microsoft.com/office/drawing/2014/main" id="{48651AC7-1BA9-550E-FE18-98805476EA92}"/>
                </a:ext>
              </a:extLst>
            </p:cNvPr>
            <p:cNvSpPr>
              <a:spLocks noChangeShapeType="1"/>
            </p:cNvSpPr>
            <p:nvPr/>
          </p:nvSpPr>
          <p:spPr bwMode="auto">
            <a:xfrm flipV="1">
              <a:off x="4941" y="203"/>
              <a:ext cx="0" cy="1000"/>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304" name="Oval 84">
              <a:extLst>
                <a:ext uri="{FF2B5EF4-FFF2-40B4-BE49-F238E27FC236}">
                  <a16:creationId xmlns:a16="http://schemas.microsoft.com/office/drawing/2014/main" id="{BBABEB2D-2D1C-E288-72CA-A09F50CE818C}"/>
                </a:ext>
              </a:extLst>
            </p:cNvPr>
            <p:cNvSpPr>
              <a:spLocks noChangeAspect="1" noChangeArrowheads="1"/>
            </p:cNvSpPr>
            <p:nvPr/>
          </p:nvSpPr>
          <p:spPr bwMode="auto">
            <a:xfrm>
              <a:off x="4894" y="153"/>
              <a:ext cx="90" cy="90"/>
            </a:xfrm>
            <a:prstGeom prst="ellipse">
              <a:avLst/>
            </a:prstGeom>
            <a:solidFill>
              <a:srgbClr val="FF00FF"/>
            </a:solidFill>
            <a:ln w="38100" algn="ctr">
              <a:solidFill>
                <a:srgbClr val="000000"/>
              </a:solidFill>
              <a:round/>
              <a:headEnd/>
              <a:tailEnd/>
            </a:ln>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305" name="Text Box 85">
              <a:extLst>
                <a:ext uri="{FF2B5EF4-FFF2-40B4-BE49-F238E27FC236}">
                  <a16:creationId xmlns:a16="http://schemas.microsoft.com/office/drawing/2014/main" id="{48CF5C7A-DD58-C0C2-1309-3652C4444923}"/>
                </a:ext>
              </a:extLst>
            </p:cNvPr>
            <p:cNvSpPr txBox="1">
              <a:spLocks noChangeAspect="1" noChangeArrowheads="1"/>
            </p:cNvSpPr>
            <p:nvPr/>
          </p:nvSpPr>
          <p:spPr bwMode="auto">
            <a:xfrm>
              <a:off x="4924" y="147"/>
              <a:ext cx="215" cy="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fontAlgn="auto" hangingPunct="1">
                <a:spcBef>
                  <a:spcPts val="0"/>
                </a:spcBef>
                <a:spcAft>
                  <a:spcPts val="0"/>
                </a:spcAft>
              </a:pPr>
              <a:r>
                <a:rPr lang="en-US" altLang="zh-CN" b="0" kern="0" dirty="0">
                  <a:solidFill>
                    <a:srgbClr val="000000"/>
                  </a:solidFill>
                  <a:latin typeface="+mn-lt"/>
                  <a:ea typeface="宋体" panose="02010600030101010101" pitchFamily="2" charset="-122"/>
                </a:rPr>
                <a:t>D</a:t>
              </a:r>
            </a:p>
          </p:txBody>
        </p:sp>
        <p:sp>
          <p:nvSpPr>
            <p:cNvPr id="306" name="Arc 93">
              <a:extLst>
                <a:ext uri="{FF2B5EF4-FFF2-40B4-BE49-F238E27FC236}">
                  <a16:creationId xmlns:a16="http://schemas.microsoft.com/office/drawing/2014/main" id="{ACABC822-5276-BA1B-5AAD-CCF7DCAFB9F2}"/>
                </a:ext>
              </a:extLst>
            </p:cNvPr>
            <p:cNvSpPr>
              <a:spLocks/>
            </p:cNvSpPr>
            <p:nvPr/>
          </p:nvSpPr>
          <p:spPr bwMode="auto">
            <a:xfrm rot="2171322" flipH="1">
              <a:off x="4790" y="796"/>
              <a:ext cx="111" cy="129"/>
            </a:xfrm>
            <a:custGeom>
              <a:avLst/>
              <a:gdLst>
                <a:gd name="T0" fmla="*/ 0 w 21600"/>
                <a:gd name="T1" fmla="*/ 0 h 21600"/>
                <a:gd name="T2" fmla="*/ 1 w 21600"/>
                <a:gd name="T3" fmla="*/ 1 h 21600"/>
                <a:gd name="T4" fmla="*/ 0 w 21600"/>
                <a:gd name="T5" fmla="*/ 1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rgbClr val="000000"/>
              </a:solidFill>
              <a:round/>
              <a:headEnd type="stealth" w="med" len="lg"/>
              <a:tailEnd type="stealth" w="med" len="lg"/>
            </a:ln>
            <a:extLst>
              <a:ext uri="{909E8E84-426E-40DD-AFC4-6F175D3DCCD1}">
                <a14:hiddenFill xmlns:a14="http://schemas.microsoft.com/office/drawing/2010/main">
                  <a:solidFill>
                    <a:srgbClr val="FFFFFF"/>
                  </a:solid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307" name="Arc 104">
              <a:extLst>
                <a:ext uri="{FF2B5EF4-FFF2-40B4-BE49-F238E27FC236}">
                  <a16:creationId xmlns:a16="http://schemas.microsoft.com/office/drawing/2014/main" id="{1CE7A625-10E9-6ED4-F4E1-6846EC53EE36}"/>
                </a:ext>
              </a:extLst>
            </p:cNvPr>
            <p:cNvSpPr>
              <a:spLocks/>
            </p:cNvSpPr>
            <p:nvPr/>
          </p:nvSpPr>
          <p:spPr bwMode="auto">
            <a:xfrm rot="-2171322">
              <a:off x="4974" y="794"/>
              <a:ext cx="111" cy="129"/>
            </a:xfrm>
            <a:custGeom>
              <a:avLst/>
              <a:gdLst>
                <a:gd name="T0" fmla="*/ 0 w 21600"/>
                <a:gd name="T1" fmla="*/ 0 h 21600"/>
                <a:gd name="T2" fmla="*/ 1 w 21600"/>
                <a:gd name="T3" fmla="*/ 1 h 21600"/>
                <a:gd name="T4" fmla="*/ 0 w 21600"/>
                <a:gd name="T5" fmla="*/ 1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rgbClr val="000000"/>
              </a:solidFill>
              <a:round/>
              <a:headEnd type="stealth" w="med" len="lg"/>
              <a:tailEnd type="stealth" w="med" len="lg"/>
            </a:ln>
            <a:extLst>
              <a:ext uri="{909E8E84-426E-40DD-AFC4-6F175D3DCCD1}">
                <a14:hiddenFill xmlns:a14="http://schemas.microsoft.com/office/drawing/2010/main">
                  <a:solidFill>
                    <a:srgbClr val="FFFFFF"/>
                  </a:solid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308" name="Text Box 105">
              <a:extLst>
                <a:ext uri="{FF2B5EF4-FFF2-40B4-BE49-F238E27FC236}">
                  <a16:creationId xmlns:a16="http://schemas.microsoft.com/office/drawing/2014/main" id="{E33BF163-F478-EF8B-16E1-B72070EC9CF8}"/>
                </a:ext>
              </a:extLst>
            </p:cNvPr>
            <p:cNvSpPr txBox="1">
              <a:spLocks noChangeAspect="1" noChangeArrowheads="1"/>
            </p:cNvSpPr>
            <p:nvPr/>
          </p:nvSpPr>
          <p:spPr bwMode="auto">
            <a:xfrm>
              <a:off x="4900" y="461"/>
              <a:ext cx="2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fontAlgn="auto" hangingPunct="1">
                <a:spcBef>
                  <a:spcPts val="0"/>
                </a:spcBef>
                <a:spcAft>
                  <a:spcPts val="0"/>
                </a:spcAft>
              </a:pPr>
              <a:r>
                <a:rPr lang="en-US" altLang="zh-CN" b="0" i="0" kern="0" dirty="0">
                  <a:solidFill>
                    <a:srgbClr val="000000"/>
                  </a:solidFill>
                  <a:latin typeface="+mj-lt"/>
                  <a:ea typeface="宋体" panose="02010600030101010101" pitchFamily="2" charset="-122"/>
                </a:rPr>
                <a:t>3</a:t>
              </a:r>
            </a:p>
          </p:txBody>
        </p:sp>
        <p:sp>
          <p:nvSpPr>
            <p:cNvPr id="309" name="Oval 82">
              <a:extLst>
                <a:ext uri="{FF2B5EF4-FFF2-40B4-BE49-F238E27FC236}">
                  <a16:creationId xmlns:a16="http://schemas.microsoft.com/office/drawing/2014/main" id="{8C33E2CC-40A3-74A2-BEEC-A887280D6FEC}"/>
                </a:ext>
              </a:extLst>
            </p:cNvPr>
            <p:cNvSpPr>
              <a:spLocks noChangeAspect="1" noChangeArrowheads="1"/>
            </p:cNvSpPr>
            <p:nvPr/>
          </p:nvSpPr>
          <p:spPr bwMode="auto">
            <a:xfrm>
              <a:off x="4892" y="1186"/>
              <a:ext cx="90" cy="90"/>
            </a:xfrm>
            <a:prstGeom prst="ellipse">
              <a:avLst/>
            </a:prstGeom>
            <a:solidFill>
              <a:srgbClr val="FF00FF"/>
            </a:solidFill>
            <a:ln w="38100" algn="ctr">
              <a:solidFill>
                <a:srgbClr val="000000"/>
              </a:solidFill>
              <a:round/>
              <a:headEnd/>
              <a:tailEnd/>
            </a:ln>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310" name="Text Box 106">
              <a:extLst>
                <a:ext uri="{FF2B5EF4-FFF2-40B4-BE49-F238E27FC236}">
                  <a16:creationId xmlns:a16="http://schemas.microsoft.com/office/drawing/2014/main" id="{50DB19C4-5BBE-43B3-B9ED-3CBE057057AF}"/>
                </a:ext>
              </a:extLst>
            </p:cNvPr>
            <p:cNvSpPr txBox="1">
              <a:spLocks noChangeAspect="1" noChangeArrowheads="1"/>
            </p:cNvSpPr>
            <p:nvPr/>
          </p:nvSpPr>
          <p:spPr bwMode="auto">
            <a:xfrm>
              <a:off x="4695" y="569"/>
              <a:ext cx="257"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 pitchFamily="18" charset="-52"/>
                  <a:ea typeface="宋体" panose="02010600030101010101" pitchFamily="2" charset="-122"/>
                  <a:sym typeface="Symbol" panose="05050102010706020507" pitchFamily="18" charset="2"/>
                </a:rPr>
                <a:t></a:t>
              </a:r>
            </a:p>
          </p:txBody>
        </p:sp>
        <p:sp>
          <p:nvSpPr>
            <p:cNvPr id="311" name="Text Box 107">
              <a:extLst>
                <a:ext uri="{FF2B5EF4-FFF2-40B4-BE49-F238E27FC236}">
                  <a16:creationId xmlns:a16="http://schemas.microsoft.com/office/drawing/2014/main" id="{A43C38C2-B4E9-DE24-6C50-F443D0C452BC}"/>
                </a:ext>
              </a:extLst>
            </p:cNvPr>
            <p:cNvSpPr txBox="1">
              <a:spLocks noChangeAspect="1" noChangeArrowheads="1"/>
            </p:cNvSpPr>
            <p:nvPr/>
          </p:nvSpPr>
          <p:spPr bwMode="auto">
            <a:xfrm>
              <a:off x="4939" y="585"/>
              <a:ext cx="257"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 pitchFamily="18" charset="-52"/>
                  <a:ea typeface="宋体" panose="02010600030101010101" pitchFamily="2" charset="-122"/>
                  <a:sym typeface="Symbol" panose="05050102010706020507" pitchFamily="18" charset="2"/>
                </a:rPr>
                <a:t></a:t>
              </a:r>
            </a:p>
          </p:txBody>
        </p:sp>
      </p:grpSp>
      <p:grpSp>
        <p:nvGrpSpPr>
          <p:cNvPr id="314" name="Group 154">
            <a:extLst>
              <a:ext uri="{FF2B5EF4-FFF2-40B4-BE49-F238E27FC236}">
                <a16:creationId xmlns:a16="http://schemas.microsoft.com/office/drawing/2014/main" id="{E9C5B337-99FB-6F3B-1DF1-5B16FC3B1216}"/>
              </a:ext>
            </a:extLst>
          </p:cNvPr>
          <p:cNvGrpSpPr>
            <a:grpSpLocks/>
          </p:cNvGrpSpPr>
          <p:nvPr/>
        </p:nvGrpSpPr>
        <p:grpSpPr bwMode="auto">
          <a:xfrm>
            <a:off x="9209127" y="3540289"/>
            <a:ext cx="2281238" cy="1858963"/>
            <a:chOff x="4180" y="2096"/>
            <a:chExt cx="1437" cy="1171"/>
          </a:xfrm>
        </p:grpSpPr>
        <p:sp>
          <p:nvSpPr>
            <p:cNvPr id="315" name="Text Box 110">
              <a:extLst>
                <a:ext uri="{FF2B5EF4-FFF2-40B4-BE49-F238E27FC236}">
                  <a16:creationId xmlns:a16="http://schemas.microsoft.com/office/drawing/2014/main" id="{10A4C68E-81FA-0DA7-90AD-C4EB72046C5D}"/>
                </a:ext>
              </a:extLst>
            </p:cNvPr>
            <p:cNvSpPr txBox="1">
              <a:spLocks noChangeAspect="1" noChangeArrowheads="1"/>
            </p:cNvSpPr>
            <p:nvPr/>
          </p:nvSpPr>
          <p:spPr bwMode="auto">
            <a:xfrm>
              <a:off x="4180" y="2153"/>
              <a:ext cx="289"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fontAlgn="auto" hangingPunct="1">
                <a:spcBef>
                  <a:spcPts val="0"/>
                </a:spcBef>
                <a:spcAft>
                  <a:spcPts val="0"/>
                </a:spcAft>
              </a:pPr>
              <a:r>
                <a:rPr lang="en-US" altLang="zh-CN" b="0" kern="0" dirty="0">
                  <a:solidFill>
                    <a:srgbClr val="000000"/>
                  </a:solidFill>
                  <a:latin typeface="+mn-lt"/>
                  <a:ea typeface="宋体" panose="02010600030101010101" pitchFamily="2" charset="-122"/>
                </a:rPr>
                <a:t>B</a:t>
              </a:r>
            </a:p>
          </p:txBody>
        </p:sp>
        <p:sp>
          <p:nvSpPr>
            <p:cNvPr id="316" name="Text Box 111">
              <a:extLst>
                <a:ext uri="{FF2B5EF4-FFF2-40B4-BE49-F238E27FC236}">
                  <a16:creationId xmlns:a16="http://schemas.microsoft.com/office/drawing/2014/main" id="{6908E316-C412-782F-3373-8BB88632C24B}"/>
                </a:ext>
              </a:extLst>
            </p:cNvPr>
            <p:cNvSpPr txBox="1">
              <a:spLocks noChangeAspect="1" noChangeArrowheads="1"/>
            </p:cNvSpPr>
            <p:nvPr/>
          </p:nvSpPr>
          <p:spPr bwMode="auto">
            <a:xfrm>
              <a:off x="5402" y="2147"/>
              <a:ext cx="215" cy="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fontAlgn="auto" hangingPunct="1">
                <a:spcBef>
                  <a:spcPts val="0"/>
                </a:spcBef>
                <a:spcAft>
                  <a:spcPts val="0"/>
                </a:spcAft>
              </a:pPr>
              <a:r>
                <a:rPr lang="en-US" altLang="zh-CN" b="0" kern="0" dirty="0">
                  <a:solidFill>
                    <a:srgbClr val="000000"/>
                  </a:solidFill>
                  <a:latin typeface="+mn-lt"/>
                  <a:ea typeface="宋体" panose="02010600030101010101" pitchFamily="2" charset="-122"/>
                </a:rPr>
                <a:t>C</a:t>
              </a:r>
            </a:p>
          </p:txBody>
        </p:sp>
        <p:sp>
          <p:nvSpPr>
            <p:cNvPr id="317" name="AutoShape 112">
              <a:extLst>
                <a:ext uri="{FF2B5EF4-FFF2-40B4-BE49-F238E27FC236}">
                  <a16:creationId xmlns:a16="http://schemas.microsoft.com/office/drawing/2014/main" id="{9B742F58-9581-6B0A-F7D6-A1E6027A934B}"/>
                </a:ext>
              </a:extLst>
            </p:cNvPr>
            <p:cNvSpPr>
              <a:spLocks noChangeArrowheads="1"/>
            </p:cNvSpPr>
            <p:nvPr/>
          </p:nvSpPr>
          <p:spPr bwMode="auto">
            <a:xfrm flipV="1">
              <a:off x="4362" y="2186"/>
              <a:ext cx="1110" cy="1051"/>
            </a:xfrm>
            <a:prstGeom prst="triangle">
              <a:avLst>
                <a:gd name="adj" fmla="val 50000"/>
              </a:avLst>
            </a:prstGeom>
            <a:noFill/>
            <a:ln w="571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318" name="Text Box 113">
              <a:extLst>
                <a:ext uri="{FF2B5EF4-FFF2-40B4-BE49-F238E27FC236}">
                  <a16:creationId xmlns:a16="http://schemas.microsoft.com/office/drawing/2014/main" id="{38F7263D-5343-E078-4A00-9F2D45C29934}"/>
                </a:ext>
              </a:extLst>
            </p:cNvPr>
            <p:cNvSpPr txBox="1">
              <a:spLocks noChangeAspect="1" noChangeArrowheads="1"/>
            </p:cNvSpPr>
            <p:nvPr/>
          </p:nvSpPr>
          <p:spPr bwMode="auto">
            <a:xfrm>
              <a:off x="4381" y="2529"/>
              <a:ext cx="2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dirty="0">
                  <a:ln>
                    <a:noFill/>
                  </a:ln>
                  <a:solidFill>
                    <a:srgbClr val="000000"/>
                  </a:solidFill>
                  <a:effectLst/>
                  <a:uLnTx/>
                  <a:uFillTx/>
                  <a:latin typeface="+mj-lt"/>
                  <a:ea typeface="宋体" panose="02010600030101010101" pitchFamily="2" charset="-122"/>
                </a:rPr>
                <a:t>1</a:t>
              </a:r>
            </a:p>
          </p:txBody>
        </p:sp>
        <p:sp>
          <p:nvSpPr>
            <p:cNvPr id="319" name="Text Box 114">
              <a:extLst>
                <a:ext uri="{FF2B5EF4-FFF2-40B4-BE49-F238E27FC236}">
                  <a16:creationId xmlns:a16="http://schemas.microsoft.com/office/drawing/2014/main" id="{FFF081FD-ACC2-EBAF-798E-81156E5DA0F1}"/>
                </a:ext>
              </a:extLst>
            </p:cNvPr>
            <p:cNvSpPr txBox="1">
              <a:spLocks noChangeAspect="1" noChangeArrowheads="1"/>
            </p:cNvSpPr>
            <p:nvPr/>
          </p:nvSpPr>
          <p:spPr bwMode="auto">
            <a:xfrm>
              <a:off x="5266" y="2543"/>
              <a:ext cx="259"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fontAlgn="auto" hangingPunct="1">
                <a:spcBef>
                  <a:spcPts val="0"/>
                </a:spcBef>
                <a:spcAft>
                  <a:spcPts val="0"/>
                </a:spcAft>
              </a:pPr>
              <a:r>
                <a:rPr lang="en-US" altLang="zh-CN" b="0" i="0" kern="0" dirty="0">
                  <a:solidFill>
                    <a:srgbClr val="000000"/>
                  </a:solidFill>
                  <a:latin typeface="+mj-lt"/>
                  <a:ea typeface="宋体" panose="02010600030101010101" pitchFamily="2" charset="-122"/>
                </a:rPr>
                <a:t>2</a:t>
              </a:r>
            </a:p>
          </p:txBody>
        </p:sp>
        <p:grpSp>
          <p:nvGrpSpPr>
            <p:cNvPr id="320" name="Group 116">
              <a:extLst>
                <a:ext uri="{FF2B5EF4-FFF2-40B4-BE49-F238E27FC236}">
                  <a16:creationId xmlns:a16="http://schemas.microsoft.com/office/drawing/2014/main" id="{0E1F0DCB-6AE3-63CB-2FD8-9C86B1EC88EC}"/>
                </a:ext>
              </a:extLst>
            </p:cNvPr>
            <p:cNvGrpSpPr>
              <a:grpSpLocks/>
            </p:cNvGrpSpPr>
            <p:nvPr/>
          </p:nvGrpSpPr>
          <p:grpSpPr bwMode="auto">
            <a:xfrm rot="5400000">
              <a:off x="4855" y="1431"/>
              <a:ext cx="95" cy="1426"/>
              <a:chOff x="4180" y="191"/>
              <a:chExt cx="112" cy="1798"/>
            </a:xfrm>
          </p:grpSpPr>
          <p:sp>
            <p:nvSpPr>
              <p:cNvPr id="333" name="Rectangle 117" descr="宽上对角线">
                <a:extLst>
                  <a:ext uri="{FF2B5EF4-FFF2-40B4-BE49-F238E27FC236}">
                    <a16:creationId xmlns:a16="http://schemas.microsoft.com/office/drawing/2014/main" id="{88A9B25F-9AF1-9464-5723-767DDF434403}"/>
                  </a:ext>
                </a:extLst>
              </p:cNvPr>
              <p:cNvSpPr>
                <a:spLocks noChangeAspect="1" noChangeArrowheads="1"/>
              </p:cNvSpPr>
              <p:nvPr/>
            </p:nvSpPr>
            <p:spPr bwMode="auto">
              <a:xfrm>
                <a:off x="4180" y="191"/>
                <a:ext cx="94" cy="1798"/>
              </a:xfrm>
              <a:prstGeom prst="rect">
                <a:avLst/>
              </a:prstGeom>
              <a:pattFill prst="wdUpDiag">
                <a:fgClr>
                  <a:srgbClr val="000000"/>
                </a:fgClr>
                <a:bgClr>
                  <a:srgbClr val="99FFCC"/>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334" name="Line 118">
                <a:extLst>
                  <a:ext uri="{FF2B5EF4-FFF2-40B4-BE49-F238E27FC236}">
                    <a16:creationId xmlns:a16="http://schemas.microsoft.com/office/drawing/2014/main" id="{D7607828-0133-E1E7-A49A-46BAC3ACFE6D}"/>
                  </a:ext>
                </a:extLst>
              </p:cNvPr>
              <p:cNvSpPr>
                <a:spLocks noChangeAspect="1" noChangeShapeType="1"/>
              </p:cNvSpPr>
              <p:nvPr/>
            </p:nvSpPr>
            <p:spPr bwMode="auto">
              <a:xfrm>
                <a:off x="4292" y="191"/>
                <a:ext cx="0" cy="1790"/>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321" name="Text Box 120">
              <a:extLst>
                <a:ext uri="{FF2B5EF4-FFF2-40B4-BE49-F238E27FC236}">
                  <a16:creationId xmlns:a16="http://schemas.microsoft.com/office/drawing/2014/main" id="{6AC4EDA7-1E5A-D0BA-BEB9-E1971638E997}"/>
                </a:ext>
              </a:extLst>
            </p:cNvPr>
            <p:cNvSpPr txBox="1">
              <a:spLocks noChangeAspect="1" noChangeArrowheads="1"/>
            </p:cNvSpPr>
            <p:nvPr/>
          </p:nvSpPr>
          <p:spPr bwMode="auto">
            <a:xfrm>
              <a:off x="4919" y="2990"/>
              <a:ext cx="296"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fontAlgn="auto" hangingPunct="1">
                <a:spcBef>
                  <a:spcPts val="0"/>
                </a:spcBef>
                <a:spcAft>
                  <a:spcPts val="0"/>
                </a:spcAft>
              </a:pPr>
              <a:r>
                <a:rPr lang="en-US" altLang="zh-CN" b="0" kern="0" dirty="0">
                  <a:solidFill>
                    <a:srgbClr val="000000"/>
                  </a:solidFill>
                  <a:latin typeface="+mn-lt"/>
                  <a:ea typeface="宋体" panose="02010600030101010101" pitchFamily="2" charset="-122"/>
                </a:rPr>
                <a:t>A</a:t>
              </a:r>
            </a:p>
          </p:txBody>
        </p:sp>
        <p:sp>
          <p:nvSpPr>
            <p:cNvPr id="322" name="Oval 121">
              <a:extLst>
                <a:ext uri="{FF2B5EF4-FFF2-40B4-BE49-F238E27FC236}">
                  <a16:creationId xmlns:a16="http://schemas.microsoft.com/office/drawing/2014/main" id="{5118F077-8698-7AF8-9573-703C8A39C192}"/>
                </a:ext>
              </a:extLst>
            </p:cNvPr>
            <p:cNvSpPr>
              <a:spLocks noChangeAspect="1" noChangeArrowheads="1"/>
            </p:cNvSpPr>
            <p:nvPr/>
          </p:nvSpPr>
          <p:spPr bwMode="auto">
            <a:xfrm rot="5400000">
              <a:off x="4324" y="2140"/>
              <a:ext cx="90" cy="90"/>
            </a:xfrm>
            <a:prstGeom prst="ellipse">
              <a:avLst/>
            </a:prstGeom>
            <a:solidFill>
              <a:srgbClr val="FF00FF"/>
            </a:solidFill>
            <a:ln w="38100">
              <a:solidFill>
                <a:srgbClr val="000000"/>
              </a:solidFill>
              <a:round/>
              <a:headEnd/>
              <a:tailEnd/>
            </a:ln>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323" name="Oval 122">
              <a:extLst>
                <a:ext uri="{FF2B5EF4-FFF2-40B4-BE49-F238E27FC236}">
                  <a16:creationId xmlns:a16="http://schemas.microsoft.com/office/drawing/2014/main" id="{8DAA2421-F5B6-F691-7ACC-5535A98B8CB9}"/>
                </a:ext>
              </a:extLst>
            </p:cNvPr>
            <p:cNvSpPr>
              <a:spLocks noChangeAspect="1" noChangeArrowheads="1"/>
            </p:cNvSpPr>
            <p:nvPr/>
          </p:nvSpPr>
          <p:spPr bwMode="auto">
            <a:xfrm rot="5400000">
              <a:off x="5418" y="2143"/>
              <a:ext cx="90" cy="90"/>
            </a:xfrm>
            <a:prstGeom prst="ellipse">
              <a:avLst/>
            </a:prstGeom>
            <a:solidFill>
              <a:srgbClr val="FF00FF"/>
            </a:solidFill>
            <a:ln w="38100" algn="ctr">
              <a:solidFill>
                <a:srgbClr val="000000"/>
              </a:solidFill>
              <a:round/>
              <a:headEnd/>
              <a:tailEnd/>
            </a:ln>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324" name="Line 125">
              <a:extLst>
                <a:ext uri="{FF2B5EF4-FFF2-40B4-BE49-F238E27FC236}">
                  <a16:creationId xmlns:a16="http://schemas.microsoft.com/office/drawing/2014/main" id="{5BBF8A36-BA71-7F99-EC38-86230F6C25A8}"/>
                </a:ext>
              </a:extLst>
            </p:cNvPr>
            <p:cNvSpPr>
              <a:spLocks noChangeShapeType="1"/>
            </p:cNvSpPr>
            <p:nvPr/>
          </p:nvSpPr>
          <p:spPr bwMode="auto">
            <a:xfrm flipV="1">
              <a:off x="4917" y="2194"/>
              <a:ext cx="0" cy="1000"/>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325" name="Oval 126">
              <a:extLst>
                <a:ext uri="{FF2B5EF4-FFF2-40B4-BE49-F238E27FC236}">
                  <a16:creationId xmlns:a16="http://schemas.microsoft.com/office/drawing/2014/main" id="{5FCE064D-B7B6-01F5-5B73-FD554FBE4F1B}"/>
                </a:ext>
              </a:extLst>
            </p:cNvPr>
            <p:cNvSpPr>
              <a:spLocks noChangeAspect="1" noChangeArrowheads="1"/>
            </p:cNvSpPr>
            <p:nvPr/>
          </p:nvSpPr>
          <p:spPr bwMode="auto">
            <a:xfrm>
              <a:off x="4870" y="2144"/>
              <a:ext cx="90" cy="90"/>
            </a:xfrm>
            <a:prstGeom prst="ellipse">
              <a:avLst/>
            </a:prstGeom>
            <a:solidFill>
              <a:srgbClr val="FF00FF"/>
            </a:solidFill>
            <a:ln w="38100" algn="ctr">
              <a:solidFill>
                <a:srgbClr val="000000"/>
              </a:solidFill>
              <a:round/>
              <a:headEnd/>
              <a:tailEnd/>
            </a:ln>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326" name="Text Box 127">
              <a:extLst>
                <a:ext uri="{FF2B5EF4-FFF2-40B4-BE49-F238E27FC236}">
                  <a16:creationId xmlns:a16="http://schemas.microsoft.com/office/drawing/2014/main" id="{C1FA7D12-CB89-6BCA-3E6E-83B6A8A33BB9}"/>
                </a:ext>
              </a:extLst>
            </p:cNvPr>
            <p:cNvSpPr txBox="1">
              <a:spLocks noChangeAspect="1" noChangeArrowheads="1"/>
            </p:cNvSpPr>
            <p:nvPr/>
          </p:nvSpPr>
          <p:spPr bwMode="auto">
            <a:xfrm>
              <a:off x="4900" y="2138"/>
              <a:ext cx="215" cy="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fontAlgn="auto" hangingPunct="1">
                <a:spcBef>
                  <a:spcPts val="0"/>
                </a:spcBef>
                <a:spcAft>
                  <a:spcPts val="0"/>
                </a:spcAft>
              </a:pPr>
              <a:r>
                <a:rPr lang="en-US" altLang="zh-CN" b="0" kern="0" dirty="0">
                  <a:solidFill>
                    <a:srgbClr val="000000"/>
                  </a:solidFill>
                  <a:latin typeface="+mn-lt"/>
                  <a:ea typeface="宋体" panose="02010600030101010101" pitchFamily="2" charset="-122"/>
                </a:rPr>
                <a:t>D</a:t>
              </a:r>
            </a:p>
          </p:txBody>
        </p:sp>
        <p:sp>
          <p:nvSpPr>
            <p:cNvPr id="327" name="Arc 128">
              <a:extLst>
                <a:ext uri="{FF2B5EF4-FFF2-40B4-BE49-F238E27FC236}">
                  <a16:creationId xmlns:a16="http://schemas.microsoft.com/office/drawing/2014/main" id="{498FDB22-60EC-BCC4-B8D2-CF29EEEF34FE}"/>
                </a:ext>
              </a:extLst>
            </p:cNvPr>
            <p:cNvSpPr>
              <a:spLocks/>
            </p:cNvSpPr>
            <p:nvPr/>
          </p:nvSpPr>
          <p:spPr bwMode="auto">
            <a:xfrm rot="2171322" flipH="1">
              <a:off x="4766" y="2787"/>
              <a:ext cx="111" cy="129"/>
            </a:xfrm>
            <a:custGeom>
              <a:avLst/>
              <a:gdLst>
                <a:gd name="T0" fmla="*/ 0 w 21600"/>
                <a:gd name="T1" fmla="*/ 0 h 21600"/>
                <a:gd name="T2" fmla="*/ 1 w 21600"/>
                <a:gd name="T3" fmla="*/ 1 h 21600"/>
                <a:gd name="T4" fmla="*/ 0 w 21600"/>
                <a:gd name="T5" fmla="*/ 1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rgbClr val="000000"/>
              </a:solidFill>
              <a:round/>
              <a:headEnd type="stealth" w="med" len="lg"/>
              <a:tailEnd type="stealth" w="med" len="lg"/>
            </a:ln>
            <a:extLst>
              <a:ext uri="{909E8E84-426E-40DD-AFC4-6F175D3DCCD1}">
                <a14:hiddenFill xmlns:a14="http://schemas.microsoft.com/office/drawing/2010/main">
                  <a:solidFill>
                    <a:srgbClr val="FFFFFF"/>
                  </a:solid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328" name="Arc 129">
              <a:extLst>
                <a:ext uri="{FF2B5EF4-FFF2-40B4-BE49-F238E27FC236}">
                  <a16:creationId xmlns:a16="http://schemas.microsoft.com/office/drawing/2014/main" id="{E491A706-5968-C77C-8989-673F10508FF5}"/>
                </a:ext>
              </a:extLst>
            </p:cNvPr>
            <p:cNvSpPr>
              <a:spLocks/>
            </p:cNvSpPr>
            <p:nvPr/>
          </p:nvSpPr>
          <p:spPr bwMode="auto">
            <a:xfrm rot="-2171322">
              <a:off x="4950" y="2785"/>
              <a:ext cx="111" cy="129"/>
            </a:xfrm>
            <a:custGeom>
              <a:avLst/>
              <a:gdLst>
                <a:gd name="T0" fmla="*/ 0 w 21600"/>
                <a:gd name="T1" fmla="*/ 0 h 21600"/>
                <a:gd name="T2" fmla="*/ 1 w 21600"/>
                <a:gd name="T3" fmla="*/ 1 h 21600"/>
                <a:gd name="T4" fmla="*/ 0 w 21600"/>
                <a:gd name="T5" fmla="*/ 1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rgbClr val="000000"/>
              </a:solidFill>
              <a:round/>
              <a:headEnd type="stealth" w="med" len="lg"/>
              <a:tailEnd type="stealth" w="med" len="lg"/>
            </a:ln>
            <a:extLst>
              <a:ext uri="{909E8E84-426E-40DD-AFC4-6F175D3DCCD1}">
                <a14:hiddenFill xmlns:a14="http://schemas.microsoft.com/office/drawing/2010/main">
                  <a:solidFill>
                    <a:srgbClr val="FFFFFF"/>
                  </a:solid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329" name="Text Box 130">
              <a:extLst>
                <a:ext uri="{FF2B5EF4-FFF2-40B4-BE49-F238E27FC236}">
                  <a16:creationId xmlns:a16="http://schemas.microsoft.com/office/drawing/2014/main" id="{886F810C-C5E9-5894-4283-CC7A4D570024}"/>
                </a:ext>
              </a:extLst>
            </p:cNvPr>
            <p:cNvSpPr txBox="1">
              <a:spLocks noChangeAspect="1" noChangeArrowheads="1"/>
            </p:cNvSpPr>
            <p:nvPr/>
          </p:nvSpPr>
          <p:spPr bwMode="auto">
            <a:xfrm>
              <a:off x="4876" y="2452"/>
              <a:ext cx="2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fontAlgn="auto" hangingPunct="1">
                <a:spcBef>
                  <a:spcPts val="0"/>
                </a:spcBef>
                <a:spcAft>
                  <a:spcPts val="0"/>
                </a:spcAft>
              </a:pPr>
              <a:r>
                <a:rPr lang="en-US" altLang="zh-CN" b="0" i="0" kern="0" dirty="0">
                  <a:solidFill>
                    <a:srgbClr val="000000"/>
                  </a:solidFill>
                  <a:latin typeface="+mj-lt"/>
                  <a:ea typeface="宋体" panose="02010600030101010101" pitchFamily="2" charset="-122"/>
                </a:rPr>
                <a:t>3</a:t>
              </a:r>
            </a:p>
          </p:txBody>
        </p:sp>
        <p:sp>
          <p:nvSpPr>
            <p:cNvPr id="330" name="Oval 131">
              <a:extLst>
                <a:ext uri="{FF2B5EF4-FFF2-40B4-BE49-F238E27FC236}">
                  <a16:creationId xmlns:a16="http://schemas.microsoft.com/office/drawing/2014/main" id="{549514E2-939E-D0E5-E56D-20958134CE4C}"/>
                </a:ext>
              </a:extLst>
            </p:cNvPr>
            <p:cNvSpPr>
              <a:spLocks noChangeAspect="1" noChangeArrowheads="1"/>
            </p:cNvSpPr>
            <p:nvPr/>
          </p:nvSpPr>
          <p:spPr bwMode="auto">
            <a:xfrm>
              <a:off x="4868" y="3177"/>
              <a:ext cx="90" cy="90"/>
            </a:xfrm>
            <a:prstGeom prst="ellipse">
              <a:avLst/>
            </a:prstGeom>
            <a:solidFill>
              <a:srgbClr val="FF00FF"/>
            </a:solidFill>
            <a:ln w="38100" algn="ctr">
              <a:solidFill>
                <a:srgbClr val="000000"/>
              </a:solidFill>
              <a:round/>
              <a:headEnd/>
              <a:tailEnd/>
            </a:ln>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331" name="Text Box 132">
              <a:extLst>
                <a:ext uri="{FF2B5EF4-FFF2-40B4-BE49-F238E27FC236}">
                  <a16:creationId xmlns:a16="http://schemas.microsoft.com/office/drawing/2014/main" id="{72C40ABF-CDA5-0E37-4497-9D85FA9B3DEE}"/>
                </a:ext>
              </a:extLst>
            </p:cNvPr>
            <p:cNvSpPr txBox="1">
              <a:spLocks noChangeAspect="1" noChangeArrowheads="1"/>
            </p:cNvSpPr>
            <p:nvPr/>
          </p:nvSpPr>
          <p:spPr bwMode="auto">
            <a:xfrm>
              <a:off x="4671" y="2560"/>
              <a:ext cx="257"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 pitchFamily="18" charset="-52"/>
                  <a:ea typeface="宋体" panose="02010600030101010101" pitchFamily="2" charset="-122"/>
                  <a:sym typeface="Symbol" panose="05050102010706020507" pitchFamily="18" charset="2"/>
                </a:rPr>
                <a:t></a:t>
              </a:r>
            </a:p>
          </p:txBody>
        </p:sp>
        <p:sp>
          <p:nvSpPr>
            <p:cNvPr id="332" name="Text Box 133">
              <a:extLst>
                <a:ext uri="{FF2B5EF4-FFF2-40B4-BE49-F238E27FC236}">
                  <a16:creationId xmlns:a16="http://schemas.microsoft.com/office/drawing/2014/main" id="{E64577B9-CFFD-B13E-6960-FA482059FC83}"/>
                </a:ext>
              </a:extLst>
            </p:cNvPr>
            <p:cNvSpPr txBox="1">
              <a:spLocks noChangeAspect="1" noChangeArrowheads="1"/>
            </p:cNvSpPr>
            <p:nvPr/>
          </p:nvSpPr>
          <p:spPr bwMode="auto">
            <a:xfrm>
              <a:off x="4915" y="2576"/>
              <a:ext cx="257"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 pitchFamily="18" charset="-52"/>
                  <a:ea typeface="宋体" panose="02010600030101010101" pitchFamily="2" charset="-122"/>
                  <a:sym typeface="Symbol" panose="05050102010706020507" pitchFamily="18" charset="2"/>
                </a:rPr>
                <a:t></a:t>
              </a:r>
            </a:p>
          </p:txBody>
        </p:sp>
      </p:grpSp>
      <p:sp>
        <p:nvSpPr>
          <p:cNvPr id="335" name="Line 134">
            <a:extLst>
              <a:ext uri="{FF2B5EF4-FFF2-40B4-BE49-F238E27FC236}">
                <a16:creationId xmlns:a16="http://schemas.microsoft.com/office/drawing/2014/main" id="{59CEF752-425A-1ECD-EA0E-8BEFB964662B}"/>
              </a:ext>
            </a:extLst>
          </p:cNvPr>
          <p:cNvSpPr>
            <a:spLocks noChangeShapeType="1"/>
          </p:cNvSpPr>
          <p:nvPr/>
        </p:nvSpPr>
        <p:spPr bwMode="auto">
          <a:xfrm flipH="1" flipV="1">
            <a:off x="8414036" y="1944342"/>
            <a:ext cx="376237" cy="700087"/>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algn="ctr"/>
            <a:endParaRPr kumimoji="1" lang="zh-CN" altLang="en-US" b="0" i="0">
              <a:solidFill>
                <a:srgbClr val="FFFFFF"/>
              </a:solidFill>
              <a:ea typeface="黑体" panose="02010609060101010101" pitchFamily="49" charset="-122"/>
            </a:endParaRPr>
          </a:p>
        </p:txBody>
      </p:sp>
      <p:sp>
        <p:nvSpPr>
          <p:cNvPr id="336" name="Line 135">
            <a:extLst>
              <a:ext uri="{FF2B5EF4-FFF2-40B4-BE49-F238E27FC236}">
                <a16:creationId xmlns:a16="http://schemas.microsoft.com/office/drawing/2014/main" id="{7D33AD23-2822-2856-B7A9-701554768039}"/>
              </a:ext>
            </a:extLst>
          </p:cNvPr>
          <p:cNvSpPr>
            <a:spLocks noChangeShapeType="1"/>
          </p:cNvSpPr>
          <p:nvPr/>
        </p:nvSpPr>
        <p:spPr bwMode="auto">
          <a:xfrm flipV="1">
            <a:off x="8885523" y="1958629"/>
            <a:ext cx="376238" cy="700088"/>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algn="ctr"/>
            <a:endParaRPr kumimoji="1" lang="zh-CN" altLang="en-US" b="0" i="0">
              <a:solidFill>
                <a:srgbClr val="FFFFFF"/>
              </a:solidFill>
              <a:ea typeface="黑体" panose="02010609060101010101" pitchFamily="49" charset="-122"/>
            </a:endParaRPr>
          </a:p>
        </p:txBody>
      </p:sp>
      <p:sp>
        <p:nvSpPr>
          <p:cNvPr id="337" name="Text Box 136">
            <a:extLst>
              <a:ext uri="{FF2B5EF4-FFF2-40B4-BE49-F238E27FC236}">
                <a16:creationId xmlns:a16="http://schemas.microsoft.com/office/drawing/2014/main" id="{88D9FD73-FF2A-4EE1-EE12-F25BD65E30AB}"/>
              </a:ext>
            </a:extLst>
          </p:cNvPr>
          <p:cNvSpPr txBox="1">
            <a:spLocks noChangeAspect="1" noChangeArrowheads="1"/>
          </p:cNvSpPr>
          <p:nvPr/>
        </p:nvSpPr>
        <p:spPr bwMode="auto">
          <a:xfrm>
            <a:off x="8202898" y="1472854"/>
            <a:ext cx="731838" cy="47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ctr" eaLnBrk="1" hangingPunct="1"/>
            <a:r>
              <a:rPr lang="en-US" altLang="zh-CN" b="0" dirty="0">
                <a:solidFill>
                  <a:srgbClr val="000000"/>
                </a:solidFill>
                <a:latin typeface="+mj-lt"/>
                <a:ea typeface="宋体" panose="02010600030101010101" pitchFamily="2" charset="-122"/>
              </a:rPr>
              <a:t>F</a:t>
            </a:r>
            <a:r>
              <a:rPr lang="en-US" altLang="zh-CN" b="0" i="0" baseline="-25000" dirty="0">
                <a:solidFill>
                  <a:srgbClr val="000000"/>
                </a:solidFill>
                <a:latin typeface="+mj-lt"/>
                <a:ea typeface="宋体" panose="02010600030101010101" pitchFamily="2" charset="-122"/>
              </a:rPr>
              <a:t>N3</a:t>
            </a:r>
            <a:endParaRPr lang="en-US" altLang="zh-CN" b="0" dirty="0">
              <a:solidFill>
                <a:srgbClr val="000000"/>
              </a:solidFill>
              <a:latin typeface="+mj-lt"/>
              <a:ea typeface="宋体" panose="02010600030101010101" pitchFamily="2" charset="-122"/>
            </a:endParaRPr>
          </a:p>
        </p:txBody>
      </p:sp>
      <p:grpSp>
        <p:nvGrpSpPr>
          <p:cNvPr id="338" name="Group 138">
            <a:extLst>
              <a:ext uri="{FF2B5EF4-FFF2-40B4-BE49-F238E27FC236}">
                <a16:creationId xmlns:a16="http://schemas.microsoft.com/office/drawing/2014/main" id="{D632891D-B563-60EC-22C4-82BB8B18F99F}"/>
              </a:ext>
            </a:extLst>
          </p:cNvPr>
          <p:cNvGrpSpPr>
            <a:grpSpLocks/>
          </p:cNvGrpSpPr>
          <p:nvPr/>
        </p:nvGrpSpPr>
        <p:grpSpPr bwMode="auto">
          <a:xfrm>
            <a:off x="8763286" y="2598392"/>
            <a:ext cx="617537" cy="909637"/>
            <a:chOff x="3939" y="1225"/>
            <a:chExt cx="389" cy="573"/>
          </a:xfrm>
        </p:grpSpPr>
        <p:sp>
          <p:nvSpPr>
            <p:cNvPr id="339" name="Text Box 98">
              <a:extLst>
                <a:ext uri="{FF2B5EF4-FFF2-40B4-BE49-F238E27FC236}">
                  <a16:creationId xmlns:a16="http://schemas.microsoft.com/office/drawing/2014/main" id="{2F2AC5F8-A815-AA11-8960-6FD82DE291E0}"/>
                </a:ext>
              </a:extLst>
            </p:cNvPr>
            <p:cNvSpPr txBox="1">
              <a:spLocks noChangeAspect="1" noChangeArrowheads="1"/>
            </p:cNvSpPr>
            <p:nvPr/>
          </p:nvSpPr>
          <p:spPr bwMode="auto">
            <a:xfrm>
              <a:off x="3942" y="1504"/>
              <a:ext cx="386"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b="0" u="none" strike="noStrike" kern="0" cap="none" spc="0" normalizeH="0" baseline="0" noProof="0" dirty="0">
                  <a:ln>
                    <a:noFill/>
                  </a:ln>
                  <a:solidFill>
                    <a:srgbClr val="FF0000"/>
                  </a:solidFill>
                  <a:effectLst/>
                  <a:uLnTx/>
                  <a:uFillTx/>
                  <a:latin typeface="Times New Roman" panose="02020603050405020304" pitchFamily="18" charset="0"/>
                  <a:ea typeface="黑体" panose="02010609060101010101" pitchFamily="49" charset="-122"/>
                </a:rPr>
                <a:t>G</a:t>
              </a:r>
              <a:endParaRPr kumimoji="1" lang="en-US" altLang="zh-CN" b="0" u="none" strike="noStrike" kern="0" cap="none" spc="0" normalizeH="0" baseline="-25000" noProof="0" dirty="0">
                <a:ln>
                  <a:noFill/>
                </a:ln>
                <a:solidFill>
                  <a:srgbClr val="FF0000"/>
                </a:solidFill>
                <a:effectLst/>
                <a:uLnTx/>
                <a:uFillTx/>
                <a:latin typeface="Times New Roman" panose="02020603050405020304" pitchFamily="18" charset="0"/>
                <a:ea typeface="黑体" panose="02010609060101010101" pitchFamily="49" charset="-122"/>
              </a:endParaRPr>
            </a:p>
          </p:txBody>
        </p:sp>
        <p:sp>
          <p:nvSpPr>
            <p:cNvPr id="340" name="Line 99">
              <a:extLst>
                <a:ext uri="{FF2B5EF4-FFF2-40B4-BE49-F238E27FC236}">
                  <a16:creationId xmlns:a16="http://schemas.microsoft.com/office/drawing/2014/main" id="{A45B58E4-6D1F-A0F7-6201-14A4942693CA}"/>
                </a:ext>
              </a:extLst>
            </p:cNvPr>
            <p:cNvSpPr>
              <a:spLocks noChangeAspect="1" noChangeShapeType="1"/>
            </p:cNvSpPr>
            <p:nvPr/>
          </p:nvSpPr>
          <p:spPr bwMode="auto">
            <a:xfrm>
              <a:off x="3984" y="1337"/>
              <a:ext cx="0" cy="299"/>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341" name="Text Box 100">
              <a:extLst>
                <a:ext uri="{FF2B5EF4-FFF2-40B4-BE49-F238E27FC236}">
                  <a16:creationId xmlns:a16="http://schemas.microsoft.com/office/drawing/2014/main" id="{E21D3A2D-2092-396B-17EA-E5851B9F8817}"/>
                </a:ext>
              </a:extLst>
            </p:cNvPr>
            <p:cNvSpPr txBox="1">
              <a:spLocks noChangeAspect="1" noChangeArrowheads="1"/>
            </p:cNvSpPr>
            <p:nvPr/>
          </p:nvSpPr>
          <p:spPr bwMode="auto">
            <a:xfrm>
              <a:off x="3962" y="1225"/>
              <a:ext cx="28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mj-lt"/>
                  <a:ea typeface="宋体" panose="02010600030101010101" pitchFamily="2" charset="-122"/>
                </a:rPr>
                <a:t>A</a:t>
              </a:r>
            </a:p>
          </p:txBody>
        </p:sp>
        <p:sp>
          <p:nvSpPr>
            <p:cNvPr id="342" name="Oval 103">
              <a:extLst>
                <a:ext uri="{FF2B5EF4-FFF2-40B4-BE49-F238E27FC236}">
                  <a16:creationId xmlns:a16="http://schemas.microsoft.com/office/drawing/2014/main" id="{5EB3663E-25A1-F027-2B6F-3EE2EFEBB672}"/>
                </a:ext>
              </a:extLst>
            </p:cNvPr>
            <p:cNvSpPr>
              <a:spLocks noChangeAspect="1" noChangeArrowheads="1"/>
            </p:cNvSpPr>
            <p:nvPr/>
          </p:nvSpPr>
          <p:spPr bwMode="auto">
            <a:xfrm>
              <a:off x="3939" y="1251"/>
              <a:ext cx="90" cy="90"/>
            </a:xfrm>
            <a:prstGeom prst="ellipse">
              <a:avLst/>
            </a:prstGeom>
            <a:solidFill>
              <a:srgbClr val="FF00FF"/>
            </a:solidFill>
            <a:ln w="38100" algn="ctr">
              <a:solidFill>
                <a:srgbClr val="000000"/>
              </a:solidFill>
              <a:round/>
              <a:headEnd/>
              <a:tailEnd/>
            </a:ln>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grpSp>
      <p:sp>
        <p:nvSpPr>
          <p:cNvPr id="343" name="Text Box 140">
            <a:extLst>
              <a:ext uri="{FF2B5EF4-FFF2-40B4-BE49-F238E27FC236}">
                <a16:creationId xmlns:a16="http://schemas.microsoft.com/office/drawing/2014/main" id="{4FCCB5A4-1D7C-6E66-B50D-5EFC32D244A5}"/>
              </a:ext>
            </a:extLst>
          </p:cNvPr>
          <p:cNvSpPr txBox="1">
            <a:spLocks noChangeAspect="1" noChangeArrowheads="1"/>
          </p:cNvSpPr>
          <p:nvPr/>
        </p:nvSpPr>
        <p:spPr bwMode="auto">
          <a:xfrm>
            <a:off x="10220339" y="5928218"/>
            <a:ext cx="469900" cy="385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hangingPunct="1"/>
            <a:r>
              <a:rPr lang="en-US" altLang="zh-CN" b="0" kern="0" dirty="0">
                <a:solidFill>
                  <a:srgbClr val="000000"/>
                </a:solidFill>
                <a:latin typeface="+mn-lt"/>
                <a:ea typeface="宋体" panose="02010600030101010101" pitchFamily="2" charset="-122"/>
              </a:rPr>
              <a:t>A</a:t>
            </a:r>
            <a:r>
              <a:rPr lang="en-US" altLang="zh-CN" b="0" dirty="0">
                <a:solidFill>
                  <a:srgbClr val="000000"/>
                </a:solidFill>
                <a:latin typeface="" pitchFamily="18" charset="-52"/>
                <a:ea typeface="宋体" panose="02010600030101010101" pitchFamily="2" charset="-122"/>
              </a:rPr>
              <a:t>'</a:t>
            </a:r>
          </a:p>
        </p:txBody>
      </p:sp>
      <p:grpSp>
        <p:nvGrpSpPr>
          <p:cNvPr id="344" name="Group 155">
            <a:extLst>
              <a:ext uri="{FF2B5EF4-FFF2-40B4-BE49-F238E27FC236}">
                <a16:creationId xmlns:a16="http://schemas.microsoft.com/office/drawing/2014/main" id="{68DF2F69-93FA-4FCF-5311-912E29541A3B}"/>
              </a:ext>
            </a:extLst>
          </p:cNvPr>
          <p:cNvGrpSpPr>
            <a:grpSpLocks/>
          </p:cNvGrpSpPr>
          <p:nvPr/>
        </p:nvGrpSpPr>
        <p:grpSpPr bwMode="auto">
          <a:xfrm>
            <a:off x="9494876" y="3670464"/>
            <a:ext cx="1762125" cy="2335213"/>
            <a:chOff x="4360" y="2178"/>
            <a:chExt cx="1110" cy="1471"/>
          </a:xfrm>
        </p:grpSpPr>
        <p:sp>
          <p:nvSpPr>
            <p:cNvPr id="345" name="AutoShape 139">
              <a:extLst>
                <a:ext uri="{FF2B5EF4-FFF2-40B4-BE49-F238E27FC236}">
                  <a16:creationId xmlns:a16="http://schemas.microsoft.com/office/drawing/2014/main" id="{88A6CF1A-9268-85BF-6714-CD5772C280F3}"/>
                </a:ext>
              </a:extLst>
            </p:cNvPr>
            <p:cNvSpPr>
              <a:spLocks noChangeArrowheads="1"/>
            </p:cNvSpPr>
            <p:nvPr/>
          </p:nvSpPr>
          <p:spPr bwMode="auto">
            <a:xfrm flipV="1">
              <a:off x="4360" y="2178"/>
              <a:ext cx="1110" cy="1457"/>
            </a:xfrm>
            <a:prstGeom prst="triangle">
              <a:avLst>
                <a:gd name="adj" fmla="val 50000"/>
              </a:avLst>
            </a:prstGeom>
            <a:noFill/>
            <a:ln w="19050">
              <a:solidFill>
                <a:srgbClr val="000000"/>
              </a:solidFill>
              <a:prstDash val="lgDashDot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346" name="Oval 141">
              <a:extLst>
                <a:ext uri="{FF2B5EF4-FFF2-40B4-BE49-F238E27FC236}">
                  <a16:creationId xmlns:a16="http://schemas.microsoft.com/office/drawing/2014/main" id="{7208581A-8874-6645-9E55-3220785649F0}"/>
                </a:ext>
              </a:extLst>
            </p:cNvPr>
            <p:cNvSpPr>
              <a:spLocks noChangeAspect="1" noChangeArrowheads="1"/>
            </p:cNvSpPr>
            <p:nvPr/>
          </p:nvSpPr>
          <p:spPr bwMode="auto">
            <a:xfrm>
              <a:off x="4869" y="3559"/>
              <a:ext cx="90" cy="90"/>
            </a:xfrm>
            <a:prstGeom prst="ellipse">
              <a:avLst/>
            </a:prstGeom>
            <a:gradFill rotWithShape="1">
              <a:gsLst>
                <a:gs pos="0">
                  <a:srgbClr val="FF86FF">
                    <a:alpha val="70000"/>
                  </a:srgbClr>
                </a:gs>
                <a:gs pos="100000">
                  <a:srgbClr val="FF00FF">
                    <a:alpha val="68999"/>
                  </a:srgbClr>
                </a:gs>
              </a:gsLst>
              <a:path path="shape">
                <a:fillToRect l="50000" t="50000" r="50000" b="50000"/>
              </a:path>
            </a:gradFill>
            <a:ln w="19050" algn="ctr">
              <a:solidFill>
                <a:srgbClr val="000000"/>
              </a:solidFill>
              <a:round/>
              <a:headEnd/>
              <a:tailEnd/>
            </a:ln>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347" name="Line 142">
              <a:extLst>
                <a:ext uri="{FF2B5EF4-FFF2-40B4-BE49-F238E27FC236}">
                  <a16:creationId xmlns:a16="http://schemas.microsoft.com/office/drawing/2014/main" id="{24A8962D-973C-BD96-8494-AE1CBEA16CB5}"/>
                </a:ext>
              </a:extLst>
            </p:cNvPr>
            <p:cNvSpPr>
              <a:spLocks noChangeShapeType="1"/>
            </p:cNvSpPr>
            <p:nvPr/>
          </p:nvSpPr>
          <p:spPr bwMode="auto">
            <a:xfrm>
              <a:off x="4913" y="3278"/>
              <a:ext cx="0" cy="297"/>
            </a:xfrm>
            <a:prstGeom prst="line">
              <a:avLst/>
            </a:prstGeom>
            <a:noFill/>
            <a:ln w="19050">
              <a:solidFill>
                <a:srgbClr val="000000"/>
              </a:solidFill>
              <a:prstDash val="lgDashDotDot"/>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348" name="Line 143">
            <a:extLst>
              <a:ext uri="{FF2B5EF4-FFF2-40B4-BE49-F238E27FC236}">
                <a16:creationId xmlns:a16="http://schemas.microsoft.com/office/drawing/2014/main" id="{C7EFB812-8865-7117-0051-3E3186B8D2BA}"/>
              </a:ext>
            </a:extLst>
          </p:cNvPr>
          <p:cNvSpPr>
            <a:spLocks noChangeShapeType="1"/>
          </p:cNvSpPr>
          <p:nvPr/>
        </p:nvSpPr>
        <p:spPr bwMode="auto">
          <a:xfrm flipH="1">
            <a:off x="9686964" y="5377027"/>
            <a:ext cx="631825" cy="2413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349" name="Line 145">
            <a:extLst>
              <a:ext uri="{FF2B5EF4-FFF2-40B4-BE49-F238E27FC236}">
                <a16:creationId xmlns:a16="http://schemas.microsoft.com/office/drawing/2014/main" id="{75B65E98-3931-2280-A6F9-BB424190192A}"/>
              </a:ext>
            </a:extLst>
          </p:cNvPr>
          <p:cNvSpPr>
            <a:spLocks noChangeShapeType="1"/>
          </p:cNvSpPr>
          <p:nvPr/>
        </p:nvSpPr>
        <p:spPr bwMode="auto">
          <a:xfrm rot="16200000" flipH="1">
            <a:off x="9563932" y="5766759"/>
            <a:ext cx="517525" cy="201612"/>
          </a:xfrm>
          <a:prstGeom prst="line">
            <a:avLst/>
          </a:prstGeom>
          <a:noFill/>
          <a:ln w="9525">
            <a:solidFill>
              <a:srgbClr val="000000"/>
            </a:solidFill>
            <a:round/>
            <a:headEnd type="stealth" w="med" len="lg"/>
            <a:tailEnd type="stealth" w="med" len="lg"/>
          </a:ln>
          <a:extLst>
            <a:ext uri="{909E8E84-426E-40DD-AFC4-6F175D3DCCD1}">
              <a14:hiddenFill xmlns:a14="http://schemas.microsoft.com/office/drawing/2010/main">
                <a:noFill/>
              </a14:hiddenFill>
            </a:ext>
          </a:extLst>
        </p:spPr>
        <p:txBody>
          <a:bodyPr/>
          <a:lstStyle/>
          <a:p>
            <a:pPr algn="ctr"/>
            <a:endParaRPr kumimoji="1" lang="zh-CN" altLang="en-US" b="0" i="0">
              <a:solidFill>
                <a:srgbClr val="FFFFFF"/>
              </a:solidFill>
              <a:ea typeface="黑体" panose="02010609060101010101" pitchFamily="49" charset="-122"/>
            </a:endParaRPr>
          </a:p>
        </p:txBody>
      </p:sp>
      <p:sp>
        <p:nvSpPr>
          <p:cNvPr id="350" name="Line 146">
            <a:extLst>
              <a:ext uri="{FF2B5EF4-FFF2-40B4-BE49-F238E27FC236}">
                <a16:creationId xmlns:a16="http://schemas.microsoft.com/office/drawing/2014/main" id="{D684431E-7E1D-365E-5D1F-E089B2BDE40F}"/>
              </a:ext>
            </a:extLst>
          </p:cNvPr>
          <p:cNvSpPr>
            <a:spLocks noChangeShapeType="1"/>
          </p:cNvSpPr>
          <p:nvPr/>
        </p:nvSpPr>
        <p:spPr bwMode="auto">
          <a:xfrm rot="10800000" flipH="1">
            <a:off x="9890164" y="5964402"/>
            <a:ext cx="438150" cy="16986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351" name="Line 148">
            <a:extLst>
              <a:ext uri="{FF2B5EF4-FFF2-40B4-BE49-F238E27FC236}">
                <a16:creationId xmlns:a16="http://schemas.microsoft.com/office/drawing/2014/main" id="{E4582130-861D-28F2-DA7F-A2EA2FA5EF8C}"/>
              </a:ext>
            </a:extLst>
          </p:cNvPr>
          <p:cNvSpPr>
            <a:spLocks noChangeShapeType="1"/>
          </p:cNvSpPr>
          <p:nvPr/>
        </p:nvSpPr>
        <p:spPr bwMode="auto">
          <a:xfrm>
            <a:off x="10460076" y="5950114"/>
            <a:ext cx="56832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352" name="Line 149">
            <a:extLst>
              <a:ext uri="{FF2B5EF4-FFF2-40B4-BE49-F238E27FC236}">
                <a16:creationId xmlns:a16="http://schemas.microsoft.com/office/drawing/2014/main" id="{C9DDBB9F-9922-94E4-0DDB-4A88A6304B14}"/>
              </a:ext>
            </a:extLst>
          </p:cNvPr>
          <p:cNvSpPr>
            <a:spLocks noChangeShapeType="1"/>
          </p:cNvSpPr>
          <p:nvPr/>
        </p:nvSpPr>
        <p:spPr bwMode="auto">
          <a:xfrm>
            <a:off x="10923626" y="5343689"/>
            <a:ext cx="0" cy="603250"/>
          </a:xfrm>
          <a:prstGeom prst="line">
            <a:avLst/>
          </a:prstGeom>
          <a:noFill/>
          <a:ln w="9525">
            <a:solidFill>
              <a:srgbClr val="000000"/>
            </a:solidFill>
            <a:round/>
            <a:headEnd type="stealth" w="med" len="lg"/>
            <a:tailEnd type="stealth" w="med" len="lg"/>
          </a:ln>
          <a:extLst>
            <a:ext uri="{909E8E84-426E-40DD-AFC4-6F175D3DCCD1}">
              <a14:hiddenFill xmlns:a14="http://schemas.microsoft.com/office/drawing/2010/main">
                <a:noFill/>
              </a14:hiddenFill>
            </a:ext>
          </a:extLst>
        </p:spPr>
        <p:txBody>
          <a:bodyPr/>
          <a:lstStyle/>
          <a:p>
            <a:pPr algn="ctr"/>
            <a:endParaRPr kumimoji="1" lang="zh-CN" altLang="en-US" b="0" i="0">
              <a:solidFill>
                <a:srgbClr val="FFFFFF"/>
              </a:solidFill>
              <a:ea typeface="黑体" panose="02010609060101010101" pitchFamily="49" charset="-122"/>
            </a:endParaRPr>
          </a:p>
        </p:txBody>
      </p:sp>
      <p:sp>
        <p:nvSpPr>
          <p:cNvPr id="353" name="Line 150">
            <a:extLst>
              <a:ext uri="{FF2B5EF4-FFF2-40B4-BE49-F238E27FC236}">
                <a16:creationId xmlns:a16="http://schemas.microsoft.com/office/drawing/2014/main" id="{D14DB5E7-CCA3-AADB-82A1-1A85D7EA7DFC}"/>
              </a:ext>
            </a:extLst>
          </p:cNvPr>
          <p:cNvSpPr>
            <a:spLocks noChangeShapeType="1"/>
          </p:cNvSpPr>
          <p:nvPr/>
        </p:nvSpPr>
        <p:spPr bwMode="auto">
          <a:xfrm>
            <a:off x="10460076" y="5343689"/>
            <a:ext cx="5715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354" name="Text Box 151">
            <a:extLst>
              <a:ext uri="{FF2B5EF4-FFF2-40B4-BE49-F238E27FC236}">
                <a16:creationId xmlns:a16="http://schemas.microsoft.com/office/drawing/2014/main" id="{B2237B93-A251-5C72-9529-47061B0C3C37}"/>
              </a:ext>
            </a:extLst>
          </p:cNvPr>
          <p:cNvSpPr txBox="1">
            <a:spLocks noChangeAspect="1" noChangeArrowheads="1"/>
          </p:cNvSpPr>
          <p:nvPr/>
        </p:nvSpPr>
        <p:spPr bwMode="auto">
          <a:xfrm rot="16200000">
            <a:off x="10448170" y="5354008"/>
            <a:ext cx="600075" cy="57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sym typeface="Symbol" panose="05050102010706020507" pitchFamily="18" charset="2"/>
              </a:rPr>
              <a:t></a:t>
            </a: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l</a:t>
            </a:r>
            <a:r>
              <a:rPr kumimoji="1" lang="en-US" altLang="zh-CN" sz="2400" b="0" i="0" u="none" strike="noStrike" kern="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rPr>
              <a:t>3</a:t>
            </a:r>
            <a:endParaRPr kumimoji="1" lang="en-US" altLang="zh-CN" sz="2400" b="0" i="0" u="none" strike="noStrike" kern="0" cap="none" spc="0" normalizeH="0" baseline="-25000" noProof="0" dirty="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355" name="Text Box 152">
            <a:extLst>
              <a:ext uri="{FF2B5EF4-FFF2-40B4-BE49-F238E27FC236}">
                <a16:creationId xmlns:a16="http://schemas.microsoft.com/office/drawing/2014/main" id="{76DFBC9B-5A8A-F05D-1C7C-658D52E8B217}"/>
              </a:ext>
            </a:extLst>
          </p:cNvPr>
          <p:cNvSpPr txBox="1">
            <a:spLocks noChangeAspect="1" noChangeArrowheads="1"/>
          </p:cNvSpPr>
          <p:nvPr/>
        </p:nvSpPr>
        <p:spPr bwMode="auto">
          <a:xfrm>
            <a:off x="9777451" y="5107152"/>
            <a:ext cx="469900" cy="385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fontAlgn="auto" hangingPunct="1">
              <a:spcBef>
                <a:spcPts val="0"/>
              </a:spcBef>
              <a:spcAft>
                <a:spcPts val="0"/>
              </a:spcAft>
            </a:pPr>
            <a:r>
              <a:rPr lang="en-US" altLang="zh-CN" b="0" kern="0" dirty="0">
                <a:solidFill>
                  <a:srgbClr val="000000"/>
                </a:solidFill>
                <a:latin typeface="+mn-lt"/>
                <a:ea typeface="宋体" panose="02010600030101010101" pitchFamily="2" charset="-122"/>
              </a:rPr>
              <a:t>E</a:t>
            </a:r>
          </a:p>
        </p:txBody>
      </p:sp>
      <p:graphicFrame>
        <p:nvGraphicFramePr>
          <p:cNvPr id="356" name="Object 87">
            <a:extLst>
              <a:ext uri="{FF2B5EF4-FFF2-40B4-BE49-F238E27FC236}">
                <a16:creationId xmlns:a16="http://schemas.microsoft.com/office/drawing/2014/main" id="{E90B016C-3886-9A4D-BA1F-D61D896F60D1}"/>
              </a:ext>
            </a:extLst>
          </p:cNvPr>
          <p:cNvGraphicFramePr>
            <a:graphicFrameLocks noChangeAspect="1"/>
          </p:cNvGraphicFramePr>
          <p:nvPr>
            <p:extLst>
              <p:ext uri="{D42A27DB-BD31-4B8C-83A1-F6EECF244321}">
                <p14:modId xmlns:p14="http://schemas.microsoft.com/office/powerpoint/2010/main" val="895992287"/>
              </p:ext>
            </p:extLst>
          </p:nvPr>
        </p:nvGraphicFramePr>
        <p:xfrm>
          <a:off x="3276452" y="5368642"/>
          <a:ext cx="1441450" cy="922337"/>
        </p:xfrm>
        <a:graphic>
          <a:graphicData uri="http://schemas.openxmlformats.org/presentationml/2006/ole">
            <mc:AlternateContent xmlns:mc="http://schemas.openxmlformats.org/markup-compatibility/2006">
              <mc:Choice xmlns:v="urn:schemas-microsoft-com:vml" Requires="v">
                <p:oleObj name="Equation" r:id="rId4" imgW="685800" imgH="431640" progId="Equation.DSMT4">
                  <p:embed/>
                </p:oleObj>
              </mc:Choice>
              <mc:Fallback>
                <p:oleObj name="Equation" r:id="rId4" imgW="685800" imgH="431640" progId="Equation.DSMT4">
                  <p:embed/>
                  <p:pic>
                    <p:nvPicPr>
                      <p:cNvPr id="356" name="Object 87">
                        <a:extLst>
                          <a:ext uri="{FF2B5EF4-FFF2-40B4-BE49-F238E27FC236}">
                            <a16:creationId xmlns:a16="http://schemas.microsoft.com/office/drawing/2014/main" id="{E90B016C-3886-9A4D-BA1F-D61D896F60D1}"/>
                          </a:ext>
                        </a:extLst>
                      </p:cNvPr>
                      <p:cNvPicPr>
                        <a:picLocks noChangeAspect="1" noChangeArrowheads="1"/>
                      </p:cNvPicPr>
                      <p:nvPr/>
                    </p:nvPicPr>
                    <p:blipFill>
                      <a:blip r:embed="rId5"/>
                      <a:srcRect/>
                      <a:stretch>
                        <a:fillRect/>
                      </a:stretch>
                    </p:blipFill>
                    <p:spPr bwMode="auto">
                      <a:xfrm>
                        <a:off x="3276452" y="5368642"/>
                        <a:ext cx="1441450" cy="9223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57" name="Object 85">
            <a:extLst>
              <a:ext uri="{FF2B5EF4-FFF2-40B4-BE49-F238E27FC236}">
                <a16:creationId xmlns:a16="http://schemas.microsoft.com/office/drawing/2014/main" id="{EE7D8B71-A181-C4C5-989D-5BE2A7BF9A2A}"/>
              </a:ext>
            </a:extLst>
          </p:cNvPr>
          <p:cNvGraphicFramePr>
            <a:graphicFrameLocks noChangeAspect="1"/>
          </p:cNvGraphicFramePr>
          <p:nvPr>
            <p:extLst>
              <p:ext uri="{D42A27DB-BD31-4B8C-83A1-F6EECF244321}">
                <p14:modId xmlns:p14="http://schemas.microsoft.com/office/powerpoint/2010/main" val="2020311757"/>
              </p:ext>
            </p:extLst>
          </p:nvPr>
        </p:nvGraphicFramePr>
        <p:xfrm>
          <a:off x="5290198" y="5380038"/>
          <a:ext cx="1490662" cy="904875"/>
        </p:xfrm>
        <a:graphic>
          <a:graphicData uri="http://schemas.openxmlformats.org/presentationml/2006/ole">
            <mc:AlternateContent xmlns:mc="http://schemas.openxmlformats.org/markup-compatibility/2006">
              <mc:Choice xmlns:v="urn:schemas-microsoft-com:vml" Requires="v">
                <p:oleObj name="Equation" r:id="rId6" imgW="711000" imgH="431640" progId="Equation.DSMT4">
                  <p:embed/>
                </p:oleObj>
              </mc:Choice>
              <mc:Fallback>
                <p:oleObj name="Equation" r:id="rId6" imgW="711000" imgH="431640" progId="Equation.DSMT4">
                  <p:embed/>
                  <p:pic>
                    <p:nvPicPr>
                      <p:cNvPr id="357" name="Object 85">
                        <a:extLst>
                          <a:ext uri="{FF2B5EF4-FFF2-40B4-BE49-F238E27FC236}">
                            <a16:creationId xmlns:a16="http://schemas.microsoft.com/office/drawing/2014/main" id="{EE7D8B71-A181-C4C5-989D-5BE2A7BF9A2A}"/>
                          </a:ext>
                        </a:extLst>
                      </p:cNvPr>
                      <p:cNvPicPr>
                        <a:picLocks noChangeAspect="1" noChangeArrowheads="1"/>
                      </p:cNvPicPr>
                      <p:nvPr/>
                    </p:nvPicPr>
                    <p:blipFill>
                      <a:blip r:embed="rId7"/>
                      <a:srcRect/>
                      <a:stretch>
                        <a:fillRect/>
                      </a:stretch>
                    </p:blipFill>
                    <p:spPr bwMode="auto">
                      <a:xfrm>
                        <a:off x="5290198" y="5380038"/>
                        <a:ext cx="1490662" cy="904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78170646"/>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2" presetClass="entr" presetSubtype="1" fill="hold" nodeType="withEffect">
                                  <p:stCondLst>
                                    <p:cond delay="3000"/>
                                  </p:stCondLst>
                                  <p:childTnLst>
                                    <p:set>
                                      <p:cBhvr>
                                        <p:cTn id="8" dur="1" fill="hold">
                                          <p:stCondLst>
                                            <p:cond delay="0"/>
                                          </p:stCondLst>
                                        </p:cTn>
                                        <p:tgtEl>
                                          <p:spTgt spid="289"/>
                                        </p:tgtEl>
                                        <p:attrNameLst>
                                          <p:attrName>style.visibility</p:attrName>
                                        </p:attrNameLst>
                                      </p:cBhvr>
                                      <p:to>
                                        <p:strVal val="visible"/>
                                      </p:to>
                                    </p:set>
                                    <p:animEffect transition="in" filter="slide(fromTop)">
                                      <p:cBhvr>
                                        <p:cTn id="9" dur="5000"/>
                                        <p:tgtEl>
                                          <p:spTgt spid="289"/>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338"/>
                                        </p:tgtEl>
                                        <p:attrNameLst>
                                          <p:attrName>style.visibility</p:attrName>
                                        </p:attrNameLst>
                                      </p:cBhvr>
                                      <p:to>
                                        <p:strVal val="visible"/>
                                      </p:to>
                                    </p:set>
                                  </p:childTnLst>
                                </p:cTn>
                              </p:par>
                              <p:par>
                                <p:cTn id="14" presetID="0" presetClass="path" presetSubtype="0" accel="50000" decel="50000" fill="hold" nodeType="withEffect">
                                  <p:stCondLst>
                                    <p:cond delay="0"/>
                                  </p:stCondLst>
                                  <p:childTnLst>
                                    <p:animMotion origin="layout" path="M -4.16667E-7 1.11111E-6 L 0.16771 -0.01181 " pathEditMode="relative" rAng="0" ptsTypes="AA">
                                      <p:cBhvr>
                                        <p:cTn id="15" dur="5000" spd="-100000" fill="hold"/>
                                        <p:tgtEl>
                                          <p:spTgt spid="338"/>
                                        </p:tgtEl>
                                        <p:attrNameLst>
                                          <p:attrName>ppt_x</p:attrName>
                                          <p:attrName>ppt_y</p:attrName>
                                        </p:attrNameLst>
                                      </p:cBhvr>
                                      <p:rCtr x="8385" y="-602"/>
                                    </p:animMotion>
                                  </p:childTnLst>
                                </p:cTn>
                              </p:par>
                            </p:childTnLst>
                          </p:cTn>
                        </p:par>
                        <p:par>
                          <p:cTn id="16" fill="hold">
                            <p:stCondLst>
                              <p:cond delay="5000"/>
                            </p:stCondLst>
                            <p:childTnLst>
                              <p:par>
                                <p:cTn id="17" presetID="22" presetClass="entr" presetSubtype="4" fill="hold" nodeType="afterEffect">
                                  <p:stCondLst>
                                    <p:cond delay="0"/>
                                  </p:stCondLst>
                                  <p:childTnLst>
                                    <p:set>
                                      <p:cBhvr>
                                        <p:cTn id="18" dur="1" fill="hold">
                                          <p:stCondLst>
                                            <p:cond delay="0"/>
                                          </p:stCondLst>
                                        </p:cTn>
                                        <p:tgtEl>
                                          <p:spTgt spid="336"/>
                                        </p:tgtEl>
                                        <p:attrNameLst>
                                          <p:attrName>style.visibility</p:attrName>
                                        </p:attrNameLst>
                                      </p:cBhvr>
                                      <p:to>
                                        <p:strVal val="visible"/>
                                      </p:to>
                                    </p:set>
                                    <p:animEffect transition="in" filter="wipe(down)">
                                      <p:cBhvr>
                                        <p:cTn id="19" dur="5000"/>
                                        <p:tgtEl>
                                          <p:spTgt spid="336"/>
                                        </p:tgtEl>
                                      </p:cBhvr>
                                    </p:animEffect>
                                  </p:childTnLst>
                                </p:cTn>
                              </p:par>
                              <p:par>
                                <p:cTn id="20" presetID="22" presetClass="entr" presetSubtype="4" fill="hold" nodeType="withEffect">
                                  <p:stCondLst>
                                    <p:cond delay="0"/>
                                  </p:stCondLst>
                                  <p:childTnLst>
                                    <p:set>
                                      <p:cBhvr>
                                        <p:cTn id="21" dur="1" fill="hold">
                                          <p:stCondLst>
                                            <p:cond delay="0"/>
                                          </p:stCondLst>
                                        </p:cTn>
                                        <p:tgtEl>
                                          <p:spTgt spid="335"/>
                                        </p:tgtEl>
                                        <p:attrNameLst>
                                          <p:attrName>style.visibility</p:attrName>
                                        </p:attrNameLst>
                                      </p:cBhvr>
                                      <p:to>
                                        <p:strVal val="visible"/>
                                      </p:to>
                                    </p:set>
                                    <p:animEffect transition="in" filter="wipe(down)">
                                      <p:cBhvr>
                                        <p:cTn id="22" dur="5000"/>
                                        <p:tgtEl>
                                          <p:spTgt spid="335"/>
                                        </p:tgtEl>
                                      </p:cBhvr>
                                    </p:animEffect>
                                  </p:childTnLst>
                                </p:cTn>
                              </p:par>
                              <p:par>
                                <p:cTn id="23" presetID="12" presetClass="entr" presetSubtype="4" fill="hold" nodeType="withEffect">
                                  <p:stCondLst>
                                    <p:cond delay="0"/>
                                  </p:stCondLst>
                                  <p:childTnLst>
                                    <p:set>
                                      <p:cBhvr>
                                        <p:cTn id="24" dur="1" fill="hold">
                                          <p:stCondLst>
                                            <p:cond delay="0"/>
                                          </p:stCondLst>
                                        </p:cTn>
                                        <p:tgtEl>
                                          <p:spTgt spid="288"/>
                                        </p:tgtEl>
                                        <p:attrNameLst>
                                          <p:attrName>style.visibility</p:attrName>
                                        </p:attrNameLst>
                                      </p:cBhvr>
                                      <p:to>
                                        <p:strVal val="visible"/>
                                      </p:to>
                                    </p:set>
                                    <p:animEffect transition="in" filter="slide(fromBottom)">
                                      <p:cBhvr>
                                        <p:cTn id="25" dur="5000"/>
                                        <p:tgtEl>
                                          <p:spTgt spid="288"/>
                                        </p:tgtEl>
                                      </p:cBhvr>
                                    </p:animEffect>
                                  </p:childTnLst>
                                </p:cTn>
                              </p:par>
                              <p:par>
                                <p:cTn id="26" presetID="19" presetClass="entr" presetSubtype="10" fill="hold" grpId="0" nodeType="withEffect">
                                  <p:stCondLst>
                                    <p:cond delay="0"/>
                                  </p:stCondLst>
                                  <p:childTnLst>
                                    <p:set>
                                      <p:cBhvr>
                                        <p:cTn id="27" dur="1" fill="hold">
                                          <p:stCondLst>
                                            <p:cond delay="0"/>
                                          </p:stCondLst>
                                        </p:cTn>
                                        <p:tgtEl>
                                          <p:spTgt spid="157"/>
                                        </p:tgtEl>
                                        <p:attrNameLst>
                                          <p:attrName>style.visibility</p:attrName>
                                        </p:attrNameLst>
                                      </p:cBhvr>
                                      <p:to>
                                        <p:strVal val="visible"/>
                                      </p:to>
                                    </p:set>
                                    <p:anim calcmode="lin" valueType="num">
                                      <p:cBhvr>
                                        <p:cTn id="28" dur="5000" fill="hold"/>
                                        <p:tgtEl>
                                          <p:spTgt spid="157"/>
                                        </p:tgtEl>
                                        <p:attrNameLst>
                                          <p:attrName>ppt_w</p:attrName>
                                        </p:attrNameLst>
                                      </p:cBhvr>
                                      <p:tavLst>
                                        <p:tav tm="0" fmla="#ppt_w*sin(2.5*pi*$)">
                                          <p:val>
                                            <p:fltVal val="0"/>
                                          </p:val>
                                        </p:tav>
                                        <p:tav tm="100000">
                                          <p:val>
                                            <p:fltVal val="1"/>
                                          </p:val>
                                        </p:tav>
                                      </p:tavLst>
                                    </p:anim>
                                    <p:anim calcmode="lin" valueType="num">
                                      <p:cBhvr>
                                        <p:cTn id="29" dur="5000" fill="hold"/>
                                        <p:tgtEl>
                                          <p:spTgt spid="157"/>
                                        </p:tgtEl>
                                        <p:attrNameLst>
                                          <p:attrName>ppt_h</p:attrName>
                                        </p:attrNameLst>
                                      </p:cBhvr>
                                      <p:tavLst>
                                        <p:tav tm="0">
                                          <p:val>
                                            <p:strVal val="#ppt_h"/>
                                          </p:val>
                                        </p:tav>
                                        <p:tav tm="100000">
                                          <p:val>
                                            <p:strVal val="#ppt_h"/>
                                          </p:val>
                                        </p:tav>
                                      </p:tavLst>
                                    </p:anim>
                                  </p:childTnLst>
                                </p:cTn>
                              </p:par>
                              <p:par>
                                <p:cTn id="30" presetID="19" presetClass="entr" presetSubtype="10" fill="hold" grpId="0" nodeType="withEffect">
                                  <p:stCondLst>
                                    <p:cond delay="0"/>
                                  </p:stCondLst>
                                  <p:childTnLst>
                                    <p:set>
                                      <p:cBhvr>
                                        <p:cTn id="31" dur="1" fill="hold">
                                          <p:stCondLst>
                                            <p:cond delay="0"/>
                                          </p:stCondLst>
                                        </p:cTn>
                                        <p:tgtEl>
                                          <p:spTgt spid="337"/>
                                        </p:tgtEl>
                                        <p:attrNameLst>
                                          <p:attrName>style.visibility</p:attrName>
                                        </p:attrNameLst>
                                      </p:cBhvr>
                                      <p:to>
                                        <p:strVal val="visible"/>
                                      </p:to>
                                    </p:set>
                                    <p:anim calcmode="lin" valueType="num">
                                      <p:cBhvr>
                                        <p:cTn id="32" dur="5000" fill="hold"/>
                                        <p:tgtEl>
                                          <p:spTgt spid="337"/>
                                        </p:tgtEl>
                                        <p:attrNameLst>
                                          <p:attrName>ppt_w</p:attrName>
                                        </p:attrNameLst>
                                      </p:cBhvr>
                                      <p:tavLst>
                                        <p:tav tm="0" fmla="#ppt_w*sin(2.5*pi*$)">
                                          <p:val>
                                            <p:fltVal val="0"/>
                                          </p:val>
                                        </p:tav>
                                        <p:tav tm="100000">
                                          <p:val>
                                            <p:fltVal val="1"/>
                                          </p:val>
                                        </p:tav>
                                      </p:tavLst>
                                    </p:anim>
                                    <p:anim calcmode="lin" valueType="num">
                                      <p:cBhvr>
                                        <p:cTn id="33" dur="5000" fill="hold"/>
                                        <p:tgtEl>
                                          <p:spTgt spid="337"/>
                                        </p:tgtEl>
                                        <p:attrNameLst>
                                          <p:attrName>ppt_h</p:attrName>
                                        </p:attrNameLst>
                                      </p:cBhvr>
                                      <p:tavLst>
                                        <p:tav tm="0">
                                          <p:val>
                                            <p:strVal val="#ppt_h"/>
                                          </p:val>
                                        </p:tav>
                                        <p:tav tm="100000">
                                          <p:val>
                                            <p:strVal val="#ppt_h"/>
                                          </p:val>
                                        </p:tav>
                                      </p:tavLst>
                                    </p:anim>
                                  </p:childTnLst>
                                </p:cTn>
                              </p:par>
                              <p:par>
                                <p:cTn id="34" presetID="19" presetClass="entr" presetSubtype="10" fill="hold" grpId="0" nodeType="withEffect">
                                  <p:stCondLst>
                                    <p:cond delay="0"/>
                                  </p:stCondLst>
                                  <p:childTnLst>
                                    <p:set>
                                      <p:cBhvr>
                                        <p:cTn id="35" dur="1" fill="hold">
                                          <p:stCondLst>
                                            <p:cond delay="0"/>
                                          </p:stCondLst>
                                        </p:cTn>
                                        <p:tgtEl>
                                          <p:spTgt spid="158"/>
                                        </p:tgtEl>
                                        <p:attrNameLst>
                                          <p:attrName>style.visibility</p:attrName>
                                        </p:attrNameLst>
                                      </p:cBhvr>
                                      <p:to>
                                        <p:strVal val="visible"/>
                                      </p:to>
                                    </p:set>
                                    <p:anim calcmode="lin" valueType="num">
                                      <p:cBhvr>
                                        <p:cTn id="36" dur="5000" fill="hold"/>
                                        <p:tgtEl>
                                          <p:spTgt spid="158"/>
                                        </p:tgtEl>
                                        <p:attrNameLst>
                                          <p:attrName>ppt_w</p:attrName>
                                        </p:attrNameLst>
                                      </p:cBhvr>
                                      <p:tavLst>
                                        <p:tav tm="0" fmla="#ppt_w*sin(2.5*pi*$)">
                                          <p:val>
                                            <p:fltVal val="0"/>
                                          </p:val>
                                        </p:tav>
                                        <p:tav tm="100000">
                                          <p:val>
                                            <p:fltVal val="1"/>
                                          </p:val>
                                        </p:tav>
                                      </p:tavLst>
                                    </p:anim>
                                    <p:anim calcmode="lin" valueType="num">
                                      <p:cBhvr>
                                        <p:cTn id="37" dur="5000" fill="hold"/>
                                        <p:tgtEl>
                                          <p:spTgt spid="158"/>
                                        </p:tgtEl>
                                        <p:attrNameLst>
                                          <p:attrName>ppt_h</p:attrName>
                                        </p:attrNameLst>
                                      </p:cBhvr>
                                      <p:tavLst>
                                        <p:tav tm="0">
                                          <p:val>
                                            <p:strVal val="#ppt_h"/>
                                          </p:val>
                                        </p:tav>
                                        <p:tav tm="100000">
                                          <p:val>
                                            <p:strVal val="#ppt_h"/>
                                          </p:val>
                                        </p:tav>
                                      </p:tavLst>
                                    </p:anim>
                                  </p:childTnLst>
                                </p:cTn>
                              </p:par>
                            </p:childTnLst>
                          </p:cTn>
                        </p:par>
                        <p:par>
                          <p:cTn id="38" fill="hold">
                            <p:stCondLst>
                              <p:cond delay="10000"/>
                            </p:stCondLst>
                            <p:childTnLst>
                              <p:par>
                                <p:cTn id="39" presetID="12" presetClass="entr" presetSubtype="8" fill="hold" nodeType="afterEffect">
                                  <p:stCondLst>
                                    <p:cond delay="0"/>
                                  </p:stCondLst>
                                  <p:childTnLst>
                                    <p:set>
                                      <p:cBhvr>
                                        <p:cTn id="40" dur="1" fill="hold">
                                          <p:stCondLst>
                                            <p:cond delay="0"/>
                                          </p:stCondLst>
                                        </p:cTn>
                                        <p:tgtEl>
                                          <p:spTgt spid="153"/>
                                        </p:tgtEl>
                                        <p:attrNameLst>
                                          <p:attrName>style.visibility</p:attrName>
                                        </p:attrNameLst>
                                      </p:cBhvr>
                                      <p:to>
                                        <p:strVal val="visible"/>
                                      </p:to>
                                    </p:set>
                                    <p:animEffect transition="in" filter="slide(fromLeft)">
                                      <p:cBhvr>
                                        <p:cTn id="41" dur="3000"/>
                                        <p:tgtEl>
                                          <p:spTgt spid="153"/>
                                        </p:tgtEl>
                                      </p:cBhvr>
                                    </p:animEffect>
                                  </p:childTnLst>
                                </p:cTn>
                              </p:par>
                              <p:par>
                                <p:cTn id="42" presetID="19" presetClass="entr" presetSubtype="10" fill="hold" nodeType="withEffect">
                                  <p:stCondLst>
                                    <p:cond delay="0"/>
                                  </p:stCondLst>
                                  <p:childTnLst>
                                    <p:set>
                                      <p:cBhvr>
                                        <p:cTn id="43" dur="1" fill="hold">
                                          <p:stCondLst>
                                            <p:cond delay="0"/>
                                          </p:stCondLst>
                                        </p:cTn>
                                        <p:tgtEl>
                                          <p:spTgt spid="156"/>
                                        </p:tgtEl>
                                        <p:attrNameLst>
                                          <p:attrName>style.visibility</p:attrName>
                                        </p:attrNameLst>
                                      </p:cBhvr>
                                      <p:to>
                                        <p:strVal val="visible"/>
                                      </p:to>
                                    </p:set>
                                    <p:anim calcmode="lin" valueType="num">
                                      <p:cBhvr>
                                        <p:cTn id="44" dur="5000" fill="hold"/>
                                        <p:tgtEl>
                                          <p:spTgt spid="156"/>
                                        </p:tgtEl>
                                        <p:attrNameLst>
                                          <p:attrName>ppt_w</p:attrName>
                                        </p:attrNameLst>
                                      </p:cBhvr>
                                      <p:tavLst>
                                        <p:tav tm="0" fmla="#ppt_w*sin(2.5*pi*$)">
                                          <p:val>
                                            <p:fltVal val="0"/>
                                          </p:val>
                                        </p:tav>
                                        <p:tav tm="100000">
                                          <p:val>
                                            <p:fltVal val="1"/>
                                          </p:val>
                                        </p:tav>
                                      </p:tavLst>
                                    </p:anim>
                                    <p:anim calcmode="lin" valueType="num">
                                      <p:cBhvr>
                                        <p:cTn id="45" dur="5000" fill="hold"/>
                                        <p:tgtEl>
                                          <p:spTgt spid="156"/>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42"/>
                                            </p:cond>
                                          </p:stCondLst>
                                          <p:endCondLst>
                                            <p:cond evt="onStopAudio" delay="0">
                                              <p:tgtEl>
                                                <p:sldTgt/>
                                              </p:tgtEl>
                                            </p:cond>
                                          </p:endCondLst>
                                        </p:cTn>
                                        <p:tgtEl>
                                          <p:sndTgt r:embed="rId3" name="CAMERA.WAV"/>
                                        </p:tgtEl>
                                      </p:cMediaNode>
                                    </p:audio>
                                  </p:subTnLst>
                                </p:cTn>
                              </p:par>
                            </p:childTnLst>
                          </p:cTn>
                        </p:par>
                        <p:par>
                          <p:cTn id="46" fill="hold">
                            <p:stCondLst>
                              <p:cond delay="15000"/>
                            </p:stCondLst>
                            <p:childTnLst>
                              <p:par>
                                <p:cTn id="47" presetID="12" presetClass="entr" presetSubtype="4" fill="hold" nodeType="afterEffect">
                                  <p:stCondLst>
                                    <p:cond delay="0"/>
                                  </p:stCondLst>
                                  <p:childTnLst>
                                    <p:set>
                                      <p:cBhvr>
                                        <p:cTn id="48" dur="1" fill="hold">
                                          <p:stCondLst>
                                            <p:cond delay="0"/>
                                          </p:stCondLst>
                                        </p:cTn>
                                        <p:tgtEl>
                                          <p:spTgt spid="154"/>
                                        </p:tgtEl>
                                        <p:attrNameLst>
                                          <p:attrName>style.visibility</p:attrName>
                                        </p:attrNameLst>
                                      </p:cBhvr>
                                      <p:to>
                                        <p:strVal val="visible"/>
                                      </p:to>
                                    </p:set>
                                    <p:animEffect transition="in" filter="slide(fromBottom)">
                                      <p:cBhvr>
                                        <p:cTn id="49" dur="3000"/>
                                        <p:tgtEl>
                                          <p:spTgt spid="154"/>
                                        </p:tgtEl>
                                      </p:cBhvr>
                                    </p:animEffect>
                                  </p:childTnLst>
                                </p:cTn>
                              </p:par>
                              <p:par>
                                <p:cTn id="50" presetID="19" presetClass="entr" presetSubtype="10" fill="hold" grpId="0" nodeType="withEffect">
                                  <p:stCondLst>
                                    <p:cond delay="0"/>
                                  </p:stCondLst>
                                  <p:childTnLst>
                                    <p:set>
                                      <p:cBhvr>
                                        <p:cTn id="51" dur="1" fill="hold">
                                          <p:stCondLst>
                                            <p:cond delay="0"/>
                                          </p:stCondLst>
                                        </p:cTn>
                                        <p:tgtEl>
                                          <p:spTgt spid="159"/>
                                        </p:tgtEl>
                                        <p:attrNameLst>
                                          <p:attrName>style.visibility</p:attrName>
                                        </p:attrNameLst>
                                      </p:cBhvr>
                                      <p:to>
                                        <p:strVal val="visible"/>
                                      </p:to>
                                    </p:set>
                                    <p:anim calcmode="lin" valueType="num">
                                      <p:cBhvr>
                                        <p:cTn id="52" dur="5000" fill="hold"/>
                                        <p:tgtEl>
                                          <p:spTgt spid="159"/>
                                        </p:tgtEl>
                                        <p:attrNameLst>
                                          <p:attrName>ppt_w</p:attrName>
                                        </p:attrNameLst>
                                      </p:cBhvr>
                                      <p:tavLst>
                                        <p:tav tm="0" fmla="#ppt_w*sin(2.5*pi*$)">
                                          <p:val>
                                            <p:fltVal val="0"/>
                                          </p:val>
                                        </p:tav>
                                        <p:tav tm="100000">
                                          <p:val>
                                            <p:fltVal val="1"/>
                                          </p:val>
                                        </p:tav>
                                      </p:tavLst>
                                    </p:anim>
                                    <p:anim calcmode="lin" valueType="num">
                                      <p:cBhvr>
                                        <p:cTn id="53" dur="5000" fill="hold"/>
                                        <p:tgtEl>
                                          <p:spTgt spid="159"/>
                                        </p:tgtEl>
                                        <p:attrNameLst>
                                          <p:attrName>ppt_h</p:attrName>
                                        </p:attrNameLst>
                                      </p:cBhvr>
                                      <p:tavLst>
                                        <p:tav tm="0">
                                          <p:val>
                                            <p:strVal val="#ppt_h"/>
                                          </p:val>
                                        </p:tav>
                                        <p:tav tm="100000">
                                          <p:val>
                                            <p:strVal val="#ppt_h"/>
                                          </p:val>
                                        </p:tav>
                                      </p:tavLst>
                                    </p:anim>
                                  </p:childTnLst>
                                </p:cTn>
                              </p:par>
                              <p:par>
                                <p:cTn id="54" presetID="17" presetClass="entr" presetSubtype="10" fill="hold" nodeType="withEffect">
                                  <p:stCondLst>
                                    <p:cond delay="0"/>
                                  </p:stCondLst>
                                  <p:childTnLst>
                                    <p:set>
                                      <p:cBhvr>
                                        <p:cTn id="55" dur="1" fill="hold">
                                          <p:stCondLst>
                                            <p:cond delay="0"/>
                                          </p:stCondLst>
                                        </p:cTn>
                                        <p:tgtEl>
                                          <p:spTgt spid="314"/>
                                        </p:tgtEl>
                                        <p:attrNameLst>
                                          <p:attrName>style.visibility</p:attrName>
                                        </p:attrNameLst>
                                      </p:cBhvr>
                                      <p:to>
                                        <p:strVal val="visible"/>
                                      </p:to>
                                    </p:set>
                                    <p:anim calcmode="lin" valueType="num">
                                      <p:cBhvr>
                                        <p:cTn id="56" dur="5000" fill="hold"/>
                                        <p:tgtEl>
                                          <p:spTgt spid="314"/>
                                        </p:tgtEl>
                                        <p:attrNameLst>
                                          <p:attrName>ppt_w</p:attrName>
                                        </p:attrNameLst>
                                      </p:cBhvr>
                                      <p:tavLst>
                                        <p:tav tm="0">
                                          <p:val>
                                            <p:fltVal val="0"/>
                                          </p:val>
                                        </p:tav>
                                        <p:tav tm="100000">
                                          <p:val>
                                            <p:strVal val="#ppt_w"/>
                                          </p:val>
                                        </p:tav>
                                      </p:tavLst>
                                    </p:anim>
                                    <p:anim calcmode="lin" valueType="num">
                                      <p:cBhvr>
                                        <p:cTn id="57" dur="5000" fill="hold"/>
                                        <p:tgtEl>
                                          <p:spTgt spid="314"/>
                                        </p:tgtEl>
                                        <p:attrNameLst>
                                          <p:attrName>ppt_h</p:attrName>
                                        </p:attrNameLst>
                                      </p:cBhvr>
                                      <p:tavLst>
                                        <p:tav tm="0">
                                          <p:val>
                                            <p:strVal val="#ppt_h"/>
                                          </p:val>
                                        </p:tav>
                                        <p:tav tm="100000">
                                          <p:val>
                                            <p:strVal val="#ppt_h"/>
                                          </p:val>
                                        </p:tav>
                                      </p:tavLst>
                                    </p:anim>
                                  </p:childTnLst>
                                </p:cTn>
                              </p:par>
                            </p:childTnLst>
                          </p:cTn>
                        </p:par>
                      </p:childTnLst>
                    </p:cTn>
                  </p:par>
                  <p:par>
                    <p:cTn id="58" fill="hold">
                      <p:stCondLst>
                        <p:cond delay="indefinite"/>
                      </p:stCondLst>
                      <p:childTnLst>
                        <p:par>
                          <p:cTn id="59" fill="hold">
                            <p:stCondLst>
                              <p:cond delay="0"/>
                            </p:stCondLst>
                            <p:childTnLst>
                              <p:par>
                                <p:cTn id="60" presetID="22" presetClass="entr" presetSubtype="1" fill="hold" nodeType="clickEffect">
                                  <p:stCondLst>
                                    <p:cond delay="0"/>
                                  </p:stCondLst>
                                  <p:childTnLst>
                                    <p:set>
                                      <p:cBhvr>
                                        <p:cTn id="61" dur="1" fill="hold">
                                          <p:stCondLst>
                                            <p:cond delay="0"/>
                                          </p:stCondLst>
                                        </p:cTn>
                                        <p:tgtEl>
                                          <p:spTgt spid="344"/>
                                        </p:tgtEl>
                                        <p:attrNameLst>
                                          <p:attrName>style.visibility</p:attrName>
                                        </p:attrNameLst>
                                      </p:cBhvr>
                                      <p:to>
                                        <p:strVal val="visible"/>
                                      </p:to>
                                    </p:set>
                                    <p:animEffect transition="in" filter="wipe(up)">
                                      <p:cBhvr>
                                        <p:cTn id="62" dur="3000"/>
                                        <p:tgtEl>
                                          <p:spTgt spid="344"/>
                                        </p:tgtEl>
                                      </p:cBhvr>
                                    </p:animEffect>
                                  </p:childTnLst>
                                </p:cTn>
                              </p:par>
                              <p:par>
                                <p:cTn id="63" presetID="19" presetClass="entr" presetSubtype="10" fill="hold" grpId="0" nodeType="withEffect">
                                  <p:stCondLst>
                                    <p:cond delay="0"/>
                                  </p:stCondLst>
                                  <p:childTnLst>
                                    <p:set>
                                      <p:cBhvr>
                                        <p:cTn id="64" dur="1" fill="hold">
                                          <p:stCondLst>
                                            <p:cond delay="0"/>
                                          </p:stCondLst>
                                        </p:cTn>
                                        <p:tgtEl>
                                          <p:spTgt spid="343"/>
                                        </p:tgtEl>
                                        <p:attrNameLst>
                                          <p:attrName>style.visibility</p:attrName>
                                        </p:attrNameLst>
                                      </p:cBhvr>
                                      <p:to>
                                        <p:strVal val="visible"/>
                                      </p:to>
                                    </p:set>
                                    <p:anim calcmode="lin" valueType="num">
                                      <p:cBhvr>
                                        <p:cTn id="65" dur="5000" fill="hold"/>
                                        <p:tgtEl>
                                          <p:spTgt spid="343"/>
                                        </p:tgtEl>
                                        <p:attrNameLst>
                                          <p:attrName>ppt_w</p:attrName>
                                        </p:attrNameLst>
                                      </p:cBhvr>
                                      <p:tavLst>
                                        <p:tav tm="0" fmla="#ppt_w*sin(2.5*pi*$)">
                                          <p:val>
                                            <p:fltVal val="0"/>
                                          </p:val>
                                        </p:tav>
                                        <p:tav tm="100000">
                                          <p:val>
                                            <p:fltVal val="1"/>
                                          </p:val>
                                        </p:tav>
                                      </p:tavLst>
                                    </p:anim>
                                    <p:anim calcmode="lin" valueType="num">
                                      <p:cBhvr>
                                        <p:cTn id="66" dur="5000" fill="hold"/>
                                        <p:tgtEl>
                                          <p:spTgt spid="343"/>
                                        </p:tgtEl>
                                        <p:attrNameLst>
                                          <p:attrName>ppt_h</p:attrName>
                                        </p:attrNameLst>
                                      </p:cBhvr>
                                      <p:tavLst>
                                        <p:tav tm="0">
                                          <p:val>
                                            <p:strVal val="#ppt_h"/>
                                          </p:val>
                                        </p:tav>
                                        <p:tav tm="100000">
                                          <p:val>
                                            <p:strVal val="#ppt_h"/>
                                          </p:val>
                                        </p:tav>
                                      </p:tavLst>
                                    </p:anim>
                                  </p:childTnLst>
                                </p:cTn>
                              </p:par>
                            </p:childTnLst>
                          </p:cTn>
                        </p:par>
                        <p:par>
                          <p:cTn id="67" fill="hold">
                            <p:stCondLst>
                              <p:cond delay="5000"/>
                            </p:stCondLst>
                            <p:childTnLst>
                              <p:par>
                                <p:cTn id="68" presetID="22" presetClass="entr" presetSubtype="8" fill="hold" nodeType="afterEffect">
                                  <p:stCondLst>
                                    <p:cond delay="0"/>
                                  </p:stCondLst>
                                  <p:childTnLst>
                                    <p:set>
                                      <p:cBhvr>
                                        <p:cTn id="69" dur="1" fill="hold">
                                          <p:stCondLst>
                                            <p:cond delay="0"/>
                                          </p:stCondLst>
                                        </p:cTn>
                                        <p:tgtEl>
                                          <p:spTgt spid="351"/>
                                        </p:tgtEl>
                                        <p:attrNameLst>
                                          <p:attrName>style.visibility</p:attrName>
                                        </p:attrNameLst>
                                      </p:cBhvr>
                                      <p:to>
                                        <p:strVal val="visible"/>
                                      </p:to>
                                    </p:set>
                                    <p:animEffect transition="in" filter="wipe(left)">
                                      <p:cBhvr>
                                        <p:cTn id="70" dur="3000"/>
                                        <p:tgtEl>
                                          <p:spTgt spid="351"/>
                                        </p:tgtEl>
                                      </p:cBhvr>
                                    </p:animEffect>
                                  </p:childTnLst>
                                </p:cTn>
                              </p:par>
                              <p:par>
                                <p:cTn id="71" presetID="22" presetClass="entr" presetSubtype="8" fill="hold" nodeType="withEffect">
                                  <p:stCondLst>
                                    <p:cond delay="0"/>
                                  </p:stCondLst>
                                  <p:childTnLst>
                                    <p:set>
                                      <p:cBhvr>
                                        <p:cTn id="72" dur="1" fill="hold">
                                          <p:stCondLst>
                                            <p:cond delay="0"/>
                                          </p:stCondLst>
                                        </p:cTn>
                                        <p:tgtEl>
                                          <p:spTgt spid="353"/>
                                        </p:tgtEl>
                                        <p:attrNameLst>
                                          <p:attrName>style.visibility</p:attrName>
                                        </p:attrNameLst>
                                      </p:cBhvr>
                                      <p:to>
                                        <p:strVal val="visible"/>
                                      </p:to>
                                    </p:set>
                                    <p:animEffect transition="in" filter="wipe(left)">
                                      <p:cBhvr>
                                        <p:cTn id="73" dur="3000"/>
                                        <p:tgtEl>
                                          <p:spTgt spid="353"/>
                                        </p:tgtEl>
                                      </p:cBhvr>
                                    </p:animEffect>
                                  </p:childTnLst>
                                </p:cTn>
                              </p:par>
                            </p:childTnLst>
                          </p:cTn>
                        </p:par>
                        <p:par>
                          <p:cTn id="74" fill="hold">
                            <p:stCondLst>
                              <p:cond delay="8000"/>
                            </p:stCondLst>
                            <p:childTnLst>
                              <p:par>
                                <p:cTn id="75" presetID="16" presetClass="entr" presetSubtype="42" fill="hold" nodeType="afterEffect">
                                  <p:stCondLst>
                                    <p:cond delay="0"/>
                                  </p:stCondLst>
                                  <p:childTnLst>
                                    <p:set>
                                      <p:cBhvr>
                                        <p:cTn id="76" dur="1" fill="hold">
                                          <p:stCondLst>
                                            <p:cond delay="0"/>
                                          </p:stCondLst>
                                        </p:cTn>
                                        <p:tgtEl>
                                          <p:spTgt spid="352"/>
                                        </p:tgtEl>
                                        <p:attrNameLst>
                                          <p:attrName>style.visibility</p:attrName>
                                        </p:attrNameLst>
                                      </p:cBhvr>
                                      <p:to>
                                        <p:strVal val="visible"/>
                                      </p:to>
                                    </p:set>
                                    <p:animEffect transition="in" filter="barn(outHorizontal)">
                                      <p:cBhvr>
                                        <p:cTn id="77" dur="3000"/>
                                        <p:tgtEl>
                                          <p:spTgt spid="352"/>
                                        </p:tgtEl>
                                      </p:cBhvr>
                                    </p:animEffect>
                                  </p:childTnLst>
                                </p:cTn>
                              </p:par>
                              <p:par>
                                <p:cTn id="78" presetID="19" presetClass="entr" presetSubtype="5" fill="hold" nodeType="withEffect">
                                  <p:stCondLst>
                                    <p:cond delay="0"/>
                                  </p:stCondLst>
                                  <p:childTnLst>
                                    <p:set>
                                      <p:cBhvr>
                                        <p:cTn id="79" dur="1" fill="hold">
                                          <p:stCondLst>
                                            <p:cond delay="0"/>
                                          </p:stCondLst>
                                        </p:cTn>
                                        <p:tgtEl>
                                          <p:spTgt spid="354"/>
                                        </p:tgtEl>
                                        <p:attrNameLst>
                                          <p:attrName>style.visibility</p:attrName>
                                        </p:attrNameLst>
                                      </p:cBhvr>
                                      <p:to>
                                        <p:strVal val="visible"/>
                                      </p:to>
                                    </p:set>
                                    <p:anim calcmode="lin" valueType="num">
                                      <p:cBhvr>
                                        <p:cTn id="80" dur="5000" fill="hold"/>
                                        <p:tgtEl>
                                          <p:spTgt spid="354"/>
                                        </p:tgtEl>
                                        <p:attrNameLst>
                                          <p:attrName>ppt_w</p:attrName>
                                        </p:attrNameLst>
                                      </p:cBhvr>
                                      <p:tavLst>
                                        <p:tav tm="0">
                                          <p:val>
                                            <p:strVal val="#ppt_w"/>
                                          </p:val>
                                        </p:tav>
                                        <p:tav tm="100000">
                                          <p:val>
                                            <p:strVal val="#ppt_w"/>
                                          </p:val>
                                        </p:tav>
                                      </p:tavLst>
                                    </p:anim>
                                    <p:anim calcmode="lin" valueType="num">
                                      <p:cBhvr>
                                        <p:cTn id="81" dur="5000" fill="hold"/>
                                        <p:tgtEl>
                                          <p:spTgt spid="354"/>
                                        </p:tgtEl>
                                        <p:attrNameLst>
                                          <p:attrName>ppt_h</p:attrName>
                                        </p:attrNameLst>
                                      </p:cBhvr>
                                      <p:tavLst>
                                        <p:tav tm="0" fmla="#ppt_h*sin(2.5*pi*$)">
                                          <p:val>
                                            <p:fltVal val="0"/>
                                          </p:val>
                                        </p:tav>
                                        <p:tav tm="100000">
                                          <p:val>
                                            <p:fltVal val="1"/>
                                          </p:val>
                                        </p:tav>
                                      </p:tavLst>
                                    </p:anim>
                                  </p:childTnLst>
                                  <p:subTnLst>
                                    <p:audio>
                                      <p:cMediaNode>
                                        <p:cTn display="0" masterRel="sameClick">
                                          <p:stCondLst>
                                            <p:cond evt="begin" delay="0">
                                              <p:tn val="78"/>
                                            </p:cond>
                                          </p:stCondLst>
                                          <p:endCondLst>
                                            <p:cond evt="onStopAudio" delay="0">
                                              <p:tgtEl>
                                                <p:sldTgt/>
                                              </p:tgtEl>
                                            </p:cond>
                                          </p:endCondLst>
                                        </p:cTn>
                                        <p:tgtEl>
                                          <p:sndTgt r:embed="rId3" name="CAMERA.WAV"/>
                                        </p:tgtEl>
                                      </p:cMediaNode>
                                    </p:audio>
                                  </p:subTnLst>
                                </p:cTn>
                              </p:par>
                            </p:childTnLst>
                          </p:cTn>
                        </p:par>
                      </p:childTnLst>
                    </p:cTn>
                  </p:par>
                  <p:par>
                    <p:cTn id="82" fill="hold">
                      <p:stCondLst>
                        <p:cond delay="indefinite"/>
                      </p:stCondLst>
                      <p:childTnLst>
                        <p:par>
                          <p:cTn id="83" fill="hold">
                            <p:stCondLst>
                              <p:cond delay="0"/>
                            </p:stCondLst>
                            <p:childTnLst>
                              <p:par>
                                <p:cTn id="84" presetID="22" presetClass="entr" presetSubtype="2" fill="hold" nodeType="clickEffect">
                                  <p:stCondLst>
                                    <p:cond delay="0"/>
                                  </p:stCondLst>
                                  <p:childTnLst>
                                    <p:set>
                                      <p:cBhvr>
                                        <p:cTn id="85" dur="1" fill="hold">
                                          <p:stCondLst>
                                            <p:cond delay="0"/>
                                          </p:stCondLst>
                                        </p:cTn>
                                        <p:tgtEl>
                                          <p:spTgt spid="348"/>
                                        </p:tgtEl>
                                        <p:attrNameLst>
                                          <p:attrName>style.visibility</p:attrName>
                                        </p:attrNameLst>
                                      </p:cBhvr>
                                      <p:to>
                                        <p:strVal val="visible"/>
                                      </p:to>
                                    </p:set>
                                    <p:animEffect transition="in" filter="wipe(right)">
                                      <p:cBhvr>
                                        <p:cTn id="86" dur="3000"/>
                                        <p:tgtEl>
                                          <p:spTgt spid="348"/>
                                        </p:tgtEl>
                                      </p:cBhvr>
                                    </p:animEffect>
                                  </p:childTnLst>
                                </p:cTn>
                              </p:par>
                              <p:par>
                                <p:cTn id="87" presetID="22" presetClass="entr" presetSubtype="2" fill="hold" nodeType="withEffect">
                                  <p:stCondLst>
                                    <p:cond delay="0"/>
                                  </p:stCondLst>
                                  <p:childTnLst>
                                    <p:set>
                                      <p:cBhvr>
                                        <p:cTn id="88" dur="1" fill="hold">
                                          <p:stCondLst>
                                            <p:cond delay="0"/>
                                          </p:stCondLst>
                                        </p:cTn>
                                        <p:tgtEl>
                                          <p:spTgt spid="350"/>
                                        </p:tgtEl>
                                        <p:attrNameLst>
                                          <p:attrName>style.visibility</p:attrName>
                                        </p:attrNameLst>
                                      </p:cBhvr>
                                      <p:to>
                                        <p:strVal val="visible"/>
                                      </p:to>
                                    </p:set>
                                    <p:animEffect transition="in" filter="wipe(right)">
                                      <p:cBhvr>
                                        <p:cTn id="89" dur="3000"/>
                                        <p:tgtEl>
                                          <p:spTgt spid="350"/>
                                        </p:tgtEl>
                                      </p:cBhvr>
                                    </p:animEffect>
                                  </p:childTnLst>
                                </p:cTn>
                              </p:par>
                            </p:childTnLst>
                          </p:cTn>
                        </p:par>
                        <p:par>
                          <p:cTn id="90" fill="hold">
                            <p:stCondLst>
                              <p:cond delay="3000"/>
                            </p:stCondLst>
                            <p:childTnLst>
                              <p:par>
                                <p:cTn id="91" presetID="16" presetClass="entr" presetSubtype="42" fill="hold" nodeType="afterEffect">
                                  <p:stCondLst>
                                    <p:cond delay="0"/>
                                  </p:stCondLst>
                                  <p:childTnLst>
                                    <p:set>
                                      <p:cBhvr>
                                        <p:cTn id="92" dur="1" fill="hold">
                                          <p:stCondLst>
                                            <p:cond delay="0"/>
                                          </p:stCondLst>
                                        </p:cTn>
                                        <p:tgtEl>
                                          <p:spTgt spid="349"/>
                                        </p:tgtEl>
                                        <p:attrNameLst>
                                          <p:attrName>style.visibility</p:attrName>
                                        </p:attrNameLst>
                                      </p:cBhvr>
                                      <p:to>
                                        <p:strVal val="visible"/>
                                      </p:to>
                                    </p:set>
                                    <p:animEffect transition="in" filter="barn(outHorizontal)">
                                      <p:cBhvr>
                                        <p:cTn id="93" dur="3000"/>
                                        <p:tgtEl>
                                          <p:spTgt spid="349"/>
                                        </p:tgtEl>
                                      </p:cBhvr>
                                    </p:animEffect>
                                  </p:childTnLst>
                                </p:cTn>
                              </p:par>
                              <p:par>
                                <p:cTn id="94" presetID="19" presetClass="entr" presetSubtype="10" fill="hold" nodeType="withEffect">
                                  <p:stCondLst>
                                    <p:cond delay="0"/>
                                  </p:stCondLst>
                                  <p:childTnLst>
                                    <p:set>
                                      <p:cBhvr>
                                        <p:cTn id="95" dur="1" fill="hold">
                                          <p:stCondLst>
                                            <p:cond delay="0"/>
                                          </p:stCondLst>
                                        </p:cTn>
                                        <p:tgtEl>
                                          <p:spTgt spid="155"/>
                                        </p:tgtEl>
                                        <p:attrNameLst>
                                          <p:attrName>style.visibility</p:attrName>
                                        </p:attrNameLst>
                                      </p:cBhvr>
                                      <p:to>
                                        <p:strVal val="visible"/>
                                      </p:to>
                                    </p:set>
                                    <p:anim calcmode="lin" valueType="num">
                                      <p:cBhvr>
                                        <p:cTn id="96" dur="5000" fill="hold"/>
                                        <p:tgtEl>
                                          <p:spTgt spid="155"/>
                                        </p:tgtEl>
                                        <p:attrNameLst>
                                          <p:attrName>ppt_w</p:attrName>
                                        </p:attrNameLst>
                                      </p:cBhvr>
                                      <p:tavLst>
                                        <p:tav tm="0" fmla="#ppt_w*sin(2.5*pi*$)">
                                          <p:val>
                                            <p:fltVal val="0"/>
                                          </p:val>
                                        </p:tav>
                                        <p:tav tm="100000">
                                          <p:val>
                                            <p:fltVal val="1"/>
                                          </p:val>
                                        </p:tav>
                                      </p:tavLst>
                                    </p:anim>
                                    <p:anim calcmode="lin" valueType="num">
                                      <p:cBhvr>
                                        <p:cTn id="97" dur="5000" fill="hold"/>
                                        <p:tgtEl>
                                          <p:spTgt spid="155"/>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94"/>
                                            </p:cond>
                                          </p:stCondLst>
                                          <p:endCondLst>
                                            <p:cond evt="onStopAudio" delay="0">
                                              <p:tgtEl>
                                                <p:sldTgt/>
                                              </p:tgtEl>
                                            </p:cond>
                                          </p:endCondLst>
                                        </p:cTn>
                                        <p:tgtEl>
                                          <p:sndTgt r:embed="rId3" name="CAMERA.WAV"/>
                                        </p:tgtEl>
                                      </p:cMediaNode>
                                    </p:audio>
                                  </p:subTnLst>
                                </p:cTn>
                              </p:par>
                              <p:par>
                                <p:cTn id="98" presetID="19" presetClass="entr" presetSubtype="10" fill="hold" grpId="0" nodeType="withEffect">
                                  <p:stCondLst>
                                    <p:cond delay="0"/>
                                  </p:stCondLst>
                                  <p:childTnLst>
                                    <p:set>
                                      <p:cBhvr>
                                        <p:cTn id="99" dur="1" fill="hold">
                                          <p:stCondLst>
                                            <p:cond delay="0"/>
                                          </p:stCondLst>
                                        </p:cTn>
                                        <p:tgtEl>
                                          <p:spTgt spid="355"/>
                                        </p:tgtEl>
                                        <p:attrNameLst>
                                          <p:attrName>style.visibility</p:attrName>
                                        </p:attrNameLst>
                                      </p:cBhvr>
                                      <p:to>
                                        <p:strVal val="visible"/>
                                      </p:to>
                                    </p:set>
                                    <p:anim calcmode="lin" valueType="num">
                                      <p:cBhvr>
                                        <p:cTn id="100" dur="5000" fill="hold"/>
                                        <p:tgtEl>
                                          <p:spTgt spid="355"/>
                                        </p:tgtEl>
                                        <p:attrNameLst>
                                          <p:attrName>ppt_w</p:attrName>
                                        </p:attrNameLst>
                                      </p:cBhvr>
                                      <p:tavLst>
                                        <p:tav tm="0" fmla="#ppt_w*sin(2.5*pi*$)">
                                          <p:val>
                                            <p:fltVal val="0"/>
                                          </p:val>
                                        </p:tav>
                                        <p:tav tm="100000">
                                          <p:val>
                                            <p:fltVal val="1"/>
                                          </p:val>
                                        </p:tav>
                                      </p:tavLst>
                                    </p:anim>
                                    <p:anim calcmode="lin" valueType="num">
                                      <p:cBhvr>
                                        <p:cTn id="101" dur="5000" fill="hold"/>
                                        <p:tgtEl>
                                          <p:spTgt spid="355"/>
                                        </p:tgtEl>
                                        <p:attrNameLst>
                                          <p:attrName>ppt_h</p:attrName>
                                        </p:attrNameLst>
                                      </p:cBhvr>
                                      <p:tavLst>
                                        <p:tav tm="0">
                                          <p:val>
                                            <p:strVal val="#ppt_h"/>
                                          </p:val>
                                        </p:tav>
                                        <p:tav tm="100000">
                                          <p:val>
                                            <p:strVal val="#ppt_h"/>
                                          </p:val>
                                        </p:tav>
                                      </p:tavLst>
                                    </p:anim>
                                  </p:childTnLst>
                                </p:cTn>
                              </p:par>
                            </p:childTnLst>
                          </p:cTn>
                        </p:par>
                      </p:childTnLst>
                    </p:cTn>
                  </p:par>
                  <p:par>
                    <p:cTn id="102" fill="hold">
                      <p:stCondLst>
                        <p:cond delay="indefinite"/>
                      </p:stCondLst>
                      <p:childTnLst>
                        <p:par>
                          <p:cTn id="103" fill="hold">
                            <p:stCondLst>
                              <p:cond delay="0"/>
                            </p:stCondLst>
                            <p:childTnLst>
                              <p:par>
                                <p:cTn id="104" presetID="1" presetClass="entr" presetSubtype="0" fill="hold" grpId="0" nodeType="clickEffect">
                                  <p:stCondLst>
                                    <p:cond delay="0"/>
                                  </p:stCondLst>
                                  <p:childTnLst>
                                    <p:set>
                                      <p:cBhvr>
                                        <p:cTn id="105" dur="1" fill="hold">
                                          <p:stCondLst>
                                            <p:cond delay="0"/>
                                          </p:stCondLst>
                                        </p:cTn>
                                        <p:tgtEl>
                                          <p:spTgt spid="136"/>
                                        </p:tgtEl>
                                        <p:attrNameLst>
                                          <p:attrName>style.visibility</p:attrName>
                                        </p:attrNameLst>
                                      </p:cBhvr>
                                      <p:to>
                                        <p:strVal val="visible"/>
                                      </p:to>
                                    </p:set>
                                  </p:childTnLst>
                                </p:cTn>
                              </p:par>
                            </p:childTnLst>
                          </p:cTn>
                        </p:par>
                      </p:childTnLst>
                    </p:cTn>
                  </p:par>
                  <p:par>
                    <p:cTn id="106" fill="hold">
                      <p:stCondLst>
                        <p:cond delay="indefinite"/>
                      </p:stCondLst>
                      <p:childTnLst>
                        <p:par>
                          <p:cTn id="107" fill="hold">
                            <p:stCondLst>
                              <p:cond delay="0"/>
                            </p:stCondLst>
                            <p:childTnLst>
                              <p:par>
                                <p:cTn id="108" presetID="1" presetClass="entr" presetSubtype="0" fill="hold" grpId="0" nodeType="clickEffect">
                                  <p:stCondLst>
                                    <p:cond delay="0"/>
                                  </p:stCondLst>
                                  <p:childTnLst>
                                    <p:set>
                                      <p:cBhvr>
                                        <p:cTn id="109" dur="1" fill="hold">
                                          <p:stCondLst>
                                            <p:cond delay="0"/>
                                          </p:stCondLst>
                                        </p:cTn>
                                        <p:tgtEl>
                                          <p:spTgt spid="263"/>
                                        </p:tgtEl>
                                        <p:attrNameLst>
                                          <p:attrName>style.visibility</p:attrName>
                                        </p:attrNameLst>
                                      </p:cBhvr>
                                      <p:to>
                                        <p:strVal val="visible"/>
                                      </p:to>
                                    </p:set>
                                  </p:childTnLst>
                                </p:cTn>
                              </p:par>
                            </p:childTnLst>
                          </p:cTn>
                        </p:par>
                      </p:childTnLst>
                    </p:cTn>
                  </p:par>
                  <p:par>
                    <p:cTn id="110" fill="hold">
                      <p:stCondLst>
                        <p:cond delay="indefinite"/>
                      </p:stCondLst>
                      <p:childTnLst>
                        <p:par>
                          <p:cTn id="111" fill="hold">
                            <p:stCondLst>
                              <p:cond delay="0"/>
                            </p:stCondLst>
                            <p:childTnLst>
                              <p:par>
                                <p:cTn id="112" presetID="1" presetClass="entr" presetSubtype="0" fill="hold" nodeType="clickEffect">
                                  <p:stCondLst>
                                    <p:cond delay="0"/>
                                  </p:stCondLst>
                                  <p:childTnLst>
                                    <p:set>
                                      <p:cBhvr>
                                        <p:cTn id="113" dur="1" fill="hold">
                                          <p:stCondLst>
                                            <p:cond delay="0"/>
                                          </p:stCondLst>
                                        </p:cTn>
                                        <p:tgtEl>
                                          <p:spTgt spid="356"/>
                                        </p:tgtEl>
                                        <p:attrNameLst>
                                          <p:attrName>style.visibility</p:attrName>
                                        </p:attrNameLst>
                                      </p:cBhvr>
                                      <p:to>
                                        <p:strVal val="visible"/>
                                      </p:to>
                                    </p:set>
                                  </p:childTnLst>
                                </p:cTn>
                              </p:par>
                              <p:par>
                                <p:cTn id="114" presetID="1" presetClass="entr" presetSubtype="0" fill="hold" nodeType="withEffect">
                                  <p:stCondLst>
                                    <p:cond delay="0"/>
                                  </p:stCondLst>
                                  <p:childTnLst>
                                    <p:set>
                                      <p:cBhvr>
                                        <p:cTn id="115" dur="1" fill="hold">
                                          <p:stCondLst>
                                            <p:cond delay="0"/>
                                          </p:stCondLst>
                                        </p:cTn>
                                        <p:tgtEl>
                                          <p:spTgt spid="357"/>
                                        </p:tgtEl>
                                        <p:attrNameLst>
                                          <p:attrName>style.visibility</p:attrName>
                                        </p:attrNameLst>
                                      </p:cBhvr>
                                      <p:to>
                                        <p:strVal val="visible"/>
                                      </p:to>
                                    </p:set>
                                  </p:childTnLst>
                                </p:cTn>
                              </p:par>
                              <p:par>
                                <p:cTn id="116" presetID="1" presetClass="entr" presetSubtype="0" fill="hold" grpId="0" nodeType="withEffect">
                                  <p:stCondLst>
                                    <p:cond delay="0"/>
                                  </p:stCondLst>
                                  <p:childTnLst>
                                    <p:set>
                                      <p:cBhvr>
                                        <p:cTn id="117" dur="1" fill="hold">
                                          <p:stCondLst>
                                            <p:cond delay="0"/>
                                          </p:stCondLst>
                                        </p:cTn>
                                        <p:tgtEl>
                                          <p:spTgt spid="2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 grpId="0"/>
      <p:bldP spid="2" grpId="0" animBg="1"/>
      <p:bldP spid="263" grpId="0"/>
      <p:bldP spid="248" grpId="0"/>
      <p:bldP spid="157" grpId="0"/>
      <p:bldP spid="158" grpId="0"/>
      <p:bldP spid="159" grpId="0"/>
      <p:bldP spid="337" grpId="0"/>
      <p:bldP spid="343" grpId="0"/>
      <p:bldP spid="355"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711605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第八章   拉压、剪切与挤压的强度计算</a:t>
            </a:r>
          </a:p>
        </p:txBody>
      </p:sp>
      <p:sp>
        <p:nvSpPr>
          <p:cNvPr id="2" name="Rectangle 61">
            <a:extLst>
              <a:ext uri="{FF2B5EF4-FFF2-40B4-BE49-F238E27FC236}">
                <a16:creationId xmlns:a16="http://schemas.microsoft.com/office/drawing/2014/main" id="{E746119E-2B09-2980-E8E2-5F100493CF6E}"/>
              </a:ext>
            </a:extLst>
          </p:cNvPr>
          <p:cNvSpPr>
            <a:spLocks noChangeArrowheads="1"/>
          </p:cNvSpPr>
          <p:nvPr/>
        </p:nvSpPr>
        <p:spPr bwMode="auto">
          <a:xfrm>
            <a:off x="7819802" y="798858"/>
            <a:ext cx="4240159" cy="5485380"/>
          </a:xfrm>
          <a:prstGeom prst="rect">
            <a:avLst/>
          </a:prstGeom>
          <a:solidFill>
            <a:srgbClr val="B9CDE5"/>
          </a:solidFill>
          <a:ln>
            <a:noFill/>
          </a:ln>
          <a:effectLst/>
        </p:spPr>
        <p:txBody>
          <a:bodyPr wrap="none" anchor="ctr"/>
          <a:lstStyle/>
          <a:p>
            <a:endParaRPr lang="zh-CN" altLang="en-US" dirty="0"/>
          </a:p>
        </p:txBody>
      </p:sp>
      <p:sp>
        <p:nvSpPr>
          <p:cNvPr id="263" name="矩形 262">
            <a:extLst>
              <a:ext uri="{FF2B5EF4-FFF2-40B4-BE49-F238E27FC236}">
                <a16:creationId xmlns:a16="http://schemas.microsoft.com/office/drawing/2014/main" id="{869757DD-0866-5287-A0EC-2DBC9D2AE5A6}"/>
              </a:ext>
            </a:extLst>
          </p:cNvPr>
          <p:cNvSpPr/>
          <p:nvPr/>
        </p:nvSpPr>
        <p:spPr>
          <a:xfrm>
            <a:off x="551383" y="1112393"/>
            <a:ext cx="6670441" cy="493148"/>
          </a:xfrm>
          <a:prstGeom prst="rect">
            <a:avLst/>
          </a:prstGeom>
        </p:spPr>
        <p:txBody>
          <a:bodyPr wrap="square">
            <a:spAutoFit/>
          </a:bodyPr>
          <a:lstStyle/>
          <a:p>
            <a:pPr lvl="0" eaLnBrk="0" hangingPunct="0">
              <a:lnSpc>
                <a:spcPct val="120000"/>
              </a:lnSpc>
            </a:pPr>
            <a:r>
              <a:rPr lang="zh-CN" altLang="en-US" i="0" dirty="0">
                <a:solidFill>
                  <a:srgbClr val="0033CC"/>
                </a:solidFill>
                <a:ea typeface="黑体" panose="02010609060101010101" pitchFamily="49" charset="-122"/>
              </a:rPr>
              <a:t>     </a:t>
            </a:r>
            <a:r>
              <a:rPr kumimoji="1" lang="en-US" altLang="zh-CN" i="0" dirty="0">
                <a:solidFill>
                  <a:schemeClr val="tx1"/>
                </a:solidFill>
                <a:ea typeface="黑体" panose="02010609060101010101" pitchFamily="49" charset="-122"/>
              </a:rPr>
              <a:t>4</a:t>
            </a:r>
            <a:r>
              <a:rPr kumimoji="1" lang="zh-CN" altLang="en-US" i="0" dirty="0">
                <a:solidFill>
                  <a:schemeClr val="tx1"/>
                </a:solidFill>
                <a:ea typeface="黑体" panose="02010609060101010101" pitchFamily="49" charset="-122"/>
              </a:rPr>
              <a:t>）补充方程。将物理关系式代入几何方程 。</a:t>
            </a:r>
            <a:endParaRPr kumimoji="1" lang="en-US" altLang="zh-CN" i="0" dirty="0">
              <a:solidFill>
                <a:schemeClr val="tx1"/>
              </a:solidFill>
              <a:ea typeface="黑体" panose="02010609060101010101" pitchFamily="49" charset="-122"/>
            </a:endParaRPr>
          </a:p>
        </p:txBody>
      </p:sp>
      <p:sp>
        <p:nvSpPr>
          <p:cNvPr id="153" name="Line 43">
            <a:extLst>
              <a:ext uri="{FF2B5EF4-FFF2-40B4-BE49-F238E27FC236}">
                <a16:creationId xmlns:a16="http://schemas.microsoft.com/office/drawing/2014/main" id="{3474A5E1-1DD9-47EE-4308-353E71D221E7}"/>
              </a:ext>
            </a:extLst>
          </p:cNvPr>
          <p:cNvSpPr>
            <a:spLocks noChangeShapeType="1"/>
          </p:cNvSpPr>
          <p:nvPr/>
        </p:nvSpPr>
        <p:spPr bwMode="auto">
          <a:xfrm>
            <a:off x="8929973" y="2725392"/>
            <a:ext cx="809625" cy="0"/>
          </a:xfrm>
          <a:prstGeom prst="line">
            <a:avLst/>
          </a:prstGeom>
          <a:noFill/>
          <a:ln w="9525">
            <a:solidFill>
              <a:srgbClr val="000000"/>
            </a:solidFill>
            <a:round/>
            <a:headEnd/>
            <a:tailEnd type="stealth" w="sm" len="lg"/>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54" name="Line 44">
            <a:extLst>
              <a:ext uri="{FF2B5EF4-FFF2-40B4-BE49-F238E27FC236}">
                <a16:creationId xmlns:a16="http://schemas.microsoft.com/office/drawing/2014/main" id="{97C50C84-D04A-6A8A-41E6-ADC3CFCD951A}"/>
              </a:ext>
            </a:extLst>
          </p:cNvPr>
          <p:cNvSpPr>
            <a:spLocks noChangeShapeType="1"/>
          </p:cNvSpPr>
          <p:nvPr/>
        </p:nvSpPr>
        <p:spPr bwMode="auto">
          <a:xfrm flipV="1">
            <a:off x="8836311" y="1280767"/>
            <a:ext cx="0" cy="620712"/>
          </a:xfrm>
          <a:prstGeom prst="line">
            <a:avLst/>
          </a:prstGeom>
          <a:noFill/>
          <a:ln w="9525">
            <a:solidFill>
              <a:srgbClr val="000000"/>
            </a:solidFill>
            <a:round/>
            <a:headEnd/>
            <a:tailEnd type="stealth" w="sm" len="lg"/>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55" name="Text Box 48">
            <a:extLst>
              <a:ext uri="{FF2B5EF4-FFF2-40B4-BE49-F238E27FC236}">
                <a16:creationId xmlns:a16="http://schemas.microsoft.com/office/drawing/2014/main" id="{DC53B386-0E02-FF82-E6BB-5853C13D1013}"/>
              </a:ext>
            </a:extLst>
          </p:cNvPr>
          <p:cNvSpPr txBox="1">
            <a:spLocks noChangeAspect="1" noChangeArrowheads="1"/>
          </p:cNvSpPr>
          <p:nvPr/>
        </p:nvSpPr>
        <p:spPr bwMode="auto">
          <a:xfrm rot="4195586">
            <a:off x="9721095" y="5544508"/>
            <a:ext cx="600075" cy="57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sym typeface="Symbol" panose="05050102010706020507" pitchFamily="18" charset="2"/>
              </a:rPr>
              <a:t></a:t>
            </a: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l</a:t>
            </a:r>
            <a:r>
              <a:rPr kumimoji="1" lang="en-US" altLang="zh-CN" sz="2400" b="0" i="0" u="none" strike="noStrike" kern="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rPr>
              <a:t>1</a:t>
            </a:r>
            <a:endParaRPr kumimoji="1" lang="en-US" altLang="zh-CN" sz="2400" b="0" i="0" u="none" strike="noStrike" kern="0" cap="none" spc="0" normalizeH="0" baseline="-25000" noProof="0" dirty="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156" name="Text Box 53">
            <a:extLst>
              <a:ext uri="{FF2B5EF4-FFF2-40B4-BE49-F238E27FC236}">
                <a16:creationId xmlns:a16="http://schemas.microsoft.com/office/drawing/2014/main" id="{47699A8C-DCAF-5B11-9C48-1825ECCFA264}"/>
              </a:ext>
            </a:extLst>
          </p:cNvPr>
          <p:cNvSpPr txBox="1">
            <a:spLocks noChangeAspect="1" noChangeArrowheads="1"/>
          </p:cNvSpPr>
          <p:nvPr/>
        </p:nvSpPr>
        <p:spPr bwMode="auto">
          <a:xfrm>
            <a:off x="9466548" y="2572992"/>
            <a:ext cx="398463" cy="57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x</a:t>
            </a:r>
            <a:endPar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ndParaRPr>
          </a:p>
        </p:txBody>
      </p:sp>
      <p:sp>
        <p:nvSpPr>
          <p:cNvPr id="157" name="Text Box 86">
            <a:extLst>
              <a:ext uri="{FF2B5EF4-FFF2-40B4-BE49-F238E27FC236}">
                <a16:creationId xmlns:a16="http://schemas.microsoft.com/office/drawing/2014/main" id="{C9A8053E-8A6E-FD6B-9017-CF24ADC2C046}"/>
              </a:ext>
            </a:extLst>
          </p:cNvPr>
          <p:cNvSpPr txBox="1">
            <a:spLocks noChangeAspect="1" noChangeArrowheads="1"/>
          </p:cNvSpPr>
          <p:nvPr/>
        </p:nvSpPr>
        <p:spPr bwMode="auto">
          <a:xfrm>
            <a:off x="7906036" y="1872904"/>
            <a:ext cx="731837"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ctr" eaLnBrk="1" hangingPunct="1"/>
            <a:r>
              <a:rPr lang="en-US" altLang="zh-CN" b="0" dirty="0">
                <a:solidFill>
                  <a:srgbClr val="000000"/>
                </a:solidFill>
                <a:latin typeface="+mj-lt"/>
                <a:ea typeface="宋体" panose="02010600030101010101" pitchFamily="2" charset="-122"/>
              </a:rPr>
              <a:t>F</a:t>
            </a:r>
            <a:r>
              <a:rPr lang="en-US" altLang="zh-CN" b="0" i="0" baseline="-25000" dirty="0">
                <a:solidFill>
                  <a:srgbClr val="000000"/>
                </a:solidFill>
                <a:latin typeface="+mj-lt"/>
                <a:ea typeface="宋体" panose="02010600030101010101" pitchFamily="2" charset="-122"/>
              </a:rPr>
              <a:t>N1</a:t>
            </a:r>
            <a:endParaRPr lang="en-US" altLang="zh-CN" b="0" dirty="0">
              <a:solidFill>
                <a:srgbClr val="000000"/>
              </a:solidFill>
              <a:latin typeface="+mj-lt"/>
              <a:ea typeface="宋体" panose="02010600030101010101" pitchFamily="2" charset="-122"/>
            </a:endParaRPr>
          </a:p>
        </p:txBody>
      </p:sp>
      <p:sp>
        <p:nvSpPr>
          <p:cNvPr id="158" name="Text Box 87">
            <a:extLst>
              <a:ext uri="{FF2B5EF4-FFF2-40B4-BE49-F238E27FC236}">
                <a16:creationId xmlns:a16="http://schemas.microsoft.com/office/drawing/2014/main" id="{4A547984-7060-3FB4-D610-00325F4017A1}"/>
              </a:ext>
            </a:extLst>
          </p:cNvPr>
          <p:cNvSpPr txBox="1">
            <a:spLocks noChangeAspect="1" noChangeArrowheads="1"/>
          </p:cNvSpPr>
          <p:nvPr/>
        </p:nvSpPr>
        <p:spPr bwMode="auto">
          <a:xfrm>
            <a:off x="9104598" y="1941167"/>
            <a:ext cx="731838"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ctr" eaLnBrk="1" hangingPunct="1"/>
            <a:r>
              <a:rPr lang="en-US" altLang="zh-CN" b="0" dirty="0">
                <a:solidFill>
                  <a:srgbClr val="000000"/>
                </a:solidFill>
                <a:latin typeface="+mj-lt"/>
                <a:ea typeface="宋体" panose="02010600030101010101" pitchFamily="2" charset="-122"/>
              </a:rPr>
              <a:t>F</a:t>
            </a:r>
            <a:r>
              <a:rPr lang="en-US" altLang="zh-CN" b="0" i="0" baseline="-25000" dirty="0">
                <a:solidFill>
                  <a:srgbClr val="000000"/>
                </a:solidFill>
                <a:latin typeface="+mj-lt"/>
                <a:ea typeface="宋体" panose="02010600030101010101" pitchFamily="2" charset="-122"/>
              </a:rPr>
              <a:t>N2</a:t>
            </a:r>
            <a:endParaRPr lang="en-US" altLang="zh-CN" b="0" dirty="0">
              <a:solidFill>
                <a:srgbClr val="000000"/>
              </a:solidFill>
              <a:latin typeface="+mj-lt"/>
              <a:ea typeface="宋体" panose="02010600030101010101" pitchFamily="2" charset="-122"/>
            </a:endParaRPr>
          </a:p>
        </p:txBody>
      </p:sp>
      <p:sp>
        <p:nvSpPr>
          <p:cNvPr id="159" name="Text Box 91">
            <a:extLst>
              <a:ext uri="{FF2B5EF4-FFF2-40B4-BE49-F238E27FC236}">
                <a16:creationId xmlns:a16="http://schemas.microsoft.com/office/drawing/2014/main" id="{EC6D13E1-87F3-25D6-56CD-09DA859B064D}"/>
              </a:ext>
            </a:extLst>
          </p:cNvPr>
          <p:cNvSpPr txBox="1">
            <a:spLocks noChangeArrowheads="1"/>
          </p:cNvSpPr>
          <p:nvPr/>
        </p:nvSpPr>
        <p:spPr bwMode="auto">
          <a:xfrm>
            <a:off x="8798211" y="1107729"/>
            <a:ext cx="438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eaLnBrk="1" hangingPunct="1">
              <a:spcBef>
                <a:spcPct val="50000"/>
              </a:spcBef>
            </a:pPr>
            <a:r>
              <a:rPr lang="en-US" altLang="zh-CN" b="0">
                <a:solidFill>
                  <a:srgbClr val="000000"/>
                </a:solidFill>
                <a:latin typeface="" pitchFamily="18" charset="-52"/>
                <a:ea typeface="宋体" panose="02010600030101010101" pitchFamily="2" charset="-122"/>
              </a:rPr>
              <a:t>y</a:t>
            </a:r>
          </a:p>
        </p:txBody>
      </p:sp>
      <p:sp>
        <p:nvSpPr>
          <p:cNvPr id="288" name="Line 92">
            <a:extLst>
              <a:ext uri="{FF2B5EF4-FFF2-40B4-BE49-F238E27FC236}">
                <a16:creationId xmlns:a16="http://schemas.microsoft.com/office/drawing/2014/main" id="{3097B75F-E0BF-9586-A883-D1E25AC546DD}"/>
              </a:ext>
            </a:extLst>
          </p:cNvPr>
          <p:cNvSpPr>
            <a:spLocks noChangeAspect="1" noChangeShapeType="1"/>
          </p:cNvSpPr>
          <p:nvPr/>
        </p:nvSpPr>
        <p:spPr bwMode="auto">
          <a:xfrm rot="5400000" flipH="1">
            <a:off x="8455310" y="2245967"/>
            <a:ext cx="765175" cy="0"/>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algn="ctr"/>
            <a:endParaRPr kumimoji="1" lang="zh-CN" altLang="en-US" b="0" i="0">
              <a:solidFill>
                <a:srgbClr val="FFFFFF"/>
              </a:solidFill>
              <a:ea typeface="黑体" panose="02010609060101010101" pitchFamily="49" charset="-122"/>
            </a:endParaRPr>
          </a:p>
        </p:txBody>
      </p:sp>
      <p:grpSp>
        <p:nvGrpSpPr>
          <p:cNvPr id="289" name="Group 108">
            <a:extLst>
              <a:ext uri="{FF2B5EF4-FFF2-40B4-BE49-F238E27FC236}">
                <a16:creationId xmlns:a16="http://schemas.microsoft.com/office/drawing/2014/main" id="{BC619E27-C33A-772C-3D86-39D619B10B0B}"/>
              </a:ext>
            </a:extLst>
          </p:cNvPr>
          <p:cNvGrpSpPr>
            <a:grpSpLocks/>
          </p:cNvGrpSpPr>
          <p:nvPr/>
        </p:nvGrpSpPr>
        <p:grpSpPr bwMode="auto">
          <a:xfrm>
            <a:off x="9183973" y="820392"/>
            <a:ext cx="2279650" cy="2668588"/>
            <a:chOff x="4204" y="105"/>
            <a:chExt cx="1436" cy="1681"/>
          </a:xfrm>
        </p:grpSpPr>
        <p:sp>
          <p:nvSpPr>
            <p:cNvPr id="290" name="Text Box 66">
              <a:extLst>
                <a:ext uri="{FF2B5EF4-FFF2-40B4-BE49-F238E27FC236}">
                  <a16:creationId xmlns:a16="http://schemas.microsoft.com/office/drawing/2014/main" id="{59B1B8CA-45F7-D8AD-DF8A-68B55A5D8D8D}"/>
                </a:ext>
              </a:extLst>
            </p:cNvPr>
            <p:cNvSpPr txBox="1">
              <a:spLocks noChangeAspect="1" noChangeArrowheads="1"/>
            </p:cNvSpPr>
            <p:nvPr/>
          </p:nvSpPr>
          <p:spPr bwMode="auto">
            <a:xfrm>
              <a:off x="4204" y="162"/>
              <a:ext cx="289"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mn-lt"/>
                  <a:ea typeface="宋体" panose="02010600030101010101" pitchFamily="2" charset="-122"/>
                </a:rPr>
                <a:t>B</a:t>
              </a:r>
            </a:p>
          </p:txBody>
        </p:sp>
        <p:sp>
          <p:nvSpPr>
            <p:cNvPr id="291" name="Text Box 67">
              <a:extLst>
                <a:ext uri="{FF2B5EF4-FFF2-40B4-BE49-F238E27FC236}">
                  <a16:creationId xmlns:a16="http://schemas.microsoft.com/office/drawing/2014/main" id="{26DB887E-257F-5D3A-E166-1519D8C4522C}"/>
                </a:ext>
              </a:extLst>
            </p:cNvPr>
            <p:cNvSpPr txBox="1">
              <a:spLocks noChangeAspect="1" noChangeArrowheads="1"/>
            </p:cNvSpPr>
            <p:nvPr/>
          </p:nvSpPr>
          <p:spPr bwMode="auto">
            <a:xfrm>
              <a:off x="5415" y="155"/>
              <a:ext cx="215" cy="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fontAlgn="auto" hangingPunct="1">
                <a:spcBef>
                  <a:spcPts val="0"/>
                </a:spcBef>
                <a:spcAft>
                  <a:spcPts val="0"/>
                </a:spcAft>
              </a:pPr>
              <a:r>
                <a:rPr lang="en-US" altLang="zh-CN" b="0" kern="0" dirty="0">
                  <a:solidFill>
                    <a:srgbClr val="000000"/>
                  </a:solidFill>
                  <a:latin typeface="+mn-lt"/>
                  <a:ea typeface="宋体" panose="02010600030101010101" pitchFamily="2" charset="-122"/>
                </a:rPr>
                <a:t>C</a:t>
              </a:r>
            </a:p>
          </p:txBody>
        </p:sp>
        <p:sp>
          <p:nvSpPr>
            <p:cNvPr id="292" name="AutoShape 68">
              <a:extLst>
                <a:ext uri="{FF2B5EF4-FFF2-40B4-BE49-F238E27FC236}">
                  <a16:creationId xmlns:a16="http://schemas.microsoft.com/office/drawing/2014/main" id="{3BEB1DFA-163C-5AAB-6644-8CB9560E298F}"/>
                </a:ext>
              </a:extLst>
            </p:cNvPr>
            <p:cNvSpPr>
              <a:spLocks noChangeArrowheads="1"/>
            </p:cNvSpPr>
            <p:nvPr/>
          </p:nvSpPr>
          <p:spPr bwMode="auto">
            <a:xfrm flipV="1">
              <a:off x="4386" y="195"/>
              <a:ext cx="1110" cy="1051"/>
            </a:xfrm>
            <a:prstGeom prst="triangle">
              <a:avLst>
                <a:gd name="adj" fmla="val 50000"/>
              </a:avLst>
            </a:prstGeom>
            <a:noFill/>
            <a:ln w="571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293" name="Text Box 70">
              <a:extLst>
                <a:ext uri="{FF2B5EF4-FFF2-40B4-BE49-F238E27FC236}">
                  <a16:creationId xmlns:a16="http://schemas.microsoft.com/office/drawing/2014/main" id="{925C9EDC-3F17-F2A5-E829-424C43774401}"/>
                </a:ext>
              </a:extLst>
            </p:cNvPr>
            <p:cNvSpPr txBox="1">
              <a:spLocks noChangeAspect="1" noChangeArrowheads="1"/>
            </p:cNvSpPr>
            <p:nvPr/>
          </p:nvSpPr>
          <p:spPr bwMode="auto">
            <a:xfrm>
              <a:off x="4405" y="538"/>
              <a:ext cx="2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fontAlgn="auto" hangingPunct="1">
                <a:spcBef>
                  <a:spcPts val="0"/>
                </a:spcBef>
                <a:spcAft>
                  <a:spcPts val="0"/>
                </a:spcAft>
              </a:pPr>
              <a:r>
                <a:rPr lang="en-US" altLang="zh-CN" b="0" i="0" kern="0" dirty="0">
                  <a:solidFill>
                    <a:srgbClr val="000000"/>
                  </a:solidFill>
                  <a:latin typeface="+mj-lt"/>
                  <a:ea typeface="宋体" panose="02010600030101010101" pitchFamily="2" charset="-122"/>
                </a:rPr>
                <a:t>1</a:t>
              </a:r>
            </a:p>
          </p:txBody>
        </p:sp>
        <p:sp>
          <p:nvSpPr>
            <p:cNvPr id="294" name="Text Box 71">
              <a:extLst>
                <a:ext uri="{FF2B5EF4-FFF2-40B4-BE49-F238E27FC236}">
                  <a16:creationId xmlns:a16="http://schemas.microsoft.com/office/drawing/2014/main" id="{41C0FE18-E412-CFD3-A831-CB21F747DA9F}"/>
                </a:ext>
              </a:extLst>
            </p:cNvPr>
            <p:cNvSpPr txBox="1">
              <a:spLocks noChangeAspect="1" noChangeArrowheads="1"/>
            </p:cNvSpPr>
            <p:nvPr/>
          </p:nvSpPr>
          <p:spPr bwMode="auto">
            <a:xfrm>
              <a:off x="5230" y="551"/>
              <a:ext cx="259"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fontAlgn="auto" hangingPunct="1">
                <a:spcBef>
                  <a:spcPts val="0"/>
                </a:spcBef>
                <a:spcAft>
                  <a:spcPts val="0"/>
                </a:spcAft>
              </a:pPr>
              <a:r>
                <a:rPr lang="en-US" altLang="zh-CN" b="0" i="0" kern="0" dirty="0">
                  <a:solidFill>
                    <a:srgbClr val="000000"/>
                  </a:solidFill>
                  <a:latin typeface="+mj-lt"/>
                  <a:ea typeface="宋体" panose="02010600030101010101" pitchFamily="2" charset="-122"/>
                </a:rPr>
                <a:t>2</a:t>
              </a:r>
            </a:p>
          </p:txBody>
        </p:sp>
        <p:sp>
          <p:nvSpPr>
            <p:cNvPr id="295" name="Text Box 72">
              <a:extLst>
                <a:ext uri="{FF2B5EF4-FFF2-40B4-BE49-F238E27FC236}">
                  <a16:creationId xmlns:a16="http://schemas.microsoft.com/office/drawing/2014/main" id="{12E734AB-BA0B-75DD-DD8E-2B2F80CE47F6}"/>
                </a:ext>
              </a:extLst>
            </p:cNvPr>
            <p:cNvSpPr txBox="1">
              <a:spLocks noChangeAspect="1" noChangeArrowheads="1"/>
            </p:cNvSpPr>
            <p:nvPr/>
          </p:nvSpPr>
          <p:spPr bwMode="auto">
            <a:xfrm>
              <a:off x="4934" y="1486"/>
              <a:ext cx="363"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b="0" u="none" strike="noStrike" kern="0" cap="none" spc="0" normalizeH="0" baseline="0" noProof="0" dirty="0">
                  <a:ln>
                    <a:noFill/>
                  </a:ln>
                  <a:solidFill>
                    <a:srgbClr val="FF0000"/>
                  </a:solidFill>
                  <a:effectLst/>
                  <a:uLnTx/>
                  <a:uFillTx/>
                  <a:latin typeface="+mj-lt"/>
                  <a:ea typeface="宋体" panose="02010600030101010101" pitchFamily="2" charset="-122"/>
                </a:rPr>
                <a:t>G</a:t>
              </a:r>
            </a:p>
          </p:txBody>
        </p:sp>
        <p:grpSp>
          <p:nvGrpSpPr>
            <p:cNvPr id="296" name="Group 73">
              <a:extLst>
                <a:ext uri="{FF2B5EF4-FFF2-40B4-BE49-F238E27FC236}">
                  <a16:creationId xmlns:a16="http://schemas.microsoft.com/office/drawing/2014/main" id="{84A5CE10-EF87-4912-862C-88EF5DD07758}"/>
                </a:ext>
              </a:extLst>
            </p:cNvPr>
            <p:cNvGrpSpPr>
              <a:grpSpLocks/>
            </p:cNvGrpSpPr>
            <p:nvPr/>
          </p:nvGrpSpPr>
          <p:grpSpPr bwMode="auto">
            <a:xfrm rot="5400000">
              <a:off x="4879" y="-560"/>
              <a:ext cx="95" cy="1426"/>
              <a:chOff x="4180" y="191"/>
              <a:chExt cx="112" cy="1798"/>
            </a:xfrm>
          </p:grpSpPr>
          <p:sp>
            <p:nvSpPr>
              <p:cNvPr id="312" name="Rectangle 74" descr="宽上对角线">
                <a:extLst>
                  <a:ext uri="{FF2B5EF4-FFF2-40B4-BE49-F238E27FC236}">
                    <a16:creationId xmlns:a16="http://schemas.microsoft.com/office/drawing/2014/main" id="{68C84EB6-E964-1E4B-9241-BA36ADA4134A}"/>
                  </a:ext>
                </a:extLst>
              </p:cNvPr>
              <p:cNvSpPr>
                <a:spLocks noChangeAspect="1" noChangeArrowheads="1"/>
              </p:cNvSpPr>
              <p:nvPr/>
            </p:nvSpPr>
            <p:spPr bwMode="auto">
              <a:xfrm>
                <a:off x="4180" y="191"/>
                <a:ext cx="94" cy="1798"/>
              </a:xfrm>
              <a:prstGeom prst="rect">
                <a:avLst/>
              </a:prstGeom>
              <a:pattFill prst="wdUpDiag">
                <a:fgClr>
                  <a:srgbClr val="000000"/>
                </a:fgClr>
                <a:bgClr>
                  <a:srgbClr val="99FFCC"/>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313" name="Line 75">
                <a:extLst>
                  <a:ext uri="{FF2B5EF4-FFF2-40B4-BE49-F238E27FC236}">
                    <a16:creationId xmlns:a16="http://schemas.microsoft.com/office/drawing/2014/main" id="{B3AC4B51-23D1-0E04-AE94-DCF7F94C92EE}"/>
                  </a:ext>
                </a:extLst>
              </p:cNvPr>
              <p:cNvSpPr>
                <a:spLocks noChangeAspect="1" noChangeShapeType="1"/>
              </p:cNvSpPr>
              <p:nvPr/>
            </p:nvSpPr>
            <p:spPr bwMode="auto">
              <a:xfrm>
                <a:off x="4292" y="191"/>
                <a:ext cx="0" cy="1790"/>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297" name="Line 76">
              <a:extLst>
                <a:ext uri="{FF2B5EF4-FFF2-40B4-BE49-F238E27FC236}">
                  <a16:creationId xmlns:a16="http://schemas.microsoft.com/office/drawing/2014/main" id="{6EF03124-C80F-BF98-F115-43EE6CDFAF6E}"/>
                </a:ext>
              </a:extLst>
            </p:cNvPr>
            <p:cNvSpPr>
              <a:spLocks noChangeAspect="1" noChangeShapeType="1"/>
            </p:cNvSpPr>
            <p:nvPr/>
          </p:nvSpPr>
          <p:spPr bwMode="auto">
            <a:xfrm>
              <a:off x="4937" y="1414"/>
              <a:ext cx="0" cy="277"/>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298" name="Text Box 77">
              <a:extLst>
                <a:ext uri="{FF2B5EF4-FFF2-40B4-BE49-F238E27FC236}">
                  <a16:creationId xmlns:a16="http://schemas.microsoft.com/office/drawing/2014/main" id="{2B8F799C-93DF-358E-814B-193F500D9D82}"/>
                </a:ext>
              </a:extLst>
            </p:cNvPr>
            <p:cNvSpPr txBox="1">
              <a:spLocks noChangeAspect="1" noChangeArrowheads="1"/>
            </p:cNvSpPr>
            <p:nvPr/>
          </p:nvSpPr>
          <p:spPr bwMode="auto">
            <a:xfrm>
              <a:off x="5025" y="1051"/>
              <a:ext cx="296"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fontAlgn="auto" hangingPunct="1">
                <a:spcBef>
                  <a:spcPts val="0"/>
                </a:spcBef>
                <a:spcAft>
                  <a:spcPts val="0"/>
                </a:spcAft>
              </a:pPr>
              <a:r>
                <a:rPr lang="en-US" altLang="zh-CN" b="0" kern="0" dirty="0">
                  <a:solidFill>
                    <a:srgbClr val="000000"/>
                  </a:solidFill>
                  <a:latin typeface="+mn-lt"/>
                  <a:ea typeface="宋体" panose="02010600030101010101" pitchFamily="2" charset="-122"/>
                </a:rPr>
                <a:t>A</a:t>
              </a:r>
            </a:p>
          </p:txBody>
        </p:sp>
        <p:sp>
          <p:nvSpPr>
            <p:cNvPr id="299" name="Oval 78">
              <a:extLst>
                <a:ext uri="{FF2B5EF4-FFF2-40B4-BE49-F238E27FC236}">
                  <a16:creationId xmlns:a16="http://schemas.microsoft.com/office/drawing/2014/main" id="{5ACE6EEF-0B4D-98EF-6E56-9831CCE3025E}"/>
                </a:ext>
              </a:extLst>
            </p:cNvPr>
            <p:cNvSpPr>
              <a:spLocks noChangeAspect="1" noChangeArrowheads="1"/>
            </p:cNvSpPr>
            <p:nvPr/>
          </p:nvSpPr>
          <p:spPr bwMode="auto">
            <a:xfrm rot="5400000">
              <a:off x="4348" y="149"/>
              <a:ext cx="90" cy="90"/>
            </a:xfrm>
            <a:prstGeom prst="ellipse">
              <a:avLst/>
            </a:prstGeom>
            <a:solidFill>
              <a:srgbClr val="FF00FF"/>
            </a:solidFill>
            <a:ln w="38100">
              <a:solidFill>
                <a:srgbClr val="000000"/>
              </a:solidFill>
              <a:round/>
              <a:headEnd/>
              <a:tailEnd/>
            </a:ln>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300" name="Oval 79">
              <a:extLst>
                <a:ext uri="{FF2B5EF4-FFF2-40B4-BE49-F238E27FC236}">
                  <a16:creationId xmlns:a16="http://schemas.microsoft.com/office/drawing/2014/main" id="{A38B2CC3-FD29-C1A5-0C63-7EF903E1F293}"/>
                </a:ext>
              </a:extLst>
            </p:cNvPr>
            <p:cNvSpPr>
              <a:spLocks noChangeAspect="1" noChangeArrowheads="1"/>
            </p:cNvSpPr>
            <p:nvPr/>
          </p:nvSpPr>
          <p:spPr bwMode="auto">
            <a:xfrm rot="5400000">
              <a:off x="5442" y="152"/>
              <a:ext cx="90" cy="90"/>
            </a:xfrm>
            <a:prstGeom prst="ellipse">
              <a:avLst/>
            </a:prstGeom>
            <a:solidFill>
              <a:srgbClr val="FF00FF"/>
            </a:solidFill>
            <a:ln w="38100" algn="ctr">
              <a:solidFill>
                <a:srgbClr val="000000"/>
              </a:solidFill>
              <a:round/>
              <a:headEnd/>
              <a:tailEnd/>
            </a:ln>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301" name="Line 80">
              <a:extLst>
                <a:ext uri="{FF2B5EF4-FFF2-40B4-BE49-F238E27FC236}">
                  <a16:creationId xmlns:a16="http://schemas.microsoft.com/office/drawing/2014/main" id="{3B422F21-62C9-B5FD-A538-5E16283267AF}"/>
                </a:ext>
              </a:extLst>
            </p:cNvPr>
            <p:cNvSpPr>
              <a:spLocks noChangeShapeType="1"/>
            </p:cNvSpPr>
            <p:nvPr/>
          </p:nvSpPr>
          <p:spPr bwMode="auto">
            <a:xfrm>
              <a:off x="4938" y="1229"/>
              <a:ext cx="0" cy="156"/>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302" name="Rectangle 81">
              <a:extLst>
                <a:ext uri="{FF2B5EF4-FFF2-40B4-BE49-F238E27FC236}">
                  <a16:creationId xmlns:a16="http://schemas.microsoft.com/office/drawing/2014/main" id="{420AA27E-45EF-B380-AD6F-FDB8533C65DD}"/>
                </a:ext>
              </a:extLst>
            </p:cNvPr>
            <p:cNvSpPr>
              <a:spLocks noChangeArrowheads="1"/>
            </p:cNvSpPr>
            <p:nvPr/>
          </p:nvSpPr>
          <p:spPr bwMode="auto">
            <a:xfrm>
              <a:off x="4795" y="1340"/>
              <a:ext cx="279" cy="152"/>
            </a:xfrm>
            <a:prstGeom prst="rect">
              <a:avLst/>
            </a:prstGeom>
            <a:gradFill rotWithShape="1">
              <a:gsLst>
                <a:gs pos="0">
                  <a:srgbClr val="FFFFFF">
                    <a:gamma/>
                    <a:shade val="19216"/>
                    <a:invGamma/>
                  </a:srgbClr>
                </a:gs>
                <a:gs pos="50000">
                  <a:srgbClr val="FFFFFF"/>
                </a:gs>
                <a:gs pos="100000">
                  <a:srgbClr val="FFFFFF">
                    <a:gamma/>
                    <a:shade val="19216"/>
                    <a:invGamma/>
                  </a:srgbClr>
                </a:gs>
              </a:gsLst>
              <a:lin ang="0" scaled="1"/>
            </a:gradFill>
            <a:ln w="28575">
              <a:solidFill>
                <a:srgbClr val="000000"/>
              </a:solidFill>
              <a:miter lim="800000"/>
              <a:headEnd/>
              <a:tailEnd/>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itchFamily="2" charset="-122"/>
              </a:endParaRPr>
            </a:p>
          </p:txBody>
        </p:sp>
        <p:sp>
          <p:nvSpPr>
            <p:cNvPr id="303" name="Line 83">
              <a:extLst>
                <a:ext uri="{FF2B5EF4-FFF2-40B4-BE49-F238E27FC236}">
                  <a16:creationId xmlns:a16="http://schemas.microsoft.com/office/drawing/2014/main" id="{48651AC7-1BA9-550E-FE18-98805476EA92}"/>
                </a:ext>
              </a:extLst>
            </p:cNvPr>
            <p:cNvSpPr>
              <a:spLocks noChangeShapeType="1"/>
            </p:cNvSpPr>
            <p:nvPr/>
          </p:nvSpPr>
          <p:spPr bwMode="auto">
            <a:xfrm flipV="1">
              <a:off x="4941" y="203"/>
              <a:ext cx="0" cy="1000"/>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304" name="Oval 84">
              <a:extLst>
                <a:ext uri="{FF2B5EF4-FFF2-40B4-BE49-F238E27FC236}">
                  <a16:creationId xmlns:a16="http://schemas.microsoft.com/office/drawing/2014/main" id="{BBABEB2D-2D1C-E288-72CA-A09F50CE818C}"/>
                </a:ext>
              </a:extLst>
            </p:cNvPr>
            <p:cNvSpPr>
              <a:spLocks noChangeAspect="1" noChangeArrowheads="1"/>
            </p:cNvSpPr>
            <p:nvPr/>
          </p:nvSpPr>
          <p:spPr bwMode="auto">
            <a:xfrm>
              <a:off x="4894" y="153"/>
              <a:ext cx="90" cy="90"/>
            </a:xfrm>
            <a:prstGeom prst="ellipse">
              <a:avLst/>
            </a:prstGeom>
            <a:solidFill>
              <a:srgbClr val="FF00FF"/>
            </a:solidFill>
            <a:ln w="38100" algn="ctr">
              <a:solidFill>
                <a:srgbClr val="000000"/>
              </a:solidFill>
              <a:round/>
              <a:headEnd/>
              <a:tailEnd/>
            </a:ln>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305" name="Text Box 85">
              <a:extLst>
                <a:ext uri="{FF2B5EF4-FFF2-40B4-BE49-F238E27FC236}">
                  <a16:creationId xmlns:a16="http://schemas.microsoft.com/office/drawing/2014/main" id="{48CF5C7A-DD58-C0C2-1309-3652C4444923}"/>
                </a:ext>
              </a:extLst>
            </p:cNvPr>
            <p:cNvSpPr txBox="1">
              <a:spLocks noChangeAspect="1" noChangeArrowheads="1"/>
            </p:cNvSpPr>
            <p:nvPr/>
          </p:nvSpPr>
          <p:spPr bwMode="auto">
            <a:xfrm>
              <a:off x="4924" y="147"/>
              <a:ext cx="215" cy="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fontAlgn="auto" hangingPunct="1">
                <a:spcBef>
                  <a:spcPts val="0"/>
                </a:spcBef>
                <a:spcAft>
                  <a:spcPts val="0"/>
                </a:spcAft>
              </a:pPr>
              <a:r>
                <a:rPr lang="en-US" altLang="zh-CN" b="0" kern="0" dirty="0">
                  <a:solidFill>
                    <a:srgbClr val="000000"/>
                  </a:solidFill>
                  <a:latin typeface="+mn-lt"/>
                  <a:ea typeface="宋体" panose="02010600030101010101" pitchFamily="2" charset="-122"/>
                </a:rPr>
                <a:t>D</a:t>
              </a:r>
            </a:p>
          </p:txBody>
        </p:sp>
        <p:sp>
          <p:nvSpPr>
            <p:cNvPr id="306" name="Arc 93">
              <a:extLst>
                <a:ext uri="{FF2B5EF4-FFF2-40B4-BE49-F238E27FC236}">
                  <a16:creationId xmlns:a16="http://schemas.microsoft.com/office/drawing/2014/main" id="{ACABC822-5276-BA1B-5AAD-CCF7DCAFB9F2}"/>
                </a:ext>
              </a:extLst>
            </p:cNvPr>
            <p:cNvSpPr>
              <a:spLocks/>
            </p:cNvSpPr>
            <p:nvPr/>
          </p:nvSpPr>
          <p:spPr bwMode="auto">
            <a:xfrm rot="2171322" flipH="1">
              <a:off x="4790" y="796"/>
              <a:ext cx="111" cy="129"/>
            </a:xfrm>
            <a:custGeom>
              <a:avLst/>
              <a:gdLst>
                <a:gd name="T0" fmla="*/ 0 w 21600"/>
                <a:gd name="T1" fmla="*/ 0 h 21600"/>
                <a:gd name="T2" fmla="*/ 1 w 21600"/>
                <a:gd name="T3" fmla="*/ 1 h 21600"/>
                <a:gd name="T4" fmla="*/ 0 w 21600"/>
                <a:gd name="T5" fmla="*/ 1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rgbClr val="000000"/>
              </a:solidFill>
              <a:round/>
              <a:headEnd type="stealth" w="med" len="lg"/>
              <a:tailEnd type="stealth" w="med" len="lg"/>
            </a:ln>
            <a:extLst>
              <a:ext uri="{909E8E84-426E-40DD-AFC4-6F175D3DCCD1}">
                <a14:hiddenFill xmlns:a14="http://schemas.microsoft.com/office/drawing/2010/main">
                  <a:solidFill>
                    <a:srgbClr val="FFFFFF"/>
                  </a:solid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307" name="Arc 104">
              <a:extLst>
                <a:ext uri="{FF2B5EF4-FFF2-40B4-BE49-F238E27FC236}">
                  <a16:creationId xmlns:a16="http://schemas.microsoft.com/office/drawing/2014/main" id="{1CE7A625-10E9-6ED4-F4E1-6846EC53EE36}"/>
                </a:ext>
              </a:extLst>
            </p:cNvPr>
            <p:cNvSpPr>
              <a:spLocks/>
            </p:cNvSpPr>
            <p:nvPr/>
          </p:nvSpPr>
          <p:spPr bwMode="auto">
            <a:xfrm rot="-2171322">
              <a:off x="4974" y="794"/>
              <a:ext cx="111" cy="129"/>
            </a:xfrm>
            <a:custGeom>
              <a:avLst/>
              <a:gdLst>
                <a:gd name="T0" fmla="*/ 0 w 21600"/>
                <a:gd name="T1" fmla="*/ 0 h 21600"/>
                <a:gd name="T2" fmla="*/ 1 w 21600"/>
                <a:gd name="T3" fmla="*/ 1 h 21600"/>
                <a:gd name="T4" fmla="*/ 0 w 21600"/>
                <a:gd name="T5" fmla="*/ 1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rgbClr val="000000"/>
              </a:solidFill>
              <a:round/>
              <a:headEnd type="stealth" w="med" len="lg"/>
              <a:tailEnd type="stealth" w="med" len="lg"/>
            </a:ln>
            <a:extLst>
              <a:ext uri="{909E8E84-426E-40DD-AFC4-6F175D3DCCD1}">
                <a14:hiddenFill xmlns:a14="http://schemas.microsoft.com/office/drawing/2010/main">
                  <a:solidFill>
                    <a:srgbClr val="FFFFFF"/>
                  </a:solid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308" name="Text Box 105">
              <a:extLst>
                <a:ext uri="{FF2B5EF4-FFF2-40B4-BE49-F238E27FC236}">
                  <a16:creationId xmlns:a16="http://schemas.microsoft.com/office/drawing/2014/main" id="{E33BF163-F478-EF8B-16E1-B72070EC9CF8}"/>
                </a:ext>
              </a:extLst>
            </p:cNvPr>
            <p:cNvSpPr txBox="1">
              <a:spLocks noChangeAspect="1" noChangeArrowheads="1"/>
            </p:cNvSpPr>
            <p:nvPr/>
          </p:nvSpPr>
          <p:spPr bwMode="auto">
            <a:xfrm>
              <a:off x="4900" y="461"/>
              <a:ext cx="2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fontAlgn="auto" hangingPunct="1">
                <a:spcBef>
                  <a:spcPts val="0"/>
                </a:spcBef>
                <a:spcAft>
                  <a:spcPts val="0"/>
                </a:spcAft>
              </a:pPr>
              <a:r>
                <a:rPr lang="en-US" altLang="zh-CN" b="0" i="0" kern="0" dirty="0">
                  <a:solidFill>
                    <a:srgbClr val="000000"/>
                  </a:solidFill>
                  <a:latin typeface="+mj-lt"/>
                  <a:ea typeface="宋体" panose="02010600030101010101" pitchFamily="2" charset="-122"/>
                </a:rPr>
                <a:t>3</a:t>
              </a:r>
            </a:p>
          </p:txBody>
        </p:sp>
        <p:sp>
          <p:nvSpPr>
            <p:cNvPr id="309" name="Oval 82">
              <a:extLst>
                <a:ext uri="{FF2B5EF4-FFF2-40B4-BE49-F238E27FC236}">
                  <a16:creationId xmlns:a16="http://schemas.microsoft.com/office/drawing/2014/main" id="{8C33E2CC-40A3-74A2-BEEC-A887280D6FEC}"/>
                </a:ext>
              </a:extLst>
            </p:cNvPr>
            <p:cNvSpPr>
              <a:spLocks noChangeAspect="1" noChangeArrowheads="1"/>
            </p:cNvSpPr>
            <p:nvPr/>
          </p:nvSpPr>
          <p:spPr bwMode="auto">
            <a:xfrm>
              <a:off x="4892" y="1186"/>
              <a:ext cx="90" cy="90"/>
            </a:xfrm>
            <a:prstGeom prst="ellipse">
              <a:avLst/>
            </a:prstGeom>
            <a:solidFill>
              <a:srgbClr val="FF00FF"/>
            </a:solidFill>
            <a:ln w="38100" algn="ctr">
              <a:solidFill>
                <a:srgbClr val="000000"/>
              </a:solidFill>
              <a:round/>
              <a:headEnd/>
              <a:tailEnd/>
            </a:ln>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310" name="Text Box 106">
              <a:extLst>
                <a:ext uri="{FF2B5EF4-FFF2-40B4-BE49-F238E27FC236}">
                  <a16:creationId xmlns:a16="http://schemas.microsoft.com/office/drawing/2014/main" id="{50DB19C4-5BBE-43B3-B9ED-3CBE057057AF}"/>
                </a:ext>
              </a:extLst>
            </p:cNvPr>
            <p:cNvSpPr txBox="1">
              <a:spLocks noChangeAspect="1" noChangeArrowheads="1"/>
            </p:cNvSpPr>
            <p:nvPr/>
          </p:nvSpPr>
          <p:spPr bwMode="auto">
            <a:xfrm>
              <a:off x="4695" y="569"/>
              <a:ext cx="257"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 pitchFamily="18" charset="-52"/>
                  <a:ea typeface="宋体" panose="02010600030101010101" pitchFamily="2" charset="-122"/>
                  <a:sym typeface="Symbol" panose="05050102010706020507" pitchFamily="18" charset="2"/>
                </a:rPr>
                <a:t></a:t>
              </a:r>
            </a:p>
          </p:txBody>
        </p:sp>
        <p:sp>
          <p:nvSpPr>
            <p:cNvPr id="311" name="Text Box 107">
              <a:extLst>
                <a:ext uri="{FF2B5EF4-FFF2-40B4-BE49-F238E27FC236}">
                  <a16:creationId xmlns:a16="http://schemas.microsoft.com/office/drawing/2014/main" id="{A43C38C2-B4E9-DE24-6C50-F443D0C452BC}"/>
                </a:ext>
              </a:extLst>
            </p:cNvPr>
            <p:cNvSpPr txBox="1">
              <a:spLocks noChangeAspect="1" noChangeArrowheads="1"/>
            </p:cNvSpPr>
            <p:nvPr/>
          </p:nvSpPr>
          <p:spPr bwMode="auto">
            <a:xfrm>
              <a:off x="4939" y="585"/>
              <a:ext cx="257"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 pitchFamily="18" charset="-52"/>
                  <a:ea typeface="宋体" panose="02010600030101010101" pitchFamily="2" charset="-122"/>
                  <a:sym typeface="Symbol" panose="05050102010706020507" pitchFamily="18" charset="2"/>
                </a:rPr>
                <a:t></a:t>
              </a:r>
            </a:p>
          </p:txBody>
        </p:sp>
      </p:grpSp>
      <p:grpSp>
        <p:nvGrpSpPr>
          <p:cNvPr id="314" name="Group 154">
            <a:extLst>
              <a:ext uri="{FF2B5EF4-FFF2-40B4-BE49-F238E27FC236}">
                <a16:creationId xmlns:a16="http://schemas.microsoft.com/office/drawing/2014/main" id="{E9C5B337-99FB-6F3B-1DF1-5B16FC3B1216}"/>
              </a:ext>
            </a:extLst>
          </p:cNvPr>
          <p:cNvGrpSpPr>
            <a:grpSpLocks/>
          </p:cNvGrpSpPr>
          <p:nvPr/>
        </p:nvGrpSpPr>
        <p:grpSpPr bwMode="auto">
          <a:xfrm>
            <a:off x="9209127" y="3540289"/>
            <a:ext cx="2281238" cy="1858963"/>
            <a:chOff x="4180" y="2096"/>
            <a:chExt cx="1437" cy="1171"/>
          </a:xfrm>
        </p:grpSpPr>
        <p:sp>
          <p:nvSpPr>
            <p:cNvPr id="315" name="Text Box 110">
              <a:extLst>
                <a:ext uri="{FF2B5EF4-FFF2-40B4-BE49-F238E27FC236}">
                  <a16:creationId xmlns:a16="http://schemas.microsoft.com/office/drawing/2014/main" id="{10A4C68E-81FA-0DA7-90AD-C4EB72046C5D}"/>
                </a:ext>
              </a:extLst>
            </p:cNvPr>
            <p:cNvSpPr txBox="1">
              <a:spLocks noChangeAspect="1" noChangeArrowheads="1"/>
            </p:cNvSpPr>
            <p:nvPr/>
          </p:nvSpPr>
          <p:spPr bwMode="auto">
            <a:xfrm>
              <a:off x="4180" y="2153"/>
              <a:ext cx="289"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fontAlgn="auto" hangingPunct="1">
                <a:spcBef>
                  <a:spcPts val="0"/>
                </a:spcBef>
                <a:spcAft>
                  <a:spcPts val="0"/>
                </a:spcAft>
              </a:pPr>
              <a:r>
                <a:rPr lang="en-US" altLang="zh-CN" b="0" kern="0" dirty="0">
                  <a:solidFill>
                    <a:srgbClr val="000000"/>
                  </a:solidFill>
                  <a:latin typeface="+mn-lt"/>
                  <a:ea typeface="宋体" panose="02010600030101010101" pitchFamily="2" charset="-122"/>
                </a:rPr>
                <a:t>B</a:t>
              </a:r>
            </a:p>
          </p:txBody>
        </p:sp>
        <p:sp>
          <p:nvSpPr>
            <p:cNvPr id="316" name="Text Box 111">
              <a:extLst>
                <a:ext uri="{FF2B5EF4-FFF2-40B4-BE49-F238E27FC236}">
                  <a16:creationId xmlns:a16="http://schemas.microsoft.com/office/drawing/2014/main" id="{6908E316-C412-782F-3373-8BB88632C24B}"/>
                </a:ext>
              </a:extLst>
            </p:cNvPr>
            <p:cNvSpPr txBox="1">
              <a:spLocks noChangeAspect="1" noChangeArrowheads="1"/>
            </p:cNvSpPr>
            <p:nvPr/>
          </p:nvSpPr>
          <p:spPr bwMode="auto">
            <a:xfrm>
              <a:off x="5402" y="2147"/>
              <a:ext cx="215" cy="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fontAlgn="auto" hangingPunct="1">
                <a:spcBef>
                  <a:spcPts val="0"/>
                </a:spcBef>
                <a:spcAft>
                  <a:spcPts val="0"/>
                </a:spcAft>
              </a:pPr>
              <a:r>
                <a:rPr lang="en-US" altLang="zh-CN" b="0" kern="0" dirty="0">
                  <a:solidFill>
                    <a:srgbClr val="000000"/>
                  </a:solidFill>
                  <a:latin typeface="+mn-lt"/>
                  <a:ea typeface="宋体" panose="02010600030101010101" pitchFamily="2" charset="-122"/>
                </a:rPr>
                <a:t>C</a:t>
              </a:r>
            </a:p>
          </p:txBody>
        </p:sp>
        <p:sp>
          <p:nvSpPr>
            <p:cNvPr id="317" name="AutoShape 112">
              <a:extLst>
                <a:ext uri="{FF2B5EF4-FFF2-40B4-BE49-F238E27FC236}">
                  <a16:creationId xmlns:a16="http://schemas.microsoft.com/office/drawing/2014/main" id="{9B742F58-9581-6B0A-F7D6-A1E6027A934B}"/>
                </a:ext>
              </a:extLst>
            </p:cNvPr>
            <p:cNvSpPr>
              <a:spLocks noChangeArrowheads="1"/>
            </p:cNvSpPr>
            <p:nvPr/>
          </p:nvSpPr>
          <p:spPr bwMode="auto">
            <a:xfrm flipV="1">
              <a:off x="4362" y="2186"/>
              <a:ext cx="1110" cy="1051"/>
            </a:xfrm>
            <a:prstGeom prst="triangle">
              <a:avLst>
                <a:gd name="adj" fmla="val 50000"/>
              </a:avLst>
            </a:prstGeom>
            <a:noFill/>
            <a:ln w="571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318" name="Text Box 113">
              <a:extLst>
                <a:ext uri="{FF2B5EF4-FFF2-40B4-BE49-F238E27FC236}">
                  <a16:creationId xmlns:a16="http://schemas.microsoft.com/office/drawing/2014/main" id="{38F7263D-5343-E078-4A00-9F2D45C29934}"/>
                </a:ext>
              </a:extLst>
            </p:cNvPr>
            <p:cNvSpPr txBox="1">
              <a:spLocks noChangeAspect="1" noChangeArrowheads="1"/>
            </p:cNvSpPr>
            <p:nvPr/>
          </p:nvSpPr>
          <p:spPr bwMode="auto">
            <a:xfrm>
              <a:off x="4381" y="2529"/>
              <a:ext cx="2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dirty="0">
                  <a:ln>
                    <a:noFill/>
                  </a:ln>
                  <a:solidFill>
                    <a:srgbClr val="000000"/>
                  </a:solidFill>
                  <a:effectLst/>
                  <a:uLnTx/>
                  <a:uFillTx/>
                  <a:latin typeface="+mj-lt"/>
                  <a:ea typeface="宋体" panose="02010600030101010101" pitchFamily="2" charset="-122"/>
                </a:rPr>
                <a:t>1</a:t>
              </a:r>
            </a:p>
          </p:txBody>
        </p:sp>
        <p:sp>
          <p:nvSpPr>
            <p:cNvPr id="319" name="Text Box 114">
              <a:extLst>
                <a:ext uri="{FF2B5EF4-FFF2-40B4-BE49-F238E27FC236}">
                  <a16:creationId xmlns:a16="http://schemas.microsoft.com/office/drawing/2014/main" id="{FFF081FD-ACC2-EBAF-798E-81156E5DA0F1}"/>
                </a:ext>
              </a:extLst>
            </p:cNvPr>
            <p:cNvSpPr txBox="1">
              <a:spLocks noChangeAspect="1" noChangeArrowheads="1"/>
            </p:cNvSpPr>
            <p:nvPr/>
          </p:nvSpPr>
          <p:spPr bwMode="auto">
            <a:xfrm>
              <a:off x="5266" y="2543"/>
              <a:ext cx="259"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fontAlgn="auto" hangingPunct="1">
                <a:spcBef>
                  <a:spcPts val="0"/>
                </a:spcBef>
                <a:spcAft>
                  <a:spcPts val="0"/>
                </a:spcAft>
              </a:pPr>
              <a:r>
                <a:rPr lang="en-US" altLang="zh-CN" b="0" i="0" kern="0" dirty="0">
                  <a:solidFill>
                    <a:srgbClr val="000000"/>
                  </a:solidFill>
                  <a:latin typeface="+mj-lt"/>
                  <a:ea typeface="宋体" panose="02010600030101010101" pitchFamily="2" charset="-122"/>
                </a:rPr>
                <a:t>2</a:t>
              </a:r>
            </a:p>
          </p:txBody>
        </p:sp>
        <p:grpSp>
          <p:nvGrpSpPr>
            <p:cNvPr id="320" name="Group 116">
              <a:extLst>
                <a:ext uri="{FF2B5EF4-FFF2-40B4-BE49-F238E27FC236}">
                  <a16:creationId xmlns:a16="http://schemas.microsoft.com/office/drawing/2014/main" id="{0E1F0DCB-6AE3-63CB-2FD8-9C86B1EC88EC}"/>
                </a:ext>
              </a:extLst>
            </p:cNvPr>
            <p:cNvGrpSpPr>
              <a:grpSpLocks/>
            </p:cNvGrpSpPr>
            <p:nvPr/>
          </p:nvGrpSpPr>
          <p:grpSpPr bwMode="auto">
            <a:xfrm rot="5400000">
              <a:off x="4855" y="1431"/>
              <a:ext cx="95" cy="1426"/>
              <a:chOff x="4180" y="191"/>
              <a:chExt cx="112" cy="1798"/>
            </a:xfrm>
          </p:grpSpPr>
          <p:sp>
            <p:nvSpPr>
              <p:cNvPr id="333" name="Rectangle 117" descr="宽上对角线">
                <a:extLst>
                  <a:ext uri="{FF2B5EF4-FFF2-40B4-BE49-F238E27FC236}">
                    <a16:creationId xmlns:a16="http://schemas.microsoft.com/office/drawing/2014/main" id="{88A9B25F-9AF1-9464-5723-767DDF434403}"/>
                  </a:ext>
                </a:extLst>
              </p:cNvPr>
              <p:cNvSpPr>
                <a:spLocks noChangeAspect="1" noChangeArrowheads="1"/>
              </p:cNvSpPr>
              <p:nvPr/>
            </p:nvSpPr>
            <p:spPr bwMode="auto">
              <a:xfrm>
                <a:off x="4180" y="191"/>
                <a:ext cx="94" cy="1798"/>
              </a:xfrm>
              <a:prstGeom prst="rect">
                <a:avLst/>
              </a:prstGeom>
              <a:pattFill prst="wdUpDiag">
                <a:fgClr>
                  <a:srgbClr val="000000"/>
                </a:fgClr>
                <a:bgClr>
                  <a:srgbClr val="99FFCC"/>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334" name="Line 118">
                <a:extLst>
                  <a:ext uri="{FF2B5EF4-FFF2-40B4-BE49-F238E27FC236}">
                    <a16:creationId xmlns:a16="http://schemas.microsoft.com/office/drawing/2014/main" id="{D7607828-0133-E1E7-A49A-46BAC3ACFE6D}"/>
                  </a:ext>
                </a:extLst>
              </p:cNvPr>
              <p:cNvSpPr>
                <a:spLocks noChangeAspect="1" noChangeShapeType="1"/>
              </p:cNvSpPr>
              <p:nvPr/>
            </p:nvSpPr>
            <p:spPr bwMode="auto">
              <a:xfrm>
                <a:off x="4292" y="191"/>
                <a:ext cx="0" cy="1790"/>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321" name="Text Box 120">
              <a:extLst>
                <a:ext uri="{FF2B5EF4-FFF2-40B4-BE49-F238E27FC236}">
                  <a16:creationId xmlns:a16="http://schemas.microsoft.com/office/drawing/2014/main" id="{6AC4EDA7-1E5A-D0BA-BEB9-E1971638E997}"/>
                </a:ext>
              </a:extLst>
            </p:cNvPr>
            <p:cNvSpPr txBox="1">
              <a:spLocks noChangeAspect="1" noChangeArrowheads="1"/>
            </p:cNvSpPr>
            <p:nvPr/>
          </p:nvSpPr>
          <p:spPr bwMode="auto">
            <a:xfrm>
              <a:off x="4919" y="2990"/>
              <a:ext cx="296"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fontAlgn="auto" hangingPunct="1">
                <a:spcBef>
                  <a:spcPts val="0"/>
                </a:spcBef>
                <a:spcAft>
                  <a:spcPts val="0"/>
                </a:spcAft>
              </a:pPr>
              <a:r>
                <a:rPr lang="en-US" altLang="zh-CN" b="0" kern="0" dirty="0">
                  <a:solidFill>
                    <a:srgbClr val="000000"/>
                  </a:solidFill>
                  <a:latin typeface="+mn-lt"/>
                  <a:ea typeface="宋体" panose="02010600030101010101" pitchFamily="2" charset="-122"/>
                </a:rPr>
                <a:t>A</a:t>
              </a:r>
            </a:p>
          </p:txBody>
        </p:sp>
        <p:sp>
          <p:nvSpPr>
            <p:cNvPr id="322" name="Oval 121">
              <a:extLst>
                <a:ext uri="{FF2B5EF4-FFF2-40B4-BE49-F238E27FC236}">
                  <a16:creationId xmlns:a16="http://schemas.microsoft.com/office/drawing/2014/main" id="{5118F077-8698-7AF8-9573-703C8A39C192}"/>
                </a:ext>
              </a:extLst>
            </p:cNvPr>
            <p:cNvSpPr>
              <a:spLocks noChangeAspect="1" noChangeArrowheads="1"/>
            </p:cNvSpPr>
            <p:nvPr/>
          </p:nvSpPr>
          <p:spPr bwMode="auto">
            <a:xfrm rot="5400000">
              <a:off x="4324" y="2140"/>
              <a:ext cx="90" cy="90"/>
            </a:xfrm>
            <a:prstGeom prst="ellipse">
              <a:avLst/>
            </a:prstGeom>
            <a:solidFill>
              <a:srgbClr val="FF00FF"/>
            </a:solidFill>
            <a:ln w="38100">
              <a:solidFill>
                <a:srgbClr val="000000"/>
              </a:solidFill>
              <a:round/>
              <a:headEnd/>
              <a:tailEnd/>
            </a:ln>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323" name="Oval 122">
              <a:extLst>
                <a:ext uri="{FF2B5EF4-FFF2-40B4-BE49-F238E27FC236}">
                  <a16:creationId xmlns:a16="http://schemas.microsoft.com/office/drawing/2014/main" id="{8DAA2421-F5B6-F691-7ACC-5535A98B8CB9}"/>
                </a:ext>
              </a:extLst>
            </p:cNvPr>
            <p:cNvSpPr>
              <a:spLocks noChangeAspect="1" noChangeArrowheads="1"/>
            </p:cNvSpPr>
            <p:nvPr/>
          </p:nvSpPr>
          <p:spPr bwMode="auto">
            <a:xfrm rot="5400000">
              <a:off x="5418" y="2143"/>
              <a:ext cx="90" cy="90"/>
            </a:xfrm>
            <a:prstGeom prst="ellipse">
              <a:avLst/>
            </a:prstGeom>
            <a:solidFill>
              <a:srgbClr val="FF00FF"/>
            </a:solidFill>
            <a:ln w="38100" algn="ctr">
              <a:solidFill>
                <a:srgbClr val="000000"/>
              </a:solidFill>
              <a:round/>
              <a:headEnd/>
              <a:tailEnd/>
            </a:ln>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324" name="Line 125">
              <a:extLst>
                <a:ext uri="{FF2B5EF4-FFF2-40B4-BE49-F238E27FC236}">
                  <a16:creationId xmlns:a16="http://schemas.microsoft.com/office/drawing/2014/main" id="{5BBF8A36-BA71-7F99-EC38-86230F6C25A8}"/>
                </a:ext>
              </a:extLst>
            </p:cNvPr>
            <p:cNvSpPr>
              <a:spLocks noChangeShapeType="1"/>
            </p:cNvSpPr>
            <p:nvPr/>
          </p:nvSpPr>
          <p:spPr bwMode="auto">
            <a:xfrm flipV="1">
              <a:off x="4917" y="2194"/>
              <a:ext cx="0" cy="1000"/>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325" name="Oval 126">
              <a:extLst>
                <a:ext uri="{FF2B5EF4-FFF2-40B4-BE49-F238E27FC236}">
                  <a16:creationId xmlns:a16="http://schemas.microsoft.com/office/drawing/2014/main" id="{5FCE064D-B7B6-01F5-5B73-FD554FBE4F1B}"/>
                </a:ext>
              </a:extLst>
            </p:cNvPr>
            <p:cNvSpPr>
              <a:spLocks noChangeAspect="1" noChangeArrowheads="1"/>
            </p:cNvSpPr>
            <p:nvPr/>
          </p:nvSpPr>
          <p:spPr bwMode="auto">
            <a:xfrm>
              <a:off x="4870" y="2144"/>
              <a:ext cx="90" cy="90"/>
            </a:xfrm>
            <a:prstGeom prst="ellipse">
              <a:avLst/>
            </a:prstGeom>
            <a:solidFill>
              <a:srgbClr val="FF00FF"/>
            </a:solidFill>
            <a:ln w="38100" algn="ctr">
              <a:solidFill>
                <a:srgbClr val="000000"/>
              </a:solidFill>
              <a:round/>
              <a:headEnd/>
              <a:tailEnd/>
            </a:ln>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326" name="Text Box 127">
              <a:extLst>
                <a:ext uri="{FF2B5EF4-FFF2-40B4-BE49-F238E27FC236}">
                  <a16:creationId xmlns:a16="http://schemas.microsoft.com/office/drawing/2014/main" id="{C1FA7D12-CB89-6BCA-3E6E-83B6A8A33BB9}"/>
                </a:ext>
              </a:extLst>
            </p:cNvPr>
            <p:cNvSpPr txBox="1">
              <a:spLocks noChangeAspect="1" noChangeArrowheads="1"/>
            </p:cNvSpPr>
            <p:nvPr/>
          </p:nvSpPr>
          <p:spPr bwMode="auto">
            <a:xfrm>
              <a:off x="4900" y="2138"/>
              <a:ext cx="215" cy="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fontAlgn="auto" hangingPunct="1">
                <a:spcBef>
                  <a:spcPts val="0"/>
                </a:spcBef>
                <a:spcAft>
                  <a:spcPts val="0"/>
                </a:spcAft>
              </a:pPr>
              <a:r>
                <a:rPr lang="en-US" altLang="zh-CN" b="0" kern="0" dirty="0">
                  <a:solidFill>
                    <a:srgbClr val="000000"/>
                  </a:solidFill>
                  <a:latin typeface="+mn-lt"/>
                  <a:ea typeface="宋体" panose="02010600030101010101" pitchFamily="2" charset="-122"/>
                </a:rPr>
                <a:t>D</a:t>
              </a:r>
            </a:p>
          </p:txBody>
        </p:sp>
        <p:sp>
          <p:nvSpPr>
            <p:cNvPr id="327" name="Arc 128">
              <a:extLst>
                <a:ext uri="{FF2B5EF4-FFF2-40B4-BE49-F238E27FC236}">
                  <a16:creationId xmlns:a16="http://schemas.microsoft.com/office/drawing/2014/main" id="{498FDB22-60EC-BCC4-B8D2-CF29EEEF34FE}"/>
                </a:ext>
              </a:extLst>
            </p:cNvPr>
            <p:cNvSpPr>
              <a:spLocks/>
            </p:cNvSpPr>
            <p:nvPr/>
          </p:nvSpPr>
          <p:spPr bwMode="auto">
            <a:xfrm rot="2171322" flipH="1">
              <a:off x="4766" y="2787"/>
              <a:ext cx="111" cy="129"/>
            </a:xfrm>
            <a:custGeom>
              <a:avLst/>
              <a:gdLst>
                <a:gd name="T0" fmla="*/ 0 w 21600"/>
                <a:gd name="T1" fmla="*/ 0 h 21600"/>
                <a:gd name="T2" fmla="*/ 1 w 21600"/>
                <a:gd name="T3" fmla="*/ 1 h 21600"/>
                <a:gd name="T4" fmla="*/ 0 w 21600"/>
                <a:gd name="T5" fmla="*/ 1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rgbClr val="000000"/>
              </a:solidFill>
              <a:round/>
              <a:headEnd type="stealth" w="med" len="lg"/>
              <a:tailEnd type="stealth" w="med" len="lg"/>
            </a:ln>
            <a:extLst>
              <a:ext uri="{909E8E84-426E-40DD-AFC4-6F175D3DCCD1}">
                <a14:hiddenFill xmlns:a14="http://schemas.microsoft.com/office/drawing/2010/main">
                  <a:solidFill>
                    <a:srgbClr val="FFFFFF"/>
                  </a:solid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328" name="Arc 129">
              <a:extLst>
                <a:ext uri="{FF2B5EF4-FFF2-40B4-BE49-F238E27FC236}">
                  <a16:creationId xmlns:a16="http://schemas.microsoft.com/office/drawing/2014/main" id="{E491A706-5968-C77C-8989-673F10508FF5}"/>
                </a:ext>
              </a:extLst>
            </p:cNvPr>
            <p:cNvSpPr>
              <a:spLocks/>
            </p:cNvSpPr>
            <p:nvPr/>
          </p:nvSpPr>
          <p:spPr bwMode="auto">
            <a:xfrm rot="-2171322">
              <a:off x="4950" y="2785"/>
              <a:ext cx="111" cy="129"/>
            </a:xfrm>
            <a:custGeom>
              <a:avLst/>
              <a:gdLst>
                <a:gd name="T0" fmla="*/ 0 w 21600"/>
                <a:gd name="T1" fmla="*/ 0 h 21600"/>
                <a:gd name="T2" fmla="*/ 1 w 21600"/>
                <a:gd name="T3" fmla="*/ 1 h 21600"/>
                <a:gd name="T4" fmla="*/ 0 w 21600"/>
                <a:gd name="T5" fmla="*/ 1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rgbClr val="000000"/>
              </a:solidFill>
              <a:round/>
              <a:headEnd type="stealth" w="med" len="lg"/>
              <a:tailEnd type="stealth" w="med" len="lg"/>
            </a:ln>
            <a:extLst>
              <a:ext uri="{909E8E84-426E-40DD-AFC4-6F175D3DCCD1}">
                <a14:hiddenFill xmlns:a14="http://schemas.microsoft.com/office/drawing/2010/main">
                  <a:solidFill>
                    <a:srgbClr val="FFFFFF"/>
                  </a:solid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329" name="Text Box 130">
              <a:extLst>
                <a:ext uri="{FF2B5EF4-FFF2-40B4-BE49-F238E27FC236}">
                  <a16:creationId xmlns:a16="http://schemas.microsoft.com/office/drawing/2014/main" id="{886F810C-C5E9-5894-4283-CC7A4D570024}"/>
                </a:ext>
              </a:extLst>
            </p:cNvPr>
            <p:cNvSpPr txBox="1">
              <a:spLocks noChangeAspect="1" noChangeArrowheads="1"/>
            </p:cNvSpPr>
            <p:nvPr/>
          </p:nvSpPr>
          <p:spPr bwMode="auto">
            <a:xfrm>
              <a:off x="4876" y="2452"/>
              <a:ext cx="2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fontAlgn="auto" hangingPunct="1">
                <a:spcBef>
                  <a:spcPts val="0"/>
                </a:spcBef>
                <a:spcAft>
                  <a:spcPts val="0"/>
                </a:spcAft>
              </a:pPr>
              <a:r>
                <a:rPr lang="en-US" altLang="zh-CN" b="0" i="0" kern="0" dirty="0">
                  <a:solidFill>
                    <a:srgbClr val="000000"/>
                  </a:solidFill>
                  <a:latin typeface="+mj-lt"/>
                  <a:ea typeface="宋体" panose="02010600030101010101" pitchFamily="2" charset="-122"/>
                </a:rPr>
                <a:t>3</a:t>
              </a:r>
            </a:p>
          </p:txBody>
        </p:sp>
        <p:sp>
          <p:nvSpPr>
            <p:cNvPr id="330" name="Oval 131">
              <a:extLst>
                <a:ext uri="{FF2B5EF4-FFF2-40B4-BE49-F238E27FC236}">
                  <a16:creationId xmlns:a16="http://schemas.microsoft.com/office/drawing/2014/main" id="{549514E2-939E-D0E5-E56D-20958134CE4C}"/>
                </a:ext>
              </a:extLst>
            </p:cNvPr>
            <p:cNvSpPr>
              <a:spLocks noChangeAspect="1" noChangeArrowheads="1"/>
            </p:cNvSpPr>
            <p:nvPr/>
          </p:nvSpPr>
          <p:spPr bwMode="auto">
            <a:xfrm>
              <a:off x="4868" y="3177"/>
              <a:ext cx="90" cy="90"/>
            </a:xfrm>
            <a:prstGeom prst="ellipse">
              <a:avLst/>
            </a:prstGeom>
            <a:solidFill>
              <a:srgbClr val="FF00FF"/>
            </a:solidFill>
            <a:ln w="38100" algn="ctr">
              <a:solidFill>
                <a:srgbClr val="000000"/>
              </a:solidFill>
              <a:round/>
              <a:headEnd/>
              <a:tailEnd/>
            </a:ln>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331" name="Text Box 132">
              <a:extLst>
                <a:ext uri="{FF2B5EF4-FFF2-40B4-BE49-F238E27FC236}">
                  <a16:creationId xmlns:a16="http://schemas.microsoft.com/office/drawing/2014/main" id="{72C40ABF-CDA5-0E37-4497-9D85FA9B3DEE}"/>
                </a:ext>
              </a:extLst>
            </p:cNvPr>
            <p:cNvSpPr txBox="1">
              <a:spLocks noChangeAspect="1" noChangeArrowheads="1"/>
            </p:cNvSpPr>
            <p:nvPr/>
          </p:nvSpPr>
          <p:spPr bwMode="auto">
            <a:xfrm>
              <a:off x="4671" y="2560"/>
              <a:ext cx="257"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 pitchFamily="18" charset="-52"/>
                  <a:ea typeface="宋体" panose="02010600030101010101" pitchFamily="2" charset="-122"/>
                  <a:sym typeface="Symbol" panose="05050102010706020507" pitchFamily="18" charset="2"/>
                </a:rPr>
                <a:t></a:t>
              </a:r>
            </a:p>
          </p:txBody>
        </p:sp>
        <p:sp>
          <p:nvSpPr>
            <p:cNvPr id="332" name="Text Box 133">
              <a:extLst>
                <a:ext uri="{FF2B5EF4-FFF2-40B4-BE49-F238E27FC236}">
                  <a16:creationId xmlns:a16="http://schemas.microsoft.com/office/drawing/2014/main" id="{E64577B9-CFFD-B13E-6960-FA482059FC83}"/>
                </a:ext>
              </a:extLst>
            </p:cNvPr>
            <p:cNvSpPr txBox="1">
              <a:spLocks noChangeAspect="1" noChangeArrowheads="1"/>
            </p:cNvSpPr>
            <p:nvPr/>
          </p:nvSpPr>
          <p:spPr bwMode="auto">
            <a:xfrm>
              <a:off x="4915" y="2576"/>
              <a:ext cx="257"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 pitchFamily="18" charset="-52"/>
                  <a:ea typeface="宋体" panose="02010600030101010101" pitchFamily="2" charset="-122"/>
                  <a:sym typeface="Symbol" panose="05050102010706020507" pitchFamily="18" charset="2"/>
                </a:rPr>
                <a:t></a:t>
              </a:r>
            </a:p>
          </p:txBody>
        </p:sp>
      </p:grpSp>
      <p:sp>
        <p:nvSpPr>
          <p:cNvPr id="335" name="Line 134">
            <a:extLst>
              <a:ext uri="{FF2B5EF4-FFF2-40B4-BE49-F238E27FC236}">
                <a16:creationId xmlns:a16="http://schemas.microsoft.com/office/drawing/2014/main" id="{59CEF752-425A-1ECD-EA0E-8BEFB964662B}"/>
              </a:ext>
            </a:extLst>
          </p:cNvPr>
          <p:cNvSpPr>
            <a:spLocks noChangeShapeType="1"/>
          </p:cNvSpPr>
          <p:nvPr/>
        </p:nvSpPr>
        <p:spPr bwMode="auto">
          <a:xfrm flipH="1" flipV="1">
            <a:off x="8414036" y="1944342"/>
            <a:ext cx="376237" cy="700087"/>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algn="ctr"/>
            <a:endParaRPr kumimoji="1" lang="zh-CN" altLang="en-US" b="0" i="0">
              <a:solidFill>
                <a:srgbClr val="FFFFFF"/>
              </a:solidFill>
              <a:ea typeface="黑体" panose="02010609060101010101" pitchFamily="49" charset="-122"/>
            </a:endParaRPr>
          </a:p>
        </p:txBody>
      </p:sp>
      <p:sp>
        <p:nvSpPr>
          <p:cNvPr id="336" name="Line 135">
            <a:extLst>
              <a:ext uri="{FF2B5EF4-FFF2-40B4-BE49-F238E27FC236}">
                <a16:creationId xmlns:a16="http://schemas.microsoft.com/office/drawing/2014/main" id="{7D33AD23-2822-2856-B7A9-701554768039}"/>
              </a:ext>
            </a:extLst>
          </p:cNvPr>
          <p:cNvSpPr>
            <a:spLocks noChangeShapeType="1"/>
          </p:cNvSpPr>
          <p:nvPr/>
        </p:nvSpPr>
        <p:spPr bwMode="auto">
          <a:xfrm flipV="1">
            <a:off x="8885523" y="1958629"/>
            <a:ext cx="376238" cy="700088"/>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algn="ctr"/>
            <a:endParaRPr kumimoji="1" lang="zh-CN" altLang="en-US" b="0" i="0">
              <a:solidFill>
                <a:srgbClr val="FFFFFF"/>
              </a:solidFill>
              <a:ea typeface="黑体" panose="02010609060101010101" pitchFamily="49" charset="-122"/>
            </a:endParaRPr>
          </a:p>
        </p:txBody>
      </p:sp>
      <p:sp>
        <p:nvSpPr>
          <p:cNvPr id="337" name="Text Box 136">
            <a:extLst>
              <a:ext uri="{FF2B5EF4-FFF2-40B4-BE49-F238E27FC236}">
                <a16:creationId xmlns:a16="http://schemas.microsoft.com/office/drawing/2014/main" id="{88D9FD73-FF2A-4EE1-EE12-F25BD65E30AB}"/>
              </a:ext>
            </a:extLst>
          </p:cNvPr>
          <p:cNvSpPr txBox="1">
            <a:spLocks noChangeAspect="1" noChangeArrowheads="1"/>
          </p:cNvSpPr>
          <p:nvPr/>
        </p:nvSpPr>
        <p:spPr bwMode="auto">
          <a:xfrm>
            <a:off x="8202898" y="1472854"/>
            <a:ext cx="731838" cy="47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ctr" eaLnBrk="1" hangingPunct="1"/>
            <a:r>
              <a:rPr lang="en-US" altLang="zh-CN" b="0" dirty="0">
                <a:solidFill>
                  <a:srgbClr val="000000"/>
                </a:solidFill>
                <a:latin typeface="+mj-lt"/>
                <a:ea typeface="宋体" panose="02010600030101010101" pitchFamily="2" charset="-122"/>
              </a:rPr>
              <a:t>F</a:t>
            </a:r>
            <a:r>
              <a:rPr lang="en-US" altLang="zh-CN" b="0" i="0" baseline="-25000" dirty="0">
                <a:solidFill>
                  <a:srgbClr val="000000"/>
                </a:solidFill>
                <a:latin typeface="+mj-lt"/>
                <a:ea typeface="宋体" panose="02010600030101010101" pitchFamily="2" charset="-122"/>
              </a:rPr>
              <a:t>N3</a:t>
            </a:r>
            <a:endParaRPr lang="en-US" altLang="zh-CN" b="0" dirty="0">
              <a:solidFill>
                <a:srgbClr val="000000"/>
              </a:solidFill>
              <a:latin typeface="+mj-lt"/>
              <a:ea typeface="宋体" panose="02010600030101010101" pitchFamily="2" charset="-122"/>
            </a:endParaRPr>
          </a:p>
        </p:txBody>
      </p:sp>
      <p:grpSp>
        <p:nvGrpSpPr>
          <p:cNvPr id="338" name="Group 138">
            <a:extLst>
              <a:ext uri="{FF2B5EF4-FFF2-40B4-BE49-F238E27FC236}">
                <a16:creationId xmlns:a16="http://schemas.microsoft.com/office/drawing/2014/main" id="{D632891D-B563-60EC-22C4-82BB8B18F99F}"/>
              </a:ext>
            </a:extLst>
          </p:cNvPr>
          <p:cNvGrpSpPr>
            <a:grpSpLocks/>
          </p:cNvGrpSpPr>
          <p:nvPr/>
        </p:nvGrpSpPr>
        <p:grpSpPr bwMode="auto">
          <a:xfrm>
            <a:off x="8763286" y="2598392"/>
            <a:ext cx="617537" cy="909637"/>
            <a:chOff x="3939" y="1225"/>
            <a:chExt cx="389" cy="573"/>
          </a:xfrm>
        </p:grpSpPr>
        <p:sp>
          <p:nvSpPr>
            <p:cNvPr id="339" name="Text Box 98">
              <a:extLst>
                <a:ext uri="{FF2B5EF4-FFF2-40B4-BE49-F238E27FC236}">
                  <a16:creationId xmlns:a16="http://schemas.microsoft.com/office/drawing/2014/main" id="{2F2AC5F8-A815-AA11-8960-6FD82DE291E0}"/>
                </a:ext>
              </a:extLst>
            </p:cNvPr>
            <p:cNvSpPr txBox="1">
              <a:spLocks noChangeAspect="1" noChangeArrowheads="1"/>
            </p:cNvSpPr>
            <p:nvPr/>
          </p:nvSpPr>
          <p:spPr bwMode="auto">
            <a:xfrm>
              <a:off x="3942" y="1504"/>
              <a:ext cx="386"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b="0" u="none" strike="noStrike" kern="0" cap="none" spc="0" normalizeH="0" baseline="0" noProof="0" dirty="0">
                  <a:ln>
                    <a:noFill/>
                  </a:ln>
                  <a:solidFill>
                    <a:srgbClr val="FF0000"/>
                  </a:solidFill>
                  <a:effectLst/>
                  <a:uLnTx/>
                  <a:uFillTx/>
                  <a:latin typeface="Times New Roman" panose="02020603050405020304" pitchFamily="18" charset="0"/>
                  <a:ea typeface="黑体" panose="02010609060101010101" pitchFamily="49" charset="-122"/>
                </a:rPr>
                <a:t>G</a:t>
              </a:r>
              <a:endParaRPr kumimoji="1" lang="en-US" altLang="zh-CN" b="0" u="none" strike="noStrike" kern="0" cap="none" spc="0" normalizeH="0" baseline="-25000" noProof="0" dirty="0">
                <a:ln>
                  <a:noFill/>
                </a:ln>
                <a:solidFill>
                  <a:srgbClr val="FF0000"/>
                </a:solidFill>
                <a:effectLst/>
                <a:uLnTx/>
                <a:uFillTx/>
                <a:latin typeface="Times New Roman" panose="02020603050405020304" pitchFamily="18" charset="0"/>
                <a:ea typeface="黑体" panose="02010609060101010101" pitchFamily="49" charset="-122"/>
              </a:endParaRPr>
            </a:p>
          </p:txBody>
        </p:sp>
        <p:sp>
          <p:nvSpPr>
            <p:cNvPr id="340" name="Line 99">
              <a:extLst>
                <a:ext uri="{FF2B5EF4-FFF2-40B4-BE49-F238E27FC236}">
                  <a16:creationId xmlns:a16="http://schemas.microsoft.com/office/drawing/2014/main" id="{A45B58E4-6D1F-A0F7-6201-14A4942693CA}"/>
                </a:ext>
              </a:extLst>
            </p:cNvPr>
            <p:cNvSpPr>
              <a:spLocks noChangeAspect="1" noChangeShapeType="1"/>
            </p:cNvSpPr>
            <p:nvPr/>
          </p:nvSpPr>
          <p:spPr bwMode="auto">
            <a:xfrm>
              <a:off x="3984" y="1337"/>
              <a:ext cx="0" cy="299"/>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341" name="Text Box 100">
              <a:extLst>
                <a:ext uri="{FF2B5EF4-FFF2-40B4-BE49-F238E27FC236}">
                  <a16:creationId xmlns:a16="http://schemas.microsoft.com/office/drawing/2014/main" id="{E21D3A2D-2092-396B-17EA-E5851B9F8817}"/>
                </a:ext>
              </a:extLst>
            </p:cNvPr>
            <p:cNvSpPr txBox="1">
              <a:spLocks noChangeAspect="1" noChangeArrowheads="1"/>
            </p:cNvSpPr>
            <p:nvPr/>
          </p:nvSpPr>
          <p:spPr bwMode="auto">
            <a:xfrm>
              <a:off x="3962" y="1225"/>
              <a:ext cx="28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mj-lt"/>
                  <a:ea typeface="宋体" panose="02010600030101010101" pitchFamily="2" charset="-122"/>
                </a:rPr>
                <a:t>A</a:t>
              </a:r>
            </a:p>
          </p:txBody>
        </p:sp>
        <p:sp>
          <p:nvSpPr>
            <p:cNvPr id="342" name="Oval 103">
              <a:extLst>
                <a:ext uri="{FF2B5EF4-FFF2-40B4-BE49-F238E27FC236}">
                  <a16:creationId xmlns:a16="http://schemas.microsoft.com/office/drawing/2014/main" id="{5EB3663E-25A1-F027-2B6F-3EE2EFEBB672}"/>
                </a:ext>
              </a:extLst>
            </p:cNvPr>
            <p:cNvSpPr>
              <a:spLocks noChangeAspect="1" noChangeArrowheads="1"/>
            </p:cNvSpPr>
            <p:nvPr/>
          </p:nvSpPr>
          <p:spPr bwMode="auto">
            <a:xfrm>
              <a:off x="3939" y="1251"/>
              <a:ext cx="90" cy="90"/>
            </a:xfrm>
            <a:prstGeom prst="ellipse">
              <a:avLst/>
            </a:prstGeom>
            <a:solidFill>
              <a:srgbClr val="FF00FF"/>
            </a:solidFill>
            <a:ln w="38100" algn="ctr">
              <a:solidFill>
                <a:srgbClr val="000000"/>
              </a:solidFill>
              <a:round/>
              <a:headEnd/>
              <a:tailEnd/>
            </a:ln>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grpSp>
      <p:sp>
        <p:nvSpPr>
          <p:cNvPr id="343" name="Text Box 140">
            <a:extLst>
              <a:ext uri="{FF2B5EF4-FFF2-40B4-BE49-F238E27FC236}">
                <a16:creationId xmlns:a16="http://schemas.microsoft.com/office/drawing/2014/main" id="{4FCCB5A4-1D7C-6E66-B50D-5EFC32D244A5}"/>
              </a:ext>
            </a:extLst>
          </p:cNvPr>
          <p:cNvSpPr txBox="1">
            <a:spLocks noChangeAspect="1" noChangeArrowheads="1"/>
          </p:cNvSpPr>
          <p:nvPr/>
        </p:nvSpPr>
        <p:spPr bwMode="auto">
          <a:xfrm>
            <a:off x="10220339" y="5928218"/>
            <a:ext cx="469900" cy="385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hangingPunct="1"/>
            <a:r>
              <a:rPr lang="en-US" altLang="zh-CN" b="0" kern="0" dirty="0">
                <a:solidFill>
                  <a:srgbClr val="000000"/>
                </a:solidFill>
                <a:latin typeface="+mn-lt"/>
                <a:ea typeface="宋体" panose="02010600030101010101" pitchFamily="2" charset="-122"/>
              </a:rPr>
              <a:t>A</a:t>
            </a:r>
            <a:r>
              <a:rPr lang="en-US" altLang="zh-CN" b="0" dirty="0">
                <a:solidFill>
                  <a:srgbClr val="000000"/>
                </a:solidFill>
                <a:latin typeface="" pitchFamily="18" charset="-52"/>
                <a:ea typeface="宋体" panose="02010600030101010101" pitchFamily="2" charset="-122"/>
              </a:rPr>
              <a:t>'</a:t>
            </a:r>
          </a:p>
        </p:txBody>
      </p:sp>
      <p:grpSp>
        <p:nvGrpSpPr>
          <p:cNvPr id="344" name="Group 155">
            <a:extLst>
              <a:ext uri="{FF2B5EF4-FFF2-40B4-BE49-F238E27FC236}">
                <a16:creationId xmlns:a16="http://schemas.microsoft.com/office/drawing/2014/main" id="{68DF2F69-93FA-4FCF-5311-912E29541A3B}"/>
              </a:ext>
            </a:extLst>
          </p:cNvPr>
          <p:cNvGrpSpPr>
            <a:grpSpLocks/>
          </p:cNvGrpSpPr>
          <p:nvPr/>
        </p:nvGrpSpPr>
        <p:grpSpPr bwMode="auto">
          <a:xfrm>
            <a:off x="9494876" y="3670464"/>
            <a:ext cx="1762125" cy="2335213"/>
            <a:chOff x="4360" y="2178"/>
            <a:chExt cx="1110" cy="1471"/>
          </a:xfrm>
        </p:grpSpPr>
        <p:sp>
          <p:nvSpPr>
            <p:cNvPr id="345" name="AutoShape 139">
              <a:extLst>
                <a:ext uri="{FF2B5EF4-FFF2-40B4-BE49-F238E27FC236}">
                  <a16:creationId xmlns:a16="http://schemas.microsoft.com/office/drawing/2014/main" id="{88A6CF1A-9268-85BF-6714-CD5772C280F3}"/>
                </a:ext>
              </a:extLst>
            </p:cNvPr>
            <p:cNvSpPr>
              <a:spLocks noChangeArrowheads="1"/>
            </p:cNvSpPr>
            <p:nvPr/>
          </p:nvSpPr>
          <p:spPr bwMode="auto">
            <a:xfrm flipV="1">
              <a:off x="4360" y="2178"/>
              <a:ext cx="1110" cy="1457"/>
            </a:xfrm>
            <a:prstGeom prst="triangle">
              <a:avLst>
                <a:gd name="adj" fmla="val 50000"/>
              </a:avLst>
            </a:prstGeom>
            <a:noFill/>
            <a:ln w="19050">
              <a:solidFill>
                <a:srgbClr val="000000"/>
              </a:solidFill>
              <a:prstDash val="lgDashDot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346" name="Oval 141">
              <a:extLst>
                <a:ext uri="{FF2B5EF4-FFF2-40B4-BE49-F238E27FC236}">
                  <a16:creationId xmlns:a16="http://schemas.microsoft.com/office/drawing/2014/main" id="{7208581A-8874-6645-9E55-3220785649F0}"/>
                </a:ext>
              </a:extLst>
            </p:cNvPr>
            <p:cNvSpPr>
              <a:spLocks noChangeAspect="1" noChangeArrowheads="1"/>
            </p:cNvSpPr>
            <p:nvPr/>
          </p:nvSpPr>
          <p:spPr bwMode="auto">
            <a:xfrm>
              <a:off x="4869" y="3559"/>
              <a:ext cx="90" cy="90"/>
            </a:xfrm>
            <a:prstGeom prst="ellipse">
              <a:avLst/>
            </a:prstGeom>
            <a:gradFill rotWithShape="1">
              <a:gsLst>
                <a:gs pos="0">
                  <a:srgbClr val="FF86FF">
                    <a:alpha val="70000"/>
                  </a:srgbClr>
                </a:gs>
                <a:gs pos="100000">
                  <a:srgbClr val="FF00FF">
                    <a:alpha val="68999"/>
                  </a:srgbClr>
                </a:gs>
              </a:gsLst>
              <a:path path="shape">
                <a:fillToRect l="50000" t="50000" r="50000" b="50000"/>
              </a:path>
            </a:gradFill>
            <a:ln w="19050" algn="ctr">
              <a:solidFill>
                <a:srgbClr val="000000"/>
              </a:solidFill>
              <a:round/>
              <a:headEnd/>
              <a:tailEnd/>
            </a:ln>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347" name="Line 142">
              <a:extLst>
                <a:ext uri="{FF2B5EF4-FFF2-40B4-BE49-F238E27FC236}">
                  <a16:creationId xmlns:a16="http://schemas.microsoft.com/office/drawing/2014/main" id="{24A8962D-973C-BD96-8494-AE1CBEA16CB5}"/>
                </a:ext>
              </a:extLst>
            </p:cNvPr>
            <p:cNvSpPr>
              <a:spLocks noChangeShapeType="1"/>
            </p:cNvSpPr>
            <p:nvPr/>
          </p:nvSpPr>
          <p:spPr bwMode="auto">
            <a:xfrm>
              <a:off x="4913" y="3278"/>
              <a:ext cx="0" cy="297"/>
            </a:xfrm>
            <a:prstGeom prst="line">
              <a:avLst/>
            </a:prstGeom>
            <a:noFill/>
            <a:ln w="19050">
              <a:solidFill>
                <a:srgbClr val="000000"/>
              </a:solidFill>
              <a:prstDash val="lgDashDotDot"/>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348" name="Line 143">
            <a:extLst>
              <a:ext uri="{FF2B5EF4-FFF2-40B4-BE49-F238E27FC236}">
                <a16:creationId xmlns:a16="http://schemas.microsoft.com/office/drawing/2014/main" id="{C7EFB812-8865-7117-0051-3E3186B8D2BA}"/>
              </a:ext>
            </a:extLst>
          </p:cNvPr>
          <p:cNvSpPr>
            <a:spLocks noChangeShapeType="1"/>
          </p:cNvSpPr>
          <p:nvPr/>
        </p:nvSpPr>
        <p:spPr bwMode="auto">
          <a:xfrm flipH="1">
            <a:off x="9686964" y="5377027"/>
            <a:ext cx="631825" cy="2413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349" name="Line 145">
            <a:extLst>
              <a:ext uri="{FF2B5EF4-FFF2-40B4-BE49-F238E27FC236}">
                <a16:creationId xmlns:a16="http://schemas.microsoft.com/office/drawing/2014/main" id="{75B65E98-3931-2280-A6F9-BB424190192A}"/>
              </a:ext>
            </a:extLst>
          </p:cNvPr>
          <p:cNvSpPr>
            <a:spLocks noChangeShapeType="1"/>
          </p:cNvSpPr>
          <p:nvPr/>
        </p:nvSpPr>
        <p:spPr bwMode="auto">
          <a:xfrm rot="16200000" flipH="1">
            <a:off x="9563932" y="5766759"/>
            <a:ext cx="517525" cy="201612"/>
          </a:xfrm>
          <a:prstGeom prst="line">
            <a:avLst/>
          </a:prstGeom>
          <a:noFill/>
          <a:ln w="9525">
            <a:solidFill>
              <a:srgbClr val="000000"/>
            </a:solidFill>
            <a:round/>
            <a:headEnd type="stealth" w="med" len="lg"/>
            <a:tailEnd type="stealth" w="med" len="lg"/>
          </a:ln>
          <a:extLst>
            <a:ext uri="{909E8E84-426E-40DD-AFC4-6F175D3DCCD1}">
              <a14:hiddenFill xmlns:a14="http://schemas.microsoft.com/office/drawing/2010/main">
                <a:noFill/>
              </a14:hiddenFill>
            </a:ext>
          </a:extLst>
        </p:spPr>
        <p:txBody>
          <a:bodyPr/>
          <a:lstStyle/>
          <a:p>
            <a:pPr algn="ctr"/>
            <a:endParaRPr kumimoji="1" lang="zh-CN" altLang="en-US" b="0" i="0">
              <a:solidFill>
                <a:srgbClr val="FFFFFF"/>
              </a:solidFill>
              <a:ea typeface="黑体" panose="02010609060101010101" pitchFamily="49" charset="-122"/>
            </a:endParaRPr>
          </a:p>
        </p:txBody>
      </p:sp>
      <p:sp>
        <p:nvSpPr>
          <p:cNvPr id="350" name="Line 146">
            <a:extLst>
              <a:ext uri="{FF2B5EF4-FFF2-40B4-BE49-F238E27FC236}">
                <a16:creationId xmlns:a16="http://schemas.microsoft.com/office/drawing/2014/main" id="{D684431E-7E1D-365E-5D1F-E089B2BDE40F}"/>
              </a:ext>
            </a:extLst>
          </p:cNvPr>
          <p:cNvSpPr>
            <a:spLocks noChangeShapeType="1"/>
          </p:cNvSpPr>
          <p:nvPr/>
        </p:nvSpPr>
        <p:spPr bwMode="auto">
          <a:xfrm rot="10800000" flipH="1">
            <a:off x="9890164" y="5964402"/>
            <a:ext cx="438150" cy="16986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351" name="Line 148">
            <a:extLst>
              <a:ext uri="{FF2B5EF4-FFF2-40B4-BE49-F238E27FC236}">
                <a16:creationId xmlns:a16="http://schemas.microsoft.com/office/drawing/2014/main" id="{E4582130-861D-28F2-DA7F-A2EA2FA5EF8C}"/>
              </a:ext>
            </a:extLst>
          </p:cNvPr>
          <p:cNvSpPr>
            <a:spLocks noChangeShapeType="1"/>
          </p:cNvSpPr>
          <p:nvPr/>
        </p:nvSpPr>
        <p:spPr bwMode="auto">
          <a:xfrm>
            <a:off x="10460076" y="5950114"/>
            <a:ext cx="56832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352" name="Line 149">
            <a:extLst>
              <a:ext uri="{FF2B5EF4-FFF2-40B4-BE49-F238E27FC236}">
                <a16:creationId xmlns:a16="http://schemas.microsoft.com/office/drawing/2014/main" id="{C9DDBB9F-9922-94E4-0DDB-4A88A6304B14}"/>
              </a:ext>
            </a:extLst>
          </p:cNvPr>
          <p:cNvSpPr>
            <a:spLocks noChangeShapeType="1"/>
          </p:cNvSpPr>
          <p:nvPr/>
        </p:nvSpPr>
        <p:spPr bwMode="auto">
          <a:xfrm>
            <a:off x="10923626" y="5343689"/>
            <a:ext cx="0" cy="603250"/>
          </a:xfrm>
          <a:prstGeom prst="line">
            <a:avLst/>
          </a:prstGeom>
          <a:noFill/>
          <a:ln w="9525">
            <a:solidFill>
              <a:srgbClr val="000000"/>
            </a:solidFill>
            <a:round/>
            <a:headEnd type="stealth" w="med" len="lg"/>
            <a:tailEnd type="stealth" w="med" len="lg"/>
          </a:ln>
          <a:extLst>
            <a:ext uri="{909E8E84-426E-40DD-AFC4-6F175D3DCCD1}">
              <a14:hiddenFill xmlns:a14="http://schemas.microsoft.com/office/drawing/2010/main">
                <a:noFill/>
              </a14:hiddenFill>
            </a:ext>
          </a:extLst>
        </p:spPr>
        <p:txBody>
          <a:bodyPr/>
          <a:lstStyle/>
          <a:p>
            <a:pPr algn="ctr"/>
            <a:endParaRPr kumimoji="1" lang="zh-CN" altLang="en-US" b="0" i="0">
              <a:solidFill>
                <a:srgbClr val="FFFFFF"/>
              </a:solidFill>
              <a:ea typeface="黑体" panose="02010609060101010101" pitchFamily="49" charset="-122"/>
            </a:endParaRPr>
          </a:p>
        </p:txBody>
      </p:sp>
      <p:sp>
        <p:nvSpPr>
          <p:cNvPr id="353" name="Line 150">
            <a:extLst>
              <a:ext uri="{FF2B5EF4-FFF2-40B4-BE49-F238E27FC236}">
                <a16:creationId xmlns:a16="http://schemas.microsoft.com/office/drawing/2014/main" id="{D14DB5E7-CCA3-AADB-82A1-1A85D7EA7DFC}"/>
              </a:ext>
            </a:extLst>
          </p:cNvPr>
          <p:cNvSpPr>
            <a:spLocks noChangeShapeType="1"/>
          </p:cNvSpPr>
          <p:nvPr/>
        </p:nvSpPr>
        <p:spPr bwMode="auto">
          <a:xfrm>
            <a:off x="10460076" y="5343689"/>
            <a:ext cx="5715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354" name="Text Box 151">
            <a:extLst>
              <a:ext uri="{FF2B5EF4-FFF2-40B4-BE49-F238E27FC236}">
                <a16:creationId xmlns:a16="http://schemas.microsoft.com/office/drawing/2014/main" id="{B2237B93-A251-5C72-9529-47061B0C3C37}"/>
              </a:ext>
            </a:extLst>
          </p:cNvPr>
          <p:cNvSpPr txBox="1">
            <a:spLocks noChangeAspect="1" noChangeArrowheads="1"/>
          </p:cNvSpPr>
          <p:nvPr/>
        </p:nvSpPr>
        <p:spPr bwMode="auto">
          <a:xfrm rot="16200000">
            <a:off x="10448170" y="5354008"/>
            <a:ext cx="600075" cy="57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sym typeface="Symbol" panose="05050102010706020507" pitchFamily="18" charset="2"/>
              </a:rPr>
              <a:t></a:t>
            </a: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l</a:t>
            </a:r>
            <a:r>
              <a:rPr kumimoji="1" lang="en-US" altLang="zh-CN" sz="2400" b="0" i="0" u="none" strike="noStrike" kern="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rPr>
              <a:t>3</a:t>
            </a:r>
            <a:endParaRPr kumimoji="1" lang="en-US" altLang="zh-CN" sz="2400" b="0" i="0" u="none" strike="noStrike" kern="0" cap="none" spc="0" normalizeH="0" baseline="-25000" noProof="0" dirty="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355" name="Text Box 152">
            <a:extLst>
              <a:ext uri="{FF2B5EF4-FFF2-40B4-BE49-F238E27FC236}">
                <a16:creationId xmlns:a16="http://schemas.microsoft.com/office/drawing/2014/main" id="{76DFBC9B-5A8A-F05D-1C7C-658D52E8B217}"/>
              </a:ext>
            </a:extLst>
          </p:cNvPr>
          <p:cNvSpPr txBox="1">
            <a:spLocks noChangeAspect="1" noChangeArrowheads="1"/>
          </p:cNvSpPr>
          <p:nvPr/>
        </p:nvSpPr>
        <p:spPr bwMode="auto">
          <a:xfrm>
            <a:off x="9777451" y="5107152"/>
            <a:ext cx="469900" cy="385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fontAlgn="auto" hangingPunct="1">
              <a:spcBef>
                <a:spcPts val="0"/>
              </a:spcBef>
              <a:spcAft>
                <a:spcPts val="0"/>
              </a:spcAft>
            </a:pPr>
            <a:r>
              <a:rPr lang="en-US" altLang="zh-CN" b="0" kern="0" dirty="0">
                <a:solidFill>
                  <a:srgbClr val="000000"/>
                </a:solidFill>
                <a:latin typeface="+mn-lt"/>
                <a:ea typeface="宋体" panose="02010600030101010101" pitchFamily="2" charset="-122"/>
              </a:rPr>
              <a:t>E</a:t>
            </a:r>
          </a:p>
        </p:txBody>
      </p:sp>
      <p:graphicFrame>
        <p:nvGraphicFramePr>
          <p:cNvPr id="3" name="Object 88">
            <a:extLst>
              <a:ext uri="{FF2B5EF4-FFF2-40B4-BE49-F238E27FC236}">
                <a16:creationId xmlns:a16="http://schemas.microsoft.com/office/drawing/2014/main" id="{1594E229-AC56-4568-6BE7-6C627A50A30C}"/>
              </a:ext>
            </a:extLst>
          </p:cNvPr>
          <p:cNvGraphicFramePr>
            <a:graphicFrameLocks noChangeAspect="1"/>
          </p:cNvGraphicFramePr>
          <p:nvPr>
            <p:extLst>
              <p:ext uri="{D42A27DB-BD31-4B8C-83A1-F6EECF244321}">
                <p14:modId xmlns:p14="http://schemas.microsoft.com/office/powerpoint/2010/main" val="535689372"/>
              </p:ext>
            </p:extLst>
          </p:nvPr>
        </p:nvGraphicFramePr>
        <p:xfrm>
          <a:off x="1433226" y="1675832"/>
          <a:ext cx="3546475" cy="912812"/>
        </p:xfrm>
        <a:graphic>
          <a:graphicData uri="http://schemas.openxmlformats.org/presentationml/2006/ole">
            <mc:AlternateContent xmlns:mc="http://schemas.openxmlformats.org/markup-compatibility/2006">
              <mc:Choice xmlns:v="urn:schemas-microsoft-com:vml" Requires="v">
                <p:oleObj name="Equation" r:id="rId4" imgW="1688760" imgH="431640" progId="Equation.DSMT4">
                  <p:embed/>
                </p:oleObj>
              </mc:Choice>
              <mc:Fallback>
                <p:oleObj name="Equation" r:id="rId4" imgW="1688760" imgH="431640" progId="Equation.DSMT4">
                  <p:embed/>
                  <p:pic>
                    <p:nvPicPr>
                      <p:cNvPr id="3" name="Object 88">
                        <a:extLst>
                          <a:ext uri="{FF2B5EF4-FFF2-40B4-BE49-F238E27FC236}">
                            <a16:creationId xmlns:a16="http://schemas.microsoft.com/office/drawing/2014/main" id="{1594E229-AC56-4568-6BE7-6C627A50A30C}"/>
                          </a:ext>
                        </a:extLst>
                      </p:cNvPr>
                      <p:cNvPicPr>
                        <a:picLocks noChangeAspect="1" noChangeArrowheads="1"/>
                      </p:cNvPicPr>
                      <p:nvPr/>
                    </p:nvPicPr>
                    <p:blipFill>
                      <a:blip r:embed="rId5"/>
                      <a:srcRect/>
                      <a:stretch>
                        <a:fillRect/>
                      </a:stretch>
                    </p:blipFill>
                    <p:spPr bwMode="auto">
                      <a:xfrm>
                        <a:off x="1433226" y="1675832"/>
                        <a:ext cx="3546475" cy="9128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 name="矩形 3">
            <a:extLst>
              <a:ext uri="{FF2B5EF4-FFF2-40B4-BE49-F238E27FC236}">
                <a16:creationId xmlns:a16="http://schemas.microsoft.com/office/drawing/2014/main" id="{70DBEAEE-3EFC-9E28-2C98-E83A579AD5E4}"/>
              </a:ext>
            </a:extLst>
          </p:cNvPr>
          <p:cNvSpPr/>
          <p:nvPr/>
        </p:nvSpPr>
        <p:spPr>
          <a:xfrm>
            <a:off x="551383" y="2651376"/>
            <a:ext cx="6670441" cy="493148"/>
          </a:xfrm>
          <a:prstGeom prst="rect">
            <a:avLst/>
          </a:prstGeom>
        </p:spPr>
        <p:txBody>
          <a:bodyPr wrap="square">
            <a:spAutoFit/>
          </a:bodyPr>
          <a:lstStyle/>
          <a:p>
            <a:pPr lvl="0" eaLnBrk="0" hangingPunct="0">
              <a:lnSpc>
                <a:spcPct val="120000"/>
              </a:lnSpc>
            </a:pPr>
            <a:r>
              <a:rPr lang="zh-CN" altLang="en-US" i="0" dirty="0">
                <a:solidFill>
                  <a:srgbClr val="0033CC"/>
                </a:solidFill>
                <a:ea typeface="黑体" panose="02010609060101010101" pitchFamily="49" charset="-122"/>
              </a:rPr>
              <a:t>     </a:t>
            </a:r>
            <a:r>
              <a:rPr kumimoji="1" lang="en-US" altLang="zh-CN" i="0" dirty="0">
                <a:solidFill>
                  <a:schemeClr val="tx1"/>
                </a:solidFill>
                <a:ea typeface="黑体" panose="02010609060101010101" pitchFamily="49" charset="-122"/>
              </a:rPr>
              <a:t>5</a:t>
            </a:r>
            <a:r>
              <a:rPr kumimoji="1" lang="zh-CN" altLang="en-US" i="0" dirty="0">
                <a:solidFill>
                  <a:schemeClr val="tx1"/>
                </a:solidFill>
                <a:ea typeface="黑体" panose="02010609060101010101" pitchFamily="49" charset="-122"/>
              </a:rPr>
              <a:t>）求解各杆轴力。</a:t>
            </a:r>
            <a:endParaRPr kumimoji="1" lang="en-US" altLang="zh-CN" i="0" dirty="0">
              <a:solidFill>
                <a:schemeClr val="tx1"/>
              </a:solidFill>
              <a:ea typeface="黑体" panose="02010609060101010101" pitchFamily="49" charset="-122"/>
            </a:endParaRPr>
          </a:p>
        </p:txBody>
      </p:sp>
      <p:graphicFrame>
        <p:nvGraphicFramePr>
          <p:cNvPr id="6" name="Object 91">
            <a:extLst>
              <a:ext uri="{FF2B5EF4-FFF2-40B4-BE49-F238E27FC236}">
                <a16:creationId xmlns:a16="http://schemas.microsoft.com/office/drawing/2014/main" id="{2C9AADE3-913D-A327-323D-3606DF6E0143}"/>
              </a:ext>
            </a:extLst>
          </p:cNvPr>
          <p:cNvGraphicFramePr>
            <a:graphicFrameLocks noChangeAspect="1"/>
          </p:cNvGraphicFramePr>
          <p:nvPr>
            <p:extLst>
              <p:ext uri="{D42A27DB-BD31-4B8C-83A1-F6EECF244321}">
                <p14:modId xmlns:p14="http://schemas.microsoft.com/office/powerpoint/2010/main" val="2172366960"/>
              </p:ext>
            </p:extLst>
          </p:nvPr>
        </p:nvGraphicFramePr>
        <p:xfrm>
          <a:off x="1494177" y="3508375"/>
          <a:ext cx="3646487" cy="1354138"/>
        </p:xfrm>
        <a:graphic>
          <a:graphicData uri="http://schemas.openxmlformats.org/presentationml/2006/ole">
            <mc:AlternateContent xmlns:mc="http://schemas.openxmlformats.org/markup-compatibility/2006">
              <mc:Choice xmlns:v="urn:schemas-microsoft-com:vml" Requires="v">
                <p:oleObj name="Equation" r:id="rId6" imgW="1739880" imgH="647640" progId="Equation.DSMT4">
                  <p:embed/>
                </p:oleObj>
              </mc:Choice>
              <mc:Fallback>
                <p:oleObj name="Equation" r:id="rId6" imgW="1739880" imgH="647640" progId="Equation.DSMT4">
                  <p:embed/>
                  <p:pic>
                    <p:nvPicPr>
                      <p:cNvPr id="6" name="Object 91">
                        <a:extLst>
                          <a:ext uri="{FF2B5EF4-FFF2-40B4-BE49-F238E27FC236}">
                            <a16:creationId xmlns:a16="http://schemas.microsoft.com/office/drawing/2014/main" id="{2C9AADE3-913D-A327-323D-3606DF6E0143}"/>
                          </a:ext>
                        </a:extLst>
                      </p:cNvPr>
                      <p:cNvPicPr>
                        <a:picLocks noChangeAspect="1" noChangeArrowheads="1"/>
                      </p:cNvPicPr>
                      <p:nvPr/>
                    </p:nvPicPr>
                    <p:blipFill>
                      <a:blip r:embed="rId7"/>
                      <a:srcRect/>
                      <a:stretch>
                        <a:fillRect/>
                      </a:stretch>
                    </p:blipFill>
                    <p:spPr bwMode="auto">
                      <a:xfrm>
                        <a:off x="1494177" y="3508375"/>
                        <a:ext cx="3646487" cy="1354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 name="Object 91">
            <a:extLst>
              <a:ext uri="{FF2B5EF4-FFF2-40B4-BE49-F238E27FC236}">
                <a16:creationId xmlns:a16="http://schemas.microsoft.com/office/drawing/2014/main" id="{2DC68FD2-EB2C-785B-B8AA-3251B4FE75EE}"/>
              </a:ext>
            </a:extLst>
          </p:cNvPr>
          <p:cNvGraphicFramePr>
            <a:graphicFrameLocks noChangeAspect="1"/>
          </p:cNvGraphicFramePr>
          <p:nvPr>
            <p:extLst>
              <p:ext uri="{D42A27DB-BD31-4B8C-83A1-F6EECF244321}">
                <p14:modId xmlns:p14="http://schemas.microsoft.com/office/powerpoint/2010/main" val="3200918334"/>
              </p:ext>
            </p:extLst>
          </p:nvPr>
        </p:nvGraphicFramePr>
        <p:xfrm>
          <a:off x="1559496" y="5000625"/>
          <a:ext cx="3008313" cy="1301750"/>
        </p:xfrm>
        <a:graphic>
          <a:graphicData uri="http://schemas.openxmlformats.org/presentationml/2006/ole">
            <mc:AlternateContent xmlns:mc="http://schemas.openxmlformats.org/markup-compatibility/2006">
              <mc:Choice xmlns:v="urn:schemas-microsoft-com:vml" Requires="v">
                <p:oleObj name="Equation" r:id="rId8" imgW="1434960" imgH="622080" progId="Equation.DSMT4">
                  <p:embed/>
                </p:oleObj>
              </mc:Choice>
              <mc:Fallback>
                <p:oleObj name="Equation" r:id="rId8" imgW="1434960" imgH="622080" progId="Equation.DSMT4">
                  <p:embed/>
                  <p:pic>
                    <p:nvPicPr>
                      <p:cNvPr id="8" name="Object 91">
                        <a:extLst>
                          <a:ext uri="{FF2B5EF4-FFF2-40B4-BE49-F238E27FC236}">
                            <a16:creationId xmlns:a16="http://schemas.microsoft.com/office/drawing/2014/main" id="{2DC68FD2-EB2C-785B-B8AA-3251B4FE75EE}"/>
                          </a:ext>
                        </a:extLst>
                      </p:cNvPr>
                      <p:cNvPicPr>
                        <a:picLocks noChangeAspect="1" noChangeArrowheads="1"/>
                      </p:cNvPicPr>
                      <p:nvPr/>
                    </p:nvPicPr>
                    <p:blipFill>
                      <a:blip r:embed="rId9"/>
                      <a:srcRect/>
                      <a:stretch>
                        <a:fillRect/>
                      </a:stretch>
                    </p:blipFill>
                    <p:spPr bwMode="auto">
                      <a:xfrm>
                        <a:off x="1559496" y="5000625"/>
                        <a:ext cx="3008313" cy="1301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447719626"/>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2" presetClass="entr" presetSubtype="1" fill="hold" nodeType="withEffect">
                                  <p:stCondLst>
                                    <p:cond delay="3000"/>
                                  </p:stCondLst>
                                  <p:childTnLst>
                                    <p:set>
                                      <p:cBhvr>
                                        <p:cTn id="8" dur="1" fill="hold">
                                          <p:stCondLst>
                                            <p:cond delay="0"/>
                                          </p:stCondLst>
                                        </p:cTn>
                                        <p:tgtEl>
                                          <p:spTgt spid="289"/>
                                        </p:tgtEl>
                                        <p:attrNameLst>
                                          <p:attrName>style.visibility</p:attrName>
                                        </p:attrNameLst>
                                      </p:cBhvr>
                                      <p:to>
                                        <p:strVal val="visible"/>
                                      </p:to>
                                    </p:set>
                                    <p:animEffect transition="in" filter="slide(fromTop)">
                                      <p:cBhvr>
                                        <p:cTn id="9" dur="5000"/>
                                        <p:tgtEl>
                                          <p:spTgt spid="289"/>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338"/>
                                        </p:tgtEl>
                                        <p:attrNameLst>
                                          <p:attrName>style.visibility</p:attrName>
                                        </p:attrNameLst>
                                      </p:cBhvr>
                                      <p:to>
                                        <p:strVal val="visible"/>
                                      </p:to>
                                    </p:set>
                                  </p:childTnLst>
                                </p:cTn>
                              </p:par>
                              <p:par>
                                <p:cTn id="14" presetID="0" presetClass="path" presetSubtype="0" accel="50000" decel="50000" fill="hold" nodeType="withEffect">
                                  <p:stCondLst>
                                    <p:cond delay="0"/>
                                  </p:stCondLst>
                                  <p:childTnLst>
                                    <p:animMotion origin="layout" path="M -4.16667E-7 1.11111E-6 L 0.16771 -0.01181 " pathEditMode="relative" rAng="0" ptsTypes="AA">
                                      <p:cBhvr>
                                        <p:cTn id="15" dur="5000" spd="-100000" fill="hold"/>
                                        <p:tgtEl>
                                          <p:spTgt spid="338"/>
                                        </p:tgtEl>
                                        <p:attrNameLst>
                                          <p:attrName>ppt_x</p:attrName>
                                          <p:attrName>ppt_y</p:attrName>
                                        </p:attrNameLst>
                                      </p:cBhvr>
                                      <p:rCtr x="8385" y="-602"/>
                                    </p:animMotion>
                                  </p:childTnLst>
                                </p:cTn>
                              </p:par>
                            </p:childTnLst>
                          </p:cTn>
                        </p:par>
                        <p:par>
                          <p:cTn id="16" fill="hold">
                            <p:stCondLst>
                              <p:cond delay="5000"/>
                            </p:stCondLst>
                            <p:childTnLst>
                              <p:par>
                                <p:cTn id="17" presetID="22" presetClass="entr" presetSubtype="4" fill="hold" nodeType="afterEffect">
                                  <p:stCondLst>
                                    <p:cond delay="0"/>
                                  </p:stCondLst>
                                  <p:childTnLst>
                                    <p:set>
                                      <p:cBhvr>
                                        <p:cTn id="18" dur="1" fill="hold">
                                          <p:stCondLst>
                                            <p:cond delay="0"/>
                                          </p:stCondLst>
                                        </p:cTn>
                                        <p:tgtEl>
                                          <p:spTgt spid="336"/>
                                        </p:tgtEl>
                                        <p:attrNameLst>
                                          <p:attrName>style.visibility</p:attrName>
                                        </p:attrNameLst>
                                      </p:cBhvr>
                                      <p:to>
                                        <p:strVal val="visible"/>
                                      </p:to>
                                    </p:set>
                                    <p:animEffect transition="in" filter="wipe(down)">
                                      <p:cBhvr>
                                        <p:cTn id="19" dur="5000"/>
                                        <p:tgtEl>
                                          <p:spTgt spid="336"/>
                                        </p:tgtEl>
                                      </p:cBhvr>
                                    </p:animEffect>
                                  </p:childTnLst>
                                </p:cTn>
                              </p:par>
                              <p:par>
                                <p:cTn id="20" presetID="22" presetClass="entr" presetSubtype="4" fill="hold" nodeType="withEffect">
                                  <p:stCondLst>
                                    <p:cond delay="0"/>
                                  </p:stCondLst>
                                  <p:childTnLst>
                                    <p:set>
                                      <p:cBhvr>
                                        <p:cTn id="21" dur="1" fill="hold">
                                          <p:stCondLst>
                                            <p:cond delay="0"/>
                                          </p:stCondLst>
                                        </p:cTn>
                                        <p:tgtEl>
                                          <p:spTgt spid="335"/>
                                        </p:tgtEl>
                                        <p:attrNameLst>
                                          <p:attrName>style.visibility</p:attrName>
                                        </p:attrNameLst>
                                      </p:cBhvr>
                                      <p:to>
                                        <p:strVal val="visible"/>
                                      </p:to>
                                    </p:set>
                                    <p:animEffect transition="in" filter="wipe(down)">
                                      <p:cBhvr>
                                        <p:cTn id="22" dur="5000"/>
                                        <p:tgtEl>
                                          <p:spTgt spid="335"/>
                                        </p:tgtEl>
                                      </p:cBhvr>
                                    </p:animEffect>
                                  </p:childTnLst>
                                </p:cTn>
                              </p:par>
                              <p:par>
                                <p:cTn id="23" presetID="12" presetClass="entr" presetSubtype="4" fill="hold" nodeType="withEffect">
                                  <p:stCondLst>
                                    <p:cond delay="0"/>
                                  </p:stCondLst>
                                  <p:childTnLst>
                                    <p:set>
                                      <p:cBhvr>
                                        <p:cTn id="24" dur="1" fill="hold">
                                          <p:stCondLst>
                                            <p:cond delay="0"/>
                                          </p:stCondLst>
                                        </p:cTn>
                                        <p:tgtEl>
                                          <p:spTgt spid="288"/>
                                        </p:tgtEl>
                                        <p:attrNameLst>
                                          <p:attrName>style.visibility</p:attrName>
                                        </p:attrNameLst>
                                      </p:cBhvr>
                                      <p:to>
                                        <p:strVal val="visible"/>
                                      </p:to>
                                    </p:set>
                                    <p:animEffect transition="in" filter="slide(fromBottom)">
                                      <p:cBhvr>
                                        <p:cTn id="25" dur="5000"/>
                                        <p:tgtEl>
                                          <p:spTgt spid="288"/>
                                        </p:tgtEl>
                                      </p:cBhvr>
                                    </p:animEffect>
                                  </p:childTnLst>
                                </p:cTn>
                              </p:par>
                              <p:par>
                                <p:cTn id="26" presetID="19" presetClass="entr" presetSubtype="10" fill="hold" grpId="0" nodeType="withEffect">
                                  <p:stCondLst>
                                    <p:cond delay="0"/>
                                  </p:stCondLst>
                                  <p:childTnLst>
                                    <p:set>
                                      <p:cBhvr>
                                        <p:cTn id="27" dur="1" fill="hold">
                                          <p:stCondLst>
                                            <p:cond delay="0"/>
                                          </p:stCondLst>
                                        </p:cTn>
                                        <p:tgtEl>
                                          <p:spTgt spid="157"/>
                                        </p:tgtEl>
                                        <p:attrNameLst>
                                          <p:attrName>style.visibility</p:attrName>
                                        </p:attrNameLst>
                                      </p:cBhvr>
                                      <p:to>
                                        <p:strVal val="visible"/>
                                      </p:to>
                                    </p:set>
                                    <p:anim calcmode="lin" valueType="num">
                                      <p:cBhvr>
                                        <p:cTn id="28" dur="5000" fill="hold"/>
                                        <p:tgtEl>
                                          <p:spTgt spid="157"/>
                                        </p:tgtEl>
                                        <p:attrNameLst>
                                          <p:attrName>ppt_w</p:attrName>
                                        </p:attrNameLst>
                                      </p:cBhvr>
                                      <p:tavLst>
                                        <p:tav tm="0" fmla="#ppt_w*sin(2.5*pi*$)">
                                          <p:val>
                                            <p:fltVal val="0"/>
                                          </p:val>
                                        </p:tav>
                                        <p:tav tm="100000">
                                          <p:val>
                                            <p:fltVal val="1"/>
                                          </p:val>
                                        </p:tav>
                                      </p:tavLst>
                                    </p:anim>
                                    <p:anim calcmode="lin" valueType="num">
                                      <p:cBhvr>
                                        <p:cTn id="29" dur="5000" fill="hold"/>
                                        <p:tgtEl>
                                          <p:spTgt spid="157"/>
                                        </p:tgtEl>
                                        <p:attrNameLst>
                                          <p:attrName>ppt_h</p:attrName>
                                        </p:attrNameLst>
                                      </p:cBhvr>
                                      <p:tavLst>
                                        <p:tav tm="0">
                                          <p:val>
                                            <p:strVal val="#ppt_h"/>
                                          </p:val>
                                        </p:tav>
                                        <p:tav tm="100000">
                                          <p:val>
                                            <p:strVal val="#ppt_h"/>
                                          </p:val>
                                        </p:tav>
                                      </p:tavLst>
                                    </p:anim>
                                  </p:childTnLst>
                                </p:cTn>
                              </p:par>
                              <p:par>
                                <p:cTn id="30" presetID="19" presetClass="entr" presetSubtype="10" fill="hold" grpId="0" nodeType="withEffect">
                                  <p:stCondLst>
                                    <p:cond delay="0"/>
                                  </p:stCondLst>
                                  <p:childTnLst>
                                    <p:set>
                                      <p:cBhvr>
                                        <p:cTn id="31" dur="1" fill="hold">
                                          <p:stCondLst>
                                            <p:cond delay="0"/>
                                          </p:stCondLst>
                                        </p:cTn>
                                        <p:tgtEl>
                                          <p:spTgt spid="337"/>
                                        </p:tgtEl>
                                        <p:attrNameLst>
                                          <p:attrName>style.visibility</p:attrName>
                                        </p:attrNameLst>
                                      </p:cBhvr>
                                      <p:to>
                                        <p:strVal val="visible"/>
                                      </p:to>
                                    </p:set>
                                    <p:anim calcmode="lin" valueType="num">
                                      <p:cBhvr>
                                        <p:cTn id="32" dur="5000" fill="hold"/>
                                        <p:tgtEl>
                                          <p:spTgt spid="337"/>
                                        </p:tgtEl>
                                        <p:attrNameLst>
                                          <p:attrName>ppt_w</p:attrName>
                                        </p:attrNameLst>
                                      </p:cBhvr>
                                      <p:tavLst>
                                        <p:tav tm="0" fmla="#ppt_w*sin(2.5*pi*$)">
                                          <p:val>
                                            <p:fltVal val="0"/>
                                          </p:val>
                                        </p:tav>
                                        <p:tav tm="100000">
                                          <p:val>
                                            <p:fltVal val="1"/>
                                          </p:val>
                                        </p:tav>
                                      </p:tavLst>
                                    </p:anim>
                                    <p:anim calcmode="lin" valueType="num">
                                      <p:cBhvr>
                                        <p:cTn id="33" dur="5000" fill="hold"/>
                                        <p:tgtEl>
                                          <p:spTgt spid="337"/>
                                        </p:tgtEl>
                                        <p:attrNameLst>
                                          <p:attrName>ppt_h</p:attrName>
                                        </p:attrNameLst>
                                      </p:cBhvr>
                                      <p:tavLst>
                                        <p:tav tm="0">
                                          <p:val>
                                            <p:strVal val="#ppt_h"/>
                                          </p:val>
                                        </p:tav>
                                        <p:tav tm="100000">
                                          <p:val>
                                            <p:strVal val="#ppt_h"/>
                                          </p:val>
                                        </p:tav>
                                      </p:tavLst>
                                    </p:anim>
                                  </p:childTnLst>
                                </p:cTn>
                              </p:par>
                              <p:par>
                                <p:cTn id="34" presetID="19" presetClass="entr" presetSubtype="10" fill="hold" grpId="0" nodeType="withEffect">
                                  <p:stCondLst>
                                    <p:cond delay="0"/>
                                  </p:stCondLst>
                                  <p:childTnLst>
                                    <p:set>
                                      <p:cBhvr>
                                        <p:cTn id="35" dur="1" fill="hold">
                                          <p:stCondLst>
                                            <p:cond delay="0"/>
                                          </p:stCondLst>
                                        </p:cTn>
                                        <p:tgtEl>
                                          <p:spTgt spid="158"/>
                                        </p:tgtEl>
                                        <p:attrNameLst>
                                          <p:attrName>style.visibility</p:attrName>
                                        </p:attrNameLst>
                                      </p:cBhvr>
                                      <p:to>
                                        <p:strVal val="visible"/>
                                      </p:to>
                                    </p:set>
                                    <p:anim calcmode="lin" valueType="num">
                                      <p:cBhvr>
                                        <p:cTn id="36" dur="5000" fill="hold"/>
                                        <p:tgtEl>
                                          <p:spTgt spid="158"/>
                                        </p:tgtEl>
                                        <p:attrNameLst>
                                          <p:attrName>ppt_w</p:attrName>
                                        </p:attrNameLst>
                                      </p:cBhvr>
                                      <p:tavLst>
                                        <p:tav tm="0" fmla="#ppt_w*sin(2.5*pi*$)">
                                          <p:val>
                                            <p:fltVal val="0"/>
                                          </p:val>
                                        </p:tav>
                                        <p:tav tm="100000">
                                          <p:val>
                                            <p:fltVal val="1"/>
                                          </p:val>
                                        </p:tav>
                                      </p:tavLst>
                                    </p:anim>
                                    <p:anim calcmode="lin" valueType="num">
                                      <p:cBhvr>
                                        <p:cTn id="37" dur="5000" fill="hold"/>
                                        <p:tgtEl>
                                          <p:spTgt spid="158"/>
                                        </p:tgtEl>
                                        <p:attrNameLst>
                                          <p:attrName>ppt_h</p:attrName>
                                        </p:attrNameLst>
                                      </p:cBhvr>
                                      <p:tavLst>
                                        <p:tav tm="0">
                                          <p:val>
                                            <p:strVal val="#ppt_h"/>
                                          </p:val>
                                        </p:tav>
                                        <p:tav tm="100000">
                                          <p:val>
                                            <p:strVal val="#ppt_h"/>
                                          </p:val>
                                        </p:tav>
                                      </p:tavLst>
                                    </p:anim>
                                  </p:childTnLst>
                                </p:cTn>
                              </p:par>
                            </p:childTnLst>
                          </p:cTn>
                        </p:par>
                        <p:par>
                          <p:cTn id="38" fill="hold">
                            <p:stCondLst>
                              <p:cond delay="10000"/>
                            </p:stCondLst>
                            <p:childTnLst>
                              <p:par>
                                <p:cTn id="39" presetID="12" presetClass="entr" presetSubtype="8" fill="hold" nodeType="afterEffect">
                                  <p:stCondLst>
                                    <p:cond delay="0"/>
                                  </p:stCondLst>
                                  <p:childTnLst>
                                    <p:set>
                                      <p:cBhvr>
                                        <p:cTn id="40" dur="1" fill="hold">
                                          <p:stCondLst>
                                            <p:cond delay="0"/>
                                          </p:stCondLst>
                                        </p:cTn>
                                        <p:tgtEl>
                                          <p:spTgt spid="153"/>
                                        </p:tgtEl>
                                        <p:attrNameLst>
                                          <p:attrName>style.visibility</p:attrName>
                                        </p:attrNameLst>
                                      </p:cBhvr>
                                      <p:to>
                                        <p:strVal val="visible"/>
                                      </p:to>
                                    </p:set>
                                    <p:animEffect transition="in" filter="slide(fromLeft)">
                                      <p:cBhvr>
                                        <p:cTn id="41" dur="3000"/>
                                        <p:tgtEl>
                                          <p:spTgt spid="153"/>
                                        </p:tgtEl>
                                      </p:cBhvr>
                                    </p:animEffect>
                                  </p:childTnLst>
                                </p:cTn>
                              </p:par>
                              <p:par>
                                <p:cTn id="42" presetID="19" presetClass="entr" presetSubtype="10" fill="hold" nodeType="withEffect">
                                  <p:stCondLst>
                                    <p:cond delay="0"/>
                                  </p:stCondLst>
                                  <p:childTnLst>
                                    <p:set>
                                      <p:cBhvr>
                                        <p:cTn id="43" dur="1" fill="hold">
                                          <p:stCondLst>
                                            <p:cond delay="0"/>
                                          </p:stCondLst>
                                        </p:cTn>
                                        <p:tgtEl>
                                          <p:spTgt spid="156"/>
                                        </p:tgtEl>
                                        <p:attrNameLst>
                                          <p:attrName>style.visibility</p:attrName>
                                        </p:attrNameLst>
                                      </p:cBhvr>
                                      <p:to>
                                        <p:strVal val="visible"/>
                                      </p:to>
                                    </p:set>
                                    <p:anim calcmode="lin" valueType="num">
                                      <p:cBhvr>
                                        <p:cTn id="44" dur="5000" fill="hold"/>
                                        <p:tgtEl>
                                          <p:spTgt spid="156"/>
                                        </p:tgtEl>
                                        <p:attrNameLst>
                                          <p:attrName>ppt_w</p:attrName>
                                        </p:attrNameLst>
                                      </p:cBhvr>
                                      <p:tavLst>
                                        <p:tav tm="0" fmla="#ppt_w*sin(2.5*pi*$)">
                                          <p:val>
                                            <p:fltVal val="0"/>
                                          </p:val>
                                        </p:tav>
                                        <p:tav tm="100000">
                                          <p:val>
                                            <p:fltVal val="1"/>
                                          </p:val>
                                        </p:tav>
                                      </p:tavLst>
                                    </p:anim>
                                    <p:anim calcmode="lin" valueType="num">
                                      <p:cBhvr>
                                        <p:cTn id="45" dur="5000" fill="hold"/>
                                        <p:tgtEl>
                                          <p:spTgt spid="156"/>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42"/>
                                            </p:cond>
                                          </p:stCondLst>
                                          <p:endCondLst>
                                            <p:cond evt="onStopAudio" delay="0">
                                              <p:tgtEl>
                                                <p:sldTgt/>
                                              </p:tgtEl>
                                            </p:cond>
                                          </p:endCondLst>
                                        </p:cTn>
                                        <p:tgtEl>
                                          <p:sndTgt r:embed="rId3" name="CAMERA.WAV"/>
                                        </p:tgtEl>
                                      </p:cMediaNode>
                                    </p:audio>
                                  </p:subTnLst>
                                </p:cTn>
                              </p:par>
                            </p:childTnLst>
                          </p:cTn>
                        </p:par>
                        <p:par>
                          <p:cTn id="46" fill="hold">
                            <p:stCondLst>
                              <p:cond delay="15000"/>
                            </p:stCondLst>
                            <p:childTnLst>
                              <p:par>
                                <p:cTn id="47" presetID="12" presetClass="entr" presetSubtype="4" fill="hold" nodeType="afterEffect">
                                  <p:stCondLst>
                                    <p:cond delay="0"/>
                                  </p:stCondLst>
                                  <p:childTnLst>
                                    <p:set>
                                      <p:cBhvr>
                                        <p:cTn id="48" dur="1" fill="hold">
                                          <p:stCondLst>
                                            <p:cond delay="0"/>
                                          </p:stCondLst>
                                        </p:cTn>
                                        <p:tgtEl>
                                          <p:spTgt spid="154"/>
                                        </p:tgtEl>
                                        <p:attrNameLst>
                                          <p:attrName>style.visibility</p:attrName>
                                        </p:attrNameLst>
                                      </p:cBhvr>
                                      <p:to>
                                        <p:strVal val="visible"/>
                                      </p:to>
                                    </p:set>
                                    <p:animEffect transition="in" filter="slide(fromBottom)">
                                      <p:cBhvr>
                                        <p:cTn id="49" dur="3000"/>
                                        <p:tgtEl>
                                          <p:spTgt spid="154"/>
                                        </p:tgtEl>
                                      </p:cBhvr>
                                    </p:animEffect>
                                  </p:childTnLst>
                                </p:cTn>
                              </p:par>
                              <p:par>
                                <p:cTn id="50" presetID="19" presetClass="entr" presetSubtype="10" fill="hold" grpId="0" nodeType="withEffect">
                                  <p:stCondLst>
                                    <p:cond delay="0"/>
                                  </p:stCondLst>
                                  <p:childTnLst>
                                    <p:set>
                                      <p:cBhvr>
                                        <p:cTn id="51" dur="1" fill="hold">
                                          <p:stCondLst>
                                            <p:cond delay="0"/>
                                          </p:stCondLst>
                                        </p:cTn>
                                        <p:tgtEl>
                                          <p:spTgt spid="159"/>
                                        </p:tgtEl>
                                        <p:attrNameLst>
                                          <p:attrName>style.visibility</p:attrName>
                                        </p:attrNameLst>
                                      </p:cBhvr>
                                      <p:to>
                                        <p:strVal val="visible"/>
                                      </p:to>
                                    </p:set>
                                    <p:anim calcmode="lin" valueType="num">
                                      <p:cBhvr>
                                        <p:cTn id="52" dur="5000" fill="hold"/>
                                        <p:tgtEl>
                                          <p:spTgt spid="159"/>
                                        </p:tgtEl>
                                        <p:attrNameLst>
                                          <p:attrName>ppt_w</p:attrName>
                                        </p:attrNameLst>
                                      </p:cBhvr>
                                      <p:tavLst>
                                        <p:tav tm="0" fmla="#ppt_w*sin(2.5*pi*$)">
                                          <p:val>
                                            <p:fltVal val="0"/>
                                          </p:val>
                                        </p:tav>
                                        <p:tav tm="100000">
                                          <p:val>
                                            <p:fltVal val="1"/>
                                          </p:val>
                                        </p:tav>
                                      </p:tavLst>
                                    </p:anim>
                                    <p:anim calcmode="lin" valueType="num">
                                      <p:cBhvr>
                                        <p:cTn id="53" dur="5000" fill="hold"/>
                                        <p:tgtEl>
                                          <p:spTgt spid="159"/>
                                        </p:tgtEl>
                                        <p:attrNameLst>
                                          <p:attrName>ppt_h</p:attrName>
                                        </p:attrNameLst>
                                      </p:cBhvr>
                                      <p:tavLst>
                                        <p:tav tm="0">
                                          <p:val>
                                            <p:strVal val="#ppt_h"/>
                                          </p:val>
                                        </p:tav>
                                        <p:tav tm="100000">
                                          <p:val>
                                            <p:strVal val="#ppt_h"/>
                                          </p:val>
                                        </p:tav>
                                      </p:tavLst>
                                    </p:anim>
                                  </p:childTnLst>
                                </p:cTn>
                              </p:par>
                              <p:par>
                                <p:cTn id="54" presetID="17" presetClass="entr" presetSubtype="10" fill="hold" nodeType="withEffect">
                                  <p:stCondLst>
                                    <p:cond delay="0"/>
                                  </p:stCondLst>
                                  <p:childTnLst>
                                    <p:set>
                                      <p:cBhvr>
                                        <p:cTn id="55" dur="1" fill="hold">
                                          <p:stCondLst>
                                            <p:cond delay="0"/>
                                          </p:stCondLst>
                                        </p:cTn>
                                        <p:tgtEl>
                                          <p:spTgt spid="314"/>
                                        </p:tgtEl>
                                        <p:attrNameLst>
                                          <p:attrName>style.visibility</p:attrName>
                                        </p:attrNameLst>
                                      </p:cBhvr>
                                      <p:to>
                                        <p:strVal val="visible"/>
                                      </p:to>
                                    </p:set>
                                    <p:anim calcmode="lin" valueType="num">
                                      <p:cBhvr>
                                        <p:cTn id="56" dur="5000" fill="hold"/>
                                        <p:tgtEl>
                                          <p:spTgt spid="314"/>
                                        </p:tgtEl>
                                        <p:attrNameLst>
                                          <p:attrName>ppt_w</p:attrName>
                                        </p:attrNameLst>
                                      </p:cBhvr>
                                      <p:tavLst>
                                        <p:tav tm="0">
                                          <p:val>
                                            <p:fltVal val="0"/>
                                          </p:val>
                                        </p:tav>
                                        <p:tav tm="100000">
                                          <p:val>
                                            <p:strVal val="#ppt_w"/>
                                          </p:val>
                                        </p:tav>
                                      </p:tavLst>
                                    </p:anim>
                                    <p:anim calcmode="lin" valueType="num">
                                      <p:cBhvr>
                                        <p:cTn id="57" dur="5000" fill="hold"/>
                                        <p:tgtEl>
                                          <p:spTgt spid="314"/>
                                        </p:tgtEl>
                                        <p:attrNameLst>
                                          <p:attrName>ppt_h</p:attrName>
                                        </p:attrNameLst>
                                      </p:cBhvr>
                                      <p:tavLst>
                                        <p:tav tm="0">
                                          <p:val>
                                            <p:strVal val="#ppt_h"/>
                                          </p:val>
                                        </p:tav>
                                        <p:tav tm="100000">
                                          <p:val>
                                            <p:strVal val="#ppt_h"/>
                                          </p:val>
                                        </p:tav>
                                      </p:tavLst>
                                    </p:anim>
                                  </p:childTnLst>
                                </p:cTn>
                              </p:par>
                            </p:childTnLst>
                          </p:cTn>
                        </p:par>
                      </p:childTnLst>
                    </p:cTn>
                  </p:par>
                  <p:par>
                    <p:cTn id="58" fill="hold">
                      <p:stCondLst>
                        <p:cond delay="indefinite"/>
                      </p:stCondLst>
                      <p:childTnLst>
                        <p:par>
                          <p:cTn id="59" fill="hold">
                            <p:stCondLst>
                              <p:cond delay="0"/>
                            </p:stCondLst>
                            <p:childTnLst>
                              <p:par>
                                <p:cTn id="60" presetID="22" presetClass="entr" presetSubtype="1" fill="hold" nodeType="clickEffect">
                                  <p:stCondLst>
                                    <p:cond delay="0"/>
                                  </p:stCondLst>
                                  <p:childTnLst>
                                    <p:set>
                                      <p:cBhvr>
                                        <p:cTn id="61" dur="1" fill="hold">
                                          <p:stCondLst>
                                            <p:cond delay="0"/>
                                          </p:stCondLst>
                                        </p:cTn>
                                        <p:tgtEl>
                                          <p:spTgt spid="344"/>
                                        </p:tgtEl>
                                        <p:attrNameLst>
                                          <p:attrName>style.visibility</p:attrName>
                                        </p:attrNameLst>
                                      </p:cBhvr>
                                      <p:to>
                                        <p:strVal val="visible"/>
                                      </p:to>
                                    </p:set>
                                    <p:animEffect transition="in" filter="wipe(up)">
                                      <p:cBhvr>
                                        <p:cTn id="62" dur="3000"/>
                                        <p:tgtEl>
                                          <p:spTgt spid="344"/>
                                        </p:tgtEl>
                                      </p:cBhvr>
                                    </p:animEffect>
                                  </p:childTnLst>
                                </p:cTn>
                              </p:par>
                              <p:par>
                                <p:cTn id="63" presetID="19" presetClass="entr" presetSubtype="10" fill="hold" grpId="0" nodeType="withEffect">
                                  <p:stCondLst>
                                    <p:cond delay="0"/>
                                  </p:stCondLst>
                                  <p:childTnLst>
                                    <p:set>
                                      <p:cBhvr>
                                        <p:cTn id="64" dur="1" fill="hold">
                                          <p:stCondLst>
                                            <p:cond delay="0"/>
                                          </p:stCondLst>
                                        </p:cTn>
                                        <p:tgtEl>
                                          <p:spTgt spid="343"/>
                                        </p:tgtEl>
                                        <p:attrNameLst>
                                          <p:attrName>style.visibility</p:attrName>
                                        </p:attrNameLst>
                                      </p:cBhvr>
                                      <p:to>
                                        <p:strVal val="visible"/>
                                      </p:to>
                                    </p:set>
                                    <p:anim calcmode="lin" valueType="num">
                                      <p:cBhvr>
                                        <p:cTn id="65" dur="5000" fill="hold"/>
                                        <p:tgtEl>
                                          <p:spTgt spid="343"/>
                                        </p:tgtEl>
                                        <p:attrNameLst>
                                          <p:attrName>ppt_w</p:attrName>
                                        </p:attrNameLst>
                                      </p:cBhvr>
                                      <p:tavLst>
                                        <p:tav tm="0" fmla="#ppt_w*sin(2.5*pi*$)">
                                          <p:val>
                                            <p:fltVal val="0"/>
                                          </p:val>
                                        </p:tav>
                                        <p:tav tm="100000">
                                          <p:val>
                                            <p:fltVal val="1"/>
                                          </p:val>
                                        </p:tav>
                                      </p:tavLst>
                                    </p:anim>
                                    <p:anim calcmode="lin" valueType="num">
                                      <p:cBhvr>
                                        <p:cTn id="66" dur="5000" fill="hold"/>
                                        <p:tgtEl>
                                          <p:spTgt spid="343"/>
                                        </p:tgtEl>
                                        <p:attrNameLst>
                                          <p:attrName>ppt_h</p:attrName>
                                        </p:attrNameLst>
                                      </p:cBhvr>
                                      <p:tavLst>
                                        <p:tav tm="0">
                                          <p:val>
                                            <p:strVal val="#ppt_h"/>
                                          </p:val>
                                        </p:tav>
                                        <p:tav tm="100000">
                                          <p:val>
                                            <p:strVal val="#ppt_h"/>
                                          </p:val>
                                        </p:tav>
                                      </p:tavLst>
                                    </p:anim>
                                  </p:childTnLst>
                                </p:cTn>
                              </p:par>
                            </p:childTnLst>
                          </p:cTn>
                        </p:par>
                        <p:par>
                          <p:cTn id="67" fill="hold">
                            <p:stCondLst>
                              <p:cond delay="5000"/>
                            </p:stCondLst>
                            <p:childTnLst>
                              <p:par>
                                <p:cTn id="68" presetID="22" presetClass="entr" presetSubtype="8" fill="hold" nodeType="afterEffect">
                                  <p:stCondLst>
                                    <p:cond delay="0"/>
                                  </p:stCondLst>
                                  <p:childTnLst>
                                    <p:set>
                                      <p:cBhvr>
                                        <p:cTn id="69" dur="1" fill="hold">
                                          <p:stCondLst>
                                            <p:cond delay="0"/>
                                          </p:stCondLst>
                                        </p:cTn>
                                        <p:tgtEl>
                                          <p:spTgt spid="351"/>
                                        </p:tgtEl>
                                        <p:attrNameLst>
                                          <p:attrName>style.visibility</p:attrName>
                                        </p:attrNameLst>
                                      </p:cBhvr>
                                      <p:to>
                                        <p:strVal val="visible"/>
                                      </p:to>
                                    </p:set>
                                    <p:animEffect transition="in" filter="wipe(left)">
                                      <p:cBhvr>
                                        <p:cTn id="70" dur="3000"/>
                                        <p:tgtEl>
                                          <p:spTgt spid="351"/>
                                        </p:tgtEl>
                                      </p:cBhvr>
                                    </p:animEffect>
                                  </p:childTnLst>
                                </p:cTn>
                              </p:par>
                              <p:par>
                                <p:cTn id="71" presetID="22" presetClass="entr" presetSubtype="8" fill="hold" nodeType="withEffect">
                                  <p:stCondLst>
                                    <p:cond delay="0"/>
                                  </p:stCondLst>
                                  <p:childTnLst>
                                    <p:set>
                                      <p:cBhvr>
                                        <p:cTn id="72" dur="1" fill="hold">
                                          <p:stCondLst>
                                            <p:cond delay="0"/>
                                          </p:stCondLst>
                                        </p:cTn>
                                        <p:tgtEl>
                                          <p:spTgt spid="353"/>
                                        </p:tgtEl>
                                        <p:attrNameLst>
                                          <p:attrName>style.visibility</p:attrName>
                                        </p:attrNameLst>
                                      </p:cBhvr>
                                      <p:to>
                                        <p:strVal val="visible"/>
                                      </p:to>
                                    </p:set>
                                    <p:animEffect transition="in" filter="wipe(left)">
                                      <p:cBhvr>
                                        <p:cTn id="73" dur="3000"/>
                                        <p:tgtEl>
                                          <p:spTgt spid="353"/>
                                        </p:tgtEl>
                                      </p:cBhvr>
                                    </p:animEffect>
                                  </p:childTnLst>
                                </p:cTn>
                              </p:par>
                            </p:childTnLst>
                          </p:cTn>
                        </p:par>
                        <p:par>
                          <p:cTn id="74" fill="hold">
                            <p:stCondLst>
                              <p:cond delay="8000"/>
                            </p:stCondLst>
                            <p:childTnLst>
                              <p:par>
                                <p:cTn id="75" presetID="16" presetClass="entr" presetSubtype="42" fill="hold" nodeType="afterEffect">
                                  <p:stCondLst>
                                    <p:cond delay="0"/>
                                  </p:stCondLst>
                                  <p:childTnLst>
                                    <p:set>
                                      <p:cBhvr>
                                        <p:cTn id="76" dur="1" fill="hold">
                                          <p:stCondLst>
                                            <p:cond delay="0"/>
                                          </p:stCondLst>
                                        </p:cTn>
                                        <p:tgtEl>
                                          <p:spTgt spid="352"/>
                                        </p:tgtEl>
                                        <p:attrNameLst>
                                          <p:attrName>style.visibility</p:attrName>
                                        </p:attrNameLst>
                                      </p:cBhvr>
                                      <p:to>
                                        <p:strVal val="visible"/>
                                      </p:to>
                                    </p:set>
                                    <p:animEffect transition="in" filter="barn(outHorizontal)">
                                      <p:cBhvr>
                                        <p:cTn id="77" dur="3000"/>
                                        <p:tgtEl>
                                          <p:spTgt spid="352"/>
                                        </p:tgtEl>
                                      </p:cBhvr>
                                    </p:animEffect>
                                  </p:childTnLst>
                                </p:cTn>
                              </p:par>
                              <p:par>
                                <p:cTn id="78" presetID="19" presetClass="entr" presetSubtype="5" fill="hold" nodeType="withEffect">
                                  <p:stCondLst>
                                    <p:cond delay="0"/>
                                  </p:stCondLst>
                                  <p:childTnLst>
                                    <p:set>
                                      <p:cBhvr>
                                        <p:cTn id="79" dur="1" fill="hold">
                                          <p:stCondLst>
                                            <p:cond delay="0"/>
                                          </p:stCondLst>
                                        </p:cTn>
                                        <p:tgtEl>
                                          <p:spTgt spid="354"/>
                                        </p:tgtEl>
                                        <p:attrNameLst>
                                          <p:attrName>style.visibility</p:attrName>
                                        </p:attrNameLst>
                                      </p:cBhvr>
                                      <p:to>
                                        <p:strVal val="visible"/>
                                      </p:to>
                                    </p:set>
                                    <p:anim calcmode="lin" valueType="num">
                                      <p:cBhvr>
                                        <p:cTn id="80" dur="5000" fill="hold"/>
                                        <p:tgtEl>
                                          <p:spTgt spid="354"/>
                                        </p:tgtEl>
                                        <p:attrNameLst>
                                          <p:attrName>ppt_w</p:attrName>
                                        </p:attrNameLst>
                                      </p:cBhvr>
                                      <p:tavLst>
                                        <p:tav tm="0">
                                          <p:val>
                                            <p:strVal val="#ppt_w"/>
                                          </p:val>
                                        </p:tav>
                                        <p:tav tm="100000">
                                          <p:val>
                                            <p:strVal val="#ppt_w"/>
                                          </p:val>
                                        </p:tav>
                                      </p:tavLst>
                                    </p:anim>
                                    <p:anim calcmode="lin" valueType="num">
                                      <p:cBhvr>
                                        <p:cTn id="81" dur="5000" fill="hold"/>
                                        <p:tgtEl>
                                          <p:spTgt spid="354"/>
                                        </p:tgtEl>
                                        <p:attrNameLst>
                                          <p:attrName>ppt_h</p:attrName>
                                        </p:attrNameLst>
                                      </p:cBhvr>
                                      <p:tavLst>
                                        <p:tav tm="0" fmla="#ppt_h*sin(2.5*pi*$)">
                                          <p:val>
                                            <p:fltVal val="0"/>
                                          </p:val>
                                        </p:tav>
                                        <p:tav tm="100000">
                                          <p:val>
                                            <p:fltVal val="1"/>
                                          </p:val>
                                        </p:tav>
                                      </p:tavLst>
                                    </p:anim>
                                  </p:childTnLst>
                                  <p:subTnLst>
                                    <p:audio>
                                      <p:cMediaNode>
                                        <p:cTn display="0" masterRel="sameClick">
                                          <p:stCondLst>
                                            <p:cond evt="begin" delay="0">
                                              <p:tn val="78"/>
                                            </p:cond>
                                          </p:stCondLst>
                                          <p:endCondLst>
                                            <p:cond evt="onStopAudio" delay="0">
                                              <p:tgtEl>
                                                <p:sldTgt/>
                                              </p:tgtEl>
                                            </p:cond>
                                          </p:endCondLst>
                                        </p:cTn>
                                        <p:tgtEl>
                                          <p:sndTgt r:embed="rId3" name="CAMERA.WAV"/>
                                        </p:tgtEl>
                                      </p:cMediaNode>
                                    </p:audio>
                                  </p:subTnLst>
                                </p:cTn>
                              </p:par>
                            </p:childTnLst>
                          </p:cTn>
                        </p:par>
                      </p:childTnLst>
                    </p:cTn>
                  </p:par>
                  <p:par>
                    <p:cTn id="82" fill="hold">
                      <p:stCondLst>
                        <p:cond delay="indefinite"/>
                      </p:stCondLst>
                      <p:childTnLst>
                        <p:par>
                          <p:cTn id="83" fill="hold">
                            <p:stCondLst>
                              <p:cond delay="0"/>
                            </p:stCondLst>
                            <p:childTnLst>
                              <p:par>
                                <p:cTn id="84" presetID="22" presetClass="entr" presetSubtype="2" fill="hold" nodeType="clickEffect">
                                  <p:stCondLst>
                                    <p:cond delay="0"/>
                                  </p:stCondLst>
                                  <p:childTnLst>
                                    <p:set>
                                      <p:cBhvr>
                                        <p:cTn id="85" dur="1" fill="hold">
                                          <p:stCondLst>
                                            <p:cond delay="0"/>
                                          </p:stCondLst>
                                        </p:cTn>
                                        <p:tgtEl>
                                          <p:spTgt spid="348"/>
                                        </p:tgtEl>
                                        <p:attrNameLst>
                                          <p:attrName>style.visibility</p:attrName>
                                        </p:attrNameLst>
                                      </p:cBhvr>
                                      <p:to>
                                        <p:strVal val="visible"/>
                                      </p:to>
                                    </p:set>
                                    <p:animEffect transition="in" filter="wipe(right)">
                                      <p:cBhvr>
                                        <p:cTn id="86" dur="3000"/>
                                        <p:tgtEl>
                                          <p:spTgt spid="348"/>
                                        </p:tgtEl>
                                      </p:cBhvr>
                                    </p:animEffect>
                                  </p:childTnLst>
                                </p:cTn>
                              </p:par>
                              <p:par>
                                <p:cTn id="87" presetID="22" presetClass="entr" presetSubtype="2" fill="hold" nodeType="withEffect">
                                  <p:stCondLst>
                                    <p:cond delay="0"/>
                                  </p:stCondLst>
                                  <p:childTnLst>
                                    <p:set>
                                      <p:cBhvr>
                                        <p:cTn id="88" dur="1" fill="hold">
                                          <p:stCondLst>
                                            <p:cond delay="0"/>
                                          </p:stCondLst>
                                        </p:cTn>
                                        <p:tgtEl>
                                          <p:spTgt spid="350"/>
                                        </p:tgtEl>
                                        <p:attrNameLst>
                                          <p:attrName>style.visibility</p:attrName>
                                        </p:attrNameLst>
                                      </p:cBhvr>
                                      <p:to>
                                        <p:strVal val="visible"/>
                                      </p:to>
                                    </p:set>
                                    <p:animEffect transition="in" filter="wipe(right)">
                                      <p:cBhvr>
                                        <p:cTn id="89" dur="3000"/>
                                        <p:tgtEl>
                                          <p:spTgt spid="350"/>
                                        </p:tgtEl>
                                      </p:cBhvr>
                                    </p:animEffect>
                                  </p:childTnLst>
                                </p:cTn>
                              </p:par>
                            </p:childTnLst>
                          </p:cTn>
                        </p:par>
                        <p:par>
                          <p:cTn id="90" fill="hold">
                            <p:stCondLst>
                              <p:cond delay="3000"/>
                            </p:stCondLst>
                            <p:childTnLst>
                              <p:par>
                                <p:cTn id="91" presetID="16" presetClass="entr" presetSubtype="42" fill="hold" nodeType="afterEffect">
                                  <p:stCondLst>
                                    <p:cond delay="0"/>
                                  </p:stCondLst>
                                  <p:childTnLst>
                                    <p:set>
                                      <p:cBhvr>
                                        <p:cTn id="92" dur="1" fill="hold">
                                          <p:stCondLst>
                                            <p:cond delay="0"/>
                                          </p:stCondLst>
                                        </p:cTn>
                                        <p:tgtEl>
                                          <p:spTgt spid="349"/>
                                        </p:tgtEl>
                                        <p:attrNameLst>
                                          <p:attrName>style.visibility</p:attrName>
                                        </p:attrNameLst>
                                      </p:cBhvr>
                                      <p:to>
                                        <p:strVal val="visible"/>
                                      </p:to>
                                    </p:set>
                                    <p:animEffect transition="in" filter="barn(outHorizontal)">
                                      <p:cBhvr>
                                        <p:cTn id="93" dur="3000"/>
                                        <p:tgtEl>
                                          <p:spTgt spid="349"/>
                                        </p:tgtEl>
                                      </p:cBhvr>
                                    </p:animEffect>
                                  </p:childTnLst>
                                </p:cTn>
                              </p:par>
                              <p:par>
                                <p:cTn id="94" presetID="19" presetClass="entr" presetSubtype="10" fill="hold" nodeType="withEffect">
                                  <p:stCondLst>
                                    <p:cond delay="0"/>
                                  </p:stCondLst>
                                  <p:childTnLst>
                                    <p:set>
                                      <p:cBhvr>
                                        <p:cTn id="95" dur="1" fill="hold">
                                          <p:stCondLst>
                                            <p:cond delay="0"/>
                                          </p:stCondLst>
                                        </p:cTn>
                                        <p:tgtEl>
                                          <p:spTgt spid="155"/>
                                        </p:tgtEl>
                                        <p:attrNameLst>
                                          <p:attrName>style.visibility</p:attrName>
                                        </p:attrNameLst>
                                      </p:cBhvr>
                                      <p:to>
                                        <p:strVal val="visible"/>
                                      </p:to>
                                    </p:set>
                                    <p:anim calcmode="lin" valueType="num">
                                      <p:cBhvr>
                                        <p:cTn id="96" dur="5000" fill="hold"/>
                                        <p:tgtEl>
                                          <p:spTgt spid="155"/>
                                        </p:tgtEl>
                                        <p:attrNameLst>
                                          <p:attrName>ppt_w</p:attrName>
                                        </p:attrNameLst>
                                      </p:cBhvr>
                                      <p:tavLst>
                                        <p:tav tm="0" fmla="#ppt_w*sin(2.5*pi*$)">
                                          <p:val>
                                            <p:fltVal val="0"/>
                                          </p:val>
                                        </p:tav>
                                        <p:tav tm="100000">
                                          <p:val>
                                            <p:fltVal val="1"/>
                                          </p:val>
                                        </p:tav>
                                      </p:tavLst>
                                    </p:anim>
                                    <p:anim calcmode="lin" valueType="num">
                                      <p:cBhvr>
                                        <p:cTn id="97" dur="5000" fill="hold"/>
                                        <p:tgtEl>
                                          <p:spTgt spid="155"/>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94"/>
                                            </p:cond>
                                          </p:stCondLst>
                                          <p:endCondLst>
                                            <p:cond evt="onStopAudio" delay="0">
                                              <p:tgtEl>
                                                <p:sldTgt/>
                                              </p:tgtEl>
                                            </p:cond>
                                          </p:endCondLst>
                                        </p:cTn>
                                        <p:tgtEl>
                                          <p:sndTgt r:embed="rId3" name="CAMERA.WAV"/>
                                        </p:tgtEl>
                                      </p:cMediaNode>
                                    </p:audio>
                                  </p:subTnLst>
                                </p:cTn>
                              </p:par>
                              <p:par>
                                <p:cTn id="98" presetID="19" presetClass="entr" presetSubtype="10" fill="hold" grpId="0" nodeType="withEffect">
                                  <p:stCondLst>
                                    <p:cond delay="0"/>
                                  </p:stCondLst>
                                  <p:childTnLst>
                                    <p:set>
                                      <p:cBhvr>
                                        <p:cTn id="99" dur="1" fill="hold">
                                          <p:stCondLst>
                                            <p:cond delay="0"/>
                                          </p:stCondLst>
                                        </p:cTn>
                                        <p:tgtEl>
                                          <p:spTgt spid="355"/>
                                        </p:tgtEl>
                                        <p:attrNameLst>
                                          <p:attrName>style.visibility</p:attrName>
                                        </p:attrNameLst>
                                      </p:cBhvr>
                                      <p:to>
                                        <p:strVal val="visible"/>
                                      </p:to>
                                    </p:set>
                                    <p:anim calcmode="lin" valueType="num">
                                      <p:cBhvr>
                                        <p:cTn id="100" dur="5000" fill="hold"/>
                                        <p:tgtEl>
                                          <p:spTgt spid="355"/>
                                        </p:tgtEl>
                                        <p:attrNameLst>
                                          <p:attrName>ppt_w</p:attrName>
                                        </p:attrNameLst>
                                      </p:cBhvr>
                                      <p:tavLst>
                                        <p:tav tm="0" fmla="#ppt_w*sin(2.5*pi*$)">
                                          <p:val>
                                            <p:fltVal val="0"/>
                                          </p:val>
                                        </p:tav>
                                        <p:tav tm="100000">
                                          <p:val>
                                            <p:fltVal val="1"/>
                                          </p:val>
                                        </p:tav>
                                      </p:tavLst>
                                    </p:anim>
                                    <p:anim calcmode="lin" valueType="num">
                                      <p:cBhvr>
                                        <p:cTn id="101" dur="5000" fill="hold"/>
                                        <p:tgtEl>
                                          <p:spTgt spid="355"/>
                                        </p:tgtEl>
                                        <p:attrNameLst>
                                          <p:attrName>ppt_h</p:attrName>
                                        </p:attrNameLst>
                                      </p:cBhvr>
                                      <p:tavLst>
                                        <p:tav tm="0">
                                          <p:val>
                                            <p:strVal val="#ppt_h"/>
                                          </p:val>
                                        </p:tav>
                                        <p:tav tm="100000">
                                          <p:val>
                                            <p:strVal val="#ppt_h"/>
                                          </p:val>
                                        </p:tav>
                                      </p:tavLst>
                                    </p:anim>
                                  </p:childTnLst>
                                </p:cTn>
                              </p:par>
                            </p:childTnLst>
                          </p:cTn>
                        </p:par>
                      </p:childTnLst>
                    </p:cTn>
                  </p:par>
                  <p:par>
                    <p:cTn id="102" fill="hold">
                      <p:stCondLst>
                        <p:cond delay="indefinite"/>
                      </p:stCondLst>
                      <p:childTnLst>
                        <p:par>
                          <p:cTn id="103" fill="hold">
                            <p:stCondLst>
                              <p:cond delay="0"/>
                            </p:stCondLst>
                            <p:childTnLst>
                              <p:par>
                                <p:cTn id="104" presetID="1" presetClass="entr" presetSubtype="0" fill="hold" nodeType="clickEffect">
                                  <p:stCondLst>
                                    <p:cond delay="0"/>
                                  </p:stCondLst>
                                  <p:childTnLst>
                                    <p:set>
                                      <p:cBhvr>
                                        <p:cTn id="105" dur="1" fill="hold">
                                          <p:stCondLst>
                                            <p:cond delay="0"/>
                                          </p:stCondLst>
                                        </p:cTn>
                                        <p:tgtEl>
                                          <p:spTgt spid="3"/>
                                        </p:tgtEl>
                                        <p:attrNameLst>
                                          <p:attrName>style.visibility</p:attrName>
                                        </p:attrNameLst>
                                      </p:cBhvr>
                                      <p:to>
                                        <p:strVal val="visible"/>
                                      </p:to>
                                    </p:set>
                                  </p:childTnLst>
                                </p:cTn>
                              </p:par>
                              <p:par>
                                <p:cTn id="106" presetID="1" presetClass="entr" presetSubtype="0" fill="hold" grpId="0" nodeType="withEffect">
                                  <p:stCondLst>
                                    <p:cond delay="0"/>
                                  </p:stCondLst>
                                  <p:childTnLst>
                                    <p:set>
                                      <p:cBhvr>
                                        <p:cTn id="107" dur="1" fill="hold">
                                          <p:stCondLst>
                                            <p:cond delay="0"/>
                                          </p:stCondLst>
                                        </p:cTn>
                                        <p:tgtEl>
                                          <p:spTgt spid="263"/>
                                        </p:tgtEl>
                                        <p:attrNameLst>
                                          <p:attrName>style.visibility</p:attrName>
                                        </p:attrNameLst>
                                      </p:cBhvr>
                                      <p:to>
                                        <p:strVal val="visible"/>
                                      </p:to>
                                    </p:set>
                                  </p:childTnLst>
                                </p:cTn>
                              </p:par>
                            </p:childTnLst>
                          </p:cTn>
                        </p:par>
                      </p:childTnLst>
                    </p:cTn>
                  </p:par>
                  <p:par>
                    <p:cTn id="108" fill="hold">
                      <p:stCondLst>
                        <p:cond delay="indefinite"/>
                      </p:stCondLst>
                      <p:childTnLst>
                        <p:par>
                          <p:cTn id="109" fill="hold">
                            <p:stCondLst>
                              <p:cond delay="0"/>
                            </p:stCondLst>
                            <p:childTnLst>
                              <p:par>
                                <p:cTn id="110" presetID="1" presetClass="entr" presetSubtype="0" fill="hold" grpId="0" nodeType="clickEffect">
                                  <p:stCondLst>
                                    <p:cond delay="0"/>
                                  </p:stCondLst>
                                  <p:childTnLst>
                                    <p:set>
                                      <p:cBhvr>
                                        <p:cTn id="111" dur="1" fill="hold">
                                          <p:stCondLst>
                                            <p:cond delay="0"/>
                                          </p:stCondLst>
                                        </p:cTn>
                                        <p:tgtEl>
                                          <p:spTgt spid="4"/>
                                        </p:tgtEl>
                                        <p:attrNameLst>
                                          <p:attrName>style.visibility</p:attrName>
                                        </p:attrNameLst>
                                      </p:cBhvr>
                                      <p:to>
                                        <p:strVal val="visible"/>
                                      </p:to>
                                    </p:set>
                                  </p:childTnLst>
                                </p:cTn>
                              </p:par>
                              <p:par>
                                <p:cTn id="112" presetID="1" presetClass="entr" presetSubtype="0" fill="hold" nodeType="withEffect">
                                  <p:stCondLst>
                                    <p:cond delay="0"/>
                                  </p:stCondLst>
                                  <p:childTnLst>
                                    <p:set>
                                      <p:cBhvr>
                                        <p:cTn id="113" dur="1" fill="hold">
                                          <p:stCondLst>
                                            <p:cond delay="0"/>
                                          </p:stCondLst>
                                        </p:cTn>
                                        <p:tgtEl>
                                          <p:spTgt spid="6"/>
                                        </p:tgtEl>
                                        <p:attrNameLst>
                                          <p:attrName>style.visibility</p:attrName>
                                        </p:attrNameLst>
                                      </p:cBhvr>
                                      <p:to>
                                        <p:strVal val="visible"/>
                                      </p:to>
                                    </p:set>
                                  </p:childTnLst>
                                </p:cTn>
                              </p:par>
                              <p:par>
                                <p:cTn id="114" presetID="1" presetClass="entr" presetSubtype="0" fill="hold" nodeType="withEffect">
                                  <p:stCondLst>
                                    <p:cond delay="0"/>
                                  </p:stCondLst>
                                  <p:childTnLst>
                                    <p:set>
                                      <p:cBhvr>
                                        <p:cTn id="115"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63" grpId="0"/>
      <p:bldP spid="157" grpId="0"/>
      <p:bldP spid="158" grpId="0"/>
      <p:bldP spid="159" grpId="0"/>
      <p:bldP spid="337" grpId="0"/>
      <p:bldP spid="343" grpId="0"/>
      <p:bldP spid="355" grpId="0"/>
      <p:bldP spid="4"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711605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第八章   拉压、剪切与挤压的强度计算</a:t>
            </a:r>
          </a:p>
        </p:txBody>
      </p:sp>
      <p:sp>
        <p:nvSpPr>
          <p:cNvPr id="2" name="Text Box 1032">
            <a:extLst>
              <a:ext uri="{FF2B5EF4-FFF2-40B4-BE49-F238E27FC236}">
                <a16:creationId xmlns:a16="http://schemas.microsoft.com/office/drawing/2014/main" id="{9313B3B7-54D5-686A-FE7C-5A463A3627F0}"/>
              </a:ext>
            </a:extLst>
          </p:cNvPr>
          <p:cNvSpPr txBox="1">
            <a:spLocks noChangeArrowheads="1"/>
          </p:cNvSpPr>
          <p:nvPr/>
        </p:nvSpPr>
        <p:spPr bwMode="auto">
          <a:xfrm>
            <a:off x="335361" y="960605"/>
            <a:ext cx="4608512" cy="565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lnSpc>
                <a:spcPct val="120000"/>
              </a:lnSpc>
            </a:pPr>
            <a:r>
              <a:rPr lang="zh-CN" altLang="en-US" sz="2800" i="0" dirty="0">
                <a:solidFill>
                  <a:srgbClr val="FF00FF"/>
                </a:solidFill>
                <a:latin typeface="+mn-lt"/>
                <a:ea typeface="微软雅黑" panose="020B0503020204020204" pitchFamily="34" charset="-122"/>
              </a:rPr>
              <a:t>装配应力</a:t>
            </a:r>
            <a:endParaRPr lang="zh-CN" altLang="en-US" sz="2800" i="0" dirty="0">
              <a:latin typeface="+mn-lt"/>
              <a:ea typeface="微软雅黑" panose="020B0503020204020204" pitchFamily="34" charset="-122"/>
            </a:endParaRPr>
          </a:p>
        </p:txBody>
      </p:sp>
      <p:sp>
        <p:nvSpPr>
          <p:cNvPr id="9" name="Text Box 1032">
            <a:extLst>
              <a:ext uri="{FF2B5EF4-FFF2-40B4-BE49-F238E27FC236}">
                <a16:creationId xmlns:a16="http://schemas.microsoft.com/office/drawing/2014/main" id="{6D166145-737C-A1D8-3723-4B4713280D42}"/>
              </a:ext>
            </a:extLst>
          </p:cNvPr>
          <p:cNvSpPr txBox="1">
            <a:spLocks noChangeArrowheads="1"/>
          </p:cNvSpPr>
          <p:nvPr/>
        </p:nvSpPr>
        <p:spPr bwMode="auto">
          <a:xfrm>
            <a:off x="335361" y="1522724"/>
            <a:ext cx="8420191" cy="418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lnSpc>
                <a:spcPct val="120000"/>
              </a:lnSpc>
            </a:pPr>
            <a:r>
              <a:rPr lang="zh-CN" altLang="en-US" sz="2800" i="0" dirty="0">
                <a:latin typeface="+mn-lt"/>
                <a:ea typeface="微软雅黑" panose="020B0503020204020204" pitchFamily="34" charset="-122"/>
              </a:rPr>
              <a:t>所有构件在制造中都会有一些误差。这种误差在静定结构中不会引起任何内力，而在超静定结构中则有不同的特点。例如，图示的三杆桁架结构，若杆</a:t>
            </a:r>
            <a:r>
              <a:rPr lang="en-US" altLang="zh-CN" sz="2800" b="0" i="0" dirty="0">
                <a:latin typeface="+mn-lt"/>
                <a:ea typeface="微软雅黑" panose="020B0503020204020204" pitchFamily="34" charset="-122"/>
              </a:rPr>
              <a:t>3</a:t>
            </a:r>
            <a:r>
              <a:rPr lang="zh-CN" altLang="en-US" sz="2800" i="0" dirty="0">
                <a:latin typeface="+mn-lt"/>
                <a:ea typeface="微软雅黑" panose="020B0503020204020204" pitchFamily="34" charset="-122"/>
              </a:rPr>
              <a:t>制造时短了</a:t>
            </a:r>
            <a:r>
              <a:rPr lang="zh-CN" altLang="en-US" sz="2800" b="0" dirty="0">
                <a:latin typeface="+mn-lt"/>
                <a:ea typeface="微软雅黑" panose="020B0503020204020204" pitchFamily="34" charset="-122"/>
                <a:sym typeface="Symbol" panose="05050102010706020507" pitchFamily="18" charset="2"/>
              </a:rPr>
              <a:t></a:t>
            </a:r>
            <a:r>
              <a:rPr lang="zh-CN" altLang="en-US" sz="2800" i="0" dirty="0">
                <a:latin typeface="+mn-lt"/>
                <a:ea typeface="微软雅黑" panose="020B0503020204020204" pitchFamily="34" charset="-122"/>
              </a:rPr>
              <a:t>，为了能将三根杆装配在一起，则必须将杆</a:t>
            </a:r>
            <a:r>
              <a:rPr lang="en-US" altLang="zh-CN" sz="2800" b="0" i="0" dirty="0">
                <a:latin typeface="+mn-lt"/>
                <a:ea typeface="微软雅黑" panose="020B0503020204020204" pitchFamily="34" charset="-122"/>
              </a:rPr>
              <a:t>3</a:t>
            </a:r>
            <a:r>
              <a:rPr lang="zh-CN" altLang="en-US" sz="2800" i="0" dirty="0">
                <a:latin typeface="+mn-lt"/>
                <a:ea typeface="微软雅黑" panose="020B0503020204020204" pitchFamily="34" charset="-122"/>
              </a:rPr>
              <a:t>拉长，杆</a:t>
            </a:r>
            <a:r>
              <a:rPr lang="en-US" altLang="zh-CN" sz="2800" b="0" i="0" dirty="0">
                <a:latin typeface="+mn-lt"/>
                <a:ea typeface="微软雅黑" panose="020B0503020204020204" pitchFamily="34" charset="-122"/>
              </a:rPr>
              <a:t>l</a:t>
            </a:r>
            <a:r>
              <a:rPr lang="zh-CN" altLang="en-US" sz="2800" i="0" dirty="0">
                <a:latin typeface="+mn-lt"/>
                <a:ea typeface="微软雅黑" panose="020B0503020204020204" pitchFamily="34" charset="-122"/>
              </a:rPr>
              <a:t>、</a:t>
            </a:r>
            <a:r>
              <a:rPr lang="en-US" altLang="zh-CN" sz="2800" b="0" i="0" dirty="0">
                <a:latin typeface="+mn-lt"/>
                <a:ea typeface="微软雅黑" panose="020B0503020204020204" pitchFamily="34" charset="-122"/>
              </a:rPr>
              <a:t>2</a:t>
            </a:r>
            <a:r>
              <a:rPr lang="zh-CN" altLang="en-US" sz="2800" i="0" dirty="0">
                <a:latin typeface="+mn-lt"/>
                <a:ea typeface="微软雅黑" panose="020B0503020204020204" pitchFamily="34" charset="-122"/>
              </a:rPr>
              <a:t>压短。这种强行装配会在杆</a:t>
            </a:r>
            <a:r>
              <a:rPr lang="en-US" altLang="zh-CN" sz="2800" i="0" dirty="0">
                <a:latin typeface="+mn-lt"/>
                <a:ea typeface="微软雅黑" panose="020B0503020204020204" pitchFamily="34" charset="-122"/>
              </a:rPr>
              <a:t>3</a:t>
            </a:r>
            <a:r>
              <a:rPr lang="zh-CN" altLang="en-US" sz="2800" i="0" dirty="0">
                <a:latin typeface="+mn-lt"/>
                <a:ea typeface="微软雅黑" panose="020B0503020204020204" pitchFamily="34" charset="-122"/>
              </a:rPr>
              <a:t>中产生拉应力，而在杆</a:t>
            </a:r>
            <a:r>
              <a:rPr lang="en-US" altLang="zh-CN" sz="2800" b="0" i="0" dirty="0">
                <a:latin typeface="+mn-lt"/>
                <a:ea typeface="微软雅黑" panose="020B0503020204020204" pitchFamily="34" charset="-122"/>
              </a:rPr>
              <a:t>l</a:t>
            </a:r>
            <a:r>
              <a:rPr lang="zh-CN" altLang="en-US" sz="2800" i="0" dirty="0">
                <a:latin typeface="+mn-lt"/>
                <a:ea typeface="微软雅黑" panose="020B0503020204020204" pitchFamily="34" charset="-122"/>
              </a:rPr>
              <a:t>、</a:t>
            </a:r>
            <a:r>
              <a:rPr lang="en-US" altLang="zh-CN" sz="2800" b="0" i="0" dirty="0">
                <a:latin typeface="+mn-lt"/>
                <a:ea typeface="微软雅黑" panose="020B0503020204020204" pitchFamily="34" charset="-122"/>
              </a:rPr>
              <a:t>2</a:t>
            </a:r>
            <a:r>
              <a:rPr lang="zh-CN" altLang="en-US" sz="2800" i="0" dirty="0">
                <a:latin typeface="+mn-lt"/>
                <a:ea typeface="微软雅黑" panose="020B0503020204020204" pitchFamily="34" charset="-122"/>
              </a:rPr>
              <a:t>中产生压应力。如误差</a:t>
            </a:r>
            <a:r>
              <a:rPr lang="zh-CN" altLang="en-US" sz="2800" b="0" dirty="0">
                <a:latin typeface="+mn-lt"/>
                <a:ea typeface="微软雅黑" panose="020B0503020204020204" pitchFamily="34" charset="-122"/>
                <a:sym typeface="Symbol" panose="05050102010706020507" pitchFamily="18" charset="2"/>
              </a:rPr>
              <a:t> </a:t>
            </a:r>
            <a:r>
              <a:rPr lang="zh-CN" altLang="en-US" sz="2800" i="0" dirty="0">
                <a:latin typeface="+mn-lt"/>
                <a:ea typeface="微软雅黑" panose="020B0503020204020204" pitchFamily="34" charset="-122"/>
              </a:rPr>
              <a:t>较大，这种应力会达到很大的数值。这种由于装配而引起杆内产生的应力，称为</a:t>
            </a:r>
            <a:r>
              <a:rPr lang="zh-CN" altLang="en-US" sz="2800" i="0" dirty="0">
                <a:solidFill>
                  <a:srgbClr val="FF00FF"/>
                </a:solidFill>
                <a:latin typeface="+mn-lt"/>
                <a:ea typeface="微软雅黑" panose="020B0503020204020204" pitchFamily="34" charset="-122"/>
              </a:rPr>
              <a:t>装配应力。</a:t>
            </a:r>
          </a:p>
        </p:txBody>
      </p:sp>
      <p:sp>
        <p:nvSpPr>
          <p:cNvPr id="5" name="Rectangle 61">
            <a:extLst>
              <a:ext uri="{FF2B5EF4-FFF2-40B4-BE49-F238E27FC236}">
                <a16:creationId xmlns:a16="http://schemas.microsoft.com/office/drawing/2014/main" id="{18CD4DD6-6B67-DEF0-E8FB-A1C2C51935E9}"/>
              </a:ext>
            </a:extLst>
          </p:cNvPr>
          <p:cNvSpPr>
            <a:spLocks noChangeArrowheads="1"/>
          </p:cNvSpPr>
          <p:nvPr/>
        </p:nvSpPr>
        <p:spPr bwMode="auto">
          <a:xfrm>
            <a:off x="9038909" y="1844824"/>
            <a:ext cx="2808312" cy="3022109"/>
          </a:xfrm>
          <a:prstGeom prst="rect">
            <a:avLst/>
          </a:prstGeom>
          <a:solidFill>
            <a:srgbClr val="B9CDE5"/>
          </a:solidFill>
          <a:ln>
            <a:noFill/>
          </a:ln>
          <a:effectLst/>
        </p:spPr>
        <p:txBody>
          <a:bodyPr wrap="none" anchor="ctr"/>
          <a:lstStyle/>
          <a:p>
            <a:endParaRPr lang="zh-CN" altLang="en-US" dirty="0"/>
          </a:p>
        </p:txBody>
      </p:sp>
      <p:grpSp>
        <p:nvGrpSpPr>
          <p:cNvPr id="3" name="Group 8">
            <a:extLst>
              <a:ext uri="{FF2B5EF4-FFF2-40B4-BE49-F238E27FC236}">
                <a16:creationId xmlns:a16="http://schemas.microsoft.com/office/drawing/2014/main" id="{C315B8CA-4FED-11E3-ED40-9EA60AA61221}"/>
              </a:ext>
            </a:extLst>
          </p:cNvPr>
          <p:cNvGrpSpPr>
            <a:grpSpLocks/>
          </p:cNvGrpSpPr>
          <p:nvPr/>
        </p:nvGrpSpPr>
        <p:grpSpPr bwMode="auto">
          <a:xfrm>
            <a:off x="9231802" y="2277133"/>
            <a:ext cx="2263775" cy="1858963"/>
            <a:chOff x="4155" y="148"/>
            <a:chExt cx="1426" cy="1171"/>
          </a:xfrm>
        </p:grpSpPr>
        <p:sp>
          <p:nvSpPr>
            <p:cNvPr id="4" name="AutoShape 9">
              <a:extLst>
                <a:ext uri="{FF2B5EF4-FFF2-40B4-BE49-F238E27FC236}">
                  <a16:creationId xmlns:a16="http://schemas.microsoft.com/office/drawing/2014/main" id="{933C59C6-AF43-2BD9-F10C-189B3CACA618}"/>
                </a:ext>
              </a:extLst>
            </p:cNvPr>
            <p:cNvSpPr>
              <a:spLocks noChangeArrowheads="1"/>
            </p:cNvSpPr>
            <p:nvPr/>
          </p:nvSpPr>
          <p:spPr bwMode="auto">
            <a:xfrm flipV="1">
              <a:off x="4319" y="230"/>
              <a:ext cx="1110" cy="864"/>
            </a:xfrm>
            <a:prstGeom prst="triangle">
              <a:avLst>
                <a:gd name="adj" fmla="val 50000"/>
              </a:avLst>
            </a:prstGeom>
            <a:noFill/>
            <a:ln w="19050">
              <a:solidFill>
                <a:srgbClr val="000000"/>
              </a:solidFill>
              <a:prstDash val="lgDashDot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0" name="AutoShape 10">
              <a:extLst>
                <a:ext uri="{FF2B5EF4-FFF2-40B4-BE49-F238E27FC236}">
                  <a16:creationId xmlns:a16="http://schemas.microsoft.com/office/drawing/2014/main" id="{D9A339A7-38E5-13EC-2190-41E7A794B7F8}"/>
                </a:ext>
              </a:extLst>
            </p:cNvPr>
            <p:cNvSpPr>
              <a:spLocks noChangeArrowheads="1"/>
            </p:cNvSpPr>
            <p:nvPr/>
          </p:nvSpPr>
          <p:spPr bwMode="auto">
            <a:xfrm flipV="1">
              <a:off x="4327" y="238"/>
              <a:ext cx="1110" cy="1051"/>
            </a:xfrm>
            <a:prstGeom prst="triangle">
              <a:avLst>
                <a:gd name="adj" fmla="val 50000"/>
              </a:avLst>
            </a:prstGeom>
            <a:noFill/>
            <a:ln w="571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1" name="Text Box 11">
              <a:extLst>
                <a:ext uri="{FF2B5EF4-FFF2-40B4-BE49-F238E27FC236}">
                  <a16:creationId xmlns:a16="http://schemas.microsoft.com/office/drawing/2014/main" id="{80AB228B-8872-84DF-6622-D07627D66C2A}"/>
                </a:ext>
              </a:extLst>
            </p:cNvPr>
            <p:cNvSpPr txBox="1">
              <a:spLocks noChangeAspect="1" noChangeArrowheads="1"/>
            </p:cNvSpPr>
            <p:nvPr/>
          </p:nvSpPr>
          <p:spPr bwMode="auto">
            <a:xfrm>
              <a:off x="4346" y="581"/>
              <a:ext cx="2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dirty="0">
                  <a:ln>
                    <a:noFill/>
                  </a:ln>
                  <a:solidFill>
                    <a:srgbClr val="000000"/>
                  </a:solidFill>
                  <a:effectLst/>
                  <a:uLnTx/>
                  <a:uFillTx/>
                  <a:latin typeface="+mj-lt"/>
                  <a:ea typeface="宋体" panose="02010600030101010101" pitchFamily="2" charset="-122"/>
                </a:rPr>
                <a:t>1</a:t>
              </a:r>
            </a:p>
          </p:txBody>
        </p:sp>
        <p:sp>
          <p:nvSpPr>
            <p:cNvPr id="12" name="Text Box 12">
              <a:extLst>
                <a:ext uri="{FF2B5EF4-FFF2-40B4-BE49-F238E27FC236}">
                  <a16:creationId xmlns:a16="http://schemas.microsoft.com/office/drawing/2014/main" id="{752FFB76-F221-7F7D-5346-731D8949FE36}"/>
                </a:ext>
              </a:extLst>
            </p:cNvPr>
            <p:cNvSpPr txBox="1">
              <a:spLocks noChangeAspect="1" noChangeArrowheads="1"/>
            </p:cNvSpPr>
            <p:nvPr/>
          </p:nvSpPr>
          <p:spPr bwMode="auto">
            <a:xfrm>
              <a:off x="5171" y="594"/>
              <a:ext cx="259"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fontAlgn="auto" hangingPunct="1">
                <a:spcBef>
                  <a:spcPts val="0"/>
                </a:spcBef>
                <a:spcAft>
                  <a:spcPts val="0"/>
                </a:spcAft>
              </a:pPr>
              <a:r>
                <a:rPr lang="en-US" altLang="zh-CN" b="0" i="0" kern="0" dirty="0">
                  <a:solidFill>
                    <a:srgbClr val="000000"/>
                  </a:solidFill>
                  <a:latin typeface="+mj-lt"/>
                  <a:ea typeface="宋体" panose="02010600030101010101" pitchFamily="2" charset="-122"/>
                </a:rPr>
                <a:t>2</a:t>
              </a:r>
            </a:p>
          </p:txBody>
        </p:sp>
        <p:grpSp>
          <p:nvGrpSpPr>
            <p:cNvPr id="50" name="Group 13">
              <a:extLst>
                <a:ext uri="{FF2B5EF4-FFF2-40B4-BE49-F238E27FC236}">
                  <a16:creationId xmlns:a16="http://schemas.microsoft.com/office/drawing/2014/main" id="{50147F61-5B6E-C3CA-DBA7-4CFB1D24DB7B}"/>
                </a:ext>
              </a:extLst>
            </p:cNvPr>
            <p:cNvGrpSpPr>
              <a:grpSpLocks/>
            </p:cNvGrpSpPr>
            <p:nvPr/>
          </p:nvGrpSpPr>
          <p:grpSpPr bwMode="auto">
            <a:xfrm rot="5400000">
              <a:off x="4820" y="-517"/>
              <a:ext cx="95" cy="1426"/>
              <a:chOff x="4180" y="191"/>
              <a:chExt cx="112" cy="1798"/>
            </a:xfrm>
          </p:grpSpPr>
          <p:sp>
            <p:nvSpPr>
              <p:cNvPr id="63" name="Rectangle 14" descr="宽上对角线">
                <a:extLst>
                  <a:ext uri="{FF2B5EF4-FFF2-40B4-BE49-F238E27FC236}">
                    <a16:creationId xmlns:a16="http://schemas.microsoft.com/office/drawing/2014/main" id="{C6FA1076-59BC-25A3-A6A0-19406B893BFE}"/>
                  </a:ext>
                </a:extLst>
              </p:cNvPr>
              <p:cNvSpPr>
                <a:spLocks noChangeAspect="1" noChangeArrowheads="1"/>
              </p:cNvSpPr>
              <p:nvPr/>
            </p:nvSpPr>
            <p:spPr bwMode="auto">
              <a:xfrm>
                <a:off x="4180" y="191"/>
                <a:ext cx="94" cy="1798"/>
              </a:xfrm>
              <a:prstGeom prst="rect">
                <a:avLst/>
              </a:prstGeom>
              <a:pattFill prst="wdUpDiag">
                <a:fgClr>
                  <a:srgbClr val="000000"/>
                </a:fgClr>
                <a:bgClr>
                  <a:srgbClr val="99FFCC"/>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64" name="Line 15">
                <a:extLst>
                  <a:ext uri="{FF2B5EF4-FFF2-40B4-BE49-F238E27FC236}">
                    <a16:creationId xmlns:a16="http://schemas.microsoft.com/office/drawing/2014/main" id="{C8011E53-5225-4E7A-2117-6EBB3923AA62}"/>
                  </a:ext>
                </a:extLst>
              </p:cNvPr>
              <p:cNvSpPr>
                <a:spLocks noChangeAspect="1" noChangeShapeType="1"/>
              </p:cNvSpPr>
              <p:nvPr/>
            </p:nvSpPr>
            <p:spPr bwMode="auto">
              <a:xfrm>
                <a:off x="4292" y="191"/>
                <a:ext cx="0" cy="1790"/>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51" name="Oval 16">
              <a:extLst>
                <a:ext uri="{FF2B5EF4-FFF2-40B4-BE49-F238E27FC236}">
                  <a16:creationId xmlns:a16="http://schemas.microsoft.com/office/drawing/2014/main" id="{EE642D43-A86A-5233-A50F-504D840CAC67}"/>
                </a:ext>
              </a:extLst>
            </p:cNvPr>
            <p:cNvSpPr>
              <a:spLocks noChangeAspect="1" noChangeArrowheads="1"/>
            </p:cNvSpPr>
            <p:nvPr/>
          </p:nvSpPr>
          <p:spPr bwMode="auto">
            <a:xfrm rot="5400000">
              <a:off x="4289" y="192"/>
              <a:ext cx="90" cy="90"/>
            </a:xfrm>
            <a:prstGeom prst="ellipse">
              <a:avLst/>
            </a:prstGeom>
            <a:solidFill>
              <a:srgbClr val="FF00FF"/>
            </a:solidFill>
            <a:ln w="38100">
              <a:solidFill>
                <a:srgbClr val="000000"/>
              </a:solidFill>
              <a:round/>
              <a:headEnd/>
              <a:tailEnd/>
            </a:ln>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52" name="Oval 17">
              <a:extLst>
                <a:ext uri="{FF2B5EF4-FFF2-40B4-BE49-F238E27FC236}">
                  <a16:creationId xmlns:a16="http://schemas.microsoft.com/office/drawing/2014/main" id="{D0B2900F-E405-2710-9A94-F72D6E754B5B}"/>
                </a:ext>
              </a:extLst>
            </p:cNvPr>
            <p:cNvSpPr>
              <a:spLocks noChangeAspect="1" noChangeArrowheads="1"/>
            </p:cNvSpPr>
            <p:nvPr/>
          </p:nvSpPr>
          <p:spPr bwMode="auto">
            <a:xfrm rot="5400000">
              <a:off x="5383" y="195"/>
              <a:ext cx="90" cy="90"/>
            </a:xfrm>
            <a:prstGeom prst="ellipse">
              <a:avLst/>
            </a:prstGeom>
            <a:solidFill>
              <a:srgbClr val="FF00FF"/>
            </a:solidFill>
            <a:ln w="38100" algn="ctr">
              <a:solidFill>
                <a:srgbClr val="000000"/>
              </a:solidFill>
              <a:round/>
              <a:headEnd/>
              <a:tailEnd/>
            </a:ln>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53" name="Oval 18">
              <a:extLst>
                <a:ext uri="{FF2B5EF4-FFF2-40B4-BE49-F238E27FC236}">
                  <a16:creationId xmlns:a16="http://schemas.microsoft.com/office/drawing/2014/main" id="{6C63F9DF-DC24-B2E2-507D-446A6C86EFEF}"/>
                </a:ext>
              </a:extLst>
            </p:cNvPr>
            <p:cNvSpPr>
              <a:spLocks noChangeAspect="1" noChangeArrowheads="1"/>
            </p:cNvSpPr>
            <p:nvPr/>
          </p:nvSpPr>
          <p:spPr bwMode="auto">
            <a:xfrm>
              <a:off x="4833" y="1229"/>
              <a:ext cx="90" cy="90"/>
            </a:xfrm>
            <a:prstGeom prst="ellipse">
              <a:avLst/>
            </a:prstGeom>
            <a:solidFill>
              <a:srgbClr val="FF00FF"/>
            </a:solidFill>
            <a:ln w="38100" algn="ctr">
              <a:solidFill>
                <a:srgbClr val="000000"/>
              </a:solidFill>
              <a:round/>
              <a:headEnd/>
              <a:tailEnd/>
            </a:ln>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54" name="Line 19">
              <a:extLst>
                <a:ext uri="{FF2B5EF4-FFF2-40B4-BE49-F238E27FC236}">
                  <a16:creationId xmlns:a16="http://schemas.microsoft.com/office/drawing/2014/main" id="{64E656AD-7A1C-D84C-68C9-35583CD2D07F}"/>
                </a:ext>
              </a:extLst>
            </p:cNvPr>
            <p:cNvSpPr>
              <a:spLocks noChangeShapeType="1"/>
            </p:cNvSpPr>
            <p:nvPr/>
          </p:nvSpPr>
          <p:spPr bwMode="auto">
            <a:xfrm flipV="1">
              <a:off x="4879" y="246"/>
              <a:ext cx="0" cy="695"/>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55" name="Oval 20">
              <a:extLst>
                <a:ext uri="{FF2B5EF4-FFF2-40B4-BE49-F238E27FC236}">
                  <a16:creationId xmlns:a16="http://schemas.microsoft.com/office/drawing/2014/main" id="{7FE63680-3121-B951-277E-E6C23410DD8F}"/>
                </a:ext>
              </a:extLst>
            </p:cNvPr>
            <p:cNvSpPr>
              <a:spLocks noChangeAspect="1" noChangeArrowheads="1"/>
            </p:cNvSpPr>
            <p:nvPr/>
          </p:nvSpPr>
          <p:spPr bwMode="auto">
            <a:xfrm>
              <a:off x="4832" y="196"/>
              <a:ext cx="90" cy="90"/>
            </a:xfrm>
            <a:prstGeom prst="ellipse">
              <a:avLst/>
            </a:prstGeom>
            <a:solidFill>
              <a:srgbClr val="FF00FF"/>
            </a:solidFill>
            <a:ln w="38100" algn="ctr">
              <a:solidFill>
                <a:srgbClr val="000000"/>
              </a:solidFill>
              <a:round/>
              <a:headEnd/>
              <a:tailEnd/>
            </a:ln>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56" name="Text Box 21">
              <a:extLst>
                <a:ext uri="{FF2B5EF4-FFF2-40B4-BE49-F238E27FC236}">
                  <a16:creationId xmlns:a16="http://schemas.microsoft.com/office/drawing/2014/main" id="{F9F3BE1D-F4A3-08BB-F7A9-1D5EE30BC851}"/>
                </a:ext>
              </a:extLst>
            </p:cNvPr>
            <p:cNvSpPr txBox="1">
              <a:spLocks noChangeAspect="1" noChangeArrowheads="1"/>
            </p:cNvSpPr>
            <p:nvPr/>
          </p:nvSpPr>
          <p:spPr bwMode="auto">
            <a:xfrm>
              <a:off x="4836" y="454"/>
              <a:ext cx="2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fontAlgn="auto" hangingPunct="1">
                <a:spcBef>
                  <a:spcPts val="0"/>
                </a:spcBef>
                <a:spcAft>
                  <a:spcPts val="0"/>
                </a:spcAft>
              </a:pPr>
              <a:r>
                <a:rPr lang="en-US" altLang="zh-CN" b="0" i="0" kern="0" dirty="0">
                  <a:solidFill>
                    <a:srgbClr val="000000"/>
                  </a:solidFill>
                  <a:latin typeface="+mj-lt"/>
                  <a:ea typeface="宋体" panose="02010600030101010101" pitchFamily="2" charset="-122"/>
                </a:rPr>
                <a:t>3</a:t>
              </a:r>
            </a:p>
          </p:txBody>
        </p:sp>
        <p:sp>
          <p:nvSpPr>
            <p:cNvPr id="57" name="Oval 22">
              <a:extLst>
                <a:ext uri="{FF2B5EF4-FFF2-40B4-BE49-F238E27FC236}">
                  <a16:creationId xmlns:a16="http://schemas.microsoft.com/office/drawing/2014/main" id="{B4F74DC1-A17C-FD68-48D3-692451347733}"/>
                </a:ext>
              </a:extLst>
            </p:cNvPr>
            <p:cNvSpPr>
              <a:spLocks noChangeAspect="1" noChangeArrowheads="1"/>
            </p:cNvSpPr>
            <p:nvPr/>
          </p:nvSpPr>
          <p:spPr bwMode="auto">
            <a:xfrm>
              <a:off x="4828" y="1072"/>
              <a:ext cx="90" cy="90"/>
            </a:xfrm>
            <a:prstGeom prst="ellipse">
              <a:avLst/>
            </a:prstGeom>
            <a:gradFill rotWithShape="1">
              <a:gsLst>
                <a:gs pos="0">
                  <a:srgbClr val="FF86FF">
                    <a:alpha val="70000"/>
                  </a:srgbClr>
                </a:gs>
                <a:gs pos="100000">
                  <a:srgbClr val="FF00FF">
                    <a:alpha val="68999"/>
                  </a:srgbClr>
                </a:gs>
              </a:gsLst>
              <a:path path="shape">
                <a:fillToRect l="50000" t="50000" r="50000" b="50000"/>
              </a:path>
            </a:gradFill>
            <a:ln w="19050" algn="ctr">
              <a:solidFill>
                <a:srgbClr val="000000"/>
              </a:solidFill>
              <a:round/>
              <a:headEnd/>
              <a:tailEnd/>
            </a:ln>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58" name="Line 23">
              <a:extLst>
                <a:ext uri="{FF2B5EF4-FFF2-40B4-BE49-F238E27FC236}">
                  <a16:creationId xmlns:a16="http://schemas.microsoft.com/office/drawing/2014/main" id="{C2CB801E-2C2B-F44A-DA0F-8F707C90DB9B}"/>
                </a:ext>
              </a:extLst>
            </p:cNvPr>
            <p:cNvSpPr>
              <a:spLocks noChangeShapeType="1"/>
            </p:cNvSpPr>
            <p:nvPr/>
          </p:nvSpPr>
          <p:spPr bwMode="auto">
            <a:xfrm>
              <a:off x="5095" y="1287"/>
              <a:ext cx="35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59" name="Line 24">
              <a:extLst>
                <a:ext uri="{FF2B5EF4-FFF2-40B4-BE49-F238E27FC236}">
                  <a16:creationId xmlns:a16="http://schemas.microsoft.com/office/drawing/2014/main" id="{C2D9B22A-EFA9-5442-7A9B-C828FAA36C6E}"/>
                </a:ext>
              </a:extLst>
            </p:cNvPr>
            <p:cNvSpPr>
              <a:spLocks noChangeShapeType="1"/>
            </p:cNvSpPr>
            <p:nvPr/>
          </p:nvSpPr>
          <p:spPr bwMode="auto">
            <a:xfrm>
              <a:off x="5387" y="953"/>
              <a:ext cx="0" cy="329"/>
            </a:xfrm>
            <a:prstGeom prst="line">
              <a:avLst/>
            </a:prstGeom>
            <a:noFill/>
            <a:ln w="9525">
              <a:solidFill>
                <a:srgbClr val="000000"/>
              </a:solidFill>
              <a:round/>
              <a:headEnd type="stealth" w="med" len="lg"/>
              <a:tailEnd type="stealth" w="med" len="lg"/>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60" name="Line 25">
              <a:extLst>
                <a:ext uri="{FF2B5EF4-FFF2-40B4-BE49-F238E27FC236}">
                  <a16:creationId xmlns:a16="http://schemas.microsoft.com/office/drawing/2014/main" id="{5030B9A3-97BB-6016-3F6E-43278AB52A84}"/>
                </a:ext>
              </a:extLst>
            </p:cNvPr>
            <p:cNvSpPr>
              <a:spLocks noChangeShapeType="1"/>
            </p:cNvSpPr>
            <p:nvPr/>
          </p:nvSpPr>
          <p:spPr bwMode="auto">
            <a:xfrm>
              <a:off x="5095" y="961"/>
              <a:ext cx="36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61" name="Text Box 26">
              <a:extLst>
                <a:ext uri="{FF2B5EF4-FFF2-40B4-BE49-F238E27FC236}">
                  <a16:creationId xmlns:a16="http://schemas.microsoft.com/office/drawing/2014/main" id="{47FE19C1-DDAC-A2CA-8415-B6DC38C8025A}"/>
                </a:ext>
              </a:extLst>
            </p:cNvPr>
            <p:cNvSpPr txBox="1">
              <a:spLocks noChangeAspect="1" noChangeArrowheads="1"/>
            </p:cNvSpPr>
            <p:nvPr/>
          </p:nvSpPr>
          <p:spPr bwMode="auto">
            <a:xfrm rot="-5400000">
              <a:off x="5181" y="916"/>
              <a:ext cx="243" cy="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sym typeface="Symbol" panose="05050102010706020507" pitchFamily="18" charset="2"/>
                </a:rPr>
                <a:t></a:t>
              </a:r>
              <a:endParaRPr kumimoji="1" lang="en-US" altLang="zh-CN" sz="2400" b="0" u="none" strike="noStrike" kern="0" cap="none" spc="0" normalizeH="0" baseline="-25000" noProof="0" dirty="0">
                <a:ln>
                  <a:noFill/>
                </a:ln>
                <a:solidFill>
                  <a:srgbClr val="000000"/>
                </a:solidFill>
                <a:effectLst/>
                <a:uLnTx/>
                <a:uFillTx/>
                <a:latin typeface="Times New Roman" panose="02020603050405020304" pitchFamily="18" charset="0"/>
                <a:ea typeface="黑体" panose="02010609060101010101" pitchFamily="49" charset="-122"/>
                <a:sym typeface="Symbol" panose="05050102010706020507" pitchFamily="18" charset="2"/>
              </a:endParaRPr>
            </a:p>
          </p:txBody>
        </p:sp>
        <p:sp>
          <p:nvSpPr>
            <p:cNvPr id="62" name="Oval 27">
              <a:extLst>
                <a:ext uri="{FF2B5EF4-FFF2-40B4-BE49-F238E27FC236}">
                  <a16:creationId xmlns:a16="http://schemas.microsoft.com/office/drawing/2014/main" id="{B292E1F5-EE01-BADE-3CCD-33D07B2775B7}"/>
                </a:ext>
              </a:extLst>
            </p:cNvPr>
            <p:cNvSpPr>
              <a:spLocks noChangeAspect="1" noChangeArrowheads="1"/>
            </p:cNvSpPr>
            <p:nvPr/>
          </p:nvSpPr>
          <p:spPr bwMode="auto">
            <a:xfrm>
              <a:off x="4833" y="913"/>
              <a:ext cx="90" cy="90"/>
            </a:xfrm>
            <a:prstGeom prst="ellipse">
              <a:avLst/>
            </a:prstGeom>
            <a:solidFill>
              <a:srgbClr val="FF00FF"/>
            </a:solidFill>
            <a:ln w="38100" algn="ctr">
              <a:solidFill>
                <a:srgbClr val="000000"/>
              </a:solidFill>
              <a:round/>
              <a:headEnd/>
              <a:tailEnd/>
            </a:ln>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grpSp>
    </p:spTree>
    <p:extLst>
      <p:ext uri="{BB962C8B-B14F-4D97-AF65-F5344CB8AC3E}">
        <p14:creationId xmlns:p14="http://schemas.microsoft.com/office/powerpoint/2010/main" val="864370801"/>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0" presetClass="entr" presetSubtype="0" fill="hold"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p:bldP spid="9" grpId="0" autoUpdateAnimBg="0"/>
      <p:bldP spid="5"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711605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第八章   拉压、剪切与挤压的强度计算</a:t>
            </a:r>
          </a:p>
        </p:txBody>
      </p:sp>
      <p:sp>
        <p:nvSpPr>
          <p:cNvPr id="2" name="Text Box 1032">
            <a:extLst>
              <a:ext uri="{FF2B5EF4-FFF2-40B4-BE49-F238E27FC236}">
                <a16:creationId xmlns:a16="http://schemas.microsoft.com/office/drawing/2014/main" id="{9313B3B7-54D5-686A-FE7C-5A463A3627F0}"/>
              </a:ext>
            </a:extLst>
          </p:cNvPr>
          <p:cNvSpPr txBox="1">
            <a:spLocks noChangeArrowheads="1"/>
          </p:cNvSpPr>
          <p:nvPr/>
        </p:nvSpPr>
        <p:spPr bwMode="auto">
          <a:xfrm>
            <a:off x="335361" y="960605"/>
            <a:ext cx="4608512" cy="565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lnSpc>
                <a:spcPct val="120000"/>
              </a:lnSpc>
            </a:pPr>
            <a:r>
              <a:rPr lang="zh-CN" altLang="en-US" sz="2800" i="0" dirty="0">
                <a:solidFill>
                  <a:srgbClr val="FF00FF"/>
                </a:solidFill>
                <a:latin typeface="+mn-lt"/>
                <a:ea typeface="微软雅黑" panose="020B0503020204020204" pitchFamily="34" charset="-122"/>
              </a:rPr>
              <a:t>温度应力 </a:t>
            </a:r>
          </a:p>
        </p:txBody>
      </p:sp>
      <p:sp>
        <p:nvSpPr>
          <p:cNvPr id="9" name="Text Box 1032">
            <a:extLst>
              <a:ext uri="{FF2B5EF4-FFF2-40B4-BE49-F238E27FC236}">
                <a16:creationId xmlns:a16="http://schemas.microsoft.com/office/drawing/2014/main" id="{6D166145-737C-A1D8-3723-4B4713280D42}"/>
              </a:ext>
            </a:extLst>
          </p:cNvPr>
          <p:cNvSpPr txBox="1">
            <a:spLocks noChangeArrowheads="1"/>
          </p:cNvSpPr>
          <p:nvPr/>
        </p:nvSpPr>
        <p:spPr bwMode="auto">
          <a:xfrm>
            <a:off x="335361" y="1522724"/>
            <a:ext cx="8420191" cy="4701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lnSpc>
                <a:spcPct val="120000"/>
              </a:lnSpc>
            </a:pPr>
            <a:r>
              <a:rPr lang="zh-CN" altLang="en-US" sz="2800" i="0" dirty="0">
                <a:latin typeface="+mn-lt"/>
                <a:ea typeface="微软雅黑" panose="020B0503020204020204" pitchFamily="34" charset="-122"/>
              </a:rPr>
              <a:t>在工程实际中，杆件遇到温度的变化，其尺寸将有微小的变化。在静定结构中，由于杆件能自由变形，不会在杆内产生应力。但在超静定结构中，由于杆件受到相互制约而不能自由变形，这将使其内部产生应力。</a:t>
            </a:r>
            <a:r>
              <a:rPr lang="zh-CN" altLang="en-US" sz="2800" i="0" dirty="0">
                <a:ea typeface="微软雅黑" panose="020B0503020204020204" pitchFamily="34" charset="-122"/>
              </a:rPr>
              <a:t>例如，图示的三杆桁架结构，若杆</a:t>
            </a:r>
            <a:r>
              <a:rPr lang="en-US" altLang="zh-CN" sz="2800" b="0" i="0" dirty="0">
                <a:ea typeface="微软雅黑" panose="020B0503020204020204" pitchFamily="34" charset="-122"/>
              </a:rPr>
              <a:t>3</a:t>
            </a:r>
            <a:r>
              <a:rPr lang="zh-CN" altLang="en-US" sz="2800" i="0" dirty="0">
                <a:ea typeface="微软雅黑" panose="020B0503020204020204" pitchFamily="34" charset="-122"/>
              </a:rPr>
              <a:t>与杆</a:t>
            </a:r>
            <a:r>
              <a:rPr lang="en-US" altLang="zh-CN" sz="2800" b="0" i="0" dirty="0">
                <a:ea typeface="微软雅黑" panose="020B0503020204020204" pitchFamily="34" charset="-122"/>
              </a:rPr>
              <a:t>l</a:t>
            </a:r>
            <a:r>
              <a:rPr lang="zh-CN" altLang="en-US" sz="2800" i="0" dirty="0">
                <a:ea typeface="微软雅黑" panose="020B0503020204020204" pitchFamily="34" charset="-122"/>
              </a:rPr>
              <a:t>、</a:t>
            </a:r>
            <a:r>
              <a:rPr lang="en-US" altLang="zh-CN" sz="2800" b="0" i="0" dirty="0">
                <a:ea typeface="微软雅黑" panose="020B0503020204020204" pitchFamily="34" charset="-122"/>
              </a:rPr>
              <a:t>2</a:t>
            </a:r>
            <a:r>
              <a:rPr lang="zh-CN" altLang="en-US" sz="2800" i="0" dirty="0">
                <a:ea typeface="微软雅黑" panose="020B0503020204020204" pitchFamily="34" charset="-122"/>
              </a:rPr>
              <a:t>材质不同，线膨胀系数差异较大，即使无外力作用，温度一改变，由于三根杆在</a:t>
            </a:r>
            <a:r>
              <a:rPr lang="en-US" altLang="zh-CN" sz="2800" b="0" dirty="0">
                <a:ea typeface="微软雅黑" panose="020B0503020204020204" pitchFamily="34" charset="-122"/>
              </a:rPr>
              <a:t>A</a:t>
            </a:r>
            <a:r>
              <a:rPr lang="zh-CN" altLang="en-US" sz="2800" i="0" dirty="0">
                <a:ea typeface="微软雅黑" panose="020B0503020204020204" pitchFamily="34" charset="-122"/>
              </a:rPr>
              <a:t>端铰接在一起不能自由伸缩，杆内就会产生应力。这种因温度变化而引起的杆</a:t>
            </a:r>
            <a:r>
              <a:rPr lang="zh-CN" altLang="en-US" sz="2800" i="0" dirty="0">
                <a:latin typeface="+mn-lt"/>
                <a:ea typeface="微软雅黑" panose="020B0503020204020204" pitchFamily="34" charset="-122"/>
              </a:rPr>
              <a:t>内应力，称为</a:t>
            </a:r>
            <a:r>
              <a:rPr lang="zh-CN" altLang="en-US" sz="2800" i="0" dirty="0">
                <a:solidFill>
                  <a:srgbClr val="FF00FF"/>
                </a:solidFill>
                <a:latin typeface="+mn-lt"/>
                <a:ea typeface="微软雅黑" panose="020B0503020204020204" pitchFamily="34" charset="-122"/>
              </a:rPr>
              <a:t>温度应力</a:t>
            </a:r>
            <a:r>
              <a:rPr lang="zh-CN" altLang="en-US" sz="2800" i="0" dirty="0">
                <a:latin typeface="+mn-lt"/>
                <a:ea typeface="微软雅黑" panose="020B0503020204020204" pitchFamily="34" charset="-122"/>
              </a:rPr>
              <a:t>。</a:t>
            </a:r>
          </a:p>
        </p:txBody>
      </p:sp>
      <p:sp>
        <p:nvSpPr>
          <p:cNvPr id="5" name="Rectangle 61">
            <a:extLst>
              <a:ext uri="{FF2B5EF4-FFF2-40B4-BE49-F238E27FC236}">
                <a16:creationId xmlns:a16="http://schemas.microsoft.com/office/drawing/2014/main" id="{18CD4DD6-6B67-DEF0-E8FB-A1C2C51935E9}"/>
              </a:ext>
            </a:extLst>
          </p:cNvPr>
          <p:cNvSpPr>
            <a:spLocks noChangeArrowheads="1"/>
          </p:cNvSpPr>
          <p:nvPr/>
        </p:nvSpPr>
        <p:spPr bwMode="auto">
          <a:xfrm>
            <a:off x="9038909" y="1844824"/>
            <a:ext cx="2808312" cy="3022109"/>
          </a:xfrm>
          <a:prstGeom prst="rect">
            <a:avLst/>
          </a:prstGeom>
          <a:solidFill>
            <a:srgbClr val="B9CDE5"/>
          </a:solidFill>
          <a:ln>
            <a:noFill/>
          </a:ln>
          <a:effectLst/>
        </p:spPr>
        <p:txBody>
          <a:bodyPr wrap="none" anchor="ctr"/>
          <a:lstStyle/>
          <a:p>
            <a:endParaRPr lang="zh-CN" altLang="en-US" dirty="0"/>
          </a:p>
        </p:txBody>
      </p:sp>
      <p:grpSp>
        <p:nvGrpSpPr>
          <p:cNvPr id="6" name="Group 65">
            <a:extLst>
              <a:ext uri="{FF2B5EF4-FFF2-40B4-BE49-F238E27FC236}">
                <a16:creationId xmlns:a16="http://schemas.microsoft.com/office/drawing/2014/main" id="{08B382CB-A328-46B7-EF37-5BC995C754A6}"/>
              </a:ext>
            </a:extLst>
          </p:cNvPr>
          <p:cNvGrpSpPr>
            <a:grpSpLocks/>
          </p:cNvGrpSpPr>
          <p:nvPr/>
        </p:nvGrpSpPr>
        <p:grpSpPr bwMode="auto">
          <a:xfrm>
            <a:off x="9281808" y="2132856"/>
            <a:ext cx="2322513" cy="1887538"/>
            <a:chOff x="4137" y="2172"/>
            <a:chExt cx="1463" cy="1189"/>
          </a:xfrm>
        </p:grpSpPr>
        <p:sp>
          <p:nvSpPr>
            <p:cNvPr id="8" name="Text Box 44">
              <a:extLst>
                <a:ext uri="{FF2B5EF4-FFF2-40B4-BE49-F238E27FC236}">
                  <a16:creationId xmlns:a16="http://schemas.microsoft.com/office/drawing/2014/main" id="{AAE13B95-68A4-9C19-F884-7C2FAF533E7E}"/>
                </a:ext>
              </a:extLst>
            </p:cNvPr>
            <p:cNvSpPr txBox="1">
              <a:spLocks noChangeAspect="1" noChangeArrowheads="1"/>
            </p:cNvSpPr>
            <p:nvPr/>
          </p:nvSpPr>
          <p:spPr bwMode="auto">
            <a:xfrm>
              <a:off x="4137" y="2229"/>
              <a:ext cx="289"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fontAlgn="auto" hangingPunct="1">
                <a:spcBef>
                  <a:spcPts val="0"/>
                </a:spcBef>
                <a:spcAft>
                  <a:spcPts val="0"/>
                </a:spcAft>
              </a:pPr>
              <a:r>
                <a:rPr lang="en-US" altLang="zh-CN" b="0" kern="0" dirty="0">
                  <a:solidFill>
                    <a:srgbClr val="000000"/>
                  </a:solidFill>
                  <a:latin typeface="+mj-lt"/>
                  <a:ea typeface="宋体" panose="02010600030101010101" pitchFamily="2" charset="-122"/>
                </a:rPr>
                <a:t>B</a:t>
              </a:r>
            </a:p>
          </p:txBody>
        </p:sp>
        <p:sp>
          <p:nvSpPr>
            <p:cNvPr id="13" name="Text Box 45">
              <a:extLst>
                <a:ext uri="{FF2B5EF4-FFF2-40B4-BE49-F238E27FC236}">
                  <a16:creationId xmlns:a16="http://schemas.microsoft.com/office/drawing/2014/main" id="{0964C512-D20D-F79D-9449-9AF5248626B0}"/>
                </a:ext>
              </a:extLst>
            </p:cNvPr>
            <p:cNvSpPr txBox="1">
              <a:spLocks noChangeAspect="1" noChangeArrowheads="1"/>
            </p:cNvSpPr>
            <p:nvPr/>
          </p:nvSpPr>
          <p:spPr bwMode="auto">
            <a:xfrm>
              <a:off x="5385" y="2233"/>
              <a:ext cx="215" cy="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fontAlgn="auto" hangingPunct="1">
                <a:spcBef>
                  <a:spcPts val="0"/>
                </a:spcBef>
                <a:spcAft>
                  <a:spcPts val="0"/>
                </a:spcAft>
              </a:pPr>
              <a:r>
                <a:rPr lang="en-US" altLang="zh-CN" b="0" kern="0" dirty="0">
                  <a:solidFill>
                    <a:srgbClr val="000000"/>
                  </a:solidFill>
                  <a:latin typeface="+mj-lt"/>
                  <a:ea typeface="宋体" panose="02010600030101010101" pitchFamily="2" charset="-122"/>
                </a:rPr>
                <a:t>C</a:t>
              </a:r>
            </a:p>
          </p:txBody>
        </p:sp>
        <p:sp>
          <p:nvSpPr>
            <p:cNvPr id="14" name="AutoShape 46">
              <a:extLst>
                <a:ext uri="{FF2B5EF4-FFF2-40B4-BE49-F238E27FC236}">
                  <a16:creationId xmlns:a16="http://schemas.microsoft.com/office/drawing/2014/main" id="{B6F409EC-2C7F-C63E-52A8-C2F148D6EDEB}"/>
                </a:ext>
              </a:extLst>
            </p:cNvPr>
            <p:cNvSpPr>
              <a:spLocks noChangeArrowheads="1"/>
            </p:cNvSpPr>
            <p:nvPr/>
          </p:nvSpPr>
          <p:spPr bwMode="auto">
            <a:xfrm flipV="1">
              <a:off x="4319" y="2262"/>
              <a:ext cx="1110" cy="1051"/>
            </a:xfrm>
            <a:prstGeom prst="triangle">
              <a:avLst>
                <a:gd name="adj" fmla="val 50000"/>
              </a:avLst>
            </a:prstGeom>
            <a:noFill/>
            <a:ln w="571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6" name="Text Box 48">
              <a:extLst>
                <a:ext uri="{FF2B5EF4-FFF2-40B4-BE49-F238E27FC236}">
                  <a16:creationId xmlns:a16="http://schemas.microsoft.com/office/drawing/2014/main" id="{AB711557-2E29-5E05-C5D9-095E3B1020CB}"/>
                </a:ext>
              </a:extLst>
            </p:cNvPr>
            <p:cNvSpPr txBox="1">
              <a:spLocks noChangeAspect="1" noChangeArrowheads="1"/>
            </p:cNvSpPr>
            <p:nvPr/>
          </p:nvSpPr>
          <p:spPr bwMode="auto">
            <a:xfrm>
              <a:off x="4338" y="2605"/>
              <a:ext cx="2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fontAlgn="auto" hangingPunct="1">
                <a:spcBef>
                  <a:spcPts val="0"/>
                </a:spcBef>
                <a:spcAft>
                  <a:spcPts val="0"/>
                </a:spcAft>
              </a:pPr>
              <a:r>
                <a:rPr lang="en-US" altLang="zh-CN" b="0" i="0" kern="0" dirty="0">
                  <a:solidFill>
                    <a:srgbClr val="000000"/>
                  </a:solidFill>
                  <a:latin typeface="+mj-lt"/>
                  <a:ea typeface="宋体" panose="02010600030101010101" pitchFamily="2" charset="-122"/>
                </a:rPr>
                <a:t>1</a:t>
              </a:r>
            </a:p>
          </p:txBody>
        </p:sp>
        <p:sp>
          <p:nvSpPr>
            <p:cNvPr id="17" name="Text Box 49">
              <a:extLst>
                <a:ext uri="{FF2B5EF4-FFF2-40B4-BE49-F238E27FC236}">
                  <a16:creationId xmlns:a16="http://schemas.microsoft.com/office/drawing/2014/main" id="{34791AA8-F57A-0056-2470-E9E2EF70B362}"/>
                </a:ext>
              </a:extLst>
            </p:cNvPr>
            <p:cNvSpPr txBox="1">
              <a:spLocks noChangeAspect="1" noChangeArrowheads="1"/>
            </p:cNvSpPr>
            <p:nvPr/>
          </p:nvSpPr>
          <p:spPr bwMode="auto">
            <a:xfrm>
              <a:off x="5163" y="2618"/>
              <a:ext cx="259"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fontAlgn="auto" hangingPunct="1">
                <a:spcBef>
                  <a:spcPts val="0"/>
                </a:spcBef>
                <a:spcAft>
                  <a:spcPts val="0"/>
                </a:spcAft>
              </a:pPr>
              <a:r>
                <a:rPr lang="en-US" altLang="zh-CN" b="0" i="0" kern="0" dirty="0">
                  <a:solidFill>
                    <a:srgbClr val="000000"/>
                  </a:solidFill>
                  <a:latin typeface="+mj-lt"/>
                  <a:ea typeface="宋体" panose="02010600030101010101" pitchFamily="2" charset="-122"/>
                </a:rPr>
                <a:t>2</a:t>
              </a:r>
            </a:p>
          </p:txBody>
        </p:sp>
        <p:grpSp>
          <p:nvGrpSpPr>
            <p:cNvPr id="19" name="Group 51">
              <a:extLst>
                <a:ext uri="{FF2B5EF4-FFF2-40B4-BE49-F238E27FC236}">
                  <a16:creationId xmlns:a16="http://schemas.microsoft.com/office/drawing/2014/main" id="{2F3D4593-489B-9839-FEF1-6DAE59880B10}"/>
                </a:ext>
              </a:extLst>
            </p:cNvPr>
            <p:cNvGrpSpPr>
              <a:grpSpLocks/>
            </p:cNvGrpSpPr>
            <p:nvPr/>
          </p:nvGrpSpPr>
          <p:grpSpPr bwMode="auto">
            <a:xfrm rot="5400000">
              <a:off x="4812" y="1507"/>
              <a:ext cx="95" cy="1426"/>
              <a:chOff x="4180" y="191"/>
              <a:chExt cx="112" cy="1798"/>
            </a:xfrm>
          </p:grpSpPr>
          <p:sp>
            <p:nvSpPr>
              <p:cNvPr id="31" name="Rectangle 52" descr="宽上对角线">
                <a:extLst>
                  <a:ext uri="{FF2B5EF4-FFF2-40B4-BE49-F238E27FC236}">
                    <a16:creationId xmlns:a16="http://schemas.microsoft.com/office/drawing/2014/main" id="{C87BCAC0-C147-B4B9-394D-92D43248A96D}"/>
                  </a:ext>
                </a:extLst>
              </p:cNvPr>
              <p:cNvSpPr>
                <a:spLocks noChangeAspect="1" noChangeArrowheads="1"/>
              </p:cNvSpPr>
              <p:nvPr/>
            </p:nvSpPr>
            <p:spPr bwMode="auto">
              <a:xfrm>
                <a:off x="4180" y="191"/>
                <a:ext cx="94" cy="1798"/>
              </a:xfrm>
              <a:prstGeom prst="rect">
                <a:avLst/>
              </a:prstGeom>
              <a:pattFill prst="wdUpDiag">
                <a:fgClr>
                  <a:srgbClr val="000000"/>
                </a:fgClr>
                <a:bgClr>
                  <a:srgbClr val="99FFCC"/>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32" name="Line 53">
                <a:extLst>
                  <a:ext uri="{FF2B5EF4-FFF2-40B4-BE49-F238E27FC236}">
                    <a16:creationId xmlns:a16="http://schemas.microsoft.com/office/drawing/2014/main" id="{C9E070BC-6168-4E52-1791-BF392ACFAF0E}"/>
                  </a:ext>
                </a:extLst>
              </p:cNvPr>
              <p:cNvSpPr>
                <a:spLocks noChangeAspect="1" noChangeShapeType="1"/>
              </p:cNvSpPr>
              <p:nvPr/>
            </p:nvSpPr>
            <p:spPr bwMode="auto">
              <a:xfrm>
                <a:off x="4292" y="191"/>
                <a:ext cx="0" cy="1790"/>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21" name="Text Box 55">
              <a:extLst>
                <a:ext uri="{FF2B5EF4-FFF2-40B4-BE49-F238E27FC236}">
                  <a16:creationId xmlns:a16="http://schemas.microsoft.com/office/drawing/2014/main" id="{C713BD66-326A-5EF4-BF25-0E2563814AEB}"/>
                </a:ext>
              </a:extLst>
            </p:cNvPr>
            <p:cNvSpPr txBox="1">
              <a:spLocks noChangeAspect="1" noChangeArrowheads="1"/>
            </p:cNvSpPr>
            <p:nvPr/>
          </p:nvSpPr>
          <p:spPr bwMode="auto">
            <a:xfrm>
              <a:off x="4918" y="3118"/>
              <a:ext cx="296"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fontAlgn="auto" hangingPunct="1">
                <a:spcBef>
                  <a:spcPts val="0"/>
                </a:spcBef>
                <a:spcAft>
                  <a:spcPts val="0"/>
                </a:spcAft>
              </a:pPr>
              <a:r>
                <a:rPr lang="en-US" altLang="zh-CN" b="0" kern="0" dirty="0">
                  <a:solidFill>
                    <a:srgbClr val="000000"/>
                  </a:solidFill>
                  <a:latin typeface="+mj-lt"/>
                  <a:ea typeface="宋体" panose="02010600030101010101" pitchFamily="2" charset="-122"/>
                </a:rPr>
                <a:t>A</a:t>
              </a:r>
            </a:p>
          </p:txBody>
        </p:sp>
        <p:sp>
          <p:nvSpPr>
            <p:cNvPr id="22" name="Oval 56">
              <a:extLst>
                <a:ext uri="{FF2B5EF4-FFF2-40B4-BE49-F238E27FC236}">
                  <a16:creationId xmlns:a16="http://schemas.microsoft.com/office/drawing/2014/main" id="{059B7BDF-E36D-5D63-A56F-D0AA6F8A9358}"/>
                </a:ext>
              </a:extLst>
            </p:cNvPr>
            <p:cNvSpPr>
              <a:spLocks noChangeAspect="1" noChangeArrowheads="1"/>
            </p:cNvSpPr>
            <p:nvPr/>
          </p:nvSpPr>
          <p:spPr bwMode="auto">
            <a:xfrm rot="5400000">
              <a:off x="4281" y="2216"/>
              <a:ext cx="90" cy="90"/>
            </a:xfrm>
            <a:prstGeom prst="ellipse">
              <a:avLst/>
            </a:prstGeom>
            <a:solidFill>
              <a:srgbClr val="FF00FF"/>
            </a:solidFill>
            <a:ln w="38100">
              <a:solidFill>
                <a:srgbClr val="000000"/>
              </a:solidFill>
              <a:round/>
              <a:headEnd/>
              <a:tailEnd/>
            </a:ln>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23" name="Oval 57">
              <a:extLst>
                <a:ext uri="{FF2B5EF4-FFF2-40B4-BE49-F238E27FC236}">
                  <a16:creationId xmlns:a16="http://schemas.microsoft.com/office/drawing/2014/main" id="{6832A176-050B-D785-17D7-952DF7016E2B}"/>
                </a:ext>
              </a:extLst>
            </p:cNvPr>
            <p:cNvSpPr>
              <a:spLocks noChangeAspect="1" noChangeArrowheads="1"/>
            </p:cNvSpPr>
            <p:nvPr/>
          </p:nvSpPr>
          <p:spPr bwMode="auto">
            <a:xfrm rot="5400000">
              <a:off x="5375" y="2219"/>
              <a:ext cx="90" cy="90"/>
            </a:xfrm>
            <a:prstGeom prst="ellipse">
              <a:avLst/>
            </a:prstGeom>
            <a:solidFill>
              <a:srgbClr val="FF00FF"/>
            </a:solidFill>
            <a:ln w="38100" algn="ctr">
              <a:solidFill>
                <a:srgbClr val="000000"/>
              </a:solidFill>
              <a:round/>
              <a:headEnd/>
              <a:tailEnd/>
            </a:ln>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26" name="Oval 60">
              <a:extLst>
                <a:ext uri="{FF2B5EF4-FFF2-40B4-BE49-F238E27FC236}">
                  <a16:creationId xmlns:a16="http://schemas.microsoft.com/office/drawing/2014/main" id="{6C8D1264-43EF-C2F4-CB84-9C811B2858BD}"/>
                </a:ext>
              </a:extLst>
            </p:cNvPr>
            <p:cNvSpPr>
              <a:spLocks noChangeAspect="1" noChangeArrowheads="1"/>
            </p:cNvSpPr>
            <p:nvPr/>
          </p:nvSpPr>
          <p:spPr bwMode="auto">
            <a:xfrm>
              <a:off x="4825" y="3253"/>
              <a:ext cx="90" cy="90"/>
            </a:xfrm>
            <a:prstGeom prst="ellipse">
              <a:avLst/>
            </a:prstGeom>
            <a:solidFill>
              <a:srgbClr val="FF00FF"/>
            </a:solidFill>
            <a:ln w="38100" algn="ctr">
              <a:solidFill>
                <a:srgbClr val="000000"/>
              </a:solidFill>
              <a:round/>
              <a:headEnd/>
              <a:tailEnd/>
            </a:ln>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27" name="Line 61">
              <a:extLst>
                <a:ext uri="{FF2B5EF4-FFF2-40B4-BE49-F238E27FC236}">
                  <a16:creationId xmlns:a16="http://schemas.microsoft.com/office/drawing/2014/main" id="{5CC4D399-F368-489C-926C-57A44D9060F8}"/>
                </a:ext>
              </a:extLst>
            </p:cNvPr>
            <p:cNvSpPr>
              <a:spLocks noChangeShapeType="1"/>
            </p:cNvSpPr>
            <p:nvPr/>
          </p:nvSpPr>
          <p:spPr bwMode="auto">
            <a:xfrm flipV="1">
              <a:off x="4871" y="2270"/>
              <a:ext cx="0" cy="1000"/>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28" name="Oval 62">
              <a:extLst>
                <a:ext uri="{FF2B5EF4-FFF2-40B4-BE49-F238E27FC236}">
                  <a16:creationId xmlns:a16="http://schemas.microsoft.com/office/drawing/2014/main" id="{788A3A9D-D19B-ECD8-1246-D9E2600B33A1}"/>
                </a:ext>
              </a:extLst>
            </p:cNvPr>
            <p:cNvSpPr>
              <a:spLocks noChangeAspect="1" noChangeArrowheads="1"/>
            </p:cNvSpPr>
            <p:nvPr/>
          </p:nvSpPr>
          <p:spPr bwMode="auto">
            <a:xfrm>
              <a:off x="4824" y="2220"/>
              <a:ext cx="90" cy="90"/>
            </a:xfrm>
            <a:prstGeom prst="ellipse">
              <a:avLst/>
            </a:prstGeom>
            <a:solidFill>
              <a:srgbClr val="FF00FF"/>
            </a:solidFill>
            <a:ln w="38100" algn="ctr">
              <a:solidFill>
                <a:srgbClr val="000000"/>
              </a:solidFill>
              <a:round/>
              <a:headEnd/>
              <a:tailEnd/>
            </a:ln>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29" name="Text Box 63">
              <a:extLst>
                <a:ext uri="{FF2B5EF4-FFF2-40B4-BE49-F238E27FC236}">
                  <a16:creationId xmlns:a16="http://schemas.microsoft.com/office/drawing/2014/main" id="{454AABD5-CEEE-C21C-C245-53120EA64F6D}"/>
                </a:ext>
              </a:extLst>
            </p:cNvPr>
            <p:cNvSpPr txBox="1">
              <a:spLocks noChangeAspect="1" noChangeArrowheads="1"/>
            </p:cNvSpPr>
            <p:nvPr/>
          </p:nvSpPr>
          <p:spPr bwMode="auto">
            <a:xfrm>
              <a:off x="4857" y="2214"/>
              <a:ext cx="215" cy="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fontAlgn="auto" hangingPunct="1">
                <a:spcBef>
                  <a:spcPts val="0"/>
                </a:spcBef>
                <a:spcAft>
                  <a:spcPts val="0"/>
                </a:spcAft>
              </a:pPr>
              <a:r>
                <a:rPr lang="en-US" altLang="zh-CN" b="0" kern="0" dirty="0">
                  <a:solidFill>
                    <a:srgbClr val="000000"/>
                  </a:solidFill>
                  <a:latin typeface="+mj-lt"/>
                  <a:ea typeface="宋体" panose="02010600030101010101" pitchFamily="2" charset="-122"/>
                </a:rPr>
                <a:t>D</a:t>
              </a:r>
            </a:p>
          </p:txBody>
        </p:sp>
        <p:sp>
          <p:nvSpPr>
            <p:cNvPr id="30" name="Text Box 64">
              <a:extLst>
                <a:ext uri="{FF2B5EF4-FFF2-40B4-BE49-F238E27FC236}">
                  <a16:creationId xmlns:a16="http://schemas.microsoft.com/office/drawing/2014/main" id="{5108BBEC-2A75-A58F-977B-9F2ED994CDE4}"/>
                </a:ext>
              </a:extLst>
            </p:cNvPr>
            <p:cNvSpPr txBox="1">
              <a:spLocks noChangeAspect="1" noChangeArrowheads="1"/>
            </p:cNvSpPr>
            <p:nvPr/>
          </p:nvSpPr>
          <p:spPr bwMode="auto">
            <a:xfrm>
              <a:off x="4837" y="2588"/>
              <a:ext cx="2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fontAlgn="auto" hangingPunct="1">
                <a:spcBef>
                  <a:spcPts val="0"/>
                </a:spcBef>
                <a:spcAft>
                  <a:spcPts val="0"/>
                </a:spcAft>
              </a:pPr>
              <a:r>
                <a:rPr lang="en-US" altLang="zh-CN" b="0" i="0" kern="0" dirty="0">
                  <a:solidFill>
                    <a:srgbClr val="000000"/>
                  </a:solidFill>
                  <a:latin typeface="+mj-lt"/>
                  <a:ea typeface="宋体" panose="02010600030101010101" pitchFamily="2" charset="-122"/>
                </a:rPr>
                <a:t>3</a:t>
              </a:r>
            </a:p>
          </p:txBody>
        </p:sp>
      </p:grpSp>
    </p:spTree>
    <p:extLst>
      <p:ext uri="{BB962C8B-B14F-4D97-AF65-F5344CB8AC3E}">
        <p14:creationId xmlns:p14="http://schemas.microsoft.com/office/powerpoint/2010/main" val="1274680807"/>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p:bldP spid="9" grpId="0" autoUpdateAnimBg="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711605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第八章   拉压、剪切与挤压的强度计算</a:t>
            </a:r>
          </a:p>
        </p:txBody>
      </p:sp>
      <p:sp>
        <p:nvSpPr>
          <p:cNvPr id="5" name="Rectangle 2"/>
          <p:cNvSpPr>
            <a:spLocks noChangeArrowheads="1"/>
          </p:cNvSpPr>
          <p:nvPr/>
        </p:nvSpPr>
        <p:spPr bwMode="auto">
          <a:xfrm>
            <a:off x="164442" y="928670"/>
            <a:ext cx="9747982"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3000" i="0" dirty="0">
                <a:solidFill>
                  <a:schemeClr val="accent6">
                    <a:lumMod val="75000"/>
                  </a:schemeClr>
                </a:solidFill>
                <a:latin typeface="+mn-lt"/>
                <a:ea typeface="微软雅黑" panose="020B0503020204020204" pitchFamily="34" charset="-122"/>
              </a:rPr>
              <a:t>§8-5 </a:t>
            </a:r>
            <a:r>
              <a:rPr lang="zh-CN" altLang="en-US" sz="3000" i="0" dirty="0">
                <a:solidFill>
                  <a:schemeClr val="accent6">
                    <a:lumMod val="75000"/>
                  </a:schemeClr>
                </a:solidFill>
                <a:latin typeface="+mn-lt"/>
                <a:ea typeface="微软雅黑" panose="020B0503020204020204" pitchFamily="34" charset="-122"/>
              </a:rPr>
              <a:t>剪切与挤压</a:t>
            </a:r>
          </a:p>
        </p:txBody>
      </p:sp>
      <p:sp>
        <p:nvSpPr>
          <p:cNvPr id="53" name="Text Box 1032"/>
          <p:cNvSpPr txBox="1">
            <a:spLocks noChangeArrowheads="1"/>
          </p:cNvSpPr>
          <p:nvPr/>
        </p:nvSpPr>
        <p:spPr bwMode="auto">
          <a:xfrm>
            <a:off x="335361" y="1800396"/>
            <a:ext cx="3024336" cy="565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lnSpc>
                <a:spcPct val="120000"/>
              </a:lnSpc>
            </a:pPr>
            <a:r>
              <a:rPr lang="zh-CN" altLang="en-US" sz="2800" i="0" dirty="0">
                <a:solidFill>
                  <a:srgbClr val="FF00FF"/>
                </a:solidFill>
                <a:latin typeface="+mn-lt"/>
                <a:ea typeface="微软雅黑" panose="020B0503020204020204" pitchFamily="34" charset="-122"/>
              </a:rPr>
              <a:t>剪切的概念</a:t>
            </a:r>
          </a:p>
        </p:txBody>
      </p:sp>
      <p:sp>
        <p:nvSpPr>
          <p:cNvPr id="6" name="矩形 5">
            <a:extLst>
              <a:ext uri="{FF2B5EF4-FFF2-40B4-BE49-F238E27FC236}">
                <a16:creationId xmlns:a16="http://schemas.microsoft.com/office/drawing/2014/main" id="{8A892F5C-7536-F031-6CD4-1C9902B467DE}"/>
              </a:ext>
            </a:extLst>
          </p:cNvPr>
          <p:cNvSpPr/>
          <p:nvPr/>
        </p:nvSpPr>
        <p:spPr>
          <a:xfrm>
            <a:off x="2855640" y="1374291"/>
            <a:ext cx="4915128" cy="599331"/>
          </a:xfrm>
          <a:prstGeom prst="rect">
            <a:avLst/>
          </a:prstGeom>
        </p:spPr>
        <p:txBody>
          <a:bodyPr wrap="none">
            <a:spAutoFit/>
          </a:bodyPr>
          <a:lstStyle/>
          <a:p>
            <a:pPr>
              <a:lnSpc>
                <a:spcPct val="120000"/>
              </a:lnSpc>
            </a:pPr>
            <a:r>
              <a:rPr lang="zh-CN" altLang="en-US" sz="3000" i="0" dirty="0">
                <a:solidFill>
                  <a:srgbClr val="4F81BD"/>
                </a:solidFill>
                <a:latin typeface="微软雅黑" panose="020B0503020204020204" pitchFamily="34" charset="-122"/>
                <a:ea typeface="微软雅黑" panose="020B0503020204020204" pitchFamily="34" charset="-122"/>
              </a:rPr>
              <a:t>剪切的概念及剪切胡克定律 </a:t>
            </a:r>
          </a:p>
        </p:txBody>
      </p:sp>
      <p:sp>
        <p:nvSpPr>
          <p:cNvPr id="9" name="Text Box 1032">
            <a:extLst>
              <a:ext uri="{FF2B5EF4-FFF2-40B4-BE49-F238E27FC236}">
                <a16:creationId xmlns:a16="http://schemas.microsoft.com/office/drawing/2014/main" id="{5B910DD4-CBB7-A521-D69D-247EA7B635CC}"/>
              </a:ext>
            </a:extLst>
          </p:cNvPr>
          <p:cNvSpPr txBox="1">
            <a:spLocks noChangeArrowheads="1"/>
          </p:cNvSpPr>
          <p:nvPr/>
        </p:nvSpPr>
        <p:spPr bwMode="auto">
          <a:xfrm>
            <a:off x="335361" y="2359055"/>
            <a:ext cx="6586188" cy="41837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lnSpc>
                <a:spcPct val="120000"/>
              </a:lnSpc>
            </a:pPr>
            <a:r>
              <a:rPr lang="zh-CN" altLang="en-US" sz="2800" i="0" dirty="0">
                <a:latin typeface="+mn-lt"/>
                <a:ea typeface="微软雅黑" panose="020B0503020204020204" pitchFamily="34" charset="-122"/>
              </a:rPr>
              <a:t>用剪床剪钢柱时，</a:t>
            </a:r>
            <a:r>
              <a:rPr lang="zh-CN" altLang="en-US" sz="2800" i="0" dirty="0">
                <a:ea typeface="微软雅黑" panose="020B0503020204020204" pitchFamily="34" charset="-122"/>
              </a:rPr>
              <a:t>钢柱</a:t>
            </a:r>
            <a:r>
              <a:rPr lang="zh-CN" altLang="en-US" sz="2800" i="0" dirty="0">
                <a:latin typeface="+mn-lt"/>
                <a:ea typeface="微软雅黑" panose="020B0503020204020204" pitchFamily="34" charset="-122"/>
              </a:rPr>
              <a:t>在上下刀刃的作用下沿</a:t>
            </a:r>
            <a:r>
              <a:rPr lang="en-US" altLang="zh-CN" sz="2800" b="0" dirty="0">
                <a:latin typeface="+mj-lt"/>
                <a:ea typeface="微软雅黑" panose="020B0503020204020204" pitchFamily="34" charset="-122"/>
              </a:rPr>
              <a:t>m-m</a:t>
            </a:r>
            <a:r>
              <a:rPr lang="zh-CN" altLang="en-US" sz="2800" i="0" dirty="0">
                <a:latin typeface="+mn-lt"/>
                <a:ea typeface="微软雅黑" panose="020B0503020204020204" pitchFamily="34" charset="-122"/>
              </a:rPr>
              <a:t>截面发生相对错动，直至被切断。其受力特点是：构件受</a:t>
            </a:r>
            <a:r>
              <a:rPr lang="zh-CN" altLang="en-US" sz="2800" i="0" dirty="0">
                <a:solidFill>
                  <a:srgbClr val="FF00FF"/>
                </a:solidFill>
                <a:latin typeface="+mn-lt"/>
                <a:ea typeface="微软雅黑" panose="020B0503020204020204" pitchFamily="34" charset="-122"/>
              </a:rPr>
              <a:t>一对大小相等</a:t>
            </a:r>
            <a:r>
              <a:rPr lang="zh-CN" altLang="en-US" sz="2800" i="0" dirty="0">
                <a:latin typeface="+mn-lt"/>
                <a:ea typeface="微软雅黑" panose="020B0503020204020204" pitchFamily="34" charset="-122"/>
              </a:rPr>
              <a:t>，</a:t>
            </a:r>
            <a:r>
              <a:rPr lang="zh-CN" altLang="en-US" sz="2800" i="0" dirty="0">
                <a:solidFill>
                  <a:srgbClr val="FF00FF"/>
                </a:solidFill>
                <a:latin typeface="+mn-lt"/>
                <a:ea typeface="微软雅黑" panose="020B0503020204020204" pitchFamily="34" charset="-122"/>
              </a:rPr>
              <a:t>方向相反</a:t>
            </a:r>
            <a:r>
              <a:rPr lang="zh-CN" altLang="en-US" sz="2800" i="0" dirty="0">
                <a:latin typeface="+mn-lt"/>
                <a:ea typeface="微软雅黑" panose="020B0503020204020204" pitchFamily="34" charset="-122"/>
              </a:rPr>
              <a:t>，</a:t>
            </a:r>
            <a:r>
              <a:rPr lang="zh-CN" altLang="en-US" sz="2800" i="0" dirty="0">
                <a:solidFill>
                  <a:srgbClr val="FF00FF"/>
                </a:solidFill>
                <a:latin typeface="+mn-lt"/>
                <a:ea typeface="微软雅黑" panose="020B0503020204020204" pitchFamily="34" charset="-122"/>
              </a:rPr>
              <a:t>作用线平行且相距很近</a:t>
            </a:r>
            <a:r>
              <a:rPr lang="zh-CN" altLang="en-US" sz="2800" i="0" dirty="0">
                <a:latin typeface="+mn-lt"/>
                <a:ea typeface="微软雅黑" panose="020B0503020204020204" pitchFamily="34" charset="-122"/>
              </a:rPr>
              <a:t>的外力作用。这时构件沿两个力作用线之间的截面发生相对错动。变形称为</a:t>
            </a:r>
            <a:r>
              <a:rPr lang="zh-CN" altLang="en-US" sz="2800" i="0" dirty="0">
                <a:solidFill>
                  <a:srgbClr val="FF00FF"/>
                </a:solidFill>
                <a:latin typeface="+mn-lt"/>
                <a:ea typeface="微软雅黑" panose="020B0503020204020204" pitchFamily="34" charset="-122"/>
              </a:rPr>
              <a:t>剪切变形</a:t>
            </a:r>
            <a:r>
              <a:rPr lang="zh-CN" altLang="en-US" sz="2800" i="0" dirty="0">
                <a:latin typeface="+mn-lt"/>
                <a:ea typeface="微软雅黑" panose="020B0503020204020204" pitchFamily="34" charset="-122"/>
              </a:rPr>
              <a:t>，发生错动的面称为</a:t>
            </a:r>
            <a:r>
              <a:rPr lang="zh-CN" altLang="en-US" sz="2800" i="0" dirty="0">
                <a:solidFill>
                  <a:srgbClr val="FF00FF"/>
                </a:solidFill>
                <a:latin typeface="+mn-lt"/>
                <a:ea typeface="微软雅黑" panose="020B0503020204020204" pitchFamily="34" charset="-122"/>
              </a:rPr>
              <a:t>剪切面</a:t>
            </a:r>
            <a:r>
              <a:rPr lang="zh-CN" altLang="en-US" sz="2800" i="0" dirty="0">
                <a:latin typeface="+mn-lt"/>
                <a:ea typeface="微软雅黑" panose="020B0503020204020204" pitchFamily="34" charset="-122"/>
              </a:rPr>
              <a:t>。</a:t>
            </a:r>
          </a:p>
          <a:p>
            <a:pPr algn="just">
              <a:lnSpc>
                <a:spcPct val="120000"/>
              </a:lnSpc>
            </a:pPr>
            <a:endParaRPr lang="zh-CN" altLang="en-US" sz="2800" i="0" dirty="0">
              <a:latin typeface="+mn-lt"/>
              <a:ea typeface="微软雅黑" panose="020B0503020204020204" pitchFamily="34" charset="-122"/>
            </a:endParaRPr>
          </a:p>
        </p:txBody>
      </p:sp>
      <p:sp>
        <p:nvSpPr>
          <p:cNvPr id="10" name="Rectangle 61">
            <a:extLst>
              <a:ext uri="{FF2B5EF4-FFF2-40B4-BE49-F238E27FC236}">
                <a16:creationId xmlns:a16="http://schemas.microsoft.com/office/drawing/2014/main" id="{A7BABA33-6C6E-5172-113C-D7F1D8E457C6}"/>
              </a:ext>
            </a:extLst>
          </p:cNvPr>
          <p:cNvSpPr>
            <a:spLocks noChangeArrowheads="1"/>
          </p:cNvSpPr>
          <p:nvPr/>
        </p:nvSpPr>
        <p:spPr bwMode="auto">
          <a:xfrm>
            <a:off x="7104112" y="2119389"/>
            <a:ext cx="4752526" cy="3901899"/>
          </a:xfrm>
          <a:prstGeom prst="rect">
            <a:avLst/>
          </a:prstGeom>
          <a:solidFill>
            <a:srgbClr val="B9CDE5"/>
          </a:solidFill>
          <a:ln>
            <a:noFill/>
          </a:ln>
          <a:effectLst/>
        </p:spPr>
        <p:txBody>
          <a:bodyPr wrap="none" anchor="ctr"/>
          <a:lstStyle/>
          <a:p>
            <a:endParaRPr lang="zh-CN" altLang="en-US" dirty="0"/>
          </a:p>
        </p:txBody>
      </p:sp>
      <p:sp>
        <p:nvSpPr>
          <p:cNvPr id="16" name="AutoShape 12">
            <a:extLst>
              <a:ext uri="{FF2B5EF4-FFF2-40B4-BE49-F238E27FC236}">
                <a16:creationId xmlns:a16="http://schemas.microsoft.com/office/drawing/2014/main" id="{E5C633D9-9FFB-CE0B-66E6-3680119E4954}"/>
              </a:ext>
            </a:extLst>
          </p:cNvPr>
          <p:cNvSpPr>
            <a:spLocks noChangeArrowheads="1"/>
          </p:cNvSpPr>
          <p:nvPr/>
        </p:nvSpPr>
        <p:spPr bwMode="auto">
          <a:xfrm rot="16200000">
            <a:off x="9251081" y="1933387"/>
            <a:ext cx="447675" cy="2514600"/>
          </a:xfrm>
          <a:prstGeom prst="can">
            <a:avLst>
              <a:gd name="adj" fmla="val 61709"/>
            </a:avLst>
          </a:prstGeom>
          <a:gradFill rotWithShape="0">
            <a:gsLst>
              <a:gs pos="0">
                <a:srgbClr val="969696"/>
              </a:gs>
              <a:gs pos="50000">
                <a:srgbClr val="454545"/>
              </a:gs>
              <a:gs pos="100000">
                <a:srgbClr val="969696"/>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anchor="ctr">
            <a:spAutoFit/>
          </a:bodyPr>
          <a:lstStyle/>
          <a:p>
            <a:pPr eaLnBrk="1" hangingPunct="1">
              <a:buFontTx/>
              <a:buChar char="•"/>
            </a:pPr>
            <a:endParaRPr lang="zh-CN" altLang="en-US"/>
          </a:p>
        </p:txBody>
      </p:sp>
      <p:grpSp>
        <p:nvGrpSpPr>
          <p:cNvPr id="17" name="Group 13">
            <a:extLst>
              <a:ext uri="{FF2B5EF4-FFF2-40B4-BE49-F238E27FC236}">
                <a16:creationId xmlns:a16="http://schemas.microsoft.com/office/drawing/2014/main" id="{089FDEB9-7C75-718F-D5A9-D73EBE090651}"/>
              </a:ext>
            </a:extLst>
          </p:cNvPr>
          <p:cNvGrpSpPr>
            <a:grpSpLocks/>
          </p:cNvGrpSpPr>
          <p:nvPr/>
        </p:nvGrpSpPr>
        <p:grpSpPr bwMode="auto">
          <a:xfrm>
            <a:off x="8096969" y="2433449"/>
            <a:ext cx="2887662" cy="1658938"/>
            <a:chOff x="311" y="321"/>
            <a:chExt cx="1819" cy="1045"/>
          </a:xfrm>
        </p:grpSpPr>
        <p:sp>
          <p:nvSpPr>
            <p:cNvPr id="18" name="Freeform 14">
              <a:extLst>
                <a:ext uri="{FF2B5EF4-FFF2-40B4-BE49-F238E27FC236}">
                  <a16:creationId xmlns:a16="http://schemas.microsoft.com/office/drawing/2014/main" id="{92C90E91-CA98-2179-723D-51A806FF24AC}"/>
                </a:ext>
              </a:extLst>
            </p:cNvPr>
            <p:cNvSpPr>
              <a:spLocks noChangeAspect="1"/>
            </p:cNvSpPr>
            <p:nvPr/>
          </p:nvSpPr>
          <p:spPr bwMode="auto">
            <a:xfrm flipH="1" flipV="1">
              <a:off x="1192" y="334"/>
              <a:ext cx="162" cy="312"/>
            </a:xfrm>
            <a:custGeom>
              <a:avLst/>
              <a:gdLst>
                <a:gd name="T0" fmla="*/ 0 w 180"/>
                <a:gd name="T1" fmla="*/ 225 h 360"/>
                <a:gd name="T2" fmla="*/ 0 w 180"/>
                <a:gd name="T3" fmla="*/ 69 h 360"/>
                <a:gd name="T4" fmla="*/ 131 w 180"/>
                <a:gd name="T5" fmla="*/ 0 h 360"/>
                <a:gd name="T6" fmla="*/ 131 w 180"/>
                <a:gd name="T7" fmla="*/ 234 h 360"/>
                <a:gd name="T8" fmla="*/ 0 60000 65536"/>
                <a:gd name="T9" fmla="*/ 0 60000 65536"/>
                <a:gd name="T10" fmla="*/ 0 60000 65536"/>
                <a:gd name="T11" fmla="*/ 0 60000 65536"/>
                <a:gd name="T12" fmla="*/ 0 w 180"/>
                <a:gd name="T13" fmla="*/ 0 h 360"/>
                <a:gd name="T14" fmla="*/ 180 w 180"/>
                <a:gd name="T15" fmla="*/ 360 h 360"/>
              </a:gdLst>
              <a:ahLst/>
              <a:cxnLst>
                <a:cxn ang="T8">
                  <a:pos x="T0" y="T1"/>
                </a:cxn>
                <a:cxn ang="T9">
                  <a:pos x="T2" y="T3"/>
                </a:cxn>
                <a:cxn ang="T10">
                  <a:pos x="T4" y="T5"/>
                </a:cxn>
                <a:cxn ang="T11">
                  <a:pos x="T6" y="T7"/>
                </a:cxn>
              </a:cxnLst>
              <a:rect l="T12" t="T13" r="T14" b="T15"/>
              <a:pathLst>
                <a:path w="180" h="360">
                  <a:moveTo>
                    <a:pt x="0" y="346"/>
                  </a:moveTo>
                  <a:lnTo>
                    <a:pt x="0" y="106"/>
                  </a:lnTo>
                  <a:lnTo>
                    <a:pt x="180" y="0"/>
                  </a:lnTo>
                  <a:lnTo>
                    <a:pt x="180" y="360"/>
                  </a:lnTo>
                </a:path>
              </a:pathLst>
            </a:custGeom>
            <a:solidFill>
              <a:srgbClr val="C7E1D8"/>
            </a:solidFill>
            <a:ln w="28575">
              <a:solidFill>
                <a:srgbClr val="000000"/>
              </a:solidFill>
              <a:round/>
              <a:headEnd/>
              <a:tailEnd/>
            </a:ln>
          </p:spPr>
          <p:txBody>
            <a:bodyPr/>
            <a:lstStyle/>
            <a:p>
              <a:endParaRPr lang="zh-CN" altLang="en-US"/>
            </a:p>
          </p:txBody>
        </p:sp>
        <p:sp>
          <p:nvSpPr>
            <p:cNvPr id="19" name="Text Box 15">
              <a:extLst>
                <a:ext uri="{FF2B5EF4-FFF2-40B4-BE49-F238E27FC236}">
                  <a16:creationId xmlns:a16="http://schemas.microsoft.com/office/drawing/2014/main" id="{F55A22F8-534E-5607-A173-69A39C480DFC}"/>
                </a:ext>
              </a:extLst>
            </p:cNvPr>
            <p:cNvSpPr txBox="1">
              <a:spLocks noChangeAspect="1" noChangeArrowheads="1"/>
            </p:cNvSpPr>
            <p:nvPr/>
          </p:nvSpPr>
          <p:spPr bwMode="auto">
            <a:xfrm>
              <a:off x="1324" y="321"/>
              <a:ext cx="80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lstStyle>
              <a:lvl1pPr>
                <a:defRPr sz="2000">
                  <a:solidFill>
                    <a:schemeClr val="tx1"/>
                  </a:solidFill>
                  <a:latin typeface="Times New Roman" pitchFamily="18" charset="0"/>
                  <a:ea typeface="宋体" pitchFamily="2" charset="-122"/>
                </a:defRPr>
              </a:lvl1pPr>
              <a:lvl2pPr>
                <a:defRPr sz="2000">
                  <a:solidFill>
                    <a:schemeClr val="tx1"/>
                  </a:solidFill>
                  <a:latin typeface="Times New Roman" pitchFamily="18" charset="0"/>
                  <a:ea typeface="宋体" pitchFamily="2" charset="-122"/>
                </a:defRPr>
              </a:lvl2pPr>
              <a:lvl3pPr>
                <a:defRPr sz="2000">
                  <a:solidFill>
                    <a:schemeClr val="tx1"/>
                  </a:solidFill>
                  <a:latin typeface="Times New Roman" pitchFamily="18" charset="0"/>
                  <a:ea typeface="宋体" pitchFamily="2" charset="-122"/>
                </a:defRPr>
              </a:lvl3pPr>
              <a:lvl4pPr>
                <a:defRPr sz="2000">
                  <a:solidFill>
                    <a:schemeClr val="tx1"/>
                  </a:solidFill>
                  <a:latin typeface="Times New Roman" pitchFamily="18" charset="0"/>
                  <a:ea typeface="宋体" pitchFamily="2" charset="-122"/>
                </a:defRPr>
              </a:lvl4pPr>
              <a:lvl5pPr>
                <a:defRPr sz="2000">
                  <a:solidFill>
                    <a:schemeClr val="tx1"/>
                  </a:solidFill>
                  <a:latin typeface="Times New Roman" pitchFamily="18" charset="0"/>
                  <a:ea typeface="宋体" pitchFamily="2" charset="-122"/>
                </a:defRPr>
              </a:lvl5pPr>
              <a:lvl6pPr eaLnBrk="0" hangingPunct="0">
                <a:defRPr sz="2000">
                  <a:solidFill>
                    <a:schemeClr val="tx1"/>
                  </a:solidFill>
                  <a:latin typeface="Times New Roman" pitchFamily="18" charset="0"/>
                  <a:ea typeface="宋体" pitchFamily="2" charset="-122"/>
                </a:defRPr>
              </a:lvl6pPr>
              <a:lvl7pPr eaLnBrk="0" hangingPunct="0">
                <a:defRPr sz="2000">
                  <a:solidFill>
                    <a:schemeClr val="tx1"/>
                  </a:solidFill>
                  <a:latin typeface="Times New Roman" pitchFamily="18" charset="0"/>
                  <a:ea typeface="宋体" pitchFamily="2" charset="-122"/>
                </a:defRPr>
              </a:lvl7pPr>
              <a:lvl8pPr eaLnBrk="0" hangingPunct="0">
                <a:defRPr sz="2000">
                  <a:solidFill>
                    <a:schemeClr val="tx1"/>
                  </a:solidFill>
                  <a:latin typeface="Times New Roman" pitchFamily="18" charset="0"/>
                  <a:ea typeface="宋体" pitchFamily="2" charset="-122"/>
                </a:defRPr>
              </a:lvl8pPr>
              <a:lvl9pPr eaLnBrk="0" hangingPunct="0">
                <a:defRPr sz="2000">
                  <a:solidFill>
                    <a:schemeClr val="tx1"/>
                  </a:solidFill>
                  <a:latin typeface="Times New Roman" pitchFamily="18" charset="0"/>
                  <a:ea typeface="宋体" pitchFamily="2" charset="-122"/>
                </a:defRPr>
              </a:lvl9pPr>
            </a:lstStyle>
            <a:p>
              <a:pPr algn="just"/>
              <a:r>
                <a:rPr lang="zh-CN" altLang="en-US" sz="2400" i="0" dirty="0">
                  <a:latin typeface="黑体" panose="02010609060101010101" pitchFamily="49" charset="-122"/>
                  <a:ea typeface="黑体" panose="02010609060101010101" pitchFamily="49" charset="-122"/>
                </a:rPr>
                <a:t>上刀刃</a:t>
              </a:r>
            </a:p>
          </p:txBody>
        </p:sp>
        <p:sp>
          <p:nvSpPr>
            <p:cNvPr id="20" name="Text Box 16">
              <a:extLst>
                <a:ext uri="{FF2B5EF4-FFF2-40B4-BE49-F238E27FC236}">
                  <a16:creationId xmlns:a16="http://schemas.microsoft.com/office/drawing/2014/main" id="{72320E0C-114F-0CBB-6108-9B18DF803AB7}"/>
                </a:ext>
              </a:extLst>
            </p:cNvPr>
            <p:cNvSpPr txBox="1">
              <a:spLocks noChangeAspect="1" noChangeArrowheads="1"/>
            </p:cNvSpPr>
            <p:nvPr/>
          </p:nvSpPr>
          <p:spPr bwMode="auto">
            <a:xfrm>
              <a:off x="311" y="982"/>
              <a:ext cx="805"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lstStyle>
              <a:lvl1pPr>
                <a:defRPr sz="2000">
                  <a:solidFill>
                    <a:schemeClr val="tx1"/>
                  </a:solidFill>
                  <a:latin typeface="Times New Roman" pitchFamily="18" charset="0"/>
                  <a:ea typeface="宋体" pitchFamily="2" charset="-122"/>
                </a:defRPr>
              </a:lvl1pPr>
              <a:lvl2pPr>
                <a:defRPr sz="2000">
                  <a:solidFill>
                    <a:schemeClr val="tx1"/>
                  </a:solidFill>
                  <a:latin typeface="Times New Roman" pitchFamily="18" charset="0"/>
                  <a:ea typeface="宋体" pitchFamily="2" charset="-122"/>
                </a:defRPr>
              </a:lvl2pPr>
              <a:lvl3pPr>
                <a:defRPr sz="2000">
                  <a:solidFill>
                    <a:schemeClr val="tx1"/>
                  </a:solidFill>
                  <a:latin typeface="Times New Roman" pitchFamily="18" charset="0"/>
                  <a:ea typeface="宋体" pitchFamily="2" charset="-122"/>
                </a:defRPr>
              </a:lvl3pPr>
              <a:lvl4pPr>
                <a:defRPr sz="2000">
                  <a:solidFill>
                    <a:schemeClr val="tx1"/>
                  </a:solidFill>
                  <a:latin typeface="Times New Roman" pitchFamily="18" charset="0"/>
                  <a:ea typeface="宋体" pitchFamily="2" charset="-122"/>
                </a:defRPr>
              </a:lvl4pPr>
              <a:lvl5pPr>
                <a:defRPr sz="2000">
                  <a:solidFill>
                    <a:schemeClr val="tx1"/>
                  </a:solidFill>
                  <a:latin typeface="Times New Roman" pitchFamily="18" charset="0"/>
                  <a:ea typeface="宋体" pitchFamily="2" charset="-122"/>
                </a:defRPr>
              </a:lvl5pPr>
              <a:lvl6pPr eaLnBrk="0" hangingPunct="0">
                <a:defRPr sz="2000">
                  <a:solidFill>
                    <a:schemeClr val="tx1"/>
                  </a:solidFill>
                  <a:latin typeface="Times New Roman" pitchFamily="18" charset="0"/>
                  <a:ea typeface="宋体" pitchFamily="2" charset="-122"/>
                </a:defRPr>
              </a:lvl6pPr>
              <a:lvl7pPr eaLnBrk="0" hangingPunct="0">
                <a:defRPr sz="2000">
                  <a:solidFill>
                    <a:schemeClr val="tx1"/>
                  </a:solidFill>
                  <a:latin typeface="Times New Roman" pitchFamily="18" charset="0"/>
                  <a:ea typeface="宋体" pitchFamily="2" charset="-122"/>
                </a:defRPr>
              </a:lvl7pPr>
              <a:lvl8pPr eaLnBrk="0" hangingPunct="0">
                <a:defRPr sz="2000">
                  <a:solidFill>
                    <a:schemeClr val="tx1"/>
                  </a:solidFill>
                  <a:latin typeface="Times New Roman" pitchFamily="18" charset="0"/>
                  <a:ea typeface="宋体" pitchFamily="2" charset="-122"/>
                </a:defRPr>
              </a:lvl8pPr>
              <a:lvl9pPr eaLnBrk="0" hangingPunct="0">
                <a:defRPr sz="2000">
                  <a:solidFill>
                    <a:schemeClr val="tx1"/>
                  </a:solidFill>
                  <a:latin typeface="Times New Roman" pitchFamily="18" charset="0"/>
                  <a:ea typeface="宋体" pitchFamily="2" charset="-122"/>
                </a:defRPr>
              </a:lvl9pPr>
            </a:lstStyle>
            <a:p>
              <a:pPr algn="just"/>
              <a:r>
                <a:rPr lang="zh-CN" altLang="en-US" sz="2400" i="0" dirty="0">
                  <a:latin typeface="黑体" panose="02010609060101010101" pitchFamily="49" charset="-122"/>
                  <a:ea typeface="黑体" panose="02010609060101010101" pitchFamily="49" charset="-122"/>
                </a:rPr>
                <a:t>下刀刃</a:t>
              </a:r>
            </a:p>
          </p:txBody>
        </p:sp>
        <p:sp>
          <p:nvSpPr>
            <p:cNvPr id="21" name="Freeform 17">
              <a:extLst>
                <a:ext uri="{FF2B5EF4-FFF2-40B4-BE49-F238E27FC236}">
                  <a16:creationId xmlns:a16="http://schemas.microsoft.com/office/drawing/2014/main" id="{54E1A50B-B04F-70DF-F136-8C3B9F2CFA38}"/>
                </a:ext>
              </a:extLst>
            </p:cNvPr>
            <p:cNvSpPr>
              <a:spLocks noChangeAspect="1"/>
            </p:cNvSpPr>
            <p:nvPr/>
          </p:nvSpPr>
          <p:spPr bwMode="auto">
            <a:xfrm>
              <a:off x="1006" y="922"/>
              <a:ext cx="162" cy="312"/>
            </a:xfrm>
            <a:custGeom>
              <a:avLst/>
              <a:gdLst>
                <a:gd name="T0" fmla="*/ 0 w 180"/>
                <a:gd name="T1" fmla="*/ 225 h 360"/>
                <a:gd name="T2" fmla="*/ 0 w 180"/>
                <a:gd name="T3" fmla="*/ 69 h 360"/>
                <a:gd name="T4" fmla="*/ 131 w 180"/>
                <a:gd name="T5" fmla="*/ 0 h 360"/>
                <a:gd name="T6" fmla="*/ 131 w 180"/>
                <a:gd name="T7" fmla="*/ 234 h 360"/>
                <a:gd name="T8" fmla="*/ 0 60000 65536"/>
                <a:gd name="T9" fmla="*/ 0 60000 65536"/>
                <a:gd name="T10" fmla="*/ 0 60000 65536"/>
                <a:gd name="T11" fmla="*/ 0 60000 65536"/>
                <a:gd name="T12" fmla="*/ 0 w 180"/>
                <a:gd name="T13" fmla="*/ 0 h 360"/>
                <a:gd name="T14" fmla="*/ 180 w 180"/>
                <a:gd name="T15" fmla="*/ 360 h 360"/>
              </a:gdLst>
              <a:ahLst/>
              <a:cxnLst>
                <a:cxn ang="T8">
                  <a:pos x="T0" y="T1"/>
                </a:cxn>
                <a:cxn ang="T9">
                  <a:pos x="T2" y="T3"/>
                </a:cxn>
                <a:cxn ang="T10">
                  <a:pos x="T4" y="T5"/>
                </a:cxn>
                <a:cxn ang="T11">
                  <a:pos x="T6" y="T7"/>
                </a:cxn>
              </a:cxnLst>
              <a:rect l="T12" t="T13" r="T14" b="T15"/>
              <a:pathLst>
                <a:path w="180" h="360">
                  <a:moveTo>
                    <a:pt x="0" y="346"/>
                  </a:moveTo>
                  <a:lnTo>
                    <a:pt x="0" y="106"/>
                  </a:lnTo>
                  <a:lnTo>
                    <a:pt x="180" y="0"/>
                  </a:lnTo>
                  <a:lnTo>
                    <a:pt x="180" y="360"/>
                  </a:lnTo>
                </a:path>
              </a:pathLst>
            </a:custGeom>
            <a:solidFill>
              <a:srgbClr val="C7E1D8"/>
            </a:solidFill>
            <a:ln w="28575">
              <a:solidFill>
                <a:srgbClr val="000000"/>
              </a:solidFill>
              <a:round/>
              <a:headEnd/>
              <a:tailEnd/>
            </a:ln>
          </p:spPr>
          <p:txBody>
            <a:bodyPr/>
            <a:lstStyle/>
            <a:p>
              <a:endParaRPr lang="zh-CN" altLang="en-US"/>
            </a:p>
          </p:txBody>
        </p:sp>
      </p:grpSp>
      <p:grpSp>
        <p:nvGrpSpPr>
          <p:cNvPr id="22" name="Group 18">
            <a:extLst>
              <a:ext uri="{FF2B5EF4-FFF2-40B4-BE49-F238E27FC236}">
                <a16:creationId xmlns:a16="http://schemas.microsoft.com/office/drawing/2014/main" id="{A21914E6-522D-FB08-8614-E626DC0E4A02}"/>
              </a:ext>
            </a:extLst>
          </p:cNvPr>
          <p:cNvGrpSpPr>
            <a:grpSpLocks/>
          </p:cNvGrpSpPr>
          <p:nvPr/>
        </p:nvGrpSpPr>
        <p:grpSpPr bwMode="auto">
          <a:xfrm>
            <a:off x="9190756" y="2636649"/>
            <a:ext cx="1020763" cy="1392238"/>
            <a:chOff x="1000" y="449"/>
            <a:chExt cx="643" cy="877"/>
          </a:xfrm>
        </p:grpSpPr>
        <p:sp>
          <p:nvSpPr>
            <p:cNvPr id="23" name="Text Box 19">
              <a:extLst>
                <a:ext uri="{FF2B5EF4-FFF2-40B4-BE49-F238E27FC236}">
                  <a16:creationId xmlns:a16="http://schemas.microsoft.com/office/drawing/2014/main" id="{EAFEEC46-A0C0-003F-A623-518C447B4B3A}"/>
                </a:ext>
              </a:extLst>
            </p:cNvPr>
            <p:cNvSpPr txBox="1">
              <a:spLocks noChangeAspect="1" noChangeArrowheads="1"/>
            </p:cNvSpPr>
            <p:nvPr/>
          </p:nvSpPr>
          <p:spPr bwMode="auto">
            <a:xfrm>
              <a:off x="1000" y="449"/>
              <a:ext cx="469" cy="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lstStyle>
              <a:lvl1pPr>
                <a:defRPr sz="2000">
                  <a:solidFill>
                    <a:schemeClr val="tx1"/>
                  </a:solidFill>
                  <a:latin typeface="Times New Roman" pitchFamily="18" charset="0"/>
                  <a:ea typeface="宋体" pitchFamily="2" charset="-122"/>
                </a:defRPr>
              </a:lvl1pPr>
              <a:lvl2pPr>
                <a:defRPr sz="2000">
                  <a:solidFill>
                    <a:schemeClr val="tx1"/>
                  </a:solidFill>
                  <a:latin typeface="Times New Roman" pitchFamily="18" charset="0"/>
                  <a:ea typeface="宋体" pitchFamily="2" charset="-122"/>
                </a:defRPr>
              </a:lvl2pPr>
              <a:lvl3pPr>
                <a:defRPr sz="2000">
                  <a:solidFill>
                    <a:schemeClr val="tx1"/>
                  </a:solidFill>
                  <a:latin typeface="Times New Roman" pitchFamily="18" charset="0"/>
                  <a:ea typeface="宋体" pitchFamily="2" charset="-122"/>
                </a:defRPr>
              </a:lvl3pPr>
              <a:lvl4pPr>
                <a:defRPr sz="2000">
                  <a:solidFill>
                    <a:schemeClr val="tx1"/>
                  </a:solidFill>
                  <a:latin typeface="Times New Roman" pitchFamily="18" charset="0"/>
                  <a:ea typeface="宋体" pitchFamily="2" charset="-122"/>
                </a:defRPr>
              </a:lvl4pPr>
              <a:lvl5pPr>
                <a:defRPr sz="2000">
                  <a:solidFill>
                    <a:schemeClr val="tx1"/>
                  </a:solidFill>
                  <a:latin typeface="Times New Roman" pitchFamily="18" charset="0"/>
                  <a:ea typeface="宋体" pitchFamily="2" charset="-122"/>
                </a:defRPr>
              </a:lvl5pPr>
              <a:lvl6pPr eaLnBrk="0" hangingPunct="0">
                <a:defRPr sz="2000">
                  <a:solidFill>
                    <a:schemeClr val="tx1"/>
                  </a:solidFill>
                  <a:latin typeface="Times New Roman" pitchFamily="18" charset="0"/>
                  <a:ea typeface="宋体" pitchFamily="2" charset="-122"/>
                </a:defRPr>
              </a:lvl6pPr>
              <a:lvl7pPr eaLnBrk="0" hangingPunct="0">
                <a:defRPr sz="2000">
                  <a:solidFill>
                    <a:schemeClr val="tx1"/>
                  </a:solidFill>
                  <a:latin typeface="Times New Roman" pitchFamily="18" charset="0"/>
                  <a:ea typeface="宋体" pitchFamily="2" charset="-122"/>
                </a:defRPr>
              </a:lvl7pPr>
              <a:lvl8pPr eaLnBrk="0" hangingPunct="0">
                <a:defRPr sz="2000">
                  <a:solidFill>
                    <a:schemeClr val="tx1"/>
                  </a:solidFill>
                  <a:latin typeface="Times New Roman" pitchFamily="18" charset="0"/>
                  <a:ea typeface="宋体" pitchFamily="2" charset="-122"/>
                </a:defRPr>
              </a:lvl8pPr>
              <a:lvl9pPr eaLnBrk="0" hangingPunct="0">
                <a:defRPr sz="2000">
                  <a:solidFill>
                    <a:schemeClr val="tx1"/>
                  </a:solidFill>
                  <a:latin typeface="Times New Roman" pitchFamily="18" charset="0"/>
                  <a:ea typeface="宋体" pitchFamily="2" charset="-122"/>
                </a:defRPr>
              </a:lvl9pPr>
            </a:lstStyle>
            <a:p>
              <a:pPr algn="just"/>
              <a:r>
                <a:rPr kumimoji="1" lang="en-US" altLang="zh-CN" dirty="0">
                  <a:solidFill>
                    <a:srgbClr val="FF5050"/>
                  </a:solidFill>
                </a:rPr>
                <a:t>m</a:t>
              </a:r>
            </a:p>
          </p:txBody>
        </p:sp>
        <p:sp>
          <p:nvSpPr>
            <p:cNvPr id="24" name="Text Box 20">
              <a:extLst>
                <a:ext uri="{FF2B5EF4-FFF2-40B4-BE49-F238E27FC236}">
                  <a16:creationId xmlns:a16="http://schemas.microsoft.com/office/drawing/2014/main" id="{2C43C20E-EAB9-9C76-06EB-B5A4D2BC212D}"/>
                </a:ext>
              </a:extLst>
            </p:cNvPr>
            <p:cNvSpPr txBox="1">
              <a:spLocks noChangeAspect="1" noChangeArrowheads="1"/>
            </p:cNvSpPr>
            <p:nvPr/>
          </p:nvSpPr>
          <p:spPr bwMode="auto">
            <a:xfrm>
              <a:off x="1174" y="857"/>
              <a:ext cx="469" cy="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lstStyle>
              <a:lvl1pPr>
                <a:defRPr sz="2000">
                  <a:solidFill>
                    <a:schemeClr val="tx1"/>
                  </a:solidFill>
                  <a:latin typeface="Times New Roman" pitchFamily="18" charset="0"/>
                  <a:ea typeface="宋体" pitchFamily="2" charset="-122"/>
                </a:defRPr>
              </a:lvl1pPr>
              <a:lvl2pPr>
                <a:defRPr sz="2000">
                  <a:solidFill>
                    <a:schemeClr val="tx1"/>
                  </a:solidFill>
                  <a:latin typeface="Times New Roman" pitchFamily="18" charset="0"/>
                  <a:ea typeface="宋体" pitchFamily="2" charset="-122"/>
                </a:defRPr>
              </a:lvl2pPr>
              <a:lvl3pPr>
                <a:defRPr sz="2000">
                  <a:solidFill>
                    <a:schemeClr val="tx1"/>
                  </a:solidFill>
                  <a:latin typeface="Times New Roman" pitchFamily="18" charset="0"/>
                  <a:ea typeface="宋体" pitchFamily="2" charset="-122"/>
                </a:defRPr>
              </a:lvl3pPr>
              <a:lvl4pPr>
                <a:defRPr sz="2000">
                  <a:solidFill>
                    <a:schemeClr val="tx1"/>
                  </a:solidFill>
                  <a:latin typeface="Times New Roman" pitchFamily="18" charset="0"/>
                  <a:ea typeface="宋体" pitchFamily="2" charset="-122"/>
                </a:defRPr>
              </a:lvl4pPr>
              <a:lvl5pPr>
                <a:defRPr sz="2000">
                  <a:solidFill>
                    <a:schemeClr val="tx1"/>
                  </a:solidFill>
                  <a:latin typeface="Times New Roman" pitchFamily="18" charset="0"/>
                  <a:ea typeface="宋体" pitchFamily="2" charset="-122"/>
                </a:defRPr>
              </a:lvl5pPr>
              <a:lvl6pPr eaLnBrk="0" hangingPunct="0">
                <a:defRPr sz="2000">
                  <a:solidFill>
                    <a:schemeClr val="tx1"/>
                  </a:solidFill>
                  <a:latin typeface="Times New Roman" pitchFamily="18" charset="0"/>
                  <a:ea typeface="宋体" pitchFamily="2" charset="-122"/>
                </a:defRPr>
              </a:lvl6pPr>
              <a:lvl7pPr eaLnBrk="0" hangingPunct="0">
                <a:defRPr sz="2000">
                  <a:solidFill>
                    <a:schemeClr val="tx1"/>
                  </a:solidFill>
                  <a:latin typeface="Times New Roman" pitchFamily="18" charset="0"/>
                  <a:ea typeface="宋体" pitchFamily="2" charset="-122"/>
                </a:defRPr>
              </a:lvl7pPr>
              <a:lvl8pPr eaLnBrk="0" hangingPunct="0">
                <a:defRPr sz="2000">
                  <a:solidFill>
                    <a:schemeClr val="tx1"/>
                  </a:solidFill>
                  <a:latin typeface="Times New Roman" pitchFamily="18" charset="0"/>
                  <a:ea typeface="宋体" pitchFamily="2" charset="-122"/>
                </a:defRPr>
              </a:lvl8pPr>
              <a:lvl9pPr eaLnBrk="0" hangingPunct="0">
                <a:defRPr sz="2000">
                  <a:solidFill>
                    <a:schemeClr val="tx1"/>
                  </a:solidFill>
                  <a:latin typeface="Times New Roman" pitchFamily="18" charset="0"/>
                  <a:ea typeface="宋体" pitchFamily="2" charset="-122"/>
                </a:defRPr>
              </a:lvl9pPr>
            </a:lstStyle>
            <a:p>
              <a:pPr algn="just"/>
              <a:r>
                <a:rPr kumimoji="1" lang="en-US" altLang="zh-CN" dirty="0">
                  <a:solidFill>
                    <a:srgbClr val="FF5050"/>
                  </a:solidFill>
                </a:rPr>
                <a:t>m</a:t>
              </a:r>
            </a:p>
          </p:txBody>
        </p:sp>
        <p:sp>
          <p:nvSpPr>
            <p:cNvPr id="25" name="Line 21">
              <a:extLst>
                <a:ext uri="{FF2B5EF4-FFF2-40B4-BE49-F238E27FC236}">
                  <a16:creationId xmlns:a16="http://schemas.microsoft.com/office/drawing/2014/main" id="{F8494963-DEF7-7E25-D76C-DF44F680A319}"/>
                </a:ext>
              </a:extLst>
            </p:cNvPr>
            <p:cNvSpPr>
              <a:spLocks noChangeShapeType="1"/>
            </p:cNvSpPr>
            <p:nvPr/>
          </p:nvSpPr>
          <p:spPr bwMode="auto">
            <a:xfrm>
              <a:off x="1182" y="660"/>
              <a:ext cx="0" cy="270"/>
            </a:xfrm>
            <a:prstGeom prst="line">
              <a:avLst/>
            </a:prstGeom>
            <a:noFill/>
            <a:ln w="28575">
              <a:solidFill>
                <a:srgbClr val="FF5050"/>
              </a:solidFill>
              <a:prstDash val="lgDash"/>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grpSp>
      <p:grpSp>
        <p:nvGrpSpPr>
          <p:cNvPr id="26" name="Group 22">
            <a:extLst>
              <a:ext uri="{FF2B5EF4-FFF2-40B4-BE49-F238E27FC236}">
                <a16:creationId xmlns:a16="http://schemas.microsoft.com/office/drawing/2014/main" id="{DA7EF6B3-9C11-E55F-405F-52067DBF7128}"/>
              </a:ext>
            </a:extLst>
          </p:cNvPr>
          <p:cNvGrpSpPr>
            <a:grpSpLocks/>
          </p:cNvGrpSpPr>
          <p:nvPr/>
        </p:nvGrpSpPr>
        <p:grpSpPr bwMode="auto">
          <a:xfrm>
            <a:off x="8315250" y="4228647"/>
            <a:ext cx="2466975" cy="1897062"/>
            <a:chOff x="1875" y="888"/>
            <a:chExt cx="1554" cy="1195"/>
          </a:xfrm>
        </p:grpSpPr>
        <p:sp>
          <p:nvSpPr>
            <p:cNvPr id="27" name="AutoShape 23">
              <a:extLst>
                <a:ext uri="{FF2B5EF4-FFF2-40B4-BE49-F238E27FC236}">
                  <a16:creationId xmlns:a16="http://schemas.microsoft.com/office/drawing/2014/main" id="{9596E951-BA28-D2EC-77D1-0A42B1E44A15}"/>
                </a:ext>
              </a:extLst>
            </p:cNvPr>
            <p:cNvSpPr>
              <a:spLocks noChangeArrowheads="1"/>
            </p:cNvSpPr>
            <p:nvPr/>
          </p:nvSpPr>
          <p:spPr bwMode="auto">
            <a:xfrm rot="-5400000">
              <a:off x="2856" y="974"/>
              <a:ext cx="282" cy="864"/>
            </a:xfrm>
            <a:prstGeom prst="can">
              <a:avLst>
                <a:gd name="adj" fmla="val 63106"/>
              </a:avLst>
            </a:prstGeom>
            <a:gradFill rotWithShape="0">
              <a:gsLst>
                <a:gs pos="0">
                  <a:srgbClr val="969696"/>
                </a:gs>
                <a:gs pos="50000">
                  <a:srgbClr val="454545"/>
                </a:gs>
                <a:gs pos="100000">
                  <a:srgbClr val="969696"/>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anchor="ctr">
              <a:spAutoFit/>
            </a:bodyPr>
            <a:lstStyle/>
            <a:p>
              <a:pPr eaLnBrk="1" hangingPunct="1">
                <a:buFontTx/>
                <a:buChar char="•"/>
              </a:pPr>
              <a:endParaRPr lang="zh-CN" altLang="en-US"/>
            </a:p>
          </p:txBody>
        </p:sp>
        <p:sp>
          <p:nvSpPr>
            <p:cNvPr id="28" name="AutoShape 24">
              <a:extLst>
                <a:ext uri="{FF2B5EF4-FFF2-40B4-BE49-F238E27FC236}">
                  <a16:creationId xmlns:a16="http://schemas.microsoft.com/office/drawing/2014/main" id="{5503984D-38E5-042C-8B6B-B9D9D564EB47}"/>
                </a:ext>
              </a:extLst>
            </p:cNvPr>
            <p:cNvSpPr>
              <a:spLocks noChangeArrowheads="1"/>
            </p:cNvSpPr>
            <p:nvPr/>
          </p:nvSpPr>
          <p:spPr bwMode="auto">
            <a:xfrm rot="-5400000">
              <a:off x="2166" y="920"/>
              <a:ext cx="282" cy="864"/>
            </a:xfrm>
            <a:prstGeom prst="can">
              <a:avLst>
                <a:gd name="adj" fmla="val 63106"/>
              </a:avLst>
            </a:prstGeom>
            <a:gradFill rotWithShape="0">
              <a:gsLst>
                <a:gs pos="0">
                  <a:srgbClr val="969696"/>
                </a:gs>
                <a:gs pos="50000">
                  <a:srgbClr val="454545"/>
                </a:gs>
                <a:gs pos="100000">
                  <a:srgbClr val="969696"/>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anchor="ctr">
              <a:spAutoFit/>
            </a:bodyPr>
            <a:lstStyle/>
            <a:p>
              <a:pPr eaLnBrk="1" hangingPunct="1">
                <a:buFontTx/>
                <a:buChar char="•"/>
              </a:pPr>
              <a:endParaRPr lang="zh-CN" altLang="en-US"/>
            </a:p>
          </p:txBody>
        </p:sp>
        <p:grpSp>
          <p:nvGrpSpPr>
            <p:cNvPr id="29" name="Group 25">
              <a:extLst>
                <a:ext uri="{FF2B5EF4-FFF2-40B4-BE49-F238E27FC236}">
                  <a16:creationId xmlns:a16="http://schemas.microsoft.com/office/drawing/2014/main" id="{9C337F87-AA73-4497-1BC9-F2993DBB014E}"/>
                </a:ext>
              </a:extLst>
            </p:cNvPr>
            <p:cNvGrpSpPr>
              <a:grpSpLocks/>
            </p:cNvGrpSpPr>
            <p:nvPr/>
          </p:nvGrpSpPr>
          <p:grpSpPr bwMode="auto">
            <a:xfrm>
              <a:off x="2452" y="888"/>
              <a:ext cx="721" cy="1195"/>
              <a:chOff x="2608" y="268"/>
              <a:chExt cx="721" cy="1195"/>
            </a:xfrm>
          </p:grpSpPr>
          <p:sp>
            <p:nvSpPr>
              <p:cNvPr id="30" name="Text Box 26">
                <a:extLst>
                  <a:ext uri="{FF2B5EF4-FFF2-40B4-BE49-F238E27FC236}">
                    <a16:creationId xmlns:a16="http://schemas.microsoft.com/office/drawing/2014/main" id="{3B1A152A-9266-5E98-88E2-1538107D3EDA}"/>
                  </a:ext>
                </a:extLst>
              </p:cNvPr>
              <p:cNvSpPr txBox="1">
                <a:spLocks noChangeAspect="1" noChangeArrowheads="1"/>
              </p:cNvSpPr>
              <p:nvPr/>
            </p:nvSpPr>
            <p:spPr bwMode="auto">
              <a:xfrm>
                <a:off x="2608" y="994"/>
                <a:ext cx="469" cy="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lstStyle>
                <a:lvl1pPr>
                  <a:defRPr sz="2000">
                    <a:solidFill>
                      <a:schemeClr val="tx1"/>
                    </a:solidFill>
                    <a:latin typeface="Times New Roman" pitchFamily="18" charset="0"/>
                    <a:ea typeface="宋体" pitchFamily="2" charset="-122"/>
                  </a:defRPr>
                </a:lvl1pPr>
                <a:lvl2pPr>
                  <a:defRPr sz="2000">
                    <a:solidFill>
                      <a:schemeClr val="tx1"/>
                    </a:solidFill>
                    <a:latin typeface="Times New Roman" pitchFamily="18" charset="0"/>
                    <a:ea typeface="宋体" pitchFamily="2" charset="-122"/>
                  </a:defRPr>
                </a:lvl2pPr>
                <a:lvl3pPr>
                  <a:defRPr sz="2000">
                    <a:solidFill>
                      <a:schemeClr val="tx1"/>
                    </a:solidFill>
                    <a:latin typeface="Times New Roman" pitchFamily="18" charset="0"/>
                    <a:ea typeface="宋体" pitchFamily="2" charset="-122"/>
                  </a:defRPr>
                </a:lvl3pPr>
                <a:lvl4pPr>
                  <a:defRPr sz="2000">
                    <a:solidFill>
                      <a:schemeClr val="tx1"/>
                    </a:solidFill>
                    <a:latin typeface="Times New Roman" pitchFamily="18" charset="0"/>
                    <a:ea typeface="宋体" pitchFamily="2" charset="-122"/>
                  </a:defRPr>
                </a:lvl4pPr>
                <a:lvl5pPr>
                  <a:defRPr sz="2000">
                    <a:solidFill>
                      <a:schemeClr val="tx1"/>
                    </a:solidFill>
                    <a:latin typeface="Times New Roman" pitchFamily="18" charset="0"/>
                    <a:ea typeface="宋体" pitchFamily="2" charset="-122"/>
                  </a:defRPr>
                </a:lvl5pPr>
                <a:lvl6pPr eaLnBrk="0" hangingPunct="0">
                  <a:defRPr sz="2000">
                    <a:solidFill>
                      <a:schemeClr val="tx1"/>
                    </a:solidFill>
                    <a:latin typeface="Times New Roman" pitchFamily="18" charset="0"/>
                    <a:ea typeface="宋体" pitchFamily="2" charset="-122"/>
                  </a:defRPr>
                </a:lvl6pPr>
                <a:lvl7pPr eaLnBrk="0" hangingPunct="0">
                  <a:defRPr sz="2000">
                    <a:solidFill>
                      <a:schemeClr val="tx1"/>
                    </a:solidFill>
                    <a:latin typeface="Times New Roman" pitchFamily="18" charset="0"/>
                    <a:ea typeface="宋体" pitchFamily="2" charset="-122"/>
                  </a:defRPr>
                </a:lvl7pPr>
                <a:lvl8pPr eaLnBrk="0" hangingPunct="0">
                  <a:defRPr sz="2000">
                    <a:solidFill>
                      <a:schemeClr val="tx1"/>
                    </a:solidFill>
                    <a:latin typeface="Times New Roman" pitchFamily="18" charset="0"/>
                    <a:ea typeface="宋体" pitchFamily="2" charset="-122"/>
                  </a:defRPr>
                </a:lvl8pPr>
                <a:lvl9pPr eaLnBrk="0" hangingPunct="0">
                  <a:defRPr sz="2000">
                    <a:solidFill>
                      <a:schemeClr val="tx1"/>
                    </a:solidFill>
                    <a:latin typeface="Times New Roman" pitchFamily="18" charset="0"/>
                    <a:ea typeface="宋体" pitchFamily="2" charset="-122"/>
                  </a:defRPr>
                </a:lvl9pPr>
              </a:lstStyle>
              <a:p>
                <a:pPr algn="just"/>
                <a:r>
                  <a:rPr kumimoji="1" lang="en-US" altLang="zh-CN" i="1">
                    <a:solidFill>
                      <a:srgbClr val="FF5050"/>
                    </a:solidFill>
                  </a:rPr>
                  <a:t>F</a:t>
                </a:r>
              </a:p>
            </p:txBody>
          </p:sp>
          <p:sp>
            <p:nvSpPr>
              <p:cNvPr id="31" name="Line 27">
                <a:extLst>
                  <a:ext uri="{FF2B5EF4-FFF2-40B4-BE49-F238E27FC236}">
                    <a16:creationId xmlns:a16="http://schemas.microsoft.com/office/drawing/2014/main" id="{F9E04F81-0902-7E8D-4580-48CA2C52E22F}"/>
                  </a:ext>
                </a:extLst>
              </p:cNvPr>
              <p:cNvSpPr>
                <a:spLocks noChangeShapeType="1"/>
              </p:cNvSpPr>
              <p:nvPr/>
            </p:nvSpPr>
            <p:spPr bwMode="auto">
              <a:xfrm flipV="1">
                <a:off x="2886" y="324"/>
                <a:ext cx="0" cy="330"/>
              </a:xfrm>
              <a:prstGeom prst="line">
                <a:avLst/>
              </a:prstGeom>
              <a:noFill/>
              <a:ln w="28575">
                <a:solidFill>
                  <a:srgbClr val="FF5050"/>
                </a:solidFill>
                <a:round/>
                <a:headEnd type="triangle" w="med" len="lg"/>
                <a:tailEnd type="none" w="med" len="lg"/>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32" name="Text Box 28">
                <a:extLst>
                  <a:ext uri="{FF2B5EF4-FFF2-40B4-BE49-F238E27FC236}">
                    <a16:creationId xmlns:a16="http://schemas.microsoft.com/office/drawing/2014/main" id="{38598B84-E5DA-FFDC-443C-120DEB7A0779}"/>
                  </a:ext>
                </a:extLst>
              </p:cNvPr>
              <p:cNvSpPr txBox="1">
                <a:spLocks noChangeAspect="1" noChangeArrowheads="1"/>
              </p:cNvSpPr>
              <p:nvPr/>
            </p:nvSpPr>
            <p:spPr bwMode="auto">
              <a:xfrm>
                <a:off x="2860" y="268"/>
                <a:ext cx="469" cy="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lstStyle>
                <a:lvl1pPr>
                  <a:defRPr sz="2000">
                    <a:solidFill>
                      <a:schemeClr val="tx1"/>
                    </a:solidFill>
                    <a:latin typeface="Times New Roman" pitchFamily="18" charset="0"/>
                    <a:ea typeface="宋体" pitchFamily="2" charset="-122"/>
                  </a:defRPr>
                </a:lvl1pPr>
                <a:lvl2pPr>
                  <a:defRPr sz="2000">
                    <a:solidFill>
                      <a:schemeClr val="tx1"/>
                    </a:solidFill>
                    <a:latin typeface="Times New Roman" pitchFamily="18" charset="0"/>
                    <a:ea typeface="宋体" pitchFamily="2" charset="-122"/>
                  </a:defRPr>
                </a:lvl2pPr>
                <a:lvl3pPr>
                  <a:defRPr sz="2000">
                    <a:solidFill>
                      <a:schemeClr val="tx1"/>
                    </a:solidFill>
                    <a:latin typeface="Times New Roman" pitchFamily="18" charset="0"/>
                    <a:ea typeface="宋体" pitchFamily="2" charset="-122"/>
                  </a:defRPr>
                </a:lvl3pPr>
                <a:lvl4pPr>
                  <a:defRPr sz="2000">
                    <a:solidFill>
                      <a:schemeClr val="tx1"/>
                    </a:solidFill>
                    <a:latin typeface="Times New Roman" pitchFamily="18" charset="0"/>
                    <a:ea typeface="宋体" pitchFamily="2" charset="-122"/>
                  </a:defRPr>
                </a:lvl4pPr>
                <a:lvl5pPr>
                  <a:defRPr sz="2000">
                    <a:solidFill>
                      <a:schemeClr val="tx1"/>
                    </a:solidFill>
                    <a:latin typeface="Times New Roman" pitchFamily="18" charset="0"/>
                    <a:ea typeface="宋体" pitchFamily="2" charset="-122"/>
                  </a:defRPr>
                </a:lvl5pPr>
                <a:lvl6pPr eaLnBrk="0" hangingPunct="0">
                  <a:defRPr sz="2000">
                    <a:solidFill>
                      <a:schemeClr val="tx1"/>
                    </a:solidFill>
                    <a:latin typeface="Times New Roman" pitchFamily="18" charset="0"/>
                    <a:ea typeface="宋体" pitchFamily="2" charset="-122"/>
                  </a:defRPr>
                </a:lvl6pPr>
                <a:lvl7pPr eaLnBrk="0" hangingPunct="0">
                  <a:defRPr sz="2000">
                    <a:solidFill>
                      <a:schemeClr val="tx1"/>
                    </a:solidFill>
                    <a:latin typeface="Times New Roman" pitchFamily="18" charset="0"/>
                    <a:ea typeface="宋体" pitchFamily="2" charset="-122"/>
                  </a:defRPr>
                </a:lvl7pPr>
                <a:lvl8pPr eaLnBrk="0" hangingPunct="0">
                  <a:defRPr sz="2000">
                    <a:solidFill>
                      <a:schemeClr val="tx1"/>
                    </a:solidFill>
                    <a:latin typeface="Times New Roman" pitchFamily="18" charset="0"/>
                    <a:ea typeface="宋体" pitchFamily="2" charset="-122"/>
                  </a:defRPr>
                </a:lvl8pPr>
                <a:lvl9pPr eaLnBrk="0" hangingPunct="0">
                  <a:defRPr sz="2000">
                    <a:solidFill>
                      <a:schemeClr val="tx1"/>
                    </a:solidFill>
                    <a:latin typeface="Times New Roman" pitchFamily="18" charset="0"/>
                    <a:ea typeface="宋体" pitchFamily="2" charset="-122"/>
                  </a:defRPr>
                </a:lvl9pPr>
              </a:lstStyle>
              <a:p>
                <a:pPr algn="just"/>
                <a:r>
                  <a:rPr kumimoji="1" lang="en-US" altLang="zh-CN" i="1">
                    <a:solidFill>
                      <a:srgbClr val="FF5050"/>
                    </a:solidFill>
                  </a:rPr>
                  <a:t>F</a:t>
                </a:r>
              </a:p>
            </p:txBody>
          </p:sp>
          <p:sp>
            <p:nvSpPr>
              <p:cNvPr id="33" name="Line 29">
                <a:extLst>
                  <a:ext uri="{FF2B5EF4-FFF2-40B4-BE49-F238E27FC236}">
                    <a16:creationId xmlns:a16="http://schemas.microsoft.com/office/drawing/2014/main" id="{604D0A6A-BF7C-E2A3-CA9E-BCFE3C59EBD7}"/>
                  </a:ext>
                </a:extLst>
              </p:cNvPr>
              <p:cNvSpPr>
                <a:spLocks noChangeShapeType="1"/>
              </p:cNvSpPr>
              <p:nvPr/>
            </p:nvSpPr>
            <p:spPr bwMode="auto">
              <a:xfrm>
                <a:off x="2796" y="858"/>
                <a:ext cx="0" cy="330"/>
              </a:xfrm>
              <a:prstGeom prst="line">
                <a:avLst/>
              </a:prstGeom>
              <a:noFill/>
              <a:ln w="28575">
                <a:solidFill>
                  <a:srgbClr val="FF5050"/>
                </a:solidFill>
                <a:round/>
                <a:headEnd type="triangle" w="med" len="lg"/>
                <a:tailEnd type="none" w="med" len="lg"/>
              </a:ln>
              <a:extLst>
                <a:ext uri="{909E8E84-426E-40DD-AFC4-6F175D3DCCD1}">
                  <a14:hiddenFill xmlns:a14="http://schemas.microsoft.com/office/drawing/2010/main">
                    <a:noFill/>
                  </a14:hiddenFill>
                </a:ext>
              </a:extLst>
            </p:spPr>
            <p:txBody>
              <a:bodyPr wrap="none" anchor="ctr">
                <a:spAutoFit/>
              </a:bodyPr>
              <a:lstStyle/>
              <a:p>
                <a:endParaRPr lang="zh-CN" altLang="en-US"/>
              </a:p>
            </p:txBody>
          </p:sp>
        </p:grpSp>
      </p:grpSp>
      <p:grpSp>
        <p:nvGrpSpPr>
          <p:cNvPr id="34" name="Group 37">
            <a:extLst>
              <a:ext uri="{FF2B5EF4-FFF2-40B4-BE49-F238E27FC236}">
                <a16:creationId xmlns:a16="http://schemas.microsoft.com/office/drawing/2014/main" id="{732E4519-30DE-B25E-4E3C-44E9DB2BD893}"/>
              </a:ext>
            </a:extLst>
          </p:cNvPr>
          <p:cNvGrpSpPr>
            <a:grpSpLocks/>
          </p:cNvGrpSpPr>
          <p:nvPr/>
        </p:nvGrpSpPr>
        <p:grpSpPr bwMode="auto">
          <a:xfrm>
            <a:off x="8274368" y="5198610"/>
            <a:ext cx="1308100" cy="671513"/>
            <a:chOff x="3766" y="1383"/>
            <a:chExt cx="824" cy="423"/>
          </a:xfrm>
        </p:grpSpPr>
        <p:sp>
          <p:nvSpPr>
            <p:cNvPr id="35" name="Rectangle 38">
              <a:extLst>
                <a:ext uri="{FF2B5EF4-FFF2-40B4-BE49-F238E27FC236}">
                  <a16:creationId xmlns:a16="http://schemas.microsoft.com/office/drawing/2014/main" id="{E4E7BEA3-8DEB-DE0C-5675-4E4E0E01FE3A}"/>
                </a:ext>
              </a:extLst>
            </p:cNvPr>
            <p:cNvSpPr>
              <a:spLocks noChangeAspect="1" noChangeArrowheads="1"/>
            </p:cNvSpPr>
            <p:nvPr/>
          </p:nvSpPr>
          <p:spPr bwMode="auto">
            <a:xfrm>
              <a:off x="3766" y="1473"/>
              <a:ext cx="792" cy="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lIns="12700" tIns="12700" rIns="12700" bIns="12700"/>
            <a:lstStyle/>
            <a:p>
              <a:pPr algn="just"/>
              <a:r>
                <a:rPr lang="zh-CN" altLang="en-US" i="0" dirty="0">
                  <a:solidFill>
                    <a:schemeClr val="accent2"/>
                  </a:solidFill>
                  <a:latin typeface="黑体" panose="02010609060101010101" pitchFamily="49" charset="-122"/>
                  <a:ea typeface="黑体" panose="02010609060101010101" pitchFamily="49" charset="-122"/>
                </a:rPr>
                <a:t>剪切面</a:t>
              </a:r>
            </a:p>
          </p:txBody>
        </p:sp>
        <p:sp>
          <p:nvSpPr>
            <p:cNvPr id="36" name="Line 39">
              <a:extLst>
                <a:ext uri="{FF2B5EF4-FFF2-40B4-BE49-F238E27FC236}">
                  <a16:creationId xmlns:a16="http://schemas.microsoft.com/office/drawing/2014/main" id="{34A63C84-4BF0-0840-E063-B8FF92018A3D}"/>
                </a:ext>
              </a:extLst>
            </p:cNvPr>
            <p:cNvSpPr>
              <a:spLocks noChangeShapeType="1"/>
            </p:cNvSpPr>
            <p:nvPr/>
          </p:nvSpPr>
          <p:spPr bwMode="auto">
            <a:xfrm flipH="1">
              <a:off x="4075" y="1383"/>
              <a:ext cx="515" cy="116"/>
            </a:xfrm>
            <a:prstGeom prst="line">
              <a:avLst/>
            </a:prstGeom>
            <a:noFill/>
            <a:ln w="3175">
              <a:solidFill>
                <a:srgbClr val="0000FF"/>
              </a:solidFill>
              <a:round/>
              <a:headEnd type="triangle" w="sm" len="med"/>
              <a:tailEnd type="none" w="sm" len="med"/>
            </a:ln>
            <a:extLst>
              <a:ext uri="{909E8E84-426E-40DD-AFC4-6F175D3DCCD1}">
                <a14:hiddenFill xmlns:a14="http://schemas.microsoft.com/office/drawing/2010/main">
                  <a:noFill/>
                </a14:hiddenFill>
              </a:ext>
            </a:extLst>
          </p:spPr>
          <p:txBody>
            <a:bodyPr/>
            <a:lstStyle/>
            <a:p>
              <a:endParaRPr lang="zh-CN" altLang="en-US"/>
            </a:p>
          </p:txBody>
        </p:sp>
      </p:grpSp>
    </p:spTree>
    <p:extLst>
      <p:ext uri="{BB962C8B-B14F-4D97-AF65-F5344CB8AC3E}">
        <p14:creationId xmlns:p14="http://schemas.microsoft.com/office/powerpoint/2010/main" val="413301646"/>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3" presetClass="entr" presetSubtype="5"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blinds(vertical)">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6" fill="hold"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barn(inHorizontal)">
                                      <p:cBhvr>
                                        <p:cTn id="22" dur="5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23" presetClass="entr" presetSubtype="288" fill="hold" nodeType="clickEffect">
                                  <p:stCondLst>
                                    <p:cond delay="0"/>
                                  </p:stCondLst>
                                  <p:childTnLst>
                                    <p:set>
                                      <p:cBhvr>
                                        <p:cTn id="26" dur="1" fill="hold">
                                          <p:stCondLst>
                                            <p:cond delay="0"/>
                                          </p:stCondLst>
                                        </p:cTn>
                                        <p:tgtEl>
                                          <p:spTgt spid="22"/>
                                        </p:tgtEl>
                                        <p:attrNameLst>
                                          <p:attrName>style.visibility</p:attrName>
                                        </p:attrNameLst>
                                      </p:cBhvr>
                                      <p:to>
                                        <p:strVal val="visible"/>
                                      </p:to>
                                    </p:set>
                                    <p:anim calcmode="lin" valueType="num">
                                      <p:cBhvr>
                                        <p:cTn id="27" dur="500" fill="hold"/>
                                        <p:tgtEl>
                                          <p:spTgt spid="22"/>
                                        </p:tgtEl>
                                        <p:attrNameLst>
                                          <p:attrName>ppt_w</p:attrName>
                                        </p:attrNameLst>
                                      </p:cBhvr>
                                      <p:tavLst>
                                        <p:tav tm="0">
                                          <p:val>
                                            <p:strVal val="4/3*#ppt_w"/>
                                          </p:val>
                                        </p:tav>
                                        <p:tav tm="100000">
                                          <p:val>
                                            <p:strVal val="#ppt_w"/>
                                          </p:val>
                                        </p:tav>
                                      </p:tavLst>
                                    </p:anim>
                                    <p:anim calcmode="lin" valueType="num">
                                      <p:cBhvr>
                                        <p:cTn id="28" dur="500" fill="hold"/>
                                        <p:tgtEl>
                                          <p:spTgt spid="22"/>
                                        </p:tgtEl>
                                        <p:attrNameLst>
                                          <p:attrName>ppt_h</p:attrName>
                                        </p:attrNameLst>
                                      </p:cBhvr>
                                      <p:tavLst>
                                        <p:tav tm="0">
                                          <p:val>
                                            <p:strVal val="4/3*#ppt_h"/>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31" presetID="17" presetClass="entr" presetSubtype="10" fill="hold" nodeType="clickEffect">
                                  <p:stCondLst>
                                    <p:cond delay="0"/>
                                  </p:stCondLst>
                                  <p:childTnLst>
                                    <p:set>
                                      <p:cBhvr>
                                        <p:cTn id="32" dur="1" fill="hold">
                                          <p:stCondLst>
                                            <p:cond delay="0"/>
                                          </p:stCondLst>
                                        </p:cTn>
                                        <p:tgtEl>
                                          <p:spTgt spid="26"/>
                                        </p:tgtEl>
                                        <p:attrNameLst>
                                          <p:attrName>style.visibility</p:attrName>
                                        </p:attrNameLst>
                                      </p:cBhvr>
                                      <p:to>
                                        <p:strVal val="visible"/>
                                      </p:to>
                                    </p:set>
                                    <p:anim calcmode="lin" valueType="num">
                                      <p:cBhvr>
                                        <p:cTn id="33" dur="500" fill="hold"/>
                                        <p:tgtEl>
                                          <p:spTgt spid="26"/>
                                        </p:tgtEl>
                                        <p:attrNameLst>
                                          <p:attrName>ppt_w</p:attrName>
                                        </p:attrNameLst>
                                      </p:cBhvr>
                                      <p:tavLst>
                                        <p:tav tm="0">
                                          <p:val>
                                            <p:fltVal val="0"/>
                                          </p:val>
                                        </p:tav>
                                        <p:tav tm="100000">
                                          <p:val>
                                            <p:strVal val="#ppt_w"/>
                                          </p:val>
                                        </p:tav>
                                      </p:tavLst>
                                    </p:anim>
                                    <p:anim calcmode="lin" valueType="num">
                                      <p:cBhvr>
                                        <p:cTn id="34" dur="500" fill="hold"/>
                                        <p:tgtEl>
                                          <p:spTgt spid="26"/>
                                        </p:tgtEl>
                                        <p:attrNameLst>
                                          <p:attrName>ppt_h</p:attrName>
                                        </p:attrNameLst>
                                      </p:cBhvr>
                                      <p:tavLst>
                                        <p:tav tm="0">
                                          <p:val>
                                            <p:strVal val="#ppt_h"/>
                                          </p:val>
                                        </p:tav>
                                        <p:tav tm="100000">
                                          <p:val>
                                            <p:strVal val="#ppt_h"/>
                                          </p:val>
                                        </p:tav>
                                      </p:tavLst>
                                    </p:anim>
                                  </p:childTnLst>
                                </p:cTn>
                              </p:par>
                            </p:childTnLst>
                          </p:cTn>
                        </p:par>
                      </p:childTnLst>
                    </p:cTn>
                  </p:par>
                  <p:par>
                    <p:cTn id="35" fill="hold">
                      <p:stCondLst>
                        <p:cond delay="indefinite"/>
                      </p:stCondLst>
                      <p:childTnLst>
                        <p:par>
                          <p:cTn id="36" fill="hold">
                            <p:stCondLst>
                              <p:cond delay="0"/>
                            </p:stCondLst>
                            <p:childTnLst>
                              <p:par>
                                <p:cTn id="37" presetID="17" presetClass="entr" presetSubtype="2" fill="hold" nodeType="clickEffect">
                                  <p:stCondLst>
                                    <p:cond delay="0"/>
                                  </p:stCondLst>
                                  <p:childTnLst>
                                    <p:set>
                                      <p:cBhvr>
                                        <p:cTn id="38" dur="1" fill="hold">
                                          <p:stCondLst>
                                            <p:cond delay="0"/>
                                          </p:stCondLst>
                                        </p:cTn>
                                        <p:tgtEl>
                                          <p:spTgt spid="34"/>
                                        </p:tgtEl>
                                        <p:attrNameLst>
                                          <p:attrName>style.visibility</p:attrName>
                                        </p:attrNameLst>
                                      </p:cBhvr>
                                      <p:to>
                                        <p:strVal val="visible"/>
                                      </p:to>
                                    </p:set>
                                    <p:anim calcmode="lin" valueType="num">
                                      <p:cBhvr>
                                        <p:cTn id="39" dur="500" fill="hold"/>
                                        <p:tgtEl>
                                          <p:spTgt spid="34"/>
                                        </p:tgtEl>
                                        <p:attrNameLst>
                                          <p:attrName>ppt_x</p:attrName>
                                        </p:attrNameLst>
                                      </p:cBhvr>
                                      <p:tavLst>
                                        <p:tav tm="0">
                                          <p:val>
                                            <p:strVal val="#ppt_x+#ppt_w/2"/>
                                          </p:val>
                                        </p:tav>
                                        <p:tav tm="100000">
                                          <p:val>
                                            <p:strVal val="#ppt_x"/>
                                          </p:val>
                                        </p:tav>
                                      </p:tavLst>
                                    </p:anim>
                                    <p:anim calcmode="lin" valueType="num">
                                      <p:cBhvr>
                                        <p:cTn id="40" dur="500" fill="hold"/>
                                        <p:tgtEl>
                                          <p:spTgt spid="34"/>
                                        </p:tgtEl>
                                        <p:attrNameLst>
                                          <p:attrName>ppt_y</p:attrName>
                                        </p:attrNameLst>
                                      </p:cBhvr>
                                      <p:tavLst>
                                        <p:tav tm="0">
                                          <p:val>
                                            <p:strVal val="#ppt_y"/>
                                          </p:val>
                                        </p:tav>
                                        <p:tav tm="100000">
                                          <p:val>
                                            <p:strVal val="#ppt_y"/>
                                          </p:val>
                                        </p:tav>
                                      </p:tavLst>
                                    </p:anim>
                                    <p:anim calcmode="lin" valueType="num">
                                      <p:cBhvr>
                                        <p:cTn id="41" dur="500" fill="hold"/>
                                        <p:tgtEl>
                                          <p:spTgt spid="34"/>
                                        </p:tgtEl>
                                        <p:attrNameLst>
                                          <p:attrName>ppt_w</p:attrName>
                                        </p:attrNameLst>
                                      </p:cBhvr>
                                      <p:tavLst>
                                        <p:tav tm="0">
                                          <p:val>
                                            <p:fltVal val="0"/>
                                          </p:val>
                                        </p:tav>
                                        <p:tav tm="100000">
                                          <p:val>
                                            <p:strVal val="#ppt_w"/>
                                          </p:val>
                                        </p:tav>
                                      </p:tavLst>
                                    </p:anim>
                                    <p:anim calcmode="lin" valueType="num">
                                      <p:cBhvr>
                                        <p:cTn id="42" dur="500" fill="hold"/>
                                        <p:tgtEl>
                                          <p:spTgt spid="3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autoUpdateAnimBg="0"/>
      <p:bldP spid="9" grpId="0" autoUpdateAnimBg="0"/>
      <p:bldP spid="10" grpId="0" animBg="1"/>
      <p:bldP spid="16"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711605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第八章   拉压、剪切与挤压的强度计算</a:t>
            </a:r>
          </a:p>
        </p:txBody>
      </p:sp>
      <p:sp>
        <p:nvSpPr>
          <p:cNvPr id="9" name="Text Box 1032">
            <a:extLst>
              <a:ext uri="{FF2B5EF4-FFF2-40B4-BE49-F238E27FC236}">
                <a16:creationId xmlns:a16="http://schemas.microsoft.com/office/drawing/2014/main" id="{5B910DD4-CBB7-A521-D69D-247EA7B635CC}"/>
              </a:ext>
            </a:extLst>
          </p:cNvPr>
          <p:cNvSpPr txBox="1">
            <a:spLocks noChangeArrowheads="1"/>
          </p:cNvSpPr>
          <p:nvPr/>
        </p:nvSpPr>
        <p:spPr bwMode="auto">
          <a:xfrm>
            <a:off x="335360" y="989125"/>
            <a:ext cx="10945215" cy="565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lnSpc>
                <a:spcPct val="120000"/>
              </a:lnSpc>
            </a:pPr>
            <a:r>
              <a:rPr lang="zh-CN" altLang="en-US" sz="2800" i="0" dirty="0">
                <a:latin typeface="+mn-lt"/>
                <a:ea typeface="微软雅黑" panose="020B0503020204020204" pitchFamily="34" charset="-122"/>
              </a:rPr>
              <a:t>机械中常用的连接件，如销钉、键和铆钉等，都是承受剪切的零件。</a:t>
            </a:r>
          </a:p>
        </p:txBody>
      </p:sp>
      <p:sp>
        <p:nvSpPr>
          <p:cNvPr id="10" name="Rectangle 61">
            <a:extLst>
              <a:ext uri="{FF2B5EF4-FFF2-40B4-BE49-F238E27FC236}">
                <a16:creationId xmlns:a16="http://schemas.microsoft.com/office/drawing/2014/main" id="{A7BABA33-6C6E-5172-113C-D7F1D8E457C6}"/>
              </a:ext>
            </a:extLst>
          </p:cNvPr>
          <p:cNvSpPr>
            <a:spLocks noChangeArrowheads="1"/>
          </p:cNvSpPr>
          <p:nvPr/>
        </p:nvSpPr>
        <p:spPr bwMode="auto">
          <a:xfrm>
            <a:off x="351707" y="1628800"/>
            <a:ext cx="10568830" cy="4450064"/>
          </a:xfrm>
          <a:prstGeom prst="rect">
            <a:avLst/>
          </a:prstGeom>
          <a:solidFill>
            <a:srgbClr val="B9CDE5"/>
          </a:solidFill>
          <a:ln>
            <a:noFill/>
          </a:ln>
          <a:effectLst/>
        </p:spPr>
        <p:txBody>
          <a:bodyPr wrap="none" anchor="ctr"/>
          <a:lstStyle/>
          <a:p>
            <a:endParaRPr lang="zh-CN" altLang="en-US" dirty="0"/>
          </a:p>
        </p:txBody>
      </p:sp>
      <p:pic>
        <p:nvPicPr>
          <p:cNvPr id="60" name="图片 59">
            <a:extLst>
              <a:ext uri="{FF2B5EF4-FFF2-40B4-BE49-F238E27FC236}">
                <a16:creationId xmlns:a16="http://schemas.microsoft.com/office/drawing/2014/main" id="{82CA8A85-5765-33FD-93FD-B3B26025E2A2}"/>
              </a:ext>
            </a:extLst>
          </p:cNvPr>
          <p:cNvPicPr>
            <a:picLocks noChangeAspect="1"/>
          </p:cNvPicPr>
          <p:nvPr/>
        </p:nvPicPr>
        <p:blipFill>
          <a:blip r:embed="rId3"/>
          <a:stretch>
            <a:fillRect/>
          </a:stretch>
        </p:blipFill>
        <p:spPr>
          <a:xfrm>
            <a:off x="1597814" y="1883045"/>
            <a:ext cx="4248472" cy="1819434"/>
          </a:xfrm>
          <a:prstGeom prst="rect">
            <a:avLst/>
          </a:prstGeom>
        </p:spPr>
      </p:pic>
      <p:pic>
        <p:nvPicPr>
          <p:cNvPr id="117" name="图片 116">
            <a:extLst>
              <a:ext uri="{FF2B5EF4-FFF2-40B4-BE49-F238E27FC236}">
                <a16:creationId xmlns:a16="http://schemas.microsoft.com/office/drawing/2014/main" id="{351DA38A-3C72-5B12-A935-11C531CE1A63}"/>
              </a:ext>
            </a:extLst>
          </p:cNvPr>
          <p:cNvPicPr>
            <a:picLocks noChangeAspect="1"/>
          </p:cNvPicPr>
          <p:nvPr/>
        </p:nvPicPr>
        <p:blipFill>
          <a:blip r:embed="rId4"/>
          <a:stretch>
            <a:fillRect/>
          </a:stretch>
        </p:blipFill>
        <p:spPr>
          <a:xfrm>
            <a:off x="5375920" y="1780138"/>
            <a:ext cx="2293873" cy="2073694"/>
          </a:xfrm>
          <a:prstGeom prst="rect">
            <a:avLst/>
          </a:prstGeom>
        </p:spPr>
      </p:pic>
      <p:pic>
        <p:nvPicPr>
          <p:cNvPr id="161" name="图片 160">
            <a:extLst>
              <a:ext uri="{FF2B5EF4-FFF2-40B4-BE49-F238E27FC236}">
                <a16:creationId xmlns:a16="http://schemas.microsoft.com/office/drawing/2014/main" id="{4EDAF5C1-9CCF-1EF1-E5AC-25C45D598181}"/>
              </a:ext>
            </a:extLst>
          </p:cNvPr>
          <p:cNvPicPr>
            <a:picLocks noChangeAspect="1"/>
          </p:cNvPicPr>
          <p:nvPr/>
        </p:nvPicPr>
        <p:blipFill>
          <a:blip r:embed="rId5"/>
          <a:stretch>
            <a:fillRect/>
          </a:stretch>
        </p:blipFill>
        <p:spPr>
          <a:xfrm>
            <a:off x="7792608" y="1628800"/>
            <a:ext cx="2504479" cy="2139801"/>
          </a:xfrm>
          <a:prstGeom prst="rect">
            <a:avLst/>
          </a:prstGeom>
        </p:spPr>
      </p:pic>
      <p:pic>
        <p:nvPicPr>
          <p:cNvPr id="204" name="图片 203">
            <a:extLst>
              <a:ext uri="{FF2B5EF4-FFF2-40B4-BE49-F238E27FC236}">
                <a16:creationId xmlns:a16="http://schemas.microsoft.com/office/drawing/2014/main" id="{A08F77D0-DD31-AA40-F4FA-59AF6846382F}"/>
              </a:ext>
            </a:extLst>
          </p:cNvPr>
          <p:cNvPicPr>
            <a:picLocks noChangeAspect="1"/>
          </p:cNvPicPr>
          <p:nvPr/>
        </p:nvPicPr>
        <p:blipFill>
          <a:blip r:embed="rId6"/>
          <a:stretch>
            <a:fillRect/>
          </a:stretch>
        </p:blipFill>
        <p:spPr>
          <a:xfrm>
            <a:off x="2639616" y="3944598"/>
            <a:ext cx="4824536" cy="2214972"/>
          </a:xfrm>
          <a:prstGeom prst="rect">
            <a:avLst/>
          </a:prstGeom>
        </p:spPr>
      </p:pic>
      <p:pic>
        <p:nvPicPr>
          <p:cNvPr id="243" name="图片 242">
            <a:extLst>
              <a:ext uri="{FF2B5EF4-FFF2-40B4-BE49-F238E27FC236}">
                <a16:creationId xmlns:a16="http://schemas.microsoft.com/office/drawing/2014/main" id="{64C2B2EF-00D6-8723-18C9-C77CFC9FFF48}"/>
              </a:ext>
            </a:extLst>
          </p:cNvPr>
          <p:cNvPicPr>
            <a:picLocks noChangeAspect="1"/>
          </p:cNvPicPr>
          <p:nvPr/>
        </p:nvPicPr>
        <p:blipFill>
          <a:blip r:embed="rId7"/>
          <a:stretch>
            <a:fillRect/>
          </a:stretch>
        </p:blipFill>
        <p:spPr>
          <a:xfrm>
            <a:off x="7792608" y="4068830"/>
            <a:ext cx="2222977" cy="1677545"/>
          </a:xfrm>
          <a:prstGeom prst="rect">
            <a:avLst/>
          </a:prstGeom>
        </p:spPr>
      </p:pic>
      <p:sp>
        <p:nvSpPr>
          <p:cNvPr id="244" name="Text Box 1032">
            <a:extLst>
              <a:ext uri="{FF2B5EF4-FFF2-40B4-BE49-F238E27FC236}">
                <a16:creationId xmlns:a16="http://schemas.microsoft.com/office/drawing/2014/main" id="{B012AAD8-E8C3-20AF-F5A9-4959ABDE07E8}"/>
              </a:ext>
            </a:extLst>
          </p:cNvPr>
          <p:cNvSpPr txBox="1">
            <a:spLocks noChangeArrowheads="1"/>
          </p:cNvSpPr>
          <p:nvPr/>
        </p:nvSpPr>
        <p:spPr bwMode="auto">
          <a:xfrm>
            <a:off x="863382" y="4607997"/>
            <a:ext cx="1612006" cy="565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lnSpc>
                <a:spcPct val="120000"/>
              </a:lnSpc>
            </a:pPr>
            <a:r>
              <a:rPr lang="zh-CN" altLang="en-US" sz="2800" i="0" dirty="0">
                <a:solidFill>
                  <a:srgbClr val="FF00FF"/>
                </a:solidFill>
                <a:latin typeface="+mn-lt"/>
                <a:ea typeface="微软雅黑" panose="020B0503020204020204" pitchFamily="34" charset="-122"/>
              </a:rPr>
              <a:t>双剪</a:t>
            </a:r>
          </a:p>
        </p:txBody>
      </p:sp>
      <p:sp>
        <p:nvSpPr>
          <p:cNvPr id="245" name="Text Box 1032">
            <a:extLst>
              <a:ext uri="{FF2B5EF4-FFF2-40B4-BE49-F238E27FC236}">
                <a16:creationId xmlns:a16="http://schemas.microsoft.com/office/drawing/2014/main" id="{8A79EDB4-2E3D-500A-6F1D-C4786C9EAD5B}"/>
              </a:ext>
            </a:extLst>
          </p:cNvPr>
          <p:cNvSpPr txBox="1">
            <a:spLocks noChangeArrowheads="1"/>
          </p:cNvSpPr>
          <p:nvPr/>
        </p:nvSpPr>
        <p:spPr bwMode="auto">
          <a:xfrm>
            <a:off x="863382" y="2553051"/>
            <a:ext cx="1612006" cy="565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lnSpc>
                <a:spcPct val="120000"/>
              </a:lnSpc>
            </a:pPr>
            <a:r>
              <a:rPr lang="zh-CN" altLang="en-US" sz="2800" i="0" dirty="0">
                <a:solidFill>
                  <a:srgbClr val="FF00FF"/>
                </a:solidFill>
                <a:latin typeface="+mn-lt"/>
                <a:ea typeface="微软雅黑" panose="020B0503020204020204" pitchFamily="34" charset="-122"/>
              </a:rPr>
              <a:t>单剪</a:t>
            </a:r>
          </a:p>
        </p:txBody>
      </p:sp>
    </p:spTree>
    <p:extLst>
      <p:ext uri="{BB962C8B-B14F-4D97-AF65-F5344CB8AC3E}">
        <p14:creationId xmlns:p14="http://schemas.microsoft.com/office/powerpoint/2010/main" val="1954789579"/>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4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6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4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0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utoUpdateAnimBg="0"/>
      <p:bldP spid="244" grpId="0"/>
      <p:bldP spid="245"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711605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第八章   拉压、剪切与挤压的强度计算</a:t>
            </a:r>
          </a:p>
        </p:txBody>
      </p:sp>
      <p:sp>
        <p:nvSpPr>
          <p:cNvPr id="53" name="Text Box 1032"/>
          <p:cNvSpPr txBox="1">
            <a:spLocks noChangeArrowheads="1"/>
          </p:cNvSpPr>
          <p:nvPr/>
        </p:nvSpPr>
        <p:spPr bwMode="auto">
          <a:xfrm>
            <a:off x="335361" y="952413"/>
            <a:ext cx="3024336" cy="565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lnSpc>
                <a:spcPct val="120000"/>
              </a:lnSpc>
            </a:pPr>
            <a:r>
              <a:rPr lang="zh-CN" altLang="en-US" sz="2800" i="0" dirty="0">
                <a:solidFill>
                  <a:srgbClr val="FF00FF"/>
                </a:solidFill>
                <a:latin typeface="+mn-lt"/>
                <a:ea typeface="微软雅黑" panose="020B0503020204020204" pitchFamily="34" charset="-122"/>
              </a:rPr>
              <a:t>剪切胡克定律</a:t>
            </a:r>
          </a:p>
        </p:txBody>
      </p:sp>
      <p:sp>
        <p:nvSpPr>
          <p:cNvPr id="9" name="Text Box 1032">
            <a:extLst>
              <a:ext uri="{FF2B5EF4-FFF2-40B4-BE49-F238E27FC236}">
                <a16:creationId xmlns:a16="http://schemas.microsoft.com/office/drawing/2014/main" id="{5B910DD4-CBB7-A521-D69D-247EA7B635CC}"/>
              </a:ext>
            </a:extLst>
          </p:cNvPr>
          <p:cNvSpPr txBox="1">
            <a:spLocks noChangeArrowheads="1"/>
          </p:cNvSpPr>
          <p:nvPr/>
        </p:nvSpPr>
        <p:spPr bwMode="auto">
          <a:xfrm>
            <a:off x="335360" y="1476398"/>
            <a:ext cx="11305256" cy="22447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lvl="0" algn="just">
              <a:lnSpc>
                <a:spcPct val="130000"/>
              </a:lnSpc>
            </a:pPr>
            <a:r>
              <a:rPr lang="zh-CN" altLang="en-US" sz="2800" i="0" dirty="0">
                <a:latin typeface="+mn-lt"/>
                <a:ea typeface="微软雅黑" panose="020B0503020204020204" pitchFamily="34" charset="-122"/>
              </a:rPr>
              <a:t>现在从销钉的剪切面处取出一个微小的正六面体</a:t>
            </a:r>
            <a:r>
              <a:rPr lang="en-US" altLang="zh-CN" sz="2800" i="0" dirty="0">
                <a:latin typeface="+mn-lt"/>
                <a:ea typeface="微软雅黑" panose="020B0503020204020204" pitchFamily="34" charset="-122"/>
              </a:rPr>
              <a:t>—</a:t>
            </a:r>
            <a:r>
              <a:rPr lang="zh-CN" altLang="en-US" sz="2800" i="0" dirty="0">
                <a:latin typeface="+mn-lt"/>
                <a:ea typeface="微软雅黑" panose="020B0503020204020204" pitchFamily="34" charset="-122"/>
              </a:rPr>
              <a:t>单元体，如图。</a:t>
            </a:r>
          </a:p>
          <a:p>
            <a:pPr lvl="0" algn="just">
              <a:lnSpc>
                <a:spcPct val="130000"/>
              </a:lnSpc>
            </a:pPr>
            <a:r>
              <a:rPr lang="zh-CN" altLang="en-US" sz="2800" i="0" dirty="0">
                <a:latin typeface="+mn-lt"/>
                <a:ea typeface="微软雅黑" panose="020B0503020204020204" pitchFamily="34" charset="-122"/>
              </a:rPr>
              <a:t>在与剪力相应的切应力</a:t>
            </a:r>
            <a:r>
              <a:rPr lang="zh-CN" altLang="en-US" sz="2800" b="0" dirty="0">
                <a:latin typeface="+mn-lt"/>
                <a:ea typeface="微软雅黑" panose="020B0503020204020204" pitchFamily="34" charset="-122"/>
                <a:sym typeface="Symbol" panose="05050102010706020507" pitchFamily="18" charset="2"/>
              </a:rPr>
              <a:t></a:t>
            </a:r>
            <a:r>
              <a:rPr lang="zh-CN" altLang="en-US" sz="2800" dirty="0">
                <a:latin typeface="+mn-lt"/>
                <a:ea typeface="微软雅黑" panose="020B0503020204020204" pitchFamily="34" charset="-122"/>
                <a:sym typeface="Symbol" panose="05050102010706020507" pitchFamily="18" charset="2"/>
              </a:rPr>
              <a:t> </a:t>
            </a:r>
            <a:r>
              <a:rPr lang="zh-CN" altLang="en-US" sz="2800" i="0" dirty="0">
                <a:latin typeface="+mn-lt"/>
                <a:ea typeface="微软雅黑" panose="020B0503020204020204" pitchFamily="34" charset="-122"/>
              </a:rPr>
              <a:t>的作用下，单元体的右面相对左面发生错动，使原来的直角改变了一个微量 </a:t>
            </a:r>
            <a:r>
              <a:rPr lang="zh-CN" altLang="en-US" sz="2800" b="0" dirty="0">
                <a:latin typeface="+mn-lt"/>
                <a:ea typeface="微软雅黑" panose="020B0503020204020204" pitchFamily="34" charset="-122"/>
                <a:sym typeface="Symbol" panose="05050102010706020507" pitchFamily="18" charset="2"/>
              </a:rPr>
              <a:t></a:t>
            </a:r>
            <a:r>
              <a:rPr lang="zh-CN" altLang="en-US" sz="2800" i="0" dirty="0">
                <a:latin typeface="+mn-lt"/>
                <a:ea typeface="微软雅黑" panose="020B0503020204020204" pitchFamily="34" charset="-122"/>
              </a:rPr>
              <a:t>，这就是切应变。</a:t>
            </a:r>
          </a:p>
          <a:p>
            <a:pPr algn="just">
              <a:lnSpc>
                <a:spcPct val="120000"/>
              </a:lnSpc>
            </a:pPr>
            <a:endParaRPr lang="zh-CN" altLang="en-US" sz="2800" i="0" dirty="0">
              <a:latin typeface="+mn-lt"/>
              <a:ea typeface="微软雅黑" panose="020B0503020204020204" pitchFamily="34" charset="-122"/>
            </a:endParaRPr>
          </a:p>
        </p:txBody>
      </p:sp>
      <p:sp>
        <p:nvSpPr>
          <p:cNvPr id="10" name="Rectangle 61">
            <a:extLst>
              <a:ext uri="{FF2B5EF4-FFF2-40B4-BE49-F238E27FC236}">
                <a16:creationId xmlns:a16="http://schemas.microsoft.com/office/drawing/2014/main" id="{A7BABA33-6C6E-5172-113C-D7F1D8E457C6}"/>
              </a:ext>
            </a:extLst>
          </p:cNvPr>
          <p:cNvSpPr>
            <a:spLocks noChangeArrowheads="1"/>
          </p:cNvSpPr>
          <p:nvPr/>
        </p:nvSpPr>
        <p:spPr bwMode="auto">
          <a:xfrm>
            <a:off x="1202722" y="3212976"/>
            <a:ext cx="9213758" cy="3024336"/>
          </a:xfrm>
          <a:prstGeom prst="rect">
            <a:avLst/>
          </a:prstGeom>
          <a:solidFill>
            <a:srgbClr val="B9CDE5"/>
          </a:solidFill>
          <a:ln>
            <a:noFill/>
          </a:ln>
          <a:effectLst/>
        </p:spPr>
        <p:txBody>
          <a:bodyPr wrap="none" anchor="ctr"/>
          <a:lstStyle/>
          <a:p>
            <a:endParaRPr lang="zh-CN" altLang="en-US" dirty="0"/>
          </a:p>
        </p:txBody>
      </p:sp>
      <p:sp>
        <p:nvSpPr>
          <p:cNvPr id="2" name="Line 5">
            <a:extLst>
              <a:ext uri="{FF2B5EF4-FFF2-40B4-BE49-F238E27FC236}">
                <a16:creationId xmlns:a16="http://schemas.microsoft.com/office/drawing/2014/main" id="{6C3F4BCF-29E9-D84E-1C4F-3CADE389FC05}"/>
              </a:ext>
            </a:extLst>
          </p:cNvPr>
          <p:cNvSpPr>
            <a:spLocks noChangeShapeType="1"/>
          </p:cNvSpPr>
          <p:nvPr/>
        </p:nvSpPr>
        <p:spPr bwMode="auto">
          <a:xfrm flipH="1" flipV="1">
            <a:off x="2394286" y="4408105"/>
            <a:ext cx="17462" cy="896938"/>
          </a:xfrm>
          <a:prstGeom prst="line">
            <a:avLst/>
          </a:prstGeom>
          <a:noFill/>
          <a:ln w="38100">
            <a:solidFill>
              <a:srgbClr val="FB1C05"/>
            </a:solidFill>
            <a:prstDash val="dash"/>
            <a:round/>
            <a:headEnd/>
            <a:tailEnd type="stealth" w="med" len="lg"/>
          </a:ln>
          <a:extLst>
            <a:ext uri="{909E8E84-426E-40DD-AFC4-6F175D3DCCD1}">
              <a14:hiddenFill xmlns:a14="http://schemas.microsoft.com/office/drawing/2010/main">
                <a:noFill/>
              </a14:hiddenFill>
            </a:ext>
          </a:extLst>
        </p:spPr>
        <p:txBody>
          <a:bodyPr/>
          <a:lstStyle/>
          <a:p>
            <a:pPr algn="ctr"/>
            <a:endParaRPr kumimoji="1" lang="zh-CN" altLang="en-US" b="0" i="0">
              <a:solidFill>
                <a:srgbClr val="0000FF"/>
              </a:solidFill>
              <a:ea typeface="黑体" panose="02010609060101010101" pitchFamily="49" charset="-122"/>
            </a:endParaRPr>
          </a:p>
        </p:txBody>
      </p:sp>
      <p:sp>
        <p:nvSpPr>
          <p:cNvPr id="3" name="Line 6">
            <a:extLst>
              <a:ext uri="{FF2B5EF4-FFF2-40B4-BE49-F238E27FC236}">
                <a16:creationId xmlns:a16="http://schemas.microsoft.com/office/drawing/2014/main" id="{ECB3E831-C8CC-AE42-8750-86F1C5C94C48}"/>
              </a:ext>
            </a:extLst>
          </p:cNvPr>
          <p:cNvSpPr>
            <a:spLocks noChangeShapeType="1"/>
          </p:cNvSpPr>
          <p:nvPr/>
        </p:nvSpPr>
        <p:spPr bwMode="auto">
          <a:xfrm rot="16200000" flipH="1">
            <a:off x="3203911" y="5185980"/>
            <a:ext cx="17462" cy="896938"/>
          </a:xfrm>
          <a:prstGeom prst="line">
            <a:avLst/>
          </a:prstGeom>
          <a:noFill/>
          <a:ln w="38100">
            <a:solidFill>
              <a:srgbClr val="FB1C05"/>
            </a:solidFill>
            <a:prstDash val="dash"/>
            <a:round/>
            <a:headEnd/>
            <a:tailEnd type="stealth" w="med" len="lg"/>
          </a:ln>
          <a:extLst>
            <a:ext uri="{909E8E84-426E-40DD-AFC4-6F175D3DCCD1}">
              <a14:hiddenFill xmlns:a14="http://schemas.microsoft.com/office/drawing/2010/main">
                <a:noFill/>
              </a14:hiddenFill>
            </a:ext>
          </a:extLst>
        </p:spPr>
        <p:txBody>
          <a:bodyPr/>
          <a:lstStyle/>
          <a:p>
            <a:pPr algn="ctr"/>
            <a:endParaRPr kumimoji="1" lang="zh-CN" altLang="en-US" b="0" i="0">
              <a:solidFill>
                <a:srgbClr val="0000FF"/>
              </a:solidFill>
              <a:ea typeface="黑体" panose="02010609060101010101" pitchFamily="49" charset="-122"/>
            </a:endParaRPr>
          </a:p>
        </p:txBody>
      </p:sp>
      <p:sp>
        <p:nvSpPr>
          <p:cNvPr id="4" name="Text Box 7">
            <a:extLst>
              <a:ext uri="{FF2B5EF4-FFF2-40B4-BE49-F238E27FC236}">
                <a16:creationId xmlns:a16="http://schemas.microsoft.com/office/drawing/2014/main" id="{A1D4340E-0A4D-AD80-1F84-8F454B37EE9D}"/>
              </a:ext>
            </a:extLst>
          </p:cNvPr>
          <p:cNvSpPr txBox="1">
            <a:spLocks noChangeArrowheads="1"/>
          </p:cNvSpPr>
          <p:nvPr/>
        </p:nvSpPr>
        <p:spPr bwMode="auto">
          <a:xfrm>
            <a:off x="2849898" y="3212718"/>
            <a:ext cx="831850" cy="75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219456" tIns="109728" rIns="219456" bIns="109728"/>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hangingPunct="1"/>
            <a:r>
              <a:rPr lang="en-US" altLang="zh-CN" sz="3200" b="0">
                <a:solidFill>
                  <a:srgbClr val="FF0000"/>
                </a:solidFill>
                <a:ea typeface="宋体" panose="02010600030101010101" pitchFamily="2" charset="-122"/>
                <a:sym typeface="Symbol" panose="05050102010706020507" pitchFamily="18" charset="2"/>
              </a:rPr>
              <a:t></a:t>
            </a:r>
            <a:r>
              <a:rPr lang="en-US" altLang="zh-CN" sz="3200" b="0">
                <a:solidFill>
                  <a:srgbClr val="FF0000"/>
                </a:solidFill>
                <a:ea typeface="宋体" panose="02010600030101010101" pitchFamily="2" charset="-122"/>
                <a:cs typeface="Times New Roman" panose="02020603050405020304" pitchFamily="18" charset="0"/>
                <a:sym typeface="Symbol" panose="05050102010706020507" pitchFamily="18" charset="2"/>
              </a:rPr>
              <a:t>'</a:t>
            </a:r>
            <a:endParaRPr lang="en-US" altLang="zh-CN" sz="3200" b="0" i="0">
              <a:solidFill>
                <a:srgbClr val="FF0000"/>
              </a:solidFill>
              <a:latin typeface="" pitchFamily="18" charset="-52"/>
              <a:ea typeface="宋体" panose="02010600030101010101" pitchFamily="2" charset="-122"/>
            </a:endParaRPr>
          </a:p>
        </p:txBody>
      </p:sp>
      <p:grpSp>
        <p:nvGrpSpPr>
          <p:cNvPr id="8" name="Group 8">
            <a:extLst>
              <a:ext uri="{FF2B5EF4-FFF2-40B4-BE49-F238E27FC236}">
                <a16:creationId xmlns:a16="http://schemas.microsoft.com/office/drawing/2014/main" id="{6266A921-9B3D-9712-DC00-BFE0597A2A5B}"/>
              </a:ext>
            </a:extLst>
          </p:cNvPr>
          <p:cNvGrpSpPr>
            <a:grpSpLocks/>
          </p:cNvGrpSpPr>
          <p:nvPr/>
        </p:nvGrpSpPr>
        <p:grpSpPr bwMode="auto">
          <a:xfrm>
            <a:off x="2232361" y="3763580"/>
            <a:ext cx="2073275" cy="2063750"/>
            <a:chOff x="4036" y="1291"/>
            <a:chExt cx="1306" cy="1300"/>
          </a:xfrm>
        </p:grpSpPr>
        <p:grpSp>
          <p:nvGrpSpPr>
            <p:cNvPr id="11" name="Group 9">
              <a:extLst>
                <a:ext uri="{FF2B5EF4-FFF2-40B4-BE49-F238E27FC236}">
                  <a16:creationId xmlns:a16="http://schemas.microsoft.com/office/drawing/2014/main" id="{5CE6E08E-4FE7-2527-9134-267D33D00C81}"/>
                </a:ext>
              </a:extLst>
            </p:cNvPr>
            <p:cNvGrpSpPr>
              <a:grpSpLocks/>
            </p:cNvGrpSpPr>
            <p:nvPr/>
          </p:nvGrpSpPr>
          <p:grpSpPr bwMode="auto">
            <a:xfrm>
              <a:off x="4036" y="1291"/>
              <a:ext cx="1306" cy="1300"/>
              <a:chOff x="3900" y="612"/>
              <a:chExt cx="1306" cy="1300"/>
            </a:xfrm>
          </p:grpSpPr>
          <p:sp>
            <p:nvSpPr>
              <p:cNvPr id="15" name="Line 10">
                <a:extLst>
                  <a:ext uri="{FF2B5EF4-FFF2-40B4-BE49-F238E27FC236}">
                    <a16:creationId xmlns:a16="http://schemas.microsoft.com/office/drawing/2014/main" id="{7C013D1F-7C08-EFFE-70FF-3F9D1B09FE79}"/>
                  </a:ext>
                </a:extLst>
              </p:cNvPr>
              <p:cNvSpPr>
                <a:spLocks noChangeShapeType="1"/>
              </p:cNvSpPr>
              <p:nvPr/>
            </p:nvSpPr>
            <p:spPr bwMode="auto">
              <a:xfrm flipV="1">
                <a:off x="4951" y="632"/>
                <a:ext cx="227" cy="234"/>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FF"/>
                  </a:solidFill>
                  <a:effectLst/>
                  <a:uLnTx/>
                  <a:uFillTx/>
                  <a:ea typeface="黑体" panose="02010609060101010101" pitchFamily="49" charset="-122"/>
                </a:endParaRPr>
              </a:p>
            </p:txBody>
          </p:sp>
          <p:sp>
            <p:nvSpPr>
              <p:cNvPr id="37" name="Line 11">
                <a:extLst>
                  <a:ext uri="{FF2B5EF4-FFF2-40B4-BE49-F238E27FC236}">
                    <a16:creationId xmlns:a16="http://schemas.microsoft.com/office/drawing/2014/main" id="{D13C0D48-77F2-F501-E67D-1CD8F7BF2753}"/>
                  </a:ext>
                </a:extLst>
              </p:cNvPr>
              <p:cNvSpPr>
                <a:spLocks noChangeShapeType="1"/>
              </p:cNvSpPr>
              <p:nvPr/>
            </p:nvSpPr>
            <p:spPr bwMode="auto">
              <a:xfrm>
                <a:off x="5189" y="612"/>
                <a:ext cx="10" cy="105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FF"/>
                  </a:solidFill>
                  <a:effectLst/>
                  <a:uLnTx/>
                  <a:uFillTx/>
                  <a:ea typeface="黑体" panose="02010609060101010101" pitchFamily="49" charset="-122"/>
                </a:endParaRPr>
              </a:p>
            </p:txBody>
          </p:sp>
          <p:sp>
            <p:nvSpPr>
              <p:cNvPr id="38" name="Line 12">
                <a:extLst>
                  <a:ext uri="{FF2B5EF4-FFF2-40B4-BE49-F238E27FC236}">
                    <a16:creationId xmlns:a16="http://schemas.microsoft.com/office/drawing/2014/main" id="{E07D9E9B-22A4-F403-1EB8-76B4169363C0}"/>
                  </a:ext>
                </a:extLst>
              </p:cNvPr>
              <p:cNvSpPr>
                <a:spLocks noChangeShapeType="1"/>
              </p:cNvSpPr>
              <p:nvPr/>
            </p:nvSpPr>
            <p:spPr bwMode="auto">
              <a:xfrm>
                <a:off x="4137" y="1657"/>
                <a:ext cx="1056" cy="0"/>
              </a:xfrm>
              <a:prstGeom prst="line">
                <a:avLst/>
              </a:prstGeom>
              <a:noFill/>
              <a:ln w="38100">
                <a:solidFill>
                  <a:srgbClr val="000000"/>
                </a:solidFill>
                <a:prstDash val="dash"/>
                <a:round/>
                <a:headEnd/>
                <a:tailE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FF"/>
                  </a:solidFill>
                  <a:effectLst/>
                  <a:uLnTx/>
                  <a:uFillTx/>
                  <a:ea typeface="黑体" panose="02010609060101010101" pitchFamily="49" charset="-122"/>
                </a:endParaRPr>
              </a:p>
            </p:txBody>
          </p:sp>
          <p:sp>
            <p:nvSpPr>
              <p:cNvPr id="39" name="Line 13">
                <a:extLst>
                  <a:ext uri="{FF2B5EF4-FFF2-40B4-BE49-F238E27FC236}">
                    <a16:creationId xmlns:a16="http://schemas.microsoft.com/office/drawing/2014/main" id="{C09BE5AE-24EC-1E1B-5DB0-8505A393018D}"/>
                  </a:ext>
                </a:extLst>
              </p:cNvPr>
              <p:cNvSpPr>
                <a:spLocks noChangeShapeType="1"/>
              </p:cNvSpPr>
              <p:nvPr/>
            </p:nvSpPr>
            <p:spPr bwMode="auto">
              <a:xfrm flipV="1">
                <a:off x="4952" y="1651"/>
                <a:ext cx="254" cy="261"/>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FF"/>
                  </a:solidFill>
                  <a:effectLst/>
                  <a:uLnTx/>
                  <a:uFillTx/>
                  <a:ea typeface="黑体" panose="02010609060101010101" pitchFamily="49" charset="-122"/>
                </a:endParaRPr>
              </a:p>
            </p:txBody>
          </p:sp>
          <p:sp>
            <p:nvSpPr>
              <p:cNvPr id="40" name="Line 14">
                <a:extLst>
                  <a:ext uri="{FF2B5EF4-FFF2-40B4-BE49-F238E27FC236}">
                    <a16:creationId xmlns:a16="http://schemas.microsoft.com/office/drawing/2014/main" id="{3716DC2A-49AE-AD3B-D6C1-84CE3D449BBE}"/>
                  </a:ext>
                </a:extLst>
              </p:cNvPr>
              <p:cNvSpPr>
                <a:spLocks noChangeShapeType="1"/>
              </p:cNvSpPr>
              <p:nvPr/>
            </p:nvSpPr>
            <p:spPr bwMode="auto">
              <a:xfrm>
                <a:off x="4139" y="620"/>
                <a:ext cx="1056"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FF"/>
                  </a:solidFill>
                  <a:effectLst/>
                  <a:uLnTx/>
                  <a:uFillTx/>
                  <a:ea typeface="黑体" panose="02010609060101010101" pitchFamily="49" charset="-122"/>
                </a:endParaRPr>
              </a:p>
            </p:txBody>
          </p:sp>
          <p:sp>
            <p:nvSpPr>
              <p:cNvPr id="41" name="Line 15">
                <a:extLst>
                  <a:ext uri="{FF2B5EF4-FFF2-40B4-BE49-F238E27FC236}">
                    <a16:creationId xmlns:a16="http://schemas.microsoft.com/office/drawing/2014/main" id="{799D1ABD-4E3A-61FE-EB2E-5A08CC656047}"/>
                  </a:ext>
                </a:extLst>
              </p:cNvPr>
              <p:cNvSpPr>
                <a:spLocks noChangeShapeType="1"/>
              </p:cNvSpPr>
              <p:nvPr/>
            </p:nvSpPr>
            <p:spPr bwMode="auto">
              <a:xfrm>
                <a:off x="4139" y="617"/>
                <a:ext cx="11" cy="1048"/>
              </a:xfrm>
              <a:prstGeom prst="line">
                <a:avLst/>
              </a:prstGeom>
              <a:noFill/>
              <a:ln w="38100">
                <a:solidFill>
                  <a:srgbClr val="000000"/>
                </a:solidFill>
                <a:prstDash val="dash"/>
                <a:round/>
                <a:headEnd/>
                <a:tailE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FF"/>
                  </a:solidFill>
                  <a:effectLst/>
                  <a:uLnTx/>
                  <a:uFillTx/>
                  <a:ea typeface="黑体" panose="02010609060101010101" pitchFamily="49" charset="-122"/>
                </a:endParaRPr>
              </a:p>
            </p:txBody>
          </p:sp>
          <p:sp>
            <p:nvSpPr>
              <p:cNvPr id="42" name="Line 16">
                <a:extLst>
                  <a:ext uri="{FF2B5EF4-FFF2-40B4-BE49-F238E27FC236}">
                    <a16:creationId xmlns:a16="http://schemas.microsoft.com/office/drawing/2014/main" id="{827AB174-A937-C913-2272-09F85047725C}"/>
                  </a:ext>
                </a:extLst>
              </p:cNvPr>
              <p:cNvSpPr>
                <a:spLocks noChangeShapeType="1"/>
              </p:cNvSpPr>
              <p:nvPr/>
            </p:nvSpPr>
            <p:spPr bwMode="auto">
              <a:xfrm flipV="1">
                <a:off x="3906" y="1643"/>
                <a:ext cx="253" cy="261"/>
              </a:xfrm>
              <a:prstGeom prst="line">
                <a:avLst/>
              </a:prstGeom>
              <a:noFill/>
              <a:ln w="38100">
                <a:solidFill>
                  <a:srgbClr val="000000"/>
                </a:solidFill>
                <a:prstDash val="dash"/>
                <a:round/>
                <a:headEnd/>
                <a:tailE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FF"/>
                  </a:solidFill>
                  <a:effectLst/>
                  <a:uLnTx/>
                  <a:uFillTx/>
                  <a:ea typeface="黑体" panose="02010609060101010101" pitchFamily="49" charset="-122"/>
                </a:endParaRPr>
              </a:p>
            </p:txBody>
          </p:sp>
          <p:sp>
            <p:nvSpPr>
              <p:cNvPr id="43" name="Line 17">
                <a:extLst>
                  <a:ext uri="{FF2B5EF4-FFF2-40B4-BE49-F238E27FC236}">
                    <a16:creationId xmlns:a16="http://schemas.microsoft.com/office/drawing/2014/main" id="{FC991CE5-3549-832B-CA0C-0F4A91F9A74E}"/>
                  </a:ext>
                </a:extLst>
              </p:cNvPr>
              <p:cNvSpPr>
                <a:spLocks noChangeShapeType="1"/>
              </p:cNvSpPr>
              <p:nvPr/>
            </p:nvSpPr>
            <p:spPr bwMode="auto">
              <a:xfrm flipV="1">
                <a:off x="3900" y="616"/>
                <a:ext cx="246" cy="243"/>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FF"/>
                  </a:solidFill>
                  <a:effectLst/>
                  <a:uLnTx/>
                  <a:uFillTx/>
                  <a:ea typeface="黑体" panose="02010609060101010101" pitchFamily="49" charset="-122"/>
                </a:endParaRPr>
              </a:p>
            </p:txBody>
          </p:sp>
          <p:sp>
            <p:nvSpPr>
              <p:cNvPr id="44" name="Rectangle 18">
                <a:extLst>
                  <a:ext uri="{FF2B5EF4-FFF2-40B4-BE49-F238E27FC236}">
                    <a16:creationId xmlns:a16="http://schemas.microsoft.com/office/drawing/2014/main" id="{A8B9E150-4E2D-22AF-5709-8396EF3EA023}"/>
                  </a:ext>
                </a:extLst>
              </p:cNvPr>
              <p:cNvSpPr>
                <a:spLocks noChangeArrowheads="1"/>
              </p:cNvSpPr>
              <p:nvPr/>
            </p:nvSpPr>
            <p:spPr bwMode="auto">
              <a:xfrm>
                <a:off x="3907" y="866"/>
                <a:ext cx="1045" cy="1045"/>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zh-CN" sz="1800" b="0" i="0" u="none" strike="noStrike" kern="0" cap="none" spc="0" normalizeH="0" baseline="0" noProof="0">
                  <a:ln>
                    <a:noFill/>
                  </a:ln>
                  <a:solidFill>
                    <a:srgbClr val="000000"/>
                  </a:solidFill>
                  <a:effectLst/>
                  <a:uLnTx/>
                  <a:uFillTx/>
                  <a:latin typeface="" pitchFamily="18" charset="-52"/>
                  <a:ea typeface="宋体" panose="02010600030101010101" pitchFamily="2" charset="-122"/>
                </a:endParaRPr>
              </a:p>
            </p:txBody>
          </p:sp>
        </p:grpSp>
        <p:sp>
          <p:nvSpPr>
            <p:cNvPr id="12" name="AutoShape 19">
              <a:extLst>
                <a:ext uri="{FF2B5EF4-FFF2-40B4-BE49-F238E27FC236}">
                  <a16:creationId xmlns:a16="http://schemas.microsoft.com/office/drawing/2014/main" id="{F23414B2-45BA-CBA3-9A02-4BE5ADB48BAF}"/>
                </a:ext>
              </a:extLst>
            </p:cNvPr>
            <p:cNvSpPr>
              <a:spLocks noChangeArrowheads="1"/>
            </p:cNvSpPr>
            <p:nvPr/>
          </p:nvSpPr>
          <p:spPr bwMode="auto">
            <a:xfrm>
              <a:off x="4052" y="1307"/>
              <a:ext cx="1256" cy="228"/>
            </a:xfrm>
            <a:prstGeom prst="parallelogram">
              <a:avLst>
                <a:gd name="adj" fmla="val 100204"/>
              </a:avLst>
            </a:prstGeom>
            <a:gradFill rotWithShape="1">
              <a:gsLst>
                <a:gs pos="0">
                  <a:srgbClr val="969696">
                    <a:alpha val="60001"/>
                  </a:srgbClr>
                </a:gs>
                <a:gs pos="50000">
                  <a:srgbClr val="C0C0C0">
                    <a:alpha val="60001"/>
                  </a:srgbClr>
                </a:gs>
                <a:gs pos="100000">
                  <a:srgbClr val="969696">
                    <a:alpha val="60001"/>
                  </a:srgbClr>
                </a:gs>
              </a:gsLst>
              <a:lin ang="0" scaled="1"/>
            </a:gradFill>
            <a:ln>
              <a:noFill/>
            </a:ln>
            <a:extLst>
              <a:ext uri="{91240B29-F687-4F45-9708-019B960494DF}">
                <a14:hiddenLine xmlns:a14="http://schemas.microsoft.com/office/drawing/2010/main" w="38100" algn="ctr">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FF"/>
                </a:solidFill>
                <a:effectLst/>
                <a:uLnTx/>
                <a:uFillTx/>
                <a:latin typeface="Times New Roman" panose="02020603050405020304" pitchFamily="18" charset="0"/>
                <a:ea typeface="黑体" panose="02010609060101010101" pitchFamily="49" charset="-122"/>
              </a:endParaRPr>
            </a:p>
          </p:txBody>
        </p:sp>
        <p:sp>
          <p:nvSpPr>
            <p:cNvPr id="13" name="Rectangle 20">
              <a:extLst>
                <a:ext uri="{FF2B5EF4-FFF2-40B4-BE49-F238E27FC236}">
                  <a16:creationId xmlns:a16="http://schemas.microsoft.com/office/drawing/2014/main" id="{3FDFA400-9585-D7C0-F6DA-A987A0E9DFCD}"/>
                </a:ext>
              </a:extLst>
            </p:cNvPr>
            <p:cNvSpPr>
              <a:spLocks noChangeArrowheads="1"/>
            </p:cNvSpPr>
            <p:nvPr/>
          </p:nvSpPr>
          <p:spPr bwMode="auto">
            <a:xfrm>
              <a:off x="4055" y="1557"/>
              <a:ext cx="1021" cy="1017"/>
            </a:xfrm>
            <a:prstGeom prst="rect">
              <a:avLst/>
            </a:prstGeom>
            <a:gradFill rotWithShape="1">
              <a:gsLst>
                <a:gs pos="0">
                  <a:srgbClr val="969696">
                    <a:alpha val="60001"/>
                  </a:srgbClr>
                </a:gs>
                <a:gs pos="50000">
                  <a:srgbClr val="C0C0C0">
                    <a:alpha val="60001"/>
                  </a:srgbClr>
                </a:gs>
                <a:gs pos="100000">
                  <a:srgbClr val="969696">
                    <a:alpha val="60001"/>
                  </a:srgbClr>
                </a:gs>
              </a:gsLst>
              <a:lin ang="0" scaled="1"/>
            </a:gradFill>
            <a:ln>
              <a:noFill/>
            </a:ln>
            <a:extLst>
              <a:ext uri="{91240B29-F687-4F45-9708-019B960494DF}">
                <a14:hiddenLine xmlns:a14="http://schemas.microsoft.com/office/drawing/2010/main" w="38100">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zh-CN" sz="1800" b="0" i="0" u="none" strike="noStrike" kern="0" cap="none" spc="0" normalizeH="0" baseline="0" noProof="0">
                <a:ln>
                  <a:noFill/>
                </a:ln>
                <a:solidFill>
                  <a:srgbClr val="000000"/>
                </a:solidFill>
                <a:effectLst/>
                <a:uLnTx/>
                <a:uFillTx/>
                <a:latin typeface="" pitchFamily="18" charset="-52"/>
                <a:ea typeface="宋体" panose="02010600030101010101" pitchFamily="2" charset="-122"/>
              </a:endParaRPr>
            </a:p>
          </p:txBody>
        </p:sp>
        <p:sp>
          <p:nvSpPr>
            <p:cNvPr id="14" name="AutoShape 21">
              <a:extLst>
                <a:ext uri="{FF2B5EF4-FFF2-40B4-BE49-F238E27FC236}">
                  <a16:creationId xmlns:a16="http://schemas.microsoft.com/office/drawing/2014/main" id="{B81848B0-1186-E8D8-51F6-47E5514B4CAA}"/>
                </a:ext>
              </a:extLst>
            </p:cNvPr>
            <p:cNvSpPr>
              <a:spLocks noChangeArrowheads="1"/>
            </p:cNvSpPr>
            <p:nvPr/>
          </p:nvSpPr>
          <p:spPr bwMode="auto">
            <a:xfrm rot="16200000" flipH="1">
              <a:off x="4580" y="1835"/>
              <a:ext cx="1256" cy="228"/>
            </a:xfrm>
            <a:prstGeom prst="parallelogram">
              <a:avLst>
                <a:gd name="adj" fmla="val 100204"/>
              </a:avLst>
            </a:prstGeom>
            <a:gradFill rotWithShape="1">
              <a:gsLst>
                <a:gs pos="0">
                  <a:srgbClr val="969696">
                    <a:alpha val="60001"/>
                  </a:srgbClr>
                </a:gs>
                <a:gs pos="50000">
                  <a:srgbClr val="C0C0C0">
                    <a:alpha val="60001"/>
                  </a:srgbClr>
                </a:gs>
                <a:gs pos="100000">
                  <a:srgbClr val="969696">
                    <a:alpha val="60001"/>
                  </a:srgbClr>
                </a:gs>
              </a:gsLst>
              <a:lin ang="0" scaled="1"/>
            </a:gradFill>
            <a:ln>
              <a:noFill/>
            </a:ln>
            <a:extLst>
              <a:ext uri="{91240B29-F687-4F45-9708-019B960494DF}">
                <a14:hiddenLine xmlns:a14="http://schemas.microsoft.com/office/drawing/2010/main" w="38100" algn="ctr">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FF"/>
                </a:solidFill>
                <a:effectLst/>
                <a:uLnTx/>
                <a:uFillTx/>
                <a:latin typeface="Times New Roman" panose="02020603050405020304" pitchFamily="18" charset="0"/>
                <a:ea typeface="黑体" panose="02010609060101010101" pitchFamily="49" charset="-122"/>
              </a:endParaRPr>
            </a:p>
          </p:txBody>
        </p:sp>
      </p:grpSp>
      <p:sp>
        <p:nvSpPr>
          <p:cNvPr id="45" name="Line 22">
            <a:extLst>
              <a:ext uri="{FF2B5EF4-FFF2-40B4-BE49-F238E27FC236}">
                <a16:creationId xmlns:a16="http://schemas.microsoft.com/office/drawing/2014/main" id="{EACF90A6-8AAD-E20B-69D2-D4C8CFFDF7FC}"/>
              </a:ext>
            </a:extLst>
          </p:cNvPr>
          <p:cNvSpPr>
            <a:spLocks noChangeShapeType="1"/>
          </p:cNvSpPr>
          <p:nvPr/>
        </p:nvSpPr>
        <p:spPr bwMode="auto">
          <a:xfrm>
            <a:off x="4040523" y="4227130"/>
            <a:ext cx="12700" cy="911225"/>
          </a:xfrm>
          <a:prstGeom prst="line">
            <a:avLst/>
          </a:prstGeom>
          <a:noFill/>
          <a:ln w="38100">
            <a:solidFill>
              <a:srgbClr val="FB1C05"/>
            </a:solidFill>
            <a:round/>
            <a:headEnd/>
            <a:tailEnd type="stealth" w="med" len="lg"/>
          </a:ln>
          <a:extLst>
            <a:ext uri="{909E8E84-426E-40DD-AFC4-6F175D3DCCD1}">
              <a14:hiddenFill xmlns:a14="http://schemas.microsoft.com/office/drawing/2010/main">
                <a:noFill/>
              </a14:hiddenFill>
            </a:ext>
          </a:extLst>
        </p:spPr>
        <p:txBody>
          <a:bodyPr/>
          <a:lstStyle/>
          <a:p>
            <a:pPr algn="ctr"/>
            <a:endParaRPr kumimoji="1" lang="zh-CN" altLang="en-US" b="0" i="0">
              <a:solidFill>
                <a:srgbClr val="0000FF"/>
              </a:solidFill>
              <a:ea typeface="黑体" panose="02010609060101010101" pitchFamily="49" charset="-122"/>
            </a:endParaRPr>
          </a:p>
        </p:txBody>
      </p:sp>
      <p:sp>
        <p:nvSpPr>
          <p:cNvPr id="46" name="Line 23">
            <a:extLst>
              <a:ext uri="{FF2B5EF4-FFF2-40B4-BE49-F238E27FC236}">
                <a16:creationId xmlns:a16="http://schemas.microsoft.com/office/drawing/2014/main" id="{B5B1FF65-7CAF-0B4C-FA7C-E01D8FC71666}"/>
              </a:ext>
            </a:extLst>
          </p:cNvPr>
          <p:cNvSpPr>
            <a:spLocks noChangeShapeType="1"/>
          </p:cNvSpPr>
          <p:nvPr/>
        </p:nvSpPr>
        <p:spPr bwMode="auto">
          <a:xfrm rot="5400000" flipH="1">
            <a:off x="3226929" y="3497674"/>
            <a:ext cx="3175" cy="896938"/>
          </a:xfrm>
          <a:prstGeom prst="line">
            <a:avLst/>
          </a:prstGeom>
          <a:noFill/>
          <a:ln w="38100">
            <a:solidFill>
              <a:srgbClr val="FB1C05"/>
            </a:solidFill>
            <a:round/>
            <a:headEnd/>
            <a:tailEnd type="stealth" w="med" len="lg"/>
          </a:ln>
          <a:extLst>
            <a:ext uri="{909E8E84-426E-40DD-AFC4-6F175D3DCCD1}">
              <a14:hiddenFill xmlns:a14="http://schemas.microsoft.com/office/drawing/2010/main">
                <a:noFill/>
              </a14:hiddenFill>
            </a:ext>
          </a:extLst>
        </p:spPr>
        <p:txBody>
          <a:bodyPr/>
          <a:lstStyle/>
          <a:p>
            <a:pPr algn="ctr"/>
            <a:endParaRPr kumimoji="1" lang="zh-CN" altLang="en-US" b="0" i="0">
              <a:solidFill>
                <a:srgbClr val="0000FF"/>
              </a:solidFill>
              <a:ea typeface="黑体" panose="02010609060101010101" pitchFamily="49" charset="-122"/>
            </a:endParaRPr>
          </a:p>
        </p:txBody>
      </p:sp>
      <p:sp>
        <p:nvSpPr>
          <p:cNvPr id="47" name="Text Box 24">
            <a:extLst>
              <a:ext uri="{FF2B5EF4-FFF2-40B4-BE49-F238E27FC236}">
                <a16:creationId xmlns:a16="http://schemas.microsoft.com/office/drawing/2014/main" id="{85075046-A4CF-E915-50F5-18C61C3655A0}"/>
              </a:ext>
            </a:extLst>
          </p:cNvPr>
          <p:cNvSpPr txBox="1">
            <a:spLocks noChangeArrowheads="1"/>
          </p:cNvSpPr>
          <p:nvPr/>
        </p:nvSpPr>
        <p:spPr bwMode="auto">
          <a:xfrm>
            <a:off x="4030998" y="4227130"/>
            <a:ext cx="635000" cy="59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219456" tIns="109728" rIns="219456" bIns="109728"/>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3200" b="0" i="0" u="none" strike="noStrike" kern="0" cap="none" spc="0" normalizeH="0" baseline="0" noProof="0">
                <a:ln>
                  <a:noFill/>
                </a:ln>
                <a:solidFill>
                  <a:srgbClr val="FF0000"/>
                </a:solidFill>
                <a:effectLst/>
                <a:uLnTx/>
                <a:uFillTx/>
                <a:latin typeface="Times New Roman" panose="02020603050405020304" pitchFamily="18" charset="0"/>
                <a:ea typeface="黑体" panose="02010609060101010101" pitchFamily="49" charset="-122"/>
                <a:sym typeface="Symbol" panose="05050102010706020507" pitchFamily="18" charset="2"/>
              </a:rPr>
              <a:t></a:t>
            </a:r>
          </a:p>
        </p:txBody>
      </p:sp>
      <p:sp>
        <p:nvSpPr>
          <p:cNvPr id="48" name="Text Box 25">
            <a:extLst>
              <a:ext uri="{FF2B5EF4-FFF2-40B4-BE49-F238E27FC236}">
                <a16:creationId xmlns:a16="http://schemas.microsoft.com/office/drawing/2014/main" id="{C4DA70ED-4F0C-4B9A-68F9-A742FD196E18}"/>
              </a:ext>
            </a:extLst>
          </p:cNvPr>
          <p:cNvSpPr txBox="1">
            <a:spLocks noChangeArrowheads="1"/>
          </p:cNvSpPr>
          <p:nvPr/>
        </p:nvSpPr>
        <p:spPr bwMode="auto">
          <a:xfrm>
            <a:off x="2900698" y="5625718"/>
            <a:ext cx="831850" cy="75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219456" tIns="109728" rIns="219456" bIns="109728"/>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hangingPunct="1"/>
            <a:r>
              <a:rPr lang="en-US" altLang="zh-CN" sz="3200" b="0">
                <a:solidFill>
                  <a:srgbClr val="FF0000"/>
                </a:solidFill>
                <a:ea typeface="宋体" panose="02010600030101010101" pitchFamily="2" charset="-122"/>
                <a:sym typeface="Symbol" panose="05050102010706020507" pitchFamily="18" charset="2"/>
              </a:rPr>
              <a:t></a:t>
            </a:r>
            <a:r>
              <a:rPr lang="en-US" altLang="zh-CN" sz="3200" b="0">
                <a:solidFill>
                  <a:srgbClr val="FF0000"/>
                </a:solidFill>
                <a:ea typeface="宋体" panose="02010600030101010101" pitchFamily="2" charset="-122"/>
                <a:cs typeface="Times New Roman" panose="02020603050405020304" pitchFamily="18" charset="0"/>
                <a:sym typeface="Symbol" panose="05050102010706020507" pitchFamily="18" charset="2"/>
              </a:rPr>
              <a:t>'</a:t>
            </a:r>
            <a:endParaRPr lang="en-US" altLang="zh-CN" sz="3200" b="0" i="0">
              <a:solidFill>
                <a:srgbClr val="FF0000"/>
              </a:solidFill>
              <a:latin typeface="" pitchFamily="18" charset="-52"/>
              <a:ea typeface="宋体" panose="02010600030101010101" pitchFamily="2" charset="-122"/>
            </a:endParaRPr>
          </a:p>
        </p:txBody>
      </p:sp>
      <p:sp>
        <p:nvSpPr>
          <p:cNvPr id="49" name="Text Box 26">
            <a:extLst>
              <a:ext uri="{FF2B5EF4-FFF2-40B4-BE49-F238E27FC236}">
                <a16:creationId xmlns:a16="http://schemas.microsoft.com/office/drawing/2014/main" id="{C93383B9-6106-3AE1-7B8F-8392EF2938D3}"/>
              </a:ext>
            </a:extLst>
          </p:cNvPr>
          <p:cNvSpPr txBox="1">
            <a:spLocks noChangeArrowheads="1"/>
          </p:cNvSpPr>
          <p:nvPr/>
        </p:nvSpPr>
        <p:spPr bwMode="auto">
          <a:xfrm>
            <a:off x="1749761" y="4416043"/>
            <a:ext cx="635000" cy="59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219456" tIns="109728" rIns="219456" bIns="109728"/>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3200" b="0" i="0" u="none" strike="noStrike" kern="0" cap="none" spc="0" normalizeH="0" baseline="0" noProof="0">
                <a:ln>
                  <a:noFill/>
                </a:ln>
                <a:solidFill>
                  <a:srgbClr val="FF0000"/>
                </a:solidFill>
                <a:effectLst/>
                <a:uLnTx/>
                <a:uFillTx/>
                <a:latin typeface="Times New Roman" panose="02020603050405020304" pitchFamily="18" charset="0"/>
                <a:ea typeface="黑体" panose="02010609060101010101" pitchFamily="49" charset="-122"/>
                <a:sym typeface="Symbol" panose="05050102010706020507" pitchFamily="18" charset="2"/>
              </a:rPr>
              <a:t></a:t>
            </a:r>
          </a:p>
        </p:txBody>
      </p:sp>
      <p:pic>
        <p:nvPicPr>
          <p:cNvPr id="54" name="Picture 32" descr="切应变2">
            <a:extLst>
              <a:ext uri="{FF2B5EF4-FFF2-40B4-BE49-F238E27FC236}">
                <a16:creationId xmlns:a16="http://schemas.microsoft.com/office/drawing/2014/main" id="{7CDE94F5-17AE-54A3-6F5E-A7DEAE254498}"/>
              </a:ext>
            </a:extLst>
          </p:cNvPr>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a:off x="6049963" y="3292490"/>
            <a:ext cx="2768600" cy="2859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 name="Rectangle 33">
            <a:extLst>
              <a:ext uri="{FF2B5EF4-FFF2-40B4-BE49-F238E27FC236}">
                <a16:creationId xmlns:a16="http://schemas.microsoft.com/office/drawing/2014/main" id="{F1ACC267-78B8-AE1C-03AA-D9A88C7018E6}"/>
              </a:ext>
            </a:extLst>
          </p:cNvPr>
          <p:cNvSpPr>
            <a:spLocks noChangeArrowheads="1"/>
          </p:cNvSpPr>
          <p:nvPr/>
        </p:nvSpPr>
        <p:spPr bwMode="auto">
          <a:xfrm>
            <a:off x="6438900" y="3721115"/>
            <a:ext cx="1995488" cy="2000250"/>
          </a:xfrm>
          <a:prstGeom prst="rect">
            <a:avLst/>
          </a:prstGeom>
          <a:gradFill rotWithShape="1">
            <a:gsLst>
              <a:gs pos="0">
                <a:srgbClr val="C0C0C0"/>
              </a:gs>
              <a:gs pos="50000">
                <a:srgbClr val="DDDDDD"/>
              </a:gs>
              <a:gs pos="100000">
                <a:srgbClr val="C0C0C0"/>
              </a:gs>
            </a:gsLst>
            <a:lin ang="0" scaled="1"/>
          </a:gradFill>
          <a:ln w="38100">
            <a:solidFill>
              <a:srgbClr val="000000"/>
            </a:solidFill>
            <a:miter lim="800000"/>
            <a:headEnd/>
            <a:tailEnd/>
          </a:ln>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FF"/>
              </a:solidFill>
              <a:effectLst/>
              <a:uLnTx/>
              <a:uFillTx/>
              <a:latin typeface="Times New Roman" panose="02020603050405020304" pitchFamily="18" charset="0"/>
              <a:ea typeface="黑体" panose="02010609060101010101" pitchFamily="49" charset="-122"/>
            </a:endParaRPr>
          </a:p>
        </p:txBody>
      </p:sp>
      <p:sp>
        <p:nvSpPr>
          <p:cNvPr id="56" name="Line 34">
            <a:extLst>
              <a:ext uri="{FF2B5EF4-FFF2-40B4-BE49-F238E27FC236}">
                <a16:creationId xmlns:a16="http://schemas.microsoft.com/office/drawing/2014/main" id="{24D6B25A-ED41-3BC3-AD6A-7A6156BD108E}"/>
              </a:ext>
            </a:extLst>
          </p:cNvPr>
          <p:cNvSpPr>
            <a:spLocks noChangeAspect="1" noChangeShapeType="1"/>
          </p:cNvSpPr>
          <p:nvPr/>
        </p:nvSpPr>
        <p:spPr bwMode="auto">
          <a:xfrm rot="5400000" flipV="1">
            <a:off x="7337425" y="5348303"/>
            <a:ext cx="0" cy="984250"/>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algn="ctr"/>
            <a:endParaRPr kumimoji="1" lang="zh-CN" altLang="en-US" b="0" i="0">
              <a:solidFill>
                <a:srgbClr val="0000FF"/>
              </a:solidFill>
              <a:ea typeface="黑体" panose="02010609060101010101" pitchFamily="49" charset="-122"/>
            </a:endParaRPr>
          </a:p>
        </p:txBody>
      </p:sp>
      <p:sp>
        <p:nvSpPr>
          <p:cNvPr id="57" name="Text Box 35">
            <a:extLst>
              <a:ext uri="{FF2B5EF4-FFF2-40B4-BE49-F238E27FC236}">
                <a16:creationId xmlns:a16="http://schemas.microsoft.com/office/drawing/2014/main" id="{1B74DDC1-95F4-3641-1803-FB97B81A0FF6}"/>
              </a:ext>
            </a:extLst>
          </p:cNvPr>
          <p:cNvSpPr txBox="1">
            <a:spLocks noChangeAspect="1" noChangeArrowheads="1"/>
          </p:cNvSpPr>
          <p:nvPr/>
        </p:nvSpPr>
        <p:spPr bwMode="auto">
          <a:xfrm>
            <a:off x="5805488" y="4867290"/>
            <a:ext cx="679450"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3200" b="0" i="0" u="none" strike="noStrike" kern="0" cap="none" spc="0" normalizeH="0" baseline="0" noProof="0">
                <a:ln>
                  <a:noFill/>
                </a:ln>
                <a:solidFill>
                  <a:srgbClr val="FF0000"/>
                </a:solidFill>
                <a:effectLst/>
                <a:uLnTx/>
                <a:uFillTx/>
                <a:latin typeface="Times New Roman" panose="02020603050405020304" pitchFamily="18" charset="0"/>
                <a:ea typeface="黑体" panose="02010609060101010101" pitchFamily="49" charset="-122"/>
              </a:rPr>
              <a:t> </a:t>
            </a:r>
            <a:r>
              <a:rPr kumimoji="1" lang="en-US" altLang="zh-CN" sz="3200" b="0" i="0" u="none" strike="noStrike" kern="0" cap="none" spc="0" normalizeH="0" baseline="0" noProof="0">
                <a:ln>
                  <a:noFill/>
                </a:ln>
                <a:solidFill>
                  <a:srgbClr val="FF0000"/>
                </a:solidFill>
                <a:effectLst/>
                <a:uLnTx/>
                <a:uFillTx/>
                <a:latin typeface="Times New Roman" panose="02020603050405020304" pitchFamily="18" charset="0"/>
                <a:ea typeface="黑体" panose="02010609060101010101" pitchFamily="49" charset="-122"/>
                <a:sym typeface="Symbol" panose="05050102010706020507" pitchFamily="18" charset="2"/>
              </a:rPr>
              <a:t></a:t>
            </a:r>
          </a:p>
        </p:txBody>
      </p:sp>
      <p:sp>
        <p:nvSpPr>
          <p:cNvPr id="58" name="Line 36">
            <a:extLst>
              <a:ext uri="{FF2B5EF4-FFF2-40B4-BE49-F238E27FC236}">
                <a16:creationId xmlns:a16="http://schemas.microsoft.com/office/drawing/2014/main" id="{D7B4EFFE-4449-05A5-99E9-7F6D982E5D60}"/>
              </a:ext>
            </a:extLst>
          </p:cNvPr>
          <p:cNvSpPr>
            <a:spLocks noChangeAspect="1" noChangeShapeType="1"/>
          </p:cNvSpPr>
          <p:nvPr/>
        </p:nvSpPr>
        <p:spPr bwMode="auto">
          <a:xfrm flipV="1">
            <a:off x="6291263" y="4581540"/>
            <a:ext cx="1587" cy="1035050"/>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algn="ctr"/>
            <a:endParaRPr kumimoji="1" lang="zh-CN" altLang="en-US" b="0" i="0">
              <a:solidFill>
                <a:srgbClr val="0000FF"/>
              </a:solidFill>
              <a:ea typeface="黑体" panose="02010609060101010101" pitchFamily="49" charset="-122"/>
            </a:endParaRPr>
          </a:p>
        </p:txBody>
      </p:sp>
      <p:sp>
        <p:nvSpPr>
          <p:cNvPr id="59" name="Line 37">
            <a:extLst>
              <a:ext uri="{FF2B5EF4-FFF2-40B4-BE49-F238E27FC236}">
                <a16:creationId xmlns:a16="http://schemas.microsoft.com/office/drawing/2014/main" id="{F92900FB-5AE9-778A-A3C7-5299ECE00E0A}"/>
              </a:ext>
            </a:extLst>
          </p:cNvPr>
          <p:cNvSpPr>
            <a:spLocks noChangeAspect="1" noChangeShapeType="1"/>
          </p:cNvSpPr>
          <p:nvPr/>
        </p:nvSpPr>
        <p:spPr bwMode="auto">
          <a:xfrm>
            <a:off x="8620125" y="3843353"/>
            <a:ext cx="0" cy="1011237"/>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algn="ctr"/>
            <a:endParaRPr kumimoji="1" lang="zh-CN" altLang="en-US" b="0" i="0">
              <a:solidFill>
                <a:srgbClr val="0000FF"/>
              </a:solidFill>
              <a:ea typeface="黑体" panose="02010609060101010101" pitchFamily="49" charset="-122"/>
            </a:endParaRPr>
          </a:p>
        </p:txBody>
      </p:sp>
      <p:sp>
        <p:nvSpPr>
          <p:cNvPr id="60" name="Text Box 38">
            <a:extLst>
              <a:ext uri="{FF2B5EF4-FFF2-40B4-BE49-F238E27FC236}">
                <a16:creationId xmlns:a16="http://schemas.microsoft.com/office/drawing/2014/main" id="{FB2F50C9-9C73-A8B8-8F73-890F92FBE7DB}"/>
              </a:ext>
            </a:extLst>
          </p:cNvPr>
          <p:cNvSpPr txBox="1">
            <a:spLocks noChangeAspect="1" noChangeArrowheads="1"/>
          </p:cNvSpPr>
          <p:nvPr/>
        </p:nvSpPr>
        <p:spPr bwMode="auto">
          <a:xfrm>
            <a:off x="8431213" y="3822715"/>
            <a:ext cx="701675" cy="604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3200" b="0" i="0" u="none" strike="noStrike" kern="0" cap="none" spc="0" normalizeH="0" baseline="0" noProof="0">
                <a:ln>
                  <a:noFill/>
                </a:ln>
                <a:solidFill>
                  <a:srgbClr val="FF0000"/>
                </a:solidFill>
                <a:effectLst/>
                <a:uLnTx/>
                <a:uFillTx/>
                <a:latin typeface="Times New Roman" panose="02020603050405020304" pitchFamily="18" charset="0"/>
                <a:ea typeface="黑体" panose="02010609060101010101" pitchFamily="49" charset="-122"/>
                <a:sym typeface="Symbol" panose="05050102010706020507" pitchFamily="18" charset="2"/>
              </a:rPr>
              <a:t> </a:t>
            </a:r>
          </a:p>
        </p:txBody>
      </p:sp>
      <p:sp>
        <p:nvSpPr>
          <p:cNvPr id="61" name="Text Box 39">
            <a:extLst>
              <a:ext uri="{FF2B5EF4-FFF2-40B4-BE49-F238E27FC236}">
                <a16:creationId xmlns:a16="http://schemas.microsoft.com/office/drawing/2014/main" id="{11744162-CD9C-5876-6815-9DE8D8CF6B1A}"/>
              </a:ext>
            </a:extLst>
          </p:cNvPr>
          <p:cNvSpPr txBox="1">
            <a:spLocks noChangeAspect="1" noChangeArrowheads="1"/>
          </p:cNvSpPr>
          <p:nvPr/>
        </p:nvSpPr>
        <p:spPr bwMode="auto">
          <a:xfrm>
            <a:off x="7650163" y="3106753"/>
            <a:ext cx="687387"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hangingPunct="1"/>
            <a:r>
              <a:rPr lang="en-US" altLang="zh-CN" sz="3200" b="0">
                <a:solidFill>
                  <a:srgbClr val="FF0000"/>
                </a:solidFill>
                <a:latin typeface="" pitchFamily="18" charset="-52"/>
                <a:ea typeface="宋体" panose="02010600030101010101" pitchFamily="2" charset="-122"/>
                <a:sym typeface="Symbol" panose="05050102010706020507" pitchFamily="18" charset="2"/>
              </a:rPr>
              <a:t></a:t>
            </a:r>
            <a:r>
              <a:rPr lang="en-US" altLang="zh-CN" sz="3200" b="0">
                <a:solidFill>
                  <a:srgbClr val="FF0000"/>
                </a:solidFill>
                <a:latin typeface="" pitchFamily="18" charset="-52"/>
                <a:ea typeface="宋体" panose="02010600030101010101" pitchFamily="2" charset="-122"/>
              </a:rPr>
              <a:t>'</a:t>
            </a:r>
          </a:p>
        </p:txBody>
      </p:sp>
      <p:sp>
        <p:nvSpPr>
          <p:cNvPr id="62" name="Line 40">
            <a:extLst>
              <a:ext uri="{FF2B5EF4-FFF2-40B4-BE49-F238E27FC236}">
                <a16:creationId xmlns:a16="http://schemas.microsoft.com/office/drawing/2014/main" id="{4281DDB9-D472-19CA-4A78-042648A9F804}"/>
              </a:ext>
            </a:extLst>
          </p:cNvPr>
          <p:cNvSpPr>
            <a:spLocks noChangeAspect="1" noChangeShapeType="1"/>
          </p:cNvSpPr>
          <p:nvPr/>
        </p:nvSpPr>
        <p:spPr bwMode="auto">
          <a:xfrm rot="16200000" flipV="1">
            <a:off x="7671594" y="3083734"/>
            <a:ext cx="0" cy="1049338"/>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algn="ctr"/>
            <a:endParaRPr kumimoji="1" lang="zh-CN" altLang="en-US" b="0" i="0">
              <a:solidFill>
                <a:srgbClr val="0000FF"/>
              </a:solidFill>
              <a:ea typeface="黑体" panose="02010609060101010101" pitchFamily="49" charset="-122"/>
            </a:endParaRPr>
          </a:p>
        </p:txBody>
      </p:sp>
      <p:sp>
        <p:nvSpPr>
          <p:cNvPr id="63" name="Text Box 41">
            <a:extLst>
              <a:ext uri="{FF2B5EF4-FFF2-40B4-BE49-F238E27FC236}">
                <a16:creationId xmlns:a16="http://schemas.microsoft.com/office/drawing/2014/main" id="{2A09271F-DC8B-C066-2FD1-D7072D051E50}"/>
              </a:ext>
            </a:extLst>
          </p:cNvPr>
          <p:cNvSpPr txBox="1">
            <a:spLocks noChangeAspect="1" noChangeArrowheads="1"/>
          </p:cNvSpPr>
          <p:nvPr/>
        </p:nvSpPr>
        <p:spPr bwMode="auto">
          <a:xfrm>
            <a:off x="6905625" y="5764228"/>
            <a:ext cx="782638"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type="none" w="sm" len="lg"/>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3200" b="0" i="0" u="none" strike="noStrike" kern="0" cap="none" spc="0" normalizeH="0" baseline="0" noProof="0">
                <a:ln>
                  <a:noFill/>
                </a:ln>
                <a:solidFill>
                  <a:srgbClr val="FF0000"/>
                </a:solidFill>
                <a:effectLst/>
                <a:uLnTx/>
                <a:uFillTx/>
                <a:latin typeface="Times New Roman" panose="02020603050405020304" pitchFamily="18" charset="0"/>
                <a:ea typeface="黑体" panose="02010609060101010101" pitchFamily="49" charset="-122"/>
              </a:rPr>
              <a:t> </a:t>
            </a:r>
            <a:r>
              <a:rPr kumimoji="1" lang="en-US" altLang="zh-CN" sz="3200" b="0" i="0" u="none" strike="noStrike" kern="0" cap="none" spc="0" normalizeH="0" baseline="0" noProof="0">
                <a:ln>
                  <a:noFill/>
                </a:ln>
                <a:solidFill>
                  <a:srgbClr val="FF0000"/>
                </a:solidFill>
                <a:effectLst/>
                <a:uLnTx/>
                <a:uFillTx/>
                <a:latin typeface="Times New Roman" panose="02020603050405020304" pitchFamily="18" charset="0"/>
                <a:ea typeface="黑体" panose="02010609060101010101" pitchFamily="49" charset="-122"/>
                <a:sym typeface="Symbol" panose="05050102010706020507" pitchFamily="18" charset="2"/>
              </a:rPr>
              <a:t></a:t>
            </a:r>
            <a:r>
              <a:rPr kumimoji="1" lang="en-US" altLang="zh-CN" sz="3200" b="0" i="0" u="none" strike="noStrike" kern="0" cap="none" spc="0" normalizeH="0" baseline="0" noProof="0">
                <a:ln>
                  <a:noFill/>
                </a:ln>
                <a:solidFill>
                  <a:srgbClr val="FF0000"/>
                </a:solidFill>
                <a:effectLst/>
                <a:uLnTx/>
                <a:uFillTx/>
                <a:latin typeface="Times New Roman" panose="02020603050405020304" pitchFamily="18" charset="0"/>
                <a:ea typeface="黑体" panose="02010609060101010101" pitchFamily="49" charset="-122"/>
              </a:rPr>
              <a:t>'</a:t>
            </a:r>
          </a:p>
        </p:txBody>
      </p:sp>
      <p:sp>
        <p:nvSpPr>
          <p:cNvPr id="64" name="Line 42">
            <a:extLst>
              <a:ext uri="{FF2B5EF4-FFF2-40B4-BE49-F238E27FC236}">
                <a16:creationId xmlns:a16="http://schemas.microsoft.com/office/drawing/2014/main" id="{BD195D58-A5E2-7F09-E876-FC448DAF0E92}"/>
              </a:ext>
            </a:extLst>
          </p:cNvPr>
          <p:cNvSpPr>
            <a:spLocks noChangeShapeType="1"/>
          </p:cNvSpPr>
          <p:nvPr/>
        </p:nvSpPr>
        <p:spPr bwMode="auto">
          <a:xfrm>
            <a:off x="6569075" y="3338528"/>
            <a:ext cx="866775" cy="336550"/>
          </a:xfrm>
          <a:prstGeom prst="line">
            <a:avLst/>
          </a:prstGeom>
          <a:noFill/>
          <a:ln w="28575">
            <a:solidFill>
              <a:srgbClr val="CC3300"/>
            </a:solidFill>
            <a:round/>
            <a:headEnd/>
            <a:tailEnd/>
          </a:ln>
          <a:extLst>
            <a:ext uri="{909E8E84-426E-40DD-AFC4-6F175D3DCCD1}">
              <a14:hiddenFill xmlns:a14="http://schemas.microsoft.com/office/drawing/2010/main">
                <a:noFill/>
              </a14:hiddenFill>
            </a:ext>
          </a:extLst>
        </p:spPr>
        <p:txBody>
          <a:bodyPr/>
          <a:lstStyle/>
          <a:p>
            <a:pPr algn="ctr"/>
            <a:endParaRPr kumimoji="1" lang="zh-CN" altLang="en-US" b="0" i="0">
              <a:solidFill>
                <a:srgbClr val="0000FF"/>
              </a:solidFill>
              <a:ea typeface="黑体" panose="02010609060101010101" pitchFamily="49" charset="-122"/>
            </a:endParaRPr>
          </a:p>
        </p:txBody>
      </p:sp>
      <p:sp>
        <p:nvSpPr>
          <p:cNvPr id="65" name="Arc 43">
            <a:extLst>
              <a:ext uri="{FF2B5EF4-FFF2-40B4-BE49-F238E27FC236}">
                <a16:creationId xmlns:a16="http://schemas.microsoft.com/office/drawing/2014/main" id="{E803430D-8C01-64CC-073F-C15E4B64B76E}"/>
              </a:ext>
            </a:extLst>
          </p:cNvPr>
          <p:cNvSpPr>
            <a:spLocks noChangeAspect="1"/>
          </p:cNvSpPr>
          <p:nvPr/>
        </p:nvSpPr>
        <p:spPr bwMode="auto">
          <a:xfrm rot="11019133">
            <a:off x="6346825" y="3971940"/>
            <a:ext cx="209550" cy="130175"/>
          </a:xfrm>
          <a:custGeom>
            <a:avLst/>
            <a:gdLst>
              <a:gd name="T0" fmla="*/ 0 w 34356"/>
              <a:gd name="T1" fmla="*/ 151419 h 21600"/>
              <a:gd name="T2" fmla="*/ 1278123 w 34356"/>
              <a:gd name="T3" fmla="*/ 784515 h 21600"/>
              <a:gd name="T4" fmla="*/ 474555 w 34356"/>
              <a:gd name="T5" fmla="*/ 784515 h 21600"/>
              <a:gd name="T6" fmla="*/ 0 60000 65536"/>
              <a:gd name="T7" fmla="*/ 0 60000 65536"/>
              <a:gd name="T8" fmla="*/ 0 60000 65536"/>
              <a:gd name="T9" fmla="*/ 0 w 34356"/>
              <a:gd name="T10" fmla="*/ 0 h 21600"/>
              <a:gd name="T11" fmla="*/ 34356 w 34356"/>
              <a:gd name="T12" fmla="*/ 21600 h 21600"/>
            </a:gdLst>
            <a:ahLst/>
            <a:cxnLst>
              <a:cxn ang="T6">
                <a:pos x="T0" y="T1"/>
              </a:cxn>
              <a:cxn ang="T7">
                <a:pos x="T2" y="T3"/>
              </a:cxn>
              <a:cxn ang="T8">
                <a:pos x="T4" y="T5"/>
              </a:cxn>
            </a:cxnLst>
            <a:rect l="T9" t="T10" r="T11" b="T12"/>
            <a:pathLst>
              <a:path w="34356" h="21600" fill="none" extrusionOk="0">
                <a:moveTo>
                  <a:pt x="-1" y="4168"/>
                </a:moveTo>
                <a:cubicBezTo>
                  <a:pt x="3701" y="1460"/>
                  <a:pt x="8169" y="-1"/>
                  <a:pt x="12756" y="0"/>
                </a:cubicBezTo>
                <a:cubicBezTo>
                  <a:pt x="24685" y="0"/>
                  <a:pt x="34356" y="9670"/>
                  <a:pt x="34356" y="21600"/>
                </a:cubicBezTo>
              </a:path>
              <a:path w="34356" h="21600" stroke="0" extrusionOk="0">
                <a:moveTo>
                  <a:pt x="-1" y="4168"/>
                </a:moveTo>
                <a:cubicBezTo>
                  <a:pt x="3701" y="1460"/>
                  <a:pt x="8169" y="-1"/>
                  <a:pt x="12756" y="0"/>
                </a:cubicBezTo>
                <a:cubicBezTo>
                  <a:pt x="24685" y="0"/>
                  <a:pt x="34356" y="9670"/>
                  <a:pt x="34356" y="21600"/>
                </a:cubicBezTo>
                <a:lnTo>
                  <a:pt x="12756" y="21600"/>
                </a:lnTo>
                <a:close/>
              </a:path>
            </a:pathLst>
          </a:cu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pPr algn="ctr"/>
            <a:endParaRPr kumimoji="1" lang="zh-CN" altLang="en-US" b="0" i="0">
              <a:solidFill>
                <a:srgbClr val="0000FF"/>
              </a:solidFill>
              <a:ea typeface="黑体" panose="02010609060101010101" pitchFamily="49" charset="-122"/>
            </a:endParaRPr>
          </a:p>
        </p:txBody>
      </p:sp>
      <p:sp>
        <p:nvSpPr>
          <p:cNvPr id="66" name="Text Box 47">
            <a:extLst>
              <a:ext uri="{FF2B5EF4-FFF2-40B4-BE49-F238E27FC236}">
                <a16:creationId xmlns:a16="http://schemas.microsoft.com/office/drawing/2014/main" id="{12CFBD24-D430-FD55-B3FC-128DC597E2CE}"/>
              </a:ext>
            </a:extLst>
          </p:cNvPr>
          <p:cNvSpPr txBox="1">
            <a:spLocks noChangeAspect="1" noChangeArrowheads="1"/>
          </p:cNvSpPr>
          <p:nvPr/>
        </p:nvSpPr>
        <p:spPr bwMode="auto">
          <a:xfrm>
            <a:off x="6073775" y="3998928"/>
            <a:ext cx="550863"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3200" b="0" i="0" u="none" strike="noStrike" kern="0" cap="none" spc="0" normalizeH="0" baseline="0" noProof="0">
                <a:ln>
                  <a:noFill/>
                </a:ln>
                <a:solidFill>
                  <a:srgbClr val="FF0000"/>
                </a:solidFill>
                <a:effectLst/>
                <a:uLnTx/>
                <a:uFillTx/>
                <a:latin typeface="Times New Roman" panose="02020603050405020304" pitchFamily="18" charset="0"/>
                <a:ea typeface="黑体" panose="02010609060101010101" pitchFamily="49" charset="-122"/>
                <a:sym typeface="Symbol" panose="05050102010706020507" pitchFamily="18" charset="2"/>
              </a:rPr>
              <a:t> </a:t>
            </a:r>
          </a:p>
        </p:txBody>
      </p:sp>
      <p:sp>
        <p:nvSpPr>
          <p:cNvPr id="67" name="Line 48">
            <a:extLst>
              <a:ext uri="{FF2B5EF4-FFF2-40B4-BE49-F238E27FC236}">
                <a16:creationId xmlns:a16="http://schemas.microsoft.com/office/drawing/2014/main" id="{39000BA7-523F-8973-DAB8-112CC7BD7CAD}"/>
              </a:ext>
            </a:extLst>
          </p:cNvPr>
          <p:cNvSpPr>
            <a:spLocks noChangeShapeType="1"/>
          </p:cNvSpPr>
          <p:nvPr/>
        </p:nvSpPr>
        <p:spPr bwMode="auto">
          <a:xfrm flipH="1">
            <a:off x="6484938" y="3321065"/>
            <a:ext cx="130175" cy="1417638"/>
          </a:xfrm>
          <a:prstGeom prst="line">
            <a:avLst/>
          </a:prstGeom>
          <a:noFill/>
          <a:ln w="28575">
            <a:solidFill>
              <a:srgbClr val="FF00FF"/>
            </a:solidFill>
            <a:round/>
            <a:headEnd/>
            <a:tailEnd/>
          </a:ln>
          <a:extLst>
            <a:ext uri="{909E8E84-426E-40DD-AFC4-6F175D3DCCD1}">
              <a14:hiddenFill xmlns:a14="http://schemas.microsoft.com/office/drawing/2010/main">
                <a:noFill/>
              </a14:hiddenFill>
            </a:ext>
          </a:extLst>
        </p:spPr>
        <p:txBody>
          <a:bodyPr/>
          <a:lstStyle/>
          <a:p>
            <a:pPr algn="ctr"/>
            <a:endParaRPr kumimoji="1" lang="zh-CN" altLang="en-US" b="0" i="0">
              <a:solidFill>
                <a:srgbClr val="0000FF"/>
              </a:solidFill>
              <a:ea typeface="黑体" panose="02010609060101010101" pitchFamily="49" charset="-122"/>
            </a:endParaRPr>
          </a:p>
        </p:txBody>
      </p:sp>
      <p:sp>
        <p:nvSpPr>
          <p:cNvPr id="68" name="Line 49">
            <a:extLst>
              <a:ext uri="{FF2B5EF4-FFF2-40B4-BE49-F238E27FC236}">
                <a16:creationId xmlns:a16="http://schemas.microsoft.com/office/drawing/2014/main" id="{B50869B3-E669-AD39-1768-908E03CFF16C}"/>
              </a:ext>
            </a:extLst>
          </p:cNvPr>
          <p:cNvSpPr>
            <a:spLocks noChangeShapeType="1"/>
          </p:cNvSpPr>
          <p:nvPr/>
        </p:nvSpPr>
        <p:spPr bwMode="auto">
          <a:xfrm rot="16200000" flipH="1">
            <a:off x="7004843" y="2929747"/>
            <a:ext cx="80963" cy="882650"/>
          </a:xfrm>
          <a:prstGeom prst="line">
            <a:avLst/>
          </a:prstGeom>
          <a:noFill/>
          <a:ln w="19050">
            <a:solidFill>
              <a:srgbClr val="FF00FF"/>
            </a:solidFill>
            <a:prstDash val="lgDash"/>
            <a:round/>
            <a:headEnd/>
            <a:tailEnd/>
          </a:ln>
          <a:extLst>
            <a:ext uri="{909E8E84-426E-40DD-AFC4-6F175D3DCCD1}">
              <a14:hiddenFill xmlns:a14="http://schemas.microsoft.com/office/drawing/2010/main">
                <a:noFill/>
              </a14:hiddenFill>
            </a:ext>
          </a:extLst>
        </p:spPr>
        <p:txBody>
          <a:bodyPr/>
          <a:lstStyle/>
          <a:p>
            <a:pPr algn="ctr"/>
            <a:endParaRPr kumimoji="1" lang="zh-CN" altLang="en-US" b="0" i="0">
              <a:solidFill>
                <a:srgbClr val="0000FF"/>
              </a:solidFill>
              <a:ea typeface="黑体" panose="02010609060101010101" pitchFamily="49" charset="-122"/>
            </a:endParaRPr>
          </a:p>
        </p:txBody>
      </p:sp>
    </p:spTree>
    <p:extLst>
      <p:ext uri="{BB962C8B-B14F-4D97-AF65-F5344CB8AC3E}">
        <p14:creationId xmlns:p14="http://schemas.microsoft.com/office/powerpoint/2010/main" val="2141065097"/>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53" presetClass="entr" presetSubtype="0" fill="hold" nodeType="withEffect">
                                  <p:stCondLst>
                                    <p:cond delay="1000"/>
                                  </p:stCondLst>
                                  <p:childTnLst>
                                    <p:set>
                                      <p:cBhvr>
                                        <p:cTn id="14" dur="1" fill="hold">
                                          <p:stCondLst>
                                            <p:cond delay="0"/>
                                          </p:stCondLst>
                                        </p:cTn>
                                        <p:tgtEl>
                                          <p:spTgt spid="8"/>
                                        </p:tgtEl>
                                        <p:attrNameLst>
                                          <p:attrName>style.visibility</p:attrName>
                                        </p:attrNameLst>
                                      </p:cBhvr>
                                      <p:to>
                                        <p:strVal val="visible"/>
                                      </p:to>
                                    </p:set>
                                    <p:anim calcmode="lin" valueType="num">
                                      <p:cBhvr>
                                        <p:cTn id="15" dur="3000" fill="hold"/>
                                        <p:tgtEl>
                                          <p:spTgt spid="8"/>
                                        </p:tgtEl>
                                        <p:attrNameLst>
                                          <p:attrName>ppt_w</p:attrName>
                                        </p:attrNameLst>
                                      </p:cBhvr>
                                      <p:tavLst>
                                        <p:tav tm="0">
                                          <p:val>
                                            <p:fltVal val="0"/>
                                          </p:val>
                                        </p:tav>
                                        <p:tav tm="100000">
                                          <p:val>
                                            <p:strVal val="#ppt_w"/>
                                          </p:val>
                                        </p:tav>
                                      </p:tavLst>
                                    </p:anim>
                                    <p:anim calcmode="lin" valueType="num">
                                      <p:cBhvr>
                                        <p:cTn id="16" dur="3000" fill="hold"/>
                                        <p:tgtEl>
                                          <p:spTgt spid="8"/>
                                        </p:tgtEl>
                                        <p:attrNameLst>
                                          <p:attrName>ppt_h</p:attrName>
                                        </p:attrNameLst>
                                      </p:cBhvr>
                                      <p:tavLst>
                                        <p:tav tm="0">
                                          <p:val>
                                            <p:fltVal val="0"/>
                                          </p:val>
                                        </p:tav>
                                        <p:tav tm="100000">
                                          <p:val>
                                            <p:strVal val="#ppt_h"/>
                                          </p:val>
                                        </p:tav>
                                      </p:tavLst>
                                    </p:anim>
                                    <p:animEffect transition="in" filter="fade">
                                      <p:cBhvr>
                                        <p:cTn id="17" dur="3000"/>
                                        <p:tgtEl>
                                          <p:spTgt spid="8"/>
                                        </p:tgtEl>
                                      </p:cBhvr>
                                    </p:animEffect>
                                  </p:childTnLst>
                                </p:cTn>
                              </p:par>
                              <p:par>
                                <p:cTn id="18" presetID="12" presetClass="entr" presetSubtype="4" fill="hold" nodeType="with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slide(fromBottom)">
                                      <p:cBhvr>
                                        <p:cTn id="20" dur="5000"/>
                                        <p:tgtEl>
                                          <p:spTgt spid="2"/>
                                        </p:tgtEl>
                                      </p:cBhvr>
                                    </p:animEffect>
                                  </p:childTnLst>
                                  <p:subTnLst>
                                    <p:audio>
                                      <p:cMediaNode>
                                        <p:cTn display="0" masterRel="sameClick">
                                          <p:stCondLst>
                                            <p:cond evt="begin" delay="0">
                                              <p:tn val="18"/>
                                            </p:cond>
                                          </p:stCondLst>
                                          <p:endCondLst>
                                            <p:cond evt="onStopAudio" delay="0">
                                              <p:tgtEl>
                                                <p:sldTgt/>
                                              </p:tgtEl>
                                            </p:cond>
                                          </p:endCondLst>
                                        </p:cTn>
                                        <p:tgtEl>
                                          <p:sndTgt r:embed="rId3" name="CHIMES.WAV"/>
                                        </p:tgtEl>
                                      </p:cMediaNode>
                                    </p:audio>
                                  </p:subTnLst>
                                </p:cTn>
                              </p:par>
                              <p:par>
                                <p:cTn id="21" presetID="12" presetClass="entr" presetSubtype="1" fill="hold" nodeType="withEffect">
                                  <p:stCondLst>
                                    <p:cond delay="0"/>
                                  </p:stCondLst>
                                  <p:childTnLst>
                                    <p:set>
                                      <p:cBhvr>
                                        <p:cTn id="22" dur="1" fill="hold">
                                          <p:stCondLst>
                                            <p:cond delay="0"/>
                                          </p:stCondLst>
                                        </p:cTn>
                                        <p:tgtEl>
                                          <p:spTgt spid="45"/>
                                        </p:tgtEl>
                                        <p:attrNameLst>
                                          <p:attrName>style.visibility</p:attrName>
                                        </p:attrNameLst>
                                      </p:cBhvr>
                                      <p:to>
                                        <p:strVal val="visible"/>
                                      </p:to>
                                    </p:set>
                                    <p:animEffect transition="in" filter="slide(fromTop)">
                                      <p:cBhvr>
                                        <p:cTn id="23" dur="5000"/>
                                        <p:tgtEl>
                                          <p:spTgt spid="45"/>
                                        </p:tgtEl>
                                      </p:cBhvr>
                                    </p:animEffect>
                                  </p:childTnLst>
                                  <p:subTnLst>
                                    <p:audio>
                                      <p:cMediaNode>
                                        <p:cTn display="0" masterRel="sameClick">
                                          <p:stCondLst>
                                            <p:cond evt="begin" delay="0">
                                              <p:tn val="21"/>
                                            </p:cond>
                                          </p:stCondLst>
                                          <p:endCondLst>
                                            <p:cond evt="onStopAudio" delay="0">
                                              <p:tgtEl>
                                                <p:sldTgt/>
                                              </p:tgtEl>
                                            </p:cond>
                                          </p:endCondLst>
                                        </p:cTn>
                                        <p:tgtEl>
                                          <p:sndTgt r:embed="rId3" name="CHIMES.WAV"/>
                                        </p:tgtEl>
                                      </p:cMediaNode>
                                    </p:audio>
                                  </p:subTnLst>
                                </p:cTn>
                              </p:par>
                              <p:par>
                                <p:cTn id="24" presetID="19" presetClass="entr" presetSubtype="10" fill="hold" grpId="0" nodeType="withEffect">
                                  <p:stCondLst>
                                    <p:cond delay="0"/>
                                  </p:stCondLst>
                                  <p:childTnLst>
                                    <p:set>
                                      <p:cBhvr>
                                        <p:cTn id="25" dur="1" fill="hold">
                                          <p:stCondLst>
                                            <p:cond delay="0"/>
                                          </p:stCondLst>
                                        </p:cTn>
                                        <p:tgtEl>
                                          <p:spTgt spid="47"/>
                                        </p:tgtEl>
                                        <p:attrNameLst>
                                          <p:attrName>style.visibility</p:attrName>
                                        </p:attrNameLst>
                                      </p:cBhvr>
                                      <p:to>
                                        <p:strVal val="visible"/>
                                      </p:to>
                                    </p:set>
                                    <p:anim calcmode="lin" valueType="num">
                                      <p:cBhvr>
                                        <p:cTn id="26" dur="5000" fill="hold"/>
                                        <p:tgtEl>
                                          <p:spTgt spid="47"/>
                                        </p:tgtEl>
                                        <p:attrNameLst>
                                          <p:attrName>ppt_w</p:attrName>
                                        </p:attrNameLst>
                                      </p:cBhvr>
                                      <p:tavLst>
                                        <p:tav tm="0" fmla="#ppt_w*sin(2.5*pi*$)">
                                          <p:val>
                                            <p:fltVal val="0"/>
                                          </p:val>
                                        </p:tav>
                                        <p:tav tm="100000">
                                          <p:val>
                                            <p:fltVal val="1"/>
                                          </p:val>
                                        </p:tav>
                                      </p:tavLst>
                                    </p:anim>
                                    <p:anim calcmode="lin" valueType="num">
                                      <p:cBhvr>
                                        <p:cTn id="27" dur="5000" fill="hold"/>
                                        <p:tgtEl>
                                          <p:spTgt spid="47"/>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4"/>
                                            </p:cond>
                                          </p:stCondLst>
                                          <p:endCondLst>
                                            <p:cond evt="onStopAudio" delay="0">
                                              <p:tgtEl>
                                                <p:sldTgt/>
                                              </p:tgtEl>
                                            </p:cond>
                                          </p:endCondLst>
                                        </p:cTn>
                                        <p:tgtEl>
                                          <p:sndTgt r:embed="rId4" name="breeze.wav"/>
                                        </p:tgtEl>
                                      </p:cMediaNode>
                                    </p:audio>
                                  </p:subTnLst>
                                </p:cTn>
                              </p:par>
                              <p:par>
                                <p:cTn id="28" presetID="19" presetClass="entr" presetSubtype="10" fill="hold" grpId="0" nodeType="withEffect">
                                  <p:stCondLst>
                                    <p:cond delay="0"/>
                                  </p:stCondLst>
                                  <p:childTnLst>
                                    <p:set>
                                      <p:cBhvr>
                                        <p:cTn id="29" dur="1" fill="hold">
                                          <p:stCondLst>
                                            <p:cond delay="0"/>
                                          </p:stCondLst>
                                        </p:cTn>
                                        <p:tgtEl>
                                          <p:spTgt spid="49"/>
                                        </p:tgtEl>
                                        <p:attrNameLst>
                                          <p:attrName>style.visibility</p:attrName>
                                        </p:attrNameLst>
                                      </p:cBhvr>
                                      <p:to>
                                        <p:strVal val="visible"/>
                                      </p:to>
                                    </p:set>
                                    <p:anim calcmode="lin" valueType="num">
                                      <p:cBhvr>
                                        <p:cTn id="30" dur="5000" fill="hold"/>
                                        <p:tgtEl>
                                          <p:spTgt spid="49"/>
                                        </p:tgtEl>
                                        <p:attrNameLst>
                                          <p:attrName>ppt_w</p:attrName>
                                        </p:attrNameLst>
                                      </p:cBhvr>
                                      <p:tavLst>
                                        <p:tav tm="0" fmla="#ppt_w*sin(2.5*pi*$)">
                                          <p:val>
                                            <p:fltVal val="0"/>
                                          </p:val>
                                        </p:tav>
                                        <p:tav tm="100000">
                                          <p:val>
                                            <p:fltVal val="1"/>
                                          </p:val>
                                        </p:tav>
                                      </p:tavLst>
                                    </p:anim>
                                    <p:anim calcmode="lin" valueType="num">
                                      <p:cBhvr>
                                        <p:cTn id="31" dur="5000" fill="hold"/>
                                        <p:tgtEl>
                                          <p:spTgt spid="49"/>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8"/>
                                            </p:cond>
                                          </p:stCondLst>
                                          <p:endCondLst>
                                            <p:cond evt="onStopAudio" delay="0">
                                              <p:tgtEl>
                                                <p:sldTgt/>
                                              </p:tgtEl>
                                            </p:cond>
                                          </p:endCondLst>
                                        </p:cTn>
                                        <p:tgtEl>
                                          <p:sndTgt r:embed="rId4" name="breeze.wav"/>
                                        </p:tgtEl>
                                      </p:cMediaNode>
                                    </p:audio>
                                  </p:subTnLst>
                                </p:cTn>
                              </p:par>
                              <p:par>
                                <p:cTn id="32" presetID="12" presetClass="entr" presetSubtype="2" fill="hold" nodeType="withEffect">
                                  <p:stCondLst>
                                    <p:cond delay="5000"/>
                                  </p:stCondLst>
                                  <p:childTnLst>
                                    <p:set>
                                      <p:cBhvr>
                                        <p:cTn id="33" dur="1" fill="hold">
                                          <p:stCondLst>
                                            <p:cond delay="0"/>
                                          </p:stCondLst>
                                        </p:cTn>
                                        <p:tgtEl>
                                          <p:spTgt spid="46"/>
                                        </p:tgtEl>
                                        <p:attrNameLst>
                                          <p:attrName>style.visibility</p:attrName>
                                        </p:attrNameLst>
                                      </p:cBhvr>
                                      <p:to>
                                        <p:strVal val="visible"/>
                                      </p:to>
                                    </p:set>
                                    <p:animEffect transition="in" filter="slide(fromRight)">
                                      <p:cBhvr>
                                        <p:cTn id="34" dur="5000"/>
                                        <p:tgtEl>
                                          <p:spTgt spid="46"/>
                                        </p:tgtEl>
                                      </p:cBhvr>
                                    </p:animEffect>
                                  </p:childTnLst>
                                  <p:subTnLst>
                                    <p:audio>
                                      <p:cMediaNode>
                                        <p:cTn display="0" masterRel="sameClick">
                                          <p:stCondLst>
                                            <p:cond evt="begin" delay="0">
                                              <p:tn val="32"/>
                                            </p:cond>
                                          </p:stCondLst>
                                          <p:endCondLst>
                                            <p:cond evt="onStopAudio" delay="0">
                                              <p:tgtEl>
                                                <p:sldTgt/>
                                              </p:tgtEl>
                                            </p:cond>
                                          </p:endCondLst>
                                        </p:cTn>
                                        <p:tgtEl>
                                          <p:sndTgt r:embed="rId3" name="CHIMES.WAV"/>
                                        </p:tgtEl>
                                      </p:cMediaNode>
                                    </p:audio>
                                  </p:subTnLst>
                                </p:cTn>
                              </p:par>
                              <p:par>
                                <p:cTn id="35" presetID="12" presetClass="entr" presetSubtype="8" fill="hold" nodeType="withEffect">
                                  <p:stCondLst>
                                    <p:cond delay="5000"/>
                                  </p:stCondLst>
                                  <p:childTnLst>
                                    <p:set>
                                      <p:cBhvr>
                                        <p:cTn id="36" dur="1" fill="hold">
                                          <p:stCondLst>
                                            <p:cond delay="0"/>
                                          </p:stCondLst>
                                        </p:cTn>
                                        <p:tgtEl>
                                          <p:spTgt spid="3"/>
                                        </p:tgtEl>
                                        <p:attrNameLst>
                                          <p:attrName>style.visibility</p:attrName>
                                        </p:attrNameLst>
                                      </p:cBhvr>
                                      <p:to>
                                        <p:strVal val="visible"/>
                                      </p:to>
                                    </p:set>
                                    <p:animEffect transition="in" filter="slide(fromLeft)">
                                      <p:cBhvr>
                                        <p:cTn id="37" dur="5000"/>
                                        <p:tgtEl>
                                          <p:spTgt spid="3"/>
                                        </p:tgtEl>
                                      </p:cBhvr>
                                    </p:animEffect>
                                  </p:childTnLst>
                                  <p:subTnLst>
                                    <p:audio>
                                      <p:cMediaNode>
                                        <p:cTn display="0" masterRel="sameClick">
                                          <p:stCondLst>
                                            <p:cond evt="begin" delay="0">
                                              <p:tn val="35"/>
                                            </p:cond>
                                          </p:stCondLst>
                                          <p:endCondLst>
                                            <p:cond evt="onStopAudio" delay="0">
                                              <p:tgtEl>
                                                <p:sldTgt/>
                                              </p:tgtEl>
                                            </p:cond>
                                          </p:endCondLst>
                                        </p:cTn>
                                        <p:tgtEl>
                                          <p:sndTgt r:embed="rId3" name="CHIMES.WAV"/>
                                        </p:tgtEl>
                                      </p:cMediaNode>
                                    </p:audio>
                                  </p:subTnLst>
                                </p:cTn>
                              </p:par>
                              <p:par>
                                <p:cTn id="38" presetID="19" presetClass="entr" presetSubtype="10" fill="hold" nodeType="withEffect">
                                  <p:stCondLst>
                                    <p:cond delay="5000"/>
                                  </p:stCondLst>
                                  <p:childTnLst>
                                    <p:set>
                                      <p:cBhvr>
                                        <p:cTn id="39" dur="1" fill="hold">
                                          <p:stCondLst>
                                            <p:cond delay="0"/>
                                          </p:stCondLst>
                                        </p:cTn>
                                        <p:tgtEl>
                                          <p:spTgt spid="4"/>
                                        </p:tgtEl>
                                        <p:attrNameLst>
                                          <p:attrName>style.visibility</p:attrName>
                                        </p:attrNameLst>
                                      </p:cBhvr>
                                      <p:to>
                                        <p:strVal val="visible"/>
                                      </p:to>
                                    </p:set>
                                    <p:anim calcmode="lin" valueType="num">
                                      <p:cBhvr>
                                        <p:cTn id="40" dur="5000" fill="hold"/>
                                        <p:tgtEl>
                                          <p:spTgt spid="4"/>
                                        </p:tgtEl>
                                        <p:attrNameLst>
                                          <p:attrName>ppt_w</p:attrName>
                                        </p:attrNameLst>
                                      </p:cBhvr>
                                      <p:tavLst>
                                        <p:tav tm="0" fmla="#ppt_w*sin(2.5*pi*$)">
                                          <p:val>
                                            <p:fltVal val="0"/>
                                          </p:val>
                                        </p:tav>
                                        <p:tav tm="100000">
                                          <p:val>
                                            <p:fltVal val="1"/>
                                          </p:val>
                                        </p:tav>
                                      </p:tavLst>
                                    </p:anim>
                                    <p:anim calcmode="lin" valueType="num">
                                      <p:cBhvr>
                                        <p:cTn id="41" dur="5000" fill="hold"/>
                                        <p:tgtEl>
                                          <p:spTgt spid="4"/>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8"/>
                                            </p:cond>
                                          </p:stCondLst>
                                          <p:endCondLst>
                                            <p:cond evt="onStopAudio" delay="0">
                                              <p:tgtEl>
                                                <p:sldTgt/>
                                              </p:tgtEl>
                                            </p:cond>
                                          </p:endCondLst>
                                        </p:cTn>
                                        <p:tgtEl>
                                          <p:sndTgt r:embed="rId4" name="breeze.wav"/>
                                        </p:tgtEl>
                                      </p:cMediaNode>
                                    </p:audio>
                                  </p:subTnLst>
                                </p:cTn>
                              </p:par>
                              <p:par>
                                <p:cTn id="42" presetID="19" presetClass="entr" presetSubtype="10" fill="hold" nodeType="withEffect">
                                  <p:stCondLst>
                                    <p:cond delay="5000"/>
                                  </p:stCondLst>
                                  <p:childTnLst>
                                    <p:set>
                                      <p:cBhvr>
                                        <p:cTn id="43" dur="1" fill="hold">
                                          <p:stCondLst>
                                            <p:cond delay="0"/>
                                          </p:stCondLst>
                                        </p:cTn>
                                        <p:tgtEl>
                                          <p:spTgt spid="48"/>
                                        </p:tgtEl>
                                        <p:attrNameLst>
                                          <p:attrName>style.visibility</p:attrName>
                                        </p:attrNameLst>
                                      </p:cBhvr>
                                      <p:to>
                                        <p:strVal val="visible"/>
                                      </p:to>
                                    </p:set>
                                    <p:anim calcmode="lin" valueType="num">
                                      <p:cBhvr>
                                        <p:cTn id="44" dur="5000" fill="hold"/>
                                        <p:tgtEl>
                                          <p:spTgt spid="48"/>
                                        </p:tgtEl>
                                        <p:attrNameLst>
                                          <p:attrName>ppt_w</p:attrName>
                                        </p:attrNameLst>
                                      </p:cBhvr>
                                      <p:tavLst>
                                        <p:tav tm="0" fmla="#ppt_w*sin(2.5*pi*$)">
                                          <p:val>
                                            <p:fltVal val="0"/>
                                          </p:val>
                                        </p:tav>
                                        <p:tav tm="100000">
                                          <p:val>
                                            <p:fltVal val="1"/>
                                          </p:val>
                                        </p:tav>
                                      </p:tavLst>
                                    </p:anim>
                                    <p:anim calcmode="lin" valueType="num">
                                      <p:cBhvr>
                                        <p:cTn id="45" dur="5000" fill="hold"/>
                                        <p:tgtEl>
                                          <p:spTgt spid="48"/>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42"/>
                                            </p:cond>
                                          </p:stCondLst>
                                          <p:endCondLst>
                                            <p:cond evt="onStopAudio" delay="0">
                                              <p:tgtEl>
                                                <p:sldTgt/>
                                              </p:tgtEl>
                                            </p:cond>
                                          </p:endCondLst>
                                        </p:cTn>
                                        <p:tgtEl>
                                          <p:sndTgt r:embed="rId4" name="breeze.wav"/>
                                        </p:tgtEl>
                                      </p:cMediaNode>
                                    </p:audio>
                                  </p:subTnLst>
                                </p:cTn>
                              </p:par>
                              <p:par>
                                <p:cTn id="46" presetID="8" presetClass="entr" presetSubtype="32" fill="hold" grpId="0" nodeType="withEffect">
                                  <p:stCondLst>
                                    <p:cond delay="2000"/>
                                  </p:stCondLst>
                                  <p:childTnLst>
                                    <p:set>
                                      <p:cBhvr>
                                        <p:cTn id="47" dur="1" fill="hold">
                                          <p:stCondLst>
                                            <p:cond delay="0"/>
                                          </p:stCondLst>
                                        </p:cTn>
                                        <p:tgtEl>
                                          <p:spTgt spid="55"/>
                                        </p:tgtEl>
                                        <p:attrNameLst>
                                          <p:attrName>style.visibility</p:attrName>
                                        </p:attrNameLst>
                                      </p:cBhvr>
                                      <p:to>
                                        <p:strVal val="visible"/>
                                      </p:to>
                                    </p:set>
                                    <p:animEffect transition="in" filter="diamond(out)">
                                      <p:cBhvr>
                                        <p:cTn id="48" dur="5000"/>
                                        <p:tgtEl>
                                          <p:spTgt spid="55"/>
                                        </p:tgtEl>
                                      </p:cBhvr>
                                    </p:animEffect>
                                  </p:childTnLst>
                                </p:cTn>
                              </p:par>
                            </p:childTnLst>
                          </p:cTn>
                        </p:par>
                      </p:childTnLst>
                    </p:cTn>
                  </p:par>
                  <p:par>
                    <p:cTn id="49" fill="hold">
                      <p:stCondLst>
                        <p:cond delay="indefinite"/>
                      </p:stCondLst>
                      <p:childTnLst>
                        <p:par>
                          <p:cTn id="50" fill="hold">
                            <p:stCondLst>
                              <p:cond delay="0"/>
                            </p:stCondLst>
                            <p:childTnLst>
                              <p:par>
                                <p:cTn id="51" presetID="9" presetClass="emph" presetSubtype="0" grpId="1" nodeType="clickEffect">
                                  <p:stCondLst>
                                    <p:cond delay="0"/>
                                  </p:stCondLst>
                                  <p:childTnLst>
                                    <p:set>
                                      <p:cBhvr rctx="PPT">
                                        <p:cTn id="52" dur="indefinite"/>
                                        <p:tgtEl>
                                          <p:spTgt spid="55"/>
                                        </p:tgtEl>
                                        <p:attrNameLst>
                                          <p:attrName>style.opacity</p:attrName>
                                        </p:attrNameLst>
                                      </p:cBhvr>
                                      <p:to>
                                        <p:strVal val="0.5"/>
                                      </p:to>
                                    </p:set>
                                    <p:animEffect filter="image" prLst="opacity: 0.5">
                                      <p:cBhvr rctx="IE">
                                        <p:cTn id="53" dur="indefinite"/>
                                        <p:tgtEl>
                                          <p:spTgt spid="55"/>
                                        </p:tgtEl>
                                      </p:cBhvr>
                                    </p:animEffect>
                                  </p:childTnLst>
                                </p:cTn>
                              </p:par>
                              <p:par>
                                <p:cTn id="54" presetID="1" presetClass="entr" presetSubtype="0" fill="hold" nodeType="withEffect">
                                  <p:stCondLst>
                                    <p:cond delay="0"/>
                                  </p:stCondLst>
                                  <p:childTnLst>
                                    <p:set>
                                      <p:cBhvr>
                                        <p:cTn id="55" dur="1" fill="hold">
                                          <p:stCondLst>
                                            <p:cond delay="0"/>
                                          </p:stCondLst>
                                        </p:cTn>
                                        <p:tgtEl>
                                          <p:spTgt spid="54"/>
                                        </p:tgtEl>
                                        <p:attrNameLst>
                                          <p:attrName>style.visibility</p:attrName>
                                        </p:attrNameLst>
                                      </p:cBhvr>
                                      <p:to>
                                        <p:strVal val="visible"/>
                                      </p:to>
                                    </p:set>
                                  </p:childTnLst>
                                </p:cTn>
                              </p:par>
                              <p:par>
                                <p:cTn id="56" presetID="12" presetClass="entr" presetSubtype="1" fill="hold" nodeType="withEffect">
                                  <p:stCondLst>
                                    <p:cond delay="0"/>
                                  </p:stCondLst>
                                  <p:childTnLst>
                                    <p:set>
                                      <p:cBhvr>
                                        <p:cTn id="57" dur="1" fill="hold">
                                          <p:stCondLst>
                                            <p:cond delay="0"/>
                                          </p:stCondLst>
                                        </p:cTn>
                                        <p:tgtEl>
                                          <p:spTgt spid="59"/>
                                        </p:tgtEl>
                                        <p:attrNameLst>
                                          <p:attrName>style.visibility</p:attrName>
                                        </p:attrNameLst>
                                      </p:cBhvr>
                                      <p:to>
                                        <p:strVal val="visible"/>
                                      </p:to>
                                    </p:set>
                                    <p:animEffect transition="in" filter="slide(fromTop)">
                                      <p:cBhvr>
                                        <p:cTn id="58" dur="5000"/>
                                        <p:tgtEl>
                                          <p:spTgt spid="59"/>
                                        </p:tgtEl>
                                      </p:cBhvr>
                                    </p:animEffect>
                                  </p:childTnLst>
                                  <p:subTnLst>
                                    <p:audio>
                                      <p:cMediaNode>
                                        <p:cTn display="0" masterRel="sameClick">
                                          <p:stCondLst>
                                            <p:cond evt="begin" delay="0">
                                              <p:tn val="56"/>
                                            </p:cond>
                                          </p:stCondLst>
                                          <p:endCondLst>
                                            <p:cond evt="onStopAudio" delay="0">
                                              <p:tgtEl>
                                                <p:sldTgt/>
                                              </p:tgtEl>
                                            </p:cond>
                                          </p:endCondLst>
                                        </p:cTn>
                                        <p:tgtEl>
                                          <p:sndTgt r:embed="rId3" name="CHIMES.WAV"/>
                                        </p:tgtEl>
                                      </p:cMediaNode>
                                    </p:audio>
                                  </p:subTnLst>
                                </p:cTn>
                              </p:par>
                              <p:par>
                                <p:cTn id="59" presetID="12" presetClass="entr" presetSubtype="2" fill="hold" nodeType="withEffect">
                                  <p:stCondLst>
                                    <p:cond delay="0"/>
                                  </p:stCondLst>
                                  <p:childTnLst>
                                    <p:set>
                                      <p:cBhvr>
                                        <p:cTn id="60" dur="1" fill="hold">
                                          <p:stCondLst>
                                            <p:cond delay="0"/>
                                          </p:stCondLst>
                                        </p:cTn>
                                        <p:tgtEl>
                                          <p:spTgt spid="62"/>
                                        </p:tgtEl>
                                        <p:attrNameLst>
                                          <p:attrName>style.visibility</p:attrName>
                                        </p:attrNameLst>
                                      </p:cBhvr>
                                      <p:to>
                                        <p:strVal val="visible"/>
                                      </p:to>
                                    </p:set>
                                    <p:animEffect transition="in" filter="slide(fromRight)">
                                      <p:cBhvr>
                                        <p:cTn id="61" dur="5000"/>
                                        <p:tgtEl>
                                          <p:spTgt spid="62"/>
                                        </p:tgtEl>
                                      </p:cBhvr>
                                    </p:animEffect>
                                  </p:childTnLst>
                                  <p:subTnLst>
                                    <p:audio>
                                      <p:cMediaNode>
                                        <p:cTn display="0" masterRel="sameClick">
                                          <p:stCondLst>
                                            <p:cond evt="begin" delay="0">
                                              <p:tn val="59"/>
                                            </p:cond>
                                          </p:stCondLst>
                                          <p:endCondLst>
                                            <p:cond evt="onStopAudio" delay="0">
                                              <p:tgtEl>
                                                <p:sldTgt/>
                                              </p:tgtEl>
                                            </p:cond>
                                          </p:endCondLst>
                                        </p:cTn>
                                        <p:tgtEl>
                                          <p:sndTgt r:embed="rId3" name="CHIMES.WAV"/>
                                        </p:tgtEl>
                                      </p:cMediaNode>
                                    </p:audio>
                                  </p:subTnLst>
                                </p:cTn>
                              </p:par>
                              <p:par>
                                <p:cTn id="62" presetID="12" presetClass="entr" presetSubtype="4" fill="hold" nodeType="withEffect">
                                  <p:stCondLst>
                                    <p:cond delay="0"/>
                                  </p:stCondLst>
                                  <p:childTnLst>
                                    <p:set>
                                      <p:cBhvr>
                                        <p:cTn id="63" dur="1" fill="hold">
                                          <p:stCondLst>
                                            <p:cond delay="0"/>
                                          </p:stCondLst>
                                        </p:cTn>
                                        <p:tgtEl>
                                          <p:spTgt spid="58"/>
                                        </p:tgtEl>
                                        <p:attrNameLst>
                                          <p:attrName>style.visibility</p:attrName>
                                        </p:attrNameLst>
                                      </p:cBhvr>
                                      <p:to>
                                        <p:strVal val="visible"/>
                                      </p:to>
                                    </p:set>
                                    <p:animEffect transition="in" filter="slide(fromBottom)">
                                      <p:cBhvr>
                                        <p:cTn id="64" dur="5000"/>
                                        <p:tgtEl>
                                          <p:spTgt spid="58"/>
                                        </p:tgtEl>
                                      </p:cBhvr>
                                    </p:animEffect>
                                  </p:childTnLst>
                                  <p:subTnLst>
                                    <p:audio>
                                      <p:cMediaNode>
                                        <p:cTn display="0" masterRel="sameClick">
                                          <p:stCondLst>
                                            <p:cond evt="begin" delay="0">
                                              <p:tn val="62"/>
                                            </p:cond>
                                          </p:stCondLst>
                                          <p:endCondLst>
                                            <p:cond evt="onStopAudio" delay="0">
                                              <p:tgtEl>
                                                <p:sldTgt/>
                                              </p:tgtEl>
                                            </p:cond>
                                          </p:endCondLst>
                                        </p:cTn>
                                        <p:tgtEl>
                                          <p:sndTgt r:embed="rId3" name="CHIMES.WAV"/>
                                        </p:tgtEl>
                                      </p:cMediaNode>
                                    </p:audio>
                                  </p:subTnLst>
                                </p:cTn>
                              </p:par>
                              <p:par>
                                <p:cTn id="65" presetID="12" presetClass="entr" presetSubtype="8" fill="hold" nodeType="withEffect">
                                  <p:stCondLst>
                                    <p:cond delay="0"/>
                                  </p:stCondLst>
                                  <p:childTnLst>
                                    <p:set>
                                      <p:cBhvr>
                                        <p:cTn id="66" dur="1" fill="hold">
                                          <p:stCondLst>
                                            <p:cond delay="0"/>
                                          </p:stCondLst>
                                        </p:cTn>
                                        <p:tgtEl>
                                          <p:spTgt spid="56"/>
                                        </p:tgtEl>
                                        <p:attrNameLst>
                                          <p:attrName>style.visibility</p:attrName>
                                        </p:attrNameLst>
                                      </p:cBhvr>
                                      <p:to>
                                        <p:strVal val="visible"/>
                                      </p:to>
                                    </p:set>
                                    <p:animEffect transition="in" filter="slide(fromLeft)">
                                      <p:cBhvr>
                                        <p:cTn id="67" dur="5000"/>
                                        <p:tgtEl>
                                          <p:spTgt spid="56"/>
                                        </p:tgtEl>
                                      </p:cBhvr>
                                    </p:animEffect>
                                  </p:childTnLst>
                                  <p:subTnLst>
                                    <p:audio>
                                      <p:cMediaNode>
                                        <p:cTn display="0" masterRel="sameClick">
                                          <p:stCondLst>
                                            <p:cond evt="begin" delay="0">
                                              <p:tn val="65"/>
                                            </p:cond>
                                          </p:stCondLst>
                                          <p:endCondLst>
                                            <p:cond evt="onStopAudio" delay="0">
                                              <p:tgtEl>
                                                <p:sldTgt/>
                                              </p:tgtEl>
                                            </p:cond>
                                          </p:endCondLst>
                                        </p:cTn>
                                        <p:tgtEl>
                                          <p:sndTgt r:embed="rId3" name="CHIMES.WAV"/>
                                        </p:tgtEl>
                                      </p:cMediaNode>
                                    </p:audio>
                                  </p:subTnLst>
                                </p:cTn>
                              </p:par>
                              <p:par>
                                <p:cTn id="68" presetID="19" presetClass="entr" presetSubtype="10" fill="hold" nodeType="withEffect">
                                  <p:stCondLst>
                                    <p:cond delay="0"/>
                                  </p:stCondLst>
                                  <p:childTnLst>
                                    <p:set>
                                      <p:cBhvr>
                                        <p:cTn id="69" dur="1" fill="hold">
                                          <p:stCondLst>
                                            <p:cond delay="0"/>
                                          </p:stCondLst>
                                        </p:cTn>
                                        <p:tgtEl>
                                          <p:spTgt spid="60"/>
                                        </p:tgtEl>
                                        <p:attrNameLst>
                                          <p:attrName>style.visibility</p:attrName>
                                        </p:attrNameLst>
                                      </p:cBhvr>
                                      <p:to>
                                        <p:strVal val="visible"/>
                                      </p:to>
                                    </p:set>
                                    <p:anim calcmode="lin" valueType="num">
                                      <p:cBhvr>
                                        <p:cTn id="70" dur="5000" fill="hold"/>
                                        <p:tgtEl>
                                          <p:spTgt spid="60"/>
                                        </p:tgtEl>
                                        <p:attrNameLst>
                                          <p:attrName>ppt_w</p:attrName>
                                        </p:attrNameLst>
                                      </p:cBhvr>
                                      <p:tavLst>
                                        <p:tav tm="0" fmla="#ppt_w*sin(2.5*pi*$)">
                                          <p:val>
                                            <p:fltVal val="0"/>
                                          </p:val>
                                        </p:tav>
                                        <p:tav tm="100000">
                                          <p:val>
                                            <p:fltVal val="1"/>
                                          </p:val>
                                        </p:tav>
                                      </p:tavLst>
                                    </p:anim>
                                    <p:anim calcmode="lin" valueType="num">
                                      <p:cBhvr>
                                        <p:cTn id="71" dur="5000" fill="hold"/>
                                        <p:tgtEl>
                                          <p:spTgt spid="60"/>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68"/>
                                            </p:cond>
                                          </p:stCondLst>
                                          <p:endCondLst>
                                            <p:cond evt="onStopAudio" delay="0">
                                              <p:tgtEl>
                                                <p:sldTgt/>
                                              </p:tgtEl>
                                            </p:cond>
                                          </p:endCondLst>
                                        </p:cTn>
                                        <p:tgtEl>
                                          <p:sndTgt r:embed="rId3" name="CHIMES.WAV"/>
                                        </p:tgtEl>
                                      </p:cMediaNode>
                                    </p:audio>
                                  </p:subTnLst>
                                </p:cTn>
                              </p:par>
                              <p:par>
                                <p:cTn id="72" presetID="19" presetClass="entr" presetSubtype="10" fill="hold" nodeType="withEffect">
                                  <p:stCondLst>
                                    <p:cond delay="0"/>
                                  </p:stCondLst>
                                  <p:childTnLst>
                                    <p:set>
                                      <p:cBhvr>
                                        <p:cTn id="73" dur="1" fill="hold">
                                          <p:stCondLst>
                                            <p:cond delay="0"/>
                                          </p:stCondLst>
                                        </p:cTn>
                                        <p:tgtEl>
                                          <p:spTgt spid="61"/>
                                        </p:tgtEl>
                                        <p:attrNameLst>
                                          <p:attrName>style.visibility</p:attrName>
                                        </p:attrNameLst>
                                      </p:cBhvr>
                                      <p:to>
                                        <p:strVal val="visible"/>
                                      </p:to>
                                    </p:set>
                                    <p:anim calcmode="lin" valueType="num">
                                      <p:cBhvr>
                                        <p:cTn id="74" dur="5000" fill="hold"/>
                                        <p:tgtEl>
                                          <p:spTgt spid="61"/>
                                        </p:tgtEl>
                                        <p:attrNameLst>
                                          <p:attrName>ppt_w</p:attrName>
                                        </p:attrNameLst>
                                      </p:cBhvr>
                                      <p:tavLst>
                                        <p:tav tm="0" fmla="#ppt_w*sin(2.5*pi*$)">
                                          <p:val>
                                            <p:fltVal val="0"/>
                                          </p:val>
                                        </p:tav>
                                        <p:tav tm="100000">
                                          <p:val>
                                            <p:fltVal val="1"/>
                                          </p:val>
                                        </p:tav>
                                      </p:tavLst>
                                    </p:anim>
                                    <p:anim calcmode="lin" valueType="num">
                                      <p:cBhvr>
                                        <p:cTn id="75" dur="5000" fill="hold"/>
                                        <p:tgtEl>
                                          <p:spTgt spid="61"/>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72"/>
                                            </p:cond>
                                          </p:stCondLst>
                                          <p:endCondLst>
                                            <p:cond evt="onStopAudio" delay="0">
                                              <p:tgtEl>
                                                <p:sldTgt/>
                                              </p:tgtEl>
                                            </p:cond>
                                          </p:endCondLst>
                                        </p:cTn>
                                        <p:tgtEl>
                                          <p:sndTgt r:embed="rId3" name="CHIMES.WAV"/>
                                        </p:tgtEl>
                                      </p:cMediaNode>
                                    </p:audio>
                                  </p:subTnLst>
                                </p:cTn>
                              </p:par>
                              <p:par>
                                <p:cTn id="76" presetID="19" presetClass="entr" presetSubtype="10" fill="hold" nodeType="withEffect">
                                  <p:stCondLst>
                                    <p:cond delay="0"/>
                                  </p:stCondLst>
                                  <p:childTnLst>
                                    <p:set>
                                      <p:cBhvr>
                                        <p:cTn id="77" dur="1" fill="hold">
                                          <p:stCondLst>
                                            <p:cond delay="0"/>
                                          </p:stCondLst>
                                        </p:cTn>
                                        <p:tgtEl>
                                          <p:spTgt spid="57"/>
                                        </p:tgtEl>
                                        <p:attrNameLst>
                                          <p:attrName>style.visibility</p:attrName>
                                        </p:attrNameLst>
                                      </p:cBhvr>
                                      <p:to>
                                        <p:strVal val="visible"/>
                                      </p:to>
                                    </p:set>
                                    <p:anim calcmode="lin" valueType="num">
                                      <p:cBhvr>
                                        <p:cTn id="78" dur="5000" fill="hold"/>
                                        <p:tgtEl>
                                          <p:spTgt spid="57"/>
                                        </p:tgtEl>
                                        <p:attrNameLst>
                                          <p:attrName>ppt_w</p:attrName>
                                        </p:attrNameLst>
                                      </p:cBhvr>
                                      <p:tavLst>
                                        <p:tav tm="0" fmla="#ppt_w*sin(2.5*pi*$)">
                                          <p:val>
                                            <p:fltVal val="0"/>
                                          </p:val>
                                        </p:tav>
                                        <p:tav tm="100000">
                                          <p:val>
                                            <p:fltVal val="1"/>
                                          </p:val>
                                        </p:tav>
                                      </p:tavLst>
                                    </p:anim>
                                    <p:anim calcmode="lin" valueType="num">
                                      <p:cBhvr>
                                        <p:cTn id="79" dur="5000" fill="hold"/>
                                        <p:tgtEl>
                                          <p:spTgt spid="57"/>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76"/>
                                            </p:cond>
                                          </p:stCondLst>
                                          <p:endCondLst>
                                            <p:cond evt="onStopAudio" delay="0">
                                              <p:tgtEl>
                                                <p:sldTgt/>
                                              </p:tgtEl>
                                            </p:cond>
                                          </p:endCondLst>
                                        </p:cTn>
                                        <p:tgtEl>
                                          <p:sndTgt r:embed="rId3" name="CHIMES.WAV"/>
                                        </p:tgtEl>
                                      </p:cMediaNode>
                                    </p:audio>
                                  </p:subTnLst>
                                </p:cTn>
                              </p:par>
                              <p:par>
                                <p:cTn id="80" presetID="19" presetClass="entr" presetSubtype="10" fill="hold" nodeType="withEffect">
                                  <p:stCondLst>
                                    <p:cond delay="0"/>
                                  </p:stCondLst>
                                  <p:childTnLst>
                                    <p:set>
                                      <p:cBhvr>
                                        <p:cTn id="81" dur="1" fill="hold">
                                          <p:stCondLst>
                                            <p:cond delay="0"/>
                                          </p:stCondLst>
                                        </p:cTn>
                                        <p:tgtEl>
                                          <p:spTgt spid="63"/>
                                        </p:tgtEl>
                                        <p:attrNameLst>
                                          <p:attrName>style.visibility</p:attrName>
                                        </p:attrNameLst>
                                      </p:cBhvr>
                                      <p:to>
                                        <p:strVal val="visible"/>
                                      </p:to>
                                    </p:set>
                                    <p:anim calcmode="lin" valueType="num">
                                      <p:cBhvr>
                                        <p:cTn id="82" dur="5000" fill="hold"/>
                                        <p:tgtEl>
                                          <p:spTgt spid="63"/>
                                        </p:tgtEl>
                                        <p:attrNameLst>
                                          <p:attrName>ppt_w</p:attrName>
                                        </p:attrNameLst>
                                      </p:cBhvr>
                                      <p:tavLst>
                                        <p:tav tm="0" fmla="#ppt_w*sin(2.5*pi*$)">
                                          <p:val>
                                            <p:fltVal val="0"/>
                                          </p:val>
                                        </p:tav>
                                        <p:tav tm="100000">
                                          <p:val>
                                            <p:fltVal val="1"/>
                                          </p:val>
                                        </p:tav>
                                      </p:tavLst>
                                    </p:anim>
                                    <p:anim calcmode="lin" valueType="num">
                                      <p:cBhvr>
                                        <p:cTn id="83" dur="5000" fill="hold"/>
                                        <p:tgtEl>
                                          <p:spTgt spid="63"/>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80"/>
                                            </p:cond>
                                          </p:stCondLst>
                                          <p:endCondLst>
                                            <p:cond evt="onStopAudio" delay="0">
                                              <p:tgtEl>
                                                <p:sldTgt/>
                                              </p:tgtEl>
                                            </p:cond>
                                          </p:endCondLst>
                                        </p:cTn>
                                        <p:tgtEl>
                                          <p:sndTgt r:embed="rId3" name="CHIMES.WAV"/>
                                        </p:tgtEl>
                                      </p:cMediaNode>
                                    </p:audio>
                                  </p:subTnLst>
                                </p:cTn>
                              </p:par>
                            </p:childTnLst>
                          </p:cTn>
                        </p:par>
                      </p:childTnLst>
                    </p:cTn>
                  </p:par>
                  <p:par>
                    <p:cTn id="84" fill="hold">
                      <p:stCondLst>
                        <p:cond delay="indefinite"/>
                      </p:stCondLst>
                      <p:childTnLst>
                        <p:par>
                          <p:cTn id="85" fill="hold">
                            <p:stCondLst>
                              <p:cond delay="0"/>
                            </p:stCondLst>
                            <p:childTnLst>
                              <p:par>
                                <p:cTn id="86" presetID="22" presetClass="entr" presetSubtype="1" fill="hold" nodeType="clickEffect">
                                  <p:stCondLst>
                                    <p:cond delay="0"/>
                                  </p:stCondLst>
                                  <p:childTnLst>
                                    <p:set>
                                      <p:cBhvr>
                                        <p:cTn id="87" dur="1" fill="hold">
                                          <p:stCondLst>
                                            <p:cond delay="0"/>
                                          </p:stCondLst>
                                        </p:cTn>
                                        <p:tgtEl>
                                          <p:spTgt spid="67"/>
                                        </p:tgtEl>
                                        <p:attrNameLst>
                                          <p:attrName>style.visibility</p:attrName>
                                        </p:attrNameLst>
                                      </p:cBhvr>
                                      <p:to>
                                        <p:strVal val="visible"/>
                                      </p:to>
                                    </p:set>
                                    <p:animEffect transition="in" filter="wipe(up)">
                                      <p:cBhvr>
                                        <p:cTn id="88" dur="2000"/>
                                        <p:tgtEl>
                                          <p:spTgt spid="67"/>
                                        </p:tgtEl>
                                      </p:cBhvr>
                                    </p:animEffect>
                                  </p:childTnLst>
                                </p:cTn>
                              </p:par>
                              <p:par>
                                <p:cTn id="89" presetID="22" presetClass="entr" presetSubtype="8" fill="hold" nodeType="withEffect">
                                  <p:stCondLst>
                                    <p:cond delay="0"/>
                                  </p:stCondLst>
                                  <p:childTnLst>
                                    <p:set>
                                      <p:cBhvr>
                                        <p:cTn id="90" dur="1" fill="hold">
                                          <p:stCondLst>
                                            <p:cond delay="0"/>
                                          </p:stCondLst>
                                        </p:cTn>
                                        <p:tgtEl>
                                          <p:spTgt spid="68"/>
                                        </p:tgtEl>
                                        <p:attrNameLst>
                                          <p:attrName>style.visibility</p:attrName>
                                        </p:attrNameLst>
                                      </p:cBhvr>
                                      <p:to>
                                        <p:strVal val="visible"/>
                                      </p:to>
                                    </p:set>
                                    <p:animEffect transition="in" filter="wipe(left)">
                                      <p:cBhvr>
                                        <p:cTn id="91" dur="2000"/>
                                        <p:tgtEl>
                                          <p:spTgt spid="68"/>
                                        </p:tgtEl>
                                      </p:cBhvr>
                                    </p:animEffect>
                                  </p:childTnLst>
                                </p:cTn>
                              </p:par>
                            </p:childTnLst>
                          </p:cTn>
                        </p:par>
                        <p:par>
                          <p:cTn id="92" fill="hold">
                            <p:stCondLst>
                              <p:cond delay="2000"/>
                            </p:stCondLst>
                            <p:childTnLst>
                              <p:par>
                                <p:cTn id="93" presetID="18" presetClass="entr" presetSubtype="6" fill="hold" nodeType="afterEffect">
                                  <p:stCondLst>
                                    <p:cond delay="0"/>
                                  </p:stCondLst>
                                  <p:childTnLst>
                                    <p:set>
                                      <p:cBhvr>
                                        <p:cTn id="94" dur="1" fill="hold">
                                          <p:stCondLst>
                                            <p:cond delay="0"/>
                                          </p:stCondLst>
                                        </p:cTn>
                                        <p:tgtEl>
                                          <p:spTgt spid="64"/>
                                        </p:tgtEl>
                                        <p:attrNameLst>
                                          <p:attrName>style.visibility</p:attrName>
                                        </p:attrNameLst>
                                      </p:cBhvr>
                                      <p:to>
                                        <p:strVal val="visible"/>
                                      </p:to>
                                    </p:set>
                                    <p:animEffect transition="in" filter="strips(downRight)">
                                      <p:cBhvr>
                                        <p:cTn id="95" dur="3000"/>
                                        <p:tgtEl>
                                          <p:spTgt spid="64"/>
                                        </p:tgtEl>
                                      </p:cBhvr>
                                    </p:animEffect>
                                  </p:childTnLst>
                                </p:cTn>
                              </p:par>
                            </p:childTnLst>
                          </p:cTn>
                        </p:par>
                        <p:par>
                          <p:cTn id="96" fill="hold">
                            <p:stCondLst>
                              <p:cond delay="5000"/>
                            </p:stCondLst>
                            <p:childTnLst>
                              <p:par>
                                <p:cTn id="97" presetID="18" presetClass="entr" presetSubtype="9" fill="hold" nodeType="afterEffect">
                                  <p:stCondLst>
                                    <p:cond delay="0"/>
                                  </p:stCondLst>
                                  <p:childTnLst>
                                    <p:set>
                                      <p:cBhvr>
                                        <p:cTn id="98" dur="1" fill="hold">
                                          <p:stCondLst>
                                            <p:cond delay="0"/>
                                          </p:stCondLst>
                                        </p:cTn>
                                        <p:tgtEl>
                                          <p:spTgt spid="65"/>
                                        </p:tgtEl>
                                        <p:attrNameLst>
                                          <p:attrName>style.visibility</p:attrName>
                                        </p:attrNameLst>
                                      </p:cBhvr>
                                      <p:to>
                                        <p:strVal val="visible"/>
                                      </p:to>
                                    </p:set>
                                    <p:animEffect transition="in" filter="strips(upLeft)">
                                      <p:cBhvr>
                                        <p:cTn id="99" dur="3000"/>
                                        <p:tgtEl>
                                          <p:spTgt spid="65"/>
                                        </p:tgtEl>
                                      </p:cBhvr>
                                    </p:animEffect>
                                  </p:childTnLst>
                                  <p:subTnLst>
                                    <p:audio>
                                      <p:cMediaNode>
                                        <p:cTn display="0" masterRel="sameClick">
                                          <p:stCondLst>
                                            <p:cond evt="begin" delay="0">
                                              <p:tn val="97"/>
                                            </p:cond>
                                          </p:stCondLst>
                                          <p:endCondLst>
                                            <p:cond evt="onStopAudio" delay="0">
                                              <p:tgtEl>
                                                <p:sldTgt/>
                                              </p:tgtEl>
                                            </p:cond>
                                          </p:endCondLst>
                                        </p:cTn>
                                        <p:tgtEl>
                                          <p:sndTgt r:embed="rId3" name="CHIMES.WAV"/>
                                        </p:tgtEl>
                                      </p:cMediaNode>
                                    </p:audio>
                                  </p:subTnLst>
                                </p:cTn>
                              </p:par>
                            </p:childTnLst>
                          </p:cTn>
                        </p:par>
                        <p:par>
                          <p:cTn id="100" fill="hold">
                            <p:stCondLst>
                              <p:cond delay="8000"/>
                            </p:stCondLst>
                            <p:childTnLst>
                              <p:par>
                                <p:cTn id="101" presetID="19" presetClass="entr" presetSubtype="10" fill="hold" grpId="0" nodeType="afterEffect">
                                  <p:stCondLst>
                                    <p:cond delay="0"/>
                                  </p:stCondLst>
                                  <p:childTnLst>
                                    <p:set>
                                      <p:cBhvr>
                                        <p:cTn id="102" dur="1" fill="hold">
                                          <p:stCondLst>
                                            <p:cond delay="0"/>
                                          </p:stCondLst>
                                        </p:cTn>
                                        <p:tgtEl>
                                          <p:spTgt spid="66"/>
                                        </p:tgtEl>
                                        <p:attrNameLst>
                                          <p:attrName>style.visibility</p:attrName>
                                        </p:attrNameLst>
                                      </p:cBhvr>
                                      <p:to>
                                        <p:strVal val="visible"/>
                                      </p:to>
                                    </p:set>
                                    <p:anim calcmode="lin" valueType="num">
                                      <p:cBhvr>
                                        <p:cTn id="103" dur="5000" fill="hold"/>
                                        <p:tgtEl>
                                          <p:spTgt spid="66"/>
                                        </p:tgtEl>
                                        <p:attrNameLst>
                                          <p:attrName>ppt_w</p:attrName>
                                        </p:attrNameLst>
                                      </p:cBhvr>
                                      <p:tavLst>
                                        <p:tav tm="0" fmla="#ppt_w*sin(2.5*pi*$)">
                                          <p:val>
                                            <p:fltVal val="0"/>
                                          </p:val>
                                        </p:tav>
                                        <p:tav tm="100000">
                                          <p:val>
                                            <p:fltVal val="1"/>
                                          </p:val>
                                        </p:tav>
                                      </p:tavLst>
                                    </p:anim>
                                    <p:anim calcmode="lin" valueType="num">
                                      <p:cBhvr>
                                        <p:cTn id="104" dur="5000" fill="hold"/>
                                        <p:tgtEl>
                                          <p:spTgt spid="66"/>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01"/>
                                            </p:cond>
                                          </p:stCondLst>
                                          <p:endCondLst>
                                            <p:cond evt="onStopAudio" delay="0">
                                              <p:tgtEl>
                                                <p:sldTgt/>
                                              </p:tgtEl>
                                            </p:cond>
                                          </p:endCondLst>
                                        </p:cTn>
                                        <p:tgtEl>
                                          <p:sndTgt r:embed="rId3"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autoUpdateAnimBg="0"/>
      <p:bldP spid="9" grpId="0" autoUpdateAnimBg="0"/>
      <p:bldP spid="10" grpId="0" animBg="1"/>
      <p:bldP spid="47" grpId="0"/>
      <p:bldP spid="49" grpId="0"/>
      <p:bldP spid="55" grpId="0" animBg="1"/>
      <p:bldP spid="55" grpId="1" animBg="1"/>
      <p:bldP spid="66" grpId="0" autoUpdateAnimBg="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711605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第八章   拉压、剪切与挤压的强度计算</a:t>
            </a:r>
          </a:p>
        </p:txBody>
      </p:sp>
      <p:sp>
        <p:nvSpPr>
          <p:cNvPr id="9" name="Text Box 1032">
            <a:extLst>
              <a:ext uri="{FF2B5EF4-FFF2-40B4-BE49-F238E27FC236}">
                <a16:creationId xmlns:a16="http://schemas.microsoft.com/office/drawing/2014/main" id="{5B910DD4-CBB7-A521-D69D-247EA7B635CC}"/>
              </a:ext>
            </a:extLst>
          </p:cNvPr>
          <p:cNvSpPr txBox="1">
            <a:spLocks noChangeArrowheads="1"/>
          </p:cNvSpPr>
          <p:nvPr/>
        </p:nvSpPr>
        <p:spPr bwMode="auto">
          <a:xfrm>
            <a:off x="335360" y="992380"/>
            <a:ext cx="11305256" cy="16845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lvl="0">
              <a:lnSpc>
                <a:spcPct val="130000"/>
              </a:lnSpc>
            </a:pPr>
            <a:r>
              <a:rPr lang="zh-CN" altLang="en-US" sz="2800" i="0" dirty="0">
                <a:latin typeface="+mn-lt"/>
                <a:ea typeface="微软雅黑" panose="020B0503020204020204" pitchFamily="34" charset="-122"/>
              </a:rPr>
              <a:t>实验指出：当切应力不超过材料的剪切比例极限</a:t>
            </a:r>
            <a:r>
              <a:rPr lang="zh-CN" altLang="en-US" sz="2800" b="0" dirty="0">
                <a:sym typeface="Symbol" panose="05050102010706020507" pitchFamily="18" charset="2"/>
              </a:rPr>
              <a:t></a:t>
            </a:r>
            <a:r>
              <a:rPr lang="en-US" altLang="zh-CN" sz="2800" b="0" i="0" baseline="-25000" dirty="0"/>
              <a:t>p</a:t>
            </a:r>
            <a:r>
              <a:rPr lang="zh-CN" altLang="en-US" sz="2800" i="0" dirty="0">
                <a:latin typeface="+mn-lt"/>
                <a:ea typeface="微软雅黑" panose="020B0503020204020204" pitchFamily="34" charset="-122"/>
              </a:rPr>
              <a:t>时，切应力</a:t>
            </a:r>
            <a:r>
              <a:rPr lang="zh-CN" altLang="en-US" sz="2800" b="0" dirty="0">
                <a:latin typeface="+mn-lt"/>
                <a:ea typeface="微软雅黑" panose="020B0503020204020204" pitchFamily="34" charset="-122"/>
                <a:sym typeface="Symbol" panose="05050102010706020507" pitchFamily="18" charset="2"/>
              </a:rPr>
              <a:t> </a:t>
            </a:r>
            <a:r>
              <a:rPr lang="zh-CN" altLang="en-US" sz="2800" i="0" dirty="0">
                <a:latin typeface="+mn-lt"/>
                <a:ea typeface="微软雅黑" panose="020B0503020204020204" pitchFamily="34" charset="-122"/>
              </a:rPr>
              <a:t>与切应变</a:t>
            </a:r>
            <a:r>
              <a:rPr lang="zh-CN" altLang="en-US" sz="2800" b="0" dirty="0">
                <a:latin typeface="+mn-lt"/>
                <a:ea typeface="微软雅黑" panose="020B0503020204020204" pitchFamily="34" charset="-122"/>
                <a:sym typeface="Symbol" panose="05050102010706020507" pitchFamily="18" charset="2"/>
              </a:rPr>
              <a:t> </a:t>
            </a:r>
            <a:r>
              <a:rPr lang="zh-CN" altLang="en-US" sz="2800" i="0" dirty="0">
                <a:latin typeface="+mn-lt"/>
                <a:ea typeface="微软雅黑" panose="020B0503020204020204" pitchFamily="34" charset="-122"/>
              </a:rPr>
              <a:t>成正比。这就是材料的</a:t>
            </a:r>
            <a:r>
              <a:rPr lang="zh-CN" altLang="en-US" sz="2800" i="0" dirty="0">
                <a:solidFill>
                  <a:srgbClr val="FF00FF"/>
                </a:solidFill>
                <a:latin typeface="+mn-lt"/>
                <a:ea typeface="微软雅黑" panose="020B0503020204020204" pitchFamily="34" charset="-122"/>
              </a:rPr>
              <a:t>剪切胡克定律</a:t>
            </a:r>
            <a:r>
              <a:rPr lang="zh-CN" altLang="en-US" sz="2800" i="0" dirty="0">
                <a:latin typeface="+mn-lt"/>
                <a:ea typeface="微软雅黑" panose="020B0503020204020204" pitchFamily="34" charset="-122"/>
              </a:rPr>
              <a:t>，即</a:t>
            </a:r>
          </a:p>
          <a:p>
            <a:pPr algn="just">
              <a:lnSpc>
                <a:spcPct val="120000"/>
              </a:lnSpc>
            </a:pPr>
            <a:endParaRPr lang="zh-CN" altLang="en-US" sz="2800" i="0" dirty="0">
              <a:latin typeface="+mn-lt"/>
              <a:ea typeface="微软雅黑" panose="020B0503020204020204" pitchFamily="34" charset="-122"/>
            </a:endParaRPr>
          </a:p>
        </p:txBody>
      </p:sp>
      <p:sp>
        <p:nvSpPr>
          <p:cNvPr id="10" name="Rectangle 61">
            <a:extLst>
              <a:ext uri="{FF2B5EF4-FFF2-40B4-BE49-F238E27FC236}">
                <a16:creationId xmlns:a16="http://schemas.microsoft.com/office/drawing/2014/main" id="{A7BABA33-6C6E-5172-113C-D7F1D8E457C6}"/>
              </a:ext>
            </a:extLst>
          </p:cNvPr>
          <p:cNvSpPr>
            <a:spLocks noChangeArrowheads="1"/>
          </p:cNvSpPr>
          <p:nvPr/>
        </p:nvSpPr>
        <p:spPr bwMode="auto">
          <a:xfrm>
            <a:off x="6468749" y="2132864"/>
            <a:ext cx="4906581" cy="4104448"/>
          </a:xfrm>
          <a:prstGeom prst="rect">
            <a:avLst/>
          </a:prstGeom>
          <a:solidFill>
            <a:srgbClr val="B9CDE5"/>
          </a:solidFill>
          <a:ln>
            <a:noFill/>
          </a:ln>
          <a:effectLst/>
        </p:spPr>
        <p:txBody>
          <a:bodyPr wrap="none" anchor="ctr"/>
          <a:lstStyle/>
          <a:p>
            <a:endParaRPr lang="zh-CN" altLang="en-US" dirty="0"/>
          </a:p>
        </p:txBody>
      </p:sp>
      <p:sp>
        <p:nvSpPr>
          <p:cNvPr id="16" name="Line 10">
            <a:extLst>
              <a:ext uri="{FF2B5EF4-FFF2-40B4-BE49-F238E27FC236}">
                <a16:creationId xmlns:a16="http://schemas.microsoft.com/office/drawing/2014/main" id="{ED8E2545-1219-8BE6-257B-FC241C7CC606}"/>
              </a:ext>
            </a:extLst>
          </p:cNvPr>
          <p:cNvSpPr>
            <a:spLocks noChangeShapeType="1"/>
          </p:cNvSpPr>
          <p:nvPr/>
        </p:nvSpPr>
        <p:spPr bwMode="auto">
          <a:xfrm>
            <a:off x="7436520" y="5791423"/>
            <a:ext cx="3406775" cy="0"/>
          </a:xfrm>
          <a:prstGeom prst="line">
            <a:avLst/>
          </a:prstGeom>
          <a:noFill/>
          <a:ln w="9525">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7" name="Line 11">
            <a:extLst>
              <a:ext uri="{FF2B5EF4-FFF2-40B4-BE49-F238E27FC236}">
                <a16:creationId xmlns:a16="http://schemas.microsoft.com/office/drawing/2014/main" id="{258ECD79-3BA6-6829-B801-E9BD7AE8EAF6}"/>
              </a:ext>
            </a:extLst>
          </p:cNvPr>
          <p:cNvSpPr>
            <a:spLocks noChangeShapeType="1"/>
          </p:cNvSpPr>
          <p:nvPr/>
        </p:nvSpPr>
        <p:spPr bwMode="auto">
          <a:xfrm flipH="1" flipV="1">
            <a:off x="8157245" y="2686273"/>
            <a:ext cx="0" cy="3105150"/>
          </a:xfrm>
          <a:prstGeom prst="line">
            <a:avLst/>
          </a:prstGeom>
          <a:noFill/>
          <a:ln w="9525">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8" name="Text Box 12">
            <a:extLst>
              <a:ext uri="{FF2B5EF4-FFF2-40B4-BE49-F238E27FC236}">
                <a16:creationId xmlns:a16="http://schemas.microsoft.com/office/drawing/2014/main" id="{41D3BBF1-5985-2846-7223-4B914A514BDF}"/>
              </a:ext>
            </a:extLst>
          </p:cNvPr>
          <p:cNvSpPr txBox="1">
            <a:spLocks noChangeArrowheads="1"/>
          </p:cNvSpPr>
          <p:nvPr/>
        </p:nvSpPr>
        <p:spPr bwMode="auto">
          <a:xfrm>
            <a:off x="10395620" y="5681885"/>
            <a:ext cx="5953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1" lang="en-US" altLang="zh-CN" sz="2400" b="0" i="0" u="none" strike="noStrike" kern="0" cap="none" spc="0" normalizeH="0" baseline="0" noProof="0" dirty="0">
                <a:ln>
                  <a:noFill/>
                </a:ln>
                <a:solidFill>
                  <a:srgbClr val="FFFFFF"/>
                </a:solidFill>
                <a:effectLst/>
                <a:uLnTx/>
                <a:uFillTx/>
                <a:latin typeface="Times New Roman" panose="02020603050405020304" pitchFamily="18" charset="0"/>
                <a:ea typeface="黑体" panose="02010609060101010101" pitchFamily="49" charset="-122"/>
                <a:sym typeface="Symbol" panose="05050102010706020507" pitchFamily="18" charset="2"/>
              </a:rPr>
              <a:t> </a:t>
            </a:r>
            <a:r>
              <a:rPr kumimoji="1" lang="en-US" altLang="zh-CN" sz="2400" b="0" u="none" strike="noStrike" kern="0" cap="none" spc="0" normalizeH="0" baseline="0" noProof="0" dirty="0">
                <a:ln>
                  <a:noFill/>
                </a:ln>
                <a:solidFill>
                  <a:schemeClr val="tx1"/>
                </a:solidFill>
                <a:effectLst/>
                <a:uLnTx/>
                <a:uFillTx/>
                <a:latin typeface="Times New Roman" panose="02020603050405020304" pitchFamily="18" charset="0"/>
                <a:sym typeface="Symbol" panose="05050102010706020507" pitchFamily="18" charset="2"/>
              </a:rPr>
              <a:t></a:t>
            </a:r>
            <a:endParaRPr kumimoji="1" lang="zh-CN" altLang="zh-CN" sz="2400" b="0" u="none" strike="noStrike" kern="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sym typeface="Symbol" panose="05050102010706020507" pitchFamily="18" charset="2"/>
            </a:endParaRPr>
          </a:p>
        </p:txBody>
      </p:sp>
      <p:sp>
        <p:nvSpPr>
          <p:cNvPr id="19" name="Text Box 13">
            <a:extLst>
              <a:ext uri="{FF2B5EF4-FFF2-40B4-BE49-F238E27FC236}">
                <a16:creationId xmlns:a16="http://schemas.microsoft.com/office/drawing/2014/main" id="{E31408D8-89D3-4E5C-CA16-87222D29D320}"/>
              </a:ext>
            </a:extLst>
          </p:cNvPr>
          <p:cNvSpPr txBox="1">
            <a:spLocks noChangeArrowheads="1"/>
          </p:cNvSpPr>
          <p:nvPr/>
        </p:nvSpPr>
        <p:spPr bwMode="auto">
          <a:xfrm>
            <a:off x="7776245" y="5742210"/>
            <a:ext cx="809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eaLnBrk="1" hangingPunct="1">
              <a:spcBef>
                <a:spcPct val="50000"/>
              </a:spcBef>
            </a:pPr>
            <a:r>
              <a:rPr lang="en-US" altLang="zh-CN" b="0" dirty="0">
                <a:solidFill>
                  <a:schemeClr val="tx1"/>
                </a:solidFill>
                <a:ea typeface="宋体" panose="02010600030101010101" pitchFamily="2" charset="-122"/>
              </a:rPr>
              <a:t>O</a:t>
            </a:r>
            <a:endParaRPr lang="en-US" altLang="zh-CN" b="0" i="0" dirty="0">
              <a:solidFill>
                <a:schemeClr val="tx1"/>
              </a:solidFill>
              <a:ea typeface="宋体" panose="02010600030101010101" pitchFamily="2" charset="-122"/>
            </a:endParaRPr>
          </a:p>
        </p:txBody>
      </p:sp>
      <p:sp>
        <p:nvSpPr>
          <p:cNvPr id="20" name="Text Box 23">
            <a:extLst>
              <a:ext uri="{FF2B5EF4-FFF2-40B4-BE49-F238E27FC236}">
                <a16:creationId xmlns:a16="http://schemas.microsoft.com/office/drawing/2014/main" id="{F76F2E47-FE7C-3110-D0F9-35A5C1E04C91}"/>
              </a:ext>
            </a:extLst>
          </p:cNvPr>
          <p:cNvSpPr txBox="1">
            <a:spLocks noChangeArrowheads="1"/>
          </p:cNvSpPr>
          <p:nvPr/>
        </p:nvSpPr>
        <p:spPr bwMode="auto">
          <a:xfrm>
            <a:off x="7612732" y="2508473"/>
            <a:ext cx="7477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1" lang="en-US" altLang="zh-CN" sz="2400" b="0" i="0" u="none" strike="noStrike" kern="0" cap="none" spc="0" normalizeH="0" baseline="0" noProof="0" dirty="0">
                <a:ln>
                  <a:noFill/>
                </a:ln>
                <a:solidFill>
                  <a:srgbClr val="FFFFFF"/>
                </a:solidFill>
                <a:effectLst/>
                <a:uLnTx/>
                <a:uFillTx/>
                <a:latin typeface="Times New Roman" panose="02020603050405020304" pitchFamily="18" charset="0"/>
                <a:ea typeface="黑体" panose="02010609060101010101" pitchFamily="49" charset="-122"/>
                <a:sym typeface="Symbol" panose="05050102010706020507" pitchFamily="18" charset="2"/>
              </a:rPr>
              <a:t> </a:t>
            </a:r>
            <a:r>
              <a:rPr kumimoji="1" lang="en-US" altLang="zh-CN" sz="2400" b="0" u="none" strike="noStrike" kern="0" cap="none" spc="0" normalizeH="0" baseline="0" noProof="0" dirty="0">
                <a:ln>
                  <a:noFill/>
                </a:ln>
                <a:solidFill>
                  <a:schemeClr val="tx1"/>
                </a:solidFill>
                <a:effectLst/>
                <a:uLnTx/>
                <a:uFillTx/>
                <a:latin typeface="Times New Roman" panose="02020603050405020304" pitchFamily="18" charset="0"/>
                <a:sym typeface="Symbol" panose="05050102010706020507" pitchFamily="18" charset="2"/>
              </a:rPr>
              <a:t></a:t>
            </a:r>
            <a:endParaRPr kumimoji="1" lang="zh-CN" altLang="zh-CN" sz="2400" b="0" u="none" strike="noStrike" kern="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sym typeface="Symbol" panose="05050102010706020507" pitchFamily="18" charset="2"/>
            </a:endParaRPr>
          </a:p>
        </p:txBody>
      </p:sp>
      <p:sp>
        <p:nvSpPr>
          <p:cNvPr id="21" name="Freeform 25">
            <a:extLst>
              <a:ext uri="{FF2B5EF4-FFF2-40B4-BE49-F238E27FC236}">
                <a16:creationId xmlns:a16="http://schemas.microsoft.com/office/drawing/2014/main" id="{9458B652-510C-8EC6-4AB1-6360FE0A6E56}"/>
              </a:ext>
            </a:extLst>
          </p:cNvPr>
          <p:cNvSpPr>
            <a:spLocks/>
          </p:cNvSpPr>
          <p:nvPr/>
        </p:nvSpPr>
        <p:spPr bwMode="auto">
          <a:xfrm>
            <a:off x="8184232" y="2611660"/>
            <a:ext cx="2143125" cy="3160713"/>
          </a:xfrm>
          <a:custGeom>
            <a:avLst/>
            <a:gdLst>
              <a:gd name="T0" fmla="*/ 0 w 1350"/>
              <a:gd name="T1" fmla="*/ 3160713 h 1991"/>
              <a:gd name="T2" fmla="*/ 650875 w 1350"/>
              <a:gd name="T3" fmla="*/ 868363 h 1991"/>
              <a:gd name="T4" fmla="*/ 746125 w 1350"/>
              <a:gd name="T5" fmla="*/ 631825 h 1991"/>
              <a:gd name="T6" fmla="*/ 854075 w 1350"/>
              <a:gd name="T7" fmla="*/ 450850 h 1991"/>
              <a:gd name="T8" fmla="*/ 1135062 w 1350"/>
              <a:gd name="T9" fmla="*/ 188913 h 1991"/>
              <a:gd name="T10" fmla="*/ 1633538 w 1350"/>
              <a:gd name="T11" fmla="*/ 23813 h 1991"/>
              <a:gd name="T12" fmla="*/ 2143125 w 1350"/>
              <a:gd name="T13" fmla="*/ 41275 h 1991"/>
              <a:gd name="T14" fmla="*/ 0 60000 65536"/>
              <a:gd name="T15" fmla="*/ 0 60000 65536"/>
              <a:gd name="T16" fmla="*/ 0 60000 65536"/>
              <a:gd name="T17" fmla="*/ 0 60000 65536"/>
              <a:gd name="T18" fmla="*/ 0 60000 65536"/>
              <a:gd name="T19" fmla="*/ 0 60000 65536"/>
              <a:gd name="T20" fmla="*/ 0 60000 65536"/>
              <a:gd name="T21" fmla="*/ 0 w 1350"/>
              <a:gd name="T22" fmla="*/ 0 h 1991"/>
              <a:gd name="T23" fmla="*/ 1350 w 1350"/>
              <a:gd name="T24" fmla="*/ 1991 h 199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50" h="1991">
                <a:moveTo>
                  <a:pt x="0" y="1991"/>
                </a:moveTo>
                <a:cubicBezTo>
                  <a:pt x="68" y="1750"/>
                  <a:pt x="332" y="812"/>
                  <a:pt x="410" y="547"/>
                </a:cubicBezTo>
                <a:cubicBezTo>
                  <a:pt x="436" y="476"/>
                  <a:pt x="444" y="460"/>
                  <a:pt x="470" y="398"/>
                </a:cubicBezTo>
                <a:cubicBezTo>
                  <a:pt x="498" y="340"/>
                  <a:pt x="504" y="330"/>
                  <a:pt x="538" y="284"/>
                </a:cubicBezTo>
                <a:cubicBezTo>
                  <a:pt x="576" y="228"/>
                  <a:pt x="633" y="164"/>
                  <a:pt x="715" y="119"/>
                </a:cubicBezTo>
                <a:cubicBezTo>
                  <a:pt x="797" y="74"/>
                  <a:pt x="923" y="30"/>
                  <a:pt x="1029" y="15"/>
                </a:cubicBezTo>
                <a:cubicBezTo>
                  <a:pt x="1135" y="0"/>
                  <a:pt x="1283" y="24"/>
                  <a:pt x="1350" y="26"/>
                </a:cubicBezTo>
              </a:path>
            </a:pathLst>
          </a:custGeom>
          <a:noFill/>
          <a:ln w="28575" cap="flat" cmpd="sng">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22" name="Line 26">
            <a:extLst>
              <a:ext uri="{FF2B5EF4-FFF2-40B4-BE49-F238E27FC236}">
                <a16:creationId xmlns:a16="http://schemas.microsoft.com/office/drawing/2014/main" id="{6E4A4597-51EA-C04A-30FB-1D3941925118}"/>
              </a:ext>
            </a:extLst>
          </p:cNvPr>
          <p:cNvSpPr>
            <a:spLocks noChangeShapeType="1"/>
          </p:cNvSpPr>
          <p:nvPr/>
        </p:nvSpPr>
        <p:spPr bwMode="auto">
          <a:xfrm flipH="1">
            <a:off x="7338095" y="3467323"/>
            <a:ext cx="17176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23" name="Line 27">
            <a:extLst>
              <a:ext uri="{FF2B5EF4-FFF2-40B4-BE49-F238E27FC236}">
                <a16:creationId xmlns:a16="http://schemas.microsoft.com/office/drawing/2014/main" id="{1F1D8A52-B3C2-DF18-A564-6FE1EC8A3785}"/>
              </a:ext>
            </a:extLst>
          </p:cNvPr>
          <p:cNvSpPr>
            <a:spLocks noChangeShapeType="1"/>
          </p:cNvSpPr>
          <p:nvPr/>
        </p:nvSpPr>
        <p:spPr bwMode="auto">
          <a:xfrm>
            <a:off x="7546057" y="3438748"/>
            <a:ext cx="0" cy="2341562"/>
          </a:xfrm>
          <a:prstGeom prst="line">
            <a:avLst/>
          </a:prstGeom>
          <a:noFill/>
          <a:ln w="9525">
            <a:solidFill>
              <a:schemeClr val="tx1"/>
            </a:solidFill>
            <a:round/>
            <a:headEnd type="stealth" w="sm" len="lg"/>
            <a:tailEnd type="stealth" w="sm" len="lg"/>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24" name="Text Box 28">
            <a:extLst>
              <a:ext uri="{FF2B5EF4-FFF2-40B4-BE49-F238E27FC236}">
                <a16:creationId xmlns:a16="http://schemas.microsoft.com/office/drawing/2014/main" id="{753B5DAC-F96A-EA17-32F8-A472459D6C86}"/>
              </a:ext>
            </a:extLst>
          </p:cNvPr>
          <p:cNvSpPr txBox="1">
            <a:spLocks noChangeArrowheads="1"/>
          </p:cNvSpPr>
          <p:nvPr/>
        </p:nvSpPr>
        <p:spPr bwMode="auto">
          <a:xfrm rot="16200000">
            <a:off x="6915819" y="4442048"/>
            <a:ext cx="7207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1" lang="en-US" altLang="zh-CN" sz="2400" b="0" i="0" u="none" strike="noStrike" kern="0" cap="none" spc="0" normalizeH="0" baseline="0" noProof="0" dirty="0">
                <a:ln>
                  <a:noFill/>
                </a:ln>
                <a:solidFill>
                  <a:srgbClr val="FFFFFF"/>
                </a:solidFill>
                <a:effectLst/>
                <a:uLnTx/>
                <a:uFillTx/>
                <a:latin typeface="Times New Roman" panose="02020603050405020304" pitchFamily="18" charset="0"/>
                <a:ea typeface="黑体" panose="02010609060101010101" pitchFamily="49" charset="-122"/>
                <a:sym typeface="Symbol" panose="05050102010706020507" pitchFamily="18" charset="2"/>
              </a:rPr>
              <a:t> </a:t>
            </a:r>
            <a:r>
              <a:rPr kumimoji="1" lang="en-US" altLang="zh-CN" sz="2400" b="0" u="none" strike="noStrike" kern="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sym typeface="Symbol" panose="05050102010706020507" pitchFamily="18" charset="2"/>
              </a:rPr>
              <a:t></a:t>
            </a:r>
            <a:r>
              <a:rPr kumimoji="1"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宋体" panose="02010600030101010101" pitchFamily="2" charset="-122"/>
              </a:rPr>
              <a:t>p</a:t>
            </a:r>
          </a:p>
        </p:txBody>
      </p:sp>
      <p:sp>
        <p:nvSpPr>
          <p:cNvPr id="25" name="Text Box 1032">
            <a:extLst>
              <a:ext uri="{FF2B5EF4-FFF2-40B4-BE49-F238E27FC236}">
                <a16:creationId xmlns:a16="http://schemas.microsoft.com/office/drawing/2014/main" id="{B75C7B0E-7ADB-1A5D-FD6B-3CAD0DFCE00E}"/>
              </a:ext>
            </a:extLst>
          </p:cNvPr>
          <p:cNvSpPr txBox="1">
            <a:spLocks noChangeArrowheads="1"/>
          </p:cNvSpPr>
          <p:nvPr/>
        </p:nvSpPr>
        <p:spPr bwMode="auto">
          <a:xfrm>
            <a:off x="1257552" y="2511101"/>
            <a:ext cx="1512168" cy="11244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lvl="0">
              <a:lnSpc>
                <a:spcPct val="130000"/>
              </a:lnSpc>
            </a:pPr>
            <a:r>
              <a:rPr lang="en-US" altLang="zh-CN" sz="2800" b="0" dirty="0">
                <a:sym typeface="Symbol" panose="05050102010706020507" pitchFamily="18" charset="2"/>
              </a:rPr>
              <a:t> </a:t>
            </a:r>
            <a:r>
              <a:rPr lang="en-US" altLang="zh-CN" sz="2800" b="0" dirty="0"/>
              <a:t>=G</a:t>
            </a:r>
            <a:r>
              <a:rPr lang="en-US" altLang="zh-CN" sz="2800" b="0" dirty="0">
                <a:sym typeface="Symbol" panose="05050102010706020507" pitchFamily="18" charset="2"/>
              </a:rPr>
              <a:t></a:t>
            </a:r>
            <a:r>
              <a:rPr lang="en-US" altLang="zh-CN" b="0" dirty="0"/>
              <a:t> </a:t>
            </a:r>
            <a:endParaRPr lang="zh-CN" altLang="en-US" sz="2800" b="0" i="0" dirty="0">
              <a:latin typeface="+mn-lt"/>
              <a:ea typeface="微软雅黑" panose="020B0503020204020204" pitchFamily="34" charset="-122"/>
            </a:endParaRPr>
          </a:p>
          <a:p>
            <a:pPr algn="just">
              <a:lnSpc>
                <a:spcPct val="120000"/>
              </a:lnSpc>
            </a:pPr>
            <a:endParaRPr lang="zh-CN" altLang="en-US" sz="2800" i="0" dirty="0">
              <a:latin typeface="+mn-lt"/>
              <a:ea typeface="微软雅黑" panose="020B0503020204020204" pitchFamily="34" charset="-122"/>
            </a:endParaRPr>
          </a:p>
        </p:txBody>
      </p:sp>
      <p:sp>
        <p:nvSpPr>
          <p:cNvPr id="26" name="Text Box 10">
            <a:extLst>
              <a:ext uri="{FF2B5EF4-FFF2-40B4-BE49-F238E27FC236}">
                <a16:creationId xmlns:a16="http://schemas.microsoft.com/office/drawing/2014/main" id="{FA41ADBD-AB97-EE39-B908-862D399CFC94}"/>
              </a:ext>
            </a:extLst>
          </p:cNvPr>
          <p:cNvSpPr txBox="1">
            <a:spLocks noChangeArrowheads="1"/>
          </p:cNvSpPr>
          <p:nvPr/>
        </p:nvSpPr>
        <p:spPr bwMode="auto">
          <a:xfrm>
            <a:off x="1257552" y="3373901"/>
            <a:ext cx="383536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eaLnBrk="1" fontAlgn="auto" hangingPunct="1">
              <a:spcBef>
                <a:spcPct val="50000"/>
              </a:spcBef>
              <a:spcAft>
                <a:spcPts val="0"/>
              </a:spcAft>
            </a:pPr>
            <a:r>
              <a:rPr lang="en-US" altLang="zh-CN" sz="2800" b="0" dirty="0">
                <a:solidFill>
                  <a:srgbClr val="000000"/>
                </a:solidFill>
                <a:latin typeface="+mn-lt"/>
                <a:ea typeface="微软雅黑" panose="020B0503020204020204" pitchFamily="34" charset="-122"/>
              </a:rPr>
              <a:t>G</a:t>
            </a:r>
            <a:r>
              <a:rPr lang="zh-CN" altLang="en-US" sz="2800" i="0" dirty="0">
                <a:solidFill>
                  <a:srgbClr val="000000"/>
                </a:solidFill>
                <a:latin typeface="+mn-lt"/>
                <a:ea typeface="微软雅黑" panose="020B0503020204020204" pitchFamily="34" charset="-122"/>
              </a:rPr>
              <a:t> 为材料的</a:t>
            </a:r>
            <a:r>
              <a:rPr lang="zh-CN" altLang="en-US" sz="2800" i="0" dirty="0">
                <a:solidFill>
                  <a:srgbClr val="FF00FF"/>
                </a:solidFill>
                <a:latin typeface="+mn-lt"/>
                <a:ea typeface="微软雅黑" panose="020B0503020204020204" pitchFamily="34" charset="-122"/>
              </a:rPr>
              <a:t>剪切模量</a:t>
            </a:r>
            <a:r>
              <a:rPr lang="zh-CN" altLang="en-US" sz="2800" i="0" dirty="0">
                <a:solidFill>
                  <a:srgbClr val="000000"/>
                </a:solidFill>
                <a:latin typeface="+mn-lt"/>
                <a:ea typeface="微软雅黑" panose="020B0503020204020204" pitchFamily="34" charset="-122"/>
              </a:rPr>
              <a:t>。 </a:t>
            </a:r>
          </a:p>
        </p:txBody>
      </p:sp>
    </p:spTree>
    <p:extLst>
      <p:ext uri="{BB962C8B-B14F-4D97-AF65-F5344CB8AC3E}">
        <p14:creationId xmlns:p14="http://schemas.microsoft.com/office/powerpoint/2010/main" val="4139978674"/>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7" presetClass="entr" presetSubtype="8" fill="hold" nodeType="withEffect">
                                  <p:stCondLst>
                                    <p:cond delay="0"/>
                                  </p:stCondLst>
                                  <p:childTnLst>
                                    <p:set>
                                      <p:cBhvr>
                                        <p:cTn id="10" dur="1" fill="hold">
                                          <p:stCondLst>
                                            <p:cond delay="0"/>
                                          </p:stCondLst>
                                        </p:cTn>
                                        <p:tgtEl>
                                          <p:spTgt spid="16"/>
                                        </p:tgtEl>
                                        <p:attrNameLst>
                                          <p:attrName>style.visibility</p:attrName>
                                        </p:attrNameLst>
                                      </p:cBhvr>
                                      <p:to>
                                        <p:strVal val="visible"/>
                                      </p:to>
                                    </p:set>
                                    <p:anim calcmode="lin" valueType="num">
                                      <p:cBhvr>
                                        <p:cTn id="11" dur="5000" fill="hold"/>
                                        <p:tgtEl>
                                          <p:spTgt spid="16"/>
                                        </p:tgtEl>
                                        <p:attrNameLst>
                                          <p:attrName>ppt_x</p:attrName>
                                        </p:attrNameLst>
                                      </p:cBhvr>
                                      <p:tavLst>
                                        <p:tav tm="0">
                                          <p:val>
                                            <p:strVal val="#ppt_x-#ppt_w/2"/>
                                          </p:val>
                                        </p:tav>
                                        <p:tav tm="100000">
                                          <p:val>
                                            <p:strVal val="#ppt_x"/>
                                          </p:val>
                                        </p:tav>
                                      </p:tavLst>
                                    </p:anim>
                                    <p:anim calcmode="lin" valueType="num">
                                      <p:cBhvr>
                                        <p:cTn id="12" dur="5000" fill="hold"/>
                                        <p:tgtEl>
                                          <p:spTgt spid="16"/>
                                        </p:tgtEl>
                                        <p:attrNameLst>
                                          <p:attrName>ppt_y</p:attrName>
                                        </p:attrNameLst>
                                      </p:cBhvr>
                                      <p:tavLst>
                                        <p:tav tm="0">
                                          <p:val>
                                            <p:strVal val="#ppt_y"/>
                                          </p:val>
                                        </p:tav>
                                        <p:tav tm="100000">
                                          <p:val>
                                            <p:strVal val="#ppt_y"/>
                                          </p:val>
                                        </p:tav>
                                      </p:tavLst>
                                    </p:anim>
                                    <p:anim calcmode="lin" valueType="num">
                                      <p:cBhvr>
                                        <p:cTn id="13" dur="5000" fill="hold"/>
                                        <p:tgtEl>
                                          <p:spTgt spid="16"/>
                                        </p:tgtEl>
                                        <p:attrNameLst>
                                          <p:attrName>ppt_w</p:attrName>
                                        </p:attrNameLst>
                                      </p:cBhvr>
                                      <p:tavLst>
                                        <p:tav tm="0">
                                          <p:val>
                                            <p:fltVal val="0"/>
                                          </p:val>
                                        </p:tav>
                                        <p:tav tm="100000">
                                          <p:val>
                                            <p:strVal val="#ppt_w"/>
                                          </p:val>
                                        </p:tav>
                                      </p:tavLst>
                                    </p:anim>
                                    <p:anim calcmode="lin" valueType="num">
                                      <p:cBhvr>
                                        <p:cTn id="14" dur="5000" fill="hold"/>
                                        <p:tgtEl>
                                          <p:spTgt spid="16"/>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9"/>
                                            </p:cond>
                                          </p:stCondLst>
                                          <p:endCondLst>
                                            <p:cond evt="onStopAudio" delay="0">
                                              <p:tgtEl>
                                                <p:sldTgt/>
                                              </p:tgtEl>
                                            </p:cond>
                                          </p:endCondLst>
                                        </p:cTn>
                                        <p:tgtEl>
                                          <p:sndTgt r:embed="rId3" name="CHIMES.WAV"/>
                                        </p:tgtEl>
                                      </p:cMediaNode>
                                    </p:audio>
                                  </p:subTnLst>
                                </p:cTn>
                              </p:par>
                              <p:par>
                                <p:cTn id="15" presetID="17" presetClass="entr" presetSubtype="4" fill="hold" nodeType="withEffect">
                                  <p:stCondLst>
                                    <p:cond delay="0"/>
                                  </p:stCondLst>
                                  <p:childTnLst>
                                    <p:set>
                                      <p:cBhvr>
                                        <p:cTn id="16" dur="1" fill="hold">
                                          <p:stCondLst>
                                            <p:cond delay="0"/>
                                          </p:stCondLst>
                                        </p:cTn>
                                        <p:tgtEl>
                                          <p:spTgt spid="17"/>
                                        </p:tgtEl>
                                        <p:attrNameLst>
                                          <p:attrName>style.visibility</p:attrName>
                                        </p:attrNameLst>
                                      </p:cBhvr>
                                      <p:to>
                                        <p:strVal val="visible"/>
                                      </p:to>
                                    </p:set>
                                    <p:anim calcmode="lin" valueType="num">
                                      <p:cBhvr>
                                        <p:cTn id="17" dur="5000" fill="hold"/>
                                        <p:tgtEl>
                                          <p:spTgt spid="17"/>
                                        </p:tgtEl>
                                        <p:attrNameLst>
                                          <p:attrName>ppt_x</p:attrName>
                                        </p:attrNameLst>
                                      </p:cBhvr>
                                      <p:tavLst>
                                        <p:tav tm="0">
                                          <p:val>
                                            <p:strVal val="#ppt_x"/>
                                          </p:val>
                                        </p:tav>
                                        <p:tav tm="100000">
                                          <p:val>
                                            <p:strVal val="#ppt_x"/>
                                          </p:val>
                                        </p:tav>
                                      </p:tavLst>
                                    </p:anim>
                                    <p:anim calcmode="lin" valueType="num">
                                      <p:cBhvr>
                                        <p:cTn id="18" dur="5000" fill="hold"/>
                                        <p:tgtEl>
                                          <p:spTgt spid="17"/>
                                        </p:tgtEl>
                                        <p:attrNameLst>
                                          <p:attrName>ppt_y</p:attrName>
                                        </p:attrNameLst>
                                      </p:cBhvr>
                                      <p:tavLst>
                                        <p:tav tm="0">
                                          <p:val>
                                            <p:strVal val="#ppt_y+#ppt_h/2"/>
                                          </p:val>
                                        </p:tav>
                                        <p:tav tm="100000">
                                          <p:val>
                                            <p:strVal val="#ppt_y"/>
                                          </p:val>
                                        </p:tav>
                                      </p:tavLst>
                                    </p:anim>
                                    <p:anim calcmode="lin" valueType="num">
                                      <p:cBhvr>
                                        <p:cTn id="19" dur="5000" fill="hold"/>
                                        <p:tgtEl>
                                          <p:spTgt spid="17"/>
                                        </p:tgtEl>
                                        <p:attrNameLst>
                                          <p:attrName>ppt_w</p:attrName>
                                        </p:attrNameLst>
                                      </p:cBhvr>
                                      <p:tavLst>
                                        <p:tav tm="0">
                                          <p:val>
                                            <p:strVal val="#ppt_w"/>
                                          </p:val>
                                        </p:tav>
                                        <p:tav tm="100000">
                                          <p:val>
                                            <p:strVal val="#ppt_w"/>
                                          </p:val>
                                        </p:tav>
                                      </p:tavLst>
                                    </p:anim>
                                    <p:anim calcmode="lin" valueType="num">
                                      <p:cBhvr>
                                        <p:cTn id="20" dur="5000" fill="hold"/>
                                        <p:tgtEl>
                                          <p:spTgt spid="17"/>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15"/>
                                            </p:cond>
                                          </p:stCondLst>
                                          <p:endCondLst>
                                            <p:cond evt="onStopAudio" delay="0">
                                              <p:tgtEl>
                                                <p:sldTgt/>
                                              </p:tgtEl>
                                            </p:cond>
                                          </p:endCondLst>
                                        </p:cTn>
                                        <p:tgtEl>
                                          <p:sndTgt r:embed="rId3" name="CHIMES.WAV"/>
                                        </p:tgtEl>
                                      </p:cMediaNode>
                                    </p:audio>
                                  </p:subTnLst>
                                </p:cTn>
                              </p:par>
                              <p:par>
                                <p:cTn id="21" presetID="19" presetClass="entr" presetSubtype="10" fill="hold" grpId="0" nodeType="withEffect">
                                  <p:stCondLst>
                                    <p:cond delay="0"/>
                                  </p:stCondLst>
                                  <p:childTnLst>
                                    <p:set>
                                      <p:cBhvr>
                                        <p:cTn id="22" dur="1" fill="hold">
                                          <p:stCondLst>
                                            <p:cond delay="0"/>
                                          </p:stCondLst>
                                        </p:cTn>
                                        <p:tgtEl>
                                          <p:spTgt spid="18"/>
                                        </p:tgtEl>
                                        <p:attrNameLst>
                                          <p:attrName>style.visibility</p:attrName>
                                        </p:attrNameLst>
                                      </p:cBhvr>
                                      <p:to>
                                        <p:strVal val="visible"/>
                                      </p:to>
                                    </p:set>
                                    <p:anim calcmode="lin" valueType="num">
                                      <p:cBhvr>
                                        <p:cTn id="23" dur="5000" fill="hold"/>
                                        <p:tgtEl>
                                          <p:spTgt spid="18"/>
                                        </p:tgtEl>
                                        <p:attrNameLst>
                                          <p:attrName>ppt_w</p:attrName>
                                        </p:attrNameLst>
                                      </p:cBhvr>
                                      <p:tavLst>
                                        <p:tav tm="0" fmla="#ppt_w*sin(2.5*pi*$)">
                                          <p:val>
                                            <p:fltVal val="0"/>
                                          </p:val>
                                        </p:tav>
                                        <p:tav tm="100000">
                                          <p:val>
                                            <p:fltVal val="1"/>
                                          </p:val>
                                        </p:tav>
                                      </p:tavLst>
                                    </p:anim>
                                    <p:anim calcmode="lin" valueType="num">
                                      <p:cBhvr>
                                        <p:cTn id="24" dur="5000" fill="hold"/>
                                        <p:tgtEl>
                                          <p:spTgt spid="18"/>
                                        </p:tgtEl>
                                        <p:attrNameLst>
                                          <p:attrName>ppt_h</p:attrName>
                                        </p:attrNameLst>
                                      </p:cBhvr>
                                      <p:tavLst>
                                        <p:tav tm="0">
                                          <p:val>
                                            <p:strVal val="#ppt_h"/>
                                          </p:val>
                                        </p:tav>
                                        <p:tav tm="100000">
                                          <p:val>
                                            <p:strVal val="#ppt_h"/>
                                          </p:val>
                                        </p:tav>
                                      </p:tavLst>
                                    </p:anim>
                                  </p:childTnLst>
                                </p:cTn>
                              </p:par>
                              <p:par>
                                <p:cTn id="25" presetID="19" presetClass="entr" presetSubtype="10" fill="hold" grpId="0" nodeType="withEffect">
                                  <p:stCondLst>
                                    <p:cond delay="0"/>
                                  </p:stCondLst>
                                  <p:childTnLst>
                                    <p:set>
                                      <p:cBhvr>
                                        <p:cTn id="26" dur="1" fill="hold">
                                          <p:stCondLst>
                                            <p:cond delay="0"/>
                                          </p:stCondLst>
                                        </p:cTn>
                                        <p:tgtEl>
                                          <p:spTgt spid="20"/>
                                        </p:tgtEl>
                                        <p:attrNameLst>
                                          <p:attrName>style.visibility</p:attrName>
                                        </p:attrNameLst>
                                      </p:cBhvr>
                                      <p:to>
                                        <p:strVal val="visible"/>
                                      </p:to>
                                    </p:set>
                                    <p:anim calcmode="lin" valueType="num">
                                      <p:cBhvr>
                                        <p:cTn id="27" dur="5000" fill="hold"/>
                                        <p:tgtEl>
                                          <p:spTgt spid="20"/>
                                        </p:tgtEl>
                                        <p:attrNameLst>
                                          <p:attrName>ppt_w</p:attrName>
                                        </p:attrNameLst>
                                      </p:cBhvr>
                                      <p:tavLst>
                                        <p:tav tm="0" fmla="#ppt_w*sin(2.5*pi*$)">
                                          <p:val>
                                            <p:fltVal val="0"/>
                                          </p:val>
                                        </p:tav>
                                        <p:tav tm="100000">
                                          <p:val>
                                            <p:fltVal val="1"/>
                                          </p:val>
                                        </p:tav>
                                      </p:tavLst>
                                    </p:anim>
                                    <p:anim calcmode="lin" valueType="num">
                                      <p:cBhvr>
                                        <p:cTn id="28" dur="5000" fill="hold"/>
                                        <p:tgtEl>
                                          <p:spTgt spid="20"/>
                                        </p:tgtEl>
                                        <p:attrNameLst>
                                          <p:attrName>ppt_h</p:attrName>
                                        </p:attrNameLst>
                                      </p:cBhvr>
                                      <p:tavLst>
                                        <p:tav tm="0">
                                          <p:val>
                                            <p:strVal val="#ppt_h"/>
                                          </p:val>
                                        </p:tav>
                                        <p:tav tm="100000">
                                          <p:val>
                                            <p:strVal val="#ppt_h"/>
                                          </p:val>
                                        </p:tav>
                                      </p:tavLst>
                                    </p:anim>
                                  </p:childTnLst>
                                </p:cTn>
                              </p:par>
                            </p:childTnLst>
                          </p:cTn>
                        </p:par>
                        <p:par>
                          <p:cTn id="29" fill="hold">
                            <p:stCondLst>
                              <p:cond delay="5000"/>
                            </p:stCondLst>
                            <p:childTnLst>
                              <p:par>
                                <p:cTn id="30" presetID="17" presetClass="entr" presetSubtype="10" fill="hold" grpId="0" nodeType="afterEffect">
                                  <p:stCondLst>
                                    <p:cond delay="0"/>
                                  </p:stCondLst>
                                  <p:iterate type="wd">
                                    <p:tmPct val="100000"/>
                                  </p:iterate>
                                  <p:childTnLst>
                                    <p:set>
                                      <p:cBhvr>
                                        <p:cTn id="31" dur="1" fill="hold">
                                          <p:stCondLst>
                                            <p:cond delay="0"/>
                                          </p:stCondLst>
                                        </p:cTn>
                                        <p:tgtEl>
                                          <p:spTgt spid="19"/>
                                        </p:tgtEl>
                                        <p:attrNameLst>
                                          <p:attrName>style.visibility</p:attrName>
                                        </p:attrNameLst>
                                      </p:cBhvr>
                                      <p:to>
                                        <p:strVal val="visible"/>
                                      </p:to>
                                    </p:set>
                                    <p:anim calcmode="lin" valueType="num">
                                      <p:cBhvr>
                                        <p:cTn id="32" dur="300" fill="hold"/>
                                        <p:tgtEl>
                                          <p:spTgt spid="19"/>
                                        </p:tgtEl>
                                        <p:attrNameLst>
                                          <p:attrName>ppt_w</p:attrName>
                                        </p:attrNameLst>
                                      </p:cBhvr>
                                      <p:tavLst>
                                        <p:tav tm="0">
                                          <p:val>
                                            <p:fltVal val="0"/>
                                          </p:val>
                                        </p:tav>
                                        <p:tav tm="100000">
                                          <p:val>
                                            <p:strVal val="#ppt_w"/>
                                          </p:val>
                                        </p:tav>
                                      </p:tavLst>
                                    </p:anim>
                                    <p:anim calcmode="lin" valueType="num">
                                      <p:cBhvr>
                                        <p:cTn id="33" dur="300" fill="hold"/>
                                        <p:tgtEl>
                                          <p:spTgt spid="19"/>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0"/>
                                            </p:cond>
                                          </p:stCondLst>
                                          <p:endCondLst>
                                            <p:cond evt="onStopAudio" delay="0">
                                              <p:tgtEl>
                                                <p:sldTgt/>
                                              </p:tgtEl>
                                            </p:cond>
                                          </p:endCondLst>
                                        </p:cTn>
                                        <p:tgtEl>
                                          <p:sndTgt r:embed="rId3" name="CHIMES.WAV"/>
                                        </p:tgtEl>
                                      </p:cMediaNode>
                                    </p:audio>
                                  </p:subTnLst>
                                </p:cTn>
                              </p:par>
                            </p:childTnLst>
                          </p:cTn>
                        </p:par>
                        <p:par>
                          <p:cTn id="34" fill="hold">
                            <p:stCondLst>
                              <p:cond delay="5300"/>
                            </p:stCondLst>
                            <p:childTnLst>
                              <p:par>
                                <p:cTn id="35" presetID="22" presetClass="entr" presetSubtype="4" fill="hold" nodeType="afterEffect">
                                  <p:stCondLst>
                                    <p:cond delay="0"/>
                                  </p:stCondLst>
                                  <p:childTnLst>
                                    <p:set>
                                      <p:cBhvr>
                                        <p:cTn id="36" dur="1" fill="hold">
                                          <p:stCondLst>
                                            <p:cond delay="0"/>
                                          </p:stCondLst>
                                        </p:cTn>
                                        <p:tgtEl>
                                          <p:spTgt spid="21"/>
                                        </p:tgtEl>
                                        <p:attrNameLst>
                                          <p:attrName>style.visibility</p:attrName>
                                        </p:attrNameLst>
                                      </p:cBhvr>
                                      <p:to>
                                        <p:strVal val="visible"/>
                                      </p:to>
                                    </p:set>
                                    <p:animEffect transition="in" filter="wipe(down)">
                                      <p:cBhvr>
                                        <p:cTn id="37" dur="5000"/>
                                        <p:tgtEl>
                                          <p:spTgt spid="21"/>
                                        </p:tgtEl>
                                      </p:cBhvr>
                                    </p:animEffect>
                                  </p:childTnLst>
                                </p:cTn>
                              </p:par>
                            </p:childTnLst>
                          </p:cTn>
                        </p:par>
                        <p:par>
                          <p:cTn id="38" fill="hold">
                            <p:stCondLst>
                              <p:cond delay="10300"/>
                            </p:stCondLst>
                            <p:childTnLst>
                              <p:par>
                                <p:cTn id="39" presetID="22" presetClass="entr" presetSubtype="2" fill="hold" nodeType="afterEffect">
                                  <p:stCondLst>
                                    <p:cond delay="0"/>
                                  </p:stCondLst>
                                  <p:childTnLst>
                                    <p:set>
                                      <p:cBhvr>
                                        <p:cTn id="40" dur="1" fill="hold">
                                          <p:stCondLst>
                                            <p:cond delay="0"/>
                                          </p:stCondLst>
                                        </p:cTn>
                                        <p:tgtEl>
                                          <p:spTgt spid="22"/>
                                        </p:tgtEl>
                                        <p:attrNameLst>
                                          <p:attrName>style.visibility</p:attrName>
                                        </p:attrNameLst>
                                      </p:cBhvr>
                                      <p:to>
                                        <p:strVal val="visible"/>
                                      </p:to>
                                    </p:set>
                                    <p:animEffect transition="in" filter="wipe(right)">
                                      <p:cBhvr>
                                        <p:cTn id="41" dur="3000"/>
                                        <p:tgtEl>
                                          <p:spTgt spid="22"/>
                                        </p:tgtEl>
                                      </p:cBhvr>
                                    </p:animEffect>
                                  </p:childTnLst>
                                </p:cTn>
                              </p:par>
                            </p:childTnLst>
                          </p:cTn>
                        </p:par>
                        <p:par>
                          <p:cTn id="42" fill="hold">
                            <p:stCondLst>
                              <p:cond delay="13300"/>
                            </p:stCondLst>
                            <p:childTnLst>
                              <p:par>
                                <p:cTn id="43" presetID="16" presetClass="entr" presetSubtype="42" fill="hold" nodeType="afterEffect">
                                  <p:stCondLst>
                                    <p:cond delay="0"/>
                                  </p:stCondLst>
                                  <p:childTnLst>
                                    <p:set>
                                      <p:cBhvr>
                                        <p:cTn id="44" dur="1" fill="hold">
                                          <p:stCondLst>
                                            <p:cond delay="0"/>
                                          </p:stCondLst>
                                        </p:cTn>
                                        <p:tgtEl>
                                          <p:spTgt spid="23"/>
                                        </p:tgtEl>
                                        <p:attrNameLst>
                                          <p:attrName>style.visibility</p:attrName>
                                        </p:attrNameLst>
                                      </p:cBhvr>
                                      <p:to>
                                        <p:strVal val="visible"/>
                                      </p:to>
                                    </p:set>
                                    <p:animEffect transition="in" filter="barn(outHorizontal)">
                                      <p:cBhvr>
                                        <p:cTn id="45" dur="5000"/>
                                        <p:tgtEl>
                                          <p:spTgt spid="23"/>
                                        </p:tgtEl>
                                      </p:cBhvr>
                                    </p:animEffect>
                                  </p:childTnLst>
                                </p:cTn>
                              </p:par>
                              <p:par>
                                <p:cTn id="46" presetID="19" presetClass="entr" presetSubtype="5" fill="hold" nodeType="withEffect">
                                  <p:stCondLst>
                                    <p:cond delay="0"/>
                                  </p:stCondLst>
                                  <p:childTnLst>
                                    <p:set>
                                      <p:cBhvr>
                                        <p:cTn id="47" dur="1" fill="hold">
                                          <p:stCondLst>
                                            <p:cond delay="0"/>
                                          </p:stCondLst>
                                        </p:cTn>
                                        <p:tgtEl>
                                          <p:spTgt spid="24"/>
                                        </p:tgtEl>
                                        <p:attrNameLst>
                                          <p:attrName>style.visibility</p:attrName>
                                        </p:attrNameLst>
                                      </p:cBhvr>
                                      <p:to>
                                        <p:strVal val="visible"/>
                                      </p:to>
                                    </p:set>
                                    <p:anim calcmode="lin" valueType="num">
                                      <p:cBhvr>
                                        <p:cTn id="48" dur="5000" fill="hold"/>
                                        <p:tgtEl>
                                          <p:spTgt spid="24"/>
                                        </p:tgtEl>
                                        <p:attrNameLst>
                                          <p:attrName>ppt_w</p:attrName>
                                        </p:attrNameLst>
                                      </p:cBhvr>
                                      <p:tavLst>
                                        <p:tav tm="0">
                                          <p:val>
                                            <p:strVal val="#ppt_w"/>
                                          </p:val>
                                        </p:tav>
                                        <p:tav tm="100000">
                                          <p:val>
                                            <p:strVal val="#ppt_w"/>
                                          </p:val>
                                        </p:tav>
                                      </p:tavLst>
                                    </p:anim>
                                    <p:anim calcmode="lin" valueType="num">
                                      <p:cBhvr>
                                        <p:cTn id="49" dur="5000" fill="hold"/>
                                        <p:tgtEl>
                                          <p:spTgt spid="24"/>
                                        </p:tgtEl>
                                        <p:attrNameLst>
                                          <p:attrName>ppt_h</p:attrName>
                                        </p:attrNameLst>
                                      </p:cBhvr>
                                      <p:tavLst>
                                        <p:tav tm="0" fmla="#ppt_h*sin(2.5*pi*$)">
                                          <p:val>
                                            <p:fltVal val="0"/>
                                          </p:val>
                                        </p:tav>
                                        <p:tav tm="100000">
                                          <p:val>
                                            <p:fltVal val="1"/>
                                          </p:val>
                                        </p:tav>
                                      </p:tavLst>
                                    </p:anim>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499"/>
                                          </p:stCondLst>
                                        </p:cTn>
                                        <p:tgtEl>
                                          <p:spTgt spid="25"/>
                                        </p:tgtEl>
                                        <p:attrNameLst>
                                          <p:attrName>style.visibility</p:attrName>
                                        </p:attrNameLst>
                                      </p:cBhvr>
                                      <p:to>
                                        <p:strVal val="visible"/>
                                      </p:to>
                                    </p:set>
                                  </p:childTnLst>
                                </p:cTn>
                              </p:par>
                            </p:childTnLst>
                          </p:cTn>
                        </p:par>
                        <p:par>
                          <p:cTn id="54" fill="hold">
                            <p:stCondLst>
                              <p:cond delay="500"/>
                            </p:stCondLst>
                            <p:childTnLst>
                              <p:par>
                                <p:cTn id="55" presetID="17" presetClass="entr" presetSubtype="10" fill="hold" grpId="0" nodeType="afterEffect">
                                  <p:stCondLst>
                                    <p:cond delay="1000"/>
                                  </p:stCondLst>
                                  <p:iterate type="lt">
                                    <p:tmPct val="100000"/>
                                  </p:iterate>
                                  <p:childTnLst>
                                    <p:set>
                                      <p:cBhvr>
                                        <p:cTn id="56" dur="1" fill="hold">
                                          <p:stCondLst>
                                            <p:cond delay="0"/>
                                          </p:stCondLst>
                                        </p:cTn>
                                        <p:tgtEl>
                                          <p:spTgt spid="26"/>
                                        </p:tgtEl>
                                        <p:attrNameLst>
                                          <p:attrName>style.visibility</p:attrName>
                                        </p:attrNameLst>
                                      </p:cBhvr>
                                      <p:to>
                                        <p:strVal val="visible"/>
                                      </p:to>
                                    </p:set>
                                    <p:anim calcmode="lin" valueType="num">
                                      <p:cBhvr>
                                        <p:cTn id="57" dur="75" fill="hold"/>
                                        <p:tgtEl>
                                          <p:spTgt spid="26"/>
                                        </p:tgtEl>
                                        <p:attrNameLst>
                                          <p:attrName>ppt_w</p:attrName>
                                        </p:attrNameLst>
                                      </p:cBhvr>
                                      <p:tavLst>
                                        <p:tav tm="0">
                                          <p:val>
                                            <p:fltVal val="0"/>
                                          </p:val>
                                        </p:tav>
                                        <p:tav tm="100000">
                                          <p:val>
                                            <p:strVal val="#ppt_w"/>
                                          </p:val>
                                        </p:tav>
                                      </p:tavLst>
                                    </p:anim>
                                    <p:anim calcmode="lin" valueType="num">
                                      <p:cBhvr>
                                        <p:cTn id="58" dur="75" fill="hold"/>
                                        <p:tgtEl>
                                          <p:spTgt spid="26"/>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55"/>
                                            </p:cond>
                                          </p:stCondLst>
                                          <p:endCondLst>
                                            <p:cond evt="onStopAudio" delay="0">
                                              <p:tgtEl>
                                                <p:sldTgt/>
                                              </p:tgtEl>
                                            </p:cond>
                                          </p:endCondLst>
                                        </p:cTn>
                                        <p:tgtEl>
                                          <p:sndTgt r:embed="rId4" name="TYP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utoUpdateAnimBg="0"/>
      <p:bldP spid="10" grpId="0" animBg="1"/>
      <p:bldP spid="18" grpId="0" autoUpdateAnimBg="0"/>
      <p:bldP spid="19" grpId="0" autoUpdateAnimBg="0"/>
      <p:bldP spid="20" grpId="0" autoUpdateAnimBg="0"/>
      <p:bldP spid="25" grpId="0" autoUpdateAnimBg="0"/>
      <p:bldP spid="26" grpId="0" autoUpdateAnimBg="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711605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第八章   拉压、剪切与挤压的强度计算</a:t>
            </a:r>
          </a:p>
        </p:txBody>
      </p:sp>
      <p:sp>
        <p:nvSpPr>
          <p:cNvPr id="6" name="矩形 5">
            <a:extLst>
              <a:ext uri="{FF2B5EF4-FFF2-40B4-BE49-F238E27FC236}">
                <a16:creationId xmlns:a16="http://schemas.microsoft.com/office/drawing/2014/main" id="{8A892F5C-7536-F031-6CD4-1C9902B467DE}"/>
              </a:ext>
            </a:extLst>
          </p:cNvPr>
          <p:cNvSpPr/>
          <p:nvPr/>
        </p:nvSpPr>
        <p:spPr>
          <a:xfrm>
            <a:off x="4189853" y="834473"/>
            <a:ext cx="2991525" cy="599331"/>
          </a:xfrm>
          <a:prstGeom prst="rect">
            <a:avLst/>
          </a:prstGeom>
        </p:spPr>
        <p:txBody>
          <a:bodyPr wrap="none">
            <a:spAutoFit/>
          </a:bodyPr>
          <a:lstStyle/>
          <a:p>
            <a:pPr>
              <a:lnSpc>
                <a:spcPct val="120000"/>
              </a:lnSpc>
            </a:pPr>
            <a:r>
              <a:rPr lang="zh-CN" altLang="en-US" sz="3000" i="0" dirty="0">
                <a:solidFill>
                  <a:srgbClr val="4F81BD"/>
                </a:solidFill>
                <a:latin typeface="微软雅黑" panose="020B0503020204020204" pitchFamily="34" charset="-122"/>
                <a:ea typeface="微软雅黑" panose="020B0503020204020204" pitchFamily="34" charset="-122"/>
              </a:rPr>
              <a:t>剪切的实用计算</a:t>
            </a:r>
          </a:p>
        </p:txBody>
      </p:sp>
      <p:sp>
        <p:nvSpPr>
          <p:cNvPr id="9" name="Text Box 1032">
            <a:extLst>
              <a:ext uri="{FF2B5EF4-FFF2-40B4-BE49-F238E27FC236}">
                <a16:creationId xmlns:a16="http://schemas.microsoft.com/office/drawing/2014/main" id="{5B910DD4-CBB7-A521-D69D-247EA7B635CC}"/>
              </a:ext>
            </a:extLst>
          </p:cNvPr>
          <p:cNvSpPr txBox="1">
            <a:spLocks noChangeArrowheads="1"/>
          </p:cNvSpPr>
          <p:nvPr/>
        </p:nvSpPr>
        <p:spPr bwMode="auto">
          <a:xfrm>
            <a:off x="695399" y="1391880"/>
            <a:ext cx="11161239" cy="2111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lnSpc>
                <a:spcPct val="120000"/>
              </a:lnSpc>
            </a:pPr>
            <a:r>
              <a:rPr kumimoji="1" lang="zh-CN" altLang="en-US" sz="2800" i="0" dirty="0">
                <a:latin typeface="+mn-lt"/>
                <a:ea typeface="微软雅黑" panose="020B0503020204020204" pitchFamily="34" charset="-122"/>
              </a:rPr>
              <a:t>由截面法可知：截面上必有相切的内力</a:t>
            </a:r>
            <a:r>
              <a:rPr kumimoji="1" lang="en-US" altLang="zh-CN" sz="2800" b="0" dirty="0">
                <a:latin typeface="+mn-lt"/>
                <a:ea typeface="微软雅黑" panose="020B0503020204020204" pitchFamily="34" charset="-122"/>
              </a:rPr>
              <a:t>F</a:t>
            </a:r>
            <a:r>
              <a:rPr kumimoji="1" lang="en-US" altLang="zh-CN" sz="2800" b="0" i="0" baseline="-25000" dirty="0">
                <a:latin typeface="+mn-lt"/>
                <a:ea typeface="微软雅黑" panose="020B0503020204020204" pitchFamily="34" charset="-122"/>
              </a:rPr>
              <a:t>Q</a:t>
            </a:r>
            <a:r>
              <a:rPr kumimoji="1" lang="zh-CN" altLang="en-US" sz="2800" i="0" dirty="0">
                <a:latin typeface="+mn-lt"/>
                <a:ea typeface="微软雅黑" panose="020B0503020204020204" pitchFamily="34" charset="-122"/>
              </a:rPr>
              <a:t>，且</a:t>
            </a:r>
            <a:r>
              <a:rPr kumimoji="1" lang="en-US" altLang="zh-CN" sz="2800" b="0" dirty="0">
                <a:latin typeface="+mn-lt"/>
                <a:ea typeface="微软雅黑" panose="020B0503020204020204" pitchFamily="34" charset="-122"/>
              </a:rPr>
              <a:t>F</a:t>
            </a:r>
            <a:r>
              <a:rPr kumimoji="1" lang="en-US" altLang="zh-CN" sz="2800" b="0" i="0" baseline="-25000" dirty="0">
                <a:latin typeface="+mn-lt"/>
                <a:ea typeface="微软雅黑" panose="020B0503020204020204" pitchFamily="34" charset="-122"/>
              </a:rPr>
              <a:t>Q</a:t>
            </a:r>
            <a:r>
              <a:rPr kumimoji="1" lang="zh-CN" altLang="en-US" sz="2800" b="0" i="0" dirty="0">
                <a:latin typeface="+mn-lt"/>
                <a:ea typeface="微软雅黑" panose="020B0503020204020204" pitchFamily="34" charset="-122"/>
              </a:rPr>
              <a:t>＝</a:t>
            </a:r>
            <a:r>
              <a:rPr kumimoji="1" lang="en-US" altLang="zh-CN" sz="2800" b="0" dirty="0">
                <a:latin typeface="+mn-lt"/>
                <a:ea typeface="微软雅黑" panose="020B0503020204020204" pitchFamily="34" charset="-122"/>
              </a:rPr>
              <a:t>F</a:t>
            </a:r>
            <a:r>
              <a:rPr kumimoji="1" lang="zh-CN" altLang="en-US" sz="2800" i="0" dirty="0">
                <a:latin typeface="+mn-lt"/>
                <a:ea typeface="微软雅黑" panose="020B0503020204020204" pitchFamily="34" charset="-122"/>
              </a:rPr>
              <a:t>，称为</a:t>
            </a:r>
            <a:r>
              <a:rPr kumimoji="1" lang="zh-CN" altLang="en-US" sz="2800" i="0" dirty="0">
                <a:solidFill>
                  <a:srgbClr val="FF00FF"/>
                </a:solidFill>
                <a:latin typeface="+mn-lt"/>
                <a:ea typeface="微软雅黑" panose="020B0503020204020204" pitchFamily="34" charset="-122"/>
              </a:rPr>
              <a:t>剪力</a:t>
            </a:r>
            <a:r>
              <a:rPr kumimoji="1" lang="zh-CN" altLang="en-US" sz="2800" i="0" dirty="0">
                <a:latin typeface="+mn-lt"/>
                <a:ea typeface="微软雅黑" panose="020B0503020204020204" pitchFamily="34" charset="-122"/>
              </a:rPr>
              <a:t>。切应力在剪切面上的分布情况比较复杂，为计算简便，工程上通常采用以实验、经验为基础的实用计算，即近似地认为切应力在剪切面上是分布均匀地，则有</a:t>
            </a:r>
            <a:endParaRPr lang="zh-CN" altLang="en-US" sz="2800" i="0" dirty="0">
              <a:latin typeface="+mn-lt"/>
              <a:ea typeface="微软雅黑" panose="020B0503020204020204" pitchFamily="34" charset="-122"/>
            </a:endParaRPr>
          </a:p>
        </p:txBody>
      </p:sp>
      <p:sp>
        <p:nvSpPr>
          <p:cNvPr id="10" name="Rectangle 61">
            <a:extLst>
              <a:ext uri="{FF2B5EF4-FFF2-40B4-BE49-F238E27FC236}">
                <a16:creationId xmlns:a16="http://schemas.microsoft.com/office/drawing/2014/main" id="{A7BABA33-6C6E-5172-113C-D7F1D8E457C6}"/>
              </a:ext>
            </a:extLst>
          </p:cNvPr>
          <p:cNvSpPr>
            <a:spLocks noChangeArrowheads="1"/>
          </p:cNvSpPr>
          <p:nvPr/>
        </p:nvSpPr>
        <p:spPr bwMode="auto">
          <a:xfrm>
            <a:off x="839416" y="3802058"/>
            <a:ext cx="11017222" cy="2447940"/>
          </a:xfrm>
          <a:prstGeom prst="rect">
            <a:avLst/>
          </a:prstGeom>
          <a:solidFill>
            <a:srgbClr val="B9CDE5"/>
          </a:solidFill>
          <a:ln>
            <a:noFill/>
          </a:ln>
          <a:effectLst/>
        </p:spPr>
        <p:txBody>
          <a:bodyPr wrap="none" anchor="ctr"/>
          <a:lstStyle/>
          <a:p>
            <a:endParaRPr lang="zh-CN" altLang="en-US" dirty="0"/>
          </a:p>
        </p:txBody>
      </p:sp>
      <p:grpSp>
        <p:nvGrpSpPr>
          <p:cNvPr id="2" name="Group 10">
            <a:extLst>
              <a:ext uri="{FF2B5EF4-FFF2-40B4-BE49-F238E27FC236}">
                <a16:creationId xmlns:a16="http://schemas.microsoft.com/office/drawing/2014/main" id="{13D4A8B3-1AB2-D0BD-E7D6-72921093A274}"/>
              </a:ext>
            </a:extLst>
          </p:cNvPr>
          <p:cNvGrpSpPr>
            <a:grpSpLocks/>
          </p:cNvGrpSpPr>
          <p:nvPr/>
        </p:nvGrpSpPr>
        <p:grpSpPr bwMode="auto">
          <a:xfrm>
            <a:off x="1669093" y="3802058"/>
            <a:ext cx="9213850" cy="2541588"/>
            <a:chOff x="0" y="1972"/>
            <a:chExt cx="5804" cy="1601"/>
          </a:xfrm>
        </p:grpSpPr>
        <p:grpSp>
          <p:nvGrpSpPr>
            <p:cNvPr id="3" name="Group 11">
              <a:extLst>
                <a:ext uri="{FF2B5EF4-FFF2-40B4-BE49-F238E27FC236}">
                  <a16:creationId xmlns:a16="http://schemas.microsoft.com/office/drawing/2014/main" id="{9B79B98F-6706-DC68-80DA-60F5120B73B0}"/>
                </a:ext>
              </a:extLst>
            </p:cNvPr>
            <p:cNvGrpSpPr>
              <a:grpSpLocks/>
            </p:cNvGrpSpPr>
            <p:nvPr/>
          </p:nvGrpSpPr>
          <p:grpSpPr bwMode="auto">
            <a:xfrm>
              <a:off x="0" y="2023"/>
              <a:ext cx="5804" cy="1550"/>
              <a:chOff x="0" y="2023"/>
              <a:chExt cx="5804" cy="1550"/>
            </a:xfrm>
          </p:grpSpPr>
          <p:grpSp>
            <p:nvGrpSpPr>
              <p:cNvPr id="41" name="Group 12">
                <a:extLst>
                  <a:ext uri="{FF2B5EF4-FFF2-40B4-BE49-F238E27FC236}">
                    <a16:creationId xmlns:a16="http://schemas.microsoft.com/office/drawing/2014/main" id="{29F61703-9EBC-C326-6BC8-208C2A2FA0C4}"/>
                  </a:ext>
                </a:extLst>
              </p:cNvPr>
              <p:cNvGrpSpPr>
                <a:grpSpLocks/>
              </p:cNvGrpSpPr>
              <p:nvPr/>
            </p:nvGrpSpPr>
            <p:grpSpPr bwMode="auto">
              <a:xfrm>
                <a:off x="0" y="2023"/>
                <a:ext cx="5760" cy="1479"/>
                <a:chOff x="0" y="2158"/>
                <a:chExt cx="5760" cy="1479"/>
              </a:xfrm>
            </p:grpSpPr>
            <p:sp>
              <p:nvSpPr>
                <p:cNvPr id="88" name="Rectangle 13">
                  <a:extLst>
                    <a:ext uri="{FF2B5EF4-FFF2-40B4-BE49-F238E27FC236}">
                      <a16:creationId xmlns:a16="http://schemas.microsoft.com/office/drawing/2014/main" id="{306A6CB1-71D6-042B-D3CB-FAE2B18A8550}"/>
                    </a:ext>
                  </a:extLst>
                </p:cNvPr>
                <p:cNvSpPr>
                  <a:spLocks noChangeAspect="1" noChangeArrowheads="1"/>
                </p:cNvSpPr>
                <p:nvPr/>
              </p:nvSpPr>
              <p:spPr bwMode="auto">
                <a:xfrm>
                  <a:off x="0" y="2158"/>
                  <a:ext cx="5760" cy="1479"/>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CC"/>
                    </a:solidFill>
                    <a:effectLst/>
                    <a:uLnTx/>
                    <a:uFillTx/>
                    <a:latin typeface="Times New Roman" panose="02020603050405020304" pitchFamily="18" charset="0"/>
                    <a:ea typeface="黑体" panose="02010609060101010101" pitchFamily="49" charset="-122"/>
                  </a:endParaRPr>
                </a:p>
              </p:txBody>
            </p:sp>
            <p:sp>
              <p:nvSpPr>
                <p:cNvPr id="89" name="Oval 14">
                  <a:extLst>
                    <a:ext uri="{FF2B5EF4-FFF2-40B4-BE49-F238E27FC236}">
                      <a16:creationId xmlns:a16="http://schemas.microsoft.com/office/drawing/2014/main" id="{BC2BE528-97AA-F69F-C4DE-51323CBF5C2D}"/>
                    </a:ext>
                  </a:extLst>
                </p:cNvPr>
                <p:cNvSpPr>
                  <a:spLocks noChangeAspect="1" noChangeArrowheads="1"/>
                </p:cNvSpPr>
                <p:nvPr/>
              </p:nvSpPr>
              <p:spPr bwMode="auto">
                <a:xfrm>
                  <a:off x="1575" y="2367"/>
                  <a:ext cx="322" cy="215"/>
                </a:xfrm>
                <a:prstGeom prst="ellipse">
                  <a:avLst/>
                </a:prstGeom>
                <a:gradFill rotWithShape="0">
                  <a:gsLst>
                    <a:gs pos="0">
                      <a:srgbClr val="969696"/>
                    </a:gs>
                    <a:gs pos="50000">
                      <a:srgbClr val="F8F8F8"/>
                    </a:gs>
                    <a:gs pos="100000">
                      <a:srgbClr val="969696"/>
                    </a:gs>
                  </a:gsLst>
                  <a:lin ang="0" scaled="1"/>
                </a:gradFill>
                <a:ln w="28575" algn="ctr">
                  <a:solidFill>
                    <a:srgbClr val="000000"/>
                  </a:solidFill>
                  <a:round/>
                  <a:headEnd/>
                  <a:tailEnd/>
                </a:ln>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CC"/>
                    </a:solidFill>
                    <a:effectLst/>
                    <a:uLnTx/>
                    <a:uFillTx/>
                    <a:latin typeface="Times New Roman" panose="02020603050405020304" pitchFamily="18" charset="0"/>
                    <a:ea typeface="黑体" panose="02010609060101010101" pitchFamily="49" charset="-122"/>
                  </a:endParaRPr>
                </a:p>
              </p:txBody>
            </p:sp>
            <p:sp>
              <p:nvSpPr>
                <p:cNvPr id="90" name="Oval 15">
                  <a:extLst>
                    <a:ext uri="{FF2B5EF4-FFF2-40B4-BE49-F238E27FC236}">
                      <a16:creationId xmlns:a16="http://schemas.microsoft.com/office/drawing/2014/main" id="{DEFC6290-0BB5-68A9-04C2-AAF25614A13E}"/>
                    </a:ext>
                  </a:extLst>
                </p:cNvPr>
                <p:cNvSpPr>
                  <a:spLocks noChangeAspect="1" noChangeArrowheads="1"/>
                </p:cNvSpPr>
                <p:nvPr/>
              </p:nvSpPr>
              <p:spPr bwMode="auto">
                <a:xfrm>
                  <a:off x="1575" y="2959"/>
                  <a:ext cx="322" cy="216"/>
                </a:xfrm>
                <a:prstGeom prst="ellipse">
                  <a:avLst/>
                </a:prstGeom>
                <a:gradFill rotWithShape="0">
                  <a:gsLst>
                    <a:gs pos="0">
                      <a:srgbClr val="969696"/>
                    </a:gs>
                    <a:gs pos="50000">
                      <a:srgbClr val="F8F8F8"/>
                    </a:gs>
                    <a:gs pos="100000">
                      <a:srgbClr val="969696"/>
                    </a:gs>
                  </a:gsLst>
                  <a:lin ang="0" scaled="1"/>
                </a:gradFill>
                <a:ln w="28575" algn="ctr">
                  <a:solidFill>
                    <a:srgbClr val="000000"/>
                  </a:solidFill>
                  <a:round/>
                  <a:headEnd/>
                  <a:tailEnd/>
                </a:ln>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CC"/>
                    </a:solidFill>
                    <a:effectLst/>
                    <a:uLnTx/>
                    <a:uFillTx/>
                    <a:latin typeface="Times New Roman" panose="02020603050405020304" pitchFamily="18" charset="0"/>
                    <a:ea typeface="黑体" panose="02010609060101010101" pitchFamily="49" charset="-122"/>
                  </a:endParaRPr>
                </a:p>
              </p:txBody>
            </p:sp>
            <p:sp>
              <p:nvSpPr>
                <p:cNvPr id="91" name="Rectangle 16" descr="宽下对角线">
                  <a:extLst>
                    <a:ext uri="{FF2B5EF4-FFF2-40B4-BE49-F238E27FC236}">
                      <a16:creationId xmlns:a16="http://schemas.microsoft.com/office/drawing/2014/main" id="{013B626A-4168-F36B-6BB3-42F013711D67}"/>
                    </a:ext>
                  </a:extLst>
                </p:cNvPr>
                <p:cNvSpPr>
                  <a:spLocks noChangeAspect="1" noChangeArrowheads="1"/>
                </p:cNvSpPr>
                <p:nvPr/>
              </p:nvSpPr>
              <p:spPr bwMode="auto">
                <a:xfrm>
                  <a:off x="1233" y="2493"/>
                  <a:ext cx="1401" cy="287"/>
                </a:xfrm>
                <a:prstGeom prst="rect">
                  <a:avLst/>
                </a:prstGeom>
                <a:pattFill prst="wdDnDiag">
                  <a:fgClr>
                    <a:srgbClr val="000000"/>
                  </a:fgClr>
                  <a:bgClr>
                    <a:srgbClr val="FFCC00"/>
                  </a:bgClr>
                </a:pattFill>
                <a:ln w="28575">
                  <a:solidFill>
                    <a:srgbClr val="000000"/>
                  </a:solidFill>
                  <a:miter lim="800000"/>
                  <a:headEnd/>
                  <a:tailEnd/>
                </a:ln>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CC"/>
                    </a:solidFill>
                    <a:effectLst/>
                    <a:uLnTx/>
                    <a:uFillTx/>
                    <a:latin typeface="Times New Roman" panose="02020603050405020304" pitchFamily="18" charset="0"/>
                    <a:ea typeface="黑体" panose="02010609060101010101" pitchFamily="49" charset="-122"/>
                  </a:endParaRPr>
                </a:p>
              </p:txBody>
            </p:sp>
            <p:sp>
              <p:nvSpPr>
                <p:cNvPr id="92" name="Rectangle 17" descr="宽上对角线">
                  <a:extLst>
                    <a:ext uri="{FF2B5EF4-FFF2-40B4-BE49-F238E27FC236}">
                      <a16:creationId xmlns:a16="http://schemas.microsoft.com/office/drawing/2014/main" id="{EF0EA451-2B51-0BFF-C6C9-297AC3D8F6BB}"/>
                    </a:ext>
                  </a:extLst>
                </p:cNvPr>
                <p:cNvSpPr>
                  <a:spLocks noChangeAspect="1" noChangeArrowheads="1"/>
                </p:cNvSpPr>
                <p:nvPr/>
              </p:nvSpPr>
              <p:spPr bwMode="auto">
                <a:xfrm>
                  <a:off x="785" y="2780"/>
                  <a:ext cx="1399" cy="287"/>
                </a:xfrm>
                <a:prstGeom prst="rect">
                  <a:avLst/>
                </a:prstGeom>
                <a:pattFill prst="wdUpDiag">
                  <a:fgClr>
                    <a:srgbClr val="000000"/>
                  </a:fgClr>
                  <a:bgClr>
                    <a:srgbClr val="FFCC00"/>
                  </a:bgClr>
                </a:pattFill>
                <a:ln w="28575">
                  <a:solidFill>
                    <a:srgbClr val="000000"/>
                  </a:solidFill>
                  <a:miter lim="800000"/>
                  <a:headEnd/>
                  <a:tailEnd/>
                </a:ln>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CC"/>
                    </a:solidFill>
                    <a:effectLst/>
                    <a:uLnTx/>
                    <a:uFillTx/>
                    <a:latin typeface="Times New Roman" panose="02020603050405020304" pitchFamily="18" charset="0"/>
                    <a:ea typeface="黑体" panose="02010609060101010101" pitchFamily="49" charset="-122"/>
                  </a:endParaRPr>
                </a:p>
              </p:txBody>
            </p:sp>
            <p:sp>
              <p:nvSpPr>
                <p:cNvPr id="93" name="Rectangle 18">
                  <a:extLst>
                    <a:ext uri="{FF2B5EF4-FFF2-40B4-BE49-F238E27FC236}">
                      <a16:creationId xmlns:a16="http://schemas.microsoft.com/office/drawing/2014/main" id="{55352FD8-2AA6-2493-80F5-389BFEFCE786}"/>
                    </a:ext>
                  </a:extLst>
                </p:cNvPr>
                <p:cNvSpPr>
                  <a:spLocks noChangeAspect="1" noChangeArrowheads="1"/>
                </p:cNvSpPr>
                <p:nvPr/>
              </p:nvSpPr>
              <p:spPr bwMode="auto">
                <a:xfrm>
                  <a:off x="1610" y="2493"/>
                  <a:ext cx="252" cy="574"/>
                </a:xfrm>
                <a:prstGeom prst="rect">
                  <a:avLst/>
                </a:prstGeom>
                <a:gradFill rotWithShape="0">
                  <a:gsLst>
                    <a:gs pos="0">
                      <a:srgbClr val="969696"/>
                    </a:gs>
                    <a:gs pos="50000">
                      <a:srgbClr val="F8F8F8"/>
                    </a:gs>
                    <a:gs pos="100000">
                      <a:srgbClr val="969696"/>
                    </a:gs>
                  </a:gsLst>
                  <a:lin ang="0" scaled="1"/>
                </a:gradFill>
                <a:ln w="28575">
                  <a:solidFill>
                    <a:srgbClr val="000000"/>
                  </a:solidFill>
                  <a:miter lim="800000"/>
                  <a:headEnd/>
                  <a:tailEnd/>
                </a:ln>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CC"/>
                    </a:solidFill>
                    <a:effectLst/>
                    <a:uLnTx/>
                    <a:uFillTx/>
                    <a:latin typeface="Times New Roman" panose="02020603050405020304" pitchFamily="18" charset="0"/>
                    <a:ea typeface="黑体" panose="02010609060101010101" pitchFamily="49" charset="-122"/>
                  </a:endParaRPr>
                </a:p>
              </p:txBody>
            </p:sp>
            <p:sp>
              <p:nvSpPr>
                <p:cNvPr id="94" name="Line 19">
                  <a:extLst>
                    <a:ext uri="{FF2B5EF4-FFF2-40B4-BE49-F238E27FC236}">
                      <a16:creationId xmlns:a16="http://schemas.microsoft.com/office/drawing/2014/main" id="{81D07B0A-2BB6-491E-CF71-ADB3C32642C8}"/>
                    </a:ext>
                  </a:extLst>
                </p:cNvPr>
                <p:cNvSpPr>
                  <a:spLocks noChangeAspect="1" noChangeShapeType="1"/>
                </p:cNvSpPr>
                <p:nvPr/>
              </p:nvSpPr>
              <p:spPr bwMode="auto">
                <a:xfrm>
                  <a:off x="2634" y="2636"/>
                  <a:ext cx="645" cy="0"/>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sp>
              <p:nvSpPr>
                <p:cNvPr id="95" name="Text Box 20">
                  <a:extLst>
                    <a:ext uri="{FF2B5EF4-FFF2-40B4-BE49-F238E27FC236}">
                      <a16:creationId xmlns:a16="http://schemas.microsoft.com/office/drawing/2014/main" id="{303E38F7-FAA5-FDE1-6D23-4728A4CAE093}"/>
                    </a:ext>
                  </a:extLst>
                </p:cNvPr>
                <p:cNvSpPr txBox="1">
                  <a:spLocks noChangeAspect="1" noChangeArrowheads="1"/>
                </p:cNvSpPr>
                <p:nvPr/>
              </p:nvSpPr>
              <p:spPr bwMode="auto">
                <a:xfrm>
                  <a:off x="2883" y="2321"/>
                  <a:ext cx="484" cy="3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fontAlgn="auto" hangingPunct="1">
                    <a:spcBef>
                      <a:spcPts val="0"/>
                    </a:spcBef>
                    <a:spcAft>
                      <a:spcPts val="0"/>
                    </a:spcAft>
                  </a:pPr>
                  <a:r>
                    <a:rPr lang="en-US" altLang="zh-CN" b="0" kern="0" dirty="0">
                      <a:solidFill>
                        <a:srgbClr val="FF0000"/>
                      </a:solidFill>
                      <a:latin typeface="+mj-lt"/>
                      <a:ea typeface="宋体" panose="02010600030101010101" pitchFamily="2" charset="-122"/>
                    </a:rPr>
                    <a:t>F</a:t>
                  </a:r>
                </a:p>
              </p:txBody>
            </p:sp>
            <p:sp>
              <p:nvSpPr>
                <p:cNvPr id="96" name="Line 21">
                  <a:extLst>
                    <a:ext uri="{FF2B5EF4-FFF2-40B4-BE49-F238E27FC236}">
                      <a16:creationId xmlns:a16="http://schemas.microsoft.com/office/drawing/2014/main" id="{AB05C7F6-F3D0-BE85-4368-1FB570D1D15F}"/>
                    </a:ext>
                  </a:extLst>
                </p:cNvPr>
                <p:cNvSpPr>
                  <a:spLocks noChangeAspect="1" noChangeShapeType="1"/>
                </p:cNvSpPr>
                <p:nvPr/>
              </p:nvSpPr>
              <p:spPr bwMode="auto">
                <a:xfrm flipH="1">
                  <a:off x="157" y="2923"/>
                  <a:ext cx="646" cy="0"/>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sp>
              <p:nvSpPr>
                <p:cNvPr id="97" name="Text Box 22">
                  <a:extLst>
                    <a:ext uri="{FF2B5EF4-FFF2-40B4-BE49-F238E27FC236}">
                      <a16:creationId xmlns:a16="http://schemas.microsoft.com/office/drawing/2014/main" id="{B7F0C671-78E2-F0A9-A8D6-6E02CE9488B8}"/>
                    </a:ext>
                  </a:extLst>
                </p:cNvPr>
                <p:cNvSpPr txBox="1">
                  <a:spLocks noChangeAspect="1" noChangeArrowheads="1"/>
                </p:cNvSpPr>
                <p:nvPr/>
              </p:nvSpPr>
              <p:spPr bwMode="auto">
                <a:xfrm>
                  <a:off x="154" y="2631"/>
                  <a:ext cx="484" cy="3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FF0000"/>
                      </a:solidFill>
                      <a:effectLst/>
                      <a:uLnTx/>
                      <a:uFillTx/>
                      <a:latin typeface="+mj-lt"/>
                      <a:ea typeface="宋体" panose="02010600030101010101" pitchFamily="2" charset="-122"/>
                    </a:rPr>
                    <a:t>F</a:t>
                  </a:r>
                  <a:endParaRPr kumimoji="1" lang="en-US" altLang="zh-CN" sz="2400" b="0" u="none" strike="noStrike" kern="0" cap="none" spc="0" normalizeH="0" baseline="-25000" noProof="0" dirty="0">
                    <a:ln>
                      <a:noFill/>
                    </a:ln>
                    <a:solidFill>
                      <a:srgbClr val="FF0000"/>
                    </a:solidFill>
                    <a:effectLst/>
                    <a:uLnTx/>
                    <a:uFillTx/>
                    <a:latin typeface="+mj-lt"/>
                    <a:ea typeface="宋体" panose="02010600030101010101" pitchFamily="2" charset="-122"/>
                  </a:endParaRPr>
                </a:p>
              </p:txBody>
            </p:sp>
            <p:sp>
              <p:nvSpPr>
                <p:cNvPr id="98" name="Line 23">
                  <a:extLst>
                    <a:ext uri="{FF2B5EF4-FFF2-40B4-BE49-F238E27FC236}">
                      <a16:creationId xmlns:a16="http://schemas.microsoft.com/office/drawing/2014/main" id="{B5A75F83-0DBE-24AC-F809-EADB72F3BA5C}"/>
                    </a:ext>
                  </a:extLst>
                </p:cNvPr>
                <p:cNvSpPr>
                  <a:spLocks noChangeAspect="1" noChangeShapeType="1"/>
                </p:cNvSpPr>
                <p:nvPr/>
              </p:nvSpPr>
              <p:spPr bwMode="auto">
                <a:xfrm>
                  <a:off x="2202" y="3067"/>
                  <a:ext cx="30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sp>
              <p:nvSpPr>
                <p:cNvPr id="99" name="Line 24">
                  <a:extLst>
                    <a:ext uri="{FF2B5EF4-FFF2-40B4-BE49-F238E27FC236}">
                      <a16:creationId xmlns:a16="http://schemas.microsoft.com/office/drawing/2014/main" id="{C37D3FED-06BF-FF07-5AFC-04981ECE1837}"/>
                    </a:ext>
                  </a:extLst>
                </p:cNvPr>
                <p:cNvSpPr>
                  <a:spLocks noChangeAspect="1" noChangeShapeType="1"/>
                </p:cNvSpPr>
                <p:nvPr/>
              </p:nvSpPr>
              <p:spPr bwMode="auto">
                <a:xfrm>
                  <a:off x="928" y="2493"/>
                  <a:ext cx="30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sp>
              <p:nvSpPr>
                <p:cNvPr id="100" name="Text Box 25">
                  <a:extLst>
                    <a:ext uri="{FF2B5EF4-FFF2-40B4-BE49-F238E27FC236}">
                      <a16:creationId xmlns:a16="http://schemas.microsoft.com/office/drawing/2014/main" id="{1A017107-BF79-BCFD-5E0B-7B3E3B34F05A}"/>
                    </a:ext>
                  </a:extLst>
                </p:cNvPr>
                <p:cNvSpPr txBox="1">
                  <a:spLocks noChangeAspect="1" noChangeArrowheads="1"/>
                </p:cNvSpPr>
                <p:nvPr/>
              </p:nvSpPr>
              <p:spPr bwMode="auto">
                <a:xfrm rot="-5400000">
                  <a:off x="763" y="2408"/>
                  <a:ext cx="485" cy="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sym typeface="Symbol" panose="05050102010706020507" pitchFamily="18" charset="2"/>
                    </a:rPr>
                    <a:t> </a:t>
                  </a: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sym typeface="Symbol" panose="05050102010706020507" pitchFamily="18" charset="2"/>
                    </a:rPr>
                    <a:t></a:t>
                  </a:r>
                </a:p>
              </p:txBody>
            </p:sp>
            <p:sp>
              <p:nvSpPr>
                <p:cNvPr id="101" name="Text Box 26">
                  <a:extLst>
                    <a:ext uri="{FF2B5EF4-FFF2-40B4-BE49-F238E27FC236}">
                      <a16:creationId xmlns:a16="http://schemas.microsoft.com/office/drawing/2014/main" id="{55449B5B-31CB-7B84-8C00-7083167B75C6}"/>
                    </a:ext>
                  </a:extLst>
                </p:cNvPr>
                <p:cNvSpPr txBox="1">
                  <a:spLocks noChangeAspect="1" noChangeArrowheads="1"/>
                </p:cNvSpPr>
                <p:nvPr/>
              </p:nvSpPr>
              <p:spPr bwMode="auto">
                <a:xfrm rot="-5400000">
                  <a:off x="2144" y="2712"/>
                  <a:ext cx="485" cy="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sym typeface="Symbol" panose="05050102010706020507" pitchFamily="18" charset="2"/>
                    </a:rPr>
                    <a:t> </a:t>
                  </a: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sym typeface="Symbol" panose="05050102010706020507" pitchFamily="18" charset="2"/>
                    </a:rPr>
                    <a:t></a:t>
                  </a:r>
                </a:p>
              </p:txBody>
            </p:sp>
            <p:sp>
              <p:nvSpPr>
                <p:cNvPr id="102" name="Line 27">
                  <a:extLst>
                    <a:ext uri="{FF2B5EF4-FFF2-40B4-BE49-F238E27FC236}">
                      <a16:creationId xmlns:a16="http://schemas.microsoft.com/office/drawing/2014/main" id="{E9A15C1A-B21A-4248-68D2-AA8ED28B0D70}"/>
                    </a:ext>
                  </a:extLst>
                </p:cNvPr>
                <p:cNvSpPr>
                  <a:spLocks noChangeAspect="1" noChangeShapeType="1"/>
                </p:cNvSpPr>
                <p:nvPr/>
              </p:nvSpPr>
              <p:spPr bwMode="auto">
                <a:xfrm>
                  <a:off x="1072" y="2493"/>
                  <a:ext cx="0" cy="287"/>
                </a:xfrm>
                <a:prstGeom prst="line">
                  <a:avLst/>
                </a:prstGeom>
                <a:noFill/>
                <a:ln w="3175">
                  <a:solidFill>
                    <a:srgbClr val="000000"/>
                  </a:solidFill>
                  <a:round/>
                  <a:headEnd type="stealth" w="sm" len="med"/>
                  <a:tailEnd type="stealth" w="sm" len="me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sp>
              <p:nvSpPr>
                <p:cNvPr id="103" name="Line 28">
                  <a:extLst>
                    <a:ext uri="{FF2B5EF4-FFF2-40B4-BE49-F238E27FC236}">
                      <a16:creationId xmlns:a16="http://schemas.microsoft.com/office/drawing/2014/main" id="{C11B3978-6710-6D8C-DD9D-ECCD085E6BBC}"/>
                    </a:ext>
                  </a:extLst>
                </p:cNvPr>
                <p:cNvSpPr>
                  <a:spLocks noChangeAspect="1" noChangeShapeType="1"/>
                </p:cNvSpPr>
                <p:nvPr/>
              </p:nvSpPr>
              <p:spPr bwMode="auto">
                <a:xfrm flipH="1">
                  <a:off x="2453" y="2762"/>
                  <a:ext cx="0" cy="305"/>
                </a:xfrm>
                <a:prstGeom prst="line">
                  <a:avLst/>
                </a:prstGeom>
                <a:noFill/>
                <a:ln w="3175">
                  <a:solidFill>
                    <a:srgbClr val="000000"/>
                  </a:solidFill>
                  <a:round/>
                  <a:headEnd type="stealth" w="sm" len="med"/>
                  <a:tailEnd type="stealth" w="sm" len="me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sp>
              <p:nvSpPr>
                <p:cNvPr id="104" name="Line 29">
                  <a:extLst>
                    <a:ext uri="{FF2B5EF4-FFF2-40B4-BE49-F238E27FC236}">
                      <a16:creationId xmlns:a16="http://schemas.microsoft.com/office/drawing/2014/main" id="{21CEE71D-0383-9EE2-0C84-D36EA5FC7F09}"/>
                    </a:ext>
                  </a:extLst>
                </p:cNvPr>
                <p:cNvSpPr>
                  <a:spLocks noChangeAspect="1" noChangeShapeType="1"/>
                </p:cNvSpPr>
                <p:nvPr/>
              </p:nvSpPr>
              <p:spPr bwMode="auto">
                <a:xfrm>
                  <a:off x="1628" y="3299"/>
                  <a:ext cx="0" cy="23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sp>
              <p:nvSpPr>
                <p:cNvPr id="105" name="Line 30">
                  <a:extLst>
                    <a:ext uri="{FF2B5EF4-FFF2-40B4-BE49-F238E27FC236}">
                      <a16:creationId xmlns:a16="http://schemas.microsoft.com/office/drawing/2014/main" id="{11A43E63-9C12-CED9-E8C4-0641D1E0DF1A}"/>
                    </a:ext>
                  </a:extLst>
                </p:cNvPr>
                <p:cNvSpPr>
                  <a:spLocks noChangeAspect="1" noChangeShapeType="1"/>
                </p:cNvSpPr>
                <p:nvPr/>
              </p:nvSpPr>
              <p:spPr bwMode="auto">
                <a:xfrm>
                  <a:off x="1844" y="3291"/>
                  <a:ext cx="0" cy="23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sp>
              <p:nvSpPr>
                <p:cNvPr id="106" name="Line 31">
                  <a:extLst>
                    <a:ext uri="{FF2B5EF4-FFF2-40B4-BE49-F238E27FC236}">
                      <a16:creationId xmlns:a16="http://schemas.microsoft.com/office/drawing/2014/main" id="{D87F20B9-80B8-33A0-365D-7FCC00FDE915}"/>
                    </a:ext>
                  </a:extLst>
                </p:cNvPr>
                <p:cNvSpPr>
                  <a:spLocks noChangeAspect="1" noChangeShapeType="1"/>
                </p:cNvSpPr>
                <p:nvPr/>
              </p:nvSpPr>
              <p:spPr bwMode="auto">
                <a:xfrm>
                  <a:off x="1628" y="3462"/>
                  <a:ext cx="216" cy="0"/>
                </a:xfrm>
                <a:prstGeom prst="line">
                  <a:avLst/>
                </a:prstGeom>
                <a:noFill/>
                <a:ln w="9525">
                  <a:solidFill>
                    <a:srgbClr val="000000"/>
                  </a:solidFill>
                  <a:round/>
                  <a:headEnd type="stealth" w="sm" len="sm"/>
                  <a:tailEnd type="stealth" w="sm" len="sm"/>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sp>
              <p:nvSpPr>
                <p:cNvPr id="107" name="Text Box 32">
                  <a:extLst>
                    <a:ext uri="{FF2B5EF4-FFF2-40B4-BE49-F238E27FC236}">
                      <a16:creationId xmlns:a16="http://schemas.microsoft.com/office/drawing/2014/main" id="{139B084C-47D9-CA44-05C1-3291D86E36F7}"/>
                    </a:ext>
                  </a:extLst>
                </p:cNvPr>
                <p:cNvSpPr txBox="1">
                  <a:spLocks noChangeAspect="1" noChangeArrowheads="1"/>
                </p:cNvSpPr>
                <p:nvPr/>
              </p:nvSpPr>
              <p:spPr bwMode="auto">
                <a:xfrm>
                  <a:off x="1624" y="3239"/>
                  <a:ext cx="413" cy="3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mn-lt"/>
                      <a:ea typeface="宋体" panose="02010600030101010101" pitchFamily="2" charset="-122"/>
                    </a:rPr>
                    <a:t>d</a:t>
                  </a:r>
                </a:p>
              </p:txBody>
            </p:sp>
            <p:sp>
              <p:nvSpPr>
                <p:cNvPr id="108" name="Line 33">
                  <a:extLst>
                    <a:ext uri="{FF2B5EF4-FFF2-40B4-BE49-F238E27FC236}">
                      <a16:creationId xmlns:a16="http://schemas.microsoft.com/office/drawing/2014/main" id="{4A46CF20-DAEC-39C0-857A-13D45157EC47}"/>
                    </a:ext>
                  </a:extLst>
                </p:cNvPr>
                <p:cNvSpPr>
                  <a:spLocks noChangeAspect="1" noChangeShapeType="1"/>
                </p:cNvSpPr>
                <p:nvPr/>
              </p:nvSpPr>
              <p:spPr bwMode="auto">
                <a:xfrm>
                  <a:off x="1736" y="2312"/>
                  <a:ext cx="0" cy="1006"/>
                </a:xfrm>
                <a:prstGeom prst="line">
                  <a:avLst/>
                </a:prstGeom>
                <a:noFill/>
                <a:ln w="9525">
                  <a:solidFill>
                    <a:srgbClr val="000000"/>
                  </a:solidFill>
                  <a:prstDash val="lgDashDot"/>
                  <a:round/>
                  <a:headEnd/>
                  <a:tailE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grpSp>
          <p:grpSp>
            <p:nvGrpSpPr>
              <p:cNvPr id="42" name="Group 34">
                <a:extLst>
                  <a:ext uri="{FF2B5EF4-FFF2-40B4-BE49-F238E27FC236}">
                    <a16:creationId xmlns:a16="http://schemas.microsoft.com/office/drawing/2014/main" id="{9851B3C2-BFCB-36DF-821D-C08126E23675}"/>
                  </a:ext>
                </a:extLst>
              </p:cNvPr>
              <p:cNvGrpSpPr>
                <a:grpSpLocks/>
              </p:cNvGrpSpPr>
              <p:nvPr/>
            </p:nvGrpSpPr>
            <p:grpSpPr bwMode="auto">
              <a:xfrm>
                <a:off x="3588" y="2075"/>
                <a:ext cx="983" cy="1124"/>
                <a:chOff x="3588" y="2075"/>
                <a:chExt cx="983" cy="1124"/>
              </a:xfrm>
            </p:grpSpPr>
            <p:sp>
              <p:nvSpPr>
                <p:cNvPr id="71" name="AutoShape 35">
                  <a:extLst>
                    <a:ext uri="{FF2B5EF4-FFF2-40B4-BE49-F238E27FC236}">
                      <a16:creationId xmlns:a16="http://schemas.microsoft.com/office/drawing/2014/main" id="{84508401-A2A7-3352-B606-AB2104935BE5}"/>
                    </a:ext>
                  </a:extLst>
                </p:cNvPr>
                <p:cNvSpPr>
                  <a:spLocks noChangeAspect="1" noChangeArrowheads="1"/>
                </p:cNvSpPr>
                <p:nvPr/>
              </p:nvSpPr>
              <p:spPr bwMode="auto">
                <a:xfrm>
                  <a:off x="3884" y="2610"/>
                  <a:ext cx="319" cy="65"/>
                </a:xfrm>
                <a:prstGeom prst="parallelogram">
                  <a:avLst>
                    <a:gd name="adj" fmla="val 122692"/>
                  </a:avLst>
                </a:prstGeom>
                <a:gradFill rotWithShape="1">
                  <a:gsLst>
                    <a:gs pos="0">
                      <a:srgbClr val="969696"/>
                    </a:gs>
                    <a:gs pos="50000">
                      <a:srgbClr val="C6C6C6"/>
                    </a:gs>
                    <a:gs pos="100000">
                      <a:srgbClr val="969696"/>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CC"/>
                    </a:solidFill>
                    <a:effectLst/>
                    <a:uLnTx/>
                    <a:uFillTx/>
                    <a:latin typeface="Times New Roman" panose="02020603050405020304" pitchFamily="18" charset="0"/>
                    <a:ea typeface="黑体" panose="02010609060101010101" pitchFamily="49" charset="-122"/>
                  </a:endParaRPr>
                </a:p>
              </p:txBody>
            </p:sp>
            <p:sp>
              <p:nvSpPr>
                <p:cNvPr id="72" name="Line 36">
                  <a:extLst>
                    <a:ext uri="{FF2B5EF4-FFF2-40B4-BE49-F238E27FC236}">
                      <a16:creationId xmlns:a16="http://schemas.microsoft.com/office/drawing/2014/main" id="{20D699CF-4F3C-862A-CD0E-356C114FD220}"/>
                    </a:ext>
                  </a:extLst>
                </p:cNvPr>
                <p:cNvSpPr>
                  <a:spLocks noChangeAspect="1" noChangeShapeType="1"/>
                </p:cNvSpPr>
                <p:nvPr/>
              </p:nvSpPr>
              <p:spPr bwMode="auto">
                <a:xfrm flipH="1">
                  <a:off x="4140" y="2622"/>
                  <a:ext cx="43" cy="52"/>
                </a:xfrm>
                <a:prstGeom prst="line">
                  <a:avLst/>
                </a:prstGeom>
                <a:noFill/>
                <a:ln w="28575">
                  <a:solidFill>
                    <a:srgbClr val="000000"/>
                  </a:solidFill>
                  <a:round/>
                  <a:headEnd/>
                  <a:tailEnd type="stealth" w="sm" len="me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sp>
              <p:nvSpPr>
                <p:cNvPr id="73" name="Text Box 37">
                  <a:extLst>
                    <a:ext uri="{FF2B5EF4-FFF2-40B4-BE49-F238E27FC236}">
                      <a16:creationId xmlns:a16="http://schemas.microsoft.com/office/drawing/2014/main" id="{D9716B98-F0A8-3D08-79D6-21B357AD9499}"/>
                    </a:ext>
                  </a:extLst>
                </p:cNvPr>
                <p:cNvSpPr txBox="1">
                  <a:spLocks noChangeAspect="1" noChangeArrowheads="1"/>
                </p:cNvSpPr>
                <p:nvPr/>
              </p:nvSpPr>
              <p:spPr bwMode="auto">
                <a:xfrm>
                  <a:off x="3588" y="2488"/>
                  <a:ext cx="403" cy="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mn-lt"/>
                      <a:ea typeface="宋体" panose="02010600030101010101" pitchFamily="2" charset="-122"/>
                    </a:rPr>
                    <a:t>m</a:t>
                  </a:r>
                </a:p>
              </p:txBody>
            </p:sp>
            <p:sp>
              <p:nvSpPr>
                <p:cNvPr id="74" name="Text Box 38">
                  <a:extLst>
                    <a:ext uri="{FF2B5EF4-FFF2-40B4-BE49-F238E27FC236}">
                      <a16:creationId xmlns:a16="http://schemas.microsoft.com/office/drawing/2014/main" id="{A3628A97-D4C0-E4C5-6606-4D44E7963100}"/>
                    </a:ext>
                  </a:extLst>
                </p:cNvPr>
                <p:cNvSpPr txBox="1">
                  <a:spLocks noChangeAspect="1" noChangeArrowheads="1"/>
                </p:cNvSpPr>
                <p:nvPr/>
              </p:nvSpPr>
              <p:spPr bwMode="auto">
                <a:xfrm>
                  <a:off x="4168" y="2439"/>
                  <a:ext cx="403" cy="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mj-lt"/>
                      <a:ea typeface="宋体" panose="02010600030101010101" pitchFamily="2" charset="-122"/>
                    </a:rPr>
                    <a:t>m</a:t>
                  </a:r>
                </a:p>
              </p:txBody>
            </p:sp>
            <p:grpSp>
              <p:nvGrpSpPr>
                <p:cNvPr id="75" name="Group 39">
                  <a:extLst>
                    <a:ext uri="{FF2B5EF4-FFF2-40B4-BE49-F238E27FC236}">
                      <a16:creationId xmlns:a16="http://schemas.microsoft.com/office/drawing/2014/main" id="{5562B222-2331-86BA-7766-4E89B4F91F75}"/>
                    </a:ext>
                  </a:extLst>
                </p:cNvPr>
                <p:cNvGrpSpPr>
                  <a:grpSpLocks/>
                </p:cNvGrpSpPr>
                <p:nvPr/>
              </p:nvGrpSpPr>
              <p:grpSpPr bwMode="auto">
                <a:xfrm>
                  <a:off x="3892" y="2075"/>
                  <a:ext cx="369" cy="539"/>
                  <a:chOff x="3892" y="2075"/>
                  <a:chExt cx="369" cy="539"/>
                </a:xfrm>
              </p:grpSpPr>
              <p:sp>
                <p:nvSpPr>
                  <p:cNvPr id="83" name="Oval 40">
                    <a:extLst>
                      <a:ext uri="{FF2B5EF4-FFF2-40B4-BE49-F238E27FC236}">
                        <a16:creationId xmlns:a16="http://schemas.microsoft.com/office/drawing/2014/main" id="{E75DC23B-32B0-C2DE-5705-6C1FC0A61C77}"/>
                      </a:ext>
                    </a:extLst>
                  </p:cNvPr>
                  <p:cNvSpPr>
                    <a:spLocks noChangeAspect="1" noChangeArrowheads="1"/>
                  </p:cNvSpPr>
                  <p:nvPr/>
                </p:nvSpPr>
                <p:spPr bwMode="auto">
                  <a:xfrm>
                    <a:off x="3919" y="2183"/>
                    <a:ext cx="324" cy="216"/>
                  </a:xfrm>
                  <a:prstGeom prst="ellipse">
                    <a:avLst/>
                  </a:prstGeom>
                  <a:gradFill rotWithShape="0">
                    <a:gsLst>
                      <a:gs pos="0">
                        <a:srgbClr val="969696"/>
                      </a:gs>
                      <a:gs pos="50000">
                        <a:srgbClr val="F8F8F8"/>
                      </a:gs>
                      <a:gs pos="100000">
                        <a:srgbClr val="969696"/>
                      </a:gs>
                    </a:gsLst>
                    <a:lin ang="0" scaled="1"/>
                  </a:gradFill>
                  <a:ln w="28575" algn="ctr">
                    <a:solidFill>
                      <a:srgbClr val="000000"/>
                    </a:solidFill>
                    <a:round/>
                    <a:headEnd/>
                    <a:tailEnd/>
                  </a:ln>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CC"/>
                      </a:solidFill>
                      <a:effectLst/>
                      <a:uLnTx/>
                      <a:uFillTx/>
                      <a:latin typeface="Times New Roman" panose="02020603050405020304" pitchFamily="18" charset="0"/>
                      <a:ea typeface="黑体" panose="02010609060101010101" pitchFamily="49" charset="-122"/>
                    </a:endParaRPr>
                  </a:p>
                </p:txBody>
              </p:sp>
              <p:sp>
                <p:nvSpPr>
                  <p:cNvPr id="84" name="Rectangle 41">
                    <a:extLst>
                      <a:ext uri="{FF2B5EF4-FFF2-40B4-BE49-F238E27FC236}">
                        <a16:creationId xmlns:a16="http://schemas.microsoft.com/office/drawing/2014/main" id="{715D473E-E2CE-6C29-092D-B9329B02C7E2}"/>
                      </a:ext>
                    </a:extLst>
                  </p:cNvPr>
                  <p:cNvSpPr>
                    <a:spLocks noChangeAspect="1" noChangeArrowheads="1"/>
                  </p:cNvSpPr>
                  <p:nvPr/>
                </p:nvSpPr>
                <p:spPr bwMode="auto">
                  <a:xfrm>
                    <a:off x="3892" y="2309"/>
                    <a:ext cx="369" cy="71"/>
                  </a:xfrm>
                  <a:prstGeom prst="rect">
                    <a:avLst/>
                  </a:prstGeom>
                  <a:gradFill rotWithShape="1">
                    <a:gsLst>
                      <a:gs pos="0">
                        <a:srgbClr val="ACD3FE"/>
                      </a:gs>
                      <a:gs pos="100000">
                        <a:srgbClr val="BAE7FE"/>
                      </a:gs>
                    </a:gsLst>
                    <a:lin ang="5400000" scaled="1"/>
                  </a:gradFill>
                  <a:ln>
                    <a:noFill/>
                  </a:ln>
                  <a:extLst>
                    <a:ext uri="{91240B29-F687-4F45-9708-019B960494DF}">
                      <a14:hiddenLine xmlns:a14="http://schemas.microsoft.com/office/drawing/2010/main" w="0">
                        <a:solidFill>
                          <a:srgbClr val="000000"/>
                        </a:solidFill>
                        <a:miter lim="800000"/>
                        <a:headEnd/>
                        <a:tailEnd type="none" w="sm" len="me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CC"/>
                      </a:solidFill>
                      <a:effectLst/>
                      <a:uLnTx/>
                      <a:uFillTx/>
                      <a:latin typeface="Times New Roman" panose="02020603050405020304" pitchFamily="18" charset="0"/>
                      <a:ea typeface="黑体" panose="02010609060101010101" pitchFamily="49" charset="-122"/>
                    </a:endParaRPr>
                  </a:p>
                </p:txBody>
              </p:sp>
              <p:sp>
                <p:nvSpPr>
                  <p:cNvPr id="85" name="Rectangle 42">
                    <a:extLst>
                      <a:ext uri="{FF2B5EF4-FFF2-40B4-BE49-F238E27FC236}">
                        <a16:creationId xmlns:a16="http://schemas.microsoft.com/office/drawing/2014/main" id="{6B9516FD-E5FB-340B-4361-DC4C95CDC86A}"/>
                      </a:ext>
                    </a:extLst>
                  </p:cNvPr>
                  <p:cNvSpPr>
                    <a:spLocks noChangeAspect="1" noChangeArrowheads="1"/>
                  </p:cNvSpPr>
                  <p:nvPr/>
                </p:nvSpPr>
                <p:spPr bwMode="auto">
                  <a:xfrm>
                    <a:off x="3955" y="2309"/>
                    <a:ext cx="251" cy="305"/>
                  </a:xfrm>
                  <a:prstGeom prst="rect">
                    <a:avLst/>
                  </a:prstGeom>
                  <a:gradFill rotWithShape="0">
                    <a:gsLst>
                      <a:gs pos="0">
                        <a:srgbClr val="969696"/>
                      </a:gs>
                      <a:gs pos="50000">
                        <a:srgbClr val="F8F8F8"/>
                      </a:gs>
                      <a:gs pos="100000">
                        <a:srgbClr val="969696"/>
                      </a:gs>
                    </a:gsLst>
                    <a:lin ang="0" scaled="1"/>
                  </a:gradFill>
                  <a:ln w="28575" algn="ctr">
                    <a:solidFill>
                      <a:srgbClr val="000000"/>
                    </a:solidFill>
                    <a:miter lim="800000"/>
                    <a:headEnd/>
                    <a:tailEnd/>
                  </a:ln>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CC"/>
                      </a:solidFill>
                      <a:effectLst/>
                      <a:uLnTx/>
                      <a:uFillTx/>
                      <a:latin typeface="Times New Roman" panose="02020603050405020304" pitchFamily="18" charset="0"/>
                      <a:ea typeface="黑体" panose="02010609060101010101" pitchFamily="49" charset="-122"/>
                    </a:endParaRPr>
                  </a:p>
                </p:txBody>
              </p:sp>
              <p:sp>
                <p:nvSpPr>
                  <p:cNvPr id="86" name="Freeform 43">
                    <a:extLst>
                      <a:ext uri="{FF2B5EF4-FFF2-40B4-BE49-F238E27FC236}">
                        <a16:creationId xmlns:a16="http://schemas.microsoft.com/office/drawing/2014/main" id="{E8B62ABF-6266-826D-9CA2-D2D4892359DF}"/>
                      </a:ext>
                    </a:extLst>
                  </p:cNvPr>
                  <p:cNvSpPr>
                    <a:spLocks noChangeAspect="1"/>
                  </p:cNvSpPr>
                  <p:nvPr/>
                </p:nvSpPr>
                <p:spPr bwMode="auto">
                  <a:xfrm>
                    <a:off x="3921" y="2304"/>
                    <a:ext cx="327" cy="3"/>
                  </a:xfrm>
                  <a:custGeom>
                    <a:avLst/>
                    <a:gdLst>
                      <a:gd name="T0" fmla="*/ 0 w 327"/>
                      <a:gd name="T1" fmla="*/ 0 h 3"/>
                      <a:gd name="T2" fmla="*/ 327 w 327"/>
                      <a:gd name="T3" fmla="*/ 3 h 3"/>
                      <a:gd name="T4" fmla="*/ 0 60000 65536"/>
                      <a:gd name="T5" fmla="*/ 0 60000 65536"/>
                      <a:gd name="T6" fmla="*/ 0 w 327"/>
                      <a:gd name="T7" fmla="*/ 0 h 3"/>
                      <a:gd name="T8" fmla="*/ 327 w 327"/>
                      <a:gd name="T9" fmla="*/ 3 h 3"/>
                    </a:gdLst>
                    <a:ahLst/>
                    <a:cxnLst>
                      <a:cxn ang="T4">
                        <a:pos x="T0" y="T1"/>
                      </a:cxn>
                      <a:cxn ang="T5">
                        <a:pos x="T2" y="T3"/>
                      </a:cxn>
                    </a:cxnLst>
                    <a:rect l="T6" t="T7" r="T8" b="T9"/>
                    <a:pathLst>
                      <a:path w="327" h="3">
                        <a:moveTo>
                          <a:pt x="0" y="0"/>
                        </a:moveTo>
                        <a:lnTo>
                          <a:pt x="327" y="3"/>
                        </a:lnTo>
                      </a:path>
                    </a:pathLst>
                  </a:custGeom>
                  <a:noFill/>
                  <a:ln w="28575" cmpd="sng">
                    <a:solidFill>
                      <a:srgbClr val="000000"/>
                    </a:solidFill>
                    <a:round/>
                    <a:headEnd type="none" w="med" len="med"/>
                    <a:tailEnd type="none" w="sm"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sp>
                <p:nvSpPr>
                  <p:cNvPr id="87" name="Line 44">
                    <a:extLst>
                      <a:ext uri="{FF2B5EF4-FFF2-40B4-BE49-F238E27FC236}">
                        <a16:creationId xmlns:a16="http://schemas.microsoft.com/office/drawing/2014/main" id="{104F582C-979D-7EB8-D29D-DD259C1C8BD0}"/>
                      </a:ext>
                    </a:extLst>
                  </p:cNvPr>
                  <p:cNvSpPr>
                    <a:spLocks noChangeAspect="1" noChangeShapeType="1"/>
                  </p:cNvSpPr>
                  <p:nvPr/>
                </p:nvSpPr>
                <p:spPr bwMode="auto">
                  <a:xfrm flipH="1">
                    <a:off x="4080" y="2075"/>
                    <a:ext cx="0" cy="529"/>
                  </a:xfrm>
                  <a:prstGeom prst="line">
                    <a:avLst/>
                  </a:prstGeom>
                  <a:noFill/>
                  <a:ln w="9525">
                    <a:solidFill>
                      <a:srgbClr val="000000"/>
                    </a:solidFill>
                    <a:prstDash val="lgDashDot"/>
                    <a:round/>
                    <a:headEnd/>
                    <a:tailE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grpSp>
            <p:grpSp>
              <p:nvGrpSpPr>
                <p:cNvPr id="76" name="Group 45">
                  <a:extLst>
                    <a:ext uri="{FF2B5EF4-FFF2-40B4-BE49-F238E27FC236}">
                      <a16:creationId xmlns:a16="http://schemas.microsoft.com/office/drawing/2014/main" id="{D4517AB6-BA70-0DB9-364E-5BA6F9838F92}"/>
                    </a:ext>
                  </a:extLst>
                </p:cNvPr>
                <p:cNvGrpSpPr>
                  <a:grpSpLocks/>
                </p:cNvGrpSpPr>
                <p:nvPr/>
              </p:nvGrpSpPr>
              <p:grpSpPr bwMode="auto">
                <a:xfrm>
                  <a:off x="3839" y="2660"/>
                  <a:ext cx="367" cy="539"/>
                  <a:chOff x="3598" y="-111"/>
                  <a:chExt cx="367" cy="539"/>
                </a:xfrm>
              </p:grpSpPr>
              <p:sp>
                <p:nvSpPr>
                  <p:cNvPr id="78" name="Oval 46">
                    <a:extLst>
                      <a:ext uri="{FF2B5EF4-FFF2-40B4-BE49-F238E27FC236}">
                        <a16:creationId xmlns:a16="http://schemas.microsoft.com/office/drawing/2014/main" id="{469C906A-B670-9F59-ADE8-0558CFF1FAB6}"/>
                      </a:ext>
                    </a:extLst>
                  </p:cNvPr>
                  <p:cNvSpPr>
                    <a:spLocks noChangeAspect="1" noChangeArrowheads="1"/>
                  </p:cNvSpPr>
                  <p:nvPr/>
                </p:nvSpPr>
                <p:spPr bwMode="auto">
                  <a:xfrm flipV="1">
                    <a:off x="3625" y="105"/>
                    <a:ext cx="322" cy="215"/>
                  </a:xfrm>
                  <a:prstGeom prst="ellipse">
                    <a:avLst/>
                  </a:prstGeom>
                  <a:gradFill rotWithShape="0">
                    <a:gsLst>
                      <a:gs pos="0">
                        <a:srgbClr val="969696"/>
                      </a:gs>
                      <a:gs pos="50000">
                        <a:srgbClr val="F8F8F8"/>
                      </a:gs>
                      <a:gs pos="100000">
                        <a:srgbClr val="969696"/>
                      </a:gs>
                    </a:gsLst>
                    <a:lin ang="0" scaled="1"/>
                  </a:gradFill>
                  <a:ln w="28575" algn="ctr">
                    <a:solidFill>
                      <a:srgbClr val="000000"/>
                    </a:solidFill>
                    <a:round/>
                    <a:headEnd/>
                    <a:tailEnd/>
                  </a:ln>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CC"/>
                      </a:solidFill>
                      <a:effectLst/>
                      <a:uLnTx/>
                      <a:uFillTx/>
                      <a:latin typeface="Times New Roman" panose="02020603050405020304" pitchFamily="18" charset="0"/>
                      <a:ea typeface="黑体" panose="02010609060101010101" pitchFamily="49" charset="-122"/>
                    </a:endParaRPr>
                  </a:p>
                </p:txBody>
              </p:sp>
              <p:sp>
                <p:nvSpPr>
                  <p:cNvPr id="79" name="Rectangle 47">
                    <a:extLst>
                      <a:ext uri="{FF2B5EF4-FFF2-40B4-BE49-F238E27FC236}">
                        <a16:creationId xmlns:a16="http://schemas.microsoft.com/office/drawing/2014/main" id="{76745C79-3915-A6CA-A6CD-59F196041C81}"/>
                      </a:ext>
                    </a:extLst>
                  </p:cNvPr>
                  <p:cNvSpPr>
                    <a:spLocks noChangeAspect="1" noChangeArrowheads="1"/>
                  </p:cNvSpPr>
                  <p:nvPr/>
                </p:nvSpPr>
                <p:spPr bwMode="auto">
                  <a:xfrm flipV="1">
                    <a:off x="3598" y="123"/>
                    <a:ext cx="367" cy="71"/>
                  </a:xfrm>
                  <a:prstGeom prst="rect">
                    <a:avLst/>
                  </a:prstGeom>
                  <a:gradFill rotWithShape="1">
                    <a:gsLst>
                      <a:gs pos="0">
                        <a:srgbClr val="B4E2FE"/>
                      </a:gs>
                      <a:gs pos="100000">
                        <a:srgbClr val="DFCEFE"/>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CC"/>
                      </a:solidFill>
                      <a:effectLst/>
                      <a:uLnTx/>
                      <a:uFillTx/>
                      <a:latin typeface="Times New Roman" panose="02020603050405020304" pitchFamily="18" charset="0"/>
                      <a:ea typeface="黑体" panose="02010609060101010101" pitchFamily="49" charset="-122"/>
                    </a:endParaRPr>
                  </a:p>
                </p:txBody>
              </p:sp>
              <p:sp>
                <p:nvSpPr>
                  <p:cNvPr id="80" name="Rectangle 48">
                    <a:extLst>
                      <a:ext uri="{FF2B5EF4-FFF2-40B4-BE49-F238E27FC236}">
                        <a16:creationId xmlns:a16="http://schemas.microsoft.com/office/drawing/2014/main" id="{D874301B-E2C0-2510-4B47-527DBEA03501}"/>
                      </a:ext>
                    </a:extLst>
                  </p:cNvPr>
                  <p:cNvSpPr>
                    <a:spLocks noChangeAspect="1" noChangeArrowheads="1"/>
                  </p:cNvSpPr>
                  <p:nvPr/>
                </p:nvSpPr>
                <p:spPr bwMode="auto">
                  <a:xfrm flipV="1">
                    <a:off x="3660" y="-111"/>
                    <a:ext cx="252" cy="305"/>
                  </a:xfrm>
                  <a:prstGeom prst="rect">
                    <a:avLst/>
                  </a:prstGeom>
                  <a:gradFill rotWithShape="0">
                    <a:gsLst>
                      <a:gs pos="0">
                        <a:srgbClr val="969696"/>
                      </a:gs>
                      <a:gs pos="50000">
                        <a:srgbClr val="F8F8F8"/>
                      </a:gs>
                      <a:gs pos="100000">
                        <a:srgbClr val="969696"/>
                      </a:gs>
                    </a:gsLst>
                    <a:lin ang="0" scaled="1"/>
                  </a:gradFill>
                  <a:ln w="28575">
                    <a:solidFill>
                      <a:srgbClr val="000000"/>
                    </a:solidFill>
                    <a:miter lim="800000"/>
                    <a:headEnd/>
                    <a:tailEnd/>
                  </a:ln>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CC"/>
                      </a:solidFill>
                      <a:effectLst/>
                      <a:uLnTx/>
                      <a:uFillTx/>
                      <a:latin typeface="Times New Roman" panose="02020603050405020304" pitchFamily="18" charset="0"/>
                      <a:ea typeface="黑体" panose="02010609060101010101" pitchFamily="49" charset="-122"/>
                    </a:endParaRPr>
                  </a:p>
                </p:txBody>
              </p:sp>
              <p:sp>
                <p:nvSpPr>
                  <p:cNvPr id="81" name="Line 49">
                    <a:extLst>
                      <a:ext uri="{FF2B5EF4-FFF2-40B4-BE49-F238E27FC236}">
                        <a16:creationId xmlns:a16="http://schemas.microsoft.com/office/drawing/2014/main" id="{A53086F8-1502-99CD-02D7-2F89AE1A5AFC}"/>
                      </a:ext>
                    </a:extLst>
                  </p:cNvPr>
                  <p:cNvSpPr>
                    <a:spLocks noChangeAspect="1" noChangeShapeType="1"/>
                  </p:cNvSpPr>
                  <p:nvPr/>
                </p:nvSpPr>
                <p:spPr bwMode="auto">
                  <a:xfrm flipV="1">
                    <a:off x="3615" y="194"/>
                    <a:ext cx="350" cy="9"/>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sp>
                <p:nvSpPr>
                  <p:cNvPr id="82" name="Line 50">
                    <a:extLst>
                      <a:ext uri="{FF2B5EF4-FFF2-40B4-BE49-F238E27FC236}">
                        <a16:creationId xmlns:a16="http://schemas.microsoft.com/office/drawing/2014/main" id="{FDAB09E8-1A21-1D2F-8BB2-D79982D2DB5E}"/>
                      </a:ext>
                    </a:extLst>
                  </p:cNvPr>
                  <p:cNvSpPr>
                    <a:spLocks noChangeAspect="1" noChangeShapeType="1"/>
                  </p:cNvSpPr>
                  <p:nvPr/>
                </p:nvSpPr>
                <p:spPr bwMode="auto">
                  <a:xfrm flipH="1">
                    <a:off x="3786" y="-101"/>
                    <a:ext cx="0" cy="529"/>
                  </a:xfrm>
                  <a:prstGeom prst="line">
                    <a:avLst/>
                  </a:prstGeom>
                  <a:noFill/>
                  <a:ln w="9525">
                    <a:solidFill>
                      <a:srgbClr val="000000"/>
                    </a:solidFill>
                    <a:prstDash val="lgDashDot"/>
                    <a:round/>
                    <a:headEnd/>
                    <a:tailE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grpSp>
            <p:sp>
              <p:nvSpPr>
                <p:cNvPr id="77" name="Line 51">
                  <a:extLst>
                    <a:ext uri="{FF2B5EF4-FFF2-40B4-BE49-F238E27FC236}">
                      <a16:creationId xmlns:a16="http://schemas.microsoft.com/office/drawing/2014/main" id="{10FA7A76-3762-928D-D9A0-3F3ABA55EAE8}"/>
                    </a:ext>
                  </a:extLst>
                </p:cNvPr>
                <p:cNvSpPr>
                  <a:spLocks noChangeAspect="1" noChangeShapeType="1"/>
                </p:cNvSpPr>
                <p:nvPr/>
              </p:nvSpPr>
              <p:spPr bwMode="auto">
                <a:xfrm flipV="1">
                  <a:off x="3899" y="2613"/>
                  <a:ext cx="44" cy="43"/>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grpSp>
          <p:grpSp>
            <p:nvGrpSpPr>
              <p:cNvPr id="43" name="Group 52">
                <a:extLst>
                  <a:ext uri="{FF2B5EF4-FFF2-40B4-BE49-F238E27FC236}">
                    <a16:creationId xmlns:a16="http://schemas.microsoft.com/office/drawing/2014/main" id="{79ADDB99-E51F-207B-3C6D-23ED0363DDE0}"/>
                  </a:ext>
                </a:extLst>
              </p:cNvPr>
              <p:cNvGrpSpPr>
                <a:grpSpLocks/>
              </p:cNvGrpSpPr>
              <p:nvPr/>
            </p:nvGrpSpPr>
            <p:grpSpPr bwMode="auto">
              <a:xfrm>
                <a:off x="4835" y="3029"/>
                <a:ext cx="969" cy="544"/>
                <a:chOff x="4835" y="3164"/>
                <a:chExt cx="969" cy="544"/>
              </a:xfrm>
            </p:grpSpPr>
            <p:sp>
              <p:nvSpPr>
                <p:cNvPr id="61" name="Oval 53">
                  <a:extLst>
                    <a:ext uri="{FF2B5EF4-FFF2-40B4-BE49-F238E27FC236}">
                      <a16:creationId xmlns:a16="http://schemas.microsoft.com/office/drawing/2014/main" id="{D031F55A-9CD9-DB3B-772C-8D8BCE665B86}"/>
                    </a:ext>
                  </a:extLst>
                </p:cNvPr>
                <p:cNvSpPr>
                  <a:spLocks noChangeAspect="1" noChangeArrowheads="1"/>
                </p:cNvSpPr>
                <p:nvPr/>
              </p:nvSpPr>
              <p:spPr bwMode="auto">
                <a:xfrm flipV="1">
                  <a:off x="4862" y="3385"/>
                  <a:ext cx="323" cy="215"/>
                </a:xfrm>
                <a:prstGeom prst="ellipse">
                  <a:avLst/>
                </a:prstGeom>
                <a:gradFill rotWithShape="0">
                  <a:gsLst>
                    <a:gs pos="0">
                      <a:srgbClr val="969696"/>
                    </a:gs>
                    <a:gs pos="50000">
                      <a:srgbClr val="F8F8F8"/>
                    </a:gs>
                    <a:gs pos="100000">
                      <a:srgbClr val="969696"/>
                    </a:gs>
                  </a:gsLst>
                  <a:lin ang="0" scaled="1"/>
                </a:gradFill>
                <a:ln w="28575" algn="ctr">
                  <a:solidFill>
                    <a:srgbClr val="000000"/>
                  </a:solidFill>
                  <a:round/>
                  <a:headEnd/>
                  <a:tailEnd/>
                </a:ln>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CC"/>
                    </a:solidFill>
                    <a:effectLst/>
                    <a:uLnTx/>
                    <a:uFillTx/>
                    <a:latin typeface="Times New Roman" panose="02020603050405020304" pitchFamily="18" charset="0"/>
                    <a:ea typeface="黑体" panose="02010609060101010101" pitchFamily="49" charset="-122"/>
                  </a:endParaRPr>
                </a:p>
              </p:txBody>
            </p:sp>
            <p:sp>
              <p:nvSpPr>
                <p:cNvPr id="62" name="Rectangle 54">
                  <a:extLst>
                    <a:ext uri="{FF2B5EF4-FFF2-40B4-BE49-F238E27FC236}">
                      <a16:creationId xmlns:a16="http://schemas.microsoft.com/office/drawing/2014/main" id="{DE0096F0-F7B0-DA79-E118-157DBA5DD0F3}"/>
                    </a:ext>
                  </a:extLst>
                </p:cNvPr>
                <p:cNvSpPr>
                  <a:spLocks noChangeAspect="1" noChangeArrowheads="1"/>
                </p:cNvSpPr>
                <p:nvPr/>
              </p:nvSpPr>
              <p:spPr bwMode="auto">
                <a:xfrm flipV="1">
                  <a:off x="4835" y="3403"/>
                  <a:ext cx="369" cy="71"/>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CC"/>
                    </a:solidFill>
                    <a:effectLst/>
                    <a:uLnTx/>
                    <a:uFillTx/>
                    <a:latin typeface="Times New Roman" panose="02020603050405020304" pitchFamily="18" charset="0"/>
                    <a:ea typeface="黑体" panose="02010609060101010101" pitchFamily="49" charset="-122"/>
                  </a:endParaRPr>
                </a:p>
              </p:txBody>
            </p:sp>
            <p:sp>
              <p:nvSpPr>
                <p:cNvPr id="63" name="Rectangle 55">
                  <a:extLst>
                    <a:ext uri="{FF2B5EF4-FFF2-40B4-BE49-F238E27FC236}">
                      <a16:creationId xmlns:a16="http://schemas.microsoft.com/office/drawing/2014/main" id="{4842A075-0924-1C0D-91AA-99F59B12BE88}"/>
                    </a:ext>
                  </a:extLst>
                </p:cNvPr>
                <p:cNvSpPr>
                  <a:spLocks noChangeAspect="1" noChangeArrowheads="1"/>
                </p:cNvSpPr>
                <p:nvPr/>
              </p:nvSpPr>
              <p:spPr bwMode="auto">
                <a:xfrm flipV="1">
                  <a:off x="4898" y="3171"/>
                  <a:ext cx="251" cy="303"/>
                </a:xfrm>
                <a:prstGeom prst="rect">
                  <a:avLst/>
                </a:prstGeom>
                <a:gradFill rotWithShape="0">
                  <a:gsLst>
                    <a:gs pos="0">
                      <a:srgbClr val="969696"/>
                    </a:gs>
                    <a:gs pos="50000">
                      <a:srgbClr val="F8F8F8"/>
                    </a:gs>
                    <a:gs pos="100000">
                      <a:srgbClr val="969696"/>
                    </a:gs>
                  </a:gsLst>
                  <a:lin ang="0" scaled="1"/>
                </a:gradFill>
                <a:ln w="28575">
                  <a:solidFill>
                    <a:srgbClr val="000000"/>
                  </a:solidFill>
                  <a:miter lim="800000"/>
                  <a:headEnd/>
                  <a:tailEnd/>
                </a:ln>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CC"/>
                    </a:solidFill>
                    <a:effectLst/>
                    <a:uLnTx/>
                    <a:uFillTx/>
                    <a:latin typeface="Times New Roman" panose="02020603050405020304" pitchFamily="18" charset="0"/>
                    <a:ea typeface="黑体" panose="02010609060101010101" pitchFamily="49" charset="-122"/>
                  </a:endParaRPr>
                </a:p>
              </p:txBody>
            </p:sp>
            <p:sp>
              <p:nvSpPr>
                <p:cNvPr id="64" name="Line 56">
                  <a:extLst>
                    <a:ext uri="{FF2B5EF4-FFF2-40B4-BE49-F238E27FC236}">
                      <a16:creationId xmlns:a16="http://schemas.microsoft.com/office/drawing/2014/main" id="{255E25F4-6885-D3DF-02FC-C02FFDE91265}"/>
                    </a:ext>
                  </a:extLst>
                </p:cNvPr>
                <p:cNvSpPr>
                  <a:spLocks noChangeAspect="1" noChangeShapeType="1"/>
                </p:cNvSpPr>
                <p:nvPr/>
              </p:nvSpPr>
              <p:spPr bwMode="auto">
                <a:xfrm flipV="1">
                  <a:off x="4853" y="3474"/>
                  <a:ext cx="351" cy="1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sp>
              <p:nvSpPr>
                <p:cNvPr id="65" name="Line 57">
                  <a:extLst>
                    <a:ext uri="{FF2B5EF4-FFF2-40B4-BE49-F238E27FC236}">
                      <a16:creationId xmlns:a16="http://schemas.microsoft.com/office/drawing/2014/main" id="{ADE0972B-ACE3-DB2B-5AD4-AA09C63ED786}"/>
                    </a:ext>
                  </a:extLst>
                </p:cNvPr>
                <p:cNvSpPr>
                  <a:spLocks noChangeAspect="1" noChangeShapeType="1"/>
                </p:cNvSpPr>
                <p:nvPr/>
              </p:nvSpPr>
              <p:spPr bwMode="auto">
                <a:xfrm flipH="1">
                  <a:off x="5159" y="3188"/>
                  <a:ext cx="260" cy="0"/>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sp>
              <p:nvSpPr>
                <p:cNvPr id="66" name="Line 58">
                  <a:extLst>
                    <a:ext uri="{FF2B5EF4-FFF2-40B4-BE49-F238E27FC236}">
                      <a16:creationId xmlns:a16="http://schemas.microsoft.com/office/drawing/2014/main" id="{ECE23027-269A-5C0B-2C03-B0B5F632E9F7}"/>
                    </a:ext>
                  </a:extLst>
                </p:cNvPr>
                <p:cNvSpPr>
                  <a:spLocks noChangeAspect="1" noChangeShapeType="1"/>
                </p:cNvSpPr>
                <p:nvPr/>
              </p:nvSpPr>
              <p:spPr bwMode="auto">
                <a:xfrm flipH="1">
                  <a:off x="5159" y="3277"/>
                  <a:ext cx="260" cy="0"/>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sp>
              <p:nvSpPr>
                <p:cNvPr id="67" name="Line 59">
                  <a:extLst>
                    <a:ext uri="{FF2B5EF4-FFF2-40B4-BE49-F238E27FC236}">
                      <a16:creationId xmlns:a16="http://schemas.microsoft.com/office/drawing/2014/main" id="{B920997B-37CA-ED4C-30DD-22060C790303}"/>
                    </a:ext>
                  </a:extLst>
                </p:cNvPr>
                <p:cNvSpPr>
                  <a:spLocks noChangeAspect="1" noChangeShapeType="1"/>
                </p:cNvSpPr>
                <p:nvPr/>
              </p:nvSpPr>
              <p:spPr bwMode="auto">
                <a:xfrm flipH="1">
                  <a:off x="5159" y="3358"/>
                  <a:ext cx="260" cy="0"/>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sp>
              <p:nvSpPr>
                <p:cNvPr id="68" name="Line 60">
                  <a:extLst>
                    <a:ext uri="{FF2B5EF4-FFF2-40B4-BE49-F238E27FC236}">
                      <a16:creationId xmlns:a16="http://schemas.microsoft.com/office/drawing/2014/main" id="{7100DB58-4C8F-58A4-1BC8-201172949B73}"/>
                    </a:ext>
                  </a:extLst>
                </p:cNvPr>
                <p:cNvSpPr>
                  <a:spLocks noChangeAspect="1" noChangeShapeType="1"/>
                </p:cNvSpPr>
                <p:nvPr/>
              </p:nvSpPr>
              <p:spPr bwMode="auto">
                <a:xfrm flipH="1">
                  <a:off x="5159" y="3448"/>
                  <a:ext cx="260" cy="0"/>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sp>
              <p:nvSpPr>
                <p:cNvPr id="69" name="Text Box 61">
                  <a:extLst>
                    <a:ext uri="{FF2B5EF4-FFF2-40B4-BE49-F238E27FC236}">
                      <a16:creationId xmlns:a16="http://schemas.microsoft.com/office/drawing/2014/main" id="{395728D0-C6F9-76D8-2986-2520E118E472}"/>
                    </a:ext>
                  </a:extLst>
                </p:cNvPr>
                <p:cNvSpPr txBox="1">
                  <a:spLocks noChangeAspect="1" noChangeArrowheads="1"/>
                </p:cNvSpPr>
                <p:nvPr/>
              </p:nvSpPr>
              <p:spPr bwMode="auto">
                <a:xfrm>
                  <a:off x="5391" y="3164"/>
                  <a:ext cx="413" cy="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fontAlgn="auto" hangingPunct="1">
                    <a:spcBef>
                      <a:spcPts val="0"/>
                    </a:spcBef>
                    <a:spcAft>
                      <a:spcPts val="0"/>
                    </a:spcAft>
                  </a:pPr>
                  <a:r>
                    <a:rPr lang="en-US" altLang="zh-CN" b="0" kern="0" dirty="0">
                      <a:solidFill>
                        <a:srgbClr val="FF0000"/>
                      </a:solidFill>
                      <a:latin typeface="+mj-lt"/>
                      <a:ea typeface="宋体" panose="02010600030101010101" pitchFamily="2" charset="-122"/>
                    </a:rPr>
                    <a:t>F</a:t>
                  </a:r>
                </a:p>
              </p:txBody>
            </p:sp>
            <p:sp>
              <p:nvSpPr>
                <p:cNvPr id="70" name="Line 62">
                  <a:extLst>
                    <a:ext uri="{FF2B5EF4-FFF2-40B4-BE49-F238E27FC236}">
                      <a16:creationId xmlns:a16="http://schemas.microsoft.com/office/drawing/2014/main" id="{44153875-BECE-F56A-157D-B640E9122CF0}"/>
                    </a:ext>
                  </a:extLst>
                </p:cNvPr>
                <p:cNvSpPr>
                  <a:spLocks noChangeAspect="1" noChangeShapeType="1"/>
                </p:cNvSpPr>
                <p:nvPr/>
              </p:nvSpPr>
              <p:spPr bwMode="auto">
                <a:xfrm flipH="1">
                  <a:off x="5024" y="3179"/>
                  <a:ext cx="0" cy="529"/>
                </a:xfrm>
                <a:prstGeom prst="line">
                  <a:avLst/>
                </a:prstGeom>
                <a:noFill/>
                <a:ln w="9525">
                  <a:solidFill>
                    <a:srgbClr val="000000"/>
                  </a:solidFill>
                  <a:prstDash val="lgDashDot"/>
                  <a:round/>
                  <a:headEnd/>
                  <a:tailE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grpSp>
          <p:sp>
            <p:nvSpPr>
              <p:cNvPr id="44" name="Line 63">
                <a:extLst>
                  <a:ext uri="{FF2B5EF4-FFF2-40B4-BE49-F238E27FC236}">
                    <a16:creationId xmlns:a16="http://schemas.microsoft.com/office/drawing/2014/main" id="{FA96951A-C046-1763-2ACD-90FF2F0E08E8}"/>
                  </a:ext>
                </a:extLst>
              </p:cNvPr>
              <p:cNvSpPr>
                <a:spLocks noChangeAspect="1" noChangeShapeType="1"/>
              </p:cNvSpPr>
              <p:nvPr/>
            </p:nvSpPr>
            <p:spPr bwMode="auto">
              <a:xfrm>
                <a:off x="4848" y="2975"/>
                <a:ext cx="431" cy="0"/>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sp>
            <p:nvSpPr>
              <p:cNvPr id="45" name="Text Box 64">
                <a:extLst>
                  <a:ext uri="{FF2B5EF4-FFF2-40B4-BE49-F238E27FC236}">
                    <a16:creationId xmlns:a16="http://schemas.microsoft.com/office/drawing/2014/main" id="{B68F9C7A-B8AC-79ED-4E47-12E75C62F405}"/>
                  </a:ext>
                </a:extLst>
              </p:cNvPr>
              <p:cNvSpPr txBox="1">
                <a:spLocks noChangeAspect="1" noChangeArrowheads="1"/>
              </p:cNvSpPr>
              <p:nvPr/>
            </p:nvSpPr>
            <p:spPr bwMode="auto">
              <a:xfrm>
                <a:off x="4845" y="2653"/>
                <a:ext cx="36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altLang="zh-CN" b="0" kern="0" dirty="0">
                    <a:solidFill>
                      <a:srgbClr val="FF0000"/>
                    </a:solidFill>
                    <a:latin typeface="+mj-lt"/>
                    <a:ea typeface="宋体" panose="02010600030101010101" pitchFamily="2" charset="-122"/>
                  </a:rPr>
                  <a:t>F</a:t>
                </a:r>
                <a:r>
                  <a:rPr kumimoji="1" lang="en-US" altLang="zh-CN" sz="2400" b="0" i="0" u="none" strike="noStrike" kern="0" cap="none" spc="0" normalizeH="0" baseline="-25000" noProof="0" dirty="0">
                    <a:ln>
                      <a:noFill/>
                    </a:ln>
                    <a:solidFill>
                      <a:srgbClr val="FF0000"/>
                    </a:solidFill>
                    <a:effectLst/>
                    <a:uLnTx/>
                    <a:uFillTx/>
                    <a:latin typeface="+mn-lt"/>
                    <a:ea typeface="宋体" panose="02010600030101010101" pitchFamily="2" charset="-122"/>
                  </a:rPr>
                  <a:t>Q</a:t>
                </a:r>
              </a:p>
            </p:txBody>
          </p:sp>
          <p:sp>
            <p:nvSpPr>
              <p:cNvPr id="46" name="Line 65">
                <a:extLst>
                  <a:ext uri="{FF2B5EF4-FFF2-40B4-BE49-F238E27FC236}">
                    <a16:creationId xmlns:a16="http://schemas.microsoft.com/office/drawing/2014/main" id="{A06A76E2-B12F-967F-E66D-2DDBC2E32AAE}"/>
                  </a:ext>
                </a:extLst>
              </p:cNvPr>
              <p:cNvSpPr>
                <a:spLocks noChangeAspect="1" noChangeShapeType="1"/>
              </p:cNvSpPr>
              <p:nvPr/>
            </p:nvSpPr>
            <p:spPr bwMode="auto">
              <a:xfrm flipH="1">
                <a:off x="5196" y="2548"/>
                <a:ext cx="431" cy="0"/>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sp>
            <p:nvSpPr>
              <p:cNvPr id="47" name="Text Box 66">
                <a:extLst>
                  <a:ext uri="{FF2B5EF4-FFF2-40B4-BE49-F238E27FC236}">
                    <a16:creationId xmlns:a16="http://schemas.microsoft.com/office/drawing/2014/main" id="{B626BDF7-18B0-D3D1-F8F1-3DC725FADC1B}"/>
                  </a:ext>
                </a:extLst>
              </p:cNvPr>
              <p:cNvSpPr txBox="1">
                <a:spLocks noChangeAspect="1" noChangeArrowheads="1"/>
              </p:cNvSpPr>
              <p:nvPr/>
            </p:nvSpPr>
            <p:spPr bwMode="auto">
              <a:xfrm>
                <a:off x="5284" y="2511"/>
                <a:ext cx="476" cy="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altLang="zh-CN" b="0" kern="0" dirty="0">
                    <a:solidFill>
                      <a:srgbClr val="FF0000"/>
                    </a:solidFill>
                    <a:latin typeface="+mj-lt"/>
                    <a:ea typeface="宋体" panose="02010600030101010101" pitchFamily="2" charset="-122"/>
                  </a:rPr>
                  <a:t>F</a:t>
                </a:r>
                <a:r>
                  <a:rPr lang="en-US" altLang="zh-CN" b="0" i="0" kern="0" baseline="-25000" dirty="0">
                    <a:solidFill>
                      <a:srgbClr val="FF0000"/>
                    </a:solidFill>
                    <a:latin typeface="+mn-lt"/>
                    <a:ea typeface="宋体" panose="02010600030101010101" pitchFamily="2" charset="-122"/>
                  </a:rPr>
                  <a:t>Q</a:t>
                </a:r>
              </a:p>
            </p:txBody>
          </p:sp>
          <p:grpSp>
            <p:nvGrpSpPr>
              <p:cNvPr id="48" name="Group 67">
                <a:extLst>
                  <a:ext uri="{FF2B5EF4-FFF2-40B4-BE49-F238E27FC236}">
                    <a16:creationId xmlns:a16="http://schemas.microsoft.com/office/drawing/2014/main" id="{0314EB46-1224-308E-4088-6395EBE36998}"/>
                  </a:ext>
                </a:extLst>
              </p:cNvPr>
              <p:cNvGrpSpPr>
                <a:grpSpLocks/>
              </p:cNvGrpSpPr>
              <p:nvPr/>
            </p:nvGrpSpPr>
            <p:grpSpPr bwMode="auto">
              <a:xfrm>
                <a:off x="3423" y="2231"/>
                <a:ext cx="532" cy="448"/>
                <a:chOff x="3182" y="-540"/>
                <a:chExt cx="532" cy="448"/>
              </a:xfrm>
            </p:grpSpPr>
            <p:sp>
              <p:nvSpPr>
                <p:cNvPr id="56" name="Line 68">
                  <a:extLst>
                    <a:ext uri="{FF2B5EF4-FFF2-40B4-BE49-F238E27FC236}">
                      <a16:creationId xmlns:a16="http://schemas.microsoft.com/office/drawing/2014/main" id="{6FE5DA82-194C-331F-1585-7D2B02984969}"/>
                    </a:ext>
                  </a:extLst>
                </p:cNvPr>
                <p:cNvSpPr>
                  <a:spLocks noChangeAspect="1" noChangeShapeType="1"/>
                </p:cNvSpPr>
                <p:nvPr/>
              </p:nvSpPr>
              <p:spPr bwMode="auto">
                <a:xfrm>
                  <a:off x="3454" y="-436"/>
                  <a:ext cx="260" cy="0"/>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sp>
              <p:nvSpPr>
                <p:cNvPr id="57" name="Line 69">
                  <a:extLst>
                    <a:ext uri="{FF2B5EF4-FFF2-40B4-BE49-F238E27FC236}">
                      <a16:creationId xmlns:a16="http://schemas.microsoft.com/office/drawing/2014/main" id="{96AC704A-EA40-40F9-58E7-AF93889DD21B}"/>
                    </a:ext>
                  </a:extLst>
                </p:cNvPr>
                <p:cNvSpPr>
                  <a:spLocks noChangeAspect="1" noChangeShapeType="1"/>
                </p:cNvSpPr>
                <p:nvPr/>
              </p:nvSpPr>
              <p:spPr bwMode="auto">
                <a:xfrm>
                  <a:off x="3454" y="-346"/>
                  <a:ext cx="260" cy="0"/>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sp>
              <p:nvSpPr>
                <p:cNvPr id="58" name="Line 70">
                  <a:extLst>
                    <a:ext uri="{FF2B5EF4-FFF2-40B4-BE49-F238E27FC236}">
                      <a16:creationId xmlns:a16="http://schemas.microsoft.com/office/drawing/2014/main" id="{DADB9736-EBCE-BE72-BFEB-99793C302D1B}"/>
                    </a:ext>
                  </a:extLst>
                </p:cNvPr>
                <p:cNvSpPr>
                  <a:spLocks noChangeAspect="1" noChangeShapeType="1"/>
                </p:cNvSpPr>
                <p:nvPr/>
              </p:nvSpPr>
              <p:spPr bwMode="auto">
                <a:xfrm>
                  <a:off x="3454" y="-265"/>
                  <a:ext cx="260" cy="0"/>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sp>
              <p:nvSpPr>
                <p:cNvPr id="59" name="Line 71">
                  <a:extLst>
                    <a:ext uri="{FF2B5EF4-FFF2-40B4-BE49-F238E27FC236}">
                      <a16:creationId xmlns:a16="http://schemas.microsoft.com/office/drawing/2014/main" id="{99064BC3-7BC1-5872-9609-2EBC4F160AF2}"/>
                    </a:ext>
                  </a:extLst>
                </p:cNvPr>
                <p:cNvSpPr>
                  <a:spLocks noChangeAspect="1" noChangeShapeType="1"/>
                </p:cNvSpPr>
                <p:nvPr/>
              </p:nvSpPr>
              <p:spPr bwMode="auto">
                <a:xfrm>
                  <a:off x="3454" y="-175"/>
                  <a:ext cx="260" cy="0"/>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sp>
              <p:nvSpPr>
                <p:cNvPr id="60" name="Text Box 72">
                  <a:extLst>
                    <a:ext uri="{FF2B5EF4-FFF2-40B4-BE49-F238E27FC236}">
                      <a16:creationId xmlns:a16="http://schemas.microsoft.com/office/drawing/2014/main" id="{1A55A4AA-0031-8231-B522-EB0A880D4B6E}"/>
                    </a:ext>
                  </a:extLst>
                </p:cNvPr>
                <p:cNvSpPr txBox="1">
                  <a:spLocks noChangeAspect="1" noChangeArrowheads="1"/>
                </p:cNvSpPr>
                <p:nvPr/>
              </p:nvSpPr>
              <p:spPr bwMode="auto">
                <a:xfrm>
                  <a:off x="3182" y="-540"/>
                  <a:ext cx="413" cy="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type="none" w="sm" len="me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fontAlgn="auto" hangingPunct="1">
                    <a:spcBef>
                      <a:spcPts val="0"/>
                    </a:spcBef>
                    <a:spcAft>
                      <a:spcPts val="0"/>
                    </a:spcAft>
                  </a:pPr>
                  <a:r>
                    <a:rPr lang="en-US" altLang="zh-CN" b="0" kern="0" dirty="0">
                      <a:solidFill>
                        <a:srgbClr val="FF0000"/>
                      </a:solidFill>
                      <a:latin typeface="+mj-lt"/>
                      <a:ea typeface="宋体" panose="02010600030101010101" pitchFamily="2" charset="-122"/>
                    </a:rPr>
                    <a:t>F</a:t>
                  </a:r>
                </a:p>
              </p:txBody>
            </p:sp>
          </p:grpSp>
          <p:grpSp>
            <p:nvGrpSpPr>
              <p:cNvPr id="49" name="Group 73">
                <a:extLst>
                  <a:ext uri="{FF2B5EF4-FFF2-40B4-BE49-F238E27FC236}">
                    <a16:creationId xmlns:a16="http://schemas.microsoft.com/office/drawing/2014/main" id="{85D0B385-F3D7-8BD5-0472-EAA7A3FD556C}"/>
                  </a:ext>
                </a:extLst>
              </p:cNvPr>
              <p:cNvGrpSpPr>
                <a:grpSpLocks/>
              </p:cNvGrpSpPr>
              <p:nvPr/>
            </p:nvGrpSpPr>
            <p:grpSpPr bwMode="auto">
              <a:xfrm>
                <a:off x="4161" y="2628"/>
                <a:ext cx="609" cy="311"/>
                <a:chOff x="3920" y="-143"/>
                <a:chExt cx="609" cy="311"/>
              </a:xfrm>
            </p:grpSpPr>
            <p:sp>
              <p:nvSpPr>
                <p:cNvPr id="50" name="Line 74">
                  <a:extLst>
                    <a:ext uri="{FF2B5EF4-FFF2-40B4-BE49-F238E27FC236}">
                      <a16:creationId xmlns:a16="http://schemas.microsoft.com/office/drawing/2014/main" id="{5E7EA238-99B3-38BE-7645-A872664945D0}"/>
                    </a:ext>
                  </a:extLst>
                </p:cNvPr>
                <p:cNvSpPr>
                  <a:spLocks noChangeAspect="1" noChangeShapeType="1"/>
                </p:cNvSpPr>
                <p:nvPr/>
              </p:nvSpPr>
              <p:spPr bwMode="auto">
                <a:xfrm flipH="1">
                  <a:off x="3920" y="-92"/>
                  <a:ext cx="261" cy="0"/>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sp>
              <p:nvSpPr>
                <p:cNvPr id="51" name="Line 75">
                  <a:extLst>
                    <a:ext uri="{FF2B5EF4-FFF2-40B4-BE49-F238E27FC236}">
                      <a16:creationId xmlns:a16="http://schemas.microsoft.com/office/drawing/2014/main" id="{0C842F38-8DA9-2918-FE42-939DE2DB9E19}"/>
                    </a:ext>
                  </a:extLst>
                </p:cNvPr>
                <p:cNvSpPr>
                  <a:spLocks noChangeAspect="1" noChangeShapeType="1"/>
                </p:cNvSpPr>
                <p:nvPr/>
              </p:nvSpPr>
              <p:spPr bwMode="auto">
                <a:xfrm flipH="1">
                  <a:off x="3920" y="-3"/>
                  <a:ext cx="261" cy="0"/>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sp>
              <p:nvSpPr>
                <p:cNvPr id="52" name="Line 76">
                  <a:extLst>
                    <a:ext uri="{FF2B5EF4-FFF2-40B4-BE49-F238E27FC236}">
                      <a16:creationId xmlns:a16="http://schemas.microsoft.com/office/drawing/2014/main" id="{CBDA543E-8046-61A0-F409-81F6E935E749}"/>
                    </a:ext>
                  </a:extLst>
                </p:cNvPr>
                <p:cNvSpPr>
                  <a:spLocks noChangeAspect="1" noChangeShapeType="1"/>
                </p:cNvSpPr>
                <p:nvPr/>
              </p:nvSpPr>
              <p:spPr bwMode="auto">
                <a:xfrm flipH="1">
                  <a:off x="3920" y="78"/>
                  <a:ext cx="261" cy="0"/>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sp>
              <p:nvSpPr>
                <p:cNvPr id="54" name="Line 77">
                  <a:extLst>
                    <a:ext uri="{FF2B5EF4-FFF2-40B4-BE49-F238E27FC236}">
                      <a16:creationId xmlns:a16="http://schemas.microsoft.com/office/drawing/2014/main" id="{2666359F-A247-90AA-EB30-9B7F16A5F330}"/>
                    </a:ext>
                  </a:extLst>
                </p:cNvPr>
                <p:cNvSpPr>
                  <a:spLocks noChangeAspect="1" noChangeShapeType="1"/>
                </p:cNvSpPr>
                <p:nvPr/>
              </p:nvSpPr>
              <p:spPr bwMode="auto">
                <a:xfrm flipH="1">
                  <a:off x="3920" y="168"/>
                  <a:ext cx="261" cy="0"/>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sp>
              <p:nvSpPr>
                <p:cNvPr id="55" name="Text Box 78">
                  <a:extLst>
                    <a:ext uri="{FF2B5EF4-FFF2-40B4-BE49-F238E27FC236}">
                      <a16:creationId xmlns:a16="http://schemas.microsoft.com/office/drawing/2014/main" id="{EDAB6746-7A66-F19E-7AD4-EF83FAA2F2C7}"/>
                    </a:ext>
                  </a:extLst>
                </p:cNvPr>
                <p:cNvSpPr txBox="1">
                  <a:spLocks noChangeAspect="1" noChangeArrowheads="1"/>
                </p:cNvSpPr>
                <p:nvPr/>
              </p:nvSpPr>
              <p:spPr bwMode="auto">
                <a:xfrm>
                  <a:off x="4117" y="-143"/>
                  <a:ext cx="412" cy="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FF0000"/>
                      </a:solidFill>
                      <a:effectLst/>
                      <a:uLnTx/>
                      <a:uFillTx/>
                      <a:latin typeface="+mn-lt"/>
                      <a:ea typeface="宋体" panose="02010600030101010101" pitchFamily="2" charset="-122"/>
                    </a:rPr>
                    <a:t>F</a:t>
                  </a:r>
                  <a:endParaRPr kumimoji="1" lang="en-US" altLang="zh-CN" sz="2400" b="0" u="none" strike="noStrike" kern="0" cap="none" spc="0" normalizeH="0" baseline="-25000" noProof="0" dirty="0">
                    <a:ln>
                      <a:noFill/>
                    </a:ln>
                    <a:solidFill>
                      <a:srgbClr val="FF0000"/>
                    </a:solidFill>
                    <a:effectLst/>
                    <a:uLnTx/>
                    <a:uFillTx/>
                    <a:latin typeface="+mn-lt"/>
                    <a:ea typeface="宋体" panose="02010600030101010101" pitchFamily="2" charset="-122"/>
                  </a:endParaRPr>
                </a:p>
              </p:txBody>
            </p:sp>
          </p:grpSp>
        </p:grpSp>
        <p:grpSp>
          <p:nvGrpSpPr>
            <p:cNvPr id="4" name="Group 79">
              <a:extLst>
                <a:ext uri="{FF2B5EF4-FFF2-40B4-BE49-F238E27FC236}">
                  <a16:creationId xmlns:a16="http://schemas.microsoft.com/office/drawing/2014/main" id="{8C5AEA40-18EC-2B0B-9CB9-51FBDDD8F399}"/>
                </a:ext>
              </a:extLst>
            </p:cNvPr>
            <p:cNvGrpSpPr>
              <a:grpSpLocks/>
            </p:cNvGrpSpPr>
            <p:nvPr/>
          </p:nvGrpSpPr>
          <p:grpSpPr bwMode="auto">
            <a:xfrm>
              <a:off x="4793" y="1972"/>
              <a:ext cx="851" cy="641"/>
              <a:chOff x="4793" y="1972"/>
              <a:chExt cx="851" cy="641"/>
            </a:xfrm>
          </p:grpSpPr>
          <p:sp>
            <p:nvSpPr>
              <p:cNvPr id="8" name="Oval 80">
                <a:extLst>
                  <a:ext uri="{FF2B5EF4-FFF2-40B4-BE49-F238E27FC236}">
                    <a16:creationId xmlns:a16="http://schemas.microsoft.com/office/drawing/2014/main" id="{272A5DAE-F542-0030-ABC2-23A57E774273}"/>
                  </a:ext>
                </a:extLst>
              </p:cNvPr>
              <p:cNvSpPr>
                <a:spLocks noChangeAspect="1" noChangeArrowheads="1"/>
              </p:cNvSpPr>
              <p:nvPr/>
            </p:nvSpPr>
            <p:spPr bwMode="auto">
              <a:xfrm>
                <a:off x="5296" y="2080"/>
                <a:ext cx="329" cy="216"/>
              </a:xfrm>
              <a:prstGeom prst="ellipse">
                <a:avLst/>
              </a:prstGeom>
              <a:gradFill rotWithShape="0">
                <a:gsLst>
                  <a:gs pos="0">
                    <a:srgbClr val="969696"/>
                  </a:gs>
                  <a:gs pos="50000">
                    <a:srgbClr val="F8F8F8"/>
                  </a:gs>
                  <a:gs pos="100000">
                    <a:srgbClr val="969696"/>
                  </a:gs>
                </a:gsLst>
                <a:lin ang="0" scaled="1"/>
              </a:gradFill>
              <a:ln w="28575" algn="ctr">
                <a:solidFill>
                  <a:srgbClr val="000000"/>
                </a:solidFill>
                <a:round/>
                <a:headEnd/>
                <a:tailEnd/>
              </a:ln>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CC"/>
                  </a:solidFill>
                  <a:effectLst/>
                  <a:uLnTx/>
                  <a:uFillTx/>
                  <a:latin typeface="Times New Roman" panose="02020603050405020304" pitchFamily="18" charset="0"/>
                  <a:ea typeface="黑体" panose="02010609060101010101" pitchFamily="49" charset="-122"/>
                </a:endParaRPr>
              </a:p>
            </p:txBody>
          </p:sp>
          <p:sp>
            <p:nvSpPr>
              <p:cNvPr id="11" name="Rectangle 81">
                <a:extLst>
                  <a:ext uri="{FF2B5EF4-FFF2-40B4-BE49-F238E27FC236}">
                    <a16:creationId xmlns:a16="http://schemas.microsoft.com/office/drawing/2014/main" id="{00FF8928-1851-641D-9899-3B6F9304D3FB}"/>
                  </a:ext>
                </a:extLst>
              </p:cNvPr>
              <p:cNvSpPr>
                <a:spLocks noChangeAspect="1" noChangeArrowheads="1"/>
              </p:cNvSpPr>
              <p:nvPr/>
            </p:nvSpPr>
            <p:spPr bwMode="auto">
              <a:xfrm>
                <a:off x="5269" y="2206"/>
                <a:ext cx="375" cy="71"/>
              </a:xfrm>
              <a:prstGeom prst="rect">
                <a:avLst/>
              </a:prstGeom>
              <a:gradFill rotWithShape="1">
                <a:gsLst>
                  <a:gs pos="0">
                    <a:srgbClr val="ACD3FE"/>
                  </a:gs>
                  <a:gs pos="100000">
                    <a:srgbClr val="BBF0FD"/>
                  </a:gs>
                </a:gsLst>
                <a:lin ang="5400000" scaled="1"/>
              </a:gradFill>
              <a:ln>
                <a:noFill/>
              </a:ln>
              <a:extLst>
                <a:ext uri="{91240B29-F687-4F45-9708-019B960494DF}">
                  <a14:hiddenLine xmlns:a14="http://schemas.microsoft.com/office/drawing/2010/main" w="0">
                    <a:solidFill>
                      <a:srgbClr val="000000"/>
                    </a:solidFill>
                    <a:miter lim="800000"/>
                    <a:headEnd/>
                    <a:tailEnd type="none" w="sm" len="me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CC"/>
                  </a:solidFill>
                  <a:effectLst/>
                  <a:uLnTx/>
                  <a:uFillTx/>
                  <a:latin typeface="Times New Roman" panose="02020603050405020304" pitchFamily="18" charset="0"/>
                  <a:ea typeface="黑体" panose="02010609060101010101" pitchFamily="49" charset="-122"/>
                </a:endParaRPr>
              </a:p>
            </p:txBody>
          </p:sp>
          <p:sp>
            <p:nvSpPr>
              <p:cNvPr id="12" name="Rectangle 82">
                <a:extLst>
                  <a:ext uri="{FF2B5EF4-FFF2-40B4-BE49-F238E27FC236}">
                    <a16:creationId xmlns:a16="http://schemas.microsoft.com/office/drawing/2014/main" id="{28F84A6D-F22E-9B16-D562-D5CBB063D09C}"/>
                  </a:ext>
                </a:extLst>
              </p:cNvPr>
              <p:cNvSpPr>
                <a:spLocks noChangeAspect="1" noChangeArrowheads="1"/>
              </p:cNvSpPr>
              <p:nvPr/>
            </p:nvSpPr>
            <p:spPr bwMode="auto">
              <a:xfrm>
                <a:off x="5333" y="2200"/>
                <a:ext cx="255" cy="305"/>
              </a:xfrm>
              <a:prstGeom prst="rect">
                <a:avLst/>
              </a:prstGeom>
              <a:gradFill rotWithShape="0">
                <a:gsLst>
                  <a:gs pos="0">
                    <a:srgbClr val="969696"/>
                  </a:gs>
                  <a:gs pos="50000">
                    <a:srgbClr val="F8F8F8"/>
                  </a:gs>
                  <a:gs pos="100000">
                    <a:srgbClr val="969696"/>
                  </a:gs>
                </a:gsLst>
                <a:lin ang="0" scaled="1"/>
              </a:gradFill>
              <a:ln w="28575">
                <a:solidFill>
                  <a:srgbClr val="000000"/>
                </a:solidFill>
                <a:miter lim="800000"/>
                <a:headEnd/>
                <a:tailEnd/>
              </a:ln>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CC"/>
                  </a:solidFill>
                  <a:effectLst/>
                  <a:uLnTx/>
                  <a:uFillTx/>
                  <a:latin typeface="Times New Roman" panose="02020603050405020304" pitchFamily="18" charset="0"/>
                  <a:ea typeface="黑体" panose="02010609060101010101" pitchFamily="49" charset="-122"/>
                </a:endParaRPr>
              </a:p>
            </p:txBody>
          </p:sp>
          <p:sp>
            <p:nvSpPr>
              <p:cNvPr id="13" name="Freeform 83">
                <a:extLst>
                  <a:ext uri="{FF2B5EF4-FFF2-40B4-BE49-F238E27FC236}">
                    <a16:creationId xmlns:a16="http://schemas.microsoft.com/office/drawing/2014/main" id="{5CE5F5B4-904B-F24D-3F88-6A9FFA639B65}"/>
                  </a:ext>
                </a:extLst>
              </p:cNvPr>
              <p:cNvSpPr>
                <a:spLocks noChangeAspect="1"/>
              </p:cNvSpPr>
              <p:nvPr/>
            </p:nvSpPr>
            <p:spPr bwMode="auto">
              <a:xfrm>
                <a:off x="5298" y="2199"/>
                <a:ext cx="327" cy="1"/>
              </a:xfrm>
              <a:custGeom>
                <a:avLst/>
                <a:gdLst>
                  <a:gd name="T0" fmla="*/ 0 w 327"/>
                  <a:gd name="T1" fmla="*/ 0 h 1"/>
                  <a:gd name="T2" fmla="*/ 327 w 327"/>
                  <a:gd name="T3" fmla="*/ 0 h 1"/>
                  <a:gd name="T4" fmla="*/ 0 60000 65536"/>
                  <a:gd name="T5" fmla="*/ 0 60000 65536"/>
                  <a:gd name="T6" fmla="*/ 0 w 327"/>
                  <a:gd name="T7" fmla="*/ 0 h 1"/>
                  <a:gd name="T8" fmla="*/ 327 w 327"/>
                  <a:gd name="T9" fmla="*/ 1 h 1"/>
                </a:gdLst>
                <a:ahLst/>
                <a:cxnLst>
                  <a:cxn ang="T4">
                    <a:pos x="T0" y="T1"/>
                  </a:cxn>
                  <a:cxn ang="T5">
                    <a:pos x="T2" y="T3"/>
                  </a:cxn>
                </a:cxnLst>
                <a:rect l="T6" t="T7" r="T8" b="T9"/>
                <a:pathLst>
                  <a:path w="327" h="1">
                    <a:moveTo>
                      <a:pt x="0" y="0"/>
                    </a:moveTo>
                    <a:lnTo>
                      <a:pt x="327" y="0"/>
                    </a:lnTo>
                  </a:path>
                </a:pathLst>
              </a:custGeom>
              <a:noFill/>
              <a:ln w="28575" cmpd="sng">
                <a:solidFill>
                  <a:srgbClr val="000000"/>
                </a:solidFill>
                <a:round/>
                <a:headEnd type="none" w="med" len="med"/>
                <a:tailEnd type="none" w="sm"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sp>
            <p:nvSpPr>
              <p:cNvPr id="14" name="Line 84">
                <a:extLst>
                  <a:ext uri="{FF2B5EF4-FFF2-40B4-BE49-F238E27FC236}">
                    <a16:creationId xmlns:a16="http://schemas.microsoft.com/office/drawing/2014/main" id="{75AA206A-B9BB-58F8-C4F3-3E204F4388D1}"/>
                  </a:ext>
                </a:extLst>
              </p:cNvPr>
              <p:cNvSpPr>
                <a:spLocks noChangeAspect="1" noChangeShapeType="1"/>
              </p:cNvSpPr>
              <p:nvPr/>
            </p:nvSpPr>
            <p:spPr bwMode="auto">
              <a:xfrm>
                <a:off x="5068" y="2232"/>
                <a:ext cx="265" cy="0"/>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sp>
            <p:nvSpPr>
              <p:cNvPr id="15" name="Line 85">
                <a:extLst>
                  <a:ext uri="{FF2B5EF4-FFF2-40B4-BE49-F238E27FC236}">
                    <a16:creationId xmlns:a16="http://schemas.microsoft.com/office/drawing/2014/main" id="{F519DED2-9155-90F3-7387-85D4CBEDF19A}"/>
                  </a:ext>
                </a:extLst>
              </p:cNvPr>
              <p:cNvSpPr>
                <a:spLocks noChangeAspect="1" noChangeShapeType="1"/>
              </p:cNvSpPr>
              <p:nvPr/>
            </p:nvSpPr>
            <p:spPr bwMode="auto">
              <a:xfrm>
                <a:off x="5068" y="2322"/>
                <a:ext cx="265" cy="0"/>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sp>
            <p:nvSpPr>
              <p:cNvPr id="37" name="Line 86">
                <a:extLst>
                  <a:ext uri="{FF2B5EF4-FFF2-40B4-BE49-F238E27FC236}">
                    <a16:creationId xmlns:a16="http://schemas.microsoft.com/office/drawing/2014/main" id="{6BB8875C-ECEF-21C2-1F60-3233935E0109}"/>
                  </a:ext>
                </a:extLst>
              </p:cNvPr>
              <p:cNvSpPr>
                <a:spLocks noChangeAspect="1" noChangeShapeType="1"/>
              </p:cNvSpPr>
              <p:nvPr/>
            </p:nvSpPr>
            <p:spPr bwMode="auto">
              <a:xfrm>
                <a:off x="5068" y="2403"/>
                <a:ext cx="265" cy="0"/>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sp>
            <p:nvSpPr>
              <p:cNvPr id="38" name="Line 87">
                <a:extLst>
                  <a:ext uri="{FF2B5EF4-FFF2-40B4-BE49-F238E27FC236}">
                    <a16:creationId xmlns:a16="http://schemas.microsoft.com/office/drawing/2014/main" id="{A76DA0B9-D1B6-D06B-9EBB-A41923DE2BC3}"/>
                  </a:ext>
                </a:extLst>
              </p:cNvPr>
              <p:cNvSpPr>
                <a:spLocks noChangeAspect="1" noChangeShapeType="1"/>
              </p:cNvSpPr>
              <p:nvPr/>
            </p:nvSpPr>
            <p:spPr bwMode="auto">
              <a:xfrm>
                <a:off x="5068" y="2493"/>
                <a:ext cx="265" cy="0"/>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sp>
            <p:nvSpPr>
              <p:cNvPr id="39" name="Text Box 88">
                <a:extLst>
                  <a:ext uri="{FF2B5EF4-FFF2-40B4-BE49-F238E27FC236}">
                    <a16:creationId xmlns:a16="http://schemas.microsoft.com/office/drawing/2014/main" id="{E68E8D61-4778-7D61-0F3E-E61EC30E10E0}"/>
                  </a:ext>
                </a:extLst>
              </p:cNvPr>
              <p:cNvSpPr txBox="1">
                <a:spLocks noChangeAspect="1" noChangeArrowheads="1"/>
              </p:cNvSpPr>
              <p:nvPr/>
            </p:nvSpPr>
            <p:spPr bwMode="auto">
              <a:xfrm>
                <a:off x="4793" y="2165"/>
                <a:ext cx="421" cy="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type="none" w="sm" len="me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fontAlgn="auto" hangingPunct="1">
                  <a:spcBef>
                    <a:spcPts val="0"/>
                  </a:spcBef>
                  <a:spcAft>
                    <a:spcPts val="0"/>
                  </a:spcAft>
                </a:pPr>
                <a:r>
                  <a:rPr lang="en-US" altLang="zh-CN" b="0" kern="0" dirty="0">
                    <a:solidFill>
                      <a:srgbClr val="FF0000"/>
                    </a:solidFill>
                    <a:latin typeface="+mj-lt"/>
                    <a:ea typeface="宋体" panose="02010600030101010101" pitchFamily="2" charset="-122"/>
                  </a:rPr>
                  <a:t>F</a:t>
                </a:r>
              </a:p>
            </p:txBody>
          </p:sp>
          <p:sp>
            <p:nvSpPr>
              <p:cNvPr id="40" name="Line 89">
                <a:extLst>
                  <a:ext uri="{FF2B5EF4-FFF2-40B4-BE49-F238E27FC236}">
                    <a16:creationId xmlns:a16="http://schemas.microsoft.com/office/drawing/2014/main" id="{74DEE2AA-5CDE-62D2-EF72-2BE8A0B02CE6}"/>
                  </a:ext>
                </a:extLst>
              </p:cNvPr>
              <p:cNvSpPr>
                <a:spLocks noChangeAspect="1" noChangeShapeType="1"/>
              </p:cNvSpPr>
              <p:nvPr/>
            </p:nvSpPr>
            <p:spPr bwMode="auto">
              <a:xfrm flipH="1">
                <a:off x="5460" y="1972"/>
                <a:ext cx="0" cy="529"/>
              </a:xfrm>
              <a:prstGeom prst="line">
                <a:avLst/>
              </a:prstGeom>
              <a:noFill/>
              <a:ln w="9525">
                <a:solidFill>
                  <a:srgbClr val="000000"/>
                </a:solidFill>
                <a:prstDash val="lgDashDot"/>
                <a:round/>
                <a:headEnd/>
                <a:tailE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grpSp>
      </p:grpSp>
      <p:graphicFrame>
        <p:nvGraphicFramePr>
          <p:cNvPr id="109" name="Object 91">
            <a:extLst>
              <a:ext uri="{FF2B5EF4-FFF2-40B4-BE49-F238E27FC236}">
                <a16:creationId xmlns:a16="http://schemas.microsoft.com/office/drawing/2014/main" id="{5FA930B2-FCC1-4329-542C-39DCCEE6FC4C}"/>
              </a:ext>
            </a:extLst>
          </p:cNvPr>
          <p:cNvGraphicFramePr>
            <a:graphicFrameLocks noChangeAspect="1"/>
          </p:cNvGraphicFramePr>
          <p:nvPr>
            <p:extLst>
              <p:ext uri="{D42A27DB-BD31-4B8C-83A1-F6EECF244321}">
                <p14:modId xmlns:p14="http://schemas.microsoft.com/office/powerpoint/2010/main" val="2123934538"/>
              </p:ext>
            </p:extLst>
          </p:nvPr>
        </p:nvGraphicFramePr>
        <p:xfrm>
          <a:off x="4625018" y="3024775"/>
          <a:ext cx="1859334" cy="692352"/>
        </p:xfrm>
        <a:graphic>
          <a:graphicData uri="http://schemas.openxmlformats.org/presentationml/2006/ole">
            <mc:AlternateContent xmlns:mc="http://schemas.openxmlformats.org/markup-compatibility/2006">
              <mc:Choice xmlns:v="urn:schemas-microsoft-com:vml" Requires="v">
                <p:oleObj name="Equation" r:id="rId3" imgW="647640" imgH="241200" progId="Equation.DSMT4">
                  <p:embed/>
                </p:oleObj>
              </mc:Choice>
              <mc:Fallback>
                <p:oleObj name="Equation" r:id="rId3" imgW="647640" imgH="241200" progId="Equation.DSMT4">
                  <p:embed/>
                  <p:pic>
                    <p:nvPicPr>
                      <p:cNvPr id="109" name="Object 91">
                        <a:extLst>
                          <a:ext uri="{FF2B5EF4-FFF2-40B4-BE49-F238E27FC236}">
                            <a16:creationId xmlns:a16="http://schemas.microsoft.com/office/drawing/2014/main" id="{5FA930B2-FCC1-4329-542C-39DCCEE6FC4C}"/>
                          </a:ext>
                        </a:extLst>
                      </p:cNvPr>
                      <p:cNvPicPr>
                        <a:picLocks noChangeAspect="1" noChangeArrowheads="1"/>
                      </p:cNvPicPr>
                      <p:nvPr/>
                    </p:nvPicPr>
                    <p:blipFill>
                      <a:blip r:embed="rId4"/>
                      <a:srcRect/>
                      <a:stretch>
                        <a:fillRect/>
                      </a:stretch>
                    </p:blipFill>
                    <p:spPr bwMode="auto">
                      <a:xfrm>
                        <a:off x="4625018" y="3024775"/>
                        <a:ext cx="1859334" cy="692352"/>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1247048329"/>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109"/>
                                        </p:tgtEl>
                                        <p:attrNameLst>
                                          <p:attrName>style.visibility</p:attrName>
                                        </p:attrNameLst>
                                      </p:cBhvr>
                                      <p:to>
                                        <p:strVal val="visible"/>
                                      </p:to>
                                    </p:set>
                                    <p:animEffect transition="in" filter="wipe(left)">
                                      <p:cBhvr>
                                        <p:cTn id="11" dur="3000"/>
                                        <p:tgtEl>
                                          <p:spTgt spid="1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utoUpdateAnimBg="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711605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第八章   拉压、剪切与挤压的强度计算</a:t>
            </a:r>
          </a:p>
        </p:txBody>
      </p:sp>
      <p:sp>
        <p:nvSpPr>
          <p:cNvPr id="9" name="Text Box 1032">
            <a:extLst>
              <a:ext uri="{FF2B5EF4-FFF2-40B4-BE49-F238E27FC236}">
                <a16:creationId xmlns:a16="http://schemas.microsoft.com/office/drawing/2014/main" id="{5B910DD4-CBB7-A521-D69D-247EA7B635CC}"/>
              </a:ext>
            </a:extLst>
          </p:cNvPr>
          <p:cNvSpPr txBox="1">
            <a:spLocks noChangeArrowheads="1"/>
          </p:cNvSpPr>
          <p:nvPr/>
        </p:nvSpPr>
        <p:spPr bwMode="auto">
          <a:xfrm>
            <a:off x="695399" y="955159"/>
            <a:ext cx="11161239" cy="108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lnSpc>
                <a:spcPct val="120000"/>
              </a:lnSpc>
            </a:pPr>
            <a:r>
              <a:rPr kumimoji="1" lang="zh-CN" altLang="en-US" sz="2800" i="0" dirty="0">
                <a:latin typeface="+mn-lt"/>
                <a:ea typeface="微软雅黑" panose="020B0503020204020204" pitchFamily="34" charset="-122"/>
              </a:rPr>
              <a:t>保证连接件具有足够的抗剪强度，要求切应力不超过材料的许用切应力。由此得抗剪强度条件为</a:t>
            </a:r>
          </a:p>
        </p:txBody>
      </p:sp>
      <p:graphicFrame>
        <p:nvGraphicFramePr>
          <p:cNvPr id="5" name="Object 17">
            <a:extLst>
              <a:ext uri="{FF2B5EF4-FFF2-40B4-BE49-F238E27FC236}">
                <a16:creationId xmlns:a16="http://schemas.microsoft.com/office/drawing/2014/main" id="{D721BAFC-1FC9-F2A8-50A8-0E82F2BFB701}"/>
              </a:ext>
            </a:extLst>
          </p:cNvPr>
          <p:cNvGraphicFramePr>
            <a:graphicFrameLocks/>
          </p:cNvGraphicFramePr>
          <p:nvPr>
            <p:extLst>
              <p:ext uri="{D42A27DB-BD31-4B8C-83A1-F6EECF244321}">
                <p14:modId xmlns:p14="http://schemas.microsoft.com/office/powerpoint/2010/main" val="999606551"/>
              </p:ext>
            </p:extLst>
          </p:nvPr>
        </p:nvGraphicFramePr>
        <p:xfrm>
          <a:off x="4283075" y="2001040"/>
          <a:ext cx="1740917" cy="886754"/>
        </p:xfrm>
        <a:graphic>
          <a:graphicData uri="http://schemas.openxmlformats.org/presentationml/2006/ole">
            <mc:AlternateContent xmlns:mc="http://schemas.openxmlformats.org/markup-compatibility/2006">
              <mc:Choice xmlns:v="urn:schemas-microsoft-com:vml" Requires="v">
                <p:oleObj name="Equation" r:id="rId4" imgW="774360" imgH="419040" progId="Equation.DSMT4">
                  <p:embed/>
                </p:oleObj>
              </mc:Choice>
              <mc:Fallback>
                <p:oleObj name="Equation" r:id="rId4" imgW="774360" imgH="419040" progId="Equation.DSMT4">
                  <p:embed/>
                  <p:pic>
                    <p:nvPicPr>
                      <p:cNvPr id="5" name="Object 17">
                        <a:extLst>
                          <a:ext uri="{FF2B5EF4-FFF2-40B4-BE49-F238E27FC236}">
                            <a16:creationId xmlns:a16="http://schemas.microsoft.com/office/drawing/2014/main" id="{D721BAFC-1FC9-F2A8-50A8-0E82F2BFB701}"/>
                          </a:ext>
                        </a:extLst>
                      </p:cNvPr>
                      <p:cNvPicPr>
                        <a:picLocks noChangeArrowheads="1"/>
                      </p:cNvPicPr>
                      <p:nvPr/>
                    </p:nvPicPr>
                    <p:blipFill>
                      <a:blip r:embed="rId5"/>
                      <a:srcRect/>
                      <a:stretch>
                        <a:fillRect/>
                      </a:stretch>
                    </p:blipFill>
                    <p:spPr bwMode="auto">
                      <a:xfrm>
                        <a:off x="4283075" y="2001040"/>
                        <a:ext cx="1740917" cy="886754"/>
                      </a:xfrm>
                      <a:prstGeom prst="rect">
                        <a:avLst/>
                      </a:prstGeom>
                      <a:noFill/>
                      <a:ln>
                        <a:noFill/>
                      </a:ln>
                      <a:effectLst/>
                    </p:spPr>
                  </p:pic>
                </p:oleObj>
              </mc:Fallback>
            </mc:AlternateContent>
          </a:graphicData>
        </a:graphic>
      </p:graphicFrame>
      <p:sp>
        <p:nvSpPr>
          <p:cNvPr id="16" name="Text Box 1032">
            <a:extLst>
              <a:ext uri="{FF2B5EF4-FFF2-40B4-BE49-F238E27FC236}">
                <a16:creationId xmlns:a16="http://schemas.microsoft.com/office/drawing/2014/main" id="{5B567A7D-F27D-08F5-6C7D-D9288AA9C341}"/>
              </a:ext>
            </a:extLst>
          </p:cNvPr>
          <p:cNvSpPr txBox="1">
            <a:spLocks noChangeArrowheads="1"/>
          </p:cNvSpPr>
          <p:nvPr/>
        </p:nvSpPr>
        <p:spPr bwMode="auto">
          <a:xfrm>
            <a:off x="695399" y="2887794"/>
            <a:ext cx="11161239" cy="33970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lvl="0">
              <a:lnSpc>
                <a:spcPct val="130000"/>
              </a:lnSpc>
            </a:pPr>
            <a:r>
              <a:rPr kumimoji="1" lang="en-US" altLang="zh-CN" sz="2800" b="0" i="0" dirty="0">
                <a:latin typeface="+mn-lt"/>
                <a:ea typeface="微软雅黑" panose="020B0503020204020204" pitchFamily="34" charset="-122"/>
              </a:rPr>
              <a:t>[</a:t>
            </a:r>
            <a:r>
              <a:rPr kumimoji="1" lang="en-US" altLang="zh-CN" sz="2800" b="0" dirty="0">
                <a:latin typeface="+mn-lt"/>
                <a:ea typeface="微软雅黑" panose="020B0503020204020204" pitchFamily="34" charset="-122"/>
                <a:sym typeface="Symbol" panose="05050102010706020507" pitchFamily="18" charset="2"/>
              </a:rPr>
              <a:t></a:t>
            </a:r>
            <a:r>
              <a:rPr kumimoji="1" lang="en-US" altLang="zh-CN" sz="2800" b="0" i="0" dirty="0">
                <a:latin typeface="+mn-lt"/>
                <a:ea typeface="微软雅黑" panose="020B0503020204020204" pitchFamily="34" charset="-122"/>
              </a:rPr>
              <a:t> ]</a:t>
            </a:r>
            <a:r>
              <a:rPr kumimoji="1" lang="zh-CN" altLang="en-US" sz="2800" i="0" dirty="0">
                <a:latin typeface="+mn-lt"/>
                <a:ea typeface="微软雅黑" panose="020B0503020204020204" pitchFamily="34" charset="-122"/>
              </a:rPr>
              <a:t>可以通过与构件实际受力情况相似的剪切实验得到。根据式试件被剪断时的剪力</a:t>
            </a:r>
            <a:r>
              <a:rPr kumimoji="1" lang="en-US" altLang="zh-CN" sz="2800" b="0" dirty="0" err="1">
                <a:latin typeface="+mn-lt"/>
                <a:ea typeface="微软雅黑" panose="020B0503020204020204" pitchFamily="34" charset="-122"/>
              </a:rPr>
              <a:t>F</a:t>
            </a:r>
            <a:r>
              <a:rPr kumimoji="1" lang="en-US" altLang="zh-CN" sz="2800" b="0" i="0" baseline="-25000" dirty="0" err="1">
                <a:latin typeface="+mn-lt"/>
                <a:ea typeface="微软雅黑" panose="020B0503020204020204" pitchFamily="34" charset="-122"/>
              </a:rPr>
              <a:t>Qb</a:t>
            </a:r>
            <a:r>
              <a:rPr kumimoji="1" lang="zh-CN" altLang="en-US" sz="2800" i="0" dirty="0">
                <a:latin typeface="+mn-lt"/>
                <a:ea typeface="微软雅黑" panose="020B0503020204020204" pitchFamily="34" charset="-122"/>
              </a:rPr>
              <a:t>，算出极限切应力</a:t>
            </a:r>
            <a:r>
              <a:rPr kumimoji="1" lang="zh-CN" altLang="en-US" sz="2800" b="0" dirty="0">
                <a:latin typeface="+mn-lt"/>
                <a:ea typeface="微软雅黑" panose="020B0503020204020204" pitchFamily="34" charset="-122"/>
                <a:sym typeface="Symbol" panose="05050102010706020507" pitchFamily="18" charset="2"/>
              </a:rPr>
              <a:t></a:t>
            </a:r>
            <a:r>
              <a:rPr kumimoji="1" lang="en-US" altLang="zh-CN" sz="2800" b="0" i="0" baseline="-25000" dirty="0">
                <a:latin typeface="+mn-lt"/>
                <a:ea typeface="微软雅黑" panose="020B0503020204020204" pitchFamily="34" charset="-122"/>
              </a:rPr>
              <a:t>b</a:t>
            </a:r>
            <a:r>
              <a:rPr kumimoji="1" lang="zh-CN" altLang="en-US" sz="2800" i="0" dirty="0">
                <a:ea typeface="微软雅黑" panose="020B0503020204020204" pitchFamily="34" charset="-122"/>
              </a:rPr>
              <a:t> ，</a:t>
            </a:r>
            <a:r>
              <a:rPr kumimoji="1" lang="zh-CN" altLang="en-US" sz="2800" i="0" dirty="0">
                <a:latin typeface="+mn-lt"/>
                <a:ea typeface="微软雅黑" panose="020B0503020204020204" pitchFamily="34" charset="-122"/>
              </a:rPr>
              <a:t>再除以适当的安全因数</a:t>
            </a:r>
            <a:r>
              <a:rPr kumimoji="1" lang="en-US" altLang="zh-CN" sz="2800" b="0" dirty="0">
                <a:latin typeface="+mn-lt"/>
                <a:ea typeface="微软雅黑" panose="020B0503020204020204" pitchFamily="34" charset="-122"/>
              </a:rPr>
              <a:t>n</a:t>
            </a:r>
            <a:r>
              <a:rPr kumimoji="1" lang="zh-CN" altLang="en-US" sz="2800" i="0" dirty="0">
                <a:latin typeface="+mn-lt"/>
                <a:ea typeface="微软雅黑" panose="020B0503020204020204" pitchFamily="34" charset="-122"/>
              </a:rPr>
              <a:t>，则得</a:t>
            </a:r>
            <a:r>
              <a:rPr kumimoji="1" lang="en-US" altLang="zh-CN" sz="2800" b="0" i="0" dirty="0">
                <a:latin typeface="+mn-lt"/>
                <a:ea typeface="微软雅黑" panose="020B0503020204020204" pitchFamily="34" charset="-122"/>
              </a:rPr>
              <a:t>[</a:t>
            </a:r>
            <a:r>
              <a:rPr kumimoji="1" lang="en-US" altLang="zh-CN" sz="2800" b="0" dirty="0">
                <a:latin typeface="+mn-lt"/>
                <a:ea typeface="微软雅黑" panose="020B0503020204020204" pitchFamily="34" charset="-122"/>
                <a:sym typeface="Symbol" panose="05050102010706020507" pitchFamily="18" charset="2"/>
              </a:rPr>
              <a:t> </a:t>
            </a:r>
            <a:r>
              <a:rPr kumimoji="1" lang="en-US" altLang="zh-CN" sz="2800" b="0" i="0" dirty="0">
                <a:latin typeface="+mn-lt"/>
                <a:ea typeface="微软雅黑" panose="020B0503020204020204" pitchFamily="34" charset="-122"/>
              </a:rPr>
              <a:t>]</a:t>
            </a:r>
            <a:r>
              <a:rPr kumimoji="1" lang="zh-CN" altLang="en-US" sz="2800" b="0" i="0" dirty="0">
                <a:latin typeface="+mn-lt"/>
                <a:ea typeface="微软雅黑" panose="020B0503020204020204" pitchFamily="34" charset="-122"/>
              </a:rPr>
              <a:t>＝ </a:t>
            </a:r>
            <a:r>
              <a:rPr kumimoji="1" lang="zh-CN" altLang="en-US" sz="2800" b="0" dirty="0">
                <a:latin typeface="+mn-lt"/>
                <a:ea typeface="微软雅黑" panose="020B0503020204020204" pitchFamily="34" charset="-122"/>
                <a:sym typeface="Symbol" panose="05050102010706020507" pitchFamily="18" charset="2"/>
              </a:rPr>
              <a:t></a:t>
            </a:r>
            <a:r>
              <a:rPr kumimoji="1" lang="en-US" altLang="zh-CN" sz="2800" b="0" i="0" baseline="-25000" dirty="0">
                <a:latin typeface="+mn-lt"/>
                <a:ea typeface="微软雅黑" panose="020B0503020204020204" pitchFamily="34" charset="-122"/>
              </a:rPr>
              <a:t>b</a:t>
            </a:r>
            <a:r>
              <a:rPr kumimoji="1" lang="en-US" altLang="zh-CN" sz="2800" b="0" i="0" dirty="0">
                <a:latin typeface="+mn-lt"/>
                <a:ea typeface="微软雅黑" panose="020B0503020204020204" pitchFamily="34" charset="-122"/>
              </a:rPr>
              <a:t>/</a:t>
            </a:r>
            <a:r>
              <a:rPr kumimoji="1" lang="en-US" altLang="zh-CN" sz="2800" b="0" dirty="0">
                <a:latin typeface="+mn-lt"/>
                <a:ea typeface="微软雅黑" panose="020B0503020204020204" pitchFamily="34" charset="-122"/>
              </a:rPr>
              <a:t>n</a:t>
            </a:r>
            <a:r>
              <a:rPr kumimoji="1" lang="zh-CN" altLang="en-US" sz="2800" i="0" dirty="0">
                <a:latin typeface="+mn-lt"/>
                <a:ea typeface="微软雅黑" panose="020B0503020204020204" pitchFamily="34" charset="-122"/>
              </a:rPr>
              <a:t>。实验表明，金属材料的</a:t>
            </a:r>
            <a:r>
              <a:rPr kumimoji="1" lang="en-US" altLang="zh-CN" sz="2800" b="0" i="0" dirty="0">
                <a:latin typeface="+mn-lt"/>
                <a:ea typeface="微软雅黑" panose="020B0503020204020204" pitchFamily="34" charset="-122"/>
              </a:rPr>
              <a:t>[</a:t>
            </a:r>
            <a:r>
              <a:rPr kumimoji="1" lang="en-US" altLang="zh-CN" sz="2800" b="0" dirty="0">
                <a:latin typeface="+mn-lt"/>
                <a:ea typeface="微软雅黑" panose="020B0503020204020204" pitchFamily="34" charset="-122"/>
                <a:sym typeface="Symbol" panose="05050102010706020507" pitchFamily="18" charset="2"/>
              </a:rPr>
              <a:t> </a:t>
            </a:r>
            <a:r>
              <a:rPr kumimoji="1" lang="en-US" altLang="zh-CN" sz="2800" b="0" i="0" dirty="0">
                <a:latin typeface="+mn-lt"/>
                <a:ea typeface="微软雅黑" panose="020B0503020204020204" pitchFamily="34" charset="-122"/>
              </a:rPr>
              <a:t>]</a:t>
            </a:r>
            <a:r>
              <a:rPr kumimoji="1" lang="zh-CN" altLang="en-US" sz="2800" i="0" dirty="0">
                <a:latin typeface="+mn-lt"/>
                <a:ea typeface="微软雅黑" panose="020B0503020204020204" pitchFamily="34" charset="-122"/>
              </a:rPr>
              <a:t>与许用拉应力</a:t>
            </a:r>
            <a:r>
              <a:rPr kumimoji="1" lang="en-US" altLang="zh-CN" sz="2800" b="0" i="0" dirty="0">
                <a:latin typeface="+mn-lt"/>
                <a:ea typeface="微软雅黑" panose="020B0503020204020204" pitchFamily="34" charset="-122"/>
              </a:rPr>
              <a:t>[</a:t>
            </a:r>
            <a:r>
              <a:rPr kumimoji="1" lang="en-US" altLang="zh-CN" sz="2800" b="0" dirty="0">
                <a:ea typeface="微软雅黑" panose="020B0503020204020204" pitchFamily="34" charset="-122"/>
                <a:sym typeface="Symbol" panose="05050102010706020507" pitchFamily="18" charset="2"/>
              </a:rPr>
              <a:t></a:t>
            </a:r>
            <a:r>
              <a:rPr kumimoji="1" lang="en-US" altLang="zh-CN" sz="2800" b="0" dirty="0">
                <a:latin typeface="+mn-lt"/>
                <a:ea typeface="微软雅黑" panose="020B0503020204020204" pitchFamily="34" charset="-122"/>
                <a:sym typeface="Symbol" panose="05050102010706020507" pitchFamily="18" charset="2"/>
              </a:rPr>
              <a:t> </a:t>
            </a:r>
            <a:r>
              <a:rPr kumimoji="1" lang="en-US" altLang="zh-CN" sz="2800" b="0" i="0" dirty="0">
                <a:latin typeface="+mn-lt"/>
                <a:ea typeface="微软雅黑" panose="020B0503020204020204" pitchFamily="34" charset="-122"/>
              </a:rPr>
              <a:t>]</a:t>
            </a:r>
            <a:r>
              <a:rPr kumimoji="1" lang="zh-CN" altLang="en-US" sz="2800" i="0" dirty="0">
                <a:latin typeface="+mn-lt"/>
                <a:ea typeface="微软雅黑" panose="020B0503020204020204" pitchFamily="34" charset="-122"/>
              </a:rPr>
              <a:t>之间有如下关系</a:t>
            </a:r>
            <a:r>
              <a:rPr kumimoji="1" lang="zh-CN" altLang="en-US" sz="2800" i="0" dirty="0">
                <a:ea typeface="微软雅黑" panose="020B0503020204020204" pitchFamily="34" charset="-122"/>
              </a:rPr>
              <a:t>。</a:t>
            </a:r>
            <a:endParaRPr kumimoji="1" lang="zh-CN" altLang="en-US" sz="2800" i="0" dirty="0">
              <a:latin typeface="+mn-lt"/>
              <a:ea typeface="微软雅黑" panose="020B0503020204020204" pitchFamily="34" charset="-122"/>
            </a:endParaRPr>
          </a:p>
          <a:p>
            <a:pPr lvl="0">
              <a:lnSpc>
                <a:spcPct val="130000"/>
              </a:lnSpc>
            </a:pPr>
            <a:r>
              <a:rPr kumimoji="1" lang="zh-CN" altLang="en-US" sz="2800" i="0" dirty="0">
                <a:latin typeface="+mn-lt"/>
                <a:ea typeface="微软雅黑" panose="020B0503020204020204" pitchFamily="34" charset="-122"/>
              </a:rPr>
              <a:t>       塑性材料：</a:t>
            </a:r>
            <a:r>
              <a:rPr kumimoji="1" lang="en-US" altLang="zh-CN" sz="2800" b="0" i="0" dirty="0">
                <a:latin typeface="+mn-lt"/>
                <a:ea typeface="微软雅黑" panose="020B0503020204020204" pitchFamily="34" charset="-122"/>
              </a:rPr>
              <a:t>[</a:t>
            </a:r>
            <a:r>
              <a:rPr kumimoji="1" lang="en-US" altLang="zh-CN" sz="2800" b="0" dirty="0">
                <a:latin typeface="+mn-lt"/>
                <a:ea typeface="微软雅黑" panose="020B0503020204020204" pitchFamily="34" charset="-122"/>
                <a:sym typeface="Symbol" panose="05050102010706020507" pitchFamily="18" charset="2"/>
              </a:rPr>
              <a:t> </a:t>
            </a:r>
            <a:r>
              <a:rPr kumimoji="1" lang="en-US" altLang="zh-CN" sz="2800" b="0" i="0" dirty="0">
                <a:latin typeface="+mn-lt"/>
                <a:ea typeface="微软雅黑" panose="020B0503020204020204" pitchFamily="34" charset="-122"/>
              </a:rPr>
              <a:t>]</a:t>
            </a:r>
            <a:r>
              <a:rPr kumimoji="1" lang="zh-CN" altLang="en-US" sz="2800" b="0" i="0" dirty="0">
                <a:latin typeface="+mn-lt"/>
                <a:ea typeface="微软雅黑" panose="020B0503020204020204" pitchFamily="34" charset="-122"/>
              </a:rPr>
              <a:t>＝（</a:t>
            </a:r>
            <a:r>
              <a:rPr kumimoji="1" lang="en-US" altLang="zh-CN" sz="2800" b="0" i="0" dirty="0">
                <a:latin typeface="+mn-lt"/>
                <a:ea typeface="微软雅黑" panose="020B0503020204020204" pitchFamily="34" charset="-122"/>
              </a:rPr>
              <a:t>0.6</a:t>
            </a:r>
            <a:r>
              <a:rPr kumimoji="1" lang="zh-CN" altLang="en-US" sz="2800" b="0" i="0" dirty="0">
                <a:latin typeface="+mn-lt"/>
                <a:ea typeface="微软雅黑" panose="020B0503020204020204" pitchFamily="34" charset="-122"/>
              </a:rPr>
              <a:t>～</a:t>
            </a:r>
            <a:r>
              <a:rPr kumimoji="1" lang="en-US" altLang="zh-CN" sz="2800" b="0" i="0" dirty="0">
                <a:latin typeface="+mn-lt"/>
                <a:ea typeface="微软雅黑" panose="020B0503020204020204" pitchFamily="34" charset="-122"/>
              </a:rPr>
              <a:t>0.8</a:t>
            </a:r>
            <a:r>
              <a:rPr kumimoji="1" lang="zh-CN" altLang="en-US" sz="2800" b="0" i="0" dirty="0">
                <a:latin typeface="+mn-lt"/>
                <a:ea typeface="微软雅黑" panose="020B0503020204020204" pitchFamily="34" charset="-122"/>
              </a:rPr>
              <a:t>）</a:t>
            </a:r>
            <a:r>
              <a:rPr kumimoji="1" lang="en-US" altLang="zh-CN" sz="2800" b="0" i="0" dirty="0">
                <a:latin typeface="+mn-lt"/>
                <a:ea typeface="微软雅黑" panose="020B0503020204020204" pitchFamily="34" charset="-122"/>
              </a:rPr>
              <a:t>[</a:t>
            </a:r>
            <a:r>
              <a:rPr kumimoji="1" lang="en-US" altLang="zh-CN" sz="2800" b="0" dirty="0">
                <a:latin typeface="+mn-lt"/>
                <a:ea typeface="微软雅黑" panose="020B0503020204020204" pitchFamily="34" charset="-122"/>
                <a:sym typeface="Symbol" panose="05050102010706020507" pitchFamily="18" charset="2"/>
              </a:rPr>
              <a:t> </a:t>
            </a:r>
            <a:r>
              <a:rPr kumimoji="1" lang="en-US" altLang="zh-CN" sz="2800" b="0" i="0" dirty="0">
                <a:latin typeface="+mn-lt"/>
                <a:ea typeface="微软雅黑" panose="020B0503020204020204" pitchFamily="34" charset="-122"/>
              </a:rPr>
              <a:t>]</a:t>
            </a:r>
          </a:p>
          <a:p>
            <a:pPr lvl="0">
              <a:lnSpc>
                <a:spcPct val="130000"/>
              </a:lnSpc>
            </a:pPr>
            <a:r>
              <a:rPr kumimoji="1" lang="en-US" altLang="zh-CN" sz="2800" i="0" dirty="0">
                <a:latin typeface="+mn-lt"/>
                <a:ea typeface="微软雅黑" panose="020B0503020204020204" pitchFamily="34" charset="-122"/>
              </a:rPr>
              <a:t>       </a:t>
            </a:r>
            <a:r>
              <a:rPr kumimoji="1" lang="zh-CN" altLang="en-US" sz="2800" i="0" dirty="0">
                <a:latin typeface="+mn-lt"/>
                <a:ea typeface="微软雅黑" panose="020B0503020204020204" pitchFamily="34" charset="-122"/>
              </a:rPr>
              <a:t>脆性材料：</a:t>
            </a:r>
            <a:r>
              <a:rPr kumimoji="1" lang="en-US" altLang="zh-CN" sz="2800" b="0" i="0" dirty="0">
                <a:latin typeface="+mn-lt"/>
                <a:ea typeface="微软雅黑" panose="020B0503020204020204" pitchFamily="34" charset="-122"/>
              </a:rPr>
              <a:t>[</a:t>
            </a:r>
            <a:r>
              <a:rPr kumimoji="1" lang="en-US" altLang="zh-CN" sz="2800" b="0" dirty="0">
                <a:latin typeface="+mn-lt"/>
                <a:ea typeface="微软雅黑" panose="020B0503020204020204" pitchFamily="34" charset="-122"/>
                <a:sym typeface="Symbol" panose="05050102010706020507" pitchFamily="18" charset="2"/>
              </a:rPr>
              <a:t> </a:t>
            </a:r>
            <a:r>
              <a:rPr kumimoji="1" lang="en-US" altLang="zh-CN" sz="2800" b="0" i="0" dirty="0">
                <a:latin typeface="+mn-lt"/>
                <a:ea typeface="微软雅黑" panose="020B0503020204020204" pitchFamily="34" charset="-122"/>
              </a:rPr>
              <a:t>]</a:t>
            </a:r>
            <a:r>
              <a:rPr kumimoji="1" lang="zh-CN" altLang="en-US" sz="2800" b="0" i="0" dirty="0">
                <a:latin typeface="+mn-lt"/>
                <a:ea typeface="微软雅黑" panose="020B0503020204020204" pitchFamily="34" charset="-122"/>
              </a:rPr>
              <a:t>＝（</a:t>
            </a:r>
            <a:r>
              <a:rPr kumimoji="1" lang="en-US" altLang="zh-CN" sz="2800" b="0" i="0" dirty="0">
                <a:latin typeface="+mn-lt"/>
                <a:ea typeface="微软雅黑" panose="020B0503020204020204" pitchFamily="34" charset="-122"/>
              </a:rPr>
              <a:t>0.8</a:t>
            </a:r>
            <a:r>
              <a:rPr kumimoji="1" lang="zh-CN" altLang="en-US" sz="2800" b="0" i="0" dirty="0">
                <a:latin typeface="+mn-lt"/>
                <a:ea typeface="微软雅黑" panose="020B0503020204020204" pitchFamily="34" charset="-122"/>
              </a:rPr>
              <a:t>～</a:t>
            </a:r>
            <a:r>
              <a:rPr kumimoji="1" lang="en-US" altLang="zh-CN" sz="2800" b="0" i="0" dirty="0">
                <a:latin typeface="+mn-lt"/>
                <a:ea typeface="微软雅黑" panose="020B0503020204020204" pitchFamily="34" charset="-122"/>
              </a:rPr>
              <a:t>1.0</a:t>
            </a:r>
            <a:r>
              <a:rPr kumimoji="1" lang="zh-CN" altLang="en-US" sz="2800" b="0" i="0" dirty="0">
                <a:latin typeface="+mn-lt"/>
                <a:ea typeface="微软雅黑" panose="020B0503020204020204" pitchFamily="34" charset="-122"/>
              </a:rPr>
              <a:t>）</a:t>
            </a:r>
            <a:r>
              <a:rPr kumimoji="1" lang="en-US" altLang="zh-CN" sz="2800" b="0" i="0" dirty="0">
                <a:latin typeface="+mn-lt"/>
                <a:ea typeface="微软雅黑" panose="020B0503020204020204" pitchFamily="34" charset="-122"/>
              </a:rPr>
              <a:t>[</a:t>
            </a:r>
            <a:r>
              <a:rPr kumimoji="1" lang="en-US" altLang="zh-CN" sz="2800" b="0" dirty="0">
                <a:latin typeface="+mn-lt"/>
                <a:ea typeface="微软雅黑" panose="020B0503020204020204" pitchFamily="34" charset="-122"/>
                <a:sym typeface="Symbol" panose="05050102010706020507" pitchFamily="18" charset="2"/>
              </a:rPr>
              <a:t> </a:t>
            </a:r>
            <a:r>
              <a:rPr kumimoji="1" lang="en-US" altLang="zh-CN" sz="2800" b="0" i="0" dirty="0">
                <a:latin typeface="+mn-lt"/>
                <a:ea typeface="微软雅黑" panose="020B0503020204020204" pitchFamily="34" charset="-122"/>
              </a:rPr>
              <a:t>]</a:t>
            </a:r>
            <a:endParaRPr kumimoji="1" lang="zh-CN" altLang="en-US" sz="2800" b="0" i="0" dirty="0">
              <a:latin typeface="+mn-lt"/>
              <a:ea typeface="微软雅黑" panose="020B0503020204020204" pitchFamily="34" charset="-122"/>
            </a:endParaRPr>
          </a:p>
        </p:txBody>
      </p:sp>
    </p:spTree>
    <p:extLst>
      <p:ext uri="{BB962C8B-B14F-4D97-AF65-F5344CB8AC3E}">
        <p14:creationId xmlns:p14="http://schemas.microsoft.com/office/powerpoint/2010/main" val="1969907586"/>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left)">
                                      <p:cBhvr>
                                        <p:cTn id="11" dur="5000"/>
                                        <p:tgtEl>
                                          <p:spTgt spid="5"/>
                                        </p:tgtEl>
                                      </p:cBhvr>
                                    </p:animEffect>
                                  </p:childTnLst>
                                  <p:subTnLst>
                                    <p:audio>
                                      <p:cMediaNode>
                                        <p:cTn display="0" masterRel="sameClick">
                                          <p:stCondLst>
                                            <p:cond evt="begin" delay="0">
                                              <p:tn val="9"/>
                                            </p:cond>
                                          </p:stCondLst>
                                          <p:endCondLst>
                                            <p:cond evt="onStopAudio" delay="0">
                                              <p:tgtEl>
                                                <p:sldTgt/>
                                              </p:tgtEl>
                                            </p:cond>
                                          </p:endCondLst>
                                        </p:cTn>
                                        <p:tgtEl>
                                          <p:sndTgt r:embed="rId3" name="CAMERA.WAV"/>
                                        </p:tgtEl>
                                      </p:cMediaNode>
                                    </p:audio>
                                  </p:sub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499"/>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utoUpdateAnimBg="0"/>
      <p:bldP spid="16" grpId="0" autoUpdateAnimBg="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711605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第八章   拉压、剪切与挤压的强度计算</a:t>
            </a:r>
          </a:p>
        </p:txBody>
      </p:sp>
      <p:sp>
        <p:nvSpPr>
          <p:cNvPr id="6" name="矩形 5">
            <a:extLst>
              <a:ext uri="{FF2B5EF4-FFF2-40B4-BE49-F238E27FC236}">
                <a16:creationId xmlns:a16="http://schemas.microsoft.com/office/drawing/2014/main" id="{8A892F5C-7536-F031-6CD4-1C9902B467DE}"/>
              </a:ext>
            </a:extLst>
          </p:cNvPr>
          <p:cNvSpPr/>
          <p:nvPr/>
        </p:nvSpPr>
        <p:spPr>
          <a:xfrm>
            <a:off x="4189853" y="834473"/>
            <a:ext cx="2991525" cy="599331"/>
          </a:xfrm>
          <a:prstGeom prst="rect">
            <a:avLst/>
          </a:prstGeom>
        </p:spPr>
        <p:txBody>
          <a:bodyPr wrap="none">
            <a:spAutoFit/>
          </a:bodyPr>
          <a:lstStyle/>
          <a:p>
            <a:pPr>
              <a:lnSpc>
                <a:spcPct val="120000"/>
              </a:lnSpc>
            </a:pPr>
            <a:r>
              <a:rPr lang="zh-CN" altLang="en-US" sz="3000" i="0" dirty="0">
                <a:solidFill>
                  <a:srgbClr val="4F81BD"/>
                </a:solidFill>
                <a:latin typeface="微软雅黑" panose="020B0503020204020204" pitchFamily="34" charset="-122"/>
                <a:ea typeface="微软雅黑" panose="020B0503020204020204" pitchFamily="34" charset="-122"/>
              </a:rPr>
              <a:t>挤压的实用计算 </a:t>
            </a:r>
          </a:p>
        </p:txBody>
      </p:sp>
      <p:sp>
        <p:nvSpPr>
          <p:cNvPr id="9" name="Text Box 1032">
            <a:extLst>
              <a:ext uri="{FF2B5EF4-FFF2-40B4-BE49-F238E27FC236}">
                <a16:creationId xmlns:a16="http://schemas.microsoft.com/office/drawing/2014/main" id="{5B910DD4-CBB7-A521-D69D-247EA7B635CC}"/>
              </a:ext>
            </a:extLst>
          </p:cNvPr>
          <p:cNvSpPr txBox="1">
            <a:spLocks noChangeArrowheads="1"/>
          </p:cNvSpPr>
          <p:nvPr/>
        </p:nvSpPr>
        <p:spPr bwMode="auto">
          <a:xfrm>
            <a:off x="695399" y="1172935"/>
            <a:ext cx="11161239" cy="3194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lnSpc>
                <a:spcPct val="120000"/>
              </a:lnSpc>
            </a:pPr>
            <a:r>
              <a:rPr kumimoji="1" lang="zh-CN" altLang="en-US" sz="2800" i="0" dirty="0">
                <a:solidFill>
                  <a:srgbClr val="FF00FF"/>
                </a:solidFill>
                <a:latin typeface="+mn-lt"/>
                <a:ea typeface="微软雅黑" panose="020B0503020204020204" pitchFamily="34" charset="-122"/>
              </a:rPr>
              <a:t>挤压的概念</a:t>
            </a:r>
            <a:endParaRPr kumimoji="1" lang="en-US" altLang="zh-CN" sz="2800" i="0" dirty="0">
              <a:solidFill>
                <a:srgbClr val="FF00FF"/>
              </a:solidFill>
              <a:latin typeface="+mn-lt"/>
              <a:ea typeface="微软雅黑" panose="020B0503020204020204" pitchFamily="34" charset="-122"/>
            </a:endParaRPr>
          </a:p>
          <a:p>
            <a:pPr algn="just">
              <a:lnSpc>
                <a:spcPct val="120000"/>
              </a:lnSpc>
            </a:pPr>
            <a:r>
              <a:rPr kumimoji="1" lang="zh-CN" altLang="en-US" sz="2800" i="0" dirty="0">
                <a:latin typeface="+mn-lt"/>
                <a:ea typeface="微软雅黑" panose="020B0503020204020204" pitchFamily="34" charset="-122"/>
              </a:rPr>
              <a:t>联接件在发生剪切变形的同时，它与被联接件传力的接触面上将受到较大的压力作用，从而出现局部变形，这种现象称为</a:t>
            </a:r>
            <a:r>
              <a:rPr kumimoji="1" lang="zh-CN" altLang="en-US" sz="2800" i="0" dirty="0">
                <a:solidFill>
                  <a:srgbClr val="FF00FF"/>
                </a:solidFill>
                <a:latin typeface="+mn-lt"/>
                <a:ea typeface="微软雅黑" panose="020B0503020204020204" pitchFamily="34" charset="-122"/>
              </a:rPr>
              <a:t>挤压</a:t>
            </a:r>
            <a:r>
              <a:rPr kumimoji="1" lang="zh-CN" altLang="en-US" sz="2800" i="0" dirty="0">
                <a:latin typeface="+mn-lt"/>
                <a:ea typeface="微软雅黑" panose="020B0503020204020204" pitchFamily="34" charset="-122"/>
              </a:rPr>
              <a:t>。</a:t>
            </a:r>
            <a:endParaRPr kumimoji="1" lang="en-US" altLang="zh-CN" sz="2800" i="0" dirty="0">
              <a:latin typeface="+mn-lt"/>
              <a:ea typeface="微软雅黑" panose="020B0503020204020204" pitchFamily="34" charset="-122"/>
            </a:endParaRPr>
          </a:p>
          <a:p>
            <a:pPr algn="just">
              <a:lnSpc>
                <a:spcPct val="120000"/>
              </a:lnSpc>
            </a:pPr>
            <a:r>
              <a:rPr kumimoji="1" lang="zh-CN" altLang="en-US" sz="2800" i="0" dirty="0">
                <a:ea typeface="微软雅黑" panose="020B0503020204020204" pitchFamily="34" charset="-122"/>
              </a:rPr>
              <a:t>图中上钢板孔左侧与铆钉上部左侧相互挤压。发生挤压的接触面称为挤压面。挤压面上的压力称为</a:t>
            </a:r>
            <a:r>
              <a:rPr kumimoji="1" lang="zh-CN" altLang="en-US" sz="2800" i="0" dirty="0">
                <a:solidFill>
                  <a:srgbClr val="FF00FF"/>
                </a:solidFill>
                <a:ea typeface="微软雅黑" panose="020B0503020204020204" pitchFamily="34" charset="-122"/>
              </a:rPr>
              <a:t>挤压力</a:t>
            </a:r>
            <a:r>
              <a:rPr kumimoji="1" lang="en-US" altLang="zh-CN" sz="2800" b="0" dirty="0" err="1">
                <a:solidFill>
                  <a:srgbClr val="FF00FF"/>
                </a:solidFill>
                <a:ea typeface="微软雅黑" panose="020B0503020204020204" pitchFamily="34" charset="-122"/>
              </a:rPr>
              <a:t>F</a:t>
            </a:r>
            <a:r>
              <a:rPr kumimoji="1" lang="en-US" altLang="zh-CN" sz="2800" b="0" i="0" baseline="-25000" dirty="0" err="1">
                <a:solidFill>
                  <a:srgbClr val="FF00FF"/>
                </a:solidFill>
                <a:ea typeface="微软雅黑" panose="020B0503020204020204" pitchFamily="34" charset="-122"/>
              </a:rPr>
              <a:t>jy</a:t>
            </a:r>
            <a:r>
              <a:rPr kumimoji="1" lang="zh-CN" altLang="en-US" sz="2800" i="0" dirty="0">
                <a:ea typeface="微软雅黑" panose="020B0503020204020204" pitchFamily="34" charset="-122"/>
              </a:rPr>
              <a:t>，相应的应力称为</a:t>
            </a:r>
            <a:r>
              <a:rPr kumimoji="1" lang="zh-CN" altLang="en-US" sz="2800" i="0" dirty="0">
                <a:solidFill>
                  <a:srgbClr val="FF00FF"/>
                </a:solidFill>
                <a:ea typeface="微软雅黑" panose="020B0503020204020204" pitchFamily="34" charset="-122"/>
              </a:rPr>
              <a:t>挤压应力</a:t>
            </a:r>
            <a:r>
              <a:rPr kumimoji="1" lang="zh-CN" altLang="en-US" sz="2800" b="0" dirty="0">
                <a:solidFill>
                  <a:srgbClr val="FF00FF"/>
                </a:solidFill>
                <a:ea typeface="微软雅黑" panose="020B0503020204020204" pitchFamily="34" charset="-122"/>
                <a:sym typeface="Symbol" panose="05050102010706020507" pitchFamily="18" charset="2"/>
              </a:rPr>
              <a:t></a:t>
            </a:r>
            <a:r>
              <a:rPr kumimoji="1" lang="en-US" altLang="zh-CN" sz="2800" b="0" i="0" baseline="-25000" dirty="0" err="1">
                <a:solidFill>
                  <a:srgbClr val="FF00FF"/>
                </a:solidFill>
                <a:ea typeface="微软雅黑" panose="020B0503020204020204" pitchFamily="34" charset="-122"/>
              </a:rPr>
              <a:t>jy</a:t>
            </a:r>
            <a:r>
              <a:rPr kumimoji="1" lang="zh-CN" altLang="en-US" sz="2800" i="0" dirty="0">
                <a:ea typeface="微软雅黑" panose="020B0503020204020204" pitchFamily="34" charset="-122"/>
              </a:rPr>
              <a:t>。 </a:t>
            </a:r>
          </a:p>
          <a:p>
            <a:pPr algn="just">
              <a:lnSpc>
                <a:spcPct val="120000"/>
              </a:lnSpc>
            </a:pPr>
            <a:endParaRPr kumimoji="1" lang="zh-CN" altLang="en-US" sz="2800" i="0" dirty="0">
              <a:latin typeface="+mn-lt"/>
              <a:ea typeface="微软雅黑" panose="020B0503020204020204" pitchFamily="34" charset="-122"/>
            </a:endParaRPr>
          </a:p>
        </p:txBody>
      </p:sp>
      <p:sp>
        <p:nvSpPr>
          <p:cNvPr id="10" name="Rectangle 61">
            <a:extLst>
              <a:ext uri="{FF2B5EF4-FFF2-40B4-BE49-F238E27FC236}">
                <a16:creationId xmlns:a16="http://schemas.microsoft.com/office/drawing/2014/main" id="{A7BABA33-6C6E-5172-113C-D7F1D8E457C6}"/>
              </a:ext>
            </a:extLst>
          </p:cNvPr>
          <p:cNvSpPr>
            <a:spLocks noChangeArrowheads="1"/>
          </p:cNvSpPr>
          <p:nvPr/>
        </p:nvSpPr>
        <p:spPr bwMode="auto">
          <a:xfrm>
            <a:off x="839416" y="3802058"/>
            <a:ext cx="11017222" cy="2447940"/>
          </a:xfrm>
          <a:prstGeom prst="rect">
            <a:avLst/>
          </a:prstGeom>
          <a:solidFill>
            <a:srgbClr val="B9CDE5"/>
          </a:solidFill>
          <a:ln>
            <a:noFill/>
          </a:ln>
          <a:effectLst/>
        </p:spPr>
        <p:txBody>
          <a:bodyPr wrap="none" anchor="ctr"/>
          <a:lstStyle/>
          <a:p>
            <a:endParaRPr lang="zh-CN" altLang="en-US" dirty="0"/>
          </a:p>
        </p:txBody>
      </p:sp>
      <p:grpSp>
        <p:nvGrpSpPr>
          <p:cNvPr id="41" name="Group 12">
            <a:extLst>
              <a:ext uri="{FF2B5EF4-FFF2-40B4-BE49-F238E27FC236}">
                <a16:creationId xmlns:a16="http://schemas.microsoft.com/office/drawing/2014/main" id="{29F61703-9EBC-C326-6BC8-208C2A2FA0C4}"/>
              </a:ext>
            </a:extLst>
          </p:cNvPr>
          <p:cNvGrpSpPr>
            <a:grpSpLocks/>
          </p:cNvGrpSpPr>
          <p:nvPr/>
        </p:nvGrpSpPr>
        <p:grpSpPr bwMode="auto">
          <a:xfrm>
            <a:off x="1669093" y="3883020"/>
            <a:ext cx="9144000" cy="2347913"/>
            <a:chOff x="0" y="2158"/>
            <a:chExt cx="5760" cy="1479"/>
          </a:xfrm>
        </p:grpSpPr>
        <p:sp>
          <p:nvSpPr>
            <p:cNvPr id="88" name="Rectangle 13">
              <a:extLst>
                <a:ext uri="{FF2B5EF4-FFF2-40B4-BE49-F238E27FC236}">
                  <a16:creationId xmlns:a16="http://schemas.microsoft.com/office/drawing/2014/main" id="{306A6CB1-71D6-042B-D3CB-FAE2B18A8550}"/>
                </a:ext>
              </a:extLst>
            </p:cNvPr>
            <p:cNvSpPr>
              <a:spLocks noChangeAspect="1" noChangeArrowheads="1"/>
            </p:cNvSpPr>
            <p:nvPr/>
          </p:nvSpPr>
          <p:spPr bwMode="auto">
            <a:xfrm>
              <a:off x="0" y="2158"/>
              <a:ext cx="5760" cy="1479"/>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CC"/>
                </a:solidFill>
                <a:effectLst/>
                <a:uLnTx/>
                <a:uFillTx/>
                <a:latin typeface="Times New Roman" panose="02020603050405020304" pitchFamily="18" charset="0"/>
                <a:ea typeface="黑体" panose="02010609060101010101" pitchFamily="49" charset="-122"/>
              </a:endParaRPr>
            </a:p>
          </p:txBody>
        </p:sp>
        <p:sp>
          <p:nvSpPr>
            <p:cNvPr id="89" name="Oval 14">
              <a:extLst>
                <a:ext uri="{FF2B5EF4-FFF2-40B4-BE49-F238E27FC236}">
                  <a16:creationId xmlns:a16="http://schemas.microsoft.com/office/drawing/2014/main" id="{BC2BE528-97AA-F69F-C4DE-51323CBF5C2D}"/>
                </a:ext>
              </a:extLst>
            </p:cNvPr>
            <p:cNvSpPr>
              <a:spLocks noChangeAspect="1" noChangeArrowheads="1"/>
            </p:cNvSpPr>
            <p:nvPr/>
          </p:nvSpPr>
          <p:spPr bwMode="auto">
            <a:xfrm>
              <a:off x="1575" y="2367"/>
              <a:ext cx="322" cy="215"/>
            </a:xfrm>
            <a:prstGeom prst="ellipse">
              <a:avLst/>
            </a:prstGeom>
            <a:gradFill rotWithShape="0">
              <a:gsLst>
                <a:gs pos="0">
                  <a:srgbClr val="969696"/>
                </a:gs>
                <a:gs pos="50000">
                  <a:srgbClr val="F8F8F8"/>
                </a:gs>
                <a:gs pos="100000">
                  <a:srgbClr val="969696"/>
                </a:gs>
              </a:gsLst>
              <a:lin ang="0" scaled="1"/>
            </a:gradFill>
            <a:ln w="28575" algn="ctr">
              <a:solidFill>
                <a:srgbClr val="000000"/>
              </a:solidFill>
              <a:round/>
              <a:headEnd/>
              <a:tailEnd/>
            </a:ln>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CC"/>
                </a:solidFill>
                <a:effectLst/>
                <a:uLnTx/>
                <a:uFillTx/>
                <a:latin typeface="Times New Roman" panose="02020603050405020304" pitchFamily="18" charset="0"/>
                <a:ea typeface="黑体" panose="02010609060101010101" pitchFamily="49" charset="-122"/>
              </a:endParaRPr>
            </a:p>
          </p:txBody>
        </p:sp>
        <p:sp>
          <p:nvSpPr>
            <p:cNvPr id="90" name="Oval 15">
              <a:extLst>
                <a:ext uri="{FF2B5EF4-FFF2-40B4-BE49-F238E27FC236}">
                  <a16:creationId xmlns:a16="http://schemas.microsoft.com/office/drawing/2014/main" id="{DEFC6290-0BB5-68A9-04C2-AAF25614A13E}"/>
                </a:ext>
              </a:extLst>
            </p:cNvPr>
            <p:cNvSpPr>
              <a:spLocks noChangeAspect="1" noChangeArrowheads="1"/>
            </p:cNvSpPr>
            <p:nvPr/>
          </p:nvSpPr>
          <p:spPr bwMode="auto">
            <a:xfrm>
              <a:off x="1575" y="2959"/>
              <a:ext cx="322" cy="216"/>
            </a:xfrm>
            <a:prstGeom prst="ellipse">
              <a:avLst/>
            </a:prstGeom>
            <a:gradFill rotWithShape="0">
              <a:gsLst>
                <a:gs pos="0">
                  <a:srgbClr val="969696"/>
                </a:gs>
                <a:gs pos="50000">
                  <a:srgbClr val="F8F8F8"/>
                </a:gs>
                <a:gs pos="100000">
                  <a:srgbClr val="969696"/>
                </a:gs>
              </a:gsLst>
              <a:lin ang="0" scaled="1"/>
            </a:gradFill>
            <a:ln w="28575" algn="ctr">
              <a:solidFill>
                <a:srgbClr val="000000"/>
              </a:solidFill>
              <a:round/>
              <a:headEnd/>
              <a:tailEnd/>
            </a:ln>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CC"/>
                </a:solidFill>
                <a:effectLst/>
                <a:uLnTx/>
                <a:uFillTx/>
                <a:latin typeface="Times New Roman" panose="02020603050405020304" pitchFamily="18" charset="0"/>
                <a:ea typeface="黑体" panose="02010609060101010101" pitchFamily="49" charset="-122"/>
              </a:endParaRPr>
            </a:p>
          </p:txBody>
        </p:sp>
        <p:sp>
          <p:nvSpPr>
            <p:cNvPr id="91" name="Rectangle 16" descr="宽下对角线">
              <a:extLst>
                <a:ext uri="{FF2B5EF4-FFF2-40B4-BE49-F238E27FC236}">
                  <a16:creationId xmlns:a16="http://schemas.microsoft.com/office/drawing/2014/main" id="{013B626A-4168-F36B-6BB3-42F013711D67}"/>
                </a:ext>
              </a:extLst>
            </p:cNvPr>
            <p:cNvSpPr>
              <a:spLocks noChangeAspect="1" noChangeArrowheads="1"/>
            </p:cNvSpPr>
            <p:nvPr/>
          </p:nvSpPr>
          <p:spPr bwMode="auto">
            <a:xfrm>
              <a:off x="1233" y="2493"/>
              <a:ext cx="1401" cy="287"/>
            </a:xfrm>
            <a:prstGeom prst="rect">
              <a:avLst/>
            </a:prstGeom>
            <a:pattFill prst="wdDnDiag">
              <a:fgClr>
                <a:srgbClr val="000000"/>
              </a:fgClr>
              <a:bgClr>
                <a:srgbClr val="FFCC00"/>
              </a:bgClr>
            </a:pattFill>
            <a:ln w="28575">
              <a:solidFill>
                <a:srgbClr val="000000"/>
              </a:solidFill>
              <a:miter lim="800000"/>
              <a:headEnd/>
              <a:tailEnd/>
            </a:ln>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CC"/>
                </a:solidFill>
                <a:effectLst/>
                <a:uLnTx/>
                <a:uFillTx/>
                <a:latin typeface="Times New Roman" panose="02020603050405020304" pitchFamily="18" charset="0"/>
                <a:ea typeface="黑体" panose="02010609060101010101" pitchFamily="49" charset="-122"/>
              </a:endParaRPr>
            </a:p>
          </p:txBody>
        </p:sp>
        <p:sp>
          <p:nvSpPr>
            <p:cNvPr id="92" name="Rectangle 17" descr="宽上对角线">
              <a:extLst>
                <a:ext uri="{FF2B5EF4-FFF2-40B4-BE49-F238E27FC236}">
                  <a16:creationId xmlns:a16="http://schemas.microsoft.com/office/drawing/2014/main" id="{EF0EA451-2B51-0BFF-C6C9-297AC3D8F6BB}"/>
                </a:ext>
              </a:extLst>
            </p:cNvPr>
            <p:cNvSpPr>
              <a:spLocks noChangeAspect="1" noChangeArrowheads="1"/>
            </p:cNvSpPr>
            <p:nvPr/>
          </p:nvSpPr>
          <p:spPr bwMode="auto">
            <a:xfrm>
              <a:off x="785" y="2780"/>
              <a:ext cx="1399" cy="287"/>
            </a:xfrm>
            <a:prstGeom prst="rect">
              <a:avLst/>
            </a:prstGeom>
            <a:pattFill prst="wdUpDiag">
              <a:fgClr>
                <a:srgbClr val="000000"/>
              </a:fgClr>
              <a:bgClr>
                <a:srgbClr val="FFCC00"/>
              </a:bgClr>
            </a:pattFill>
            <a:ln w="28575">
              <a:solidFill>
                <a:srgbClr val="000000"/>
              </a:solidFill>
              <a:miter lim="800000"/>
              <a:headEnd/>
              <a:tailEnd/>
            </a:ln>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CC"/>
                </a:solidFill>
                <a:effectLst/>
                <a:uLnTx/>
                <a:uFillTx/>
                <a:latin typeface="Times New Roman" panose="02020603050405020304" pitchFamily="18" charset="0"/>
                <a:ea typeface="黑体" panose="02010609060101010101" pitchFamily="49" charset="-122"/>
              </a:endParaRPr>
            </a:p>
          </p:txBody>
        </p:sp>
        <p:sp>
          <p:nvSpPr>
            <p:cNvPr id="93" name="Rectangle 18">
              <a:extLst>
                <a:ext uri="{FF2B5EF4-FFF2-40B4-BE49-F238E27FC236}">
                  <a16:creationId xmlns:a16="http://schemas.microsoft.com/office/drawing/2014/main" id="{55352FD8-2AA6-2493-80F5-389BFEFCE786}"/>
                </a:ext>
              </a:extLst>
            </p:cNvPr>
            <p:cNvSpPr>
              <a:spLocks noChangeAspect="1" noChangeArrowheads="1"/>
            </p:cNvSpPr>
            <p:nvPr/>
          </p:nvSpPr>
          <p:spPr bwMode="auto">
            <a:xfrm>
              <a:off x="1610" y="2493"/>
              <a:ext cx="252" cy="574"/>
            </a:xfrm>
            <a:prstGeom prst="rect">
              <a:avLst/>
            </a:prstGeom>
            <a:gradFill rotWithShape="0">
              <a:gsLst>
                <a:gs pos="0">
                  <a:srgbClr val="969696"/>
                </a:gs>
                <a:gs pos="50000">
                  <a:srgbClr val="F8F8F8"/>
                </a:gs>
                <a:gs pos="100000">
                  <a:srgbClr val="969696"/>
                </a:gs>
              </a:gsLst>
              <a:lin ang="0" scaled="1"/>
            </a:gradFill>
            <a:ln w="28575">
              <a:solidFill>
                <a:srgbClr val="000000"/>
              </a:solidFill>
              <a:miter lim="800000"/>
              <a:headEnd/>
              <a:tailEnd/>
            </a:ln>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CC"/>
                </a:solidFill>
                <a:effectLst/>
                <a:uLnTx/>
                <a:uFillTx/>
                <a:latin typeface="Times New Roman" panose="02020603050405020304" pitchFamily="18" charset="0"/>
                <a:ea typeface="黑体" panose="02010609060101010101" pitchFamily="49" charset="-122"/>
              </a:endParaRPr>
            </a:p>
          </p:txBody>
        </p:sp>
        <p:sp>
          <p:nvSpPr>
            <p:cNvPr id="94" name="Line 19">
              <a:extLst>
                <a:ext uri="{FF2B5EF4-FFF2-40B4-BE49-F238E27FC236}">
                  <a16:creationId xmlns:a16="http://schemas.microsoft.com/office/drawing/2014/main" id="{81D07B0A-2BB6-491E-CF71-ADB3C32642C8}"/>
                </a:ext>
              </a:extLst>
            </p:cNvPr>
            <p:cNvSpPr>
              <a:spLocks noChangeAspect="1" noChangeShapeType="1"/>
            </p:cNvSpPr>
            <p:nvPr/>
          </p:nvSpPr>
          <p:spPr bwMode="auto">
            <a:xfrm>
              <a:off x="2634" y="2636"/>
              <a:ext cx="645" cy="0"/>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sp>
          <p:nvSpPr>
            <p:cNvPr id="95" name="Text Box 20">
              <a:extLst>
                <a:ext uri="{FF2B5EF4-FFF2-40B4-BE49-F238E27FC236}">
                  <a16:creationId xmlns:a16="http://schemas.microsoft.com/office/drawing/2014/main" id="{303E38F7-FAA5-FDE1-6D23-4728A4CAE093}"/>
                </a:ext>
              </a:extLst>
            </p:cNvPr>
            <p:cNvSpPr txBox="1">
              <a:spLocks noChangeAspect="1" noChangeArrowheads="1"/>
            </p:cNvSpPr>
            <p:nvPr/>
          </p:nvSpPr>
          <p:spPr bwMode="auto">
            <a:xfrm>
              <a:off x="2883" y="2321"/>
              <a:ext cx="484" cy="3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algn="just" eaLnBrk="1" fontAlgn="auto" hangingPunct="1">
                <a:spcBef>
                  <a:spcPts val="0"/>
                </a:spcBef>
                <a:spcAft>
                  <a:spcPts val="0"/>
                </a:spcAft>
              </a:pPr>
              <a:r>
                <a:rPr lang="en-US" altLang="zh-CN" b="0" kern="0" dirty="0">
                  <a:solidFill>
                    <a:srgbClr val="FF0000"/>
                  </a:solidFill>
                  <a:latin typeface="+mj-lt"/>
                  <a:ea typeface="宋体" panose="02010600030101010101" pitchFamily="2" charset="-122"/>
                </a:rPr>
                <a:t>F</a:t>
              </a:r>
            </a:p>
          </p:txBody>
        </p:sp>
        <p:sp>
          <p:nvSpPr>
            <p:cNvPr id="96" name="Line 21">
              <a:extLst>
                <a:ext uri="{FF2B5EF4-FFF2-40B4-BE49-F238E27FC236}">
                  <a16:creationId xmlns:a16="http://schemas.microsoft.com/office/drawing/2014/main" id="{AB05C7F6-F3D0-BE85-4368-1FB570D1D15F}"/>
                </a:ext>
              </a:extLst>
            </p:cNvPr>
            <p:cNvSpPr>
              <a:spLocks noChangeAspect="1" noChangeShapeType="1"/>
            </p:cNvSpPr>
            <p:nvPr/>
          </p:nvSpPr>
          <p:spPr bwMode="auto">
            <a:xfrm flipH="1">
              <a:off x="157" y="2923"/>
              <a:ext cx="646" cy="0"/>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sp>
          <p:nvSpPr>
            <p:cNvPr id="97" name="Text Box 22">
              <a:extLst>
                <a:ext uri="{FF2B5EF4-FFF2-40B4-BE49-F238E27FC236}">
                  <a16:creationId xmlns:a16="http://schemas.microsoft.com/office/drawing/2014/main" id="{B7F0C671-78E2-F0A9-A8D6-6E02CE9488B8}"/>
                </a:ext>
              </a:extLst>
            </p:cNvPr>
            <p:cNvSpPr txBox="1">
              <a:spLocks noChangeAspect="1" noChangeArrowheads="1"/>
            </p:cNvSpPr>
            <p:nvPr/>
          </p:nvSpPr>
          <p:spPr bwMode="auto">
            <a:xfrm>
              <a:off x="154" y="2631"/>
              <a:ext cx="484" cy="3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FF0000"/>
                  </a:solidFill>
                  <a:effectLst/>
                  <a:uLnTx/>
                  <a:uFillTx/>
                  <a:latin typeface="+mj-lt"/>
                  <a:ea typeface="宋体" panose="02010600030101010101" pitchFamily="2" charset="-122"/>
                </a:rPr>
                <a:t>F</a:t>
              </a:r>
              <a:endParaRPr kumimoji="1" lang="en-US" altLang="zh-CN" sz="2400" b="0" u="none" strike="noStrike" kern="0" cap="none" spc="0" normalizeH="0" baseline="-25000" noProof="0" dirty="0">
                <a:ln>
                  <a:noFill/>
                </a:ln>
                <a:solidFill>
                  <a:srgbClr val="FF0000"/>
                </a:solidFill>
                <a:effectLst/>
                <a:uLnTx/>
                <a:uFillTx/>
                <a:latin typeface="+mj-lt"/>
                <a:ea typeface="宋体" panose="02010600030101010101" pitchFamily="2" charset="-122"/>
              </a:endParaRPr>
            </a:p>
          </p:txBody>
        </p:sp>
        <p:sp>
          <p:nvSpPr>
            <p:cNvPr id="98" name="Line 23">
              <a:extLst>
                <a:ext uri="{FF2B5EF4-FFF2-40B4-BE49-F238E27FC236}">
                  <a16:creationId xmlns:a16="http://schemas.microsoft.com/office/drawing/2014/main" id="{B5A75F83-0DBE-24AC-F809-EADB72F3BA5C}"/>
                </a:ext>
              </a:extLst>
            </p:cNvPr>
            <p:cNvSpPr>
              <a:spLocks noChangeAspect="1" noChangeShapeType="1"/>
            </p:cNvSpPr>
            <p:nvPr/>
          </p:nvSpPr>
          <p:spPr bwMode="auto">
            <a:xfrm>
              <a:off x="2202" y="3067"/>
              <a:ext cx="30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sp>
          <p:nvSpPr>
            <p:cNvPr id="99" name="Line 24">
              <a:extLst>
                <a:ext uri="{FF2B5EF4-FFF2-40B4-BE49-F238E27FC236}">
                  <a16:creationId xmlns:a16="http://schemas.microsoft.com/office/drawing/2014/main" id="{C37D3FED-06BF-FF07-5AFC-04981ECE1837}"/>
                </a:ext>
              </a:extLst>
            </p:cNvPr>
            <p:cNvSpPr>
              <a:spLocks noChangeAspect="1" noChangeShapeType="1"/>
            </p:cNvSpPr>
            <p:nvPr/>
          </p:nvSpPr>
          <p:spPr bwMode="auto">
            <a:xfrm>
              <a:off x="928" y="2493"/>
              <a:ext cx="30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sp>
          <p:nvSpPr>
            <p:cNvPr id="100" name="Text Box 25">
              <a:extLst>
                <a:ext uri="{FF2B5EF4-FFF2-40B4-BE49-F238E27FC236}">
                  <a16:creationId xmlns:a16="http://schemas.microsoft.com/office/drawing/2014/main" id="{1A017107-BF79-BCFD-5E0B-7B3E3B34F05A}"/>
                </a:ext>
              </a:extLst>
            </p:cNvPr>
            <p:cNvSpPr txBox="1">
              <a:spLocks noChangeAspect="1" noChangeArrowheads="1"/>
            </p:cNvSpPr>
            <p:nvPr/>
          </p:nvSpPr>
          <p:spPr bwMode="auto">
            <a:xfrm rot="-5400000">
              <a:off x="763" y="2408"/>
              <a:ext cx="485" cy="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sym typeface="Symbol" panose="05050102010706020507" pitchFamily="18" charset="2"/>
                </a:rPr>
                <a:t> </a:t>
              </a: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sym typeface="Symbol" panose="05050102010706020507" pitchFamily="18" charset="2"/>
                </a:rPr>
                <a:t></a:t>
              </a:r>
            </a:p>
          </p:txBody>
        </p:sp>
        <p:sp>
          <p:nvSpPr>
            <p:cNvPr id="101" name="Text Box 26">
              <a:extLst>
                <a:ext uri="{FF2B5EF4-FFF2-40B4-BE49-F238E27FC236}">
                  <a16:creationId xmlns:a16="http://schemas.microsoft.com/office/drawing/2014/main" id="{55449B5B-31CB-7B84-8C00-7083167B75C6}"/>
                </a:ext>
              </a:extLst>
            </p:cNvPr>
            <p:cNvSpPr txBox="1">
              <a:spLocks noChangeAspect="1" noChangeArrowheads="1"/>
            </p:cNvSpPr>
            <p:nvPr/>
          </p:nvSpPr>
          <p:spPr bwMode="auto">
            <a:xfrm rot="-5400000">
              <a:off x="2144" y="2712"/>
              <a:ext cx="485" cy="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sym typeface="Symbol" panose="05050102010706020507" pitchFamily="18" charset="2"/>
                </a:rPr>
                <a:t> </a:t>
              </a: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sym typeface="Symbol" panose="05050102010706020507" pitchFamily="18" charset="2"/>
                </a:rPr>
                <a:t></a:t>
              </a:r>
            </a:p>
          </p:txBody>
        </p:sp>
        <p:sp>
          <p:nvSpPr>
            <p:cNvPr id="102" name="Line 27">
              <a:extLst>
                <a:ext uri="{FF2B5EF4-FFF2-40B4-BE49-F238E27FC236}">
                  <a16:creationId xmlns:a16="http://schemas.microsoft.com/office/drawing/2014/main" id="{E9A15C1A-B21A-4248-68D2-AA8ED28B0D70}"/>
                </a:ext>
              </a:extLst>
            </p:cNvPr>
            <p:cNvSpPr>
              <a:spLocks noChangeAspect="1" noChangeShapeType="1"/>
            </p:cNvSpPr>
            <p:nvPr/>
          </p:nvSpPr>
          <p:spPr bwMode="auto">
            <a:xfrm>
              <a:off x="1072" y="2493"/>
              <a:ext cx="0" cy="287"/>
            </a:xfrm>
            <a:prstGeom prst="line">
              <a:avLst/>
            </a:prstGeom>
            <a:noFill/>
            <a:ln w="3175">
              <a:solidFill>
                <a:srgbClr val="000000"/>
              </a:solidFill>
              <a:round/>
              <a:headEnd type="stealth" w="sm" len="med"/>
              <a:tailEnd type="stealth" w="sm" len="me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sp>
          <p:nvSpPr>
            <p:cNvPr id="103" name="Line 28">
              <a:extLst>
                <a:ext uri="{FF2B5EF4-FFF2-40B4-BE49-F238E27FC236}">
                  <a16:creationId xmlns:a16="http://schemas.microsoft.com/office/drawing/2014/main" id="{C11B3978-6710-6D8C-DD9D-ECCD085E6BBC}"/>
                </a:ext>
              </a:extLst>
            </p:cNvPr>
            <p:cNvSpPr>
              <a:spLocks noChangeAspect="1" noChangeShapeType="1"/>
            </p:cNvSpPr>
            <p:nvPr/>
          </p:nvSpPr>
          <p:spPr bwMode="auto">
            <a:xfrm flipH="1">
              <a:off x="2453" y="2762"/>
              <a:ext cx="0" cy="305"/>
            </a:xfrm>
            <a:prstGeom prst="line">
              <a:avLst/>
            </a:prstGeom>
            <a:noFill/>
            <a:ln w="3175">
              <a:solidFill>
                <a:srgbClr val="000000"/>
              </a:solidFill>
              <a:round/>
              <a:headEnd type="stealth" w="sm" len="med"/>
              <a:tailEnd type="stealth" w="sm" len="me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sp>
          <p:nvSpPr>
            <p:cNvPr id="104" name="Line 29">
              <a:extLst>
                <a:ext uri="{FF2B5EF4-FFF2-40B4-BE49-F238E27FC236}">
                  <a16:creationId xmlns:a16="http://schemas.microsoft.com/office/drawing/2014/main" id="{21CEE71D-0383-9EE2-0C84-D36EA5FC7F09}"/>
                </a:ext>
              </a:extLst>
            </p:cNvPr>
            <p:cNvSpPr>
              <a:spLocks noChangeAspect="1" noChangeShapeType="1"/>
            </p:cNvSpPr>
            <p:nvPr/>
          </p:nvSpPr>
          <p:spPr bwMode="auto">
            <a:xfrm>
              <a:off x="1628" y="3299"/>
              <a:ext cx="0" cy="23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sp>
          <p:nvSpPr>
            <p:cNvPr id="105" name="Line 30">
              <a:extLst>
                <a:ext uri="{FF2B5EF4-FFF2-40B4-BE49-F238E27FC236}">
                  <a16:creationId xmlns:a16="http://schemas.microsoft.com/office/drawing/2014/main" id="{11A43E63-9C12-CED9-E8C4-0641D1E0DF1A}"/>
                </a:ext>
              </a:extLst>
            </p:cNvPr>
            <p:cNvSpPr>
              <a:spLocks noChangeAspect="1" noChangeShapeType="1"/>
            </p:cNvSpPr>
            <p:nvPr/>
          </p:nvSpPr>
          <p:spPr bwMode="auto">
            <a:xfrm>
              <a:off x="1844" y="3291"/>
              <a:ext cx="0" cy="23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sp>
          <p:nvSpPr>
            <p:cNvPr id="106" name="Line 31">
              <a:extLst>
                <a:ext uri="{FF2B5EF4-FFF2-40B4-BE49-F238E27FC236}">
                  <a16:creationId xmlns:a16="http://schemas.microsoft.com/office/drawing/2014/main" id="{D87F20B9-80B8-33A0-365D-7FCC00FDE915}"/>
                </a:ext>
              </a:extLst>
            </p:cNvPr>
            <p:cNvSpPr>
              <a:spLocks noChangeAspect="1" noChangeShapeType="1"/>
            </p:cNvSpPr>
            <p:nvPr/>
          </p:nvSpPr>
          <p:spPr bwMode="auto">
            <a:xfrm>
              <a:off x="1628" y="3462"/>
              <a:ext cx="216" cy="0"/>
            </a:xfrm>
            <a:prstGeom prst="line">
              <a:avLst/>
            </a:prstGeom>
            <a:noFill/>
            <a:ln w="9525">
              <a:solidFill>
                <a:srgbClr val="000000"/>
              </a:solidFill>
              <a:round/>
              <a:headEnd type="stealth" w="sm" len="sm"/>
              <a:tailEnd type="stealth" w="sm" len="sm"/>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sp>
          <p:nvSpPr>
            <p:cNvPr id="107" name="Text Box 32">
              <a:extLst>
                <a:ext uri="{FF2B5EF4-FFF2-40B4-BE49-F238E27FC236}">
                  <a16:creationId xmlns:a16="http://schemas.microsoft.com/office/drawing/2014/main" id="{139B084C-47D9-CA44-05C1-3291D86E36F7}"/>
                </a:ext>
              </a:extLst>
            </p:cNvPr>
            <p:cNvSpPr txBox="1">
              <a:spLocks noChangeAspect="1" noChangeArrowheads="1"/>
            </p:cNvSpPr>
            <p:nvPr/>
          </p:nvSpPr>
          <p:spPr bwMode="auto">
            <a:xfrm>
              <a:off x="1624" y="3239"/>
              <a:ext cx="413" cy="3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mn-lt"/>
                  <a:ea typeface="宋体" panose="02010600030101010101" pitchFamily="2" charset="-122"/>
                </a:rPr>
                <a:t>d</a:t>
              </a:r>
            </a:p>
          </p:txBody>
        </p:sp>
        <p:sp>
          <p:nvSpPr>
            <p:cNvPr id="108" name="Line 33">
              <a:extLst>
                <a:ext uri="{FF2B5EF4-FFF2-40B4-BE49-F238E27FC236}">
                  <a16:creationId xmlns:a16="http://schemas.microsoft.com/office/drawing/2014/main" id="{4A46CF20-DAEC-39C0-857A-13D45157EC47}"/>
                </a:ext>
              </a:extLst>
            </p:cNvPr>
            <p:cNvSpPr>
              <a:spLocks noChangeAspect="1" noChangeShapeType="1"/>
            </p:cNvSpPr>
            <p:nvPr/>
          </p:nvSpPr>
          <p:spPr bwMode="auto">
            <a:xfrm>
              <a:off x="1736" y="2312"/>
              <a:ext cx="0" cy="1006"/>
            </a:xfrm>
            <a:prstGeom prst="line">
              <a:avLst/>
            </a:prstGeom>
            <a:noFill/>
            <a:ln w="9525">
              <a:solidFill>
                <a:srgbClr val="000000"/>
              </a:solidFill>
              <a:prstDash val="lgDashDot"/>
              <a:round/>
              <a:headEnd/>
              <a:tailE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grpSp>
      <p:graphicFrame>
        <p:nvGraphicFramePr>
          <p:cNvPr id="36" name="Object 4">
            <a:extLst>
              <a:ext uri="{FF2B5EF4-FFF2-40B4-BE49-F238E27FC236}">
                <a16:creationId xmlns:a16="http://schemas.microsoft.com/office/drawing/2014/main" id="{04E2689E-B75C-1BD2-2BFD-CB4EE14BA958}"/>
              </a:ext>
            </a:extLst>
          </p:cNvPr>
          <p:cNvGraphicFramePr>
            <a:graphicFrameLocks noChangeAspect="1"/>
          </p:cNvGraphicFramePr>
          <p:nvPr>
            <p:extLst>
              <p:ext uri="{D42A27DB-BD31-4B8C-83A1-F6EECF244321}">
                <p14:modId xmlns:p14="http://schemas.microsoft.com/office/powerpoint/2010/main" val="1317277611"/>
              </p:ext>
            </p:extLst>
          </p:nvPr>
        </p:nvGraphicFramePr>
        <p:xfrm>
          <a:off x="8028962" y="4531662"/>
          <a:ext cx="942975" cy="712788"/>
        </p:xfrm>
        <a:graphic>
          <a:graphicData uri="http://schemas.openxmlformats.org/presentationml/2006/ole">
            <mc:AlternateContent xmlns:mc="http://schemas.openxmlformats.org/markup-compatibility/2006">
              <mc:Choice xmlns:v="urn:schemas-microsoft-com:vml" Requires="v">
                <p:oleObj name="公式" r:id="rId4" imgW="571320" imgH="431640" progId="Equation.3">
                  <p:embed/>
                </p:oleObj>
              </mc:Choice>
              <mc:Fallback>
                <p:oleObj name="公式" r:id="rId4" imgW="571320" imgH="431640" progId="Equation.3">
                  <p:embed/>
                  <p:pic>
                    <p:nvPicPr>
                      <p:cNvPr id="36" name="Object 4">
                        <a:extLst>
                          <a:ext uri="{FF2B5EF4-FFF2-40B4-BE49-F238E27FC236}">
                            <a16:creationId xmlns:a16="http://schemas.microsoft.com/office/drawing/2014/main" id="{04E2689E-B75C-1BD2-2BFD-CB4EE14BA95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28962" y="4531662"/>
                        <a:ext cx="942975" cy="712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3" name="Freeform 5">
            <a:extLst>
              <a:ext uri="{FF2B5EF4-FFF2-40B4-BE49-F238E27FC236}">
                <a16:creationId xmlns:a16="http://schemas.microsoft.com/office/drawing/2014/main" id="{52ADE8A9-C56D-238B-92DA-3DCB95CD837B}"/>
              </a:ext>
            </a:extLst>
          </p:cNvPr>
          <p:cNvSpPr>
            <a:spLocks/>
          </p:cNvSpPr>
          <p:nvPr/>
        </p:nvSpPr>
        <p:spPr bwMode="auto">
          <a:xfrm>
            <a:off x="7563824" y="4395137"/>
            <a:ext cx="1371600" cy="1547813"/>
          </a:xfrm>
          <a:custGeom>
            <a:avLst/>
            <a:gdLst>
              <a:gd name="T0" fmla="*/ 486 w 864"/>
              <a:gd name="T1" fmla="*/ 6 h 975"/>
              <a:gd name="T2" fmla="*/ 444 w 864"/>
              <a:gd name="T3" fmla="*/ 60 h 975"/>
              <a:gd name="T4" fmla="*/ 366 w 864"/>
              <a:gd name="T5" fmla="*/ 150 h 975"/>
              <a:gd name="T6" fmla="*/ 360 w 864"/>
              <a:gd name="T7" fmla="*/ 168 h 975"/>
              <a:gd name="T8" fmla="*/ 288 w 864"/>
              <a:gd name="T9" fmla="*/ 252 h 975"/>
              <a:gd name="T10" fmla="*/ 180 w 864"/>
              <a:gd name="T11" fmla="*/ 288 h 975"/>
              <a:gd name="T12" fmla="*/ 144 w 864"/>
              <a:gd name="T13" fmla="*/ 324 h 975"/>
              <a:gd name="T14" fmla="*/ 120 w 864"/>
              <a:gd name="T15" fmla="*/ 378 h 975"/>
              <a:gd name="T16" fmla="*/ 78 w 864"/>
              <a:gd name="T17" fmla="*/ 396 h 975"/>
              <a:gd name="T18" fmla="*/ 30 w 864"/>
              <a:gd name="T19" fmla="*/ 456 h 975"/>
              <a:gd name="T20" fmla="*/ 12 w 864"/>
              <a:gd name="T21" fmla="*/ 468 h 975"/>
              <a:gd name="T22" fmla="*/ 10 w 864"/>
              <a:gd name="T23" fmla="*/ 748 h 975"/>
              <a:gd name="T24" fmla="*/ 0 w 864"/>
              <a:gd name="T25" fmla="*/ 948 h 975"/>
              <a:gd name="T26" fmla="*/ 342 w 864"/>
              <a:gd name="T27" fmla="*/ 954 h 975"/>
              <a:gd name="T28" fmla="*/ 498 w 864"/>
              <a:gd name="T29" fmla="*/ 828 h 975"/>
              <a:gd name="T30" fmla="*/ 492 w 864"/>
              <a:gd name="T31" fmla="*/ 694 h 975"/>
              <a:gd name="T32" fmla="*/ 574 w 864"/>
              <a:gd name="T33" fmla="*/ 648 h 975"/>
              <a:gd name="T34" fmla="*/ 660 w 864"/>
              <a:gd name="T35" fmla="*/ 648 h 975"/>
              <a:gd name="T36" fmla="*/ 756 w 864"/>
              <a:gd name="T37" fmla="*/ 588 h 975"/>
              <a:gd name="T38" fmla="*/ 786 w 864"/>
              <a:gd name="T39" fmla="*/ 558 h 975"/>
              <a:gd name="T40" fmla="*/ 834 w 864"/>
              <a:gd name="T41" fmla="*/ 528 h 975"/>
              <a:gd name="T42" fmla="*/ 822 w 864"/>
              <a:gd name="T43" fmla="*/ 528 h 975"/>
              <a:gd name="T44" fmla="*/ 816 w 864"/>
              <a:gd name="T45" fmla="*/ 528 h 975"/>
              <a:gd name="T46" fmla="*/ 828 w 864"/>
              <a:gd name="T47" fmla="*/ 132 h 975"/>
              <a:gd name="T48" fmla="*/ 804 w 864"/>
              <a:gd name="T49" fmla="*/ 42 h 975"/>
              <a:gd name="T50" fmla="*/ 810 w 864"/>
              <a:gd name="T51" fmla="*/ 6 h 975"/>
              <a:gd name="T52" fmla="*/ 480 w 864"/>
              <a:gd name="T53" fmla="*/ 6 h 975"/>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864"/>
              <a:gd name="T82" fmla="*/ 0 h 975"/>
              <a:gd name="T83" fmla="*/ 864 w 864"/>
              <a:gd name="T84" fmla="*/ 975 h 975"/>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864" h="975">
                <a:moveTo>
                  <a:pt x="486" y="6"/>
                </a:moveTo>
                <a:cubicBezTo>
                  <a:pt x="480" y="38"/>
                  <a:pt x="476" y="49"/>
                  <a:pt x="444" y="60"/>
                </a:cubicBezTo>
                <a:cubicBezTo>
                  <a:pt x="421" y="94"/>
                  <a:pt x="399" y="125"/>
                  <a:pt x="366" y="150"/>
                </a:cubicBezTo>
                <a:cubicBezTo>
                  <a:pt x="364" y="156"/>
                  <a:pt x="361" y="162"/>
                  <a:pt x="360" y="168"/>
                </a:cubicBezTo>
                <a:cubicBezTo>
                  <a:pt x="357" y="191"/>
                  <a:pt x="318" y="232"/>
                  <a:pt x="288" y="252"/>
                </a:cubicBezTo>
                <a:cubicBezTo>
                  <a:pt x="258" y="272"/>
                  <a:pt x="204" y="276"/>
                  <a:pt x="180" y="288"/>
                </a:cubicBezTo>
                <a:cubicBezTo>
                  <a:pt x="168" y="300"/>
                  <a:pt x="156" y="312"/>
                  <a:pt x="144" y="324"/>
                </a:cubicBezTo>
                <a:cubicBezTo>
                  <a:pt x="127" y="341"/>
                  <a:pt x="140" y="364"/>
                  <a:pt x="120" y="378"/>
                </a:cubicBezTo>
                <a:cubicBezTo>
                  <a:pt x="107" y="386"/>
                  <a:pt x="92" y="390"/>
                  <a:pt x="78" y="396"/>
                </a:cubicBezTo>
                <a:cubicBezTo>
                  <a:pt x="53" y="434"/>
                  <a:pt x="74" y="445"/>
                  <a:pt x="30" y="456"/>
                </a:cubicBezTo>
                <a:cubicBezTo>
                  <a:pt x="24" y="460"/>
                  <a:pt x="12" y="468"/>
                  <a:pt x="12" y="468"/>
                </a:cubicBezTo>
                <a:cubicBezTo>
                  <a:pt x="8" y="571"/>
                  <a:pt x="19" y="654"/>
                  <a:pt x="10" y="748"/>
                </a:cubicBezTo>
                <a:cubicBezTo>
                  <a:pt x="12" y="800"/>
                  <a:pt x="0" y="896"/>
                  <a:pt x="0" y="948"/>
                </a:cubicBezTo>
                <a:cubicBezTo>
                  <a:pt x="59" y="972"/>
                  <a:pt x="256" y="975"/>
                  <a:pt x="342" y="954"/>
                </a:cubicBezTo>
                <a:cubicBezTo>
                  <a:pt x="425" y="934"/>
                  <a:pt x="473" y="871"/>
                  <a:pt x="498" y="828"/>
                </a:cubicBezTo>
                <a:cubicBezTo>
                  <a:pt x="523" y="785"/>
                  <a:pt x="479" y="724"/>
                  <a:pt x="492" y="694"/>
                </a:cubicBezTo>
                <a:cubicBezTo>
                  <a:pt x="505" y="664"/>
                  <a:pt x="546" y="656"/>
                  <a:pt x="574" y="648"/>
                </a:cubicBezTo>
                <a:cubicBezTo>
                  <a:pt x="602" y="640"/>
                  <a:pt x="630" y="658"/>
                  <a:pt x="660" y="648"/>
                </a:cubicBezTo>
                <a:cubicBezTo>
                  <a:pt x="690" y="638"/>
                  <a:pt x="735" y="603"/>
                  <a:pt x="756" y="588"/>
                </a:cubicBezTo>
                <a:cubicBezTo>
                  <a:pt x="777" y="573"/>
                  <a:pt x="773" y="568"/>
                  <a:pt x="786" y="558"/>
                </a:cubicBezTo>
                <a:cubicBezTo>
                  <a:pt x="799" y="548"/>
                  <a:pt x="828" y="533"/>
                  <a:pt x="834" y="528"/>
                </a:cubicBezTo>
                <a:cubicBezTo>
                  <a:pt x="840" y="523"/>
                  <a:pt x="825" y="528"/>
                  <a:pt x="822" y="528"/>
                </a:cubicBezTo>
                <a:cubicBezTo>
                  <a:pt x="819" y="528"/>
                  <a:pt x="815" y="594"/>
                  <a:pt x="816" y="528"/>
                </a:cubicBezTo>
                <a:cubicBezTo>
                  <a:pt x="817" y="462"/>
                  <a:pt x="830" y="213"/>
                  <a:pt x="828" y="132"/>
                </a:cubicBezTo>
                <a:cubicBezTo>
                  <a:pt x="826" y="51"/>
                  <a:pt x="807" y="63"/>
                  <a:pt x="804" y="42"/>
                </a:cubicBezTo>
                <a:cubicBezTo>
                  <a:pt x="801" y="21"/>
                  <a:pt x="864" y="12"/>
                  <a:pt x="810" y="6"/>
                </a:cubicBezTo>
                <a:cubicBezTo>
                  <a:pt x="756" y="0"/>
                  <a:pt x="549" y="6"/>
                  <a:pt x="480" y="6"/>
                </a:cubicBezTo>
              </a:path>
            </a:pathLst>
          </a:custGeom>
          <a:gradFill rotWithShape="0">
            <a:gsLst>
              <a:gs pos="0">
                <a:srgbClr val="777777"/>
              </a:gs>
              <a:gs pos="100000">
                <a:srgbClr val="C0C0C0"/>
              </a:gs>
            </a:gsLst>
            <a:lin ang="0" scaled="1"/>
          </a:gradFill>
          <a:ln>
            <a:noFill/>
          </a:ln>
          <a:extLst>
            <a:ext uri="{91240B29-F687-4F45-9708-019B960494DF}">
              <a14:hiddenLine xmlns:a14="http://schemas.microsoft.com/office/drawing/2010/main" w="19050" cmpd="sng">
                <a:solidFill>
                  <a:srgbClr val="000000"/>
                </a:solidFill>
                <a:round/>
                <a:headEnd/>
                <a:tailEnd/>
              </a14:hiddenLine>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sp>
        <p:nvSpPr>
          <p:cNvPr id="110" name="AutoShape 6" descr="宽下对角线">
            <a:extLst>
              <a:ext uri="{FF2B5EF4-FFF2-40B4-BE49-F238E27FC236}">
                <a16:creationId xmlns:a16="http://schemas.microsoft.com/office/drawing/2014/main" id="{BEF10AF8-B19A-E235-5D5F-42024451A8C2}"/>
              </a:ext>
            </a:extLst>
          </p:cNvPr>
          <p:cNvSpPr>
            <a:spLocks noChangeArrowheads="1"/>
          </p:cNvSpPr>
          <p:nvPr/>
        </p:nvSpPr>
        <p:spPr bwMode="auto">
          <a:xfrm rot="16200000" flipH="1">
            <a:off x="8249624" y="4795187"/>
            <a:ext cx="1023938" cy="246063"/>
          </a:xfrm>
          <a:prstGeom prst="parallelogram">
            <a:avLst>
              <a:gd name="adj" fmla="val 90315"/>
            </a:avLst>
          </a:prstGeom>
          <a:pattFill prst="wdDnDiag">
            <a:fgClr>
              <a:srgbClr val="000000"/>
            </a:fgClr>
            <a:bgClr>
              <a:srgbClr val="66FF33"/>
            </a:bgClr>
          </a:pattFill>
          <a:ln w="28575" algn="ctr">
            <a:solidFill>
              <a:srgbClr val="000000"/>
            </a:solidFill>
            <a:miter lim="800000"/>
            <a:headEnd/>
            <a:tailEnd/>
          </a:ln>
        </p:spPr>
        <p:txBody>
          <a:bodyPr wrap="none" anchor="ct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CC"/>
              </a:solidFill>
              <a:effectLst/>
              <a:uLnTx/>
              <a:uFillTx/>
              <a:latin typeface="Times New Roman" panose="02020603050405020304" pitchFamily="18" charset="0"/>
              <a:ea typeface="黑体" panose="02010609060101010101" pitchFamily="49" charset="-122"/>
            </a:endParaRPr>
          </a:p>
        </p:txBody>
      </p:sp>
      <p:sp>
        <p:nvSpPr>
          <p:cNvPr id="111" name="Arc 7">
            <a:extLst>
              <a:ext uri="{FF2B5EF4-FFF2-40B4-BE49-F238E27FC236}">
                <a16:creationId xmlns:a16="http://schemas.microsoft.com/office/drawing/2014/main" id="{FB98B3C8-593D-AA13-48B3-5DE89C0D38BB}"/>
              </a:ext>
            </a:extLst>
          </p:cNvPr>
          <p:cNvSpPr>
            <a:spLocks/>
          </p:cNvSpPr>
          <p:nvPr/>
        </p:nvSpPr>
        <p:spPr bwMode="auto">
          <a:xfrm rot="16200000">
            <a:off x="8362337" y="4625325"/>
            <a:ext cx="258763" cy="266700"/>
          </a:xfrm>
          <a:custGeom>
            <a:avLst/>
            <a:gdLst>
              <a:gd name="T0" fmla="*/ 0 w 32941"/>
              <a:gd name="T1" fmla="*/ 0 h 29926"/>
              <a:gd name="T2" fmla="*/ 1 w 32941"/>
              <a:gd name="T3" fmla="*/ 1 h 29926"/>
              <a:gd name="T4" fmla="*/ 0 w 32941"/>
              <a:gd name="T5" fmla="*/ 1 h 29926"/>
              <a:gd name="T6" fmla="*/ 0 60000 65536"/>
              <a:gd name="T7" fmla="*/ 0 60000 65536"/>
              <a:gd name="T8" fmla="*/ 0 60000 65536"/>
              <a:gd name="T9" fmla="*/ 0 w 32941"/>
              <a:gd name="T10" fmla="*/ 0 h 29926"/>
              <a:gd name="T11" fmla="*/ 32941 w 32941"/>
              <a:gd name="T12" fmla="*/ 29926 h 29926"/>
            </a:gdLst>
            <a:ahLst/>
            <a:cxnLst>
              <a:cxn ang="T6">
                <a:pos x="T0" y="T1"/>
              </a:cxn>
              <a:cxn ang="T7">
                <a:pos x="T2" y="T3"/>
              </a:cxn>
              <a:cxn ang="T8">
                <a:pos x="T4" y="T5"/>
              </a:cxn>
            </a:cxnLst>
            <a:rect l="T9" t="T10" r="T11" b="T12"/>
            <a:pathLst>
              <a:path w="32941" h="29926" fill="none" extrusionOk="0">
                <a:moveTo>
                  <a:pt x="-1" y="3216"/>
                </a:moveTo>
                <a:cubicBezTo>
                  <a:pt x="3408" y="1113"/>
                  <a:pt x="7335" y="-1"/>
                  <a:pt x="11341" y="0"/>
                </a:cubicBezTo>
                <a:cubicBezTo>
                  <a:pt x="23270" y="0"/>
                  <a:pt x="32941" y="9670"/>
                  <a:pt x="32941" y="21600"/>
                </a:cubicBezTo>
                <a:cubicBezTo>
                  <a:pt x="32941" y="24458"/>
                  <a:pt x="32373" y="27288"/>
                  <a:pt x="31271" y="29925"/>
                </a:cubicBezTo>
              </a:path>
              <a:path w="32941" h="29926" stroke="0" extrusionOk="0">
                <a:moveTo>
                  <a:pt x="-1" y="3216"/>
                </a:moveTo>
                <a:cubicBezTo>
                  <a:pt x="3408" y="1113"/>
                  <a:pt x="7335" y="-1"/>
                  <a:pt x="11341" y="0"/>
                </a:cubicBezTo>
                <a:cubicBezTo>
                  <a:pt x="23270" y="0"/>
                  <a:pt x="32941" y="9670"/>
                  <a:pt x="32941" y="21600"/>
                </a:cubicBezTo>
                <a:cubicBezTo>
                  <a:pt x="32941" y="24458"/>
                  <a:pt x="32373" y="27288"/>
                  <a:pt x="31271" y="29925"/>
                </a:cubicBezTo>
                <a:lnTo>
                  <a:pt x="11341" y="21600"/>
                </a:lnTo>
                <a:close/>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sp>
        <p:nvSpPr>
          <p:cNvPr id="112" name="Arc 8">
            <a:extLst>
              <a:ext uri="{FF2B5EF4-FFF2-40B4-BE49-F238E27FC236}">
                <a16:creationId xmlns:a16="http://schemas.microsoft.com/office/drawing/2014/main" id="{4A90F801-3A61-F2F7-0E94-FFE76CF619CA}"/>
              </a:ext>
            </a:extLst>
          </p:cNvPr>
          <p:cNvSpPr>
            <a:spLocks/>
          </p:cNvSpPr>
          <p:nvPr/>
        </p:nvSpPr>
        <p:spPr bwMode="auto">
          <a:xfrm rot="16200000">
            <a:off x="8357574" y="5411137"/>
            <a:ext cx="258763" cy="276225"/>
          </a:xfrm>
          <a:custGeom>
            <a:avLst/>
            <a:gdLst>
              <a:gd name="T0" fmla="*/ 0 w 32941"/>
              <a:gd name="T1" fmla="*/ 0 h 32171"/>
              <a:gd name="T2" fmla="*/ 1 w 32941"/>
              <a:gd name="T3" fmla="*/ 1 h 32171"/>
              <a:gd name="T4" fmla="*/ 0 w 32941"/>
              <a:gd name="T5" fmla="*/ 1 h 32171"/>
              <a:gd name="T6" fmla="*/ 0 60000 65536"/>
              <a:gd name="T7" fmla="*/ 0 60000 65536"/>
              <a:gd name="T8" fmla="*/ 0 60000 65536"/>
              <a:gd name="T9" fmla="*/ 0 w 32941"/>
              <a:gd name="T10" fmla="*/ 0 h 32171"/>
              <a:gd name="T11" fmla="*/ 32941 w 32941"/>
              <a:gd name="T12" fmla="*/ 32171 h 32171"/>
            </a:gdLst>
            <a:ahLst/>
            <a:cxnLst>
              <a:cxn ang="T6">
                <a:pos x="T0" y="T1"/>
              </a:cxn>
              <a:cxn ang="T7">
                <a:pos x="T2" y="T3"/>
              </a:cxn>
              <a:cxn ang="T8">
                <a:pos x="T4" y="T5"/>
              </a:cxn>
            </a:cxnLst>
            <a:rect l="T9" t="T10" r="T11" b="T12"/>
            <a:pathLst>
              <a:path w="32941" h="32171" fill="none" extrusionOk="0">
                <a:moveTo>
                  <a:pt x="-1" y="3216"/>
                </a:moveTo>
                <a:cubicBezTo>
                  <a:pt x="3408" y="1113"/>
                  <a:pt x="7335" y="-1"/>
                  <a:pt x="11341" y="0"/>
                </a:cubicBezTo>
                <a:cubicBezTo>
                  <a:pt x="23270" y="0"/>
                  <a:pt x="32941" y="9670"/>
                  <a:pt x="32941" y="21600"/>
                </a:cubicBezTo>
                <a:cubicBezTo>
                  <a:pt x="32941" y="25302"/>
                  <a:pt x="31989" y="28942"/>
                  <a:pt x="30177" y="32170"/>
                </a:cubicBezTo>
              </a:path>
              <a:path w="32941" h="32171" stroke="0" extrusionOk="0">
                <a:moveTo>
                  <a:pt x="-1" y="3216"/>
                </a:moveTo>
                <a:cubicBezTo>
                  <a:pt x="3408" y="1113"/>
                  <a:pt x="7335" y="-1"/>
                  <a:pt x="11341" y="0"/>
                </a:cubicBezTo>
                <a:cubicBezTo>
                  <a:pt x="23270" y="0"/>
                  <a:pt x="32941" y="9670"/>
                  <a:pt x="32941" y="21600"/>
                </a:cubicBezTo>
                <a:cubicBezTo>
                  <a:pt x="32941" y="25302"/>
                  <a:pt x="31989" y="28942"/>
                  <a:pt x="30177" y="32170"/>
                </a:cubicBezTo>
                <a:lnTo>
                  <a:pt x="11341" y="21600"/>
                </a:lnTo>
                <a:close/>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sp>
        <p:nvSpPr>
          <p:cNvPr id="113" name="Line 9">
            <a:extLst>
              <a:ext uri="{FF2B5EF4-FFF2-40B4-BE49-F238E27FC236}">
                <a16:creationId xmlns:a16="http://schemas.microsoft.com/office/drawing/2014/main" id="{D16E4991-A8C4-2D2F-E458-58FBCB970DDF}"/>
              </a:ext>
            </a:extLst>
          </p:cNvPr>
          <p:cNvSpPr>
            <a:spLocks noChangeShapeType="1"/>
          </p:cNvSpPr>
          <p:nvPr/>
        </p:nvSpPr>
        <p:spPr bwMode="auto">
          <a:xfrm flipH="1">
            <a:off x="7611449" y="5128562"/>
            <a:ext cx="5334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sp>
        <p:nvSpPr>
          <p:cNvPr id="114" name="Line 10">
            <a:extLst>
              <a:ext uri="{FF2B5EF4-FFF2-40B4-BE49-F238E27FC236}">
                <a16:creationId xmlns:a16="http://schemas.microsoft.com/office/drawing/2014/main" id="{7BB99434-ECF1-BFB2-19DD-32F64C2D0DEB}"/>
              </a:ext>
            </a:extLst>
          </p:cNvPr>
          <p:cNvSpPr>
            <a:spLocks noChangeShapeType="1"/>
          </p:cNvSpPr>
          <p:nvPr/>
        </p:nvSpPr>
        <p:spPr bwMode="auto">
          <a:xfrm flipH="1">
            <a:off x="7592399" y="5919137"/>
            <a:ext cx="54292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sp>
        <p:nvSpPr>
          <p:cNvPr id="115" name="Line 11">
            <a:extLst>
              <a:ext uri="{FF2B5EF4-FFF2-40B4-BE49-F238E27FC236}">
                <a16:creationId xmlns:a16="http://schemas.microsoft.com/office/drawing/2014/main" id="{DB05E9E7-8672-D8AB-50DD-076BC4FE735C}"/>
              </a:ext>
            </a:extLst>
          </p:cNvPr>
          <p:cNvSpPr>
            <a:spLocks noChangeShapeType="1"/>
          </p:cNvSpPr>
          <p:nvPr/>
        </p:nvSpPr>
        <p:spPr bwMode="auto">
          <a:xfrm flipH="1">
            <a:off x="8344874" y="4395137"/>
            <a:ext cx="5334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sp>
        <p:nvSpPr>
          <p:cNvPr id="116" name="Freeform 12">
            <a:extLst>
              <a:ext uri="{FF2B5EF4-FFF2-40B4-BE49-F238E27FC236}">
                <a16:creationId xmlns:a16="http://schemas.microsoft.com/office/drawing/2014/main" id="{4FFC2434-03C3-6342-7570-4FCDDEDB68AF}"/>
              </a:ext>
            </a:extLst>
          </p:cNvPr>
          <p:cNvSpPr>
            <a:spLocks/>
          </p:cNvSpPr>
          <p:nvPr/>
        </p:nvSpPr>
        <p:spPr bwMode="auto">
          <a:xfrm>
            <a:off x="7559062" y="4385612"/>
            <a:ext cx="795338" cy="1524000"/>
          </a:xfrm>
          <a:custGeom>
            <a:avLst/>
            <a:gdLst>
              <a:gd name="T0" fmla="*/ 501 w 501"/>
              <a:gd name="T1" fmla="*/ 0 h 960"/>
              <a:gd name="T2" fmla="*/ 459 w 501"/>
              <a:gd name="T3" fmla="*/ 54 h 960"/>
              <a:gd name="T4" fmla="*/ 381 w 501"/>
              <a:gd name="T5" fmla="*/ 144 h 960"/>
              <a:gd name="T6" fmla="*/ 375 w 501"/>
              <a:gd name="T7" fmla="*/ 162 h 960"/>
              <a:gd name="T8" fmla="*/ 303 w 501"/>
              <a:gd name="T9" fmla="*/ 246 h 960"/>
              <a:gd name="T10" fmla="*/ 195 w 501"/>
              <a:gd name="T11" fmla="*/ 282 h 960"/>
              <a:gd name="T12" fmla="*/ 159 w 501"/>
              <a:gd name="T13" fmla="*/ 318 h 960"/>
              <a:gd name="T14" fmla="*/ 135 w 501"/>
              <a:gd name="T15" fmla="*/ 372 h 960"/>
              <a:gd name="T16" fmla="*/ 93 w 501"/>
              <a:gd name="T17" fmla="*/ 390 h 960"/>
              <a:gd name="T18" fmla="*/ 45 w 501"/>
              <a:gd name="T19" fmla="*/ 450 h 960"/>
              <a:gd name="T20" fmla="*/ 27 w 501"/>
              <a:gd name="T21" fmla="*/ 462 h 960"/>
              <a:gd name="T22" fmla="*/ 9 w 501"/>
              <a:gd name="T23" fmla="*/ 720 h 960"/>
              <a:gd name="T24" fmla="*/ 21 w 501"/>
              <a:gd name="T25" fmla="*/ 876 h 960"/>
              <a:gd name="T26" fmla="*/ 21 w 501"/>
              <a:gd name="T27" fmla="*/ 960 h 96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01"/>
              <a:gd name="T43" fmla="*/ 0 h 960"/>
              <a:gd name="T44" fmla="*/ 501 w 501"/>
              <a:gd name="T45" fmla="*/ 960 h 96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01" h="960">
                <a:moveTo>
                  <a:pt x="501" y="0"/>
                </a:moveTo>
                <a:cubicBezTo>
                  <a:pt x="495" y="32"/>
                  <a:pt x="491" y="43"/>
                  <a:pt x="459" y="54"/>
                </a:cubicBezTo>
                <a:cubicBezTo>
                  <a:pt x="436" y="88"/>
                  <a:pt x="414" y="119"/>
                  <a:pt x="381" y="144"/>
                </a:cubicBezTo>
                <a:cubicBezTo>
                  <a:pt x="379" y="150"/>
                  <a:pt x="376" y="156"/>
                  <a:pt x="375" y="162"/>
                </a:cubicBezTo>
                <a:cubicBezTo>
                  <a:pt x="372" y="185"/>
                  <a:pt x="333" y="226"/>
                  <a:pt x="303" y="246"/>
                </a:cubicBezTo>
                <a:cubicBezTo>
                  <a:pt x="273" y="266"/>
                  <a:pt x="219" y="270"/>
                  <a:pt x="195" y="282"/>
                </a:cubicBezTo>
                <a:cubicBezTo>
                  <a:pt x="183" y="294"/>
                  <a:pt x="171" y="306"/>
                  <a:pt x="159" y="318"/>
                </a:cubicBezTo>
                <a:cubicBezTo>
                  <a:pt x="142" y="335"/>
                  <a:pt x="155" y="358"/>
                  <a:pt x="135" y="372"/>
                </a:cubicBezTo>
                <a:cubicBezTo>
                  <a:pt x="122" y="380"/>
                  <a:pt x="107" y="384"/>
                  <a:pt x="93" y="390"/>
                </a:cubicBezTo>
                <a:cubicBezTo>
                  <a:pt x="68" y="428"/>
                  <a:pt x="89" y="439"/>
                  <a:pt x="45" y="450"/>
                </a:cubicBezTo>
                <a:cubicBezTo>
                  <a:pt x="39" y="454"/>
                  <a:pt x="27" y="462"/>
                  <a:pt x="27" y="462"/>
                </a:cubicBezTo>
                <a:cubicBezTo>
                  <a:pt x="23" y="565"/>
                  <a:pt x="18" y="626"/>
                  <a:pt x="9" y="720"/>
                </a:cubicBezTo>
                <a:cubicBezTo>
                  <a:pt x="11" y="772"/>
                  <a:pt x="21" y="824"/>
                  <a:pt x="21" y="876"/>
                </a:cubicBezTo>
                <a:cubicBezTo>
                  <a:pt x="21" y="906"/>
                  <a:pt x="0" y="939"/>
                  <a:pt x="21" y="960"/>
                </a:cubicBezTo>
              </a:path>
            </a:pathLst>
          </a:custGeom>
          <a:noFill/>
          <a:ln w="1905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sp>
        <p:nvSpPr>
          <p:cNvPr id="117" name="AutoShape 13" descr="宽下对角线">
            <a:extLst>
              <a:ext uri="{FF2B5EF4-FFF2-40B4-BE49-F238E27FC236}">
                <a16:creationId xmlns:a16="http://schemas.microsoft.com/office/drawing/2014/main" id="{594DDDC1-7BCA-429A-032C-A9BAF54AB088}"/>
              </a:ext>
            </a:extLst>
          </p:cNvPr>
          <p:cNvSpPr>
            <a:spLocks noChangeArrowheads="1"/>
          </p:cNvSpPr>
          <p:nvPr/>
        </p:nvSpPr>
        <p:spPr bwMode="auto">
          <a:xfrm rot="16200000" flipH="1">
            <a:off x="7752737" y="5285725"/>
            <a:ext cx="1023938" cy="246063"/>
          </a:xfrm>
          <a:prstGeom prst="parallelogram">
            <a:avLst>
              <a:gd name="adj" fmla="val 90315"/>
            </a:avLst>
          </a:prstGeom>
          <a:pattFill prst="wdDnDiag">
            <a:fgClr>
              <a:srgbClr val="000000"/>
            </a:fgClr>
            <a:bgClr>
              <a:srgbClr val="66FF33"/>
            </a:bgClr>
          </a:pattFill>
          <a:ln w="28575">
            <a:solidFill>
              <a:srgbClr val="000000"/>
            </a:solidFill>
            <a:miter lim="800000"/>
            <a:headEnd/>
            <a:tailEnd/>
          </a:ln>
        </p:spPr>
        <p:txBody>
          <a:bodyPr wrap="none" anchor="ct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CC"/>
              </a:solidFill>
              <a:effectLst/>
              <a:uLnTx/>
              <a:uFillTx/>
              <a:latin typeface="Times New Roman" panose="02020603050405020304" pitchFamily="18" charset="0"/>
              <a:ea typeface="黑体" panose="02010609060101010101" pitchFamily="49" charset="-122"/>
            </a:endParaRPr>
          </a:p>
        </p:txBody>
      </p:sp>
      <p:sp>
        <p:nvSpPr>
          <p:cNvPr id="118" name="Arc 14">
            <a:extLst>
              <a:ext uri="{FF2B5EF4-FFF2-40B4-BE49-F238E27FC236}">
                <a16:creationId xmlns:a16="http://schemas.microsoft.com/office/drawing/2014/main" id="{6F6BE7D1-BAC3-B5C9-A9EA-C46FF78A3D54}"/>
              </a:ext>
            </a:extLst>
          </p:cNvPr>
          <p:cNvSpPr>
            <a:spLocks/>
          </p:cNvSpPr>
          <p:nvPr/>
        </p:nvSpPr>
        <p:spPr bwMode="auto">
          <a:xfrm rot="17678956">
            <a:off x="8306774" y="4634850"/>
            <a:ext cx="225425" cy="133350"/>
          </a:xfrm>
          <a:custGeom>
            <a:avLst/>
            <a:gdLst>
              <a:gd name="T0" fmla="*/ 0 w 32742"/>
              <a:gd name="T1" fmla="*/ 0 h 21600"/>
              <a:gd name="T2" fmla="*/ 1 w 32742"/>
              <a:gd name="T3" fmla="*/ 0 h 21600"/>
              <a:gd name="T4" fmla="*/ 0 w 32742"/>
              <a:gd name="T5" fmla="*/ 0 h 21600"/>
              <a:gd name="T6" fmla="*/ 0 60000 65536"/>
              <a:gd name="T7" fmla="*/ 0 60000 65536"/>
              <a:gd name="T8" fmla="*/ 0 60000 65536"/>
              <a:gd name="T9" fmla="*/ 0 w 32742"/>
              <a:gd name="T10" fmla="*/ 0 h 21600"/>
              <a:gd name="T11" fmla="*/ 32742 w 32742"/>
              <a:gd name="T12" fmla="*/ 21600 h 21600"/>
            </a:gdLst>
            <a:ahLst/>
            <a:cxnLst>
              <a:cxn ang="T6">
                <a:pos x="T0" y="T1"/>
              </a:cxn>
              <a:cxn ang="T7">
                <a:pos x="T2" y="T3"/>
              </a:cxn>
              <a:cxn ang="T8">
                <a:pos x="T4" y="T5"/>
              </a:cxn>
            </a:cxnLst>
            <a:rect l="T9" t="T10" r="T11" b="T12"/>
            <a:pathLst>
              <a:path w="32742" h="21600" fill="none" extrusionOk="0">
                <a:moveTo>
                  <a:pt x="-1" y="3216"/>
                </a:moveTo>
                <a:cubicBezTo>
                  <a:pt x="3408" y="1113"/>
                  <a:pt x="7335" y="-1"/>
                  <a:pt x="11341" y="0"/>
                </a:cubicBezTo>
                <a:cubicBezTo>
                  <a:pt x="22140" y="0"/>
                  <a:pt x="31280" y="7976"/>
                  <a:pt x="32742" y="18676"/>
                </a:cubicBezTo>
              </a:path>
              <a:path w="32742" h="21600" stroke="0" extrusionOk="0">
                <a:moveTo>
                  <a:pt x="-1" y="3216"/>
                </a:moveTo>
                <a:cubicBezTo>
                  <a:pt x="3408" y="1113"/>
                  <a:pt x="7335" y="-1"/>
                  <a:pt x="11341" y="0"/>
                </a:cubicBezTo>
                <a:cubicBezTo>
                  <a:pt x="22140" y="0"/>
                  <a:pt x="31280" y="7976"/>
                  <a:pt x="32742" y="18676"/>
                </a:cubicBezTo>
                <a:lnTo>
                  <a:pt x="11341" y="21600"/>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sp>
        <p:nvSpPr>
          <p:cNvPr id="119" name="Arc 15">
            <a:extLst>
              <a:ext uri="{FF2B5EF4-FFF2-40B4-BE49-F238E27FC236}">
                <a16:creationId xmlns:a16="http://schemas.microsoft.com/office/drawing/2014/main" id="{659FA110-4379-586D-6BCB-81CD1C58A3C9}"/>
              </a:ext>
            </a:extLst>
          </p:cNvPr>
          <p:cNvSpPr>
            <a:spLocks/>
          </p:cNvSpPr>
          <p:nvPr/>
        </p:nvSpPr>
        <p:spPr bwMode="auto">
          <a:xfrm rot="17678956">
            <a:off x="8297249" y="4631675"/>
            <a:ext cx="176213" cy="100013"/>
          </a:xfrm>
          <a:custGeom>
            <a:avLst/>
            <a:gdLst>
              <a:gd name="T0" fmla="*/ 0 w 32742"/>
              <a:gd name="T1" fmla="*/ 0 h 21600"/>
              <a:gd name="T2" fmla="*/ 0 w 32742"/>
              <a:gd name="T3" fmla="*/ 0 h 21600"/>
              <a:gd name="T4" fmla="*/ 0 w 32742"/>
              <a:gd name="T5" fmla="*/ 0 h 21600"/>
              <a:gd name="T6" fmla="*/ 0 60000 65536"/>
              <a:gd name="T7" fmla="*/ 0 60000 65536"/>
              <a:gd name="T8" fmla="*/ 0 60000 65536"/>
              <a:gd name="T9" fmla="*/ 0 w 32742"/>
              <a:gd name="T10" fmla="*/ 0 h 21600"/>
              <a:gd name="T11" fmla="*/ 32742 w 32742"/>
              <a:gd name="T12" fmla="*/ 21600 h 21600"/>
            </a:gdLst>
            <a:ahLst/>
            <a:cxnLst>
              <a:cxn ang="T6">
                <a:pos x="T0" y="T1"/>
              </a:cxn>
              <a:cxn ang="T7">
                <a:pos x="T2" y="T3"/>
              </a:cxn>
              <a:cxn ang="T8">
                <a:pos x="T4" y="T5"/>
              </a:cxn>
            </a:cxnLst>
            <a:rect l="T9" t="T10" r="T11" b="T12"/>
            <a:pathLst>
              <a:path w="32742" h="21600" fill="none" extrusionOk="0">
                <a:moveTo>
                  <a:pt x="-1" y="3216"/>
                </a:moveTo>
                <a:cubicBezTo>
                  <a:pt x="3408" y="1113"/>
                  <a:pt x="7335" y="-1"/>
                  <a:pt x="11341" y="0"/>
                </a:cubicBezTo>
                <a:cubicBezTo>
                  <a:pt x="22140" y="0"/>
                  <a:pt x="31280" y="7976"/>
                  <a:pt x="32742" y="18676"/>
                </a:cubicBezTo>
              </a:path>
              <a:path w="32742" h="21600" stroke="0" extrusionOk="0">
                <a:moveTo>
                  <a:pt x="-1" y="3216"/>
                </a:moveTo>
                <a:cubicBezTo>
                  <a:pt x="3408" y="1113"/>
                  <a:pt x="7335" y="-1"/>
                  <a:pt x="11341" y="0"/>
                </a:cubicBezTo>
                <a:cubicBezTo>
                  <a:pt x="22140" y="0"/>
                  <a:pt x="31280" y="7976"/>
                  <a:pt x="32742" y="18676"/>
                </a:cubicBezTo>
                <a:lnTo>
                  <a:pt x="11341" y="21600"/>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sp>
        <p:nvSpPr>
          <p:cNvPr id="120" name="Arc 16">
            <a:extLst>
              <a:ext uri="{FF2B5EF4-FFF2-40B4-BE49-F238E27FC236}">
                <a16:creationId xmlns:a16="http://schemas.microsoft.com/office/drawing/2014/main" id="{B4878C90-B63C-679F-2D94-06E00A55A662}"/>
              </a:ext>
            </a:extLst>
          </p:cNvPr>
          <p:cNvSpPr>
            <a:spLocks/>
          </p:cNvSpPr>
          <p:nvPr/>
        </p:nvSpPr>
        <p:spPr bwMode="auto">
          <a:xfrm rot="18278408">
            <a:off x="8306774" y="4618975"/>
            <a:ext cx="125413" cy="85725"/>
          </a:xfrm>
          <a:custGeom>
            <a:avLst/>
            <a:gdLst>
              <a:gd name="T0" fmla="*/ 0 w 29345"/>
              <a:gd name="T1" fmla="*/ 0 h 21600"/>
              <a:gd name="T2" fmla="*/ 0 w 29345"/>
              <a:gd name="T3" fmla="*/ 0 h 21600"/>
              <a:gd name="T4" fmla="*/ 0 w 29345"/>
              <a:gd name="T5" fmla="*/ 0 h 21600"/>
              <a:gd name="T6" fmla="*/ 0 60000 65536"/>
              <a:gd name="T7" fmla="*/ 0 60000 65536"/>
              <a:gd name="T8" fmla="*/ 0 60000 65536"/>
              <a:gd name="T9" fmla="*/ 0 w 29345"/>
              <a:gd name="T10" fmla="*/ 0 h 21600"/>
              <a:gd name="T11" fmla="*/ 29345 w 29345"/>
              <a:gd name="T12" fmla="*/ 21600 h 21600"/>
            </a:gdLst>
            <a:ahLst/>
            <a:cxnLst>
              <a:cxn ang="T6">
                <a:pos x="T0" y="T1"/>
              </a:cxn>
              <a:cxn ang="T7">
                <a:pos x="T2" y="T3"/>
              </a:cxn>
              <a:cxn ang="T8">
                <a:pos x="T4" y="T5"/>
              </a:cxn>
            </a:cxnLst>
            <a:rect l="T9" t="T10" r="T11" b="T12"/>
            <a:pathLst>
              <a:path w="29345" h="21600" fill="none" extrusionOk="0">
                <a:moveTo>
                  <a:pt x="-1" y="3216"/>
                </a:moveTo>
                <a:cubicBezTo>
                  <a:pt x="3408" y="1113"/>
                  <a:pt x="7335" y="-1"/>
                  <a:pt x="11341" y="0"/>
                </a:cubicBezTo>
                <a:cubicBezTo>
                  <a:pt x="18582" y="0"/>
                  <a:pt x="25343" y="3629"/>
                  <a:pt x="29344" y="9665"/>
                </a:cubicBezTo>
              </a:path>
              <a:path w="29345" h="21600" stroke="0" extrusionOk="0">
                <a:moveTo>
                  <a:pt x="-1" y="3216"/>
                </a:moveTo>
                <a:cubicBezTo>
                  <a:pt x="3408" y="1113"/>
                  <a:pt x="7335" y="-1"/>
                  <a:pt x="11341" y="0"/>
                </a:cubicBezTo>
                <a:cubicBezTo>
                  <a:pt x="18582" y="0"/>
                  <a:pt x="25343" y="3629"/>
                  <a:pt x="29344" y="9665"/>
                </a:cubicBezTo>
                <a:lnTo>
                  <a:pt x="11341" y="21600"/>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grpSp>
        <p:nvGrpSpPr>
          <p:cNvPr id="121" name="Group 17">
            <a:extLst>
              <a:ext uri="{FF2B5EF4-FFF2-40B4-BE49-F238E27FC236}">
                <a16:creationId xmlns:a16="http://schemas.microsoft.com/office/drawing/2014/main" id="{01149374-1A5C-F943-05CC-8438D55466F8}"/>
              </a:ext>
            </a:extLst>
          </p:cNvPr>
          <p:cNvGrpSpPr>
            <a:grpSpLocks noChangeAspect="1"/>
          </p:cNvGrpSpPr>
          <p:nvPr/>
        </p:nvGrpSpPr>
        <p:grpSpPr bwMode="auto">
          <a:xfrm>
            <a:off x="9497399" y="4593575"/>
            <a:ext cx="311150" cy="1050925"/>
            <a:chOff x="5121" y="1424"/>
            <a:chExt cx="281" cy="947"/>
          </a:xfrm>
        </p:grpSpPr>
        <p:sp>
          <p:nvSpPr>
            <p:cNvPr id="122" name="Freeform 18">
              <a:extLst>
                <a:ext uri="{FF2B5EF4-FFF2-40B4-BE49-F238E27FC236}">
                  <a16:creationId xmlns:a16="http://schemas.microsoft.com/office/drawing/2014/main" id="{574866EF-767E-6545-36A6-7EA5F3478A72}"/>
                </a:ext>
              </a:extLst>
            </p:cNvPr>
            <p:cNvSpPr>
              <a:spLocks noChangeAspect="1"/>
            </p:cNvSpPr>
            <p:nvPr/>
          </p:nvSpPr>
          <p:spPr bwMode="auto">
            <a:xfrm>
              <a:off x="5121" y="1424"/>
              <a:ext cx="281" cy="946"/>
            </a:xfrm>
            <a:custGeom>
              <a:avLst/>
              <a:gdLst>
                <a:gd name="T0" fmla="*/ 273 w 281"/>
                <a:gd name="T1" fmla="*/ 36 h 946"/>
                <a:gd name="T2" fmla="*/ 150 w 281"/>
                <a:gd name="T3" fmla="*/ 10 h 946"/>
                <a:gd name="T4" fmla="*/ 84 w 281"/>
                <a:gd name="T5" fmla="*/ 55 h 946"/>
                <a:gd name="T6" fmla="*/ 18 w 281"/>
                <a:gd name="T7" fmla="*/ 172 h 946"/>
                <a:gd name="T8" fmla="*/ 21 w 281"/>
                <a:gd name="T9" fmla="*/ 532 h 946"/>
                <a:gd name="T10" fmla="*/ 48 w 281"/>
                <a:gd name="T11" fmla="*/ 946 h 946"/>
                <a:gd name="T12" fmla="*/ 281 w 281"/>
                <a:gd name="T13" fmla="*/ 760 h 946"/>
                <a:gd name="T14" fmla="*/ 271 w 281"/>
                <a:gd name="T15" fmla="*/ 136 h 946"/>
                <a:gd name="T16" fmla="*/ 0 60000 65536"/>
                <a:gd name="T17" fmla="*/ 0 60000 65536"/>
                <a:gd name="T18" fmla="*/ 0 60000 65536"/>
                <a:gd name="T19" fmla="*/ 0 60000 65536"/>
                <a:gd name="T20" fmla="*/ 0 60000 65536"/>
                <a:gd name="T21" fmla="*/ 0 60000 65536"/>
                <a:gd name="T22" fmla="*/ 0 60000 65536"/>
                <a:gd name="T23" fmla="*/ 0 60000 65536"/>
                <a:gd name="T24" fmla="*/ 0 w 281"/>
                <a:gd name="T25" fmla="*/ 0 h 946"/>
                <a:gd name="T26" fmla="*/ 281 w 281"/>
                <a:gd name="T27" fmla="*/ 946 h 94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81" h="946">
                  <a:moveTo>
                    <a:pt x="273" y="36"/>
                  </a:moveTo>
                  <a:cubicBezTo>
                    <a:pt x="187" y="8"/>
                    <a:pt x="278" y="0"/>
                    <a:pt x="150" y="10"/>
                  </a:cubicBezTo>
                  <a:cubicBezTo>
                    <a:pt x="134" y="15"/>
                    <a:pt x="89" y="39"/>
                    <a:pt x="84" y="55"/>
                  </a:cubicBezTo>
                  <a:cubicBezTo>
                    <a:pt x="71" y="95"/>
                    <a:pt x="34" y="108"/>
                    <a:pt x="18" y="172"/>
                  </a:cubicBezTo>
                  <a:cubicBezTo>
                    <a:pt x="22" y="258"/>
                    <a:pt x="28" y="346"/>
                    <a:pt x="21" y="532"/>
                  </a:cubicBezTo>
                  <a:cubicBezTo>
                    <a:pt x="28" y="661"/>
                    <a:pt x="0" y="883"/>
                    <a:pt x="48" y="946"/>
                  </a:cubicBezTo>
                  <a:cubicBezTo>
                    <a:pt x="162" y="849"/>
                    <a:pt x="281" y="760"/>
                    <a:pt x="281" y="760"/>
                  </a:cubicBezTo>
                  <a:lnTo>
                    <a:pt x="271" y="136"/>
                  </a:lnTo>
                </a:path>
              </a:pathLst>
            </a:custGeom>
            <a:gradFill rotWithShape="0">
              <a:gsLst>
                <a:gs pos="0">
                  <a:srgbClr val="000000"/>
                </a:gs>
                <a:gs pos="100000">
                  <a:srgbClr val="CC9900"/>
                </a:gs>
              </a:gsLst>
              <a:lin ang="0" scaled="1"/>
            </a:gradFill>
            <a:ln>
              <a:noFill/>
            </a:ln>
            <a:extLst>
              <a:ext uri="{91240B29-F687-4F45-9708-019B960494DF}">
                <a14:hiddenLine xmlns:a14="http://schemas.microsoft.com/office/drawing/2010/main" w="28575" cmpd="sng">
                  <a:solidFill>
                    <a:srgbClr val="000000"/>
                  </a:solidFill>
                  <a:round/>
                  <a:headEnd/>
                  <a:tailEnd/>
                </a14:hiddenLine>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sp>
          <p:nvSpPr>
            <p:cNvPr id="123" name="Arc 19">
              <a:extLst>
                <a:ext uri="{FF2B5EF4-FFF2-40B4-BE49-F238E27FC236}">
                  <a16:creationId xmlns:a16="http://schemas.microsoft.com/office/drawing/2014/main" id="{164F2F4D-EF68-4272-2637-FDF6B7511289}"/>
                </a:ext>
              </a:extLst>
            </p:cNvPr>
            <p:cNvSpPr>
              <a:spLocks noChangeAspect="1"/>
            </p:cNvSpPr>
            <p:nvPr/>
          </p:nvSpPr>
          <p:spPr bwMode="auto">
            <a:xfrm rot="-5171298">
              <a:off x="5160" y="1432"/>
              <a:ext cx="229" cy="239"/>
            </a:xfrm>
            <a:custGeom>
              <a:avLst/>
              <a:gdLst>
                <a:gd name="T0" fmla="*/ 0 w 32941"/>
                <a:gd name="T1" fmla="*/ 0 h 31545"/>
                <a:gd name="T2" fmla="*/ 1 w 32941"/>
                <a:gd name="T3" fmla="*/ 2 h 31545"/>
                <a:gd name="T4" fmla="*/ 1 w 32941"/>
                <a:gd name="T5" fmla="*/ 1 h 31545"/>
                <a:gd name="T6" fmla="*/ 0 60000 65536"/>
                <a:gd name="T7" fmla="*/ 0 60000 65536"/>
                <a:gd name="T8" fmla="*/ 0 60000 65536"/>
                <a:gd name="T9" fmla="*/ 0 w 32941"/>
                <a:gd name="T10" fmla="*/ 0 h 31545"/>
                <a:gd name="T11" fmla="*/ 32941 w 32941"/>
                <a:gd name="T12" fmla="*/ 31545 h 31545"/>
              </a:gdLst>
              <a:ahLst/>
              <a:cxnLst>
                <a:cxn ang="T6">
                  <a:pos x="T0" y="T1"/>
                </a:cxn>
                <a:cxn ang="T7">
                  <a:pos x="T2" y="T3"/>
                </a:cxn>
                <a:cxn ang="T8">
                  <a:pos x="T4" y="T5"/>
                </a:cxn>
              </a:cxnLst>
              <a:rect l="T9" t="T10" r="T11" b="T12"/>
              <a:pathLst>
                <a:path w="32941" h="31545" fill="none" extrusionOk="0">
                  <a:moveTo>
                    <a:pt x="-1" y="3216"/>
                  </a:moveTo>
                  <a:cubicBezTo>
                    <a:pt x="3408" y="1113"/>
                    <a:pt x="7335" y="-1"/>
                    <a:pt x="11341" y="0"/>
                  </a:cubicBezTo>
                  <a:cubicBezTo>
                    <a:pt x="23270" y="0"/>
                    <a:pt x="32941" y="9670"/>
                    <a:pt x="32941" y="21600"/>
                  </a:cubicBezTo>
                  <a:cubicBezTo>
                    <a:pt x="32941" y="25061"/>
                    <a:pt x="32109" y="28472"/>
                    <a:pt x="30515" y="31545"/>
                  </a:cubicBezTo>
                </a:path>
                <a:path w="32941" h="31545" stroke="0" extrusionOk="0">
                  <a:moveTo>
                    <a:pt x="-1" y="3216"/>
                  </a:moveTo>
                  <a:cubicBezTo>
                    <a:pt x="3408" y="1113"/>
                    <a:pt x="7335" y="-1"/>
                    <a:pt x="11341" y="0"/>
                  </a:cubicBezTo>
                  <a:cubicBezTo>
                    <a:pt x="23270" y="0"/>
                    <a:pt x="32941" y="9670"/>
                    <a:pt x="32941" y="21600"/>
                  </a:cubicBezTo>
                  <a:cubicBezTo>
                    <a:pt x="32941" y="25061"/>
                    <a:pt x="32109" y="28472"/>
                    <a:pt x="30515" y="31545"/>
                  </a:cubicBezTo>
                  <a:lnTo>
                    <a:pt x="11341" y="21600"/>
                  </a:lnTo>
                  <a:close/>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sp>
          <p:nvSpPr>
            <p:cNvPr id="124" name="AutoShape 20" descr="宽下对角线">
              <a:extLst>
                <a:ext uri="{FF2B5EF4-FFF2-40B4-BE49-F238E27FC236}">
                  <a16:creationId xmlns:a16="http://schemas.microsoft.com/office/drawing/2014/main" id="{CE46719F-65B1-7041-6ABE-4917B15DB285}"/>
                </a:ext>
              </a:extLst>
            </p:cNvPr>
            <p:cNvSpPr>
              <a:spLocks noChangeAspect="1" noChangeArrowheads="1"/>
            </p:cNvSpPr>
            <p:nvPr/>
          </p:nvSpPr>
          <p:spPr bwMode="auto">
            <a:xfrm rot="16200000" flipH="1">
              <a:off x="4836" y="1810"/>
              <a:ext cx="905" cy="218"/>
            </a:xfrm>
            <a:prstGeom prst="parallelogram">
              <a:avLst>
                <a:gd name="adj" fmla="val 90100"/>
              </a:avLst>
            </a:prstGeom>
            <a:pattFill prst="wdDnDiag">
              <a:fgClr>
                <a:srgbClr val="000000"/>
              </a:fgClr>
              <a:bgClr>
                <a:srgbClr val="FF99FF"/>
              </a:bgClr>
            </a:pattFill>
            <a:ln w="28575">
              <a:solidFill>
                <a:srgbClr val="000000"/>
              </a:solidFill>
              <a:miter lim="800000"/>
              <a:headEnd/>
              <a:tailEnd/>
            </a:ln>
          </p:spPr>
          <p:txBody>
            <a:bodyPr wrap="none" anchor="ct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CC"/>
                </a:solidFill>
                <a:effectLst/>
                <a:uLnTx/>
                <a:uFillTx/>
                <a:latin typeface="Times New Roman" panose="02020603050405020304" pitchFamily="18" charset="0"/>
                <a:ea typeface="黑体" panose="02010609060101010101" pitchFamily="49" charset="-122"/>
              </a:endParaRPr>
            </a:p>
          </p:txBody>
        </p:sp>
        <p:sp>
          <p:nvSpPr>
            <p:cNvPr id="125" name="Line 21">
              <a:extLst>
                <a:ext uri="{FF2B5EF4-FFF2-40B4-BE49-F238E27FC236}">
                  <a16:creationId xmlns:a16="http://schemas.microsoft.com/office/drawing/2014/main" id="{D32FDF19-3BD7-E6D4-74E6-A41386F164A6}"/>
                </a:ext>
              </a:extLst>
            </p:cNvPr>
            <p:cNvSpPr>
              <a:spLocks noChangeAspect="1" noChangeShapeType="1"/>
            </p:cNvSpPr>
            <p:nvPr/>
          </p:nvSpPr>
          <p:spPr bwMode="auto">
            <a:xfrm>
              <a:off x="5150" y="1578"/>
              <a:ext cx="0" cy="689"/>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sp>
          <p:nvSpPr>
            <p:cNvPr id="126" name="Arc 22">
              <a:extLst>
                <a:ext uri="{FF2B5EF4-FFF2-40B4-BE49-F238E27FC236}">
                  <a16:creationId xmlns:a16="http://schemas.microsoft.com/office/drawing/2014/main" id="{BE5B5340-03F7-2A0D-3B4E-5B650CCD72C8}"/>
                </a:ext>
              </a:extLst>
            </p:cNvPr>
            <p:cNvSpPr>
              <a:spLocks noChangeAspect="1"/>
            </p:cNvSpPr>
            <p:nvPr/>
          </p:nvSpPr>
          <p:spPr bwMode="auto">
            <a:xfrm rot="-6511227">
              <a:off x="5165" y="2224"/>
              <a:ext cx="109" cy="153"/>
            </a:xfrm>
            <a:custGeom>
              <a:avLst/>
              <a:gdLst>
                <a:gd name="T0" fmla="*/ 0 w 18322"/>
                <a:gd name="T1" fmla="*/ 0 h 21600"/>
                <a:gd name="T2" fmla="*/ 1 w 18322"/>
                <a:gd name="T3" fmla="*/ 0 h 21600"/>
                <a:gd name="T4" fmla="*/ 0 w 18322"/>
                <a:gd name="T5" fmla="*/ 1 h 21600"/>
                <a:gd name="T6" fmla="*/ 0 60000 65536"/>
                <a:gd name="T7" fmla="*/ 0 60000 65536"/>
                <a:gd name="T8" fmla="*/ 0 60000 65536"/>
                <a:gd name="T9" fmla="*/ 0 w 18322"/>
                <a:gd name="T10" fmla="*/ 0 h 21600"/>
                <a:gd name="T11" fmla="*/ 18322 w 18322"/>
                <a:gd name="T12" fmla="*/ 21600 h 21600"/>
              </a:gdLst>
              <a:ahLst/>
              <a:cxnLst>
                <a:cxn ang="T6">
                  <a:pos x="T0" y="T1"/>
                </a:cxn>
                <a:cxn ang="T7">
                  <a:pos x="T2" y="T3"/>
                </a:cxn>
                <a:cxn ang="T8">
                  <a:pos x="T4" y="T5"/>
                </a:cxn>
              </a:cxnLst>
              <a:rect l="T9" t="T10" r="T11" b="T12"/>
              <a:pathLst>
                <a:path w="18322" h="21600" fill="none" extrusionOk="0">
                  <a:moveTo>
                    <a:pt x="-1" y="1188"/>
                  </a:moveTo>
                  <a:cubicBezTo>
                    <a:pt x="2272" y="401"/>
                    <a:pt x="4661" y="-1"/>
                    <a:pt x="7067" y="0"/>
                  </a:cubicBezTo>
                  <a:cubicBezTo>
                    <a:pt x="11038" y="0"/>
                    <a:pt x="14932" y="1094"/>
                    <a:pt x="18321" y="3164"/>
                  </a:cubicBezTo>
                </a:path>
                <a:path w="18322" h="21600" stroke="0" extrusionOk="0">
                  <a:moveTo>
                    <a:pt x="-1" y="1188"/>
                  </a:moveTo>
                  <a:cubicBezTo>
                    <a:pt x="2272" y="401"/>
                    <a:pt x="4661" y="-1"/>
                    <a:pt x="7067" y="0"/>
                  </a:cubicBezTo>
                  <a:cubicBezTo>
                    <a:pt x="11038" y="0"/>
                    <a:pt x="14932" y="1094"/>
                    <a:pt x="18321" y="3164"/>
                  </a:cubicBezTo>
                  <a:lnTo>
                    <a:pt x="7067" y="21600"/>
                  </a:lnTo>
                  <a:close/>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grpSp>
      <p:sp>
        <p:nvSpPr>
          <p:cNvPr id="127" name="Text Box 82">
            <a:extLst>
              <a:ext uri="{FF2B5EF4-FFF2-40B4-BE49-F238E27FC236}">
                <a16:creationId xmlns:a16="http://schemas.microsoft.com/office/drawing/2014/main" id="{9B2063D4-C456-01D5-8C88-B5A924404BCE}"/>
              </a:ext>
            </a:extLst>
          </p:cNvPr>
          <p:cNvSpPr txBox="1">
            <a:spLocks noChangeArrowheads="1"/>
          </p:cNvSpPr>
          <p:nvPr/>
        </p:nvSpPr>
        <p:spPr bwMode="auto">
          <a:xfrm>
            <a:off x="9893913" y="4280287"/>
            <a:ext cx="1524000" cy="50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1" lang="zh-CN" altLang="en-US" sz="2400" i="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rPr>
              <a:t>局部压扁</a:t>
            </a:r>
          </a:p>
        </p:txBody>
      </p:sp>
      <p:sp>
        <p:nvSpPr>
          <p:cNvPr id="128" name="Text Box 83">
            <a:extLst>
              <a:ext uri="{FF2B5EF4-FFF2-40B4-BE49-F238E27FC236}">
                <a16:creationId xmlns:a16="http://schemas.microsoft.com/office/drawing/2014/main" id="{1A970F88-311B-1BB5-D3BD-01B951B07B0C}"/>
              </a:ext>
            </a:extLst>
          </p:cNvPr>
          <p:cNvSpPr txBox="1">
            <a:spLocks noChangeArrowheads="1"/>
          </p:cNvSpPr>
          <p:nvPr/>
        </p:nvSpPr>
        <p:spPr bwMode="auto">
          <a:xfrm>
            <a:off x="8482987" y="5533375"/>
            <a:ext cx="111280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400" i="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rPr>
              <a:t>挤压面</a:t>
            </a:r>
          </a:p>
        </p:txBody>
      </p:sp>
      <p:sp>
        <p:nvSpPr>
          <p:cNvPr id="129" name="Text Box 84">
            <a:extLst>
              <a:ext uri="{FF2B5EF4-FFF2-40B4-BE49-F238E27FC236}">
                <a16:creationId xmlns:a16="http://schemas.microsoft.com/office/drawing/2014/main" id="{2C656BC1-6A81-2FA9-434F-7D426594DCB5}"/>
              </a:ext>
            </a:extLst>
          </p:cNvPr>
          <p:cNvSpPr txBox="1">
            <a:spLocks noChangeArrowheads="1"/>
          </p:cNvSpPr>
          <p:nvPr/>
        </p:nvSpPr>
        <p:spPr bwMode="auto">
          <a:xfrm>
            <a:off x="8519499" y="3983975"/>
            <a:ext cx="173156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400" i="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rPr>
              <a:t>孔侧面压皱</a:t>
            </a:r>
          </a:p>
        </p:txBody>
      </p:sp>
      <p:sp>
        <p:nvSpPr>
          <p:cNvPr id="130" name="Line 85">
            <a:extLst>
              <a:ext uri="{FF2B5EF4-FFF2-40B4-BE49-F238E27FC236}">
                <a16:creationId xmlns:a16="http://schemas.microsoft.com/office/drawing/2014/main" id="{C12F17E3-849A-E84F-4F2C-09178B6781BD}"/>
              </a:ext>
            </a:extLst>
          </p:cNvPr>
          <p:cNvSpPr>
            <a:spLocks noChangeShapeType="1"/>
          </p:cNvSpPr>
          <p:nvPr/>
        </p:nvSpPr>
        <p:spPr bwMode="auto">
          <a:xfrm flipV="1">
            <a:off x="8473462" y="4380850"/>
            <a:ext cx="823912" cy="2016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sp>
        <p:nvSpPr>
          <p:cNvPr id="131" name="Line 86">
            <a:extLst>
              <a:ext uri="{FF2B5EF4-FFF2-40B4-BE49-F238E27FC236}">
                <a16:creationId xmlns:a16="http://schemas.microsoft.com/office/drawing/2014/main" id="{BA231453-D7EF-EEDC-C052-446D2453A793}"/>
              </a:ext>
            </a:extLst>
          </p:cNvPr>
          <p:cNvSpPr>
            <a:spLocks noChangeShapeType="1"/>
          </p:cNvSpPr>
          <p:nvPr/>
        </p:nvSpPr>
        <p:spPr bwMode="auto">
          <a:xfrm>
            <a:off x="8489337" y="5317475"/>
            <a:ext cx="388937" cy="3333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sp>
        <p:nvSpPr>
          <p:cNvPr id="132" name="Line 87">
            <a:extLst>
              <a:ext uri="{FF2B5EF4-FFF2-40B4-BE49-F238E27FC236}">
                <a16:creationId xmlns:a16="http://schemas.microsoft.com/office/drawing/2014/main" id="{BE80D2F7-7587-9D67-D82B-FCCA469246C7}"/>
              </a:ext>
            </a:extLst>
          </p:cNvPr>
          <p:cNvSpPr>
            <a:spLocks noChangeShapeType="1"/>
          </p:cNvSpPr>
          <p:nvPr/>
        </p:nvSpPr>
        <p:spPr bwMode="auto">
          <a:xfrm flipV="1">
            <a:off x="9124337" y="5317475"/>
            <a:ext cx="331787" cy="3619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sp>
        <p:nvSpPr>
          <p:cNvPr id="133" name="Line 88">
            <a:extLst>
              <a:ext uri="{FF2B5EF4-FFF2-40B4-BE49-F238E27FC236}">
                <a16:creationId xmlns:a16="http://schemas.microsoft.com/office/drawing/2014/main" id="{74536853-39BA-8C04-15BE-AA30857393C7}"/>
              </a:ext>
            </a:extLst>
          </p:cNvPr>
          <p:cNvSpPr>
            <a:spLocks noChangeShapeType="1"/>
          </p:cNvSpPr>
          <p:nvPr/>
        </p:nvSpPr>
        <p:spPr bwMode="auto">
          <a:xfrm flipV="1">
            <a:off x="9657737" y="4553887"/>
            <a:ext cx="288925" cy="8572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grpSp>
        <p:nvGrpSpPr>
          <p:cNvPr id="134" name="Group 96">
            <a:extLst>
              <a:ext uri="{FF2B5EF4-FFF2-40B4-BE49-F238E27FC236}">
                <a16:creationId xmlns:a16="http://schemas.microsoft.com/office/drawing/2014/main" id="{8A3BFABB-0813-F12C-E36D-1D31432C7CB8}"/>
              </a:ext>
            </a:extLst>
          </p:cNvPr>
          <p:cNvGrpSpPr>
            <a:grpSpLocks noChangeAspect="1"/>
          </p:cNvGrpSpPr>
          <p:nvPr/>
        </p:nvGrpSpPr>
        <p:grpSpPr bwMode="auto">
          <a:xfrm>
            <a:off x="8348049" y="4611037"/>
            <a:ext cx="311150" cy="1050925"/>
            <a:chOff x="5121" y="1424"/>
            <a:chExt cx="281" cy="947"/>
          </a:xfrm>
        </p:grpSpPr>
        <p:sp>
          <p:nvSpPr>
            <p:cNvPr id="135" name="Freeform 97">
              <a:extLst>
                <a:ext uri="{FF2B5EF4-FFF2-40B4-BE49-F238E27FC236}">
                  <a16:creationId xmlns:a16="http://schemas.microsoft.com/office/drawing/2014/main" id="{32C3D203-E085-36BE-9C2B-C29161E6531D}"/>
                </a:ext>
              </a:extLst>
            </p:cNvPr>
            <p:cNvSpPr>
              <a:spLocks noChangeAspect="1"/>
            </p:cNvSpPr>
            <p:nvPr/>
          </p:nvSpPr>
          <p:spPr bwMode="auto">
            <a:xfrm>
              <a:off x="5121" y="1424"/>
              <a:ext cx="281" cy="946"/>
            </a:xfrm>
            <a:custGeom>
              <a:avLst/>
              <a:gdLst>
                <a:gd name="T0" fmla="*/ 273 w 281"/>
                <a:gd name="T1" fmla="*/ 36 h 946"/>
                <a:gd name="T2" fmla="*/ 150 w 281"/>
                <a:gd name="T3" fmla="*/ 10 h 946"/>
                <a:gd name="T4" fmla="*/ 84 w 281"/>
                <a:gd name="T5" fmla="*/ 55 h 946"/>
                <a:gd name="T6" fmla="*/ 18 w 281"/>
                <a:gd name="T7" fmla="*/ 172 h 946"/>
                <a:gd name="T8" fmla="*/ 21 w 281"/>
                <a:gd name="T9" fmla="*/ 532 h 946"/>
                <a:gd name="T10" fmla="*/ 48 w 281"/>
                <a:gd name="T11" fmla="*/ 946 h 946"/>
                <a:gd name="T12" fmla="*/ 281 w 281"/>
                <a:gd name="T13" fmla="*/ 760 h 946"/>
                <a:gd name="T14" fmla="*/ 271 w 281"/>
                <a:gd name="T15" fmla="*/ 136 h 946"/>
                <a:gd name="T16" fmla="*/ 0 60000 65536"/>
                <a:gd name="T17" fmla="*/ 0 60000 65536"/>
                <a:gd name="T18" fmla="*/ 0 60000 65536"/>
                <a:gd name="T19" fmla="*/ 0 60000 65536"/>
                <a:gd name="T20" fmla="*/ 0 60000 65536"/>
                <a:gd name="T21" fmla="*/ 0 60000 65536"/>
                <a:gd name="T22" fmla="*/ 0 60000 65536"/>
                <a:gd name="T23" fmla="*/ 0 60000 65536"/>
                <a:gd name="T24" fmla="*/ 0 w 281"/>
                <a:gd name="T25" fmla="*/ 0 h 946"/>
                <a:gd name="T26" fmla="*/ 281 w 281"/>
                <a:gd name="T27" fmla="*/ 946 h 94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81" h="946">
                  <a:moveTo>
                    <a:pt x="273" y="36"/>
                  </a:moveTo>
                  <a:cubicBezTo>
                    <a:pt x="187" y="8"/>
                    <a:pt x="278" y="0"/>
                    <a:pt x="150" y="10"/>
                  </a:cubicBezTo>
                  <a:cubicBezTo>
                    <a:pt x="134" y="15"/>
                    <a:pt x="89" y="39"/>
                    <a:pt x="84" y="55"/>
                  </a:cubicBezTo>
                  <a:cubicBezTo>
                    <a:pt x="71" y="95"/>
                    <a:pt x="34" y="108"/>
                    <a:pt x="18" y="172"/>
                  </a:cubicBezTo>
                  <a:cubicBezTo>
                    <a:pt x="22" y="258"/>
                    <a:pt x="28" y="346"/>
                    <a:pt x="21" y="532"/>
                  </a:cubicBezTo>
                  <a:cubicBezTo>
                    <a:pt x="28" y="661"/>
                    <a:pt x="0" y="883"/>
                    <a:pt x="48" y="946"/>
                  </a:cubicBezTo>
                  <a:cubicBezTo>
                    <a:pt x="162" y="849"/>
                    <a:pt x="281" y="760"/>
                    <a:pt x="281" y="760"/>
                  </a:cubicBezTo>
                  <a:lnTo>
                    <a:pt x="271" y="136"/>
                  </a:lnTo>
                </a:path>
              </a:pathLst>
            </a:custGeom>
            <a:gradFill rotWithShape="0">
              <a:gsLst>
                <a:gs pos="0">
                  <a:srgbClr val="000000"/>
                </a:gs>
                <a:gs pos="100000">
                  <a:srgbClr val="CC9900"/>
                </a:gs>
              </a:gsLst>
              <a:lin ang="0" scaled="1"/>
            </a:gradFill>
            <a:ln>
              <a:noFill/>
            </a:ln>
            <a:extLst>
              <a:ext uri="{91240B29-F687-4F45-9708-019B960494DF}">
                <a14:hiddenLine xmlns:a14="http://schemas.microsoft.com/office/drawing/2010/main" w="28575" cmpd="sng">
                  <a:solidFill>
                    <a:srgbClr val="000000"/>
                  </a:solidFill>
                  <a:round/>
                  <a:headEnd/>
                  <a:tailEnd/>
                </a14:hiddenLine>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sp>
          <p:nvSpPr>
            <p:cNvPr id="136" name="Arc 98">
              <a:extLst>
                <a:ext uri="{FF2B5EF4-FFF2-40B4-BE49-F238E27FC236}">
                  <a16:creationId xmlns:a16="http://schemas.microsoft.com/office/drawing/2014/main" id="{AE20D450-8B2A-2F4C-3653-A97BD417C2B6}"/>
                </a:ext>
              </a:extLst>
            </p:cNvPr>
            <p:cNvSpPr>
              <a:spLocks noChangeAspect="1"/>
            </p:cNvSpPr>
            <p:nvPr/>
          </p:nvSpPr>
          <p:spPr bwMode="auto">
            <a:xfrm rot="-5171298">
              <a:off x="5160" y="1432"/>
              <a:ext cx="229" cy="239"/>
            </a:xfrm>
            <a:custGeom>
              <a:avLst/>
              <a:gdLst>
                <a:gd name="T0" fmla="*/ 0 w 32941"/>
                <a:gd name="T1" fmla="*/ 0 h 31545"/>
                <a:gd name="T2" fmla="*/ 1 w 32941"/>
                <a:gd name="T3" fmla="*/ 2 h 31545"/>
                <a:gd name="T4" fmla="*/ 1 w 32941"/>
                <a:gd name="T5" fmla="*/ 1 h 31545"/>
                <a:gd name="T6" fmla="*/ 0 60000 65536"/>
                <a:gd name="T7" fmla="*/ 0 60000 65536"/>
                <a:gd name="T8" fmla="*/ 0 60000 65536"/>
                <a:gd name="T9" fmla="*/ 0 w 32941"/>
                <a:gd name="T10" fmla="*/ 0 h 31545"/>
                <a:gd name="T11" fmla="*/ 32941 w 32941"/>
                <a:gd name="T12" fmla="*/ 31545 h 31545"/>
              </a:gdLst>
              <a:ahLst/>
              <a:cxnLst>
                <a:cxn ang="T6">
                  <a:pos x="T0" y="T1"/>
                </a:cxn>
                <a:cxn ang="T7">
                  <a:pos x="T2" y="T3"/>
                </a:cxn>
                <a:cxn ang="T8">
                  <a:pos x="T4" y="T5"/>
                </a:cxn>
              </a:cxnLst>
              <a:rect l="T9" t="T10" r="T11" b="T12"/>
              <a:pathLst>
                <a:path w="32941" h="31545" fill="none" extrusionOk="0">
                  <a:moveTo>
                    <a:pt x="-1" y="3216"/>
                  </a:moveTo>
                  <a:cubicBezTo>
                    <a:pt x="3408" y="1113"/>
                    <a:pt x="7335" y="-1"/>
                    <a:pt x="11341" y="0"/>
                  </a:cubicBezTo>
                  <a:cubicBezTo>
                    <a:pt x="23270" y="0"/>
                    <a:pt x="32941" y="9670"/>
                    <a:pt x="32941" y="21600"/>
                  </a:cubicBezTo>
                  <a:cubicBezTo>
                    <a:pt x="32941" y="25061"/>
                    <a:pt x="32109" y="28472"/>
                    <a:pt x="30515" y="31545"/>
                  </a:cubicBezTo>
                </a:path>
                <a:path w="32941" h="31545" stroke="0" extrusionOk="0">
                  <a:moveTo>
                    <a:pt x="-1" y="3216"/>
                  </a:moveTo>
                  <a:cubicBezTo>
                    <a:pt x="3408" y="1113"/>
                    <a:pt x="7335" y="-1"/>
                    <a:pt x="11341" y="0"/>
                  </a:cubicBezTo>
                  <a:cubicBezTo>
                    <a:pt x="23270" y="0"/>
                    <a:pt x="32941" y="9670"/>
                    <a:pt x="32941" y="21600"/>
                  </a:cubicBezTo>
                  <a:cubicBezTo>
                    <a:pt x="32941" y="25061"/>
                    <a:pt x="32109" y="28472"/>
                    <a:pt x="30515" y="31545"/>
                  </a:cubicBezTo>
                  <a:lnTo>
                    <a:pt x="11341" y="21600"/>
                  </a:lnTo>
                  <a:close/>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sp>
          <p:nvSpPr>
            <p:cNvPr id="137" name="AutoShape 99" descr="宽下对角线">
              <a:extLst>
                <a:ext uri="{FF2B5EF4-FFF2-40B4-BE49-F238E27FC236}">
                  <a16:creationId xmlns:a16="http://schemas.microsoft.com/office/drawing/2014/main" id="{F59E3E18-3D68-1BB8-1F03-C097868C7132}"/>
                </a:ext>
              </a:extLst>
            </p:cNvPr>
            <p:cNvSpPr>
              <a:spLocks noChangeAspect="1" noChangeArrowheads="1"/>
            </p:cNvSpPr>
            <p:nvPr/>
          </p:nvSpPr>
          <p:spPr bwMode="auto">
            <a:xfrm rot="16200000" flipH="1">
              <a:off x="4836" y="1810"/>
              <a:ext cx="905" cy="218"/>
            </a:xfrm>
            <a:prstGeom prst="parallelogram">
              <a:avLst>
                <a:gd name="adj" fmla="val 90100"/>
              </a:avLst>
            </a:prstGeom>
            <a:pattFill prst="wdDnDiag">
              <a:fgClr>
                <a:srgbClr val="000000"/>
              </a:fgClr>
              <a:bgClr>
                <a:srgbClr val="FF99FF"/>
              </a:bgClr>
            </a:pattFill>
            <a:ln w="28575">
              <a:solidFill>
                <a:srgbClr val="000000"/>
              </a:solidFill>
              <a:miter lim="800000"/>
              <a:headEnd/>
              <a:tailEnd/>
            </a:ln>
          </p:spPr>
          <p:txBody>
            <a:bodyPr wrap="none" anchor="ct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CC"/>
                </a:solidFill>
                <a:effectLst/>
                <a:uLnTx/>
                <a:uFillTx/>
                <a:latin typeface="Times New Roman" panose="02020603050405020304" pitchFamily="18" charset="0"/>
                <a:ea typeface="黑体" panose="02010609060101010101" pitchFamily="49" charset="-122"/>
              </a:endParaRPr>
            </a:p>
          </p:txBody>
        </p:sp>
        <p:sp>
          <p:nvSpPr>
            <p:cNvPr id="138" name="Line 100">
              <a:extLst>
                <a:ext uri="{FF2B5EF4-FFF2-40B4-BE49-F238E27FC236}">
                  <a16:creationId xmlns:a16="http://schemas.microsoft.com/office/drawing/2014/main" id="{824A6F43-BAFE-B22C-41BF-085733097EB2}"/>
                </a:ext>
              </a:extLst>
            </p:cNvPr>
            <p:cNvSpPr>
              <a:spLocks noChangeAspect="1" noChangeShapeType="1"/>
            </p:cNvSpPr>
            <p:nvPr/>
          </p:nvSpPr>
          <p:spPr bwMode="auto">
            <a:xfrm>
              <a:off x="5150" y="1578"/>
              <a:ext cx="0" cy="689"/>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sp>
          <p:nvSpPr>
            <p:cNvPr id="139" name="Arc 101">
              <a:extLst>
                <a:ext uri="{FF2B5EF4-FFF2-40B4-BE49-F238E27FC236}">
                  <a16:creationId xmlns:a16="http://schemas.microsoft.com/office/drawing/2014/main" id="{4436B73D-728A-153C-9910-5067B7F4B10B}"/>
                </a:ext>
              </a:extLst>
            </p:cNvPr>
            <p:cNvSpPr>
              <a:spLocks noChangeAspect="1"/>
            </p:cNvSpPr>
            <p:nvPr/>
          </p:nvSpPr>
          <p:spPr bwMode="auto">
            <a:xfrm rot="-6511227">
              <a:off x="5165" y="2224"/>
              <a:ext cx="109" cy="153"/>
            </a:xfrm>
            <a:custGeom>
              <a:avLst/>
              <a:gdLst>
                <a:gd name="T0" fmla="*/ 0 w 18322"/>
                <a:gd name="T1" fmla="*/ 0 h 21600"/>
                <a:gd name="T2" fmla="*/ 1 w 18322"/>
                <a:gd name="T3" fmla="*/ 0 h 21600"/>
                <a:gd name="T4" fmla="*/ 0 w 18322"/>
                <a:gd name="T5" fmla="*/ 1 h 21600"/>
                <a:gd name="T6" fmla="*/ 0 60000 65536"/>
                <a:gd name="T7" fmla="*/ 0 60000 65536"/>
                <a:gd name="T8" fmla="*/ 0 60000 65536"/>
                <a:gd name="T9" fmla="*/ 0 w 18322"/>
                <a:gd name="T10" fmla="*/ 0 h 21600"/>
                <a:gd name="T11" fmla="*/ 18322 w 18322"/>
                <a:gd name="T12" fmla="*/ 21600 h 21600"/>
              </a:gdLst>
              <a:ahLst/>
              <a:cxnLst>
                <a:cxn ang="T6">
                  <a:pos x="T0" y="T1"/>
                </a:cxn>
                <a:cxn ang="T7">
                  <a:pos x="T2" y="T3"/>
                </a:cxn>
                <a:cxn ang="T8">
                  <a:pos x="T4" y="T5"/>
                </a:cxn>
              </a:cxnLst>
              <a:rect l="T9" t="T10" r="T11" b="T12"/>
              <a:pathLst>
                <a:path w="18322" h="21600" fill="none" extrusionOk="0">
                  <a:moveTo>
                    <a:pt x="-1" y="1188"/>
                  </a:moveTo>
                  <a:cubicBezTo>
                    <a:pt x="2272" y="401"/>
                    <a:pt x="4661" y="-1"/>
                    <a:pt x="7067" y="0"/>
                  </a:cubicBezTo>
                  <a:cubicBezTo>
                    <a:pt x="11038" y="0"/>
                    <a:pt x="14932" y="1094"/>
                    <a:pt x="18321" y="3164"/>
                  </a:cubicBezTo>
                </a:path>
                <a:path w="18322" h="21600" stroke="0" extrusionOk="0">
                  <a:moveTo>
                    <a:pt x="-1" y="1188"/>
                  </a:moveTo>
                  <a:cubicBezTo>
                    <a:pt x="2272" y="401"/>
                    <a:pt x="4661" y="-1"/>
                    <a:pt x="7067" y="0"/>
                  </a:cubicBezTo>
                  <a:cubicBezTo>
                    <a:pt x="11038" y="0"/>
                    <a:pt x="14932" y="1094"/>
                    <a:pt x="18321" y="3164"/>
                  </a:cubicBezTo>
                  <a:lnTo>
                    <a:pt x="7067" y="21600"/>
                  </a:lnTo>
                  <a:close/>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grpSp>
    </p:spTree>
    <p:extLst>
      <p:ext uri="{BB962C8B-B14F-4D97-AF65-F5344CB8AC3E}">
        <p14:creationId xmlns:p14="http://schemas.microsoft.com/office/powerpoint/2010/main" val="104246006"/>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9"/>
                                        </p:tgtEl>
                                        <p:attrNameLst>
                                          <p:attrName>style.visibility</p:attrName>
                                        </p:attrNameLst>
                                      </p:cBhvr>
                                      <p:to>
                                        <p:strVal val="visible"/>
                                      </p:to>
                                    </p:set>
                                  </p:childTnLst>
                                </p:cTn>
                              </p:par>
                              <p:par>
                                <p:cTn id="7" presetID="10" presetClass="entr" presetSubtype="0" fill="hold" nodeType="withEffect">
                                  <p:stCondLst>
                                    <p:cond delay="0"/>
                                  </p:stCondLst>
                                  <p:childTnLst>
                                    <p:set>
                                      <p:cBhvr>
                                        <p:cTn id="8" dur="1" fill="hold">
                                          <p:stCondLst>
                                            <p:cond delay="0"/>
                                          </p:stCondLst>
                                        </p:cTn>
                                        <p:tgtEl>
                                          <p:spTgt spid="134"/>
                                        </p:tgtEl>
                                        <p:attrNameLst>
                                          <p:attrName>style.visibility</p:attrName>
                                        </p:attrNameLst>
                                      </p:cBhvr>
                                      <p:to>
                                        <p:strVal val="visible"/>
                                      </p:to>
                                    </p:set>
                                    <p:animEffect transition="in" filter="fade">
                                      <p:cBhvr>
                                        <p:cTn id="9" dur="3000"/>
                                        <p:tgtEl>
                                          <p:spTgt spid="134"/>
                                        </p:tgtEl>
                                      </p:cBhvr>
                                    </p:animEffect>
                                  </p:childTnLst>
                                </p:cTn>
                              </p:par>
                            </p:childTnLst>
                          </p:cTn>
                        </p:par>
                        <p:par>
                          <p:cTn id="10" fill="hold">
                            <p:stCondLst>
                              <p:cond delay="3000"/>
                            </p:stCondLst>
                            <p:childTnLst>
                              <p:par>
                                <p:cTn id="11" presetID="18" presetClass="entr" presetSubtype="3" fill="hold" nodeType="afterEffect">
                                  <p:stCondLst>
                                    <p:cond delay="0"/>
                                  </p:stCondLst>
                                  <p:childTnLst>
                                    <p:set>
                                      <p:cBhvr>
                                        <p:cTn id="12" dur="1" fill="hold">
                                          <p:stCondLst>
                                            <p:cond delay="0"/>
                                          </p:stCondLst>
                                        </p:cTn>
                                        <p:tgtEl>
                                          <p:spTgt spid="130"/>
                                        </p:tgtEl>
                                        <p:attrNameLst>
                                          <p:attrName>style.visibility</p:attrName>
                                        </p:attrNameLst>
                                      </p:cBhvr>
                                      <p:to>
                                        <p:strVal val="visible"/>
                                      </p:to>
                                    </p:set>
                                    <p:animEffect transition="in" filter="strips(upRight)">
                                      <p:cBhvr>
                                        <p:cTn id="13" dur="3000"/>
                                        <p:tgtEl>
                                          <p:spTgt spid="130"/>
                                        </p:tgtEl>
                                      </p:cBhvr>
                                    </p:animEffect>
                                  </p:childTnLst>
                                  <p:subTnLst>
                                    <p:audio>
                                      <p:cMediaNode>
                                        <p:cTn display="0" masterRel="sameClick">
                                          <p:stCondLst>
                                            <p:cond evt="begin" delay="0">
                                              <p:tn val="11"/>
                                            </p:cond>
                                          </p:stCondLst>
                                          <p:endCondLst>
                                            <p:cond evt="onStopAudio" delay="0">
                                              <p:tgtEl>
                                                <p:sldTgt/>
                                              </p:tgtEl>
                                            </p:cond>
                                          </p:endCondLst>
                                        </p:cTn>
                                        <p:tgtEl>
                                          <p:sndTgt r:embed="rId3" name="CHIMES.WAV"/>
                                        </p:tgtEl>
                                      </p:cMediaNode>
                                    </p:audio>
                                  </p:subTnLst>
                                </p:cTn>
                              </p:par>
                            </p:childTnLst>
                          </p:cTn>
                        </p:par>
                        <p:par>
                          <p:cTn id="14" fill="hold">
                            <p:stCondLst>
                              <p:cond delay="6000"/>
                            </p:stCondLst>
                            <p:childTnLst>
                              <p:par>
                                <p:cTn id="15" presetID="17" presetClass="entr" presetSubtype="10" fill="hold" grpId="0" nodeType="afterEffect">
                                  <p:stCondLst>
                                    <p:cond delay="0"/>
                                  </p:stCondLst>
                                  <p:iterate type="lt">
                                    <p:tmPct val="100000"/>
                                  </p:iterate>
                                  <p:childTnLst>
                                    <p:set>
                                      <p:cBhvr>
                                        <p:cTn id="16" dur="1" fill="hold">
                                          <p:stCondLst>
                                            <p:cond delay="0"/>
                                          </p:stCondLst>
                                        </p:cTn>
                                        <p:tgtEl>
                                          <p:spTgt spid="129"/>
                                        </p:tgtEl>
                                        <p:attrNameLst>
                                          <p:attrName>style.visibility</p:attrName>
                                        </p:attrNameLst>
                                      </p:cBhvr>
                                      <p:to>
                                        <p:strVal val="visible"/>
                                      </p:to>
                                    </p:set>
                                    <p:anim calcmode="lin" valueType="num">
                                      <p:cBhvr>
                                        <p:cTn id="17" dur="1000" fill="hold"/>
                                        <p:tgtEl>
                                          <p:spTgt spid="129"/>
                                        </p:tgtEl>
                                        <p:attrNameLst>
                                          <p:attrName>ppt_w</p:attrName>
                                        </p:attrNameLst>
                                      </p:cBhvr>
                                      <p:tavLst>
                                        <p:tav tm="0">
                                          <p:val>
                                            <p:fltVal val="0"/>
                                          </p:val>
                                        </p:tav>
                                        <p:tav tm="100000">
                                          <p:val>
                                            <p:strVal val="#ppt_w"/>
                                          </p:val>
                                        </p:tav>
                                      </p:tavLst>
                                    </p:anim>
                                    <p:anim calcmode="lin" valueType="num">
                                      <p:cBhvr>
                                        <p:cTn id="18" dur="1000" fill="hold"/>
                                        <p:tgtEl>
                                          <p:spTgt spid="129"/>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5"/>
                                            </p:cond>
                                          </p:stCondLst>
                                          <p:endCondLst>
                                            <p:cond evt="onStopAudio" delay="0">
                                              <p:tgtEl>
                                                <p:sldTgt/>
                                              </p:tgtEl>
                                            </p:cond>
                                          </p:endCondLst>
                                        </p:cTn>
                                        <p:tgtEl>
                                          <p:sndTgt r:embed="rId3" name="CHIMES.WAV"/>
                                        </p:tgtEl>
                                      </p:cMediaNode>
                                    </p:audio>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1"/>
                                        </p:tgtEl>
                                        <p:attrNameLst>
                                          <p:attrName>style.visibility</p:attrName>
                                        </p:attrNameLst>
                                      </p:cBhvr>
                                      <p:to>
                                        <p:strVal val="visible"/>
                                      </p:to>
                                    </p:set>
                                  </p:childTnLst>
                                </p:cTn>
                              </p:par>
                              <p:par>
                                <p:cTn id="23" presetID="9" presetClass="emph" presetSubtype="0" nodeType="withEffect">
                                  <p:stCondLst>
                                    <p:cond delay="0"/>
                                  </p:stCondLst>
                                  <p:childTnLst>
                                    <p:set>
                                      <p:cBhvr rctx="PPT">
                                        <p:cTn id="24" dur="indefinite"/>
                                        <p:tgtEl>
                                          <p:spTgt spid="134"/>
                                        </p:tgtEl>
                                        <p:attrNameLst>
                                          <p:attrName>style.opacity</p:attrName>
                                        </p:attrNameLst>
                                      </p:cBhvr>
                                      <p:to>
                                        <p:strVal val="0.25"/>
                                      </p:to>
                                    </p:set>
                                    <p:animEffect filter="image" prLst="opacity: 0.25">
                                      <p:cBhvr rctx="IE">
                                        <p:cTn id="25" dur="indefinite"/>
                                        <p:tgtEl>
                                          <p:spTgt spid="134"/>
                                        </p:tgtEl>
                                      </p:cBhvr>
                                    </p:animEffect>
                                  </p:childTnLst>
                                </p:cTn>
                              </p:par>
                            </p:childTnLst>
                          </p:cTn>
                        </p:par>
                        <p:par>
                          <p:cTn id="26" fill="hold">
                            <p:stCondLst>
                              <p:cond delay="0"/>
                            </p:stCondLst>
                            <p:childTnLst>
                              <p:par>
                                <p:cTn id="27" presetID="0" presetClass="path" presetSubtype="0" accel="50000" decel="50000" fill="hold" nodeType="afterEffect">
                                  <p:stCondLst>
                                    <p:cond delay="0"/>
                                  </p:stCondLst>
                                  <p:childTnLst>
                                    <p:animMotion origin="layout" path="M 3.125E-6 2.22222E-6 L -0.12617 0.0037 " pathEditMode="relative" rAng="0" ptsTypes="AA">
                                      <p:cBhvr>
                                        <p:cTn id="28" dur="5000" spd="-100000" fill="hold"/>
                                        <p:tgtEl>
                                          <p:spTgt spid="121"/>
                                        </p:tgtEl>
                                        <p:attrNameLst>
                                          <p:attrName>ppt_x</p:attrName>
                                          <p:attrName>ppt_y</p:attrName>
                                        </p:attrNameLst>
                                      </p:cBhvr>
                                      <p:rCtr x="-6315" y="185"/>
                                    </p:animMotion>
                                  </p:childTnLst>
                                </p:cTn>
                              </p:par>
                            </p:childTnLst>
                          </p:cTn>
                        </p:par>
                        <p:par>
                          <p:cTn id="29" fill="hold">
                            <p:stCondLst>
                              <p:cond delay="5000"/>
                            </p:stCondLst>
                            <p:childTnLst>
                              <p:par>
                                <p:cTn id="30" presetID="18" presetClass="entr" presetSubtype="3" fill="hold" nodeType="afterEffect">
                                  <p:stCondLst>
                                    <p:cond delay="0"/>
                                  </p:stCondLst>
                                  <p:childTnLst>
                                    <p:set>
                                      <p:cBhvr>
                                        <p:cTn id="31" dur="1" fill="hold">
                                          <p:stCondLst>
                                            <p:cond delay="0"/>
                                          </p:stCondLst>
                                        </p:cTn>
                                        <p:tgtEl>
                                          <p:spTgt spid="133"/>
                                        </p:tgtEl>
                                        <p:attrNameLst>
                                          <p:attrName>style.visibility</p:attrName>
                                        </p:attrNameLst>
                                      </p:cBhvr>
                                      <p:to>
                                        <p:strVal val="visible"/>
                                      </p:to>
                                    </p:set>
                                    <p:animEffect transition="in" filter="strips(upRight)">
                                      <p:cBhvr>
                                        <p:cTn id="32" dur="3000"/>
                                        <p:tgtEl>
                                          <p:spTgt spid="133"/>
                                        </p:tgtEl>
                                      </p:cBhvr>
                                    </p:animEffect>
                                  </p:childTnLst>
                                  <p:subTnLst>
                                    <p:audio>
                                      <p:cMediaNode>
                                        <p:cTn display="0" masterRel="sameClick">
                                          <p:stCondLst>
                                            <p:cond evt="begin" delay="0">
                                              <p:tn val="30"/>
                                            </p:cond>
                                          </p:stCondLst>
                                          <p:endCondLst>
                                            <p:cond evt="onStopAudio" delay="0">
                                              <p:tgtEl>
                                                <p:sldTgt/>
                                              </p:tgtEl>
                                            </p:cond>
                                          </p:endCondLst>
                                        </p:cTn>
                                        <p:tgtEl>
                                          <p:sndTgt r:embed="rId3" name="CHIMES.WAV"/>
                                        </p:tgtEl>
                                      </p:cMediaNode>
                                    </p:audio>
                                  </p:subTnLst>
                                </p:cTn>
                              </p:par>
                            </p:childTnLst>
                          </p:cTn>
                        </p:par>
                        <p:par>
                          <p:cTn id="33" fill="hold">
                            <p:stCondLst>
                              <p:cond delay="8000"/>
                            </p:stCondLst>
                            <p:childTnLst>
                              <p:par>
                                <p:cTn id="34" presetID="22" presetClass="entr" presetSubtype="8" fill="hold" grpId="0" nodeType="afterEffect">
                                  <p:stCondLst>
                                    <p:cond delay="0"/>
                                  </p:stCondLst>
                                  <p:childTnLst>
                                    <p:set>
                                      <p:cBhvr>
                                        <p:cTn id="35" dur="1" fill="hold">
                                          <p:stCondLst>
                                            <p:cond delay="0"/>
                                          </p:stCondLst>
                                        </p:cTn>
                                        <p:tgtEl>
                                          <p:spTgt spid="127"/>
                                        </p:tgtEl>
                                        <p:attrNameLst>
                                          <p:attrName>style.visibility</p:attrName>
                                        </p:attrNameLst>
                                      </p:cBhvr>
                                      <p:to>
                                        <p:strVal val="visible"/>
                                      </p:to>
                                    </p:set>
                                    <p:animEffect transition="in" filter="wipe(left)">
                                      <p:cBhvr>
                                        <p:cTn id="36" dur="3000"/>
                                        <p:tgtEl>
                                          <p:spTgt spid="127"/>
                                        </p:tgtEl>
                                      </p:cBhvr>
                                    </p:animEffect>
                                  </p:childTnLst>
                                  <p:subTnLst>
                                    <p:audio>
                                      <p:cMediaNode>
                                        <p:cTn display="0" masterRel="sameClick">
                                          <p:stCondLst>
                                            <p:cond evt="begin" delay="0">
                                              <p:tn val="34"/>
                                            </p:cond>
                                          </p:stCondLst>
                                          <p:endCondLst>
                                            <p:cond evt="onStopAudio" delay="0">
                                              <p:tgtEl>
                                                <p:sldTgt/>
                                              </p:tgtEl>
                                            </p:cond>
                                          </p:endCondLst>
                                        </p:cTn>
                                        <p:tgtEl>
                                          <p:sndTgt r:embed="rId3" name="CHIMES.WAV"/>
                                        </p:tgtEl>
                                      </p:cMediaNode>
                                    </p:audio>
                                  </p:subTnLst>
                                </p:cTn>
                              </p:par>
                            </p:childTnLst>
                          </p:cTn>
                        </p:par>
                        <p:par>
                          <p:cTn id="37" fill="hold">
                            <p:stCondLst>
                              <p:cond delay="11000"/>
                            </p:stCondLst>
                            <p:childTnLst>
                              <p:par>
                                <p:cTn id="38" presetID="18" presetClass="entr" presetSubtype="9" fill="hold" nodeType="afterEffect">
                                  <p:stCondLst>
                                    <p:cond delay="0"/>
                                  </p:stCondLst>
                                  <p:childTnLst>
                                    <p:set>
                                      <p:cBhvr>
                                        <p:cTn id="39" dur="1" fill="hold">
                                          <p:stCondLst>
                                            <p:cond delay="0"/>
                                          </p:stCondLst>
                                        </p:cTn>
                                        <p:tgtEl>
                                          <p:spTgt spid="131"/>
                                        </p:tgtEl>
                                        <p:attrNameLst>
                                          <p:attrName>style.visibility</p:attrName>
                                        </p:attrNameLst>
                                      </p:cBhvr>
                                      <p:to>
                                        <p:strVal val="visible"/>
                                      </p:to>
                                    </p:set>
                                    <p:animEffect transition="in" filter="strips(upLeft)">
                                      <p:cBhvr>
                                        <p:cTn id="40" dur="3000"/>
                                        <p:tgtEl>
                                          <p:spTgt spid="131"/>
                                        </p:tgtEl>
                                      </p:cBhvr>
                                    </p:animEffect>
                                  </p:childTnLst>
                                  <p:subTnLst>
                                    <p:audio>
                                      <p:cMediaNode>
                                        <p:cTn display="0" masterRel="sameClick">
                                          <p:stCondLst>
                                            <p:cond evt="begin" delay="0">
                                              <p:tn val="38"/>
                                            </p:cond>
                                          </p:stCondLst>
                                          <p:endCondLst>
                                            <p:cond evt="onStopAudio" delay="0">
                                              <p:tgtEl>
                                                <p:sldTgt/>
                                              </p:tgtEl>
                                            </p:cond>
                                          </p:endCondLst>
                                        </p:cTn>
                                        <p:tgtEl>
                                          <p:sndTgt r:embed="rId3" name="CHIMES.WAV"/>
                                        </p:tgtEl>
                                      </p:cMediaNode>
                                    </p:audio>
                                  </p:subTnLst>
                                </p:cTn>
                              </p:par>
                              <p:par>
                                <p:cTn id="41" presetID="18" presetClass="entr" presetSubtype="3" fill="hold" nodeType="withEffect">
                                  <p:stCondLst>
                                    <p:cond delay="0"/>
                                  </p:stCondLst>
                                  <p:childTnLst>
                                    <p:set>
                                      <p:cBhvr>
                                        <p:cTn id="42" dur="1" fill="hold">
                                          <p:stCondLst>
                                            <p:cond delay="0"/>
                                          </p:stCondLst>
                                        </p:cTn>
                                        <p:tgtEl>
                                          <p:spTgt spid="132"/>
                                        </p:tgtEl>
                                        <p:attrNameLst>
                                          <p:attrName>style.visibility</p:attrName>
                                        </p:attrNameLst>
                                      </p:cBhvr>
                                      <p:to>
                                        <p:strVal val="visible"/>
                                      </p:to>
                                    </p:set>
                                    <p:animEffect transition="in" filter="strips(upRight)">
                                      <p:cBhvr>
                                        <p:cTn id="43" dur="3000"/>
                                        <p:tgtEl>
                                          <p:spTgt spid="132"/>
                                        </p:tgtEl>
                                      </p:cBhvr>
                                    </p:animEffect>
                                  </p:childTnLst>
                                  <p:subTnLst>
                                    <p:audio>
                                      <p:cMediaNode>
                                        <p:cTn display="0" masterRel="sameClick">
                                          <p:stCondLst>
                                            <p:cond evt="begin" delay="0">
                                              <p:tn val="41"/>
                                            </p:cond>
                                          </p:stCondLst>
                                          <p:endCondLst>
                                            <p:cond evt="onStopAudio" delay="0">
                                              <p:tgtEl>
                                                <p:sldTgt/>
                                              </p:tgtEl>
                                            </p:cond>
                                          </p:endCondLst>
                                        </p:cTn>
                                        <p:tgtEl>
                                          <p:sndTgt r:embed="rId3" name="CHIMES.WAV"/>
                                        </p:tgtEl>
                                      </p:cMediaNode>
                                    </p:audio>
                                  </p:subTnLst>
                                </p:cTn>
                              </p:par>
                            </p:childTnLst>
                          </p:cTn>
                        </p:par>
                        <p:par>
                          <p:cTn id="44" fill="hold">
                            <p:stCondLst>
                              <p:cond delay="14000"/>
                            </p:stCondLst>
                            <p:childTnLst>
                              <p:par>
                                <p:cTn id="45" presetID="22" presetClass="entr" presetSubtype="8" fill="hold" grpId="0" nodeType="afterEffect">
                                  <p:stCondLst>
                                    <p:cond delay="0"/>
                                  </p:stCondLst>
                                  <p:childTnLst>
                                    <p:set>
                                      <p:cBhvr>
                                        <p:cTn id="46" dur="1" fill="hold">
                                          <p:stCondLst>
                                            <p:cond delay="0"/>
                                          </p:stCondLst>
                                        </p:cTn>
                                        <p:tgtEl>
                                          <p:spTgt spid="128"/>
                                        </p:tgtEl>
                                        <p:attrNameLst>
                                          <p:attrName>style.visibility</p:attrName>
                                        </p:attrNameLst>
                                      </p:cBhvr>
                                      <p:to>
                                        <p:strVal val="visible"/>
                                      </p:to>
                                    </p:set>
                                    <p:animEffect transition="in" filter="wipe(left)">
                                      <p:cBhvr>
                                        <p:cTn id="47" dur="3000"/>
                                        <p:tgtEl>
                                          <p:spTgt spid="128"/>
                                        </p:tgtEl>
                                      </p:cBhvr>
                                    </p:animEffect>
                                  </p:childTnLst>
                                  <p:subTnLst>
                                    <p:audio>
                                      <p:cMediaNode>
                                        <p:cTn display="0" masterRel="sameClick">
                                          <p:stCondLst>
                                            <p:cond evt="begin" delay="0">
                                              <p:tn val="45"/>
                                            </p:cond>
                                          </p:stCondLst>
                                          <p:endCondLst>
                                            <p:cond evt="onStopAudio" delay="0">
                                              <p:tgtEl>
                                                <p:sldTgt/>
                                              </p:tgtEl>
                                            </p:cond>
                                          </p:endCondLst>
                                        </p:cTn>
                                        <p:tgtEl>
                                          <p:sndTgt r:embed="rId3"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utoUpdateAnimBg="0"/>
      <p:bldP spid="127" grpId="0" autoUpdateAnimBg="0"/>
      <p:bldP spid="128" grpId="0" autoUpdateAnimBg="0"/>
      <p:bldP spid="129" grpId="0" autoUpdateAnimBg="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711605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第八章   拉压、剪切与挤压的强度计算</a:t>
            </a:r>
          </a:p>
        </p:txBody>
      </p:sp>
      <p:sp>
        <p:nvSpPr>
          <p:cNvPr id="9" name="Text Box 1032">
            <a:extLst>
              <a:ext uri="{FF2B5EF4-FFF2-40B4-BE49-F238E27FC236}">
                <a16:creationId xmlns:a16="http://schemas.microsoft.com/office/drawing/2014/main" id="{5B910DD4-CBB7-A521-D69D-247EA7B635CC}"/>
              </a:ext>
            </a:extLst>
          </p:cNvPr>
          <p:cNvSpPr txBox="1">
            <a:spLocks noChangeArrowheads="1"/>
          </p:cNvSpPr>
          <p:nvPr/>
        </p:nvSpPr>
        <p:spPr bwMode="auto">
          <a:xfrm>
            <a:off x="515381" y="795394"/>
            <a:ext cx="6256745" cy="26336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lnSpc>
                <a:spcPct val="120000"/>
              </a:lnSpc>
            </a:pPr>
            <a:r>
              <a:rPr kumimoji="1" lang="zh-CN" altLang="en-US" sz="2800" i="0" dirty="0">
                <a:solidFill>
                  <a:srgbClr val="FF00FF"/>
                </a:solidFill>
                <a:latin typeface="+mn-lt"/>
                <a:ea typeface="微软雅黑" panose="020B0503020204020204" pitchFamily="34" charset="-122"/>
              </a:rPr>
              <a:t>挤压的实用计算</a:t>
            </a:r>
            <a:endParaRPr kumimoji="1" lang="en-US" altLang="zh-CN" sz="2800" i="0" dirty="0">
              <a:solidFill>
                <a:srgbClr val="FF00FF"/>
              </a:solidFill>
              <a:latin typeface="+mn-lt"/>
              <a:ea typeface="微软雅黑" panose="020B0503020204020204" pitchFamily="34" charset="-122"/>
            </a:endParaRPr>
          </a:p>
          <a:p>
            <a:pPr algn="just">
              <a:lnSpc>
                <a:spcPct val="120000"/>
              </a:lnSpc>
            </a:pPr>
            <a:r>
              <a:rPr kumimoji="1" lang="zh-CN" altLang="en-US" sz="2800" i="0" dirty="0">
                <a:latin typeface="+mn-lt"/>
                <a:ea typeface="微软雅黑" panose="020B0503020204020204" pitchFamily="34" charset="-122"/>
              </a:rPr>
              <a:t>由于挤压面上的挤压应力分布比较复杂，所以与剪切一样，工程中也采用实用计算，即认为挤压应力在挤压面上均匀分布，于是有</a:t>
            </a:r>
          </a:p>
        </p:txBody>
      </p:sp>
      <p:sp>
        <p:nvSpPr>
          <p:cNvPr id="10" name="Rectangle 61">
            <a:extLst>
              <a:ext uri="{FF2B5EF4-FFF2-40B4-BE49-F238E27FC236}">
                <a16:creationId xmlns:a16="http://schemas.microsoft.com/office/drawing/2014/main" id="{A7BABA33-6C6E-5172-113C-D7F1D8E457C6}"/>
              </a:ext>
            </a:extLst>
          </p:cNvPr>
          <p:cNvSpPr>
            <a:spLocks noChangeArrowheads="1"/>
          </p:cNvSpPr>
          <p:nvPr/>
        </p:nvSpPr>
        <p:spPr bwMode="auto">
          <a:xfrm>
            <a:off x="6888088" y="961070"/>
            <a:ext cx="5256584" cy="5276242"/>
          </a:xfrm>
          <a:prstGeom prst="rect">
            <a:avLst/>
          </a:prstGeom>
          <a:solidFill>
            <a:srgbClr val="B9CDE5"/>
          </a:solidFill>
          <a:ln>
            <a:noFill/>
          </a:ln>
          <a:effectLst/>
        </p:spPr>
        <p:txBody>
          <a:bodyPr wrap="none" anchor="ctr"/>
          <a:lstStyle/>
          <a:p>
            <a:pPr lvl="0" algn="ctr">
              <a:spcBef>
                <a:spcPct val="50000"/>
              </a:spcBef>
            </a:pPr>
            <a:endParaRPr kumimoji="1" lang="en-US" altLang="zh-CN" sz="2800" b="0" i="0" dirty="0">
              <a:solidFill>
                <a:schemeClr val="tx1"/>
              </a:solidFill>
              <a:ea typeface="黑体" panose="02010609060101010101" pitchFamily="49" charset="-122"/>
            </a:endParaRPr>
          </a:p>
        </p:txBody>
      </p:sp>
      <p:graphicFrame>
        <p:nvGraphicFramePr>
          <p:cNvPr id="2" name="Object 89">
            <a:extLst>
              <a:ext uri="{FF2B5EF4-FFF2-40B4-BE49-F238E27FC236}">
                <a16:creationId xmlns:a16="http://schemas.microsoft.com/office/drawing/2014/main" id="{8CA4E9A3-471B-B17F-8241-7399D57CEDC2}"/>
              </a:ext>
            </a:extLst>
          </p:cNvPr>
          <p:cNvGraphicFramePr>
            <a:graphicFrameLocks noChangeAspect="1"/>
          </p:cNvGraphicFramePr>
          <p:nvPr>
            <p:extLst>
              <p:ext uri="{D42A27DB-BD31-4B8C-83A1-F6EECF244321}">
                <p14:modId xmlns:p14="http://schemas.microsoft.com/office/powerpoint/2010/main" val="3418072616"/>
              </p:ext>
            </p:extLst>
          </p:nvPr>
        </p:nvGraphicFramePr>
        <p:xfrm>
          <a:off x="3026241" y="2877042"/>
          <a:ext cx="1350987" cy="1042648"/>
        </p:xfrm>
        <a:graphic>
          <a:graphicData uri="http://schemas.openxmlformats.org/presentationml/2006/ole">
            <mc:AlternateContent xmlns:mc="http://schemas.openxmlformats.org/markup-compatibility/2006">
              <mc:Choice xmlns:v="urn:schemas-microsoft-com:vml" Requires="v">
                <p:oleObj name="Equation" r:id="rId3" imgW="609480" imgH="469800" progId="Equation.DSMT4">
                  <p:embed/>
                </p:oleObj>
              </mc:Choice>
              <mc:Fallback>
                <p:oleObj name="Equation" r:id="rId3" imgW="609480" imgH="469800" progId="Equation.DSMT4">
                  <p:embed/>
                  <p:pic>
                    <p:nvPicPr>
                      <p:cNvPr id="2" name="Object 89">
                        <a:extLst>
                          <a:ext uri="{FF2B5EF4-FFF2-40B4-BE49-F238E27FC236}">
                            <a16:creationId xmlns:a16="http://schemas.microsoft.com/office/drawing/2014/main" id="{8CA4E9A3-471B-B17F-8241-7399D57CEDC2}"/>
                          </a:ext>
                        </a:extLst>
                      </p:cNvPr>
                      <p:cNvPicPr>
                        <a:picLocks noChangeAspect="1" noChangeArrowheads="1"/>
                      </p:cNvPicPr>
                      <p:nvPr/>
                    </p:nvPicPr>
                    <p:blipFill>
                      <a:blip r:embed="rId4"/>
                      <a:srcRect/>
                      <a:stretch>
                        <a:fillRect/>
                      </a:stretch>
                    </p:blipFill>
                    <p:spPr bwMode="auto">
                      <a:xfrm>
                        <a:off x="3026241" y="2877042"/>
                        <a:ext cx="1350987" cy="1042648"/>
                      </a:xfrm>
                      <a:prstGeom prst="rect">
                        <a:avLst/>
                      </a:prstGeom>
                      <a:noFill/>
                      <a:ln>
                        <a:noFill/>
                      </a:ln>
                      <a:effectLst/>
                    </p:spPr>
                  </p:pic>
                </p:oleObj>
              </mc:Fallback>
            </mc:AlternateContent>
          </a:graphicData>
        </a:graphic>
      </p:graphicFrame>
      <p:sp>
        <p:nvSpPr>
          <p:cNvPr id="3" name="Text Box 1032">
            <a:extLst>
              <a:ext uri="{FF2B5EF4-FFF2-40B4-BE49-F238E27FC236}">
                <a16:creationId xmlns:a16="http://schemas.microsoft.com/office/drawing/2014/main" id="{410F6E20-25E3-5191-328F-AC04B873D73A}"/>
              </a:ext>
            </a:extLst>
          </p:cNvPr>
          <p:cNvSpPr txBox="1">
            <a:spLocks noChangeArrowheads="1"/>
          </p:cNvSpPr>
          <p:nvPr/>
        </p:nvSpPr>
        <p:spPr bwMode="auto">
          <a:xfrm>
            <a:off x="515381" y="3717070"/>
            <a:ext cx="6300700" cy="2633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lnSpc>
                <a:spcPct val="120000"/>
              </a:lnSpc>
            </a:pPr>
            <a:r>
              <a:rPr kumimoji="1" lang="zh-CN" altLang="en-US" sz="2800" i="0" dirty="0">
                <a:latin typeface="微软雅黑" panose="020B0503020204020204" pitchFamily="34" charset="-122"/>
                <a:ea typeface="微软雅黑" panose="020B0503020204020204" pitchFamily="34" charset="-122"/>
              </a:rPr>
              <a:t>计算面积</a:t>
            </a:r>
            <a:r>
              <a:rPr kumimoji="1" lang="en-US" altLang="zh-CN" sz="2800" b="0" dirty="0" err="1">
                <a:latin typeface="+mn-lt"/>
                <a:ea typeface="微软雅黑" panose="020B0503020204020204" pitchFamily="34" charset="-122"/>
              </a:rPr>
              <a:t>A</a:t>
            </a:r>
            <a:r>
              <a:rPr kumimoji="1" lang="en-US" altLang="zh-CN" sz="2800" b="0" i="0" baseline="-25000" dirty="0" err="1">
                <a:latin typeface="+mn-lt"/>
                <a:ea typeface="微软雅黑" panose="020B0503020204020204" pitchFamily="34" charset="-122"/>
              </a:rPr>
              <a:t>jy</a:t>
            </a:r>
            <a:r>
              <a:rPr kumimoji="1" lang="zh-CN" altLang="en-US" sz="2800" i="0" dirty="0">
                <a:latin typeface="微软雅黑" panose="020B0503020204020204" pitchFamily="34" charset="-122"/>
                <a:ea typeface="微软雅黑" panose="020B0503020204020204" pitchFamily="34" charset="-122"/>
              </a:rPr>
              <a:t>需根据挤压面的形状来确定。键联接的挤压面为平面，则该平面的面积就是挤压面积的计算面积。销钉、铆钉等圆柱联接件，其挤压面为圆柱面，计算面积为半圆柱面的正投影面积。</a:t>
            </a:r>
          </a:p>
        </p:txBody>
      </p:sp>
      <p:sp>
        <p:nvSpPr>
          <p:cNvPr id="4" name="Rectangle 117">
            <a:extLst>
              <a:ext uri="{FF2B5EF4-FFF2-40B4-BE49-F238E27FC236}">
                <a16:creationId xmlns:a16="http://schemas.microsoft.com/office/drawing/2014/main" id="{18F9FD52-D1B6-603E-EED9-ADE69426E2F7}"/>
              </a:ext>
            </a:extLst>
          </p:cNvPr>
          <p:cNvSpPr>
            <a:spLocks noChangeArrowheads="1"/>
          </p:cNvSpPr>
          <p:nvPr/>
        </p:nvSpPr>
        <p:spPr bwMode="auto">
          <a:xfrm>
            <a:off x="8764662" y="2089944"/>
            <a:ext cx="806450" cy="469900"/>
          </a:xfrm>
          <a:prstGeom prst="rect">
            <a:avLst/>
          </a:prstGeom>
          <a:gradFill rotWithShape="1">
            <a:gsLst>
              <a:gs pos="0">
                <a:srgbClr val="FFFFFF">
                  <a:gamma/>
                  <a:shade val="34902"/>
                  <a:invGamma/>
                </a:srgbClr>
              </a:gs>
              <a:gs pos="50000">
                <a:srgbClr val="FFFFFF"/>
              </a:gs>
              <a:gs pos="100000">
                <a:srgbClr val="FFFFFF">
                  <a:gamma/>
                  <a:shade val="34902"/>
                  <a:invGamma/>
                </a:srgbClr>
              </a:gs>
            </a:gsLst>
            <a:lin ang="0" scaled="1"/>
          </a:gradFill>
          <a:ln w="9525">
            <a:miter lim="800000"/>
            <a:headEnd/>
            <a:tailEnd/>
          </a:ln>
          <a:effectLst/>
          <a:scene3d>
            <a:camera prst="legacyPerspectiveTopRight">
              <a:rot lat="600000" lon="300000" rev="0"/>
            </a:camera>
            <a:lightRig rig="legacyFlat3" dir="b"/>
          </a:scene3d>
          <a:sp3d extrusionH="1801800" prstMaterial="legacyPlastic">
            <a:bevelT w="13500" h="13500" prst="angle"/>
            <a:bevelB w="13500" h="13500" prst="angle"/>
            <a:extrusionClr>
              <a:srgbClr val="FFFFFF"/>
            </a:extrusionClr>
          </a:sp3d>
        </p:spPr>
        <p:txBody>
          <a:bodyPr wrap="none" anchor="ctr">
            <a:flatTx/>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itchFamily="2" charset="-122"/>
            </a:endParaRPr>
          </a:p>
        </p:txBody>
      </p:sp>
      <p:sp>
        <p:nvSpPr>
          <p:cNvPr id="5" name="Line 118">
            <a:extLst>
              <a:ext uri="{FF2B5EF4-FFF2-40B4-BE49-F238E27FC236}">
                <a16:creationId xmlns:a16="http://schemas.microsoft.com/office/drawing/2014/main" id="{8CCBEE0E-C2FF-E87F-80DF-F69241721A67}"/>
              </a:ext>
            </a:extLst>
          </p:cNvPr>
          <p:cNvSpPr>
            <a:spLocks noChangeShapeType="1"/>
          </p:cNvSpPr>
          <p:nvPr/>
        </p:nvSpPr>
        <p:spPr bwMode="auto">
          <a:xfrm flipH="1" flipV="1">
            <a:off x="8578924" y="1594644"/>
            <a:ext cx="654050" cy="158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sp>
        <p:nvSpPr>
          <p:cNvPr id="8" name="Line 119">
            <a:extLst>
              <a:ext uri="{FF2B5EF4-FFF2-40B4-BE49-F238E27FC236}">
                <a16:creationId xmlns:a16="http://schemas.microsoft.com/office/drawing/2014/main" id="{A4A63F4F-6FA4-C49D-C000-DCAC7342BCF0}"/>
              </a:ext>
            </a:extLst>
          </p:cNvPr>
          <p:cNvSpPr>
            <a:spLocks noChangeShapeType="1"/>
          </p:cNvSpPr>
          <p:nvPr/>
        </p:nvSpPr>
        <p:spPr bwMode="auto">
          <a:xfrm flipH="1" flipV="1">
            <a:off x="8109024" y="2067719"/>
            <a:ext cx="654050" cy="158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sp>
        <p:nvSpPr>
          <p:cNvPr id="11" name="Line 120">
            <a:extLst>
              <a:ext uri="{FF2B5EF4-FFF2-40B4-BE49-F238E27FC236}">
                <a16:creationId xmlns:a16="http://schemas.microsoft.com/office/drawing/2014/main" id="{14FC3BC7-6E51-EC30-0669-E18DBFE3AA03}"/>
              </a:ext>
            </a:extLst>
          </p:cNvPr>
          <p:cNvSpPr>
            <a:spLocks noChangeShapeType="1"/>
          </p:cNvSpPr>
          <p:nvPr/>
        </p:nvSpPr>
        <p:spPr bwMode="auto">
          <a:xfrm flipH="1">
            <a:off x="8369374" y="1600994"/>
            <a:ext cx="473075" cy="473075"/>
          </a:xfrm>
          <a:prstGeom prst="line">
            <a:avLst/>
          </a:prstGeom>
          <a:noFill/>
          <a:ln w="9525">
            <a:solidFill>
              <a:schemeClr val="tx1"/>
            </a:solidFill>
            <a:round/>
            <a:headEnd type="stealth" w="sm" len="lg"/>
            <a:tailEnd type="stealth" w="sm" len="lg"/>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sp>
        <p:nvSpPr>
          <p:cNvPr id="12" name="Freeform 121" descr="宽下对角线">
            <a:extLst>
              <a:ext uri="{FF2B5EF4-FFF2-40B4-BE49-F238E27FC236}">
                <a16:creationId xmlns:a16="http://schemas.microsoft.com/office/drawing/2014/main" id="{8BCF53C2-55D0-6196-2BED-A3FE2D512BE5}"/>
              </a:ext>
            </a:extLst>
          </p:cNvPr>
          <p:cNvSpPr>
            <a:spLocks/>
          </p:cNvSpPr>
          <p:nvPr/>
        </p:nvSpPr>
        <p:spPr bwMode="auto">
          <a:xfrm>
            <a:off x="9563174" y="1826419"/>
            <a:ext cx="349250" cy="739775"/>
          </a:xfrm>
          <a:custGeom>
            <a:avLst/>
            <a:gdLst>
              <a:gd name="T0" fmla="*/ 0 w 220"/>
              <a:gd name="T1" fmla="*/ 511175 h 466"/>
              <a:gd name="T2" fmla="*/ 346075 w 220"/>
              <a:gd name="T3" fmla="*/ 0 h 466"/>
              <a:gd name="T4" fmla="*/ 349250 w 220"/>
              <a:gd name="T5" fmla="*/ 193675 h 466"/>
              <a:gd name="T6" fmla="*/ 6350 w 220"/>
              <a:gd name="T7" fmla="*/ 739775 h 466"/>
              <a:gd name="T8" fmla="*/ 0 w 220"/>
              <a:gd name="T9" fmla="*/ 511175 h 466"/>
              <a:gd name="T10" fmla="*/ 0 60000 65536"/>
              <a:gd name="T11" fmla="*/ 0 60000 65536"/>
              <a:gd name="T12" fmla="*/ 0 60000 65536"/>
              <a:gd name="T13" fmla="*/ 0 60000 65536"/>
              <a:gd name="T14" fmla="*/ 0 60000 65536"/>
              <a:gd name="T15" fmla="*/ 0 w 220"/>
              <a:gd name="T16" fmla="*/ 0 h 466"/>
              <a:gd name="T17" fmla="*/ 220 w 220"/>
              <a:gd name="T18" fmla="*/ 466 h 466"/>
            </a:gdLst>
            <a:ahLst/>
            <a:cxnLst>
              <a:cxn ang="T10">
                <a:pos x="T0" y="T1"/>
              </a:cxn>
              <a:cxn ang="T11">
                <a:pos x="T2" y="T3"/>
              </a:cxn>
              <a:cxn ang="T12">
                <a:pos x="T4" y="T5"/>
              </a:cxn>
              <a:cxn ang="T13">
                <a:pos x="T6" y="T7"/>
              </a:cxn>
              <a:cxn ang="T14">
                <a:pos x="T8" y="T9"/>
              </a:cxn>
            </a:cxnLst>
            <a:rect l="T15" t="T16" r="T17" b="T18"/>
            <a:pathLst>
              <a:path w="220" h="466">
                <a:moveTo>
                  <a:pt x="0" y="322"/>
                </a:moveTo>
                <a:lnTo>
                  <a:pt x="218" y="0"/>
                </a:lnTo>
                <a:lnTo>
                  <a:pt x="220" y="122"/>
                </a:lnTo>
                <a:lnTo>
                  <a:pt x="4" y="466"/>
                </a:lnTo>
                <a:lnTo>
                  <a:pt x="0" y="322"/>
                </a:lnTo>
                <a:close/>
              </a:path>
            </a:pathLst>
          </a:custGeom>
          <a:pattFill prst="wdDnDiag">
            <a:fgClr>
              <a:srgbClr val="000000"/>
            </a:fgClr>
            <a:bgClr>
              <a:srgbClr val="FF99FF"/>
            </a:bgClr>
          </a:patt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grpSp>
        <p:nvGrpSpPr>
          <p:cNvPr id="13" name="Group 136">
            <a:extLst>
              <a:ext uri="{FF2B5EF4-FFF2-40B4-BE49-F238E27FC236}">
                <a16:creationId xmlns:a16="http://schemas.microsoft.com/office/drawing/2014/main" id="{EF77D761-4EDF-0A91-0DE1-E0D900D44322}"/>
              </a:ext>
            </a:extLst>
          </p:cNvPr>
          <p:cNvGrpSpPr>
            <a:grpSpLocks/>
          </p:cNvGrpSpPr>
          <p:nvPr/>
        </p:nvGrpSpPr>
        <p:grpSpPr bwMode="auto">
          <a:xfrm>
            <a:off x="9912424" y="1092995"/>
            <a:ext cx="473075" cy="1576388"/>
            <a:chOff x="2578" y="3084"/>
            <a:chExt cx="298" cy="993"/>
          </a:xfrm>
        </p:grpSpPr>
        <p:sp>
          <p:nvSpPr>
            <p:cNvPr id="14" name="Line 124">
              <a:extLst>
                <a:ext uri="{FF2B5EF4-FFF2-40B4-BE49-F238E27FC236}">
                  <a16:creationId xmlns:a16="http://schemas.microsoft.com/office/drawing/2014/main" id="{90A14336-E293-F6A9-0667-4A81E5D444E2}"/>
                </a:ext>
              </a:extLst>
            </p:cNvPr>
            <p:cNvSpPr>
              <a:spLocks noChangeShapeType="1"/>
            </p:cNvSpPr>
            <p:nvPr/>
          </p:nvSpPr>
          <p:spPr bwMode="auto">
            <a:xfrm flipH="1" flipV="1">
              <a:off x="2696" y="3670"/>
              <a:ext cx="150" cy="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sp>
          <p:nvSpPr>
            <p:cNvPr id="15" name="Line 122">
              <a:extLst>
                <a:ext uri="{FF2B5EF4-FFF2-40B4-BE49-F238E27FC236}">
                  <a16:creationId xmlns:a16="http://schemas.microsoft.com/office/drawing/2014/main" id="{256FE6EB-D708-5365-B545-C2F2C5249FAD}"/>
                </a:ext>
              </a:extLst>
            </p:cNvPr>
            <p:cNvSpPr>
              <a:spLocks noChangeShapeType="1"/>
            </p:cNvSpPr>
            <p:nvPr/>
          </p:nvSpPr>
          <p:spPr bwMode="auto">
            <a:xfrm flipH="1" flipV="1">
              <a:off x="2702" y="3424"/>
              <a:ext cx="150" cy="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dirty="0">
                <a:ln>
                  <a:noFill/>
                </a:ln>
                <a:solidFill>
                  <a:srgbClr val="0000CC"/>
                </a:solidFill>
                <a:effectLst/>
                <a:uLnTx/>
                <a:uFillTx/>
                <a:ea typeface="黑体" panose="02010609060101010101" pitchFamily="49" charset="-122"/>
              </a:endParaRPr>
            </a:p>
          </p:txBody>
        </p:sp>
        <p:sp>
          <p:nvSpPr>
            <p:cNvPr id="16" name="Line 123">
              <a:extLst>
                <a:ext uri="{FF2B5EF4-FFF2-40B4-BE49-F238E27FC236}">
                  <a16:creationId xmlns:a16="http://schemas.microsoft.com/office/drawing/2014/main" id="{597663FC-1A41-CE38-5DEC-9591E54A281D}"/>
                </a:ext>
              </a:extLst>
            </p:cNvPr>
            <p:cNvSpPr>
              <a:spLocks noChangeShapeType="1"/>
            </p:cNvSpPr>
            <p:nvPr/>
          </p:nvSpPr>
          <p:spPr bwMode="auto">
            <a:xfrm flipH="1" flipV="1">
              <a:off x="2702" y="3550"/>
              <a:ext cx="150" cy="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sp>
          <p:nvSpPr>
            <p:cNvPr id="17" name="Line 125">
              <a:extLst>
                <a:ext uri="{FF2B5EF4-FFF2-40B4-BE49-F238E27FC236}">
                  <a16:creationId xmlns:a16="http://schemas.microsoft.com/office/drawing/2014/main" id="{2F626B5A-4F8F-4ACA-FE35-73064301A5BA}"/>
                </a:ext>
              </a:extLst>
            </p:cNvPr>
            <p:cNvSpPr>
              <a:spLocks noChangeShapeType="1"/>
            </p:cNvSpPr>
            <p:nvPr/>
          </p:nvSpPr>
          <p:spPr bwMode="auto">
            <a:xfrm>
              <a:off x="2830" y="3426"/>
              <a:ext cx="0" cy="132"/>
            </a:xfrm>
            <a:prstGeom prst="line">
              <a:avLst/>
            </a:prstGeom>
            <a:noFill/>
            <a:ln w="9525">
              <a:solidFill>
                <a:schemeClr val="tx1"/>
              </a:solidFill>
              <a:round/>
              <a:headEnd type="stealth" w="sm" len="med"/>
              <a:tailEnd type="stealth" w="sm" len="me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dirty="0">
                <a:ln>
                  <a:noFill/>
                </a:ln>
                <a:solidFill>
                  <a:srgbClr val="0000CC"/>
                </a:solidFill>
                <a:effectLst/>
                <a:uLnTx/>
                <a:uFillTx/>
                <a:ea typeface="黑体" panose="02010609060101010101" pitchFamily="49" charset="-122"/>
              </a:endParaRPr>
            </a:p>
          </p:txBody>
        </p:sp>
        <p:sp>
          <p:nvSpPr>
            <p:cNvPr id="18" name="Line 126">
              <a:extLst>
                <a:ext uri="{FF2B5EF4-FFF2-40B4-BE49-F238E27FC236}">
                  <a16:creationId xmlns:a16="http://schemas.microsoft.com/office/drawing/2014/main" id="{A6F35404-FB37-5109-4B3D-0CC118AE8C1A}"/>
                </a:ext>
              </a:extLst>
            </p:cNvPr>
            <p:cNvSpPr>
              <a:spLocks noChangeShapeType="1"/>
            </p:cNvSpPr>
            <p:nvPr/>
          </p:nvSpPr>
          <p:spPr bwMode="auto">
            <a:xfrm>
              <a:off x="2830" y="3550"/>
              <a:ext cx="0" cy="132"/>
            </a:xfrm>
            <a:prstGeom prst="line">
              <a:avLst/>
            </a:prstGeom>
            <a:noFill/>
            <a:ln w="9525">
              <a:solidFill>
                <a:schemeClr val="tx1"/>
              </a:solidFill>
              <a:round/>
              <a:headEnd type="stealth" w="sm" len="med"/>
              <a:tailEnd type="stealth" w="sm" len="me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dirty="0">
                <a:ln>
                  <a:noFill/>
                </a:ln>
                <a:solidFill>
                  <a:srgbClr val="0000CC"/>
                </a:solidFill>
                <a:effectLst/>
                <a:uLnTx/>
                <a:uFillTx/>
                <a:ea typeface="黑体" panose="02010609060101010101" pitchFamily="49" charset="-122"/>
              </a:endParaRPr>
            </a:p>
          </p:txBody>
        </p:sp>
        <p:sp>
          <p:nvSpPr>
            <p:cNvPr id="19" name="Text Box 127">
              <a:extLst>
                <a:ext uri="{FF2B5EF4-FFF2-40B4-BE49-F238E27FC236}">
                  <a16:creationId xmlns:a16="http://schemas.microsoft.com/office/drawing/2014/main" id="{EAE0B028-7C93-DF17-6DA8-F1E9A5F5D0CD}"/>
                </a:ext>
              </a:extLst>
            </p:cNvPr>
            <p:cNvSpPr txBox="1">
              <a:spLocks noChangeArrowheads="1"/>
            </p:cNvSpPr>
            <p:nvPr/>
          </p:nvSpPr>
          <p:spPr bwMode="auto">
            <a:xfrm rot="16200000">
              <a:off x="2536" y="3126"/>
              <a:ext cx="3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1" lang="en-US" altLang="zh-CN" sz="2400" b="0" u="none" strike="noStrike" kern="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rPr>
                <a:t>h</a:t>
              </a:r>
              <a:r>
                <a:rPr kumimoji="1"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rPr>
                <a:t>/2</a:t>
              </a:r>
            </a:p>
          </p:txBody>
        </p:sp>
        <p:sp>
          <p:nvSpPr>
            <p:cNvPr id="20" name="Line 128">
              <a:extLst>
                <a:ext uri="{FF2B5EF4-FFF2-40B4-BE49-F238E27FC236}">
                  <a16:creationId xmlns:a16="http://schemas.microsoft.com/office/drawing/2014/main" id="{F542D9AC-C508-0F84-8FC3-969BE370C12F}"/>
                </a:ext>
              </a:extLst>
            </p:cNvPr>
            <p:cNvSpPr>
              <a:spLocks noChangeShapeType="1"/>
            </p:cNvSpPr>
            <p:nvPr/>
          </p:nvSpPr>
          <p:spPr bwMode="auto">
            <a:xfrm>
              <a:off x="2830" y="3140"/>
              <a:ext cx="0" cy="294"/>
            </a:xfrm>
            <a:prstGeom prst="line">
              <a:avLst/>
            </a:prstGeom>
            <a:noFill/>
            <a:ln w="9525">
              <a:solidFill>
                <a:schemeClr val="tx1"/>
              </a:solidFill>
              <a:round/>
              <a:headEnd type="none" w="sm" len="med"/>
              <a:tailEnd type="none" w="sm" len="me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sp>
          <p:nvSpPr>
            <p:cNvPr id="21" name="Text Box 129">
              <a:extLst>
                <a:ext uri="{FF2B5EF4-FFF2-40B4-BE49-F238E27FC236}">
                  <a16:creationId xmlns:a16="http://schemas.microsoft.com/office/drawing/2014/main" id="{7F54281C-7E55-9D65-44F2-CF35578660FE}"/>
                </a:ext>
              </a:extLst>
            </p:cNvPr>
            <p:cNvSpPr txBox="1">
              <a:spLocks noChangeArrowheads="1"/>
            </p:cNvSpPr>
            <p:nvPr/>
          </p:nvSpPr>
          <p:spPr bwMode="auto">
            <a:xfrm rot="16200000">
              <a:off x="2546" y="3747"/>
              <a:ext cx="3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1" lang="en-US" altLang="zh-CN" sz="2400" b="0" u="none" strike="noStrike" kern="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rPr>
                <a:t>h</a:t>
              </a:r>
              <a:r>
                <a:rPr kumimoji="1"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rPr>
                <a:t>/2</a:t>
              </a:r>
            </a:p>
          </p:txBody>
        </p:sp>
        <p:sp>
          <p:nvSpPr>
            <p:cNvPr id="22" name="Line 130">
              <a:extLst>
                <a:ext uri="{FF2B5EF4-FFF2-40B4-BE49-F238E27FC236}">
                  <a16:creationId xmlns:a16="http://schemas.microsoft.com/office/drawing/2014/main" id="{B15865B3-4593-7B49-5D26-84BD6104D3D3}"/>
                </a:ext>
              </a:extLst>
            </p:cNvPr>
            <p:cNvSpPr>
              <a:spLocks noChangeShapeType="1"/>
            </p:cNvSpPr>
            <p:nvPr/>
          </p:nvSpPr>
          <p:spPr bwMode="auto">
            <a:xfrm>
              <a:off x="2830" y="3680"/>
              <a:ext cx="0" cy="319"/>
            </a:xfrm>
            <a:prstGeom prst="line">
              <a:avLst/>
            </a:prstGeom>
            <a:noFill/>
            <a:ln w="9525">
              <a:solidFill>
                <a:schemeClr val="tx1"/>
              </a:solidFill>
              <a:round/>
              <a:headEnd type="none" w="sm" len="med"/>
              <a:tailEnd type="none" w="sm" len="me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grpSp>
      <p:sp>
        <p:nvSpPr>
          <p:cNvPr id="23" name="Text Box 131">
            <a:extLst>
              <a:ext uri="{FF2B5EF4-FFF2-40B4-BE49-F238E27FC236}">
                <a16:creationId xmlns:a16="http://schemas.microsoft.com/office/drawing/2014/main" id="{77051F0B-B52B-AEBE-AAE1-076541079A36}"/>
              </a:ext>
            </a:extLst>
          </p:cNvPr>
          <p:cNvSpPr txBox="1">
            <a:spLocks noChangeArrowheads="1"/>
          </p:cNvSpPr>
          <p:nvPr/>
        </p:nvSpPr>
        <p:spPr bwMode="auto">
          <a:xfrm rot="18292504">
            <a:off x="8104308" y="1552316"/>
            <a:ext cx="63808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1" lang="en-US" altLang="zh-CN" sz="2400" b="0" u="none" strike="noStrike" kern="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rPr>
              <a:t>l</a:t>
            </a:r>
          </a:p>
        </p:txBody>
      </p:sp>
      <p:sp>
        <p:nvSpPr>
          <p:cNvPr id="24" name="Text Box 133">
            <a:extLst>
              <a:ext uri="{FF2B5EF4-FFF2-40B4-BE49-F238E27FC236}">
                <a16:creationId xmlns:a16="http://schemas.microsoft.com/office/drawing/2014/main" id="{D1EC389A-0CE4-5EA7-0B1E-BBC9ECD379E3}"/>
              </a:ext>
            </a:extLst>
          </p:cNvPr>
          <p:cNvSpPr txBox="1">
            <a:spLocks noChangeArrowheads="1"/>
          </p:cNvSpPr>
          <p:nvPr/>
        </p:nvSpPr>
        <p:spPr bwMode="auto">
          <a:xfrm>
            <a:off x="9518724" y="2332832"/>
            <a:ext cx="590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1" lang="en-US" altLang="zh-CN" sz="2400" b="0" u="none" strike="noStrike" kern="0" cap="none" spc="0" normalizeH="0" baseline="0" noProof="0" dirty="0" err="1">
                <a:ln>
                  <a:noFill/>
                </a:ln>
                <a:solidFill>
                  <a:schemeClr val="tx1"/>
                </a:solidFill>
                <a:effectLst/>
                <a:uLnTx/>
                <a:uFillTx/>
                <a:latin typeface="Times New Roman" panose="02020603050405020304" pitchFamily="18" charset="0"/>
                <a:ea typeface="黑体" panose="02010609060101010101" pitchFamily="49" charset="-122"/>
              </a:rPr>
              <a:t>A</a:t>
            </a:r>
            <a:r>
              <a:rPr kumimoji="1" lang="en-US" altLang="zh-CN" sz="2400" b="0" i="0" u="none" strike="noStrike" kern="0" cap="none" spc="0" normalizeH="0" baseline="-25000" noProof="0" dirty="0" err="1">
                <a:ln>
                  <a:noFill/>
                </a:ln>
                <a:solidFill>
                  <a:schemeClr val="tx1"/>
                </a:solidFill>
                <a:effectLst/>
                <a:uLnTx/>
                <a:uFillTx/>
                <a:latin typeface="Times New Roman" panose="02020603050405020304" pitchFamily="18" charset="0"/>
                <a:ea typeface="黑体" panose="02010609060101010101" pitchFamily="49" charset="-122"/>
              </a:rPr>
              <a:t>jy</a:t>
            </a:r>
            <a:endParaRPr kumimoji="1"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黑体" panose="02010609060101010101" pitchFamily="49" charset="-122"/>
            </a:endParaRPr>
          </a:p>
        </p:txBody>
      </p:sp>
      <p:sp>
        <p:nvSpPr>
          <p:cNvPr id="25" name="Text Box 1032">
            <a:extLst>
              <a:ext uri="{FF2B5EF4-FFF2-40B4-BE49-F238E27FC236}">
                <a16:creationId xmlns:a16="http://schemas.microsoft.com/office/drawing/2014/main" id="{4E4DD6A1-D842-2F62-7C85-967996728AD3}"/>
              </a:ext>
            </a:extLst>
          </p:cNvPr>
          <p:cNvSpPr txBox="1">
            <a:spLocks noChangeArrowheads="1"/>
          </p:cNvSpPr>
          <p:nvPr/>
        </p:nvSpPr>
        <p:spPr bwMode="auto">
          <a:xfrm>
            <a:off x="8738240" y="2837818"/>
            <a:ext cx="2151518" cy="564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lnSpc>
                <a:spcPct val="120000"/>
              </a:lnSpc>
            </a:pPr>
            <a:r>
              <a:rPr kumimoji="1" lang="en-US" altLang="zh-CN" sz="2800" b="0" dirty="0" err="1">
                <a:solidFill>
                  <a:srgbClr val="000000"/>
                </a:solidFill>
                <a:ea typeface="黑体" panose="02010609060101010101" pitchFamily="49" charset="-122"/>
              </a:rPr>
              <a:t>A</a:t>
            </a:r>
            <a:r>
              <a:rPr kumimoji="1" lang="en-US" altLang="zh-CN" sz="2800" b="0" i="0" baseline="-25000" dirty="0" err="1">
                <a:solidFill>
                  <a:srgbClr val="000000"/>
                </a:solidFill>
                <a:ea typeface="黑体" panose="02010609060101010101" pitchFamily="49" charset="-122"/>
              </a:rPr>
              <a:t>jy</a:t>
            </a:r>
            <a:r>
              <a:rPr kumimoji="1" lang="en-US" altLang="zh-CN" sz="2800" b="0" i="0" dirty="0">
                <a:solidFill>
                  <a:srgbClr val="000000"/>
                </a:solidFill>
                <a:ea typeface="黑体" panose="02010609060101010101" pitchFamily="49" charset="-122"/>
              </a:rPr>
              <a:t>=</a:t>
            </a:r>
            <a:r>
              <a:rPr kumimoji="1" lang="en-US" altLang="zh-CN" sz="2800" b="0" dirty="0">
                <a:solidFill>
                  <a:srgbClr val="000000"/>
                </a:solidFill>
                <a:ea typeface="黑体" panose="02010609060101010101" pitchFamily="49" charset="-122"/>
              </a:rPr>
              <a:t>hl</a:t>
            </a:r>
            <a:r>
              <a:rPr kumimoji="1" lang="en-US" altLang="zh-CN" sz="2800" b="0" i="0" dirty="0">
                <a:solidFill>
                  <a:srgbClr val="000000"/>
                </a:solidFill>
                <a:ea typeface="黑体" panose="02010609060101010101" pitchFamily="49" charset="-122"/>
              </a:rPr>
              <a:t>/2</a:t>
            </a:r>
            <a:endParaRPr kumimoji="1" lang="zh-CN" altLang="en-US" sz="2800" i="0" dirty="0">
              <a:latin typeface="+mn-lt"/>
              <a:ea typeface="微软雅黑" panose="020B0503020204020204" pitchFamily="34" charset="-122"/>
            </a:endParaRPr>
          </a:p>
        </p:txBody>
      </p:sp>
      <p:graphicFrame>
        <p:nvGraphicFramePr>
          <p:cNvPr id="28" name="Object 4">
            <a:extLst>
              <a:ext uri="{FF2B5EF4-FFF2-40B4-BE49-F238E27FC236}">
                <a16:creationId xmlns:a16="http://schemas.microsoft.com/office/drawing/2014/main" id="{98EB59DB-11C8-FCB7-799E-5178EC616C73}"/>
              </a:ext>
            </a:extLst>
          </p:cNvPr>
          <p:cNvGraphicFramePr>
            <a:graphicFrameLocks noChangeAspect="1"/>
          </p:cNvGraphicFramePr>
          <p:nvPr>
            <p:extLst>
              <p:ext uri="{D42A27DB-BD31-4B8C-83A1-F6EECF244321}">
                <p14:modId xmlns:p14="http://schemas.microsoft.com/office/powerpoint/2010/main" val="2958433827"/>
              </p:ext>
            </p:extLst>
          </p:nvPr>
        </p:nvGraphicFramePr>
        <p:xfrm>
          <a:off x="7400384" y="3905930"/>
          <a:ext cx="942975" cy="712788"/>
        </p:xfrm>
        <a:graphic>
          <a:graphicData uri="http://schemas.openxmlformats.org/presentationml/2006/ole">
            <mc:AlternateContent xmlns:mc="http://schemas.openxmlformats.org/markup-compatibility/2006">
              <mc:Choice xmlns:v="urn:schemas-microsoft-com:vml" Requires="v">
                <p:oleObj name="公式" r:id="rId5" imgW="571320" imgH="431640" progId="Equation.3">
                  <p:embed/>
                </p:oleObj>
              </mc:Choice>
              <mc:Fallback>
                <p:oleObj name="公式" r:id="rId5" imgW="571320" imgH="431640" progId="Equation.3">
                  <p:embed/>
                  <p:pic>
                    <p:nvPicPr>
                      <p:cNvPr id="28" name="Object 4">
                        <a:extLst>
                          <a:ext uri="{FF2B5EF4-FFF2-40B4-BE49-F238E27FC236}">
                            <a16:creationId xmlns:a16="http://schemas.microsoft.com/office/drawing/2014/main" id="{98EB59DB-11C8-FCB7-799E-5178EC616C7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400384" y="3905930"/>
                        <a:ext cx="942975" cy="712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9" name="Freeform 5">
            <a:extLst>
              <a:ext uri="{FF2B5EF4-FFF2-40B4-BE49-F238E27FC236}">
                <a16:creationId xmlns:a16="http://schemas.microsoft.com/office/drawing/2014/main" id="{DCC6EBFA-BAA4-8190-8B4E-44D7E319EEAC}"/>
              </a:ext>
            </a:extLst>
          </p:cNvPr>
          <p:cNvSpPr>
            <a:spLocks/>
          </p:cNvSpPr>
          <p:nvPr/>
        </p:nvSpPr>
        <p:spPr bwMode="auto">
          <a:xfrm>
            <a:off x="6935246" y="3769405"/>
            <a:ext cx="1371600" cy="1547813"/>
          </a:xfrm>
          <a:custGeom>
            <a:avLst/>
            <a:gdLst>
              <a:gd name="T0" fmla="*/ 486 w 864"/>
              <a:gd name="T1" fmla="*/ 6 h 975"/>
              <a:gd name="T2" fmla="*/ 444 w 864"/>
              <a:gd name="T3" fmla="*/ 60 h 975"/>
              <a:gd name="T4" fmla="*/ 366 w 864"/>
              <a:gd name="T5" fmla="*/ 150 h 975"/>
              <a:gd name="T6" fmla="*/ 360 w 864"/>
              <a:gd name="T7" fmla="*/ 168 h 975"/>
              <a:gd name="T8" fmla="*/ 288 w 864"/>
              <a:gd name="T9" fmla="*/ 252 h 975"/>
              <a:gd name="T10" fmla="*/ 180 w 864"/>
              <a:gd name="T11" fmla="*/ 288 h 975"/>
              <a:gd name="T12" fmla="*/ 144 w 864"/>
              <a:gd name="T13" fmla="*/ 324 h 975"/>
              <a:gd name="T14" fmla="*/ 120 w 864"/>
              <a:gd name="T15" fmla="*/ 378 h 975"/>
              <a:gd name="T16" fmla="*/ 78 w 864"/>
              <a:gd name="T17" fmla="*/ 396 h 975"/>
              <a:gd name="T18" fmla="*/ 30 w 864"/>
              <a:gd name="T19" fmla="*/ 456 h 975"/>
              <a:gd name="T20" fmla="*/ 12 w 864"/>
              <a:gd name="T21" fmla="*/ 468 h 975"/>
              <a:gd name="T22" fmla="*/ 10 w 864"/>
              <a:gd name="T23" fmla="*/ 748 h 975"/>
              <a:gd name="T24" fmla="*/ 0 w 864"/>
              <a:gd name="T25" fmla="*/ 948 h 975"/>
              <a:gd name="T26" fmla="*/ 342 w 864"/>
              <a:gd name="T27" fmla="*/ 954 h 975"/>
              <a:gd name="T28" fmla="*/ 498 w 864"/>
              <a:gd name="T29" fmla="*/ 828 h 975"/>
              <a:gd name="T30" fmla="*/ 492 w 864"/>
              <a:gd name="T31" fmla="*/ 694 h 975"/>
              <a:gd name="T32" fmla="*/ 574 w 864"/>
              <a:gd name="T33" fmla="*/ 648 h 975"/>
              <a:gd name="T34" fmla="*/ 660 w 864"/>
              <a:gd name="T35" fmla="*/ 648 h 975"/>
              <a:gd name="T36" fmla="*/ 756 w 864"/>
              <a:gd name="T37" fmla="*/ 588 h 975"/>
              <a:gd name="T38" fmla="*/ 786 w 864"/>
              <a:gd name="T39" fmla="*/ 558 h 975"/>
              <a:gd name="T40" fmla="*/ 834 w 864"/>
              <a:gd name="T41" fmla="*/ 528 h 975"/>
              <a:gd name="T42" fmla="*/ 822 w 864"/>
              <a:gd name="T43" fmla="*/ 528 h 975"/>
              <a:gd name="T44" fmla="*/ 816 w 864"/>
              <a:gd name="T45" fmla="*/ 528 h 975"/>
              <a:gd name="T46" fmla="*/ 828 w 864"/>
              <a:gd name="T47" fmla="*/ 132 h 975"/>
              <a:gd name="T48" fmla="*/ 804 w 864"/>
              <a:gd name="T49" fmla="*/ 42 h 975"/>
              <a:gd name="T50" fmla="*/ 810 w 864"/>
              <a:gd name="T51" fmla="*/ 6 h 975"/>
              <a:gd name="T52" fmla="*/ 480 w 864"/>
              <a:gd name="T53" fmla="*/ 6 h 975"/>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864"/>
              <a:gd name="T82" fmla="*/ 0 h 975"/>
              <a:gd name="T83" fmla="*/ 864 w 864"/>
              <a:gd name="T84" fmla="*/ 975 h 975"/>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864" h="975">
                <a:moveTo>
                  <a:pt x="486" y="6"/>
                </a:moveTo>
                <a:cubicBezTo>
                  <a:pt x="480" y="38"/>
                  <a:pt x="476" y="49"/>
                  <a:pt x="444" y="60"/>
                </a:cubicBezTo>
                <a:cubicBezTo>
                  <a:pt x="421" y="94"/>
                  <a:pt x="399" y="125"/>
                  <a:pt x="366" y="150"/>
                </a:cubicBezTo>
                <a:cubicBezTo>
                  <a:pt x="364" y="156"/>
                  <a:pt x="361" y="162"/>
                  <a:pt x="360" y="168"/>
                </a:cubicBezTo>
                <a:cubicBezTo>
                  <a:pt x="357" y="191"/>
                  <a:pt x="318" y="232"/>
                  <a:pt x="288" y="252"/>
                </a:cubicBezTo>
                <a:cubicBezTo>
                  <a:pt x="258" y="272"/>
                  <a:pt x="204" y="276"/>
                  <a:pt x="180" y="288"/>
                </a:cubicBezTo>
                <a:cubicBezTo>
                  <a:pt x="168" y="300"/>
                  <a:pt x="156" y="312"/>
                  <a:pt x="144" y="324"/>
                </a:cubicBezTo>
                <a:cubicBezTo>
                  <a:pt x="127" y="341"/>
                  <a:pt x="140" y="364"/>
                  <a:pt x="120" y="378"/>
                </a:cubicBezTo>
                <a:cubicBezTo>
                  <a:pt x="107" y="386"/>
                  <a:pt x="92" y="390"/>
                  <a:pt x="78" y="396"/>
                </a:cubicBezTo>
                <a:cubicBezTo>
                  <a:pt x="53" y="434"/>
                  <a:pt x="74" y="445"/>
                  <a:pt x="30" y="456"/>
                </a:cubicBezTo>
                <a:cubicBezTo>
                  <a:pt x="24" y="460"/>
                  <a:pt x="12" y="468"/>
                  <a:pt x="12" y="468"/>
                </a:cubicBezTo>
                <a:cubicBezTo>
                  <a:pt x="8" y="571"/>
                  <a:pt x="19" y="654"/>
                  <a:pt x="10" y="748"/>
                </a:cubicBezTo>
                <a:cubicBezTo>
                  <a:pt x="12" y="800"/>
                  <a:pt x="0" y="896"/>
                  <a:pt x="0" y="948"/>
                </a:cubicBezTo>
                <a:cubicBezTo>
                  <a:pt x="59" y="972"/>
                  <a:pt x="256" y="975"/>
                  <a:pt x="342" y="954"/>
                </a:cubicBezTo>
                <a:cubicBezTo>
                  <a:pt x="425" y="934"/>
                  <a:pt x="473" y="871"/>
                  <a:pt x="498" y="828"/>
                </a:cubicBezTo>
                <a:cubicBezTo>
                  <a:pt x="523" y="785"/>
                  <a:pt x="479" y="724"/>
                  <a:pt x="492" y="694"/>
                </a:cubicBezTo>
                <a:cubicBezTo>
                  <a:pt x="505" y="664"/>
                  <a:pt x="546" y="656"/>
                  <a:pt x="574" y="648"/>
                </a:cubicBezTo>
                <a:cubicBezTo>
                  <a:pt x="602" y="640"/>
                  <a:pt x="630" y="658"/>
                  <a:pt x="660" y="648"/>
                </a:cubicBezTo>
                <a:cubicBezTo>
                  <a:pt x="690" y="638"/>
                  <a:pt x="735" y="603"/>
                  <a:pt x="756" y="588"/>
                </a:cubicBezTo>
                <a:cubicBezTo>
                  <a:pt x="777" y="573"/>
                  <a:pt x="773" y="568"/>
                  <a:pt x="786" y="558"/>
                </a:cubicBezTo>
                <a:cubicBezTo>
                  <a:pt x="799" y="548"/>
                  <a:pt x="828" y="533"/>
                  <a:pt x="834" y="528"/>
                </a:cubicBezTo>
                <a:cubicBezTo>
                  <a:pt x="840" y="523"/>
                  <a:pt x="825" y="528"/>
                  <a:pt x="822" y="528"/>
                </a:cubicBezTo>
                <a:cubicBezTo>
                  <a:pt x="819" y="528"/>
                  <a:pt x="815" y="594"/>
                  <a:pt x="816" y="528"/>
                </a:cubicBezTo>
                <a:cubicBezTo>
                  <a:pt x="817" y="462"/>
                  <a:pt x="830" y="213"/>
                  <a:pt x="828" y="132"/>
                </a:cubicBezTo>
                <a:cubicBezTo>
                  <a:pt x="826" y="51"/>
                  <a:pt x="807" y="63"/>
                  <a:pt x="804" y="42"/>
                </a:cubicBezTo>
                <a:cubicBezTo>
                  <a:pt x="801" y="21"/>
                  <a:pt x="864" y="12"/>
                  <a:pt x="810" y="6"/>
                </a:cubicBezTo>
                <a:cubicBezTo>
                  <a:pt x="756" y="0"/>
                  <a:pt x="549" y="6"/>
                  <a:pt x="480" y="6"/>
                </a:cubicBezTo>
              </a:path>
            </a:pathLst>
          </a:custGeom>
          <a:gradFill rotWithShape="0">
            <a:gsLst>
              <a:gs pos="0">
                <a:srgbClr val="777777"/>
              </a:gs>
              <a:gs pos="100000">
                <a:srgbClr val="C0C0C0"/>
              </a:gs>
            </a:gsLst>
            <a:lin ang="0" scaled="1"/>
          </a:gradFill>
          <a:ln>
            <a:noFill/>
          </a:ln>
          <a:extLst>
            <a:ext uri="{91240B29-F687-4F45-9708-019B960494DF}">
              <a14:hiddenLine xmlns:a14="http://schemas.microsoft.com/office/drawing/2010/main" w="19050" cmpd="sng">
                <a:solidFill>
                  <a:srgbClr val="000000"/>
                </a:solidFill>
                <a:round/>
                <a:headEnd/>
                <a:tailEnd/>
              </a14:hiddenLine>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sp>
        <p:nvSpPr>
          <p:cNvPr id="30" name="AutoShape 6" descr="宽下对角线">
            <a:extLst>
              <a:ext uri="{FF2B5EF4-FFF2-40B4-BE49-F238E27FC236}">
                <a16:creationId xmlns:a16="http://schemas.microsoft.com/office/drawing/2014/main" id="{6ADDBEAD-7E28-1A9E-25EC-A7B3D6254146}"/>
              </a:ext>
            </a:extLst>
          </p:cNvPr>
          <p:cNvSpPr>
            <a:spLocks noChangeArrowheads="1"/>
          </p:cNvSpPr>
          <p:nvPr/>
        </p:nvSpPr>
        <p:spPr bwMode="auto">
          <a:xfrm rot="16200000" flipH="1">
            <a:off x="7621046" y="4169455"/>
            <a:ext cx="1023938" cy="246063"/>
          </a:xfrm>
          <a:prstGeom prst="parallelogram">
            <a:avLst>
              <a:gd name="adj" fmla="val 90315"/>
            </a:avLst>
          </a:prstGeom>
          <a:pattFill prst="wdDnDiag">
            <a:fgClr>
              <a:srgbClr val="000000"/>
            </a:fgClr>
            <a:bgClr>
              <a:srgbClr val="66FF33"/>
            </a:bgClr>
          </a:pattFill>
          <a:ln w="28575" algn="ctr">
            <a:solidFill>
              <a:srgbClr val="000000"/>
            </a:solidFill>
            <a:miter lim="800000"/>
            <a:headEnd/>
            <a:tailEnd/>
          </a:ln>
        </p:spPr>
        <p:txBody>
          <a:bodyPr wrap="none" anchor="ct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CC"/>
              </a:solidFill>
              <a:effectLst/>
              <a:uLnTx/>
              <a:uFillTx/>
              <a:latin typeface="Times New Roman" panose="02020603050405020304" pitchFamily="18" charset="0"/>
              <a:ea typeface="黑体" panose="02010609060101010101" pitchFamily="49" charset="-122"/>
            </a:endParaRPr>
          </a:p>
        </p:txBody>
      </p:sp>
      <p:sp>
        <p:nvSpPr>
          <p:cNvPr id="31" name="Arc 7">
            <a:extLst>
              <a:ext uri="{FF2B5EF4-FFF2-40B4-BE49-F238E27FC236}">
                <a16:creationId xmlns:a16="http://schemas.microsoft.com/office/drawing/2014/main" id="{08DF0BB0-89B7-EB91-0EC1-5C8AA7855DDC}"/>
              </a:ext>
            </a:extLst>
          </p:cNvPr>
          <p:cNvSpPr>
            <a:spLocks/>
          </p:cNvSpPr>
          <p:nvPr/>
        </p:nvSpPr>
        <p:spPr bwMode="auto">
          <a:xfrm rot="16200000">
            <a:off x="7733759" y="3999593"/>
            <a:ext cx="258763" cy="266700"/>
          </a:xfrm>
          <a:custGeom>
            <a:avLst/>
            <a:gdLst>
              <a:gd name="T0" fmla="*/ 0 w 32941"/>
              <a:gd name="T1" fmla="*/ 0 h 29926"/>
              <a:gd name="T2" fmla="*/ 1 w 32941"/>
              <a:gd name="T3" fmla="*/ 1 h 29926"/>
              <a:gd name="T4" fmla="*/ 0 w 32941"/>
              <a:gd name="T5" fmla="*/ 1 h 29926"/>
              <a:gd name="T6" fmla="*/ 0 60000 65536"/>
              <a:gd name="T7" fmla="*/ 0 60000 65536"/>
              <a:gd name="T8" fmla="*/ 0 60000 65536"/>
              <a:gd name="T9" fmla="*/ 0 w 32941"/>
              <a:gd name="T10" fmla="*/ 0 h 29926"/>
              <a:gd name="T11" fmla="*/ 32941 w 32941"/>
              <a:gd name="T12" fmla="*/ 29926 h 29926"/>
            </a:gdLst>
            <a:ahLst/>
            <a:cxnLst>
              <a:cxn ang="T6">
                <a:pos x="T0" y="T1"/>
              </a:cxn>
              <a:cxn ang="T7">
                <a:pos x="T2" y="T3"/>
              </a:cxn>
              <a:cxn ang="T8">
                <a:pos x="T4" y="T5"/>
              </a:cxn>
            </a:cxnLst>
            <a:rect l="T9" t="T10" r="T11" b="T12"/>
            <a:pathLst>
              <a:path w="32941" h="29926" fill="none" extrusionOk="0">
                <a:moveTo>
                  <a:pt x="-1" y="3216"/>
                </a:moveTo>
                <a:cubicBezTo>
                  <a:pt x="3408" y="1113"/>
                  <a:pt x="7335" y="-1"/>
                  <a:pt x="11341" y="0"/>
                </a:cubicBezTo>
                <a:cubicBezTo>
                  <a:pt x="23270" y="0"/>
                  <a:pt x="32941" y="9670"/>
                  <a:pt x="32941" y="21600"/>
                </a:cubicBezTo>
                <a:cubicBezTo>
                  <a:pt x="32941" y="24458"/>
                  <a:pt x="32373" y="27288"/>
                  <a:pt x="31271" y="29925"/>
                </a:cubicBezTo>
              </a:path>
              <a:path w="32941" h="29926" stroke="0" extrusionOk="0">
                <a:moveTo>
                  <a:pt x="-1" y="3216"/>
                </a:moveTo>
                <a:cubicBezTo>
                  <a:pt x="3408" y="1113"/>
                  <a:pt x="7335" y="-1"/>
                  <a:pt x="11341" y="0"/>
                </a:cubicBezTo>
                <a:cubicBezTo>
                  <a:pt x="23270" y="0"/>
                  <a:pt x="32941" y="9670"/>
                  <a:pt x="32941" y="21600"/>
                </a:cubicBezTo>
                <a:cubicBezTo>
                  <a:pt x="32941" y="24458"/>
                  <a:pt x="32373" y="27288"/>
                  <a:pt x="31271" y="29925"/>
                </a:cubicBezTo>
                <a:lnTo>
                  <a:pt x="11341" y="21600"/>
                </a:lnTo>
                <a:close/>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sp>
        <p:nvSpPr>
          <p:cNvPr id="32" name="Arc 8">
            <a:extLst>
              <a:ext uri="{FF2B5EF4-FFF2-40B4-BE49-F238E27FC236}">
                <a16:creationId xmlns:a16="http://schemas.microsoft.com/office/drawing/2014/main" id="{B35B6BAB-32AE-83BB-4F23-6A8F597C5683}"/>
              </a:ext>
            </a:extLst>
          </p:cNvPr>
          <p:cNvSpPr>
            <a:spLocks/>
          </p:cNvSpPr>
          <p:nvPr/>
        </p:nvSpPr>
        <p:spPr bwMode="auto">
          <a:xfrm rot="16200000">
            <a:off x="7728996" y="4785405"/>
            <a:ext cx="258763" cy="276225"/>
          </a:xfrm>
          <a:custGeom>
            <a:avLst/>
            <a:gdLst>
              <a:gd name="T0" fmla="*/ 0 w 32941"/>
              <a:gd name="T1" fmla="*/ 0 h 32171"/>
              <a:gd name="T2" fmla="*/ 1 w 32941"/>
              <a:gd name="T3" fmla="*/ 1 h 32171"/>
              <a:gd name="T4" fmla="*/ 0 w 32941"/>
              <a:gd name="T5" fmla="*/ 1 h 32171"/>
              <a:gd name="T6" fmla="*/ 0 60000 65536"/>
              <a:gd name="T7" fmla="*/ 0 60000 65536"/>
              <a:gd name="T8" fmla="*/ 0 60000 65536"/>
              <a:gd name="T9" fmla="*/ 0 w 32941"/>
              <a:gd name="T10" fmla="*/ 0 h 32171"/>
              <a:gd name="T11" fmla="*/ 32941 w 32941"/>
              <a:gd name="T12" fmla="*/ 32171 h 32171"/>
            </a:gdLst>
            <a:ahLst/>
            <a:cxnLst>
              <a:cxn ang="T6">
                <a:pos x="T0" y="T1"/>
              </a:cxn>
              <a:cxn ang="T7">
                <a:pos x="T2" y="T3"/>
              </a:cxn>
              <a:cxn ang="T8">
                <a:pos x="T4" y="T5"/>
              </a:cxn>
            </a:cxnLst>
            <a:rect l="T9" t="T10" r="T11" b="T12"/>
            <a:pathLst>
              <a:path w="32941" h="32171" fill="none" extrusionOk="0">
                <a:moveTo>
                  <a:pt x="-1" y="3216"/>
                </a:moveTo>
                <a:cubicBezTo>
                  <a:pt x="3408" y="1113"/>
                  <a:pt x="7335" y="-1"/>
                  <a:pt x="11341" y="0"/>
                </a:cubicBezTo>
                <a:cubicBezTo>
                  <a:pt x="23270" y="0"/>
                  <a:pt x="32941" y="9670"/>
                  <a:pt x="32941" y="21600"/>
                </a:cubicBezTo>
                <a:cubicBezTo>
                  <a:pt x="32941" y="25302"/>
                  <a:pt x="31989" y="28942"/>
                  <a:pt x="30177" y="32170"/>
                </a:cubicBezTo>
              </a:path>
              <a:path w="32941" h="32171" stroke="0" extrusionOk="0">
                <a:moveTo>
                  <a:pt x="-1" y="3216"/>
                </a:moveTo>
                <a:cubicBezTo>
                  <a:pt x="3408" y="1113"/>
                  <a:pt x="7335" y="-1"/>
                  <a:pt x="11341" y="0"/>
                </a:cubicBezTo>
                <a:cubicBezTo>
                  <a:pt x="23270" y="0"/>
                  <a:pt x="32941" y="9670"/>
                  <a:pt x="32941" y="21600"/>
                </a:cubicBezTo>
                <a:cubicBezTo>
                  <a:pt x="32941" y="25302"/>
                  <a:pt x="31989" y="28942"/>
                  <a:pt x="30177" y="32170"/>
                </a:cubicBezTo>
                <a:lnTo>
                  <a:pt x="11341" y="21600"/>
                </a:lnTo>
                <a:close/>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sp>
        <p:nvSpPr>
          <p:cNvPr id="33" name="Line 9">
            <a:extLst>
              <a:ext uri="{FF2B5EF4-FFF2-40B4-BE49-F238E27FC236}">
                <a16:creationId xmlns:a16="http://schemas.microsoft.com/office/drawing/2014/main" id="{E7086B57-38BD-A9E9-DB13-234F1B8ED1BF}"/>
              </a:ext>
            </a:extLst>
          </p:cNvPr>
          <p:cNvSpPr>
            <a:spLocks noChangeShapeType="1"/>
          </p:cNvSpPr>
          <p:nvPr/>
        </p:nvSpPr>
        <p:spPr bwMode="auto">
          <a:xfrm flipH="1">
            <a:off x="6982871" y="4502830"/>
            <a:ext cx="5334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sp>
        <p:nvSpPr>
          <p:cNvPr id="34" name="Line 10">
            <a:extLst>
              <a:ext uri="{FF2B5EF4-FFF2-40B4-BE49-F238E27FC236}">
                <a16:creationId xmlns:a16="http://schemas.microsoft.com/office/drawing/2014/main" id="{C8452385-E479-D728-9EF4-57CCD63AB8A5}"/>
              </a:ext>
            </a:extLst>
          </p:cNvPr>
          <p:cNvSpPr>
            <a:spLocks noChangeShapeType="1"/>
          </p:cNvSpPr>
          <p:nvPr/>
        </p:nvSpPr>
        <p:spPr bwMode="auto">
          <a:xfrm flipH="1">
            <a:off x="6963821" y="5293405"/>
            <a:ext cx="54292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sp>
        <p:nvSpPr>
          <p:cNvPr id="35" name="Line 11">
            <a:extLst>
              <a:ext uri="{FF2B5EF4-FFF2-40B4-BE49-F238E27FC236}">
                <a16:creationId xmlns:a16="http://schemas.microsoft.com/office/drawing/2014/main" id="{CBC19C94-CA56-BF7F-0DC7-34CA5861A908}"/>
              </a:ext>
            </a:extLst>
          </p:cNvPr>
          <p:cNvSpPr>
            <a:spLocks noChangeShapeType="1"/>
          </p:cNvSpPr>
          <p:nvPr/>
        </p:nvSpPr>
        <p:spPr bwMode="auto">
          <a:xfrm flipH="1">
            <a:off x="7716296" y="3769405"/>
            <a:ext cx="5334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sp>
        <p:nvSpPr>
          <p:cNvPr id="37" name="Freeform 12">
            <a:extLst>
              <a:ext uri="{FF2B5EF4-FFF2-40B4-BE49-F238E27FC236}">
                <a16:creationId xmlns:a16="http://schemas.microsoft.com/office/drawing/2014/main" id="{DE856C1C-A46C-B863-F044-06D1550513C0}"/>
              </a:ext>
            </a:extLst>
          </p:cNvPr>
          <p:cNvSpPr>
            <a:spLocks/>
          </p:cNvSpPr>
          <p:nvPr/>
        </p:nvSpPr>
        <p:spPr bwMode="auto">
          <a:xfrm>
            <a:off x="6930484" y="3759880"/>
            <a:ext cx="795338" cy="1524000"/>
          </a:xfrm>
          <a:custGeom>
            <a:avLst/>
            <a:gdLst>
              <a:gd name="T0" fmla="*/ 501 w 501"/>
              <a:gd name="T1" fmla="*/ 0 h 960"/>
              <a:gd name="T2" fmla="*/ 459 w 501"/>
              <a:gd name="T3" fmla="*/ 54 h 960"/>
              <a:gd name="T4" fmla="*/ 381 w 501"/>
              <a:gd name="T5" fmla="*/ 144 h 960"/>
              <a:gd name="T6" fmla="*/ 375 w 501"/>
              <a:gd name="T7" fmla="*/ 162 h 960"/>
              <a:gd name="T8" fmla="*/ 303 w 501"/>
              <a:gd name="T9" fmla="*/ 246 h 960"/>
              <a:gd name="T10" fmla="*/ 195 w 501"/>
              <a:gd name="T11" fmla="*/ 282 h 960"/>
              <a:gd name="T12" fmla="*/ 159 w 501"/>
              <a:gd name="T13" fmla="*/ 318 h 960"/>
              <a:gd name="T14" fmla="*/ 135 w 501"/>
              <a:gd name="T15" fmla="*/ 372 h 960"/>
              <a:gd name="T16" fmla="*/ 93 w 501"/>
              <a:gd name="T17" fmla="*/ 390 h 960"/>
              <a:gd name="T18" fmla="*/ 45 w 501"/>
              <a:gd name="T19" fmla="*/ 450 h 960"/>
              <a:gd name="T20" fmla="*/ 27 w 501"/>
              <a:gd name="T21" fmla="*/ 462 h 960"/>
              <a:gd name="T22" fmla="*/ 9 w 501"/>
              <a:gd name="T23" fmla="*/ 720 h 960"/>
              <a:gd name="T24" fmla="*/ 21 w 501"/>
              <a:gd name="T25" fmla="*/ 876 h 960"/>
              <a:gd name="T26" fmla="*/ 21 w 501"/>
              <a:gd name="T27" fmla="*/ 960 h 96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01"/>
              <a:gd name="T43" fmla="*/ 0 h 960"/>
              <a:gd name="T44" fmla="*/ 501 w 501"/>
              <a:gd name="T45" fmla="*/ 960 h 96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01" h="960">
                <a:moveTo>
                  <a:pt x="501" y="0"/>
                </a:moveTo>
                <a:cubicBezTo>
                  <a:pt x="495" y="32"/>
                  <a:pt x="491" y="43"/>
                  <a:pt x="459" y="54"/>
                </a:cubicBezTo>
                <a:cubicBezTo>
                  <a:pt x="436" y="88"/>
                  <a:pt x="414" y="119"/>
                  <a:pt x="381" y="144"/>
                </a:cubicBezTo>
                <a:cubicBezTo>
                  <a:pt x="379" y="150"/>
                  <a:pt x="376" y="156"/>
                  <a:pt x="375" y="162"/>
                </a:cubicBezTo>
                <a:cubicBezTo>
                  <a:pt x="372" y="185"/>
                  <a:pt x="333" y="226"/>
                  <a:pt x="303" y="246"/>
                </a:cubicBezTo>
                <a:cubicBezTo>
                  <a:pt x="273" y="266"/>
                  <a:pt x="219" y="270"/>
                  <a:pt x="195" y="282"/>
                </a:cubicBezTo>
                <a:cubicBezTo>
                  <a:pt x="183" y="294"/>
                  <a:pt x="171" y="306"/>
                  <a:pt x="159" y="318"/>
                </a:cubicBezTo>
                <a:cubicBezTo>
                  <a:pt x="142" y="335"/>
                  <a:pt x="155" y="358"/>
                  <a:pt x="135" y="372"/>
                </a:cubicBezTo>
                <a:cubicBezTo>
                  <a:pt x="122" y="380"/>
                  <a:pt x="107" y="384"/>
                  <a:pt x="93" y="390"/>
                </a:cubicBezTo>
                <a:cubicBezTo>
                  <a:pt x="68" y="428"/>
                  <a:pt x="89" y="439"/>
                  <a:pt x="45" y="450"/>
                </a:cubicBezTo>
                <a:cubicBezTo>
                  <a:pt x="39" y="454"/>
                  <a:pt x="27" y="462"/>
                  <a:pt x="27" y="462"/>
                </a:cubicBezTo>
                <a:cubicBezTo>
                  <a:pt x="23" y="565"/>
                  <a:pt x="18" y="626"/>
                  <a:pt x="9" y="720"/>
                </a:cubicBezTo>
                <a:cubicBezTo>
                  <a:pt x="11" y="772"/>
                  <a:pt x="21" y="824"/>
                  <a:pt x="21" y="876"/>
                </a:cubicBezTo>
                <a:cubicBezTo>
                  <a:pt x="21" y="906"/>
                  <a:pt x="0" y="939"/>
                  <a:pt x="21" y="960"/>
                </a:cubicBezTo>
              </a:path>
            </a:pathLst>
          </a:custGeom>
          <a:noFill/>
          <a:ln w="1905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sp>
        <p:nvSpPr>
          <p:cNvPr id="38" name="AutoShape 13" descr="宽下对角线">
            <a:extLst>
              <a:ext uri="{FF2B5EF4-FFF2-40B4-BE49-F238E27FC236}">
                <a16:creationId xmlns:a16="http://schemas.microsoft.com/office/drawing/2014/main" id="{80A69E84-90A9-5284-BF49-08DC311D9BFA}"/>
              </a:ext>
            </a:extLst>
          </p:cNvPr>
          <p:cNvSpPr>
            <a:spLocks noChangeArrowheads="1"/>
          </p:cNvSpPr>
          <p:nvPr/>
        </p:nvSpPr>
        <p:spPr bwMode="auto">
          <a:xfrm rot="16200000" flipH="1">
            <a:off x="7124159" y="4659993"/>
            <a:ext cx="1023938" cy="246063"/>
          </a:xfrm>
          <a:prstGeom prst="parallelogram">
            <a:avLst>
              <a:gd name="adj" fmla="val 90315"/>
            </a:avLst>
          </a:prstGeom>
          <a:pattFill prst="wdDnDiag">
            <a:fgClr>
              <a:srgbClr val="000000"/>
            </a:fgClr>
            <a:bgClr>
              <a:srgbClr val="66FF33"/>
            </a:bgClr>
          </a:pattFill>
          <a:ln w="28575">
            <a:solidFill>
              <a:srgbClr val="000000"/>
            </a:solidFill>
            <a:miter lim="800000"/>
            <a:headEnd/>
            <a:tailEnd/>
          </a:ln>
        </p:spPr>
        <p:txBody>
          <a:bodyPr wrap="none" anchor="ct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CC"/>
              </a:solidFill>
              <a:effectLst/>
              <a:uLnTx/>
              <a:uFillTx/>
              <a:latin typeface="Times New Roman" panose="02020603050405020304" pitchFamily="18" charset="0"/>
              <a:ea typeface="黑体" panose="02010609060101010101" pitchFamily="49" charset="-122"/>
            </a:endParaRPr>
          </a:p>
        </p:txBody>
      </p:sp>
      <p:sp>
        <p:nvSpPr>
          <p:cNvPr id="39" name="Arc 14">
            <a:extLst>
              <a:ext uri="{FF2B5EF4-FFF2-40B4-BE49-F238E27FC236}">
                <a16:creationId xmlns:a16="http://schemas.microsoft.com/office/drawing/2014/main" id="{EE52138A-33DD-5D16-F2AA-76B73C7AEFB3}"/>
              </a:ext>
            </a:extLst>
          </p:cNvPr>
          <p:cNvSpPr>
            <a:spLocks/>
          </p:cNvSpPr>
          <p:nvPr/>
        </p:nvSpPr>
        <p:spPr bwMode="auto">
          <a:xfrm rot="17678956">
            <a:off x="7678196" y="4009118"/>
            <a:ext cx="225425" cy="133350"/>
          </a:xfrm>
          <a:custGeom>
            <a:avLst/>
            <a:gdLst>
              <a:gd name="T0" fmla="*/ 0 w 32742"/>
              <a:gd name="T1" fmla="*/ 0 h 21600"/>
              <a:gd name="T2" fmla="*/ 1 w 32742"/>
              <a:gd name="T3" fmla="*/ 0 h 21600"/>
              <a:gd name="T4" fmla="*/ 0 w 32742"/>
              <a:gd name="T5" fmla="*/ 0 h 21600"/>
              <a:gd name="T6" fmla="*/ 0 60000 65536"/>
              <a:gd name="T7" fmla="*/ 0 60000 65536"/>
              <a:gd name="T8" fmla="*/ 0 60000 65536"/>
              <a:gd name="T9" fmla="*/ 0 w 32742"/>
              <a:gd name="T10" fmla="*/ 0 h 21600"/>
              <a:gd name="T11" fmla="*/ 32742 w 32742"/>
              <a:gd name="T12" fmla="*/ 21600 h 21600"/>
            </a:gdLst>
            <a:ahLst/>
            <a:cxnLst>
              <a:cxn ang="T6">
                <a:pos x="T0" y="T1"/>
              </a:cxn>
              <a:cxn ang="T7">
                <a:pos x="T2" y="T3"/>
              </a:cxn>
              <a:cxn ang="T8">
                <a:pos x="T4" y="T5"/>
              </a:cxn>
            </a:cxnLst>
            <a:rect l="T9" t="T10" r="T11" b="T12"/>
            <a:pathLst>
              <a:path w="32742" h="21600" fill="none" extrusionOk="0">
                <a:moveTo>
                  <a:pt x="-1" y="3216"/>
                </a:moveTo>
                <a:cubicBezTo>
                  <a:pt x="3408" y="1113"/>
                  <a:pt x="7335" y="-1"/>
                  <a:pt x="11341" y="0"/>
                </a:cubicBezTo>
                <a:cubicBezTo>
                  <a:pt x="22140" y="0"/>
                  <a:pt x="31280" y="7976"/>
                  <a:pt x="32742" y="18676"/>
                </a:cubicBezTo>
              </a:path>
              <a:path w="32742" h="21600" stroke="0" extrusionOk="0">
                <a:moveTo>
                  <a:pt x="-1" y="3216"/>
                </a:moveTo>
                <a:cubicBezTo>
                  <a:pt x="3408" y="1113"/>
                  <a:pt x="7335" y="-1"/>
                  <a:pt x="11341" y="0"/>
                </a:cubicBezTo>
                <a:cubicBezTo>
                  <a:pt x="22140" y="0"/>
                  <a:pt x="31280" y="7976"/>
                  <a:pt x="32742" y="18676"/>
                </a:cubicBezTo>
                <a:lnTo>
                  <a:pt x="11341" y="21600"/>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sp>
        <p:nvSpPr>
          <p:cNvPr id="40" name="Arc 15">
            <a:extLst>
              <a:ext uri="{FF2B5EF4-FFF2-40B4-BE49-F238E27FC236}">
                <a16:creationId xmlns:a16="http://schemas.microsoft.com/office/drawing/2014/main" id="{AD0D3C17-8805-07CE-F2EF-9DB995CA5576}"/>
              </a:ext>
            </a:extLst>
          </p:cNvPr>
          <p:cNvSpPr>
            <a:spLocks/>
          </p:cNvSpPr>
          <p:nvPr/>
        </p:nvSpPr>
        <p:spPr bwMode="auto">
          <a:xfrm rot="17678956">
            <a:off x="7668671" y="4005943"/>
            <a:ext cx="176213" cy="100013"/>
          </a:xfrm>
          <a:custGeom>
            <a:avLst/>
            <a:gdLst>
              <a:gd name="T0" fmla="*/ 0 w 32742"/>
              <a:gd name="T1" fmla="*/ 0 h 21600"/>
              <a:gd name="T2" fmla="*/ 0 w 32742"/>
              <a:gd name="T3" fmla="*/ 0 h 21600"/>
              <a:gd name="T4" fmla="*/ 0 w 32742"/>
              <a:gd name="T5" fmla="*/ 0 h 21600"/>
              <a:gd name="T6" fmla="*/ 0 60000 65536"/>
              <a:gd name="T7" fmla="*/ 0 60000 65536"/>
              <a:gd name="T8" fmla="*/ 0 60000 65536"/>
              <a:gd name="T9" fmla="*/ 0 w 32742"/>
              <a:gd name="T10" fmla="*/ 0 h 21600"/>
              <a:gd name="T11" fmla="*/ 32742 w 32742"/>
              <a:gd name="T12" fmla="*/ 21600 h 21600"/>
            </a:gdLst>
            <a:ahLst/>
            <a:cxnLst>
              <a:cxn ang="T6">
                <a:pos x="T0" y="T1"/>
              </a:cxn>
              <a:cxn ang="T7">
                <a:pos x="T2" y="T3"/>
              </a:cxn>
              <a:cxn ang="T8">
                <a:pos x="T4" y="T5"/>
              </a:cxn>
            </a:cxnLst>
            <a:rect l="T9" t="T10" r="T11" b="T12"/>
            <a:pathLst>
              <a:path w="32742" h="21600" fill="none" extrusionOk="0">
                <a:moveTo>
                  <a:pt x="-1" y="3216"/>
                </a:moveTo>
                <a:cubicBezTo>
                  <a:pt x="3408" y="1113"/>
                  <a:pt x="7335" y="-1"/>
                  <a:pt x="11341" y="0"/>
                </a:cubicBezTo>
                <a:cubicBezTo>
                  <a:pt x="22140" y="0"/>
                  <a:pt x="31280" y="7976"/>
                  <a:pt x="32742" y="18676"/>
                </a:cubicBezTo>
              </a:path>
              <a:path w="32742" h="21600" stroke="0" extrusionOk="0">
                <a:moveTo>
                  <a:pt x="-1" y="3216"/>
                </a:moveTo>
                <a:cubicBezTo>
                  <a:pt x="3408" y="1113"/>
                  <a:pt x="7335" y="-1"/>
                  <a:pt x="11341" y="0"/>
                </a:cubicBezTo>
                <a:cubicBezTo>
                  <a:pt x="22140" y="0"/>
                  <a:pt x="31280" y="7976"/>
                  <a:pt x="32742" y="18676"/>
                </a:cubicBezTo>
                <a:lnTo>
                  <a:pt x="11341" y="21600"/>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sp>
        <p:nvSpPr>
          <p:cNvPr id="42" name="Arc 16">
            <a:extLst>
              <a:ext uri="{FF2B5EF4-FFF2-40B4-BE49-F238E27FC236}">
                <a16:creationId xmlns:a16="http://schemas.microsoft.com/office/drawing/2014/main" id="{0792F58E-6BBC-F87E-D338-3C13DEAB5D90}"/>
              </a:ext>
            </a:extLst>
          </p:cNvPr>
          <p:cNvSpPr>
            <a:spLocks/>
          </p:cNvSpPr>
          <p:nvPr/>
        </p:nvSpPr>
        <p:spPr bwMode="auto">
          <a:xfrm rot="18278408">
            <a:off x="7678196" y="3993243"/>
            <a:ext cx="125413" cy="85725"/>
          </a:xfrm>
          <a:custGeom>
            <a:avLst/>
            <a:gdLst>
              <a:gd name="T0" fmla="*/ 0 w 29345"/>
              <a:gd name="T1" fmla="*/ 0 h 21600"/>
              <a:gd name="T2" fmla="*/ 0 w 29345"/>
              <a:gd name="T3" fmla="*/ 0 h 21600"/>
              <a:gd name="T4" fmla="*/ 0 w 29345"/>
              <a:gd name="T5" fmla="*/ 0 h 21600"/>
              <a:gd name="T6" fmla="*/ 0 60000 65536"/>
              <a:gd name="T7" fmla="*/ 0 60000 65536"/>
              <a:gd name="T8" fmla="*/ 0 60000 65536"/>
              <a:gd name="T9" fmla="*/ 0 w 29345"/>
              <a:gd name="T10" fmla="*/ 0 h 21600"/>
              <a:gd name="T11" fmla="*/ 29345 w 29345"/>
              <a:gd name="T12" fmla="*/ 21600 h 21600"/>
            </a:gdLst>
            <a:ahLst/>
            <a:cxnLst>
              <a:cxn ang="T6">
                <a:pos x="T0" y="T1"/>
              </a:cxn>
              <a:cxn ang="T7">
                <a:pos x="T2" y="T3"/>
              </a:cxn>
              <a:cxn ang="T8">
                <a:pos x="T4" y="T5"/>
              </a:cxn>
            </a:cxnLst>
            <a:rect l="T9" t="T10" r="T11" b="T12"/>
            <a:pathLst>
              <a:path w="29345" h="21600" fill="none" extrusionOk="0">
                <a:moveTo>
                  <a:pt x="-1" y="3216"/>
                </a:moveTo>
                <a:cubicBezTo>
                  <a:pt x="3408" y="1113"/>
                  <a:pt x="7335" y="-1"/>
                  <a:pt x="11341" y="0"/>
                </a:cubicBezTo>
                <a:cubicBezTo>
                  <a:pt x="18582" y="0"/>
                  <a:pt x="25343" y="3629"/>
                  <a:pt x="29344" y="9665"/>
                </a:cubicBezTo>
              </a:path>
              <a:path w="29345" h="21600" stroke="0" extrusionOk="0">
                <a:moveTo>
                  <a:pt x="-1" y="3216"/>
                </a:moveTo>
                <a:cubicBezTo>
                  <a:pt x="3408" y="1113"/>
                  <a:pt x="7335" y="-1"/>
                  <a:pt x="11341" y="0"/>
                </a:cubicBezTo>
                <a:cubicBezTo>
                  <a:pt x="18582" y="0"/>
                  <a:pt x="25343" y="3629"/>
                  <a:pt x="29344" y="9665"/>
                </a:cubicBezTo>
                <a:lnTo>
                  <a:pt x="11341" y="21600"/>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grpSp>
        <p:nvGrpSpPr>
          <p:cNvPr id="43" name="Group 17">
            <a:extLst>
              <a:ext uri="{FF2B5EF4-FFF2-40B4-BE49-F238E27FC236}">
                <a16:creationId xmlns:a16="http://schemas.microsoft.com/office/drawing/2014/main" id="{A5B66CF0-BD57-0515-C96B-6C233D62BADD}"/>
              </a:ext>
            </a:extLst>
          </p:cNvPr>
          <p:cNvGrpSpPr>
            <a:grpSpLocks noChangeAspect="1"/>
          </p:cNvGrpSpPr>
          <p:nvPr/>
        </p:nvGrpSpPr>
        <p:grpSpPr bwMode="auto">
          <a:xfrm>
            <a:off x="8785299" y="3967842"/>
            <a:ext cx="311150" cy="1050925"/>
            <a:chOff x="5121" y="1424"/>
            <a:chExt cx="281" cy="947"/>
          </a:xfrm>
        </p:grpSpPr>
        <p:sp>
          <p:nvSpPr>
            <p:cNvPr id="44" name="Freeform 18">
              <a:extLst>
                <a:ext uri="{FF2B5EF4-FFF2-40B4-BE49-F238E27FC236}">
                  <a16:creationId xmlns:a16="http://schemas.microsoft.com/office/drawing/2014/main" id="{701A4661-6631-CF11-2718-175B03EB1734}"/>
                </a:ext>
              </a:extLst>
            </p:cNvPr>
            <p:cNvSpPr>
              <a:spLocks noChangeAspect="1"/>
            </p:cNvSpPr>
            <p:nvPr/>
          </p:nvSpPr>
          <p:spPr bwMode="auto">
            <a:xfrm>
              <a:off x="5121" y="1424"/>
              <a:ext cx="281" cy="946"/>
            </a:xfrm>
            <a:custGeom>
              <a:avLst/>
              <a:gdLst>
                <a:gd name="T0" fmla="*/ 273 w 281"/>
                <a:gd name="T1" fmla="*/ 36 h 946"/>
                <a:gd name="T2" fmla="*/ 150 w 281"/>
                <a:gd name="T3" fmla="*/ 10 h 946"/>
                <a:gd name="T4" fmla="*/ 84 w 281"/>
                <a:gd name="T5" fmla="*/ 55 h 946"/>
                <a:gd name="T6" fmla="*/ 18 w 281"/>
                <a:gd name="T7" fmla="*/ 172 h 946"/>
                <a:gd name="T8" fmla="*/ 21 w 281"/>
                <a:gd name="T9" fmla="*/ 532 h 946"/>
                <a:gd name="T10" fmla="*/ 48 w 281"/>
                <a:gd name="T11" fmla="*/ 946 h 946"/>
                <a:gd name="T12" fmla="*/ 281 w 281"/>
                <a:gd name="T13" fmla="*/ 760 h 946"/>
                <a:gd name="T14" fmla="*/ 271 w 281"/>
                <a:gd name="T15" fmla="*/ 136 h 946"/>
                <a:gd name="T16" fmla="*/ 0 60000 65536"/>
                <a:gd name="T17" fmla="*/ 0 60000 65536"/>
                <a:gd name="T18" fmla="*/ 0 60000 65536"/>
                <a:gd name="T19" fmla="*/ 0 60000 65536"/>
                <a:gd name="T20" fmla="*/ 0 60000 65536"/>
                <a:gd name="T21" fmla="*/ 0 60000 65536"/>
                <a:gd name="T22" fmla="*/ 0 60000 65536"/>
                <a:gd name="T23" fmla="*/ 0 60000 65536"/>
                <a:gd name="T24" fmla="*/ 0 w 281"/>
                <a:gd name="T25" fmla="*/ 0 h 946"/>
                <a:gd name="T26" fmla="*/ 281 w 281"/>
                <a:gd name="T27" fmla="*/ 946 h 94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81" h="946">
                  <a:moveTo>
                    <a:pt x="273" y="36"/>
                  </a:moveTo>
                  <a:cubicBezTo>
                    <a:pt x="187" y="8"/>
                    <a:pt x="278" y="0"/>
                    <a:pt x="150" y="10"/>
                  </a:cubicBezTo>
                  <a:cubicBezTo>
                    <a:pt x="134" y="15"/>
                    <a:pt x="89" y="39"/>
                    <a:pt x="84" y="55"/>
                  </a:cubicBezTo>
                  <a:cubicBezTo>
                    <a:pt x="71" y="95"/>
                    <a:pt x="34" y="108"/>
                    <a:pt x="18" y="172"/>
                  </a:cubicBezTo>
                  <a:cubicBezTo>
                    <a:pt x="22" y="258"/>
                    <a:pt x="28" y="346"/>
                    <a:pt x="21" y="532"/>
                  </a:cubicBezTo>
                  <a:cubicBezTo>
                    <a:pt x="28" y="661"/>
                    <a:pt x="0" y="883"/>
                    <a:pt x="48" y="946"/>
                  </a:cubicBezTo>
                  <a:cubicBezTo>
                    <a:pt x="162" y="849"/>
                    <a:pt x="281" y="760"/>
                    <a:pt x="281" y="760"/>
                  </a:cubicBezTo>
                  <a:lnTo>
                    <a:pt x="271" y="136"/>
                  </a:lnTo>
                </a:path>
              </a:pathLst>
            </a:custGeom>
            <a:gradFill rotWithShape="0">
              <a:gsLst>
                <a:gs pos="0">
                  <a:srgbClr val="000000"/>
                </a:gs>
                <a:gs pos="100000">
                  <a:srgbClr val="CC9900"/>
                </a:gs>
              </a:gsLst>
              <a:lin ang="0" scaled="1"/>
            </a:gradFill>
            <a:ln>
              <a:noFill/>
            </a:ln>
            <a:extLst>
              <a:ext uri="{91240B29-F687-4F45-9708-019B960494DF}">
                <a14:hiddenLine xmlns:a14="http://schemas.microsoft.com/office/drawing/2010/main" w="28575" cmpd="sng">
                  <a:solidFill>
                    <a:srgbClr val="000000"/>
                  </a:solidFill>
                  <a:round/>
                  <a:headEnd/>
                  <a:tailEnd/>
                </a14:hiddenLine>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sp>
          <p:nvSpPr>
            <p:cNvPr id="45" name="Arc 19">
              <a:extLst>
                <a:ext uri="{FF2B5EF4-FFF2-40B4-BE49-F238E27FC236}">
                  <a16:creationId xmlns:a16="http://schemas.microsoft.com/office/drawing/2014/main" id="{26A99E65-EDF1-B536-D3CD-8D92054FD1DE}"/>
                </a:ext>
              </a:extLst>
            </p:cNvPr>
            <p:cNvSpPr>
              <a:spLocks noChangeAspect="1"/>
            </p:cNvSpPr>
            <p:nvPr/>
          </p:nvSpPr>
          <p:spPr bwMode="auto">
            <a:xfrm rot="-5171298">
              <a:off x="5160" y="1432"/>
              <a:ext cx="229" cy="239"/>
            </a:xfrm>
            <a:custGeom>
              <a:avLst/>
              <a:gdLst>
                <a:gd name="T0" fmla="*/ 0 w 32941"/>
                <a:gd name="T1" fmla="*/ 0 h 31545"/>
                <a:gd name="T2" fmla="*/ 1 w 32941"/>
                <a:gd name="T3" fmla="*/ 2 h 31545"/>
                <a:gd name="T4" fmla="*/ 1 w 32941"/>
                <a:gd name="T5" fmla="*/ 1 h 31545"/>
                <a:gd name="T6" fmla="*/ 0 60000 65536"/>
                <a:gd name="T7" fmla="*/ 0 60000 65536"/>
                <a:gd name="T8" fmla="*/ 0 60000 65536"/>
                <a:gd name="T9" fmla="*/ 0 w 32941"/>
                <a:gd name="T10" fmla="*/ 0 h 31545"/>
                <a:gd name="T11" fmla="*/ 32941 w 32941"/>
                <a:gd name="T12" fmla="*/ 31545 h 31545"/>
              </a:gdLst>
              <a:ahLst/>
              <a:cxnLst>
                <a:cxn ang="T6">
                  <a:pos x="T0" y="T1"/>
                </a:cxn>
                <a:cxn ang="T7">
                  <a:pos x="T2" y="T3"/>
                </a:cxn>
                <a:cxn ang="T8">
                  <a:pos x="T4" y="T5"/>
                </a:cxn>
              </a:cxnLst>
              <a:rect l="T9" t="T10" r="T11" b="T12"/>
              <a:pathLst>
                <a:path w="32941" h="31545" fill="none" extrusionOk="0">
                  <a:moveTo>
                    <a:pt x="-1" y="3216"/>
                  </a:moveTo>
                  <a:cubicBezTo>
                    <a:pt x="3408" y="1113"/>
                    <a:pt x="7335" y="-1"/>
                    <a:pt x="11341" y="0"/>
                  </a:cubicBezTo>
                  <a:cubicBezTo>
                    <a:pt x="23270" y="0"/>
                    <a:pt x="32941" y="9670"/>
                    <a:pt x="32941" y="21600"/>
                  </a:cubicBezTo>
                  <a:cubicBezTo>
                    <a:pt x="32941" y="25061"/>
                    <a:pt x="32109" y="28472"/>
                    <a:pt x="30515" y="31545"/>
                  </a:cubicBezTo>
                </a:path>
                <a:path w="32941" h="31545" stroke="0" extrusionOk="0">
                  <a:moveTo>
                    <a:pt x="-1" y="3216"/>
                  </a:moveTo>
                  <a:cubicBezTo>
                    <a:pt x="3408" y="1113"/>
                    <a:pt x="7335" y="-1"/>
                    <a:pt x="11341" y="0"/>
                  </a:cubicBezTo>
                  <a:cubicBezTo>
                    <a:pt x="23270" y="0"/>
                    <a:pt x="32941" y="9670"/>
                    <a:pt x="32941" y="21600"/>
                  </a:cubicBezTo>
                  <a:cubicBezTo>
                    <a:pt x="32941" y="25061"/>
                    <a:pt x="32109" y="28472"/>
                    <a:pt x="30515" y="31545"/>
                  </a:cubicBezTo>
                  <a:lnTo>
                    <a:pt x="11341" y="21600"/>
                  </a:lnTo>
                  <a:close/>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sp>
          <p:nvSpPr>
            <p:cNvPr id="46" name="AutoShape 20" descr="宽下对角线">
              <a:extLst>
                <a:ext uri="{FF2B5EF4-FFF2-40B4-BE49-F238E27FC236}">
                  <a16:creationId xmlns:a16="http://schemas.microsoft.com/office/drawing/2014/main" id="{BA82E30A-1645-A585-EA9A-2BF84AA0767E}"/>
                </a:ext>
              </a:extLst>
            </p:cNvPr>
            <p:cNvSpPr>
              <a:spLocks noChangeAspect="1" noChangeArrowheads="1"/>
            </p:cNvSpPr>
            <p:nvPr/>
          </p:nvSpPr>
          <p:spPr bwMode="auto">
            <a:xfrm rot="16200000" flipH="1">
              <a:off x="4836" y="1810"/>
              <a:ext cx="905" cy="218"/>
            </a:xfrm>
            <a:prstGeom prst="parallelogram">
              <a:avLst>
                <a:gd name="adj" fmla="val 90100"/>
              </a:avLst>
            </a:prstGeom>
            <a:pattFill prst="wdDnDiag">
              <a:fgClr>
                <a:srgbClr val="000000"/>
              </a:fgClr>
              <a:bgClr>
                <a:srgbClr val="FF99FF"/>
              </a:bgClr>
            </a:pattFill>
            <a:ln w="28575">
              <a:solidFill>
                <a:srgbClr val="000000"/>
              </a:solidFill>
              <a:miter lim="800000"/>
              <a:headEnd/>
              <a:tailEnd/>
            </a:ln>
          </p:spPr>
          <p:txBody>
            <a:bodyPr wrap="none" anchor="ct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CC"/>
                </a:solidFill>
                <a:effectLst/>
                <a:uLnTx/>
                <a:uFillTx/>
                <a:latin typeface="Times New Roman" panose="02020603050405020304" pitchFamily="18" charset="0"/>
                <a:ea typeface="黑体" panose="02010609060101010101" pitchFamily="49" charset="-122"/>
              </a:endParaRPr>
            </a:p>
          </p:txBody>
        </p:sp>
        <p:sp>
          <p:nvSpPr>
            <p:cNvPr id="47" name="Line 21">
              <a:extLst>
                <a:ext uri="{FF2B5EF4-FFF2-40B4-BE49-F238E27FC236}">
                  <a16:creationId xmlns:a16="http://schemas.microsoft.com/office/drawing/2014/main" id="{EEDDD64D-89CA-2706-FAE8-1C29BB2907F9}"/>
                </a:ext>
              </a:extLst>
            </p:cNvPr>
            <p:cNvSpPr>
              <a:spLocks noChangeAspect="1" noChangeShapeType="1"/>
            </p:cNvSpPr>
            <p:nvPr/>
          </p:nvSpPr>
          <p:spPr bwMode="auto">
            <a:xfrm>
              <a:off x="5150" y="1578"/>
              <a:ext cx="0" cy="689"/>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sp>
          <p:nvSpPr>
            <p:cNvPr id="48" name="Arc 22">
              <a:extLst>
                <a:ext uri="{FF2B5EF4-FFF2-40B4-BE49-F238E27FC236}">
                  <a16:creationId xmlns:a16="http://schemas.microsoft.com/office/drawing/2014/main" id="{1DA991BB-DE8F-E7CD-544E-714E6B40B929}"/>
                </a:ext>
              </a:extLst>
            </p:cNvPr>
            <p:cNvSpPr>
              <a:spLocks noChangeAspect="1"/>
            </p:cNvSpPr>
            <p:nvPr/>
          </p:nvSpPr>
          <p:spPr bwMode="auto">
            <a:xfrm rot="-6511227">
              <a:off x="5165" y="2224"/>
              <a:ext cx="109" cy="153"/>
            </a:xfrm>
            <a:custGeom>
              <a:avLst/>
              <a:gdLst>
                <a:gd name="T0" fmla="*/ 0 w 18322"/>
                <a:gd name="T1" fmla="*/ 0 h 21600"/>
                <a:gd name="T2" fmla="*/ 1 w 18322"/>
                <a:gd name="T3" fmla="*/ 0 h 21600"/>
                <a:gd name="T4" fmla="*/ 0 w 18322"/>
                <a:gd name="T5" fmla="*/ 1 h 21600"/>
                <a:gd name="T6" fmla="*/ 0 60000 65536"/>
                <a:gd name="T7" fmla="*/ 0 60000 65536"/>
                <a:gd name="T8" fmla="*/ 0 60000 65536"/>
                <a:gd name="T9" fmla="*/ 0 w 18322"/>
                <a:gd name="T10" fmla="*/ 0 h 21600"/>
                <a:gd name="T11" fmla="*/ 18322 w 18322"/>
                <a:gd name="T12" fmla="*/ 21600 h 21600"/>
              </a:gdLst>
              <a:ahLst/>
              <a:cxnLst>
                <a:cxn ang="T6">
                  <a:pos x="T0" y="T1"/>
                </a:cxn>
                <a:cxn ang="T7">
                  <a:pos x="T2" y="T3"/>
                </a:cxn>
                <a:cxn ang="T8">
                  <a:pos x="T4" y="T5"/>
                </a:cxn>
              </a:cxnLst>
              <a:rect l="T9" t="T10" r="T11" b="T12"/>
              <a:pathLst>
                <a:path w="18322" h="21600" fill="none" extrusionOk="0">
                  <a:moveTo>
                    <a:pt x="-1" y="1188"/>
                  </a:moveTo>
                  <a:cubicBezTo>
                    <a:pt x="2272" y="401"/>
                    <a:pt x="4661" y="-1"/>
                    <a:pt x="7067" y="0"/>
                  </a:cubicBezTo>
                  <a:cubicBezTo>
                    <a:pt x="11038" y="0"/>
                    <a:pt x="14932" y="1094"/>
                    <a:pt x="18321" y="3164"/>
                  </a:cubicBezTo>
                </a:path>
                <a:path w="18322" h="21600" stroke="0" extrusionOk="0">
                  <a:moveTo>
                    <a:pt x="-1" y="1188"/>
                  </a:moveTo>
                  <a:cubicBezTo>
                    <a:pt x="2272" y="401"/>
                    <a:pt x="4661" y="-1"/>
                    <a:pt x="7067" y="0"/>
                  </a:cubicBezTo>
                  <a:cubicBezTo>
                    <a:pt x="11038" y="0"/>
                    <a:pt x="14932" y="1094"/>
                    <a:pt x="18321" y="3164"/>
                  </a:cubicBezTo>
                  <a:lnTo>
                    <a:pt x="7067" y="21600"/>
                  </a:lnTo>
                  <a:close/>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grpSp>
      <p:grpSp>
        <p:nvGrpSpPr>
          <p:cNvPr id="49" name="Group 51">
            <a:extLst>
              <a:ext uri="{FF2B5EF4-FFF2-40B4-BE49-F238E27FC236}">
                <a16:creationId xmlns:a16="http://schemas.microsoft.com/office/drawing/2014/main" id="{EA668166-52C4-EE4E-7181-C1A00F59FAD8}"/>
              </a:ext>
            </a:extLst>
          </p:cNvPr>
          <p:cNvGrpSpPr>
            <a:grpSpLocks/>
          </p:cNvGrpSpPr>
          <p:nvPr/>
        </p:nvGrpSpPr>
        <p:grpSpPr bwMode="auto">
          <a:xfrm>
            <a:off x="11120512" y="3663042"/>
            <a:ext cx="446087" cy="1503363"/>
            <a:chOff x="5121" y="1424"/>
            <a:chExt cx="281" cy="947"/>
          </a:xfrm>
        </p:grpSpPr>
        <p:sp>
          <p:nvSpPr>
            <p:cNvPr id="50" name="Freeform 52">
              <a:extLst>
                <a:ext uri="{FF2B5EF4-FFF2-40B4-BE49-F238E27FC236}">
                  <a16:creationId xmlns:a16="http://schemas.microsoft.com/office/drawing/2014/main" id="{B244C629-C99A-7868-277D-7936417C7825}"/>
                </a:ext>
              </a:extLst>
            </p:cNvPr>
            <p:cNvSpPr>
              <a:spLocks noChangeAspect="1"/>
            </p:cNvSpPr>
            <p:nvPr/>
          </p:nvSpPr>
          <p:spPr bwMode="auto">
            <a:xfrm>
              <a:off x="5121" y="1424"/>
              <a:ext cx="281" cy="946"/>
            </a:xfrm>
            <a:custGeom>
              <a:avLst/>
              <a:gdLst>
                <a:gd name="T0" fmla="*/ 273 w 281"/>
                <a:gd name="T1" fmla="*/ 36 h 946"/>
                <a:gd name="T2" fmla="*/ 150 w 281"/>
                <a:gd name="T3" fmla="*/ 10 h 946"/>
                <a:gd name="T4" fmla="*/ 84 w 281"/>
                <a:gd name="T5" fmla="*/ 55 h 946"/>
                <a:gd name="T6" fmla="*/ 18 w 281"/>
                <a:gd name="T7" fmla="*/ 172 h 946"/>
                <a:gd name="T8" fmla="*/ 21 w 281"/>
                <a:gd name="T9" fmla="*/ 532 h 946"/>
                <a:gd name="T10" fmla="*/ 48 w 281"/>
                <a:gd name="T11" fmla="*/ 946 h 946"/>
                <a:gd name="T12" fmla="*/ 281 w 281"/>
                <a:gd name="T13" fmla="*/ 760 h 946"/>
                <a:gd name="T14" fmla="*/ 271 w 281"/>
                <a:gd name="T15" fmla="*/ 136 h 946"/>
                <a:gd name="T16" fmla="*/ 0 60000 65536"/>
                <a:gd name="T17" fmla="*/ 0 60000 65536"/>
                <a:gd name="T18" fmla="*/ 0 60000 65536"/>
                <a:gd name="T19" fmla="*/ 0 60000 65536"/>
                <a:gd name="T20" fmla="*/ 0 60000 65536"/>
                <a:gd name="T21" fmla="*/ 0 60000 65536"/>
                <a:gd name="T22" fmla="*/ 0 60000 65536"/>
                <a:gd name="T23" fmla="*/ 0 60000 65536"/>
                <a:gd name="T24" fmla="*/ 0 w 281"/>
                <a:gd name="T25" fmla="*/ 0 h 946"/>
                <a:gd name="T26" fmla="*/ 281 w 281"/>
                <a:gd name="T27" fmla="*/ 946 h 94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81" h="946">
                  <a:moveTo>
                    <a:pt x="273" y="36"/>
                  </a:moveTo>
                  <a:cubicBezTo>
                    <a:pt x="187" y="8"/>
                    <a:pt x="278" y="0"/>
                    <a:pt x="150" y="10"/>
                  </a:cubicBezTo>
                  <a:cubicBezTo>
                    <a:pt x="134" y="15"/>
                    <a:pt x="89" y="39"/>
                    <a:pt x="84" y="55"/>
                  </a:cubicBezTo>
                  <a:cubicBezTo>
                    <a:pt x="71" y="95"/>
                    <a:pt x="34" y="108"/>
                    <a:pt x="18" y="172"/>
                  </a:cubicBezTo>
                  <a:cubicBezTo>
                    <a:pt x="22" y="258"/>
                    <a:pt x="28" y="346"/>
                    <a:pt x="21" y="532"/>
                  </a:cubicBezTo>
                  <a:cubicBezTo>
                    <a:pt x="28" y="661"/>
                    <a:pt x="0" y="883"/>
                    <a:pt x="48" y="946"/>
                  </a:cubicBezTo>
                  <a:cubicBezTo>
                    <a:pt x="162" y="849"/>
                    <a:pt x="281" y="760"/>
                    <a:pt x="281" y="760"/>
                  </a:cubicBezTo>
                  <a:lnTo>
                    <a:pt x="271" y="136"/>
                  </a:lnTo>
                </a:path>
              </a:pathLst>
            </a:custGeom>
            <a:gradFill rotWithShape="0">
              <a:gsLst>
                <a:gs pos="0">
                  <a:srgbClr val="000000"/>
                </a:gs>
                <a:gs pos="100000">
                  <a:srgbClr val="CC9900"/>
                </a:gs>
              </a:gsLst>
              <a:lin ang="0" scaled="1"/>
            </a:gradFill>
            <a:ln>
              <a:noFill/>
            </a:ln>
            <a:extLst>
              <a:ext uri="{91240B29-F687-4F45-9708-019B960494DF}">
                <a14:hiddenLine xmlns:a14="http://schemas.microsoft.com/office/drawing/2010/main" w="28575" cmpd="sng">
                  <a:solidFill>
                    <a:srgbClr val="000000"/>
                  </a:solidFill>
                  <a:round/>
                  <a:headEnd/>
                  <a:tailEnd/>
                </a14:hiddenLine>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sp>
          <p:nvSpPr>
            <p:cNvPr id="51" name="Arc 53">
              <a:extLst>
                <a:ext uri="{FF2B5EF4-FFF2-40B4-BE49-F238E27FC236}">
                  <a16:creationId xmlns:a16="http://schemas.microsoft.com/office/drawing/2014/main" id="{6BF8568A-4ADA-0D1F-8619-C42EEF49FB74}"/>
                </a:ext>
              </a:extLst>
            </p:cNvPr>
            <p:cNvSpPr>
              <a:spLocks noChangeAspect="1"/>
            </p:cNvSpPr>
            <p:nvPr/>
          </p:nvSpPr>
          <p:spPr bwMode="auto">
            <a:xfrm rot="-5171298">
              <a:off x="5160" y="1432"/>
              <a:ext cx="229" cy="239"/>
            </a:xfrm>
            <a:custGeom>
              <a:avLst/>
              <a:gdLst>
                <a:gd name="T0" fmla="*/ 0 w 32941"/>
                <a:gd name="T1" fmla="*/ 0 h 31545"/>
                <a:gd name="T2" fmla="*/ 1 w 32941"/>
                <a:gd name="T3" fmla="*/ 2 h 31545"/>
                <a:gd name="T4" fmla="*/ 1 w 32941"/>
                <a:gd name="T5" fmla="*/ 1 h 31545"/>
                <a:gd name="T6" fmla="*/ 0 60000 65536"/>
                <a:gd name="T7" fmla="*/ 0 60000 65536"/>
                <a:gd name="T8" fmla="*/ 0 60000 65536"/>
                <a:gd name="T9" fmla="*/ 0 w 32941"/>
                <a:gd name="T10" fmla="*/ 0 h 31545"/>
                <a:gd name="T11" fmla="*/ 32941 w 32941"/>
                <a:gd name="T12" fmla="*/ 31545 h 31545"/>
              </a:gdLst>
              <a:ahLst/>
              <a:cxnLst>
                <a:cxn ang="T6">
                  <a:pos x="T0" y="T1"/>
                </a:cxn>
                <a:cxn ang="T7">
                  <a:pos x="T2" y="T3"/>
                </a:cxn>
                <a:cxn ang="T8">
                  <a:pos x="T4" y="T5"/>
                </a:cxn>
              </a:cxnLst>
              <a:rect l="T9" t="T10" r="T11" b="T12"/>
              <a:pathLst>
                <a:path w="32941" h="31545" fill="none" extrusionOk="0">
                  <a:moveTo>
                    <a:pt x="-1" y="3216"/>
                  </a:moveTo>
                  <a:cubicBezTo>
                    <a:pt x="3408" y="1113"/>
                    <a:pt x="7335" y="-1"/>
                    <a:pt x="11341" y="0"/>
                  </a:cubicBezTo>
                  <a:cubicBezTo>
                    <a:pt x="23270" y="0"/>
                    <a:pt x="32941" y="9670"/>
                    <a:pt x="32941" y="21600"/>
                  </a:cubicBezTo>
                  <a:cubicBezTo>
                    <a:pt x="32941" y="25061"/>
                    <a:pt x="32109" y="28472"/>
                    <a:pt x="30515" y="31545"/>
                  </a:cubicBezTo>
                </a:path>
                <a:path w="32941" h="31545" stroke="0" extrusionOk="0">
                  <a:moveTo>
                    <a:pt x="-1" y="3216"/>
                  </a:moveTo>
                  <a:cubicBezTo>
                    <a:pt x="3408" y="1113"/>
                    <a:pt x="7335" y="-1"/>
                    <a:pt x="11341" y="0"/>
                  </a:cubicBezTo>
                  <a:cubicBezTo>
                    <a:pt x="23270" y="0"/>
                    <a:pt x="32941" y="9670"/>
                    <a:pt x="32941" y="21600"/>
                  </a:cubicBezTo>
                  <a:cubicBezTo>
                    <a:pt x="32941" y="25061"/>
                    <a:pt x="32109" y="28472"/>
                    <a:pt x="30515" y="31545"/>
                  </a:cubicBezTo>
                  <a:lnTo>
                    <a:pt x="11341" y="21600"/>
                  </a:lnTo>
                  <a:close/>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sp>
          <p:nvSpPr>
            <p:cNvPr id="52" name="AutoShape 54" descr="宽下对角线">
              <a:extLst>
                <a:ext uri="{FF2B5EF4-FFF2-40B4-BE49-F238E27FC236}">
                  <a16:creationId xmlns:a16="http://schemas.microsoft.com/office/drawing/2014/main" id="{C1FF938E-ADE7-BEC7-4A91-3DF582814CED}"/>
                </a:ext>
              </a:extLst>
            </p:cNvPr>
            <p:cNvSpPr>
              <a:spLocks noChangeAspect="1" noChangeArrowheads="1"/>
            </p:cNvSpPr>
            <p:nvPr/>
          </p:nvSpPr>
          <p:spPr bwMode="auto">
            <a:xfrm rot="16200000" flipH="1">
              <a:off x="4836" y="1810"/>
              <a:ext cx="905" cy="218"/>
            </a:xfrm>
            <a:prstGeom prst="parallelogram">
              <a:avLst>
                <a:gd name="adj" fmla="val 90100"/>
              </a:avLst>
            </a:prstGeom>
            <a:pattFill prst="wdDnDiag">
              <a:fgClr>
                <a:srgbClr val="000000"/>
              </a:fgClr>
              <a:bgClr>
                <a:srgbClr val="FF99FF"/>
              </a:bgClr>
            </a:pattFill>
            <a:ln w="28575">
              <a:solidFill>
                <a:srgbClr val="000000"/>
              </a:solidFill>
              <a:miter lim="800000"/>
              <a:headEnd/>
              <a:tailEnd/>
            </a:ln>
          </p:spPr>
          <p:txBody>
            <a:bodyPr wrap="none" anchor="ct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CC"/>
                </a:solidFill>
                <a:effectLst/>
                <a:uLnTx/>
                <a:uFillTx/>
                <a:latin typeface="Times New Roman" panose="02020603050405020304" pitchFamily="18" charset="0"/>
                <a:ea typeface="黑体" panose="02010609060101010101" pitchFamily="49" charset="-122"/>
              </a:endParaRPr>
            </a:p>
          </p:txBody>
        </p:sp>
        <p:sp>
          <p:nvSpPr>
            <p:cNvPr id="54" name="Line 55">
              <a:extLst>
                <a:ext uri="{FF2B5EF4-FFF2-40B4-BE49-F238E27FC236}">
                  <a16:creationId xmlns:a16="http://schemas.microsoft.com/office/drawing/2014/main" id="{9BB7F9DC-2EC2-F289-D919-6C30A2D3706C}"/>
                </a:ext>
              </a:extLst>
            </p:cNvPr>
            <p:cNvSpPr>
              <a:spLocks noChangeAspect="1" noChangeShapeType="1"/>
            </p:cNvSpPr>
            <p:nvPr/>
          </p:nvSpPr>
          <p:spPr bwMode="auto">
            <a:xfrm>
              <a:off x="5150" y="1578"/>
              <a:ext cx="0" cy="689"/>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sp>
          <p:nvSpPr>
            <p:cNvPr id="55" name="Arc 56">
              <a:extLst>
                <a:ext uri="{FF2B5EF4-FFF2-40B4-BE49-F238E27FC236}">
                  <a16:creationId xmlns:a16="http://schemas.microsoft.com/office/drawing/2014/main" id="{83034074-0879-87B9-62B8-DF644EB61EAD}"/>
                </a:ext>
              </a:extLst>
            </p:cNvPr>
            <p:cNvSpPr>
              <a:spLocks noChangeAspect="1"/>
            </p:cNvSpPr>
            <p:nvPr/>
          </p:nvSpPr>
          <p:spPr bwMode="auto">
            <a:xfrm rot="-6511227">
              <a:off x="5165" y="2224"/>
              <a:ext cx="109" cy="153"/>
            </a:xfrm>
            <a:custGeom>
              <a:avLst/>
              <a:gdLst>
                <a:gd name="T0" fmla="*/ 0 w 18322"/>
                <a:gd name="T1" fmla="*/ 0 h 21600"/>
                <a:gd name="T2" fmla="*/ 1 w 18322"/>
                <a:gd name="T3" fmla="*/ 0 h 21600"/>
                <a:gd name="T4" fmla="*/ 0 w 18322"/>
                <a:gd name="T5" fmla="*/ 1 h 21600"/>
                <a:gd name="T6" fmla="*/ 0 60000 65536"/>
                <a:gd name="T7" fmla="*/ 0 60000 65536"/>
                <a:gd name="T8" fmla="*/ 0 60000 65536"/>
                <a:gd name="T9" fmla="*/ 0 w 18322"/>
                <a:gd name="T10" fmla="*/ 0 h 21600"/>
                <a:gd name="T11" fmla="*/ 18322 w 18322"/>
                <a:gd name="T12" fmla="*/ 21600 h 21600"/>
              </a:gdLst>
              <a:ahLst/>
              <a:cxnLst>
                <a:cxn ang="T6">
                  <a:pos x="T0" y="T1"/>
                </a:cxn>
                <a:cxn ang="T7">
                  <a:pos x="T2" y="T3"/>
                </a:cxn>
                <a:cxn ang="T8">
                  <a:pos x="T4" y="T5"/>
                </a:cxn>
              </a:cxnLst>
              <a:rect l="T9" t="T10" r="T11" b="T12"/>
              <a:pathLst>
                <a:path w="18322" h="21600" fill="none" extrusionOk="0">
                  <a:moveTo>
                    <a:pt x="-1" y="1188"/>
                  </a:moveTo>
                  <a:cubicBezTo>
                    <a:pt x="2272" y="401"/>
                    <a:pt x="4661" y="-1"/>
                    <a:pt x="7067" y="0"/>
                  </a:cubicBezTo>
                  <a:cubicBezTo>
                    <a:pt x="11038" y="0"/>
                    <a:pt x="14932" y="1094"/>
                    <a:pt x="18321" y="3164"/>
                  </a:cubicBezTo>
                </a:path>
                <a:path w="18322" h="21600" stroke="0" extrusionOk="0">
                  <a:moveTo>
                    <a:pt x="-1" y="1188"/>
                  </a:moveTo>
                  <a:cubicBezTo>
                    <a:pt x="2272" y="401"/>
                    <a:pt x="4661" y="-1"/>
                    <a:pt x="7067" y="0"/>
                  </a:cubicBezTo>
                  <a:cubicBezTo>
                    <a:pt x="11038" y="0"/>
                    <a:pt x="14932" y="1094"/>
                    <a:pt x="18321" y="3164"/>
                  </a:cubicBezTo>
                  <a:lnTo>
                    <a:pt x="7067" y="21600"/>
                  </a:lnTo>
                  <a:close/>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grpSp>
      <p:sp>
        <p:nvSpPr>
          <p:cNvPr id="56" name="Oval 57">
            <a:extLst>
              <a:ext uri="{FF2B5EF4-FFF2-40B4-BE49-F238E27FC236}">
                <a16:creationId xmlns:a16="http://schemas.microsoft.com/office/drawing/2014/main" id="{F4908F8D-DBB6-82B7-C871-CA87AEF10DFE}"/>
              </a:ext>
            </a:extLst>
          </p:cNvPr>
          <p:cNvSpPr>
            <a:spLocks noChangeArrowheads="1"/>
          </p:cNvSpPr>
          <p:nvPr/>
        </p:nvSpPr>
        <p:spPr bwMode="auto">
          <a:xfrm>
            <a:off x="9799712" y="4210730"/>
            <a:ext cx="706437" cy="706437"/>
          </a:xfrm>
          <a:prstGeom prst="ellipse">
            <a:avLst/>
          </a:prstGeom>
          <a:gradFill rotWithShape="0">
            <a:gsLst>
              <a:gs pos="0">
                <a:srgbClr val="FFFFFF"/>
              </a:gs>
              <a:gs pos="100000">
                <a:srgbClr val="FFCC00"/>
              </a:gs>
            </a:gsLst>
            <a:path path="shape">
              <a:fillToRect l="50000" t="50000" r="50000" b="50000"/>
            </a:path>
          </a:gradFill>
          <a:ln w="28575">
            <a:solidFill>
              <a:srgbClr val="000000"/>
            </a:solidFill>
            <a:round/>
            <a:headEnd/>
            <a:tailEnd/>
          </a:ln>
        </p:spPr>
        <p:txBody>
          <a:bodyPr wrap="none" anchor="ct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CC"/>
              </a:solidFill>
              <a:effectLst/>
              <a:uLnTx/>
              <a:uFillTx/>
              <a:latin typeface="Times New Roman" panose="02020603050405020304" pitchFamily="18" charset="0"/>
              <a:ea typeface="黑体" panose="02010609060101010101" pitchFamily="49" charset="-122"/>
            </a:endParaRPr>
          </a:p>
        </p:txBody>
      </p:sp>
      <p:sp>
        <p:nvSpPr>
          <p:cNvPr id="57" name="Arc 58">
            <a:extLst>
              <a:ext uri="{FF2B5EF4-FFF2-40B4-BE49-F238E27FC236}">
                <a16:creationId xmlns:a16="http://schemas.microsoft.com/office/drawing/2014/main" id="{A79FC622-2FD2-96CA-A09E-ADF708766C4C}"/>
              </a:ext>
            </a:extLst>
          </p:cNvPr>
          <p:cNvSpPr>
            <a:spLocks/>
          </p:cNvSpPr>
          <p:nvPr/>
        </p:nvSpPr>
        <p:spPr bwMode="auto">
          <a:xfrm rot="16200000" flipH="1">
            <a:off x="9295681" y="4109923"/>
            <a:ext cx="800100" cy="890587"/>
          </a:xfrm>
          <a:custGeom>
            <a:avLst/>
            <a:gdLst>
              <a:gd name="T0" fmla="*/ 843828 w 43200"/>
              <a:gd name="T1" fmla="*/ 25090005 h 31612"/>
              <a:gd name="T2" fmla="*/ 14026475 w 43200"/>
              <a:gd name="T3" fmla="*/ 24855075 h 31612"/>
              <a:gd name="T4" fmla="*/ 7409259 w 43200"/>
              <a:gd name="T5" fmla="*/ 17143634 h 31612"/>
              <a:gd name="T6" fmla="*/ 0 60000 65536"/>
              <a:gd name="T7" fmla="*/ 0 60000 65536"/>
              <a:gd name="T8" fmla="*/ 0 60000 65536"/>
              <a:gd name="T9" fmla="*/ 0 w 43200"/>
              <a:gd name="T10" fmla="*/ 0 h 31612"/>
              <a:gd name="T11" fmla="*/ 43200 w 43200"/>
              <a:gd name="T12" fmla="*/ 31612 h 31612"/>
            </a:gdLst>
            <a:ahLst/>
            <a:cxnLst>
              <a:cxn ang="T6">
                <a:pos x="T0" y="T1"/>
              </a:cxn>
              <a:cxn ang="T7">
                <a:pos x="T2" y="T3"/>
              </a:cxn>
              <a:cxn ang="T8">
                <a:pos x="T4" y="T5"/>
              </a:cxn>
            </a:cxnLst>
            <a:rect l="T9" t="T10" r="T11" b="T12"/>
            <a:pathLst>
              <a:path w="43200" h="31612" fill="none" extrusionOk="0">
                <a:moveTo>
                  <a:pt x="2460" y="31611"/>
                </a:moveTo>
                <a:cubicBezTo>
                  <a:pt x="844" y="28522"/>
                  <a:pt x="0" y="25086"/>
                  <a:pt x="0" y="21600"/>
                </a:cubicBezTo>
                <a:cubicBezTo>
                  <a:pt x="0" y="9670"/>
                  <a:pt x="9670" y="0"/>
                  <a:pt x="21600" y="0"/>
                </a:cubicBezTo>
                <a:cubicBezTo>
                  <a:pt x="33529" y="0"/>
                  <a:pt x="43200" y="9670"/>
                  <a:pt x="43200" y="21600"/>
                </a:cubicBezTo>
                <a:cubicBezTo>
                  <a:pt x="43200" y="24974"/>
                  <a:pt x="42409" y="28302"/>
                  <a:pt x="40891" y="31316"/>
                </a:cubicBezTo>
              </a:path>
              <a:path w="43200" h="31612" stroke="0" extrusionOk="0">
                <a:moveTo>
                  <a:pt x="2460" y="31611"/>
                </a:moveTo>
                <a:cubicBezTo>
                  <a:pt x="844" y="28522"/>
                  <a:pt x="0" y="25086"/>
                  <a:pt x="0" y="21600"/>
                </a:cubicBezTo>
                <a:cubicBezTo>
                  <a:pt x="0" y="9670"/>
                  <a:pt x="9670" y="0"/>
                  <a:pt x="21600" y="0"/>
                </a:cubicBezTo>
                <a:cubicBezTo>
                  <a:pt x="33529" y="0"/>
                  <a:pt x="43200" y="9670"/>
                  <a:pt x="43200" y="21600"/>
                </a:cubicBezTo>
                <a:cubicBezTo>
                  <a:pt x="43200" y="24974"/>
                  <a:pt x="42409" y="28302"/>
                  <a:pt x="40891" y="31316"/>
                </a:cubicBezTo>
                <a:lnTo>
                  <a:pt x="21600" y="21600"/>
                </a:lnTo>
                <a:close/>
              </a:path>
            </a:pathLst>
          </a:cu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endParaRPr kumimoji="1" lang="zh-CN" altLang="en-US" b="0" i="0">
              <a:solidFill>
                <a:srgbClr val="0000CC"/>
              </a:solidFill>
              <a:ea typeface="黑体" panose="02010609060101010101" pitchFamily="49" charset="-122"/>
            </a:endParaRPr>
          </a:p>
        </p:txBody>
      </p:sp>
      <p:sp>
        <p:nvSpPr>
          <p:cNvPr id="58" name="Line 59">
            <a:extLst>
              <a:ext uri="{FF2B5EF4-FFF2-40B4-BE49-F238E27FC236}">
                <a16:creationId xmlns:a16="http://schemas.microsoft.com/office/drawing/2014/main" id="{C8AA186E-A22E-EE4C-0114-1924A58050F1}"/>
              </a:ext>
            </a:extLst>
          </p:cNvPr>
          <p:cNvSpPr>
            <a:spLocks noChangeShapeType="1"/>
          </p:cNvSpPr>
          <p:nvPr/>
        </p:nvSpPr>
        <p:spPr bwMode="auto">
          <a:xfrm>
            <a:off x="10152137" y="4078967"/>
            <a:ext cx="0" cy="971550"/>
          </a:xfrm>
          <a:prstGeom prst="line">
            <a:avLst/>
          </a:prstGeom>
          <a:noFill/>
          <a:ln w="19050">
            <a:solidFill>
              <a:srgbClr val="000000"/>
            </a:solidFill>
            <a:prstDash val="lgDashDot"/>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sp>
        <p:nvSpPr>
          <p:cNvPr id="59" name="Line 60">
            <a:extLst>
              <a:ext uri="{FF2B5EF4-FFF2-40B4-BE49-F238E27FC236}">
                <a16:creationId xmlns:a16="http://schemas.microsoft.com/office/drawing/2014/main" id="{FD2F50F2-D1FA-3A5B-DD78-4482749CC305}"/>
              </a:ext>
            </a:extLst>
          </p:cNvPr>
          <p:cNvSpPr>
            <a:spLocks noChangeShapeType="1"/>
          </p:cNvSpPr>
          <p:nvPr/>
        </p:nvSpPr>
        <p:spPr bwMode="auto">
          <a:xfrm>
            <a:off x="9685412" y="4564742"/>
            <a:ext cx="923925" cy="0"/>
          </a:xfrm>
          <a:prstGeom prst="line">
            <a:avLst/>
          </a:prstGeom>
          <a:noFill/>
          <a:ln w="19050">
            <a:solidFill>
              <a:srgbClr val="000000"/>
            </a:solidFill>
            <a:prstDash val="lgDashDot"/>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sp>
        <p:nvSpPr>
          <p:cNvPr id="60" name="Line 61">
            <a:extLst>
              <a:ext uri="{FF2B5EF4-FFF2-40B4-BE49-F238E27FC236}">
                <a16:creationId xmlns:a16="http://schemas.microsoft.com/office/drawing/2014/main" id="{7A4A6B24-A702-DBCF-3E00-16B7F0612867}"/>
              </a:ext>
            </a:extLst>
          </p:cNvPr>
          <p:cNvSpPr>
            <a:spLocks noChangeShapeType="1"/>
          </p:cNvSpPr>
          <p:nvPr/>
        </p:nvSpPr>
        <p:spPr bwMode="auto">
          <a:xfrm>
            <a:off x="9247262" y="4564742"/>
            <a:ext cx="571500" cy="0"/>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wrap="none" anchor="ctr"/>
          <a:lstStyle/>
          <a:p>
            <a:pPr algn="ctr"/>
            <a:endParaRPr kumimoji="1" lang="zh-CN" altLang="en-US" b="0" i="0">
              <a:solidFill>
                <a:srgbClr val="0000CC"/>
              </a:solidFill>
              <a:ea typeface="黑体" panose="02010609060101010101" pitchFamily="49" charset="-122"/>
            </a:endParaRPr>
          </a:p>
        </p:txBody>
      </p:sp>
      <p:sp>
        <p:nvSpPr>
          <p:cNvPr id="61" name="Line 62">
            <a:extLst>
              <a:ext uri="{FF2B5EF4-FFF2-40B4-BE49-F238E27FC236}">
                <a16:creationId xmlns:a16="http://schemas.microsoft.com/office/drawing/2014/main" id="{0F2DE892-B3E1-8752-A12A-C870D19209C8}"/>
              </a:ext>
            </a:extLst>
          </p:cNvPr>
          <p:cNvSpPr>
            <a:spLocks noChangeShapeType="1"/>
          </p:cNvSpPr>
          <p:nvPr/>
        </p:nvSpPr>
        <p:spPr bwMode="auto">
          <a:xfrm>
            <a:off x="9313937" y="4393292"/>
            <a:ext cx="495300" cy="104775"/>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wrap="none" anchor="ctr"/>
          <a:lstStyle/>
          <a:p>
            <a:pPr algn="ctr"/>
            <a:endParaRPr kumimoji="1" lang="zh-CN" altLang="en-US" b="0" i="0">
              <a:solidFill>
                <a:srgbClr val="0000CC"/>
              </a:solidFill>
              <a:ea typeface="黑体" panose="02010609060101010101" pitchFamily="49" charset="-122"/>
            </a:endParaRPr>
          </a:p>
        </p:txBody>
      </p:sp>
      <p:sp>
        <p:nvSpPr>
          <p:cNvPr id="62" name="Line 63">
            <a:extLst>
              <a:ext uri="{FF2B5EF4-FFF2-40B4-BE49-F238E27FC236}">
                <a16:creationId xmlns:a16="http://schemas.microsoft.com/office/drawing/2014/main" id="{8586D940-EE9A-821C-F6EE-00264D048D18}"/>
              </a:ext>
            </a:extLst>
          </p:cNvPr>
          <p:cNvSpPr>
            <a:spLocks noChangeShapeType="1"/>
          </p:cNvSpPr>
          <p:nvPr/>
        </p:nvSpPr>
        <p:spPr bwMode="auto">
          <a:xfrm flipV="1">
            <a:off x="9313937" y="4631417"/>
            <a:ext cx="495300" cy="104775"/>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wrap="none" anchor="ctr"/>
          <a:lstStyle/>
          <a:p>
            <a:pPr algn="ctr"/>
            <a:endParaRPr kumimoji="1" lang="zh-CN" altLang="en-US" b="0" i="0">
              <a:solidFill>
                <a:srgbClr val="0000CC"/>
              </a:solidFill>
              <a:ea typeface="黑体" panose="02010609060101010101" pitchFamily="49" charset="-122"/>
            </a:endParaRPr>
          </a:p>
        </p:txBody>
      </p:sp>
      <p:sp>
        <p:nvSpPr>
          <p:cNvPr id="63" name="Line 64">
            <a:extLst>
              <a:ext uri="{FF2B5EF4-FFF2-40B4-BE49-F238E27FC236}">
                <a16:creationId xmlns:a16="http://schemas.microsoft.com/office/drawing/2014/main" id="{E53AA4D4-5777-9498-D611-8ABB06A75F4B}"/>
              </a:ext>
            </a:extLst>
          </p:cNvPr>
          <p:cNvSpPr>
            <a:spLocks noChangeShapeType="1"/>
          </p:cNvSpPr>
          <p:nvPr/>
        </p:nvSpPr>
        <p:spPr bwMode="auto">
          <a:xfrm>
            <a:off x="9494912" y="4231367"/>
            <a:ext cx="342900" cy="180975"/>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wrap="none" anchor="ctr"/>
          <a:lstStyle/>
          <a:p>
            <a:pPr algn="ctr"/>
            <a:endParaRPr kumimoji="1" lang="zh-CN" altLang="en-US" b="0" i="0">
              <a:solidFill>
                <a:srgbClr val="0000CC"/>
              </a:solidFill>
              <a:ea typeface="黑体" panose="02010609060101010101" pitchFamily="49" charset="-122"/>
            </a:endParaRPr>
          </a:p>
        </p:txBody>
      </p:sp>
      <p:sp>
        <p:nvSpPr>
          <p:cNvPr id="64" name="Line 65">
            <a:extLst>
              <a:ext uri="{FF2B5EF4-FFF2-40B4-BE49-F238E27FC236}">
                <a16:creationId xmlns:a16="http://schemas.microsoft.com/office/drawing/2014/main" id="{2252E21C-335A-70FE-5772-14B3012F398E}"/>
              </a:ext>
            </a:extLst>
          </p:cNvPr>
          <p:cNvSpPr>
            <a:spLocks noChangeShapeType="1"/>
          </p:cNvSpPr>
          <p:nvPr/>
        </p:nvSpPr>
        <p:spPr bwMode="auto">
          <a:xfrm flipV="1">
            <a:off x="9504437" y="4707617"/>
            <a:ext cx="342900" cy="180975"/>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wrap="none" anchor="ctr"/>
          <a:lstStyle/>
          <a:p>
            <a:pPr algn="ctr"/>
            <a:endParaRPr kumimoji="1" lang="zh-CN" altLang="en-US" b="0" i="0">
              <a:solidFill>
                <a:srgbClr val="0000CC"/>
              </a:solidFill>
              <a:ea typeface="黑体" panose="02010609060101010101" pitchFamily="49" charset="-122"/>
            </a:endParaRPr>
          </a:p>
        </p:txBody>
      </p:sp>
      <p:sp>
        <p:nvSpPr>
          <p:cNvPr id="65" name="Line 66">
            <a:extLst>
              <a:ext uri="{FF2B5EF4-FFF2-40B4-BE49-F238E27FC236}">
                <a16:creationId xmlns:a16="http://schemas.microsoft.com/office/drawing/2014/main" id="{D2619260-3A7F-06A3-C4CE-61AC60B1629C}"/>
              </a:ext>
            </a:extLst>
          </p:cNvPr>
          <p:cNvSpPr>
            <a:spLocks noChangeShapeType="1"/>
          </p:cNvSpPr>
          <p:nvPr/>
        </p:nvSpPr>
        <p:spPr bwMode="auto">
          <a:xfrm>
            <a:off x="9799712" y="4164692"/>
            <a:ext cx="114300" cy="133350"/>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wrap="none" anchor="ctr"/>
          <a:lstStyle/>
          <a:p>
            <a:pPr algn="ctr"/>
            <a:endParaRPr kumimoji="1" lang="zh-CN" altLang="en-US" b="0" i="0">
              <a:solidFill>
                <a:srgbClr val="0000CC"/>
              </a:solidFill>
              <a:ea typeface="黑体" panose="02010609060101010101" pitchFamily="49" charset="-122"/>
            </a:endParaRPr>
          </a:p>
        </p:txBody>
      </p:sp>
      <p:sp>
        <p:nvSpPr>
          <p:cNvPr id="66" name="Line 67">
            <a:extLst>
              <a:ext uri="{FF2B5EF4-FFF2-40B4-BE49-F238E27FC236}">
                <a16:creationId xmlns:a16="http://schemas.microsoft.com/office/drawing/2014/main" id="{1E9ACA6E-F386-9929-CDA0-F597F2EBC2A3}"/>
              </a:ext>
            </a:extLst>
          </p:cNvPr>
          <p:cNvSpPr>
            <a:spLocks noChangeShapeType="1"/>
          </p:cNvSpPr>
          <p:nvPr/>
        </p:nvSpPr>
        <p:spPr bwMode="auto">
          <a:xfrm flipV="1">
            <a:off x="9775899" y="4817155"/>
            <a:ext cx="128588" cy="128587"/>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wrap="none" anchor="ctr"/>
          <a:lstStyle/>
          <a:p>
            <a:pPr algn="ctr"/>
            <a:endParaRPr kumimoji="1" lang="zh-CN" altLang="en-US" b="0" i="0">
              <a:solidFill>
                <a:srgbClr val="0000CC"/>
              </a:solidFill>
              <a:ea typeface="黑体" panose="02010609060101010101" pitchFamily="49" charset="-122"/>
            </a:endParaRPr>
          </a:p>
        </p:txBody>
      </p:sp>
      <p:sp>
        <p:nvSpPr>
          <p:cNvPr id="67" name="Line 68">
            <a:extLst>
              <a:ext uri="{FF2B5EF4-FFF2-40B4-BE49-F238E27FC236}">
                <a16:creationId xmlns:a16="http://schemas.microsoft.com/office/drawing/2014/main" id="{9131BD8B-A948-90A1-1735-8BC960C0BFF5}"/>
              </a:ext>
            </a:extLst>
          </p:cNvPr>
          <p:cNvSpPr>
            <a:spLocks noChangeShapeType="1"/>
          </p:cNvSpPr>
          <p:nvPr/>
        </p:nvSpPr>
        <p:spPr bwMode="auto">
          <a:xfrm>
            <a:off x="11725349" y="3724955"/>
            <a:ext cx="34766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sp>
        <p:nvSpPr>
          <p:cNvPr id="68" name="Line 69">
            <a:extLst>
              <a:ext uri="{FF2B5EF4-FFF2-40B4-BE49-F238E27FC236}">
                <a16:creationId xmlns:a16="http://schemas.microsoft.com/office/drawing/2014/main" id="{D677940C-D4A1-7DE5-8135-2A48D196B427}"/>
              </a:ext>
            </a:extLst>
          </p:cNvPr>
          <p:cNvSpPr>
            <a:spLocks noChangeShapeType="1"/>
          </p:cNvSpPr>
          <p:nvPr/>
        </p:nvSpPr>
        <p:spPr bwMode="auto">
          <a:xfrm>
            <a:off x="11704712" y="4829855"/>
            <a:ext cx="34766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sp>
        <p:nvSpPr>
          <p:cNvPr id="69" name="Line 70">
            <a:extLst>
              <a:ext uri="{FF2B5EF4-FFF2-40B4-BE49-F238E27FC236}">
                <a16:creationId xmlns:a16="http://schemas.microsoft.com/office/drawing/2014/main" id="{575CBB86-99B3-BA17-3A69-AFB4DFA8C6E5}"/>
              </a:ext>
            </a:extLst>
          </p:cNvPr>
          <p:cNvSpPr>
            <a:spLocks noChangeShapeType="1"/>
          </p:cNvSpPr>
          <p:nvPr/>
        </p:nvSpPr>
        <p:spPr bwMode="auto">
          <a:xfrm flipH="1">
            <a:off x="11971412" y="3710667"/>
            <a:ext cx="0" cy="1139825"/>
          </a:xfrm>
          <a:prstGeom prst="line">
            <a:avLst/>
          </a:prstGeom>
          <a:noFill/>
          <a:ln w="9525">
            <a:solidFill>
              <a:srgbClr val="000000"/>
            </a:solidFill>
            <a:round/>
            <a:headEnd type="stealth" w="sm" len="lg"/>
            <a:tailEnd type="stealth" w="sm" len="lg"/>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sp>
        <p:nvSpPr>
          <p:cNvPr id="70" name="Line 71">
            <a:extLst>
              <a:ext uri="{FF2B5EF4-FFF2-40B4-BE49-F238E27FC236}">
                <a16:creationId xmlns:a16="http://schemas.microsoft.com/office/drawing/2014/main" id="{A189F2CA-1E57-1852-3C5B-497CC4FB6B37}"/>
              </a:ext>
            </a:extLst>
          </p:cNvPr>
          <p:cNvSpPr>
            <a:spLocks noChangeShapeType="1"/>
          </p:cNvSpPr>
          <p:nvPr/>
        </p:nvSpPr>
        <p:spPr bwMode="auto">
          <a:xfrm>
            <a:off x="11220524" y="5283880"/>
            <a:ext cx="0" cy="2444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sp>
        <p:nvSpPr>
          <p:cNvPr id="71" name="Line 72">
            <a:extLst>
              <a:ext uri="{FF2B5EF4-FFF2-40B4-BE49-F238E27FC236}">
                <a16:creationId xmlns:a16="http://schemas.microsoft.com/office/drawing/2014/main" id="{83C861A8-3BAA-D008-5DE3-699D497B0E75}"/>
              </a:ext>
            </a:extLst>
          </p:cNvPr>
          <p:cNvSpPr>
            <a:spLocks noChangeShapeType="1"/>
          </p:cNvSpPr>
          <p:nvPr/>
        </p:nvSpPr>
        <p:spPr bwMode="auto">
          <a:xfrm>
            <a:off x="11576124" y="4974317"/>
            <a:ext cx="0" cy="2444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sp>
        <p:nvSpPr>
          <p:cNvPr id="72" name="Line 73">
            <a:extLst>
              <a:ext uri="{FF2B5EF4-FFF2-40B4-BE49-F238E27FC236}">
                <a16:creationId xmlns:a16="http://schemas.microsoft.com/office/drawing/2014/main" id="{4E63C384-6B92-61BF-9796-9253730E41ED}"/>
              </a:ext>
            </a:extLst>
          </p:cNvPr>
          <p:cNvSpPr>
            <a:spLocks noChangeShapeType="1"/>
          </p:cNvSpPr>
          <p:nvPr/>
        </p:nvSpPr>
        <p:spPr bwMode="auto">
          <a:xfrm flipH="1">
            <a:off x="11220524" y="5212442"/>
            <a:ext cx="361950" cy="315913"/>
          </a:xfrm>
          <a:prstGeom prst="line">
            <a:avLst/>
          </a:prstGeom>
          <a:noFill/>
          <a:ln w="9525">
            <a:solidFill>
              <a:srgbClr val="000000"/>
            </a:solidFill>
            <a:round/>
            <a:headEnd type="stealth" w="sm" len="lg"/>
            <a:tailEnd type="stealth" w="sm" len="lg"/>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sp>
        <p:nvSpPr>
          <p:cNvPr id="73" name="Text Box 74">
            <a:extLst>
              <a:ext uri="{FF2B5EF4-FFF2-40B4-BE49-F238E27FC236}">
                <a16:creationId xmlns:a16="http://schemas.microsoft.com/office/drawing/2014/main" id="{906C0390-1D5F-13EC-6FB7-829582D535D5}"/>
              </a:ext>
            </a:extLst>
          </p:cNvPr>
          <p:cNvSpPr txBox="1">
            <a:spLocks noChangeArrowheads="1"/>
          </p:cNvSpPr>
          <p:nvPr/>
        </p:nvSpPr>
        <p:spPr bwMode="auto">
          <a:xfrm rot="20700000">
            <a:off x="11191949" y="4980667"/>
            <a:ext cx="4857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eaLnBrk="1" hangingPunct="1">
              <a:spcBef>
                <a:spcPct val="50000"/>
              </a:spcBef>
            </a:pPr>
            <a:r>
              <a:rPr lang="en-US" altLang="zh-CN" b="0">
                <a:solidFill>
                  <a:srgbClr val="000000"/>
                </a:solidFill>
                <a:ea typeface="宋体" panose="02010600030101010101" pitchFamily="2" charset="-122"/>
              </a:rPr>
              <a:t>d</a:t>
            </a:r>
          </a:p>
        </p:txBody>
      </p:sp>
      <p:sp>
        <p:nvSpPr>
          <p:cNvPr id="74" name="Text Box 75">
            <a:extLst>
              <a:ext uri="{FF2B5EF4-FFF2-40B4-BE49-F238E27FC236}">
                <a16:creationId xmlns:a16="http://schemas.microsoft.com/office/drawing/2014/main" id="{22D18197-4A4A-0092-E3C8-BD0648070BE5}"/>
              </a:ext>
            </a:extLst>
          </p:cNvPr>
          <p:cNvSpPr txBox="1">
            <a:spLocks noChangeArrowheads="1"/>
          </p:cNvSpPr>
          <p:nvPr/>
        </p:nvSpPr>
        <p:spPr bwMode="auto">
          <a:xfrm rot="16200000">
            <a:off x="11481668" y="3984511"/>
            <a:ext cx="7159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sym typeface="Symbol" panose="05050102010706020507" pitchFamily="18" charset="2"/>
              </a:rPr>
              <a:t></a:t>
            </a:r>
          </a:p>
        </p:txBody>
      </p:sp>
      <p:sp>
        <p:nvSpPr>
          <p:cNvPr id="75" name="Line 76">
            <a:extLst>
              <a:ext uri="{FF2B5EF4-FFF2-40B4-BE49-F238E27FC236}">
                <a16:creationId xmlns:a16="http://schemas.microsoft.com/office/drawing/2014/main" id="{F10D6DD6-E7DB-5D03-7420-E84A7DF74E61}"/>
              </a:ext>
            </a:extLst>
          </p:cNvPr>
          <p:cNvSpPr>
            <a:spLocks noChangeShapeType="1"/>
          </p:cNvSpPr>
          <p:nvPr/>
        </p:nvSpPr>
        <p:spPr bwMode="auto">
          <a:xfrm>
            <a:off x="10656962" y="4209142"/>
            <a:ext cx="34766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sp>
        <p:nvSpPr>
          <p:cNvPr id="76" name="Line 77">
            <a:extLst>
              <a:ext uri="{FF2B5EF4-FFF2-40B4-BE49-F238E27FC236}">
                <a16:creationId xmlns:a16="http://schemas.microsoft.com/office/drawing/2014/main" id="{FBA54D40-B237-F60B-96F1-0153FDD3EAA9}"/>
              </a:ext>
            </a:extLst>
          </p:cNvPr>
          <p:cNvSpPr>
            <a:spLocks noChangeShapeType="1"/>
          </p:cNvSpPr>
          <p:nvPr/>
        </p:nvSpPr>
        <p:spPr bwMode="auto">
          <a:xfrm flipH="1">
            <a:off x="10945887" y="4183742"/>
            <a:ext cx="0" cy="704850"/>
          </a:xfrm>
          <a:prstGeom prst="line">
            <a:avLst/>
          </a:prstGeom>
          <a:noFill/>
          <a:ln w="9525">
            <a:solidFill>
              <a:srgbClr val="000000"/>
            </a:solidFill>
            <a:round/>
            <a:headEnd type="stealth" w="sm" len="lg"/>
            <a:tailEnd type="stealth" w="sm" len="lg"/>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sp>
        <p:nvSpPr>
          <p:cNvPr id="77" name="Line 78">
            <a:extLst>
              <a:ext uri="{FF2B5EF4-FFF2-40B4-BE49-F238E27FC236}">
                <a16:creationId xmlns:a16="http://schemas.microsoft.com/office/drawing/2014/main" id="{36E9E32C-16A0-A0F9-EF21-BEE94D066206}"/>
              </a:ext>
            </a:extLst>
          </p:cNvPr>
          <p:cNvSpPr>
            <a:spLocks noChangeShapeType="1"/>
          </p:cNvSpPr>
          <p:nvPr/>
        </p:nvSpPr>
        <p:spPr bwMode="auto">
          <a:xfrm>
            <a:off x="10693474" y="4866367"/>
            <a:ext cx="34766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sp>
        <p:nvSpPr>
          <p:cNvPr id="78" name="Text Box 79">
            <a:extLst>
              <a:ext uri="{FF2B5EF4-FFF2-40B4-BE49-F238E27FC236}">
                <a16:creationId xmlns:a16="http://schemas.microsoft.com/office/drawing/2014/main" id="{413F356A-2A7F-FA7F-89C7-0E8481802A08}"/>
              </a:ext>
            </a:extLst>
          </p:cNvPr>
          <p:cNvSpPr txBox="1">
            <a:spLocks noChangeArrowheads="1"/>
          </p:cNvSpPr>
          <p:nvPr/>
        </p:nvSpPr>
        <p:spPr bwMode="auto">
          <a:xfrm rot="16200000">
            <a:off x="10599018" y="4282961"/>
            <a:ext cx="4270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eaLnBrk="1" hangingPunct="1">
              <a:spcBef>
                <a:spcPct val="50000"/>
              </a:spcBef>
            </a:pPr>
            <a:r>
              <a:rPr lang="en-US" altLang="zh-CN" b="0">
                <a:solidFill>
                  <a:srgbClr val="000000"/>
                </a:solidFill>
                <a:ea typeface="宋体" panose="02010600030101010101" pitchFamily="2" charset="-122"/>
              </a:rPr>
              <a:t>d</a:t>
            </a:r>
          </a:p>
        </p:txBody>
      </p:sp>
      <p:sp>
        <p:nvSpPr>
          <p:cNvPr id="79" name="Text Box 81">
            <a:extLst>
              <a:ext uri="{FF2B5EF4-FFF2-40B4-BE49-F238E27FC236}">
                <a16:creationId xmlns:a16="http://schemas.microsoft.com/office/drawing/2014/main" id="{697F3BDC-1B59-7FA8-CE68-DDB3181460FF}"/>
              </a:ext>
            </a:extLst>
          </p:cNvPr>
          <p:cNvSpPr txBox="1">
            <a:spLocks noChangeArrowheads="1"/>
          </p:cNvSpPr>
          <p:nvPr/>
        </p:nvSpPr>
        <p:spPr bwMode="auto">
          <a:xfrm>
            <a:off x="7854409" y="4907642"/>
            <a:ext cx="111280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400" i="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rPr>
              <a:t>挤压面</a:t>
            </a:r>
          </a:p>
        </p:txBody>
      </p:sp>
      <p:sp>
        <p:nvSpPr>
          <p:cNvPr id="80" name="Line 84">
            <a:extLst>
              <a:ext uri="{FF2B5EF4-FFF2-40B4-BE49-F238E27FC236}">
                <a16:creationId xmlns:a16="http://schemas.microsoft.com/office/drawing/2014/main" id="{D4ADD084-D31F-A23D-6617-45E1C0E168C9}"/>
              </a:ext>
            </a:extLst>
          </p:cNvPr>
          <p:cNvSpPr>
            <a:spLocks noChangeShapeType="1"/>
          </p:cNvSpPr>
          <p:nvPr/>
        </p:nvSpPr>
        <p:spPr bwMode="auto">
          <a:xfrm>
            <a:off x="7860759" y="4691742"/>
            <a:ext cx="388937" cy="3333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sp>
        <p:nvSpPr>
          <p:cNvPr id="81" name="Line 85">
            <a:extLst>
              <a:ext uri="{FF2B5EF4-FFF2-40B4-BE49-F238E27FC236}">
                <a16:creationId xmlns:a16="http://schemas.microsoft.com/office/drawing/2014/main" id="{CDC45028-F45B-288E-7A78-20CF633E998D}"/>
              </a:ext>
            </a:extLst>
          </p:cNvPr>
          <p:cNvSpPr>
            <a:spLocks noChangeShapeType="1"/>
          </p:cNvSpPr>
          <p:nvPr/>
        </p:nvSpPr>
        <p:spPr bwMode="auto">
          <a:xfrm flipV="1">
            <a:off x="8495759" y="4691742"/>
            <a:ext cx="331787" cy="3619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grpSp>
        <p:nvGrpSpPr>
          <p:cNvPr id="82" name="Group 93">
            <a:extLst>
              <a:ext uri="{FF2B5EF4-FFF2-40B4-BE49-F238E27FC236}">
                <a16:creationId xmlns:a16="http://schemas.microsoft.com/office/drawing/2014/main" id="{2CF83D3C-7714-0C8B-CD5A-40113F384F88}"/>
              </a:ext>
            </a:extLst>
          </p:cNvPr>
          <p:cNvGrpSpPr>
            <a:grpSpLocks noChangeAspect="1"/>
          </p:cNvGrpSpPr>
          <p:nvPr/>
        </p:nvGrpSpPr>
        <p:grpSpPr bwMode="auto">
          <a:xfrm>
            <a:off x="7719471" y="3985305"/>
            <a:ext cx="311150" cy="1050925"/>
            <a:chOff x="5121" y="1424"/>
            <a:chExt cx="281" cy="947"/>
          </a:xfrm>
        </p:grpSpPr>
        <p:sp>
          <p:nvSpPr>
            <p:cNvPr id="83" name="Freeform 94">
              <a:extLst>
                <a:ext uri="{FF2B5EF4-FFF2-40B4-BE49-F238E27FC236}">
                  <a16:creationId xmlns:a16="http://schemas.microsoft.com/office/drawing/2014/main" id="{43D20079-1B15-99F5-B21D-AB441F722EE4}"/>
                </a:ext>
              </a:extLst>
            </p:cNvPr>
            <p:cNvSpPr>
              <a:spLocks noChangeAspect="1"/>
            </p:cNvSpPr>
            <p:nvPr/>
          </p:nvSpPr>
          <p:spPr bwMode="auto">
            <a:xfrm>
              <a:off x="5121" y="1424"/>
              <a:ext cx="281" cy="946"/>
            </a:xfrm>
            <a:custGeom>
              <a:avLst/>
              <a:gdLst>
                <a:gd name="T0" fmla="*/ 273 w 281"/>
                <a:gd name="T1" fmla="*/ 36 h 946"/>
                <a:gd name="T2" fmla="*/ 150 w 281"/>
                <a:gd name="T3" fmla="*/ 10 h 946"/>
                <a:gd name="T4" fmla="*/ 84 w 281"/>
                <a:gd name="T5" fmla="*/ 55 h 946"/>
                <a:gd name="T6" fmla="*/ 18 w 281"/>
                <a:gd name="T7" fmla="*/ 172 h 946"/>
                <a:gd name="T8" fmla="*/ 21 w 281"/>
                <a:gd name="T9" fmla="*/ 532 h 946"/>
                <a:gd name="T10" fmla="*/ 48 w 281"/>
                <a:gd name="T11" fmla="*/ 946 h 946"/>
                <a:gd name="T12" fmla="*/ 281 w 281"/>
                <a:gd name="T13" fmla="*/ 760 h 946"/>
                <a:gd name="T14" fmla="*/ 271 w 281"/>
                <a:gd name="T15" fmla="*/ 136 h 946"/>
                <a:gd name="T16" fmla="*/ 0 60000 65536"/>
                <a:gd name="T17" fmla="*/ 0 60000 65536"/>
                <a:gd name="T18" fmla="*/ 0 60000 65536"/>
                <a:gd name="T19" fmla="*/ 0 60000 65536"/>
                <a:gd name="T20" fmla="*/ 0 60000 65536"/>
                <a:gd name="T21" fmla="*/ 0 60000 65536"/>
                <a:gd name="T22" fmla="*/ 0 60000 65536"/>
                <a:gd name="T23" fmla="*/ 0 60000 65536"/>
                <a:gd name="T24" fmla="*/ 0 w 281"/>
                <a:gd name="T25" fmla="*/ 0 h 946"/>
                <a:gd name="T26" fmla="*/ 281 w 281"/>
                <a:gd name="T27" fmla="*/ 946 h 94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81" h="946">
                  <a:moveTo>
                    <a:pt x="273" y="36"/>
                  </a:moveTo>
                  <a:cubicBezTo>
                    <a:pt x="187" y="8"/>
                    <a:pt x="278" y="0"/>
                    <a:pt x="150" y="10"/>
                  </a:cubicBezTo>
                  <a:cubicBezTo>
                    <a:pt x="134" y="15"/>
                    <a:pt x="89" y="39"/>
                    <a:pt x="84" y="55"/>
                  </a:cubicBezTo>
                  <a:cubicBezTo>
                    <a:pt x="71" y="95"/>
                    <a:pt x="34" y="108"/>
                    <a:pt x="18" y="172"/>
                  </a:cubicBezTo>
                  <a:cubicBezTo>
                    <a:pt x="22" y="258"/>
                    <a:pt x="28" y="346"/>
                    <a:pt x="21" y="532"/>
                  </a:cubicBezTo>
                  <a:cubicBezTo>
                    <a:pt x="28" y="661"/>
                    <a:pt x="0" y="883"/>
                    <a:pt x="48" y="946"/>
                  </a:cubicBezTo>
                  <a:cubicBezTo>
                    <a:pt x="162" y="849"/>
                    <a:pt x="281" y="760"/>
                    <a:pt x="281" y="760"/>
                  </a:cubicBezTo>
                  <a:lnTo>
                    <a:pt x="271" y="136"/>
                  </a:lnTo>
                </a:path>
              </a:pathLst>
            </a:custGeom>
            <a:gradFill rotWithShape="0">
              <a:gsLst>
                <a:gs pos="0">
                  <a:srgbClr val="000000"/>
                </a:gs>
                <a:gs pos="100000">
                  <a:srgbClr val="CC9900"/>
                </a:gs>
              </a:gsLst>
              <a:lin ang="0" scaled="1"/>
            </a:gradFill>
            <a:ln>
              <a:noFill/>
            </a:ln>
            <a:extLst>
              <a:ext uri="{91240B29-F687-4F45-9708-019B960494DF}">
                <a14:hiddenLine xmlns:a14="http://schemas.microsoft.com/office/drawing/2010/main" w="28575" cmpd="sng">
                  <a:solidFill>
                    <a:srgbClr val="000000"/>
                  </a:solidFill>
                  <a:round/>
                  <a:headEnd/>
                  <a:tailEnd/>
                </a14:hiddenLine>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sp>
          <p:nvSpPr>
            <p:cNvPr id="84" name="Arc 95">
              <a:extLst>
                <a:ext uri="{FF2B5EF4-FFF2-40B4-BE49-F238E27FC236}">
                  <a16:creationId xmlns:a16="http://schemas.microsoft.com/office/drawing/2014/main" id="{681272C1-AA69-BAD7-BDB6-D1E44990F3D7}"/>
                </a:ext>
              </a:extLst>
            </p:cNvPr>
            <p:cNvSpPr>
              <a:spLocks noChangeAspect="1"/>
            </p:cNvSpPr>
            <p:nvPr/>
          </p:nvSpPr>
          <p:spPr bwMode="auto">
            <a:xfrm rot="-5171298">
              <a:off x="5160" y="1432"/>
              <a:ext cx="229" cy="239"/>
            </a:xfrm>
            <a:custGeom>
              <a:avLst/>
              <a:gdLst>
                <a:gd name="T0" fmla="*/ 0 w 32941"/>
                <a:gd name="T1" fmla="*/ 0 h 31545"/>
                <a:gd name="T2" fmla="*/ 1 w 32941"/>
                <a:gd name="T3" fmla="*/ 2 h 31545"/>
                <a:gd name="T4" fmla="*/ 1 w 32941"/>
                <a:gd name="T5" fmla="*/ 1 h 31545"/>
                <a:gd name="T6" fmla="*/ 0 60000 65536"/>
                <a:gd name="T7" fmla="*/ 0 60000 65536"/>
                <a:gd name="T8" fmla="*/ 0 60000 65536"/>
                <a:gd name="T9" fmla="*/ 0 w 32941"/>
                <a:gd name="T10" fmla="*/ 0 h 31545"/>
                <a:gd name="T11" fmla="*/ 32941 w 32941"/>
                <a:gd name="T12" fmla="*/ 31545 h 31545"/>
              </a:gdLst>
              <a:ahLst/>
              <a:cxnLst>
                <a:cxn ang="T6">
                  <a:pos x="T0" y="T1"/>
                </a:cxn>
                <a:cxn ang="T7">
                  <a:pos x="T2" y="T3"/>
                </a:cxn>
                <a:cxn ang="T8">
                  <a:pos x="T4" y="T5"/>
                </a:cxn>
              </a:cxnLst>
              <a:rect l="T9" t="T10" r="T11" b="T12"/>
              <a:pathLst>
                <a:path w="32941" h="31545" fill="none" extrusionOk="0">
                  <a:moveTo>
                    <a:pt x="-1" y="3216"/>
                  </a:moveTo>
                  <a:cubicBezTo>
                    <a:pt x="3408" y="1113"/>
                    <a:pt x="7335" y="-1"/>
                    <a:pt x="11341" y="0"/>
                  </a:cubicBezTo>
                  <a:cubicBezTo>
                    <a:pt x="23270" y="0"/>
                    <a:pt x="32941" y="9670"/>
                    <a:pt x="32941" y="21600"/>
                  </a:cubicBezTo>
                  <a:cubicBezTo>
                    <a:pt x="32941" y="25061"/>
                    <a:pt x="32109" y="28472"/>
                    <a:pt x="30515" y="31545"/>
                  </a:cubicBezTo>
                </a:path>
                <a:path w="32941" h="31545" stroke="0" extrusionOk="0">
                  <a:moveTo>
                    <a:pt x="-1" y="3216"/>
                  </a:moveTo>
                  <a:cubicBezTo>
                    <a:pt x="3408" y="1113"/>
                    <a:pt x="7335" y="-1"/>
                    <a:pt x="11341" y="0"/>
                  </a:cubicBezTo>
                  <a:cubicBezTo>
                    <a:pt x="23270" y="0"/>
                    <a:pt x="32941" y="9670"/>
                    <a:pt x="32941" y="21600"/>
                  </a:cubicBezTo>
                  <a:cubicBezTo>
                    <a:pt x="32941" y="25061"/>
                    <a:pt x="32109" y="28472"/>
                    <a:pt x="30515" y="31545"/>
                  </a:cubicBezTo>
                  <a:lnTo>
                    <a:pt x="11341" y="21600"/>
                  </a:lnTo>
                  <a:close/>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sp>
          <p:nvSpPr>
            <p:cNvPr id="85" name="AutoShape 96" descr="宽下对角线">
              <a:extLst>
                <a:ext uri="{FF2B5EF4-FFF2-40B4-BE49-F238E27FC236}">
                  <a16:creationId xmlns:a16="http://schemas.microsoft.com/office/drawing/2014/main" id="{89B6F6AA-CA27-73F2-AF86-13E38AC91ECB}"/>
                </a:ext>
              </a:extLst>
            </p:cNvPr>
            <p:cNvSpPr>
              <a:spLocks noChangeAspect="1" noChangeArrowheads="1"/>
            </p:cNvSpPr>
            <p:nvPr/>
          </p:nvSpPr>
          <p:spPr bwMode="auto">
            <a:xfrm rot="16200000" flipH="1">
              <a:off x="4836" y="1810"/>
              <a:ext cx="905" cy="218"/>
            </a:xfrm>
            <a:prstGeom prst="parallelogram">
              <a:avLst>
                <a:gd name="adj" fmla="val 90100"/>
              </a:avLst>
            </a:prstGeom>
            <a:pattFill prst="wdDnDiag">
              <a:fgClr>
                <a:srgbClr val="000000"/>
              </a:fgClr>
              <a:bgClr>
                <a:srgbClr val="FF99FF"/>
              </a:bgClr>
            </a:pattFill>
            <a:ln w="28575">
              <a:solidFill>
                <a:srgbClr val="000000"/>
              </a:solidFill>
              <a:miter lim="800000"/>
              <a:headEnd/>
              <a:tailEnd/>
            </a:ln>
          </p:spPr>
          <p:txBody>
            <a:bodyPr wrap="none" anchor="ct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CC"/>
                </a:solidFill>
                <a:effectLst/>
                <a:uLnTx/>
                <a:uFillTx/>
                <a:latin typeface="Times New Roman" panose="02020603050405020304" pitchFamily="18" charset="0"/>
                <a:ea typeface="黑体" panose="02010609060101010101" pitchFamily="49" charset="-122"/>
              </a:endParaRPr>
            </a:p>
          </p:txBody>
        </p:sp>
        <p:sp>
          <p:nvSpPr>
            <p:cNvPr id="86" name="Line 97">
              <a:extLst>
                <a:ext uri="{FF2B5EF4-FFF2-40B4-BE49-F238E27FC236}">
                  <a16:creationId xmlns:a16="http://schemas.microsoft.com/office/drawing/2014/main" id="{7F5A572D-532E-E05C-74F0-D4C566D5314C}"/>
                </a:ext>
              </a:extLst>
            </p:cNvPr>
            <p:cNvSpPr>
              <a:spLocks noChangeAspect="1" noChangeShapeType="1"/>
            </p:cNvSpPr>
            <p:nvPr/>
          </p:nvSpPr>
          <p:spPr bwMode="auto">
            <a:xfrm>
              <a:off x="5150" y="1578"/>
              <a:ext cx="0" cy="689"/>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sp>
          <p:nvSpPr>
            <p:cNvPr id="87" name="Arc 98">
              <a:extLst>
                <a:ext uri="{FF2B5EF4-FFF2-40B4-BE49-F238E27FC236}">
                  <a16:creationId xmlns:a16="http://schemas.microsoft.com/office/drawing/2014/main" id="{99C8BC2A-9D13-5F80-B12C-95526D248AD0}"/>
                </a:ext>
              </a:extLst>
            </p:cNvPr>
            <p:cNvSpPr>
              <a:spLocks noChangeAspect="1"/>
            </p:cNvSpPr>
            <p:nvPr/>
          </p:nvSpPr>
          <p:spPr bwMode="auto">
            <a:xfrm rot="-6511227">
              <a:off x="5165" y="2224"/>
              <a:ext cx="109" cy="153"/>
            </a:xfrm>
            <a:custGeom>
              <a:avLst/>
              <a:gdLst>
                <a:gd name="T0" fmla="*/ 0 w 18322"/>
                <a:gd name="T1" fmla="*/ 0 h 21600"/>
                <a:gd name="T2" fmla="*/ 1 w 18322"/>
                <a:gd name="T3" fmla="*/ 0 h 21600"/>
                <a:gd name="T4" fmla="*/ 0 w 18322"/>
                <a:gd name="T5" fmla="*/ 1 h 21600"/>
                <a:gd name="T6" fmla="*/ 0 60000 65536"/>
                <a:gd name="T7" fmla="*/ 0 60000 65536"/>
                <a:gd name="T8" fmla="*/ 0 60000 65536"/>
                <a:gd name="T9" fmla="*/ 0 w 18322"/>
                <a:gd name="T10" fmla="*/ 0 h 21600"/>
                <a:gd name="T11" fmla="*/ 18322 w 18322"/>
                <a:gd name="T12" fmla="*/ 21600 h 21600"/>
              </a:gdLst>
              <a:ahLst/>
              <a:cxnLst>
                <a:cxn ang="T6">
                  <a:pos x="T0" y="T1"/>
                </a:cxn>
                <a:cxn ang="T7">
                  <a:pos x="T2" y="T3"/>
                </a:cxn>
                <a:cxn ang="T8">
                  <a:pos x="T4" y="T5"/>
                </a:cxn>
              </a:cxnLst>
              <a:rect l="T9" t="T10" r="T11" b="T12"/>
              <a:pathLst>
                <a:path w="18322" h="21600" fill="none" extrusionOk="0">
                  <a:moveTo>
                    <a:pt x="-1" y="1188"/>
                  </a:moveTo>
                  <a:cubicBezTo>
                    <a:pt x="2272" y="401"/>
                    <a:pt x="4661" y="-1"/>
                    <a:pt x="7067" y="0"/>
                  </a:cubicBezTo>
                  <a:cubicBezTo>
                    <a:pt x="11038" y="0"/>
                    <a:pt x="14932" y="1094"/>
                    <a:pt x="18321" y="3164"/>
                  </a:cubicBezTo>
                </a:path>
                <a:path w="18322" h="21600" stroke="0" extrusionOk="0">
                  <a:moveTo>
                    <a:pt x="-1" y="1188"/>
                  </a:moveTo>
                  <a:cubicBezTo>
                    <a:pt x="2272" y="401"/>
                    <a:pt x="4661" y="-1"/>
                    <a:pt x="7067" y="0"/>
                  </a:cubicBezTo>
                  <a:cubicBezTo>
                    <a:pt x="11038" y="0"/>
                    <a:pt x="14932" y="1094"/>
                    <a:pt x="18321" y="3164"/>
                  </a:cubicBezTo>
                  <a:lnTo>
                    <a:pt x="7067" y="21600"/>
                  </a:lnTo>
                  <a:close/>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grpSp>
      <p:grpSp>
        <p:nvGrpSpPr>
          <p:cNvPr id="109" name="Group 99">
            <a:extLst>
              <a:ext uri="{FF2B5EF4-FFF2-40B4-BE49-F238E27FC236}">
                <a16:creationId xmlns:a16="http://schemas.microsoft.com/office/drawing/2014/main" id="{C27982ED-37F2-DD76-82D7-DB7BB0794FC8}"/>
              </a:ext>
            </a:extLst>
          </p:cNvPr>
          <p:cNvGrpSpPr>
            <a:grpSpLocks noChangeAspect="1"/>
          </p:cNvGrpSpPr>
          <p:nvPr/>
        </p:nvGrpSpPr>
        <p:grpSpPr bwMode="auto">
          <a:xfrm>
            <a:off x="8788474" y="3983717"/>
            <a:ext cx="311150" cy="1050925"/>
            <a:chOff x="5121" y="1424"/>
            <a:chExt cx="281" cy="947"/>
          </a:xfrm>
        </p:grpSpPr>
        <p:sp>
          <p:nvSpPr>
            <p:cNvPr id="140" name="Freeform 100">
              <a:extLst>
                <a:ext uri="{FF2B5EF4-FFF2-40B4-BE49-F238E27FC236}">
                  <a16:creationId xmlns:a16="http://schemas.microsoft.com/office/drawing/2014/main" id="{2339631C-7CDD-5333-BD87-A6860D522156}"/>
                </a:ext>
              </a:extLst>
            </p:cNvPr>
            <p:cNvSpPr>
              <a:spLocks noChangeAspect="1"/>
            </p:cNvSpPr>
            <p:nvPr/>
          </p:nvSpPr>
          <p:spPr bwMode="auto">
            <a:xfrm>
              <a:off x="5121" y="1424"/>
              <a:ext cx="281" cy="946"/>
            </a:xfrm>
            <a:custGeom>
              <a:avLst/>
              <a:gdLst>
                <a:gd name="T0" fmla="*/ 273 w 281"/>
                <a:gd name="T1" fmla="*/ 36 h 946"/>
                <a:gd name="T2" fmla="*/ 150 w 281"/>
                <a:gd name="T3" fmla="*/ 10 h 946"/>
                <a:gd name="T4" fmla="*/ 84 w 281"/>
                <a:gd name="T5" fmla="*/ 55 h 946"/>
                <a:gd name="T6" fmla="*/ 18 w 281"/>
                <a:gd name="T7" fmla="*/ 172 h 946"/>
                <a:gd name="T8" fmla="*/ 21 w 281"/>
                <a:gd name="T9" fmla="*/ 532 h 946"/>
                <a:gd name="T10" fmla="*/ 48 w 281"/>
                <a:gd name="T11" fmla="*/ 946 h 946"/>
                <a:gd name="T12" fmla="*/ 281 w 281"/>
                <a:gd name="T13" fmla="*/ 760 h 946"/>
                <a:gd name="T14" fmla="*/ 271 w 281"/>
                <a:gd name="T15" fmla="*/ 136 h 946"/>
                <a:gd name="T16" fmla="*/ 0 60000 65536"/>
                <a:gd name="T17" fmla="*/ 0 60000 65536"/>
                <a:gd name="T18" fmla="*/ 0 60000 65536"/>
                <a:gd name="T19" fmla="*/ 0 60000 65536"/>
                <a:gd name="T20" fmla="*/ 0 60000 65536"/>
                <a:gd name="T21" fmla="*/ 0 60000 65536"/>
                <a:gd name="T22" fmla="*/ 0 60000 65536"/>
                <a:gd name="T23" fmla="*/ 0 60000 65536"/>
                <a:gd name="T24" fmla="*/ 0 w 281"/>
                <a:gd name="T25" fmla="*/ 0 h 946"/>
                <a:gd name="T26" fmla="*/ 281 w 281"/>
                <a:gd name="T27" fmla="*/ 946 h 94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81" h="946">
                  <a:moveTo>
                    <a:pt x="273" y="36"/>
                  </a:moveTo>
                  <a:cubicBezTo>
                    <a:pt x="187" y="8"/>
                    <a:pt x="278" y="0"/>
                    <a:pt x="150" y="10"/>
                  </a:cubicBezTo>
                  <a:cubicBezTo>
                    <a:pt x="134" y="15"/>
                    <a:pt x="89" y="39"/>
                    <a:pt x="84" y="55"/>
                  </a:cubicBezTo>
                  <a:cubicBezTo>
                    <a:pt x="71" y="95"/>
                    <a:pt x="34" y="108"/>
                    <a:pt x="18" y="172"/>
                  </a:cubicBezTo>
                  <a:cubicBezTo>
                    <a:pt x="22" y="258"/>
                    <a:pt x="28" y="346"/>
                    <a:pt x="21" y="532"/>
                  </a:cubicBezTo>
                  <a:cubicBezTo>
                    <a:pt x="28" y="661"/>
                    <a:pt x="0" y="883"/>
                    <a:pt x="48" y="946"/>
                  </a:cubicBezTo>
                  <a:cubicBezTo>
                    <a:pt x="162" y="849"/>
                    <a:pt x="281" y="760"/>
                    <a:pt x="281" y="760"/>
                  </a:cubicBezTo>
                  <a:lnTo>
                    <a:pt x="271" y="136"/>
                  </a:lnTo>
                </a:path>
              </a:pathLst>
            </a:custGeom>
            <a:gradFill rotWithShape="0">
              <a:gsLst>
                <a:gs pos="0">
                  <a:srgbClr val="000000"/>
                </a:gs>
                <a:gs pos="100000">
                  <a:srgbClr val="CC9900"/>
                </a:gs>
              </a:gsLst>
              <a:lin ang="0" scaled="1"/>
            </a:gradFill>
            <a:ln>
              <a:noFill/>
            </a:ln>
            <a:extLst>
              <a:ext uri="{91240B29-F687-4F45-9708-019B960494DF}">
                <a14:hiddenLine xmlns:a14="http://schemas.microsoft.com/office/drawing/2010/main" w="28575" cmpd="sng">
                  <a:solidFill>
                    <a:srgbClr val="000000"/>
                  </a:solidFill>
                  <a:round/>
                  <a:headEnd/>
                  <a:tailEnd/>
                </a14:hiddenLine>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sp>
          <p:nvSpPr>
            <p:cNvPr id="141" name="Arc 101">
              <a:extLst>
                <a:ext uri="{FF2B5EF4-FFF2-40B4-BE49-F238E27FC236}">
                  <a16:creationId xmlns:a16="http://schemas.microsoft.com/office/drawing/2014/main" id="{EDC2C9DD-1F9E-DDEB-D904-D520EF8F8DC3}"/>
                </a:ext>
              </a:extLst>
            </p:cNvPr>
            <p:cNvSpPr>
              <a:spLocks noChangeAspect="1"/>
            </p:cNvSpPr>
            <p:nvPr/>
          </p:nvSpPr>
          <p:spPr bwMode="auto">
            <a:xfrm rot="-5171298">
              <a:off x="5160" y="1432"/>
              <a:ext cx="229" cy="239"/>
            </a:xfrm>
            <a:custGeom>
              <a:avLst/>
              <a:gdLst>
                <a:gd name="T0" fmla="*/ 0 w 32941"/>
                <a:gd name="T1" fmla="*/ 0 h 31545"/>
                <a:gd name="T2" fmla="*/ 1 w 32941"/>
                <a:gd name="T3" fmla="*/ 2 h 31545"/>
                <a:gd name="T4" fmla="*/ 1 w 32941"/>
                <a:gd name="T5" fmla="*/ 1 h 31545"/>
                <a:gd name="T6" fmla="*/ 0 60000 65536"/>
                <a:gd name="T7" fmla="*/ 0 60000 65536"/>
                <a:gd name="T8" fmla="*/ 0 60000 65536"/>
                <a:gd name="T9" fmla="*/ 0 w 32941"/>
                <a:gd name="T10" fmla="*/ 0 h 31545"/>
                <a:gd name="T11" fmla="*/ 32941 w 32941"/>
                <a:gd name="T12" fmla="*/ 31545 h 31545"/>
              </a:gdLst>
              <a:ahLst/>
              <a:cxnLst>
                <a:cxn ang="T6">
                  <a:pos x="T0" y="T1"/>
                </a:cxn>
                <a:cxn ang="T7">
                  <a:pos x="T2" y="T3"/>
                </a:cxn>
                <a:cxn ang="T8">
                  <a:pos x="T4" y="T5"/>
                </a:cxn>
              </a:cxnLst>
              <a:rect l="T9" t="T10" r="T11" b="T12"/>
              <a:pathLst>
                <a:path w="32941" h="31545" fill="none" extrusionOk="0">
                  <a:moveTo>
                    <a:pt x="-1" y="3216"/>
                  </a:moveTo>
                  <a:cubicBezTo>
                    <a:pt x="3408" y="1113"/>
                    <a:pt x="7335" y="-1"/>
                    <a:pt x="11341" y="0"/>
                  </a:cubicBezTo>
                  <a:cubicBezTo>
                    <a:pt x="23270" y="0"/>
                    <a:pt x="32941" y="9670"/>
                    <a:pt x="32941" y="21600"/>
                  </a:cubicBezTo>
                  <a:cubicBezTo>
                    <a:pt x="32941" y="25061"/>
                    <a:pt x="32109" y="28472"/>
                    <a:pt x="30515" y="31545"/>
                  </a:cubicBezTo>
                </a:path>
                <a:path w="32941" h="31545" stroke="0" extrusionOk="0">
                  <a:moveTo>
                    <a:pt x="-1" y="3216"/>
                  </a:moveTo>
                  <a:cubicBezTo>
                    <a:pt x="3408" y="1113"/>
                    <a:pt x="7335" y="-1"/>
                    <a:pt x="11341" y="0"/>
                  </a:cubicBezTo>
                  <a:cubicBezTo>
                    <a:pt x="23270" y="0"/>
                    <a:pt x="32941" y="9670"/>
                    <a:pt x="32941" y="21600"/>
                  </a:cubicBezTo>
                  <a:cubicBezTo>
                    <a:pt x="32941" y="25061"/>
                    <a:pt x="32109" y="28472"/>
                    <a:pt x="30515" y="31545"/>
                  </a:cubicBezTo>
                  <a:lnTo>
                    <a:pt x="11341" y="21600"/>
                  </a:lnTo>
                  <a:close/>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sp>
          <p:nvSpPr>
            <p:cNvPr id="142" name="AutoShape 102" descr="宽下对角线">
              <a:extLst>
                <a:ext uri="{FF2B5EF4-FFF2-40B4-BE49-F238E27FC236}">
                  <a16:creationId xmlns:a16="http://schemas.microsoft.com/office/drawing/2014/main" id="{CEEF806A-C2E7-CBC1-E5B5-F9B73D711B3D}"/>
                </a:ext>
              </a:extLst>
            </p:cNvPr>
            <p:cNvSpPr>
              <a:spLocks noChangeAspect="1" noChangeArrowheads="1"/>
            </p:cNvSpPr>
            <p:nvPr/>
          </p:nvSpPr>
          <p:spPr bwMode="auto">
            <a:xfrm rot="16200000" flipH="1">
              <a:off x="4836" y="1810"/>
              <a:ext cx="905" cy="218"/>
            </a:xfrm>
            <a:prstGeom prst="parallelogram">
              <a:avLst>
                <a:gd name="adj" fmla="val 90100"/>
              </a:avLst>
            </a:prstGeom>
            <a:pattFill prst="wdDnDiag">
              <a:fgClr>
                <a:srgbClr val="000000"/>
              </a:fgClr>
              <a:bgClr>
                <a:srgbClr val="FF99FF"/>
              </a:bgClr>
            </a:pattFill>
            <a:ln w="28575">
              <a:solidFill>
                <a:srgbClr val="000000"/>
              </a:solidFill>
              <a:miter lim="800000"/>
              <a:headEnd/>
              <a:tailEnd/>
            </a:ln>
          </p:spPr>
          <p:txBody>
            <a:bodyPr wrap="none" anchor="ctr"/>
            <a:lstStyle>
              <a:lvl1pPr eaLnBrk="0" hangingPunct="0">
                <a:defRPr kumimoji="1" sz="2400">
                  <a:solidFill>
                    <a:schemeClr val="bg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bg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bg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bg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bg1"/>
                  </a:solidFill>
                  <a:latin typeface="Times New Roman" panose="02020603050405020304" pitchFamily="18" charset="0"/>
                  <a:ea typeface="黑体" panose="02010609060101010101" pitchFamily="49" charset="-122"/>
                </a:defRPr>
              </a:lvl5pPr>
              <a:lvl6pPr marL="25146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6pPr>
              <a:lvl7pPr marL="29718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7pPr>
              <a:lvl8pPr marL="34290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8pPr>
              <a:lvl9pPr marL="3886200" indent="-228600" algn="ctr" eaLnBrk="0" fontAlgn="base" hangingPunct="0">
                <a:spcBef>
                  <a:spcPct val="0"/>
                </a:spcBef>
                <a:spcAft>
                  <a:spcPct val="0"/>
                </a:spcAft>
                <a:defRPr kumimoji="1" sz="2400">
                  <a:solidFill>
                    <a:schemeClr val="bg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CC"/>
                </a:solidFill>
                <a:effectLst/>
                <a:uLnTx/>
                <a:uFillTx/>
                <a:latin typeface="Times New Roman" panose="02020603050405020304" pitchFamily="18" charset="0"/>
                <a:ea typeface="黑体" panose="02010609060101010101" pitchFamily="49" charset="-122"/>
              </a:endParaRPr>
            </a:p>
          </p:txBody>
        </p:sp>
        <p:sp>
          <p:nvSpPr>
            <p:cNvPr id="143" name="Line 103">
              <a:extLst>
                <a:ext uri="{FF2B5EF4-FFF2-40B4-BE49-F238E27FC236}">
                  <a16:creationId xmlns:a16="http://schemas.microsoft.com/office/drawing/2014/main" id="{FF9B9585-FA43-2227-3B7D-D6EBAA8D65CB}"/>
                </a:ext>
              </a:extLst>
            </p:cNvPr>
            <p:cNvSpPr>
              <a:spLocks noChangeAspect="1" noChangeShapeType="1"/>
            </p:cNvSpPr>
            <p:nvPr/>
          </p:nvSpPr>
          <p:spPr bwMode="auto">
            <a:xfrm>
              <a:off x="5150" y="1578"/>
              <a:ext cx="0" cy="689"/>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sp>
          <p:nvSpPr>
            <p:cNvPr id="144" name="Arc 104">
              <a:extLst>
                <a:ext uri="{FF2B5EF4-FFF2-40B4-BE49-F238E27FC236}">
                  <a16:creationId xmlns:a16="http://schemas.microsoft.com/office/drawing/2014/main" id="{0668401B-8B6B-BC54-C495-9FD93205E8A9}"/>
                </a:ext>
              </a:extLst>
            </p:cNvPr>
            <p:cNvSpPr>
              <a:spLocks noChangeAspect="1"/>
            </p:cNvSpPr>
            <p:nvPr/>
          </p:nvSpPr>
          <p:spPr bwMode="auto">
            <a:xfrm rot="-6511227">
              <a:off x="5165" y="2224"/>
              <a:ext cx="109" cy="153"/>
            </a:xfrm>
            <a:custGeom>
              <a:avLst/>
              <a:gdLst>
                <a:gd name="T0" fmla="*/ 0 w 18322"/>
                <a:gd name="T1" fmla="*/ 0 h 21600"/>
                <a:gd name="T2" fmla="*/ 1 w 18322"/>
                <a:gd name="T3" fmla="*/ 0 h 21600"/>
                <a:gd name="T4" fmla="*/ 0 w 18322"/>
                <a:gd name="T5" fmla="*/ 1 h 21600"/>
                <a:gd name="T6" fmla="*/ 0 60000 65536"/>
                <a:gd name="T7" fmla="*/ 0 60000 65536"/>
                <a:gd name="T8" fmla="*/ 0 60000 65536"/>
                <a:gd name="T9" fmla="*/ 0 w 18322"/>
                <a:gd name="T10" fmla="*/ 0 h 21600"/>
                <a:gd name="T11" fmla="*/ 18322 w 18322"/>
                <a:gd name="T12" fmla="*/ 21600 h 21600"/>
              </a:gdLst>
              <a:ahLst/>
              <a:cxnLst>
                <a:cxn ang="T6">
                  <a:pos x="T0" y="T1"/>
                </a:cxn>
                <a:cxn ang="T7">
                  <a:pos x="T2" y="T3"/>
                </a:cxn>
                <a:cxn ang="T8">
                  <a:pos x="T4" y="T5"/>
                </a:cxn>
              </a:cxnLst>
              <a:rect l="T9" t="T10" r="T11" b="T12"/>
              <a:pathLst>
                <a:path w="18322" h="21600" fill="none" extrusionOk="0">
                  <a:moveTo>
                    <a:pt x="-1" y="1188"/>
                  </a:moveTo>
                  <a:cubicBezTo>
                    <a:pt x="2272" y="401"/>
                    <a:pt x="4661" y="-1"/>
                    <a:pt x="7067" y="0"/>
                  </a:cubicBezTo>
                  <a:cubicBezTo>
                    <a:pt x="11038" y="0"/>
                    <a:pt x="14932" y="1094"/>
                    <a:pt x="18321" y="3164"/>
                  </a:cubicBezTo>
                </a:path>
                <a:path w="18322" h="21600" stroke="0" extrusionOk="0">
                  <a:moveTo>
                    <a:pt x="-1" y="1188"/>
                  </a:moveTo>
                  <a:cubicBezTo>
                    <a:pt x="2272" y="401"/>
                    <a:pt x="4661" y="-1"/>
                    <a:pt x="7067" y="0"/>
                  </a:cubicBezTo>
                  <a:cubicBezTo>
                    <a:pt x="11038" y="0"/>
                    <a:pt x="14932" y="1094"/>
                    <a:pt x="18321" y="3164"/>
                  </a:cubicBezTo>
                  <a:lnTo>
                    <a:pt x="7067" y="21600"/>
                  </a:lnTo>
                  <a:close/>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CC"/>
                </a:solidFill>
                <a:effectLst/>
                <a:uLnTx/>
                <a:uFillTx/>
                <a:ea typeface="黑体" panose="02010609060101010101" pitchFamily="49" charset="-122"/>
              </a:endParaRPr>
            </a:p>
          </p:txBody>
        </p:sp>
      </p:grpSp>
      <p:sp>
        <p:nvSpPr>
          <p:cNvPr id="145" name="Text Box 1032">
            <a:extLst>
              <a:ext uri="{FF2B5EF4-FFF2-40B4-BE49-F238E27FC236}">
                <a16:creationId xmlns:a16="http://schemas.microsoft.com/office/drawing/2014/main" id="{3B1A62FB-1EA1-78FB-4914-8FD95686080D}"/>
              </a:ext>
            </a:extLst>
          </p:cNvPr>
          <p:cNvSpPr txBox="1">
            <a:spLocks noChangeArrowheads="1"/>
          </p:cNvSpPr>
          <p:nvPr/>
        </p:nvSpPr>
        <p:spPr bwMode="auto">
          <a:xfrm>
            <a:off x="8738240" y="5421778"/>
            <a:ext cx="2151518" cy="564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lnSpc>
                <a:spcPct val="120000"/>
              </a:lnSpc>
            </a:pPr>
            <a:r>
              <a:rPr kumimoji="1" lang="en-US" altLang="zh-CN" sz="2800" b="0" dirty="0" err="1">
                <a:solidFill>
                  <a:srgbClr val="000000"/>
                </a:solidFill>
                <a:ea typeface="黑体" panose="02010609060101010101" pitchFamily="49" charset="-122"/>
              </a:rPr>
              <a:t>A</a:t>
            </a:r>
            <a:r>
              <a:rPr kumimoji="1" lang="en-US" altLang="zh-CN" sz="2800" b="0" i="0" baseline="-25000" dirty="0" err="1">
                <a:solidFill>
                  <a:srgbClr val="000000"/>
                </a:solidFill>
                <a:ea typeface="黑体" panose="02010609060101010101" pitchFamily="49" charset="-122"/>
              </a:rPr>
              <a:t>jy</a:t>
            </a:r>
            <a:r>
              <a:rPr kumimoji="1" lang="en-US" altLang="zh-CN" sz="2800" b="0" i="0" dirty="0">
                <a:solidFill>
                  <a:srgbClr val="000000"/>
                </a:solidFill>
                <a:ea typeface="黑体" panose="02010609060101010101" pitchFamily="49" charset="-122"/>
              </a:rPr>
              <a:t>=</a:t>
            </a:r>
            <a:r>
              <a:rPr kumimoji="1" lang="en-US" altLang="zh-CN" sz="2800" b="0" dirty="0">
                <a:solidFill>
                  <a:srgbClr val="000000"/>
                </a:solidFill>
                <a:ea typeface="黑体" panose="02010609060101010101" pitchFamily="49" charset="-122"/>
              </a:rPr>
              <a:t>d</a:t>
            </a:r>
            <a:r>
              <a:rPr kumimoji="1" lang="en-US" altLang="zh-CN" sz="2800" b="0" i="0" dirty="0">
                <a:solidFill>
                  <a:srgbClr val="000000"/>
                </a:solidFill>
                <a:ea typeface="黑体" panose="02010609060101010101" pitchFamily="49" charset="-122"/>
              </a:rPr>
              <a:t>·</a:t>
            </a:r>
            <a:r>
              <a:rPr kumimoji="1" lang="en-US" altLang="zh-CN" sz="2800" b="0" dirty="0">
                <a:solidFill>
                  <a:srgbClr val="000000"/>
                </a:solidFill>
                <a:ea typeface="黑体" panose="02010609060101010101" pitchFamily="49" charset="-122"/>
                <a:sym typeface="Symbol" panose="05050102010706020507" pitchFamily="18" charset="2"/>
              </a:rPr>
              <a:t></a:t>
            </a:r>
            <a:endParaRPr kumimoji="1" lang="zh-CN" altLang="en-US" sz="2800" b="0" dirty="0">
              <a:solidFill>
                <a:srgbClr val="000000"/>
              </a:solidFill>
              <a:ea typeface="黑体" panose="02010609060101010101" pitchFamily="49" charset="-122"/>
            </a:endParaRPr>
          </a:p>
        </p:txBody>
      </p:sp>
    </p:spTree>
    <p:extLst>
      <p:ext uri="{BB962C8B-B14F-4D97-AF65-F5344CB8AC3E}">
        <p14:creationId xmlns:p14="http://schemas.microsoft.com/office/powerpoint/2010/main" val="2465628220"/>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3"/>
                                        </p:tgtEl>
                                        <p:attrNameLst>
                                          <p:attrName>style.visibility</p:attrName>
                                        </p:attrNameLst>
                                      </p:cBhvr>
                                      <p:to>
                                        <p:strVal val="visible"/>
                                      </p:to>
                                    </p:set>
                                  </p:childTnLst>
                                </p:cTn>
                              </p:par>
                              <p:par>
                                <p:cTn id="15" presetID="18" presetClass="entr" presetSubtype="3"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strips(upRight)">
                                      <p:cBhvr>
                                        <p:cTn id="17" dur="3000"/>
                                        <p:tgtEl>
                                          <p:spTgt spid="4"/>
                                        </p:tgtEl>
                                      </p:cBhvr>
                                    </p:animEffect>
                                  </p:childTnLst>
                                </p:cTn>
                              </p:par>
                            </p:childTnLst>
                          </p:cTn>
                        </p:par>
                        <p:par>
                          <p:cTn id="18" fill="hold">
                            <p:stCondLst>
                              <p:cond delay="3000"/>
                            </p:stCondLst>
                            <p:childTnLst>
                              <p:par>
                                <p:cTn id="19" presetID="22" presetClass="entr" presetSubtype="2" fill="hold" nodeType="after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wipe(right)">
                                      <p:cBhvr>
                                        <p:cTn id="21" dur="2000"/>
                                        <p:tgtEl>
                                          <p:spTgt spid="5"/>
                                        </p:tgtEl>
                                      </p:cBhvr>
                                    </p:animEffect>
                                  </p:childTnLst>
                                </p:cTn>
                              </p:par>
                              <p:par>
                                <p:cTn id="22" presetID="22" presetClass="entr" presetSubtype="2" fill="hold"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wipe(right)">
                                      <p:cBhvr>
                                        <p:cTn id="24" dur="2000"/>
                                        <p:tgtEl>
                                          <p:spTgt spid="8"/>
                                        </p:tgtEl>
                                      </p:cBhvr>
                                    </p:animEffect>
                                  </p:childTnLst>
                                </p:cTn>
                              </p:par>
                            </p:childTnLst>
                          </p:cTn>
                        </p:par>
                        <p:par>
                          <p:cTn id="25" fill="hold">
                            <p:stCondLst>
                              <p:cond delay="5000"/>
                            </p:stCondLst>
                            <p:childTnLst>
                              <p:par>
                                <p:cTn id="26" presetID="16" presetClass="entr" presetSubtype="42" fill="hold" nodeType="after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barn(outHorizontal)">
                                      <p:cBhvr>
                                        <p:cTn id="28" dur="3000"/>
                                        <p:tgtEl>
                                          <p:spTgt spid="11"/>
                                        </p:tgtEl>
                                      </p:cBhvr>
                                    </p:animEffect>
                                  </p:childTnLst>
                                </p:cTn>
                              </p:par>
                              <p:par>
                                <p:cTn id="29" presetID="20"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wedge">
                                      <p:cBhvr>
                                        <p:cTn id="31" dur="2000"/>
                                        <p:tgtEl>
                                          <p:spTgt spid="23"/>
                                        </p:tgtEl>
                                      </p:cBhvr>
                                    </p:animEffect>
                                  </p:childTnLst>
                                </p:cTn>
                              </p:par>
                            </p:childTnLst>
                          </p:cTn>
                        </p:par>
                      </p:childTnLst>
                    </p:cTn>
                  </p:par>
                  <p:par>
                    <p:cTn id="32" fill="hold">
                      <p:stCondLst>
                        <p:cond delay="indefinite"/>
                      </p:stCondLst>
                      <p:childTnLst>
                        <p:par>
                          <p:cTn id="33" fill="hold">
                            <p:stCondLst>
                              <p:cond delay="0"/>
                            </p:stCondLst>
                            <p:childTnLst>
                              <p:par>
                                <p:cTn id="34" presetID="18" presetClass="entr" presetSubtype="3" fill="hold" nodeType="click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strips(upRight)">
                                      <p:cBhvr>
                                        <p:cTn id="36" dur="3000"/>
                                        <p:tgtEl>
                                          <p:spTgt spid="12"/>
                                        </p:tgtEl>
                                      </p:cBhvr>
                                    </p:animEffect>
                                  </p:childTnLst>
                                </p:cTn>
                              </p:par>
                            </p:childTnLst>
                          </p:cTn>
                        </p:par>
                        <p:par>
                          <p:cTn id="37" fill="hold">
                            <p:stCondLst>
                              <p:cond delay="3000"/>
                            </p:stCondLst>
                            <p:childTnLst>
                              <p:par>
                                <p:cTn id="38" presetID="35" presetClass="emph" presetSubtype="0" repeatCount="5000" fill="hold" nodeType="afterEffect">
                                  <p:stCondLst>
                                    <p:cond delay="0"/>
                                  </p:stCondLst>
                                  <p:childTnLst>
                                    <p:anim calcmode="discrete" valueType="str">
                                      <p:cBhvr>
                                        <p:cTn id="39" dur="1000" fill="hold"/>
                                        <p:tgtEl>
                                          <p:spTgt spid="12"/>
                                        </p:tgtEl>
                                        <p:attrNameLst>
                                          <p:attrName>style.visibility</p:attrName>
                                        </p:attrNameLst>
                                      </p:cBhvr>
                                      <p:tavLst>
                                        <p:tav tm="0">
                                          <p:val>
                                            <p:strVal val="hidden"/>
                                          </p:val>
                                        </p:tav>
                                        <p:tav tm="50000">
                                          <p:val>
                                            <p:strVal val="visible"/>
                                          </p:val>
                                        </p:tav>
                                      </p:tavLst>
                                    </p:anim>
                                  </p:childTnLst>
                                </p:cTn>
                              </p:par>
                              <p:par>
                                <p:cTn id="40" presetID="19" presetClass="entr" presetSubtype="10" fill="hold" grpId="0" nodeType="withEffect">
                                  <p:stCondLst>
                                    <p:cond delay="0"/>
                                  </p:stCondLst>
                                  <p:childTnLst>
                                    <p:set>
                                      <p:cBhvr>
                                        <p:cTn id="41" dur="1" fill="hold">
                                          <p:stCondLst>
                                            <p:cond delay="0"/>
                                          </p:stCondLst>
                                        </p:cTn>
                                        <p:tgtEl>
                                          <p:spTgt spid="24"/>
                                        </p:tgtEl>
                                        <p:attrNameLst>
                                          <p:attrName>style.visibility</p:attrName>
                                        </p:attrNameLst>
                                      </p:cBhvr>
                                      <p:to>
                                        <p:strVal val="visible"/>
                                      </p:to>
                                    </p:set>
                                    <p:anim calcmode="lin" valueType="num">
                                      <p:cBhvr>
                                        <p:cTn id="42" dur="5000" fill="hold"/>
                                        <p:tgtEl>
                                          <p:spTgt spid="24"/>
                                        </p:tgtEl>
                                        <p:attrNameLst>
                                          <p:attrName>ppt_w</p:attrName>
                                        </p:attrNameLst>
                                      </p:cBhvr>
                                      <p:tavLst>
                                        <p:tav tm="0" fmla="#ppt_w*sin(2.5*pi*$)">
                                          <p:val>
                                            <p:fltVal val="0"/>
                                          </p:val>
                                        </p:tav>
                                        <p:tav tm="100000">
                                          <p:val>
                                            <p:fltVal val="1"/>
                                          </p:val>
                                        </p:tav>
                                      </p:tavLst>
                                    </p:anim>
                                    <p:anim calcmode="lin" valueType="num">
                                      <p:cBhvr>
                                        <p:cTn id="43" dur="5000" fill="hold"/>
                                        <p:tgtEl>
                                          <p:spTgt spid="24"/>
                                        </p:tgtEl>
                                        <p:attrNameLst>
                                          <p:attrName>ppt_h</p:attrName>
                                        </p:attrNameLst>
                                      </p:cBhvr>
                                      <p:tavLst>
                                        <p:tav tm="0">
                                          <p:val>
                                            <p:strVal val="#ppt_h"/>
                                          </p:val>
                                        </p:tav>
                                        <p:tav tm="100000">
                                          <p:val>
                                            <p:strVal val="#ppt_h"/>
                                          </p:val>
                                        </p:tav>
                                      </p:tavLst>
                                    </p:anim>
                                  </p:childTnLst>
                                </p:cTn>
                              </p:par>
                            </p:childTnLst>
                          </p:cTn>
                        </p:par>
                        <p:par>
                          <p:cTn id="44" fill="hold">
                            <p:stCondLst>
                              <p:cond delay="8000"/>
                            </p:stCondLst>
                            <p:childTnLst>
                              <p:par>
                                <p:cTn id="45" presetID="22" presetClass="entr" presetSubtype="8" fill="hold" nodeType="after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wipe(left)">
                                      <p:cBhvr>
                                        <p:cTn id="47" dur="3000"/>
                                        <p:tgtEl>
                                          <p:spTgt spid="13"/>
                                        </p:tgtEl>
                                      </p:cBhvr>
                                    </p:animEffec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499"/>
                                          </p:stCondLst>
                                        </p:cTn>
                                        <p:tgtEl>
                                          <p:spTgt spid="25"/>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nodeType="clickEffect">
                                  <p:stCondLst>
                                    <p:cond delay="0"/>
                                  </p:stCondLst>
                                  <p:childTnLst>
                                    <p:set>
                                      <p:cBhvr>
                                        <p:cTn id="55" dur="1" fill="hold">
                                          <p:stCondLst>
                                            <p:cond delay="0"/>
                                          </p:stCondLst>
                                        </p:cTn>
                                        <p:tgtEl>
                                          <p:spTgt spid="28"/>
                                        </p:tgtEl>
                                        <p:attrNameLst>
                                          <p:attrName>style.visibility</p:attrName>
                                        </p:attrNameLst>
                                      </p:cBhvr>
                                      <p:to>
                                        <p:strVal val="visible"/>
                                      </p:to>
                                    </p:set>
                                  </p:childTnLst>
                                </p:cTn>
                              </p:par>
                              <p:par>
                                <p:cTn id="56" presetID="1" presetClass="entr" presetSubtype="0" fill="hold" grpId="0" nodeType="withEffect">
                                  <p:stCondLst>
                                    <p:cond delay="0"/>
                                  </p:stCondLst>
                                  <p:childTnLst>
                                    <p:set>
                                      <p:cBhvr>
                                        <p:cTn id="57" dur="1" fill="hold">
                                          <p:stCondLst>
                                            <p:cond delay="0"/>
                                          </p:stCondLst>
                                        </p:cTn>
                                        <p:tgtEl>
                                          <p:spTgt spid="29"/>
                                        </p:tgtEl>
                                        <p:attrNameLst>
                                          <p:attrName>style.visibility</p:attrName>
                                        </p:attrNameLst>
                                      </p:cBhvr>
                                      <p:to>
                                        <p:strVal val="visible"/>
                                      </p:to>
                                    </p:set>
                                  </p:childTnLst>
                                </p:cTn>
                              </p:par>
                              <p:par>
                                <p:cTn id="58" presetID="1" presetClass="entr" presetSubtype="0" fill="hold" grpId="0" nodeType="withEffect">
                                  <p:stCondLst>
                                    <p:cond delay="0"/>
                                  </p:stCondLst>
                                  <p:childTnLst>
                                    <p:set>
                                      <p:cBhvr>
                                        <p:cTn id="59" dur="1" fill="hold">
                                          <p:stCondLst>
                                            <p:cond delay="0"/>
                                          </p:stCondLst>
                                        </p:cTn>
                                        <p:tgtEl>
                                          <p:spTgt spid="30"/>
                                        </p:tgtEl>
                                        <p:attrNameLst>
                                          <p:attrName>style.visibility</p:attrName>
                                        </p:attrNameLst>
                                      </p:cBhvr>
                                      <p:to>
                                        <p:strVal val="visible"/>
                                      </p:to>
                                    </p:set>
                                  </p:childTnLst>
                                </p:cTn>
                              </p:par>
                              <p:par>
                                <p:cTn id="60" presetID="1" presetClass="entr" presetSubtype="0" fill="hold" grpId="0" nodeType="withEffect">
                                  <p:stCondLst>
                                    <p:cond delay="0"/>
                                  </p:stCondLst>
                                  <p:childTnLst>
                                    <p:set>
                                      <p:cBhvr>
                                        <p:cTn id="61" dur="1" fill="hold">
                                          <p:stCondLst>
                                            <p:cond delay="0"/>
                                          </p:stCondLst>
                                        </p:cTn>
                                        <p:tgtEl>
                                          <p:spTgt spid="31"/>
                                        </p:tgtEl>
                                        <p:attrNameLst>
                                          <p:attrName>style.visibility</p:attrName>
                                        </p:attrNameLst>
                                      </p:cBhvr>
                                      <p:to>
                                        <p:strVal val="visible"/>
                                      </p:to>
                                    </p:set>
                                  </p:childTnLst>
                                </p:cTn>
                              </p:par>
                              <p:par>
                                <p:cTn id="62" presetID="1" presetClass="entr" presetSubtype="0" fill="hold" grpId="0" nodeType="withEffect">
                                  <p:stCondLst>
                                    <p:cond delay="0"/>
                                  </p:stCondLst>
                                  <p:childTnLst>
                                    <p:set>
                                      <p:cBhvr>
                                        <p:cTn id="63" dur="1" fill="hold">
                                          <p:stCondLst>
                                            <p:cond delay="0"/>
                                          </p:stCondLst>
                                        </p:cTn>
                                        <p:tgtEl>
                                          <p:spTgt spid="32"/>
                                        </p:tgtEl>
                                        <p:attrNameLst>
                                          <p:attrName>style.visibility</p:attrName>
                                        </p:attrNameLst>
                                      </p:cBhvr>
                                      <p:to>
                                        <p:strVal val="visible"/>
                                      </p:to>
                                    </p:set>
                                  </p:childTnLst>
                                </p:cTn>
                              </p:par>
                              <p:par>
                                <p:cTn id="64" presetID="1" presetClass="entr" presetSubtype="0" fill="hold" grpId="0" nodeType="withEffect">
                                  <p:stCondLst>
                                    <p:cond delay="0"/>
                                  </p:stCondLst>
                                  <p:childTnLst>
                                    <p:set>
                                      <p:cBhvr>
                                        <p:cTn id="65" dur="1" fill="hold">
                                          <p:stCondLst>
                                            <p:cond delay="0"/>
                                          </p:stCondLst>
                                        </p:cTn>
                                        <p:tgtEl>
                                          <p:spTgt spid="33"/>
                                        </p:tgtEl>
                                        <p:attrNameLst>
                                          <p:attrName>style.visibility</p:attrName>
                                        </p:attrNameLst>
                                      </p:cBhvr>
                                      <p:to>
                                        <p:strVal val="visible"/>
                                      </p:to>
                                    </p:set>
                                  </p:childTnLst>
                                </p:cTn>
                              </p:par>
                              <p:par>
                                <p:cTn id="66" presetID="1" presetClass="entr" presetSubtype="0" fill="hold" grpId="0" nodeType="withEffect">
                                  <p:stCondLst>
                                    <p:cond delay="0"/>
                                  </p:stCondLst>
                                  <p:childTnLst>
                                    <p:set>
                                      <p:cBhvr>
                                        <p:cTn id="67" dur="1" fill="hold">
                                          <p:stCondLst>
                                            <p:cond delay="0"/>
                                          </p:stCondLst>
                                        </p:cTn>
                                        <p:tgtEl>
                                          <p:spTgt spid="34"/>
                                        </p:tgtEl>
                                        <p:attrNameLst>
                                          <p:attrName>style.visibility</p:attrName>
                                        </p:attrNameLst>
                                      </p:cBhvr>
                                      <p:to>
                                        <p:strVal val="visible"/>
                                      </p:to>
                                    </p:set>
                                  </p:childTnLst>
                                </p:cTn>
                              </p:par>
                              <p:par>
                                <p:cTn id="68" presetID="1" presetClass="entr" presetSubtype="0" fill="hold" grpId="0" nodeType="withEffect">
                                  <p:stCondLst>
                                    <p:cond delay="0"/>
                                  </p:stCondLst>
                                  <p:childTnLst>
                                    <p:set>
                                      <p:cBhvr>
                                        <p:cTn id="69" dur="1" fill="hold">
                                          <p:stCondLst>
                                            <p:cond delay="0"/>
                                          </p:stCondLst>
                                        </p:cTn>
                                        <p:tgtEl>
                                          <p:spTgt spid="35"/>
                                        </p:tgtEl>
                                        <p:attrNameLst>
                                          <p:attrName>style.visibility</p:attrName>
                                        </p:attrNameLst>
                                      </p:cBhvr>
                                      <p:to>
                                        <p:strVal val="visible"/>
                                      </p:to>
                                    </p:set>
                                  </p:childTnLst>
                                </p:cTn>
                              </p:par>
                              <p:par>
                                <p:cTn id="70" presetID="1" presetClass="entr" presetSubtype="0" fill="hold" grpId="0" nodeType="withEffect">
                                  <p:stCondLst>
                                    <p:cond delay="0"/>
                                  </p:stCondLst>
                                  <p:childTnLst>
                                    <p:set>
                                      <p:cBhvr>
                                        <p:cTn id="71" dur="1" fill="hold">
                                          <p:stCondLst>
                                            <p:cond delay="0"/>
                                          </p:stCondLst>
                                        </p:cTn>
                                        <p:tgtEl>
                                          <p:spTgt spid="37"/>
                                        </p:tgtEl>
                                        <p:attrNameLst>
                                          <p:attrName>style.visibility</p:attrName>
                                        </p:attrNameLst>
                                      </p:cBhvr>
                                      <p:to>
                                        <p:strVal val="visible"/>
                                      </p:to>
                                    </p:set>
                                  </p:childTnLst>
                                </p:cTn>
                              </p:par>
                              <p:par>
                                <p:cTn id="72" presetID="1" presetClass="entr" presetSubtype="0" fill="hold" grpId="0" nodeType="withEffect">
                                  <p:stCondLst>
                                    <p:cond delay="0"/>
                                  </p:stCondLst>
                                  <p:childTnLst>
                                    <p:set>
                                      <p:cBhvr>
                                        <p:cTn id="73" dur="1" fill="hold">
                                          <p:stCondLst>
                                            <p:cond delay="0"/>
                                          </p:stCondLst>
                                        </p:cTn>
                                        <p:tgtEl>
                                          <p:spTgt spid="38"/>
                                        </p:tgtEl>
                                        <p:attrNameLst>
                                          <p:attrName>style.visibility</p:attrName>
                                        </p:attrNameLst>
                                      </p:cBhvr>
                                      <p:to>
                                        <p:strVal val="visible"/>
                                      </p:to>
                                    </p:set>
                                  </p:childTnLst>
                                </p:cTn>
                              </p:par>
                              <p:par>
                                <p:cTn id="74" presetID="1" presetClass="entr" presetSubtype="0" fill="hold" grpId="0" nodeType="withEffect">
                                  <p:stCondLst>
                                    <p:cond delay="0"/>
                                  </p:stCondLst>
                                  <p:childTnLst>
                                    <p:set>
                                      <p:cBhvr>
                                        <p:cTn id="75" dur="1" fill="hold">
                                          <p:stCondLst>
                                            <p:cond delay="0"/>
                                          </p:stCondLst>
                                        </p:cTn>
                                        <p:tgtEl>
                                          <p:spTgt spid="39"/>
                                        </p:tgtEl>
                                        <p:attrNameLst>
                                          <p:attrName>style.visibility</p:attrName>
                                        </p:attrNameLst>
                                      </p:cBhvr>
                                      <p:to>
                                        <p:strVal val="visible"/>
                                      </p:to>
                                    </p:set>
                                  </p:childTnLst>
                                </p:cTn>
                              </p:par>
                              <p:par>
                                <p:cTn id="76" presetID="1" presetClass="entr" presetSubtype="0" fill="hold" grpId="0" nodeType="withEffect">
                                  <p:stCondLst>
                                    <p:cond delay="0"/>
                                  </p:stCondLst>
                                  <p:childTnLst>
                                    <p:set>
                                      <p:cBhvr>
                                        <p:cTn id="77" dur="1" fill="hold">
                                          <p:stCondLst>
                                            <p:cond delay="0"/>
                                          </p:stCondLst>
                                        </p:cTn>
                                        <p:tgtEl>
                                          <p:spTgt spid="40"/>
                                        </p:tgtEl>
                                        <p:attrNameLst>
                                          <p:attrName>style.visibility</p:attrName>
                                        </p:attrNameLst>
                                      </p:cBhvr>
                                      <p:to>
                                        <p:strVal val="visible"/>
                                      </p:to>
                                    </p:set>
                                  </p:childTnLst>
                                </p:cTn>
                              </p:par>
                              <p:par>
                                <p:cTn id="78" presetID="1" presetClass="entr" presetSubtype="0" fill="hold" grpId="0" nodeType="withEffect">
                                  <p:stCondLst>
                                    <p:cond delay="0"/>
                                  </p:stCondLst>
                                  <p:childTnLst>
                                    <p:set>
                                      <p:cBhvr>
                                        <p:cTn id="79" dur="1" fill="hold">
                                          <p:stCondLst>
                                            <p:cond delay="0"/>
                                          </p:stCondLst>
                                        </p:cTn>
                                        <p:tgtEl>
                                          <p:spTgt spid="42"/>
                                        </p:tgtEl>
                                        <p:attrNameLst>
                                          <p:attrName>style.visibility</p:attrName>
                                        </p:attrNameLst>
                                      </p:cBhvr>
                                      <p:to>
                                        <p:strVal val="visible"/>
                                      </p:to>
                                    </p:set>
                                  </p:childTnLst>
                                </p:cTn>
                              </p:par>
                              <p:par>
                                <p:cTn id="80" presetID="1" presetClass="entr" presetSubtype="0" fill="hold" nodeType="withEffect">
                                  <p:stCondLst>
                                    <p:cond delay="0"/>
                                  </p:stCondLst>
                                  <p:childTnLst>
                                    <p:set>
                                      <p:cBhvr>
                                        <p:cTn id="81" dur="1" fill="hold">
                                          <p:stCondLst>
                                            <p:cond delay="0"/>
                                          </p:stCondLst>
                                        </p:cTn>
                                        <p:tgtEl>
                                          <p:spTgt spid="43"/>
                                        </p:tgtEl>
                                        <p:attrNameLst>
                                          <p:attrName>style.visibility</p:attrName>
                                        </p:attrNameLst>
                                      </p:cBhvr>
                                      <p:to>
                                        <p:strVal val="visible"/>
                                      </p:to>
                                    </p:set>
                                  </p:childTnLst>
                                </p:cTn>
                              </p:par>
                              <p:par>
                                <p:cTn id="82" presetID="1" presetClass="entr" presetSubtype="0" fill="hold" nodeType="withEffect">
                                  <p:stCondLst>
                                    <p:cond delay="0"/>
                                  </p:stCondLst>
                                  <p:childTnLst>
                                    <p:set>
                                      <p:cBhvr>
                                        <p:cTn id="83" dur="1" fill="hold">
                                          <p:stCondLst>
                                            <p:cond delay="0"/>
                                          </p:stCondLst>
                                        </p:cTn>
                                        <p:tgtEl>
                                          <p:spTgt spid="49"/>
                                        </p:tgtEl>
                                        <p:attrNameLst>
                                          <p:attrName>style.visibility</p:attrName>
                                        </p:attrNameLst>
                                      </p:cBhvr>
                                      <p:to>
                                        <p:strVal val="visible"/>
                                      </p:to>
                                    </p:set>
                                  </p:childTnLst>
                                </p:cTn>
                              </p:par>
                              <p:par>
                                <p:cTn id="84" presetID="1" presetClass="entr" presetSubtype="0" fill="hold" grpId="0" nodeType="withEffect">
                                  <p:stCondLst>
                                    <p:cond delay="0"/>
                                  </p:stCondLst>
                                  <p:childTnLst>
                                    <p:set>
                                      <p:cBhvr>
                                        <p:cTn id="85" dur="1" fill="hold">
                                          <p:stCondLst>
                                            <p:cond delay="0"/>
                                          </p:stCondLst>
                                        </p:cTn>
                                        <p:tgtEl>
                                          <p:spTgt spid="56"/>
                                        </p:tgtEl>
                                        <p:attrNameLst>
                                          <p:attrName>style.visibility</p:attrName>
                                        </p:attrNameLst>
                                      </p:cBhvr>
                                      <p:to>
                                        <p:strVal val="visible"/>
                                      </p:to>
                                    </p:set>
                                  </p:childTnLst>
                                </p:cTn>
                              </p:par>
                              <p:par>
                                <p:cTn id="86" presetID="1" presetClass="entr" presetSubtype="0" fill="hold" grpId="0" nodeType="withEffect">
                                  <p:stCondLst>
                                    <p:cond delay="0"/>
                                  </p:stCondLst>
                                  <p:childTnLst>
                                    <p:set>
                                      <p:cBhvr>
                                        <p:cTn id="87" dur="1" fill="hold">
                                          <p:stCondLst>
                                            <p:cond delay="0"/>
                                          </p:stCondLst>
                                        </p:cTn>
                                        <p:tgtEl>
                                          <p:spTgt spid="57"/>
                                        </p:tgtEl>
                                        <p:attrNameLst>
                                          <p:attrName>style.visibility</p:attrName>
                                        </p:attrNameLst>
                                      </p:cBhvr>
                                      <p:to>
                                        <p:strVal val="visible"/>
                                      </p:to>
                                    </p:set>
                                  </p:childTnLst>
                                </p:cTn>
                              </p:par>
                              <p:par>
                                <p:cTn id="88" presetID="1" presetClass="entr" presetSubtype="0" fill="hold" grpId="0" nodeType="withEffect">
                                  <p:stCondLst>
                                    <p:cond delay="0"/>
                                  </p:stCondLst>
                                  <p:childTnLst>
                                    <p:set>
                                      <p:cBhvr>
                                        <p:cTn id="89" dur="1" fill="hold">
                                          <p:stCondLst>
                                            <p:cond delay="0"/>
                                          </p:stCondLst>
                                        </p:cTn>
                                        <p:tgtEl>
                                          <p:spTgt spid="58"/>
                                        </p:tgtEl>
                                        <p:attrNameLst>
                                          <p:attrName>style.visibility</p:attrName>
                                        </p:attrNameLst>
                                      </p:cBhvr>
                                      <p:to>
                                        <p:strVal val="visible"/>
                                      </p:to>
                                    </p:set>
                                  </p:childTnLst>
                                </p:cTn>
                              </p:par>
                              <p:par>
                                <p:cTn id="90" presetID="1" presetClass="entr" presetSubtype="0" fill="hold" grpId="0" nodeType="withEffect">
                                  <p:stCondLst>
                                    <p:cond delay="0"/>
                                  </p:stCondLst>
                                  <p:childTnLst>
                                    <p:set>
                                      <p:cBhvr>
                                        <p:cTn id="91" dur="1" fill="hold">
                                          <p:stCondLst>
                                            <p:cond delay="0"/>
                                          </p:stCondLst>
                                        </p:cTn>
                                        <p:tgtEl>
                                          <p:spTgt spid="59"/>
                                        </p:tgtEl>
                                        <p:attrNameLst>
                                          <p:attrName>style.visibility</p:attrName>
                                        </p:attrNameLst>
                                      </p:cBhvr>
                                      <p:to>
                                        <p:strVal val="visible"/>
                                      </p:to>
                                    </p:set>
                                  </p:childTnLst>
                                </p:cTn>
                              </p:par>
                              <p:par>
                                <p:cTn id="92" presetID="1" presetClass="entr" presetSubtype="0" fill="hold" grpId="0" nodeType="withEffect">
                                  <p:stCondLst>
                                    <p:cond delay="0"/>
                                  </p:stCondLst>
                                  <p:childTnLst>
                                    <p:set>
                                      <p:cBhvr>
                                        <p:cTn id="93" dur="1" fill="hold">
                                          <p:stCondLst>
                                            <p:cond delay="0"/>
                                          </p:stCondLst>
                                        </p:cTn>
                                        <p:tgtEl>
                                          <p:spTgt spid="60"/>
                                        </p:tgtEl>
                                        <p:attrNameLst>
                                          <p:attrName>style.visibility</p:attrName>
                                        </p:attrNameLst>
                                      </p:cBhvr>
                                      <p:to>
                                        <p:strVal val="visible"/>
                                      </p:to>
                                    </p:set>
                                  </p:childTnLst>
                                </p:cTn>
                              </p:par>
                              <p:par>
                                <p:cTn id="94" presetID="1" presetClass="entr" presetSubtype="0" fill="hold" grpId="0" nodeType="withEffect">
                                  <p:stCondLst>
                                    <p:cond delay="0"/>
                                  </p:stCondLst>
                                  <p:childTnLst>
                                    <p:set>
                                      <p:cBhvr>
                                        <p:cTn id="95" dur="1" fill="hold">
                                          <p:stCondLst>
                                            <p:cond delay="0"/>
                                          </p:stCondLst>
                                        </p:cTn>
                                        <p:tgtEl>
                                          <p:spTgt spid="61"/>
                                        </p:tgtEl>
                                        <p:attrNameLst>
                                          <p:attrName>style.visibility</p:attrName>
                                        </p:attrNameLst>
                                      </p:cBhvr>
                                      <p:to>
                                        <p:strVal val="visible"/>
                                      </p:to>
                                    </p:set>
                                  </p:childTnLst>
                                </p:cTn>
                              </p:par>
                              <p:par>
                                <p:cTn id="96" presetID="1" presetClass="entr" presetSubtype="0" fill="hold" grpId="0" nodeType="withEffect">
                                  <p:stCondLst>
                                    <p:cond delay="0"/>
                                  </p:stCondLst>
                                  <p:childTnLst>
                                    <p:set>
                                      <p:cBhvr>
                                        <p:cTn id="97" dur="1" fill="hold">
                                          <p:stCondLst>
                                            <p:cond delay="0"/>
                                          </p:stCondLst>
                                        </p:cTn>
                                        <p:tgtEl>
                                          <p:spTgt spid="62"/>
                                        </p:tgtEl>
                                        <p:attrNameLst>
                                          <p:attrName>style.visibility</p:attrName>
                                        </p:attrNameLst>
                                      </p:cBhvr>
                                      <p:to>
                                        <p:strVal val="visible"/>
                                      </p:to>
                                    </p:set>
                                  </p:childTnLst>
                                </p:cTn>
                              </p:par>
                              <p:par>
                                <p:cTn id="98" presetID="1" presetClass="entr" presetSubtype="0" fill="hold" grpId="0" nodeType="withEffect">
                                  <p:stCondLst>
                                    <p:cond delay="0"/>
                                  </p:stCondLst>
                                  <p:childTnLst>
                                    <p:set>
                                      <p:cBhvr>
                                        <p:cTn id="99" dur="1" fill="hold">
                                          <p:stCondLst>
                                            <p:cond delay="0"/>
                                          </p:stCondLst>
                                        </p:cTn>
                                        <p:tgtEl>
                                          <p:spTgt spid="63"/>
                                        </p:tgtEl>
                                        <p:attrNameLst>
                                          <p:attrName>style.visibility</p:attrName>
                                        </p:attrNameLst>
                                      </p:cBhvr>
                                      <p:to>
                                        <p:strVal val="visible"/>
                                      </p:to>
                                    </p:set>
                                  </p:childTnLst>
                                </p:cTn>
                              </p:par>
                              <p:par>
                                <p:cTn id="100" presetID="1" presetClass="entr" presetSubtype="0" fill="hold" grpId="0" nodeType="withEffect">
                                  <p:stCondLst>
                                    <p:cond delay="0"/>
                                  </p:stCondLst>
                                  <p:childTnLst>
                                    <p:set>
                                      <p:cBhvr>
                                        <p:cTn id="101" dur="1" fill="hold">
                                          <p:stCondLst>
                                            <p:cond delay="0"/>
                                          </p:stCondLst>
                                        </p:cTn>
                                        <p:tgtEl>
                                          <p:spTgt spid="64"/>
                                        </p:tgtEl>
                                        <p:attrNameLst>
                                          <p:attrName>style.visibility</p:attrName>
                                        </p:attrNameLst>
                                      </p:cBhvr>
                                      <p:to>
                                        <p:strVal val="visible"/>
                                      </p:to>
                                    </p:set>
                                  </p:childTnLst>
                                </p:cTn>
                              </p:par>
                              <p:par>
                                <p:cTn id="102" presetID="1" presetClass="entr" presetSubtype="0" fill="hold" grpId="0" nodeType="withEffect">
                                  <p:stCondLst>
                                    <p:cond delay="0"/>
                                  </p:stCondLst>
                                  <p:childTnLst>
                                    <p:set>
                                      <p:cBhvr>
                                        <p:cTn id="103" dur="1" fill="hold">
                                          <p:stCondLst>
                                            <p:cond delay="0"/>
                                          </p:stCondLst>
                                        </p:cTn>
                                        <p:tgtEl>
                                          <p:spTgt spid="65"/>
                                        </p:tgtEl>
                                        <p:attrNameLst>
                                          <p:attrName>style.visibility</p:attrName>
                                        </p:attrNameLst>
                                      </p:cBhvr>
                                      <p:to>
                                        <p:strVal val="visible"/>
                                      </p:to>
                                    </p:set>
                                  </p:childTnLst>
                                </p:cTn>
                              </p:par>
                              <p:par>
                                <p:cTn id="104" presetID="1" presetClass="entr" presetSubtype="0" fill="hold" grpId="0" nodeType="withEffect">
                                  <p:stCondLst>
                                    <p:cond delay="0"/>
                                  </p:stCondLst>
                                  <p:childTnLst>
                                    <p:set>
                                      <p:cBhvr>
                                        <p:cTn id="105" dur="1" fill="hold">
                                          <p:stCondLst>
                                            <p:cond delay="0"/>
                                          </p:stCondLst>
                                        </p:cTn>
                                        <p:tgtEl>
                                          <p:spTgt spid="66"/>
                                        </p:tgtEl>
                                        <p:attrNameLst>
                                          <p:attrName>style.visibility</p:attrName>
                                        </p:attrNameLst>
                                      </p:cBhvr>
                                      <p:to>
                                        <p:strVal val="visible"/>
                                      </p:to>
                                    </p:set>
                                  </p:childTnLst>
                                </p:cTn>
                              </p:par>
                              <p:par>
                                <p:cTn id="106" presetID="1" presetClass="entr" presetSubtype="0" fill="hold" grpId="0" nodeType="withEffect">
                                  <p:stCondLst>
                                    <p:cond delay="0"/>
                                  </p:stCondLst>
                                  <p:childTnLst>
                                    <p:set>
                                      <p:cBhvr>
                                        <p:cTn id="107" dur="1" fill="hold">
                                          <p:stCondLst>
                                            <p:cond delay="0"/>
                                          </p:stCondLst>
                                        </p:cTn>
                                        <p:tgtEl>
                                          <p:spTgt spid="67"/>
                                        </p:tgtEl>
                                        <p:attrNameLst>
                                          <p:attrName>style.visibility</p:attrName>
                                        </p:attrNameLst>
                                      </p:cBhvr>
                                      <p:to>
                                        <p:strVal val="visible"/>
                                      </p:to>
                                    </p:set>
                                  </p:childTnLst>
                                </p:cTn>
                              </p:par>
                              <p:par>
                                <p:cTn id="108" presetID="1" presetClass="entr" presetSubtype="0" fill="hold" grpId="0" nodeType="withEffect">
                                  <p:stCondLst>
                                    <p:cond delay="0"/>
                                  </p:stCondLst>
                                  <p:childTnLst>
                                    <p:set>
                                      <p:cBhvr>
                                        <p:cTn id="109" dur="1" fill="hold">
                                          <p:stCondLst>
                                            <p:cond delay="0"/>
                                          </p:stCondLst>
                                        </p:cTn>
                                        <p:tgtEl>
                                          <p:spTgt spid="68"/>
                                        </p:tgtEl>
                                        <p:attrNameLst>
                                          <p:attrName>style.visibility</p:attrName>
                                        </p:attrNameLst>
                                      </p:cBhvr>
                                      <p:to>
                                        <p:strVal val="visible"/>
                                      </p:to>
                                    </p:set>
                                  </p:childTnLst>
                                </p:cTn>
                              </p:par>
                              <p:par>
                                <p:cTn id="110" presetID="1" presetClass="entr" presetSubtype="0" fill="hold" grpId="0" nodeType="withEffect">
                                  <p:stCondLst>
                                    <p:cond delay="0"/>
                                  </p:stCondLst>
                                  <p:childTnLst>
                                    <p:set>
                                      <p:cBhvr>
                                        <p:cTn id="111" dur="1" fill="hold">
                                          <p:stCondLst>
                                            <p:cond delay="0"/>
                                          </p:stCondLst>
                                        </p:cTn>
                                        <p:tgtEl>
                                          <p:spTgt spid="69"/>
                                        </p:tgtEl>
                                        <p:attrNameLst>
                                          <p:attrName>style.visibility</p:attrName>
                                        </p:attrNameLst>
                                      </p:cBhvr>
                                      <p:to>
                                        <p:strVal val="visible"/>
                                      </p:to>
                                    </p:set>
                                  </p:childTnLst>
                                </p:cTn>
                              </p:par>
                              <p:par>
                                <p:cTn id="112" presetID="1" presetClass="entr" presetSubtype="0" fill="hold" grpId="0" nodeType="withEffect">
                                  <p:stCondLst>
                                    <p:cond delay="0"/>
                                  </p:stCondLst>
                                  <p:childTnLst>
                                    <p:set>
                                      <p:cBhvr>
                                        <p:cTn id="113" dur="1" fill="hold">
                                          <p:stCondLst>
                                            <p:cond delay="0"/>
                                          </p:stCondLst>
                                        </p:cTn>
                                        <p:tgtEl>
                                          <p:spTgt spid="70"/>
                                        </p:tgtEl>
                                        <p:attrNameLst>
                                          <p:attrName>style.visibility</p:attrName>
                                        </p:attrNameLst>
                                      </p:cBhvr>
                                      <p:to>
                                        <p:strVal val="visible"/>
                                      </p:to>
                                    </p:set>
                                  </p:childTnLst>
                                </p:cTn>
                              </p:par>
                              <p:par>
                                <p:cTn id="114" presetID="1" presetClass="entr" presetSubtype="0" fill="hold" grpId="0" nodeType="withEffect">
                                  <p:stCondLst>
                                    <p:cond delay="0"/>
                                  </p:stCondLst>
                                  <p:childTnLst>
                                    <p:set>
                                      <p:cBhvr>
                                        <p:cTn id="115" dur="1" fill="hold">
                                          <p:stCondLst>
                                            <p:cond delay="0"/>
                                          </p:stCondLst>
                                        </p:cTn>
                                        <p:tgtEl>
                                          <p:spTgt spid="71"/>
                                        </p:tgtEl>
                                        <p:attrNameLst>
                                          <p:attrName>style.visibility</p:attrName>
                                        </p:attrNameLst>
                                      </p:cBhvr>
                                      <p:to>
                                        <p:strVal val="visible"/>
                                      </p:to>
                                    </p:set>
                                  </p:childTnLst>
                                </p:cTn>
                              </p:par>
                              <p:par>
                                <p:cTn id="116" presetID="1" presetClass="entr" presetSubtype="0" fill="hold" grpId="0" nodeType="withEffect">
                                  <p:stCondLst>
                                    <p:cond delay="0"/>
                                  </p:stCondLst>
                                  <p:childTnLst>
                                    <p:set>
                                      <p:cBhvr>
                                        <p:cTn id="117" dur="1" fill="hold">
                                          <p:stCondLst>
                                            <p:cond delay="0"/>
                                          </p:stCondLst>
                                        </p:cTn>
                                        <p:tgtEl>
                                          <p:spTgt spid="72"/>
                                        </p:tgtEl>
                                        <p:attrNameLst>
                                          <p:attrName>style.visibility</p:attrName>
                                        </p:attrNameLst>
                                      </p:cBhvr>
                                      <p:to>
                                        <p:strVal val="visible"/>
                                      </p:to>
                                    </p:set>
                                  </p:childTnLst>
                                </p:cTn>
                              </p:par>
                              <p:par>
                                <p:cTn id="118" presetID="1" presetClass="entr" presetSubtype="0" fill="hold" grpId="0" nodeType="withEffect">
                                  <p:stCondLst>
                                    <p:cond delay="0"/>
                                  </p:stCondLst>
                                  <p:childTnLst>
                                    <p:set>
                                      <p:cBhvr>
                                        <p:cTn id="119" dur="1" fill="hold">
                                          <p:stCondLst>
                                            <p:cond delay="0"/>
                                          </p:stCondLst>
                                        </p:cTn>
                                        <p:tgtEl>
                                          <p:spTgt spid="73"/>
                                        </p:tgtEl>
                                        <p:attrNameLst>
                                          <p:attrName>style.visibility</p:attrName>
                                        </p:attrNameLst>
                                      </p:cBhvr>
                                      <p:to>
                                        <p:strVal val="visible"/>
                                      </p:to>
                                    </p:set>
                                  </p:childTnLst>
                                </p:cTn>
                              </p:par>
                              <p:par>
                                <p:cTn id="120" presetID="1" presetClass="entr" presetSubtype="0" fill="hold" grpId="0" nodeType="withEffect">
                                  <p:stCondLst>
                                    <p:cond delay="0"/>
                                  </p:stCondLst>
                                  <p:childTnLst>
                                    <p:set>
                                      <p:cBhvr>
                                        <p:cTn id="121" dur="1" fill="hold">
                                          <p:stCondLst>
                                            <p:cond delay="0"/>
                                          </p:stCondLst>
                                        </p:cTn>
                                        <p:tgtEl>
                                          <p:spTgt spid="74"/>
                                        </p:tgtEl>
                                        <p:attrNameLst>
                                          <p:attrName>style.visibility</p:attrName>
                                        </p:attrNameLst>
                                      </p:cBhvr>
                                      <p:to>
                                        <p:strVal val="visible"/>
                                      </p:to>
                                    </p:set>
                                  </p:childTnLst>
                                </p:cTn>
                              </p:par>
                              <p:par>
                                <p:cTn id="122" presetID="1" presetClass="entr" presetSubtype="0" fill="hold" grpId="0" nodeType="withEffect">
                                  <p:stCondLst>
                                    <p:cond delay="0"/>
                                  </p:stCondLst>
                                  <p:childTnLst>
                                    <p:set>
                                      <p:cBhvr>
                                        <p:cTn id="123" dur="1" fill="hold">
                                          <p:stCondLst>
                                            <p:cond delay="0"/>
                                          </p:stCondLst>
                                        </p:cTn>
                                        <p:tgtEl>
                                          <p:spTgt spid="75"/>
                                        </p:tgtEl>
                                        <p:attrNameLst>
                                          <p:attrName>style.visibility</p:attrName>
                                        </p:attrNameLst>
                                      </p:cBhvr>
                                      <p:to>
                                        <p:strVal val="visible"/>
                                      </p:to>
                                    </p:set>
                                  </p:childTnLst>
                                </p:cTn>
                              </p:par>
                              <p:par>
                                <p:cTn id="124" presetID="1" presetClass="entr" presetSubtype="0" fill="hold" grpId="0" nodeType="withEffect">
                                  <p:stCondLst>
                                    <p:cond delay="0"/>
                                  </p:stCondLst>
                                  <p:childTnLst>
                                    <p:set>
                                      <p:cBhvr>
                                        <p:cTn id="125" dur="1" fill="hold">
                                          <p:stCondLst>
                                            <p:cond delay="0"/>
                                          </p:stCondLst>
                                        </p:cTn>
                                        <p:tgtEl>
                                          <p:spTgt spid="76"/>
                                        </p:tgtEl>
                                        <p:attrNameLst>
                                          <p:attrName>style.visibility</p:attrName>
                                        </p:attrNameLst>
                                      </p:cBhvr>
                                      <p:to>
                                        <p:strVal val="visible"/>
                                      </p:to>
                                    </p:set>
                                  </p:childTnLst>
                                </p:cTn>
                              </p:par>
                              <p:par>
                                <p:cTn id="126" presetID="1" presetClass="entr" presetSubtype="0" fill="hold" grpId="0" nodeType="withEffect">
                                  <p:stCondLst>
                                    <p:cond delay="0"/>
                                  </p:stCondLst>
                                  <p:childTnLst>
                                    <p:set>
                                      <p:cBhvr>
                                        <p:cTn id="127" dur="1" fill="hold">
                                          <p:stCondLst>
                                            <p:cond delay="0"/>
                                          </p:stCondLst>
                                        </p:cTn>
                                        <p:tgtEl>
                                          <p:spTgt spid="77"/>
                                        </p:tgtEl>
                                        <p:attrNameLst>
                                          <p:attrName>style.visibility</p:attrName>
                                        </p:attrNameLst>
                                      </p:cBhvr>
                                      <p:to>
                                        <p:strVal val="visible"/>
                                      </p:to>
                                    </p:set>
                                  </p:childTnLst>
                                </p:cTn>
                              </p:par>
                              <p:par>
                                <p:cTn id="128" presetID="1" presetClass="entr" presetSubtype="0" fill="hold" grpId="0" nodeType="withEffect">
                                  <p:stCondLst>
                                    <p:cond delay="0"/>
                                  </p:stCondLst>
                                  <p:childTnLst>
                                    <p:set>
                                      <p:cBhvr>
                                        <p:cTn id="129" dur="1" fill="hold">
                                          <p:stCondLst>
                                            <p:cond delay="0"/>
                                          </p:stCondLst>
                                        </p:cTn>
                                        <p:tgtEl>
                                          <p:spTgt spid="78"/>
                                        </p:tgtEl>
                                        <p:attrNameLst>
                                          <p:attrName>style.visibility</p:attrName>
                                        </p:attrNameLst>
                                      </p:cBhvr>
                                      <p:to>
                                        <p:strVal val="visible"/>
                                      </p:to>
                                    </p:set>
                                  </p:childTnLst>
                                </p:cTn>
                              </p:par>
                              <p:par>
                                <p:cTn id="130" presetID="1" presetClass="entr" presetSubtype="0" fill="hold" grpId="0" nodeType="withEffect">
                                  <p:stCondLst>
                                    <p:cond delay="0"/>
                                  </p:stCondLst>
                                  <p:childTnLst>
                                    <p:set>
                                      <p:cBhvr>
                                        <p:cTn id="131" dur="1" fill="hold">
                                          <p:stCondLst>
                                            <p:cond delay="0"/>
                                          </p:stCondLst>
                                        </p:cTn>
                                        <p:tgtEl>
                                          <p:spTgt spid="79"/>
                                        </p:tgtEl>
                                        <p:attrNameLst>
                                          <p:attrName>style.visibility</p:attrName>
                                        </p:attrNameLst>
                                      </p:cBhvr>
                                      <p:to>
                                        <p:strVal val="visible"/>
                                      </p:to>
                                    </p:set>
                                  </p:childTnLst>
                                </p:cTn>
                              </p:par>
                              <p:par>
                                <p:cTn id="132" presetID="1" presetClass="entr" presetSubtype="0" fill="hold" grpId="0" nodeType="withEffect">
                                  <p:stCondLst>
                                    <p:cond delay="0"/>
                                  </p:stCondLst>
                                  <p:childTnLst>
                                    <p:set>
                                      <p:cBhvr>
                                        <p:cTn id="133" dur="1" fill="hold">
                                          <p:stCondLst>
                                            <p:cond delay="0"/>
                                          </p:stCondLst>
                                        </p:cTn>
                                        <p:tgtEl>
                                          <p:spTgt spid="80"/>
                                        </p:tgtEl>
                                        <p:attrNameLst>
                                          <p:attrName>style.visibility</p:attrName>
                                        </p:attrNameLst>
                                      </p:cBhvr>
                                      <p:to>
                                        <p:strVal val="visible"/>
                                      </p:to>
                                    </p:set>
                                  </p:childTnLst>
                                </p:cTn>
                              </p:par>
                              <p:par>
                                <p:cTn id="134" presetID="1" presetClass="entr" presetSubtype="0" fill="hold" grpId="0" nodeType="withEffect">
                                  <p:stCondLst>
                                    <p:cond delay="0"/>
                                  </p:stCondLst>
                                  <p:childTnLst>
                                    <p:set>
                                      <p:cBhvr>
                                        <p:cTn id="135" dur="1" fill="hold">
                                          <p:stCondLst>
                                            <p:cond delay="0"/>
                                          </p:stCondLst>
                                        </p:cTn>
                                        <p:tgtEl>
                                          <p:spTgt spid="81"/>
                                        </p:tgtEl>
                                        <p:attrNameLst>
                                          <p:attrName>style.visibility</p:attrName>
                                        </p:attrNameLst>
                                      </p:cBhvr>
                                      <p:to>
                                        <p:strVal val="visible"/>
                                      </p:to>
                                    </p:set>
                                  </p:childTnLst>
                                </p:cTn>
                              </p:par>
                              <p:par>
                                <p:cTn id="136" presetID="1" presetClass="entr" presetSubtype="0" fill="hold" nodeType="withEffect">
                                  <p:stCondLst>
                                    <p:cond delay="0"/>
                                  </p:stCondLst>
                                  <p:childTnLst>
                                    <p:set>
                                      <p:cBhvr>
                                        <p:cTn id="137" dur="1" fill="hold">
                                          <p:stCondLst>
                                            <p:cond delay="0"/>
                                          </p:stCondLst>
                                        </p:cTn>
                                        <p:tgtEl>
                                          <p:spTgt spid="82"/>
                                        </p:tgtEl>
                                        <p:attrNameLst>
                                          <p:attrName>style.visibility</p:attrName>
                                        </p:attrNameLst>
                                      </p:cBhvr>
                                      <p:to>
                                        <p:strVal val="visible"/>
                                      </p:to>
                                    </p:set>
                                  </p:childTnLst>
                                </p:cTn>
                              </p:par>
                              <p:par>
                                <p:cTn id="138" presetID="1" presetClass="entr" presetSubtype="0" fill="hold" nodeType="withEffect">
                                  <p:stCondLst>
                                    <p:cond delay="0"/>
                                  </p:stCondLst>
                                  <p:childTnLst>
                                    <p:set>
                                      <p:cBhvr>
                                        <p:cTn id="139" dur="1" fill="hold">
                                          <p:stCondLst>
                                            <p:cond delay="0"/>
                                          </p:stCondLst>
                                        </p:cTn>
                                        <p:tgtEl>
                                          <p:spTgt spid="109"/>
                                        </p:tgtEl>
                                        <p:attrNameLst>
                                          <p:attrName>style.visibility</p:attrName>
                                        </p:attrNameLst>
                                      </p:cBhvr>
                                      <p:to>
                                        <p:strVal val="visible"/>
                                      </p:to>
                                    </p:set>
                                  </p:childTnLst>
                                </p:cTn>
                              </p:par>
                            </p:childTnLst>
                          </p:cTn>
                        </p:par>
                      </p:childTnLst>
                    </p:cTn>
                  </p:par>
                  <p:par>
                    <p:cTn id="140" fill="hold">
                      <p:stCondLst>
                        <p:cond delay="indefinite"/>
                      </p:stCondLst>
                      <p:childTnLst>
                        <p:par>
                          <p:cTn id="141" fill="hold">
                            <p:stCondLst>
                              <p:cond delay="0"/>
                            </p:stCondLst>
                            <p:childTnLst>
                              <p:par>
                                <p:cTn id="142" presetID="1" presetClass="entr" presetSubtype="0" fill="hold" grpId="0" nodeType="clickEffect">
                                  <p:stCondLst>
                                    <p:cond delay="0"/>
                                  </p:stCondLst>
                                  <p:childTnLst>
                                    <p:set>
                                      <p:cBhvr>
                                        <p:cTn id="143" dur="1" fill="hold">
                                          <p:stCondLst>
                                            <p:cond delay="0"/>
                                          </p:stCondLst>
                                        </p:cTn>
                                        <p:tgtEl>
                                          <p:spTgt spid="1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animBg="1"/>
      <p:bldP spid="3" grpId="0" autoUpdateAnimBg="0"/>
      <p:bldP spid="4" grpId="0" animBg="1"/>
      <p:bldP spid="23" grpId="0"/>
      <p:bldP spid="24" grpId="0"/>
      <p:bldP spid="25" grpId="0" autoUpdateAnimBg="0"/>
      <p:bldP spid="29" grpId="0" animBg="1"/>
      <p:bldP spid="30" grpId="0" animBg="1"/>
      <p:bldP spid="31" grpId="0" animBg="1"/>
      <p:bldP spid="32" grpId="0" animBg="1"/>
      <p:bldP spid="33" grpId="0" animBg="1"/>
      <p:bldP spid="34" grpId="0" animBg="1"/>
      <p:bldP spid="35" grpId="0" animBg="1"/>
      <p:bldP spid="37" grpId="0" animBg="1"/>
      <p:bldP spid="38" grpId="0" animBg="1"/>
      <p:bldP spid="39" grpId="0" animBg="1"/>
      <p:bldP spid="40" grpId="0" animBg="1"/>
      <p:bldP spid="42"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P spid="70" grpId="0" animBg="1"/>
      <p:bldP spid="71" grpId="0" animBg="1"/>
      <p:bldP spid="72" grpId="0" animBg="1"/>
      <p:bldP spid="73" grpId="0"/>
      <p:bldP spid="74" grpId="0"/>
      <p:bldP spid="75" grpId="0" animBg="1"/>
      <p:bldP spid="76" grpId="0" animBg="1"/>
      <p:bldP spid="77" grpId="0" animBg="1"/>
      <p:bldP spid="78" grpId="0"/>
      <p:bldP spid="79" grpId="0"/>
      <p:bldP spid="80" grpId="0" animBg="1"/>
      <p:bldP spid="81" grpId="0" animBg="1"/>
      <p:bldP spid="145"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711605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第八章   拉压、剪切与挤压的强度计算</a:t>
            </a:r>
          </a:p>
        </p:txBody>
      </p:sp>
      <p:sp>
        <p:nvSpPr>
          <p:cNvPr id="9" name="Text Box 1032">
            <a:extLst>
              <a:ext uri="{FF2B5EF4-FFF2-40B4-BE49-F238E27FC236}">
                <a16:creationId xmlns:a16="http://schemas.microsoft.com/office/drawing/2014/main" id="{5B910DD4-CBB7-A521-D69D-247EA7B635CC}"/>
              </a:ext>
            </a:extLst>
          </p:cNvPr>
          <p:cNvSpPr txBox="1">
            <a:spLocks noChangeArrowheads="1"/>
          </p:cNvSpPr>
          <p:nvPr/>
        </p:nvSpPr>
        <p:spPr bwMode="auto">
          <a:xfrm>
            <a:off x="515381" y="1026360"/>
            <a:ext cx="10477163" cy="565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lnSpc>
                <a:spcPct val="120000"/>
              </a:lnSpc>
            </a:pPr>
            <a:r>
              <a:rPr kumimoji="1" lang="zh-CN" altLang="en-US" sz="2800" i="0" dirty="0">
                <a:latin typeface="+mn-lt"/>
                <a:ea typeface="微软雅黑" panose="020B0503020204020204" pitchFamily="34" charset="-122"/>
              </a:rPr>
              <a:t>为保证联接件具有足够的挤压强度而不破坏，挤压强度条件为有</a:t>
            </a:r>
          </a:p>
        </p:txBody>
      </p:sp>
      <p:sp>
        <p:nvSpPr>
          <p:cNvPr id="3" name="Text Box 1032">
            <a:extLst>
              <a:ext uri="{FF2B5EF4-FFF2-40B4-BE49-F238E27FC236}">
                <a16:creationId xmlns:a16="http://schemas.microsoft.com/office/drawing/2014/main" id="{410F6E20-25E3-5191-328F-AC04B873D73A}"/>
              </a:ext>
            </a:extLst>
          </p:cNvPr>
          <p:cNvSpPr txBox="1">
            <a:spLocks noChangeArrowheads="1"/>
          </p:cNvSpPr>
          <p:nvPr/>
        </p:nvSpPr>
        <p:spPr bwMode="auto">
          <a:xfrm>
            <a:off x="515381" y="2852556"/>
            <a:ext cx="10477164" cy="3366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lvl="0">
              <a:lnSpc>
                <a:spcPct val="130000"/>
              </a:lnSpc>
            </a:pPr>
            <a:r>
              <a:rPr kumimoji="1" lang="zh-CN" altLang="en-US" sz="2800" i="0" dirty="0">
                <a:latin typeface="+mn-lt"/>
                <a:ea typeface="微软雅黑" panose="020B0503020204020204" pitchFamily="34" charset="-122"/>
              </a:rPr>
              <a:t>对于金属材料，许用挤压应力和许用拉应力之间有如下关系：</a:t>
            </a:r>
          </a:p>
          <a:p>
            <a:pPr lvl="0">
              <a:lnSpc>
                <a:spcPct val="130000"/>
              </a:lnSpc>
            </a:pPr>
            <a:r>
              <a:rPr kumimoji="1" lang="zh-CN" altLang="en-US" sz="2800" i="0" dirty="0">
                <a:latin typeface="+mn-lt"/>
                <a:ea typeface="微软雅黑" panose="020B0503020204020204" pitchFamily="34" charset="-122"/>
              </a:rPr>
              <a:t>        塑性材料                </a:t>
            </a:r>
            <a:r>
              <a:rPr kumimoji="1" lang="en-US" altLang="zh-CN" sz="2800" b="0" i="0" dirty="0">
                <a:latin typeface="+mn-lt"/>
                <a:ea typeface="微软雅黑" panose="020B0503020204020204" pitchFamily="34" charset="-122"/>
              </a:rPr>
              <a:t>[</a:t>
            </a:r>
            <a:r>
              <a:rPr kumimoji="1" lang="en-US" altLang="zh-CN" sz="2800" b="0" dirty="0">
                <a:latin typeface="+mn-lt"/>
                <a:ea typeface="微软雅黑" panose="020B0503020204020204" pitchFamily="34" charset="-122"/>
                <a:sym typeface="Symbol" panose="05050102010706020507" pitchFamily="18" charset="2"/>
              </a:rPr>
              <a:t></a:t>
            </a:r>
            <a:r>
              <a:rPr kumimoji="1" lang="en-US" altLang="zh-CN" sz="2800" b="0" i="0" baseline="-25000" dirty="0" err="1">
                <a:latin typeface="+mn-lt"/>
                <a:ea typeface="微软雅黑" panose="020B0503020204020204" pitchFamily="34" charset="-122"/>
              </a:rPr>
              <a:t>jy</a:t>
            </a:r>
            <a:r>
              <a:rPr kumimoji="1" lang="en-US" altLang="zh-CN" sz="2800" b="0" i="0" dirty="0">
                <a:latin typeface="+mn-lt"/>
                <a:ea typeface="微软雅黑" panose="020B0503020204020204" pitchFamily="34" charset="-122"/>
              </a:rPr>
              <a:t>] </a:t>
            </a:r>
            <a:r>
              <a:rPr kumimoji="1" lang="zh-CN" altLang="en-US" sz="2800" b="0" i="0" dirty="0">
                <a:latin typeface="+mn-lt"/>
                <a:ea typeface="微软雅黑" panose="020B0503020204020204" pitchFamily="34" charset="-122"/>
              </a:rPr>
              <a:t>＝</a:t>
            </a:r>
            <a:r>
              <a:rPr kumimoji="1" lang="en-US" altLang="zh-CN" sz="2800" b="0" i="0" dirty="0">
                <a:latin typeface="+mn-lt"/>
                <a:ea typeface="微软雅黑" panose="020B0503020204020204" pitchFamily="34" charset="-122"/>
              </a:rPr>
              <a:t>(1.7</a:t>
            </a:r>
            <a:r>
              <a:rPr kumimoji="1" lang="zh-CN" altLang="en-US" sz="2800" b="0" i="0" dirty="0">
                <a:latin typeface="+mn-lt"/>
                <a:ea typeface="微软雅黑" panose="020B0503020204020204" pitchFamily="34" charset="-122"/>
              </a:rPr>
              <a:t>～</a:t>
            </a:r>
            <a:r>
              <a:rPr kumimoji="1" lang="en-US" altLang="zh-CN" sz="2800" b="0" i="0" dirty="0">
                <a:latin typeface="+mn-lt"/>
                <a:ea typeface="微软雅黑" panose="020B0503020204020204" pitchFamily="34" charset="-122"/>
              </a:rPr>
              <a:t>2.0)[</a:t>
            </a:r>
            <a:r>
              <a:rPr kumimoji="1" lang="en-US" altLang="zh-CN" sz="2800" b="0" dirty="0">
                <a:latin typeface="+mn-lt"/>
                <a:ea typeface="微软雅黑" panose="020B0503020204020204" pitchFamily="34" charset="-122"/>
                <a:sym typeface="Symbol" panose="05050102010706020507" pitchFamily="18" charset="2"/>
              </a:rPr>
              <a:t> </a:t>
            </a:r>
            <a:r>
              <a:rPr kumimoji="1" lang="en-US" altLang="zh-CN" sz="2800" b="0" i="0" dirty="0">
                <a:latin typeface="+mn-lt"/>
                <a:ea typeface="微软雅黑" panose="020B0503020204020204" pitchFamily="34" charset="-122"/>
              </a:rPr>
              <a:t>]</a:t>
            </a:r>
          </a:p>
          <a:p>
            <a:pPr lvl="0">
              <a:lnSpc>
                <a:spcPct val="130000"/>
              </a:lnSpc>
            </a:pPr>
            <a:r>
              <a:rPr kumimoji="1" lang="en-US" altLang="zh-CN" sz="2800" i="0" dirty="0">
                <a:latin typeface="+mn-lt"/>
                <a:ea typeface="微软雅黑" panose="020B0503020204020204" pitchFamily="34" charset="-122"/>
              </a:rPr>
              <a:t>        </a:t>
            </a:r>
            <a:r>
              <a:rPr kumimoji="1" lang="zh-CN" altLang="en-US" sz="2800" i="0" dirty="0">
                <a:latin typeface="+mn-lt"/>
                <a:ea typeface="微软雅黑" panose="020B0503020204020204" pitchFamily="34" charset="-122"/>
              </a:rPr>
              <a:t>脆性材料                </a:t>
            </a:r>
            <a:r>
              <a:rPr kumimoji="1" lang="en-US" altLang="zh-CN" sz="2800" b="0" i="0" dirty="0">
                <a:latin typeface="+mn-lt"/>
                <a:ea typeface="微软雅黑" panose="020B0503020204020204" pitchFamily="34" charset="-122"/>
              </a:rPr>
              <a:t>[</a:t>
            </a:r>
            <a:r>
              <a:rPr kumimoji="1" lang="en-US" altLang="zh-CN" sz="2800" b="0" dirty="0">
                <a:latin typeface="+mn-lt"/>
                <a:ea typeface="微软雅黑" panose="020B0503020204020204" pitchFamily="34" charset="-122"/>
                <a:sym typeface="Symbol" panose="05050102010706020507" pitchFamily="18" charset="2"/>
              </a:rPr>
              <a:t></a:t>
            </a:r>
            <a:r>
              <a:rPr kumimoji="1" lang="en-US" altLang="zh-CN" sz="2800" b="0" i="0" baseline="-25000" dirty="0" err="1">
                <a:latin typeface="+mn-lt"/>
                <a:ea typeface="微软雅黑" panose="020B0503020204020204" pitchFamily="34" charset="-122"/>
              </a:rPr>
              <a:t>jy</a:t>
            </a:r>
            <a:r>
              <a:rPr kumimoji="1" lang="en-US" altLang="zh-CN" sz="2800" b="0" i="0" dirty="0">
                <a:latin typeface="+mn-lt"/>
                <a:ea typeface="微软雅黑" panose="020B0503020204020204" pitchFamily="34" charset="-122"/>
              </a:rPr>
              <a:t>] </a:t>
            </a:r>
            <a:r>
              <a:rPr kumimoji="1" lang="zh-CN" altLang="en-US" sz="2800" b="0" i="0" dirty="0">
                <a:latin typeface="+mn-lt"/>
                <a:ea typeface="微软雅黑" panose="020B0503020204020204" pitchFamily="34" charset="-122"/>
              </a:rPr>
              <a:t>＝</a:t>
            </a:r>
            <a:r>
              <a:rPr kumimoji="1" lang="en-US" altLang="zh-CN" sz="2800" b="0" i="0" dirty="0">
                <a:latin typeface="+mn-lt"/>
                <a:ea typeface="微软雅黑" panose="020B0503020204020204" pitchFamily="34" charset="-122"/>
              </a:rPr>
              <a:t>(0.9</a:t>
            </a:r>
            <a:r>
              <a:rPr kumimoji="1" lang="zh-CN" altLang="en-US" sz="2800" b="0" i="0" dirty="0">
                <a:latin typeface="+mn-lt"/>
                <a:ea typeface="微软雅黑" panose="020B0503020204020204" pitchFamily="34" charset="-122"/>
              </a:rPr>
              <a:t>～</a:t>
            </a:r>
            <a:r>
              <a:rPr kumimoji="1" lang="en-US" altLang="zh-CN" sz="2800" b="0" i="0" dirty="0">
                <a:latin typeface="+mn-lt"/>
                <a:ea typeface="微软雅黑" panose="020B0503020204020204" pitchFamily="34" charset="-122"/>
              </a:rPr>
              <a:t>1.5)[</a:t>
            </a:r>
            <a:r>
              <a:rPr kumimoji="1" lang="en-US" altLang="zh-CN" sz="2800" b="0" dirty="0">
                <a:latin typeface="+mn-lt"/>
                <a:ea typeface="微软雅黑" panose="020B0503020204020204" pitchFamily="34" charset="-122"/>
                <a:sym typeface="Symbol" panose="05050102010706020507" pitchFamily="18" charset="2"/>
              </a:rPr>
              <a:t> </a:t>
            </a:r>
            <a:r>
              <a:rPr kumimoji="1" lang="en-US" altLang="zh-CN" sz="2800" b="0" i="0" dirty="0">
                <a:latin typeface="+mn-lt"/>
                <a:ea typeface="微软雅黑" panose="020B0503020204020204" pitchFamily="34" charset="-122"/>
              </a:rPr>
              <a:t>]</a:t>
            </a:r>
          </a:p>
          <a:p>
            <a:pPr lvl="0">
              <a:lnSpc>
                <a:spcPct val="130000"/>
              </a:lnSpc>
            </a:pPr>
            <a:r>
              <a:rPr kumimoji="1" lang="en-US" altLang="zh-CN" sz="2800" i="0" dirty="0">
                <a:latin typeface="+mn-lt"/>
                <a:ea typeface="微软雅黑" panose="020B0503020204020204" pitchFamily="34" charset="-122"/>
              </a:rPr>
              <a:t>        </a:t>
            </a:r>
            <a:r>
              <a:rPr kumimoji="1" lang="zh-CN" altLang="en-US" sz="2800" i="0" dirty="0">
                <a:latin typeface="+mn-lt"/>
                <a:ea typeface="微软雅黑" panose="020B0503020204020204" pitchFamily="34" charset="-122"/>
              </a:rPr>
              <a:t>必须注意，如果两个相互挤压构件的材料不同，则应对材料强度较小的构件进行计算。</a:t>
            </a:r>
          </a:p>
          <a:p>
            <a:pPr algn="just">
              <a:lnSpc>
                <a:spcPct val="120000"/>
              </a:lnSpc>
            </a:pPr>
            <a:endParaRPr kumimoji="1" lang="zh-CN" altLang="en-US" sz="2800" i="0" dirty="0">
              <a:latin typeface="微软雅黑" panose="020B0503020204020204" pitchFamily="34" charset="-122"/>
              <a:ea typeface="微软雅黑" panose="020B0503020204020204" pitchFamily="34" charset="-122"/>
            </a:endParaRPr>
          </a:p>
        </p:txBody>
      </p:sp>
      <p:graphicFrame>
        <p:nvGraphicFramePr>
          <p:cNvPr id="6" name="Object 8">
            <a:extLst>
              <a:ext uri="{FF2B5EF4-FFF2-40B4-BE49-F238E27FC236}">
                <a16:creationId xmlns:a16="http://schemas.microsoft.com/office/drawing/2014/main" id="{20FFA528-DAD8-B43D-23ED-CD9B70517C22}"/>
              </a:ext>
            </a:extLst>
          </p:cNvPr>
          <p:cNvGraphicFramePr>
            <a:graphicFrameLocks noChangeAspect="1"/>
          </p:cNvGraphicFramePr>
          <p:nvPr>
            <p:extLst>
              <p:ext uri="{D42A27DB-BD31-4B8C-83A1-F6EECF244321}">
                <p14:modId xmlns:p14="http://schemas.microsoft.com/office/powerpoint/2010/main" val="2008115978"/>
              </p:ext>
            </p:extLst>
          </p:nvPr>
        </p:nvGraphicFramePr>
        <p:xfrm>
          <a:off x="3789363" y="1700808"/>
          <a:ext cx="2309361" cy="1042648"/>
        </p:xfrm>
        <a:graphic>
          <a:graphicData uri="http://schemas.openxmlformats.org/presentationml/2006/ole">
            <mc:AlternateContent xmlns:mc="http://schemas.openxmlformats.org/markup-compatibility/2006">
              <mc:Choice xmlns:v="urn:schemas-microsoft-com:vml" Requires="v">
                <p:oleObj name="Equation" r:id="rId4" imgW="1028520" imgH="469800" progId="Equation.DSMT4">
                  <p:embed/>
                </p:oleObj>
              </mc:Choice>
              <mc:Fallback>
                <p:oleObj name="Equation" r:id="rId4" imgW="1028520" imgH="469800" progId="Equation.DSMT4">
                  <p:embed/>
                  <p:pic>
                    <p:nvPicPr>
                      <p:cNvPr id="6" name="Object 8">
                        <a:extLst>
                          <a:ext uri="{FF2B5EF4-FFF2-40B4-BE49-F238E27FC236}">
                            <a16:creationId xmlns:a16="http://schemas.microsoft.com/office/drawing/2014/main" id="{20FFA528-DAD8-B43D-23ED-CD9B70517C22}"/>
                          </a:ext>
                        </a:extLst>
                      </p:cNvPr>
                      <p:cNvPicPr>
                        <a:picLocks noChangeAspect="1" noChangeArrowheads="1"/>
                      </p:cNvPicPr>
                      <p:nvPr/>
                    </p:nvPicPr>
                    <p:blipFill>
                      <a:blip r:embed="rId5"/>
                      <a:srcRect/>
                      <a:stretch>
                        <a:fillRect/>
                      </a:stretch>
                    </p:blipFill>
                    <p:spPr bwMode="auto">
                      <a:xfrm>
                        <a:off x="3789363" y="1700808"/>
                        <a:ext cx="2309361" cy="1042648"/>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327203472"/>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left)">
                                      <p:cBhvr>
                                        <p:cTn id="11" dur="5000"/>
                                        <p:tgtEl>
                                          <p:spTgt spid="6"/>
                                        </p:tgtEl>
                                      </p:cBhvr>
                                    </p:animEffect>
                                  </p:childTnLst>
                                  <p:subTnLst>
                                    <p:audio>
                                      <p:cMediaNode>
                                        <p:cTn display="0" masterRel="sameClick">
                                          <p:stCondLst>
                                            <p:cond evt="begin" delay="0">
                                              <p:tn val="9"/>
                                            </p:cond>
                                          </p:stCondLst>
                                          <p:endCondLst>
                                            <p:cond evt="onStopAudio" delay="0">
                                              <p:tgtEl>
                                                <p:sldTgt/>
                                              </p:tgtEl>
                                            </p:cond>
                                          </p:endCondLst>
                                        </p:cTn>
                                        <p:tgtEl>
                                          <p:sndTgt r:embed="rId3" name="CAMERA.WAV"/>
                                        </p:tgtEl>
                                      </p:cMediaNode>
                                    </p:audio>
                                  </p:sub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499"/>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utoUpdateAnimBg="0"/>
      <p:bldP spid="3" grpId="0" autoUpdateAnimBg="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711605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第八章   拉压、剪切与挤压的强度计算</a:t>
            </a:r>
          </a:p>
        </p:txBody>
      </p:sp>
      <p:sp>
        <p:nvSpPr>
          <p:cNvPr id="4" name="文本框 3">
            <a:extLst>
              <a:ext uri="{FF2B5EF4-FFF2-40B4-BE49-F238E27FC236}">
                <a16:creationId xmlns:a16="http://schemas.microsoft.com/office/drawing/2014/main" id="{106269AD-C750-6B12-0B71-39D394BAE624}"/>
              </a:ext>
            </a:extLst>
          </p:cNvPr>
          <p:cNvSpPr txBox="1"/>
          <p:nvPr/>
        </p:nvSpPr>
        <p:spPr>
          <a:xfrm>
            <a:off x="488944" y="980728"/>
            <a:ext cx="8775408" cy="497765"/>
          </a:xfrm>
          <a:prstGeom prst="rect">
            <a:avLst/>
          </a:prstGeom>
          <a:noFill/>
        </p:spPr>
        <p:txBody>
          <a:bodyPr wrap="square">
            <a:spAutoFit/>
          </a:bodyPr>
          <a:lstStyle/>
          <a:p>
            <a:pPr algn="l">
              <a:lnSpc>
                <a:spcPct val="120000"/>
              </a:lnSpc>
              <a:spcBef>
                <a:spcPct val="0"/>
              </a:spcBef>
              <a:buClrTx/>
              <a:buSzTx/>
              <a:buNone/>
            </a:pPr>
            <a:r>
              <a:rPr lang="zh-CN" altLang="en-US" i="0" dirty="0">
                <a:solidFill>
                  <a:srgbClr val="FF0000"/>
                </a:solidFill>
                <a:latin typeface="微软雅黑" panose="020B0503020204020204" pitchFamily="34" charset="-122"/>
                <a:ea typeface="微软雅黑" panose="020B0503020204020204" pitchFamily="34" charset="-122"/>
              </a:rPr>
              <a:t>课后作业：</a:t>
            </a:r>
            <a:r>
              <a:rPr lang="en-US" altLang="zh-CN" i="0" dirty="0">
                <a:solidFill>
                  <a:schemeClr val="tx1"/>
                </a:solidFill>
                <a:latin typeface="+mn-lt"/>
                <a:ea typeface="微软雅黑" panose="020B0503020204020204" pitchFamily="34" charset="-122"/>
              </a:rPr>
              <a:t>8-1(c)</a:t>
            </a:r>
            <a:r>
              <a:rPr lang="zh-CN" altLang="en-US" i="0" dirty="0">
                <a:solidFill>
                  <a:schemeClr val="tx1"/>
                </a:solidFill>
                <a:ea typeface="微软雅黑" panose="020B0503020204020204" pitchFamily="34" charset="-122"/>
              </a:rPr>
              <a:t> </a:t>
            </a:r>
            <a:r>
              <a:rPr lang="zh-CN" altLang="en-US" i="0" dirty="0">
                <a:solidFill>
                  <a:schemeClr val="tx1"/>
                </a:solidFill>
                <a:latin typeface="+mn-lt"/>
                <a:ea typeface="微软雅黑" panose="020B0503020204020204" pitchFamily="34" charset="-122"/>
              </a:rPr>
              <a:t>、</a:t>
            </a:r>
            <a:r>
              <a:rPr lang="en-US" altLang="zh-CN" i="0" dirty="0">
                <a:solidFill>
                  <a:schemeClr val="tx1"/>
                </a:solidFill>
                <a:latin typeface="+mn-lt"/>
                <a:ea typeface="微软雅黑" panose="020B0503020204020204" pitchFamily="34" charset="-122"/>
              </a:rPr>
              <a:t>8-3 </a:t>
            </a:r>
            <a:r>
              <a:rPr lang="zh-CN" altLang="en-US" i="0" dirty="0">
                <a:solidFill>
                  <a:schemeClr val="tx1"/>
                </a:solidFill>
                <a:latin typeface="+mn-lt"/>
                <a:ea typeface="微软雅黑" panose="020B0503020204020204" pitchFamily="34" charset="-122"/>
              </a:rPr>
              <a:t>、</a:t>
            </a:r>
            <a:r>
              <a:rPr lang="en-US" altLang="zh-CN" i="0" dirty="0">
                <a:solidFill>
                  <a:schemeClr val="tx1"/>
                </a:solidFill>
                <a:latin typeface="+mn-lt"/>
                <a:ea typeface="微软雅黑" panose="020B0503020204020204" pitchFamily="34" charset="-122"/>
              </a:rPr>
              <a:t>8-4</a:t>
            </a:r>
            <a:r>
              <a:rPr lang="zh-CN" altLang="en-US" i="0" dirty="0">
                <a:solidFill>
                  <a:schemeClr val="tx1"/>
                </a:solidFill>
                <a:latin typeface="+mn-lt"/>
                <a:ea typeface="微软雅黑" panose="020B0503020204020204" pitchFamily="34" charset="-122"/>
              </a:rPr>
              <a:t> 、</a:t>
            </a:r>
            <a:r>
              <a:rPr lang="en-US" altLang="zh-CN" i="0" dirty="0">
                <a:solidFill>
                  <a:schemeClr val="tx1"/>
                </a:solidFill>
                <a:latin typeface="+mn-lt"/>
                <a:ea typeface="微软雅黑" panose="020B0503020204020204" pitchFamily="34" charset="-122"/>
              </a:rPr>
              <a:t>8-8</a:t>
            </a:r>
            <a:r>
              <a:rPr lang="zh-CN" altLang="en-US" i="0" dirty="0">
                <a:solidFill>
                  <a:schemeClr val="tx1"/>
                </a:solidFill>
                <a:latin typeface="+mn-lt"/>
                <a:ea typeface="微软雅黑" panose="020B0503020204020204" pitchFamily="34" charset="-122"/>
              </a:rPr>
              <a:t> 、</a:t>
            </a:r>
            <a:r>
              <a:rPr lang="en-US" altLang="zh-CN" i="0" dirty="0">
                <a:solidFill>
                  <a:schemeClr val="tx1"/>
                </a:solidFill>
                <a:latin typeface="+mn-lt"/>
                <a:ea typeface="微软雅黑" panose="020B0503020204020204" pitchFamily="34" charset="-122"/>
              </a:rPr>
              <a:t>8-12</a:t>
            </a:r>
            <a:r>
              <a:rPr lang="zh-CN" altLang="en-US" i="0" dirty="0">
                <a:solidFill>
                  <a:schemeClr val="tx1"/>
                </a:solidFill>
                <a:ea typeface="微软雅黑" panose="020B0503020204020204" pitchFamily="34" charset="-122"/>
              </a:rPr>
              <a:t> </a:t>
            </a:r>
            <a:r>
              <a:rPr lang="zh-CN" altLang="en-US" i="0" dirty="0">
                <a:solidFill>
                  <a:schemeClr val="tx1"/>
                </a:solidFill>
                <a:latin typeface="+mn-lt"/>
                <a:ea typeface="微软雅黑" panose="020B0503020204020204" pitchFamily="34" charset="-122"/>
              </a:rPr>
              <a:t>、</a:t>
            </a:r>
            <a:r>
              <a:rPr lang="en-US" altLang="zh-CN" i="0" dirty="0">
                <a:solidFill>
                  <a:schemeClr val="tx1"/>
                </a:solidFill>
                <a:latin typeface="+mn-lt"/>
                <a:ea typeface="微软雅黑" panose="020B0503020204020204" pitchFamily="34" charset="-122"/>
              </a:rPr>
              <a:t>8-14</a:t>
            </a:r>
            <a:r>
              <a:rPr lang="zh-CN" altLang="en-US" i="0" dirty="0">
                <a:solidFill>
                  <a:schemeClr val="tx1"/>
                </a:solidFill>
                <a:latin typeface="+mn-lt"/>
                <a:ea typeface="微软雅黑" panose="020B0503020204020204" pitchFamily="34" charset="-122"/>
              </a:rPr>
              <a:t> 、</a:t>
            </a:r>
            <a:r>
              <a:rPr lang="en-US" altLang="zh-CN" i="0" dirty="0">
                <a:solidFill>
                  <a:schemeClr val="tx1"/>
                </a:solidFill>
                <a:latin typeface="+mn-lt"/>
                <a:ea typeface="微软雅黑" panose="020B0503020204020204" pitchFamily="34" charset="-122"/>
              </a:rPr>
              <a:t>8-15</a:t>
            </a:r>
            <a:r>
              <a:rPr lang="zh-CN" altLang="en-US" i="0" dirty="0">
                <a:solidFill>
                  <a:schemeClr val="tx1"/>
                </a:solidFill>
                <a:latin typeface="+mn-lt"/>
                <a:ea typeface="微软雅黑" panose="020B0503020204020204" pitchFamily="34" charset="-122"/>
              </a:rPr>
              <a:t>、</a:t>
            </a:r>
            <a:r>
              <a:rPr lang="en-US" altLang="zh-CN" i="0" dirty="0">
                <a:solidFill>
                  <a:schemeClr val="tx1"/>
                </a:solidFill>
                <a:latin typeface="+mn-lt"/>
                <a:ea typeface="微软雅黑" panose="020B0503020204020204" pitchFamily="34" charset="-122"/>
              </a:rPr>
              <a:t>8-17</a:t>
            </a:r>
            <a:endParaRPr lang="zh-CN" altLang="en-US" i="0" dirty="0">
              <a:solidFill>
                <a:schemeClr val="tx1"/>
              </a:solidFill>
              <a:latin typeface="+mn-lt"/>
              <a:ea typeface="黑体" panose="02010609060101010101" pitchFamily="49" charset="-122"/>
            </a:endParaRPr>
          </a:p>
        </p:txBody>
      </p:sp>
    </p:spTree>
    <p:extLst>
      <p:ext uri="{BB962C8B-B14F-4D97-AF65-F5344CB8AC3E}">
        <p14:creationId xmlns:p14="http://schemas.microsoft.com/office/powerpoint/2010/main" val="4215739300"/>
      </p:ext>
    </p:extLst>
  </p:cSld>
  <p:clrMapOvr>
    <a:masterClrMapping/>
  </p:clrMapOvr>
  <p:transition spd="slow"/>
</p:sld>
</file>

<file path=ppt/theme/theme1.xml><?xml version="1.0" encoding="utf-8"?>
<a:theme xmlns:a="http://schemas.openxmlformats.org/drawingml/2006/main" name="1_Update 10-8-02">
  <a:themeElements>
    <a:clrScheme name="Update 10-8-02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Update 10-8-02">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0" marR="0" indent="0" algn="ctr" defTabSz="914400" rtl="0" eaLnBrk="1" fontAlgn="base" latinLnBrk="0" hangingPunct="1">
          <a:lnSpc>
            <a:spcPct val="100000"/>
          </a:lnSpc>
          <a:spcBef>
            <a:spcPct val="0"/>
          </a:spcBef>
          <a:spcAft>
            <a:spcPct val="0"/>
          </a:spcAft>
          <a:buClrTx/>
          <a:buSzTx/>
          <a:buFontTx/>
          <a:buChar char="•"/>
          <a:tabLst/>
          <a:defRPr kumimoji="0" lang="zh-CN" altLang="en-US" sz="18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0" marR="0" indent="0" algn="ctr" defTabSz="914400" rtl="0" eaLnBrk="1" fontAlgn="base" latinLnBrk="0" hangingPunct="1">
          <a:lnSpc>
            <a:spcPct val="100000"/>
          </a:lnSpc>
          <a:spcBef>
            <a:spcPct val="0"/>
          </a:spcBef>
          <a:spcAft>
            <a:spcPct val="0"/>
          </a:spcAft>
          <a:buClrTx/>
          <a:buSzTx/>
          <a:buFontTx/>
          <a:buChar char="•"/>
          <a:tabLst/>
          <a:defRPr kumimoji="0" lang="zh-CN" altLang="en-US" sz="18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Update 10-8-02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Update 10-8-02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Update 10-8-02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Update 10-8-02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Update 10-8-02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Update 10-8-02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Update 10-8-02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13946</TotalTime>
  <Words>6922</Words>
  <Application>Microsoft Office PowerPoint</Application>
  <PresentationFormat>宽屏</PresentationFormat>
  <Paragraphs>821</Paragraphs>
  <Slides>64</Slides>
  <Notes>64</Notes>
  <HiddenSlides>0</HiddenSlides>
  <MMClips>12</MMClips>
  <ScaleCrop>false</ScaleCrop>
  <HeadingPairs>
    <vt:vector size="8" baseType="variant">
      <vt:variant>
        <vt:lpstr>已用的字体</vt:lpstr>
      </vt:variant>
      <vt:variant>
        <vt:i4>11</vt:i4>
      </vt:variant>
      <vt:variant>
        <vt:lpstr>主题</vt:lpstr>
      </vt:variant>
      <vt:variant>
        <vt:i4>3</vt:i4>
      </vt:variant>
      <vt:variant>
        <vt:lpstr>嵌入 OLE 服务器</vt:lpstr>
      </vt:variant>
      <vt:variant>
        <vt:i4>2</vt:i4>
      </vt:variant>
      <vt:variant>
        <vt:lpstr>幻灯片标题</vt:lpstr>
      </vt:variant>
      <vt:variant>
        <vt:i4>64</vt:i4>
      </vt:variant>
    </vt:vector>
  </HeadingPairs>
  <TitlesOfParts>
    <vt:vector size="80" baseType="lpstr">
      <vt:lpstr>黑体</vt:lpstr>
      <vt:lpstr>华文彩云</vt:lpstr>
      <vt:lpstr>宋体</vt:lpstr>
      <vt:lpstr>微软雅黑</vt:lpstr>
      <vt:lpstr>Arial</vt:lpstr>
      <vt:lpstr>Calibri</vt:lpstr>
      <vt:lpstr>Monotype Corsiva</vt:lpstr>
      <vt:lpstr>Symbol</vt:lpstr>
      <vt:lpstr>Times</vt:lpstr>
      <vt:lpstr>Times New Roman</vt:lpstr>
      <vt:lpstr>Wingdings</vt:lpstr>
      <vt:lpstr>1_Update 10-8-02</vt:lpstr>
      <vt:lpstr>自定义设计方案</vt:lpstr>
      <vt:lpstr>1_自定义设计方案</vt:lpstr>
      <vt:lpstr>公式</vt:lpstr>
      <vt:lpstr>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zjut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wsn</dc:creator>
  <cp:lastModifiedBy>吴 化平</cp:lastModifiedBy>
  <cp:revision>664</cp:revision>
  <dcterms:created xsi:type="dcterms:W3CDTF">2006-04-13T12:56:12Z</dcterms:created>
  <dcterms:modified xsi:type="dcterms:W3CDTF">2023-11-29T04:54:11Z</dcterms:modified>
</cp:coreProperties>
</file>