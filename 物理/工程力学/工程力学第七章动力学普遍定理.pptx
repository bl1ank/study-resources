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emf" ContentType="image/x-emf"/>
  <Default Extension="rels" ContentType="application/vnd.openxmlformats-package.relationships+xml"/>
  <Default Extension="xml" ContentType="application/xml"/>
  <Default Extension="wav" ContentType="audio/x-wav"/>
  <Default Extension="vml" ContentType="application/vnd.openxmlformats-officedocument.vmlDrawing"/>
  <Default Extension="mp4" ContentType="video/mp4"/>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slideLayouts/slideLayout1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2" r:id="rId1"/>
    <p:sldMasterId id="2147483676" r:id="rId2"/>
    <p:sldMasterId id="2147483678" r:id="rId3"/>
  </p:sldMasterIdLst>
  <p:notesMasterIdLst>
    <p:notesMasterId r:id="rId56"/>
  </p:notesMasterIdLst>
  <p:sldIdLst>
    <p:sldId id="602" r:id="rId4"/>
    <p:sldId id="754" r:id="rId5"/>
    <p:sldId id="755" r:id="rId6"/>
    <p:sldId id="756" r:id="rId7"/>
    <p:sldId id="757" r:id="rId8"/>
    <p:sldId id="758" r:id="rId9"/>
    <p:sldId id="801" r:id="rId10"/>
    <p:sldId id="760" r:id="rId11"/>
    <p:sldId id="761" r:id="rId12"/>
    <p:sldId id="762" r:id="rId13"/>
    <p:sldId id="763" r:id="rId14"/>
    <p:sldId id="764" r:id="rId15"/>
    <p:sldId id="803" r:id="rId16"/>
    <p:sldId id="766" r:id="rId17"/>
    <p:sldId id="765" r:id="rId18"/>
    <p:sldId id="767" r:id="rId19"/>
    <p:sldId id="768" r:id="rId20"/>
    <p:sldId id="804" r:id="rId21"/>
    <p:sldId id="805" r:id="rId22"/>
    <p:sldId id="806" r:id="rId23"/>
    <p:sldId id="807" r:id="rId24"/>
    <p:sldId id="808" r:id="rId25"/>
    <p:sldId id="809" r:id="rId26"/>
    <p:sldId id="769" r:id="rId27"/>
    <p:sldId id="802" r:id="rId28"/>
    <p:sldId id="771" r:id="rId29"/>
    <p:sldId id="772" r:id="rId30"/>
    <p:sldId id="773" r:id="rId31"/>
    <p:sldId id="774" r:id="rId32"/>
    <p:sldId id="775" r:id="rId33"/>
    <p:sldId id="776" r:id="rId34"/>
    <p:sldId id="777" r:id="rId35"/>
    <p:sldId id="778" r:id="rId36"/>
    <p:sldId id="780" r:id="rId37"/>
    <p:sldId id="781" r:id="rId38"/>
    <p:sldId id="782" r:id="rId39"/>
    <p:sldId id="783" r:id="rId40"/>
    <p:sldId id="784" r:id="rId41"/>
    <p:sldId id="785" r:id="rId42"/>
    <p:sldId id="787" r:id="rId43"/>
    <p:sldId id="788" r:id="rId44"/>
    <p:sldId id="789" r:id="rId45"/>
    <p:sldId id="790" r:id="rId46"/>
    <p:sldId id="792" r:id="rId47"/>
    <p:sldId id="791" r:id="rId48"/>
    <p:sldId id="793" r:id="rId49"/>
    <p:sldId id="794" r:id="rId50"/>
    <p:sldId id="795" r:id="rId51"/>
    <p:sldId id="796" r:id="rId52"/>
    <p:sldId id="797" r:id="rId53"/>
    <p:sldId id="799" r:id="rId54"/>
    <p:sldId id="800" r:id="rId55"/>
  </p:sldIdLst>
  <p:sldSz cx="12192000" cy="6858000"/>
  <p:notesSz cx="6858000" cy="9144000"/>
  <p:defaultTextStyle>
    <a:defPPr>
      <a:defRPr lang="zh-CN"/>
    </a:defPPr>
    <a:lvl1pPr algn="l" rtl="0" fontAlgn="base">
      <a:spcBef>
        <a:spcPct val="0"/>
      </a:spcBef>
      <a:spcAft>
        <a:spcPct val="0"/>
      </a:spcAft>
      <a:defRPr sz="2400" b="1" i="1" kern="1200">
        <a:solidFill>
          <a:srgbClr val="FF00FF"/>
        </a:solidFill>
        <a:latin typeface="Times New Roman" pitchFamily="18" charset="0"/>
        <a:ea typeface="宋体" pitchFamily="2" charset="-122"/>
        <a:cs typeface="+mn-cs"/>
      </a:defRPr>
    </a:lvl1pPr>
    <a:lvl2pPr marL="457200" algn="l" rtl="0" fontAlgn="base">
      <a:spcBef>
        <a:spcPct val="0"/>
      </a:spcBef>
      <a:spcAft>
        <a:spcPct val="0"/>
      </a:spcAft>
      <a:defRPr sz="2400" b="1" i="1" kern="1200">
        <a:solidFill>
          <a:srgbClr val="FF00FF"/>
        </a:solidFill>
        <a:latin typeface="Times New Roman" pitchFamily="18" charset="0"/>
        <a:ea typeface="宋体" pitchFamily="2" charset="-122"/>
        <a:cs typeface="+mn-cs"/>
      </a:defRPr>
    </a:lvl2pPr>
    <a:lvl3pPr marL="914400" algn="l" rtl="0" fontAlgn="base">
      <a:spcBef>
        <a:spcPct val="0"/>
      </a:spcBef>
      <a:spcAft>
        <a:spcPct val="0"/>
      </a:spcAft>
      <a:defRPr sz="2400" b="1" i="1" kern="1200">
        <a:solidFill>
          <a:srgbClr val="FF00FF"/>
        </a:solidFill>
        <a:latin typeface="Times New Roman" pitchFamily="18" charset="0"/>
        <a:ea typeface="宋体" pitchFamily="2" charset="-122"/>
        <a:cs typeface="+mn-cs"/>
      </a:defRPr>
    </a:lvl3pPr>
    <a:lvl4pPr marL="1371600" algn="l" rtl="0" fontAlgn="base">
      <a:spcBef>
        <a:spcPct val="0"/>
      </a:spcBef>
      <a:spcAft>
        <a:spcPct val="0"/>
      </a:spcAft>
      <a:defRPr sz="2400" b="1" i="1" kern="1200">
        <a:solidFill>
          <a:srgbClr val="FF00FF"/>
        </a:solidFill>
        <a:latin typeface="Times New Roman" pitchFamily="18" charset="0"/>
        <a:ea typeface="宋体" pitchFamily="2" charset="-122"/>
        <a:cs typeface="+mn-cs"/>
      </a:defRPr>
    </a:lvl4pPr>
    <a:lvl5pPr marL="1828800" algn="l" rtl="0" fontAlgn="base">
      <a:spcBef>
        <a:spcPct val="0"/>
      </a:spcBef>
      <a:spcAft>
        <a:spcPct val="0"/>
      </a:spcAft>
      <a:defRPr sz="2400" b="1" i="1" kern="1200">
        <a:solidFill>
          <a:srgbClr val="FF00FF"/>
        </a:solidFill>
        <a:latin typeface="Times New Roman" pitchFamily="18" charset="0"/>
        <a:ea typeface="宋体" pitchFamily="2" charset="-122"/>
        <a:cs typeface="+mn-cs"/>
      </a:defRPr>
    </a:lvl5pPr>
    <a:lvl6pPr marL="2286000" algn="l" defTabSz="914400" rtl="0" eaLnBrk="1" latinLnBrk="0" hangingPunct="1">
      <a:defRPr sz="2400" b="1" i="1" kern="1200">
        <a:solidFill>
          <a:srgbClr val="FF00FF"/>
        </a:solidFill>
        <a:latin typeface="Times New Roman" pitchFamily="18" charset="0"/>
        <a:ea typeface="宋体" pitchFamily="2" charset="-122"/>
        <a:cs typeface="+mn-cs"/>
      </a:defRPr>
    </a:lvl6pPr>
    <a:lvl7pPr marL="2743200" algn="l" defTabSz="914400" rtl="0" eaLnBrk="1" latinLnBrk="0" hangingPunct="1">
      <a:defRPr sz="2400" b="1" i="1" kern="1200">
        <a:solidFill>
          <a:srgbClr val="FF00FF"/>
        </a:solidFill>
        <a:latin typeface="Times New Roman" pitchFamily="18" charset="0"/>
        <a:ea typeface="宋体" pitchFamily="2" charset="-122"/>
        <a:cs typeface="+mn-cs"/>
      </a:defRPr>
    </a:lvl7pPr>
    <a:lvl8pPr marL="3200400" algn="l" defTabSz="914400" rtl="0" eaLnBrk="1" latinLnBrk="0" hangingPunct="1">
      <a:defRPr sz="2400" b="1" i="1" kern="1200">
        <a:solidFill>
          <a:srgbClr val="FF00FF"/>
        </a:solidFill>
        <a:latin typeface="Times New Roman" pitchFamily="18" charset="0"/>
        <a:ea typeface="宋体" pitchFamily="2" charset="-122"/>
        <a:cs typeface="+mn-cs"/>
      </a:defRPr>
    </a:lvl8pPr>
    <a:lvl9pPr marL="3657600" algn="l" defTabSz="914400" rtl="0" eaLnBrk="1" latinLnBrk="0" hangingPunct="1">
      <a:defRPr sz="2400" b="1" i="1" kern="1200">
        <a:solidFill>
          <a:srgbClr val="FF00FF"/>
        </a:solidFill>
        <a:latin typeface="Times New Roman" pitchFamily="18" charset="0"/>
        <a:ea typeface="宋体"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6633"/>
    <a:srgbClr val="FF00FF"/>
    <a:srgbClr val="4F81BD"/>
    <a:srgbClr val="993300"/>
    <a:srgbClr val="0000FF"/>
    <a:srgbClr val="B9CDE5"/>
    <a:srgbClr val="E9EDF4"/>
    <a:srgbClr val="CC0066"/>
    <a:srgbClr val="339933"/>
    <a:srgbClr val="33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007" autoAdjust="0"/>
    <p:restoredTop sz="87237" autoAdjust="0"/>
  </p:normalViewPr>
  <p:slideViewPr>
    <p:cSldViewPr>
      <p:cViewPr varScale="1">
        <p:scale>
          <a:sx n="78" d="100"/>
          <a:sy n="78" d="100"/>
        </p:scale>
        <p:origin x="120" y="870"/>
      </p:cViewPr>
      <p:guideLst>
        <p:guide orient="horz" pos="2160"/>
        <p:guide pos="3840"/>
      </p:guideLst>
    </p:cSldViewPr>
  </p:slideViewPr>
  <p:notesTextViewPr>
    <p:cViewPr>
      <p:scale>
        <a:sx n="100" d="100"/>
        <a:sy n="100" d="100"/>
      </p:scale>
      <p:origin x="0" y="0"/>
    </p:cViewPr>
  </p:notesTextViewPr>
  <p:sorterViewPr>
    <p:cViewPr>
      <p:scale>
        <a:sx n="66" d="100"/>
        <a:sy n="66" d="100"/>
      </p:scale>
      <p:origin x="0" y="4338"/>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slide" Target="slides/slide52.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viewProps" Target="viewProps.xml"/><Relationship Id="rId5" Type="http://schemas.openxmlformats.org/officeDocument/2006/relationships/slide" Target="slides/slide2.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notesMaster" Target="notesMasters/notesMaster1.xml"/><Relationship Id="rId8" Type="http://schemas.openxmlformats.org/officeDocument/2006/relationships/slide" Target="slides/slide5.xml"/><Relationship Id="rId51" Type="http://schemas.openxmlformats.org/officeDocument/2006/relationships/slide" Target="slides/slide48.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theme" Target="theme/theme1.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presProps" Target="presProps.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image" Target="../media/image6.wmf"/><Relationship Id="rId1" Type="http://schemas.openxmlformats.org/officeDocument/2006/relationships/image" Target="../media/image5.wmf"/><Relationship Id="rId4" Type="http://schemas.openxmlformats.org/officeDocument/2006/relationships/image" Target="../media/image8.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image" Target="../media/image10.wmf"/><Relationship Id="rId1" Type="http://schemas.openxmlformats.org/officeDocument/2006/relationships/image" Target="../media/image9.wmf"/><Relationship Id="rId4" Type="http://schemas.openxmlformats.org/officeDocument/2006/relationships/image" Target="../media/image12.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image" Target="../media/image13.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image" Target="../media/image16.wmf"/><Relationship Id="rId1" Type="http://schemas.openxmlformats.org/officeDocument/2006/relationships/image" Target="../media/image15.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image" Target="../media/image19.wmf"/><Relationship Id="rId1" Type="http://schemas.openxmlformats.org/officeDocument/2006/relationships/image" Target="../media/image18.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1.w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24.wmf"/><Relationship Id="rId1" Type="http://schemas.openxmlformats.org/officeDocument/2006/relationships/image" Target="../media/image23.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25.wmf"/><Relationship Id="rId2" Type="http://schemas.openxmlformats.org/officeDocument/2006/relationships/image" Target="../media/image10.wmf"/><Relationship Id="rId1" Type="http://schemas.openxmlformats.org/officeDocument/2006/relationships/image" Target="../media/image9.wmf"/><Relationship Id="rId6" Type="http://schemas.openxmlformats.org/officeDocument/2006/relationships/image" Target="../media/image28.wmf"/><Relationship Id="rId5" Type="http://schemas.openxmlformats.org/officeDocument/2006/relationships/image" Target="../media/image27.wmf"/><Relationship Id="rId4" Type="http://schemas.openxmlformats.org/officeDocument/2006/relationships/image" Target="../media/image26.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31.wmf"/><Relationship Id="rId2" Type="http://schemas.openxmlformats.org/officeDocument/2006/relationships/image" Target="../media/image30.wmf"/><Relationship Id="rId1" Type="http://schemas.openxmlformats.org/officeDocument/2006/relationships/image" Target="../media/image29.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34.wmf"/><Relationship Id="rId2" Type="http://schemas.openxmlformats.org/officeDocument/2006/relationships/image" Target="../media/image33.wmf"/><Relationship Id="rId1" Type="http://schemas.openxmlformats.org/officeDocument/2006/relationships/image" Target="../media/image32.wmf"/><Relationship Id="rId5" Type="http://schemas.openxmlformats.org/officeDocument/2006/relationships/image" Target="../media/image36.wmf"/><Relationship Id="rId4" Type="http://schemas.openxmlformats.org/officeDocument/2006/relationships/image" Target="../media/image35.wmf"/></Relationships>
</file>

<file path=ppt/drawings/_rels/vmlDrawing12.vml.rels><?xml version="1.0" encoding="UTF-8" standalone="yes"?>
<Relationships xmlns="http://schemas.openxmlformats.org/package/2006/relationships"><Relationship Id="rId2" Type="http://schemas.openxmlformats.org/officeDocument/2006/relationships/image" Target="../media/image38.wmf"/><Relationship Id="rId1" Type="http://schemas.openxmlformats.org/officeDocument/2006/relationships/image" Target="../media/image37.w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40.wmf"/><Relationship Id="rId2" Type="http://schemas.openxmlformats.org/officeDocument/2006/relationships/image" Target="../media/image39.wmf"/><Relationship Id="rId1" Type="http://schemas.openxmlformats.org/officeDocument/2006/relationships/image" Target="../media/image38.wmf"/><Relationship Id="rId4" Type="http://schemas.openxmlformats.org/officeDocument/2006/relationships/image" Target="../media/image41.w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44.wmf"/><Relationship Id="rId2" Type="http://schemas.openxmlformats.org/officeDocument/2006/relationships/image" Target="../media/image43.wmf"/><Relationship Id="rId1" Type="http://schemas.openxmlformats.org/officeDocument/2006/relationships/image" Target="../media/image42.wmf"/><Relationship Id="rId4" Type="http://schemas.openxmlformats.org/officeDocument/2006/relationships/image" Target="../media/image45.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46.wmf"/></Relationships>
</file>

<file path=ppt/drawings/_rels/vmlDrawing16.vml.rels><?xml version="1.0" encoding="UTF-8" standalone="yes"?>
<Relationships xmlns="http://schemas.openxmlformats.org/package/2006/relationships"><Relationship Id="rId2" Type="http://schemas.openxmlformats.org/officeDocument/2006/relationships/image" Target="../media/image48.wmf"/><Relationship Id="rId1" Type="http://schemas.openxmlformats.org/officeDocument/2006/relationships/image" Target="../media/image47.wmf"/></Relationships>
</file>

<file path=ppt/drawings/_rels/vmlDrawing17.vml.rels><?xml version="1.0" encoding="UTF-8" standalone="yes"?>
<Relationships xmlns="http://schemas.openxmlformats.org/package/2006/relationships"><Relationship Id="rId2" Type="http://schemas.openxmlformats.org/officeDocument/2006/relationships/image" Target="../media/image50.wmf"/><Relationship Id="rId1" Type="http://schemas.openxmlformats.org/officeDocument/2006/relationships/image" Target="../media/image49.w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51.w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52.w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54.w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55.wmf"/></Relationships>
</file>

<file path=ppt/drawings/_rels/vmlDrawing22.vml.rels><?xml version="1.0" encoding="UTF-8" standalone="yes"?>
<Relationships xmlns="http://schemas.openxmlformats.org/package/2006/relationships"><Relationship Id="rId3" Type="http://schemas.openxmlformats.org/officeDocument/2006/relationships/image" Target="../media/image58.wmf"/><Relationship Id="rId2" Type="http://schemas.openxmlformats.org/officeDocument/2006/relationships/image" Target="../media/image57.emf"/><Relationship Id="rId1" Type="http://schemas.openxmlformats.org/officeDocument/2006/relationships/image" Target="../media/image56.emf"/><Relationship Id="rId5" Type="http://schemas.openxmlformats.org/officeDocument/2006/relationships/image" Target="../media/image60.wmf"/><Relationship Id="rId4" Type="http://schemas.openxmlformats.org/officeDocument/2006/relationships/image" Target="../media/image59.wmf"/></Relationships>
</file>

<file path=ppt/drawings/_rels/vmlDrawing23.vml.rels><?xml version="1.0" encoding="UTF-8" standalone="yes"?>
<Relationships xmlns="http://schemas.openxmlformats.org/package/2006/relationships"><Relationship Id="rId3" Type="http://schemas.openxmlformats.org/officeDocument/2006/relationships/image" Target="../media/image64.wmf"/><Relationship Id="rId2" Type="http://schemas.openxmlformats.org/officeDocument/2006/relationships/image" Target="../media/image63.wmf"/><Relationship Id="rId1" Type="http://schemas.openxmlformats.org/officeDocument/2006/relationships/image" Target="../media/image62.wmf"/><Relationship Id="rId5" Type="http://schemas.openxmlformats.org/officeDocument/2006/relationships/image" Target="../media/image66.wmf"/><Relationship Id="rId4" Type="http://schemas.openxmlformats.org/officeDocument/2006/relationships/image" Target="../media/image65.w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69.wmf"/></Relationships>
</file>

<file path=ppt/drawings/_rels/vmlDrawing25.vml.rels><?xml version="1.0" encoding="UTF-8" standalone="yes"?>
<Relationships xmlns="http://schemas.openxmlformats.org/package/2006/relationships"><Relationship Id="rId2" Type="http://schemas.openxmlformats.org/officeDocument/2006/relationships/image" Target="../media/image71.wmf"/><Relationship Id="rId1" Type="http://schemas.openxmlformats.org/officeDocument/2006/relationships/image" Target="../media/image70.wmf"/></Relationships>
</file>

<file path=ppt/drawings/_rels/vmlDrawing26.vml.rels><?xml version="1.0" encoding="UTF-8" standalone="yes"?>
<Relationships xmlns="http://schemas.openxmlformats.org/package/2006/relationships"><Relationship Id="rId3" Type="http://schemas.openxmlformats.org/officeDocument/2006/relationships/image" Target="../media/image74.wmf"/><Relationship Id="rId2" Type="http://schemas.openxmlformats.org/officeDocument/2006/relationships/image" Target="../media/image73.wmf"/><Relationship Id="rId1" Type="http://schemas.openxmlformats.org/officeDocument/2006/relationships/image" Target="../media/image72.png"/><Relationship Id="rId4" Type="http://schemas.openxmlformats.org/officeDocument/2006/relationships/image" Target="../media/image75.wmf"/></Relationships>
</file>

<file path=ppt/drawings/_rels/vmlDrawing27.vml.rels><?xml version="1.0" encoding="UTF-8" standalone="yes"?>
<Relationships xmlns="http://schemas.openxmlformats.org/package/2006/relationships"><Relationship Id="rId2" Type="http://schemas.openxmlformats.org/officeDocument/2006/relationships/image" Target="../media/image78.wmf"/><Relationship Id="rId1" Type="http://schemas.openxmlformats.org/officeDocument/2006/relationships/image" Target="../media/image77.wmf"/></Relationships>
</file>

<file path=ppt/drawings/_rels/vmlDrawing28.vml.rels><?xml version="1.0" encoding="UTF-8" standalone="yes"?>
<Relationships xmlns="http://schemas.openxmlformats.org/package/2006/relationships"><Relationship Id="rId2" Type="http://schemas.openxmlformats.org/officeDocument/2006/relationships/image" Target="../media/image80.wmf"/><Relationship Id="rId1" Type="http://schemas.openxmlformats.org/officeDocument/2006/relationships/image" Target="../media/image79.wmf"/></Relationships>
</file>

<file path=ppt/drawings/_rels/vmlDrawing29.vml.rels><?xml version="1.0" encoding="UTF-8" standalone="yes"?>
<Relationships xmlns="http://schemas.openxmlformats.org/package/2006/relationships"><Relationship Id="rId3" Type="http://schemas.openxmlformats.org/officeDocument/2006/relationships/image" Target="../media/image83.wmf"/><Relationship Id="rId2" Type="http://schemas.openxmlformats.org/officeDocument/2006/relationships/image" Target="../media/image82.wmf"/><Relationship Id="rId1" Type="http://schemas.openxmlformats.org/officeDocument/2006/relationships/image" Target="../media/image81.wmf"/></Relationships>
</file>

<file path=ppt/drawings/_rels/vmlDrawing30.vml.rels><?xml version="1.0" encoding="UTF-8" standalone="yes"?>
<Relationships xmlns="http://schemas.openxmlformats.org/package/2006/relationships"><Relationship Id="rId2" Type="http://schemas.openxmlformats.org/officeDocument/2006/relationships/image" Target="../media/image86.wmf"/><Relationship Id="rId1" Type="http://schemas.openxmlformats.org/officeDocument/2006/relationships/image" Target="../media/image85.wmf"/></Relationships>
</file>

<file path=ppt/drawings/_rels/vmlDrawing31.vml.rels><?xml version="1.0" encoding="UTF-8" standalone="yes"?>
<Relationships xmlns="http://schemas.openxmlformats.org/package/2006/relationships"><Relationship Id="rId1" Type="http://schemas.openxmlformats.org/officeDocument/2006/relationships/image" Target="../media/image87.wmf"/></Relationships>
</file>

<file path=ppt/drawings/_rels/vmlDrawing32.vml.rels><?xml version="1.0" encoding="UTF-8" standalone="yes"?>
<Relationships xmlns="http://schemas.openxmlformats.org/package/2006/relationships"><Relationship Id="rId3" Type="http://schemas.openxmlformats.org/officeDocument/2006/relationships/image" Target="../media/image90.wmf"/><Relationship Id="rId2" Type="http://schemas.openxmlformats.org/officeDocument/2006/relationships/image" Target="../media/image89.wmf"/><Relationship Id="rId1" Type="http://schemas.openxmlformats.org/officeDocument/2006/relationships/image" Target="../media/image88.wmf"/><Relationship Id="rId6" Type="http://schemas.openxmlformats.org/officeDocument/2006/relationships/image" Target="../media/image93.wmf"/><Relationship Id="rId5" Type="http://schemas.openxmlformats.org/officeDocument/2006/relationships/image" Target="../media/image92.wmf"/><Relationship Id="rId4" Type="http://schemas.openxmlformats.org/officeDocument/2006/relationships/image" Target="../media/image91.wmf"/></Relationships>
</file>

<file path=ppt/drawings/_rels/vmlDrawing33.vml.rels><?xml version="1.0" encoding="UTF-8" standalone="yes"?>
<Relationships xmlns="http://schemas.openxmlformats.org/package/2006/relationships"><Relationship Id="rId3" Type="http://schemas.openxmlformats.org/officeDocument/2006/relationships/image" Target="../media/image95.wmf"/><Relationship Id="rId2" Type="http://schemas.openxmlformats.org/officeDocument/2006/relationships/image" Target="../media/image94.wmf"/><Relationship Id="rId1" Type="http://schemas.openxmlformats.org/officeDocument/2006/relationships/image" Target="../media/image93.wmf"/></Relationships>
</file>

<file path=ppt/drawings/_rels/vmlDrawing34.vml.rels><?xml version="1.0" encoding="UTF-8" standalone="yes"?>
<Relationships xmlns="http://schemas.openxmlformats.org/package/2006/relationships"><Relationship Id="rId1" Type="http://schemas.openxmlformats.org/officeDocument/2006/relationships/image" Target="../media/image96.wmf"/></Relationships>
</file>

<file path=ppt/drawings/_rels/vmlDrawing35.vml.rels><?xml version="1.0" encoding="UTF-8" standalone="yes"?>
<Relationships xmlns="http://schemas.openxmlformats.org/package/2006/relationships"><Relationship Id="rId2" Type="http://schemas.openxmlformats.org/officeDocument/2006/relationships/image" Target="../media/image98.emf"/><Relationship Id="rId1" Type="http://schemas.openxmlformats.org/officeDocument/2006/relationships/image" Target="../media/image97.wmf"/></Relationships>
</file>

<file path=ppt/drawings/_rels/vmlDrawing36.vml.rels><?xml version="1.0" encoding="UTF-8" standalone="yes"?>
<Relationships xmlns="http://schemas.openxmlformats.org/package/2006/relationships"><Relationship Id="rId3" Type="http://schemas.openxmlformats.org/officeDocument/2006/relationships/image" Target="../media/image103.wmf"/><Relationship Id="rId2" Type="http://schemas.openxmlformats.org/officeDocument/2006/relationships/image" Target="../media/image102.wmf"/><Relationship Id="rId1" Type="http://schemas.openxmlformats.org/officeDocument/2006/relationships/image" Target="../media/image101.wmf"/><Relationship Id="rId4" Type="http://schemas.openxmlformats.org/officeDocument/2006/relationships/image" Target="../media/image104.wmf"/></Relationships>
</file>

<file path=ppt/drawings/_rels/vmlDrawing37.vml.rels><?xml version="1.0" encoding="UTF-8" standalone="yes"?>
<Relationships xmlns="http://schemas.openxmlformats.org/package/2006/relationships"><Relationship Id="rId2" Type="http://schemas.openxmlformats.org/officeDocument/2006/relationships/image" Target="../media/image106.wmf"/><Relationship Id="rId1" Type="http://schemas.openxmlformats.org/officeDocument/2006/relationships/image" Target="../media/image105.wmf"/></Relationships>
</file>

<file path=ppt/drawings/_rels/vmlDrawing38.vml.rels><?xml version="1.0" encoding="UTF-8" standalone="yes"?>
<Relationships xmlns="http://schemas.openxmlformats.org/package/2006/relationships"><Relationship Id="rId3" Type="http://schemas.openxmlformats.org/officeDocument/2006/relationships/image" Target="../media/image109.wmf"/><Relationship Id="rId2" Type="http://schemas.openxmlformats.org/officeDocument/2006/relationships/image" Target="../media/image108.wmf"/><Relationship Id="rId1" Type="http://schemas.openxmlformats.org/officeDocument/2006/relationships/image" Target="../media/image107.wmf"/></Relationships>
</file>

<file path=ppt/drawings/_rels/vmlDrawing39.vml.rels><?xml version="1.0" encoding="UTF-8" standalone="yes"?>
<Relationships xmlns="http://schemas.openxmlformats.org/package/2006/relationships"><Relationship Id="rId1" Type="http://schemas.openxmlformats.org/officeDocument/2006/relationships/image" Target="../media/image110.wmf"/></Relationships>
</file>

<file path=ppt/drawings/_rels/vmlDrawing40.vml.rels><?xml version="1.0" encoding="UTF-8" standalone="yes"?>
<Relationships xmlns="http://schemas.openxmlformats.org/package/2006/relationships"><Relationship Id="rId3" Type="http://schemas.openxmlformats.org/officeDocument/2006/relationships/image" Target="../media/image113.wmf"/><Relationship Id="rId2" Type="http://schemas.openxmlformats.org/officeDocument/2006/relationships/image" Target="../media/image112.wmf"/><Relationship Id="rId1" Type="http://schemas.openxmlformats.org/officeDocument/2006/relationships/image" Target="../media/image111.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3906"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b="0" i="0" smtClean="0">
                <a:solidFill>
                  <a:schemeClr val="tx1"/>
                </a:solidFill>
                <a:latin typeface="Arial" charset="0"/>
              </a:defRPr>
            </a:lvl1pPr>
          </a:lstStyle>
          <a:p>
            <a:pPr>
              <a:defRPr/>
            </a:pPr>
            <a:endParaRPr lang="en-US" altLang="zh-CN"/>
          </a:p>
        </p:txBody>
      </p:sp>
      <p:sp>
        <p:nvSpPr>
          <p:cNvPr id="123907"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b="0" i="0" smtClean="0">
                <a:solidFill>
                  <a:schemeClr val="tx1"/>
                </a:solidFill>
                <a:latin typeface="Arial" charset="0"/>
              </a:defRPr>
            </a:lvl1pPr>
          </a:lstStyle>
          <a:p>
            <a:pPr>
              <a:defRPr/>
            </a:pPr>
            <a:endParaRPr lang="en-US" altLang="zh-CN"/>
          </a:p>
        </p:txBody>
      </p:sp>
      <p:sp>
        <p:nvSpPr>
          <p:cNvPr id="46084"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23909"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123910"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b="0" i="0" smtClean="0">
                <a:solidFill>
                  <a:schemeClr val="tx1"/>
                </a:solidFill>
                <a:latin typeface="Arial" charset="0"/>
              </a:defRPr>
            </a:lvl1pPr>
          </a:lstStyle>
          <a:p>
            <a:pPr>
              <a:defRPr/>
            </a:pPr>
            <a:endParaRPr lang="en-US" altLang="zh-CN"/>
          </a:p>
        </p:txBody>
      </p:sp>
      <p:sp>
        <p:nvSpPr>
          <p:cNvPr id="123911"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b="0" i="0" smtClean="0">
                <a:solidFill>
                  <a:schemeClr val="tx1"/>
                </a:solidFill>
                <a:latin typeface="Arial" charset="0"/>
              </a:defRPr>
            </a:lvl1pPr>
          </a:lstStyle>
          <a:p>
            <a:pPr>
              <a:defRPr/>
            </a:pPr>
            <a:fld id="{0DFEE44B-64F7-4F5D-B160-0DBA82F94B7E}" type="slidenum">
              <a:rPr lang="en-US" altLang="zh-CN"/>
              <a:pPr>
                <a:defRPr/>
              </a:pPr>
              <a:t>‹#›</a:t>
            </a:fld>
            <a:endParaRPr lang="en-US" altLang="zh-CN"/>
          </a:p>
        </p:txBody>
      </p:sp>
    </p:spTree>
    <p:extLst>
      <p:ext uri="{BB962C8B-B14F-4D97-AF65-F5344CB8AC3E}">
        <p14:creationId xmlns:p14="http://schemas.microsoft.com/office/powerpoint/2010/main" val="15802379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1</a:t>
            </a:fld>
            <a:endParaRPr lang="en-US" altLang="zh-CN"/>
          </a:p>
        </p:txBody>
      </p:sp>
    </p:spTree>
    <p:extLst>
      <p:ext uri="{BB962C8B-B14F-4D97-AF65-F5344CB8AC3E}">
        <p14:creationId xmlns:p14="http://schemas.microsoft.com/office/powerpoint/2010/main" val="23961684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2</a:t>
            </a:fld>
            <a:endParaRPr lang="en-US" altLang="zh-CN"/>
          </a:p>
        </p:txBody>
      </p:sp>
    </p:spTree>
    <p:extLst>
      <p:ext uri="{BB962C8B-B14F-4D97-AF65-F5344CB8AC3E}">
        <p14:creationId xmlns:p14="http://schemas.microsoft.com/office/powerpoint/2010/main" val="1313817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3</a:t>
            </a:fld>
            <a:endParaRPr lang="en-US" altLang="zh-CN"/>
          </a:p>
        </p:txBody>
      </p:sp>
    </p:spTree>
    <p:extLst>
      <p:ext uri="{BB962C8B-B14F-4D97-AF65-F5344CB8AC3E}">
        <p14:creationId xmlns:p14="http://schemas.microsoft.com/office/powerpoint/2010/main" val="28348882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4</a:t>
            </a:fld>
            <a:endParaRPr lang="en-US" altLang="zh-CN"/>
          </a:p>
        </p:txBody>
      </p:sp>
    </p:spTree>
    <p:extLst>
      <p:ext uri="{BB962C8B-B14F-4D97-AF65-F5344CB8AC3E}">
        <p14:creationId xmlns:p14="http://schemas.microsoft.com/office/powerpoint/2010/main" val="9179410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5</a:t>
            </a:fld>
            <a:endParaRPr lang="en-US" altLang="zh-CN"/>
          </a:p>
        </p:txBody>
      </p:sp>
    </p:spTree>
    <p:extLst>
      <p:ext uri="{BB962C8B-B14F-4D97-AF65-F5344CB8AC3E}">
        <p14:creationId xmlns:p14="http://schemas.microsoft.com/office/powerpoint/2010/main" val="22331741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6</a:t>
            </a:fld>
            <a:endParaRPr lang="en-US" altLang="zh-CN"/>
          </a:p>
        </p:txBody>
      </p:sp>
    </p:spTree>
    <p:extLst>
      <p:ext uri="{BB962C8B-B14F-4D97-AF65-F5344CB8AC3E}">
        <p14:creationId xmlns:p14="http://schemas.microsoft.com/office/powerpoint/2010/main" val="32329449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7</a:t>
            </a:fld>
            <a:endParaRPr lang="en-US" altLang="zh-CN"/>
          </a:p>
        </p:txBody>
      </p:sp>
    </p:spTree>
    <p:extLst>
      <p:ext uri="{BB962C8B-B14F-4D97-AF65-F5344CB8AC3E}">
        <p14:creationId xmlns:p14="http://schemas.microsoft.com/office/powerpoint/2010/main" val="12706074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8</a:t>
            </a:fld>
            <a:endParaRPr lang="en-US" altLang="zh-CN"/>
          </a:p>
        </p:txBody>
      </p:sp>
    </p:spTree>
    <p:extLst>
      <p:ext uri="{BB962C8B-B14F-4D97-AF65-F5344CB8AC3E}">
        <p14:creationId xmlns:p14="http://schemas.microsoft.com/office/powerpoint/2010/main" val="40461291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9</a:t>
            </a:fld>
            <a:endParaRPr lang="en-US" altLang="zh-CN"/>
          </a:p>
        </p:txBody>
      </p:sp>
    </p:spTree>
    <p:extLst>
      <p:ext uri="{BB962C8B-B14F-4D97-AF65-F5344CB8AC3E}">
        <p14:creationId xmlns:p14="http://schemas.microsoft.com/office/powerpoint/2010/main" val="41119464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10</a:t>
            </a:fld>
            <a:endParaRPr lang="en-US" altLang="zh-CN"/>
          </a:p>
        </p:txBody>
      </p:sp>
    </p:spTree>
    <p:extLst>
      <p:ext uri="{BB962C8B-B14F-4D97-AF65-F5344CB8AC3E}">
        <p14:creationId xmlns:p14="http://schemas.microsoft.com/office/powerpoint/2010/main" val="7312246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11</a:t>
            </a:fld>
            <a:endParaRPr lang="en-US" altLang="zh-CN"/>
          </a:p>
        </p:txBody>
      </p:sp>
    </p:spTree>
    <p:extLst>
      <p:ext uri="{BB962C8B-B14F-4D97-AF65-F5344CB8AC3E}">
        <p14:creationId xmlns:p14="http://schemas.microsoft.com/office/powerpoint/2010/main" val="24677228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12</a:t>
            </a:fld>
            <a:endParaRPr lang="en-US" altLang="zh-CN"/>
          </a:p>
        </p:txBody>
      </p:sp>
    </p:spTree>
    <p:extLst>
      <p:ext uri="{BB962C8B-B14F-4D97-AF65-F5344CB8AC3E}">
        <p14:creationId xmlns:p14="http://schemas.microsoft.com/office/powerpoint/2010/main" val="9962773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13</a:t>
            </a:fld>
            <a:endParaRPr lang="en-US" altLang="zh-CN"/>
          </a:p>
        </p:txBody>
      </p:sp>
    </p:spTree>
    <p:extLst>
      <p:ext uri="{BB962C8B-B14F-4D97-AF65-F5344CB8AC3E}">
        <p14:creationId xmlns:p14="http://schemas.microsoft.com/office/powerpoint/2010/main" val="377043980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14</a:t>
            </a:fld>
            <a:endParaRPr lang="en-US" altLang="zh-CN"/>
          </a:p>
        </p:txBody>
      </p:sp>
    </p:spTree>
    <p:extLst>
      <p:ext uri="{BB962C8B-B14F-4D97-AF65-F5344CB8AC3E}">
        <p14:creationId xmlns:p14="http://schemas.microsoft.com/office/powerpoint/2010/main" val="34687298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15</a:t>
            </a:fld>
            <a:endParaRPr lang="en-US" altLang="zh-CN"/>
          </a:p>
        </p:txBody>
      </p:sp>
    </p:spTree>
    <p:extLst>
      <p:ext uri="{BB962C8B-B14F-4D97-AF65-F5344CB8AC3E}">
        <p14:creationId xmlns:p14="http://schemas.microsoft.com/office/powerpoint/2010/main" val="147441341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16</a:t>
            </a:fld>
            <a:endParaRPr lang="en-US" altLang="zh-CN"/>
          </a:p>
        </p:txBody>
      </p:sp>
    </p:spTree>
    <p:extLst>
      <p:ext uri="{BB962C8B-B14F-4D97-AF65-F5344CB8AC3E}">
        <p14:creationId xmlns:p14="http://schemas.microsoft.com/office/powerpoint/2010/main" val="79736857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17</a:t>
            </a:fld>
            <a:endParaRPr lang="en-US" altLang="zh-CN"/>
          </a:p>
        </p:txBody>
      </p:sp>
    </p:spTree>
    <p:extLst>
      <p:ext uri="{BB962C8B-B14F-4D97-AF65-F5344CB8AC3E}">
        <p14:creationId xmlns:p14="http://schemas.microsoft.com/office/powerpoint/2010/main" val="280980898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18</a:t>
            </a:fld>
            <a:endParaRPr lang="en-US" altLang="zh-CN"/>
          </a:p>
        </p:txBody>
      </p:sp>
    </p:spTree>
    <p:extLst>
      <p:ext uri="{BB962C8B-B14F-4D97-AF65-F5344CB8AC3E}">
        <p14:creationId xmlns:p14="http://schemas.microsoft.com/office/powerpoint/2010/main" val="164114712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19</a:t>
            </a:fld>
            <a:endParaRPr lang="en-US" altLang="zh-CN"/>
          </a:p>
        </p:txBody>
      </p:sp>
    </p:spTree>
    <p:extLst>
      <p:ext uri="{BB962C8B-B14F-4D97-AF65-F5344CB8AC3E}">
        <p14:creationId xmlns:p14="http://schemas.microsoft.com/office/powerpoint/2010/main" val="99955012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20</a:t>
            </a:fld>
            <a:endParaRPr lang="en-US" altLang="zh-CN"/>
          </a:p>
        </p:txBody>
      </p:sp>
    </p:spTree>
    <p:extLst>
      <p:ext uri="{BB962C8B-B14F-4D97-AF65-F5344CB8AC3E}">
        <p14:creationId xmlns:p14="http://schemas.microsoft.com/office/powerpoint/2010/main" val="228139499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21</a:t>
            </a:fld>
            <a:endParaRPr lang="en-US" altLang="zh-CN"/>
          </a:p>
        </p:txBody>
      </p:sp>
    </p:spTree>
    <p:extLst>
      <p:ext uri="{BB962C8B-B14F-4D97-AF65-F5344CB8AC3E}">
        <p14:creationId xmlns:p14="http://schemas.microsoft.com/office/powerpoint/2010/main" val="70943678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22</a:t>
            </a:fld>
            <a:endParaRPr lang="en-US" altLang="zh-CN"/>
          </a:p>
        </p:txBody>
      </p:sp>
    </p:spTree>
    <p:extLst>
      <p:ext uri="{BB962C8B-B14F-4D97-AF65-F5344CB8AC3E}">
        <p14:creationId xmlns:p14="http://schemas.microsoft.com/office/powerpoint/2010/main" val="246024579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23</a:t>
            </a:fld>
            <a:endParaRPr lang="en-US" altLang="zh-CN"/>
          </a:p>
        </p:txBody>
      </p:sp>
    </p:spTree>
    <p:extLst>
      <p:ext uri="{BB962C8B-B14F-4D97-AF65-F5344CB8AC3E}">
        <p14:creationId xmlns:p14="http://schemas.microsoft.com/office/powerpoint/2010/main" val="293545858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24</a:t>
            </a:fld>
            <a:endParaRPr lang="en-US" altLang="zh-CN"/>
          </a:p>
        </p:txBody>
      </p:sp>
    </p:spTree>
    <p:extLst>
      <p:ext uri="{BB962C8B-B14F-4D97-AF65-F5344CB8AC3E}">
        <p14:creationId xmlns:p14="http://schemas.microsoft.com/office/powerpoint/2010/main" val="274985244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25</a:t>
            </a:fld>
            <a:endParaRPr lang="en-US" altLang="zh-CN"/>
          </a:p>
        </p:txBody>
      </p:sp>
    </p:spTree>
    <p:extLst>
      <p:ext uri="{BB962C8B-B14F-4D97-AF65-F5344CB8AC3E}">
        <p14:creationId xmlns:p14="http://schemas.microsoft.com/office/powerpoint/2010/main" val="352853160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26</a:t>
            </a:fld>
            <a:endParaRPr lang="en-US" altLang="zh-CN"/>
          </a:p>
        </p:txBody>
      </p:sp>
    </p:spTree>
    <p:extLst>
      <p:ext uri="{BB962C8B-B14F-4D97-AF65-F5344CB8AC3E}">
        <p14:creationId xmlns:p14="http://schemas.microsoft.com/office/powerpoint/2010/main" val="54188137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27</a:t>
            </a:fld>
            <a:endParaRPr lang="en-US" altLang="zh-CN"/>
          </a:p>
        </p:txBody>
      </p:sp>
    </p:spTree>
    <p:extLst>
      <p:ext uri="{BB962C8B-B14F-4D97-AF65-F5344CB8AC3E}">
        <p14:creationId xmlns:p14="http://schemas.microsoft.com/office/powerpoint/2010/main" val="2140210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28</a:t>
            </a:fld>
            <a:endParaRPr lang="en-US" altLang="zh-CN"/>
          </a:p>
        </p:txBody>
      </p:sp>
    </p:spTree>
    <p:extLst>
      <p:ext uri="{BB962C8B-B14F-4D97-AF65-F5344CB8AC3E}">
        <p14:creationId xmlns:p14="http://schemas.microsoft.com/office/powerpoint/2010/main" val="208690356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29</a:t>
            </a:fld>
            <a:endParaRPr lang="en-US" altLang="zh-CN"/>
          </a:p>
        </p:txBody>
      </p:sp>
    </p:spTree>
    <p:extLst>
      <p:ext uri="{BB962C8B-B14F-4D97-AF65-F5344CB8AC3E}">
        <p14:creationId xmlns:p14="http://schemas.microsoft.com/office/powerpoint/2010/main" val="421508872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30</a:t>
            </a:fld>
            <a:endParaRPr lang="en-US" altLang="zh-CN"/>
          </a:p>
        </p:txBody>
      </p:sp>
    </p:spTree>
    <p:extLst>
      <p:ext uri="{BB962C8B-B14F-4D97-AF65-F5344CB8AC3E}">
        <p14:creationId xmlns:p14="http://schemas.microsoft.com/office/powerpoint/2010/main" val="9091761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31</a:t>
            </a:fld>
            <a:endParaRPr lang="en-US" altLang="zh-CN"/>
          </a:p>
        </p:txBody>
      </p:sp>
    </p:spTree>
    <p:extLst>
      <p:ext uri="{BB962C8B-B14F-4D97-AF65-F5344CB8AC3E}">
        <p14:creationId xmlns:p14="http://schemas.microsoft.com/office/powerpoint/2010/main" val="186308406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32</a:t>
            </a:fld>
            <a:endParaRPr lang="en-US" altLang="zh-CN"/>
          </a:p>
        </p:txBody>
      </p:sp>
    </p:spTree>
    <p:extLst>
      <p:ext uri="{BB962C8B-B14F-4D97-AF65-F5344CB8AC3E}">
        <p14:creationId xmlns:p14="http://schemas.microsoft.com/office/powerpoint/2010/main" val="111914687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33</a:t>
            </a:fld>
            <a:endParaRPr lang="en-US" altLang="zh-CN"/>
          </a:p>
        </p:txBody>
      </p:sp>
    </p:spTree>
    <p:extLst>
      <p:ext uri="{BB962C8B-B14F-4D97-AF65-F5344CB8AC3E}">
        <p14:creationId xmlns:p14="http://schemas.microsoft.com/office/powerpoint/2010/main" val="253811944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34</a:t>
            </a:fld>
            <a:endParaRPr lang="en-US" altLang="zh-CN"/>
          </a:p>
        </p:txBody>
      </p:sp>
    </p:spTree>
    <p:extLst>
      <p:ext uri="{BB962C8B-B14F-4D97-AF65-F5344CB8AC3E}">
        <p14:creationId xmlns:p14="http://schemas.microsoft.com/office/powerpoint/2010/main" val="106922252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35</a:t>
            </a:fld>
            <a:endParaRPr lang="en-US" altLang="zh-CN"/>
          </a:p>
        </p:txBody>
      </p:sp>
    </p:spTree>
    <p:extLst>
      <p:ext uri="{BB962C8B-B14F-4D97-AF65-F5344CB8AC3E}">
        <p14:creationId xmlns:p14="http://schemas.microsoft.com/office/powerpoint/2010/main" val="408760914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36</a:t>
            </a:fld>
            <a:endParaRPr lang="en-US" altLang="zh-CN"/>
          </a:p>
        </p:txBody>
      </p:sp>
    </p:spTree>
    <p:extLst>
      <p:ext uri="{BB962C8B-B14F-4D97-AF65-F5344CB8AC3E}">
        <p14:creationId xmlns:p14="http://schemas.microsoft.com/office/powerpoint/2010/main" val="125835353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37</a:t>
            </a:fld>
            <a:endParaRPr lang="en-US" altLang="zh-CN"/>
          </a:p>
        </p:txBody>
      </p:sp>
    </p:spTree>
    <p:extLst>
      <p:ext uri="{BB962C8B-B14F-4D97-AF65-F5344CB8AC3E}">
        <p14:creationId xmlns:p14="http://schemas.microsoft.com/office/powerpoint/2010/main" val="316681740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38</a:t>
            </a:fld>
            <a:endParaRPr lang="en-US" altLang="zh-CN"/>
          </a:p>
        </p:txBody>
      </p:sp>
    </p:spTree>
    <p:extLst>
      <p:ext uri="{BB962C8B-B14F-4D97-AF65-F5344CB8AC3E}">
        <p14:creationId xmlns:p14="http://schemas.microsoft.com/office/powerpoint/2010/main" val="195108801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39</a:t>
            </a:fld>
            <a:endParaRPr lang="en-US" altLang="zh-CN"/>
          </a:p>
        </p:txBody>
      </p:sp>
    </p:spTree>
    <p:extLst>
      <p:ext uri="{BB962C8B-B14F-4D97-AF65-F5344CB8AC3E}">
        <p14:creationId xmlns:p14="http://schemas.microsoft.com/office/powerpoint/2010/main" val="66895255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40</a:t>
            </a:fld>
            <a:endParaRPr lang="en-US" altLang="zh-CN"/>
          </a:p>
        </p:txBody>
      </p:sp>
    </p:spTree>
    <p:extLst>
      <p:ext uri="{BB962C8B-B14F-4D97-AF65-F5344CB8AC3E}">
        <p14:creationId xmlns:p14="http://schemas.microsoft.com/office/powerpoint/2010/main" val="418249987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41</a:t>
            </a:fld>
            <a:endParaRPr lang="en-US" altLang="zh-CN"/>
          </a:p>
        </p:txBody>
      </p:sp>
    </p:spTree>
    <p:extLst>
      <p:ext uri="{BB962C8B-B14F-4D97-AF65-F5344CB8AC3E}">
        <p14:creationId xmlns:p14="http://schemas.microsoft.com/office/powerpoint/2010/main" val="28309453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42</a:t>
            </a:fld>
            <a:endParaRPr lang="en-US" altLang="zh-CN"/>
          </a:p>
        </p:txBody>
      </p:sp>
    </p:spTree>
    <p:extLst>
      <p:ext uri="{BB962C8B-B14F-4D97-AF65-F5344CB8AC3E}">
        <p14:creationId xmlns:p14="http://schemas.microsoft.com/office/powerpoint/2010/main" val="10643214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43</a:t>
            </a:fld>
            <a:endParaRPr lang="en-US" altLang="zh-CN"/>
          </a:p>
        </p:txBody>
      </p:sp>
    </p:spTree>
    <p:extLst>
      <p:ext uri="{BB962C8B-B14F-4D97-AF65-F5344CB8AC3E}">
        <p14:creationId xmlns:p14="http://schemas.microsoft.com/office/powerpoint/2010/main" val="20127180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44</a:t>
            </a:fld>
            <a:endParaRPr lang="en-US" altLang="zh-CN"/>
          </a:p>
        </p:txBody>
      </p:sp>
    </p:spTree>
    <p:extLst>
      <p:ext uri="{BB962C8B-B14F-4D97-AF65-F5344CB8AC3E}">
        <p14:creationId xmlns:p14="http://schemas.microsoft.com/office/powerpoint/2010/main" val="169054133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45</a:t>
            </a:fld>
            <a:endParaRPr lang="en-US" altLang="zh-CN"/>
          </a:p>
        </p:txBody>
      </p:sp>
    </p:spTree>
    <p:extLst>
      <p:ext uri="{BB962C8B-B14F-4D97-AF65-F5344CB8AC3E}">
        <p14:creationId xmlns:p14="http://schemas.microsoft.com/office/powerpoint/2010/main" val="6920133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46</a:t>
            </a:fld>
            <a:endParaRPr lang="en-US" altLang="zh-CN"/>
          </a:p>
        </p:txBody>
      </p:sp>
    </p:spTree>
    <p:extLst>
      <p:ext uri="{BB962C8B-B14F-4D97-AF65-F5344CB8AC3E}">
        <p14:creationId xmlns:p14="http://schemas.microsoft.com/office/powerpoint/2010/main" val="26689000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47</a:t>
            </a:fld>
            <a:endParaRPr lang="en-US" altLang="zh-CN"/>
          </a:p>
        </p:txBody>
      </p:sp>
    </p:spTree>
    <p:extLst>
      <p:ext uri="{BB962C8B-B14F-4D97-AF65-F5344CB8AC3E}">
        <p14:creationId xmlns:p14="http://schemas.microsoft.com/office/powerpoint/2010/main" val="201276047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48</a:t>
            </a:fld>
            <a:endParaRPr lang="en-US" altLang="zh-CN"/>
          </a:p>
        </p:txBody>
      </p:sp>
    </p:spTree>
    <p:extLst>
      <p:ext uri="{BB962C8B-B14F-4D97-AF65-F5344CB8AC3E}">
        <p14:creationId xmlns:p14="http://schemas.microsoft.com/office/powerpoint/2010/main" val="43879922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49</a:t>
            </a:fld>
            <a:endParaRPr lang="en-US" altLang="zh-CN"/>
          </a:p>
        </p:txBody>
      </p:sp>
    </p:spTree>
    <p:extLst>
      <p:ext uri="{BB962C8B-B14F-4D97-AF65-F5344CB8AC3E}">
        <p14:creationId xmlns:p14="http://schemas.microsoft.com/office/powerpoint/2010/main" val="245764470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50</a:t>
            </a:fld>
            <a:endParaRPr lang="en-US" altLang="zh-CN"/>
          </a:p>
        </p:txBody>
      </p:sp>
    </p:spTree>
    <p:extLst>
      <p:ext uri="{BB962C8B-B14F-4D97-AF65-F5344CB8AC3E}">
        <p14:creationId xmlns:p14="http://schemas.microsoft.com/office/powerpoint/2010/main" val="346329527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51</a:t>
            </a:fld>
            <a:endParaRPr lang="en-US" altLang="zh-CN"/>
          </a:p>
        </p:txBody>
      </p:sp>
    </p:spTree>
    <p:extLst>
      <p:ext uri="{BB962C8B-B14F-4D97-AF65-F5344CB8AC3E}">
        <p14:creationId xmlns:p14="http://schemas.microsoft.com/office/powerpoint/2010/main" val="172392094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52</a:t>
            </a:fld>
            <a:endParaRPr lang="en-US" altLang="zh-CN"/>
          </a:p>
        </p:txBody>
      </p:sp>
    </p:spTree>
    <p:extLst>
      <p:ext uri="{BB962C8B-B14F-4D97-AF65-F5344CB8AC3E}">
        <p14:creationId xmlns:p14="http://schemas.microsoft.com/office/powerpoint/2010/main" val="7398509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a:prstGeom prst="rect">
            <a:avLst/>
          </a:prstGeom>
        </p:spPr>
        <p:txBody>
          <a:bodyPr/>
          <a:lstStyle>
            <a:lvl1pPr algn="ctr">
              <a:defRPr/>
            </a:lvl1p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Tree>
    <p:extLst>
      <p:ext uri="{BB962C8B-B14F-4D97-AF65-F5344CB8AC3E}">
        <p14:creationId xmlns:p14="http://schemas.microsoft.com/office/powerpoint/2010/main" val="2927003882"/>
      </p:ext>
    </p:extLst>
  </p:cSld>
  <p:clrMapOvr>
    <a:masterClrMapping/>
  </p:clrMapOvr>
  <p:transition spd="slow"/>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960000" y="1080000"/>
            <a:ext cx="10560000" cy="10800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960000" y="2160000"/>
            <a:ext cx="10560000" cy="41400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946798571"/>
      </p:ext>
    </p:extLst>
  </p:cSld>
  <p:clrMapOvr>
    <a:masterClrMapping/>
  </p:clrMapOvr>
  <p:transition spd="slow"/>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extLst>
      <p:ext uri="{BB962C8B-B14F-4D97-AF65-F5344CB8AC3E}">
        <p14:creationId xmlns:p14="http://schemas.microsoft.com/office/powerpoint/2010/main" val="728925802"/>
      </p:ext>
    </p:extLst>
  </p:cSld>
  <p:clrMapOvr>
    <a:masterClrMapping/>
  </p:clrMapOvr>
  <p:transition spd="slow"/>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960000" y="1080000"/>
            <a:ext cx="10560000" cy="10800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960000" y="2213865"/>
            <a:ext cx="5280000" cy="408613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nvPr>
        </p:nvSpPr>
        <p:spPr>
          <a:xfrm>
            <a:off x="6314120" y="2213866"/>
            <a:ext cx="5220581" cy="409545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2702511005"/>
      </p:ext>
    </p:extLst>
  </p:cSld>
  <p:clrMapOvr>
    <a:masterClrMapping/>
  </p:clrMapOvr>
  <p:transition spd="slow"/>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960000" y="1080000"/>
            <a:ext cx="10560000" cy="10800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995434" y="2213325"/>
            <a:ext cx="522058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995434" y="2933946"/>
            <a:ext cx="5220580" cy="333037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文本占位符 4"/>
          <p:cNvSpPr>
            <a:spLocks noGrp="1"/>
          </p:cNvSpPr>
          <p:nvPr>
            <p:ph type="body" sz="quarter" idx="3"/>
          </p:nvPr>
        </p:nvSpPr>
        <p:spPr>
          <a:xfrm>
            <a:off x="6370635" y="2213325"/>
            <a:ext cx="516057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6" name="内容占位符 5"/>
          <p:cNvSpPr>
            <a:spLocks noGrp="1"/>
          </p:cNvSpPr>
          <p:nvPr>
            <p:ph sz="quarter" idx="4"/>
          </p:nvPr>
        </p:nvSpPr>
        <p:spPr>
          <a:xfrm>
            <a:off x="6396034" y="2933945"/>
            <a:ext cx="5160573" cy="333037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4099860088"/>
      </p:ext>
    </p:extLst>
  </p:cSld>
  <p:clrMapOvr>
    <a:masterClrMapping/>
  </p:clrMapOvr>
  <p:transition spd="slow"/>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960000" y="1080000"/>
            <a:ext cx="10560000" cy="1080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923023355"/>
      </p:ext>
    </p:extLst>
  </p:cSld>
  <p:clrMapOvr>
    <a:masterClrMapping/>
  </p:clrMapOvr>
  <p:transition spd="slow"/>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06993251"/>
      </p:ext>
    </p:extLst>
  </p:cSld>
  <p:clrMapOvr>
    <a:masterClrMapping/>
  </p:clrMapOvr>
  <p:transition spd="slow"/>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960000" y="1080000"/>
            <a:ext cx="3840000" cy="1080000"/>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895867" y="1088740"/>
            <a:ext cx="6686533" cy="522058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982733" y="2213865"/>
            <a:ext cx="3840427" cy="4095454"/>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4018620146"/>
      </p:ext>
    </p:extLst>
  </p:cSld>
  <p:clrMapOvr>
    <a:masterClrMapping/>
  </p:clrMapOvr>
  <p:transition spd="slow"/>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69160"/>
            <a:ext cx="7315200" cy="566738"/>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1043735"/>
            <a:ext cx="7315200" cy="377595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459453"/>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630399069"/>
      </p:ext>
    </p:extLst>
  </p:cSld>
  <p:clrMapOvr>
    <a:masterClrMapping/>
  </p:clrMapOvr>
  <p:transition spd="slow"/>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960000" y="1080000"/>
            <a:ext cx="10560000" cy="1080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960000" y="2258871"/>
            <a:ext cx="10560000" cy="4041129"/>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440425338"/>
      </p:ext>
    </p:extLst>
  </p:cSld>
  <p:clrMapOvr>
    <a:masterClrMapping/>
  </p:clrMapOvr>
  <p:transition spd="slow"/>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256240" y="1072310"/>
            <a:ext cx="3360373" cy="5237010"/>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960000" y="1080000"/>
            <a:ext cx="7200000" cy="52200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682278293"/>
      </p:ext>
    </p:extLst>
  </p:cSld>
  <p:clrMapOvr>
    <a:masterClrMapping/>
  </p:clrMapOvr>
  <p:transition spd="slow"/>
</p:sldLayout>
</file>

<file path=ppt/slideLayouts/slideLayout12.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960000" y="1080000"/>
            <a:ext cx="10560000" cy="1080000"/>
          </a:xfrm>
          <a:prstGeom prst="rect">
            <a:avLst/>
          </a:prstGeom>
        </p:spPr>
        <p:txBody>
          <a:bodyPr/>
          <a:lstStyle/>
          <a:p>
            <a:r>
              <a:rPr lang="zh-CN" altLang="en-US" dirty="0"/>
              <a:t>单击此处编辑母版标题样式</a:t>
            </a:r>
          </a:p>
        </p:txBody>
      </p:sp>
      <p:sp>
        <p:nvSpPr>
          <p:cNvPr id="3" name="内容占位符 2"/>
          <p:cNvSpPr>
            <a:spLocks noGrp="1"/>
          </p:cNvSpPr>
          <p:nvPr>
            <p:ph sz="quarter" idx="1"/>
          </p:nvPr>
        </p:nvSpPr>
        <p:spPr>
          <a:xfrm>
            <a:off x="960826" y="2213866"/>
            <a:ext cx="5315193" cy="1935215"/>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quarter" idx="2"/>
          </p:nvPr>
        </p:nvSpPr>
        <p:spPr>
          <a:xfrm>
            <a:off x="6456040" y="2213865"/>
            <a:ext cx="5100568" cy="1957802"/>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内容占位符 4"/>
          <p:cNvSpPr>
            <a:spLocks noGrp="1"/>
          </p:cNvSpPr>
          <p:nvPr>
            <p:ph sz="quarter" idx="3"/>
          </p:nvPr>
        </p:nvSpPr>
        <p:spPr>
          <a:xfrm>
            <a:off x="978790" y="4265046"/>
            <a:ext cx="5297231" cy="20442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内容占位符 5"/>
          <p:cNvSpPr>
            <a:spLocks noGrp="1"/>
          </p:cNvSpPr>
          <p:nvPr>
            <p:ph sz="quarter" idx="4"/>
          </p:nvPr>
        </p:nvSpPr>
        <p:spPr>
          <a:xfrm>
            <a:off x="6456041" y="4284095"/>
            <a:ext cx="5100567" cy="198022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722978828"/>
      </p:ext>
    </p:extLst>
  </p:cSld>
  <p:clrMapOvr>
    <a:masterClrMapping/>
  </p:clrMapOvr>
  <p:transition spd="slow"/>
</p:sldLayout>
</file>

<file path=ppt/slideLayouts/slideLayout13.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960000" y="1080001"/>
            <a:ext cx="10560000" cy="518431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4194604936"/>
      </p:ext>
    </p:extLst>
  </p:cSld>
  <p:clrMapOvr>
    <a:masterClrMapping/>
  </p:clrMapOvr>
  <p:transition spd="slow"/>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2" name="Text Box 12"/>
          <p:cNvSpPr txBox="1">
            <a:spLocks noChangeArrowheads="1"/>
          </p:cNvSpPr>
          <p:nvPr userDrawn="1"/>
        </p:nvSpPr>
        <p:spPr bwMode="auto">
          <a:xfrm>
            <a:off x="2855640" y="1916832"/>
            <a:ext cx="6732748" cy="1107996"/>
          </a:xfrm>
          <a:prstGeom prst="rect">
            <a:avLst/>
          </a:prstGeom>
          <a:noFill/>
          <a:ln w="9525">
            <a:noFill/>
            <a:miter lim="800000"/>
            <a:headEnd/>
            <a:tailEnd/>
          </a:ln>
          <a:effectLst/>
        </p:spPr>
        <p:txBody>
          <a:bodyPr wrap="square">
            <a:spAutoFit/>
          </a:bodyPr>
          <a:lstStyle/>
          <a:p>
            <a:pPr>
              <a:defRPr/>
            </a:pPr>
            <a:r>
              <a:rPr kumimoji="1" lang="zh-CN" altLang="en-US" sz="6600" i="0" kern="2000" spc="600" baseline="0" dirty="0">
                <a:solidFill>
                  <a:srgbClr val="FF0000"/>
                </a:solidFill>
                <a:effectLst>
                  <a:outerShdw blurRad="38100" dist="38100" dir="2700000" algn="tl">
                    <a:srgbClr val="000000">
                      <a:alpha val="43137"/>
                    </a:srgbClr>
                  </a:outerShdw>
                </a:effectLst>
                <a:latin typeface="华文彩云" pitchFamily="2" charset="-122"/>
                <a:ea typeface="黑体" pitchFamily="2" charset="-122"/>
              </a:rPr>
              <a:t>工   程   力   学</a:t>
            </a:r>
            <a:endParaRPr kumimoji="1" lang="zh-CN" altLang="en-US" sz="6600" i="0" kern="2000" spc="600" baseline="0" dirty="0">
              <a:solidFill>
                <a:srgbClr val="FF0000"/>
              </a:solidFill>
              <a:effectLst>
                <a:outerShdw blurRad="38100" dist="38100" dir="2700000" algn="tl">
                  <a:srgbClr val="000000">
                    <a:alpha val="43137"/>
                  </a:srgbClr>
                </a:outerShdw>
              </a:effectLst>
              <a:ea typeface="黑体" pitchFamily="2" charset="-122"/>
            </a:endParaRPr>
          </a:p>
        </p:txBody>
      </p:sp>
      <p:sp>
        <p:nvSpPr>
          <p:cNvPr id="3" name="Text Box 12"/>
          <p:cNvSpPr txBox="1">
            <a:spLocks noChangeArrowheads="1"/>
          </p:cNvSpPr>
          <p:nvPr userDrawn="1"/>
        </p:nvSpPr>
        <p:spPr bwMode="auto">
          <a:xfrm>
            <a:off x="3071664" y="3356992"/>
            <a:ext cx="5868652"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Char char="•"/>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Char char="•"/>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Char char="•"/>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Char char="•"/>
              <a:defRPr sz="2800">
                <a:solidFill>
                  <a:schemeClr val="tx1"/>
                </a:solidFill>
                <a:latin typeface="Times New Roman" pitchFamily="18" charset="0"/>
                <a:ea typeface="宋体" pitchFamily="2" charset="-122"/>
              </a:defRPr>
            </a:lvl9pPr>
          </a:lstStyle>
          <a:p>
            <a:pPr eaLnBrk="1" hangingPunct="1">
              <a:defRPr/>
            </a:pPr>
            <a:r>
              <a:rPr kumimoji="1" lang="en-US" altLang="zh-CN" sz="5400" dirty="0">
                <a:solidFill>
                  <a:srgbClr val="0000FF"/>
                </a:solidFill>
                <a:latin typeface="Monotype Corsiva" pitchFamily="66" charset="0"/>
                <a:ea typeface="华文琥珀" pitchFamily="2" charset="-122"/>
              </a:rPr>
              <a:t>Engineering</a:t>
            </a:r>
            <a:r>
              <a:rPr kumimoji="1" lang="en-US" altLang="zh-CN" sz="5400" baseline="0" dirty="0">
                <a:solidFill>
                  <a:srgbClr val="0000FF"/>
                </a:solidFill>
                <a:latin typeface="Monotype Corsiva" pitchFamily="66" charset="0"/>
                <a:ea typeface="华文琥珀" pitchFamily="2" charset="-122"/>
              </a:rPr>
              <a:t> </a:t>
            </a:r>
            <a:r>
              <a:rPr kumimoji="1" lang="en-US" altLang="zh-CN" sz="5400" dirty="0">
                <a:solidFill>
                  <a:srgbClr val="0000FF"/>
                </a:solidFill>
                <a:latin typeface="Monotype Corsiva" pitchFamily="66" charset="0"/>
                <a:ea typeface="华文琥珀" pitchFamily="2" charset="-122"/>
              </a:rPr>
              <a:t>Mechanics</a:t>
            </a:r>
          </a:p>
        </p:txBody>
      </p:sp>
    </p:spTree>
    <p:extLst>
      <p:ext uri="{BB962C8B-B14F-4D97-AF65-F5344CB8AC3E}">
        <p14:creationId xmlns:p14="http://schemas.microsoft.com/office/powerpoint/2010/main" val="352965331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20535427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2.xml"/><Relationship Id="rId1" Type="http://schemas.openxmlformats.org/officeDocument/2006/relationships/slideLayout" Target="../slideLayouts/slideLayout14.xml"/><Relationship Id="rId4" Type="http://schemas.openxmlformats.org/officeDocument/2006/relationships/image" Target="../media/image3.png"/></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3.xml"/><Relationship Id="rId1"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31" name="Text Box 12"/>
          <p:cNvSpPr txBox="1">
            <a:spLocks noChangeArrowheads="1"/>
          </p:cNvSpPr>
          <p:nvPr/>
        </p:nvSpPr>
        <p:spPr bwMode="auto">
          <a:xfrm>
            <a:off x="1390651" y="1125538"/>
            <a:ext cx="10081683" cy="4679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lgn="ctr">
                <a:solidFill>
                  <a:srgbClr val="FF0000"/>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ctr" eaLnBrk="0" fontAlgn="base" hangingPunct="0">
              <a:spcBef>
                <a:spcPct val="0"/>
              </a:spcBef>
              <a:spcAft>
                <a:spcPct val="0"/>
              </a:spcAft>
              <a:buChar char="•"/>
              <a:defRPr>
                <a:solidFill>
                  <a:schemeClr val="tx1"/>
                </a:solidFill>
                <a:latin typeface="Arial" charset="0"/>
                <a:ea typeface="宋体" pitchFamily="2" charset="-122"/>
              </a:defRPr>
            </a:lvl6pPr>
            <a:lvl7pPr marL="2971800" indent="-228600" algn="ctr" eaLnBrk="0" fontAlgn="base" hangingPunct="0">
              <a:spcBef>
                <a:spcPct val="0"/>
              </a:spcBef>
              <a:spcAft>
                <a:spcPct val="0"/>
              </a:spcAft>
              <a:buChar char="•"/>
              <a:defRPr>
                <a:solidFill>
                  <a:schemeClr val="tx1"/>
                </a:solidFill>
                <a:latin typeface="Arial" charset="0"/>
                <a:ea typeface="宋体" pitchFamily="2" charset="-122"/>
              </a:defRPr>
            </a:lvl7pPr>
            <a:lvl8pPr marL="3429000" indent="-228600" algn="ctr" eaLnBrk="0" fontAlgn="base" hangingPunct="0">
              <a:spcBef>
                <a:spcPct val="0"/>
              </a:spcBef>
              <a:spcAft>
                <a:spcPct val="0"/>
              </a:spcAft>
              <a:buChar char="•"/>
              <a:defRPr>
                <a:solidFill>
                  <a:schemeClr val="tx1"/>
                </a:solidFill>
                <a:latin typeface="Arial" charset="0"/>
                <a:ea typeface="宋体" pitchFamily="2" charset="-122"/>
              </a:defRPr>
            </a:lvl8pPr>
            <a:lvl9pPr marL="3886200" indent="-228600" algn="ctr" eaLnBrk="0" fontAlgn="base" hangingPunct="0">
              <a:spcBef>
                <a:spcPct val="0"/>
              </a:spcBef>
              <a:spcAft>
                <a:spcPct val="0"/>
              </a:spcAft>
              <a:buChar char="•"/>
              <a:defRPr>
                <a:solidFill>
                  <a:schemeClr val="tx1"/>
                </a:solidFill>
                <a:latin typeface="Arial" charset="0"/>
                <a:ea typeface="宋体" pitchFamily="2" charset="-122"/>
              </a:defRPr>
            </a:lvl9pPr>
          </a:lstStyle>
          <a:p>
            <a:pPr>
              <a:spcBef>
                <a:spcPct val="50000"/>
              </a:spcBef>
              <a:defRPr/>
            </a:pPr>
            <a:endParaRPr lang="zh-CN" altLang="zh-CN" sz="2400">
              <a:latin typeface="Times" pitchFamily="18" charset="0"/>
            </a:endParaRPr>
          </a:p>
        </p:txBody>
      </p:sp>
      <p:sp>
        <p:nvSpPr>
          <p:cNvPr id="1027" name="Rectangle 16"/>
          <p:cNvSpPr>
            <a:spLocks noGrp="1" noChangeArrowheads="1"/>
          </p:cNvSpPr>
          <p:nvPr>
            <p:ph type="body" idx="1"/>
          </p:nvPr>
        </p:nvSpPr>
        <p:spPr bwMode="auto">
          <a:xfrm>
            <a:off x="960967" y="1079500"/>
            <a:ext cx="10560051" cy="5221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6" name="矩形 15"/>
          <p:cNvSpPr/>
          <p:nvPr userDrawn="1"/>
        </p:nvSpPr>
        <p:spPr bwMode="auto">
          <a:xfrm>
            <a:off x="-2117" y="6308726"/>
            <a:ext cx="12194117" cy="549275"/>
          </a:xfrm>
          <a:prstGeom prst="rect">
            <a:avLst/>
          </a:prstGeom>
          <a:solidFill>
            <a:srgbClr val="4F81B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21349" fontAlgn="auto">
              <a:spcBef>
                <a:spcPts val="0"/>
              </a:spcBef>
              <a:spcAft>
                <a:spcPts val="0"/>
              </a:spcAft>
              <a:defRPr/>
            </a:pPr>
            <a:endParaRPr lang="zh-CN" altLang="en-US" sz="2400"/>
          </a:p>
        </p:txBody>
      </p:sp>
      <p:sp>
        <p:nvSpPr>
          <p:cNvPr id="24" name="矩形 23"/>
          <p:cNvSpPr/>
          <p:nvPr userDrawn="1"/>
        </p:nvSpPr>
        <p:spPr bwMode="auto">
          <a:xfrm>
            <a:off x="1" y="-11113"/>
            <a:ext cx="8909550" cy="796907"/>
          </a:xfrm>
          <a:prstGeom prst="rect">
            <a:avLst/>
          </a:prstGeom>
          <a:solidFill>
            <a:srgbClr val="4F81B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21349" fontAlgn="auto">
              <a:spcBef>
                <a:spcPts val="0"/>
              </a:spcBef>
              <a:spcAft>
                <a:spcPts val="0"/>
              </a:spcAft>
              <a:defRPr/>
            </a:pPr>
            <a:endParaRPr lang="zh-CN" altLang="en-US" sz="2400"/>
          </a:p>
        </p:txBody>
      </p:sp>
      <p:sp>
        <p:nvSpPr>
          <p:cNvPr id="27" name="Text Box 12"/>
          <p:cNvSpPr txBox="1">
            <a:spLocks noChangeArrowheads="1"/>
          </p:cNvSpPr>
          <p:nvPr userDrawn="1"/>
        </p:nvSpPr>
        <p:spPr bwMode="auto">
          <a:xfrm>
            <a:off x="20520" y="50348"/>
            <a:ext cx="7011616" cy="7143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Times New Roman" pitchFamily="18" charset="0"/>
                <a:ea typeface="宋体" pitchFamily="2" charset="-122"/>
              </a:defRPr>
            </a:lvl1pPr>
            <a:lvl2pPr marL="742950" indent="-285750" eaLnBrk="0" hangingPunct="0">
              <a:defRPr>
                <a:solidFill>
                  <a:schemeClr val="tx1"/>
                </a:solidFill>
                <a:latin typeface="Times New Roman" pitchFamily="18" charset="0"/>
                <a:ea typeface="宋体" pitchFamily="2" charset="-122"/>
              </a:defRPr>
            </a:lvl2pPr>
            <a:lvl3pPr marL="1143000" indent="-228600" eaLnBrk="0" hangingPunct="0">
              <a:defRPr>
                <a:solidFill>
                  <a:schemeClr val="tx1"/>
                </a:solidFill>
                <a:latin typeface="Times New Roman" pitchFamily="18" charset="0"/>
                <a:ea typeface="宋体" pitchFamily="2" charset="-122"/>
              </a:defRPr>
            </a:lvl3pPr>
            <a:lvl4pPr marL="1600200" indent="-228600" eaLnBrk="0" hangingPunct="0">
              <a:defRPr>
                <a:solidFill>
                  <a:schemeClr val="tx1"/>
                </a:solidFill>
                <a:latin typeface="Times New Roman" pitchFamily="18" charset="0"/>
                <a:ea typeface="宋体" pitchFamily="2" charset="-122"/>
              </a:defRPr>
            </a:lvl4pPr>
            <a:lvl5pPr marL="2057400" indent="-228600" eaLnBrk="0" hangingPunct="0">
              <a:defRPr>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a:solidFill>
                  <a:schemeClr val="tx1"/>
                </a:solidFill>
                <a:latin typeface="Times New Roman" pitchFamily="18" charset="0"/>
                <a:ea typeface="宋体" pitchFamily="2" charset="-122"/>
              </a:defRPr>
            </a:lvl9pPr>
          </a:lstStyle>
          <a:p>
            <a:pPr algn="l" eaLnBrk="1" hangingPunct="1">
              <a:defRPr/>
            </a:pPr>
            <a:r>
              <a:rPr kumimoji="1" lang="zh-CN" altLang="en-US" sz="3200" i="0" dirty="0">
                <a:solidFill>
                  <a:srgbClr val="FFFFFF"/>
                </a:solidFill>
                <a:ea typeface="黑体" pitchFamily="49" charset="-122"/>
              </a:rPr>
              <a:t>      </a:t>
            </a:r>
            <a:endParaRPr kumimoji="1" lang="zh-CN" altLang="en-US" sz="3200" i="0" dirty="0">
              <a:solidFill>
                <a:srgbClr val="FFFFFF"/>
              </a:solidFill>
              <a:latin typeface="微软雅黑" panose="020B0503020204020204" pitchFamily="34" charset="-122"/>
              <a:ea typeface="微软雅黑" panose="020B0503020204020204" pitchFamily="34" charset="-122"/>
            </a:endParaRPr>
          </a:p>
        </p:txBody>
      </p:sp>
      <p:cxnSp>
        <p:nvCxnSpPr>
          <p:cNvPr id="15" name="直接连接符 14"/>
          <p:cNvCxnSpPr/>
          <p:nvPr userDrawn="1"/>
        </p:nvCxnSpPr>
        <p:spPr bwMode="auto">
          <a:xfrm>
            <a:off x="-2117" y="785794"/>
            <a:ext cx="12194117" cy="0"/>
          </a:xfrm>
          <a:prstGeom prst="line">
            <a:avLst/>
          </a:prstGeom>
          <a:solidFill>
            <a:srgbClr val="3366CC"/>
          </a:solidFill>
          <a:ln w="38100">
            <a:solidFill>
              <a:srgbClr val="4F81BD"/>
            </a:solidFill>
          </a:ln>
        </p:spPr>
        <p:style>
          <a:lnRef idx="1">
            <a:schemeClr val="accent1"/>
          </a:lnRef>
          <a:fillRef idx="0">
            <a:schemeClr val="accent1"/>
          </a:fillRef>
          <a:effectRef idx="0">
            <a:schemeClr val="accent1"/>
          </a:effectRef>
          <a:fontRef idx="minor">
            <a:schemeClr val="tx1"/>
          </a:fontRef>
        </p:style>
      </p:cxnSp>
      <p:pic>
        <p:nvPicPr>
          <p:cNvPr id="17" name="Picture 2" descr="http://www.jdxy.zjut.edu.cn/images/img_02.jpg"/>
          <p:cNvPicPr/>
          <p:nvPr userDrawn="1"/>
        </p:nvPicPr>
        <p:blipFill rotWithShape="1">
          <a:blip r:embed="rId15" cstate="print"/>
          <a:srcRect l="3571" r="6619"/>
          <a:stretch/>
        </p:blipFill>
        <p:spPr bwMode="auto">
          <a:xfrm>
            <a:off x="7183971" y="-16198"/>
            <a:ext cx="5000625" cy="785495"/>
          </a:xfrm>
          <a:prstGeom prst="rect">
            <a:avLst/>
          </a:prstGeom>
          <a:noFill/>
          <a:ln>
            <a:noFill/>
          </a:ln>
          <a:extLst>
            <a:ext uri="{53640926-AAD7-44D8-BBD7-CCE9431645EC}">
              <a14:shadowObscured xmlns:a14="http://schemas.microsoft.com/office/drawing/2010/main"/>
            </a:ext>
          </a:extLst>
        </p:spPr>
      </p:pic>
    </p:spTree>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 id="2147483691" r:id="rId11"/>
    <p:sldLayoutId id="2147483692" r:id="rId12"/>
    <p:sldLayoutId id="2147483693" r:id="rId13"/>
  </p:sldLayoutIdLst>
  <p:transition spd="slow"/>
  <p:txStyles>
    <p:titleStyle>
      <a:lvl1pPr marL="442913" indent="-442913" algn="l" rtl="0" eaLnBrk="0" fontAlgn="base" hangingPunct="0">
        <a:spcBef>
          <a:spcPct val="0"/>
        </a:spcBef>
        <a:spcAft>
          <a:spcPct val="0"/>
        </a:spcAft>
        <a:defRPr sz="3200" b="1">
          <a:solidFill>
            <a:srgbClr val="3333FF"/>
          </a:solidFill>
          <a:latin typeface="+mj-lt"/>
          <a:ea typeface="+mj-ea"/>
          <a:cs typeface="+mj-cs"/>
        </a:defRPr>
      </a:lvl1pPr>
      <a:lvl2pPr marL="442913" indent="-442913" algn="l" rtl="0" eaLnBrk="0" fontAlgn="base" hangingPunct="0">
        <a:spcBef>
          <a:spcPct val="0"/>
        </a:spcBef>
        <a:spcAft>
          <a:spcPct val="0"/>
        </a:spcAft>
        <a:defRPr sz="3200" b="1">
          <a:solidFill>
            <a:srgbClr val="3333FF"/>
          </a:solidFill>
          <a:latin typeface="Times New Roman" pitchFamily="18" charset="0"/>
          <a:ea typeface="宋体" pitchFamily="2" charset="-122"/>
        </a:defRPr>
      </a:lvl2pPr>
      <a:lvl3pPr marL="442913" indent="-442913" algn="l" rtl="0" eaLnBrk="0" fontAlgn="base" hangingPunct="0">
        <a:spcBef>
          <a:spcPct val="0"/>
        </a:spcBef>
        <a:spcAft>
          <a:spcPct val="0"/>
        </a:spcAft>
        <a:defRPr sz="3200" b="1">
          <a:solidFill>
            <a:srgbClr val="3333FF"/>
          </a:solidFill>
          <a:latin typeface="Times New Roman" pitchFamily="18" charset="0"/>
          <a:ea typeface="宋体" pitchFamily="2" charset="-122"/>
        </a:defRPr>
      </a:lvl3pPr>
      <a:lvl4pPr marL="442913" indent="-442913" algn="l" rtl="0" eaLnBrk="0" fontAlgn="base" hangingPunct="0">
        <a:spcBef>
          <a:spcPct val="0"/>
        </a:spcBef>
        <a:spcAft>
          <a:spcPct val="0"/>
        </a:spcAft>
        <a:defRPr sz="3200" b="1">
          <a:solidFill>
            <a:srgbClr val="3333FF"/>
          </a:solidFill>
          <a:latin typeface="Times New Roman" pitchFamily="18" charset="0"/>
          <a:ea typeface="宋体" pitchFamily="2" charset="-122"/>
        </a:defRPr>
      </a:lvl4pPr>
      <a:lvl5pPr marL="442913" indent="-442913" algn="l" rtl="0" eaLnBrk="0" fontAlgn="base" hangingPunct="0">
        <a:spcBef>
          <a:spcPct val="0"/>
        </a:spcBef>
        <a:spcAft>
          <a:spcPct val="0"/>
        </a:spcAft>
        <a:defRPr sz="3200" b="1">
          <a:solidFill>
            <a:srgbClr val="3333FF"/>
          </a:solidFill>
          <a:latin typeface="Times New Roman" pitchFamily="18" charset="0"/>
          <a:ea typeface="宋体" pitchFamily="2" charset="-122"/>
        </a:defRPr>
      </a:lvl5pPr>
      <a:lvl6pPr marL="900113" algn="l" rtl="0" fontAlgn="base">
        <a:spcBef>
          <a:spcPct val="0"/>
        </a:spcBef>
        <a:spcAft>
          <a:spcPct val="0"/>
        </a:spcAft>
        <a:defRPr sz="3200" b="1">
          <a:solidFill>
            <a:srgbClr val="3333FF"/>
          </a:solidFill>
          <a:latin typeface="Times New Roman" pitchFamily="18" charset="0"/>
          <a:ea typeface="宋体" pitchFamily="2" charset="-122"/>
        </a:defRPr>
      </a:lvl6pPr>
      <a:lvl7pPr marL="1357313" algn="l" rtl="0" fontAlgn="base">
        <a:spcBef>
          <a:spcPct val="0"/>
        </a:spcBef>
        <a:spcAft>
          <a:spcPct val="0"/>
        </a:spcAft>
        <a:defRPr sz="3200" b="1">
          <a:solidFill>
            <a:srgbClr val="3333FF"/>
          </a:solidFill>
          <a:latin typeface="Times New Roman" pitchFamily="18" charset="0"/>
          <a:ea typeface="宋体" pitchFamily="2" charset="-122"/>
        </a:defRPr>
      </a:lvl7pPr>
      <a:lvl8pPr marL="1814513" algn="l" rtl="0" fontAlgn="base">
        <a:spcBef>
          <a:spcPct val="0"/>
        </a:spcBef>
        <a:spcAft>
          <a:spcPct val="0"/>
        </a:spcAft>
        <a:defRPr sz="3200" b="1">
          <a:solidFill>
            <a:srgbClr val="3333FF"/>
          </a:solidFill>
          <a:latin typeface="Times New Roman" pitchFamily="18" charset="0"/>
          <a:ea typeface="宋体" pitchFamily="2" charset="-122"/>
        </a:defRPr>
      </a:lvl8pPr>
      <a:lvl9pPr marL="2271713" algn="l" rtl="0" fontAlgn="base">
        <a:spcBef>
          <a:spcPct val="0"/>
        </a:spcBef>
        <a:spcAft>
          <a:spcPct val="0"/>
        </a:spcAft>
        <a:defRPr sz="3200" b="1">
          <a:solidFill>
            <a:srgbClr val="3333FF"/>
          </a:solidFill>
          <a:latin typeface="Times New Roman" pitchFamily="18" charset="0"/>
          <a:ea typeface="宋体" pitchFamily="2" charset="-122"/>
        </a:defRPr>
      </a:lvl9pPr>
    </p:titleStyle>
    <p:bodyStyle>
      <a:lvl1pPr marL="342900" indent="-342900" algn="l" rtl="0" eaLnBrk="0" fontAlgn="base" hangingPunct="0">
        <a:spcBef>
          <a:spcPct val="30000"/>
        </a:spcBef>
        <a:spcAft>
          <a:spcPct val="0"/>
        </a:spcAft>
        <a:buClr>
          <a:schemeClr val="hlink"/>
        </a:buClr>
        <a:buSzPct val="62000"/>
        <a:buFont typeface="Wingdings" pitchFamily="2" charset="2"/>
        <a:buChar char="n"/>
        <a:defRPr sz="2000">
          <a:solidFill>
            <a:schemeClr val="tx1"/>
          </a:solidFill>
          <a:latin typeface="+mn-lt"/>
          <a:ea typeface="+mn-ea"/>
          <a:cs typeface="+mn-cs"/>
        </a:defRPr>
      </a:lvl1pPr>
      <a:lvl2pPr marL="742950" indent="-285750" algn="l" rtl="0" eaLnBrk="0" fontAlgn="base" hangingPunct="0">
        <a:spcBef>
          <a:spcPct val="30000"/>
        </a:spcBef>
        <a:spcAft>
          <a:spcPct val="0"/>
        </a:spcAft>
        <a:buClr>
          <a:schemeClr val="hlink"/>
        </a:buClr>
        <a:buSzPct val="62000"/>
        <a:buFont typeface="Wingdings" pitchFamily="2" charset="2"/>
        <a:buChar char="l"/>
        <a:defRPr sz="20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75000"/>
        <a:buFont typeface="Wingdings" pitchFamily="2" charset="2"/>
        <a:buChar char="à"/>
        <a:defRPr sz="2000">
          <a:solidFill>
            <a:schemeClr val="tx1"/>
          </a:solidFill>
          <a:latin typeface="+mn-lt"/>
          <a:ea typeface="+mn-ea"/>
        </a:defRPr>
      </a:lvl3pPr>
      <a:lvl4pPr marL="1600200" indent="-228600" algn="l" rtl="0" eaLnBrk="0" fontAlgn="base" hangingPunct="0">
        <a:spcBef>
          <a:spcPct val="20000"/>
        </a:spcBef>
        <a:spcAft>
          <a:spcPct val="0"/>
        </a:spcAft>
        <a:buSzPct val="100000"/>
        <a:buChar char="–"/>
        <a:defRPr sz="2000">
          <a:solidFill>
            <a:schemeClr val="tx1"/>
          </a:solidFill>
          <a:latin typeface="+mn-lt"/>
          <a:ea typeface="+mn-ea"/>
        </a:defRPr>
      </a:lvl4pPr>
      <a:lvl5pPr marL="2057400" indent="-228600" algn="l" rtl="0" eaLnBrk="0" fontAlgn="base" hangingPunct="0">
        <a:spcBef>
          <a:spcPct val="20000"/>
        </a:spcBef>
        <a:spcAft>
          <a:spcPct val="0"/>
        </a:spcAft>
        <a:buSzPct val="100000"/>
        <a:buChar char="»"/>
        <a:defRPr sz="2000">
          <a:solidFill>
            <a:schemeClr val="tx1"/>
          </a:solidFill>
          <a:latin typeface="+mn-lt"/>
          <a:ea typeface="+mn-ea"/>
        </a:defRPr>
      </a:lvl5pPr>
      <a:lvl6pPr marL="2514600" indent="-228600" algn="l" rtl="0" fontAlgn="base">
        <a:spcBef>
          <a:spcPct val="20000"/>
        </a:spcBef>
        <a:spcAft>
          <a:spcPct val="0"/>
        </a:spcAft>
        <a:buSzPct val="100000"/>
        <a:buChar char="»"/>
        <a:defRPr sz="2000">
          <a:solidFill>
            <a:schemeClr val="tx1"/>
          </a:solidFill>
          <a:latin typeface="+mn-lt"/>
          <a:ea typeface="+mn-ea"/>
        </a:defRPr>
      </a:lvl6pPr>
      <a:lvl7pPr marL="2971800" indent="-228600" algn="l" rtl="0" fontAlgn="base">
        <a:spcBef>
          <a:spcPct val="20000"/>
        </a:spcBef>
        <a:spcAft>
          <a:spcPct val="0"/>
        </a:spcAft>
        <a:buSzPct val="100000"/>
        <a:buChar char="»"/>
        <a:defRPr sz="2000">
          <a:solidFill>
            <a:schemeClr val="tx1"/>
          </a:solidFill>
          <a:latin typeface="+mn-lt"/>
          <a:ea typeface="+mn-ea"/>
        </a:defRPr>
      </a:lvl7pPr>
      <a:lvl8pPr marL="3429000" indent="-228600" algn="l" rtl="0" fontAlgn="base">
        <a:spcBef>
          <a:spcPct val="20000"/>
        </a:spcBef>
        <a:spcAft>
          <a:spcPct val="0"/>
        </a:spcAft>
        <a:buSzPct val="100000"/>
        <a:buChar char="»"/>
        <a:defRPr sz="2000">
          <a:solidFill>
            <a:schemeClr val="tx1"/>
          </a:solidFill>
          <a:latin typeface="+mn-lt"/>
          <a:ea typeface="+mn-ea"/>
        </a:defRPr>
      </a:lvl8pPr>
      <a:lvl9pPr marL="3886200" indent="-228600" algn="l" rtl="0" fontAlgn="base">
        <a:spcBef>
          <a:spcPct val="20000"/>
        </a:spcBef>
        <a:spcAft>
          <a:spcPct val="0"/>
        </a:spcAft>
        <a:buSzPct val="100000"/>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75FE3E41-3E3A-4598-854A-0ADDC3E3F895}" type="datetimeFigureOut">
              <a:rPr lang="zh-CN" altLang="en-US"/>
              <a:pPr>
                <a:defRPr/>
              </a:pPr>
              <a:t>2025/11/5</a:t>
            </a:fld>
            <a:endParaRPr lang="zh-CN" altLang="en-US"/>
          </a:p>
        </p:txBody>
      </p:sp>
      <p:sp>
        <p:nvSpPr>
          <p:cNvPr id="5" name="页脚占位符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zh-CN" altLang="en-US"/>
          </a:p>
        </p:txBody>
      </p:sp>
      <p:sp>
        <p:nvSpPr>
          <p:cNvPr id="6" name="灯片编号占位符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A7D69B51-3C8E-4B0D-9184-6356F897FB91}" type="slidenum">
              <a:rPr lang="zh-CN" altLang="en-US"/>
              <a:pPr>
                <a:defRPr/>
              </a:pPr>
              <a:t>‹#›</a:t>
            </a:fld>
            <a:endParaRPr lang="zh-CN" altLang="en-US"/>
          </a:p>
        </p:txBody>
      </p:sp>
      <p:pic>
        <p:nvPicPr>
          <p:cNvPr id="2053" name="Picture 63" descr="图片1"/>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t="36037" b="11566"/>
          <a:stretch>
            <a:fillRect/>
          </a:stretch>
        </p:blipFill>
        <p:spPr bwMode="auto">
          <a:xfrm>
            <a:off x="-8467" y="4579938"/>
            <a:ext cx="12200467" cy="2278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reeform 29"/>
          <p:cNvSpPr>
            <a:spLocks/>
          </p:cNvSpPr>
          <p:nvPr userDrawn="1"/>
        </p:nvSpPr>
        <p:spPr bwMode="gray">
          <a:xfrm>
            <a:off x="-2117" y="-1588"/>
            <a:ext cx="12206817" cy="4641851"/>
          </a:xfrm>
          <a:custGeom>
            <a:avLst/>
            <a:gdLst>
              <a:gd name="T0" fmla="*/ 2147483647 w 5767"/>
              <a:gd name="T1" fmla="*/ 2147483647 h 3128"/>
              <a:gd name="T2" fmla="*/ 2147483647 w 5767"/>
              <a:gd name="T3" fmla="*/ 2147483647 h 3128"/>
              <a:gd name="T4" fmla="*/ 2147483647 w 5767"/>
              <a:gd name="T5" fmla="*/ 2147483647 h 3128"/>
              <a:gd name="T6" fmla="*/ 2147483647 w 5767"/>
              <a:gd name="T7" fmla="*/ 2147483647 h 3128"/>
              <a:gd name="T8" fmla="*/ 2147483647 w 5767"/>
              <a:gd name="T9" fmla="*/ 2147483647 h 3128"/>
              <a:gd name="T10" fmla="*/ 2147483647 w 5767"/>
              <a:gd name="T11" fmla="*/ 2147483647 h 3128"/>
              <a:gd name="T12" fmla="*/ 2147483647 w 5767"/>
              <a:gd name="T13" fmla="*/ 0 h 3128"/>
              <a:gd name="T14" fmla="*/ 0 w 5767"/>
              <a:gd name="T15" fmla="*/ 2147483647 h 3128"/>
              <a:gd name="T16" fmla="*/ 2147483647 w 5767"/>
              <a:gd name="T17" fmla="*/ 2147483647 h 31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5767" h="3128">
                <a:moveTo>
                  <a:pt x="8" y="3103"/>
                </a:moveTo>
                <a:lnTo>
                  <a:pt x="2913" y="3102"/>
                </a:lnTo>
                <a:cubicBezTo>
                  <a:pt x="3054" y="3102"/>
                  <a:pt x="3012" y="3128"/>
                  <a:pt x="3143" y="3022"/>
                </a:cubicBezTo>
                <a:lnTo>
                  <a:pt x="3668" y="2460"/>
                </a:lnTo>
                <a:cubicBezTo>
                  <a:pt x="3832" y="2329"/>
                  <a:pt x="3809" y="2215"/>
                  <a:pt x="4129" y="2235"/>
                </a:cubicBezTo>
                <a:lnTo>
                  <a:pt x="5761" y="2235"/>
                </a:lnTo>
                <a:lnTo>
                  <a:pt x="5767" y="0"/>
                </a:lnTo>
                <a:lnTo>
                  <a:pt x="0" y="1"/>
                </a:lnTo>
                <a:lnTo>
                  <a:pt x="8" y="3103"/>
                </a:lnTo>
                <a:close/>
              </a:path>
            </a:pathLst>
          </a:custGeom>
          <a:solidFill>
            <a:schemeClr val="bg2">
              <a:alpha val="89803"/>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400"/>
          </a:p>
        </p:txBody>
      </p:sp>
      <p:sp>
        <p:nvSpPr>
          <p:cNvPr id="12" name="Freeform 28"/>
          <p:cNvSpPr>
            <a:spLocks/>
          </p:cNvSpPr>
          <p:nvPr userDrawn="1"/>
        </p:nvSpPr>
        <p:spPr bwMode="gray">
          <a:xfrm>
            <a:off x="1" y="-1588"/>
            <a:ext cx="12206817" cy="4581526"/>
          </a:xfrm>
          <a:custGeom>
            <a:avLst/>
            <a:gdLst/>
            <a:ahLst/>
            <a:cxnLst>
              <a:cxn ang="0">
                <a:pos x="8" y="2730"/>
              </a:cxn>
              <a:cxn ang="0">
                <a:pos x="3040" y="2726"/>
              </a:cxn>
              <a:cxn ang="0">
                <a:pos x="3347" y="2630"/>
              </a:cxn>
              <a:cxn ang="0">
                <a:pos x="3795" y="2170"/>
              </a:cxn>
              <a:cxn ang="0">
                <a:pos x="4115" y="2080"/>
              </a:cxn>
              <a:cxn ang="0">
                <a:pos x="5760" y="2093"/>
              </a:cxn>
              <a:cxn ang="0">
                <a:pos x="5767" y="0"/>
              </a:cxn>
              <a:cxn ang="0">
                <a:pos x="0" y="1"/>
              </a:cxn>
              <a:cxn ang="0">
                <a:pos x="8" y="2730"/>
              </a:cxn>
            </a:cxnLst>
            <a:rect l="0" t="0" r="r" b="b"/>
            <a:pathLst>
              <a:path w="5767" h="2730">
                <a:moveTo>
                  <a:pt x="8" y="2730"/>
                </a:moveTo>
                <a:lnTo>
                  <a:pt x="3040" y="2726"/>
                </a:lnTo>
                <a:cubicBezTo>
                  <a:pt x="3181" y="2726"/>
                  <a:pt x="3224" y="2728"/>
                  <a:pt x="3347" y="2630"/>
                </a:cubicBezTo>
                <a:lnTo>
                  <a:pt x="3795" y="2170"/>
                </a:lnTo>
                <a:cubicBezTo>
                  <a:pt x="3923" y="2078"/>
                  <a:pt x="3942" y="2074"/>
                  <a:pt x="4115" y="2080"/>
                </a:cubicBezTo>
                <a:lnTo>
                  <a:pt x="5760" y="2093"/>
                </a:lnTo>
                <a:lnTo>
                  <a:pt x="5767" y="0"/>
                </a:lnTo>
                <a:lnTo>
                  <a:pt x="0" y="1"/>
                </a:lnTo>
                <a:lnTo>
                  <a:pt x="8" y="2730"/>
                </a:lnTo>
                <a:close/>
              </a:path>
            </a:pathLst>
          </a:custGeom>
          <a:gradFill rotWithShape="1">
            <a:gsLst>
              <a:gs pos="0">
                <a:schemeClr val="bg1">
                  <a:gamma/>
                  <a:tint val="0"/>
                  <a:invGamma/>
                </a:schemeClr>
              </a:gs>
              <a:gs pos="100000">
                <a:schemeClr val="bg1">
                  <a:alpha val="89999"/>
                </a:schemeClr>
              </a:gs>
            </a:gsLst>
            <a:lin ang="0" scaled="1"/>
          </a:gradFill>
          <a:ln w="9525">
            <a:noFill/>
            <a:round/>
            <a:headEnd/>
            <a:tailEnd/>
          </a:ln>
          <a:effectLst/>
        </p:spPr>
        <p:txBody>
          <a:bodyPr/>
          <a:lstStyle/>
          <a:p>
            <a:pPr>
              <a:defRPr/>
            </a:pPr>
            <a:endParaRPr lang="zh-CN" altLang="en-US" sz="2400">
              <a:latin typeface="Arial" charset="0"/>
              <a:ea typeface="宋体" charset="-122"/>
            </a:endParaRPr>
          </a:p>
        </p:txBody>
      </p:sp>
      <p:sp>
        <p:nvSpPr>
          <p:cNvPr id="2056" name="Freeform 30"/>
          <p:cNvSpPr>
            <a:spLocks/>
          </p:cNvSpPr>
          <p:nvPr userDrawn="1"/>
        </p:nvSpPr>
        <p:spPr bwMode="gray">
          <a:xfrm>
            <a:off x="1" y="0"/>
            <a:ext cx="12204700" cy="1600200"/>
          </a:xfrm>
          <a:custGeom>
            <a:avLst/>
            <a:gdLst>
              <a:gd name="T0" fmla="*/ 0 w 5766"/>
              <a:gd name="T1" fmla="*/ 2147483647 h 1008"/>
              <a:gd name="T2" fmla="*/ 2147483647 w 5766"/>
              <a:gd name="T3" fmla="*/ 2147483647 h 1008"/>
              <a:gd name="T4" fmla="*/ 2147483647 w 5766"/>
              <a:gd name="T5" fmla="*/ 2147483647 h 1008"/>
              <a:gd name="T6" fmla="*/ 2147483647 w 5766"/>
              <a:gd name="T7" fmla="*/ 2147483647 h 1008"/>
              <a:gd name="T8" fmla="*/ 2147483647 w 5766"/>
              <a:gd name="T9" fmla="*/ 2147483647 h 1008"/>
              <a:gd name="T10" fmla="*/ 2147483647 w 5766"/>
              <a:gd name="T11" fmla="*/ 2147483647 h 1008"/>
              <a:gd name="T12" fmla="*/ 2147483647 w 5766"/>
              <a:gd name="T13" fmla="*/ 0 h 1008"/>
              <a:gd name="T14" fmla="*/ 0 w 5766"/>
              <a:gd name="T15" fmla="*/ 2147483647 h 1008"/>
              <a:gd name="T16" fmla="*/ 0 w 5766"/>
              <a:gd name="T17" fmla="*/ 2147483647 h 100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5766" h="1008">
                <a:moveTo>
                  <a:pt x="0" y="1008"/>
                </a:moveTo>
                <a:lnTo>
                  <a:pt x="1884" y="1008"/>
                </a:lnTo>
                <a:cubicBezTo>
                  <a:pt x="2088" y="990"/>
                  <a:pt x="2034" y="1005"/>
                  <a:pt x="2152" y="921"/>
                </a:cubicBezTo>
                <a:lnTo>
                  <a:pt x="2560" y="531"/>
                </a:lnTo>
                <a:cubicBezTo>
                  <a:pt x="2683" y="452"/>
                  <a:pt x="2611" y="454"/>
                  <a:pt x="2892" y="448"/>
                </a:cubicBezTo>
                <a:lnTo>
                  <a:pt x="5766" y="461"/>
                </a:lnTo>
                <a:lnTo>
                  <a:pt x="5758" y="0"/>
                </a:lnTo>
                <a:lnTo>
                  <a:pt x="0" y="2"/>
                </a:lnTo>
                <a:lnTo>
                  <a:pt x="0" y="1008"/>
                </a:lnTo>
                <a:close/>
              </a:path>
            </a:pathLst>
          </a:custGeom>
          <a:gradFill rotWithShape="1">
            <a:gsLst>
              <a:gs pos="0">
                <a:schemeClr val="bg1"/>
              </a:gs>
              <a:gs pos="100000">
                <a:schemeClr val="bg2"/>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400"/>
          </a:p>
        </p:txBody>
      </p:sp>
      <p:pic>
        <p:nvPicPr>
          <p:cNvPr id="10" name="Picture 2" descr="C:\Users\LibeR\Desktop\学院设计\部分素材\标志.png">
            <a:extLst>
              <a:ext uri="{FF2B5EF4-FFF2-40B4-BE49-F238E27FC236}">
                <a16:creationId xmlns:a16="http://schemas.microsoft.com/office/drawing/2014/main" id="{0FD5FD62-6A64-4DAD-8F38-E1AD4CEA33BF}"/>
              </a:ext>
            </a:extLst>
          </p:cNvPr>
          <p:cNvPicPr>
            <a:picLocks noChangeAspect="1" noChangeArrowheads="1"/>
          </p:cNvPicPr>
          <p:nvPr userDrawn="1"/>
        </p:nvPicPr>
        <p:blipFill rotWithShape="1">
          <a:blip r:embed="rId4">
            <a:extLst>
              <a:ext uri="{28A0092B-C50C-407E-A947-70E740481C1C}">
                <a14:useLocalDpi xmlns:a14="http://schemas.microsoft.com/office/drawing/2010/main"/>
              </a:ext>
            </a:extLst>
          </a:blip>
          <a:srcRect l="3956" t="26667" r="5834" b="39999"/>
          <a:stretch/>
        </p:blipFill>
        <p:spPr bwMode="auto">
          <a:xfrm>
            <a:off x="4170622" y="-19186"/>
            <a:ext cx="7920880" cy="1042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95" r:id="rId1"/>
  </p:sldLayoutIdLs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ea typeface="宋体" pitchFamily="2" charset="-122"/>
        </a:defRPr>
      </a:lvl2pPr>
      <a:lvl3pPr algn="ctr" rtl="0" eaLnBrk="0" fontAlgn="base" hangingPunct="0">
        <a:spcBef>
          <a:spcPct val="0"/>
        </a:spcBef>
        <a:spcAft>
          <a:spcPct val="0"/>
        </a:spcAft>
        <a:defRPr sz="4400">
          <a:solidFill>
            <a:schemeClr val="tx1"/>
          </a:solidFill>
          <a:latin typeface="Calibri" pitchFamily="34" charset="0"/>
          <a:ea typeface="宋体" pitchFamily="2" charset="-122"/>
        </a:defRPr>
      </a:lvl3pPr>
      <a:lvl4pPr algn="ctr" rtl="0" eaLnBrk="0" fontAlgn="base" hangingPunct="0">
        <a:spcBef>
          <a:spcPct val="0"/>
        </a:spcBef>
        <a:spcAft>
          <a:spcPct val="0"/>
        </a:spcAft>
        <a:defRPr sz="4400">
          <a:solidFill>
            <a:schemeClr val="tx1"/>
          </a:solidFill>
          <a:latin typeface="Calibri" pitchFamily="34" charset="0"/>
          <a:ea typeface="宋体" pitchFamily="2" charset="-122"/>
        </a:defRPr>
      </a:lvl4pPr>
      <a:lvl5pPr algn="ctr" rtl="0" eaLnBrk="0" fontAlgn="base" hangingPunct="0">
        <a:spcBef>
          <a:spcPct val="0"/>
        </a:spcBef>
        <a:spcAft>
          <a:spcPct val="0"/>
        </a:spcAft>
        <a:defRPr sz="4400">
          <a:solidFill>
            <a:schemeClr val="tx1"/>
          </a:solidFill>
          <a:latin typeface="Calibri" pitchFamily="34" charset="0"/>
          <a:ea typeface="宋体" pitchFamily="2" charset="-122"/>
        </a:defRPr>
      </a:lvl5pPr>
      <a:lvl6pPr marL="457200" algn="ctr" rtl="0" fontAlgn="base">
        <a:spcBef>
          <a:spcPct val="0"/>
        </a:spcBef>
        <a:spcAft>
          <a:spcPct val="0"/>
        </a:spcAft>
        <a:defRPr sz="4400">
          <a:solidFill>
            <a:schemeClr val="tx1"/>
          </a:solidFill>
          <a:latin typeface="Calibri" pitchFamily="34" charset="0"/>
          <a:ea typeface="宋体" pitchFamily="2" charset="-122"/>
        </a:defRPr>
      </a:lvl6pPr>
      <a:lvl7pPr marL="914400" algn="ctr" rtl="0" fontAlgn="base">
        <a:spcBef>
          <a:spcPct val="0"/>
        </a:spcBef>
        <a:spcAft>
          <a:spcPct val="0"/>
        </a:spcAft>
        <a:defRPr sz="4400">
          <a:solidFill>
            <a:schemeClr val="tx1"/>
          </a:solidFill>
          <a:latin typeface="Calibri" pitchFamily="34" charset="0"/>
          <a:ea typeface="宋体" pitchFamily="2" charset="-122"/>
        </a:defRPr>
      </a:lvl7pPr>
      <a:lvl8pPr marL="1371600" algn="ctr" rtl="0" fontAlgn="base">
        <a:spcBef>
          <a:spcPct val="0"/>
        </a:spcBef>
        <a:spcAft>
          <a:spcPct val="0"/>
        </a:spcAft>
        <a:defRPr sz="4400">
          <a:solidFill>
            <a:schemeClr val="tx1"/>
          </a:solidFill>
          <a:latin typeface="Calibri" pitchFamily="34" charset="0"/>
          <a:ea typeface="宋体" pitchFamily="2" charset="-122"/>
        </a:defRPr>
      </a:lvl8pPr>
      <a:lvl9pPr marL="1828800" algn="ctr" rtl="0" fontAlgn="base">
        <a:spcBef>
          <a:spcPct val="0"/>
        </a:spcBef>
        <a:spcAft>
          <a:spcPct val="0"/>
        </a:spcAft>
        <a:defRPr sz="4400">
          <a:solidFill>
            <a:schemeClr val="tx1"/>
          </a:solidFill>
          <a:latin typeface="Calibri" pitchFamily="34" charset="0"/>
          <a:ea typeface="宋体" pitchFamily="2" charset="-122"/>
        </a:defRPr>
      </a:lvl9pPr>
    </p:titleStyle>
    <p:body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3074" name="Picture 2" descr="图片1"/>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t="37930" b="14191"/>
          <a:stretch>
            <a:fillRect/>
          </a:stretch>
        </p:blipFill>
        <p:spPr bwMode="auto">
          <a:xfrm>
            <a:off x="-16933" y="-98425"/>
            <a:ext cx="12247033" cy="2089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 bg1="lt1" tx1="dk1" bg2="lt2" tx2="dk2" accent1="accent1" accent2="accent2" accent3="accent3" accent4="accent4" accent5="accent5" accent6="accent6" hlink="hlink" folHlink="folHlink"/>
  <p:sldLayoutIdLst>
    <p:sldLayoutId id="2147483694" r:id="rId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ea typeface="宋体" pitchFamily="2" charset="-122"/>
        </a:defRPr>
      </a:lvl2pPr>
      <a:lvl3pPr algn="ctr" rtl="0" eaLnBrk="0" fontAlgn="base" hangingPunct="0">
        <a:spcBef>
          <a:spcPct val="0"/>
        </a:spcBef>
        <a:spcAft>
          <a:spcPct val="0"/>
        </a:spcAft>
        <a:defRPr sz="4400">
          <a:solidFill>
            <a:schemeClr val="tx1"/>
          </a:solidFill>
          <a:latin typeface="Calibri" pitchFamily="34" charset="0"/>
          <a:ea typeface="宋体" pitchFamily="2" charset="-122"/>
        </a:defRPr>
      </a:lvl3pPr>
      <a:lvl4pPr algn="ctr" rtl="0" eaLnBrk="0" fontAlgn="base" hangingPunct="0">
        <a:spcBef>
          <a:spcPct val="0"/>
        </a:spcBef>
        <a:spcAft>
          <a:spcPct val="0"/>
        </a:spcAft>
        <a:defRPr sz="4400">
          <a:solidFill>
            <a:schemeClr val="tx1"/>
          </a:solidFill>
          <a:latin typeface="Calibri" pitchFamily="34" charset="0"/>
          <a:ea typeface="宋体" pitchFamily="2" charset="-122"/>
        </a:defRPr>
      </a:lvl4pPr>
      <a:lvl5pPr algn="ctr" rtl="0" eaLnBrk="0" fontAlgn="base" hangingPunct="0">
        <a:spcBef>
          <a:spcPct val="0"/>
        </a:spcBef>
        <a:spcAft>
          <a:spcPct val="0"/>
        </a:spcAft>
        <a:defRPr sz="4400">
          <a:solidFill>
            <a:schemeClr val="tx1"/>
          </a:solidFill>
          <a:latin typeface="Calibri" pitchFamily="34" charset="0"/>
          <a:ea typeface="宋体" pitchFamily="2" charset="-122"/>
        </a:defRPr>
      </a:lvl5pPr>
      <a:lvl6pPr marL="457200" algn="ctr" rtl="0" fontAlgn="base">
        <a:spcBef>
          <a:spcPct val="0"/>
        </a:spcBef>
        <a:spcAft>
          <a:spcPct val="0"/>
        </a:spcAft>
        <a:defRPr sz="4400">
          <a:solidFill>
            <a:schemeClr val="tx1"/>
          </a:solidFill>
          <a:latin typeface="Calibri" pitchFamily="34" charset="0"/>
          <a:ea typeface="宋体" pitchFamily="2" charset="-122"/>
        </a:defRPr>
      </a:lvl6pPr>
      <a:lvl7pPr marL="914400" algn="ctr" rtl="0" fontAlgn="base">
        <a:spcBef>
          <a:spcPct val="0"/>
        </a:spcBef>
        <a:spcAft>
          <a:spcPct val="0"/>
        </a:spcAft>
        <a:defRPr sz="4400">
          <a:solidFill>
            <a:schemeClr val="tx1"/>
          </a:solidFill>
          <a:latin typeface="Calibri" pitchFamily="34" charset="0"/>
          <a:ea typeface="宋体" pitchFamily="2" charset="-122"/>
        </a:defRPr>
      </a:lvl7pPr>
      <a:lvl8pPr marL="1371600" algn="ctr" rtl="0" fontAlgn="base">
        <a:spcBef>
          <a:spcPct val="0"/>
        </a:spcBef>
        <a:spcAft>
          <a:spcPct val="0"/>
        </a:spcAft>
        <a:defRPr sz="4400">
          <a:solidFill>
            <a:schemeClr val="tx1"/>
          </a:solidFill>
          <a:latin typeface="Calibri" pitchFamily="34" charset="0"/>
          <a:ea typeface="宋体" pitchFamily="2" charset="-122"/>
        </a:defRPr>
      </a:lvl8pPr>
      <a:lvl9pPr marL="1828800" algn="ctr" rtl="0" fontAlgn="base">
        <a:spcBef>
          <a:spcPct val="0"/>
        </a:spcBef>
        <a:spcAft>
          <a:spcPct val="0"/>
        </a:spcAft>
        <a:defRPr sz="4400">
          <a:solidFill>
            <a:schemeClr val="tx1"/>
          </a:solidFill>
          <a:latin typeface="Calibri" pitchFamily="34" charset="0"/>
          <a:ea typeface="宋体" pitchFamily="2" charset="-122"/>
        </a:defRPr>
      </a:lvl9pPr>
    </p:titleStyle>
    <p:body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vmlDrawing" Target="../drawings/vmlDrawing1.vml"/><Relationship Id="rId5" Type="http://schemas.openxmlformats.org/officeDocument/2006/relationships/image" Target="../media/image4.wmf"/><Relationship Id="rId4" Type="http://schemas.openxmlformats.org/officeDocument/2006/relationships/oleObject" Target="../embeddings/oleObject1.bin"/></Relationships>
</file>

<file path=ppt/slides/_rels/slide2.xml.rels><?xml version="1.0" encoding="UTF-8" standalone="yes"?>
<Relationships xmlns="http://schemas.openxmlformats.org/package/2006/relationships"><Relationship Id="rId8" Type="http://schemas.openxmlformats.org/officeDocument/2006/relationships/oleObject" Target="../embeddings/oleObject4.bin"/><Relationship Id="rId3" Type="http://schemas.openxmlformats.org/officeDocument/2006/relationships/notesSlide" Target="../notesSlides/notesSlide2.xml"/><Relationship Id="rId7" Type="http://schemas.openxmlformats.org/officeDocument/2006/relationships/image" Target="../media/image6.wmf"/><Relationship Id="rId2" Type="http://schemas.openxmlformats.org/officeDocument/2006/relationships/slideLayout" Target="../slideLayouts/slideLayout7.xml"/><Relationship Id="rId1" Type="http://schemas.openxmlformats.org/officeDocument/2006/relationships/vmlDrawing" Target="../drawings/vmlDrawing2.vml"/><Relationship Id="rId6" Type="http://schemas.openxmlformats.org/officeDocument/2006/relationships/oleObject" Target="../embeddings/oleObject3.bin"/><Relationship Id="rId11" Type="http://schemas.openxmlformats.org/officeDocument/2006/relationships/image" Target="../media/image8.wmf"/><Relationship Id="rId5" Type="http://schemas.openxmlformats.org/officeDocument/2006/relationships/image" Target="../media/image5.wmf"/><Relationship Id="rId10" Type="http://schemas.openxmlformats.org/officeDocument/2006/relationships/oleObject" Target="../embeddings/oleObject5.bin"/><Relationship Id="rId4" Type="http://schemas.openxmlformats.org/officeDocument/2006/relationships/oleObject" Target="../embeddings/oleObject2.bin"/><Relationship Id="rId9" Type="http://schemas.openxmlformats.org/officeDocument/2006/relationships/image" Target="../media/image7.wmf"/></Relationships>
</file>

<file path=ppt/slides/_rels/slide3.xml.rels><?xml version="1.0" encoding="UTF-8" standalone="yes"?>
<Relationships xmlns="http://schemas.openxmlformats.org/package/2006/relationships"><Relationship Id="rId8" Type="http://schemas.openxmlformats.org/officeDocument/2006/relationships/oleObject" Target="../embeddings/oleObject8.bin"/><Relationship Id="rId3" Type="http://schemas.openxmlformats.org/officeDocument/2006/relationships/notesSlide" Target="../notesSlides/notesSlide3.xml"/><Relationship Id="rId7" Type="http://schemas.openxmlformats.org/officeDocument/2006/relationships/image" Target="../media/image10.wmf"/><Relationship Id="rId2" Type="http://schemas.openxmlformats.org/officeDocument/2006/relationships/slideLayout" Target="../slideLayouts/slideLayout7.xml"/><Relationship Id="rId1" Type="http://schemas.openxmlformats.org/officeDocument/2006/relationships/vmlDrawing" Target="../drawings/vmlDrawing3.vml"/><Relationship Id="rId6" Type="http://schemas.openxmlformats.org/officeDocument/2006/relationships/oleObject" Target="../embeddings/oleObject7.bin"/><Relationship Id="rId11" Type="http://schemas.openxmlformats.org/officeDocument/2006/relationships/image" Target="../media/image12.wmf"/><Relationship Id="rId5" Type="http://schemas.openxmlformats.org/officeDocument/2006/relationships/image" Target="../media/image9.wmf"/><Relationship Id="rId10" Type="http://schemas.openxmlformats.org/officeDocument/2006/relationships/oleObject" Target="../embeddings/oleObject9.bin"/><Relationship Id="rId4" Type="http://schemas.openxmlformats.org/officeDocument/2006/relationships/oleObject" Target="../embeddings/oleObject6.bin"/><Relationship Id="rId9" Type="http://schemas.openxmlformats.org/officeDocument/2006/relationships/image" Target="../media/image11.wmf"/></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7" Type="http://schemas.openxmlformats.org/officeDocument/2006/relationships/image" Target="../media/image14.wmf"/><Relationship Id="rId2" Type="http://schemas.openxmlformats.org/officeDocument/2006/relationships/slideLayout" Target="../slideLayouts/slideLayout7.xml"/><Relationship Id="rId1" Type="http://schemas.openxmlformats.org/officeDocument/2006/relationships/vmlDrawing" Target="../drawings/vmlDrawing4.vml"/><Relationship Id="rId6" Type="http://schemas.openxmlformats.org/officeDocument/2006/relationships/oleObject" Target="../embeddings/oleObject11.bin"/><Relationship Id="rId5" Type="http://schemas.openxmlformats.org/officeDocument/2006/relationships/image" Target="../media/image13.wmf"/><Relationship Id="rId4" Type="http://schemas.openxmlformats.org/officeDocument/2006/relationships/oleObject" Target="../embeddings/oleObject10.bin"/></Relationships>
</file>

<file path=ppt/slides/_rels/slide5.xml.rels><?xml version="1.0" encoding="UTF-8" standalone="yes"?>
<Relationships xmlns="http://schemas.openxmlformats.org/package/2006/relationships"><Relationship Id="rId8" Type="http://schemas.openxmlformats.org/officeDocument/2006/relationships/oleObject" Target="../embeddings/oleObject14.bin"/><Relationship Id="rId3" Type="http://schemas.openxmlformats.org/officeDocument/2006/relationships/notesSlide" Target="../notesSlides/notesSlide5.xml"/><Relationship Id="rId7" Type="http://schemas.openxmlformats.org/officeDocument/2006/relationships/image" Target="../media/image16.wmf"/><Relationship Id="rId2" Type="http://schemas.openxmlformats.org/officeDocument/2006/relationships/slideLayout" Target="../slideLayouts/slideLayout7.xml"/><Relationship Id="rId1" Type="http://schemas.openxmlformats.org/officeDocument/2006/relationships/vmlDrawing" Target="../drawings/vmlDrawing5.vml"/><Relationship Id="rId6" Type="http://schemas.openxmlformats.org/officeDocument/2006/relationships/oleObject" Target="../embeddings/oleObject13.bin"/><Relationship Id="rId5" Type="http://schemas.openxmlformats.org/officeDocument/2006/relationships/image" Target="../media/image15.wmf"/><Relationship Id="rId4" Type="http://schemas.openxmlformats.org/officeDocument/2006/relationships/oleObject" Target="../embeddings/oleObject12.bin"/><Relationship Id="rId9" Type="http://schemas.openxmlformats.org/officeDocument/2006/relationships/image" Target="../media/image17.wmf"/></Relationships>
</file>

<file path=ppt/slides/_rels/slide6.xml.rels><?xml version="1.0" encoding="UTF-8" standalone="yes"?>
<Relationships xmlns="http://schemas.openxmlformats.org/package/2006/relationships"><Relationship Id="rId8" Type="http://schemas.openxmlformats.org/officeDocument/2006/relationships/oleObject" Target="../embeddings/oleObject17.bin"/><Relationship Id="rId3" Type="http://schemas.openxmlformats.org/officeDocument/2006/relationships/notesSlide" Target="../notesSlides/notesSlide6.xml"/><Relationship Id="rId7" Type="http://schemas.openxmlformats.org/officeDocument/2006/relationships/image" Target="../media/image19.wmf"/><Relationship Id="rId2" Type="http://schemas.openxmlformats.org/officeDocument/2006/relationships/slideLayout" Target="../slideLayouts/slideLayout7.xml"/><Relationship Id="rId1" Type="http://schemas.openxmlformats.org/officeDocument/2006/relationships/vmlDrawing" Target="../drawings/vmlDrawing6.vml"/><Relationship Id="rId6" Type="http://schemas.openxmlformats.org/officeDocument/2006/relationships/oleObject" Target="../embeddings/oleObject16.bin"/><Relationship Id="rId5" Type="http://schemas.openxmlformats.org/officeDocument/2006/relationships/image" Target="../media/image18.wmf"/><Relationship Id="rId4" Type="http://schemas.openxmlformats.org/officeDocument/2006/relationships/oleObject" Target="../embeddings/oleObject15.bin"/><Relationship Id="rId9" Type="http://schemas.openxmlformats.org/officeDocument/2006/relationships/image" Target="../media/image20.wmf"/></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7" Type="http://schemas.openxmlformats.org/officeDocument/2006/relationships/image" Target="../media/image22.png"/><Relationship Id="rId2" Type="http://schemas.openxmlformats.org/officeDocument/2006/relationships/slideLayout" Target="../slideLayouts/slideLayout7.xml"/><Relationship Id="rId1" Type="http://schemas.openxmlformats.org/officeDocument/2006/relationships/vmlDrawing" Target="../drawings/vmlDrawing7.vml"/><Relationship Id="rId6" Type="http://schemas.openxmlformats.org/officeDocument/2006/relationships/image" Target="../media/image21.wmf"/><Relationship Id="rId5" Type="http://schemas.openxmlformats.org/officeDocument/2006/relationships/oleObject" Target="../embeddings/oleObject18.bin"/><Relationship Id="rId4" Type="http://schemas.openxmlformats.org/officeDocument/2006/relationships/audio" Target="../media/audio1.wav"/></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7" Type="http://schemas.openxmlformats.org/officeDocument/2006/relationships/image" Target="../media/image24.wmf"/><Relationship Id="rId2" Type="http://schemas.openxmlformats.org/officeDocument/2006/relationships/slideLayout" Target="../slideLayouts/slideLayout7.xml"/><Relationship Id="rId1" Type="http://schemas.openxmlformats.org/officeDocument/2006/relationships/vmlDrawing" Target="../drawings/vmlDrawing8.vml"/><Relationship Id="rId6" Type="http://schemas.openxmlformats.org/officeDocument/2006/relationships/oleObject" Target="../embeddings/oleObject20.bin"/><Relationship Id="rId5" Type="http://schemas.openxmlformats.org/officeDocument/2006/relationships/image" Target="../media/image23.wmf"/><Relationship Id="rId4" Type="http://schemas.openxmlformats.org/officeDocument/2006/relationships/oleObject" Target="../embeddings/oleObject19.bin"/></Relationships>
</file>

<file path=ppt/slides/_rels/slide11.xml.rels><?xml version="1.0" encoding="UTF-8" standalone="yes"?>
<Relationships xmlns="http://schemas.openxmlformats.org/package/2006/relationships"><Relationship Id="rId8" Type="http://schemas.openxmlformats.org/officeDocument/2006/relationships/oleObject" Target="../embeddings/oleObject23.bin"/><Relationship Id="rId13" Type="http://schemas.openxmlformats.org/officeDocument/2006/relationships/image" Target="../media/image27.wmf"/><Relationship Id="rId3" Type="http://schemas.openxmlformats.org/officeDocument/2006/relationships/notesSlide" Target="../notesSlides/notesSlide11.xml"/><Relationship Id="rId7" Type="http://schemas.openxmlformats.org/officeDocument/2006/relationships/image" Target="../media/image10.wmf"/><Relationship Id="rId12" Type="http://schemas.openxmlformats.org/officeDocument/2006/relationships/oleObject" Target="../embeddings/oleObject25.bin"/><Relationship Id="rId2" Type="http://schemas.openxmlformats.org/officeDocument/2006/relationships/slideLayout" Target="../slideLayouts/slideLayout7.xml"/><Relationship Id="rId1" Type="http://schemas.openxmlformats.org/officeDocument/2006/relationships/vmlDrawing" Target="../drawings/vmlDrawing9.vml"/><Relationship Id="rId6" Type="http://schemas.openxmlformats.org/officeDocument/2006/relationships/oleObject" Target="../embeddings/oleObject22.bin"/><Relationship Id="rId11" Type="http://schemas.openxmlformats.org/officeDocument/2006/relationships/image" Target="../media/image26.wmf"/><Relationship Id="rId5" Type="http://schemas.openxmlformats.org/officeDocument/2006/relationships/image" Target="../media/image9.wmf"/><Relationship Id="rId15" Type="http://schemas.openxmlformats.org/officeDocument/2006/relationships/image" Target="../media/image28.wmf"/><Relationship Id="rId10" Type="http://schemas.openxmlformats.org/officeDocument/2006/relationships/oleObject" Target="../embeddings/oleObject24.bin"/><Relationship Id="rId4" Type="http://schemas.openxmlformats.org/officeDocument/2006/relationships/oleObject" Target="../embeddings/oleObject21.bin"/><Relationship Id="rId9" Type="http://schemas.openxmlformats.org/officeDocument/2006/relationships/image" Target="../media/image25.wmf"/><Relationship Id="rId14" Type="http://schemas.openxmlformats.org/officeDocument/2006/relationships/oleObject" Target="../embeddings/oleObject26.bin"/></Relationships>
</file>

<file path=ppt/slides/_rels/slide12.xml.rels><?xml version="1.0" encoding="UTF-8" standalone="yes"?>
<Relationships xmlns="http://schemas.openxmlformats.org/package/2006/relationships"><Relationship Id="rId8" Type="http://schemas.openxmlformats.org/officeDocument/2006/relationships/oleObject" Target="../embeddings/oleObject29.bin"/><Relationship Id="rId3" Type="http://schemas.openxmlformats.org/officeDocument/2006/relationships/notesSlide" Target="../notesSlides/notesSlide12.xml"/><Relationship Id="rId7" Type="http://schemas.openxmlformats.org/officeDocument/2006/relationships/image" Target="../media/image30.wmf"/><Relationship Id="rId2" Type="http://schemas.openxmlformats.org/officeDocument/2006/relationships/slideLayout" Target="../slideLayouts/slideLayout7.xml"/><Relationship Id="rId1" Type="http://schemas.openxmlformats.org/officeDocument/2006/relationships/vmlDrawing" Target="../drawings/vmlDrawing10.vml"/><Relationship Id="rId6" Type="http://schemas.openxmlformats.org/officeDocument/2006/relationships/oleObject" Target="../embeddings/oleObject28.bin"/><Relationship Id="rId5" Type="http://schemas.openxmlformats.org/officeDocument/2006/relationships/image" Target="../media/image29.wmf"/><Relationship Id="rId4" Type="http://schemas.openxmlformats.org/officeDocument/2006/relationships/oleObject" Target="../embeddings/oleObject27.bin"/><Relationship Id="rId9" Type="http://schemas.openxmlformats.org/officeDocument/2006/relationships/image" Target="../media/image31.wmf"/></Relationships>
</file>

<file path=ppt/slides/_rels/slide13.xml.rels><?xml version="1.0" encoding="UTF-8" standalone="yes"?>
<Relationships xmlns="http://schemas.openxmlformats.org/package/2006/relationships"><Relationship Id="rId8" Type="http://schemas.openxmlformats.org/officeDocument/2006/relationships/oleObject" Target="../embeddings/oleObject32.bin"/><Relationship Id="rId13" Type="http://schemas.openxmlformats.org/officeDocument/2006/relationships/image" Target="../media/image36.wmf"/><Relationship Id="rId3" Type="http://schemas.openxmlformats.org/officeDocument/2006/relationships/notesSlide" Target="../notesSlides/notesSlide13.xml"/><Relationship Id="rId7" Type="http://schemas.openxmlformats.org/officeDocument/2006/relationships/image" Target="../media/image33.wmf"/><Relationship Id="rId12" Type="http://schemas.openxmlformats.org/officeDocument/2006/relationships/oleObject" Target="../embeddings/oleObject34.bin"/><Relationship Id="rId2" Type="http://schemas.openxmlformats.org/officeDocument/2006/relationships/slideLayout" Target="../slideLayouts/slideLayout7.xml"/><Relationship Id="rId1" Type="http://schemas.openxmlformats.org/officeDocument/2006/relationships/vmlDrawing" Target="../drawings/vmlDrawing11.vml"/><Relationship Id="rId6" Type="http://schemas.openxmlformats.org/officeDocument/2006/relationships/oleObject" Target="../embeddings/oleObject31.bin"/><Relationship Id="rId11" Type="http://schemas.openxmlformats.org/officeDocument/2006/relationships/image" Target="../media/image35.wmf"/><Relationship Id="rId5" Type="http://schemas.openxmlformats.org/officeDocument/2006/relationships/image" Target="../media/image32.wmf"/><Relationship Id="rId10" Type="http://schemas.openxmlformats.org/officeDocument/2006/relationships/oleObject" Target="../embeddings/oleObject33.bin"/><Relationship Id="rId4" Type="http://schemas.openxmlformats.org/officeDocument/2006/relationships/oleObject" Target="../embeddings/oleObject30.bin"/><Relationship Id="rId9" Type="http://schemas.openxmlformats.org/officeDocument/2006/relationships/image" Target="../media/image34.wmf"/></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7" Type="http://schemas.openxmlformats.org/officeDocument/2006/relationships/image" Target="../media/image38.wmf"/><Relationship Id="rId2" Type="http://schemas.openxmlformats.org/officeDocument/2006/relationships/slideLayout" Target="../slideLayouts/slideLayout7.xml"/><Relationship Id="rId1" Type="http://schemas.openxmlformats.org/officeDocument/2006/relationships/vmlDrawing" Target="../drawings/vmlDrawing12.vml"/><Relationship Id="rId6" Type="http://schemas.openxmlformats.org/officeDocument/2006/relationships/oleObject" Target="../embeddings/oleObject36.bin"/><Relationship Id="rId5" Type="http://schemas.openxmlformats.org/officeDocument/2006/relationships/image" Target="../media/image37.wmf"/><Relationship Id="rId4" Type="http://schemas.openxmlformats.org/officeDocument/2006/relationships/oleObject" Target="../embeddings/oleObject35.bin"/></Relationships>
</file>

<file path=ppt/slides/_rels/slide15.xml.rels><?xml version="1.0" encoding="UTF-8" standalone="yes"?>
<Relationships xmlns="http://schemas.openxmlformats.org/package/2006/relationships"><Relationship Id="rId8" Type="http://schemas.openxmlformats.org/officeDocument/2006/relationships/oleObject" Target="../embeddings/oleObject39.bin"/><Relationship Id="rId3" Type="http://schemas.openxmlformats.org/officeDocument/2006/relationships/notesSlide" Target="../notesSlides/notesSlide15.xml"/><Relationship Id="rId7" Type="http://schemas.openxmlformats.org/officeDocument/2006/relationships/image" Target="../media/image39.wmf"/><Relationship Id="rId2" Type="http://schemas.openxmlformats.org/officeDocument/2006/relationships/slideLayout" Target="../slideLayouts/slideLayout7.xml"/><Relationship Id="rId1" Type="http://schemas.openxmlformats.org/officeDocument/2006/relationships/vmlDrawing" Target="../drawings/vmlDrawing13.vml"/><Relationship Id="rId6" Type="http://schemas.openxmlformats.org/officeDocument/2006/relationships/oleObject" Target="../embeddings/oleObject38.bin"/><Relationship Id="rId11" Type="http://schemas.openxmlformats.org/officeDocument/2006/relationships/image" Target="../media/image41.wmf"/><Relationship Id="rId5" Type="http://schemas.openxmlformats.org/officeDocument/2006/relationships/image" Target="../media/image38.wmf"/><Relationship Id="rId10" Type="http://schemas.openxmlformats.org/officeDocument/2006/relationships/oleObject" Target="../embeddings/oleObject40.bin"/><Relationship Id="rId4" Type="http://schemas.openxmlformats.org/officeDocument/2006/relationships/oleObject" Target="../embeddings/oleObject37.bin"/><Relationship Id="rId9" Type="http://schemas.openxmlformats.org/officeDocument/2006/relationships/image" Target="../media/image40.wmf"/></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8" Type="http://schemas.openxmlformats.org/officeDocument/2006/relationships/oleObject" Target="../embeddings/oleObject43.bin"/><Relationship Id="rId3" Type="http://schemas.openxmlformats.org/officeDocument/2006/relationships/notesSlide" Target="../notesSlides/notesSlide17.xml"/><Relationship Id="rId7" Type="http://schemas.openxmlformats.org/officeDocument/2006/relationships/image" Target="../media/image43.wmf"/><Relationship Id="rId2" Type="http://schemas.openxmlformats.org/officeDocument/2006/relationships/slideLayout" Target="../slideLayouts/slideLayout7.xml"/><Relationship Id="rId1" Type="http://schemas.openxmlformats.org/officeDocument/2006/relationships/vmlDrawing" Target="../drawings/vmlDrawing14.vml"/><Relationship Id="rId6" Type="http://schemas.openxmlformats.org/officeDocument/2006/relationships/oleObject" Target="../embeddings/oleObject42.bin"/><Relationship Id="rId11" Type="http://schemas.openxmlformats.org/officeDocument/2006/relationships/image" Target="../media/image45.wmf"/><Relationship Id="rId5" Type="http://schemas.openxmlformats.org/officeDocument/2006/relationships/image" Target="../media/image42.wmf"/><Relationship Id="rId10" Type="http://schemas.openxmlformats.org/officeDocument/2006/relationships/oleObject" Target="../embeddings/oleObject44.bin"/><Relationship Id="rId4" Type="http://schemas.openxmlformats.org/officeDocument/2006/relationships/oleObject" Target="../embeddings/oleObject41.bin"/><Relationship Id="rId9" Type="http://schemas.openxmlformats.org/officeDocument/2006/relationships/image" Target="../media/image44.wmf"/></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7.xml"/><Relationship Id="rId1" Type="http://schemas.openxmlformats.org/officeDocument/2006/relationships/vmlDrawing" Target="../drawings/vmlDrawing15.vml"/><Relationship Id="rId5" Type="http://schemas.openxmlformats.org/officeDocument/2006/relationships/image" Target="../media/image46.wmf"/><Relationship Id="rId4" Type="http://schemas.openxmlformats.org/officeDocument/2006/relationships/oleObject" Target="../embeddings/oleObject45.bin"/></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7" Type="http://schemas.openxmlformats.org/officeDocument/2006/relationships/image" Target="../media/image48.wmf"/><Relationship Id="rId2" Type="http://schemas.openxmlformats.org/officeDocument/2006/relationships/slideLayout" Target="../slideLayouts/slideLayout7.xml"/><Relationship Id="rId1" Type="http://schemas.openxmlformats.org/officeDocument/2006/relationships/vmlDrawing" Target="../drawings/vmlDrawing16.vml"/><Relationship Id="rId6" Type="http://schemas.openxmlformats.org/officeDocument/2006/relationships/oleObject" Target="../embeddings/oleObject47.bin"/><Relationship Id="rId5" Type="http://schemas.openxmlformats.org/officeDocument/2006/relationships/image" Target="../media/image47.wmf"/><Relationship Id="rId4" Type="http://schemas.openxmlformats.org/officeDocument/2006/relationships/oleObject" Target="../embeddings/oleObject46.bin"/></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7" Type="http://schemas.openxmlformats.org/officeDocument/2006/relationships/image" Target="../media/image50.wmf"/><Relationship Id="rId2" Type="http://schemas.openxmlformats.org/officeDocument/2006/relationships/slideLayout" Target="../slideLayouts/slideLayout7.xml"/><Relationship Id="rId1" Type="http://schemas.openxmlformats.org/officeDocument/2006/relationships/vmlDrawing" Target="../drawings/vmlDrawing17.vml"/><Relationship Id="rId6" Type="http://schemas.openxmlformats.org/officeDocument/2006/relationships/oleObject" Target="../embeddings/oleObject49.bin"/><Relationship Id="rId5" Type="http://schemas.openxmlformats.org/officeDocument/2006/relationships/image" Target="../media/image49.wmf"/><Relationship Id="rId4" Type="http://schemas.openxmlformats.org/officeDocument/2006/relationships/oleObject" Target="../embeddings/oleObject48.bin"/></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7.xml"/><Relationship Id="rId1" Type="http://schemas.openxmlformats.org/officeDocument/2006/relationships/vmlDrawing" Target="../drawings/vmlDrawing18.vml"/><Relationship Id="rId5" Type="http://schemas.openxmlformats.org/officeDocument/2006/relationships/image" Target="../media/image51.wmf"/><Relationship Id="rId4" Type="http://schemas.openxmlformats.org/officeDocument/2006/relationships/oleObject" Target="../embeddings/oleObject50.bin"/></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7.xml"/><Relationship Id="rId1" Type="http://schemas.openxmlformats.org/officeDocument/2006/relationships/vmlDrawing" Target="../drawings/vmlDrawing19.vml"/><Relationship Id="rId5" Type="http://schemas.openxmlformats.org/officeDocument/2006/relationships/image" Target="../media/image52.wmf"/><Relationship Id="rId4" Type="http://schemas.openxmlformats.org/officeDocument/2006/relationships/oleObject" Target="../embeddings/oleObject51.bin"/></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53.pn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7.xml"/><Relationship Id="rId1" Type="http://schemas.openxmlformats.org/officeDocument/2006/relationships/vmlDrawing" Target="../drawings/vmlDrawing20.vml"/><Relationship Id="rId5" Type="http://schemas.openxmlformats.org/officeDocument/2006/relationships/image" Target="../media/image54.wmf"/><Relationship Id="rId4" Type="http://schemas.openxmlformats.org/officeDocument/2006/relationships/oleObject" Target="../embeddings/oleObject52.bin"/></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7.xml"/><Relationship Id="rId1" Type="http://schemas.openxmlformats.org/officeDocument/2006/relationships/vmlDrawing" Target="../drawings/vmlDrawing21.vml"/><Relationship Id="rId5" Type="http://schemas.openxmlformats.org/officeDocument/2006/relationships/image" Target="../media/image55.wmf"/><Relationship Id="rId4" Type="http://schemas.openxmlformats.org/officeDocument/2006/relationships/oleObject" Target="../embeddings/oleObject53.bin"/></Relationships>
</file>

<file path=ppt/slides/_rels/slide29.xml.rels><?xml version="1.0" encoding="UTF-8" standalone="yes"?>
<Relationships xmlns="http://schemas.openxmlformats.org/package/2006/relationships"><Relationship Id="rId8" Type="http://schemas.openxmlformats.org/officeDocument/2006/relationships/oleObject" Target="../embeddings/oleObject55.bin"/><Relationship Id="rId13" Type="http://schemas.openxmlformats.org/officeDocument/2006/relationships/image" Target="../media/image59.wmf"/><Relationship Id="rId3" Type="http://schemas.openxmlformats.org/officeDocument/2006/relationships/video" Target="../media/media2.mp4"/><Relationship Id="rId7" Type="http://schemas.openxmlformats.org/officeDocument/2006/relationships/image" Target="../media/image56.emf"/><Relationship Id="rId12" Type="http://schemas.openxmlformats.org/officeDocument/2006/relationships/oleObject" Target="../embeddings/oleObject57.bin"/><Relationship Id="rId2" Type="http://schemas.microsoft.com/office/2007/relationships/media" Target="../media/media2.mp4"/><Relationship Id="rId16" Type="http://schemas.openxmlformats.org/officeDocument/2006/relationships/image" Target="../media/image61.png"/><Relationship Id="rId1" Type="http://schemas.openxmlformats.org/officeDocument/2006/relationships/vmlDrawing" Target="../drawings/vmlDrawing22.vml"/><Relationship Id="rId6" Type="http://schemas.openxmlformats.org/officeDocument/2006/relationships/oleObject" Target="../embeddings/oleObject54.bin"/><Relationship Id="rId11" Type="http://schemas.openxmlformats.org/officeDocument/2006/relationships/image" Target="../media/image58.wmf"/><Relationship Id="rId5" Type="http://schemas.openxmlformats.org/officeDocument/2006/relationships/notesSlide" Target="../notesSlides/notesSlide29.xml"/><Relationship Id="rId15" Type="http://schemas.openxmlformats.org/officeDocument/2006/relationships/image" Target="../media/image60.wmf"/><Relationship Id="rId10" Type="http://schemas.openxmlformats.org/officeDocument/2006/relationships/oleObject" Target="../embeddings/oleObject56.bin"/><Relationship Id="rId4" Type="http://schemas.openxmlformats.org/officeDocument/2006/relationships/slideLayout" Target="../slideLayouts/slideLayout7.xml"/><Relationship Id="rId9" Type="http://schemas.openxmlformats.org/officeDocument/2006/relationships/image" Target="../media/image57.emf"/><Relationship Id="rId14" Type="http://schemas.openxmlformats.org/officeDocument/2006/relationships/oleObject" Target="../embeddings/oleObject58.bin"/></Relationships>
</file>

<file path=ppt/slides/_rels/slide30.xml.rels><?xml version="1.0" encoding="UTF-8" standalone="yes"?>
<Relationships xmlns="http://schemas.openxmlformats.org/package/2006/relationships"><Relationship Id="rId8" Type="http://schemas.openxmlformats.org/officeDocument/2006/relationships/oleObject" Target="../embeddings/oleObject60.bin"/><Relationship Id="rId13" Type="http://schemas.openxmlformats.org/officeDocument/2006/relationships/image" Target="../media/image64.wmf"/><Relationship Id="rId3" Type="http://schemas.openxmlformats.org/officeDocument/2006/relationships/video" Target="../media/media3.mp4"/><Relationship Id="rId7" Type="http://schemas.openxmlformats.org/officeDocument/2006/relationships/image" Target="../media/image62.wmf"/><Relationship Id="rId12" Type="http://schemas.openxmlformats.org/officeDocument/2006/relationships/oleObject" Target="../embeddings/oleObject61.bin"/><Relationship Id="rId17" Type="http://schemas.openxmlformats.org/officeDocument/2006/relationships/image" Target="../media/image66.wmf"/><Relationship Id="rId2" Type="http://schemas.microsoft.com/office/2007/relationships/media" Target="../media/media3.mp4"/><Relationship Id="rId16" Type="http://schemas.openxmlformats.org/officeDocument/2006/relationships/oleObject" Target="../embeddings/oleObject63.bin"/><Relationship Id="rId1" Type="http://schemas.openxmlformats.org/officeDocument/2006/relationships/vmlDrawing" Target="../drawings/vmlDrawing23.vml"/><Relationship Id="rId6" Type="http://schemas.openxmlformats.org/officeDocument/2006/relationships/oleObject" Target="../embeddings/oleObject59.bin"/><Relationship Id="rId11" Type="http://schemas.openxmlformats.org/officeDocument/2006/relationships/image" Target="../media/image68.png"/><Relationship Id="rId5" Type="http://schemas.openxmlformats.org/officeDocument/2006/relationships/notesSlide" Target="../notesSlides/notesSlide30.xml"/><Relationship Id="rId15" Type="http://schemas.openxmlformats.org/officeDocument/2006/relationships/image" Target="../media/image65.wmf"/><Relationship Id="rId10" Type="http://schemas.openxmlformats.org/officeDocument/2006/relationships/image" Target="../media/image67.png"/><Relationship Id="rId4" Type="http://schemas.openxmlformats.org/officeDocument/2006/relationships/slideLayout" Target="../slideLayouts/slideLayout7.xml"/><Relationship Id="rId9" Type="http://schemas.openxmlformats.org/officeDocument/2006/relationships/image" Target="../media/image63.wmf"/><Relationship Id="rId14" Type="http://schemas.openxmlformats.org/officeDocument/2006/relationships/oleObject" Target="../embeddings/oleObject62.bin"/></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7.xml"/><Relationship Id="rId1" Type="http://schemas.openxmlformats.org/officeDocument/2006/relationships/vmlDrawing" Target="../drawings/vmlDrawing24.vml"/><Relationship Id="rId5" Type="http://schemas.openxmlformats.org/officeDocument/2006/relationships/image" Target="../media/image69.wmf"/><Relationship Id="rId4" Type="http://schemas.openxmlformats.org/officeDocument/2006/relationships/oleObject" Target="../embeddings/oleObject64.bin"/></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7" Type="http://schemas.openxmlformats.org/officeDocument/2006/relationships/image" Target="../media/image71.wmf"/><Relationship Id="rId2" Type="http://schemas.openxmlformats.org/officeDocument/2006/relationships/slideLayout" Target="../slideLayouts/slideLayout7.xml"/><Relationship Id="rId1" Type="http://schemas.openxmlformats.org/officeDocument/2006/relationships/vmlDrawing" Target="../drawings/vmlDrawing25.vml"/><Relationship Id="rId6" Type="http://schemas.openxmlformats.org/officeDocument/2006/relationships/oleObject" Target="../embeddings/oleObject66.bin"/><Relationship Id="rId5" Type="http://schemas.openxmlformats.org/officeDocument/2006/relationships/image" Target="../media/image70.wmf"/><Relationship Id="rId4" Type="http://schemas.openxmlformats.org/officeDocument/2006/relationships/oleObject" Target="../embeddings/oleObject65.bin"/></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8" Type="http://schemas.openxmlformats.org/officeDocument/2006/relationships/image" Target="../media/image72.png"/><Relationship Id="rId13" Type="http://schemas.openxmlformats.org/officeDocument/2006/relationships/oleObject" Target="../embeddings/oleObject70.bin"/><Relationship Id="rId3" Type="http://schemas.openxmlformats.org/officeDocument/2006/relationships/video" Target="../media/media4.mp4"/><Relationship Id="rId7" Type="http://schemas.openxmlformats.org/officeDocument/2006/relationships/oleObject" Target="../embeddings/oleObject67.bin"/><Relationship Id="rId12" Type="http://schemas.openxmlformats.org/officeDocument/2006/relationships/image" Target="../media/image74.wmf"/><Relationship Id="rId2" Type="http://schemas.microsoft.com/office/2007/relationships/media" Target="../media/media4.mp4"/><Relationship Id="rId1" Type="http://schemas.openxmlformats.org/officeDocument/2006/relationships/vmlDrawing" Target="../drawings/vmlDrawing26.vml"/><Relationship Id="rId6" Type="http://schemas.openxmlformats.org/officeDocument/2006/relationships/image" Target="../media/image76.png"/><Relationship Id="rId11" Type="http://schemas.openxmlformats.org/officeDocument/2006/relationships/oleObject" Target="../embeddings/oleObject69.bin"/><Relationship Id="rId5" Type="http://schemas.openxmlformats.org/officeDocument/2006/relationships/notesSlide" Target="../notesSlides/notesSlide36.xml"/><Relationship Id="rId10" Type="http://schemas.openxmlformats.org/officeDocument/2006/relationships/image" Target="../media/image73.wmf"/><Relationship Id="rId4" Type="http://schemas.openxmlformats.org/officeDocument/2006/relationships/slideLayout" Target="../slideLayouts/slideLayout7.xml"/><Relationship Id="rId9" Type="http://schemas.openxmlformats.org/officeDocument/2006/relationships/oleObject" Target="../embeddings/oleObject68.bin"/><Relationship Id="rId14" Type="http://schemas.openxmlformats.org/officeDocument/2006/relationships/image" Target="../media/image75.wmf"/></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7" Type="http://schemas.openxmlformats.org/officeDocument/2006/relationships/image" Target="../media/image78.wmf"/><Relationship Id="rId2" Type="http://schemas.openxmlformats.org/officeDocument/2006/relationships/slideLayout" Target="../slideLayouts/slideLayout7.xml"/><Relationship Id="rId1" Type="http://schemas.openxmlformats.org/officeDocument/2006/relationships/vmlDrawing" Target="../drawings/vmlDrawing27.vml"/><Relationship Id="rId6" Type="http://schemas.openxmlformats.org/officeDocument/2006/relationships/oleObject" Target="../embeddings/oleObject72.bin"/><Relationship Id="rId5" Type="http://schemas.openxmlformats.org/officeDocument/2006/relationships/image" Target="../media/image77.wmf"/><Relationship Id="rId4" Type="http://schemas.openxmlformats.org/officeDocument/2006/relationships/oleObject" Target="../embeddings/oleObject71.bin"/></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7" Type="http://schemas.openxmlformats.org/officeDocument/2006/relationships/image" Target="../media/image80.wmf"/><Relationship Id="rId2" Type="http://schemas.openxmlformats.org/officeDocument/2006/relationships/slideLayout" Target="../slideLayouts/slideLayout7.xml"/><Relationship Id="rId1" Type="http://schemas.openxmlformats.org/officeDocument/2006/relationships/vmlDrawing" Target="../drawings/vmlDrawing28.vml"/><Relationship Id="rId6" Type="http://schemas.openxmlformats.org/officeDocument/2006/relationships/oleObject" Target="../embeddings/oleObject74.bin"/><Relationship Id="rId5" Type="http://schemas.openxmlformats.org/officeDocument/2006/relationships/image" Target="../media/image79.wmf"/><Relationship Id="rId4" Type="http://schemas.openxmlformats.org/officeDocument/2006/relationships/oleObject" Target="../embeddings/oleObject73.bin"/></Relationships>
</file>

<file path=ppt/slides/_rels/slide39.xml.rels><?xml version="1.0" encoding="UTF-8" standalone="yes"?>
<Relationships xmlns="http://schemas.openxmlformats.org/package/2006/relationships"><Relationship Id="rId8" Type="http://schemas.openxmlformats.org/officeDocument/2006/relationships/oleObject" Target="../embeddings/oleObject77.bin"/><Relationship Id="rId3" Type="http://schemas.openxmlformats.org/officeDocument/2006/relationships/notesSlide" Target="../notesSlides/notesSlide39.xml"/><Relationship Id="rId7" Type="http://schemas.openxmlformats.org/officeDocument/2006/relationships/image" Target="../media/image82.wmf"/><Relationship Id="rId2" Type="http://schemas.openxmlformats.org/officeDocument/2006/relationships/slideLayout" Target="../slideLayouts/slideLayout7.xml"/><Relationship Id="rId1" Type="http://schemas.openxmlformats.org/officeDocument/2006/relationships/vmlDrawing" Target="../drawings/vmlDrawing29.vml"/><Relationship Id="rId6" Type="http://schemas.openxmlformats.org/officeDocument/2006/relationships/oleObject" Target="../embeddings/oleObject76.bin"/><Relationship Id="rId5" Type="http://schemas.openxmlformats.org/officeDocument/2006/relationships/image" Target="../media/image81.wmf"/><Relationship Id="rId10" Type="http://schemas.openxmlformats.org/officeDocument/2006/relationships/image" Target="../media/image84.png"/><Relationship Id="rId4" Type="http://schemas.openxmlformats.org/officeDocument/2006/relationships/oleObject" Target="../embeddings/oleObject75.bin"/><Relationship Id="rId9" Type="http://schemas.openxmlformats.org/officeDocument/2006/relationships/image" Target="../media/image83.wmf"/></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7" Type="http://schemas.openxmlformats.org/officeDocument/2006/relationships/image" Target="../media/image86.wmf"/><Relationship Id="rId2" Type="http://schemas.openxmlformats.org/officeDocument/2006/relationships/slideLayout" Target="../slideLayouts/slideLayout7.xml"/><Relationship Id="rId1" Type="http://schemas.openxmlformats.org/officeDocument/2006/relationships/vmlDrawing" Target="../drawings/vmlDrawing30.vml"/><Relationship Id="rId6" Type="http://schemas.openxmlformats.org/officeDocument/2006/relationships/oleObject" Target="../embeddings/oleObject79.bin"/><Relationship Id="rId5" Type="http://schemas.openxmlformats.org/officeDocument/2006/relationships/image" Target="../media/image85.wmf"/><Relationship Id="rId4" Type="http://schemas.openxmlformats.org/officeDocument/2006/relationships/oleObject" Target="../embeddings/oleObject78.bin"/></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7.xml"/><Relationship Id="rId1" Type="http://schemas.openxmlformats.org/officeDocument/2006/relationships/vmlDrawing" Target="../drawings/vmlDrawing31.vml"/><Relationship Id="rId5" Type="http://schemas.openxmlformats.org/officeDocument/2006/relationships/image" Target="../media/image87.wmf"/><Relationship Id="rId4" Type="http://schemas.openxmlformats.org/officeDocument/2006/relationships/oleObject" Target="../embeddings/oleObject80.bin"/></Relationships>
</file>

<file path=ppt/slides/_rels/slide42.xml.rels><?xml version="1.0" encoding="UTF-8" standalone="yes"?>
<Relationships xmlns="http://schemas.openxmlformats.org/package/2006/relationships"><Relationship Id="rId8" Type="http://schemas.openxmlformats.org/officeDocument/2006/relationships/oleObject" Target="../embeddings/oleObject83.bin"/><Relationship Id="rId13" Type="http://schemas.openxmlformats.org/officeDocument/2006/relationships/image" Target="../media/image92.wmf"/><Relationship Id="rId3" Type="http://schemas.openxmlformats.org/officeDocument/2006/relationships/notesSlide" Target="../notesSlides/notesSlide42.xml"/><Relationship Id="rId7" Type="http://schemas.openxmlformats.org/officeDocument/2006/relationships/image" Target="../media/image89.wmf"/><Relationship Id="rId12" Type="http://schemas.openxmlformats.org/officeDocument/2006/relationships/oleObject" Target="../embeddings/oleObject85.bin"/><Relationship Id="rId2" Type="http://schemas.openxmlformats.org/officeDocument/2006/relationships/slideLayout" Target="../slideLayouts/slideLayout7.xml"/><Relationship Id="rId1" Type="http://schemas.openxmlformats.org/officeDocument/2006/relationships/vmlDrawing" Target="../drawings/vmlDrawing32.vml"/><Relationship Id="rId6" Type="http://schemas.openxmlformats.org/officeDocument/2006/relationships/oleObject" Target="../embeddings/oleObject82.bin"/><Relationship Id="rId11" Type="http://schemas.openxmlformats.org/officeDocument/2006/relationships/image" Target="../media/image91.wmf"/><Relationship Id="rId5" Type="http://schemas.openxmlformats.org/officeDocument/2006/relationships/image" Target="../media/image88.wmf"/><Relationship Id="rId15" Type="http://schemas.openxmlformats.org/officeDocument/2006/relationships/image" Target="../media/image93.wmf"/><Relationship Id="rId10" Type="http://schemas.openxmlformats.org/officeDocument/2006/relationships/oleObject" Target="../embeddings/oleObject84.bin"/><Relationship Id="rId4" Type="http://schemas.openxmlformats.org/officeDocument/2006/relationships/oleObject" Target="../embeddings/oleObject81.bin"/><Relationship Id="rId9" Type="http://schemas.openxmlformats.org/officeDocument/2006/relationships/image" Target="../media/image90.wmf"/><Relationship Id="rId14" Type="http://schemas.openxmlformats.org/officeDocument/2006/relationships/oleObject" Target="../embeddings/oleObject86.bin"/></Relationships>
</file>

<file path=ppt/slides/_rels/slide43.xml.rels><?xml version="1.0" encoding="UTF-8" standalone="yes"?>
<Relationships xmlns="http://schemas.openxmlformats.org/package/2006/relationships"><Relationship Id="rId8" Type="http://schemas.openxmlformats.org/officeDocument/2006/relationships/oleObject" Target="../embeddings/oleObject89.bin"/><Relationship Id="rId3" Type="http://schemas.openxmlformats.org/officeDocument/2006/relationships/notesSlide" Target="../notesSlides/notesSlide43.xml"/><Relationship Id="rId7" Type="http://schemas.openxmlformats.org/officeDocument/2006/relationships/image" Target="../media/image94.wmf"/><Relationship Id="rId2" Type="http://schemas.openxmlformats.org/officeDocument/2006/relationships/slideLayout" Target="../slideLayouts/slideLayout7.xml"/><Relationship Id="rId1" Type="http://schemas.openxmlformats.org/officeDocument/2006/relationships/vmlDrawing" Target="../drawings/vmlDrawing33.vml"/><Relationship Id="rId6" Type="http://schemas.openxmlformats.org/officeDocument/2006/relationships/oleObject" Target="../embeddings/oleObject88.bin"/><Relationship Id="rId5" Type="http://schemas.openxmlformats.org/officeDocument/2006/relationships/image" Target="../media/image93.wmf"/><Relationship Id="rId4" Type="http://schemas.openxmlformats.org/officeDocument/2006/relationships/oleObject" Target="../embeddings/oleObject87.bin"/><Relationship Id="rId9" Type="http://schemas.openxmlformats.org/officeDocument/2006/relationships/image" Target="../media/image95.wmf"/></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7.xml"/><Relationship Id="rId1" Type="http://schemas.openxmlformats.org/officeDocument/2006/relationships/vmlDrawing" Target="../drawings/vmlDrawing34.vml"/><Relationship Id="rId5" Type="http://schemas.openxmlformats.org/officeDocument/2006/relationships/image" Target="../media/image96.wmf"/><Relationship Id="rId4" Type="http://schemas.openxmlformats.org/officeDocument/2006/relationships/oleObject" Target="../embeddings/oleObject90.bin"/></Relationships>
</file>

<file path=ppt/slides/_rels/slide46.xml.rels><?xml version="1.0" encoding="UTF-8" standalone="yes"?>
<Relationships xmlns="http://schemas.openxmlformats.org/package/2006/relationships"><Relationship Id="rId8" Type="http://schemas.openxmlformats.org/officeDocument/2006/relationships/oleObject" Target="../embeddings/oleObject91.bin"/><Relationship Id="rId3" Type="http://schemas.openxmlformats.org/officeDocument/2006/relationships/video" Target="../media/media5.mp4"/><Relationship Id="rId7" Type="http://schemas.openxmlformats.org/officeDocument/2006/relationships/image" Target="../media/image100.png"/><Relationship Id="rId2" Type="http://schemas.microsoft.com/office/2007/relationships/media" Target="../media/media5.mp4"/><Relationship Id="rId1" Type="http://schemas.openxmlformats.org/officeDocument/2006/relationships/vmlDrawing" Target="../drawings/vmlDrawing35.vml"/><Relationship Id="rId6" Type="http://schemas.openxmlformats.org/officeDocument/2006/relationships/image" Target="../media/image99.png"/><Relationship Id="rId11" Type="http://schemas.openxmlformats.org/officeDocument/2006/relationships/image" Target="../media/image98.emf"/><Relationship Id="rId5" Type="http://schemas.openxmlformats.org/officeDocument/2006/relationships/notesSlide" Target="../notesSlides/notesSlide46.xml"/><Relationship Id="rId10" Type="http://schemas.openxmlformats.org/officeDocument/2006/relationships/oleObject" Target="../embeddings/oleObject92.bin"/><Relationship Id="rId4" Type="http://schemas.openxmlformats.org/officeDocument/2006/relationships/slideLayout" Target="../slideLayouts/slideLayout7.xml"/><Relationship Id="rId9" Type="http://schemas.openxmlformats.org/officeDocument/2006/relationships/image" Target="../media/image97.wmf"/></Relationships>
</file>

<file path=ppt/slides/_rels/slide47.xml.rels><?xml version="1.0" encoding="UTF-8" standalone="yes"?>
<Relationships xmlns="http://schemas.openxmlformats.org/package/2006/relationships"><Relationship Id="rId8" Type="http://schemas.openxmlformats.org/officeDocument/2006/relationships/oleObject" Target="../embeddings/oleObject95.bin"/><Relationship Id="rId3" Type="http://schemas.openxmlformats.org/officeDocument/2006/relationships/notesSlide" Target="../notesSlides/notesSlide47.xml"/><Relationship Id="rId7" Type="http://schemas.openxmlformats.org/officeDocument/2006/relationships/image" Target="../media/image102.wmf"/><Relationship Id="rId2" Type="http://schemas.openxmlformats.org/officeDocument/2006/relationships/slideLayout" Target="../slideLayouts/slideLayout7.xml"/><Relationship Id="rId1" Type="http://schemas.openxmlformats.org/officeDocument/2006/relationships/vmlDrawing" Target="../drawings/vmlDrawing36.vml"/><Relationship Id="rId6" Type="http://schemas.openxmlformats.org/officeDocument/2006/relationships/oleObject" Target="../embeddings/oleObject94.bin"/><Relationship Id="rId11" Type="http://schemas.openxmlformats.org/officeDocument/2006/relationships/image" Target="../media/image104.wmf"/><Relationship Id="rId5" Type="http://schemas.openxmlformats.org/officeDocument/2006/relationships/image" Target="../media/image101.wmf"/><Relationship Id="rId10" Type="http://schemas.openxmlformats.org/officeDocument/2006/relationships/oleObject" Target="../embeddings/oleObject96.bin"/><Relationship Id="rId4" Type="http://schemas.openxmlformats.org/officeDocument/2006/relationships/oleObject" Target="../embeddings/oleObject93.bin"/><Relationship Id="rId9" Type="http://schemas.openxmlformats.org/officeDocument/2006/relationships/image" Target="../media/image103.wmf"/></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8.xml"/><Relationship Id="rId7" Type="http://schemas.openxmlformats.org/officeDocument/2006/relationships/image" Target="../media/image106.wmf"/><Relationship Id="rId2" Type="http://schemas.openxmlformats.org/officeDocument/2006/relationships/slideLayout" Target="../slideLayouts/slideLayout7.xml"/><Relationship Id="rId1" Type="http://schemas.openxmlformats.org/officeDocument/2006/relationships/vmlDrawing" Target="../drawings/vmlDrawing37.vml"/><Relationship Id="rId6" Type="http://schemas.openxmlformats.org/officeDocument/2006/relationships/oleObject" Target="../embeddings/oleObject98.bin"/><Relationship Id="rId5" Type="http://schemas.openxmlformats.org/officeDocument/2006/relationships/image" Target="../media/image105.wmf"/><Relationship Id="rId4" Type="http://schemas.openxmlformats.org/officeDocument/2006/relationships/oleObject" Target="../embeddings/oleObject97.bin"/></Relationships>
</file>

<file path=ppt/slides/_rels/slide49.xml.rels><?xml version="1.0" encoding="UTF-8" standalone="yes"?>
<Relationships xmlns="http://schemas.openxmlformats.org/package/2006/relationships"><Relationship Id="rId8" Type="http://schemas.openxmlformats.org/officeDocument/2006/relationships/oleObject" Target="../embeddings/oleObject101.bin"/><Relationship Id="rId3" Type="http://schemas.openxmlformats.org/officeDocument/2006/relationships/notesSlide" Target="../notesSlides/notesSlide49.xml"/><Relationship Id="rId7" Type="http://schemas.openxmlformats.org/officeDocument/2006/relationships/image" Target="../media/image108.wmf"/><Relationship Id="rId2" Type="http://schemas.openxmlformats.org/officeDocument/2006/relationships/slideLayout" Target="../slideLayouts/slideLayout7.xml"/><Relationship Id="rId1" Type="http://schemas.openxmlformats.org/officeDocument/2006/relationships/vmlDrawing" Target="../drawings/vmlDrawing38.vml"/><Relationship Id="rId6" Type="http://schemas.openxmlformats.org/officeDocument/2006/relationships/oleObject" Target="../embeddings/oleObject100.bin"/><Relationship Id="rId5" Type="http://schemas.openxmlformats.org/officeDocument/2006/relationships/image" Target="../media/image107.wmf"/><Relationship Id="rId4" Type="http://schemas.openxmlformats.org/officeDocument/2006/relationships/oleObject" Target="../embeddings/oleObject99.bin"/><Relationship Id="rId9" Type="http://schemas.openxmlformats.org/officeDocument/2006/relationships/image" Target="../media/image109.wmf"/></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7.xml"/><Relationship Id="rId1" Type="http://schemas.openxmlformats.org/officeDocument/2006/relationships/vmlDrawing" Target="../drawings/vmlDrawing39.vml"/><Relationship Id="rId5" Type="http://schemas.openxmlformats.org/officeDocument/2006/relationships/image" Target="../media/image110.wmf"/><Relationship Id="rId4" Type="http://schemas.openxmlformats.org/officeDocument/2006/relationships/oleObject" Target="../embeddings/oleObject102.bin"/></Relationships>
</file>

<file path=ppt/slides/_rels/slide51.xml.rels><?xml version="1.0" encoding="UTF-8" standalone="yes"?>
<Relationships xmlns="http://schemas.openxmlformats.org/package/2006/relationships"><Relationship Id="rId8" Type="http://schemas.openxmlformats.org/officeDocument/2006/relationships/oleObject" Target="../embeddings/oleObject105.bin"/><Relationship Id="rId3" Type="http://schemas.openxmlformats.org/officeDocument/2006/relationships/notesSlide" Target="../notesSlides/notesSlide51.xml"/><Relationship Id="rId7" Type="http://schemas.openxmlformats.org/officeDocument/2006/relationships/image" Target="../media/image112.wmf"/><Relationship Id="rId2" Type="http://schemas.openxmlformats.org/officeDocument/2006/relationships/slideLayout" Target="../slideLayouts/slideLayout7.xml"/><Relationship Id="rId1" Type="http://schemas.openxmlformats.org/officeDocument/2006/relationships/vmlDrawing" Target="../drawings/vmlDrawing40.vml"/><Relationship Id="rId6" Type="http://schemas.openxmlformats.org/officeDocument/2006/relationships/oleObject" Target="../embeddings/oleObject104.bin"/><Relationship Id="rId5" Type="http://schemas.openxmlformats.org/officeDocument/2006/relationships/image" Target="../media/image111.wmf"/><Relationship Id="rId4" Type="http://schemas.openxmlformats.org/officeDocument/2006/relationships/oleObject" Target="../embeddings/oleObject103.bin"/><Relationship Id="rId9" Type="http://schemas.openxmlformats.org/officeDocument/2006/relationships/image" Target="../media/image113.wmf"/></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4653838"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第七章   动力学普遍定理</a:t>
            </a:r>
          </a:p>
        </p:txBody>
      </p:sp>
      <p:sp>
        <p:nvSpPr>
          <p:cNvPr id="5" name="Rectangle 2"/>
          <p:cNvSpPr>
            <a:spLocks noChangeArrowheads="1"/>
          </p:cNvSpPr>
          <p:nvPr/>
        </p:nvSpPr>
        <p:spPr bwMode="auto">
          <a:xfrm>
            <a:off x="164442" y="928670"/>
            <a:ext cx="9747982"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3000" i="0" dirty="0">
                <a:solidFill>
                  <a:schemeClr val="accent6">
                    <a:lumMod val="75000"/>
                  </a:schemeClr>
                </a:solidFill>
                <a:latin typeface="+mn-lt"/>
                <a:ea typeface="微软雅黑" panose="020B0503020204020204" pitchFamily="34" charset="-122"/>
              </a:rPr>
              <a:t>§7-1  </a:t>
            </a:r>
            <a:r>
              <a:rPr lang="zh-CN" altLang="en-US" sz="3000" i="0" dirty="0">
                <a:solidFill>
                  <a:schemeClr val="accent6">
                    <a:lumMod val="75000"/>
                  </a:schemeClr>
                </a:solidFill>
                <a:latin typeface="+mn-lt"/>
                <a:ea typeface="微软雅黑" panose="020B0503020204020204" pitchFamily="34" charset="-122"/>
              </a:rPr>
              <a:t>动量定理</a:t>
            </a:r>
          </a:p>
        </p:txBody>
      </p:sp>
      <p:sp>
        <p:nvSpPr>
          <p:cNvPr id="52" name="Text Box 1032"/>
          <p:cNvSpPr txBox="1">
            <a:spLocks noChangeArrowheads="1"/>
          </p:cNvSpPr>
          <p:nvPr/>
        </p:nvSpPr>
        <p:spPr bwMode="auto">
          <a:xfrm>
            <a:off x="939805" y="1988840"/>
            <a:ext cx="10196755" cy="1082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20000"/>
              </a:lnSpc>
            </a:pPr>
            <a:r>
              <a:rPr lang="zh-CN" altLang="en-US" sz="2800" i="0" dirty="0">
                <a:solidFill>
                  <a:srgbClr val="FF0000"/>
                </a:solidFill>
                <a:latin typeface="微软雅黑" panose="020B0503020204020204" pitchFamily="34" charset="-122"/>
                <a:ea typeface="微软雅黑" panose="020B0503020204020204" pitchFamily="34" charset="-122"/>
              </a:rPr>
              <a:t>质点的动量   </a:t>
            </a:r>
            <a:r>
              <a:rPr lang="en-US" altLang="zh-CN" sz="2800" b="0" dirty="0">
                <a:latin typeface="+mj-lt"/>
              </a:rPr>
              <a:t>m</a:t>
            </a:r>
            <a:r>
              <a:rPr lang="en-US" altLang="zh-CN" sz="2800" dirty="0">
                <a:latin typeface="+mj-lt"/>
              </a:rPr>
              <a:t>v</a:t>
            </a:r>
          </a:p>
          <a:p>
            <a:pPr>
              <a:lnSpc>
                <a:spcPct val="120000"/>
              </a:lnSpc>
            </a:pPr>
            <a:r>
              <a:rPr lang="zh-CN" altLang="en-US" sz="2800" i="0" dirty="0">
                <a:latin typeface="+mj-lt"/>
                <a:ea typeface="微软雅黑" panose="020B0503020204020204" pitchFamily="34" charset="-122"/>
              </a:rPr>
              <a:t>动量是矢量，它与质点的速度</a:t>
            </a:r>
            <a:r>
              <a:rPr lang="en-US" altLang="zh-CN" sz="2800" dirty="0">
                <a:latin typeface="+mj-lt"/>
                <a:ea typeface="微软雅黑" panose="020B0503020204020204" pitchFamily="34" charset="-122"/>
              </a:rPr>
              <a:t>v</a:t>
            </a:r>
            <a:r>
              <a:rPr lang="zh-CN" altLang="en-US" sz="2800" i="0" dirty="0">
                <a:latin typeface="+mj-lt"/>
                <a:ea typeface="微软雅黑" panose="020B0503020204020204" pitchFamily="34" charset="-122"/>
              </a:rPr>
              <a:t>方向相同，动量的单位是</a:t>
            </a:r>
            <a:r>
              <a:rPr lang="en-US" altLang="zh-CN" sz="2800" b="0" i="0" dirty="0" err="1">
                <a:latin typeface="+mj-lt"/>
                <a:ea typeface="微软雅黑" panose="020B0503020204020204" pitchFamily="34" charset="-122"/>
              </a:rPr>
              <a:t>kg·m</a:t>
            </a:r>
            <a:r>
              <a:rPr lang="en-US" altLang="zh-CN" sz="2800" b="0" i="0" dirty="0">
                <a:latin typeface="+mj-lt"/>
                <a:ea typeface="微软雅黑" panose="020B0503020204020204" pitchFamily="34" charset="-122"/>
              </a:rPr>
              <a:t>/s</a:t>
            </a:r>
            <a:r>
              <a:rPr lang="zh-CN" altLang="en-US" sz="2800" i="0" dirty="0">
                <a:latin typeface="+mj-lt"/>
                <a:ea typeface="微软雅黑" panose="020B0503020204020204" pitchFamily="34" charset="-122"/>
              </a:rPr>
              <a:t>。</a:t>
            </a:r>
            <a:endParaRPr lang="zh-CN" altLang="en-US" sz="2800" i="0" dirty="0">
              <a:latin typeface="微软雅黑" panose="020B0503020204020204" pitchFamily="34" charset="-122"/>
              <a:ea typeface="微软雅黑" panose="020B0503020204020204" pitchFamily="34" charset="-122"/>
            </a:endParaRPr>
          </a:p>
        </p:txBody>
      </p:sp>
      <p:sp>
        <p:nvSpPr>
          <p:cNvPr id="6" name="矩形 5"/>
          <p:cNvSpPr/>
          <p:nvPr/>
        </p:nvSpPr>
        <p:spPr>
          <a:xfrm>
            <a:off x="3877201" y="1389509"/>
            <a:ext cx="2492990" cy="599331"/>
          </a:xfrm>
          <a:prstGeom prst="rect">
            <a:avLst/>
          </a:prstGeom>
        </p:spPr>
        <p:txBody>
          <a:bodyPr wrap="none">
            <a:spAutoFit/>
          </a:bodyPr>
          <a:lstStyle/>
          <a:p>
            <a:pPr>
              <a:lnSpc>
                <a:spcPct val="120000"/>
              </a:lnSpc>
            </a:pPr>
            <a:r>
              <a:rPr lang="zh-CN" altLang="en-US" sz="3000" i="0" dirty="0">
                <a:solidFill>
                  <a:srgbClr val="4F81BD"/>
                </a:solidFill>
                <a:latin typeface="微软雅黑" panose="020B0503020204020204" pitchFamily="34" charset="-122"/>
                <a:ea typeface="微软雅黑" panose="020B0503020204020204" pitchFamily="34" charset="-122"/>
              </a:rPr>
              <a:t>质点动量定理</a:t>
            </a:r>
          </a:p>
        </p:txBody>
      </p:sp>
      <p:sp>
        <p:nvSpPr>
          <p:cNvPr id="14" name="Text Box 1032"/>
          <p:cNvSpPr txBox="1">
            <a:spLocks noChangeArrowheads="1"/>
          </p:cNvSpPr>
          <p:nvPr/>
        </p:nvSpPr>
        <p:spPr bwMode="auto">
          <a:xfrm>
            <a:off x="939805" y="3588317"/>
            <a:ext cx="9404667" cy="1082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20000"/>
              </a:lnSpc>
            </a:pPr>
            <a:r>
              <a:rPr lang="zh-CN" altLang="en-US" sz="2800" i="0" dirty="0">
                <a:solidFill>
                  <a:srgbClr val="FF0000"/>
                </a:solidFill>
                <a:latin typeface="微软雅黑" panose="020B0503020204020204" pitchFamily="34" charset="-122"/>
                <a:ea typeface="微软雅黑" panose="020B0503020204020204" pitchFamily="34" charset="-122"/>
              </a:rPr>
              <a:t>常力的冲量</a:t>
            </a:r>
            <a:r>
              <a:rPr lang="zh-CN" altLang="en-US" sz="2800" b="0" dirty="0">
                <a:latin typeface="+mj-lt"/>
              </a:rPr>
              <a:t>    </a:t>
            </a:r>
            <a:r>
              <a:rPr lang="en-US" altLang="zh-CN" sz="2800" dirty="0"/>
              <a:t>I </a:t>
            </a:r>
            <a:r>
              <a:rPr lang="zh-CN" altLang="en-US" sz="2800" b="0" i="0" dirty="0"/>
              <a:t>＝</a:t>
            </a:r>
            <a:r>
              <a:rPr lang="zh-CN" altLang="en-US" sz="2800" dirty="0"/>
              <a:t> </a:t>
            </a:r>
            <a:r>
              <a:rPr lang="en-US" altLang="zh-CN" sz="2800" dirty="0"/>
              <a:t>F</a:t>
            </a:r>
            <a:r>
              <a:rPr lang="en-US" altLang="zh-CN" sz="2800" b="0" dirty="0"/>
              <a:t>t</a:t>
            </a:r>
          </a:p>
          <a:p>
            <a:pPr>
              <a:lnSpc>
                <a:spcPct val="120000"/>
              </a:lnSpc>
            </a:pPr>
            <a:r>
              <a:rPr lang="zh-CN" altLang="en-US" sz="2800" i="0" dirty="0">
                <a:latin typeface="+mj-lt"/>
                <a:ea typeface="微软雅黑" panose="020B0503020204020204" pitchFamily="34" charset="-122"/>
              </a:rPr>
              <a:t>冲量是矢量，它的方向与力的方向相同。冲量的单位是</a:t>
            </a:r>
            <a:r>
              <a:rPr lang="en-US" altLang="zh-CN" sz="2800" b="0" i="0" dirty="0">
                <a:latin typeface="+mj-lt"/>
                <a:ea typeface="微软雅黑" panose="020B0503020204020204" pitchFamily="34" charset="-122"/>
              </a:rPr>
              <a:t>N·s</a:t>
            </a:r>
            <a:r>
              <a:rPr lang="zh-CN" altLang="en-US" sz="2800" i="0" dirty="0">
                <a:ea typeface="微软雅黑" panose="020B0503020204020204" pitchFamily="34" charset="-122"/>
              </a:rPr>
              <a:t>。</a:t>
            </a:r>
            <a:endParaRPr lang="zh-CN" altLang="en-US" sz="2800" b="0" i="0" dirty="0">
              <a:latin typeface="+mj-lt"/>
              <a:ea typeface="微软雅黑" panose="020B0503020204020204" pitchFamily="34" charset="-122"/>
            </a:endParaRPr>
          </a:p>
        </p:txBody>
      </p:sp>
      <p:sp>
        <p:nvSpPr>
          <p:cNvPr id="15" name="Text Box 1032"/>
          <p:cNvSpPr txBox="1">
            <a:spLocks noChangeArrowheads="1"/>
          </p:cNvSpPr>
          <p:nvPr/>
        </p:nvSpPr>
        <p:spPr bwMode="auto">
          <a:xfrm>
            <a:off x="939805" y="5013176"/>
            <a:ext cx="8972619" cy="1169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lvl="0">
              <a:lnSpc>
                <a:spcPct val="130000"/>
              </a:lnSpc>
            </a:pPr>
            <a:r>
              <a:rPr lang="zh-CN" altLang="en-US" sz="2800" i="0" dirty="0">
                <a:solidFill>
                  <a:srgbClr val="FF0000"/>
                </a:solidFill>
                <a:latin typeface="微软雅黑" panose="020B0503020204020204" pitchFamily="34" charset="-122"/>
                <a:ea typeface="微软雅黑" panose="020B0503020204020204" pitchFamily="34" charset="-122"/>
              </a:rPr>
              <a:t>变力的元冲量</a:t>
            </a:r>
            <a:r>
              <a:rPr lang="zh-CN" altLang="en-US" sz="2800" b="0" dirty="0">
                <a:latin typeface="+mj-lt"/>
              </a:rPr>
              <a:t>    </a:t>
            </a:r>
            <a:r>
              <a:rPr kumimoji="1" lang="en-US" altLang="zh-CN" sz="2800" b="0" i="0" dirty="0" err="1">
                <a:ea typeface="黑体" panose="02010609060101010101" pitchFamily="49" charset="-122"/>
              </a:rPr>
              <a:t>d</a:t>
            </a:r>
            <a:r>
              <a:rPr kumimoji="1" lang="en-US" altLang="zh-CN" sz="2800" dirty="0" err="1">
                <a:ea typeface="黑体" panose="02010609060101010101" pitchFamily="49" charset="-122"/>
              </a:rPr>
              <a:t>I</a:t>
            </a:r>
            <a:r>
              <a:rPr kumimoji="1" lang="en-US" altLang="zh-CN" sz="2800" b="0" i="0" dirty="0">
                <a:ea typeface="黑体" panose="02010609060101010101" pitchFamily="49" charset="-122"/>
              </a:rPr>
              <a:t> </a:t>
            </a:r>
            <a:r>
              <a:rPr kumimoji="1" lang="zh-CN" altLang="en-US" sz="2800" b="0" i="0" dirty="0">
                <a:ea typeface="黑体" panose="02010609060101010101" pitchFamily="49" charset="-122"/>
              </a:rPr>
              <a:t>＝</a:t>
            </a:r>
            <a:r>
              <a:rPr kumimoji="1" lang="zh-CN" altLang="en-US" sz="2800" dirty="0">
                <a:ea typeface="黑体" panose="02010609060101010101" pitchFamily="49" charset="-122"/>
              </a:rPr>
              <a:t> </a:t>
            </a:r>
            <a:r>
              <a:rPr kumimoji="1" lang="en-US" altLang="zh-CN" sz="2800" dirty="0" err="1">
                <a:ea typeface="黑体" panose="02010609060101010101" pitchFamily="49" charset="-122"/>
              </a:rPr>
              <a:t>F</a:t>
            </a:r>
            <a:r>
              <a:rPr kumimoji="1" lang="en-US" altLang="zh-CN" sz="2800" b="0" i="0" dirty="0" err="1">
                <a:ea typeface="黑体" panose="02010609060101010101" pitchFamily="49" charset="-122"/>
              </a:rPr>
              <a:t>d</a:t>
            </a:r>
            <a:r>
              <a:rPr kumimoji="1" lang="en-US" altLang="zh-CN" sz="2800" b="0" dirty="0" err="1">
                <a:ea typeface="黑体" panose="02010609060101010101" pitchFamily="49" charset="-122"/>
              </a:rPr>
              <a:t>t</a:t>
            </a:r>
            <a:endParaRPr kumimoji="1" lang="en-US" altLang="zh-CN" sz="2800" b="0" dirty="0">
              <a:ea typeface="黑体" panose="02010609060101010101" pitchFamily="49" charset="-122"/>
            </a:endParaRPr>
          </a:p>
          <a:p>
            <a:pPr>
              <a:lnSpc>
                <a:spcPct val="120000"/>
              </a:lnSpc>
            </a:pPr>
            <a:r>
              <a:rPr lang="zh-CN" altLang="en-US" sz="2800" i="0" dirty="0">
                <a:latin typeface="+mj-lt"/>
                <a:ea typeface="微软雅黑" panose="020B0503020204020204" pitchFamily="34" charset="-122"/>
              </a:rPr>
              <a:t>在</a:t>
            </a:r>
            <a:r>
              <a:rPr kumimoji="1" lang="en-US" altLang="zh-CN" sz="2800" b="0" dirty="0">
                <a:ea typeface="黑体" panose="02010609060101010101" pitchFamily="49" charset="-122"/>
              </a:rPr>
              <a:t>t</a:t>
            </a:r>
            <a:r>
              <a:rPr kumimoji="1" lang="en-US" altLang="zh-CN" sz="2800" b="0" i="0" baseline="-25000" dirty="0">
                <a:ea typeface="黑体" panose="02010609060101010101" pitchFamily="49" charset="-122"/>
              </a:rPr>
              <a:t>1</a:t>
            </a:r>
            <a:r>
              <a:rPr lang="zh-CN" altLang="en-US" sz="2800" dirty="0">
                <a:latin typeface="仿宋_GB2312" pitchFamily="49" charset="-122"/>
                <a:ea typeface="仿宋_GB2312" pitchFamily="49" charset="-122"/>
              </a:rPr>
              <a:t>～</a:t>
            </a:r>
            <a:r>
              <a:rPr kumimoji="1" lang="en-US" altLang="zh-CN" sz="2800" b="0" dirty="0">
                <a:ea typeface="黑体" panose="02010609060101010101" pitchFamily="49" charset="-122"/>
              </a:rPr>
              <a:t> t</a:t>
            </a:r>
            <a:r>
              <a:rPr kumimoji="1" lang="en-US" altLang="zh-CN" sz="2800" b="0" i="0" baseline="-25000" dirty="0">
                <a:ea typeface="黑体" panose="02010609060101010101" pitchFamily="49" charset="-122"/>
              </a:rPr>
              <a:t>2</a:t>
            </a:r>
            <a:r>
              <a:rPr lang="zh-CN" altLang="en-US" sz="2800" i="0" dirty="0">
                <a:latin typeface="+mj-lt"/>
                <a:ea typeface="微软雅黑" panose="020B0503020204020204" pitchFamily="34" charset="-122"/>
              </a:rPr>
              <a:t>内的冲量</a:t>
            </a:r>
            <a:endParaRPr lang="zh-CN" altLang="en-US" sz="2800" b="0" i="0" dirty="0">
              <a:latin typeface="+mj-lt"/>
              <a:ea typeface="微软雅黑" panose="020B0503020204020204" pitchFamily="34" charset="-122"/>
            </a:endParaRPr>
          </a:p>
        </p:txBody>
      </p:sp>
      <p:graphicFrame>
        <p:nvGraphicFramePr>
          <p:cNvPr id="16" name="Object 6"/>
          <p:cNvGraphicFramePr>
            <a:graphicFrameLocks noChangeAspect="1"/>
          </p:cNvGraphicFramePr>
          <p:nvPr>
            <p:extLst>
              <p:ext uri="{D42A27DB-BD31-4B8C-83A1-F6EECF244321}">
                <p14:modId xmlns:p14="http://schemas.microsoft.com/office/powerpoint/2010/main" val="1692617320"/>
              </p:ext>
            </p:extLst>
          </p:nvPr>
        </p:nvGraphicFramePr>
        <p:xfrm>
          <a:off x="4007768" y="5517232"/>
          <a:ext cx="1584176" cy="826171"/>
        </p:xfrm>
        <a:graphic>
          <a:graphicData uri="http://schemas.openxmlformats.org/presentationml/2006/ole">
            <mc:AlternateContent xmlns:mc="http://schemas.openxmlformats.org/markup-compatibility/2006">
              <mc:Choice xmlns:v="urn:schemas-microsoft-com:vml" Requires="v">
                <p:oleObj spid="_x0000_s1039" name="Equation" r:id="rId4" imgW="685800" imgH="355320" progId="Equation.DSMT4">
                  <p:embed/>
                </p:oleObj>
              </mc:Choice>
              <mc:Fallback>
                <p:oleObj name="Equation" r:id="rId4" imgW="685800" imgH="355320" progId="Equation.DSMT4">
                  <p:embed/>
                  <p:pic>
                    <p:nvPicPr>
                      <p:cNvPr id="0" name=""/>
                      <p:cNvPicPr>
                        <a:picLocks noChangeAspect="1" noChangeArrowheads="1"/>
                      </p:cNvPicPr>
                      <p:nvPr/>
                    </p:nvPicPr>
                    <p:blipFill>
                      <a:blip r:embed="rId5"/>
                      <a:srcRect/>
                      <a:stretch>
                        <a:fillRect/>
                      </a:stretch>
                    </p:blipFill>
                    <p:spPr bwMode="auto">
                      <a:xfrm>
                        <a:off x="4007768" y="5517232"/>
                        <a:ext cx="1584176" cy="826171"/>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504319100"/>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utoUpdateAnimBg="0"/>
      <p:bldP spid="14" grpId="0" autoUpdateAnimBg="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4653838"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第七章   动力学普遍定理</a:t>
            </a:r>
          </a:p>
        </p:txBody>
      </p:sp>
      <p:sp>
        <p:nvSpPr>
          <p:cNvPr id="52" name="Text Box 1032"/>
          <p:cNvSpPr txBox="1">
            <a:spLocks noChangeArrowheads="1"/>
          </p:cNvSpPr>
          <p:nvPr/>
        </p:nvSpPr>
        <p:spPr bwMode="auto">
          <a:xfrm>
            <a:off x="939805" y="888927"/>
            <a:ext cx="7091604" cy="1643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20000"/>
              </a:lnSpc>
            </a:pPr>
            <a:r>
              <a:rPr lang="zh-CN" altLang="en-US" sz="2800" i="0" dirty="0">
                <a:solidFill>
                  <a:srgbClr val="FF0000"/>
                </a:solidFill>
                <a:latin typeface="微软雅黑" panose="020B0503020204020204" pitchFamily="34" charset="-122"/>
                <a:ea typeface="微软雅黑" panose="020B0503020204020204" pitchFamily="34" charset="-122"/>
              </a:rPr>
              <a:t>质点的动量定理   </a:t>
            </a:r>
            <a:endParaRPr lang="en-US" altLang="zh-CN" sz="2800" i="0" dirty="0">
              <a:solidFill>
                <a:srgbClr val="FF0000"/>
              </a:solidFill>
              <a:latin typeface="微软雅黑" panose="020B0503020204020204" pitchFamily="34" charset="-122"/>
              <a:ea typeface="微软雅黑" panose="020B0503020204020204" pitchFamily="34" charset="-122"/>
            </a:endParaRPr>
          </a:p>
          <a:p>
            <a:pPr lvl="0">
              <a:lnSpc>
                <a:spcPct val="120000"/>
              </a:lnSpc>
            </a:pPr>
            <a:r>
              <a:rPr lang="zh-CN" altLang="en-US" sz="2800" i="0" dirty="0">
                <a:latin typeface="+mj-lt"/>
                <a:ea typeface="微软雅黑" panose="020B0503020204020204" pitchFamily="34" charset="-122"/>
              </a:rPr>
              <a:t>设质量为</a:t>
            </a:r>
            <a:r>
              <a:rPr kumimoji="1" lang="en-US" altLang="zh-CN" sz="2800" b="0" dirty="0">
                <a:latin typeface="+mn-lt"/>
                <a:ea typeface="微软雅黑" panose="020B0503020204020204" pitchFamily="34" charset="-122"/>
              </a:rPr>
              <a:t>m</a:t>
            </a:r>
            <a:r>
              <a:rPr kumimoji="1" lang="zh-CN" altLang="en-US" sz="2800" i="0" dirty="0">
                <a:latin typeface="+mn-lt"/>
                <a:ea typeface="微软雅黑" panose="020B0503020204020204" pitchFamily="34" charset="-122"/>
              </a:rPr>
              <a:t>的质点</a:t>
            </a:r>
            <a:r>
              <a:rPr kumimoji="1" lang="en-US" altLang="zh-CN" sz="2800" b="0" dirty="0">
                <a:latin typeface="+mn-lt"/>
                <a:ea typeface="微软雅黑" panose="020B0503020204020204" pitchFamily="34" charset="-122"/>
              </a:rPr>
              <a:t>M </a:t>
            </a:r>
            <a:r>
              <a:rPr kumimoji="1" lang="zh-CN" altLang="en-US" sz="2800" i="0" dirty="0">
                <a:latin typeface="+mn-lt"/>
                <a:ea typeface="微软雅黑" panose="020B0503020204020204" pitchFamily="34" charset="-122"/>
              </a:rPr>
              <a:t>在合力</a:t>
            </a:r>
            <a:r>
              <a:rPr kumimoji="1" lang="en-US" altLang="zh-CN" sz="2800" dirty="0">
                <a:latin typeface="+mn-lt"/>
                <a:ea typeface="微软雅黑" panose="020B0503020204020204" pitchFamily="34" charset="-122"/>
              </a:rPr>
              <a:t>F </a:t>
            </a:r>
            <a:r>
              <a:rPr kumimoji="1" lang="zh-CN" altLang="en-US" sz="2800" i="0" dirty="0">
                <a:latin typeface="+mn-lt"/>
                <a:ea typeface="微软雅黑" panose="020B0503020204020204" pitchFamily="34" charset="-122"/>
              </a:rPr>
              <a:t>的作用下运动，其速度为</a:t>
            </a:r>
            <a:r>
              <a:rPr kumimoji="1" lang="en-US" altLang="zh-CN" sz="2800" dirty="0">
                <a:latin typeface="+mn-lt"/>
                <a:ea typeface="微软雅黑" panose="020B0503020204020204" pitchFamily="34" charset="-122"/>
              </a:rPr>
              <a:t>v</a:t>
            </a:r>
            <a:r>
              <a:rPr kumimoji="1" lang="en-US" altLang="zh-CN" sz="2800" i="0" dirty="0">
                <a:latin typeface="+mn-lt"/>
                <a:ea typeface="微软雅黑" panose="020B0503020204020204" pitchFamily="34" charset="-122"/>
              </a:rPr>
              <a:t> (</a:t>
            </a:r>
            <a:r>
              <a:rPr kumimoji="1" lang="zh-CN" altLang="en-US" sz="2800" i="0" dirty="0">
                <a:latin typeface="+mn-lt"/>
                <a:ea typeface="微软雅黑" panose="020B0503020204020204" pitchFamily="34" charset="-122"/>
              </a:rPr>
              <a:t>如图）。根据动力学基本方程有</a:t>
            </a:r>
            <a:endParaRPr lang="zh-CN" altLang="en-US" sz="2800" i="0" dirty="0">
              <a:latin typeface="微软雅黑" panose="020B0503020204020204" pitchFamily="34" charset="-122"/>
              <a:ea typeface="微软雅黑" panose="020B0503020204020204" pitchFamily="34" charset="-122"/>
            </a:endParaRPr>
          </a:p>
        </p:txBody>
      </p:sp>
      <p:sp>
        <p:nvSpPr>
          <p:cNvPr id="9" name="Rectangle 61"/>
          <p:cNvSpPr>
            <a:spLocks noChangeArrowheads="1"/>
          </p:cNvSpPr>
          <p:nvPr/>
        </p:nvSpPr>
        <p:spPr bwMode="auto">
          <a:xfrm>
            <a:off x="8064565" y="1196752"/>
            <a:ext cx="4079776" cy="3682281"/>
          </a:xfrm>
          <a:prstGeom prst="rect">
            <a:avLst/>
          </a:prstGeom>
          <a:solidFill>
            <a:srgbClr val="B9CDE5"/>
          </a:solidFill>
          <a:ln>
            <a:noFill/>
          </a:ln>
          <a:effectLst/>
        </p:spPr>
        <p:txBody>
          <a:bodyPr wrap="none" anchor="ctr"/>
          <a:lstStyle/>
          <a:p>
            <a:endParaRPr lang="zh-CN" altLang="en-US"/>
          </a:p>
        </p:txBody>
      </p:sp>
      <p:grpSp>
        <p:nvGrpSpPr>
          <p:cNvPr id="10" name="Group 11"/>
          <p:cNvGrpSpPr>
            <a:grpSpLocks/>
          </p:cNvGrpSpPr>
          <p:nvPr/>
        </p:nvGrpSpPr>
        <p:grpSpPr bwMode="auto">
          <a:xfrm>
            <a:off x="8616280" y="1461146"/>
            <a:ext cx="3792537" cy="3417887"/>
            <a:chOff x="3371" y="1267"/>
            <a:chExt cx="2389" cy="2153"/>
          </a:xfrm>
        </p:grpSpPr>
        <p:sp>
          <p:nvSpPr>
            <p:cNvPr id="11" name="Text Box 12"/>
            <p:cNvSpPr txBox="1">
              <a:spLocks noChangeAspect="1" noChangeArrowheads="1"/>
            </p:cNvSpPr>
            <p:nvPr/>
          </p:nvSpPr>
          <p:spPr bwMode="auto">
            <a:xfrm>
              <a:off x="3474" y="2581"/>
              <a:ext cx="431"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3200" b="0" i="0" u="none" strike="noStrike" kern="0" cap="none" spc="0" normalizeH="0" baseline="0" noProof="0">
                  <a:ln>
                    <a:noFill/>
                  </a:ln>
                  <a:solidFill>
                    <a:srgbClr val="D60093"/>
                  </a:solidFill>
                  <a:effectLst/>
                  <a:uLnTx/>
                  <a:uFillTx/>
                  <a:ea typeface="黑体" panose="02010609060101010101" pitchFamily="49" charset="-122"/>
                  <a:sym typeface="Symbol" panose="05050102010706020507" pitchFamily="18" charset="2"/>
                </a:rPr>
                <a:t> O</a:t>
              </a:r>
            </a:p>
          </p:txBody>
        </p:sp>
        <p:sp>
          <p:nvSpPr>
            <p:cNvPr id="12" name="Text Box 13"/>
            <p:cNvSpPr txBox="1">
              <a:spLocks noChangeAspect="1" noChangeArrowheads="1"/>
            </p:cNvSpPr>
            <p:nvPr/>
          </p:nvSpPr>
          <p:spPr bwMode="auto">
            <a:xfrm>
              <a:off x="3416" y="3017"/>
              <a:ext cx="432" cy="40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3200" b="0" u="none" strike="noStrike" kern="0" cap="none" spc="0" normalizeH="0" baseline="0" noProof="0" dirty="0">
                  <a:ln>
                    <a:noFill/>
                  </a:ln>
                  <a:solidFill>
                    <a:sysClr val="windowText" lastClr="000000"/>
                  </a:solidFill>
                  <a:effectLst/>
                  <a:uLnTx/>
                  <a:uFillTx/>
                </a:rPr>
                <a:t>x</a:t>
              </a:r>
            </a:p>
          </p:txBody>
        </p:sp>
        <p:sp>
          <p:nvSpPr>
            <p:cNvPr id="13" name="Line 14"/>
            <p:cNvSpPr>
              <a:spLocks noChangeAspect="1" noChangeShapeType="1"/>
            </p:cNvSpPr>
            <p:nvPr/>
          </p:nvSpPr>
          <p:spPr bwMode="auto">
            <a:xfrm flipV="1">
              <a:off x="3788" y="1353"/>
              <a:ext cx="0" cy="1468"/>
            </a:xfrm>
            <a:prstGeom prst="line">
              <a:avLst/>
            </a:prstGeom>
            <a:noFill/>
            <a:ln w="19050">
              <a:solidFill>
                <a:srgbClr val="FF00FF"/>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7" name="Line 15"/>
            <p:cNvSpPr>
              <a:spLocks noChangeAspect="1" noChangeShapeType="1"/>
            </p:cNvSpPr>
            <p:nvPr/>
          </p:nvSpPr>
          <p:spPr bwMode="auto">
            <a:xfrm>
              <a:off x="3788" y="2821"/>
              <a:ext cx="1770" cy="0"/>
            </a:xfrm>
            <a:prstGeom prst="line">
              <a:avLst/>
            </a:prstGeom>
            <a:noFill/>
            <a:ln w="19050">
              <a:solidFill>
                <a:srgbClr val="FF00FF"/>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8" name="Line 16"/>
            <p:cNvSpPr>
              <a:spLocks noChangeAspect="1" noChangeShapeType="1"/>
            </p:cNvSpPr>
            <p:nvPr/>
          </p:nvSpPr>
          <p:spPr bwMode="auto">
            <a:xfrm flipH="1">
              <a:off x="3371" y="2821"/>
              <a:ext cx="417" cy="432"/>
            </a:xfrm>
            <a:prstGeom prst="line">
              <a:avLst/>
            </a:prstGeom>
            <a:noFill/>
            <a:ln w="19050">
              <a:solidFill>
                <a:srgbClr val="FF00FF"/>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9" name="Text Box 17"/>
            <p:cNvSpPr txBox="1">
              <a:spLocks noChangeAspect="1" noChangeArrowheads="1"/>
            </p:cNvSpPr>
            <p:nvPr/>
          </p:nvSpPr>
          <p:spPr bwMode="auto">
            <a:xfrm>
              <a:off x="5328" y="2749"/>
              <a:ext cx="432"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3200" b="0" u="none" strike="noStrike" kern="0" cap="none" spc="0" normalizeH="0" baseline="0" noProof="0" dirty="0">
                  <a:ln>
                    <a:noFill/>
                  </a:ln>
                  <a:solidFill>
                    <a:sysClr val="windowText" lastClr="000000"/>
                  </a:solidFill>
                  <a:effectLst/>
                  <a:uLnTx/>
                  <a:uFillTx/>
                </a:rPr>
                <a:t>y</a:t>
              </a:r>
              <a:endParaRPr kumimoji="1" lang="en-US" altLang="zh-CN" sz="3200" b="0" u="none" strike="noStrike" kern="0" cap="none" spc="0" normalizeH="0" baseline="0" noProof="0" dirty="0">
                <a:ln>
                  <a:noFill/>
                </a:ln>
                <a:solidFill>
                  <a:sysClr val="windowText" lastClr="000000"/>
                </a:solidFill>
                <a:effectLst/>
                <a:uLnTx/>
                <a:uFillTx/>
                <a:ea typeface="黑体" panose="02010609060101010101" pitchFamily="49" charset="-122"/>
              </a:endParaRPr>
            </a:p>
          </p:txBody>
        </p:sp>
        <p:sp>
          <p:nvSpPr>
            <p:cNvPr id="20" name="Text Box 18"/>
            <p:cNvSpPr txBox="1">
              <a:spLocks noChangeAspect="1" noChangeArrowheads="1"/>
            </p:cNvSpPr>
            <p:nvPr/>
          </p:nvSpPr>
          <p:spPr bwMode="auto">
            <a:xfrm>
              <a:off x="3745" y="1267"/>
              <a:ext cx="432" cy="40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3200" b="0" u="none" strike="noStrike" kern="0" cap="none" spc="0" normalizeH="0" baseline="0" noProof="0" dirty="0">
                  <a:ln>
                    <a:noFill/>
                  </a:ln>
                  <a:solidFill>
                    <a:sysClr val="windowText" lastClr="000000"/>
                  </a:solidFill>
                  <a:effectLst/>
                  <a:uLnTx/>
                  <a:uFillTx/>
                </a:rPr>
                <a:t>z</a:t>
              </a:r>
            </a:p>
          </p:txBody>
        </p:sp>
      </p:grpSp>
      <p:sp>
        <p:nvSpPr>
          <p:cNvPr id="21" name="Arc 19"/>
          <p:cNvSpPr>
            <a:spLocks/>
          </p:cNvSpPr>
          <p:nvPr/>
        </p:nvSpPr>
        <p:spPr bwMode="auto">
          <a:xfrm rot="11106470" flipV="1">
            <a:off x="8461867" y="2767782"/>
            <a:ext cx="3414713" cy="1719263"/>
          </a:xfrm>
          <a:custGeom>
            <a:avLst/>
            <a:gdLst>
              <a:gd name="G0" fmla="+- 0 0 0"/>
              <a:gd name="G1" fmla="+- 21584 0 0"/>
              <a:gd name="G2" fmla="+- 21600 0 0"/>
              <a:gd name="T0" fmla="*/ 835 w 20205"/>
              <a:gd name="T1" fmla="*/ 0 h 21584"/>
              <a:gd name="T2" fmla="*/ 20205 w 20205"/>
              <a:gd name="T3" fmla="*/ 13947 h 21584"/>
              <a:gd name="T4" fmla="*/ 0 w 20205"/>
              <a:gd name="T5" fmla="*/ 21584 h 21584"/>
            </a:gdLst>
            <a:ahLst/>
            <a:cxnLst>
              <a:cxn ang="0">
                <a:pos x="T0" y="T1"/>
              </a:cxn>
              <a:cxn ang="0">
                <a:pos x="T2" y="T3"/>
              </a:cxn>
              <a:cxn ang="0">
                <a:pos x="T4" y="T5"/>
              </a:cxn>
            </a:cxnLst>
            <a:rect l="0" t="0" r="r" b="b"/>
            <a:pathLst>
              <a:path w="20205" h="21584" fill="none" extrusionOk="0">
                <a:moveTo>
                  <a:pt x="834" y="0"/>
                </a:moveTo>
                <a:cubicBezTo>
                  <a:pt x="9507" y="335"/>
                  <a:pt x="17136" y="5828"/>
                  <a:pt x="20204" y="13947"/>
                </a:cubicBezTo>
              </a:path>
              <a:path w="20205" h="21584" stroke="0" extrusionOk="0">
                <a:moveTo>
                  <a:pt x="834" y="0"/>
                </a:moveTo>
                <a:cubicBezTo>
                  <a:pt x="9507" y="335"/>
                  <a:pt x="17136" y="5828"/>
                  <a:pt x="20204" y="13947"/>
                </a:cubicBezTo>
                <a:lnTo>
                  <a:pt x="0" y="21584"/>
                </a:lnTo>
                <a:close/>
              </a:path>
            </a:pathLst>
          </a:cu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22" name="Text Box 20"/>
          <p:cNvSpPr txBox="1">
            <a:spLocks noChangeArrowheads="1"/>
          </p:cNvSpPr>
          <p:nvPr/>
        </p:nvSpPr>
        <p:spPr bwMode="auto">
          <a:xfrm>
            <a:off x="9733880" y="3229745"/>
            <a:ext cx="6604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kumimoji="1" lang="en-US" altLang="zh-CN" sz="2800" dirty="0">
                <a:solidFill>
                  <a:schemeClr val="tx1"/>
                </a:solidFill>
                <a:ea typeface="黑体" panose="02010609060101010101" pitchFamily="49" charset="-122"/>
                <a:cs typeface="Times New Roman" panose="02020603050405020304" pitchFamily="18" charset="0"/>
              </a:rPr>
              <a:t>a</a:t>
            </a:r>
          </a:p>
        </p:txBody>
      </p:sp>
      <p:sp>
        <p:nvSpPr>
          <p:cNvPr id="23" name="Text Box 21"/>
          <p:cNvSpPr txBox="1">
            <a:spLocks noChangeArrowheads="1"/>
          </p:cNvSpPr>
          <p:nvPr/>
        </p:nvSpPr>
        <p:spPr bwMode="auto">
          <a:xfrm>
            <a:off x="10562130" y="3605982"/>
            <a:ext cx="6604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kumimoji="1" lang="en-US" altLang="zh-CN" sz="2800">
                <a:solidFill>
                  <a:srgbClr val="FF0000"/>
                </a:solidFill>
                <a:ea typeface="黑体" panose="02010609060101010101" pitchFamily="49" charset="-122"/>
                <a:cs typeface="Times New Roman" panose="02020603050405020304" pitchFamily="18" charset="0"/>
              </a:rPr>
              <a:t>F</a:t>
            </a:r>
            <a:endParaRPr kumimoji="1" lang="en-US" altLang="zh-CN" b="0" i="0" baseline="-25000">
              <a:solidFill>
                <a:srgbClr val="FF0000"/>
              </a:solidFill>
              <a:ea typeface="黑体" panose="02010609060101010101" pitchFamily="49" charset="-122"/>
              <a:cs typeface="Times New Roman" panose="02020603050405020304" pitchFamily="18" charset="0"/>
            </a:endParaRPr>
          </a:p>
        </p:txBody>
      </p:sp>
      <p:sp>
        <p:nvSpPr>
          <p:cNvPr id="24" name="Text Box 22"/>
          <p:cNvSpPr txBox="1">
            <a:spLocks noChangeArrowheads="1"/>
          </p:cNvSpPr>
          <p:nvPr/>
        </p:nvSpPr>
        <p:spPr bwMode="auto">
          <a:xfrm>
            <a:off x="8191992" y="3045595"/>
            <a:ext cx="6111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kumimoji="1" lang="en-US" altLang="zh-CN" b="0" dirty="0">
                <a:solidFill>
                  <a:schemeClr val="tx1"/>
                </a:solidFill>
                <a:ea typeface="黑体" panose="02010609060101010101" pitchFamily="49" charset="-122"/>
              </a:rPr>
              <a:t>M</a:t>
            </a:r>
            <a:r>
              <a:rPr kumimoji="1" lang="en-US" altLang="zh-CN" b="0" i="0" baseline="-25000" dirty="0">
                <a:solidFill>
                  <a:schemeClr val="tx1"/>
                </a:solidFill>
                <a:ea typeface="黑体" panose="02010609060101010101" pitchFamily="49" charset="-122"/>
              </a:rPr>
              <a:t>1</a:t>
            </a:r>
          </a:p>
        </p:txBody>
      </p:sp>
      <p:sp>
        <p:nvSpPr>
          <p:cNvPr id="25" name="Line 23"/>
          <p:cNvSpPr>
            <a:spLocks noChangeShapeType="1"/>
          </p:cNvSpPr>
          <p:nvPr/>
        </p:nvSpPr>
        <p:spPr bwMode="auto">
          <a:xfrm rot="5400000" flipH="1" flipV="1">
            <a:off x="8652367" y="3118620"/>
            <a:ext cx="398463" cy="490537"/>
          </a:xfrm>
          <a:prstGeom prst="line">
            <a:avLst/>
          </a:prstGeom>
          <a:noFill/>
          <a:ln w="28575">
            <a:solidFill>
              <a:srgbClr val="FFFF66"/>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kumimoji="1" lang="zh-CN" altLang="en-US" b="0" i="0">
              <a:solidFill>
                <a:srgbClr val="FFFFFF"/>
              </a:solidFill>
              <a:ea typeface="黑体" panose="02010609060101010101" pitchFamily="49" charset="-122"/>
            </a:endParaRPr>
          </a:p>
        </p:txBody>
      </p:sp>
      <p:sp>
        <p:nvSpPr>
          <p:cNvPr id="26" name="Text Box 24"/>
          <p:cNvSpPr txBox="1">
            <a:spLocks noChangeArrowheads="1"/>
          </p:cNvSpPr>
          <p:nvPr/>
        </p:nvSpPr>
        <p:spPr bwMode="auto">
          <a:xfrm>
            <a:off x="8614267" y="2637607"/>
            <a:ext cx="6604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kumimoji="1" lang="en-US" altLang="zh-CN" sz="2800">
                <a:solidFill>
                  <a:srgbClr val="FFFF66"/>
                </a:solidFill>
                <a:latin typeface="Bookman Old Style" panose="02050604050505020204" pitchFamily="18" charset="0"/>
                <a:ea typeface="黑体" panose="02010609060101010101" pitchFamily="49" charset="-122"/>
                <a:cs typeface="Times New Roman" panose="02020603050405020304" pitchFamily="18" charset="0"/>
              </a:rPr>
              <a:t>v</a:t>
            </a:r>
            <a:r>
              <a:rPr kumimoji="1" lang="en-US" altLang="zh-CN" sz="2800" b="0" i="0" baseline="-25000">
                <a:solidFill>
                  <a:srgbClr val="FFFF66"/>
                </a:solidFill>
                <a:ea typeface="黑体" panose="02010609060101010101" pitchFamily="49" charset="-122"/>
                <a:cs typeface="Times New Roman" panose="02020603050405020304" pitchFamily="18" charset="0"/>
              </a:rPr>
              <a:t>1</a:t>
            </a:r>
            <a:endParaRPr kumimoji="1" lang="en-US" altLang="zh-CN" b="0" i="0" baseline="-25000">
              <a:solidFill>
                <a:srgbClr val="FFFF66"/>
              </a:solidFill>
              <a:ea typeface="黑体" panose="02010609060101010101" pitchFamily="49" charset="-122"/>
              <a:cs typeface="Times New Roman" panose="02020603050405020304" pitchFamily="18" charset="0"/>
              <a:sym typeface="Symbol" panose="05050102010706020507" pitchFamily="18" charset="2"/>
            </a:endParaRPr>
          </a:p>
        </p:txBody>
      </p:sp>
      <p:sp>
        <p:nvSpPr>
          <p:cNvPr id="27" name="Oval 25"/>
          <p:cNvSpPr>
            <a:spLocks noChangeArrowheads="1"/>
          </p:cNvSpPr>
          <p:nvPr/>
        </p:nvSpPr>
        <p:spPr bwMode="auto">
          <a:xfrm>
            <a:off x="8561880" y="3510732"/>
            <a:ext cx="96837" cy="96838"/>
          </a:xfrm>
          <a:prstGeom prst="ellipse">
            <a:avLst/>
          </a:prstGeom>
          <a:solidFill>
            <a:srgbClr val="FF000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28" name="Text Box 26"/>
          <p:cNvSpPr txBox="1">
            <a:spLocks noChangeArrowheads="1"/>
          </p:cNvSpPr>
          <p:nvPr/>
        </p:nvSpPr>
        <p:spPr bwMode="auto">
          <a:xfrm>
            <a:off x="10846292" y="2820170"/>
            <a:ext cx="6111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kumimoji="1" lang="en-US" altLang="zh-CN" b="0" dirty="0">
                <a:solidFill>
                  <a:schemeClr val="tx1"/>
                </a:solidFill>
                <a:ea typeface="黑体" panose="02010609060101010101" pitchFamily="49" charset="-122"/>
              </a:rPr>
              <a:t>M</a:t>
            </a:r>
            <a:r>
              <a:rPr kumimoji="1" lang="en-US" altLang="zh-CN" b="0" i="0" baseline="-25000" dirty="0">
                <a:solidFill>
                  <a:schemeClr val="tx1"/>
                </a:solidFill>
                <a:ea typeface="黑体" panose="02010609060101010101" pitchFamily="49" charset="-122"/>
              </a:rPr>
              <a:t>2</a:t>
            </a:r>
          </a:p>
        </p:txBody>
      </p:sp>
      <p:sp>
        <p:nvSpPr>
          <p:cNvPr id="29" name="Line 27"/>
          <p:cNvSpPr>
            <a:spLocks noChangeShapeType="1"/>
          </p:cNvSpPr>
          <p:nvPr/>
        </p:nvSpPr>
        <p:spPr bwMode="auto">
          <a:xfrm rot="5400000" flipH="1" flipV="1">
            <a:off x="11585273" y="2398689"/>
            <a:ext cx="60325" cy="931862"/>
          </a:xfrm>
          <a:prstGeom prst="line">
            <a:avLst/>
          </a:prstGeom>
          <a:noFill/>
          <a:ln w="28575">
            <a:solidFill>
              <a:srgbClr val="FFFF66"/>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kumimoji="1" lang="zh-CN" altLang="en-US" b="0" i="0">
              <a:solidFill>
                <a:srgbClr val="FFFFFF"/>
              </a:solidFill>
              <a:ea typeface="黑体" panose="02010609060101010101" pitchFamily="49" charset="-122"/>
            </a:endParaRPr>
          </a:p>
        </p:txBody>
      </p:sp>
      <p:sp>
        <p:nvSpPr>
          <p:cNvPr id="30" name="Text Box 28"/>
          <p:cNvSpPr txBox="1">
            <a:spLocks noChangeArrowheads="1"/>
          </p:cNvSpPr>
          <p:nvPr/>
        </p:nvSpPr>
        <p:spPr bwMode="auto">
          <a:xfrm>
            <a:off x="11338417" y="2313757"/>
            <a:ext cx="6604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kumimoji="1" lang="en-US" altLang="zh-CN" sz="2800">
                <a:solidFill>
                  <a:srgbClr val="FFFF66"/>
                </a:solidFill>
                <a:latin typeface="Bookman Old Style" panose="02050604050505020204" pitchFamily="18" charset="0"/>
                <a:ea typeface="黑体" panose="02010609060101010101" pitchFamily="49" charset="-122"/>
                <a:cs typeface="Times New Roman" panose="02020603050405020304" pitchFamily="18" charset="0"/>
              </a:rPr>
              <a:t>v</a:t>
            </a:r>
            <a:r>
              <a:rPr kumimoji="1" lang="en-US" altLang="zh-CN" sz="2800" b="0" i="0" baseline="-25000">
                <a:solidFill>
                  <a:srgbClr val="FFFF66"/>
                </a:solidFill>
                <a:ea typeface="黑体" panose="02010609060101010101" pitchFamily="49" charset="-122"/>
                <a:cs typeface="Times New Roman" panose="02020603050405020304" pitchFamily="18" charset="0"/>
              </a:rPr>
              <a:t>2</a:t>
            </a:r>
            <a:endParaRPr kumimoji="1" lang="en-US" altLang="zh-CN" b="0" i="0" baseline="-25000">
              <a:solidFill>
                <a:srgbClr val="FFFF66"/>
              </a:solidFill>
              <a:ea typeface="黑体" panose="02010609060101010101" pitchFamily="49" charset="-122"/>
              <a:cs typeface="Times New Roman" panose="02020603050405020304" pitchFamily="18" charset="0"/>
              <a:sym typeface="Symbol" panose="05050102010706020507" pitchFamily="18" charset="2"/>
            </a:endParaRPr>
          </a:p>
        </p:txBody>
      </p:sp>
      <p:sp>
        <p:nvSpPr>
          <p:cNvPr id="31" name="Oval 29"/>
          <p:cNvSpPr>
            <a:spLocks noChangeArrowheads="1"/>
          </p:cNvSpPr>
          <p:nvPr/>
        </p:nvSpPr>
        <p:spPr bwMode="auto">
          <a:xfrm>
            <a:off x="11105055" y="2842395"/>
            <a:ext cx="96837" cy="96837"/>
          </a:xfrm>
          <a:prstGeom prst="ellipse">
            <a:avLst/>
          </a:prstGeom>
          <a:solidFill>
            <a:srgbClr val="FF000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32" name="Text Box 30"/>
          <p:cNvSpPr txBox="1">
            <a:spLocks noChangeArrowheads="1"/>
          </p:cNvSpPr>
          <p:nvPr/>
        </p:nvSpPr>
        <p:spPr bwMode="auto">
          <a:xfrm>
            <a:off x="9571530" y="2499495"/>
            <a:ext cx="6111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kumimoji="1" lang="en-US" altLang="zh-CN" b="0" dirty="0">
                <a:solidFill>
                  <a:schemeClr val="tx1"/>
                </a:solidFill>
                <a:ea typeface="黑体" panose="02010609060101010101" pitchFamily="49" charset="-122"/>
              </a:rPr>
              <a:t>M</a:t>
            </a:r>
            <a:endParaRPr kumimoji="1" lang="en-US" altLang="zh-CN" b="0" i="0" baseline="-25000" dirty="0">
              <a:solidFill>
                <a:schemeClr val="tx1"/>
              </a:solidFill>
              <a:ea typeface="黑体" panose="02010609060101010101" pitchFamily="49" charset="-122"/>
            </a:endParaRPr>
          </a:p>
        </p:txBody>
      </p:sp>
      <p:sp>
        <p:nvSpPr>
          <p:cNvPr id="33" name="Line 31"/>
          <p:cNvSpPr>
            <a:spLocks noChangeShapeType="1"/>
          </p:cNvSpPr>
          <p:nvPr/>
        </p:nvSpPr>
        <p:spPr bwMode="auto">
          <a:xfrm rot="5400000" flipH="1" flipV="1">
            <a:off x="10250979" y="2537595"/>
            <a:ext cx="214313" cy="744538"/>
          </a:xfrm>
          <a:prstGeom prst="line">
            <a:avLst/>
          </a:prstGeom>
          <a:noFill/>
          <a:ln w="28575">
            <a:solidFill>
              <a:srgbClr val="FFFF66"/>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kumimoji="1" lang="zh-CN" altLang="en-US" b="0" i="0">
              <a:solidFill>
                <a:srgbClr val="FFFFFF"/>
              </a:solidFill>
              <a:ea typeface="黑体" panose="02010609060101010101" pitchFamily="49" charset="-122"/>
            </a:endParaRPr>
          </a:p>
        </p:txBody>
      </p:sp>
      <p:sp>
        <p:nvSpPr>
          <p:cNvPr id="34" name="Text Box 32"/>
          <p:cNvSpPr txBox="1">
            <a:spLocks noChangeArrowheads="1"/>
          </p:cNvSpPr>
          <p:nvPr/>
        </p:nvSpPr>
        <p:spPr bwMode="auto">
          <a:xfrm>
            <a:off x="10160492" y="2382020"/>
            <a:ext cx="6604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kumimoji="1" lang="en-US" altLang="zh-CN" sz="2800">
                <a:solidFill>
                  <a:srgbClr val="FFFF66"/>
                </a:solidFill>
                <a:latin typeface="Bookman Old Style" panose="02050604050505020204" pitchFamily="18" charset="0"/>
                <a:ea typeface="黑体" panose="02010609060101010101" pitchFamily="49" charset="-122"/>
                <a:cs typeface="Times New Roman" panose="02020603050405020304" pitchFamily="18" charset="0"/>
              </a:rPr>
              <a:t>v</a:t>
            </a:r>
            <a:endParaRPr kumimoji="1" lang="en-US" altLang="zh-CN" b="0" i="0" baseline="-25000">
              <a:solidFill>
                <a:srgbClr val="FFFF66"/>
              </a:solidFill>
              <a:ea typeface="黑体" panose="02010609060101010101" pitchFamily="49" charset="-122"/>
              <a:cs typeface="Times New Roman" panose="02020603050405020304" pitchFamily="18" charset="0"/>
              <a:sym typeface="Symbol" panose="05050102010706020507" pitchFamily="18" charset="2"/>
            </a:endParaRPr>
          </a:p>
        </p:txBody>
      </p:sp>
      <p:sp>
        <p:nvSpPr>
          <p:cNvPr id="35" name="Oval 33"/>
          <p:cNvSpPr>
            <a:spLocks noChangeArrowheads="1"/>
          </p:cNvSpPr>
          <p:nvPr/>
        </p:nvSpPr>
        <p:spPr bwMode="auto">
          <a:xfrm>
            <a:off x="9941417" y="2964632"/>
            <a:ext cx="96838" cy="96838"/>
          </a:xfrm>
          <a:prstGeom prst="ellipse">
            <a:avLst/>
          </a:prstGeom>
          <a:solidFill>
            <a:srgbClr val="FF000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36" name="Line 34"/>
          <p:cNvSpPr>
            <a:spLocks noChangeShapeType="1"/>
          </p:cNvSpPr>
          <p:nvPr/>
        </p:nvSpPr>
        <p:spPr bwMode="auto">
          <a:xfrm rot="9600000" flipH="1" flipV="1">
            <a:off x="10141442" y="2991620"/>
            <a:ext cx="214313" cy="744537"/>
          </a:xfrm>
          <a:prstGeom prst="line">
            <a:avLst/>
          </a:prstGeom>
          <a:noFill/>
          <a:ln w="28575">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37" name="Line 35"/>
          <p:cNvSpPr>
            <a:spLocks noChangeShapeType="1"/>
          </p:cNvSpPr>
          <p:nvPr/>
        </p:nvSpPr>
        <p:spPr bwMode="auto">
          <a:xfrm rot="9600000" flipH="1" flipV="1">
            <a:off x="10597055" y="3599632"/>
            <a:ext cx="214312" cy="744538"/>
          </a:xfrm>
          <a:prstGeom prst="line">
            <a:avLst/>
          </a:prstGeom>
          <a:noFill/>
          <a:ln w="28575">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kumimoji="1" lang="zh-CN" altLang="en-US" b="0" i="0">
              <a:solidFill>
                <a:srgbClr val="FFFFFF"/>
              </a:solidFill>
              <a:ea typeface="黑体" panose="02010609060101010101" pitchFamily="49" charset="-122"/>
            </a:endParaRPr>
          </a:p>
        </p:txBody>
      </p:sp>
      <p:sp>
        <p:nvSpPr>
          <p:cNvPr id="38" name="Line 36"/>
          <p:cNvSpPr>
            <a:spLocks noChangeAspect="1" noChangeShapeType="1"/>
          </p:cNvSpPr>
          <p:nvPr/>
        </p:nvSpPr>
        <p:spPr bwMode="auto">
          <a:xfrm rot="5400000" flipH="1" flipV="1">
            <a:off x="10353373" y="1647727"/>
            <a:ext cx="465137" cy="571500"/>
          </a:xfrm>
          <a:prstGeom prst="line">
            <a:avLst/>
          </a:prstGeom>
          <a:noFill/>
          <a:ln w="28575">
            <a:solidFill>
              <a:srgbClr val="FFFF66"/>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kumimoji="1" lang="zh-CN" altLang="en-US" b="0" i="0">
              <a:solidFill>
                <a:srgbClr val="FFFFFF"/>
              </a:solidFill>
              <a:ea typeface="黑体" panose="02010609060101010101" pitchFamily="49" charset="-122"/>
            </a:endParaRPr>
          </a:p>
        </p:txBody>
      </p:sp>
      <p:sp>
        <p:nvSpPr>
          <p:cNvPr id="39" name="Text Box 37"/>
          <p:cNvSpPr txBox="1">
            <a:spLocks noChangeArrowheads="1"/>
          </p:cNvSpPr>
          <p:nvPr/>
        </p:nvSpPr>
        <p:spPr bwMode="auto">
          <a:xfrm>
            <a:off x="10073180" y="1278633"/>
            <a:ext cx="757237"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kumimoji="1" lang="en-US" altLang="zh-CN" sz="2800" b="0">
                <a:solidFill>
                  <a:srgbClr val="FFFF66"/>
                </a:solidFill>
                <a:ea typeface="黑体" panose="02010609060101010101" pitchFamily="49" charset="-122"/>
                <a:cs typeface="Times New Roman" panose="02020603050405020304" pitchFamily="18" charset="0"/>
              </a:rPr>
              <a:t>m</a:t>
            </a:r>
            <a:r>
              <a:rPr kumimoji="1" lang="en-US" altLang="zh-CN" sz="2800">
                <a:solidFill>
                  <a:srgbClr val="FFFF66"/>
                </a:solidFill>
                <a:latin typeface="Bookman Old Style" panose="02050604050505020204" pitchFamily="18" charset="0"/>
                <a:ea typeface="黑体" panose="02010609060101010101" pitchFamily="49" charset="-122"/>
                <a:cs typeface="Times New Roman" panose="02020603050405020304" pitchFamily="18" charset="0"/>
              </a:rPr>
              <a:t>v</a:t>
            </a:r>
            <a:r>
              <a:rPr kumimoji="1" lang="en-US" altLang="zh-CN" sz="2800" b="0" i="0" baseline="-25000">
                <a:solidFill>
                  <a:srgbClr val="FFFF66"/>
                </a:solidFill>
                <a:ea typeface="黑体" panose="02010609060101010101" pitchFamily="49" charset="-122"/>
                <a:cs typeface="Times New Roman" panose="02020603050405020304" pitchFamily="18" charset="0"/>
              </a:rPr>
              <a:t>1</a:t>
            </a:r>
            <a:endParaRPr kumimoji="1" lang="en-US" altLang="zh-CN" b="0" i="0" baseline="-25000">
              <a:solidFill>
                <a:srgbClr val="FFFF66"/>
              </a:solidFill>
              <a:ea typeface="黑体" panose="02010609060101010101" pitchFamily="49" charset="-122"/>
              <a:cs typeface="Times New Roman" panose="02020603050405020304" pitchFamily="18" charset="0"/>
              <a:sym typeface="Symbol" panose="05050102010706020507" pitchFamily="18" charset="2"/>
            </a:endParaRPr>
          </a:p>
        </p:txBody>
      </p:sp>
      <p:sp>
        <p:nvSpPr>
          <p:cNvPr id="40" name="Text Box 38"/>
          <p:cNvSpPr txBox="1">
            <a:spLocks noChangeArrowheads="1"/>
          </p:cNvSpPr>
          <p:nvPr/>
        </p:nvSpPr>
        <p:spPr bwMode="auto">
          <a:xfrm>
            <a:off x="10663730" y="2021583"/>
            <a:ext cx="868362"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kumimoji="1" lang="en-US" altLang="zh-CN" sz="2800" b="0">
                <a:solidFill>
                  <a:srgbClr val="FFFF66"/>
                </a:solidFill>
                <a:ea typeface="黑体" panose="02010609060101010101" pitchFamily="49" charset="-122"/>
                <a:cs typeface="Times New Roman" panose="02020603050405020304" pitchFamily="18" charset="0"/>
              </a:rPr>
              <a:t>m</a:t>
            </a:r>
            <a:r>
              <a:rPr kumimoji="1" lang="en-US" altLang="zh-CN" sz="2800">
                <a:solidFill>
                  <a:srgbClr val="FFFF66"/>
                </a:solidFill>
                <a:latin typeface="Bookman Old Style" panose="02050604050505020204" pitchFamily="18" charset="0"/>
                <a:ea typeface="黑体" panose="02010609060101010101" pitchFamily="49" charset="-122"/>
                <a:cs typeface="Times New Roman" panose="02020603050405020304" pitchFamily="18" charset="0"/>
              </a:rPr>
              <a:t>v</a:t>
            </a:r>
            <a:r>
              <a:rPr kumimoji="1" lang="en-US" altLang="zh-CN" sz="2800" b="0" i="0" baseline="-25000">
                <a:solidFill>
                  <a:srgbClr val="FFFF66"/>
                </a:solidFill>
                <a:ea typeface="黑体" panose="02010609060101010101" pitchFamily="49" charset="-122"/>
                <a:cs typeface="Times New Roman" panose="02020603050405020304" pitchFamily="18" charset="0"/>
              </a:rPr>
              <a:t>2</a:t>
            </a:r>
            <a:endParaRPr kumimoji="1" lang="en-US" altLang="zh-CN" b="0" i="0" baseline="-25000">
              <a:solidFill>
                <a:srgbClr val="FFFF66"/>
              </a:solidFill>
              <a:ea typeface="黑体" panose="02010609060101010101" pitchFamily="49" charset="-122"/>
              <a:cs typeface="Times New Roman" panose="02020603050405020304" pitchFamily="18" charset="0"/>
              <a:sym typeface="Symbol" panose="05050102010706020507" pitchFamily="18" charset="2"/>
            </a:endParaRPr>
          </a:p>
        </p:txBody>
      </p:sp>
      <p:sp>
        <p:nvSpPr>
          <p:cNvPr id="41" name="Line 39"/>
          <p:cNvSpPr>
            <a:spLocks noChangeAspect="1" noChangeShapeType="1"/>
          </p:cNvSpPr>
          <p:nvPr/>
        </p:nvSpPr>
        <p:spPr bwMode="auto">
          <a:xfrm rot="5400000" flipH="1" flipV="1">
            <a:off x="10818511" y="1585814"/>
            <a:ext cx="71437" cy="1095375"/>
          </a:xfrm>
          <a:prstGeom prst="line">
            <a:avLst/>
          </a:prstGeom>
          <a:noFill/>
          <a:ln w="28575">
            <a:solidFill>
              <a:srgbClr val="FFFF66"/>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kumimoji="1" lang="zh-CN" altLang="en-US" b="0" i="0">
              <a:solidFill>
                <a:srgbClr val="FFFFFF"/>
              </a:solidFill>
              <a:ea typeface="黑体" panose="02010609060101010101" pitchFamily="49" charset="-122"/>
            </a:endParaRPr>
          </a:p>
        </p:txBody>
      </p:sp>
      <p:sp>
        <p:nvSpPr>
          <p:cNvPr id="42" name="Line 40"/>
          <p:cNvSpPr>
            <a:spLocks noChangeShapeType="1"/>
          </p:cNvSpPr>
          <p:nvPr/>
        </p:nvSpPr>
        <p:spPr bwMode="auto">
          <a:xfrm rot="10800000" flipH="1" flipV="1">
            <a:off x="10843117" y="1702495"/>
            <a:ext cx="560388" cy="407988"/>
          </a:xfrm>
          <a:prstGeom prst="line">
            <a:avLst/>
          </a:prstGeom>
          <a:noFill/>
          <a:ln w="28575">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kumimoji="1" lang="zh-CN" altLang="en-US" b="0" i="0">
              <a:solidFill>
                <a:srgbClr val="FFFFFF"/>
              </a:solidFill>
              <a:ea typeface="黑体" panose="02010609060101010101" pitchFamily="49" charset="-122"/>
            </a:endParaRPr>
          </a:p>
        </p:txBody>
      </p:sp>
      <p:sp>
        <p:nvSpPr>
          <p:cNvPr id="43" name="Text Box 41"/>
          <p:cNvSpPr txBox="1">
            <a:spLocks noChangeArrowheads="1"/>
          </p:cNvSpPr>
          <p:nvPr/>
        </p:nvSpPr>
        <p:spPr bwMode="auto">
          <a:xfrm>
            <a:off x="11033617" y="1454845"/>
            <a:ext cx="6604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kumimoji="1" lang="en-US" altLang="zh-CN" sz="2800">
                <a:solidFill>
                  <a:srgbClr val="FF0000"/>
                </a:solidFill>
                <a:ea typeface="黑体" panose="02010609060101010101" pitchFamily="49" charset="-122"/>
                <a:cs typeface="Times New Roman" panose="02020603050405020304" pitchFamily="18" charset="0"/>
              </a:rPr>
              <a:t>I</a:t>
            </a:r>
            <a:endParaRPr kumimoji="1" lang="en-US" altLang="zh-CN" b="0" i="0" baseline="-25000">
              <a:solidFill>
                <a:srgbClr val="FF0000"/>
              </a:solidFill>
              <a:ea typeface="黑体" panose="02010609060101010101" pitchFamily="49" charset="-122"/>
              <a:cs typeface="Times New Roman" panose="02020603050405020304" pitchFamily="18" charset="0"/>
            </a:endParaRPr>
          </a:p>
        </p:txBody>
      </p:sp>
      <p:graphicFrame>
        <p:nvGraphicFramePr>
          <p:cNvPr id="44" name="Object 7"/>
          <p:cNvGraphicFramePr>
            <a:graphicFrameLocks noChangeAspect="1"/>
          </p:cNvGraphicFramePr>
          <p:nvPr>
            <p:extLst>
              <p:ext uri="{D42A27DB-BD31-4B8C-83A1-F6EECF244321}">
                <p14:modId xmlns:p14="http://schemas.microsoft.com/office/powerpoint/2010/main" val="496424204"/>
              </p:ext>
            </p:extLst>
          </p:nvPr>
        </p:nvGraphicFramePr>
        <p:xfrm>
          <a:off x="1963738" y="2432050"/>
          <a:ext cx="1493837" cy="938213"/>
        </p:xfrm>
        <a:graphic>
          <a:graphicData uri="http://schemas.openxmlformats.org/presentationml/2006/ole">
            <mc:AlternateContent xmlns:mc="http://schemas.openxmlformats.org/markup-compatibility/2006">
              <mc:Choice xmlns:v="urn:schemas-microsoft-com:vml" Requires="v">
                <p:oleObj spid="_x0000_s2102" name="Equation" r:id="rId4" imgW="622080" imgH="393480" progId="Equation.DSMT4">
                  <p:embed/>
                </p:oleObj>
              </mc:Choice>
              <mc:Fallback>
                <p:oleObj name="Equation" r:id="rId4" imgW="622080" imgH="393480" progId="Equation.DSMT4">
                  <p:embed/>
                  <p:pic>
                    <p:nvPicPr>
                      <p:cNvPr id="0" name=""/>
                      <p:cNvPicPr>
                        <a:picLocks noChangeAspect="1" noChangeArrowheads="1"/>
                      </p:cNvPicPr>
                      <p:nvPr/>
                    </p:nvPicPr>
                    <p:blipFill>
                      <a:blip r:embed="rId5"/>
                      <a:srcRect/>
                      <a:stretch>
                        <a:fillRect/>
                      </a:stretch>
                    </p:blipFill>
                    <p:spPr bwMode="auto">
                      <a:xfrm>
                        <a:off x="1963738" y="2432050"/>
                        <a:ext cx="1493837" cy="938213"/>
                      </a:xfrm>
                      <a:prstGeom prst="rect">
                        <a:avLst/>
                      </a:prstGeom>
                      <a:noFill/>
                    </p:spPr>
                  </p:pic>
                </p:oleObj>
              </mc:Fallback>
            </mc:AlternateContent>
          </a:graphicData>
        </a:graphic>
      </p:graphicFrame>
      <p:sp>
        <p:nvSpPr>
          <p:cNvPr id="45" name="Text Box 1032"/>
          <p:cNvSpPr txBox="1">
            <a:spLocks noChangeArrowheads="1"/>
          </p:cNvSpPr>
          <p:nvPr/>
        </p:nvSpPr>
        <p:spPr bwMode="auto">
          <a:xfrm>
            <a:off x="3729174" y="2535965"/>
            <a:ext cx="576327" cy="6524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30000"/>
              </a:lnSpc>
            </a:pPr>
            <a:r>
              <a:rPr kumimoji="1" lang="zh-CN" altLang="en-US" sz="2800" i="0" dirty="0">
                <a:latin typeface="+mn-lt"/>
                <a:ea typeface="微软雅黑" panose="020B0503020204020204" pitchFamily="34" charset="-122"/>
              </a:rPr>
              <a:t>或</a:t>
            </a:r>
            <a:endParaRPr lang="zh-CN" altLang="en-US" sz="2800" i="0" dirty="0">
              <a:latin typeface="微软雅黑" panose="020B0503020204020204" pitchFamily="34" charset="-122"/>
              <a:ea typeface="微软雅黑" panose="020B0503020204020204" pitchFamily="34" charset="-122"/>
            </a:endParaRPr>
          </a:p>
        </p:txBody>
      </p:sp>
      <p:graphicFrame>
        <p:nvGraphicFramePr>
          <p:cNvPr id="46" name="Object 7"/>
          <p:cNvGraphicFramePr>
            <a:graphicFrameLocks noChangeAspect="1"/>
          </p:cNvGraphicFramePr>
          <p:nvPr>
            <p:extLst>
              <p:ext uri="{D42A27DB-BD31-4B8C-83A1-F6EECF244321}">
                <p14:modId xmlns:p14="http://schemas.microsoft.com/office/powerpoint/2010/main" val="1838284012"/>
              </p:ext>
            </p:extLst>
          </p:nvPr>
        </p:nvGraphicFramePr>
        <p:xfrm>
          <a:off x="4576763" y="2657475"/>
          <a:ext cx="1919287" cy="482600"/>
        </p:xfrm>
        <a:graphic>
          <a:graphicData uri="http://schemas.openxmlformats.org/presentationml/2006/ole">
            <mc:AlternateContent xmlns:mc="http://schemas.openxmlformats.org/markup-compatibility/2006">
              <mc:Choice xmlns:v="urn:schemas-microsoft-com:vml" Requires="v">
                <p:oleObj spid="_x0000_s2103" name="Equation" r:id="rId6" imgW="799920" imgH="203040" progId="Equation.DSMT4">
                  <p:embed/>
                </p:oleObj>
              </mc:Choice>
              <mc:Fallback>
                <p:oleObj name="Equation" r:id="rId6" imgW="799920" imgH="203040" progId="Equation.DSMT4">
                  <p:embed/>
                  <p:pic>
                    <p:nvPicPr>
                      <p:cNvPr id="0" name=""/>
                      <p:cNvPicPr>
                        <a:picLocks noChangeAspect="1" noChangeArrowheads="1"/>
                      </p:cNvPicPr>
                      <p:nvPr/>
                    </p:nvPicPr>
                    <p:blipFill>
                      <a:blip r:embed="rId7"/>
                      <a:srcRect/>
                      <a:stretch>
                        <a:fillRect/>
                      </a:stretch>
                    </p:blipFill>
                    <p:spPr bwMode="auto">
                      <a:xfrm>
                        <a:off x="4576763" y="2657475"/>
                        <a:ext cx="1919287" cy="482600"/>
                      </a:xfrm>
                      <a:prstGeom prst="rect">
                        <a:avLst/>
                      </a:prstGeom>
                      <a:noFill/>
                    </p:spPr>
                  </p:pic>
                </p:oleObj>
              </mc:Fallback>
            </mc:AlternateContent>
          </a:graphicData>
        </a:graphic>
      </p:graphicFrame>
      <p:sp>
        <p:nvSpPr>
          <p:cNvPr id="47" name="Text Box 1032"/>
          <p:cNvSpPr txBox="1">
            <a:spLocks noChangeArrowheads="1"/>
          </p:cNvSpPr>
          <p:nvPr/>
        </p:nvSpPr>
        <p:spPr bwMode="auto">
          <a:xfrm>
            <a:off x="939805" y="3209237"/>
            <a:ext cx="6709995" cy="1126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20000"/>
              </a:lnSpc>
            </a:pPr>
            <a:r>
              <a:rPr kumimoji="1" lang="zh-CN" altLang="en-US" sz="2800" i="0" dirty="0">
                <a:latin typeface="+mn-lt"/>
                <a:ea typeface="微软雅黑" panose="020B0503020204020204" pitchFamily="34" charset="-122"/>
              </a:rPr>
              <a:t>称为</a:t>
            </a:r>
            <a:r>
              <a:rPr kumimoji="1" lang="zh-CN" altLang="en-US" sz="2800" i="0" dirty="0">
                <a:solidFill>
                  <a:srgbClr val="FF00FF"/>
                </a:solidFill>
                <a:latin typeface="+mn-lt"/>
                <a:ea typeface="微软雅黑" panose="020B0503020204020204" pitchFamily="34" charset="-122"/>
              </a:rPr>
              <a:t>质点动量定理的微分形式</a:t>
            </a:r>
            <a:r>
              <a:rPr kumimoji="1" lang="zh-CN" altLang="en-US" sz="2800" i="0" dirty="0">
                <a:latin typeface="+mn-lt"/>
                <a:ea typeface="微软雅黑" panose="020B0503020204020204" pitchFamily="34" charset="-122"/>
              </a:rPr>
              <a:t>，即质点动量的增量等于作用于质点上的力的元冲量。</a:t>
            </a:r>
            <a:endParaRPr lang="zh-CN" altLang="en-US" sz="2800" i="0" dirty="0">
              <a:latin typeface="微软雅黑" panose="020B0503020204020204" pitchFamily="34" charset="-122"/>
              <a:ea typeface="微软雅黑" panose="020B0503020204020204" pitchFamily="34" charset="-122"/>
            </a:endParaRPr>
          </a:p>
        </p:txBody>
      </p:sp>
      <p:sp>
        <p:nvSpPr>
          <p:cNvPr id="48" name="Text Box 1032"/>
          <p:cNvSpPr txBox="1">
            <a:spLocks noChangeArrowheads="1"/>
          </p:cNvSpPr>
          <p:nvPr/>
        </p:nvSpPr>
        <p:spPr bwMode="auto">
          <a:xfrm>
            <a:off x="939805" y="5248631"/>
            <a:ext cx="8794075" cy="1126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20000"/>
              </a:lnSpc>
            </a:pPr>
            <a:r>
              <a:rPr kumimoji="1" lang="zh-CN" altLang="en-US" sz="2800" i="0" dirty="0">
                <a:latin typeface="+mn-lt"/>
                <a:ea typeface="微软雅黑" panose="020B0503020204020204" pitchFamily="34" charset="-122"/>
              </a:rPr>
              <a:t>称为</a:t>
            </a:r>
            <a:r>
              <a:rPr kumimoji="1" lang="zh-CN" altLang="en-US" sz="2800" i="0" dirty="0">
                <a:solidFill>
                  <a:srgbClr val="FF00FF"/>
                </a:solidFill>
                <a:latin typeface="+mn-lt"/>
                <a:ea typeface="微软雅黑" panose="020B0503020204020204" pitchFamily="34" charset="-122"/>
              </a:rPr>
              <a:t>质点动量定理的积分形式</a:t>
            </a:r>
            <a:r>
              <a:rPr kumimoji="1" lang="zh-CN" altLang="en-US" sz="2800" i="0" dirty="0">
                <a:latin typeface="+mn-lt"/>
                <a:ea typeface="微软雅黑" panose="020B0503020204020204" pitchFamily="34" charset="-122"/>
              </a:rPr>
              <a:t>，即质点在某一时间间隔内动量的变化等于作用于质点上的力在此时间内的冲量。</a:t>
            </a:r>
          </a:p>
        </p:txBody>
      </p:sp>
      <p:sp>
        <p:nvSpPr>
          <p:cNvPr id="49" name="Text Box 1032"/>
          <p:cNvSpPr txBox="1">
            <a:spLocks noChangeArrowheads="1"/>
          </p:cNvSpPr>
          <p:nvPr/>
        </p:nvSpPr>
        <p:spPr bwMode="auto">
          <a:xfrm>
            <a:off x="939805" y="4502909"/>
            <a:ext cx="2563907" cy="609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20000"/>
              </a:lnSpc>
            </a:pPr>
            <a:r>
              <a:rPr kumimoji="1" lang="zh-CN" altLang="en-US" sz="2800" i="0" dirty="0">
                <a:latin typeface="+mn-lt"/>
                <a:ea typeface="微软雅黑" panose="020B0503020204020204" pitchFamily="34" charset="-122"/>
              </a:rPr>
              <a:t>时间</a:t>
            </a:r>
            <a:r>
              <a:rPr kumimoji="1" lang="en-US" altLang="zh-CN" sz="2800" b="0" dirty="0">
                <a:ea typeface="黑体" panose="02010609060101010101" pitchFamily="49" charset="-122"/>
              </a:rPr>
              <a:t>t</a:t>
            </a:r>
            <a:r>
              <a:rPr kumimoji="1" lang="en-US" altLang="zh-CN" sz="2800" b="0" i="0" baseline="-25000" dirty="0">
                <a:ea typeface="黑体" panose="02010609060101010101" pitchFamily="49" charset="-122"/>
              </a:rPr>
              <a:t>1</a:t>
            </a:r>
            <a:r>
              <a:rPr lang="zh-CN" altLang="en-US" sz="2800" dirty="0">
                <a:latin typeface="仿宋_GB2312" pitchFamily="49" charset="-122"/>
                <a:ea typeface="仿宋_GB2312" pitchFamily="49" charset="-122"/>
              </a:rPr>
              <a:t>～</a:t>
            </a:r>
            <a:r>
              <a:rPr kumimoji="1" lang="en-US" altLang="zh-CN" sz="2800" b="0" dirty="0">
                <a:ea typeface="黑体" panose="02010609060101010101" pitchFamily="49" charset="-122"/>
              </a:rPr>
              <a:t> t</a:t>
            </a:r>
            <a:r>
              <a:rPr kumimoji="1" lang="en-US" altLang="zh-CN" sz="2800" b="0" i="0" baseline="-25000" dirty="0">
                <a:ea typeface="黑体" panose="02010609060101010101" pitchFamily="49" charset="-122"/>
              </a:rPr>
              <a:t>2</a:t>
            </a:r>
            <a:r>
              <a:rPr lang="zh-CN" altLang="en-US" sz="2800" i="0" dirty="0">
                <a:ea typeface="微软雅黑" panose="020B0503020204020204" pitchFamily="34" charset="-122"/>
              </a:rPr>
              <a:t>内</a:t>
            </a:r>
            <a:endParaRPr lang="zh-CN" altLang="en-US" sz="2800" i="0" dirty="0">
              <a:latin typeface="微软雅黑" panose="020B0503020204020204" pitchFamily="34" charset="-122"/>
              <a:ea typeface="微软雅黑" panose="020B0503020204020204" pitchFamily="34" charset="-122"/>
            </a:endParaRPr>
          </a:p>
        </p:txBody>
      </p:sp>
      <p:graphicFrame>
        <p:nvGraphicFramePr>
          <p:cNvPr id="50" name="Object 70"/>
          <p:cNvGraphicFramePr>
            <a:graphicFrameLocks noChangeAspect="1"/>
          </p:cNvGraphicFramePr>
          <p:nvPr>
            <p:extLst>
              <p:ext uri="{D42A27DB-BD31-4B8C-83A1-F6EECF244321}">
                <p14:modId xmlns:p14="http://schemas.microsoft.com/office/powerpoint/2010/main" val="1766867134"/>
              </p:ext>
            </p:extLst>
          </p:nvPr>
        </p:nvGraphicFramePr>
        <p:xfrm>
          <a:off x="6515875" y="-852348"/>
          <a:ext cx="4017962" cy="960438"/>
        </p:xfrm>
        <a:graphic>
          <a:graphicData uri="http://schemas.openxmlformats.org/presentationml/2006/ole">
            <mc:AlternateContent xmlns:mc="http://schemas.openxmlformats.org/markup-compatibility/2006">
              <mc:Choice xmlns:v="urn:schemas-microsoft-com:vml" Requires="v">
                <p:oleObj spid="_x0000_s2104" name="Equation" r:id="rId8" imgW="1473120" imgH="355320" progId="Equation.DSMT4">
                  <p:embed/>
                </p:oleObj>
              </mc:Choice>
              <mc:Fallback>
                <p:oleObj name="Equation" r:id="rId8" imgW="1473120" imgH="355320" progId="Equation.DSMT4">
                  <p:embed/>
                  <p:pic>
                    <p:nvPicPr>
                      <p:cNvPr id="0" name=""/>
                      <p:cNvPicPr>
                        <a:picLocks noChangeAspect="1" noChangeArrowheads="1"/>
                      </p:cNvPicPr>
                      <p:nvPr/>
                    </p:nvPicPr>
                    <p:blipFill>
                      <a:blip r:embed="rId9"/>
                      <a:srcRect/>
                      <a:stretch>
                        <a:fillRect/>
                      </a:stretch>
                    </p:blipFill>
                    <p:spPr bwMode="auto">
                      <a:xfrm>
                        <a:off x="6515875" y="-852348"/>
                        <a:ext cx="4017962" cy="9604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1" name="Object 7"/>
          <p:cNvGraphicFramePr>
            <a:graphicFrameLocks noChangeAspect="1"/>
          </p:cNvGraphicFramePr>
          <p:nvPr>
            <p:extLst>
              <p:ext uri="{D42A27DB-BD31-4B8C-83A1-F6EECF244321}">
                <p14:modId xmlns:p14="http://schemas.microsoft.com/office/powerpoint/2010/main" val="3754125033"/>
              </p:ext>
            </p:extLst>
          </p:nvPr>
        </p:nvGraphicFramePr>
        <p:xfrm>
          <a:off x="3816350" y="4400550"/>
          <a:ext cx="3441700" cy="844550"/>
        </p:xfrm>
        <a:graphic>
          <a:graphicData uri="http://schemas.openxmlformats.org/presentationml/2006/ole">
            <mc:AlternateContent xmlns:mc="http://schemas.openxmlformats.org/markup-compatibility/2006">
              <mc:Choice xmlns:v="urn:schemas-microsoft-com:vml" Requires="v">
                <p:oleObj spid="_x0000_s2105" name="Equation" r:id="rId10" imgW="1434960" imgH="355320" progId="Equation.DSMT4">
                  <p:embed/>
                </p:oleObj>
              </mc:Choice>
              <mc:Fallback>
                <p:oleObj name="Equation" r:id="rId10" imgW="1434960" imgH="355320" progId="Equation.DSMT4">
                  <p:embed/>
                  <p:pic>
                    <p:nvPicPr>
                      <p:cNvPr id="0" name=""/>
                      <p:cNvPicPr>
                        <a:picLocks noChangeAspect="1" noChangeArrowheads="1"/>
                      </p:cNvPicPr>
                      <p:nvPr/>
                    </p:nvPicPr>
                    <p:blipFill>
                      <a:blip r:embed="rId11"/>
                      <a:srcRect/>
                      <a:stretch>
                        <a:fillRect/>
                      </a:stretch>
                    </p:blipFill>
                    <p:spPr bwMode="auto">
                      <a:xfrm>
                        <a:off x="3816350" y="4400550"/>
                        <a:ext cx="3441700" cy="844550"/>
                      </a:xfrm>
                      <a:prstGeom prst="rect">
                        <a:avLst/>
                      </a:prstGeom>
                      <a:noFill/>
                    </p:spPr>
                  </p:pic>
                </p:oleObj>
              </mc:Fallback>
            </mc:AlternateContent>
          </a:graphicData>
        </a:graphic>
      </p:graphicFrame>
    </p:spTree>
    <p:extLst>
      <p:ext uri="{BB962C8B-B14F-4D97-AF65-F5344CB8AC3E}">
        <p14:creationId xmlns:p14="http://schemas.microsoft.com/office/powerpoint/2010/main" val="783082303"/>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4" presetClass="entr" presetSubtype="32"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box(out)">
                                      <p:cBhvr>
                                        <p:cTn id="11" dur="3000"/>
                                        <p:tgtEl>
                                          <p:spTgt spid="10"/>
                                        </p:tgtEl>
                                      </p:cBhvr>
                                    </p:animEffect>
                                  </p:childTnLst>
                                </p:cTn>
                              </p:par>
                            </p:childTnLst>
                          </p:cTn>
                        </p:par>
                      </p:childTnLst>
                    </p:cTn>
                  </p:par>
                  <p:par>
                    <p:cTn id="12" fill="hold">
                      <p:stCondLst>
                        <p:cond delay="indefinite"/>
                      </p:stCondLst>
                      <p:childTnLst>
                        <p:par>
                          <p:cTn id="13" fill="hold">
                            <p:stCondLst>
                              <p:cond delay="0"/>
                            </p:stCondLst>
                            <p:childTnLst>
                              <p:par>
                                <p:cTn id="14" presetID="2" presetClass="entr" presetSubtype="12" fill="hold" grpId="0" nodeType="clickEffect">
                                  <p:stCondLst>
                                    <p:cond delay="0"/>
                                  </p:stCondLst>
                                  <p:childTnLst>
                                    <p:set>
                                      <p:cBhvr>
                                        <p:cTn id="15" dur="1" fill="hold">
                                          <p:stCondLst>
                                            <p:cond delay="0"/>
                                          </p:stCondLst>
                                        </p:cTn>
                                        <p:tgtEl>
                                          <p:spTgt spid="27"/>
                                        </p:tgtEl>
                                        <p:attrNameLst>
                                          <p:attrName>style.visibility</p:attrName>
                                        </p:attrNameLst>
                                      </p:cBhvr>
                                      <p:to>
                                        <p:strVal val="visible"/>
                                      </p:to>
                                    </p:set>
                                    <p:anim calcmode="lin" valueType="num">
                                      <p:cBhvr additive="base">
                                        <p:cTn id="16" dur="2000" fill="hold"/>
                                        <p:tgtEl>
                                          <p:spTgt spid="27"/>
                                        </p:tgtEl>
                                        <p:attrNameLst>
                                          <p:attrName>ppt_x</p:attrName>
                                        </p:attrNameLst>
                                      </p:cBhvr>
                                      <p:tavLst>
                                        <p:tav tm="0">
                                          <p:val>
                                            <p:strVal val="0-#ppt_w/2"/>
                                          </p:val>
                                        </p:tav>
                                        <p:tav tm="100000">
                                          <p:val>
                                            <p:strVal val="#ppt_x"/>
                                          </p:val>
                                        </p:tav>
                                      </p:tavLst>
                                    </p:anim>
                                    <p:anim calcmode="lin" valueType="num">
                                      <p:cBhvr additive="base">
                                        <p:cTn id="17" dur="2000" fill="hold"/>
                                        <p:tgtEl>
                                          <p:spTgt spid="27"/>
                                        </p:tgtEl>
                                        <p:attrNameLst>
                                          <p:attrName>ppt_y</p:attrName>
                                        </p:attrNameLst>
                                      </p:cBhvr>
                                      <p:tavLst>
                                        <p:tav tm="0">
                                          <p:val>
                                            <p:strVal val="1+#ppt_h/2"/>
                                          </p:val>
                                        </p:tav>
                                        <p:tav tm="100000">
                                          <p:val>
                                            <p:strVal val="#ppt_y"/>
                                          </p:val>
                                        </p:tav>
                                      </p:tavLst>
                                    </p:anim>
                                  </p:childTnLst>
                                </p:cTn>
                              </p:par>
                            </p:childTnLst>
                          </p:cTn>
                        </p:par>
                        <p:par>
                          <p:cTn id="18" fill="hold">
                            <p:stCondLst>
                              <p:cond delay="2000"/>
                            </p:stCondLst>
                            <p:childTnLst>
                              <p:par>
                                <p:cTn id="19" presetID="19" presetClass="entr" presetSubtype="10" fill="hold" grpId="0" nodeType="afterEffect">
                                  <p:stCondLst>
                                    <p:cond delay="0"/>
                                  </p:stCondLst>
                                  <p:childTnLst>
                                    <p:set>
                                      <p:cBhvr>
                                        <p:cTn id="20" dur="1" fill="hold">
                                          <p:stCondLst>
                                            <p:cond delay="0"/>
                                          </p:stCondLst>
                                        </p:cTn>
                                        <p:tgtEl>
                                          <p:spTgt spid="24"/>
                                        </p:tgtEl>
                                        <p:attrNameLst>
                                          <p:attrName>style.visibility</p:attrName>
                                        </p:attrNameLst>
                                      </p:cBhvr>
                                      <p:to>
                                        <p:strVal val="visible"/>
                                      </p:to>
                                    </p:set>
                                    <p:anim calcmode="lin" valueType="num">
                                      <p:cBhvr>
                                        <p:cTn id="21" dur="5000" fill="hold"/>
                                        <p:tgtEl>
                                          <p:spTgt spid="24"/>
                                        </p:tgtEl>
                                        <p:attrNameLst>
                                          <p:attrName>ppt_w</p:attrName>
                                        </p:attrNameLst>
                                      </p:cBhvr>
                                      <p:tavLst>
                                        <p:tav tm="0" fmla="#ppt_w*sin(2.5*pi*$)">
                                          <p:val>
                                            <p:fltVal val="0"/>
                                          </p:val>
                                        </p:tav>
                                        <p:tav tm="100000">
                                          <p:val>
                                            <p:fltVal val="1"/>
                                          </p:val>
                                        </p:tav>
                                      </p:tavLst>
                                    </p:anim>
                                    <p:anim calcmode="lin" valueType="num">
                                      <p:cBhvr>
                                        <p:cTn id="22" dur="5000" fill="hold"/>
                                        <p:tgtEl>
                                          <p:spTgt spid="24"/>
                                        </p:tgtEl>
                                        <p:attrNameLst>
                                          <p:attrName>ppt_h</p:attrName>
                                        </p:attrNameLst>
                                      </p:cBhvr>
                                      <p:tavLst>
                                        <p:tav tm="0">
                                          <p:val>
                                            <p:strVal val="#ppt_h"/>
                                          </p:val>
                                        </p:tav>
                                        <p:tav tm="100000">
                                          <p:val>
                                            <p:strVal val="#ppt_h"/>
                                          </p:val>
                                        </p:tav>
                                      </p:tavLst>
                                    </p:anim>
                                  </p:childTnLst>
                                </p:cTn>
                              </p:par>
                              <p:par>
                                <p:cTn id="23" presetID="27" presetClass="emph" presetSubtype="0" repeatCount="8000" fill="hold" grpId="1" nodeType="withEffect">
                                  <p:stCondLst>
                                    <p:cond delay="0"/>
                                  </p:stCondLst>
                                  <p:childTnLst>
                                    <p:animClr clrSpc="rgb" dir="cw">
                                      <p:cBhvr override="childStyle">
                                        <p:cTn id="24" dur="500" autoRev="1" fill="hold"/>
                                        <p:tgtEl>
                                          <p:spTgt spid="27"/>
                                        </p:tgtEl>
                                        <p:attrNameLst>
                                          <p:attrName>style.color</p:attrName>
                                        </p:attrNameLst>
                                      </p:cBhvr>
                                      <p:to>
                                        <a:schemeClr val="bg1"/>
                                      </p:to>
                                    </p:animClr>
                                    <p:animClr clrSpc="rgb" dir="cw">
                                      <p:cBhvr>
                                        <p:cTn id="25" dur="500" autoRev="1" fill="hold"/>
                                        <p:tgtEl>
                                          <p:spTgt spid="27"/>
                                        </p:tgtEl>
                                        <p:attrNameLst>
                                          <p:attrName>fillcolor</p:attrName>
                                        </p:attrNameLst>
                                      </p:cBhvr>
                                      <p:to>
                                        <a:schemeClr val="bg1"/>
                                      </p:to>
                                    </p:animClr>
                                    <p:set>
                                      <p:cBhvr>
                                        <p:cTn id="26" dur="500" autoRev="1" fill="hold"/>
                                        <p:tgtEl>
                                          <p:spTgt spid="27"/>
                                        </p:tgtEl>
                                        <p:attrNameLst>
                                          <p:attrName>fill.type</p:attrName>
                                        </p:attrNameLst>
                                      </p:cBhvr>
                                      <p:to>
                                        <p:strVal val="solid"/>
                                      </p:to>
                                    </p:set>
                                    <p:set>
                                      <p:cBhvr>
                                        <p:cTn id="27" dur="500" autoRev="1" fill="hold"/>
                                        <p:tgtEl>
                                          <p:spTgt spid="27"/>
                                        </p:tgtEl>
                                        <p:attrNameLst>
                                          <p:attrName>fill.on</p:attrName>
                                        </p:attrNameLst>
                                      </p:cBhvr>
                                      <p:to>
                                        <p:strVal val="true"/>
                                      </p:to>
                                    </p:set>
                                  </p:childTnLst>
                                </p:cTn>
                              </p:par>
                            </p:childTnLst>
                          </p:cTn>
                        </p:par>
                        <p:par>
                          <p:cTn id="28" fill="hold">
                            <p:stCondLst>
                              <p:cond delay="10000"/>
                            </p:stCondLst>
                            <p:childTnLst>
                              <p:par>
                                <p:cTn id="29" presetID="18" presetClass="entr" presetSubtype="3" fill="hold" grpId="0" nodeType="afterEffect">
                                  <p:stCondLst>
                                    <p:cond delay="0"/>
                                  </p:stCondLst>
                                  <p:childTnLst>
                                    <p:set>
                                      <p:cBhvr>
                                        <p:cTn id="30" dur="1" fill="hold">
                                          <p:stCondLst>
                                            <p:cond delay="0"/>
                                          </p:stCondLst>
                                        </p:cTn>
                                        <p:tgtEl>
                                          <p:spTgt spid="25"/>
                                        </p:tgtEl>
                                        <p:attrNameLst>
                                          <p:attrName>style.visibility</p:attrName>
                                        </p:attrNameLst>
                                      </p:cBhvr>
                                      <p:to>
                                        <p:strVal val="visible"/>
                                      </p:to>
                                    </p:set>
                                    <p:animEffect transition="in" filter="strips(upRight)">
                                      <p:cBhvr>
                                        <p:cTn id="31" dur="2000"/>
                                        <p:tgtEl>
                                          <p:spTgt spid="25"/>
                                        </p:tgtEl>
                                      </p:cBhvr>
                                    </p:animEffect>
                                  </p:childTnLst>
                                </p:cTn>
                              </p:par>
                              <p:par>
                                <p:cTn id="32" presetID="19" presetClass="entr" presetSubtype="10" fill="hold" grpId="0" nodeType="withEffect">
                                  <p:stCondLst>
                                    <p:cond delay="0"/>
                                  </p:stCondLst>
                                  <p:childTnLst>
                                    <p:set>
                                      <p:cBhvr>
                                        <p:cTn id="33" dur="1" fill="hold">
                                          <p:stCondLst>
                                            <p:cond delay="0"/>
                                          </p:stCondLst>
                                        </p:cTn>
                                        <p:tgtEl>
                                          <p:spTgt spid="26"/>
                                        </p:tgtEl>
                                        <p:attrNameLst>
                                          <p:attrName>style.visibility</p:attrName>
                                        </p:attrNameLst>
                                      </p:cBhvr>
                                      <p:to>
                                        <p:strVal val="visible"/>
                                      </p:to>
                                    </p:set>
                                    <p:anim calcmode="lin" valueType="num">
                                      <p:cBhvr>
                                        <p:cTn id="34" dur="5000" fill="hold"/>
                                        <p:tgtEl>
                                          <p:spTgt spid="26"/>
                                        </p:tgtEl>
                                        <p:attrNameLst>
                                          <p:attrName>ppt_w</p:attrName>
                                        </p:attrNameLst>
                                      </p:cBhvr>
                                      <p:tavLst>
                                        <p:tav tm="0" fmla="#ppt_w*sin(2.5*pi*$)">
                                          <p:val>
                                            <p:fltVal val="0"/>
                                          </p:val>
                                        </p:tav>
                                        <p:tav tm="100000">
                                          <p:val>
                                            <p:fltVal val="1"/>
                                          </p:val>
                                        </p:tav>
                                      </p:tavLst>
                                    </p:anim>
                                    <p:anim calcmode="lin" valueType="num">
                                      <p:cBhvr>
                                        <p:cTn id="35" dur="5000" fill="hold"/>
                                        <p:tgtEl>
                                          <p:spTgt spid="26"/>
                                        </p:tgtEl>
                                        <p:attrNameLst>
                                          <p:attrName>ppt_h</p:attrName>
                                        </p:attrNameLst>
                                      </p:cBhvr>
                                      <p:tavLst>
                                        <p:tav tm="0">
                                          <p:val>
                                            <p:strVal val="#ppt_h"/>
                                          </p:val>
                                        </p:tav>
                                        <p:tav tm="100000">
                                          <p:val>
                                            <p:strVal val="#ppt_h"/>
                                          </p:val>
                                        </p:tav>
                                      </p:tavLst>
                                    </p:anim>
                                  </p:childTnLst>
                                </p:cTn>
                              </p:par>
                              <p:par>
                                <p:cTn id="36" presetID="27" presetClass="emph" presetSubtype="0" repeatCount="5000" fill="hold" grpId="2" nodeType="withEffect">
                                  <p:stCondLst>
                                    <p:cond delay="0"/>
                                  </p:stCondLst>
                                  <p:childTnLst>
                                    <p:animClr clrSpc="rgb" dir="cw">
                                      <p:cBhvr override="childStyle">
                                        <p:cTn id="37" dur="500" autoRev="1" fill="hold"/>
                                        <p:tgtEl>
                                          <p:spTgt spid="27"/>
                                        </p:tgtEl>
                                        <p:attrNameLst>
                                          <p:attrName>style.color</p:attrName>
                                        </p:attrNameLst>
                                      </p:cBhvr>
                                      <p:to>
                                        <a:schemeClr val="bg1"/>
                                      </p:to>
                                    </p:animClr>
                                    <p:animClr clrSpc="rgb" dir="cw">
                                      <p:cBhvr>
                                        <p:cTn id="38" dur="500" autoRev="1" fill="hold"/>
                                        <p:tgtEl>
                                          <p:spTgt spid="27"/>
                                        </p:tgtEl>
                                        <p:attrNameLst>
                                          <p:attrName>fillcolor</p:attrName>
                                        </p:attrNameLst>
                                      </p:cBhvr>
                                      <p:to>
                                        <a:schemeClr val="bg1"/>
                                      </p:to>
                                    </p:animClr>
                                    <p:set>
                                      <p:cBhvr>
                                        <p:cTn id="39" dur="500" autoRev="1" fill="hold"/>
                                        <p:tgtEl>
                                          <p:spTgt spid="27"/>
                                        </p:tgtEl>
                                        <p:attrNameLst>
                                          <p:attrName>fill.type</p:attrName>
                                        </p:attrNameLst>
                                      </p:cBhvr>
                                      <p:to>
                                        <p:strVal val="solid"/>
                                      </p:to>
                                    </p:set>
                                    <p:set>
                                      <p:cBhvr>
                                        <p:cTn id="40" dur="500" autoRev="1" fill="hold"/>
                                        <p:tgtEl>
                                          <p:spTgt spid="27"/>
                                        </p:tgtEl>
                                        <p:attrNameLst>
                                          <p:attrName>fill.on</p:attrName>
                                        </p:attrNameLst>
                                      </p:cBhvr>
                                      <p:to>
                                        <p:strVal val="true"/>
                                      </p:to>
                                    </p:set>
                                  </p:childTnLst>
                                </p:cTn>
                              </p:par>
                            </p:childTnLst>
                          </p:cTn>
                        </p:par>
                        <p:par>
                          <p:cTn id="41" fill="hold">
                            <p:stCondLst>
                              <p:cond delay="15000"/>
                            </p:stCondLst>
                            <p:childTnLst>
                              <p:par>
                                <p:cTn id="42" presetID="22" presetClass="entr" presetSubtype="8" fill="hold" grpId="0" nodeType="afterEffect">
                                  <p:stCondLst>
                                    <p:cond delay="0"/>
                                  </p:stCondLst>
                                  <p:childTnLst>
                                    <p:set>
                                      <p:cBhvr>
                                        <p:cTn id="43" dur="1" fill="hold">
                                          <p:stCondLst>
                                            <p:cond delay="0"/>
                                          </p:stCondLst>
                                        </p:cTn>
                                        <p:tgtEl>
                                          <p:spTgt spid="21"/>
                                        </p:tgtEl>
                                        <p:attrNameLst>
                                          <p:attrName>style.visibility</p:attrName>
                                        </p:attrNameLst>
                                      </p:cBhvr>
                                      <p:to>
                                        <p:strVal val="visible"/>
                                      </p:to>
                                    </p:set>
                                    <p:animEffect transition="in" filter="wipe(left)">
                                      <p:cBhvr>
                                        <p:cTn id="44" dur="7000"/>
                                        <p:tgtEl>
                                          <p:spTgt spid="21"/>
                                        </p:tgtEl>
                                      </p:cBhvr>
                                    </p:animEffect>
                                  </p:childTnLst>
                                </p:cTn>
                              </p:par>
                              <p:par>
                                <p:cTn id="45" presetID="1" presetClass="entr" presetSubtype="0" fill="hold" grpId="0" nodeType="withEffect">
                                  <p:stCondLst>
                                    <p:cond delay="500"/>
                                  </p:stCondLst>
                                  <p:childTnLst>
                                    <p:set>
                                      <p:cBhvr>
                                        <p:cTn id="46" dur="1" fill="hold">
                                          <p:stCondLst>
                                            <p:cond delay="0"/>
                                          </p:stCondLst>
                                        </p:cTn>
                                        <p:tgtEl>
                                          <p:spTgt spid="31"/>
                                        </p:tgtEl>
                                        <p:attrNameLst>
                                          <p:attrName>style.visibility</p:attrName>
                                        </p:attrNameLst>
                                      </p:cBhvr>
                                      <p:to>
                                        <p:strVal val="visible"/>
                                      </p:to>
                                    </p:set>
                                  </p:childTnLst>
                                </p:cTn>
                              </p:par>
                              <p:par>
                                <p:cTn id="47" presetID="44" presetClass="path" presetSubtype="0" fill="hold" grpId="1" nodeType="withEffect">
                                  <p:stCondLst>
                                    <p:cond delay="300"/>
                                  </p:stCondLst>
                                  <p:childTnLst>
                                    <p:animMotion origin="layout" path="M -0.27882 0.09699 C -0.27882 0.09722 -0.24288 0.06736 -0.21163 0.05 C -0.19132 0.03958 -0.17673 0.03125 -0.15486 0.025 C -0.12986 0.01805 -0.11527 0.01458 -0.09652 0.00972 L 0.00087 -0.0007 " pathEditMode="fixed" rAng="0" ptsTypes="fffFf">
                                      <p:cBhvr>
                                        <p:cTn id="48" dur="5000" fill="hold"/>
                                        <p:tgtEl>
                                          <p:spTgt spid="31"/>
                                        </p:tgtEl>
                                        <p:attrNameLst>
                                          <p:attrName>ppt_x</p:attrName>
                                          <p:attrName>ppt_y</p:attrName>
                                        </p:attrNameLst>
                                      </p:cBhvr>
                                      <p:rCtr x="13976" y="-4884"/>
                                    </p:animMotion>
                                  </p:childTnLst>
                                </p:cTn>
                              </p:par>
                              <p:par>
                                <p:cTn id="49" presetID="1" presetClass="entr" presetSubtype="0" fill="hold" grpId="0" nodeType="withEffect">
                                  <p:stCondLst>
                                    <p:cond delay="3000"/>
                                  </p:stCondLst>
                                  <p:childTnLst>
                                    <p:set>
                                      <p:cBhvr>
                                        <p:cTn id="50" dur="1" fill="hold">
                                          <p:stCondLst>
                                            <p:cond delay="0"/>
                                          </p:stCondLst>
                                        </p:cTn>
                                        <p:tgtEl>
                                          <p:spTgt spid="35"/>
                                        </p:tgtEl>
                                        <p:attrNameLst>
                                          <p:attrName>style.visibility</p:attrName>
                                        </p:attrNameLst>
                                      </p:cBhvr>
                                      <p:to>
                                        <p:strVal val="visible"/>
                                      </p:to>
                                    </p:set>
                                  </p:childTnLst>
                                </p:cTn>
                              </p:par>
                              <p:par>
                                <p:cTn id="51" presetID="27" presetClass="emph" presetSubtype="0" repeatCount="2000" fill="hold" grpId="1" nodeType="withEffect">
                                  <p:stCondLst>
                                    <p:cond delay="3000"/>
                                  </p:stCondLst>
                                  <p:childTnLst>
                                    <p:animClr clrSpc="rgb" dir="cw">
                                      <p:cBhvr override="childStyle">
                                        <p:cTn id="52" dur="500" autoRev="1" fill="hold"/>
                                        <p:tgtEl>
                                          <p:spTgt spid="35"/>
                                        </p:tgtEl>
                                        <p:attrNameLst>
                                          <p:attrName>style.color</p:attrName>
                                        </p:attrNameLst>
                                      </p:cBhvr>
                                      <p:to>
                                        <a:schemeClr val="bg1"/>
                                      </p:to>
                                    </p:animClr>
                                    <p:animClr clrSpc="rgb" dir="cw">
                                      <p:cBhvr>
                                        <p:cTn id="53" dur="500" autoRev="1" fill="hold"/>
                                        <p:tgtEl>
                                          <p:spTgt spid="35"/>
                                        </p:tgtEl>
                                        <p:attrNameLst>
                                          <p:attrName>fillcolor</p:attrName>
                                        </p:attrNameLst>
                                      </p:cBhvr>
                                      <p:to>
                                        <a:schemeClr val="bg1"/>
                                      </p:to>
                                    </p:animClr>
                                    <p:set>
                                      <p:cBhvr>
                                        <p:cTn id="54" dur="500" autoRev="1" fill="hold"/>
                                        <p:tgtEl>
                                          <p:spTgt spid="35"/>
                                        </p:tgtEl>
                                        <p:attrNameLst>
                                          <p:attrName>fill.type</p:attrName>
                                        </p:attrNameLst>
                                      </p:cBhvr>
                                      <p:to>
                                        <p:strVal val="solid"/>
                                      </p:to>
                                    </p:set>
                                    <p:set>
                                      <p:cBhvr>
                                        <p:cTn id="55" dur="500" autoRev="1" fill="hold"/>
                                        <p:tgtEl>
                                          <p:spTgt spid="35"/>
                                        </p:tgtEl>
                                        <p:attrNameLst>
                                          <p:attrName>fill.on</p:attrName>
                                        </p:attrNameLst>
                                      </p:cBhvr>
                                      <p:to>
                                        <p:strVal val="true"/>
                                      </p:to>
                                    </p:set>
                                  </p:childTnLst>
                                </p:cTn>
                              </p:par>
                            </p:childTnLst>
                          </p:cTn>
                        </p:par>
                        <p:par>
                          <p:cTn id="56" fill="hold">
                            <p:stCondLst>
                              <p:cond delay="22000"/>
                            </p:stCondLst>
                            <p:childTnLst>
                              <p:par>
                                <p:cTn id="57" presetID="27" presetClass="emph" presetSubtype="0" repeatCount="5000" fill="hold" grpId="2" nodeType="afterEffect">
                                  <p:stCondLst>
                                    <p:cond delay="0"/>
                                  </p:stCondLst>
                                  <p:childTnLst>
                                    <p:animClr clrSpc="rgb" dir="cw">
                                      <p:cBhvr override="childStyle">
                                        <p:cTn id="58" dur="500" autoRev="1" fill="hold"/>
                                        <p:tgtEl>
                                          <p:spTgt spid="31"/>
                                        </p:tgtEl>
                                        <p:attrNameLst>
                                          <p:attrName>style.color</p:attrName>
                                        </p:attrNameLst>
                                      </p:cBhvr>
                                      <p:to>
                                        <a:schemeClr val="bg1"/>
                                      </p:to>
                                    </p:animClr>
                                    <p:animClr clrSpc="rgb" dir="cw">
                                      <p:cBhvr>
                                        <p:cTn id="59" dur="500" autoRev="1" fill="hold"/>
                                        <p:tgtEl>
                                          <p:spTgt spid="31"/>
                                        </p:tgtEl>
                                        <p:attrNameLst>
                                          <p:attrName>fillcolor</p:attrName>
                                        </p:attrNameLst>
                                      </p:cBhvr>
                                      <p:to>
                                        <a:schemeClr val="bg1"/>
                                      </p:to>
                                    </p:animClr>
                                    <p:set>
                                      <p:cBhvr>
                                        <p:cTn id="60" dur="500" autoRev="1" fill="hold"/>
                                        <p:tgtEl>
                                          <p:spTgt spid="31"/>
                                        </p:tgtEl>
                                        <p:attrNameLst>
                                          <p:attrName>fill.type</p:attrName>
                                        </p:attrNameLst>
                                      </p:cBhvr>
                                      <p:to>
                                        <p:strVal val="solid"/>
                                      </p:to>
                                    </p:set>
                                    <p:set>
                                      <p:cBhvr>
                                        <p:cTn id="61" dur="500" autoRev="1" fill="hold"/>
                                        <p:tgtEl>
                                          <p:spTgt spid="31"/>
                                        </p:tgtEl>
                                        <p:attrNameLst>
                                          <p:attrName>fill.on</p:attrName>
                                        </p:attrNameLst>
                                      </p:cBhvr>
                                      <p:to>
                                        <p:strVal val="true"/>
                                      </p:to>
                                    </p:set>
                                  </p:childTnLst>
                                </p:cTn>
                              </p:par>
                              <p:par>
                                <p:cTn id="62" presetID="27" presetClass="emph" presetSubtype="0" repeatCount="5000" fill="hold" grpId="2" nodeType="withEffect">
                                  <p:stCondLst>
                                    <p:cond delay="0"/>
                                  </p:stCondLst>
                                  <p:childTnLst>
                                    <p:animClr clrSpc="rgb" dir="cw">
                                      <p:cBhvr override="childStyle">
                                        <p:cTn id="63" dur="500" autoRev="1" fill="hold"/>
                                        <p:tgtEl>
                                          <p:spTgt spid="35"/>
                                        </p:tgtEl>
                                        <p:attrNameLst>
                                          <p:attrName>style.color</p:attrName>
                                        </p:attrNameLst>
                                      </p:cBhvr>
                                      <p:to>
                                        <a:schemeClr val="bg1"/>
                                      </p:to>
                                    </p:animClr>
                                    <p:animClr clrSpc="rgb" dir="cw">
                                      <p:cBhvr>
                                        <p:cTn id="64" dur="500" autoRev="1" fill="hold"/>
                                        <p:tgtEl>
                                          <p:spTgt spid="35"/>
                                        </p:tgtEl>
                                        <p:attrNameLst>
                                          <p:attrName>fillcolor</p:attrName>
                                        </p:attrNameLst>
                                      </p:cBhvr>
                                      <p:to>
                                        <a:schemeClr val="bg1"/>
                                      </p:to>
                                    </p:animClr>
                                    <p:set>
                                      <p:cBhvr>
                                        <p:cTn id="65" dur="500" autoRev="1" fill="hold"/>
                                        <p:tgtEl>
                                          <p:spTgt spid="35"/>
                                        </p:tgtEl>
                                        <p:attrNameLst>
                                          <p:attrName>fill.type</p:attrName>
                                        </p:attrNameLst>
                                      </p:cBhvr>
                                      <p:to>
                                        <p:strVal val="solid"/>
                                      </p:to>
                                    </p:set>
                                    <p:set>
                                      <p:cBhvr>
                                        <p:cTn id="66" dur="500" autoRev="1" fill="hold"/>
                                        <p:tgtEl>
                                          <p:spTgt spid="35"/>
                                        </p:tgtEl>
                                        <p:attrNameLst>
                                          <p:attrName>fill.on</p:attrName>
                                        </p:attrNameLst>
                                      </p:cBhvr>
                                      <p:to>
                                        <p:strVal val="true"/>
                                      </p:to>
                                    </p:set>
                                  </p:childTnLst>
                                </p:cTn>
                              </p:par>
                              <p:par>
                                <p:cTn id="67" presetID="19" presetClass="entr" presetSubtype="10" fill="hold" grpId="0" nodeType="withEffect">
                                  <p:stCondLst>
                                    <p:cond delay="0"/>
                                  </p:stCondLst>
                                  <p:childTnLst>
                                    <p:set>
                                      <p:cBhvr>
                                        <p:cTn id="68" dur="1" fill="hold">
                                          <p:stCondLst>
                                            <p:cond delay="0"/>
                                          </p:stCondLst>
                                        </p:cTn>
                                        <p:tgtEl>
                                          <p:spTgt spid="28"/>
                                        </p:tgtEl>
                                        <p:attrNameLst>
                                          <p:attrName>style.visibility</p:attrName>
                                        </p:attrNameLst>
                                      </p:cBhvr>
                                      <p:to>
                                        <p:strVal val="visible"/>
                                      </p:to>
                                    </p:set>
                                    <p:anim calcmode="lin" valueType="num">
                                      <p:cBhvr>
                                        <p:cTn id="69" dur="5000" fill="hold"/>
                                        <p:tgtEl>
                                          <p:spTgt spid="28"/>
                                        </p:tgtEl>
                                        <p:attrNameLst>
                                          <p:attrName>ppt_w</p:attrName>
                                        </p:attrNameLst>
                                      </p:cBhvr>
                                      <p:tavLst>
                                        <p:tav tm="0" fmla="#ppt_w*sin(2.5*pi*$)">
                                          <p:val>
                                            <p:fltVal val="0"/>
                                          </p:val>
                                        </p:tav>
                                        <p:tav tm="100000">
                                          <p:val>
                                            <p:fltVal val="1"/>
                                          </p:val>
                                        </p:tav>
                                      </p:tavLst>
                                    </p:anim>
                                    <p:anim calcmode="lin" valueType="num">
                                      <p:cBhvr>
                                        <p:cTn id="70" dur="5000" fill="hold"/>
                                        <p:tgtEl>
                                          <p:spTgt spid="28"/>
                                        </p:tgtEl>
                                        <p:attrNameLst>
                                          <p:attrName>ppt_h</p:attrName>
                                        </p:attrNameLst>
                                      </p:cBhvr>
                                      <p:tavLst>
                                        <p:tav tm="0">
                                          <p:val>
                                            <p:strVal val="#ppt_h"/>
                                          </p:val>
                                        </p:tav>
                                        <p:tav tm="100000">
                                          <p:val>
                                            <p:strVal val="#ppt_h"/>
                                          </p:val>
                                        </p:tav>
                                      </p:tavLst>
                                    </p:anim>
                                  </p:childTnLst>
                                </p:cTn>
                              </p:par>
                              <p:par>
                                <p:cTn id="71" presetID="19" presetClass="entr" presetSubtype="10" fill="hold" grpId="0" nodeType="withEffect">
                                  <p:stCondLst>
                                    <p:cond delay="0"/>
                                  </p:stCondLst>
                                  <p:childTnLst>
                                    <p:set>
                                      <p:cBhvr>
                                        <p:cTn id="72" dur="1" fill="hold">
                                          <p:stCondLst>
                                            <p:cond delay="0"/>
                                          </p:stCondLst>
                                        </p:cTn>
                                        <p:tgtEl>
                                          <p:spTgt spid="32"/>
                                        </p:tgtEl>
                                        <p:attrNameLst>
                                          <p:attrName>style.visibility</p:attrName>
                                        </p:attrNameLst>
                                      </p:cBhvr>
                                      <p:to>
                                        <p:strVal val="visible"/>
                                      </p:to>
                                    </p:set>
                                    <p:anim calcmode="lin" valueType="num">
                                      <p:cBhvr>
                                        <p:cTn id="73" dur="5000" fill="hold"/>
                                        <p:tgtEl>
                                          <p:spTgt spid="32"/>
                                        </p:tgtEl>
                                        <p:attrNameLst>
                                          <p:attrName>ppt_w</p:attrName>
                                        </p:attrNameLst>
                                      </p:cBhvr>
                                      <p:tavLst>
                                        <p:tav tm="0" fmla="#ppt_w*sin(2.5*pi*$)">
                                          <p:val>
                                            <p:fltVal val="0"/>
                                          </p:val>
                                        </p:tav>
                                        <p:tav tm="100000">
                                          <p:val>
                                            <p:fltVal val="1"/>
                                          </p:val>
                                        </p:tav>
                                      </p:tavLst>
                                    </p:anim>
                                    <p:anim calcmode="lin" valueType="num">
                                      <p:cBhvr>
                                        <p:cTn id="74" dur="5000" fill="hold"/>
                                        <p:tgtEl>
                                          <p:spTgt spid="32"/>
                                        </p:tgtEl>
                                        <p:attrNameLst>
                                          <p:attrName>ppt_h</p:attrName>
                                        </p:attrNameLst>
                                      </p:cBhvr>
                                      <p:tavLst>
                                        <p:tav tm="0">
                                          <p:val>
                                            <p:strVal val="#ppt_h"/>
                                          </p:val>
                                        </p:tav>
                                        <p:tav tm="100000">
                                          <p:val>
                                            <p:strVal val="#ppt_h"/>
                                          </p:val>
                                        </p:tav>
                                      </p:tavLst>
                                    </p:anim>
                                  </p:childTnLst>
                                </p:cTn>
                              </p:par>
                            </p:childTnLst>
                          </p:cTn>
                        </p:par>
                        <p:par>
                          <p:cTn id="75" fill="hold">
                            <p:stCondLst>
                              <p:cond delay="27000"/>
                            </p:stCondLst>
                            <p:childTnLst>
                              <p:par>
                                <p:cTn id="76" presetID="22" presetClass="entr" presetSubtype="8" fill="hold" grpId="0" nodeType="afterEffect">
                                  <p:stCondLst>
                                    <p:cond delay="0"/>
                                  </p:stCondLst>
                                  <p:childTnLst>
                                    <p:set>
                                      <p:cBhvr>
                                        <p:cTn id="77" dur="1" fill="hold">
                                          <p:stCondLst>
                                            <p:cond delay="0"/>
                                          </p:stCondLst>
                                        </p:cTn>
                                        <p:tgtEl>
                                          <p:spTgt spid="29"/>
                                        </p:tgtEl>
                                        <p:attrNameLst>
                                          <p:attrName>style.visibility</p:attrName>
                                        </p:attrNameLst>
                                      </p:cBhvr>
                                      <p:to>
                                        <p:strVal val="visible"/>
                                      </p:to>
                                    </p:set>
                                    <p:animEffect transition="in" filter="wipe(left)">
                                      <p:cBhvr>
                                        <p:cTn id="78" dur="3000"/>
                                        <p:tgtEl>
                                          <p:spTgt spid="29"/>
                                        </p:tgtEl>
                                      </p:cBhvr>
                                    </p:animEffect>
                                  </p:childTnLst>
                                </p:cTn>
                              </p:par>
                              <p:par>
                                <p:cTn id="79" presetID="18" presetClass="entr" presetSubtype="3" fill="hold" grpId="0" nodeType="withEffect">
                                  <p:stCondLst>
                                    <p:cond delay="0"/>
                                  </p:stCondLst>
                                  <p:childTnLst>
                                    <p:set>
                                      <p:cBhvr>
                                        <p:cTn id="80" dur="1" fill="hold">
                                          <p:stCondLst>
                                            <p:cond delay="0"/>
                                          </p:stCondLst>
                                        </p:cTn>
                                        <p:tgtEl>
                                          <p:spTgt spid="33"/>
                                        </p:tgtEl>
                                        <p:attrNameLst>
                                          <p:attrName>style.visibility</p:attrName>
                                        </p:attrNameLst>
                                      </p:cBhvr>
                                      <p:to>
                                        <p:strVal val="visible"/>
                                      </p:to>
                                    </p:set>
                                    <p:animEffect transition="in" filter="strips(upRight)">
                                      <p:cBhvr>
                                        <p:cTn id="81" dur="2000"/>
                                        <p:tgtEl>
                                          <p:spTgt spid="33"/>
                                        </p:tgtEl>
                                      </p:cBhvr>
                                    </p:animEffect>
                                  </p:childTnLst>
                                </p:cTn>
                              </p:par>
                              <p:par>
                                <p:cTn id="82" presetID="27" presetClass="emph" presetSubtype="0" repeatCount="indefinite" fill="hold" grpId="3" nodeType="withEffect">
                                  <p:stCondLst>
                                    <p:cond delay="0"/>
                                  </p:stCondLst>
                                  <p:childTnLst>
                                    <p:animClr clrSpc="rgb" dir="cw">
                                      <p:cBhvr override="childStyle">
                                        <p:cTn id="83" dur="500" autoRev="1" fill="hold"/>
                                        <p:tgtEl>
                                          <p:spTgt spid="31"/>
                                        </p:tgtEl>
                                        <p:attrNameLst>
                                          <p:attrName>style.color</p:attrName>
                                        </p:attrNameLst>
                                      </p:cBhvr>
                                      <p:to>
                                        <a:schemeClr val="bg1"/>
                                      </p:to>
                                    </p:animClr>
                                    <p:animClr clrSpc="rgb" dir="cw">
                                      <p:cBhvr>
                                        <p:cTn id="84" dur="500" autoRev="1" fill="hold"/>
                                        <p:tgtEl>
                                          <p:spTgt spid="31"/>
                                        </p:tgtEl>
                                        <p:attrNameLst>
                                          <p:attrName>fillcolor</p:attrName>
                                        </p:attrNameLst>
                                      </p:cBhvr>
                                      <p:to>
                                        <a:schemeClr val="bg1"/>
                                      </p:to>
                                    </p:animClr>
                                    <p:set>
                                      <p:cBhvr>
                                        <p:cTn id="85" dur="500" autoRev="1" fill="hold"/>
                                        <p:tgtEl>
                                          <p:spTgt spid="31"/>
                                        </p:tgtEl>
                                        <p:attrNameLst>
                                          <p:attrName>fill.type</p:attrName>
                                        </p:attrNameLst>
                                      </p:cBhvr>
                                      <p:to>
                                        <p:strVal val="solid"/>
                                      </p:to>
                                    </p:set>
                                    <p:set>
                                      <p:cBhvr>
                                        <p:cTn id="86" dur="500" autoRev="1" fill="hold"/>
                                        <p:tgtEl>
                                          <p:spTgt spid="31"/>
                                        </p:tgtEl>
                                        <p:attrNameLst>
                                          <p:attrName>fill.on</p:attrName>
                                        </p:attrNameLst>
                                      </p:cBhvr>
                                      <p:to>
                                        <p:strVal val="true"/>
                                      </p:to>
                                    </p:set>
                                  </p:childTnLst>
                                </p:cTn>
                              </p:par>
                              <p:par>
                                <p:cTn id="87" presetID="19" presetClass="entr" presetSubtype="10" fill="hold" grpId="0" nodeType="withEffect">
                                  <p:stCondLst>
                                    <p:cond delay="0"/>
                                  </p:stCondLst>
                                  <p:childTnLst>
                                    <p:set>
                                      <p:cBhvr>
                                        <p:cTn id="88" dur="1" fill="hold">
                                          <p:stCondLst>
                                            <p:cond delay="0"/>
                                          </p:stCondLst>
                                        </p:cTn>
                                        <p:tgtEl>
                                          <p:spTgt spid="30"/>
                                        </p:tgtEl>
                                        <p:attrNameLst>
                                          <p:attrName>style.visibility</p:attrName>
                                        </p:attrNameLst>
                                      </p:cBhvr>
                                      <p:to>
                                        <p:strVal val="visible"/>
                                      </p:to>
                                    </p:set>
                                    <p:anim calcmode="lin" valueType="num">
                                      <p:cBhvr>
                                        <p:cTn id="89" dur="5000" fill="hold"/>
                                        <p:tgtEl>
                                          <p:spTgt spid="30"/>
                                        </p:tgtEl>
                                        <p:attrNameLst>
                                          <p:attrName>ppt_w</p:attrName>
                                        </p:attrNameLst>
                                      </p:cBhvr>
                                      <p:tavLst>
                                        <p:tav tm="0" fmla="#ppt_w*sin(2.5*pi*$)">
                                          <p:val>
                                            <p:fltVal val="0"/>
                                          </p:val>
                                        </p:tav>
                                        <p:tav tm="100000">
                                          <p:val>
                                            <p:fltVal val="1"/>
                                          </p:val>
                                        </p:tav>
                                      </p:tavLst>
                                    </p:anim>
                                    <p:anim calcmode="lin" valueType="num">
                                      <p:cBhvr>
                                        <p:cTn id="90" dur="5000" fill="hold"/>
                                        <p:tgtEl>
                                          <p:spTgt spid="30"/>
                                        </p:tgtEl>
                                        <p:attrNameLst>
                                          <p:attrName>ppt_h</p:attrName>
                                        </p:attrNameLst>
                                      </p:cBhvr>
                                      <p:tavLst>
                                        <p:tav tm="0">
                                          <p:val>
                                            <p:strVal val="#ppt_h"/>
                                          </p:val>
                                        </p:tav>
                                        <p:tav tm="100000">
                                          <p:val>
                                            <p:strVal val="#ppt_h"/>
                                          </p:val>
                                        </p:tav>
                                      </p:tavLst>
                                    </p:anim>
                                  </p:childTnLst>
                                </p:cTn>
                              </p:par>
                              <p:par>
                                <p:cTn id="91" presetID="19" presetClass="entr" presetSubtype="10" fill="hold" grpId="0" nodeType="withEffect">
                                  <p:stCondLst>
                                    <p:cond delay="0"/>
                                  </p:stCondLst>
                                  <p:childTnLst>
                                    <p:set>
                                      <p:cBhvr>
                                        <p:cTn id="92" dur="1" fill="hold">
                                          <p:stCondLst>
                                            <p:cond delay="0"/>
                                          </p:stCondLst>
                                        </p:cTn>
                                        <p:tgtEl>
                                          <p:spTgt spid="34"/>
                                        </p:tgtEl>
                                        <p:attrNameLst>
                                          <p:attrName>style.visibility</p:attrName>
                                        </p:attrNameLst>
                                      </p:cBhvr>
                                      <p:to>
                                        <p:strVal val="visible"/>
                                      </p:to>
                                    </p:set>
                                    <p:anim calcmode="lin" valueType="num">
                                      <p:cBhvr>
                                        <p:cTn id="93" dur="5000" fill="hold"/>
                                        <p:tgtEl>
                                          <p:spTgt spid="34"/>
                                        </p:tgtEl>
                                        <p:attrNameLst>
                                          <p:attrName>ppt_w</p:attrName>
                                        </p:attrNameLst>
                                      </p:cBhvr>
                                      <p:tavLst>
                                        <p:tav tm="0" fmla="#ppt_w*sin(2.5*pi*$)">
                                          <p:val>
                                            <p:fltVal val="0"/>
                                          </p:val>
                                        </p:tav>
                                        <p:tav tm="100000">
                                          <p:val>
                                            <p:fltVal val="1"/>
                                          </p:val>
                                        </p:tav>
                                      </p:tavLst>
                                    </p:anim>
                                    <p:anim calcmode="lin" valueType="num">
                                      <p:cBhvr>
                                        <p:cTn id="94" dur="5000" fill="hold"/>
                                        <p:tgtEl>
                                          <p:spTgt spid="34"/>
                                        </p:tgtEl>
                                        <p:attrNameLst>
                                          <p:attrName>ppt_h</p:attrName>
                                        </p:attrNameLst>
                                      </p:cBhvr>
                                      <p:tavLst>
                                        <p:tav tm="0">
                                          <p:val>
                                            <p:strVal val="#ppt_h"/>
                                          </p:val>
                                        </p:tav>
                                        <p:tav tm="100000">
                                          <p:val>
                                            <p:strVal val="#ppt_h"/>
                                          </p:val>
                                        </p:tav>
                                      </p:tavLst>
                                    </p:anim>
                                  </p:childTnLst>
                                </p:cTn>
                              </p:par>
                              <p:par>
                                <p:cTn id="95" presetID="27" presetClass="emph" presetSubtype="0" repeatCount="indefinite" fill="hold" grpId="3" nodeType="withEffect">
                                  <p:stCondLst>
                                    <p:cond delay="0"/>
                                  </p:stCondLst>
                                  <p:childTnLst>
                                    <p:animClr clrSpc="rgb" dir="cw">
                                      <p:cBhvr override="childStyle">
                                        <p:cTn id="96" dur="500" autoRev="1" fill="hold"/>
                                        <p:tgtEl>
                                          <p:spTgt spid="27"/>
                                        </p:tgtEl>
                                        <p:attrNameLst>
                                          <p:attrName>style.color</p:attrName>
                                        </p:attrNameLst>
                                      </p:cBhvr>
                                      <p:to>
                                        <a:schemeClr val="bg1"/>
                                      </p:to>
                                    </p:animClr>
                                    <p:animClr clrSpc="rgb" dir="cw">
                                      <p:cBhvr>
                                        <p:cTn id="97" dur="500" autoRev="1" fill="hold"/>
                                        <p:tgtEl>
                                          <p:spTgt spid="27"/>
                                        </p:tgtEl>
                                        <p:attrNameLst>
                                          <p:attrName>fillcolor</p:attrName>
                                        </p:attrNameLst>
                                      </p:cBhvr>
                                      <p:to>
                                        <a:schemeClr val="bg1"/>
                                      </p:to>
                                    </p:animClr>
                                    <p:set>
                                      <p:cBhvr>
                                        <p:cTn id="98" dur="500" autoRev="1" fill="hold"/>
                                        <p:tgtEl>
                                          <p:spTgt spid="27"/>
                                        </p:tgtEl>
                                        <p:attrNameLst>
                                          <p:attrName>fill.type</p:attrName>
                                        </p:attrNameLst>
                                      </p:cBhvr>
                                      <p:to>
                                        <p:strVal val="solid"/>
                                      </p:to>
                                    </p:set>
                                    <p:set>
                                      <p:cBhvr>
                                        <p:cTn id="99" dur="500" autoRev="1" fill="hold"/>
                                        <p:tgtEl>
                                          <p:spTgt spid="27"/>
                                        </p:tgtEl>
                                        <p:attrNameLst>
                                          <p:attrName>fill.on</p:attrName>
                                        </p:attrNameLst>
                                      </p:cBhvr>
                                      <p:to>
                                        <p:strVal val="true"/>
                                      </p:to>
                                    </p:set>
                                  </p:childTnLst>
                                </p:cTn>
                              </p:par>
                              <p:par>
                                <p:cTn id="100" presetID="27" presetClass="emph" presetSubtype="0" repeatCount="indefinite" fill="hold" grpId="3" nodeType="withEffect">
                                  <p:stCondLst>
                                    <p:cond delay="0"/>
                                  </p:stCondLst>
                                  <p:childTnLst>
                                    <p:animClr clrSpc="rgb" dir="cw">
                                      <p:cBhvr override="childStyle">
                                        <p:cTn id="101" dur="500" autoRev="1" fill="hold"/>
                                        <p:tgtEl>
                                          <p:spTgt spid="35"/>
                                        </p:tgtEl>
                                        <p:attrNameLst>
                                          <p:attrName>style.color</p:attrName>
                                        </p:attrNameLst>
                                      </p:cBhvr>
                                      <p:to>
                                        <a:schemeClr val="bg1"/>
                                      </p:to>
                                    </p:animClr>
                                    <p:animClr clrSpc="rgb" dir="cw">
                                      <p:cBhvr>
                                        <p:cTn id="102" dur="500" autoRev="1" fill="hold"/>
                                        <p:tgtEl>
                                          <p:spTgt spid="35"/>
                                        </p:tgtEl>
                                        <p:attrNameLst>
                                          <p:attrName>fillcolor</p:attrName>
                                        </p:attrNameLst>
                                      </p:cBhvr>
                                      <p:to>
                                        <a:schemeClr val="bg1"/>
                                      </p:to>
                                    </p:animClr>
                                    <p:set>
                                      <p:cBhvr>
                                        <p:cTn id="103" dur="500" autoRev="1" fill="hold"/>
                                        <p:tgtEl>
                                          <p:spTgt spid="35"/>
                                        </p:tgtEl>
                                        <p:attrNameLst>
                                          <p:attrName>fill.type</p:attrName>
                                        </p:attrNameLst>
                                      </p:cBhvr>
                                      <p:to>
                                        <p:strVal val="solid"/>
                                      </p:to>
                                    </p:set>
                                    <p:set>
                                      <p:cBhvr>
                                        <p:cTn id="104" dur="500" autoRev="1" fill="hold"/>
                                        <p:tgtEl>
                                          <p:spTgt spid="35"/>
                                        </p:tgtEl>
                                        <p:attrNameLst>
                                          <p:attrName>fill.on</p:attrName>
                                        </p:attrNameLst>
                                      </p:cBhvr>
                                      <p:to>
                                        <p:strVal val="true"/>
                                      </p:to>
                                    </p:set>
                                  </p:childTnLst>
                                </p:cTn>
                              </p:par>
                            </p:childTnLst>
                          </p:cTn>
                        </p:par>
                        <p:par>
                          <p:cTn id="105" fill="hold">
                            <p:stCondLst>
                              <p:cond delay="32000"/>
                            </p:stCondLst>
                            <p:childTnLst>
                              <p:par>
                                <p:cTn id="106" presetID="18" presetClass="entr" presetSubtype="6" fill="hold" grpId="0" nodeType="afterEffect">
                                  <p:stCondLst>
                                    <p:cond delay="0"/>
                                  </p:stCondLst>
                                  <p:childTnLst>
                                    <p:set>
                                      <p:cBhvr>
                                        <p:cTn id="107" dur="1" fill="hold">
                                          <p:stCondLst>
                                            <p:cond delay="0"/>
                                          </p:stCondLst>
                                        </p:cTn>
                                        <p:tgtEl>
                                          <p:spTgt spid="36"/>
                                        </p:tgtEl>
                                        <p:attrNameLst>
                                          <p:attrName>style.visibility</p:attrName>
                                        </p:attrNameLst>
                                      </p:cBhvr>
                                      <p:to>
                                        <p:strVal val="visible"/>
                                      </p:to>
                                    </p:set>
                                    <p:animEffect transition="in" filter="strips(downRight)">
                                      <p:cBhvr>
                                        <p:cTn id="108" dur="2000"/>
                                        <p:tgtEl>
                                          <p:spTgt spid="36"/>
                                        </p:tgtEl>
                                      </p:cBhvr>
                                    </p:animEffect>
                                  </p:childTnLst>
                                </p:cTn>
                              </p:par>
                              <p:par>
                                <p:cTn id="109" presetID="19" presetClass="entr" presetSubtype="10" fill="hold" grpId="0" nodeType="withEffect">
                                  <p:stCondLst>
                                    <p:cond delay="0"/>
                                  </p:stCondLst>
                                  <p:childTnLst>
                                    <p:set>
                                      <p:cBhvr>
                                        <p:cTn id="110" dur="1" fill="hold">
                                          <p:stCondLst>
                                            <p:cond delay="0"/>
                                          </p:stCondLst>
                                        </p:cTn>
                                        <p:tgtEl>
                                          <p:spTgt spid="22"/>
                                        </p:tgtEl>
                                        <p:attrNameLst>
                                          <p:attrName>style.visibility</p:attrName>
                                        </p:attrNameLst>
                                      </p:cBhvr>
                                      <p:to>
                                        <p:strVal val="visible"/>
                                      </p:to>
                                    </p:set>
                                    <p:anim calcmode="lin" valueType="num">
                                      <p:cBhvr>
                                        <p:cTn id="111" dur="5000" fill="hold"/>
                                        <p:tgtEl>
                                          <p:spTgt spid="22"/>
                                        </p:tgtEl>
                                        <p:attrNameLst>
                                          <p:attrName>ppt_w</p:attrName>
                                        </p:attrNameLst>
                                      </p:cBhvr>
                                      <p:tavLst>
                                        <p:tav tm="0" fmla="#ppt_w*sin(2.5*pi*$)">
                                          <p:val>
                                            <p:fltVal val="0"/>
                                          </p:val>
                                        </p:tav>
                                        <p:tav tm="100000">
                                          <p:val>
                                            <p:fltVal val="1"/>
                                          </p:val>
                                        </p:tav>
                                      </p:tavLst>
                                    </p:anim>
                                    <p:anim calcmode="lin" valueType="num">
                                      <p:cBhvr>
                                        <p:cTn id="112" dur="5000" fill="hold"/>
                                        <p:tgtEl>
                                          <p:spTgt spid="22"/>
                                        </p:tgtEl>
                                        <p:attrNameLst>
                                          <p:attrName>ppt_h</p:attrName>
                                        </p:attrNameLst>
                                      </p:cBhvr>
                                      <p:tavLst>
                                        <p:tav tm="0">
                                          <p:val>
                                            <p:strVal val="#ppt_h"/>
                                          </p:val>
                                        </p:tav>
                                        <p:tav tm="100000">
                                          <p:val>
                                            <p:strVal val="#ppt_h"/>
                                          </p:val>
                                        </p:tav>
                                      </p:tavLst>
                                    </p:anim>
                                  </p:childTnLst>
                                </p:cTn>
                              </p:par>
                            </p:childTnLst>
                          </p:cTn>
                        </p:par>
                        <p:par>
                          <p:cTn id="113" fill="hold">
                            <p:stCondLst>
                              <p:cond delay="37000"/>
                            </p:stCondLst>
                            <p:childTnLst>
                              <p:par>
                                <p:cTn id="114" presetID="18" presetClass="entr" presetSubtype="6" fill="hold" grpId="0" nodeType="afterEffect">
                                  <p:stCondLst>
                                    <p:cond delay="0"/>
                                  </p:stCondLst>
                                  <p:childTnLst>
                                    <p:set>
                                      <p:cBhvr>
                                        <p:cTn id="115" dur="1" fill="hold">
                                          <p:stCondLst>
                                            <p:cond delay="0"/>
                                          </p:stCondLst>
                                        </p:cTn>
                                        <p:tgtEl>
                                          <p:spTgt spid="37"/>
                                        </p:tgtEl>
                                        <p:attrNameLst>
                                          <p:attrName>style.visibility</p:attrName>
                                        </p:attrNameLst>
                                      </p:cBhvr>
                                      <p:to>
                                        <p:strVal val="visible"/>
                                      </p:to>
                                    </p:set>
                                    <p:animEffect transition="in" filter="strips(downRight)">
                                      <p:cBhvr>
                                        <p:cTn id="116" dur="2000"/>
                                        <p:tgtEl>
                                          <p:spTgt spid="37"/>
                                        </p:tgtEl>
                                      </p:cBhvr>
                                    </p:animEffect>
                                  </p:childTnLst>
                                </p:cTn>
                              </p:par>
                              <p:par>
                                <p:cTn id="117" presetID="19" presetClass="entr" presetSubtype="10" fill="hold" grpId="0" nodeType="withEffect">
                                  <p:stCondLst>
                                    <p:cond delay="0"/>
                                  </p:stCondLst>
                                  <p:childTnLst>
                                    <p:set>
                                      <p:cBhvr>
                                        <p:cTn id="118" dur="1" fill="hold">
                                          <p:stCondLst>
                                            <p:cond delay="0"/>
                                          </p:stCondLst>
                                        </p:cTn>
                                        <p:tgtEl>
                                          <p:spTgt spid="23"/>
                                        </p:tgtEl>
                                        <p:attrNameLst>
                                          <p:attrName>style.visibility</p:attrName>
                                        </p:attrNameLst>
                                      </p:cBhvr>
                                      <p:to>
                                        <p:strVal val="visible"/>
                                      </p:to>
                                    </p:set>
                                    <p:anim calcmode="lin" valueType="num">
                                      <p:cBhvr>
                                        <p:cTn id="119" dur="5000" fill="hold"/>
                                        <p:tgtEl>
                                          <p:spTgt spid="23"/>
                                        </p:tgtEl>
                                        <p:attrNameLst>
                                          <p:attrName>ppt_w</p:attrName>
                                        </p:attrNameLst>
                                      </p:cBhvr>
                                      <p:tavLst>
                                        <p:tav tm="0" fmla="#ppt_w*sin(2.5*pi*$)">
                                          <p:val>
                                            <p:fltVal val="0"/>
                                          </p:val>
                                        </p:tav>
                                        <p:tav tm="100000">
                                          <p:val>
                                            <p:fltVal val="1"/>
                                          </p:val>
                                        </p:tav>
                                      </p:tavLst>
                                    </p:anim>
                                    <p:anim calcmode="lin" valueType="num">
                                      <p:cBhvr>
                                        <p:cTn id="120" dur="5000" fill="hold"/>
                                        <p:tgtEl>
                                          <p:spTgt spid="23"/>
                                        </p:tgtEl>
                                        <p:attrNameLst>
                                          <p:attrName>ppt_h</p:attrName>
                                        </p:attrNameLst>
                                      </p:cBhvr>
                                      <p:tavLst>
                                        <p:tav tm="0">
                                          <p:val>
                                            <p:strVal val="#ppt_h"/>
                                          </p:val>
                                        </p:tav>
                                        <p:tav tm="100000">
                                          <p:val>
                                            <p:strVal val="#ppt_h"/>
                                          </p:val>
                                        </p:tav>
                                      </p:tavLst>
                                    </p:anim>
                                  </p:childTnLst>
                                </p:cTn>
                              </p:par>
                            </p:childTnLst>
                          </p:cTn>
                        </p:par>
                        <p:par>
                          <p:cTn id="121" fill="hold">
                            <p:stCondLst>
                              <p:cond delay="42000"/>
                            </p:stCondLst>
                            <p:childTnLst>
                              <p:par>
                                <p:cTn id="122" presetID="1" presetClass="entr" presetSubtype="0" fill="hold" grpId="0" nodeType="afterEffect">
                                  <p:stCondLst>
                                    <p:cond delay="0"/>
                                  </p:stCondLst>
                                  <p:childTnLst>
                                    <p:set>
                                      <p:cBhvr>
                                        <p:cTn id="123" dur="1" fill="hold">
                                          <p:stCondLst>
                                            <p:cond delay="0"/>
                                          </p:stCondLst>
                                        </p:cTn>
                                        <p:tgtEl>
                                          <p:spTgt spid="38"/>
                                        </p:tgtEl>
                                        <p:attrNameLst>
                                          <p:attrName>style.visibility</p:attrName>
                                        </p:attrNameLst>
                                      </p:cBhvr>
                                      <p:to>
                                        <p:strVal val="visible"/>
                                      </p:to>
                                    </p:set>
                                  </p:childTnLst>
                                </p:cTn>
                              </p:par>
                              <p:par>
                                <p:cTn id="124" presetID="0" presetClass="path" presetSubtype="0" accel="50000" decel="50000" fill="hold" grpId="1" nodeType="withEffect">
                                  <p:stCondLst>
                                    <p:cond delay="0"/>
                                  </p:stCondLst>
                                  <p:childTnLst>
                                    <p:animMotion origin="layout" path="M 8.33333E-7 -4.44444E-6 L -0.15417 0.22477 " pathEditMode="relative" rAng="0" ptsTypes="AA">
                                      <p:cBhvr>
                                        <p:cTn id="125" dur="5000" spd="-100000" fill="hold"/>
                                        <p:tgtEl>
                                          <p:spTgt spid="38"/>
                                        </p:tgtEl>
                                        <p:attrNameLst>
                                          <p:attrName>ppt_x</p:attrName>
                                          <p:attrName>ppt_y</p:attrName>
                                        </p:attrNameLst>
                                      </p:cBhvr>
                                      <p:rCtr x="-7708" y="11227"/>
                                    </p:animMotion>
                                  </p:childTnLst>
                                </p:cTn>
                              </p:par>
                            </p:childTnLst>
                          </p:cTn>
                        </p:par>
                        <p:par>
                          <p:cTn id="126" fill="hold">
                            <p:stCondLst>
                              <p:cond delay="47000"/>
                            </p:stCondLst>
                            <p:childTnLst>
                              <p:par>
                                <p:cTn id="127" presetID="19" presetClass="entr" presetSubtype="10" fill="hold" grpId="0" nodeType="afterEffect">
                                  <p:stCondLst>
                                    <p:cond delay="0"/>
                                  </p:stCondLst>
                                  <p:childTnLst>
                                    <p:set>
                                      <p:cBhvr>
                                        <p:cTn id="128" dur="1" fill="hold">
                                          <p:stCondLst>
                                            <p:cond delay="0"/>
                                          </p:stCondLst>
                                        </p:cTn>
                                        <p:tgtEl>
                                          <p:spTgt spid="39"/>
                                        </p:tgtEl>
                                        <p:attrNameLst>
                                          <p:attrName>style.visibility</p:attrName>
                                        </p:attrNameLst>
                                      </p:cBhvr>
                                      <p:to>
                                        <p:strVal val="visible"/>
                                      </p:to>
                                    </p:set>
                                    <p:anim calcmode="lin" valueType="num">
                                      <p:cBhvr>
                                        <p:cTn id="129" dur="5000" fill="hold"/>
                                        <p:tgtEl>
                                          <p:spTgt spid="39"/>
                                        </p:tgtEl>
                                        <p:attrNameLst>
                                          <p:attrName>ppt_w</p:attrName>
                                        </p:attrNameLst>
                                      </p:cBhvr>
                                      <p:tavLst>
                                        <p:tav tm="0" fmla="#ppt_w*sin(2.5*pi*$)">
                                          <p:val>
                                            <p:fltVal val="0"/>
                                          </p:val>
                                        </p:tav>
                                        <p:tav tm="100000">
                                          <p:val>
                                            <p:fltVal val="1"/>
                                          </p:val>
                                        </p:tav>
                                      </p:tavLst>
                                    </p:anim>
                                    <p:anim calcmode="lin" valueType="num">
                                      <p:cBhvr>
                                        <p:cTn id="130" dur="5000" fill="hold"/>
                                        <p:tgtEl>
                                          <p:spTgt spid="39"/>
                                        </p:tgtEl>
                                        <p:attrNameLst>
                                          <p:attrName>ppt_h</p:attrName>
                                        </p:attrNameLst>
                                      </p:cBhvr>
                                      <p:tavLst>
                                        <p:tav tm="0">
                                          <p:val>
                                            <p:strVal val="#ppt_h"/>
                                          </p:val>
                                        </p:tav>
                                        <p:tav tm="100000">
                                          <p:val>
                                            <p:strVal val="#ppt_h"/>
                                          </p:val>
                                        </p:tav>
                                      </p:tavLst>
                                    </p:anim>
                                  </p:childTnLst>
                                </p:cTn>
                              </p:par>
                            </p:childTnLst>
                          </p:cTn>
                        </p:par>
                        <p:par>
                          <p:cTn id="131" fill="hold">
                            <p:stCondLst>
                              <p:cond delay="52000"/>
                            </p:stCondLst>
                            <p:childTnLst>
                              <p:par>
                                <p:cTn id="132" presetID="1" presetClass="entr" presetSubtype="0" fill="hold" grpId="0" nodeType="afterEffect">
                                  <p:stCondLst>
                                    <p:cond delay="0"/>
                                  </p:stCondLst>
                                  <p:childTnLst>
                                    <p:set>
                                      <p:cBhvr>
                                        <p:cTn id="133" dur="1" fill="hold">
                                          <p:stCondLst>
                                            <p:cond delay="0"/>
                                          </p:stCondLst>
                                        </p:cTn>
                                        <p:tgtEl>
                                          <p:spTgt spid="41"/>
                                        </p:tgtEl>
                                        <p:attrNameLst>
                                          <p:attrName>style.visibility</p:attrName>
                                        </p:attrNameLst>
                                      </p:cBhvr>
                                      <p:to>
                                        <p:strVal val="visible"/>
                                      </p:to>
                                    </p:set>
                                  </p:childTnLst>
                                </p:cTn>
                              </p:par>
                              <p:par>
                                <p:cTn id="134" presetID="0" presetClass="path" presetSubtype="0" accel="50000" decel="50000" fill="hold" grpId="1" nodeType="withEffect">
                                  <p:stCondLst>
                                    <p:cond delay="0"/>
                                  </p:stCondLst>
                                  <p:childTnLst>
                                    <p:animMotion origin="layout" path="M 4.44444E-6 1.48148E-6 L 0.0743 0.11921 " pathEditMode="relative" rAng="0" ptsTypes="AA">
                                      <p:cBhvr>
                                        <p:cTn id="135" dur="3000" spd="-100000" fill="hold"/>
                                        <p:tgtEl>
                                          <p:spTgt spid="41"/>
                                        </p:tgtEl>
                                        <p:attrNameLst>
                                          <p:attrName>ppt_x</p:attrName>
                                          <p:attrName>ppt_y</p:attrName>
                                        </p:attrNameLst>
                                      </p:cBhvr>
                                      <p:rCtr x="3715" y="5949"/>
                                    </p:animMotion>
                                  </p:childTnLst>
                                </p:cTn>
                              </p:par>
                            </p:childTnLst>
                          </p:cTn>
                        </p:par>
                        <p:par>
                          <p:cTn id="136" fill="hold">
                            <p:stCondLst>
                              <p:cond delay="55000"/>
                            </p:stCondLst>
                            <p:childTnLst>
                              <p:par>
                                <p:cTn id="137" presetID="19" presetClass="entr" presetSubtype="10" fill="hold" grpId="0" nodeType="afterEffect">
                                  <p:stCondLst>
                                    <p:cond delay="0"/>
                                  </p:stCondLst>
                                  <p:childTnLst>
                                    <p:set>
                                      <p:cBhvr>
                                        <p:cTn id="138" dur="1" fill="hold">
                                          <p:stCondLst>
                                            <p:cond delay="0"/>
                                          </p:stCondLst>
                                        </p:cTn>
                                        <p:tgtEl>
                                          <p:spTgt spid="40"/>
                                        </p:tgtEl>
                                        <p:attrNameLst>
                                          <p:attrName>style.visibility</p:attrName>
                                        </p:attrNameLst>
                                      </p:cBhvr>
                                      <p:to>
                                        <p:strVal val="visible"/>
                                      </p:to>
                                    </p:set>
                                    <p:anim calcmode="lin" valueType="num">
                                      <p:cBhvr>
                                        <p:cTn id="139" dur="5000" fill="hold"/>
                                        <p:tgtEl>
                                          <p:spTgt spid="40"/>
                                        </p:tgtEl>
                                        <p:attrNameLst>
                                          <p:attrName>ppt_w</p:attrName>
                                        </p:attrNameLst>
                                      </p:cBhvr>
                                      <p:tavLst>
                                        <p:tav tm="0" fmla="#ppt_w*sin(2.5*pi*$)">
                                          <p:val>
                                            <p:fltVal val="0"/>
                                          </p:val>
                                        </p:tav>
                                        <p:tav tm="100000">
                                          <p:val>
                                            <p:fltVal val="1"/>
                                          </p:val>
                                        </p:tav>
                                      </p:tavLst>
                                    </p:anim>
                                    <p:anim calcmode="lin" valueType="num">
                                      <p:cBhvr>
                                        <p:cTn id="140" dur="5000" fill="hold"/>
                                        <p:tgtEl>
                                          <p:spTgt spid="40"/>
                                        </p:tgtEl>
                                        <p:attrNameLst>
                                          <p:attrName>ppt_h</p:attrName>
                                        </p:attrNameLst>
                                      </p:cBhvr>
                                      <p:tavLst>
                                        <p:tav tm="0">
                                          <p:val>
                                            <p:strVal val="#ppt_h"/>
                                          </p:val>
                                        </p:tav>
                                        <p:tav tm="100000">
                                          <p:val>
                                            <p:strVal val="#ppt_h"/>
                                          </p:val>
                                        </p:tav>
                                      </p:tavLst>
                                    </p:anim>
                                  </p:childTnLst>
                                </p:cTn>
                              </p:par>
                            </p:childTnLst>
                          </p:cTn>
                        </p:par>
                        <p:par>
                          <p:cTn id="141" fill="hold">
                            <p:stCondLst>
                              <p:cond delay="60000"/>
                            </p:stCondLst>
                            <p:childTnLst>
                              <p:par>
                                <p:cTn id="142" presetID="18" presetClass="entr" presetSubtype="6" fill="hold" grpId="0" nodeType="afterEffect">
                                  <p:stCondLst>
                                    <p:cond delay="0"/>
                                  </p:stCondLst>
                                  <p:childTnLst>
                                    <p:set>
                                      <p:cBhvr>
                                        <p:cTn id="143" dur="1" fill="hold">
                                          <p:stCondLst>
                                            <p:cond delay="0"/>
                                          </p:stCondLst>
                                        </p:cTn>
                                        <p:tgtEl>
                                          <p:spTgt spid="42"/>
                                        </p:tgtEl>
                                        <p:attrNameLst>
                                          <p:attrName>style.visibility</p:attrName>
                                        </p:attrNameLst>
                                      </p:cBhvr>
                                      <p:to>
                                        <p:strVal val="visible"/>
                                      </p:to>
                                    </p:set>
                                    <p:animEffect transition="in" filter="strips(downRight)">
                                      <p:cBhvr>
                                        <p:cTn id="144" dur="3000"/>
                                        <p:tgtEl>
                                          <p:spTgt spid="42"/>
                                        </p:tgtEl>
                                      </p:cBhvr>
                                    </p:animEffect>
                                  </p:childTnLst>
                                </p:cTn>
                              </p:par>
                              <p:par>
                                <p:cTn id="145" presetID="19" presetClass="entr" presetSubtype="10" fill="hold" grpId="0" nodeType="withEffect">
                                  <p:stCondLst>
                                    <p:cond delay="0"/>
                                  </p:stCondLst>
                                  <p:childTnLst>
                                    <p:set>
                                      <p:cBhvr>
                                        <p:cTn id="146" dur="1" fill="hold">
                                          <p:stCondLst>
                                            <p:cond delay="0"/>
                                          </p:stCondLst>
                                        </p:cTn>
                                        <p:tgtEl>
                                          <p:spTgt spid="43"/>
                                        </p:tgtEl>
                                        <p:attrNameLst>
                                          <p:attrName>style.visibility</p:attrName>
                                        </p:attrNameLst>
                                      </p:cBhvr>
                                      <p:to>
                                        <p:strVal val="visible"/>
                                      </p:to>
                                    </p:set>
                                    <p:anim calcmode="lin" valueType="num">
                                      <p:cBhvr>
                                        <p:cTn id="147" dur="5000" fill="hold"/>
                                        <p:tgtEl>
                                          <p:spTgt spid="43"/>
                                        </p:tgtEl>
                                        <p:attrNameLst>
                                          <p:attrName>ppt_w</p:attrName>
                                        </p:attrNameLst>
                                      </p:cBhvr>
                                      <p:tavLst>
                                        <p:tav tm="0" fmla="#ppt_w*sin(2.5*pi*$)">
                                          <p:val>
                                            <p:fltVal val="0"/>
                                          </p:val>
                                        </p:tav>
                                        <p:tav tm="100000">
                                          <p:val>
                                            <p:fltVal val="1"/>
                                          </p:val>
                                        </p:tav>
                                      </p:tavLst>
                                    </p:anim>
                                    <p:anim calcmode="lin" valueType="num">
                                      <p:cBhvr>
                                        <p:cTn id="148" dur="5000" fill="hold"/>
                                        <p:tgtEl>
                                          <p:spTgt spid="43"/>
                                        </p:tgtEl>
                                        <p:attrNameLst>
                                          <p:attrName>ppt_h</p:attrName>
                                        </p:attrNameLst>
                                      </p:cBhvr>
                                      <p:tavLst>
                                        <p:tav tm="0">
                                          <p:val>
                                            <p:strVal val="#ppt_h"/>
                                          </p:val>
                                        </p:tav>
                                        <p:tav tm="100000">
                                          <p:val>
                                            <p:strVal val="#ppt_h"/>
                                          </p:val>
                                        </p:tav>
                                      </p:tavLst>
                                    </p:anim>
                                  </p:childTnLst>
                                </p:cTn>
                              </p:par>
                            </p:childTnLst>
                          </p:cTn>
                        </p:par>
                      </p:childTnLst>
                    </p:cTn>
                  </p:par>
                  <p:par>
                    <p:cTn id="149" fill="hold">
                      <p:stCondLst>
                        <p:cond delay="indefinite"/>
                      </p:stCondLst>
                      <p:childTnLst>
                        <p:par>
                          <p:cTn id="150" fill="hold">
                            <p:stCondLst>
                              <p:cond delay="0"/>
                            </p:stCondLst>
                            <p:childTnLst>
                              <p:par>
                                <p:cTn id="151" presetID="22" presetClass="entr" presetSubtype="8" fill="hold" nodeType="clickEffect">
                                  <p:stCondLst>
                                    <p:cond delay="0"/>
                                  </p:stCondLst>
                                  <p:childTnLst>
                                    <p:set>
                                      <p:cBhvr>
                                        <p:cTn id="152" dur="1" fill="hold">
                                          <p:stCondLst>
                                            <p:cond delay="0"/>
                                          </p:stCondLst>
                                        </p:cTn>
                                        <p:tgtEl>
                                          <p:spTgt spid="44"/>
                                        </p:tgtEl>
                                        <p:attrNameLst>
                                          <p:attrName>style.visibility</p:attrName>
                                        </p:attrNameLst>
                                      </p:cBhvr>
                                      <p:to>
                                        <p:strVal val="visible"/>
                                      </p:to>
                                    </p:set>
                                    <p:animEffect transition="in" filter="wipe(left)">
                                      <p:cBhvr>
                                        <p:cTn id="153" dur="3000"/>
                                        <p:tgtEl>
                                          <p:spTgt spid="44"/>
                                        </p:tgtEl>
                                      </p:cBhvr>
                                    </p:animEffect>
                                  </p:childTnLst>
                                </p:cTn>
                              </p:par>
                            </p:childTnLst>
                          </p:cTn>
                        </p:par>
                      </p:childTnLst>
                    </p:cTn>
                  </p:par>
                  <p:par>
                    <p:cTn id="154" fill="hold">
                      <p:stCondLst>
                        <p:cond delay="indefinite"/>
                      </p:stCondLst>
                      <p:childTnLst>
                        <p:par>
                          <p:cTn id="155" fill="hold">
                            <p:stCondLst>
                              <p:cond delay="0"/>
                            </p:stCondLst>
                            <p:childTnLst>
                              <p:par>
                                <p:cTn id="156" presetID="1" presetClass="entr" presetSubtype="0" fill="hold" grpId="0" nodeType="clickEffect">
                                  <p:stCondLst>
                                    <p:cond delay="0"/>
                                  </p:stCondLst>
                                  <p:childTnLst>
                                    <p:set>
                                      <p:cBhvr>
                                        <p:cTn id="157" dur="1" fill="hold">
                                          <p:stCondLst>
                                            <p:cond delay="499"/>
                                          </p:stCondLst>
                                        </p:cTn>
                                        <p:tgtEl>
                                          <p:spTgt spid="45"/>
                                        </p:tgtEl>
                                        <p:attrNameLst>
                                          <p:attrName>style.visibility</p:attrName>
                                        </p:attrNameLst>
                                      </p:cBhvr>
                                      <p:to>
                                        <p:strVal val="visible"/>
                                      </p:to>
                                    </p:set>
                                  </p:childTnLst>
                                </p:cTn>
                              </p:par>
                            </p:childTnLst>
                          </p:cTn>
                        </p:par>
                      </p:childTnLst>
                    </p:cTn>
                  </p:par>
                  <p:par>
                    <p:cTn id="158" fill="hold">
                      <p:stCondLst>
                        <p:cond delay="indefinite"/>
                      </p:stCondLst>
                      <p:childTnLst>
                        <p:par>
                          <p:cTn id="159" fill="hold">
                            <p:stCondLst>
                              <p:cond delay="0"/>
                            </p:stCondLst>
                            <p:childTnLst>
                              <p:par>
                                <p:cTn id="160" presetID="22" presetClass="entr" presetSubtype="8" fill="hold" nodeType="clickEffect">
                                  <p:stCondLst>
                                    <p:cond delay="0"/>
                                  </p:stCondLst>
                                  <p:childTnLst>
                                    <p:set>
                                      <p:cBhvr>
                                        <p:cTn id="161" dur="1" fill="hold">
                                          <p:stCondLst>
                                            <p:cond delay="0"/>
                                          </p:stCondLst>
                                        </p:cTn>
                                        <p:tgtEl>
                                          <p:spTgt spid="46"/>
                                        </p:tgtEl>
                                        <p:attrNameLst>
                                          <p:attrName>style.visibility</p:attrName>
                                        </p:attrNameLst>
                                      </p:cBhvr>
                                      <p:to>
                                        <p:strVal val="visible"/>
                                      </p:to>
                                    </p:set>
                                    <p:animEffect transition="in" filter="wipe(left)">
                                      <p:cBhvr>
                                        <p:cTn id="162" dur="3000"/>
                                        <p:tgtEl>
                                          <p:spTgt spid="46"/>
                                        </p:tgtEl>
                                      </p:cBhvr>
                                    </p:animEffect>
                                  </p:childTnLst>
                                </p:cTn>
                              </p:par>
                            </p:childTnLst>
                          </p:cTn>
                        </p:par>
                      </p:childTnLst>
                    </p:cTn>
                  </p:par>
                  <p:par>
                    <p:cTn id="163" fill="hold">
                      <p:stCondLst>
                        <p:cond delay="indefinite"/>
                      </p:stCondLst>
                      <p:childTnLst>
                        <p:par>
                          <p:cTn id="164" fill="hold">
                            <p:stCondLst>
                              <p:cond delay="0"/>
                            </p:stCondLst>
                            <p:childTnLst>
                              <p:par>
                                <p:cTn id="165" presetID="1" presetClass="entr" presetSubtype="0" fill="hold" grpId="0" nodeType="clickEffect">
                                  <p:stCondLst>
                                    <p:cond delay="0"/>
                                  </p:stCondLst>
                                  <p:childTnLst>
                                    <p:set>
                                      <p:cBhvr>
                                        <p:cTn id="166" dur="1" fill="hold">
                                          <p:stCondLst>
                                            <p:cond delay="499"/>
                                          </p:stCondLst>
                                        </p:cTn>
                                        <p:tgtEl>
                                          <p:spTgt spid="47"/>
                                        </p:tgtEl>
                                        <p:attrNameLst>
                                          <p:attrName>style.visibility</p:attrName>
                                        </p:attrNameLst>
                                      </p:cBhvr>
                                      <p:to>
                                        <p:strVal val="visible"/>
                                      </p:to>
                                    </p:set>
                                  </p:childTnLst>
                                </p:cTn>
                              </p:par>
                            </p:childTnLst>
                          </p:cTn>
                        </p:par>
                      </p:childTnLst>
                    </p:cTn>
                  </p:par>
                  <p:par>
                    <p:cTn id="167" fill="hold">
                      <p:stCondLst>
                        <p:cond delay="indefinite"/>
                      </p:stCondLst>
                      <p:childTnLst>
                        <p:par>
                          <p:cTn id="168" fill="hold">
                            <p:stCondLst>
                              <p:cond delay="0"/>
                            </p:stCondLst>
                            <p:childTnLst>
                              <p:par>
                                <p:cTn id="169" presetID="1" presetClass="entr" presetSubtype="0" fill="hold" grpId="0" nodeType="clickEffect">
                                  <p:stCondLst>
                                    <p:cond delay="0"/>
                                  </p:stCondLst>
                                  <p:childTnLst>
                                    <p:set>
                                      <p:cBhvr>
                                        <p:cTn id="170" dur="1" fill="hold">
                                          <p:stCondLst>
                                            <p:cond delay="499"/>
                                          </p:stCondLst>
                                        </p:cTn>
                                        <p:tgtEl>
                                          <p:spTgt spid="49"/>
                                        </p:tgtEl>
                                        <p:attrNameLst>
                                          <p:attrName>style.visibility</p:attrName>
                                        </p:attrNameLst>
                                      </p:cBhvr>
                                      <p:to>
                                        <p:strVal val="visible"/>
                                      </p:to>
                                    </p:set>
                                  </p:childTnLst>
                                </p:cTn>
                              </p:par>
                            </p:childTnLst>
                          </p:cTn>
                        </p:par>
                      </p:childTnLst>
                    </p:cTn>
                  </p:par>
                  <p:par>
                    <p:cTn id="171" fill="hold">
                      <p:stCondLst>
                        <p:cond delay="indefinite"/>
                      </p:stCondLst>
                      <p:childTnLst>
                        <p:par>
                          <p:cTn id="172" fill="hold">
                            <p:stCondLst>
                              <p:cond delay="0"/>
                            </p:stCondLst>
                            <p:childTnLst>
                              <p:par>
                                <p:cTn id="173" presetID="22" presetClass="entr" presetSubtype="8" fill="hold" nodeType="clickEffect">
                                  <p:stCondLst>
                                    <p:cond delay="0"/>
                                  </p:stCondLst>
                                  <p:childTnLst>
                                    <p:set>
                                      <p:cBhvr>
                                        <p:cTn id="174" dur="1" fill="hold">
                                          <p:stCondLst>
                                            <p:cond delay="0"/>
                                          </p:stCondLst>
                                        </p:cTn>
                                        <p:tgtEl>
                                          <p:spTgt spid="51"/>
                                        </p:tgtEl>
                                        <p:attrNameLst>
                                          <p:attrName>style.visibility</p:attrName>
                                        </p:attrNameLst>
                                      </p:cBhvr>
                                      <p:to>
                                        <p:strVal val="visible"/>
                                      </p:to>
                                    </p:set>
                                    <p:animEffect transition="in" filter="wipe(left)">
                                      <p:cBhvr>
                                        <p:cTn id="175" dur="3000"/>
                                        <p:tgtEl>
                                          <p:spTgt spid="51"/>
                                        </p:tgtEl>
                                      </p:cBhvr>
                                    </p:animEffect>
                                  </p:childTnLst>
                                </p:cTn>
                              </p:par>
                            </p:childTnLst>
                          </p:cTn>
                        </p:par>
                      </p:childTnLst>
                    </p:cTn>
                  </p:par>
                  <p:par>
                    <p:cTn id="176" fill="hold">
                      <p:stCondLst>
                        <p:cond delay="indefinite"/>
                      </p:stCondLst>
                      <p:childTnLst>
                        <p:par>
                          <p:cTn id="177" fill="hold">
                            <p:stCondLst>
                              <p:cond delay="0"/>
                            </p:stCondLst>
                            <p:childTnLst>
                              <p:par>
                                <p:cTn id="178" presetID="1" presetClass="entr" presetSubtype="0" fill="hold" grpId="0" nodeType="clickEffect">
                                  <p:stCondLst>
                                    <p:cond delay="0"/>
                                  </p:stCondLst>
                                  <p:childTnLst>
                                    <p:set>
                                      <p:cBhvr>
                                        <p:cTn id="179" dur="1" fill="hold">
                                          <p:stCondLst>
                                            <p:cond delay="499"/>
                                          </p:stCondLst>
                                        </p:cTn>
                                        <p:tgtEl>
                                          <p:spTgt spid="48"/>
                                        </p:tgtEl>
                                        <p:attrNameLst>
                                          <p:attrName>style.visibility</p:attrName>
                                        </p:attrNameLst>
                                      </p:cBhvr>
                                      <p:to>
                                        <p:strVal val="visible"/>
                                      </p:to>
                                    </p:set>
                                  </p:childTnLst>
                                </p:cTn>
                              </p:par>
                            </p:childTnLst>
                          </p:cTn>
                        </p:par>
                      </p:childTnLst>
                    </p:cTn>
                  </p:par>
                  <p:par>
                    <p:cTn id="180" fill="hold">
                      <p:stCondLst>
                        <p:cond delay="indefinite"/>
                      </p:stCondLst>
                      <p:childTnLst>
                        <p:par>
                          <p:cTn id="181" fill="hold">
                            <p:stCondLst>
                              <p:cond delay="0"/>
                            </p:stCondLst>
                            <p:childTnLst>
                              <p:par>
                                <p:cTn id="182" presetID="22" presetClass="entr" presetSubtype="8" fill="hold" nodeType="clickEffect">
                                  <p:stCondLst>
                                    <p:cond delay="0"/>
                                  </p:stCondLst>
                                  <p:childTnLst>
                                    <p:set>
                                      <p:cBhvr>
                                        <p:cTn id="183" dur="1" fill="hold">
                                          <p:stCondLst>
                                            <p:cond delay="0"/>
                                          </p:stCondLst>
                                        </p:cTn>
                                        <p:tgtEl>
                                          <p:spTgt spid="50"/>
                                        </p:tgtEl>
                                        <p:attrNameLst>
                                          <p:attrName>style.visibility</p:attrName>
                                        </p:attrNameLst>
                                      </p:cBhvr>
                                      <p:to>
                                        <p:strVal val="visible"/>
                                      </p:to>
                                    </p:set>
                                    <p:animEffect transition="in" filter="wipe(left)">
                                      <p:cBhvr>
                                        <p:cTn id="184" dur="30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utoUpdateAnimBg="0"/>
      <p:bldP spid="9" grpId="0" animBg="1"/>
      <p:bldP spid="21" grpId="0" animBg="1"/>
      <p:bldP spid="22" grpId="0"/>
      <p:bldP spid="23" grpId="0"/>
      <p:bldP spid="24" grpId="0"/>
      <p:bldP spid="25" grpId="0" animBg="1"/>
      <p:bldP spid="26" grpId="0"/>
      <p:bldP spid="27" grpId="0" animBg="1"/>
      <p:bldP spid="27" grpId="1" animBg="1"/>
      <p:bldP spid="27" grpId="2" animBg="1"/>
      <p:bldP spid="27" grpId="3" animBg="1"/>
      <p:bldP spid="28" grpId="0"/>
      <p:bldP spid="29" grpId="0" animBg="1"/>
      <p:bldP spid="30" grpId="0"/>
      <p:bldP spid="31" grpId="0" animBg="1"/>
      <p:bldP spid="31" grpId="1" animBg="1"/>
      <p:bldP spid="31" grpId="2" animBg="1"/>
      <p:bldP spid="31" grpId="3" animBg="1"/>
      <p:bldP spid="32" grpId="0"/>
      <p:bldP spid="33" grpId="0" animBg="1"/>
      <p:bldP spid="34" grpId="0"/>
      <p:bldP spid="35" grpId="0" animBg="1"/>
      <p:bldP spid="35" grpId="1" animBg="1"/>
      <p:bldP spid="35" grpId="2" animBg="1"/>
      <p:bldP spid="35" grpId="3" animBg="1"/>
      <p:bldP spid="36" grpId="0" animBg="1"/>
      <p:bldP spid="37" grpId="0" animBg="1"/>
      <p:bldP spid="38" grpId="0" animBg="1"/>
      <p:bldP spid="38" grpId="1" animBg="1"/>
      <p:bldP spid="39" grpId="0"/>
      <p:bldP spid="40" grpId="0"/>
      <p:bldP spid="41" grpId="0" animBg="1"/>
      <p:bldP spid="41" grpId="1" animBg="1"/>
      <p:bldP spid="42" grpId="0" animBg="1"/>
      <p:bldP spid="43" grpId="0"/>
      <p:bldP spid="45" grpId="0" autoUpdateAnimBg="0"/>
      <p:bldP spid="47" grpId="0" autoUpdateAnimBg="0"/>
      <p:bldP spid="48" grpId="0" autoUpdateAnimBg="0"/>
      <p:bldP spid="49" grpId="0" autoUpdateAnimBg="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4653838"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第七章   动力学普遍定理</a:t>
            </a:r>
          </a:p>
        </p:txBody>
      </p:sp>
      <p:sp>
        <p:nvSpPr>
          <p:cNvPr id="52" name="Text Box 1032"/>
          <p:cNvSpPr txBox="1">
            <a:spLocks noChangeArrowheads="1"/>
          </p:cNvSpPr>
          <p:nvPr/>
        </p:nvSpPr>
        <p:spPr bwMode="auto">
          <a:xfrm>
            <a:off x="623392" y="1478708"/>
            <a:ext cx="10628803" cy="21605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20000"/>
              </a:lnSpc>
            </a:pPr>
            <a:r>
              <a:rPr kumimoji="1" lang="zh-CN" altLang="en-US" sz="2800" i="0" dirty="0">
                <a:latin typeface="+mj-lt"/>
                <a:ea typeface="微软雅黑" panose="020B0503020204020204" pitchFamily="34" charset="-122"/>
              </a:rPr>
              <a:t>设质点系由</a:t>
            </a:r>
            <a:r>
              <a:rPr kumimoji="1" lang="en-US" altLang="zh-CN" sz="2800" b="0" dirty="0">
                <a:latin typeface="+mj-lt"/>
                <a:ea typeface="微软雅黑" panose="020B0503020204020204" pitchFamily="34" charset="-122"/>
              </a:rPr>
              <a:t>n</a:t>
            </a:r>
            <a:r>
              <a:rPr kumimoji="1" lang="zh-CN" altLang="en-US" sz="2800" i="0" dirty="0">
                <a:latin typeface="+mj-lt"/>
                <a:ea typeface="微软雅黑" panose="020B0503020204020204" pitchFamily="34" charset="-122"/>
              </a:rPr>
              <a:t>个质点组成；其中某质点的质量为</a:t>
            </a:r>
            <a:r>
              <a:rPr kumimoji="1" lang="en-US" altLang="zh-CN" sz="2800" b="0" dirty="0">
                <a:latin typeface="+mj-lt"/>
                <a:ea typeface="微软雅黑" panose="020B0503020204020204" pitchFamily="34" charset="-122"/>
              </a:rPr>
              <a:t>m</a:t>
            </a:r>
            <a:r>
              <a:rPr kumimoji="1" lang="en-US" altLang="zh-CN" sz="2800" b="0" baseline="-25000" dirty="0">
                <a:latin typeface="+mj-lt"/>
                <a:ea typeface="微软雅黑" panose="020B0503020204020204" pitchFamily="34" charset="-122"/>
              </a:rPr>
              <a:t>i </a:t>
            </a:r>
            <a:r>
              <a:rPr kumimoji="1" lang="zh-CN" altLang="en-US" sz="2800" i="0" dirty="0">
                <a:latin typeface="+mj-lt"/>
                <a:ea typeface="微软雅黑" panose="020B0503020204020204" pitchFamily="34" charset="-122"/>
              </a:rPr>
              <a:t>速度为</a:t>
            </a:r>
            <a:r>
              <a:rPr kumimoji="1" lang="en-US" altLang="zh-CN" sz="2800" dirty="0">
                <a:latin typeface="+mj-lt"/>
                <a:ea typeface="微软雅黑" panose="020B0503020204020204" pitchFamily="34" charset="-122"/>
              </a:rPr>
              <a:t>v</a:t>
            </a:r>
            <a:r>
              <a:rPr kumimoji="1" lang="en-US" altLang="zh-CN" sz="2800" b="0" baseline="-25000" dirty="0">
                <a:latin typeface="+mj-lt"/>
                <a:ea typeface="微软雅黑" panose="020B0503020204020204" pitchFamily="34" charset="-122"/>
              </a:rPr>
              <a:t>i</a:t>
            </a:r>
            <a:r>
              <a:rPr kumimoji="1" lang="zh-CN" altLang="en-US" sz="2800" i="0" dirty="0">
                <a:latin typeface="+mj-lt"/>
                <a:ea typeface="微软雅黑" panose="020B0503020204020204" pitchFamily="34" charset="-122"/>
              </a:rPr>
              <a:t>，作用于该质点上的力有外力       和质点系内各质点之间相互作用的力，即内力       。由质点动量定理，有 </a:t>
            </a:r>
          </a:p>
          <a:p>
            <a:pPr>
              <a:lnSpc>
                <a:spcPct val="120000"/>
              </a:lnSpc>
            </a:pPr>
            <a:endParaRPr lang="zh-CN" altLang="en-US" sz="2800" i="0" dirty="0">
              <a:latin typeface="+mj-lt"/>
              <a:ea typeface="微软雅黑" panose="020B0503020204020204" pitchFamily="34" charset="-122"/>
            </a:endParaRPr>
          </a:p>
        </p:txBody>
      </p:sp>
      <p:sp>
        <p:nvSpPr>
          <p:cNvPr id="6" name="矩形 5"/>
          <p:cNvSpPr/>
          <p:nvPr/>
        </p:nvSpPr>
        <p:spPr>
          <a:xfrm>
            <a:off x="3877201" y="922687"/>
            <a:ext cx="3262432" cy="599331"/>
          </a:xfrm>
          <a:prstGeom prst="rect">
            <a:avLst/>
          </a:prstGeom>
        </p:spPr>
        <p:txBody>
          <a:bodyPr wrap="none">
            <a:spAutoFit/>
          </a:bodyPr>
          <a:lstStyle/>
          <a:p>
            <a:pPr>
              <a:lnSpc>
                <a:spcPct val="120000"/>
              </a:lnSpc>
            </a:pPr>
            <a:r>
              <a:rPr lang="zh-CN" altLang="en-US" sz="3000" i="0" dirty="0">
                <a:solidFill>
                  <a:srgbClr val="4F81BD"/>
                </a:solidFill>
                <a:latin typeface="微软雅黑" panose="020B0503020204020204" pitchFamily="34" charset="-122"/>
                <a:ea typeface="微软雅黑" panose="020B0503020204020204" pitchFamily="34" charset="-122"/>
              </a:rPr>
              <a:t>质点系的动量定理</a:t>
            </a:r>
          </a:p>
        </p:txBody>
      </p:sp>
      <p:sp>
        <p:nvSpPr>
          <p:cNvPr id="15" name="Text Box 1032"/>
          <p:cNvSpPr txBox="1">
            <a:spLocks noChangeArrowheads="1"/>
          </p:cNvSpPr>
          <p:nvPr/>
        </p:nvSpPr>
        <p:spPr bwMode="auto">
          <a:xfrm>
            <a:off x="615284" y="3831599"/>
            <a:ext cx="8972619" cy="597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30000"/>
              </a:lnSpc>
            </a:pPr>
            <a:r>
              <a:rPr lang="zh-CN" altLang="en-US" sz="2800" i="0" dirty="0">
                <a:latin typeface="+mj-lt"/>
                <a:ea typeface="微软雅黑" panose="020B0503020204020204" pitchFamily="34" charset="-122"/>
              </a:rPr>
              <a:t>则将各质点的动量定理相加，可得</a:t>
            </a:r>
            <a:endParaRPr lang="zh-CN" altLang="en-US" sz="2800" b="0" i="0" dirty="0">
              <a:latin typeface="+mj-lt"/>
              <a:ea typeface="微软雅黑" panose="020B0503020204020204" pitchFamily="34" charset="-122"/>
            </a:endParaRPr>
          </a:p>
        </p:txBody>
      </p:sp>
      <p:graphicFrame>
        <p:nvGraphicFramePr>
          <p:cNvPr id="9" name="Object 7"/>
          <p:cNvGraphicFramePr>
            <a:graphicFrameLocks noChangeAspect="1"/>
          </p:cNvGraphicFramePr>
          <p:nvPr>
            <p:extLst>
              <p:ext uri="{D42A27DB-BD31-4B8C-83A1-F6EECF244321}">
                <p14:modId xmlns:p14="http://schemas.microsoft.com/office/powerpoint/2010/main" val="1129206710"/>
              </p:ext>
            </p:extLst>
          </p:nvPr>
        </p:nvGraphicFramePr>
        <p:xfrm>
          <a:off x="3911205" y="2056888"/>
          <a:ext cx="701675" cy="566737"/>
        </p:xfrm>
        <a:graphic>
          <a:graphicData uri="http://schemas.openxmlformats.org/presentationml/2006/ole">
            <mc:AlternateContent xmlns:mc="http://schemas.openxmlformats.org/markup-compatibility/2006">
              <mc:Choice xmlns:v="urn:schemas-microsoft-com:vml" Requires="v">
                <p:oleObj spid="_x0000_s3126" name="Equation" r:id="rId4" imgW="291960" imgH="241200" progId="Equation.DSMT4">
                  <p:embed/>
                </p:oleObj>
              </mc:Choice>
              <mc:Fallback>
                <p:oleObj name="Equation" r:id="rId4" imgW="291960" imgH="241200" progId="Equation.DSMT4">
                  <p:embed/>
                  <p:pic>
                    <p:nvPicPr>
                      <p:cNvPr id="0" name=""/>
                      <p:cNvPicPr>
                        <a:picLocks noChangeAspect="1" noChangeArrowheads="1"/>
                      </p:cNvPicPr>
                      <p:nvPr/>
                    </p:nvPicPr>
                    <p:blipFill>
                      <a:blip r:embed="rId5"/>
                      <a:srcRect/>
                      <a:stretch>
                        <a:fillRect/>
                      </a:stretch>
                    </p:blipFill>
                    <p:spPr bwMode="auto">
                      <a:xfrm>
                        <a:off x="3911205" y="2056888"/>
                        <a:ext cx="701675" cy="566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 name="Object 7"/>
          <p:cNvGraphicFramePr>
            <a:graphicFrameLocks noChangeAspect="1"/>
          </p:cNvGraphicFramePr>
          <p:nvPr>
            <p:extLst>
              <p:ext uri="{D42A27DB-BD31-4B8C-83A1-F6EECF244321}">
                <p14:modId xmlns:p14="http://schemas.microsoft.com/office/powerpoint/2010/main" val="3883574516"/>
              </p:ext>
            </p:extLst>
          </p:nvPr>
        </p:nvGraphicFramePr>
        <p:xfrm>
          <a:off x="1395399" y="2570271"/>
          <a:ext cx="641350" cy="566737"/>
        </p:xfrm>
        <a:graphic>
          <a:graphicData uri="http://schemas.openxmlformats.org/presentationml/2006/ole">
            <mc:AlternateContent xmlns:mc="http://schemas.openxmlformats.org/markup-compatibility/2006">
              <mc:Choice xmlns:v="urn:schemas-microsoft-com:vml" Requires="v">
                <p:oleObj spid="_x0000_s3127" name="Equation" r:id="rId6" imgW="266400" imgH="241200" progId="Equation.DSMT4">
                  <p:embed/>
                </p:oleObj>
              </mc:Choice>
              <mc:Fallback>
                <p:oleObj name="Equation" r:id="rId6" imgW="266400" imgH="241200" progId="Equation.DSMT4">
                  <p:embed/>
                  <p:pic>
                    <p:nvPicPr>
                      <p:cNvPr id="0" name=""/>
                      <p:cNvPicPr>
                        <a:picLocks noChangeAspect="1" noChangeArrowheads="1"/>
                      </p:cNvPicPr>
                      <p:nvPr/>
                    </p:nvPicPr>
                    <p:blipFill>
                      <a:blip r:embed="rId7"/>
                      <a:srcRect/>
                      <a:stretch>
                        <a:fillRect/>
                      </a:stretch>
                    </p:blipFill>
                    <p:spPr bwMode="auto">
                      <a:xfrm>
                        <a:off x="1395399" y="2570271"/>
                        <a:ext cx="641350" cy="566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 name="Object 10"/>
          <p:cNvGraphicFramePr>
            <a:graphicFrameLocks noChangeAspect="1"/>
          </p:cNvGraphicFramePr>
          <p:nvPr>
            <p:extLst>
              <p:ext uri="{D42A27DB-BD31-4B8C-83A1-F6EECF244321}">
                <p14:modId xmlns:p14="http://schemas.microsoft.com/office/powerpoint/2010/main" val="401483830"/>
              </p:ext>
            </p:extLst>
          </p:nvPr>
        </p:nvGraphicFramePr>
        <p:xfrm>
          <a:off x="2749550" y="2959100"/>
          <a:ext cx="3200400" cy="936625"/>
        </p:xfrm>
        <a:graphic>
          <a:graphicData uri="http://schemas.openxmlformats.org/presentationml/2006/ole">
            <mc:AlternateContent xmlns:mc="http://schemas.openxmlformats.org/markup-compatibility/2006">
              <mc:Choice xmlns:v="urn:schemas-microsoft-com:vml" Requires="v">
                <p:oleObj spid="_x0000_s3128" name="Equation" r:id="rId8" imgW="1333440" imgH="393480" progId="Equation.DSMT4">
                  <p:embed/>
                </p:oleObj>
              </mc:Choice>
              <mc:Fallback>
                <p:oleObj name="Equation" r:id="rId8" imgW="1333440" imgH="393480" progId="Equation.DSMT4">
                  <p:embed/>
                  <p:pic>
                    <p:nvPicPr>
                      <p:cNvPr id="0" name=""/>
                      <p:cNvPicPr>
                        <a:picLocks noChangeAspect="1" noChangeArrowheads="1"/>
                      </p:cNvPicPr>
                      <p:nvPr/>
                    </p:nvPicPr>
                    <p:blipFill>
                      <a:blip r:embed="rId9"/>
                      <a:srcRect/>
                      <a:stretch>
                        <a:fillRect/>
                      </a:stretch>
                    </p:blipFill>
                    <p:spPr bwMode="auto">
                      <a:xfrm>
                        <a:off x="2749550" y="2959100"/>
                        <a:ext cx="3200400" cy="936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 name="Object 13"/>
          <p:cNvGraphicFramePr>
            <a:graphicFrameLocks noChangeAspect="1"/>
          </p:cNvGraphicFramePr>
          <p:nvPr>
            <p:extLst>
              <p:ext uri="{D42A27DB-BD31-4B8C-83A1-F6EECF244321}">
                <p14:modId xmlns:p14="http://schemas.microsoft.com/office/powerpoint/2010/main" val="2114068825"/>
              </p:ext>
            </p:extLst>
          </p:nvPr>
        </p:nvGraphicFramePr>
        <p:xfrm>
          <a:off x="2755900" y="4441825"/>
          <a:ext cx="4541838" cy="936625"/>
        </p:xfrm>
        <a:graphic>
          <a:graphicData uri="http://schemas.openxmlformats.org/presentationml/2006/ole">
            <mc:AlternateContent xmlns:mc="http://schemas.openxmlformats.org/markup-compatibility/2006">
              <mc:Choice xmlns:v="urn:schemas-microsoft-com:vml" Requires="v">
                <p:oleObj spid="_x0000_s3129" name="Equation" r:id="rId10" imgW="1892160" imgH="393480" progId="Equation.DSMT4">
                  <p:embed/>
                </p:oleObj>
              </mc:Choice>
              <mc:Fallback>
                <p:oleObj name="Equation" r:id="rId10" imgW="1892160" imgH="393480" progId="Equation.DSMT4">
                  <p:embed/>
                  <p:pic>
                    <p:nvPicPr>
                      <p:cNvPr id="0" name=""/>
                      <p:cNvPicPr>
                        <a:picLocks noChangeAspect="1" noChangeArrowheads="1"/>
                      </p:cNvPicPr>
                      <p:nvPr/>
                    </p:nvPicPr>
                    <p:blipFill>
                      <a:blip r:embed="rId11"/>
                      <a:srcRect/>
                      <a:stretch>
                        <a:fillRect/>
                      </a:stretch>
                    </p:blipFill>
                    <p:spPr bwMode="auto">
                      <a:xfrm>
                        <a:off x="2755900" y="4441825"/>
                        <a:ext cx="4541838" cy="936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 name="Text Box 1032"/>
          <p:cNvSpPr txBox="1">
            <a:spLocks noChangeArrowheads="1"/>
          </p:cNvSpPr>
          <p:nvPr/>
        </p:nvSpPr>
        <p:spPr bwMode="auto">
          <a:xfrm>
            <a:off x="623392" y="5331879"/>
            <a:ext cx="11420891" cy="597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30000"/>
              </a:lnSpc>
            </a:pPr>
            <a:r>
              <a:rPr lang="zh-CN" altLang="en-US" sz="2800" dirty="0"/>
              <a:t>∑</a:t>
            </a:r>
            <a:r>
              <a:rPr lang="en-US" altLang="zh-CN" sz="2800" b="0" dirty="0" err="1"/>
              <a:t>m</a:t>
            </a:r>
            <a:r>
              <a:rPr lang="en-US" altLang="zh-CN" sz="2800" b="0" baseline="-25000" dirty="0" err="1"/>
              <a:t>i</a:t>
            </a:r>
            <a:r>
              <a:rPr lang="en-US" altLang="zh-CN" sz="2800" dirty="0" err="1">
                <a:latin typeface="+mj-lt"/>
              </a:rPr>
              <a:t>v</a:t>
            </a:r>
            <a:r>
              <a:rPr lang="en-US" altLang="zh-CN" sz="2800" b="0" baseline="-25000" dirty="0" err="1"/>
              <a:t>i</a:t>
            </a:r>
            <a:r>
              <a:rPr lang="zh-CN" altLang="en-US" sz="2800" i="0" dirty="0">
                <a:latin typeface="+mj-lt"/>
                <a:ea typeface="微软雅黑" panose="020B0503020204020204" pitchFamily="34" charset="-122"/>
              </a:rPr>
              <a:t>为质点系内各质点动量的矢量和，称为质点系的动量，并以 </a:t>
            </a:r>
            <a:r>
              <a:rPr lang="en-US" altLang="zh-CN" sz="2800" dirty="0"/>
              <a:t>p</a:t>
            </a:r>
            <a:r>
              <a:rPr lang="zh-CN" altLang="en-US" sz="2800" i="0" dirty="0">
                <a:latin typeface="+mj-lt"/>
                <a:ea typeface="微软雅黑" panose="020B0503020204020204" pitchFamily="34" charset="-122"/>
              </a:rPr>
              <a:t>表示</a:t>
            </a:r>
          </a:p>
        </p:txBody>
      </p:sp>
    </p:spTree>
    <p:extLst>
      <p:ext uri="{BB962C8B-B14F-4D97-AF65-F5344CB8AC3E}">
        <p14:creationId xmlns:p14="http://schemas.microsoft.com/office/powerpoint/2010/main" val="2271741292"/>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wipe(left)">
                                      <p:cBhvr>
                                        <p:cTn id="15" dur="30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499"/>
                                          </p:stCondLst>
                                        </p:cTn>
                                        <p:tgtEl>
                                          <p:spTgt spid="15"/>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wipe(left)">
                                      <p:cBhvr>
                                        <p:cTn id="24" dur="3000"/>
                                        <p:tgtEl>
                                          <p:spTgt spid="12"/>
                                        </p:tgtEl>
                                      </p:cBhvr>
                                    </p:animEffec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499"/>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p:bldP spid="15" grpId="0" autoUpdateAnimBg="0"/>
      <p:bldP spid="13" grpId="0"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4653838"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第七章   动力学普遍定理</a:t>
            </a:r>
          </a:p>
        </p:txBody>
      </p:sp>
      <p:sp>
        <p:nvSpPr>
          <p:cNvPr id="52" name="Text Box 1032"/>
          <p:cNvSpPr txBox="1">
            <a:spLocks noChangeArrowheads="1"/>
          </p:cNvSpPr>
          <p:nvPr/>
        </p:nvSpPr>
        <p:spPr bwMode="auto">
          <a:xfrm>
            <a:off x="947913" y="993488"/>
            <a:ext cx="9756599" cy="1643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20000"/>
              </a:lnSpc>
            </a:pPr>
            <a:r>
              <a:rPr lang="zh-CN" altLang="en-US" sz="2800" i="0" dirty="0">
                <a:latin typeface="+mn-lt"/>
                <a:ea typeface="微软雅黑" panose="020B0503020204020204" pitchFamily="34" charset="-122"/>
              </a:rPr>
              <a:t>因为存在</a:t>
            </a:r>
            <a:r>
              <a:rPr lang="en-US" altLang="zh-CN" sz="2800" b="0" dirty="0" err="1">
                <a:latin typeface="+mn-lt"/>
                <a:ea typeface="微软雅黑" panose="020B0503020204020204" pitchFamily="34" charset="-122"/>
              </a:rPr>
              <a:t>m</a:t>
            </a:r>
            <a:r>
              <a:rPr lang="en-US" altLang="zh-CN" sz="2800" dirty="0" err="1">
                <a:latin typeface="+mn-lt"/>
                <a:ea typeface="微软雅黑" panose="020B0503020204020204" pitchFamily="34" charset="-122"/>
              </a:rPr>
              <a:t>a</a:t>
            </a:r>
            <a:r>
              <a:rPr lang="en-US" altLang="zh-CN" sz="2800" b="0" baseline="-25000" dirty="0" err="1">
                <a:latin typeface="+mn-lt"/>
                <a:ea typeface="微软雅黑" panose="020B0503020204020204" pitchFamily="34" charset="-122"/>
              </a:rPr>
              <a:t>C</a:t>
            </a:r>
            <a:r>
              <a:rPr lang="en-US" altLang="zh-CN" sz="2800" i="0" dirty="0">
                <a:latin typeface="+mn-lt"/>
                <a:ea typeface="微软雅黑" panose="020B0503020204020204" pitchFamily="34" charset="-122"/>
              </a:rPr>
              <a:t>=∑</a:t>
            </a:r>
            <a:r>
              <a:rPr lang="en-US" altLang="zh-CN" sz="2800" b="0" dirty="0" err="1">
                <a:latin typeface="+mn-lt"/>
                <a:ea typeface="微软雅黑" panose="020B0503020204020204" pitchFamily="34" charset="-122"/>
              </a:rPr>
              <a:t>m</a:t>
            </a:r>
            <a:r>
              <a:rPr lang="en-US" altLang="zh-CN" sz="2800" b="0" baseline="-25000" dirty="0" err="1">
                <a:latin typeface="+mn-lt"/>
                <a:ea typeface="微软雅黑" panose="020B0503020204020204" pitchFamily="34" charset="-122"/>
              </a:rPr>
              <a:t>i</a:t>
            </a:r>
            <a:r>
              <a:rPr lang="en-US" altLang="zh-CN" sz="2800" dirty="0" err="1">
                <a:latin typeface="+mn-lt"/>
                <a:ea typeface="微软雅黑" panose="020B0503020204020204" pitchFamily="34" charset="-122"/>
              </a:rPr>
              <a:t>a</a:t>
            </a:r>
            <a:r>
              <a:rPr lang="en-US" altLang="zh-CN" sz="2800" b="0" baseline="-25000" dirty="0" err="1">
                <a:latin typeface="+mn-lt"/>
                <a:ea typeface="微软雅黑" panose="020B0503020204020204" pitchFamily="34" charset="-122"/>
              </a:rPr>
              <a:t>i</a:t>
            </a:r>
            <a:r>
              <a:rPr lang="zh-CN" altLang="en-US" sz="2800" i="0" dirty="0">
                <a:latin typeface="+mn-lt"/>
                <a:ea typeface="微软雅黑" panose="020B0503020204020204" pitchFamily="34" charset="-122"/>
              </a:rPr>
              <a:t>故有∑</a:t>
            </a:r>
            <a:r>
              <a:rPr lang="en-US" altLang="zh-CN" sz="2800" b="0" dirty="0" err="1">
                <a:latin typeface="+mn-lt"/>
                <a:ea typeface="微软雅黑" panose="020B0503020204020204" pitchFamily="34" charset="-122"/>
              </a:rPr>
              <a:t>m</a:t>
            </a:r>
            <a:r>
              <a:rPr lang="en-US" altLang="zh-CN" sz="2800" b="0" baseline="-25000" dirty="0" err="1">
                <a:latin typeface="+mn-lt"/>
                <a:ea typeface="微软雅黑" panose="020B0503020204020204" pitchFamily="34" charset="-122"/>
              </a:rPr>
              <a:t>i</a:t>
            </a:r>
            <a:r>
              <a:rPr lang="en-US" altLang="zh-CN" sz="2800" dirty="0" err="1">
                <a:latin typeface="+mn-lt"/>
                <a:ea typeface="微软雅黑" panose="020B0503020204020204" pitchFamily="34" charset="-122"/>
              </a:rPr>
              <a:t>v</a:t>
            </a:r>
            <a:r>
              <a:rPr lang="en-US" altLang="zh-CN" sz="2800" b="0" baseline="-25000" dirty="0" err="1">
                <a:latin typeface="+mn-lt"/>
                <a:ea typeface="微软雅黑" panose="020B0503020204020204" pitchFamily="34" charset="-122"/>
              </a:rPr>
              <a:t>i</a:t>
            </a:r>
            <a:r>
              <a:rPr lang="en-US" altLang="zh-CN" sz="2800" i="0" dirty="0">
                <a:latin typeface="+mn-lt"/>
                <a:ea typeface="微软雅黑" panose="020B0503020204020204" pitchFamily="34" charset="-122"/>
              </a:rPr>
              <a:t> =</a:t>
            </a:r>
            <a:r>
              <a:rPr lang="en-US" altLang="zh-CN" sz="2800" b="0" dirty="0" err="1">
                <a:latin typeface="+mn-lt"/>
                <a:ea typeface="微软雅黑" panose="020B0503020204020204" pitchFamily="34" charset="-122"/>
              </a:rPr>
              <a:t>m</a:t>
            </a:r>
            <a:r>
              <a:rPr lang="en-US" altLang="zh-CN" sz="2800" dirty="0" err="1">
                <a:latin typeface="+mn-lt"/>
                <a:ea typeface="微软雅黑" panose="020B0503020204020204" pitchFamily="34" charset="-122"/>
              </a:rPr>
              <a:t>v</a:t>
            </a:r>
            <a:r>
              <a:rPr lang="en-US" altLang="zh-CN" sz="2800" b="0" baseline="-25000" dirty="0" err="1">
                <a:latin typeface="+mn-lt"/>
                <a:ea typeface="微软雅黑" panose="020B0503020204020204" pitchFamily="34" charset="-122"/>
              </a:rPr>
              <a:t>C</a:t>
            </a:r>
            <a:r>
              <a:rPr lang="zh-CN" altLang="en-US" sz="2800" i="0" dirty="0">
                <a:latin typeface="+mn-lt"/>
                <a:ea typeface="微软雅黑" panose="020B0503020204020204" pitchFamily="34" charset="-122"/>
              </a:rPr>
              <a:t>，所以 </a:t>
            </a:r>
            <a:r>
              <a:rPr lang="en-US" altLang="zh-CN" sz="2800" dirty="0">
                <a:latin typeface="+mn-lt"/>
                <a:ea typeface="微软雅黑" panose="020B0503020204020204" pitchFamily="34" charset="-122"/>
              </a:rPr>
              <a:t>p</a:t>
            </a:r>
            <a:r>
              <a:rPr lang="en-US" altLang="zh-CN" sz="2800" i="0" dirty="0">
                <a:latin typeface="+mn-lt"/>
                <a:ea typeface="微软雅黑" panose="020B0503020204020204" pitchFamily="34" charset="-122"/>
              </a:rPr>
              <a:t>=</a:t>
            </a:r>
            <a:r>
              <a:rPr lang="en-US" altLang="zh-CN" sz="2800" b="0" dirty="0" err="1">
                <a:latin typeface="+mn-lt"/>
                <a:ea typeface="微软雅黑" panose="020B0503020204020204" pitchFamily="34" charset="-122"/>
              </a:rPr>
              <a:t>m</a:t>
            </a:r>
            <a:r>
              <a:rPr lang="en-US" altLang="zh-CN" sz="2800" dirty="0" err="1">
                <a:latin typeface="+mn-lt"/>
                <a:ea typeface="微软雅黑" panose="020B0503020204020204" pitchFamily="34" charset="-122"/>
              </a:rPr>
              <a:t>v</a:t>
            </a:r>
            <a:r>
              <a:rPr lang="en-US" altLang="zh-CN" sz="2800" b="0" baseline="-25000" dirty="0" err="1">
                <a:latin typeface="+mn-lt"/>
                <a:ea typeface="微软雅黑" panose="020B0503020204020204" pitchFamily="34" charset="-122"/>
              </a:rPr>
              <a:t>C</a:t>
            </a:r>
            <a:r>
              <a:rPr lang="en-US" altLang="zh-CN" sz="2800" i="0" dirty="0">
                <a:latin typeface="+mn-lt"/>
                <a:ea typeface="微软雅黑" panose="020B0503020204020204" pitchFamily="34" charset="-122"/>
              </a:rPr>
              <a:t> </a:t>
            </a:r>
            <a:r>
              <a:rPr lang="zh-CN" altLang="en-US" sz="2800" i="0" dirty="0">
                <a:latin typeface="+mn-lt"/>
                <a:ea typeface="微软雅黑" panose="020B0503020204020204" pitchFamily="34" charset="-122"/>
              </a:rPr>
              <a:t>；又因为作用于质点系上的所有内力总是成对出现，且它们的大小相等、方向相反，所以内力的矢量和恒等于零</a:t>
            </a:r>
            <a:endParaRPr lang="zh-CN" altLang="en-US" sz="2800" i="0" dirty="0">
              <a:latin typeface="+mj-lt"/>
              <a:ea typeface="微软雅黑" panose="020B0503020204020204" pitchFamily="34" charset="-122"/>
            </a:endParaRPr>
          </a:p>
        </p:txBody>
      </p:sp>
      <p:sp>
        <p:nvSpPr>
          <p:cNvPr id="15" name="Text Box 1032"/>
          <p:cNvSpPr txBox="1">
            <a:spLocks noChangeArrowheads="1"/>
          </p:cNvSpPr>
          <p:nvPr/>
        </p:nvSpPr>
        <p:spPr bwMode="auto">
          <a:xfrm>
            <a:off x="939805" y="3425691"/>
            <a:ext cx="9980731" cy="16866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20000"/>
              </a:lnSpc>
            </a:pPr>
            <a:r>
              <a:rPr lang="zh-CN" altLang="en-US" sz="2800" i="0" dirty="0">
                <a:latin typeface="+mj-lt"/>
                <a:ea typeface="微软雅黑" panose="020B0503020204020204" pitchFamily="34" charset="-122"/>
              </a:rPr>
              <a:t>称为</a:t>
            </a:r>
            <a:r>
              <a:rPr kumimoji="1" lang="zh-CN" altLang="en-US" sz="2800" i="0" dirty="0">
                <a:solidFill>
                  <a:srgbClr val="FF00FF"/>
                </a:solidFill>
                <a:latin typeface="+mn-lt"/>
                <a:ea typeface="微软雅黑" panose="020B0503020204020204" pitchFamily="34" charset="-122"/>
              </a:rPr>
              <a:t>质点系动量定理的微分形式，</a:t>
            </a:r>
            <a:r>
              <a:rPr lang="zh-CN" altLang="en-US" sz="2800" i="0" dirty="0">
                <a:latin typeface="+mj-lt"/>
                <a:ea typeface="微软雅黑" panose="020B0503020204020204" pitchFamily="34" charset="-122"/>
              </a:rPr>
              <a:t>即质点系动量对时间的导数等于作用于质点系的外力的矢量和。</a:t>
            </a:r>
            <a:endParaRPr lang="en-US" altLang="zh-CN" sz="2800" i="0" dirty="0">
              <a:latin typeface="+mj-lt"/>
              <a:ea typeface="微软雅黑" panose="020B0503020204020204" pitchFamily="34" charset="-122"/>
            </a:endParaRPr>
          </a:p>
          <a:p>
            <a:pPr>
              <a:lnSpc>
                <a:spcPct val="130000"/>
              </a:lnSpc>
            </a:pPr>
            <a:endParaRPr lang="zh-CN" altLang="en-US" sz="2800" b="0" i="0" dirty="0">
              <a:latin typeface="+mj-lt"/>
              <a:ea typeface="微软雅黑" panose="020B0503020204020204" pitchFamily="34" charset="-122"/>
            </a:endParaRPr>
          </a:p>
        </p:txBody>
      </p:sp>
      <p:graphicFrame>
        <p:nvGraphicFramePr>
          <p:cNvPr id="13" name="Object 12"/>
          <p:cNvGraphicFramePr>
            <a:graphicFrameLocks noChangeAspect="1"/>
          </p:cNvGraphicFramePr>
          <p:nvPr>
            <p:extLst>
              <p:ext uri="{D42A27DB-BD31-4B8C-83A1-F6EECF244321}">
                <p14:modId xmlns:p14="http://schemas.microsoft.com/office/powerpoint/2010/main" val="3942828216"/>
              </p:ext>
            </p:extLst>
          </p:nvPr>
        </p:nvGraphicFramePr>
        <p:xfrm>
          <a:off x="4151784" y="2534374"/>
          <a:ext cx="1920875" cy="941388"/>
        </p:xfrm>
        <a:graphic>
          <a:graphicData uri="http://schemas.openxmlformats.org/presentationml/2006/ole">
            <mc:AlternateContent xmlns:mc="http://schemas.openxmlformats.org/markup-compatibility/2006">
              <mc:Choice xmlns:v="urn:schemas-microsoft-com:vml" Requires="v">
                <p:oleObj spid="_x0000_s4124" name="Equation" r:id="rId4" imgW="799920" imgH="393480" progId="Equation.DSMT4">
                  <p:embed/>
                </p:oleObj>
              </mc:Choice>
              <mc:Fallback>
                <p:oleObj name="Equation" r:id="rId4" imgW="799920" imgH="393480" progId="Equation.DSMT4">
                  <p:embed/>
                  <p:pic>
                    <p:nvPicPr>
                      <p:cNvPr id="0" name=""/>
                      <p:cNvPicPr>
                        <a:picLocks noChangeAspect="1" noChangeArrowheads="1"/>
                      </p:cNvPicPr>
                      <p:nvPr/>
                    </p:nvPicPr>
                    <p:blipFill>
                      <a:blip r:embed="rId5"/>
                      <a:srcRect/>
                      <a:stretch>
                        <a:fillRect/>
                      </a:stretch>
                    </p:blipFill>
                    <p:spPr bwMode="auto">
                      <a:xfrm>
                        <a:off x="4151784" y="2534374"/>
                        <a:ext cx="1920875" cy="9413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 name="Text Box 1032"/>
          <p:cNvSpPr txBox="1">
            <a:spLocks noChangeArrowheads="1"/>
          </p:cNvSpPr>
          <p:nvPr/>
        </p:nvSpPr>
        <p:spPr bwMode="auto">
          <a:xfrm>
            <a:off x="939805" y="5248631"/>
            <a:ext cx="10484787" cy="1126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20000"/>
              </a:lnSpc>
            </a:pPr>
            <a:r>
              <a:rPr kumimoji="1" lang="zh-CN" altLang="en-US" sz="2800" i="0" dirty="0">
                <a:latin typeface="+mn-lt"/>
                <a:ea typeface="微软雅黑" panose="020B0503020204020204" pitchFamily="34" charset="-122"/>
              </a:rPr>
              <a:t>称为</a:t>
            </a:r>
            <a:r>
              <a:rPr kumimoji="1" lang="zh-CN" altLang="en-US" sz="2800" i="0" dirty="0">
                <a:solidFill>
                  <a:srgbClr val="FF00FF"/>
                </a:solidFill>
                <a:latin typeface="+mn-lt"/>
                <a:ea typeface="微软雅黑" panose="020B0503020204020204" pitchFamily="34" charset="-122"/>
              </a:rPr>
              <a:t>质点系动量定理的积分形式，</a:t>
            </a:r>
            <a:r>
              <a:rPr kumimoji="1" lang="zh-CN" altLang="en-US" sz="2800" i="0" dirty="0">
                <a:latin typeface="+mn-lt"/>
                <a:ea typeface="微软雅黑" panose="020B0503020204020204" pitchFamily="34" charset="-122"/>
              </a:rPr>
              <a:t>即在某一时间间隔内，质点系动量的改变量等于在这段时间内作用于质点系外力冲量的矢量和。</a:t>
            </a:r>
          </a:p>
        </p:txBody>
      </p:sp>
      <p:sp>
        <p:nvSpPr>
          <p:cNvPr id="16" name="Text Box 1032"/>
          <p:cNvSpPr txBox="1">
            <a:spLocks noChangeArrowheads="1"/>
          </p:cNvSpPr>
          <p:nvPr/>
        </p:nvSpPr>
        <p:spPr bwMode="auto">
          <a:xfrm>
            <a:off x="939805" y="4571071"/>
            <a:ext cx="2563907" cy="609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20000"/>
              </a:lnSpc>
            </a:pPr>
            <a:r>
              <a:rPr kumimoji="1" lang="zh-CN" altLang="en-US" sz="2800" i="0" dirty="0">
                <a:latin typeface="+mn-lt"/>
                <a:ea typeface="微软雅黑" panose="020B0503020204020204" pitchFamily="34" charset="-122"/>
              </a:rPr>
              <a:t>时间</a:t>
            </a:r>
            <a:r>
              <a:rPr kumimoji="1" lang="en-US" altLang="zh-CN" sz="2800" b="0" dirty="0">
                <a:ea typeface="黑体" panose="02010609060101010101" pitchFamily="49" charset="-122"/>
              </a:rPr>
              <a:t>t</a:t>
            </a:r>
            <a:r>
              <a:rPr kumimoji="1" lang="en-US" altLang="zh-CN" sz="2800" b="0" i="0" baseline="-25000" dirty="0">
                <a:ea typeface="黑体" panose="02010609060101010101" pitchFamily="49" charset="-122"/>
              </a:rPr>
              <a:t>1</a:t>
            </a:r>
            <a:r>
              <a:rPr lang="zh-CN" altLang="en-US" sz="2800" dirty="0">
                <a:latin typeface="仿宋_GB2312" pitchFamily="49" charset="-122"/>
                <a:ea typeface="仿宋_GB2312" pitchFamily="49" charset="-122"/>
              </a:rPr>
              <a:t>～</a:t>
            </a:r>
            <a:r>
              <a:rPr kumimoji="1" lang="en-US" altLang="zh-CN" sz="2800" b="0" dirty="0">
                <a:ea typeface="黑体" panose="02010609060101010101" pitchFamily="49" charset="-122"/>
              </a:rPr>
              <a:t> t</a:t>
            </a:r>
            <a:r>
              <a:rPr kumimoji="1" lang="en-US" altLang="zh-CN" sz="2800" b="0" i="0" baseline="-25000" dirty="0">
                <a:ea typeface="黑体" panose="02010609060101010101" pitchFamily="49" charset="-122"/>
              </a:rPr>
              <a:t>2</a:t>
            </a:r>
            <a:r>
              <a:rPr lang="zh-CN" altLang="en-US" sz="2800" i="0" dirty="0">
                <a:ea typeface="微软雅黑" panose="020B0503020204020204" pitchFamily="34" charset="-122"/>
              </a:rPr>
              <a:t>内</a:t>
            </a:r>
            <a:endParaRPr lang="zh-CN" altLang="en-US" sz="2800" i="0" dirty="0">
              <a:latin typeface="微软雅黑" panose="020B0503020204020204" pitchFamily="34" charset="-122"/>
              <a:ea typeface="微软雅黑" panose="020B0503020204020204" pitchFamily="34" charset="-122"/>
            </a:endParaRPr>
          </a:p>
        </p:txBody>
      </p:sp>
      <p:graphicFrame>
        <p:nvGraphicFramePr>
          <p:cNvPr id="18" name="Object 11"/>
          <p:cNvGraphicFramePr>
            <a:graphicFrameLocks noChangeAspect="1"/>
          </p:cNvGraphicFramePr>
          <p:nvPr>
            <p:extLst>
              <p:ext uri="{D42A27DB-BD31-4B8C-83A1-F6EECF244321}">
                <p14:modId xmlns:p14="http://schemas.microsoft.com/office/powerpoint/2010/main" val="2680370424"/>
              </p:ext>
            </p:extLst>
          </p:nvPr>
        </p:nvGraphicFramePr>
        <p:xfrm>
          <a:off x="3673538" y="4449526"/>
          <a:ext cx="4513263" cy="852487"/>
        </p:xfrm>
        <a:graphic>
          <a:graphicData uri="http://schemas.openxmlformats.org/presentationml/2006/ole">
            <mc:AlternateContent xmlns:mc="http://schemas.openxmlformats.org/markup-compatibility/2006">
              <mc:Choice xmlns:v="urn:schemas-microsoft-com:vml" Requires="v">
                <p:oleObj spid="_x0000_s4125" name="Equation" r:id="rId6" imgW="1866600" imgH="355320" progId="Equation.DSMT4">
                  <p:embed/>
                </p:oleObj>
              </mc:Choice>
              <mc:Fallback>
                <p:oleObj name="Equation" r:id="rId6" imgW="1866600" imgH="355320" progId="Equation.DSMT4">
                  <p:embed/>
                  <p:pic>
                    <p:nvPicPr>
                      <p:cNvPr id="0" name=""/>
                      <p:cNvPicPr>
                        <a:picLocks noChangeAspect="1" noChangeArrowheads="1"/>
                      </p:cNvPicPr>
                      <p:nvPr/>
                    </p:nvPicPr>
                    <p:blipFill>
                      <a:blip r:embed="rId7"/>
                      <a:srcRect/>
                      <a:stretch>
                        <a:fillRect/>
                      </a:stretch>
                    </p:blipFill>
                    <p:spPr bwMode="auto">
                      <a:xfrm>
                        <a:off x="3673538" y="4449526"/>
                        <a:ext cx="4513263" cy="8524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842588682"/>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wipe(left)">
                                      <p:cBhvr>
                                        <p:cTn id="11" dur="3000"/>
                                        <p:tgtEl>
                                          <p:spTgt spid="13"/>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499"/>
                                          </p:stCondLst>
                                        </p:cTn>
                                        <p:tgtEl>
                                          <p:spTgt spid="15"/>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499"/>
                                          </p:stCondLst>
                                        </p:cTn>
                                        <p:tgtEl>
                                          <p:spTgt spid="16"/>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wipe(left)">
                                      <p:cBhvr>
                                        <p:cTn id="24" dur="5000"/>
                                        <p:tgtEl>
                                          <p:spTgt spid="18"/>
                                        </p:tgtEl>
                                      </p:cBhvr>
                                    </p:animEffec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499"/>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utoUpdateAnimBg="0"/>
      <p:bldP spid="15" grpId="0" autoUpdateAnimBg="0"/>
      <p:bldP spid="14" grpId="0" autoUpdateAnimBg="0"/>
      <p:bldP spid="16" grpId="0"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4653838"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第七章   动力学普遍定理</a:t>
            </a:r>
          </a:p>
        </p:txBody>
      </p:sp>
      <p:sp>
        <p:nvSpPr>
          <p:cNvPr id="15" name="Text Box 1032"/>
          <p:cNvSpPr txBox="1">
            <a:spLocks noChangeArrowheads="1"/>
          </p:cNvSpPr>
          <p:nvPr/>
        </p:nvSpPr>
        <p:spPr bwMode="auto">
          <a:xfrm>
            <a:off x="939805" y="979919"/>
            <a:ext cx="9980731" cy="565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20000"/>
              </a:lnSpc>
            </a:pPr>
            <a:r>
              <a:rPr kumimoji="1" lang="zh-CN" altLang="en-US" sz="2800" i="0" dirty="0">
                <a:solidFill>
                  <a:srgbClr val="FF0000"/>
                </a:solidFill>
                <a:latin typeface="+mn-lt"/>
                <a:ea typeface="微软雅黑" panose="020B0503020204020204" pitchFamily="34" charset="-122"/>
              </a:rPr>
              <a:t>动量定理微分形式的投影式</a:t>
            </a:r>
            <a:endParaRPr lang="zh-CN" altLang="en-US" sz="2800" b="0" i="0" dirty="0">
              <a:solidFill>
                <a:srgbClr val="FF0000"/>
              </a:solidFill>
              <a:latin typeface="+mj-lt"/>
              <a:ea typeface="微软雅黑" panose="020B0503020204020204" pitchFamily="34" charset="-122"/>
            </a:endParaRPr>
          </a:p>
        </p:txBody>
      </p:sp>
      <p:graphicFrame>
        <p:nvGraphicFramePr>
          <p:cNvPr id="13" name="Object 12"/>
          <p:cNvGraphicFramePr>
            <a:graphicFrameLocks noChangeAspect="1"/>
          </p:cNvGraphicFramePr>
          <p:nvPr>
            <p:extLst>
              <p:ext uri="{D42A27DB-BD31-4B8C-83A1-F6EECF244321}">
                <p14:modId xmlns:p14="http://schemas.microsoft.com/office/powerpoint/2010/main" val="4192845201"/>
              </p:ext>
            </p:extLst>
          </p:nvPr>
        </p:nvGraphicFramePr>
        <p:xfrm>
          <a:off x="979488" y="1657350"/>
          <a:ext cx="2074862" cy="941388"/>
        </p:xfrm>
        <a:graphic>
          <a:graphicData uri="http://schemas.openxmlformats.org/presentationml/2006/ole">
            <mc:AlternateContent xmlns:mc="http://schemas.openxmlformats.org/markup-compatibility/2006">
              <mc:Choice xmlns:v="urn:schemas-microsoft-com:vml" Requires="v">
                <p:oleObj spid="_x0000_s5161" name="Equation" r:id="rId4" imgW="863280" imgH="393480" progId="Equation.DSMT4">
                  <p:embed/>
                </p:oleObj>
              </mc:Choice>
              <mc:Fallback>
                <p:oleObj name="Equation" r:id="rId4" imgW="863280" imgH="393480" progId="Equation.DSMT4">
                  <p:embed/>
                  <p:pic>
                    <p:nvPicPr>
                      <p:cNvPr id="0" name=""/>
                      <p:cNvPicPr>
                        <a:picLocks noChangeAspect="1" noChangeArrowheads="1"/>
                      </p:cNvPicPr>
                      <p:nvPr/>
                    </p:nvPicPr>
                    <p:blipFill>
                      <a:blip r:embed="rId5"/>
                      <a:srcRect/>
                      <a:stretch>
                        <a:fillRect/>
                      </a:stretch>
                    </p:blipFill>
                    <p:spPr bwMode="auto">
                      <a:xfrm>
                        <a:off x="979488" y="1657350"/>
                        <a:ext cx="2074862" cy="9413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 name="Text Box 1032"/>
          <p:cNvSpPr txBox="1">
            <a:spLocks noChangeArrowheads="1"/>
          </p:cNvSpPr>
          <p:nvPr/>
        </p:nvSpPr>
        <p:spPr bwMode="auto">
          <a:xfrm>
            <a:off x="939805" y="3518314"/>
            <a:ext cx="8036515" cy="1126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20000"/>
              </a:lnSpc>
            </a:pPr>
            <a:r>
              <a:rPr kumimoji="1" lang="zh-CN" altLang="en-US" sz="2800" i="0" dirty="0">
                <a:latin typeface="+mn-lt"/>
                <a:ea typeface="微软雅黑" panose="020B0503020204020204" pitchFamily="34" charset="-122"/>
              </a:rPr>
              <a:t>当作用于质点系上外力的矢量和为零，或者某一方向的外力投影为零</a:t>
            </a:r>
          </a:p>
        </p:txBody>
      </p:sp>
      <p:graphicFrame>
        <p:nvGraphicFramePr>
          <p:cNvPr id="11" name="Object 12"/>
          <p:cNvGraphicFramePr>
            <a:graphicFrameLocks noChangeAspect="1"/>
          </p:cNvGraphicFramePr>
          <p:nvPr>
            <p:extLst>
              <p:ext uri="{D42A27DB-BD31-4B8C-83A1-F6EECF244321}">
                <p14:modId xmlns:p14="http://schemas.microsoft.com/office/powerpoint/2010/main" val="2825450871"/>
              </p:ext>
            </p:extLst>
          </p:nvPr>
        </p:nvGraphicFramePr>
        <p:xfrm>
          <a:off x="3673475" y="1627188"/>
          <a:ext cx="2074863" cy="1003300"/>
        </p:xfrm>
        <a:graphic>
          <a:graphicData uri="http://schemas.openxmlformats.org/presentationml/2006/ole">
            <mc:AlternateContent xmlns:mc="http://schemas.openxmlformats.org/markup-compatibility/2006">
              <mc:Choice xmlns:v="urn:schemas-microsoft-com:vml" Requires="v">
                <p:oleObj spid="_x0000_s5162" name="Equation" r:id="rId6" imgW="863280" imgH="419040" progId="Equation.DSMT4">
                  <p:embed/>
                </p:oleObj>
              </mc:Choice>
              <mc:Fallback>
                <p:oleObj name="Equation" r:id="rId6" imgW="863280" imgH="419040" progId="Equation.DSMT4">
                  <p:embed/>
                  <p:pic>
                    <p:nvPicPr>
                      <p:cNvPr id="0" name=""/>
                      <p:cNvPicPr>
                        <a:picLocks noChangeAspect="1" noChangeArrowheads="1"/>
                      </p:cNvPicPr>
                      <p:nvPr/>
                    </p:nvPicPr>
                    <p:blipFill>
                      <a:blip r:embed="rId7"/>
                      <a:srcRect/>
                      <a:stretch>
                        <a:fillRect/>
                      </a:stretch>
                    </p:blipFill>
                    <p:spPr bwMode="auto">
                      <a:xfrm>
                        <a:off x="3673475" y="1627188"/>
                        <a:ext cx="2074863" cy="1003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 name="Object 12"/>
          <p:cNvGraphicFramePr>
            <a:graphicFrameLocks noChangeAspect="1"/>
          </p:cNvGraphicFramePr>
          <p:nvPr>
            <p:extLst>
              <p:ext uri="{D42A27DB-BD31-4B8C-83A1-F6EECF244321}">
                <p14:modId xmlns:p14="http://schemas.microsoft.com/office/powerpoint/2010/main" val="1803079050"/>
              </p:ext>
            </p:extLst>
          </p:nvPr>
        </p:nvGraphicFramePr>
        <p:xfrm>
          <a:off x="6367588" y="1657350"/>
          <a:ext cx="2074862" cy="941388"/>
        </p:xfrm>
        <a:graphic>
          <a:graphicData uri="http://schemas.openxmlformats.org/presentationml/2006/ole">
            <mc:AlternateContent xmlns:mc="http://schemas.openxmlformats.org/markup-compatibility/2006">
              <mc:Choice xmlns:v="urn:schemas-microsoft-com:vml" Requires="v">
                <p:oleObj spid="_x0000_s5163" name="Equation" r:id="rId8" imgW="863280" imgH="393480" progId="Equation.DSMT4">
                  <p:embed/>
                </p:oleObj>
              </mc:Choice>
              <mc:Fallback>
                <p:oleObj name="Equation" r:id="rId8" imgW="863280" imgH="393480" progId="Equation.DSMT4">
                  <p:embed/>
                  <p:pic>
                    <p:nvPicPr>
                      <p:cNvPr id="0" name=""/>
                      <p:cNvPicPr>
                        <a:picLocks noChangeAspect="1" noChangeArrowheads="1"/>
                      </p:cNvPicPr>
                      <p:nvPr/>
                    </p:nvPicPr>
                    <p:blipFill>
                      <a:blip r:embed="rId9"/>
                      <a:srcRect/>
                      <a:stretch>
                        <a:fillRect/>
                      </a:stretch>
                    </p:blipFill>
                    <p:spPr bwMode="auto">
                      <a:xfrm>
                        <a:off x="6367588" y="1657350"/>
                        <a:ext cx="2074862" cy="9413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7" name="Text Box 1032"/>
          <p:cNvSpPr txBox="1">
            <a:spLocks noChangeArrowheads="1"/>
          </p:cNvSpPr>
          <p:nvPr/>
        </p:nvSpPr>
        <p:spPr bwMode="auto">
          <a:xfrm>
            <a:off x="939805" y="2908916"/>
            <a:ext cx="9980731" cy="609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20000"/>
              </a:lnSpc>
            </a:pPr>
            <a:r>
              <a:rPr kumimoji="1" lang="zh-CN" altLang="en-US" sz="2800" i="0" dirty="0">
                <a:solidFill>
                  <a:srgbClr val="FF0000"/>
                </a:solidFill>
                <a:latin typeface="+mn-lt"/>
                <a:ea typeface="微软雅黑" panose="020B0503020204020204" pitchFamily="34" charset="-122"/>
              </a:rPr>
              <a:t>质点系动量守恒定律</a:t>
            </a:r>
          </a:p>
        </p:txBody>
      </p:sp>
      <p:sp>
        <p:nvSpPr>
          <p:cNvPr id="2" name="矩形 1"/>
          <p:cNvSpPr/>
          <p:nvPr/>
        </p:nvSpPr>
        <p:spPr>
          <a:xfrm>
            <a:off x="979488" y="4660249"/>
            <a:ext cx="3642344" cy="652486"/>
          </a:xfrm>
          <a:prstGeom prst="rect">
            <a:avLst/>
          </a:prstGeom>
        </p:spPr>
        <p:txBody>
          <a:bodyPr wrap="none">
            <a:spAutoFit/>
          </a:bodyPr>
          <a:lstStyle/>
          <a:p>
            <a:pPr>
              <a:lnSpc>
                <a:spcPct val="130000"/>
              </a:lnSpc>
            </a:pPr>
            <a:r>
              <a:rPr lang="en-US" altLang="zh-CN" sz="2800" dirty="0">
                <a:solidFill>
                  <a:schemeClr val="tx1"/>
                </a:solidFill>
              </a:rPr>
              <a:t>p</a:t>
            </a:r>
            <a:r>
              <a:rPr kumimoji="1" lang="en-US" altLang="zh-CN" sz="2800" b="0" i="0" dirty="0">
                <a:solidFill>
                  <a:schemeClr val="tx1"/>
                </a:solidFill>
                <a:latin typeface="+mn-lt"/>
                <a:ea typeface="黑体" panose="02010609060101010101" pitchFamily="49" charset="-122"/>
              </a:rPr>
              <a:t>=</a:t>
            </a:r>
            <a:r>
              <a:rPr lang="en-US" altLang="zh-CN" sz="2800" dirty="0">
                <a:solidFill>
                  <a:schemeClr val="tx1"/>
                </a:solidFill>
              </a:rPr>
              <a:t>∑</a:t>
            </a:r>
            <a:r>
              <a:rPr lang="en-US" altLang="zh-CN" sz="2800" b="0" dirty="0" err="1">
                <a:solidFill>
                  <a:schemeClr val="tx1"/>
                </a:solidFill>
              </a:rPr>
              <a:t>m</a:t>
            </a:r>
            <a:r>
              <a:rPr lang="en-US" altLang="zh-CN" sz="2800" b="0" baseline="-25000" dirty="0" err="1">
                <a:solidFill>
                  <a:schemeClr val="tx1"/>
                </a:solidFill>
              </a:rPr>
              <a:t>i</a:t>
            </a:r>
            <a:r>
              <a:rPr lang="en-US" altLang="zh-CN" sz="2800" dirty="0" err="1">
                <a:solidFill>
                  <a:schemeClr val="tx1"/>
                </a:solidFill>
                <a:latin typeface="+mn-lt"/>
              </a:rPr>
              <a:t>v</a:t>
            </a:r>
            <a:r>
              <a:rPr lang="en-US" altLang="zh-CN" sz="2800" b="0" baseline="-25000" dirty="0" err="1">
                <a:solidFill>
                  <a:schemeClr val="tx1"/>
                </a:solidFill>
              </a:rPr>
              <a:t>i</a:t>
            </a:r>
            <a:r>
              <a:rPr lang="en-US" altLang="zh-CN" sz="2800" dirty="0">
                <a:solidFill>
                  <a:schemeClr val="tx1"/>
                </a:solidFill>
              </a:rPr>
              <a:t> </a:t>
            </a:r>
            <a:r>
              <a:rPr kumimoji="1" lang="en-US" altLang="zh-CN" sz="2800" b="0" i="0" dirty="0">
                <a:solidFill>
                  <a:schemeClr val="tx1"/>
                </a:solidFill>
                <a:latin typeface="+mn-lt"/>
                <a:ea typeface="黑体" panose="02010609060101010101" pitchFamily="49" charset="-122"/>
              </a:rPr>
              <a:t>=</a:t>
            </a:r>
            <a:r>
              <a:rPr lang="en-US" altLang="zh-CN" sz="2800" b="0" dirty="0" err="1">
                <a:solidFill>
                  <a:schemeClr val="tx1"/>
                </a:solidFill>
              </a:rPr>
              <a:t>m</a:t>
            </a:r>
            <a:r>
              <a:rPr lang="en-US" altLang="zh-CN" sz="2800" dirty="0" err="1">
                <a:solidFill>
                  <a:schemeClr val="tx1"/>
                </a:solidFill>
                <a:latin typeface="+mn-lt"/>
              </a:rPr>
              <a:t>v</a:t>
            </a:r>
            <a:r>
              <a:rPr lang="en-US" altLang="zh-CN" sz="2800" b="0" baseline="-25000" dirty="0" err="1">
                <a:solidFill>
                  <a:schemeClr val="tx1"/>
                </a:solidFill>
              </a:rPr>
              <a:t>C</a:t>
            </a:r>
            <a:r>
              <a:rPr kumimoji="1" lang="en-US" altLang="zh-CN" sz="2800" b="0" i="0" dirty="0">
                <a:solidFill>
                  <a:schemeClr val="tx1"/>
                </a:solidFill>
                <a:latin typeface="+mn-lt"/>
                <a:ea typeface="黑体" panose="02010609060101010101" pitchFamily="49" charset="-122"/>
              </a:rPr>
              <a:t>=</a:t>
            </a:r>
            <a:r>
              <a:rPr kumimoji="1" lang="zh-CN" altLang="en-US" sz="2800" i="0" dirty="0">
                <a:solidFill>
                  <a:schemeClr val="tx1"/>
                </a:solidFill>
                <a:latin typeface="+mn-lt"/>
                <a:ea typeface="微软雅黑" panose="020B0503020204020204" pitchFamily="34" charset="-122"/>
              </a:rPr>
              <a:t>常矢量</a:t>
            </a:r>
          </a:p>
        </p:txBody>
      </p:sp>
      <p:sp>
        <p:nvSpPr>
          <p:cNvPr id="19" name="矩形 18"/>
          <p:cNvSpPr/>
          <p:nvPr/>
        </p:nvSpPr>
        <p:spPr>
          <a:xfrm>
            <a:off x="979488" y="5275761"/>
            <a:ext cx="3595856" cy="652486"/>
          </a:xfrm>
          <a:prstGeom prst="rect">
            <a:avLst/>
          </a:prstGeom>
        </p:spPr>
        <p:txBody>
          <a:bodyPr wrap="none">
            <a:spAutoFit/>
          </a:bodyPr>
          <a:lstStyle/>
          <a:p>
            <a:pPr>
              <a:lnSpc>
                <a:spcPct val="130000"/>
              </a:lnSpc>
            </a:pPr>
            <a:r>
              <a:rPr lang="en-US" altLang="zh-CN" sz="2800" b="0" dirty="0" err="1">
                <a:solidFill>
                  <a:schemeClr val="tx1"/>
                </a:solidFill>
              </a:rPr>
              <a:t>p</a:t>
            </a:r>
            <a:r>
              <a:rPr lang="en-US" altLang="zh-CN" sz="2800" b="0" baseline="-25000" dirty="0" err="1">
                <a:solidFill>
                  <a:schemeClr val="tx1"/>
                </a:solidFill>
              </a:rPr>
              <a:t>x</a:t>
            </a:r>
            <a:r>
              <a:rPr kumimoji="1" lang="en-US" altLang="zh-CN" sz="2800" b="0" i="0" dirty="0">
                <a:solidFill>
                  <a:schemeClr val="tx1"/>
                </a:solidFill>
                <a:latin typeface="+mn-lt"/>
                <a:ea typeface="黑体" panose="02010609060101010101" pitchFamily="49" charset="-122"/>
              </a:rPr>
              <a:t>=</a:t>
            </a:r>
            <a:r>
              <a:rPr lang="en-US" altLang="zh-CN" sz="2800" dirty="0">
                <a:solidFill>
                  <a:schemeClr val="tx1"/>
                </a:solidFill>
              </a:rPr>
              <a:t>∑</a:t>
            </a:r>
            <a:r>
              <a:rPr lang="en-US" altLang="zh-CN" sz="2800" b="0" dirty="0" err="1">
                <a:solidFill>
                  <a:schemeClr val="tx1"/>
                </a:solidFill>
              </a:rPr>
              <a:t>m</a:t>
            </a:r>
            <a:r>
              <a:rPr lang="en-US" altLang="zh-CN" sz="2800" b="0" baseline="-25000" dirty="0" err="1">
                <a:solidFill>
                  <a:schemeClr val="tx1"/>
                </a:solidFill>
              </a:rPr>
              <a:t>i</a:t>
            </a:r>
            <a:r>
              <a:rPr lang="en-US" altLang="zh-CN" sz="2800" b="0" dirty="0" err="1">
                <a:solidFill>
                  <a:schemeClr val="tx1"/>
                </a:solidFill>
                <a:latin typeface="Bookman Old Style" panose="02050604050505020204" pitchFamily="18" charset="0"/>
              </a:rPr>
              <a:t>v</a:t>
            </a:r>
            <a:r>
              <a:rPr lang="en-US" altLang="zh-CN" sz="2800" b="0" baseline="-25000" dirty="0" err="1">
                <a:solidFill>
                  <a:schemeClr val="tx1"/>
                </a:solidFill>
              </a:rPr>
              <a:t>ix</a:t>
            </a:r>
            <a:r>
              <a:rPr lang="en-US" altLang="zh-CN" sz="2800" dirty="0">
                <a:solidFill>
                  <a:schemeClr val="tx1"/>
                </a:solidFill>
              </a:rPr>
              <a:t> </a:t>
            </a:r>
            <a:r>
              <a:rPr kumimoji="1" lang="en-US" altLang="zh-CN" sz="2800" b="0" i="0" dirty="0">
                <a:solidFill>
                  <a:schemeClr val="tx1"/>
                </a:solidFill>
                <a:latin typeface="+mn-lt"/>
                <a:ea typeface="黑体" panose="02010609060101010101" pitchFamily="49" charset="-122"/>
              </a:rPr>
              <a:t>=</a:t>
            </a:r>
            <a:r>
              <a:rPr lang="en-US" altLang="zh-CN" sz="2800" b="0" dirty="0" err="1">
                <a:solidFill>
                  <a:schemeClr val="tx1"/>
                </a:solidFill>
              </a:rPr>
              <a:t>m</a:t>
            </a:r>
            <a:r>
              <a:rPr lang="en-US" altLang="zh-CN" sz="2800" b="0" dirty="0" err="1">
                <a:solidFill>
                  <a:schemeClr val="tx1"/>
                </a:solidFill>
                <a:latin typeface="+mn-lt"/>
              </a:rPr>
              <a:t>v</a:t>
            </a:r>
            <a:r>
              <a:rPr lang="en-US" altLang="zh-CN" sz="2800" b="0" baseline="-25000" dirty="0" err="1">
                <a:solidFill>
                  <a:schemeClr val="tx1"/>
                </a:solidFill>
              </a:rPr>
              <a:t>Cx</a:t>
            </a:r>
            <a:r>
              <a:rPr kumimoji="1" lang="en-US" altLang="zh-CN" sz="2800" b="0" i="0" dirty="0">
                <a:solidFill>
                  <a:schemeClr val="tx1"/>
                </a:solidFill>
                <a:latin typeface="+mn-lt"/>
                <a:ea typeface="黑体" panose="02010609060101010101" pitchFamily="49" charset="-122"/>
              </a:rPr>
              <a:t>=</a:t>
            </a:r>
            <a:r>
              <a:rPr kumimoji="1" lang="zh-CN" altLang="en-US" sz="2800" i="0" dirty="0">
                <a:solidFill>
                  <a:schemeClr val="tx1"/>
                </a:solidFill>
                <a:latin typeface="+mn-lt"/>
                <a:ea typeface="微软雅黑" panose="020B0503020204020204" pitchFamily="34" charset="-122"/>
              </a:rPr>
              <a:t>常量</a:t>
            </a:r>
          </a:p>
        </p:txBody>
      </p:sp>
    </p:spTree>
    <p:extLst>
      <p:ext uri="{BB962C8B-B14F-4D97-AF65-F5344CB8AC3E}">
        <p14:creationId xmlns:p14="http://schemas.microsoft.com/office/powerpoint/2010/main" val="1435118590"/>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wipe(left)">
                                      <p:cBhvr>
                                        <p:cTn id="11" dur="3000"/>
                                        <p:tgtEl>
                                          <p:spTgt spid="13"/>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wipe(left)">
                                      <p:cBhvr>
                                        <p:cTn id="16" dur="300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wipe(left)">
                                      <p:cBhvr>
                                        <p:cTn id="21" dur="3000"/>
                                        <p:tgtEl>
                                          <p:spTgt spid="12"/>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499"/>
                                          </p:stCondLst>
                                        </p:cTn>
                                        <p:tgtEl>
                                          <p:spTgt spid="17"/>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499"/>
                                          </p:stCondLst>
                                        </p:cTn>
                                        <p:tgtEl>
                                          <p:spTgt spid="14"/>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2"/>
                                        </p:tgtEl>
                                        <p:attrNameLst>
                                          <p:attrName>style.visibility</p:attrName>
                                        </p:attrNameLst>
                                      </p:cBhvr>
                                      <p:to>
                                        <p:strVal val="visible"/>
                                      </p:to>
                                    </p:set>
                                  </p:childTnLst>
                                </p:cTn>
                              </p:par>
                              <p:par>
                                <p:cTn id="34" presetID="1" presetClass="entr" presetSubtype="0" fill="hold" grpId="0" nodeType="withEffect">
                                  <p:stCondLst>
                                    <p:cond delay="0"/>
                                  </p:stCondLst>
                                  <p:childTnLst>
                                    <p:set>
                                      <p:cBhvr>
                                        <p:cTn id="35"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utoUpdateAnimBg="0"/>
      <p:bldP spid="14" grpId="0" autoUpdateAnimBg="0"/>
      <p:bldP spid="17" grpId="0" autoUpdateAnimBg="0"/>
      <p:bldP spid="2" grpId="0"/>
      <p:bldP spid="1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4653838"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第七章   动力学普遍定理</a:t>
            </a:r>
          </a:p>
        </p:txBody>
      </p:sp>
      <p:sp>
        <p:nvSpPr>
          <p:cNvPr id="3" name="矩形 2">
            <a:extLst>
              <a:ext uri="{FF2B5EF4-FFF2-40B4-BE49-F238E27FC236}">
                <a16:creationId xmlns:a16="http://schemas.microsoft.com/office/drawing/2014/main" id="{396E3A4E-3DCE-51D1-DE56-78AC0CFE008B}"/>
              </a:ext>
            </a:extLst>
          </p:cNvPr>
          <p:cNvSpPr/>
          <p:nvPr/>
        </p:nvSpPr>
        <p:spPr>
          <a:xfrm>
            <a:off x="551384" y="908720"/>
            <a:ext cx="10081120" cy="1277979"/>
          </a:xfrm>
          <a:prstGeom prst="rect">
            <a:avLst/>
          </a:prstGeom>
        </p:spPr>
        <p:txBody>
          <a:bodyPr wrap="square">
            <a:spAutoFit/>
          </a:bodyPr>
          <a:lstStyle/>
          <a:p>
            <a:pPr lvl="0">
              <a:lnSpc>
                <a:spcPct val="110000"/>
              </a:lnSpc>
            </a:pPr>
            <a:r>
              <a:rPr lang="zh-CN" altLang="en-US" i="0" dirty="0">
                <a:solidFill>
                  <a:srgbClr val="0033CC"/>
                </a:solidFill>
                <a:ea typeface="黑体" panose="02010609060101010101" pitchFamily="49" charset="-122"/>
              </a:rPr>
              <a:t>例  </a:t>
            </a:r>
            <a:r>
              <a:rPr kumimoji="1" lang="zh-CN" altLang="en-US" sz="240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设作用在活塞上的合力为</a:t>
            </a:r>
            <a:r>
              <a:rPr kumimoji="1" lang="en-US" altLang="zh-CN" sz="2400" i="1"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F</a:t>
            </a:r>
            <a:r>
              <a:rPr kumimoji="1" lang="zh-CN" altLang="en-US" sz="240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，按规律</a:t>
            </a:r>
            <a:r>
              <a:rPr kumimoji="1" lang="en-US" altLang="zh-CN" sz="2400" b="0" i="1"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F</a:t>
            </a:r>
            <a:r>
              <a:rPr kumimoji="1"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a:t>
            </a:r>
            <a:r>
              <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0.4</a:t>
            </a:r>
            <a:r>
              <a:rPr kumimoji="1" lang="en-US" altLang="zh-CN" sz="2400" b="0" i="1"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mg</a:t>
            </a:r>
            <a:r>
              <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(1</a:t>
            </a:r>
            <a:r>
              <a:rPr kumimoji="1" lang="en-US" altLang="zh-CN" sz="2400" b="0"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a:t>
            </a:r>
            <a:r>
              <a:rPr kumimoji="1" lang="en-US" altLang="zh-CN" sz="2400" b="0" i="1"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kt</a:t>
            </a:r>
            <a:r>
              <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a:t>
            </a:r>
            <a:r>
              <a:rPr kumimoji="1" lang="zh-CN" altLang="en-US" sz="240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变化，其中</a:t>
            </a:r>
            <a:r>
              <a:rPr kumimoji="1" lang="en-US" altLang="zh-CN" sz="2400" b="0" i="1"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m</a:t>
            </a:r>
            <a:r>
              <a:rPr kumimoji="1" lang="zh-CN" altLang="en-US" sz="240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为活塞的质量，</a:t>
            </a:r>
            <a:r>
              <a:rPr kumimoji="1" lang="en-US" altLang="zh-CN" sz="2400" b="0" i="1"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k</a:t>
            </a:r>
            <a:r>
              <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=1.6s</a:t>
            </a:r>
            <a:r>
              <a:rPr kumimoji="1" lang="en-US" altLang="zh-CN" sz="2400" b="0" i="0" u="none" strike="noStrike" kern="1200" cap="none" spc="0" normalizeH="0" baseline="30000" noProof="0" dirty="0">
                <a:ln>
                  <a:noFill/>
                </a:ln>
                <a:solidFill>
                  <a:schemeClr val="tx1"/>
                </a:solidFill>
                <a:effectLst/>
                <a:uLnTx/>
                <a:uFillTx/>
                <a:latin typeface="宋体" panose="02010600030101010101" pitchFamily="2" charset="-122"/>
                <a:ea typeface="宋体" panose="02010600030101010101" pitchFamily="2" charset="-122"/>
                <a:cs typeface="+mn-cs"/>
              </a:rPr>
              <a:t>-</a:t>
            </a:r>
            <a:r>
              <a:rPr kumimoji="1" lang="en-US" altLang="zh-CN" sz="2400" b="0" i="0" u="none" strike="noStrike" kern="1200" cap="none" spc="0" normalizeH="0" baseline="30000" noProof="0" dirty="0">
                <a:ln>
                  <a:noFill/>
                </a:ln>
                <a:solidFill>
                  <a:schemeClr val="tx1"/>
                </a:solidFill>
                <a:effectLst/>
                <a:uLnTx/>
                <a:uFillTx/>
                <a:latin typeface="Times New Roman" panose="02020603050405020304" pitchFamily="18" charset="0"/>
                <a:ea typeface="黑体" panose="02010609060101010101" pitchFamily="49" charset="-122"/>
                <a:cs typeface="+mn-cs"/>
              </a:rPr>
              <a:t>1</a:t>
            </a:r>
            <a:r>
              <a:rPr kumimoji="1" lang="zh-CN" altLang="en-US" sz="240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。已知</a:t>
            </a:r>
            <a:r>
              <a:rPr kumimoji="1" lang="en-US" altLang="zh-CN" sz="2400" b="0" i="1" u="none" strike="noStrike" kern="1200" cap="none" spc="0" normalizeH="0" baseline="0" noProof="0" dirty="0" err="1">
                <a:ln>
                  <a:noFill/>
                </a:ln>
                <a:solidFill>
                  <a:schemeClr val="tx1"/>
                </a:solidFill>
                <a:effectLst/>
                <a:uLnTx/>
                <a:uFillTx/>
                <a:latin typeface="Times New Roman" panose="02020603050405020304" pitchFamily="18" charset="0"/>
                <a:ea typeface="黑体" panose="02010609060101010101" pitchFamily="49" charset="-122"/>
                <a:cs typeface="+mn-cs"/>
              </a:rPr>
              <a:t>t</a:t>
            </a:r>
            <a:r>
              <a:rPr kumimoji="1" lang="en-US" altLang="zh-CN" sz="2400" b="0" i="0" u="none" strike="noStrike" kern="1200" cap="none" spc="0" normalizeH="0" baseline="-25000" noProof="0" dirty="0" err="1">
                <a:ln>
                  <a:noFill/>
                </a:ln>
                <a:solidFill>
                  <a:schemeClr val="tx1"/>
                </a:solidFill>
                <a:effectLst/>
                <a:uLnTx/>
                <a:uFillTx/>
                <a:latin typeface="Times New Roman" panose="02020603050405020304" pitchFamily="18" charset="0"/>
                <a:ea typeface="黑体" panose="02010609060101010101" pitchFamily="49" charset="-122"/>
                <a:cs typeface="+mn-cs"/>
              </a:rPr>
              <a:t>l</a:t>
            </a:r>
            <a:r>
              <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=0</a:t>
            </a:r>
            <a:r>
              <a:rPr kumimoji="1" lang="zh-CN" altLang="en-US" sz="240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，活塞的速度</a:t>
            </a:r>
            <a:r>
              <a:rPr kumimoji="1" lang="en-US" altLang="zh-CN" sz="2400" b="0" i="1" u="none" strike="noStrike" kern="1200" cap="none" spc="0" normalizeH="0" baseline="0" noProof="0" dirty="0">
                <a:ln>
                  <a:noFill/>
                </a:ln>
                <a:solidFill>
                  <a:schemeClr val="tx1"/>
                </a:solidFill>
                <a:effectLst/>
                <a:uLnTx/>
                <a:uFillTx/>
                <a:latin typeface="Bookman Old Style" panose="02050604050505020204" pitchFamily="18" charset="0"/>
                <a:ea typeface="黑体" panose="02010609060101010101" pitchFamily="49" charset="-122"/>
                <a:cs typeface="+mn-cs"/>
              </a:rPr>
              <a:t>v</a:t>
            </a:r>
            <a:r>
              <a:rPr kumimoji="1" lang="en-US" altLang="zh-CN" sz="2400" b="0" i="0" u="none" strike="noStrike" kern="1200" cap="none" spc="0" normalizeH="0" baseline="-25000" noProof="0" dirty="0">
                <a:ln>
                  <a:noFill/>
                </a:ln>
                <a:solidFill>
                  <a:schemeClr val="tx1"/>
                </a:solidFill>
                <a:effectLst/>
                <a:uLnTx/>
                <a:uFillTx/>
                <a:latin typeface="Times New Roman" panose="02020603050405020304" pitchFamily="18" charset="0"/>
                <a:ea typeface="黑体" panose="02010609060101010101" pitchFamily="49" charset="-122"/>
                <a:cs typeface="+mn-cs"/>
              </a:rPr>
              <a:t>1</a:t>
            </a:r>
            <a:r>
              <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=0.2m/s</a:t>
            </a:r>
            <a:r>
              <a:rPr kumimoji="1" lang="zh-CN" altLang="en-US" sz="240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，方向沿水平向右。试求</a:t>
            </a:r>
            <a:r>
              <a:rPr kumimoji="1" lang="en-US" altLang="zh-CN" sz="2400" b="0" i="1"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t</a:t>
            </a:r>
            <a:r>
              <a:rPr kumimoji="1" lang="en-US" altLang="zh-CN" sz="2400" b="0" i="0" u="none" strike="noStrike" kern="1200" cap="none" spc="0" normalizeH="0" baseline="-25000" noProof="0" dirty="0">
                <a:ln>
                  <a:noFill/>
                </a:ln>
                <a:solidFill>
                  <a:schemeClr val="tx1"/>
                </a:solidFill>
                <a:effectLst/>
                <a:uLnTx/>
                <a:uFillTx/>
                <a:latin typeface="Times New Roman" panose="02020603050405020304" pitchFamily="18" charset="0"/>
                <a:ea typeface="黑体" panose="02010609060101010101" pitchFamily="49" charset="-122"/>
                <a:cs typeface="+mn-cs"/>
              </a:rPr>
              <a:t>2</a:t>
            </a:r>
            <a:r>
              <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=0.5s</a:t>
            </a:r>
            <a:r>
              <a:rPr kumimoji="1" lang="zh-CN" altLang="en-US" sz="240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时活塞的速度。</a:t>
            </a:r>
            <a:r>
              <a:rPr lang="zh-CN" altLang="en-US" i="0" dirty="0">
                <a:solidFill>
                  <a:schemeClr val="tx1"/>
                </a:solidFill>
                <a:latin typeface="黑体" panose="02010609060101010101" pitchFamily="49" charset="-122"/>
                <a:ea typeface="黑体" panose="02010609060101010101" pitchFamily="49" charset="-122"/>
              </a:rPr>
              <a:t> </a:t>
            </a:r>
          </a:p>
        </p:txBody>
      </p:sp>
      <p:sp>
        <p:nvSpPr>
          <p:cNvPr id="4" name="矩形 3">
            <a:extLst>
              <a:ext uri="{FF2B5EF4-FFF2-40B4-BE49-F238E27FC236}">
                <a16:creationId xmlns:a16="http://schemas.microsoft.com/office/drawing/2014/main" id="{043257F5-2BAB-6D5F-812D-5AEE11B2BA38}"/>
              </a:ext>
            </a:extLst>
          </p:cNvPr>
          <p:cNvSpPr/>
          <p:nvPr/>
        </p:nvSpPr>
        <p:spPr>
          <a:xfrm>
            <a:off x="551384" y="2195210"/>
            <a:ext cx="10081120" cy="1612749"/>
          </a:xfrm>
          <a:prstGeom prst="rect">
            <a:avLst/>
          </a:prstGeom>
        </p:spPr>
        <p:txBody>
          <a:bodyPr wrap="square">
            <a:spAutoFit/>
          </a:bodyPr>
          <a:lstStyle/>
          <a:p>
            <a:pPr marL="0" marR="0" lvl="0" indent="0" algn="l" defTabSz="914400" rtl="0" eaLnBrk="1" fontAlgn="base" latinLnBrk="0" hangingPunct="1">
              <a:lnSpc>
                <a:spcPct val="130000"/>
              </a:lnSpc>
              <a:spcBef>
                <a:spcPct val="0"/>
              </a:spcBef>
              <a:spcAft>
                <a:spcPct val="0"/>
              </a:spcAft>
              <a:buClrTx/>
              <a:buSzTx/>
              <a:buFontTx/>
              <a:buNone/>
              <a:tabLst/>
              <a:defRPr/>
            </a:pPr>
            <a:r>
              <a:rPr lang="zh-CN" altLang="en-US" i="0" dirty="0">
                <a:solidFill>
                  <a:srgbClr val="0033CC"/>
                </a:solidFill>
                <a:ea typeface="黑体" panose="02010609060101010101" pitchFamily="49" charset="-122"/>
              </a:rPr>
              <a:t>解  </a:t>
            </a:r>
            <a:r>
              <a:rPr kumimoji="1" lang="zh-CN" altLang="en-US" sz="240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以活塞为研究对象。已知作用在活塞上的合力</a:t>
            </a:r>
            <a:r>
              <a:rPr kumimoji="1" lang="en-US" altLang="zh-CN" sz="2400" i="1"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F </a:t>
            </a:r>
            <a:r>
              <a:rPr kumimoji="1" lang="zh-CN" altLang="en-US" sz="240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随时间的变化规律及</a:t>
            </a:r>
            <a:r>
              <a:rPr kumimoji="1" lang="en-US" altLang="zh-CN" sz="2400" b="0" i="1"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t</a:t>
            </a:r>
            <a:r>
              <a:rPr kumimoji="1" lang="en-US" altLang="zh-CN" sz="2400" b="0" i="0" u="none" strike="noStrike" kern="1200" cap="none" spc="0" normalizeH="0" baseline="-25000" noProof="0" dirty="0">
                <a:ln>
                  <a:noFill/>
                </a:ln>
                <a:solidFill>
                  <a:schemeClr val="tx1"/>
                </a:solidFill>
                <a:effectLst/>
                <a:uLnTx/>
                <a:uFillTx/>
                <a:latin typeface="Times New Roman" panose="02020603050405020304" pitchFamily="18" charset="0"/>
                <a:ea typeface="黑体" panose="02010609060101010101" pitchFamily="49" charset="-122"/>
                <a:cs typeface="+mn-cs"/>
              </a:rPr>
              <a:t>2</a:t>
            </a:r>
            <a:r>
              <a:rPr kumimoji="1" lang="zh-CN" altLang="en-US" sz="240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a:t>
            </a:r>
            <a:r>
              <a:rPr kumimoji="1" lang="en-US" altLang="zh-CN" sz="2400" i="1" u="none" strike="noStrike" kern="1200" cap="none" spc="0" normalizeH="0" baseline="0" noProof="0" dirty="0">
                <a:ln>
                  <a:noFill/>
                </a:ln>
                <a:solidFill>
                  <a:schemeClr val="tx1"/>
                </a:solidFill>
                <a:effectLst/>
                <a:uLnTx/>
                <a:uFillTx/>
                <a:ea typeface="黑体" panose="02010609060101010101" pitchFamily="49" charset="-122"/>
                <a:cs typeface="Times New Roman" panose="02020603050405020304" pitchFamily="18" charset="0"/>
              </a:rPr>
              <a:t>v</a:t>
            </a:r>
            <a:r>
              <a:rPr kumimoji="1" lang="en-US" altLang="zh-CN" sz="2400" b="0" i="0" u="none" strike="noStrike" kern="1200" cap="none" spc="0" normalizeH="0" baseline="-25000" noProof="0" dirty="0">
                <a:ln>
                  <a:noFill/>
                </a:ln>
                <a:solidFill>
                  <a:schemeClr val="tx1"/>
                </a:solidFill>
                <a:effectLst/>
                <a:uLnTx/>
                <a:uFillTx/>
                <a:ea typeface="黑体" panose="02010609060101010101" pitchFamily="49" charset="-122"/>
                <a:cs typeface="+mn-cs"/>
              </a:rPr>
              <a:t>1</a:t>
            </a:r>
            <a:r>
              <a:rPr kumimoji="1" lang="zh-CN" altLang="en-US" sz="240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，要求</a:t>
            </a:r>
            <a:r>
              <a:rPr kumimoji="1" lang="en-US" altLang="zh-CN" sz="2400" i="1" u="none" strike="noStrike" kern="1200" cap="none" spc="0" normalizeH="0" baseline="0" noProof="0" dirty="0">
                <a:ln>
                  <a:noFill/>
                </a:ln>
                <a:solidFill>
                  <a:schemeClr val="tx1"/>
                </a:solidFill>
                <a:effectLst/>
                <a:uLnTx/>
                <a:uFillTx/>
                <a:ea typeface="黑体" panose="02010609060101010101" pitchFamily="49" charset="-122"/>
                <a:cs typeface="Times New Roman" panose="02020603050405020304" pitchFamily="18" charset="0"/>
              </a:rPr>
              <a:t>v</a:t>
            </a:r>
            <a:r>
              <a:rPr kumimoji="1" lang="en-US" altLang="zh-CN" sz="2400" b="0" i="0" u="none" strike="noStrike" kern="1200" cap="none" spc="0" normalizeH="0" baseline="-25000" noProof="0" dirty="0">
                <a:ln>
                  <a:noFill/>
                </a:ln>
                <a:solidFill>
                  <a:schemeClr val="tx1"/>
                </a:solidFill>
                <a:effectLst/>
                <a:uLnTx/>
                <a:uFillTx/>
                <a:ea typeface="黑体" panose="02010609060101010101" pitchFamily="49" charset="-122"/>
                <a:cs typeface="+mn-cs"/>
              </a:rPr>
              <a:t>2</a:t>
            </a:r>
            <a:r>
              <a:rPr kumimoji="1" lang="zh-CN" altLang="en-US" sz="240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，故采用积分形式的动量定理、取坐标轴</a:t>
            </a:r>
            <a:r>
              <a:rPr kumimoji="1" lang="en-US" altLang="zh-CN" sz="2400" b="0" i="1"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Ox</a:t>
            </a:r>
            <a:r>
              <a:rPr kumimoji="1" lang="zh-CN" altLang="en-US" sz="240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，向右为正</a:t>
            </a:r>
            <a:endParaRPr kumimoji="1" lang="en-US" altLang="zh-CN" sz="240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endParaRPr>
          </a:p>
          <a:p>
            <a:pPr marL="0" marR="0" lvl="0" indent="0" algn="l" defTabSz="914400" rtl="0" eaLnBrk="1" fontAlgn="base" latinLnBrk="0" hangingPunct="1">
              <a:lnSpc>
                <a:spcPct val="130000"/>
              </a:lnSpc>
              <a:spcBef>
                <a:spcPct val="0"/>
              </a:spcBef>
              <a:spcAft>
                <a:spcPct val="0"/>
              </a:spcAft>
              <a:buClrTx/>
              <a:buSzTx/>
              <a:buFontTx/>
              <a:buNone/>
              <a:tabLst/>
              <a:defRPr/>
            </a:pPr>
            <a:r>
              <a:rPr lang="zh-CN" altLang="en-US" dirty="0"/>
              <a:t>                                    </a:t>
            </a:r>
            <a:r>
              <a:rPr lang="en-US" altLang="zh-CN" sz="2800" b="0" i="1" dirty="0">
                <a:solidFill>
                  <a:schemeClr val="tx1"/>
                </a:solidFill>
              </a:rPr>
              <a:t>m</a:t>
            </a:r>
            <a:r>
              <a:rPr lang="en-US" altLang="zh-CN" sz="2800" b="0" i="1" dirty="0">
                <a:solidFill>
                  <a:schemeClr val="tx1"/>
                </a:solidFill>
                <a:latin typeface="+mn-lt"/>
              </a:rPr>
              <a:t>v</a:t>
            </a:r>
            <a:r>
              <a:rPr lang="en-US" altLang="zh-CN" sz="2800" b="0" i="0" baseline="-25000" dirty="0">
                <a:solidFill>
                  <a:schemeClr val="tx1"/>
                </a:solidFill>
              </a:rPr>
              <a:t>2</a:t>
            </a:r>
            <a:r>
              <a:rPr lang="en-US" altLang="zh-CN" sz="2800" b="0" baseline="-25000" dirty="0">
                <a:solidFill>
                  <a:schemeClr val="tx1"/>
                </a:solidFill>
              </a:rPr>
              <a:t>x</a:t>
            </a:r>
            <a:r>
              <a:rPr lang="en-US" altLang="zh-CN" sz="2800" dirty="0">
                <a:solidFill>
                  <a:schemeClr val="tx1"/>
                </a:solidFill>
                <a:latin typeface="宋体" panose="02010600030101010101" pitchFamily="2" charset="-122"/>
                <a:ea typeface="宋体" panose="02010600030101010101" pitchFamily="2" charset="-122"/>
              </a:rPr>
              <a:t>- </a:t>
            </a:r>
            <a:r>
              <a:rPr lang="en-US" altLang="zh-CN" sz="2800" b="0" i="1" dirty="0">
                <a:solidFill>
                  <a:schemeClr val="tx1"/>
                </a:solidFill>
              </a:rPr>
              <a:t>m</a:t>
            </a:r>
            <a:r>
              <a:rPr lang="en-US" altLang="zh-CN" sz="2800" b="0" dirty="0">
                <a:solidFill>
                  <a:schemeClr val="tx1"/>
                </a:solidFill>
                <a:latin typeface="+mn-lt"/>
              </a:rPr>
              <a:t>v</a:t>
            </a:r>
            <a:r>
              <a:rPr lang="en-US" altLang="zh-CN" sz="2800" b="0" i="0" baseline="-25000" dirty="0">
                <a:solidFill>
                  <a:schemeClr val="tx1"/>
                </a:solidFill>
              </a:rPr>
              <a:t>1</a:t>
            </a:r>
            <a:r>
              <a:rPr lang="en-US" altLang="zh-CN" sz="2800" b="0" i="1" baseline="-25000" dirty="0">
                <a:solidFill>
                  <a:schemeClr val="tx1"/>
                </a:solidFill>
              </a:rPr>
              <a:t>x</a:t>
            </a:r>
            <a:r>
              <a:rPr lang="en-US" altLang="zh-CN" sz="2800" dirty="0">
                <a:solidFill>
                  <a:schemeClr val="tx1"/>
                </a:solidFill>
              </a:rPr>
              <a:t>=</a:t>
            </a:r>
            <a:r>
              <a:rPr lang="en-US" altLang="zh-CN" sz="2800" b="0" i="1" dirty="0">
                <a:solidFill>
                  <a:schemeClr val="tx1"/>
                </a:solidFill>
              </a:rPr>
              <a:t>I</a:t>
            </a:r>
            <a:r>
              <a:rPr lang="en-US" altLang="zh-CN" sz="2800" b="0" baseline="-25000" dirty="0">
                <a:solidFill>
                  <a:schemeClr val="tx1"/>
                </a:solidFill>
              </a:rPr>
              <a:t>x</a:t>
            </a:r>
            <a:r>
              <a:rPr lang="en-US" altLang="zh-CN" sz="2800" dirty="0">
                <a:solidFill>
                  <a:schemeClr val="tx1"/>
                </a:solidFill>
              </a:rPr>
              <a:t> </a:t>
            </a:r>
            <a:r>
              <a:rPr lang="zh-CN" altLang="en-US" sz="2800" i="0" dirty="0">
                <a:solidFill>
                  <a:schemeClr val="tx1"/>
                </a:solidFill>
                <a:latin typeface="黑体" panose="02010609060101010101" pitchFamily="49" charset="-122"/>
                <a:ea typeface="黑体" panose="02010609060101010101" pitchFamily="49" charset="-122"/>
              </a:rPr>
              <a:t> </a:t>
            </a:r>
          </a:p>
        </p:txBody>
      </p:sp>
      <p:graphicFrame>
        <p:nvGraphicFramePr>
          <p:cNvPr id="5" name="Object 64">
            <a:extLst>
              <a:ext uri="{FF2B5EF4-FFF2-40B4-BE49-F238E27FC236}">
                <a16:creationId xmlns:a16="http://schemas.microsoft.com/office/drawing/2014/main" id="{B1AB3022-99C8-73CC-E2D2-107CD2EEE3E7}"/>
              </a:ext>
            </a:extLst>
          </p:cNvPr>
          <p:cNvGraphicFramePr>
            <a:graphicFrameLocks noChangeAspect="1"/>
          </p:cNvGraphicFramePr>
          <p:nvPr>
            <p:extLst>
              <p:ext uri="{D42A27DB-BD31-4B8C-83A1-F6EECF244321}">
                <p14:modId xmlns:p14="http://schemas.microsoft.com/office/powerpoint/2010/main" val="1347570305"/>
              </p:ext>
            </p:extLst>
          </p:nvPr>
        </p:nvGraphicFramePr>
        <p:xfrm>
          <a:off x="1622425" y="3933825"/>
          <a:ext cx="7493000" cy="1028700"/>
        </p:xfrm>
        <a:graphic>
          <a:graphicData uri="http://schemas.openxmlformats.org/presentationml/2006/ole">
            <mc:AlternateContent xmlns:mc="http://schemas.openxmlformats.org/markup-compatibility/2006">
              <mc:Choice xmlns:v="urn:schemas-microsoft-com:vml" Requires="v">
                <p:oleObj spid="_x0000_s6185" name="Equation" r:id="rId4" imgW="3124080" imgH="431640" progId="Equation.DSMT4">
                  <p:embed/>
                </p:oleObj>
              </mc:Choice>
              <mc:Fallback>
                <p:oleObj name="Equation" r:id="rId4" imgW="3124080" imgH="431640" progId="Equation.DSMT4">
                  <p:embed/>
                  <p:pic>
                    <p:nvPicPr>
                      <p:cNvPr id="997440" name="Object 64">
                        <a:extLst>
                          <a:ext uri="{FF2B5EF4-FFF2-40B4-BE49-F238E27FC236}">
                            <a16:creationId xmlns:a16="http://schemas.microsoft.com/office/drawing/2014/main" id="{7475226C-0EC7-D1E0-29A0-131F7BE2E4EC}"/>
                          </a:ext>
                        </a:extLst>
                      </p:cNvPr>
                      <p:cNvPicPr>
                        <a:picLocks noChangeAspect="1" noChangeArrowheads="1"/>
                      </p:cNvPicPr>
                      <p:nvPr/>
                    </p:nvPicPr>
                    <p:blipFill>
                      <a:blip r:embed="rId5"/>
                      <a:srcRect/>
                      <a:stretch>
                        <a:fillRect/>
                      </a:stretch>
                    </p:blipFill>
                    <p:spPr bwMode="auto">
                      <a:xfrm>
                        <a:off x="1622425" y="3933825"/>
                        <a:ext cx="7493000" cy="1028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 name="Object 13">
            <a:extLst>
              <a:ext uri="{FF2B5EF4-FFF2-40B4-BE49-F238E27FC236}">
                <a16:creationId xmlns:a16="http://schemas.microsoft.com/office/drawing/2014/main" id="{EF720983-AE85-185F-0A42-34776BAB6803}"/>
              </a:ext>
            </a:extLst>
          </p:cNvPr>
          <p:cNvGraphicFramePr>
            <a:graphicFrameLocks noChangeAspect="1"/>
          </p:cNvGraphicFramePr>
          <p:nvPr>
            <p:extLst>
              <p:ext uri="{D42A27DB-BD31-4B8C-83A1-F6EECF244321}">
                <p14:modId xmlns:p14="http://schemas.microsoft.com/office/powerpoint/2010/main" val="1285825112"/>
              </p:ext>
            </p:extLst>
          </p:nvPr>
        </p:nvGraphicFramePr>
        <p:xfrm>
          <a:off x="2306638" y="4757738"/>
          <a:ext cx="3006725" cy="820737"/>
        </p:xfrm>
        <a:graphic>
          <a:graphicData uri="http://schemas.openxmlformats.org/presentationml/2006/ole">
            <mc:AlternateContent xmlns:mc="http://schemas.openxmlformats.org/markup-compatibility/2006">
              <mc:Choice xmlns:v="urn:schemas-microsoft-com:vml" Requires="v">
                <p:oleObj spid="_x0000_s6186" name="Equation" r:id="rId6" imgW="1434960" imgH="393480" progId="Equation.DSMT4">
                  <p:embed/>
                </p:oleObj>
              </mc:Choice>
              <mc:Fallback>
                <p:oleObj name="Equation" r:id="rId6" imgW="1434960" imgH="393480" progId="Equation.DSMT4">
                  <p:embed/>
                  <p:pic>
                    <p:nvPicPr>
                      <p:cNvPr id="998413" name="Object 13">
                        <a:extLst>
                          <a:ext uri="{FF2B5EF4-FFF2-40B4-BE49-F238E27FC236}">
                            <a16:creationId xmlns:a16="http://schemas.microsoft.com/office/drawing/2014/main" id="{A7B06F6A-4896-9C2E-69F4-4FDA923FEC68}"/>
                          </a:ext>
                        </a:extLst>
                      </p:cNvPr>
                      <p:cNvPicPr>
                        <a:picLocks noChangeAspect="1" noChangeArrowheads="1"/>
                      </p:cNvPicPr>
                      <p:nvPr/>
                    </p:nvPicPr>
                    <p:blipFill>
                      <a:blip r:embed="rId7"/>
                      <a:srcRect/>
                      <a:stretch>
                        <a:fillRect/>
                      </a:stretch>
                    </p:blipFill>
                    <p:spPr bwMode="auto">
                      <a:xfrm>
                        <a:off x="2306638" y="4757738"/>
                        <a:ext cx="3006725" cy="8207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 name="Object 15">
            <a:extLst>
              <a:ext uri="{FF2B5EF4-FFF2-40B4-BE49-F238E27FC236}">
                <a16:creationId xmlns:a16="http://schemas.microsoft.com/office/drawing/2014/main" id="{7DB0F00D-B767-6CF6-E7F5-786845E8A793}"/>
              </a:ext>
            </a:extLst>
          </p:cNvPr>
          <p:cNvGraphicFramePr>
            <a:graphicFrameLocks noChangeAspect="1"/>
          </p:cNvGraphicFramePr>
          <p:nvPr>
            <p:extLst>
              <p:ext uri="{D42A27DB-BD31-4B8C-83A1-F6EECF244321}">
                <p14:modId xmlns:p14="http://schemas.microsoft.com/office/powerpoint/2010/main" val="1110866321"/>
              </p:ext>
            </p:extLst>
          </p:nvPr>
        </p:nvGraphicFramePr>
        <p:xfrm>
          <a:off x="2639616" y="5384800"/>
          <a:ext cx="5953125" cy="900113"/>
        </p:xfrm>
        <a:graphic>
          <a:graphicData uri="http://schemas.openxmlformats.org/presentationml/2006/ole">
            <mc:AlternateContent xmlns:mc="http://schemas.openxmlformats.org/markup-compatibility/2006">
              <mc:Choice xmlns:v="urn:schemas-microsoft-com:vml" Requires="v">
                <p:oleObj spid="_x0000_s6187" name="Equation" r:id="rId8" imgW="2831760" imgH="431640" progId="Equation.DSMT4">
                  <p:embed/>
                </p:oleObj>
              </mc:Choice>
              <mc:Fallback>
                <p:oleObj name="Equation" r:id="rId8" imgW="2831760" imgH="431640" progId="Equation.DSMT4">
                  <p:embed/>
                  <p:pic>
                    <p:nvPicPr>
                      <p:cNvPr id="998415" name="Object 15">
                        <a:extLst>
                          <a:ext uri="{FF2B5EF4-FFF2-40B4-BE49-F238E27FC236}">
                            <a16:creationId xmlns:a16="http://schemas.microsoft.com/office/drawing/2014/main" id="{35DC27B3-5D92-7BA7-9EE8-1157847A6E5F}"/>
                          </a:ext>
                        </a:extLst>
                      </p:cNvPr>
                      <p:cNvPicPr>
                        <a:picLocks noChangeAspect="1" noChangeArrowheads="1"/>
                      </p:cNvPicPr>
                      <p:nvPr/>
                    </p:nvPicPr>
                    <p:blipFill>
                      <a:blip r:embed="rId9"/>
                      <a:srcRect/>
                      <a:stretch>
                        <a:fillRect/>
                      </a:stretch>
                    </p:blipFill>
                    <p:spPr bwMode="auto">
                      <a:xfrm>
                        <a:off x="2639616" y="5384800"/>
                        <a:ext cx="5953125" cy="9001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4226516754"/>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left)">
                                      <p:cBhvr>
                                        <p:cTn id="11" dur="5000"/>
                                        <p:tgtEl>
                                          <p:spTgt spid="5"/>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wipe(left)">
                                      <p:cBhvr>
                                        <p:cTn id="16" dur="3000"/>
                                        <p:tgtEl>
                                          <p:spTgt spid="6"/>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wipe(left)">
                                      <p:cBhvr>
                                        <p:cTn id="21" dur="3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4653838"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第七章   动力学普遍定理</a:t>
            </a:r>
          </a:p>
        </p:txBody>
      </p:sp>
      <p:sp>
        <p:nvSpPr>
          <p:cNvPr id="3" name="矩形 2">
            <a:extLst>
              <a:ext uri="{FF2B5EF4-FFF2-40B4-BE49-F238E27FC236}">
                <a16:creationId xmlns:a16="http://schemas.microsoft.com/office/drawing/2014/main" id="{396E3A4E-3DCE-51D1-DE56-78AC0CFE008B}"/>
              </a:ext>
            </a:extLst>
          </p:cNvPr>
          <p:cNvSpPr/>
          <p:nvPr/>
        </p:nvSpPr>
        <p:spPr>
          <a:xfrm>
            <a:off x="551384" y="908720"/>
            <a:ext cx="10873208" cy="1278427"/>
          </a:xfrm>
          <a:prstGeom prst="rect">
            <a:avLst/>
          </a:prstGeom>
        </p:spPr>
        <p:txBody>
          <a:bodyPr wrap="square">
            <a:spAutoFit/>
          </a:bodyPr>
          <a:lstStyle/>
          <a:p>
            <a:pPr lvl="0">
              <a:lnSpc>
                <a:spcPct val="110000"/>
              </a:lnSpc>
            </a:pPr>
            <a:r>
              <a:rPr lang="zh-CN" altLang="en-US" i="0" dirty="0">
                <a:solidFill>
                  <a:srgbClr val="0033CC"/>
                </a:solidFill>
                <a:ea typeface="黑体" panose="02010609060101010101" pitchFamily="49" charset="-122"/>
              </a:rPr>
              <a:t>例  </a:t>
            </a:r>
            <a:r>
              <a:rPr kumimoji="1" lang="zh-CN" altLang="en-US" sz="240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有一质量</a:t>
            </a:r>
            <a:r>
              <a:rPr kumimoji="1" lang="en-US" altLang="zh-CN" sz="2400" b="0" i="1"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m</a:t>
            </a:r>
            <a:r>
              <a:rPr kumimoji="1"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a:t>
            </a:r>
            <a:r>
              <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10kg</a:t>
            </a:r>
            <a:r>
              <a:rPr kumimoji="1" lang="zh-CN" altLang="en-US" sz="240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的邮包从传送带上以速度</a:t>
            </a:r>
            <a:r>
              <a:rPr kumimoji="1" lang="en-US" altLang="zh-CN" sz="2400" b="0" i="1" u="none" strike="noStrike" kern="1200" cap="none" spc="0" normalizeH="0" baseline="0" noProof="0" dirty="0">
                <a:ln>
                  <a:noFill/>
                </a:ln>
                <a:solidFill>
                  <a:schemeClr val="tx1"/>
                </a:solidFill>
                <a:effectLst/>
                <a:uLnTx/>
                <a:uFillTx/>
                <a:latin typeface="+mn-lt"/>
                <a:ea typeface="黑体" panose="02010609060101010101" pitchFamily="49" charset="-122"/>
                <a:cs typeface="+mn-cs"/>
              </a:rPr>
              <a:t>v</a:t>
            </a:r>
            <a:r>
              <a:rPr kumimoji="1" lang="en-US" altLang="zh-CN" sz="2400" b="0" i="0" u="none" strike="noStrike" kern="1200" cap="none" spc="0" normalizeH="0" baseline="-25000" noProof="0" dirty="0">
                <a:ln>
                  <a:noFill/>
                </a:ln>
                <a:solidFill>
                  <a:schemeClr val="tx1"/>
                </a:solidFill>
                <a:effectLst/>
                <a:uLnTx/>
                <a:uFillTx/>
                <a:latin typeface="Times New Roman" panose="02020603050405020304" pitchFamily="18" charset="0"/>
                <a:ea typeface="黑体" panose="02010609060101010101" pitchFamily="49" charset="-122"/>
                <a:cs typeface="+mn-cs"/>
              </a:rPr>
              <a:t>1</a:t>
            </a:r>
            <a:r>
              <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=3m/s</a:t>
            </a:r>
            <a:r>
              <a:rPr kumimoji="1" lang="zh-CN" altLang="en-US" sz="240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沿斜面落入一邮车内，如图。已知邮车的质量</a:t>
            </a:r>
            <a:r>
              <a:rPr kumimoji="1" lang="en-US" altLang="zh-CN" sz="2400" b="0" i="1"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M</a:t>
            </a:r>
            <a:r>
              <a:rPr kumimoji="1"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a:t>
            </a:r>
            <a:r>
              <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50kg</a:t>
            </a:r>
            <a:r>
              <a:rPr kumimoji="1" lang="zh-CN" altLang="en-US" sz="240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，原处于静止。不计车与地面间的摩擦，求邮包落入车内后，车的速度</a:t>
            </a:r>
            <a:r>
              <a:rPr kumimoji="1" lang="en-US" altLang="zh-CN" sz="2400" i="1" u="none" strike="noStrike" kern="1200" cap="none" spc="0" normalizeH="0" baseline="0" noProof="0" dirty="0">
                <a:ln>
                  <a:noFill/>
                </a:ln>
                <a:solidFill>
                  <a:schemeClr val="tx1"/>
                </a:solidFill>
                <a:effectLst/>
                <a:uLnTx/>
                <a:uFillTx/>
                <a:latin typeface="+mn-lt"/>
                <a:ea typeface="黑体" panose="02010609060101010101" pitchFamily="49" charset="-122"/>
                <a:cs typeface="+mn-cs"/>
              </a:rPr>
              <a:t>v</a:t>
            </a:r>
            <a:r>
              <a:rPr kumimoji="1" lang="en-US" altLang="zh-CN" sz="2400" i="0" u="none" strike="noStrike" kern="1200" cap="none" spc="0" normalizeH="0" baseline="-25000" noProof="0" dirty="0">
                <a:ln>
                  <a:noFill/>
                </a:ln>
                <a:solidFill>
                  <a:schemeClr val="tx1"/>
                </a:solidFill>
                <a:effectLst/>
                <a:uLnTx/>
                <a:uFillTx/>
                <a:latin typeface="Times New Roman" panose="02020603050405020304" pitchFamily="18" charset="0"/>
                <a:ea typeface="黑体" panose="02010609060101010101" pitchFamily="49" charset="-122"/>
                <a:cs typeface="+mn-cs"/>
              </a:rPr>
              <a:t>2</a:t>
            </a:r>
            <a:r>
              <a:rPr kumimoji="1" lang="zh-CN" altLang="en-US" sz="240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 </a:t>
            </a:r>
            <a:endParaRPr lang="zh-CN" altLang="en-US" i="0" dirty="0">
              <a:solidFill>
                <a:schemeClr val="tx1"/>
              </a:solidFill>
              <a:latin typeface="黑体" panose="02010609060101010101" pitchFamily="49" charset="-122"/>
              <a:ea typeface="黑体" panose="02010609060101010101" pitchFamily="49" charset="-122"/>
            </a:endParaRPr>
          </a:p>
        </p:txBody>
      </p:sp>
      <p:sp>
        <p:nvSpPr>
          <p:cNvPr id="4" name="矩形 3">
            <a:extLst>
              <a:ext uri="{FF2B5EF4-FFF2-40B4-BE49-F238E27FC236}">
                <a16:creationId xmlns:a16="http://schemas.microsoft.com/office/drawing/2014/main" id="{043257F5-2BAB-6D5F-812D-5AEE11B2BA38}"/>
              </a:ext>
            </a:extLst>
          </p:cNvPr>
          <p:cNvSpPr/>
          <p:nvPr/>
        </p:nvSpPr>
        <p:spPr>
          <a:xfrm>
            <a:off x="551384" y="2195210"/>
            <a:ext cx="5821055" cy="2249462"/>
          </a:xfrm>
          <a:prstGeom prst="rect">
            <a:avLst/>
          </a:prstGeom>
        </p:spPr>
        <p:txBody>
          <a:bodyPr wrap="square">
            <a:spAutoFit/>
          </a:bodyPr>
          <a:lstStyle/>
          <a:p>
            <a:pPr>
              <a:lnSpc>
                <a:spcPct val="120000"/>
              </a:lnSpc>
              <a:defRPr/>
            </a:pPr>
            <a:r>
              <a:rPr lang="zh-CN" altLang="en-US" i="0" dirty="0">
                <a:solidFill>
                  <a:srgbClr val="0033CC"/>
                </a:solidFill>
                <a:ea typeface="黑体" panose="02010609060101010101" pitchFamily="49" charset="-122"/>
              </a:rPr>
              <a:t>解  </a:t>
            </a:r>
            <a:r>
              <a:rPr kumimoji="1" lang="zh-CN" altLang="en-US" i="0" dirty="0">
                <a:solidFill>
                  <a:schemeClr val="tx1"/>
                </a:solidFill>
                <a:ea typeface="黑体" panose="02010609060101010101" pitchFamily="49" charset="-122"/>
              </a:rPr>
              <a:t>将邮包及邮车分别视为两质点，组成一质点系。由于作用于质点系上的外力在 </a:t>
            </a:r>
            <a:r>
              <a:rPr kumimoji="1" lang="en-US" altLang="zh-CN" b="0" dirty="0">
                <a:solidFill>
                  <a:schemeClr val="tx1"/>
                </a:solidFill>
                <a:ea typeface="黑体" panose="02010609060101010101" pitchFamily="49" charset="-122"/>
              </a:rPr>
              <a:t>x</a:t>
            </a:r>
            <a:r>
              <a:rPr kumimoji="1" lang="zh-CN" altLang="en-US" i="0" dirty="0">
                <a:solidFill>
                  <a:schemeClr val="tx1"/>
                </a:solidFill>
                <a:ea typeface="黑体" panose="02010609060101010101" pitchFamily="49" charset="-122"/>
              </a:rPr>
              <a:t>轴上投影的代数和等于零，即</a:t>
            </a:r>
            <a:r>
              <a:rPr kumimoji="1"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a:t>
            </a:r>
            <a:r>
              <a:rPr kumimoji="1" lang="en-US" altLang="zh-CN" sz="2400" b="0" i="1" u="none" strike="noStrike" kern="1200" cap="none" spc="0" normalizeH="0" baseline="0" noProof="0" dirty="0" err="1">
                <a:ln>
                  <a:noFill/>
                </a:ln>
                <a:solidFill>
                  <a:schemeClr val="tx1"/>
                </a:solidFill>
                <a:effectLst/>
                <a:uLnTx/>
                <a:uFillTx/>
                <a:latin typeface="Times New Roman" panose="02020603050405020304" pitchFamily="18" charset="0"/>
                <a:ea typeface="黑体" panose="02010609060101010101" pitchFamily="49" charset="-122"/>
                <a:cs typeface="+mn-cs"/>
              </a:rPr>
              <a:t>F</a:t>
            </a:r>
            <a:r>
              <a:rPr kumimoji="1" lang="en-US" altLang="zh-CN" sz="2400" b="0" i="1" u="none" strike="noStrike" kern="1200" cap="none" spc="0" normalizeH="0" baseline="-25000" noProof="0" dirty="0" err="1">
                <a:ln>
                  <a:noFill/>
                </a:ln>
                <a:solidFill>
                  <a:schemeClr val="tx1"/>
                </a:solidFill>
                <a:effectLst/>
                <a:uLnTx/>
                <a:uFillTx/>
                <a:latin typeface="Times New Roman" panose="02020603050405020304" pitchFamily="18" charset="0"/>
                <a:ea typeface="黑体" panose="02010609060101010101" pitchFamily="49" charset="-122"/>
                <a:cs typeface="+mn-cs"/>
              </a:rPr>
              <a:t>x</a:t>
            </a:r>
            <a:r>
              <a:rPr kumimoji="1" lang="en-US" altLang="zh-CN" sz="2400" b="0" i="0" u="none" strike="noStrike" kern="1200" cap="none" spc="0" normalizeH="0" baseline="30000" noProof="0" dirty="0">
                <a:ln>
                  <a:noFill/>
                </a:ln>
                <a:solidFill>
                  <a:schemeClr val="tx1"/>
                </a:solidFill>
                <a:effectLst/>
                <a:uLnTx/>
                <a:uFillTx/>
                <a:latin typeface="Times New Roman" panose="02020603050405020304" pitchFamily="18" charset="0"/>
                <a:ea typeface="黑体" panose="02010609060101010101" pitchFamily="49" charset="-122"/>
                <a:cs typeface="+mn-cs"/>
              </a:rPr>
              <a:t>(e)</a:t>
            </a:r>
            <a:r>
              <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=0</a:t>
            </a:r>
            <a:r>
              <a:rPr kumimoji="1"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a:t>
            </a:r>
            <a:r>
              <a:rPr kumimoji="1" lang="zh-CN" altLang="en-US" i="0" dirty="0">
                <a:solidFill>
                  <a:schemeClr val="tx1"/>
                </a:solidFill>
                <a:ea typeface="黑体" panose="02010609060101010101" pitchFamily="49" charset="-122"/>
              </a:rPr>
              <a:t>所以质点系的动量在 </a:t>
            </a:r>
            <a:r>
              <a:rPr kumimoji="1" lang="en-US" altLang="zh-CN" b="0" dirty="0">
                <a:solidFill>
                  <a:schemeClr val="tx1"/>
                </a:solidFill>
                <a:ea typeface="黑体" panose="02010609060101010101" pitchFamily="49" charset="-122"/>
              </a:rPr>
              <a:t>x </a:t>
            </a:r>
            <a:r>
              <a:rPr kumimoji="1" lang="zh-CN" altLang="en-US" i="0" dirty="0">
                <a:solidFill>
                  <a:schemeClr val="tx1"/>
                </a:solidFill>
                <a:ea typeface="黑体" panose="02010609060101010101" pitchFamily="49" charset="-122"/>
              </a:rPr>
              <a:t>轴上的投影应保持常量，即</a:t>
            </a:r>
            <a:endParaRPr lang="zh-CN" altLang="en-US" sz="2800" i="0" dirty="0">
              <a:solidFill>
                <a:schemeClr val="tx1"/>
              </a:solidFill>
              <a:latin typeface="黑体" panose="02010609060101010101" pitchFamily="49" charset="-122"/>
              <a:ea typeface="黑体" panose="02010609060101010101" pitchFamily="49" charset="-122"/>
            </a:endParaRPr>
          </a:p>
        </p:txBody>
      </p:sp>
      <p:sp>
        <p:nvSpPr>
          <p:cNvPr id="2" name="Rectangle 61">
            <a:extLst>
              <a:ext uri="{FF2B5EF4-FFF2-40B4-BE49-F238E27FC236}">
                <a16:creationId xmlns:a16="http://schemas.microsoft.com/office/drawing/2014/main" id="{7E55A1DF-E3F4-D871-75F4-0CADA8EFC439}"/>
              </a:ext>
            </a:extLst>
          </p:cNvPr>
          <p:cNvSpPr>
            <a:spLocks noChangeArrowheads="1"/>
          </p:cNvSpPr>
          <p:nvPr/>
        </p:nvSpPr>
        <p:spPr bwMode="auto">
          <a:xfrm>
            <a:off x="6445955" y="1974671"/>
            <a:ext cx="5172549" cy="3589635"/>
          </a:xfrm>
          <a:prstGeom prst="rect">
            <a:avLst/>
          </a:prstGeom>
          <a:solidFill>
            <a:srgbClr val="B9CDE5"/>
          </a:solidFill>
          <a:ln>
            <a:noFill/>
          </a:ln>
          <a:effectLst/>
        </p:spPr>
        <p:txBody>
          <a:bodyPr wrap="none" anchor="ctr"/>
          <a:lstStyle/>
          <a:p>
            <a:endParaRPr lang="zh-CN" altLang="en-US"/>
          </a:p>
        </p:txBody>
      </p:sp>
      <p:sp>
        <p:nvSpPr>
          <p:cNvPr id="70" name="Text Box 69">
            <a:extLst>
              <a:ext uri="{FF2B5EF4-FFF2-40B4-BE49-F238E27FC236}">
                <a16:creationId xmlns:a16="http://schemas.microsoft.com/office/drawing/2014/main" id="{0BA810FD-5899-FF24-F593-F06789049DE2}"/>
              </a:ext>
            </a:extLst>
          </p:cNvPr>
          <p:cNvSpPr txBox="1">
            <a:spLocks noChangeArrowheads="1"/>
          </p:cNvSpPr>
          <p:nvPr/>
        </p:nvSpPr>
        <p:spPr bwMode="auto">
          <a:xfrm>
            <a:off x="1287554" y="4345781"/>
            <a:ext cx="5605462" cy="6615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50000"/>
              </a:lnSpc>
            </a:pPr>
            <a:r>
              <a:rPr lang="en-US" altLang="zh-CN" sz="2800" b="0" i="1" dirty="0">
                <a:solidFill>
                  <a:schemeClr val="tx1"/>
                </a:solidFill>
              </a:rPr>
              <a:t>m</a:t>
            </a:r>
            <a:r>
              <a:rPr lang="en-US" altLang="zh-CN" sz="2800" b="0" i="1" dirty="0">
                <a:solidFill>
                  <a:schemeClr val="tx1"/>
                </a:solidFill>
                <a:latin typeface="+mn-lt"/>
              </a:rPr>
              <a:t>v</a:t>
            </a:r>
            <a:r>
              <a:rPr lang="en-US" altLang="zh-CN" sz="2800" b="0" i="0" baseline="-25000" dirty="0">
                <a:solidFill>
                  <a:schemeClr val="tx1"/>
                </a:solidFill>
              </a:rPr>
              <a:t>1</a:t>
            </a:r>
            <a:r>
              <a:rPr lang="en-US" altLang="zh-CN" sz="2800" b="0" i="0" dirty="0">
                <a:solidFill>
                  <a:schemeClr val="tx1"/>
                </a:solidFill>
              </a:rPr>
              <a:t>cos30</a:t>
            </a:r>
            <a:r>
              <a:rPr lang="en-US" altLang="zh-CN" sz="2800" b="0" i="0" dirty="0">
                <a:solidFill>
                  <a:schemeClr val="tx1"/>
                </a:solidFill>
                <a:sym typeface="Symbol" panose="05050102010706020507" pitchFamily="18" charset="2"/>
              </a:rPr>
              <a:t></a:t>
            </a:r>
            <a:r>
              <a:rPr lang="en-US" altLang="zh-CN" sz="2800" b="0" i="0" dirty="0">
                <a:solidFill>
                  <a:schemeClr val="tx1"/>
                </a:solidFill>
              </a:rPr>
              <a:t>+0</a:t>
            </a:r>
            <a:r>
              <a:rPr lang="zh-CN" altLang="en-US" sz="2800" b="0" dirty="0">
                <a:solidFill>
                  <a:schemeClr val="tx1"/>
                </a:solidFill>
              </a:rPr>
              <a:t>＝</a:t>
            </a:r>
            <a:r>
              <a:rPr lang="en-US" altLang="zh-CN" sz="2800" b="0" i="1" dirty="0">
                <a:solidFill>
                  <a:schemeClr val="tx1"/>
                </a:solidFill>
              </a:rPr>
              <a:t>m</a:t>
            </a:r>
            <a:r>
              <a:rPr lang="en-US" altLang="zh-CN" sz="2800" b="0" dirty="0">
                <a:solidFill>
                  <a:schemeClr val="tx1"/>
                </a:solidFill>
                <a:latin typeface="+mn-lt"/>
              </a:rPr>
              <a:t>v</a:t>
            </a:r>
            <a:r>
              <a:rPr lang="en-US" altLang="zh-CN" sz="2800" b="0" i="0" baseline="-25000" dirty="0">
                <a:solidFill>
                  <a:schemeClr val="tx1"/>
                </a:solidFill>
              </a:rPr>
              <a:t>2</a:t>
            </a:r>
            <a:r>
              <a:rPr lang="en-US" altLang="zh-CN" sz="2800" b="0" dirty="0">
                <a:solidFill>
                  <a:schemeClr val="tx1"/>
                </a:solidFill>
              </a:rPr>
              <a:t>+</a:t>
            </a:r>
            <a:r>
              <a:rPr lang="en-US" altLang="zh-CN" sz="2800" b="0" i="1" dirty="0">
                <a:solidFill>
                  <a:schemeClr val="tx1"/>
                </a:solidFill>
              </a:rPr>
              <a:t>M</a:t>
            </a:r>
            <a:r>
              <a:rPr lang="en-US" altLang="zh-CN" sz="2800" b="0" dirty="0">
                <a:solidFill>
                  <a:schemeClr val="tx1"/>
                </a:solidFill>
                <a:latin typeface="+mn-lt"/>
              </a:rPr>
              <a:t>v</a:t>
            </a:r>
            <a:r>
              <a:rPr lang="en-US" altLang="zh-CN" sz="2800" b="0" i="0" baseline="-25000" dirty="0">
                <a:solidFill>
                  <a:schemeClr val="tx1"/>
                </a:solidFill>
              </a:rPr>
              <a:t>2</a:t>
            </a:r>
          </a:p>
        </p:txBody>
      </p:sp>
      <p:sp>
        <p:nvSpPr>
          <p:cNvPr id="71" name="矩形 70">
            <a:extLst>
              <a:ext uri="{FF2B5EF4-FFF2-40B4-BE49-F238E27FC236}">
                <a16:creationId xmlns:a16="http://schemas.microsoft.com/office/drawing/2014/main" id="{DE7AB8CE-493D-C584-561F-0CDC3CBE8D62}"/>
              </a:ext>
            </a:extLst>
          </p:cNvPr>
          <p:cNvSpPr/>
          <p:nvPr/>
        </p:nvSpPr>
        <p:spPr>
          <a:xfrm>
            <a:off x="551385" y="5550415"/>
            <a:ext cx="736170" cy="476669"/>
          </a:xfrm>
          <a:prstGeom prst="rect">
            <a:avLst/>
          </a:prstGeom>
        </p:spPr>
        <p:txBody>
          <a:bodyPr wrap="square">
            <a:spAutoFit/>
          </a:bodyPr>
          <a:lstStyle/>
          <a:p>
            <a:pPr>
              <a:lnSpc>
                <a:spcPct val="120000"/>
              </a:lnSpc>
              <a:defRPr/>
            </a:pPr>
            <a:r>
              <a:rPr kumimoji="1" lang="zh-CN" altLang="en-US" i="0" dirty="0">
                <a:solidFill>
                  <a:schemeClr val="tx1"/>
                </a:solidFill>
                <a:ea typeface="黑体" panose="02010609060101010101" pitchFamily="49" charset="-122"/>
              </a:rPr>
              <a:t>得</a:t>
            </a:r>
            <a:endParaRPr lang="zh-CN" altLang="en-US" sz="2800" i="0" dirty="0">
              <a:solidFill>
                <a:schemeClr val="tx1"/>
              </a:solidFill>
              <a:latin typeface="黑体" panose="02010609060101010101" pitchFamily="49" charset="-122"/>
              <a:ea typeface="黑体" panose="02010609060101010101" pitchFamily="49" charset="-122"/>
            </a:endParaRPr>
          </a:p>
        </p:txBody>
      </p:sp>
      <p:graphicFrame>
        <p:nvGraphicFramePr>
          <p:cNvPr id="72" name="Object 71">
            <a:extLst>
              <a:ext uri="{FF2B5EF4-FFF2-40B4-BE49-F238E27FC236}">
                <a16:creationId xmlns:a16="http://schemas.microsoft.com/office/drawing/2014/main" id="{28193A6D-9C65-B14D-4CEE-C61BDB168FA2}"/>
              </a:ext>
            </a:extLst>
          </p:cNvPr>
          <p:cNvGraphicFramePr>
            <a:graphicFrameLocks noChangeAspect="1"/>
          </p:cNvGraphicFramePr>
          <p:nvPr/>
        </p:nvGraphicFramePr>
        <p:xfrm>
          <a:off x="1268413" y="5316538"/>
          <a:ext cx="6340475" cy="958850"/>
        </p:xfrm>
        <a:graphic>
          <a:graphicData uri="http://schemas.openxmlformats.org/presentationml/2006/ole">
            <mc:AlternateContent xmlns:mc="http://schemas.openxmlformats.org/markup-compatibility/2006">
              <mc:Choice xmlns:v="urn:schemas-microsoft-com:vml" Requires="v">
                <p:oleObj spid="_x0000_s7183" name="Equation" r:id="rId5" imgW="2831760" imgH="431640" progId="Equation.DSMT4">
                  <p:embed/>
                </p:oleObj>
              </mc:Choice>
              <mc:Fallback>
                <p:oleObj name="Equation" r:id="rId5" imgW="2831760" imgH="431640" progId="Equation.DSMT4">
                  <p:embed/>
                  <p:pic>
                    <p:nvPicPr>
                      <p:cNvPr id="72" name="Object 71">
                        <a:extLst>
                          <a:ext uri="{FF2B5EF4-FFF2-40B4-BE49-F238E27FC236}">
                            <a16:creationId xmlns:a16="http://schemas.microsoft.com/office/drawing/2014/main" id="{28193A6D-9C65-B14D-4CEE-C61BDB168FA2}"/>
                          </a:ext>
                        </a:extLst>
                      </p:cNvPr>
                      <p:cNvPicPr>
                        <a:picLocks noChangeAspect="1" noChangeArrowheads="1"/>
                      </p:cNvPicPr>
                      <p:nvPr/>
                    </p:nvPicPr>
                    <p:blipFill>
                      <a:blip r:embed="rId6"/>
                      <a:srcRect/>
                      <a:stretch>
                        <a:fillRect/>
                      </a:stretch>
                    </p:blipFill>
                    <p:spPr bwMode="auto">
                      <a:xfrm>
                        <a:off x="1268413" y="5316538"/>
                        <a:ext cx="6340475" cy="958850"/>
                      </a:xfrm>
                      <a:prstGeom prst="rect">
                        <a:avLst/>
                      </a:prstGeom>
                      <a:noFill/>
                    </p:spPr>
                  </p:pic>
                </p:oleObj>
              </mc:Fallback>
            </mc:AlternateContent>
          </a:graphicData>
        </a:graphic>
      </p:graphicFrame>
      <p:pic>
        <p:nvPicPr>
          <p:cNvPr id="130" name="图片 129">
            <a:extLst>
              <a:ext uri="{FF2B5EF4-FFF2-40B4-BE49-F238E27FC236}">
                <a16:creationId xmlns:a16="http://schemas.microsoft.com/office/drawing/2014/main" id="{2FE6AEC8-1C22-CFCC-9395-8CB5FAC74B7A}"/>
              </a:ext>
            </a:extLst>
          </p:cNvPr>
          <p:cNvPicPr>
            <a:picLocks noChangeAspect="1"/>
          </p:cNvPicPr>
          <p:nvPr/>
        </p:nvPicPr>
        <p:blipFill rotWithShape="1">
          <a:blip r:embed="rId7">
            <a:extLst>
              <a:ext uri="{28A0092B-C50C-407E-A947-70E740481C1C}">
                <a14:useLocalDpi xmlns:a14="http://schemas.microsoft.com/office/drawing/2010/main" val="0"/>
              </a:ext>
            </a:extLst>
          </a:blip>
          <a:srcRect r="2494"/>
          <a:stretch/>
        </p:blipFill>
        <p:spPr>
          <a:xfrm>
            <a:off x="6581483" y="2260485"/>
            <a:ext cx="4901492" cy="3020794"/>
          </a:xfrm>
          <a:prstGeom prst="rect">
            <a:avLst/>
          </a:prstGeom>
        </p:spPr>
      </p:pic>
    </p:spTree>
    <p:extLst>
      <p:ext uri="{BB962C8B-B14F-4D97-AF65-F5344CB8AC3E}">
        <p14:creationId xmlns:p14="http://schemas.microsoft.com/office/powerpoint/2010/main" val="680983228"/>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grpId="0" nodeType="clickEffect">
                                  <p:stCondLst>
                                    <p:cond delay="0"/>
                                  </p:stCondLst>
                                  <p:iterate type="lt">
                                    <p:tmPct val="30000"/>
                                  </p:iterate>
                                  <p:childTnLst>
                                    <p:set>
                                      <p:cBhvr>
                                        <p:cTn id="10" dur="1" fill="hold">
                                          <p:stCondLst>
                                            <p:cond delay="0"/>
                                          </p:stCondLst>
                                        </p:cTn>
                                        <p:tgtEl>
                                          <p:spTgt spid="70">
                                            <p:txEl>
                                              <p:pRg st="0" end="0"/>
                                            </p:txEl>
                                          </p:spTgt>
                                        </p:tgtEl>
                                        <p:attrNameLst>
                                          <p:attrName>style.visibility</p:attrName>
                                        </p:attrNameLst>
                                      </p:cBhvr>
                                      <p:to>
                                        <p:strVal val="visible"/>
                                      </p:to>
                                    </p:set>
                                    <p:animEffect transition="in" filter="wipe(left)">
                                      <p:cBhvr>
                                        <p:cTn id="11" dur="500"/>
                                        <p:tgtEl>
                                          <p:spTgt spid="70">
                                            <p:txEl>
                                              <p:pRg st="0" end="0"/>
                                            </p:txEl>
                                          </p:spTgt>
                                        </p:tgtEl>
                                      </p:cBhvr>
                                    </p:animEffect>
                                  </p:childTnLst>
                                  <p:subTnLst>
                                    <p:audio>
                                      <p:cMediaNode>
                                        <p:cTn display="0" masterRel="sameClick">
                                          <p:stCondLst>
                                            <p:cond evt="begin" delay="0">
                                              <p:tn val="9"/>
                                            </p:cond>
                                          </p:stCondLst>
                                          <p:endCondLst>
                                            <p:cond evt="onStopAudio" delay="0">
                                              <p:tgtEl>
                                                <p:sldTgt/>
                                              </p:tgtEl>
                                            </p:cond>
                                          </p:endCondLst>
                                        </p:cTn>
                                        <p:tgtEl>
                                          <p:sndTgt r:embed="rId4" name="CAMERA.WAV"/>
                                        </p:tgtEl>
                                      </p:cMediaNode>
                                    </p:audio>
                                  </p:sub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71"/>
                                        </p:tgtEl>
                                        <p:attrNameLst>
                                          <p:attrName>style.visibility</p:attrName>
                                        </p:attrNameLst>
                                      </p:cBhvr>
                                      <p:to>
                                        <p:strVal val="visible"/>
                                      </p:to>
                                    </p:set>
                                  </p:childTnLst>
                                </p:cTn>
                              </p:par>
                              <p:par>
                                <p:cTn id="16" presetID="1" presetClass="entr" presetSubtype="0" fill="hold" nodeType="withEffect">
                                  <p:stCondLst>
                                    <p:cond delay="0"/>
                                  </p:stCondLst>
                                  <p:childTnLst>
                                    <p:set>
                                      <p:cBhvr>
                                        <p:cTn id="17" dur="1" fill="hold">
                                          <p:stCondLst>
                                            <p:cond delay="0"/>
                                          </p:stCondLst>
                                        </p:cTn>
                                        <p:tgtEl>
                                          <p:spTgt spid="7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0" grpId="0" build="p" autoUpdateAnimBg="0"/>
      <p:bldP spid="7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4653838"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第七章   动力学普遍定理</a:t>
            </a:r>
          </a:p>
        </p:txBody>
      </p:sp>
      <p:sp>
        <p:nvSpPr>
          <p:cNvPr id="5" name="Rectangle 2"/>
          <p:cNvSpPr>
            <a:spLocks noChangeArrowheads="1"/>
          </p:cNvSpPr>
          <p:nvPr/>
        </p:nvSpPr>
        <p:spPr bwMode="auto">
          <a:xfrm>
            <a:off x="164442" y="928670"/>
            <a:ext cx="9747982"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3000" i="0" dirty="0">
                <a:solidFill>
                  <a:schemeClr val="accent6">
                    <a:lumMod val="75000"/>
                  </a:schemeClr>
                </a:solidFill>
                <a:latin typeface="+mn-lt"/>
                <a:ea typeface="微软雅黑" panose="020B0503020204020204" pitchFamily="34" charset="-122"/>
              </a:rPr>
              <a:t>§7-2  </a:t>
            </a:r>
            <a:r>
              <a:rPr lang="zh-CN" altLang="en-US" sz="3000" i="0" dirty="0">
                <a:solidFill>
                  <a:schemeClr val="accent6">
                    <a:lumMod val="75000"/>
                  </a:schemeClr>
                </a:solidFill>
                <a:latin typeface="+mn-lt"/>
                <a:ea typeface="微软雅黑" panose="020B0503020204020204" pitchFamily="34" charset="-122"/>
              </a:rPr>
              <a:t>动量矩定理</a:t>
            </a:r>
          </a:p>
        </p:txBody>
      </p:sp>
      <p:sp>
        <p:nvSpPr>
          <p:cNvPr id="52" name="Text Box 1032"/>
          <p:cNvSpPr txBox="1">
            <a:spLocks noChangeArrowheads="1"/>
          </p:cNvSpPr>
          <p:nvPr/>
        </p:nvSpPr>
        <p:spPr bwMode="auto">
          <a:xfrm>
            <a:off x="570416" y="1988840"/>
            <a:ext cx="6668363" cy="31506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20000"/>
              </a:lnSpc>
            </a:pPr>
            <a:r>
              <a:rPr lang="zh-CN" altLang="en-US" sz="2800" i="0" dirty="0">
                <a:solidFill>
                  <a:srgbClr val="FF0000"/>
                </a:solidFill>
                <a:latin typeface="微软雅黑" panose="020B0503020204020204" pitchFamily="34" charset="-122"/>
                <a:ea typeface="微软雅黑" panose="020B0503020204020204" pitchFamily="34" charset="-122"/>
              </a:rPr>
              <a:t>质点对轴的动量矩</a:t>
            </a:r>
            <a:endParaRPr lang="en-US" altLang="zh-CN" sz="2800" i="0" dirty="0">
              <a:solidFill>
                <a:srgbClr val="FF0000"/>
              </a:solidFill>
              <a:latin typeface="微软雅黑" panose="020B0503020204020204" pitchFamily="34" charset="-122"/>
              <a:ea typeface="微软雅黑" panose="020B0503020204020204" pitchFamily="34" charset="-122"/>
            </a:endParaRPr>
          </a:p>
          <a:p>
            <a:pPr algn="just">
              <a:lnSpc>
                <a:spcPct val="120000"/>
              </a:lnSpc>
            </a:pPr>
            <a:r>
              <a:rPr lang="zh-CN" altLang="en-US" sz="2800" i="0" dirty="0">
                <a:latin typeface="+mj-lt"/>
                <a:ea typeface="微软雅黑" panose="020B0503020204020204" pitchFamily="34" charset="-122"/>
              </a:rPr>
              <a:t>设有质点</a:t>
            </a:r>
            <a:r>
              <a:rPr kumimoji="1" lang="en-US" altLang="zh-CN" sz="2800" b="0" dirty="0">
                <a:latin typeface="+mn-lt"/>
                <a:ea typeface="微软雅黑" panose="020B0503020204020204" pitchFamily="34" charset="-122"/>
              </a:rPr>
              <a:t>M</a:t>
            </a:r>
            <a:r>
              <a:rPr kumimoji="1" lang="zh-CN" altLang="en-US" sz="2800" i="0" dirty="0">
                <a:latin typeface="+mn-lt"/>
                <a:ea typeface="微软雅黑" panose="020B0503020204020204" pitchFamily="34" charset="-122"/>
              </a:rPr>
              <a:t>，其质量为</a:t>
            </a:r>
            <a:r>
              <a:rPr kumimoji="1" lang="en-US" altLang="zh-CN" sz="2800" b="0" dirty="0">
                <a:latin typeface="+mn-lt"/>
                <a:ea typeface="微软雅黑" panose="020B0503020204020204" pitchFamily="34" charset="-122"/>
              </a:rPr>
              <a:t>m</a:t>
            </a:r>
            <a:r>
              <a:rPr kumimoji="1" lang="zh-CN" altLang="en-US" sz="2800" i="0" dirty="0">
                <a:latin typeface="+mn-lt"/>
                <a:ea typeface="微软雅黑" panose="020B0503020204020204" pitchFamily="34" charset="-122"/>
              </a:rPr>
              <a:t>，它在与轴</a:t>
            </a:r>
            <a:r>
              <a:rPr kumimoji="1" lang="en-US" altLang="zh-CN" sz="2800" dirty="0">
                <a:latin typeface="+mn-lt"/>
                <a:ea typeface="微软雅黑" panose="020B0503020204020204" pitchFamily="34" charset="-122"/>
              </a:rPr>
              <a:t>z</a:t>
            </a:r>
            <a:r>
              <a:rPr kumimoji="1" lang="zh-CN" altLang="en-US" sz="2800" i="0" dirty="0">
                <a:latin typeface="+mn-lt"/>
                <a:ea typeface="微软雅黑" panose="020B0503020204020204" pitchFamily="34" charset="-122"/>
              </a:rPr>
              <a:t>垂直的平面</a:t>
            </a:r>
            <a:r>
              <a:rPr kumimoji="1" lang="en-US" altLang="zh-CN" sz="2800" b="0" dirty="0">
                <a:latin typeface="+mn-lt"/>
                <a:ea typeface="微软雅黑" panose="020B0503020204020204" pitchFamily="34" charset="-122"/>
              </a:rPr>
              <a:t>N</a:t>
            </a:r>
            <a:r>
              <a:rPr kumimoji="1" lang="zh-CN" altLang="en-US" sz="2800" i="0" dirty="0">
                <a:latin typeface="+mn-lt"/>
                <a:ea typeface="微软雅黑" panose="020B0503020204020204" pitchFamily="34" charset="-122"/>
              </a:rPr>
              <a:t>内的速度为</a:t>
            </a:r>
            <a:r>
              <a:rPr kumimoji="1" lang="en-US" altLang="zh-CN" sz="2800" dirty="0">
                <a:latin typeface="+mn-lt"/>
                <a:ea typeface="微软雅黑" panose="020B0503020204020204" pitchFamily="34" charset="-122"/>
              </a:rPr>
              <a:t>v</a:t>
            </a:r>
            <a:r>
              <a:rPr kumimoji="1" lang="zh-CN" altLang="en-US" sz="2800" i="0" dirty="0">
                <a:latin typeface="+mn-lt"/>
                <a:ea typeface="微软雅黑" panose="020B0503020204020204" pitchFamily="34" charset="-122"/>
              </a:rPr>
              <a:t>，动量为</a:t>
            </a:r>
            <a:r>
              <a:rPr kumimoji="1" lang="en-US" altLang="zh-CN" sz="2800" b="0" dirty="0">
                <a:latin typeface="+mn-lt"/>
                <a:ea typeface="微软雅黑" panose="020B0503020204020204" pitchFamily="34" charset="-122"/>
              </a:rPr>
              <a:t>m</a:t>
            </a:r>
            <a:r>
              <a:rPr kumimoji="1" lang="en-US" altLang="zh-CN" sz="2800" dirty="0">
                <a:latin typeface="+mn-lt"/>
                <a:ea typeface="微软雅黑" panose="020B0503020204020204" pitchFamily="34" charset="-122"/>
              </a:rPr>
              <a:t>v</a:t>
            </a:r>
            <a:r>
              <a:rPr kumimoji="1" lang="zh-CN" altLang="en-US" sz="2800" i="0" dirty="0">
                <a:latin typeface="+mn-lt"/>
                <a:ea typeface="微软雅黑" panose="020B0503020204020204" pitchFamily="34" charset="-122"/>
              </a:rPr>
              <a:t>，称质点的动量</a:t>
            </a:r>
            <a:r>
              <a:rPr kumimoji="1" lang="en-US" altLang="zh-CN" sz="2800" b="0" dirty="0">
                <a:latin typeface="+mn-lt"/>
                <a:ea typeface="微软雅黑" panose="020B0503020204020204" pitchFamily="34" charset="-122"/>
              </a:rPr>
              <a:t>m</a:t>
            </a:r>
            <a:r>
              <a:rPr kumimoji="1" lang="en-US" altLang="zh-CN" sz="2800" dirty="0">
                <a:latin typeface="+mn-lt"/>
                <a:ea typeface="微软雅黑" panose="020B0503020204020204" pitchFamily="34" charset="-122"/>
              </a:rPr>
              <a:t>v</a:t>
            </a:r>
            <a:r>
              <a:rPr kumimoji="1" lang="zh-CN" altLang="en-US" sz="2800" i="0" dirty="0">
                <a:latin typeface="+mn-lt"/>
                <a:ea typeface="微软雅黑" panose="020B0503020204020204" pitchFamily="34" charset="-122"/>
              </a:rPr>
              <a:t>与质点速度</a:t>
            </a:r>
            <a:r>
              <a:rPr kumimoji="1" lang="en-US" altLang="zh-CN" sz="2800" dirty="0">
                <a:latin typeface="+mn-lt"/>
                <a:ea typeface="微软雅黑" panose="020B0503020204020204" pitchFamily="34" charset="-122"/>
              </a:rPr>
              <a:t>v</a:t>
            </a:r>
            <a:r>
              <a:rPr kumimoji="1" lang="zh-CN" altLang="en-US" sz="2800" i="0" dirty="0">
                <a:latin typeface="+mn-lt"/>
                <a:ea typeface="微软雅黑" panose="020B0503020204020204" pitchFamily="34" charset="-122"/>
              </a:rPr>
              <a:t>至</a:t>
            </a:r>
            <a:r>
              <a:rPr kumimoji="1" lang="en-US" altLang="zh-CN" sz="2800" b="0" dirty="0">
                <a:latin typeface="+mn-lt"/>
                <a:ea typeface="微软雅黑" panose="020B0503020204020204" pitchFamily="34" charset="-122"/>
              </a:rPr>
              <a:t>z</a:t>
            </a:r>
            <a:r>
              <a:rPr kumimoji="1" lang="zh-CN" altLang="en-US" sz="2800" i="0" dirty="0">
                <a:latin typeface="+mn-lt"/>
                <a:ea typeface="微软雅黑" panose="020B0503020204020204" pitchFamily="34" charset="-122"/>
              </a:rPr>
              <a:t>轴距离</a:t>
            </a:r>
            <a:r>
              <a:rPr kumimoji="1" lang="en-US" altLang="zh-CN" sz="2800" b="0" dirty="0">
                <a:latin typeface="+mn-lt"/>
                <a:ea typeface="微软雅黑" panose="020B0503020204020204" pitchFamily="34" charset="-122"/>
              </a:rPr>
              <a:t>r</a:t>
            </a:r>
            <a:r>
              <a:rPr kumimoji="1" lang="zh-CN" altLang="en-US" sz="2800" i="0" dirty="0">
                <a:latin typeface="+mn-lt"/>
                <a:ea typeface="微软雅黑" panose="020B0503020204020204" pitchFamily="34" charset="-122"/>
              </a:rPr>
              <a:t>的乘积为质点对固定轴</a:t>
            </a:r>
            <a:r>
              <a:rPr kumimoji="1" lang="en-US" altLang="zh-CN" sz="2800" b="0" dirty="0">
                <a:latin typeface="+mn-lt"/>
                <a:ea typeface="微软雅黑" panose="020B0503020204020204" pitchFamily="34" charset="-122"/>
              </a:rPr>
              <a:t>z</a:t>
            </a:r>
            <a:r>
              <a:rPr kumimoji="1" lang="zh-CN" altLang="en-US" sz="2800" i="0" dirty="0">
                <a:latin typeface="+mn-lt"/>
                <a:ea typeface="微软雅黑" panose="020B0503020204020204" pitchFamily="34" charset="-122"/>
              </a:rPr>
              <a:t>的动量矩，以</a:t>
            </a:r>
            <a:r>
              <a:rPr kumimoji="1" lang="en-US" altLang="zh-CN" sz="2800" b="0" dirty="0" err="1">
                <a:latin typeface="+mn-lt"/>
                <a:ea typeface="微软雅黑" panose="020B0503020204020204" pitchFamily="34" charset="-122"/>
              </a:rPr>
              <a:t>M</a:t>
            </a:r>
            <a:r>
              <a:rPr kumimoji="1" lang="en-US" altLang="zh-CN" sz="2800" b="0" baseline="-25000" dirty="0" err="1">
                <a:latin typeface="+mn-lt"/>
                <a:ea typeface="微软雅黑" panose="020B0503020204020204" pitchFamily="34" charset="-122"/>
              </a:rPr>
              <a:t>z</a:t>
            </a:r>
            <a:r>
              <a:rPr kumimoji="1" lang="en-US" altLang="zh-CN" sz="2800" b="0" i="0" dirty="0">
                <a:latin typeface="+mn-lt"/>
                <a:ea typeface="微软雅黑" panose="020B0503020204020204" pitchFamily="34" charset="-122"/>
              </a:rPr>
              <a:t>(</a:t>
            </a:r>
            <a:r>
              <a:rPr kumimoji="1" lang="en-US" altLang="zh-CN" sz="2800" b="0" dirty="0">
                <a:latin typeface="+mn-lt"/>
                <a:ea typeface="微软雅黑" panose="020B0503020204020204" pitchFamily="34" charset="-122"/>
              </a:rPr>
              <a:t>m</a:t>
            </a:r>
            <a:r>
              <a:rPr kumimoji="1" lang="en-US" altLang="zh-CN" sz="2800" dirty="0">
                <a:latin typeface="+mn-lt"/>
                <a:ea typeface="微软雅黑" panose="020B0503020204020204" pitchFamily="34" charset="-122"/>
              </a:rPr>
              <a:t>v</a:t>
            </a:r>
            <a:r>
              <a:rPr kumimoji="1" lang="en-US" altLang="zh-CN" sz="2800" b="0" i="0" dirty="0">
                <a:latin typeface="+mn-lt"/>
                <a:ea typeface="微软雅黑" panose="020B0503020204020204" pitchFamily="34" charset="-122"/>
              </a:rPr>
              <a:t>)</a:t>
            </a:r>
            <a:r>
              <a:rPr kumimoji="1" lang="zh-CN" altLang="en-US" sz="2800" i="0" dirty="0">
                <a:latin typeface="+mn-lt"/>
                <a:ea typeface="微软雅黑" panose="020B0503020204020204" pitchFamily="34" charset="-122"/>
              </a:rPr>
              <a:t>表示，即</a:t>
            </a:r>
            <a:endParaRPr lang="zh-CN" altLang="en-US" sz="2800" i="0" dirty="0">
              <a:latin typeface="+mn-lt"/>
              <a:ea typeface="微软雅黑" panose="020B0503020204020204" pitchFamily="34" charset="-122"/>
            </a:endParaRPr>
          </a:p>
        </p:txBody>
      </p:sp>
      <p:sp>
        <p:nvSpPr>
          <p:cNvPr id="6" name="矩形 5"/>
          <p:cNvSpPr/>
          <p:nvPr/>
        </p:nvSpPr>
        <p:spPr>
          <a:xfrm>
            <a:off x="3877201" y="1389509"/>
            <a:ext cx="1338828" cy="599331"/>
          </a:xfrm>
          <a:prstGeom prst="rect">
            <a:avLst/>
          </a:prstGeom>
        </p:spPr>
        <p:txBody>
          <a:bodyPr wrap="none">
            <a:spAutoFit/>
          </a:bodyPr>
          <a:lstStyle/>
          <a:p>
            <a:pPr>
              <a:lnSpc>
                <a:spcPct val="120000"/>
              </a:lnSpc>
            </a:pPr>
            <a:r>
              <a:rPr lang="zh-CN" altLang="en-US" sz="3000" i="0" dirty="0">
                <a:solidFill>
                  <a:srgbClr val="4F81BD"/>
                </a:solidFill>
                <a:latin typeface="微软雅黑" panose="020B0503020204020204" pitchFamily="34" charset="-122"/>
                <a:ea typeface="微软雅黑" panose="020B0503020204020204" pitchFamily="34" charset="-122"/>
              </a:rPr>
              <a:t>动量矩</a:t>
            </a:r>
          </a:p>
        </p:txBody>
      </p:sp>
      <p:sp>
        <p:nvSpPr>
          <p:cNvPr id="2" name="Rectangle 61">
            <a:extLst>
              <a:ext uri="{FF2B5EF4-FFF2-40B4-BE49-F238E27FC236}">
                <a16:creationId xmlns:a16="http://schemas.microsoft.com/office/drawing/2014/main" id="{7C7AC23E-A1CE-03F9-D8A4-D45156EAD5C0}"/>
              </a:ext>
            </a:extLst>
          </p:cNvPr>
          <p:cNvSpPr>
            <a:spLocks noChangeArrowheads="1"/>
          </p:cNvSpPr>
          <p:nvPr/>
        </p:nvSpPr>
        <p:spPr bwMode="auto">
          <a:xfrm>
            <a:off x="7320137" y="1592796"/>
            <a:ext cx="4782518" cy="4140460"/>
          </a:xfrm>
          <a:prstGeom prst="rect">
            <a:avLst/>
          </a:prstGeom>
          <a:solidFill>
            <a:srgbClr val="B9CDE5"/>
          </a:solidFill>
          <a:ln>
            <a:noFill/>
          </a:ln>
          <a:effectLst/>
        </p:spPr>
        <p:txBody>
          <a:bodyPr wrap="none" anchor="ctr"/>
          <a:lstStyle/>
          <a:p>
            <a:endParaRPr lang="zh-CN" altLang="en-US"/>
          </a:p>
        </p:txBody>
      </p:sp>
      <p:grpSp>
        <p:nvGrpSpPr>
          <p:cNvPr id="25" name="Group 29">
            <a:extLst>
              <a:ext uri="{FF2B5EF4-FFF2-40B4-BE49-F238E27FC236}">
                <a16:creationId xmlns:a16="http://schemas.microsoft.com/office/drawing/2014/main" id="{68E91CA1-27AB-22FA-C7AB-26F3D1A4CFBD}"/>
              </a:ext>
            </a:extLst>
          </p:cNvPr>
          <p:cNvGrpSpPr>
            <a:grpSpLocks/>
          </p:cNvGrpSpPr>
          <p:nvPr/>
        </p:nvGrpSpPr>
        <p:grpSpPr bwMode="auto">
          <a:xfrm>
            <a:off x="7374398" y="1627188"/>
            <a:ext cx="4722812" cy="3694112"/>
            <a:chOff x="2689" y="0"/>
            <a:chExt cx="2975" cy="2327"/>
          </a:xfrm>
        </p:grpSpPr>
        <p:sp>
          <p:nvSpPr>
            <p:cNvPr id="26" name="Line 13">
              <a:extLst>
                <a:ext uri="{FF2B5EF4-FFF2-40B4-BE49-F238E27FC236}">
                  <a16:creationId xmlns:a16="http://schemas.microsoft.com/office/drawing/2014/main" id="{68131FC4-3DBC-E370-8141-1FACB61730CD}"/>
                </a:ext>
              </a:extLst>
            </p:cNvPr>
            <p:cNvSpPr>
              <a:spLocks noChangeShapeType="1"/>
            </p:cNvSpPr>
            <p:nvPr/>
          </p:nvSpPr>
          <p:spPr bwMode="auto">
            <a:xfrm flipV="1">
              <a:off x="4136" y="1393"/>
              <a:ext cx="0" cy="934"/>
            </a:xfrm>
            <a:prstGeom prst="line">
              <a:avLst/>
            </a:prstGeom>
            <a:noFill/>
            <a:ln w="38100">
              <a:solidFill>
                <a:schemeClr val="tx1"/>
              </a:solidFill>
              <a:round/>
              <a:headE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7" name="Text Box 14">
              <a:extLst>
                <a:ext uri="{FF2B5EF4-FFF2-40B4-BE49-F238E27FC236}">
                  <a16:creationId xmlns:a16="http://schemas.microsoft.com/office/drawing/2014/main" id="{6BBFF322-1273-69AF-4EE9-C555B3EC4D40}"/>
                </a:ext>
              </a:extLst>
            </p:cNvPr>
            <p:cNvSpPr txBox="1">
              <a:spLocks noChangeAspect="1" noChangeArrowheads="1"/>
            </p:cNvSpPr>
            <p:nvPr/>
          </p:nvSpPr>
          <p:spPr bwMode="auto">
            <a:xfrm>
              <a:off x="4117" y="0"/>
              <a:ext cx="263" cy="40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sz="3200" b="0" i="1" dirty="0">
                  <a:ea typeface="宋体" panose="02010600030101010101" pitchFamily="2" charset="-122"/>
                </a:rPr>
                <a:t>z</a:t>
              </a:r>
            </a:p>
          </p:txBody>
        </p:sp>
        <p:sp>
          <p:nvSpPr>
            <p:cNvPr id="28" name="Freeform 15">
              <a:extLst>
                <a:ext uri="{FF2B5EF4-FFF2-40B4-BE49-F238E27FC236}">
                  <a16:creationId xmlns:a16="http://schemas.microsoft.com/office/drawing/2014/main" id="{9815B63A-BFAF-8958-3204-D67AAFED4F0A}"/>
                </a:ext>
              </a:extLst>
            </p:cNvPr>
            <p:cNvSpPr>
              <a:spLocks/>
            </p:cNvSpPr>
            <p:nvPr/>
          </p:nvSpPr>
          <p:spPr bwMode="auto">
            <a:xfrm>
              <a:off x="2689" y="1078"/>
              <a:ext cx="2975" cy="697"/>
            </a:xfrm>
            <a:custGeom>
              <a:avLst/>
              <a:gdLst>
                <a:gd name="T0" fmla="*/ 223 w 3475"/>
                <a:gd name="T1" fmla="*/ 1276 h 1282"/>
                <a:gd name="T2" fmla="*/ 2501 w 3475"/>
                <a:gd name="T3" fmla="*/ 1276 h 1282"/>
                <a:gd name="T4" fmla="*/ 3475 w 3475"/>
                <a:gd name="T5" fmla="*/ 0 h 1282"/>
                <a:gd name="T6" fmla="*/ 1290 w 3475"/>
                <a:gd name="T7" fmla="*/ 4 h 1282"/>
                <a:gd name="T8" fmla="*/ 0 w 3475"/>
                <a:gd name="T9" fmla="*/ 1282 h 1282"/>
                <a:gd name="T10" fmla="*/ 223 w 3475"/>
                <a:gd name="T11" fmla="*/ 1276 h 1282"/>
              </a:gdLst>
              <a:ahLst/>
              <a:cxnLst>
                <a:cxn ang="0">
                  <a:pos x="T0" y="T1"/>
                </a:cxn>
                <a:cxn ang="0">
                  <a:pos x="T2" y="T3"/>
                </a:cxn>
                <a:cxn ang="0">
                  <a:pos x="T4" y="T5"/>
                </a:cxn>
                <a:cxn ang="0">
                  <a:pos x="T6" y="T7"/>
                </a:cxn>
                <a:cxn ang="0">
                  <a:pos x="T8" y="T9"/>
                </a:cxn>
                <a:cxn ang="0">
                  <a:pos x="T10" y="T11"/>
                </a:cxn>
              </a:cxnLst>
              <a:rect l="0" t="0" r="r" b="b"/>
              <a:pathLst>
                <a:path w="3475" h="1282">
                  <a:moveTo>
                    <a:pt x="223" y="1276"/>
                  </a:moveTo>
                  <a:lnTo>
                    <a:pt x="2501" y="1276"/>
                  </a:lnTo>
                  <a:lnTo>
                    <a:pt x="3475" y="0"/>
                  </a:lnTo>
                  <a:lnTo>
                    <a:pt x="1290" y="4"/>
                  </a:lnTo>
                  <a:lnTo>
                    <a:pt x="0" y="1282"/>
                  </a:lnTo>
                  <a:lnTo>
                    <a:pt x="223" y="1276"/>
                  </a:lnTo>
                  <a:close/>
                </a:path>
              </a:pathLst>
            </a:custGeom>
            <a:gradFill rotWithShape="1">
              <a:gsLst>
                <a:gs pos="0">
                  <a:srgbClr val="FFFF00">
                    <a:alpha val="87000"/>
                  </a:srgbClr>
                </a:gs>
                <a:gs pos="100000">
                  <a:srgbClr val="3399FF">
                    <a:alpha val="86000"/>
                  </a:srgbClr>
                </a:gs>
              </a:gsLst>
              <a:path path="rect">
                <a:fillToRect l="50000" t="50000" r="50000" b="50000"/>
              </a:path>
            </a:gradFill>
            <a:ln w="9525" cap="flat"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 name="Arc 16">
              <a:extLst>
                <a:ext uri="{FF2B5EF4-FFF2-40B4-BE49-F238E27FC236}">
                  <a16:creationId xmlns:a16="http://schemas.microsoft.com/office/drawing/2014/main" id="{1562D82B-A914-6160-66F5-6029F724AF43}"/>
                </a:ext>
              </a:extLst>
            </p:cNvPr>
            <p:cNvSpPr>
              <a:spLocks noChangeAspect="1"/>
            </p:cNvSpPr>
            <p:nvPr/>
          </p:nvSpPr>
          <p:spPr bwMode="auto">
            <a:xfrm flipV="1">
              <a:off x="3940" y="1357"/>
              <a:ext cx="974" cy="293"/>
            </a:xfrm>
            <a:custGeom>
              <a:avLst/>
              <a:gdLst>
                <a:gd name="G0" fmla="+- 8450 0 0"/>
                <a:gd name="G1" fmla="+- 21600 0 0"/>
                <a:gd name="G2" fmla="+- 21600 0 0"/>
                <a:gd name="T0" fmla="*/ 0 w 30050"/>
                <a:gd name="T1" fmla="*/ 1722 h 21600"/>
                <a:gd name="T2" fmla="*/ 30050 w 30050"/>
                <a:gd name="T3" fmla="*/ 21600 h 21600"/>
                <a:gd name="T4" fmla="*/ 8450 w 30050"/>
                <a:gd name="T5" fmla="*/ 21600 h 21600"/>
              </a:gdLst>
              <a:ahLst/>
              <a:cxnLst>
                <a:cxn ang="0">
                  <a:pos x="T0" y="T1"/>
                </a:cxn>
                <a:cxn ang="0">
                  <a:pos x="T2" y="T3"/>
                </a:cxn>
                <a:cxn ang="0">
                  <a:pos x="T4" y="T5"/>
                </a:cxn>
              </a:cxnLst>
              <a:rect l="0" t="0" r="r" b="b"/>
              <a:pathLst>
                <a:path w="30050" h="21600" fill="none" extrusionOk="0">
                  <a:moveTo>
                    <a:pt x="-1" y="1721"/>
                  </a:moveTo>
                  <a:cubicBezTo>
                    <a:pt x="2672" y="585"/>
                    <a:pt x="5546" y="0"/>
                    <a:pt x="8450" y="0"/>
                  </a:cubicBezTo>
                  <a:cubicBezTo>
                    <a:pt x="20379" y="0"/>
                    <a:pt x="30050" y="9670"/>
                    <a:pt x="30050" y="21600"/>
                  </a:cubicBezTo>
                </a:path>
                <a:path w="30050" h="21600" stroke="0" extrusionOk="0">
                  <a:moveTo>
                    <a:pt x="-1" y="1721"/>
                  </a:moveTo>
                  <a:cubicBezTo>
                    <a:pt x="2672" y="585"/>
                    <a:pt x="5546" y="0"/>
                    <a:pt x="8450" y="0"/>
                  </a:cubicBezTo>
                  <a:cubicBezTo>
                    <a:pt x="20379" y="0"/>
                    <a:pt x="30050" y="9670"/>
                    <a:pt x="30050" y="21600"/>
                  </a:cubicBezTo>
                  <a:lnTo>
                    <a:pt x="8450" y="21600"/>
                  </a:lnTo>
                  <a:close/>
                </a:path>
              </a:pathLst>
            </a:custGeom>
            <a:noFill/>
            <a:ln w="19050">
              <a:solidFill>
                <a:schemeClr val="tx1"/>
              </a:solidFill>
              <a:round/>
              <a:headEnd/>
              <a:tailEnd type="non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 name="Line 17">
              <a:extLst>
                <a:ext uri="{FF2B5EF4-FFF2-40B4-BE49-F238E27FC236}">
                  <a16:creationId xmlns:a16="http://schemas.microsoft.com/office/drawing/2014/main" id="{CCCDD147-7178-8043-E7D0-35B1E1B8C44B}"/>
                </a:ext>
              </a:extLst>
            </p:cNvPr>
            <p:cNvSpPr>
              <a:spLocks noChangeShapeType="1"/>
            </p:cNvSpPr>
            <p:nvPr/>
          </p:nvSpPr>
          <p:spPr bwMode="auto">
            <a:xfrm flipV="1">
              <a:off x="4135" y="123"/>
              <a:ext cx="0" cy="1265"/>
            </a:xfrm>
            <a:prstGeom prst="line">
              <a:avLst/>
            </a:prstGeom>
            <a:noFill/>
            <a:ln w="3810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dirty="0"/>
            </a:p>
          </p:txBody>
        </p:sp>
        <p:sp>
          <p:nvSpPr>
            <p:cNvPr id="31" name="Text Box 18">
              <a:extLst>
                <a:ext uri="{FF2B5EF4-FFF2-40B4-BE49-F238E27FC236}">
                  <a16:creationId xmlns:a16="http://schemas.microsoft.com/office/drawing/2014/main" id="{A9BF6308-956B-475C-4DF3-2D40D8392A4E}"/>
                </a:ext>
              </a:extLst>
            </p:cNvPr>
            <p:cNvSpPr txBox="1">
              <a:spLocks noChangeAspect="1" noChangeArrowheads="1"/>
            </p:cNvSpPr>
            <p:nvPr/>
          </p:nvSpPr>
          <p:spPr bwMode="auto">
            <a:xfrm>
              <a:off x="3843" y="1165"/>
              <a:ext cx="336" cy="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b="0" i="1" dirty="0">
                  <a:solidFill>
                    <a:schemeClr val="tx1"/>
                  </a:solidFill>
                  <a:ea typeface="宋体" panose="02010600030101010101" pitchFamily="2" charset="-122"/>
                </a:rPr>
                <a:t>O</a:t>
              </a:r>
              <a:endParaRPr lang="en-US" altLang="zh-CN" b="0" dirty="0">
                <a:solidFill>
                  <a:schemeClr val="tx1"/>
                </a:solidFill>
              </a:endParaRPr>
            </a:p>
          </p:txBody>
        </p:sp>
        <p:sp>
          <p:nvSpPr>
            <p:cNvPr id="32" name="Oval 19">
              <a:extLst>
                <a:ext uri="{FF2B5EF4-FFF2-40B4-BE49-F238E27FC236}">
                  <a16:creationId xmlns:a16="http://schemas.microsoft.com/office/drawing/2014/main" id="{67D0B1DD-BD73-7678-8200-2EB1A7CF0F5E}"/>
                </a:ext>
              </a:extLst>
            </p:cNvPr>
            <p:cNvSpPr>
              <a:spLocks noChangeArrowheads="1"/>
            </p:cNvSpPr>
            <p:nvPr/>
          </p:nvSpPr>
          <p:spPr bwMode="auto">
            <a:xfrm>
              <a:off x="4113" y="1351"/>
              <a:ext cx="56" cy="5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 name="Text Box 20">
              <a:extLst>
                <a:ext uri="{FF2B5EF4-FFF2-40B4-BE49-F238E27FC236}">
                  <a16:creationId xmlns:a16="http://schemas.microsoft.com/office/drawing/2014/main" id="{784DCB11-814B-AAFE-B311-F0A3E4BA52A2}"/>
                </a:ext>
              </a:extLst>
            </p:cNvPr>
            <p:cNvSpPr txBox="1">
              <a:spLocks noChangeAspect="1" noChangeArrowheads="1"/>
            </p:cNvSpPr>
            <p:nvPr/>
          </p:nvSpPr>
          <p:spPr bwMode="auto">
            <a:xfrm>
              <a:off x="3090" y="1445"/>
              <a:ext cx="336" cy="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b="0" i="1" dirty="0">
                  <a:solidFill>
                    <a:schemeClr val="tx1"/>
                  </a:solidFill>
                  <a:ea typeface="宋体" panose="02010600030101010101" pitchFamily="2" charset="-122"/>
                </a:rPr>
                <a:t>N</a:t>
              </a:r>
              <a:endParaRPr lang="en-US" altLang="zh-CN" b="0" dirty="0">
                <a:solidFill>
                  <a:schemeClr val="tx1"/>
                </a:solidFill>
              </a:endParaRPr>
            </a:p>
          </p:txBody>
        </p:sp>
        <p:sp>
          <p:nvSpPr>
            <p:cNvPr id="34" name="Oval 21">
              <a:extLst>
                <a:ext uri="{FF2B5EF4-FFF2-40B4-BE49-F238E27FC236}">
                  <a16:creationId xmlns:a16="http://schemas.microsoft.com/office/drawing/2014/main" id="{BB49531F-A73D-8ECE-1BCB-25CAB7BCB750}"/>
                </a:ext>
              </a:extLst>
            </p:cNvPr>
            <p:cNvSpPr>
              <a:spLocks noChangeArrowheads="1"/>
            </p:cNvSpPr>
            <p:nvPr/>
          </p:nvSpPr>
          <p:spPr bwMode="auto">
            <a:xfrm>
              <a:off x="4655" y="1547"/>
              <a:ext cx="56" cy="56"/>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 name="Line 22">
              <a:extLst>
                <a:ext uri="{FF2B5EF4-FFF2-40B4-BE49-F238E27FC236}">
                  <a16:creationId xmlns:a16="http://schemas.microsoft.com/office/drawing/2014/main" id="{15AECF44-FF40-8EB6-1AA2-B9334AE60137}"/>
                </a:ext>
              </a:extLst>
            </p:cNvPr>
            <p:cNvSpPr>
              <a:spLocks noChangeShapeType="1"/>
            </p:cNvSpPr>
            <p:nvPr/>
          </p:nvSpPr>
          <p:spPr bwMode="auto">
            <a:xfrm>
              <a:off x="4146" y="1376"/>
              <a:ext cx="517" cy="19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 name="Text Box 23">
              <a:extLst>
                <a:ext uri="{FF2B5EF4-FFF2-40B4-BE49-F238E27FC236}">
                  <a16:creationId xmlns:a16="http://schemas.microsoft.com/office/drawing/2014/main" id="{A7915587-94E3-F536-1DDF-424437F6B839}"/>
                </a:ext>
              </a:extLst>
            </p:cNvPr>
            <p:cNvSpPr txBox="1">
              <a:spLocks noChangeAspect="1" noChangeArrowheads="1"/>
            </p:cNvSpPr>
            <p:nvPr/>
          </p:nvSpPr>
          <p:spPr bwMode="auto">
            <a:xfrm>
              <a:off x="4309" y="1216"/>
              <a:ext cx="336" cy="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b="0" i="1" dirty="0">
                  <a:solidFill>
                    <a:schemeClr val="tx1"/>
                  </a:solidFill>
                  <a:ea typeface="宋体" panose="02010600030101010101" pitchFamily="2" charset="-122"/>
                </a:rPr>
                <a:t>r</a:t>
              </a:r>
              <a:endParaRPr lang="en-US" altLang="zh-CN" b="0" dirty="0">
                <a:solidFill>
                  <a:schemeClr val="tx1"/>
                </a:solidFill>
              </a:endParaRPr>
            </a:p>
          </p:txBody>
        </p:sp>
        <p:sp>
          <p:nvSpPr>
            <p:cNvPr id="37" name="Text Box 24">
              <a:extLst>
                <a:ext uri="{FF2B5EF4-FFF2-40B4-BE49-F238E27FC236}">
                  <a16:creationId xmlns:a16="http://schemas.microsoft.com/office/drawing/2014/main" id="{CC065A0B-D55D-EE14-47C6-E9F91C81A924}"/>
                </a:ext>
              </a:extLst>
            </p:cNvPr>
            <p:cNvSpPr txBox="1">
              <a:spLocks noChangeAspect="1" noChangeArrowheads="1"/>
            </p:cNvSpPr>
            <p:nvPr/>
          </p:nvSpPr>
          <p:spPr bwMode="auto">
            <a:xfrm>
              <a:off x="4522" y="1513"/>
              <a:ext cx="336" cy="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b="0" i="1" dirty="0">
                  <a:solidFill>
                    <a:schemeClr val="tx1"/>
                  </a:solidFill>
                  <a:ea typeface="宋体" panose="02010600030101010101" pitchFamily="2" charset="-122"/>
                </a:rPr>
                <a:t>M</a:t>
              </a:r>
              <a:endParaRPr lang="en-US" altLang="zh-CN" b="0" dirty="0">
                <a:solidFill>
                  <a:schemeClr val="tx1"/>
                </a:solidFill>
              </a:endParaRPr>
            </a:p>
          </p:txBody>
        </p:sp>
        <p:sp>
          <p:nvSpPr>
            <p:cNvPr id="38" name="Line 25">
              <a:extLst>
                <a:ext uri="{FF2B5EF4-FFF2-40B4-BE49-F238E27FC236}">
                  <a16:creationId xmlns:a16="http://schemas.microsoft.com/office/drawing/2014/main" id="{53AC9219-B213-C8D3-CFDE-B840E1282C23}"/>
                </a:ext>
              </a:extLst>
            </p:cNvPr>
            <p:cNvSpPr>
              <a:spLocks noChangeShapeType="1"/>
            </p:cNvSpPr>
            <p:nvPr/>
          </p:nvSpPr>
          <p:spPr bwMode="auto">
            <a:xfrm rot="5400000" flipH="1" flipV="1">
              <a:off x="4817" y="1305"/>
              <a:ext cx="150" cy="377"/>
            </a:xfrm>
            <a:prstGeom prst="line">
              <a:avLst/>
            </a:prstGeom>
            <a:noFill/>
            <a:ln w="28575">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9" name="Text Box 26">
              <a:extLst>
                <a:ext uri="{FF2B5EF4-FFF2-40B4-BE49-F238E27FC236}">
                  <a16:creationId xmlns:a16="http://schemas.microsoft.com/office/drawing/2014/main" id="{576DF56D-9BF4-4C6F-08D7-3665B95F5010}"/>
                </a:ext>
              </a:extLst>
            </p:cNvPr>
            <p:cNvSpPr txBox="1">
              <a:spLocks noChangeArrowheads="1"/>
            </p:cNvSpPr>
            <p:nvPr/>
          </p:nvSpPr>
          <p:spPr bwMode="auto">
            <a:xfrm>
              <a:off x="4856" y="1109"/>
              <a:ext cx="547"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800" b="0" i="1" dirty="0">
                  <a:solidFill>
                    <a:srgbClr val="FF0000"/>
                  </a:solidFill>
                  <a:cs typeface="Times New Roman" panose="02020603050405020304" pitchFamily="18" charset="0"/>
                </a:rPr>
                <a:t>m</a:t>
              </a:r>
              <a:r>
                <a:rPr lang="en-US" altLang="zh-CN" sz="2800" b="1" i="1" dirty="0">
                  <a:solidFill>
                    <a:srgbClr val="FF0000"/>
                  </a:solidFill>
                  <a:latin typeface="Bookman Old Style" panose="02050604050505020204" pitchFamily="18" charset="0"/>
                  <a:cs typeface="Times New Roman" panose="02020603050405020304" pitchFamily="18" charset="0"/>
                </a:rPr>
                <a:t>v</a:t>
              </a:r>
              <a:endParaRPr lang="en-US" altLang="zh-CN" baseline="-25000" dirty="0">
                <a:solidFill>
                  <a:srgbClr val="FF0000"/>
                </a:solidFill>
                <a:cs typeface="Times New Roman" panose="02020603050405020304" pitchFamily="18" charset="0"/>
                <a:sym typeface="Symbol" panose="05050102010706020507" pitchFamily="18" charset="2"/>
              </a:endParaRPr>
            </a:p>
          </p:txBody>
        </p:sp>
      </p:grpSp>
      <p:sp>
        <p:nvSpPr>
          <p:cNvPr id="40" name="Oval 30">
            <a:extLst>
              <a:ext uri="{FF2B5EF4-FFF2-40B4-BE49-F238E27FC236}">
                <a16:creationId xmlns:a16="http://schemas.microsoft.com/office/drawing/2014/main" id="{8B3DBAC5-44BA-5BC9-2964-4BAB3CEE898C}"/>
              </a:ext>
            </a:extLst>
          </p:cNvPr>
          <p:cNvSpPr>
            <a:spLocks noChangeArrowheads="1"/>
          </p:cNvSpPr>
          <p:nvPr/>
        </p:nvSpPr>
        <p:spPr bwMode="auto">
          <a:xfrm>
            <a:off x="9301623" y="4129088"/>
            <a:ext cx="103187" cy="103187"/>
          </a:xfrm>
          <a:prstGeom prst="ellipse">
            <a:avLst/>
          </a:prstGeom>
          <a:gradFill rotWithShape="1">
            <a:gsLst>
              <a:gs pos="0">
                <a:srgbClr val="FF0000">
                  <a:gamma/>
                  <a:tint val="44314"/>
                  <a:invGamma/>
                </a:srgbClr>
              </a:gs>
              <a:gs pos="100000">
                <a:srgbClr val="FF0000"/>
              </a:gs>
            </a:gsLst>
            <a:path path="shape">
              <a:fillToRect l="50000" t="50000" r="50000" b="5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 name="Text Box 28">
            <a:extLst>
              <a:ext uri="{FF2B5EF4-FFF2-40B4-BE49-F238E27FC236}">
                <a16:creationId xmlns:a16="http://schemas.microsoft.com/office/drawing/2014/main" id="{DD7717A3-C422-1F0C-B4E2-F8E1BD8036E6}"/>
              </a:ext>
            </a:extLst>
          </p:cNvPr>
          <p:cNvSpPr txBox="1">
            <a:spLocks noChangeArrowheads="1"/>
          </p:cNvSpPr>
          <p:nvPr/>
        </p:nvSpPr>
        <p:spPr bwMode="auto">
          <a:xfrm>
            <a:off x="855357" y="5048725"/>
            <a:ext cx="4039951" cy="6524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lnSpc>
                <a:spcPct val="130000"/>
              </a:lnSpc>
            </a:pPr>
            <a:r>
              <a:rPr kumimoji="1" lang="en-US" altLang="zh-CN" sz="2800" b="0" dirty="0" err="1">
                <a:solidFill>
                  <a:schemeClr val="tx1"/>
                </a:solidFill>
                <a:ea typeface="黑体" panose="02010609060101010101" pitchFamily="49" charset="-122"/>
              </a:rPr>
              <a:t>M</a:t>
            </a:r>
            <a:r>
              <a:rPr kumimoji="1" lang="en-US" altLang="zh-CN" sz="2800" b="0" baseline="-25000" dirty="0" err="1">
                <a:solidFill>
                  <a:schemeClr val="tx1"/>
                </a:solidFill>
                <a:ea typeface="黑体" panose="02010609060101010101" pitchFamily="49" charset="-122"/>
              </a:rPr>
              <a:t>z</a:t>
            </a:r>
            <a:r>
              <a:rPr kumimoji="1" lang="en-US" altLang="zh-CN" sz="2800" b="0" i="0" dirty="0">
                <a:solidFill>
                  <a:schemeClr val="tx1"/>
                </a:solidFill>
                <a:ea typeface="黑体" panose="02010609060101010101" pitchFamily="49" charset="-122"/>
              </a:rPr>
              <a:t>(</a:t>
            </a:r>
            <a:r>
              <a:rPr kumimoji="1" lang="en-US" altLang="zh-CN" sz="2800" b="0" dirty="0">
                <a:solidFill>
                  <a:schemeClr val="tx1"/>
                </a:solidFill>
                <a:ea typeface="黑体" panose="02010609060101010101" pitchFamily="49" charset="-122"/>
              </a:rPr>
              <a:t>m</a:t>
            </a:r>
            <a:r>
              <a:rPr lang="en-US" altLang="zh-CN" sz="2800" dirty="0">
                <a:solidFill>
                  <a:schemeClr val="tx1"/>
                </a:solidFill>
                <a:latin typeface="+mn-lt"/>
              </a:rPr>
              <a:t>v</a:t>
            </a:r>
            <a:r>
              <a:rPr kumimoji="1" lang="en-US" altLang="zh-CN" sz="2800" b="0" i="0" dirty="0">
                <a:solidFill>
                  <a:schemeClr val="tx1"/>
                </a:solidFill>
                <a:ea typeface="黑体" panose="02010609060101010101" pitchFamily="49" charset="-122"/>
              </a:rPr>
              <a:t>)=±</a:t>
            </a:r>
            <a:r>
              <a:rPr kumimoji="1" lang="en-US" altLang="zh-CN" sz="2800" b="0" dirty="0" err="1">
                <a:solidFill>
                  <a:schemeClr val="tx1"/>
                </a:solidFill>
                <a:ea typeface="黑体" panose="02010609060101010101" pitchFamily="49" charset="-122"/>
              </a:rPr>
              <a:t>m</a:t>
            </a:r>
            <a:r>
              <a:rPr kumimoji="1" lang="en-US" altLang="zh-CN" sz="2800" b="0" dirty="0" err="1">
                <a:solidFill>
                  <a:schemeClr val="tx1"/>
                </a:solidFill>
                <a:latin typeface="+mj-lt"/>
                <a:ea typeface="黑体" panose="02010609060101010101" pitchFamily="49" charset="-122"/>
              </a:rPr>
              <a:t>v</a:t>
            </a:r>
            <a:r>
              <a:rPr kumimoji="1" lang="en-US" altLang="zh-CN" sz="2800" b="0" dirty="0" err="1">
                <a:solidFill>
                  <a:schemeClr val="tx1"/>
                </a:solidFill>
                <a:ea typeface="黑体" panose="02010609060101010101" pitchFamily="49" charset="-122"/>
              </a:rPr>
              <a:t>r</a:t>
            </a:r>
            <a:endParaRPr kumimoji="1" lang="en-US" altLang="zh-CN" sz="2800" b="0" i="0" dirty="0">
              <a:solidFill>
                <a:schemeClr val="tx1"/>
              </a:solidFill>
              <a:ea typeface="黑体" panose="02010609060101010101" pitchFamily="49" charset="-122"/>
            </a:endParaRPr>
          </a:p>
        </p:txBody>
      </p:sp>
      <p:sp>
        <p:nvSpPr>
          <p:cNvPr id="43" name="Text Box 1032">
            <a:extLst>
              <a:ext uri="{FF2B5EF4-FFF2-40B4-BE49-F238E27FC236}">
                <a16:creationId xmlns:a16="http://schemas.microsoft.com/office/drawing/2014/main" id="{B43A730E-DE4E-A819-5A6F-279D7476C474}"/>
              </a:ext>
            </a:extLst>
          </p:cNvPr>
          <p:cNvSpPr txBox="1">
            <a:spLocks noChangeArrowheads="1"/>
          </p:cNvSpPr>
          <p:nvPr/>
        </p:nvSpPr>
        <p:spPr bwMode="auto">
          <a:xfrm>
            <a:off x="570416" y="5733256"/>
            <a:ext cx="7901848" cy="565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20000"/>
              </a:lnSpc>
            </a:pPr>
            <a:r>
              <a:rPr lang="zh-CN" altLang="en-US" sz="2800" i="0" dirty="0">
                <a:latin typeface="微软雅黑" panose="020B0503020204020204" pitchFamily="34" charset="-122"/>
                <a:ea typeface="微软雅黑" panose="020B0503020204020204" pitchFamily="34" charset="-122"/>
              </a:rPr>
              <a:t>方向：从 </a:t>
            </a:r>
            <a:r>
              <a:rPr lang="en-US" altLang="zh-CN" sz="2800" b="0" dirty="0">
                <a:latin typeface="+mj-lt"/>
                <a:ea typeface="微软雅黑" panose="020B0503020204020204" pitchFamily="34" charset="-122"/>
              </a:rPr>
              <a:t>z </a:t>
            </a:r>
            <a:r>
              <a:rPr lang="zh-CN" altLang="en-US" sz="2800" i="0" dirty="0">
                <a:latin typeface="微软雅黑" panose="020B0503020204020204" pitchFamily="34" charset="-122"/>
                <a:ea typeface="微软雅黑" panose="020B0503020204020204" pitchFamily="34" charset="-122"/>
              </a:rPr>
              <a:t>轴正向看，逆时针为正，反之为负</a:t>
            </a:r>
            <a:endParaRPr lang="zh-CN" altLang="en-US" sz="2800" i="0" dirty="0">
              <a:latin typeface="+mn-lt"/>
              <a:ea typeface="微软雅黑" panose="020B0503020204020204" pitchFamily="34" charset="-122"/>
            </a:endParaRPr>
          </a:p>
        </p:txBody>
      </p:sp>
    </p:spTree>
    <p:extLst>
      <p:ext uri="{BB962C8B-B14F-4D97-AF65-F5344CB8AC3E}">
        <p14:creationId xmlns:p14="http://schemas.microsoft.com/office/powerpoint/2010/main" val="939861949"/>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52"/>
                                        </p:tgtEl>
                                        <p:attrNameLst>
                                          <p:attrName>style.visibility</p:attrName>
                                        </p:attrNameLst>
                                      </p:cBhvr>
                                      <p:to>
                                        <p:strVal val="visible"/>
                                      </p:to>
                                    </p:set>
                                  </p:childTnLst>
                                </p:cTn>
                              </p:par>
                              <p:par>
                                <p:cTn id="11" presetID="12" presetClass="path" presetSubtype="0" repeatCount="indefinite" fill="hold" nodeType="withEffect">
                                  <p:stCondLst>
                                    <p:cond delay="0"/>
                                  </p:stCondLst>
                                  <p:childTnLst>
                                    <p:animMotion origin="layout" path="M -0.06862 -0.0463 C -0.06862 -0.06991 -0.01185 -0.10995 0.0289 -0.11018 C 0.06953 -0.10995 0.11979 -0.09074 0.12747 -0.05393 C 0.12916 -0.01852 0.06875 0.01157 0.02786 0.01134 C -0.0125 0.01134 -0.06615 -0.01505 -0.06862 -0.0463 Z " pathEditMode="relative" rAng="0" ptsTypes="AAAAA">
                                      <p:cBhvr>
                                        <p:cTn id="12" dur="1000" spd="-100000" fill="hold"/>
                                        <p:tgtEl>
                                          <p:spTgt spid="40"/>
                                        </p:tgtEl>
                                        <p:attrNameLst>
                                          <p:attrName>ppt_x</p:attrName>
                                          <p:attrName>ppt_y</p:attrName>
                                        </p:attrNameLst>
                                      </p:cBhvr>
                                      <p:rCtr x="9805" y="-324"/>
                                    </p:animMotion>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iterate type="lt">
                                    <p:tmPct val="20000"/>
                                  </p:iterate>
                                  <p:childTnLst>
                                    <p:set>
                                      <p:cBhvr>
                                        <p:cTn id="16" dur="1" fill="hold">
                                          <p:stCondLst>
                                            <p:cond delay="0"/>
                                          </p:stCondLst>
                                        </p:cTn>
                                        <p:tgtEl>
                                          <p:spTgt spid="42">
                                            <p:txEl>
                                              <p:pRg st="0" end="0"/>
                                            </p:txEl>
                                          </p:spTgt>
                                        </p:tgtEl>
                                        <p:attrNameLst>
                                          <p:attrName>style.visibility</p:attrName>
                                        </p:attrNameLst>
                                      </p:cBhvr>
                                      <p:to>
                                        <p:strVal val="visible"/>
                                      </p:to>
                                    </p:set>
                                    <p:animEffect transition="in" filter="wipe(left)">
                                      <p:cBhvr>
                                        <p:cTn id="17" dur="500"/>
                                        <p:tgtEl>
                                          <p:spTgt spid="42">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499"/>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utoUpdateAnimBg="0"/>
      <p:bldP spid="42" grpId="0" build="p"/>
      <p:bldP spid="43" grpId="0"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1">
            <a:extLst>
              <a:ext uri="{FF2B5EF4-FFF2-40B4-BE49-F238E27FC236}">
                <a16:creationId xmlns:a16="http://schemas.microsoft.com/office/drawing/2014/main" id="{7C7AC23E-A1CE-03F9-D8A4-D45156EAD5C0}"/>
              </a:ext>
            </a:extLst>
          </p:cNvPr>
          <p:cNvSpPr>
            <a:spLocks noChangeArrowheads="1"/>
          </p:cNvSpPr>
          <p:nvPr/>
        </p:nvSpPr>
        <p:spPr bwMode="auto">
          <a:xfrm>
            <a:off x="8485249" y="932379"/>
            <a:ext cx="3490194" cy="4140460"/>
          </a:xfrm>
          <a:prstGeom prst="rect">
            <a:avLst/>
          </a:prstGeom>
          <a:solidFill>
            <a:srgbClr val="B9CDE5"/>
          </a:solidFill>
          <a:ln>
            <a:noFill/>
          </a:ln>
          <a:effectLst/>
        </p:spPr>
        <p:txBody>
          <a:bodyPr wrap="none" anchor="ctr"/>
          <a:lstStyle/>
          <a:p>
            <a:endParaRPr lang="zh-CN" altLang="en-US"/>
          </a:p>
        </p:txBody>
      </p:sp>
      <p:sp>
        <p:nvSpPr>
          <p:cNvPr id="7" name="矩形 6"/>
          <p:cNvSpPr/>
          <p:nvPr/>
        </p:nvSpPr>
        <p:spPr>
          <a:xfrm>
            <a:off x="20960" y="91693"/>
            <a:ext cx="4653838"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第七章   动力学普遍定理</a:t>
            </a:r>
          </a:p>
        </p:txBody>
      </p:sp>
      <p:sp>
        <p:nvSpPr>
          <p:cNvPr id="52" name="Text Box 1032"/>
          <p:cNvSpPr txBox="1">
            <a:spLocks noChangeArrowheads="1"/>
          </p:cNvSpPr>
          <p:nvPr/>
        </p:nvSpPr>
        <p:spPr bwMode="auto">
          <a:xfrm>
            <a:off x="570416" y="932379"/>
            <a:ext cx="7598511" cy="21605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20000"/>
              </a:lnSpc>
            </a:pPr>
            <a:r>
              <a:rPr lang="zh-CN" altLang="en-US" sz="2800" i="0" dirty="0">
                <a:solidFill>
                  <a:srgbClr val="FF0000"/>
                </a:solidFill>
                <a:latin typeface="微软雅黑" panose="020B0503020204020204" pitchFamily="34" charset="-122"/>
                <a:ea typeface="微软雅黑" panose="020B0503020204020204" pitchFamily="34" charset="-122"/>
              </a:rPr>
              <a:t>质点系及刚体对轴的动量矩</a:t>
            </a:r>
            <a:endParaRPr lang="en-US" altLang="zh-CN" sz="2800" i="0" dirty="0">
              <a:solidFill>
                <a:srgbClr val="FF0000"/>
              </a:solidFill>
              <a:latin typeface="微软雅黑" panose="020B0503020204020204" pitchFamily="34" charset="-122"/>
              <a:ea typeface="微软雅黑" panose="020B0503020204020204" pitchFamily="34" charset="-122"/>
            </a:endParaRPr>
          </a:p>
          <a:p>
            <a:pPr algn="just">
              <a:lnSpc>
                <a:spcPct val="120000"/>
              </a:lnSpc>
            </a:pPr>
            <a:r>
              <a:rPr kumimoji="1" lang="zh-CN" altLang="en-US" sz="2800" i="0" dirty="0">
                <a:latin typeface="+mn-lt"/>
                <a:ea typeface="微软雅黑" panose="020B0503020204020204" pitchFamily="34" charset="-122"/>
              </a:rPr>
              <a:t>设质点系由</a:t>
            </a:r>
            <a:r>
              <a:rPr kumimoji="1" lang="en-US" altLang="zh-CN" sz="2800" b="0" dirty="0">
                <a:latin typeface="+mn-lt"/>
                <a:ea typeface="微软雅黑" panose="020B0503020204020204" pitchFamily="34" charset="-122"/>
              </a:rPr>
              <a:t>n</a:t>
            </a:r>
            <a:r>
              <a:rPr kumimoji="1" lang="zh-CN" altLang="en-US" sz="2800" i="0" dirty="0">
                <a:latin typeface="+mn-lt"/>
                <a:ea typeface="微软雅黑" panose="020B0503020204020204" pitchFamily="34" charset="-122"/>
              </a:rPr>
              <a:t>个质点组成，称其中每一个质点对于固定轴</a:t>
            </a:r>
            <a:r>
              <a:rPr kumimoji="1" lang="en-US" altLang="zh-CN" sz="2800" b="0" dirty="0">
                <a:latin typeface="+mn-lt"/>
                <a:ea typeface="微软雅黑" panose="020B0503020204020204" pitchFamily="34" charset="-122"/>
              </a:rPr>
              <a:t>z</a:t>
            </a:r>
            <a:r>
              <a:rPr kumimoji="1" lang="zh-CN" altLang="en-US" sz="2800" i="0" dirty="0">
                <a:latin typeface="+mn-lt"/>
                <a:ea typeface="微软雅黑" panose="020B0503020204020204" pitchFamily="34" charset="-122"/>
              </a:rPr>
              <a:t>的动量矩的代数和为质点系对</a:t>
            </a:r>
            <a:r>
              <a:rPr kumimoji="1" lang="en-US" altLang="zh-CN" sz="2800" b="0" dirty="0">
                <a:latin typeface="+mn-lt"/>
                <a:ea typeface="微软雅黑" panose="020B0503020204020204" pitchFamily="34" charset="-122"/>
              </a:rPr>
              <a:t>z</a:t>
            </a:r>
            <a:r>
              <a:rPr kumimoji="1" lang="zh-CN" altLang="en-US" sz="2800" i="0" dirty="0">
                <a:latin typeface="+mn-lt"/>
                <a:ea typeface="微软雅黑" panose="020B0503020204020204" pitchFamily="34" charset="-122"/>
              </a:rPr>
              <a:t>轴的动量矩，记为</a:t>
            </a:r>
            <a:r>
              <a:rPr kumimoji="1" lang="en-US" altLang="zh-CN" sz="2800" b="0" dirty="0" err="1">
                <a:latin typeface="+mn-lt"/>
                <a:ea typeface="微软雅黑" panose="020B0503020204020204" pitchFamily="34" charset="-122"/>
              </a:rPr>
              <a:t>L</a:t>
            </a:r>
            <a:r>
              <a:rPr kumimoji="1" lang="en-US" altLang="zh-CN" sz="2800" b="0" baseline="-25000" dirty="0" err="1">
                <a:latin typeface="+mn-lt"/>
                <a:ea typeface="微软雅黑" panose="020B0503020204020204" pitchFamily="34" charset="-122"/>
              </a:rPr>
              <a:t>z</a:t>
            </a:r>
            <a:r>
              <a:rPr kumimoji="1" lang="zh-CN" altLang="en-US" sz="2800" i="0" dirty="0">
                <a:latin typeface="+mn-lt"/>
                <a:ea typeface="微软雅黑" panose="020B0503020204020204" pitchFamily="34" charset="-122"/>
              </a:rPr>
              <a:t>，</a:t>
            </a:r>
            <a:r>
              <a:rPr kumimoji="1" lang="zh-CN" altLang="en-US" sz="2800" i="0" dirty="0" smtClean="0">
                <a:latin typeface="+mn-lt"/>
                <a:ea typeface="微软雅黑" panose="020B0503020204020204" pitchFamily="34" charset="-122"/>
              </a:rPr>
              <a:t>即</a:t>
            </a:r>
            <a:r>
              <a:rPr lang="en-US" altLang="zh-CN" sz="2800" dirty="0" smtClean="0"/>
              <a:t> </a:t>
            </a:r>
            <a:r>
              <a:rPr lang="en-US" altLang="zh-CN" sz="2800" b="0" dirty="0" err="1"/>
              <a:t>L</a:t>
            </a:r>
            <a:r>
              <a:rPr lang="en-US" altLang="zh-CN" sz="2800" b="0" baseline="-25000" dirty="0" err="1"/>
              <a:t>z</a:t>
            </a:r>
            <a:r>
              <a:rPr lang="en-US" altLang="zh-CN" sz="2800" b="0" dirty="0"/>
              <a:t>=∑</a:t>
            </a:r>
            <a:r>
              <a:rPr lang="en-US" altLang="zh-CN" sz="2800" b="0" dirty="0" err="1"/>
              <a:t>M</a:t>
            </a:r>
            <a:r>
              <a:rPr lang="en-US" altLang="zh-CN" sz="2800" b="0" baseline="-25000" dirty="0" err="1"/>
              <a:t>z</a:t>
            </a:r>
            <a:r>
              <a:rPr lang="en-US" altLang="zh-CN" sz="2800" b="0" i="0" dirty="0"/>
              <a:t>(</a:t>
            </a:r>
            <a:r>
              <a:rPr lang="en-US" altLang="zh-CN" sz="2800" b="0" dirty="0" err="1"/>
              <a:t>m</a:t>
            </a:r>
            <a:r>
              <a:rPr lang="en-US" altLang="zh-CN" sz="2800" b="0" baseline="-25000" dirty="0" err="1"/>
              <a:t>i</a:t>
            </a:r>
            <a:r>
              <a:rPr lang="en-US" altLang="zh-CN" sz="2800" dirty="0" err="1">
                <a:latin typeface="+mn-lt"/>
              </a:rPr>
              <a:t>v</a:t>
            </a:r>
            <a:r>
              <a:rPr lang="en-US" altLang="zh-CN" sz="2800" b="0" baseline="-25000" dirty="0" err="1"/>
              <a:t>i</a:t>
            </a:r>
            <a:r>
              <a:rPr lang="en-US" altLang="zh-CN" sz="2800" b="0" i="0" dirty="0"/>
              <a:t>)</a:t>
            </a:r>
            <a:endParaRPr kumimoji="1" lang="zh-CN" altLang="en-US" sz="2800" b="0" i="0" dirty="0">
              <a:latin typeface="+mn-lt"/>
              <a:ea typeface="微软雅黑" panose="020B0503020204020204" pitchFamily="34" charset="-122"/>
            </a:endParaRPr>
          </a:p>
        </p:txBody>
      </p:sp>
      <p:sp>
        <p:nvSpPr>
          <p:cNvPr id="4" name="Text Box 9">
            <a:extLst>
              <a:ext uri="{FF2B5EF4-FFF2-40B4-BE49-F238E27FC236}">
                <a16:creationId xmlns:a16="http://schemas.microsoft.com/office/drawing/2014/main" id="{26E86C5F-0CA8-5588-615C-7485BA57F91E}"/>
              </a:ext>
            </a:extLst>
          </p:cNvPr>
          <p:cNvSpPr txBox="1">
            <a:spLocks noChangeAspect="1" noChangeArrowheads="1"/>
          </p:cNvSpPr>
          <p:nvPr/>
        </p:nvSpPr>
        <p:spPr bwMode="auto">
          <a:xfrm>
            <a:off x="10192246" y="1110734"/>
            <a:ext cx="417512" cy="6397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3200" b="0" u="none" strike="noStrike" kern="0" cap="none" spc="0" normalizeH="0" baseline="0" noProof="0" dirty="0">
                <a:ln>
                  <a:noFill/>
                </a:ln>
                <a:solidFill>
                  <a:schemeClr val="tx1"/>
                </a:solidFill>
                <a:effectLst/>
                <a:uLnTx/>
                <a:uFillTx/>
              </a:rPr>
              <a:t>z</a:t>
            </a:r>
          </a:p>
        </p:txBody>
      </p:sp>
      <p:sp>
        <p:nvSpPr>
          <p:cNvPr id="8" name="Oval 22">
            <a:extLst>
              <a:ext uri="{FF2B5EF4-FFF2-40B4-BE49-F238E27FC236}">
                <a16:creationId xmlns:a16="http://schemas.microsoft.com/office/drawing/2014/main" id="{228C5FC6-EBDD-EA57-E68F-07E7E8D4AE18}"/>
              </a:ext>
            </a:extLst>
          </p:cNvPr>
          <p:cNvSpPr>
            <a:spLocks noChangeArrowheads="1"/>
          </p:cNvSpPr>
          <p:nvPr/>
        </p:nvSpPr>
        <p:spPr bwMode="auto">
          <a:xfrm>
            <a:off x="9852521" y="3612634"/>
            <a:ext cx="103187" cy="103187"/>
          </a:xfrm>
          <a:prstGeom prst="ellipse">
            <a:avLst/>
          </a:prstGeom>
          <a:gradFill rotWithShape="1">
            <a:gsLst>
              <a:gs pos="0">
                <a:srgbClr val="FF0000">
                  <a:gamma/>
                  <a:tint val="44314"/>
                  <a:invGamma/>
                </a:srgbClr>
              </a:gs>
              <a:gs pos="100000">
                <a:srgbClr val="FF0000"/>
              </a:gs>
            </a:gsLst>
            <a:path path="shape">
              <a:fillToRect l="50000" t="50000" r="50000" b="50000"/>
            </a:path>
          </a:gra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nvGrpSpPr>
          <p:cNvPr id="9" name="Group 25">
            <a:extLst>
              <a:ext uri="{FF2B5EF4-FFF2-40B4-BE49-F238E27FC236}">
                <a16:creationId xmlns:a16="http://schemas.microsoft.com/office/drawing/2014/main" id="{B028D483-FFA9-68CD-08FF-565F4351888A}"/>
              </a:ext>
            </a:extLst>
          </p:cNvPr>
          <p:cNvGrpSpPr>
            <a:grpSpLocks/>
          </p:cNvGrpSpPr>
          <p:nvPr/>
        </p:nvGrpSpPr>
        <p:grpSpPr bwMode="auto">
          <a:xfrm>
            <a:off x="10298608" y="1628259"/>
            <a:ext cx="123825" cy="249237"/>
            <a:chOff x="4582" y="1423"/>
            <a:chExt cx="78" cy="157"/>
          </a:xfrm>
        </p:grpSpPr>
        <p:sp>
          <p:nvSpPr>
            <p:cNvPr id="10" name="Rectangle 23">
              <a:extLst>
                <a:ext uri="{FF2B5EF4-FFF2-40B4-BE49-F238E27FC236}">
                  <a16:creationId xmlns:a16="http://schemas.microsoft.com/office/drawing/2014/main" id="{313A5BC2-4685-0FD9-D1D4-3BBD0625F5B6}"/>
                </a:ext>
              </a:extLst>
            </p:cNvPr>
            <p:cNvSpPr>
              <a:spLocks noChangeArrowheads="1"/>
            </p:cNvSpPr>
            <p:nvPr/>
          </p:nvSpPr>
          <p:spPr bwMode="auto">
            <a:xfrm>
              <a:off x="4599" y="1423"/>
              <a:ext cx="61" cy="157"/>
            </a:xfrm>
            <a:prstGeom prst="rect">
              <a:avLst/>
            </a:prstGeom>
            <a:pattFill prst="wdUpDiag">
              <a:fgClr>
                <a:srgbClr val="000000"/>
              </a:fgClr>
              <a:bgClr>
                <a:srgbClr val="FFFFFF"/>
              </a:bgClr>
            </a:patt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1" name="Line 24">
              <a:extLst>
                <a:ext uri="{FF2B5EF4-FFF2-40B4-BE49-F238E27FC236}">
                  <a16:creationId xmlns:a16="http://schemas.microsoft.com/office/drawing/2014/main" id="{87EC603F-8C69-707C-B0E2-0C349595E767}"/>
                </a:ext>
              </a:extLst>
            </p:cNvPr>
            <p:cNvSpPr>
              <a:spLocks noChangeShapeType="1"/>
            </p:cNvSpPr>
            <p:nvPr/>
          </p:nvSpPr>
          <p:spPr bwMode="auto">
            <a:xfrm>
              <a:off x="4582" y="1423"/>
              <a:ext cx="0" cy="157"/>
            </a:xfrm>
            <a:prstGeom prst="line">
              <a:avLst/>
            </a:prstGeom>
            <a:noFill/>
            <a:ln w="38100">
              <a:solidFill>
                <a:srgbClr val="FF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grpSp>
        <p:nvGrpSpPr>
          <p:cNvPr id="12" name="Group 26">
            <a:extLst>
              <a:ext uri="{FF2B5EF4-FFF2-40B4-BE49-F238E27FC236}">
                <a16:creationId xmlns:a16="http://schemas.microsoft.com/office/drawing/2014/main" id="{8EAB9DAD-0E9B-D916-2ED0-19F147A7A02D}"/>
              </a:ext>
            </a:extLst>
          </p:cNvPr>
          <p:cNvGrpSpPr>
            <a:grpSpLocks/>
          </p:cNvGrpSpPr>
          <p:nvPr/>
        </p:nvGrpSpPr>
        <p:grpSpPr bwMode="auto">
          <a:xfrm>
            <a:off x="10293846" y="4519096"/>
            <a:ext cx="123825" cy="249238"/>
            <a:chOff x="4582" y="1423"/>
            <a:chExt cx="78" cy="157"/>
          </a:xfrm>
        </p:grpSpPr>
        <p:sp>
          <p:nvSpPr>
            <p:cNvPr id="13" name="Rectangle 27">
              <a:extLst>
                <a:ext uri="{FF2B5EF4-FFF2-40B4-BE49-F238E27FC236}">
                  <a16:creationId xmlns:a16="http://schemas.microsoft.com/office/drawing/2014/main" id="{7E39532F-E3B1-6BB3-B34E-E61670796468}"/>
                </a:ext>
              </a:extLst>
            </p:cNvPr>
            <p:cNvSpPr>
              <a:spLocks noChangeArrowheads="1"/>
            </p:cNvSpPr>
            <p:nvPr/>
          </p:nvSpPr>
          <p:spPr bwMode="auto">
            <a:xfrm>
              <a:off x="4599" y="1423"/>
              <a:ext cx="61" cy="157"/>
            </a:xfrm>
            <a:prstGeom prst="rect">
              <a:avLst/>
            </a:prstGeom>
            <a:pattFill prst="wdUpDiag">
              <a:fgClr>
                <a:srgbClr val="000000"/>
              </a:fgClr>
              <a:bgClr>
                <a:srgbClr val="FFFFFF"/>
              </a:bgClr>
            </a:patt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4" name="Line 28">
              <a:extLst>
                <a:ext uri="{FF2B5EF4-FFF2-40B4-BE49-F238E27FC236}">
                  <a16:creationId xmlns:a16="http://schemas.microsoft.com/office/drawing/2014/main" id="{C52DAEC2-BE5A-029B-0A3E-C23DE27D8F7A}"/>
                </a:ext>
              </a:extLst>
            </p:cNvPr>
            <p:cNvSpPr>
              <a:spLocks noChangeShapeType="1"/>
            </p:cNvSpPr>
            <p:nvPr/>
          </p:nvSpPr>
          <p:spPr bwMode="auto">
            <a:xfrm>
              <a:off x="4582" y="1423"/>
              <a:ext cx="0" cy="157"/>
            </a:xfrm>
            <a:prstGeom prst="line">
              <a:avLst/>
            </a:prstGeom>
            <a:noFill/>
            <a:ln w="38100">
              <a:solidFill>
                <a:srgbClr val="FF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grpSp>
        <p:nvGrpSpPr>
          <p:cNvPr id="15" name="Group 29">
            <a:extLst>
              <a:ext uri="{FF2B5EF4-FFF2-40B4-BE49-F238E27FC236}">
                <a16:creationId xmlns:a16="http://schemas.microsoft.com/office/drawing/2014/main" id="{3DD68B5E-6079-03C1-B8CD-41F546559EDE}"/>
              </a:ext>
            </a:extLst>
          </p:cNvPr>
          <p:cNvGrpSpPr>
            <a:grpSpLocks/>
          </p:cNvGrpSpPr>
          <p:nvPr/>
        </p:nvGrpSpPr>
        <p:grpSpPr bwMode="auto">
          <a:xfrm flipH="1">
            <a:off x="10014446" y="1621909"/>
            <a:ext cx="123825" cy="249237"/>
            <a:chOff x="4582" y="1423"/>
            <a:chExt cx="78" cy="157"/>
          </a:xfrm>
        </p:grpSpPr>
        <p:sp>
          <p:nvSpPr>
            <p:cNvPr id="16" name="Rectangle 30">
              <a:extLst>
                <a:ext uri="{FF2B5EF4-FFF2-40B4-BE49-F238E27FC236}">
                  <a16:creationId xmlns:a16="http://schemas.microsoft.com/office/drawing/2014/main" id="{62298B3E-308B-F8C0-59CB-51DB5967712C}"/>
                </a:ext>
              </a:extLst>
            </p:cNvPr>
            <p:cNvSpPr>
              <a:spLocks noChangeArrowheads="1"/>
            </p:cNvSpPr>
            <p:nvPr/>
          </p:nvSpPr>
          <p:spPr bwMode="auto">
            <a:xfrm>
              <a:off x="4599" y="1423"/>
              <a:ext cx="61" cy="157"/>
            </a:xfrm>
            <a:prstGeom prst="rect">
              <a:avLst/>
            </a:prstGeom>
            <a:pattFill prst="wdUpDiag">
              <a:fgClr>
                <a:srgbClr val="000000"/>
              </a:fgClr>
              <a:bgClr>
                <a:srgbClr val="FFFFFF"/>
              </a:bgClr>
            </a:patt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7" name="Line 31">
              <a:extLst>
                <a:ext uri="{FF2B5EF4-FFF2-40B4-BE49-F238E27FC236}">
                  <a16:creationId xmlns:a16="http://schemas.microsoft.com/office/drawing/2014/main" id="{F23F9522-1177-CDF4-4BD2-F183BA1B200D}"/>
                </a:ext>
              </a:extLst>
            </p:cNvPr>
            <p:cNvSpPr>
              <a:spLocks noChangeShapeType="1"/>
            </p:cNvSpPr>
            <p:nvPr/>
          </p:nvSpPr>
          <p:spPr bwMode="auto">
            <a:xfrm>
              <a:off x="4582" y="1423"/>
              <a:ext cx="0" cy="157"/>
            </a:xfrm>
            <a:prstGeom prst="line">
              <a:avLst/>
            </a:prstGeom>
            <a:noFill/>
            <a:ln w="38100">
              <a:solidFill>
                <a:srgbClr val="FF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sp>
        <p:nvSpPr>
          <p:cNvPr id="21" name="Oval 37">
            <a:extLst>
              <a:ext uri="{FF2B5EF4-FFF2-40B4-BE49-F238E27FC236}">
                <a16:creationId xmlns:a16="http://schemas.microsoft.com/office/drawing/2014/main" id="{055112A4-B931-5284-7A32-30B19A2F927D}"/>
              </a:ext>
            </a:extLst>
          </p:cNvPr>
          <p:cNvSpPr>
            <a:spLocks noChangeArrowheads="1"/>
          </p:cNvSpPr>
          <p:nvPr/>
        </p:nvSpPr>
        <p:spPr bwMode="auto">
          <a:xfrm>
            <a:off x="9198471" y="1934646"/>
            <a:ext cx="2038350" cy="2547938"/>
          </a:xfrm>
          <a:prstGeom prst="ellipse">
            <a:avLst/>
          </a:prstGeom>
          <a:gradFill flip="none" rotWithShape="1">
            <a:gsLst>
              <a:gs pos="0">
                <a:srgbClr val="92D050">
                  <a:shade val="30000"/>
                  <a:satMod val="115000"/>
                </a:srgbClr>
              </a:gs>
              <a:gs pos="50000">
                <a:srgbClr val="92D050">
                  <a:shade val="67500"/>
                  <a:satMod val="115000"/>
                </a:srgbClr>
              </a:gs>
              <a:gs pos="100000">
                <a:srgbClr val="92D050">
                  <a:shade val="100000"/>
                  <a:satMod val="115000"/>
                </a:srgbClr>
              </a:gs>
            </a:gsLst>
            <a:lin ang="8100000" scaled="1"/>
            <a:tileRect/>
          </a:gradFill>
          <a:ln>
            <a:noFill/>
          </a:ln>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dirty="0">
              <a:ln>
                <a:noFill/>
              </a:ln>
              <a:solidFill>
                <a:srgbClr val="FFFFFF"/>
              </a:solidFill>
              <a:effectLst/>
              <a:uLnTx/>
              <a:uFillTx/>
              <a:ea typeface="黑体" panose="02010609060101010101" pitchFamily="49" charset="-122"/>
            </a:endParaRPr>
          </a:p>
        </p:txBody>
      </p:sp>
      <p:grpSp>
        <p:nvGrpSpPr>
          <p:cNvPr id="18" name="Group 32">
            <a:extLst>
              <a:ext uri="{FF2B5EF4-FFF2-40B4-BE49-F238E27FC236}">
                <a16:creationId xmlns:a16="http://schemas.microsoft.com/office/drawing/2014/main" id="{1DAA69B5-64E5-108A-756B-F9A8FBEB30A6}"/>
              </a:ext>
            </a:extLst>
          </p:cNvPr>
          <p:cNvGrpSpPr>
            <a:grpSpLocks/>
          </p:cNvGrpSpPr>
          <p:nvPr/>
        </p:nvGrpSpPr>
        <p:grpSpPr bwMode="auto">
          <a:xfrm flipH="1">
            <a:off x="10022383" y="4527034"/>
            <a:ext cx="123825" cy="249237"/>
            <a:chOff x="4582" y="1423"/>
            <a:chExt cx="78" cy="157"/>
          </a:xfrm>
        </p:grpSpPr>
        <p:sp>
          <p:nvSpPr>
            <p:cNvPr id="19" name="Rectangle 33">
              <a:extLst>
                <a:ext uri="{FF2B5EF4-FFF2-40B4-BE49-F238E27FC236}">
                  <a16:creationId xmlns:a16="http://schemas.microsoft.com/office/drawing/2014/main" id="{26AB54AD-2FA2-C471-DAB4-A5D4F229220A}"/>
                </a:ext>
              </a:extLst>
            </p:cNvPr>
            <p:cNvSpPr>
              <a:spLocks noChangeArrowheads="1"/>
            </p:cNvSpPr>
            <p:nvPr/>
          </p:nvSpPr>
          <p:spPr bwMode="auto">
            <a:xfrm>
              <a:off x="4599" y="1423"/>
              <a:ext cx="61" cy="157"/>
            </a:xfrm>
            <a:prstGeom prst="rect">
              <a:avLst/>
            </a:prstGeom>
            <a:pattFill prst="wdUpDiag">
              <a:fgClr>
                <a:srgbClr val="000000"/>
              </a:fgClr>
              <a:bgClr>
                <a:srgbClr val="FFFFFF"/>
              </a:bgClr>
            </a:patt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20" name="Line 34">
              <a:extLst>
                <a:ext uri="{FF2B5EF4-FFF2-40B4-BE49-F238E27FC236}">
                  <a16:creationId xmlns:a16="http://schemas.microsoft.com/office/drawing/2014/main" id="{72DC796E-CA07-0110-3151-E25602056AD7}"/>
                </a:ext>
              </a:extLst>
            </p:cNvPr>
            <p:cNvSpPr>
              <a:spLocks noChangeShapeType="1"/>
            </p:cNvSpPr>
            <p:nvPr/>
          </p:nvSpPr>
          <p:spPr bwMode="auto">
            <a:xfrm>
              <a:off x="4582" y="1423"/>
              <a:ext cx="0" cy="157"/>
            </a:xfrm>
            <a:prstGeom prst="line">
              <a:avLst/>
            </a:prstGeom>
            <a:noFill/>
            <a:ln w="38100">
              <a:solidFill>
                <a:srgbClr val="FF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sp>
        <p:nvSpPr>
          <p:cNvPr id="22" name="Oval 38">
            <a:extLst>
              <a:ext uri="{FF2B5EF4-FFF2-40B4-BE49-F238E27FC236}">
                <a16:creationId xmlns:a16="http://schemas.microsoft.com/office/drawing/2014/main" id="{427BCF2B-F232-2164-E7FD-6DDBBCA7D68A}"/>
              </a:ext>
            </a:extLst>
          </p:cNvPr>
          <p:cNvSpPr>
            <a:spLocks noChangeArrowheads="1"/>
          </p:cNvSpPr>
          <p:nvPr/>
        </p:nvSpPr>
        <p:spPr bwMode="auto">
          <a:xfrm>
            <a:off x="9500096" y="2917309"/>
            <a:ext cx="1506537" cy="573087"/>
          </a:xfrm>
          <a:prstGeom prst="ellipse">
            <a:avLst/>
          </a:prstGeom>
          <a:noFill/>
          <a:ln w="9525">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23" name="Text Box 13">
            <a:extLst>
              <a:ext uri="{FF2B5EF4-FFF2-40B4-BE49-F238E27FC236}">
                <a16:creationId xmlns:a16="http://schemas.microsoft.com/office/drawing/2014/main" id="{321E68FC-BD70-0031-664D-2A303D74E9F8}"/>
              </a:ext>
            </a:extLst>
          </p:cNvPr>
          <p:cNvSpPr txBox="1">
            <a:spLocks noChangeAspect="1" noChangeArrowheads="1"/>
          </p:cNvSpPr>
          <p:nvPr/>
        </p:nvSpPr>
        <p:spPr bwMode="auto">
          <a:xfrm>
            <a:off x="9757271" y="2960171"/>
            <a:ext cx="533400"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b="0" u="none" strike="noStrike" kern="0" cap="none" spc="0" normalizeH="0" baseline="0" noProof="0" dirty="0">
                <a:ln>
                  <a:noFill/>
                </a:ln>
                <a:solidFill>
                  <a:srgbClr val="000000"/>
                </a:solidFill>
                <a:effectLst/>
                <a:uLnTx/>
                <a:uFillTx/>
              </a:rPr>
              <a:t>O</a:t>
            </a:r>
            <a:endParaRPr kumimoji="1" lang="en-US" altLang="zh-CN" b="0" u="none" strike="noStrike" kern="0" cap="none" spc="0" normalizeH="0" baseline="0" noProof="0" dirty="0">
              <a:ln>
                <a:noFill/>
              </a:ln>
              <a:solidFill>
                <a:srgbClr val="000000"/>
              </a:solidFill>
              <a:effectLst/>
              <a:uLnTx/>
              <a:uFillTx/>
              <a:ea typeface="黑体" panose="02010609060101010101" pitchFamily="49" charset="-122"/>
            </a:endParaRPr>
          </a:p>
        </p:txBody>
      </p:sp>
      <p:sp>
        <p:nvSpPr>
          <p:cNvPr id="24" name="Oval 14">
            <a:extLst>
              <a:ext uri="{FF2B5EF4-FFF2-40B4-BE49-F238E27FC236}">
                <a16:creationId xmlns:a16="http://schemas.microsoft.com/office/drawing/2014/main" id="{C5763831-99A8-CFFE-1010-1C20880374A9}"/>
              </a:ext>
            </a:extLst>
          </p:cNvPr>
          <p:cNvSpPr>
            <a:spLocks noChangeArrowheads="1"/>
          </p:cNvSpPr>
          <p:nvPr/>
        </p:nvSpPr>
        <p:spPr bwMode="auto">
          <a:xfrm>
            <a:off x="10185896" y="3255446"/>
            <a:ext cx="88900" cy="88900"/>
          </a:xfrm>
          <a:prstGeom prst="ellipse">
            <a:avLst/>
          </a:prstGeom>
          <a:solidFill>
            <a:srgbClr val="00CC99"/>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41" name="Text Box 18">
            <a:extLst>
              <a:ext uri="{FF2B5EF4-FFF2-40B4-BE49-F238E27FC236}">
                <a16:creationId xmlns:a16="http://schemas.microsoft.com/office/drawing/2014/main" id="{E7E0D1CF-716D-D2CB-B91D-4B93EBABF133}"/>
              </a:ext>
            </a:extLst>
          </p:cNvPr>
          <p:cNvSpPr txBox="1">
            <a:spLocks noChangeAspect="1" noChangeArrowheads="1"/>
          </p:cNvSpPr>
          <p:nvPr/>
        </p:nvSpPr>
        <p:spPr bwMode="auto">
          <a:xfrm>
            <a:off x="10320833" y="2942709"/>
            <a:ext cx="404813" cy="373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b="0" u="none" strike="noStrike" kern="0" cap="none" spc="0" normalizeH="0" baseline="0" noProof="0" dirty="0" err="1">
                <a:ln>
                  <a:noFill/>
                </a:ln>
                <a:solidFill>
                  <a:srgbClr val="000000"/>
                </a:solidFill>
                <a:effectLst/>
                <a:uLnTx/>
                <a:uFillTx/>
              </a:rPr>
              <a:t>r</a:t>
            </a:r>
            <a:r>
              <a:rPr kumimoji="1" lang="en-US" altLang="zh-CN" sz="1800" b="0" u="none" strike="noStrike" kern="0" cap="none" spc="0" normalizeH="0" baseline="-25000" noProof="0" dirty="0" err="1">
                <a:ln>
                  <a:noFill/>
                </a:ln>
                <a:solidFill>
                  <a:srgbClr val="000000"/>
                </a:solidFill>
                <a:effectLst/>
                <a:uLnTx/>
                <a:uFillTx/>
              </a:rPr>
              <a:t>i</a:t>
            </a:r>
            <a:endParaRPr kumimoji="1" lang="en-US" altLang="zh-CN" sz="1800" b="0" u="none" strike="noStrike" kern="0" cap="none" spc="0" normalizeH="0" baseline="-25000" noProof="0" dirty="0">
              <a:ln>
                <a:noFill/>
              </a:ln>
              <a:solidFill>
                <a:srgbClr val="000000"/>
              </a:solidFill>
              <a:effectLst/>
              <a:uLnTx/>
              <a:uFillTx/>
              <a:ea typeface="黑体" panose="02010609060101010101" pitchFamily="49" charset="-122"/>
            </a:endParaRPr>
          </a:p>
        </p:txBody>
      </p:sp>
      <p:sp>
        <p:nvSpPr>
          <p:cNvPr id="44" name="Oval 16">
            <a:extLst>
              <a:ext uri="{FF2B5EF4-FFF2-40B4-BE49-F238E27FC236}">
                <a16:creationId xmlns:a16="http://schemas.microsoft.com/office/drawing/2014/main" id="{54A984F9-AD58-48FD-D979-5CD5B4FDEE0E}"/>
              </a:ext>
            </a:extLst>
          </p:cNvPr>
          <p:cNvSpPr>
            <a:spLocks noChangeArrowheads="1"/>
          </p:cNvSpPr>
          <p:nvPr/>
        </p:nvSpPr>
        <p:spPr bwMode="auto">
          <a:xfrm>
            <a:off x="10617696" y="3395146"/>
            <a:ext cx="88900" cy="88900"/>
          </a:xfrm>
          <a:prstGeom prst="ellipse">
            <a:avLst/>
          </a:prstGeom>
          <a:solidFill>
            <a:srgbClr val="FF000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46" name="Line 20">
            <a:extLst>
              <a:ext uri="{FF2B5EF4-FFF2-40B4-BE49-F238E27FC236}">
                <a16:creationId xmlns:a16="http://schemas.microsoft.com/office/drawing/2014/main" id="{DC3315C1-9DCF-52B5-36C9-A8D3A10773E6}"/>
              </a:ext>
            </a:extLst>
          </p:cNvPr>
          <p:cNvSpPr>
            <a:spLocks noChangeShapeType="1"/>
          </p:cNvSpPr>
          <p:nvPr/>
        </p:nvSpPr>
        <p:spPr bwMode="auto">
          <a:xfrm rot="5400000" flipH="1" flipV="1">
            <a:off x="10878839" y="3011765"/>
            <a:ext cx="238125" cy="598488"/>
          </a:xfrm>
          <a:prstGeom prst="line">
            <a:avLst/>
          </a:prstGeom>
          <a:noFill/>
          <a:ln w="28575">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kumimoji="1" lang="zh-CN" altLang="en-US" b="0" i="0">
              <a:solidFill>
                <a:srgbClr val="FFFFFF"/>
              </a:solidFill>
              <a:ea typeface="黑体" panose="02010609060101010101" pitchFamily="49" charset="-122"/>
            </a:endParaRPr>
          </a:p>
        </p:txBody>
      </p:sp>
      <p:sp>
        <p:nvSpPr>
          <p:cNvPr id="47" name="Text Box 21">
            <a:extLst>
              <a:ext uri="{FF2B5EF4-FFF2-40B4-BE49-F238E27FC236}">
                <a16:creationId xmlns:a16="http://schemas.microsoft.com/office/drawing/2014/main" id="{9A11F39B-13E6-DE32-D761-19FE1D41C459}"/>
              </a:ext>
            </a:extLst>
          </p:cNvPr>
          <p:cNvSpPr txBox="1">
            <a:spLocks noChangeArrowheads="1"/>
          </p:cNvSpPr>
          <p:nvPr/>
        </p:nvSpPr>
        <p:spPr bwMode="auto">
          <a:xfrm>
            <a:off x="10855821" y="2704584"/>
            <a:ext cx="868362"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kumimoji="1" lang="en-US" altLang="zh-CN" sz="2800" b="0" dirty="0" err="1">
                <a:solidFill>
                  <a:srgbClr val="FF0000"/>
                </a:solidFill>
                <a:ea typeface="黑体" panose="02010609060101010101" pitchFamily="49" charset="-122"/>
                <a:cs typeface="Times New Roman" panose="02020603050405020304" pitchFamily="18" charset="0"/>
              </a:rPr>
              <a:t>m</a:t>
            </a:r>
            <a:r>
              <a:rPr kumimoji="1" lang="en-US" altLang="zh-CN" sz="2800" b="0" baseline="-25000" dirty="0" err="1">
                <a:solidFill>
                  <a:srgbClr val="FF0000"/>
                </a:solidFill>
                <a:ea typeface="黑体" panose="02010609060101010101" pitchFamily="49" charset="-122"/>
                <a:cs typeface="Times New Roman" panose="02020603050405020304" pitchFamily="18" charset="0"/>
              </a:rPr>
              <a:t>i</a:t>
            </a:r>
            <a:r>
              <a:rPr kumimoji="1" lang="en-US" altLang="zh-CN" sz="2800" dirty="0" err="1">
                <a:solidFill>
                  <a:srgbClr val="FF0000"/>
                </a:solidFill>
                <a:latin typeface="+mn-lt"/>
                <a:ea typeface="黑体" panose="02010609060101010101" pitchFamily="49" charset="-122"/>
                <a:cs typeface="Times New Roman" panose="02020603050405020304" pitchFamily="18" charset="0"/>
              </a:rPr>
              <a:t>v</a:t>
            </a:r>
            <a:r>
              <a:rPr kumimoji="1" lang="en-US" altLang="zh-CN" sz="2800" b="0" baseline="-25000" dirty="0" err="1">
                <a:solidFill>
                  <a:srgbClr val="FF0000"/>
                </a:solidFill>
                <a:ea typeface="黑体" panose="02010609060101010101" pitchFamily="49" charset="-122"/>
                <a:cs typeface="Times New Roman" panose="02020603050405020304" pitchFamily="18" charset="0"/>
              </a:rPr>
              <a:t>i</a:t>
            </a:r>
            <a:endParaRPr kumimoji="1" lang="en-US" altLang="zh-CN" sz="2800" b="0" baseline="-25000" dirty="0">
              <a:solidFill>
                <a:srgbClr val="FF0000"/>
              </a:solidFill>
              <a:ea typeface="黑体" panose="02010609060101010101" pitchFamily="49" charset="-122"/>
              <a:cs typeface="Times New Roman" panose="02020603050405020304" pitchFamily="18" charset="0"/>
            </a:endParaRPr>
          </a:p>
        </p:txBody>
      </p:sp>
      <p:sp>
        <p:nvSpPr>
          <p:cNvPr id="48" name="Text Box 19">
            <a:extLst>
              <a:ext uri="{FF2B5EF4-FFF2-40B4-BE49-F238E27FC236}">
                <a16:creationId xmlns:a16="http://schemas.microsoft.com/office/drawing/2014/main" id="{D041CC4C-B314-0CA2-D4BA-CEFB9597FC71}"/>
              </a:ext>
            </a:extLst>
          </p:cNvPr>
          <p:cNvSpPr txBox="1">
            <a:spLocks noChangeAspect="1" noChangeArrowheads="1"/>
          </p:cNvSpPr>
          <p:nvPr/>
        </p:nvSpPr>
        <p:spPr bwMode="auto">
          <a:xfrm>
            <a:off x="10377983" y="3374509"/>
            <a:ext cx="533400" cy="49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b="0" u="none" strike="noStrike" kern="0" cap="none" spc="0" normalizeH="0" baseline="0" noProof="0" dirty="0">
                <a:ln>
                  <a:noFill/>
                </a:ln>
                <a:solidFill>
                  <a:srgbClr val="000000"/>
                </a:solidFill>
                <a:effectLst/>
                <a:uLnTx/>
                <a:uFillTx/>
              </a:rPr>
              <a:t>M</a:t>
            </a:r>
            <a:r>
              <a:rPr kumimoji="1" lang="en-US" altLang="zh-CN" b="0" u="none" strike="noStrike" kern="0" cap="none" spc="0" normalizeH="0" baseline="-25000" noProof="0" dirty="0">
                <a:ln>
                  <a:noFill/>
                </a:ln>
                <a:solidFill>
                  <a:srgbClr val="000000"/>
                </a:solidFill>
                <a:effectLst/>
                <a:uLnTx/>
                <a:uFillTx/>
              </a:rPr>
              <a:t>i</a:t>
            </a:r>
            <a:endParaRPr kumimoji="1" lang="en-US" altLang="zh-CN" b="0" u="none" strike="noStrike" kern="0" cap="none" spc="0" normalizeH="0" baseline="-25000" noProof="0" dirty="0">
              <a:ln>
                <a:noFill/>
              </a:ln>
              <a:solidFill>
                <a:srgbClr val="000000"/>
              </a:solidFill>
              <a:effectLst/>
              <a:uLnTx/>
              <a:uFillTx/>
              <a:ea typeface="黑体" panose="02010609060101010101" pitchFamily="49" charset="-122"/>
            </a:endParaRPr>
          </a:p>
        </p:txBody>
      </p:sp>
      <p:sp>
        <p:nvSpPr>
          <p:cNvPr id="49" name="Arc 11">
            <a:extLst>
              <a:ext uri="{FF2B5EF4-FFF2-40B4-BE49-F238E27FC236}">
                <a16:creationId xmlns:a16="http://schemas.microsoft.com/office/drawing/2014/main" id="{7935A29E-BB1F-5E17-C172-3277C3EB1B14}"/>
              </a:ext>
            </a:extLst>
          </p:cNvPr>
          <p:cNvSpPr>
            <a:spLocks noChangeAspect="1"/>
          </p:cNvSpPr>
          <p:nvPr/>
        </p:nvSpPr>
        <p:spPr bwMode="auto">
          <a:xfrm rot="662529" flipV="1">
            <a:off x="9898558" y="1828284"/>
            <a:ext cx="595313" cy="465137"/>
          </a:xfrm>
          <a:custGeom>
            <a:avLst/>
            <a:gdLst>
              <a:gd name="G0" fmla="+- 8450 0 0"/>
              <a:gd name="G1" fmla="+- 21600 0 0"/>
              <a:gd name="G2" fmla="+- 21600 0 0"/>
              <a:gd name="T0" fmla="*/ 0 w 27703"/>
              <a:gd name="T1" fmla="*/ 1722 h 21600"/>
              <a:gd name="T2" fmla="*/ 27703 w 27703"/>
              <a:gd name="T3" fmla="*/ 11808 h 21600"/>
              <a:gd name="T4" fmla="*/ 8450 w 27703"/>
              <a:gd name="T5" fmla="*/ 21600 h 21600"/>
            </a:gdLst>
            <a:ahLst/>
            <a:cxnLst>
              <a:cxn ang="0">
                <a:pos x="T0" y="T1"/>
              </a:cxn>
              <a:cxn ang="0">
                <a:pos x="T2" y="T3"/>
              </a:cxn>
              <a:cxn ang="0">
                <a:pos x="T4" y="T5"/>
              </a:cxn>
            </a:cxnLst>
            <a:rect l="0" t="0" r="r" b="b"/>
            <a:pathLst>
              <a:path w="27703" h="21600" fill="none" extrusionOk="0">
                <a:moveTo>
                  <a:pt x="-1" y="1721"/>
                </a:moveTo>
                <a:cubicBezTo>
                  <a:pt x="2672" y="585"/>
                  <a:pt x="5546" y="0"/>
                  <a:pt x="8450" y="0"/>
                </a:cubicBezTo>
                <a:cubicBezTo>
                  <a:pt x="16578" y="0"/>
                  <a:pt x="24018" y="4563"/>
                  <a:pt x="27702" y="11808"/>
                </a:cubicBezTo>
              </a:path>
              <a:path w="27703" h="21600" stroke="0" extrusionOk="0">
                <a:moveTo>
                  <a:pt x="-1" y="1721"/>
                </a:moveTo>
                <a:cubicBezTo>
                  <a:pt x="2672" y="585"/>
                  <a:pt x="5546" y="0"/>
                  <a:pt x="8450" y="0"/>
                </a:cubicBezTo>
                <a:cubicBezTo>
                  <a:pt x="16578" y="0"/>
                  <a:pt x="24018" y="4563"/>
                  <a:pt x="27702" y="11808"/>
                </a:cubicBezTo>
                <a:lnTo>
                  <a:pt x="8450" y="21600"/>
                </a:lnTo>
                <a:close/>
              </a:path>
            </a:pathLst>
          </a:custGeom>
          <a:noFill/>
          <a:ln w="28575">
            <a:solidFill>
              <a:schemeClr val="tx1"/>
            </a:solidFill>
            <a:round/>
            <a:headEnd/>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50" name="Text Box 15">
            <a:extLst>
              <a:ext uri="{FF2B5EF4-FFF2-40B4-BE49-F238E27FC236}">
                <a16:creationId xmlns:a16="http://schemas.microsoft.com/office/drawing/2014/main" id="{AF40F514-0047-727D-B261-2642D9CAD9B5}"/>
              </a:ext>
            </a:extLst>
          </p:cNvPr>
          <p:cNvSpPr txBox="1">
            <a:spLocks noChangeAspect="1" noChangeArrowheads="1"/>
          </p:cNvSpPr>
          <p:nvPr/>
        </p:nvSpPr>
        <p:spPr bwMode="auto">
          <a:xfrm>
            <a:off x="10266858" y="2060059"/>
            <a:ext cx="533400" cy="49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000" b="0" u="none" strike="noStrike" kern="0" cap="none" spc="0" normalizeH="0" baseline="0" noProof="0" dirty="0">
                <a:ln>
                  <a:noFill/>
                </a:ln>
                <a:solidFill>
                  <a:schemeClr val="tx1"/>
                </a:solidFill>
                <a:effectLst/>
                <a:uLnTx/>
                <a:uFillTx/>
                <a:sym typeface="Symbol" panose="05050102010706020507" pitchFamily="18" charset="2"/>
              </a:rPr>
              <a:t></a:t>
            </a:r>
            <a:endParaRPr kumimoji="1" lang="en-US" altLang="zh-CN" sz="2000" b="0" u="none" strike="noStrike" kern="0" cap="none" spc="0" normalizeH="0" baseline="0" noProof="0" dirty="0">
              <a:ln>
                <a:noFill/>
              </a:ln>
              <a:solidFill>
                <a:schemeClr val="tx1"/>
              </a:solidFill>
              <a:effectLst/>
              <a:uLnTx/>
              <a:uFillTx/>
              <a:ea typeface="黑体" panose="02010609060101010101" pitchFamily="49" charset="-122"/>
              <a:sym typeface="Symbol" panose="05050102010706020507" pitchFamily="18" charset="2"/>
            </a:endParaRPr>
          </a:p>
        </p:txBody>
      </p:sp>
      <p:sp>
        <p:nvSpPr>
          <p:cNvPr id="3" name="Line 12">
            <a:extLst>
              <a:ext uri="{FF2B5EF4-FFF2-40B4-BE49-F238E27FC236}">
                <a16:creationId xmlns:a16="http://schemas.microsoft.com/office/drawing/2014/main" id="{6F758A13-366A-E723-CD80-B85A3B9E6C31}"/>
              </a:ext>
            </a:extLst>
          </p:cNvPr>
          <p:cNvSpPr>
            <a:spLocks noChangeShapeType="1"/>
          </p:cNvSpPr>
          <p:nvPr/>
        </p:nvSpPr>
        <p:spPr bwMode="auto">
          <a:xfrm flipV="1">
            <a:off x="10220821" y="1305996"/>
            <a:ext cx="0" cy="3587750"/>
          </a:xfrm>
          <a:prstGeom prst="line">
            <a:avLst/>
          </a:prstGeom>
          <a:noFill/>
          <a:ln w="3810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dirty="0">
              <a:ln>
                <a:noFill/>
              </a:ln>
              <a:solidFill>
                <a:srgbClr val="FFFFFF"/>
              </a:solidFill>
              <a:effectLst/>
              <a:uLnTx/>
              <a:uFillTx/>
              <a:ea typeface="黑体" panose="02010609060101010101" pitchFamily="49" charset="-122"/>
            </a:endParaRPr>
          </a:p>
        </p:txBody>
      </p:sp>
      <p:sp>
        <p:nvSpPr>
          <p:cNvPr id="45" name="Line 17">
            <a:extLst>
              <a:ext uri="{FF2B5EF4-FFF2-40B4-BE49-F238E27FC236}">
                <a16:creationId xmlns:a16="http://schemas.microsoft.com/office/drawing/2014/main" id="{26E49A3F-21B5-015A-741E-68DB926F73B1}"/>
              </a:ext>
            </a:extLst>
          </p:cNvPr>
          <p:cNvSpPr>
            <a:spLocks noChangeShapeType="1"/>
          </p:cNvSpPr>
          <p:nvPr/>
        </p:nvSpPr>
        <p:spPr bwMode="auto">
          <a:xfrm>
            <a:off x="10238283" y="3295134"/>
            <a:ext cx="373063" cy="122237"/>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51" name="Text Box 1032">
            <a:extLst>
              <a:ext uri="{FF2B5EF4-FFF2-40B4-BE49-F238E27FC236}">
                <a16:creationId xmlns:a16="http://schemas.microsoft.com/office/drawing/2014/main" id="{04472444-929D-B4BF-B1C2-7BE337407CD7}"/>
              </a:ext>
            </a:extLst>
          </p:cNvPr>
          <p:cNvSpPr txBox="1">
            <a:spLocks noChangeArrowheads="1"/>
          </p:cNvSpPr>
          <p:nvPr/>
        </p:nvSpPr>
        <p:spPr bwMode="auto">
          <a:xfrm>
            <a:off x="570415" y="3016737"/>
            <a:ext cx="7655661" cy="2720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20000"/>
              </a:lnSpc>
            </a:pPr>
            <a:r>
              <a:rPr kumimoji="1" lang="zh-CN" altLang="en-US" sz="2800" i="0" dirty="0">
                <a:latin typeface="+mj-lt"/>
                <a:ea typeface="微软雅黑" panose="020B0503020204020204" pitchFamily="34" charset="-122"/>
              </a:rPr>
              <a:t>工程中，常需计算作定轴转动的刚体对固定轴的动量矩。设刚体以匀角速度</a:t>
            </a:r>
            <a:r>
              <a:rPr kumimoji="1" lang="zh-CN" altLang="en-US" sz="2800" b="0" dirty="0">
                <a:latin typeface="+mj-lt"/>
                <a:ea typeface="微软雅黑" panose="020B0503020204020204" pitchFamily="34" charset="-122"/>
                <a:sym typeface="Symbol" panose="05050102010706020507" pitchFamily="18" charset="2"/>
              </a:rPr>
              <a:t> </a:t>
            </a:r>
            <a:r>
              <a:rPr kumimoji="1" lang="zh-CN" altLang="en-US" sz="2800" i="0" dirty="0">
                <a:latin typeface="+mj-lt"/>
                <a:ea typeface="微软雅黑" panose="020B0503020204020204" pitchFamily="34" charset="-122"/>
              </a:rPr>
              <a:t>绕定轴转动，在刚体内任取一点</a:t>
            </a:r>
            <a:r>
              <a:rPr kumimoji="1" lang="en-US" altLang="zh-CN" sz="2800" b="0" dirty="0">
                <a:latin typeface="+mj-lt"/>
                <a:ea typeface="微软雅黑" panose="020B0503020204020204" pitchFamily="34" charset="-122"/>
              </a:rPr>
              <a:t>M</a:t>
            </a:r>
            <a:r>
              <a:rPr kumimoji="1" lang="en-US" altLang="zh-CN" sz="2800" b="0" baseline="-25000" dirty="0">
                <a:latin typeface="+mj-lt"/>
                <a:ea typeface="微软雅黑" panose="020B0503020204020204" pitchFamily="34" charset="-122"/>
              </a:rPr>
              <a:t>i</a:t>
            </a:r>
            <a:r>
              <a:rPr kumimoji="1" lang="zh-CN" altLang="en-US" sz="2800" i="0" dirty="0">
                <a:latin typeface="+mj-lt"/>
                <a:ea typeface="微软雅黑" panose="020B0503020204020204" pitchFamily="34" charset="-122"/>
              </a:rPr>
              <a:t>，质量为 </a:t>
            </a:r>
            <a:r>
              <a:rPr kumimoji="1" lang="en-US" altLang="zh-CN" sz="2800" b="0" dirty="0">
                <a:latin typeface="+mj-lt"/>
                <a:ea typeface="微软雅黑" panose="020B0503020204020204" pitchFamily="34" charset="-122"/>
              </a:rPr>
              <a:t>m</a:t>
            </a:r>
            <a:r>
              <a:rPr kumimoji="1" lang="en-US" altLang="zh-CN" sz="2800" b="0" baseline="-25000" dirty="0">
                <a:latin typeface="+mj-lt"/>
                <a:ea typeface="微软雅黑" panose="020B0503020204020204" pitchFamily="34" charset="-122"/>
              </a:rPr>
              <a:t>i</a:t>
            </a:r>
            <a:r>
              <a:rPr kumimoji="1" lang="zh-CN" altLang="en-US" sz="2800" i="0" dirty="0">
                <a:latin typeface="微软雅黑" panose="020B0503020204020204" pitchFamily="34" charset="-122"/>
                <a:ea typeface="微软雅黑" panose="020B0503020204020204" pitchFamily="34" charset="-122"/>
              </a:rPr>
              <a:t>，</a:t>
            </a:r>
            <a:r>
              <a:rPr lang="zh-CN" altLang="en-US" sz="2800" i="0" dirty="0">
                <a:latin typeface="微软雅黑" panose="020B0503020204020204" pitchFamily="34" charset="-122"/>
                <a:ea typeface="微软雅黑" panose="020B0503020204020204" pitchFamily="34" charset="-122"/>
              </a:rPr>
              <a:t>至</a:t>
            </a:r>
            <a:r>
              <a:rPr lang="zh-CN" altLang="en-US" sz="2800" i="0" dirty="0">
                <a:latin typeface="+mj-lt"/>
                <a:ea typeface="微软雅黑" panose="020B0503020204020204" pitchFamily="34" charset="-122"/>
              </a:rPr>
              <a:t>轴 </a:t>
            </a:r>
            <a:r>
              <a:rPr lang="en-US" altLang="zh-CN" sz="2800" b="0" dirty="0">
                <a:latin typeface="+mj-lt"/>
                <a:ea typeface="微软雅黑" panose="020B0503020204020204" pitchFamily="34" charset="-122"/>
              </a:rPr>
              <a:t>z</a:t>
            </a:r>
            <a:r>
              <a:rPr lang="zh-CN" altLang="en-US" sz="2800" i="0" dirty="0">
                <a:latin typeface="+mj-lt"/>
                <a:ea typeface="微软雅黑" panose="020B0503020204020204" pitchFamily="34" charset="-122"/>
              </a:rPr>
              <a:t>的距离为</a:t>
            </a:r>
            <a:r>
              <a:rPr lang="en-US" altLang="zh-CN" sz="2800" b="0" dirty="0" err="1">
                <a:latin typeface="+mj-lt"/>
                <a:ea typeface="微软雅黑" panose="020B0503020204020204" pitchFamily="34" charset="-122"/>
              </a:rPr>
              <a:t>r</a:t>
            </a:r>
            <a:r>
              <a:rPr lang="en-US" altLang="zh-CN" sz="2800" b="0" baseline="-25000" dirty="0" err="1">
                <a:latin typeface="+mj-lt"/>
                <a:ea typeface="微软雅黑" panose="020B0503020204020204" pitchFamily="34" charset="-122"/>
              </a:rPr>
              <a:t>i</a:t>
            </a:r>
            <a:r>
              <a:rPr lang="zh-CN" altLang="en-US" sz="2800" i="0" dirty="0">
                <a:latin typeface="+mj-lt"/>
                <a:ea typeface="微软雅黑" panose="020B0503020204020204" pitchFamily="34" charset="-122"/>
              </a:rPr>
              <a:t>，速度</a:t>
            </a:r>
            <a:r>
              <a:rPr lang="en-US" altLang="zh-CN" sz="2800" dirty="0">
                <a:latin typeface="+mj-lt"/>
                <a:ea typeface="微软雅黑" panose="020B0503020204020204" pitchFamily="34" charset="-122"/>
              </a:rPr>
              <a:t>v</a:t>
            </a:r>
            <a:r>
              <a:rPr lang="en-US" altLang="zh-CN" sz="2800" b="0" baseline="-25000" dirty="0">
                <a:latin typeface="+mj-lt"/>
                <a:ea typeface="微软雅黑" panose="020B0503020204020204" pitchFamily="34" charset="-122"/>
              </a:rPr>
              <a:t>i</a:t>
            </a:r>
            <a:r>
              <a:rPr lang="zh-CN" altLang="en-US" sz="2800" i="0" dirty="0">
                <a:latin typeface="+mj-lt"/>
                <a:ea typeface="微软雅黑" panose="020B0503020204020204" pitchFamily="34" charset="-122"/>
              </a:rPr>
              <a:t>的大小为</a:t>
            </a:r>
            <a:r>
              <a:rPr lang="en-US" altLang="zh-CN" sz="2800" b="0" dirty="0" err="1">
                <a:latin typeface="+mj-lt"/>
                <a:ea typeface="微软雅黑" panose="020B0503020204020204" pitchFamily="34" charset="-122"/>
              </a:rPr>
              <a:t>r</a:t>
            </a:r>
            <a:r>
              <a:rPr lang="en-US" altLang="zh-CN" sz="2800" b="0" baseline="-25000" dirty="0" err="1">
                <a:latin typeface="+mj-lt"/>
                <a:ea typeface="微软雅黑" panose="020B0503020204020204" pitchFamily="34" charset="-122"/>
              </a:rPr>
              <a:t>i</a:t>
            </a:r>
            <a:r>
              <a:rPr lang="en-US" altLang="zh-CN" sz="2800" b="0" dirty="0">
                <a:latin typeface="+mj-lt"/>
                <a:ea typeface="微软雅黑" panose="020B0503020204020204" pitchFamily="34" charset="-122"/>
                <a:sym typeface="Symbol" panose="05050102010706020507" pitchFamily="18" charset="2"/>
              </a:rPr>
              <a:t></a:t>
            </a:r>
            <a:r>
              <a:rPr lang="zh-CN" altLang="en-US" sz="2800" i="0" dirty="0">
                <a:latin typeface="+mj-lt"/>
                <a:ea typeface="微软雅黑" panose="020B0503020204020204" pitchFamily="34" charset="-122"/>
              </a:rPr>
              <a:t>，对转轴 </a:t>
            </a:r>
            <a:r>
              <a:rPr lang="en-US" altLang="zh-CN" sz="2800" b="0" dirty="0">
                <a:latin typeface="+mj-lt"/>
                <a:ea typeface="微软雅黑" panose="020B0503020204020204" pitchFamily="34" charset="-122"/>
              </a:rPr>
              <a:t>z </a:t>
            </a:r>
            <a:r>
              <a:rPr lang="zh-CN" altLang="en-US" sz="2800" i="0" dirty="0">
                <a:latin typeface="+mj-lt"/>
                <a:ea typeface="微软雅黑" panose="020B0503020204020204" pitchFamily="34" charset="-122"/>
              </a:rPr>
              <a:t>的动量矩为</a:t>
            </a:r>
            <a:endParaRPr lang="en-US" altLang="zh-CN" sz="2800" i="0" dirty="0">
              <a:latin typeface="+mj-lt"/>
              <a:ea typeface="微软雅黑" panose="020B0503020204020204" pitchFamily="34" charset="-122"/>
            </a:endParaRPr>
          </a:p>
          <a:p>
            <a:pPr>
              <a:lnSpc>
                <a:spcPct val="130000"/>
              </a:lnSpc>
            </a:pPr>
            <a:r>
              <a:rPr lang="en-US" altLang="zh-CN" sz="2800" b="0" dirty="0" smtClean="0"/>
              <a:t>            </a:t>
            </a:r>
            <a:r>
              <a:rPr lang="en-US" altLang="zh-CN" sz="2800" b="0" dirty="0" err="1" smtClean="0"/>
              <a:t>M</a:t>
            </a:r>
            <a:r>
              <a:rPr lang="en-US" altLang="zh-CN" sz="2800" b="0" baseline="-25000" dirty="0" err="1" smtClean="0"/>
              <a:t>z</a:t>
            </a:r>
            <a:r>
              <a:rPr lang="en-US" altLang="zh-CN" sz="2800" b="0" i="0" dirty="0" smtClean="0"/>
              <a:t>(</a:t>
            </a:r>
            <a:r>
              <a:rPr lang="en-US" altLang="zh-CN" sz="2800" b="0" dirty="0" err="1" smtClean="0"/>
              <a:t>m</a:t>
            </a:r>
            <a:r>
              <a:rPr lang="en-US" altLang="zh-CN" sz="2800" b="0" baseline="-25000" dirty="0" err="1" smtClean="0"/>
              <a:t>i</a:t>
            </a:r>
            <a:r>
              <a:rPr lang="en-US" altLang="zh-CN" sz="2800" dirty="0" err="1" smtClean="0">
                <a:latin typeface="+mn-lt"/>
              </a:rPr>
              <a:t>v</a:t>
            </a:r>
            <a:r>
              <a:rPr lang="en-US" altLang="zh-CN" sz="2800" b="0" baseline="-25000" dirty="0" err="1" smtClean="0"/>
              <a:t>i</a:t>
            </a:r>
            <a:r>
              <a:rPr lang="en-US" altLang="zh-CN" sz="2800" b="0" i="0" dirty="0"/>
              <a:t>)</a:t>
            </a:r>
            <a:r>
              <a:rPr lang="en-US" altLang="zh-CN" sz="2800" b="0" dirty="0"/>
              <a:t>= </a:t>
            </a:r>
            <a:r>
              <a:rPr lang="en-US" altLang="zh-CN" sz="2800" b="0" dirty="0" err="1"/>
              <a:t>m</a:t>
            </a:r>
            <a:r>
              <a:rPr lang="en-US" altLang="zh-CN" sz="2800" b="0" baseline="-25000" dirty="0" err="1"/>
              <a:t>i</a:t>
            </a:r>
            <a:r>
              <a:rPr lang="en-US" altLang="zh-CN" sz="2800" dirty="0" err="1">
                <a:latin typeface="+mn-lt"/>
              </a:rPr>
              <a:t>v</a:t>
            </a:r>
            <a:r>
              <a:rPr lang="en-US" altLang="zh-CN" sz="2800" b="0" baseline="-25000" dirty="0" err="1"/>
              <a:t>i</a:t>
            </a:r>
            <a:r>
              <a:rPr lang="en-US" altLang="zh-CN" sz="2800" b="0" dirty="0" err="1"/>
              <a:t>r</a:t>
            </a:r>
            <a:r>
              <a:rPr lang="en-US" altLang="zh-CN" sz="2800" b="0" baseline="-25000" dirty="0" err="1"/>
              <a:t>i</a:t>
            </a:r>
            <a:r>
              <a:rPr lang="en-US" altLang="zh-CN" sz="2800" b="0" dirty="0"/>
              <a:t>= m</a:t>
            </a:r>
            <a:r>
              <a:rPr lang="en-US" altLang="zh-CN" sz="2800" b="0" baseline="-25000" dirty="0"/>
              <a:t>i</a:t>
            </a:r>
            <a:r>
              <a:rPr lang="en-US" altLang="zh-CN" sz="2800" b="0" dirty="0"/>
              <a:t>r</a:t>
            </a:r>
            <a:r>
              <a:rPr lang="en-US" altLang="zh-CN" sz="2800" b="0" baseline="-25000" dirty="0"/>
              <a:t>i</a:t>
            </a:r>
            <a:r>
              <a:rPr lang="en-US" altLang="zh-CN" sz="2800" b="0" i="0" baseline="30000" dirty="0"/>
              <a:t>2</a:t>
            </a:r>
            <a:r>
              <a:rPr lang="en-US" altLang="zh-CN" sz="2800" b="0" dirty="0">
                <a:sym typeface="Symbol" panose="05050102010706020507" pitchFamily="18" charset="2"/>
              </a:rPr>
              <a:t></a:t>
            </a:r>
            <a:endParaRPr kumimoji="1" lang="zh-CN" altLang="en-US" sz="2800" b="0" i="0" dirty="0">
              <a:latin typeface="+mj-lt"/>
              <a:ea typeface="微软雅黑" panose="020B0503020204020204" pitchFamily="34" charset="-122"/>
            </a:endParaRPr>
          </a:p>
        </p:txBody>
      </p:sp>
      <p:sp>
        <p:nvSpPr>
          <p:cNvPr id="54" name="文本框 53">
            <a:extLst>
              <a:ext uri="{FF2B5EF4-FFF2-40B4-BE49-F238E27FC236}">
                <a16:creationId xmlns:a16="http://schemas.microsoft.com/office/drawing/2014/main" id="{373EB776-579F-F35C-1C7D-ADBB95C89148}"/>
              </a:ext>
            </a:extLst>
          </p:cNvPr>
          <p:cNvSpPr txBox="1"/>
          <p:nvPr/>
        </p:nvSpPr>
        <p:spPr>
          <a:xfrm>
            <a:off x="1631504" y="5724422"/>
            <a:ext cx="4588527" cy="523220"/>
          </a:xfrm>
          <a:prstGeom prst="rect">
            <a:avLst/>
          </a:prstGeom>
          <a:noFill/>
        </p:spPr>
        <p:txBody>
          <a:bodyPr wrap="square">
            <a:spAutoFit/>
          </a:bodyPr>
          <a:lstStyle/>
          <a:p>
            <a:r>
              <a:rPr lang="en-US" altLang="zh-CN" sz="2800" b="0" dirty="0" err="1">
                <a:solidFill>
                  <a:schemeClr val="tx1"/>
                </a:solidFill>
              </a:rPr>
              <a:t>L</a:t>
            </a:r>
            <a:r>
              <a:rPr lang="en-US" altLang="zh-CN" sz="2800" b="0" baseline="-25000" dirty="0" err="1">
                <a:solidFill>
                  <a:schemeClr val="tx1"/>
                </a:solidFill>
              </a:rPr>
              <a:t>z</a:t>
            </a:r>
            <a:r>
              <a:rPr lang="en-US" altLang="zh-CN" sz="2800" b="0" dirty="0">
                <a:solidFill>
                  <a:schemeClr val="tx1"/>
                </a:solidFill>
              </a:rPr>
              <a:t>=∑</a:t>
            </a:r>
            <a:r>
              <a:rPr lang="en-US" altLang="zh-CN" sz="2800" b="0" dirty="0" err="1">
                <a:solidFill>
                  <a:schemeClr val="tx1"/>
                </a:solidFill>
              </a:rPr>
              <a:t>M</a:t>
            </a:r>
            <a:r>
              <a:rPr lang="en-US" altLang="zh-CN" sz="2800" b="0" baseline="-25000" dirty="0" err="1">
                <a:solidFill>
                  <a:schemeClr val="tx1"/>
                </a:solidFill>
              </a:rPr>
              <a:t>z</a:t>
            </a:r>
            <a:r>
              <a:rPr lang="en-US" altLang="zh-CN" sz="2800" b="0" i="0" dirty="0">
                <a:solidFill>
                  <a:schemeClr val="tx1"/>
                </a:solidFill>
              </a:rPr>
              <a:t>(</a:t>
            </a:r>
            <a:r>
              <a:rPr lang="en-US" altLang="zh-CN" sz="2800" b="0" dirty="0" err="1">
                <a:solidFill>
                  <a:schemeClr val="tx1"/>
                </a:solidFill>
              </a:rPr>
              <a:t>m</a:t>
            </a:r>
            <a:r>
              <a:rPr lang="en-US" altLang="zh-CN" sz="2800" b="0" baseline="-25000" dirty="0" err="1">
                <a:solidFill>
                  <a:schemeClr val="tx1"/>
                </a:solidFill>
              </a:rPr>
              <a:t>i</a:t>
            </a:r>
            <a:r>
              <a:rPr lang="en-US" altLang="zh-CN" sz="2800" dirty="0" err="1">
                <a:solidFill>
                  <a:schemeClr val="tx1"/>
                </a:solidFill>
              </a:rPr>
              <a:t>v</a:t>
            </a:r>
            <a:r>
              <a:rPr lang="en-US" altLang="zh-CN" sz="2800" b="0" baseline="-25000" dirty="0" err="1">
                <a:solidFill>
                  <a:schemeClr val="tx1"/>
                </a:solidFill>
              </a:rPr>
              <a:t>i</a:t>
            </a:r>
            <a:r>
              <a:rPr lang="en-US" altLang="zh-CN" sz="2800" b="0" i="0" dirty="0">
                <a:solidFill>
                  <a:schemeClr val="tx1"/>
                </a:solidFill>
              </a:rPr>
              <a:t>)</a:t>
            </a:r>
            <a:r>
              <a:rPr lang="en-US" altLang="zh-CN" sz="2800" b="0" i="1" dirty="0">
                <a:solidFill>
                  <a:schemeClr val="tx1"/>
                </a:solidFill>
                <a:sym typeface="Symbol" panose="05050102010706020507" pitchFamily="18" charset="2"/>
              </a:rPr>
              <a:t>=</a:t>
            </a:r>
            <a:r>
              <a:rPr lang="en-US" altLang="zh-CN" sz="2800" b="0" dirty="0">
                <a:solidFill>
                  <a:schemeClr val="tx1"/>
                </a:solidFill>
              </a:rPr>
              <a:t>∑</a:t>
            </a:r>
            <a:r>
              <a:rPr lang="en-US" altLang="zh-CN" sz="2800" b="0" i="1" dirty="0">
                <a:solidFill>
                  <a:schemeClr val="tx1"/>
                </a:solidFill>
              </a:rPr>
              <a:t>m</a:t>
            </a:r>
            <a:r>
              <a:rPr lang="en-US" altLang="zh-CN" sz="2800" b="0" i="1" baseline="-25000" dirty="0">
                <a:solidFill>
                  <a:schemeClr val="tx1"/>
                </a:solidFill>
              </a:rPr>
              <a:t>i</a:t>
            </a:r>
            <a:r>
              <a:rPr lang="en-US" altLang="zh-CN" sz="2800" b="0" i="1" dirty="0">
                <a:solidFill>
                  <a:schemeClr val="tx1"/>
                </a:solidFill>
              </a:rPr>
              <a:t>r</a:t>
            </a:r>
            <a:r>
              <a:rPr lang="en-US" altLang="zh-CN" sz="2800" b="0" i="1" baseline="-25000" dirty="0">
                <a:solidFill>
                  <a:schemeClr val="tx1"/>
                </a:solidFill>
              </a:rPr>
              <a:t>i</a:t>
            </a:r>
            <a:r>
              <a:rPr lang="en-US" altLang="zh-CN" sz="2800" b="0" baseline="30000" dirty="0">
                <a:solidFill>
                  <a:schemeClr val="tx1"/>
                </a:solidFill>
              </a:rPr>
              <a:t>2</a:t>
            </a:r>
            <a:r>
              <a:rPr lang="en-US" altLang="zh-CN" sz="2800" b="0" dirty="0">
                <a:solidFill>
                  <a:schemeClr val="tx1"/>
                </a:solidFill>
              </a:rPr>
              <a:t> =</a:t>
            </a:r>
            <a:r>
              <a:rPr lang="en-US" altLang="zh-CN" sz="2800" b="0" i="1" dirty="0" err="1">
                <a:solidFill>
                  <a:schemeClr val="tx1"/>
                </a:solidFill>
              </a:rPr>
              <a:t>J</a:t>
            </a:r>
            <a:r>
              <a:rPr lang="en-US" altLang="zh-CN" sz="2800" b="0" i="1" baseline="-25000" dirty="0" err="1">
                <a:solidFill>
                  <a:schemeClr val="tx1"/>
                </a:solidFill>
              </a:rPr>
              <a:t>z</a:t>
            </a:r>
            <a:r>
              <a:rPr lang="en-US" altLang="zh-CN" sz="2800" b="0" i="1" dirty="0">
                <a:solidFill>
                  <a:schemeClr val="tx1"/>
                </a:solidFill>
                <a:sym typeface="Symbol" panose="05050102010706020507" pitchFamily="18" charset="2"/>
              </a:rPr>
              <a:t></a:t>
            </a:r>
            <a:r>
              <a:rPr lang="en-US" altLang="zh-CN" sz="2800" b="0" dirty="0">
                <a:solidFill>
                  <a:schemeClr val="tx1"/>
                </a:solidFill>
              </a:rPr>
              <a:t> </a:t>
            </a:r>
            <a:endParaRPr lang="zh-CN" altLang="en-US" sz="2800" b="0" dirty="0">
              <a:solidFill>
                <a:schemeClr val="tx1"/>
              </a:solidFill>
            </a:endParaRPr>
          </a:p>
        </p:txBody>
      </p:sp>
      <p:sp>
        <p:nvSpPr>
          <p:cNvPr id="34" name="Text Box 1032">
            <a:extLst>
              <a:ext uri="{FF2B5EF4-FFF2-40B4-BE49-F238E27FC236}">
                <a16:creationId xmlns:a16="http://schemas.microsoft.com/office/drawing/2014/main" id="{EA8177BA-D033-CB85-F206-EE1A07758988}"/>
              </a:ext>
            </a:extLst>
          </p:cNvPr>
          <p:cNvSpPr txBox="1">
            <a:spLocks noChangeArrowheads="1"/>
          </p:cNvSpPr>
          <p:nvPr/>
        </p:nvSpPr>
        <p:spPr bwMode="auto">
          <a:xfrm>
            <a:off x="6384032" y="5595591"/>
            <a:ext cx="5591411"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50000"/>
              </a:lnSpc>
            </a:pPr>
            <a:r>
              <a:rPr lang="en-US" altLang="zh-CN" sz="2800" b="0" dirty="0" err="1" smtClean="0">
                <a:latin typeface="+mn-lt"/>
                <a:ea typeface="微软雅黑" panose="020B0503020204020204" pitchFamily="34" charset="-122"/>
              </a:rPr>
              <a:t>J</a:t>
            </a:r>
            <a:r>
              <a:rPr lang="en-US" altLang="zh-CN" sz="2800" b="0" baseline="-25000" dirty="0" err="1"/>
              <a:t>z</a:t>
            </a:r>
            <a:r>
              <a:rPr lang="en-US" altLang="zh-CN" sz="2800" b="0" dirty="0" smtClean="0">
                <a:latin typeface="+mn-lt"/>
                <a:ea typeface="微软雅黑" panose="020B0503020204020204" pitchFamily="34" charset="-122"/>
              </a:rPr>
              <a:t>= </a:t>
            </a:r>
            <a:r>
              <a:rPr lang="en-US" altLang="zh-CN" sz="2800" b="0" dirty="0">
                <a:latin typeface="+mn-lt"/>
                <a:ea typeface="微软雅黑" panose="020B0503020204020204" pitchFamily="34" charset="-122"/>
              </a:rPr>
              <a:t>∑m</a:t>
            </a:r>
            <a:r>
              <a:rPr lang="en-US" altLang="zh-CN" sz="2800" b="0" baseline="-25000" dirty="0">
                <a:latin typeface="+mn-lt"/>
                <a:ea typeface="微软雅黑" panose="020B0503020204020204" pitchFamily="34" charset="-122"/>
              </a:rPr>
              <a:t>i</a:t>
            </a:r>
            <a:r>
              <a:rPr lang="en-US" altLang="zh-CN" sz="2800" b="0" dirty="0">
                <a:latin typeface="+mn-lt"/>
                <a:ea typeface="微软雅黑" panose="020B0503020204020204" pitchFamily="34" charset="-122"/>
              </a:rPr>
              <a:t>r</a:t>
            </a:r>
            <a:r>
              <a:rPr lang="en-US" altLang="zh-CN" sz="2800" b="0" baseline="-25000" dirty="0">
                <a:ea typeface="微软雅黑" panose="020B0503020204020204" pitchFamily="34" charset="-122"/>
              </a:rPr>
              <a:t>i</a:t>
            </a:r>
            <a:r>
              <a:rPr lang="en-US" altLang="zh-CN" sz="2800" b="0" i="0" baseline="30000" dirty="0">
                <a:latin typeface="+mn-lt"/>
                <a:ea typeface="微软雅黑" panose="020B0503020204020204" pitchFamily="34" charset="-122"/>
              </a:rPr>
              <a:t>2</a:t>
            </a:r>
            <a:r>
              <a:rPr lang="en-US" altLang="zh-CN" sz="2800" b="0" dirty="0">
                <a:latin typeface="+mn-lt"/>
                <a:ea typeface="微软雅黑" panose="020B0503020204020204" pitchFamily="34" charset="-122"/>
              </a:rPr>
              <a:t>   </a:t>
            </a:r>
            <a:r>
              <a:rPr lang="zh-CN" altLang="en-US" sz="2800" i="0" dirty="0">
                <a:latin typeface="+mn-lt"/>
                <a:ea typeface="微软雅黑" panose="020B0503020204020204" pitchFamily="34" charset="-122"/>
              </a:rPr>
              <a:t>刚体对</a:t>
            </a:r>
            <a:r>
              <a:rPr lang="zh-CN" altLang="en-US" sz="2800" i="0" dirty="0" smtClean="0">
                <a:latin typeface="+mn-lt"/>
                <a:ea typeface="微软雅黑" panose="020B0503020204020204" pitchFamily="34" charset="-122"/>
              </a:rPr>
              <a:t>轴 </a:t>
            </a:r>
            <a:r>
              <a:rPr lang="en-US" altLang="zh-CN" sz="2800" b="0" dirty="0" smtClean="0">
                <a:latin typeface="+mn-lt"/>
                <a:ea typeface="微软雅黑" panose="020B0503020204020204" pitchFamily="34" charset="-122"/>
              </a:rPr>
              <a:t>z </a:t>
            </a:r>
            <a:r>
              <a:rPr lang="zh-CN" altLang="en-US" sz="2800" i="0" dirty="0" smtClean="0">
                <a:latin typeface="+mn-lt"/>
                <a:ea typeface="微软雅黑" panose="020B0503020204020204" pitchFamily="34" charset="-122"/>
              </a:rPr>
              <a:t>的</a:t>
            </a:r>
            <a:r>
              <a:rPr lang="zh-CN" altLang="en-US" sz="2800" i="0" dirty="0">
                <a:solidFill>
                  <a:srgbClr val="FF0000"/>
                </a:solidFill>
                <a:latin typeface="+mn-lt"/>
                <a:ea typeface="微软雅黑" panose="020B0503020204020204" pitchFamily="34" charset="-122"/>
              </a:rPr>
              <a:t>转动惯量</a:t>
            </a:r>
            <a:endParaRPr lang="zh-CN" altLang="en-US" sz="2800" b="0" i="0" dirty="0">
              <a:solidFill>
                <a:srgbClr val="FF0000"/>
              </a:solidFill>
              <a:latin typeface="+mn-lt"/>
              <a:ea typeface="微软雅黑" panose="020B0503020204020204" pitchFamily="34" charset="-122"/>
            </a:endParaRPr>
          </a:p>
        </p:txBody>
      </p:sp>
    </p:spTree>
    <p:extLst>
      <p:ext uri="{BB962C8B-B14F-4D97-AF65-F5344CB8AC3E}">
        <p14:creationId xmlns:p14="http://schemas.microsoft.com/office/powerpoint/2010/main" val="3778484487"/>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52"/>
                                        </p:tgtEl>
                                        <p:attrNameLst>
                                          <p:attrName>style.visibility</p:attrName>
                                        </p:attrNameLst>
                                      </p:cBhvr>
                                      <p:to>
                                        <p:strVal val="visible"/>
                                      </p:to>
                                    </p:set>
                                  </p:childTnLst>
                                </p:cTn>
                              </p:par>
                              <p:par>
                                <p:cTn id="11" presetID="12" presetClass="path" presetSubtype="0" repeatCount="indefinite" fill="hold" nodeType="withEffect">
                                  <p:stCondLst>
                                    <p:cond delay="0"/>
                                  </p:stCondLst>
                                  <p:childTnLst>
                                    <p:animMotion origin="layout" path="M -0.03307 -0.06482 C -0.03372 -0.0794 -0.0237 -0.08912 -0.01354 -0.09676 C -0.00339 -0.1044 0.01042 -0.10926 0.02799 -0.11019 C 0.05391 -0.11019 0.08763 -0.09259 0.09049 -0.0662 C 0.09154 -0.04144 0.05339 -0.025 0.02734 -0.02523 C 0.00169 -0.02523 -0.03151 -0.04306 -0.03307 -0.06482 Z " pathEditMode="relative" rAng="0" ptsTypes="AAAAAA">
                                      <p:cBhvr>
                                        <p:cTn id="12" dur="1000" spd="-100000" fill="hold"/>
                                        <p:tgtEl>
                                          <p:spTgt spid="8"/>
                                        </p:tgtEl>
                                        <p:attrNameLst>
                                          <p:attrName>ppt_x</p:attrName>
                                          <p:attrName>ppt_y</p:attrName>
                                        </p:attrNameLst>
                                      </p:cBhvr>
                                      <p:rCtr x="6172" y="-301"/>
                                    </p:animMotion>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499"/>
                                          </p:stCondLst>
                                        </p:cTn>
                                        <p:tgtEl>
                                          <p:spTgt spid="5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499"/>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utoUpdateAnimBg="0"/>
      <p:bldP spid="51" grpId="0" autoUpdateAnimBg="0"/>
      <p:bldP spid="54" grpId="0"/>
      <p:bldP spid="34" grpId="0"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4653838"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第七章   动力学普遍定理</a:t>
            </a:r>
          </a:p>
        </p:txBody>
      </p:sp>
      <p:sp>
        <p:nvSpPr>
          <p:cNvPr id="52" name="Text Box 1032"/>
          <p:cNvSpPr txBox="1">
            <a:spLocks noChangeArrowheads="1"/>
          </p:cNvSpPr>
          <p:nvPr/>
        </p:nvSpPr>
        <p:spPr bwMode="auto">
          <a:xfrm>
            <a:off x="570416" y="957948"/>
            <a:ext cx="5437825" cy="26336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20000"/>
              </a:lnSpc>
            </a:pPr>
            <a:r>
              <a:rPr lang="zh-CN" altLang="en-US" sz="2800" i="0" dirty="0">
                <a:solidFill>
                  <a:srgbClr val="FF0000"/>
                </a:solidFill>
                <a:latin typeface="微软雅黑" panose="020B0503020204020204" pitchFamily="34" charset="-122"/>
                <a:ea typeface="微软雅黑" panose="020B0503020204020204" pitchFamily="34" charset="-122"/>
              </a:rPr>
              <a:t>质点动量矩定理</a:t>
            </a:r>
            <a:endParaRPr lang="en-US" altLang="zh-CN" sz="2800" i="0" dirty="0">
              <a:solidFill>
                <a:srgbClr val="FF0000"/>
              </a:solidFill>
              <a:latin typeface="微软雅黑" panose="020B0503020204020204" pitchFamily="34" charset="-122"/>
              <a:ea typeface="微软雅黑" panose="020B0503020204020204" pitchFamily="34" charset="-122"/>
            </a:endParaRPr>
          </a:p>
          <a:p>
            <a:pPr algn="just">
              <a:lnSpc>
                <a:spcPct val="120000"/>
              </a:lnSpc>
            </a:pPr>
            <a:r>
              <a:rPr lang="zh-CN" altLang="en-US" sz="2800" i="0" dirty="0">
                <a:latin typeface="+mn-lt"/>
                <a:ea typeface="微软雅黑" panose="020B0503020204020204" pitchFamily="34" charset="-122"/>
              </a:rPr>
              <a:t>设在平面内有一质点</a:t>
            </a:r>
            <a:r>
              <a:rPr lang="en-US" altLang="zh-CN" sz="2800" b="0" dirty="0">
                <a:latin typeface="+mn-lt"/>
                <a:ea typeface="微软雅黑" panose="020B0503020204020204" pitchFamily="34" charset="-122"/>
              </a:rPr>
              <a:t>M</a:t>
            </a:r>
            <a:r>
              <a:rPr lang="zh-CN" altLang="en-US" sz="2800" i="0" dirty="0">
                <a:latin typeface="+mn-lt"/>
                <a:ea typeface="微软雅黑" panose="020B0503020204020204" pitchFamily="34" charset="-122"/>
              </a:rPr>
              <a:t>，此质点绕与平面</a:t>
            </a:r>
            <a:r>
              <a:rPr lang="en-US" altLang="zh-CN" sz="2800" b="0" dirty="0">
                <a:latin typeface="+mn-lt"/>
                <a:ea typeface="微软雅黑" panose="020B0503020204020204" pitchFamily="34" charset="-122"/>
              </a:rPr>
              <a:t>N</a:t>
            </a:r>
            <a:r>
              <a:rPr lang="zh-CN" altLang="en-US" sz="2800" i="0" dirty="0">
                <a:latin typeface="+mn-lt"/>
                <a:ea typeface="微软雅黑" panose="020B0503020204020204" pitchFamily="34" charset="-122"/>
              </a:rPr>
              <a:t>垂直的</a:t>
            </a:r>
            <a:r>
              <a:rPr lang="en-US" altLang="zh-CN" sz="2800" b="0" dirty="0">
                <a:latin typeface="+mn-lt"/>
                <a:ea typeface="微软雅黑" panose="020B0503020204020204" pitchFamily="34" charset="-122"/>
              </a:rPr>
              <a:t>z</a:t>
            </a:r>
            <a:r>
              <a:rPr lang="zh-CN" altLang="en-US" sz="2800" i="0" dirty="0">
                <a:latin typeface="+mn-lt"/>
                <a:ea typeface="微软雅黑" panose="020B0503020204020204" pitchFamily="34" charset="-122"/>
              </a:rPr>
              <a:t>轴作圆周运动。已知质点的质量为</a:t>
            </a:r>
            <a:r>
              <a:rPr lang="en-US" altLang="zh-CN" sz="2800" b="0" dirty="0">
                <a:latin typeface="+mn-lt"/>
                <a:ea typeface="微软雅黑" panose="020B0503020204020204" pitchFamily="34" charset="-122"/>
              </a:rPr>
              <a:t>m</a:t>
            </a:r>
            <a:r>
              <a:rPr lang="zh-CN" altLang="en-US" sz="2800" i="0" dirty="0">
                <a:latin typeface="+mn-lt"/>
                <a:ea typeface="微软雅黑" panose="020B0503020204020204" pitchFamily="34" charset="-122"/>
              </a:rPr>
              <a:t>，某瞬时的速度为</a:t>
            </a:r>
            <a:r>
              <a:rPr lang="en-US" altLang="zh-CN" sz="2800" dirty="0">
                <a:latin typeface="+mn-lt"/>
                <a:ea typeface="微软雅黑" panose="020B0503020204020204" pitchFamily="34" charset="-122"/>
              </a:rPr>
              <a:t>v</a:t>
            </a:r>
            <a:r>
              <a:rPr lang="zh-CN" altLang="en-US" sz="2800" i="0" dirty="0">
                <a:latin typeface="+mn-lt"/>
                <a:ea typeface="微软雅黑" panose="020B0503020204020204" pitchFamily="34" charset="-122"/>
              </a:rPr>
              <a:t>，加速度为</a:t>
            </a:r>
            <a:r>
              <a:rPr lang="en-US" altLang="zh-CN" sz="2800" dirty="0">
                <a:latin typeface="+mn-lt"/>
                <a:ea typeface="微软雅黑" panose="020B0503020204020204" pitchFamily="34" charset="-122"/>
              </a:rPr>
              <a:t>a</a:t>
            </a:r>
            <a:r>
              <a:rPr lang="zh-CN" altLang="en-US" sz="2800" i="0" dirty="0">
                <a:latin typeface="+mn-lt"/>
                <a:ea typeface="微软雅黑" panose="020B0503020204020204" pitchFamily="34" charset="-122"/>
              </a:rPr>
              <a:t>，其动量为</a:t>
            </a:r>
            <a:r>
              <a:rPr lang="en-US" altLang="zh-CN" sz="2800" b="0" dirty="0">
                <a:latin typeface="+mn-lt"/>
                <a:ea typeface="微软雅黑" panose="020B0503020204020204" pitchFamily="34" charset="-122"/>
              </a:rPr>
              <a:t>m</a:t>
            </a:r>
            <a:r>
              <a:rPr lang="en-US" altLang="zh-CN" sz="2800" dirty="0">
                <a:latin typeface="+mn-lt"/>
                <a:ea typeface="微软雅黑" panose="020B0503020204020204" pitchFamily="34" charset="-122"/>
              </a:rPr>
              <a:t>v</a:t>
            </a:r>
            <a:r>
              <a:rPr lang="en-US" altLang="zh-CN" sz="2800" i="0" dirty="0">
                <a:latin typeface="+mn-lt"/>
                <a:ea typeface="微软雅黑" panose="020B0503020204020204" pitchFamily="34" charset="-122"/>
              </a:rPr>
              <a:t> </a:t>
            </a:r>
            <a:r>
              <a:rPr lang="zh-CN" altLang="en-US" sz="2800" i="0" dirty="0">
                <a:latin typeface="+mn-lt"/>
                <a:ea typeface="微软雅黑" panose="020B0503020204020204" pitchFamily="34" charset="-122"/>
              </a:rPr>
              <a:t>。</a:t>
            </a:r>
          </a:p>
        </p:txBody>
      </p:sp>
      <p:sp>
        <p:nvSpPr>
          <p:cNvPr id="2" name="Rectangle 61">
            <a:extLst>
              <a:ext uri="{FF2B5EF4-FFF2-40B4-BE49-F238E27FC236}">
                <a16:creationId xmlns:a16="http://schemas.microsoft.com/office/drawing/2014/main" id="{7C7AC23E-A1CE-03F9-D8A4-D45156EAD5C0}"/>
              </a:ext>
            </a:extLst>
          </p:cNvPr>
          <p:cNvSpPr>
            <a:spLocks noChangeArrowheads="1"/>
          </p:cNvSpPr>
          <p:nvPr/>
        </p:nvSpPr>
        <p:spPr bwMode="auto">
          <a:xfrm>
            <a:off x="6240016" y="957948"/>
            <a:ext cx="5858423" cy="3780420"/>
          </a:xfrm>
          <a:prstGeom prst="rect">
            <a:avLst/>
          </a:prstGeom>
          <a:solidFill>
            <a:srgbClr val="B9CDE5"/>
          </a:solidFill>
          <a:ln>
            <a:noFill/>
          </a:ln>
          <a:effectLst/>
        </p:spPr>
        <p:txBody>
          <a:bodyPr wrap="none" anchor="ctr"/>
          <a:lstStyle/>
          <a:p>
            <a:endParaRPr lang="zh-CN" altLang="en-US"/>
          </a:p>
        </p:txBody>
      </p:sp>
      <p:sp>
        <p:nvSpPr>
          <p:cNvPr id="48" name="Line 7">
            <a:extLst>
              <a:ext uri="{FF2B5EF4-FFF2-40B4-BE49-F238E27FC236}">
                <a16:creationId xmlns:a16="http://schemas.microsoft.com/office/drawing/2014/main" id="{34162754-5C6D-9F9D-AB51-152EE629AF71}"/>
              </a:ext>
            </a:extLst>
          </p:cNvPr>
          <p:cNvSpPr>
            <a:spLocks noChangeShapeType="1"/>
          </p:cNvSpPr>
          <p:nvPr/>
        </p:nvSpPr>
        <p:spPr bwMode="auto">
          <a:xfrm flipV="1">
            <a:off x="9138791" y="3070024"/>
            <a:ext cx="0" cy="1482725"/>
          </a:xfrm>
          <a:prstGeom prst="line">
            <a:avLst/>
          </a:prstGeom>
          <a:noFill/>
          <a:ln w="38100">
            <a:solidFill>
              <a:schemeClr val="tx1"/>
            </a:solidFill>
            <a:round/>
            <a:headE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dirty="0"/>
          </a:p>
        </p:txBody>
      </p:sp>
      <p:sp>
        <p:nvSpPr>
          <p:cNvPr id="49" name="Freeform 9">
            <a:extLst>
              <a:ext uri="{FF2B5EF4-FFF2-40B4-BE49-F238E27FC236}">
                <a16:creationId xmlns:a16="http://schemas.microsoft.com/office/drawing/2014/main" id="{07E72C83-5802-216C-F50A-EF6069F8136A}"/>
              </a:ext>
            </a:extLst>
          </p:cNvPr>
          <p:cNvSpPr>
            <a:spLocks/>
          </p:cNvSpPr>
          <p:nvPr/>
        </p:nvSpPr>
        <p:spPr bwMode="auto">
          <a:xfrm>
            <a:off x="6240016" y="2569961"/>
            <a:ext cx="5845175" cy="1106488"/>
          </a:xfrm>
          <a:custGeom>
            <a:avLst/>
            <a:gdLst>
              <a:gd name="T0" fmla="*/ 223 w 3475"/>
              <a:gd name="T1" fmla="*/ 1276 h 1282"/>
              <a:gd name="T2" fmla="*/ 2501 w 3475"/>
              <a:gd name="T3" fmla="*/ 1276 h 1282"/>
              <a:gd name="T4" fmla="*/ 3475 w 3475"/>
              <a:gd name="T5" fmla="*/ 0 h 1282"/>
              <a:gd name="T6" fmla="*/ 1290 w 3475"/>
              <a:gd name="T7" fmla="*/ 4 h 1282"/>
              <a:gd name="T8" fmla="*/ 0 w 3475"/>
              <a:gd name="T9" fmla="*/ 1282 h 1282"/>
              <a:gd name="T10" fmla="*/ 223 w 3475"/>
              <a:gd name="T11" fmla="*/ 1276 h 1282"/>
            </a:gdLst>
            <a:ahLst/>
            <a:cxnLst>
              <a:cxn ang="0">
                <a:pos x="T0" y="T1"/>
              </a:cxn>
              <a:cxn ang="0">
                <a:pos x="T2" y="T3"/>
              </a:cxn>
              <a:cxn ang="0">
                <a:pos x="T4" y="T5"/>
              </a:cxn>
              <a:cxn ang="0">
                <a:pos x="T6" y="T7"/>
              </a:cxn>
              <a:cxn ang="0">
                <a:pos x="T8" y="T9"/>
              </a:cxn>
              <a:cxn ang="0">
                <a:pos x="T10" y="T11"/>
              </a:cxn>
            </a:cxnLst>
            <a:rect l="0" t="0" r="r" b="b"/>
            <a:pathLst>
              <a:path w="3475" h="1282">
                <a:moveTo>
                  <a:pt x="223" y="1276"/>
                </a:moveTo>
                <a:lnTo>
                  <a:pt x="2501" y="1276"/>
                </a:lnTo>
                <a:lnTo>
                  <a:pt x="3475" y="0"/>
                </a:lnTo>
                <a:lnTo>
                  <a:pt x="1290" y="4"/>
                </a:lnTo>
                <a:lnTo>
                  <a:pt x="0" y="1282"/>
                </a:lnTo>
                <a:lnTo>
                  <a:pt x="223" y="1276"/>
                </a:lnTo>
                <a:close/>
              </a:path>
            </a:pathLst>
          </a:custGeom>
          <a:gradFill rotWithShape="1">
            <a:gsLst>
              <a:gs pos="0">
                <a:srgbClr val="FFFF00">
                  <a:alpha val="87000"/>
                </a:srgbClr>
              </a:gs>
              <a:gs pos="100000">
                <a:srgbClr val="3399FF">
                  <a:alpha val="86000"/>
                </a:srgbClr>
              </a:gs>
            </a:gsLst>
            <a:path path="rect">
              <a:fillToRect l="50000" t="50000" r="50000" b="50000"/>
            </a:path>
          </a:gradFill>
          <a:ln w="9525" cap="flat"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 name="Line 10">
            <a:extLst>
              <a:ext uri="{FF2B5EF4-FFF2-40B4-BE49-F238E27FC236}">
                <a16:creationId xmlns:a16="http://schemas.microsoft.com/office/drawing/2014/main" id="{7939A147-DF36-9C17-3C6F-8CD2FC960E80}"/>
              </a:ext>
            </a:extLst>
          </p:cNvPr>
          <p:cNvSpPr>
            <a:spLocks noChangeShapeType="1"/>
          </p:cNvSpPr>
          <p:nvPr/>
        </p:nvSpPr>
        <p:spPr bwMode="auto">
          <a:xfrm flipV="1">
            <a:off x="9137204" y="1053899"/>
            <a:ext cx="0" cy="2008187"/>
          </a:xfrm>
          <a:prstGeom prst="line">
            <a:avLst/>
          </a:prstGeom>
          <a:noFill/>
          <a:ln w="3810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1" name="Text Box 11">
            <a:extLst>
              <a:ext uri="{FF2B5EF4-FFF2-40B4-BE49-F238E27FC236}">
                <a16:creationId xmlns:a16="http://schemas.microsoft.com/office/drawing/2014/main" id="{272E923B-A888-6075-7856-E435951AD84B}"/>
              </a:ext>
            </a:extLst>
          </p:cNvPr>
          <p:cNvSpPr txBox="1">
            <a:spLocks noChangeAspect="1" noChangeArrowheads="1"/>
          </p:cNvSpPr>
          <p:nvPr/>
        </p:nvSpPr>
        <p:spPr bwMode="auto">
          <a:xfrm>
            <a:off x="8807004" y="2693786"/>
            <a:ext cx="533400"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b="0" i="1" dirty="0">
                <a:solidFill>
                  <a:schemeClr val="tx1"/>
                </a:solidFill>
                <a:ea typeface="宋体" panose="02010600030101010101" pitchFamily="2" charset="-122"/>
              </a:rPr>
              <a:t>O</a:t>
            </a:r>
            <a:endParaRPr lang="en-US" altLang="zh-CN" b="0" dirty="0">
              <a:solidFill>
                <a:schemeClr val="tx1"/>
              </a:solidFill>
            </a:endParaRPr>
          </a:p>
        </p:txBody>
      </p:sp>
      <p:sp>
        <p:nvSpPr>
          <p:cNvPr id="53" name="Oval 12">
            <a:extLst>
              <a:ext uri="{FF2B5EF4-FFF2-40B4-BE49-F238E27FC236}">
                <a16:creationId xmlns:a16="http://schemas.microsoft.com/office/drawing/2014/main" id="{6F4B6788-F54B-7025-CF9A-E8F841D852B4}"/>
              </a:ext>
            </a:extLst>
          </p:cNvPr>
          <p:cNvSpPr>
            <a:spLocks noChangeArrowheads="1"/>
          </p:cNvSpPr>
          <p:nvPr/>
        </p:nvSpPr>
        <p:spPr bwMode="auto">
          <a:xfrm>
            <a:off x="9087991" y="3008111"/>
            <a:ext cx="88900" cy="889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 name="Text Box 13">
            <a:extLst>
              <a:ext uri="{FF2B5EF4-FFF2-40B4-BE49-F238E27FC236}">
                <a16:creationId xmlns:a16="http://schemas.microsoft.com/office/drawing/2014/main" id="{FB42A626-9A3C-9E97-6272-35E6F70CE1D1}"/>
              </a:ext>
            </a:extLst>
          </p:cNvPr>
          <p:cNvSpPr txBox="1">
            <a:spLocks noChangeAspect="1" noChangeArrowheads="1"/>
          </p:cNvSpPr>
          <p:nvPr/>
        </p:nvSpPr>
        <p:spPr bwMode="auto">
          <a:xfrm>
            <a:off x="7306816" y="3152574"/>
            <a:ext cx="533400" cy="49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b="0" i="1" dirty="0">
                <a:solidFill>
                  <a:schemeClr val="tx1"/>
                </a:solidFill>
                <a:ea typeface="宋体" panose="02010600030101010101" pitchFamily="2" charset="-122"/>
              </a:rPr>
              <a:t>N</a:t>
            </a:r>
            <a:endParaRPr lang="en-US" altLang="zh-CN" b="0" dirty="0">
              <a:solidFill>
                <a:schemeClr val="tx1"/>
              </a:solidFill>
            </a:endParaRPr>
          </a:p>
        </p:txBody>
      </p:sp>
      <p:sp>
        <p:nvSpPr>
          <p:cNvPr id="55" name="Line 14">
            <a:extLst>
              <a:ext uri="{FF2B5EF4-FFF2-40B4-BE49-F238E27FC236}">
                <a16:creationId xmlns:a16="http://schemas.microsoft.com/office/drawing/2014/main" id="{51136107-8BC0-7BEE-63D6-9F5BB5BFE763}"/>
              </a:ext>
            </a:extLst>
          </p:cNvPr>
          <p:cNvSpPr>
            <a:spLocks noChangeShapeType="1"/>
          </p:cNvSpPr>
          <p:nvPr/>
        </p:nvSpPr>
        <p:spPr bwMode="auto">
          <a:xfrm flipH="1">
            <a:off x="8156129" y="3057324"/>
            <a:ext cx="941387" cy="215900"/>
          </a:xfrm>
          <a:prstGeom prst="line">
            <a:avLst/>
          </a:prstGeom>
          <a:noFill/>
          <a:ln w="9525">
            <a:solidFill>
              <a:schemeClr val="tx1"/>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6" name="Text Box 15">
            <a:extLst>
              <a:ext uri="{FF2B5EF4-FFF2-40B4-BE49-F238E27FC236}">
                <a16:creationId xmlns:a16="http://schemas.microsoft.com/office/drawing/2014/main" id="{AEFA9D98-C38D-6DA5-6458-E412FB4F5668}"/>
              </a:ext>
            </a:extLst>
          </p:cNvPr>
          <p:cNvSpPr txBox="1">
            <a:spLocks noChangeAspect="1" noChangeArrowheads="1"/>
          </p:cNvSpPr>
          <p:nvPr/>
        </p:nvSpPr>
        <p:spPr bwMode="auto">
          <a:xfrm>
            <a:off x="8245029" y="2789036"/>
            <a:ext cx="533400"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b="0" i="1" dirty="0">
                <a:solidFill>
                  <a:schemeClr val="tx1"/>
                </a:solidFill>
                <a:ea typeface="宋体" panose="02010600030101010101" pitchFamily="2" charset="-122"/>
              </a:rPr>
              <a:t>R</a:t>
            </a:r>
            <a:endParaRPr lang="en-US" altLang="zh-CN" b="0" dirty="0">
              <a:solidFill>
                <a:schemeClr val="tx1"/>
              </a:solidFill>
            </a:endParaRPr>
          </a:p>
        </p:txBody>
      </p:sp>
      <p:sp>
        <p:nvSpPr>
          <p:cNvPr id="57" name="Text Box 16">
            <a:extLst>
              <a:ext uri="{FF2B5EF4-FFF2-40B4-BE49-F238E27FC236}">
                <a16:creationId xmlns:a16="http://schemas.microsoft.com/office/drawing/2014/main" id="{BF05CF30-4C9E-6828-4D69-B82876874F5D}"/>
              </a:ext>
            </a:extLst>
          </p:cNvPr>
          <p:cNvSpPr txBox="1">
            <a:spLocks noChangeAspect="1" noChangeArrowheads="1"/>
          </p:cNvSpPr>
          <p:nvPr/>
        </p:nvSpPr>
        <p:spPr bwMode="auto">
          <a:xfrm>
            <a:off x="9861886" y="3260524"/>
            <a:ext cx="533400" cy="49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b="0" i="1" dirty="0">
                <a:solidFill>
                  <a:schemeClr val="tx1"/>
                </a:solidFill>
                <a:ea typeface="宋体" panose="02010600030101010101" pitchFamily="2" charset="-122"/>
              </a:rPr>
              <a:t>M</a:t>
            </a:r>
            <a:endParaRPr lang="en-US" altLang="zh-CN" b="0" dirty="0">
              <a:solidFill>
                <a:schemeClr val="tx1"/>
              </a:solidFill>
            </a:endParaRPr>
          </a:p>
        </p:txBody>
      </p:sp>
      <p:sp>
        <p:nvSpPr>
          <p:cNvPr id="58" name="Line 17">
            <a:extLst>
              <a:ext uri="{FF2B5EF4-FFF2-40B4-BE49-F238E27FC236}">
                <a16:creationId xmlns:a16="http://schemas.microsoft.com/office/drawing/2014/main" id="{B11DDAC2-3626-A993-9652-6C296DC4E99C}"/>
              </a:ext>
            </a:extLst>
          </p:cNvPr>
          <p:cNvSpPr>
            <a:spLocks noChangeShapeType="1"/>
          </p:cNvSpPr>
          <p:nvPr/>
        </p:nvSpPr>
        <p:spPr bwMode="auto">
          <a:xfrm>
            <a:off x="9168954" y="3060499"/>
            <a:ext cx="703262" cy="311150"/>
          </a:xfrm>
          <a:prstGeom prst="line">
            <a:avLst/>
          </a:prstGeom>
          <a:noFill/>
          <a:ln w="9525">
            <a:solidFill>
              <a:schemeClr val="tx1"/>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 name="Line 18">
            <a:extLst>
              <a:ext uri="{FF2B5EF4-FFF2-40B4-BE49-F238E27FC236}">
                <a16:creationId xmlns:a16="http://schemas.microsoft.com/office/drawing/2014/main" id="{F60F7F91-E357-A4A1-049B-251AA37C410C}"/>
              </a:ext>
            </a:extLst>
          </p:cNvPr>
          <p:cNvSpPr>
            <a:spLocks noChangeShapeType="1"/>
          </p:cNvSpPr>
          <p:nvPr/>
        </p:nvSpPr>
        <p:spPr bwMode="auto">
          <a:xfrm rot="5400000" flipH="1" flipV="1">
            <a:off x="10227816" y="2598537"/>
            <a:ext cx="434975" cy="1092200"/>
          </a:xfrm>
          <a:prstGeom prst="line">
            <a:avLst/>
          </a:prstGeom>
          <a:noFill/>
          <a:ln w="28575">
            <a:solidFill>
              <a:srgbClr val="FF3399"/>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0" name="Text Box 19">
            <a:extLst>
              <a:ext uri="{FF2B5EF4-FFF2-40B4-BE49-F238E27FC236}">
                <a16:creationId xmlns:a16="http://schemas.microsoft.com/office/drawing/2014/main" id="{BB582178-2863-8885-42C3-63545DD67C5E}"/>
              </a:ext>
            </a:extLst>
          </p:cNvPr>
          <p:cNvSpPr txBox="1">
            <a:spLocks noChangeArrowheads="1"/>
          </p:cNvSpPr>
          <p:nvPr/>
        </p:nvSpPr>
        <p:spPr bwMode="auto">
          <a:xfrm>
            <a:off x="10524679" y="2452486"/>
            <a:ext cx="868362"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800" b="0" i="1" dirty="0">
                <a:solidFill>
                  <a:srgbClr val="FF3399"/>
                </a:solidFill>
                <a:cs typeface="Times New Roman" panose="02020603050405020304" pitchFamily="18" charset="0"/>
              </a:rPr>
              <a:t>m</a:t>
            </a:r>
            <a:r>
              <a:rPr lang="en-US" altLang="zh-CN" sz="2800" b="1" i="1" dirty="0">
                <a:solidFill>
                  <a:srgbClr val="FF3399"/>
                </a:solidFill>
                <a:latin typeface="Bookman Old Style" panose="02050604050505020204" pitchFamily="18" charset="0"/>
                <a:cs typeface="Times New Roman" panose="02020603050405020304" pitchFamily="18" charset="0"/>
              </a:rPr>
              <a:t>v</a:t>
            </a:r>
            <a:endParaRPr lang="en-US" altLang="zh-CN" baseline="-25000" dirty="0">
              <a:solidFill>
                <a:srgbClr val="FF3399"/>
              </a:solidFill>
              <a:cs typeface="Times New Roman" panose="02020603050405020304" pitchFamily="18" charset="0"/>
              <a:sym typeface="Symbol" panose="05050102010706020507" pitchFamily="18" charset="2"/>
            </a:endParaRPr>
          </a:p>
        </p:txBody>
      </p:sp>
      <p:sp>
        <p:nvSpPr>
          <p:cNvPr id="61" name="Oval 20">
            <a:extLst>
              <a:ext uri="{FF2B5EF4-FFF2-40B4-BE49-F238E27FC236}">
                <a16:creationId xmlns:a16="http://schemas.microsoft.com/office/drawing/2014/main" id="{6494F4AC-9099-B3C1-4338-FEF394BA2990}"/>
              </a:ext>
            </a:extLst>
          </p:cNvPr>
          <p:cNvSpPr>
            <a:spLocks noChangeArrowheads="1"/>
          </p:cNvSpPr>
          <p:nvPr/>
        </p:nvSpPr>
        <p:spPr bwMode="auto">
          <a:xfrm>
            <a:off x="8013254" y="2668386"/>
            <a:ext cx="2185987" cy="8223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 name="Text Box 21">
            <a:extLst>
              <a:ext uri="{FF2B5EF4-FFF2-40B4-BE49-F238E27FC236}">
                <a16:creationId xmlns:a16="http://schemas.microsoft.com/office/drawing/2014/main" id="{903A9E82-A6BF-E09F-EA3A-F1EBE49F69F1}"/>
              </a:ext>
            </a:extLst>
          </p:cNvPr>
          <p:cNvSpPr txBox="1">
            <a:spLocks noChangeAspect="1" noChangeArrowheads="1"/>
          </p:cNvSpPr>
          <p:nvPr/>
        </p:nvSpPr>
        <p:spPr bwMode="auto">
          <a:xfrm>
            <a:off x="9991279" y="2435024"/>
            <a:ext cx="533400" cy="49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i="1">
                <a:solidFill>
                  <a:srgbClr val="FF3399"/>
                </a:solidFill>
                <a:ea typeface="宋体" panose="02010600030101010101" pitchFamily="2" charset="-122"/>
              </a:rPr>
              <a:t>a</a:t>
            </a:r>
            <a:endParaRPr lang="en-US" altLang="zh-CN">
              <a:solidFill>
                <a:srgbClr val="FF3399"/>
              </a:solidFill>
            </a:endParaRPr>
          </a:p>
        </p:txBody>
      </p:sp>
      <p:sp>
        <p:nvSpPr>
          <p:cNvPr id="63" name="Text Box 22">
            <a:extLst>
              <a:ext uri="{FF2B5EF4-FFF2-40B4-BE49-F238E27FC236}">
                <a16:creationId xmlns:a16="http://schemas.microsoft.com/office/drawing/2014/main" id="{C397DFDA-3477-5870-A424-124C1B43370C}"/>
              </a:ext>
            </a:extLst>
          </p:cNvPr>
          <p:cNvSpPr txBox="1">
            <a:spLocks noChangeAspect="1" noChangeArrowheads="1"/>
          </p:cNvSpPr>
          <p:nvPr/>
        </p:nvSpPr>
        <p:spPr bwMode="auto">
          <a:xfrm>
            <a:off x="10291316" y="3052561"/>
            <a:ext cx="571500" cy="373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b="1" i="1" dirty="0">
                <a:solidFill>
                  <a:srgbClr val="FF0000"/>
                </a:solidFill>
                <a:ea typeface="宋体" panose="02010600030101010101" pitchFamily="2" charset="-122"/>
              </a:rPr>
              <a:t>F</a:t>
            </a:r>
            <a:r>
              <a:rPr lang="en-US" altLang="zh-CN" b="0" i="0" baseline="-25000" dirty="0">
                <a:solidFill>
                  <a:srgbClr val="FF0000"/>
                </a:solidFill>
                <a:sym typeface="Symbol" panose="05050102010706020507" pitchFamily="18" charset="2"/>
              </a:rPr>
              <a:t></a:t>
            </a:r>
          </a:p>
        </p:txBody>
      </p:sp>
      <p:sp>
        <p:nvSpPr>
          <p:cNvPr id="64" name="Oval 23">
            <a:extLst>
              <a:ext uri="{FF2B5EF4-FFF2-40B4-BE49-F238E27FC236}">
                <a16:creationId xmlns:a16="http://schemas.microsoft.com/office/drawing/2014/main" id="{B4F9AFEA-7DB3-2839-02D9-4DEAA6C9373E}"/>
              </a:ext>
            </a:extLst>
          </p:cNvPr>
          <p:cNvSpPr>
            <a:spLocks noChangeArrowheads="1"/>
          </p:cNvSpPr>
          <p:nvPr/>
        </p:nvSpPr>
        <p:spPr bwMode="auto">
          <a:xfrm>
            <a:off x="8597454" y="3360536"/>
            <a:ext cx="103187" cy="103188"/>
          </a:xfrm>
          <a:prstGeom prst="ellipse">
            <a:avLst/>
          </a:prstGeom>
          <a:gradFill rotWithShape="1">
            <a:gsLst>
              <a:gs pos="0">
                <a:srgbClr val="FF0000">
                  <a:gamma/>
                  <a:tint val="44314"/>
                  <a:invGamma/>
                </a:srgbClr>
              </a:gs>
              <a:gs pos="100000">
                <a:srgbClr val="FF0000"/>
              </a:gs>
            </a:gsLst>
            <a:path path="shape">
              <a:fillToRect l="50000" t="50000" r="50000" b="5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 name="Line 24">
            <a:extLst>
              <a:ext uri="{FF2B5EF4-FFF2-40B4-BE49-F238E27FC236}">
                <a16:creationId xmlns:a16="http://schemas.microsoft.com/office/drawing/2014/main" id="{1065B719-E8E5-AA9C-DD55-4E7377417F08}"/>
              </a:ext>
            </a:extLst>
          </p:cNvPr>
          <p:cNvSpPr>
            <a:spLocks noChangeShapeType="1"/>
          </p:cNvSpPr>
          <p:nvPr/>
        </p:nvSpPr>
        <p:spPr bwMode="auto">
          <a:xfrm>
            <a:off x="9135616" y="2622349"/>
            <a:ext cx="0" cy="8255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 name="Line 25">
            <a:extLst>
              <a:ext uri="{FF2B5EF4-FFF2-40B4-BE49-F238E27FC236}">
                <a16:creationId xmlns:a16="http://schemas.microsoft.com/office/drawing/2014/main" id="{39046096-D673-2DCB-CE68-F79B94F04FB8}"/>
              </a:ext>
            </a:extLst>
          </p:cNvPr>
          <p:cNvSpPr>
            <a:spLocks noChangeShapeType="1"/>
          </p:cNvSpPr>
          <p:nvPr/>
        </p:nvSpPr>
        <p:spPr bwMode="auto">
          <a:xfrm rot="5400000" flipH="1" flipV="1">
            <a:off x="10047635" y="2943818"/>
            <a:ext cx="238125" cy="598487"/>
          </a:xfrm>
          <a:prstGeom prst="line">
            <a:avLst/>
          </a:prstGeom>
          <a:noFill/>
          <a:ln w="28575">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 name="Line 26">
            <a:extLst>
              <a:ext uri="{FF2B5EF4-FFF2-40B4-BE49-F238E27FC236}">
                <a16:creationId xmlns:a16="http://schemas.microsoft.com/office/drawing/2014/main" id="{D210741C-998B-5BCD-2245-86D0ABDF7491}"/>
              </a:ext>
            </a:extLst>
          </p:cNvPr>
          <p:cNvSpPr>
            <a:spLocks noChangeShapeType="1"/>
          </p:cNvSpPr>
          <p:nvPr/>
        </p:nvSpPr>
        <p:spPr bwMode="auto">
          <a:xfrm rot="5400000" flipH="1" flipV="1">
            <a:off x="9603929" y="2904923"/>
            <a:ext cx="723900" cy="180975"/>
          </a:xfrm>
          <a:prstGeom prst="line">
            <a:avLst/>
          </a:prstGeom>
          <a:noFill/>
          <a:ln w="28575">
            <a:solidFill>
              <a:srgbClr val="FF3399"/>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8" name="Line 27">
            <a:extLst>
              <a:ext uri="{FF2B5EF4-FFF2-40B4-BE49-F238E27FC236}">
                <a16:creationId xmlns:a16="http://schemas.microsoft.com/office/drawing/2014/main" id="{F57C46C6-D98D-D4E9-7055-A41A44AD3E19}"/>
              </a:ext>
            </a:extLst>
          </p:cNvPr>
          <p:cNvSpPr>
            <a:spLocks noChangeShapeType="1"/>
          </p:cNvSpPr>
          <p:nvPr/>
        </p:nvSpPr>
        <p:spPr bwMode="auto">
          <a:xfrm rot="5400000" flipH="1" flipV="1">
            <a:off x="9687273" y="3043829"/>
            <a:ext cx="501650" cy="125413"/>
          </a:xfrm>
          <a:prstGeom prst="line">
            <a:avLst/>
          </a:prstGeom>
          <a:noFill/>
          <a:ln w="28575">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9" name="Oval 28">
            <a:extLst>
              <a:ext uri="{FF2B5EF4-FFF2-40B4-BE49-F238E27FC236}">
                <a16:creationId xmlns:a16="http://schemas.microsoft.com/office/drawing/2014/main" id="{70430DA5-57A1-1581-AB3B-40BD0DB07AF0}"/>
              </a:ext>
            </a:extLst>
          </p:cNvPr>
          <p:cNvSpPr>
            <a:spLocks noChangeArrowheads="1"/>
          </p:cNvSpPr>
          <p:nvPr/>
        </p:nvSpPr>
        <p:spPr bwMode="auto">
          <a:xfrm>
            <a:off x="9832529" y="3327199"/>
            <a:ext cx="88900" cy="88900"/>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 name="Text Box 29">
            <a:extLst>
              <a:ext uri="{FF2B5EF4-FFF2-40B4-BE49-F238E27FC236}">
                <a16:creationId xmlns:a16="http://schemas.microsoft.com/office/drawing/2014/main" id="{11C05DC1-6595-9B62-E8B9-3323CA6CB6F3}"/>
              </a:ext>
            </a:extLst>
          </p:cNvPr>
          <p:cNvSpPr txBox="1">
            <a:spLocks noChangeAspect="1" noChangeArrowheads="1"/>
          </p:cNvSpPr>
          <p:nvPr/>
        </p:nvSpPr>
        <p:spPr bwMode="auto">
          <a:xfrm>
            <a:off x="9508679" y="2658861"/>
            <a:ext cx="571500" cy="373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b="1" i="1">
                <a:solidFill>
                  <a:srgbClr val="FF0000"/>
                </a:solidFill>
                <a:ea typeface="宋体" panose="02010600030101010101" pitchFamily="2" charset="-122"/>
              </a:rPr>
              <a:t>F</a:t>
            </a:r>
            <a:endParaRPr lang="en-US" altLang="zh-CN" baseline="-25000">
              <a:solidFill>
                <a:srgbClr val="FF0000"/>
              </a:solidFill>
              <a:sym typeface="Symbol" panose="05050102010706020507" pitchFamily="18" charset="2"/>
            </a:endParaRPr>
          </a:p>
        </p:txBody>
      </p:sp>
      <p:sp>
        <p:nvSpPr>
          <p:cNvPr id="71" name="Text Box 30">
            <a:extLst>
              <a:ext uri="{FF2B5EF4-FFF2-40B4-BE49-F238E27FC236}">
                <a16:creationId xmlns:a16="http://schemas.microsoft.com/office/drawing/2014/main" id="{E2710B1D-127D-0487-D6B3-F13C4BFB1FFB}"/>
              </a:ext>
            </a:extLst>
          </p:cNvPr>
          <p:cNvSpPr txBox="1">
            <a:spLocks noChangeAspect="1" noChangeArrowheads="1"/>
          </p:cNvSpPr>
          <p:nvPr/>
        </p:nvSpPr>
        <p:spPr bwMode="auto">
          <a:xfrm>
            <a:off x="9216579" y="2717599"/>
            <a:ext cx="571500" cy="357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b="1" i="1" dirty="0" err="1">
                <a:solidFill>
                  <a:srgbClr val="FF0000"/>
                </a:solidFill>
                <a:ea typeface="宋体" panose="02010600030101010101" pitchFamily="2" charset="-122"/>
              </a:rPr>
              <a:t>F</a:t>
            </a:r>
            <a:r>
              <a:rPr lang="en-US" altLang="zh-CN" b="0" i="0" baseline="-25000" dirty="0" err="1">
                <a:solidFill>
                  <a:srgbClr val="FF0000"/>
                </a:solidFill>
                <a:sym typeface="Symbol" panose="05050102010706020507" pitchFamily="18" charset="2"/>
              </a:rPr>
              <a:t>n</a:t>
            </a:r>
            <a:endParaRPr lang="en-US" altLang="zh-CN" b="0" i="0" baseline="-25000" dirty="0">
              <a:solidFill>
                <a:srgbClr val="FF0000"/>
              </a:solidFill>
              <a:sym typeface="Symbol" panose="05050102010706020507" pitchFamily="18" charset="2"/>
            </a:endParaRPr>
          </a:p>
        </p:txBody>
      </p:sp>
      <p:sp>
        <p:nvSpPr>
          <p:cNvPr id="72" name="Line 31">
            <a:extLst>
              <a:ext uri="{FF2B5EF4-FFF2-40B4-BE49-F238E27FC236}">
                <a16:creationId xmlns:a16="http://schemas.microsoft.com/office/drawing/2014/main" id="{44B8EC18-89A4-0E58-F9BB-E1F1017F8202}"/>
              </a:ext>
            </a:extLst>
          </p:cNvPr>
          <p:cNvSpPr>
            <a:spLocks noChangeShapeType="1"/>
          </p:cNvSpPr>
          <p:nvPr/>
        </p:nvSpPr>
        <p:spPr bwMode="auto">
          <a:xfrm rot="16200000" flipV="1">
            <a:off x="9504710" y="2997792"/>
            <a:ext cx="211138" cy="517525"/>
          </a:xfrm>
          <a:prstGeom prst="line">
            <a:avLst/>
          </a:prstGeom>
          <a:noFill/>
          <a:ln w="28575">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3" name="Text Box 16">
            <a:extLst>
              <a:ext uri="{FF2B5EF4-FFF2-40B4-BE49-F238E27FC236}">
                <a16:creationId xmlns:a16="http://schemas.microsoft.com/office/drawing/2014/main" id="{27E0A7FD-AFDE-EC04-CC96-8C397C3E4E41}"/>
              </a:ext>
            </a:extLst>
          </p:cNvPr>
          <p:cNvSpPr txBox="1">
            <a:spLocks noChangeAspect="1" noChangeArrowheads="1"/>
          </p:cNvSpPr>
          <p:nvPr/>
        </p:nvSpPr>
        <p:spPr bwMode="auto">
          <a:xfrm>
            <a:off x="9190600" y="970487"/>
            <a:ext cx="533400" cy="49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b="0" i="1" dirty="0">
                <a:solidFill>
                  <a:schemeClr val="tx1"/>
                </a:solidFill>
                <a:ea typeface="宋体" panose="02010600030101010101" pitchFamily="2" charset="-122"/>
              </a:rPr>
              <a:t>z</a:t>
            </a:r>
            <a:endParaRPr lang="en-US" altLang="zh-CN" b="0" dirty="0">
              <a:solidFill>
                <a:schemeClr val="tx1"/>
              </a:solidFill>
            </a:endParaRPr>
          </a:p>
        </p:txBody>
      </p:sp>
      <p:sp>
        <p:nvSpPr>
          <p:cNvPr id="75" name="文本框 74">
            <a:extLst>
              <a:ext uri="{FF2B5EF4-FFF2-40B4-BE49-F238E27FC236}">
                <a16:creationId xmlns:a16="http://schemas.microsoft.com/office/drawing/2014/main" id="{FD1C3698-D649-271E-2797-561374668594}"/>
              </a:ext>
            </a:extLst>
          </p:cNvPr>
          <p:cNvSpPr txBox="1"/>
          <p:nvPr/>
        </p:nvSpPr>
        <p:spPr>
          <a:xfrm>
            <a:off x="768587" y="3652933"/>
            <a:ext cx="2015045" cy="523220"/>
          </a:xfrm>
          <a:prstGeom prst="rect">
            <a:avLst/>
          </a:prstGeom>
          <a:noFill/>
        </p:spPr>
        <p:txBody>
          <a:bodyPr wrap="square">
            <a:spAutoFit/>
          </a:bodyPr>
          <a:lstStyle/>
          <a:p>
            <a:r>
              <a:rPr lang="en-US" altLang="zh-CN" sz="2800" b="1" i="1" dirty="0">
                <a:solidFill>
                  <a:schemeClr val="tx1"/>
                </a:solidFill>
              </a:rPr>
              <a:t>F</a:t>
            </a:r>
            <a:r>
              <a:rPr lang="en-US" altLang="zh-CN" sz="2800" b="0" i="0" baseline="-25000" dirty="0">
                <a:solidFill>
                  <a:schemeClr val="tx1"/>
                </a:solidFill>
                <a:sym typeface="Symbol" panose="05050102010706020507" pitchFamily="18" charset="2"/>
              </a:rPr>
              <a:t></a:t>
            </a:r>
            <a:r>
              <a:rPr lang="zh-CN" altLang="en-US" sz="2800" dirty="0">
                <a:solidFill>
                  <a:schemeClr val="tx1"/>
                </a:solidFill>
              </a:rPr>
              <a:t>＝</a:t>
            </a:r>
            <a:r>
              <a:rPr lang="en-US" altLang="zh-CN" sz="2800" b="0" i="1" dirty="0">
                <a:solidFill>
                  <a:schemeClr val="tx1"/>
                </a:solidFill>
              </a:rPr>
              <a:t>m</a:t>
            </a:r>
            <a:r>
              <a:rPr lang="en-US" altLang="zh-CN" sz="2800" b="1" i="1" dirty="0">
                <a:solidFill>
                  <a:schemeClr val="tx1"/>
                </a:solidFill>
              </a:rPr>
              <a:t>a</a:t>
            </a:r>
            <a:r>
              <a:rPr lang="en-US" altLang="zh-CN" sz="2800" b="0" i="0" baseline="-25000" dirty="0">
                <a:solidFill>
                  <a:schemeClr val="tx1"/>
                </a:solidFill>
                <a:sym typeface="Symbol" panose="05050102010706020507" pitchFamily="18" charset="2"/>
              </a:rPr>
              <a:t></a:t>
            </a:r>
            <a:endParaRPr lang="zh-CN" altLang="en-US" sz="2800" b="0" i="0" dirty="0">
              <a:solidFill>
                <a:schemeClr val="tx1"/>
              </a:solidFill>
            </a:endParaRPr>
          </a:p>
        </p:txBody>
      </p:sp>
      <p:graphicFrame>
        <p:nvGraphicFramePr>
          <p:cNvPr id="78" name="Object 71">
            <a:extLst>
              <a:ext uri="{FF2B5EF4-FFF2-40B4-BE49-F238E27FC236}">
                <a16:creationId xmlns:a16="http://schemas.microsoft.com/office/drawing/2014/main" id="{E76AE832-3C48-0CAF-7DBA-96E592B6980C}"/>
              </a:ext>
            </a:extLst>
          </p:cNvPr>
          <p:cNvGraphicFramePr>
            <a:graphicFrameLocks noChangeAspect="1"/>
          </p:cNvGraphicFramePr>
          <p:nvPr>
            <p:extLst>
              <p:ext uri="{D42A27DB-BD31-4B8C-83A1-F6EECF244321}">
                <p14:modId xmlns:p14="http://schemas.microsoft.com/office/powerpoint/2010/main" val="2836678474"/>
              </p:ext>
            </p:extLst>
          </p:nvPr>
        </p:nvGraphicFramePr>
        <p:xfrm>
          <a:off x="776389" y="4444803"/>
          <a:ext cx="4703489" cy="896990"/>
        </p:xfrm>
        <a:graphic>
          <a:graphicData uri="http://schemas.openxmlformats.org/presentationml/2006/ole">
            <mc:AlternateContent xmlns:mc="http://schemas.openxmlformats.org/markup-compatibility/2006">
              <mc:Choice xmlns:v="urn:schemas-microsoft-com:vml" Requires="v">
                <p:oleObj spid="_x0000_s8220" name="Equation" r:id="rId4" imgW="2044440" imgH="393480" progId="Equation.DSMT4">
                  <p:embed/>
                </p:oleObj>
              </mc:Choice>
              <mc:Fallback>
                <p:oleObj name="Equation" r:id="rId4" imgW="2044440" imgH="393480" progId="Equation.DSMT4">
                  <p:embed/>
                  <p:pic>
                    <p:nvPicPr>
                      <p:cNvPr id="72" name="Object 71">
                        <a:extLst>
                          <a:ext uri="{FF2B5EF4-FFF2-40B4-BE49-F238E27FC236}">
                            <a16:creationId xmlns:a16="http://schemas.microsoft.com/office/drawing/2014/main" id="{28193A6D-9C65-B14D-4CEE-C61BDB168FA2}"/>
                          </a:ext>
                        </a:extLst>
                      </p:cNvPr>
                      <p:cNvPicPr>
                        <a:picLocks noChangeAspect="1" noChangeArrowheads="1"/>
                      </p:cNvPicPr>
                      <p:nvPr/>
                    </p:nvPicPr>
                    <p:blipFill>
                      <a:blip r:embed="rId5"/>
                      <a:srcRect/>
                      <a:stretch>
                        <a:fillRect/>
                      </a:stretch>
                    </p:blipFill>
                    <p:spPr bwMode="auto">
                      <a:xfrm>
                        <a:off x="776389" y="4444803"/>
                        <a:ext cx="4703489" cy="896990"/>
                      </a:xfrm>
                      <a:prstGeom prst="rect">
                        <a:avLst/>
                      </a:prstGeom>
                      <a:noFill/>
                    </p:spPr>
                  </p:pic>
                </p:oleObj>
              </mc:Fallback>
            </mc:AlternateContent>
          </a:graphicData>
        </a:graphic>
      </p:graphicFrame>
      <p:sp>
        <p:nvSpPr>
          <p:cNvPr id="79" name="Text Box 1032">
            <a:extLst>
              <a:ext uri="{FF2B5EF4-FFF2-40B4-BE49-F238E27FC236}">
                <a16:creationId xmlns:a16="http://schemas.microsoft.com/office/drawing/2014/main" id="{898F75FF-FCF7-213D-AEEA-C92AC0238952}"/>
              </a:ext>
            </a:extLst>
          </p:cNvPr>
          <p:cNvSpPr txBox="1">
            <a:spLocks noChangeArrowheads="1"/>
          </p:cNvSpPr>
          <p:nvPr/>
        </p:nvSpPr>
        <p:spPr bwMode="auto">
          <a:xfrm>
            <a:off x="5516290" y="4730288"/>
            <a:ext cx="6654625" cy="15994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lnSpc>
                <a:spcPct val="120000"/>
              </a:lnSpc>
            </a:pPr>
            <a:r>
              <a:rPr lang="zh-CN" altLang="en-US" sz="2800" i="0" dirty="0">
                <a:latin typeface="+mn-lt"/>
                <a:ea typeface="微软雅黑" panose="020B0503020204020204" pitchFamily="34" charset="-122"/>
              </a:rPr>
              <a:t>质点对于某一固定轴的动量矩对于时间的导数，等于作用在质点上的力对于同一轴之矩。</a:t>
            </a:r>
            <a:r>
              <a:rPr lang="zh-CN" altLang="en-US" sz="2800" i="0" dirty="0">
                <a:solidFill>
                  <a:srgbClr val="FF00FF"/>
                </a:solidFill>
                <a:latin typeface="+mn-lt"/>
                <a:ea typeface="微软雅黑" panose="020B0503020204020204" pitchFamily="34" charset="-122"/>
              </a:rPr>
              <a:t>这就是质点的动量矩定理</a:t>
            </a:r>
            <a:r>
              <a:rPr lang="zh-CN" altLang="en-US" sz="2800" i="0" dirty="0">
                <a:latin typeface="+mn-lt"/>
                <a:ea typeface="微软雅黑" panose="020B0503020204020204" pitchFamily="34" charset="-122"/>
              </a:rPr>
              <a:t>。</a:t>
            </a:r>
          </a:p>
        </p:txBody>
      </p:sp>
      <p:graphicFrame>
        <p:nvGraphicFramePr>
          <p:cNvPr id="80" name="Object 38">
            <a:extLst>
              <a:ext uri="{FF2B5EF4-FFF2-40B4-BE49-F238E27FC236}">
                <a16:creationId xmlns:a16="http://schemas.microsoft.com/office/drawing/2014/main" id="{548FAA9A-107B-2644-06EA-3D5D5259D49F}"/>
              </a:ext>
            </a:extLst>
          </p:cNvPr>
          <p:cNvGraphicFramePr>
            <a:graphicFrameLocks noChangeAspect="1"/>
          </p:cNvGraphicFramePr>
          <p:nvPr>
            <p:extLst>
              <p:ext uri="{D42A27DB-BD31-4B8C-83A1-F6EECF244321}">
                <p14:modId xmlns:p14="http://schemas.microsoft.com/office/powerpoint/2010/main" val="3098831685"/>
              </p:ext>
            </p:extLst>
          </p:nvPr>
        </p:nvGraphicFramePr>
        <p:xfrm>
          <a:off x="812801" y="5341793"/>
          <a:ext cx="2978944" cy="897639"/>
        </p:xfrm>
        <a:graphic>
          <a:graphicData uri="http://schemas.openxmlformats.org/presentationml/2006/ole">
            <mc:AlternateContent xmlns:mc="http://schemas.openxmlformats.org/markup-compatibility/2006">
              <mc:Choice xmlns:v="urn:schemas-microsoft-com:vml" Requires="v">
                <p:oleObj spid="_x0000_s8221" name="Equation" r:id="rId6" imgW="1295280" imgH="393480" progId="Equation.DSMT4">
                  <p:embed/>
                </p:oleObj>
              </mc:Choice>
              <mc:Fallback>
                <p:oleObj name="Equation" r:id="rId6" imgW="1295280" imgH="393480" progId="Equation.DSMT4">
                  <p:embed/>
                  <p:pic>
                    <p:nvPicPr>
                      <p:cNvPr id="1017894" name="Object 38">
                        <a:extLst>
                          <a:ext uri="{FF2B5EF4-FFF2-40B4-BE49-F238E27FC236}">
                            <a16:creationId xmlns:a16="http://schemas.microsoft.com/office/drawing/2014/main" id="{768D3641-5251-F97E-EAE0-CC91FEA2306B}"/>
                          </a:ext>
                        </a:extLst>
                      </p:cNvPr>
                      <p:cNvPicPr>
                        <a:picLocks noChangeAspect="1" noChangeArrowheads="1"/>
                      </p:cNvPicPr>
                      <p:nvPr/>
                    </p:nvPicPr>
                    <p:blipFill>
                      <a:blip r:embed="rId7"/>
                      <a:srcRect/>
                      <a:stretch>
                        <a:fillRect/>
                      </a:stretch>
                    </p:blipFill>
                    <p:spPr bwMode="auto">
                      <a:xfrm>
                        <a:off x="812801" y="5341793"/>
                        <a:ext cx="2978944" cy="897639"/>
                      </a:xfrm>
                      <a:prstGeom prst="rect">
                        <a:avLst/>
                      </a:prstGeom>
                      <a:noFill/>
                    </p:spPr>
                  </p:pic>
                </p:oleObj>
              </mc:Fallback>
            </mc:AlternateContent>
          </a:graphicData>
        </a:graphic>
      </p:graphicFrame>
    </p:spTree>
    <p:extLst>
      <p:ext uri="{BB962C8B-B14F-4D97-AF65-F5344CB8AC3E}">
        <p14:creationId xmlns:p14="http://schemas.microsoft.com/office/powerpoint/2010/main" val="2204310382"/>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4"/>
                                        </p:tgtEl>
                                        <p:attrNameLst>
                                          <p:attrName>style.visibility</p:attrName>
                                        </p:attrNameLst>
                                      </p:cBhvr>
                                      <p:to>
                                        <p:strVal val="visible"/>
                                      </p:to>
                                    </p:set>
                                  </p:childTnLst>
                                </p:cTn>
                              </p:par>
                              <p:par>
                                <p:cTn id="9" presetID="12" presetClass="path" presetSubtype="0" repeatCount="indefinite" accel="50000" decel="50000" fill="hold" nodeType="withEffect">
                                  <p:stCondLst>
                                    <p:cond delay="0"/>
                                  </p:stCondLst>
                                  <p:childTnLst>
                                    <p:animMotion origin="layout" path="M -0.05221 -0.04629 C -0.0513 -0.06851 -0.04596 -0.07592 -0.03098 -0.08657 C -0.01575 -0.09722 0.01081 -0.10949 0.0379 -0.11018 C 0.07527 -0.10995 0.11993 -0.08981 0.12709 -0.05301 C 0.12774 -0.0331 0.12136 -0.0206 0.10626 -0.00995 C 0.09128 0.0007 0.0629 0.0132 0.03685 0.01135 C -0.00039 0.01135 -0.05364 -0.01435 -0.05221 -0.04629 Z " pathEditMode="relative" rAng="0" ptsTypes="AAAAAAA">
                                      <p:cBhvr>
                                        <p:cTn id="10" dur="1000" spd="-100000" fill="hold"/>
                                        <p:tgtEl>
                                          <p:spTgt spid="64"/>
                                        </p:tgtEl>
                                        <p:attrNameLst>
                                          <p:attrName>ppt_x</p:attrName>
                                          <p:attrName>ppt_y</p:attrName>
                                        </p:attrNameLst>
                                      </p:cBhvr>
                                      <p:rCtr x="8958" y="-324"/>
                                    </p:animMotion>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nodeType="clickEffect">
                                  <p:stCondLst>
                                    <p:cond delay="0"/>
                                  </p:stCondLst>
                                  <p:childTnLst>
                                    <p:set>
                                      <p:cBhvr>
                                        <p:cTn id="14" dur="1" fill="hold">
                                          <p:stCondLst>
                                            <p:cond delay="0"/>
                                          </p:stCondLst>
                                        </p:cTn>
                                        <p:tgtEl>
                                          <p:spTgt spid="68"/>
                                        </p:tgtEl>
                                        <p:attrNameLst>
                                          <p:attrName>style.visibility</p:attrName>
                                        </p:attrNameLst>
                                      </p:cBhvr>
                                      <p:to>
                                        <p:strVal val="visible"/>
                                      </p:to>
                                    </p:set>
                                    <p:animEffect transition="in" filter="wipe(down)">
                                      <p:cBhvr>
                                        <p:cTn id="15" dur="3000"/>
                                        <p:tgtEl>
                                          <p:spTgt spid="68"/>
                                        </p:tgtEl>
                                      </p:cBhvr>
                                    </p:animEffect>
                                  </p:childTnLst>
                                </p:cTn>
                              </p:par>
                              <p:par>
                                <p:cTn id="16" presetID="19" presetClass="entr" presetSubtype="10" fill="hold" grpId="0" nodeType="withEffect">
                                  <p:stCondLst>
                                    <p:cond delay="0"/>
                                  </p:stCondLst>
                                  <p:childTnLst>
                                    <p:set>
                                      <p:cBhvr>
                                        <p:cTn id="17" dur="1" fill="hold">
                                          <p:stCondLst>
                                            <p:cond delay="0"/>
                                          </p:stCondLst>
                                        </p:cTn>
                                        <p:tgtEl>
                                          <p:spTgt spid="70"/>
                                        </p:tgtEl>
                                        <p:attrNameLst>
                                          <p:attrName>style.visibility</p:attrName>
                                        </p:attrNameLst>
                                      </p:cBhvr>
                                      <p:to>
                                        <p:strVal val="visible"/>
                                      </p:to>
                                    </p:set>
                                    <p:anim calcmode="lin" valueType="num">
                                      <p:cBhvr>
                                        <p:cTn id="18" dur="5000" fill="hold"/>
                                        <p:tgtEl>
                                          <p:spTgt spid="70"/>
                                        </p:tgtEl>
                                        <p:attrNameLst>
                                          <p:attrName>ppt_w</p:attrName>
                                        </p:attrNameLst>
                                      </p:cBhvr>
                                      <p:tavLst>
                                        <p:tav tm="0" fmla="#ppt_w*sin(2.5*pi*$)">
                                          <p:val>
                                            <p:fltVal val="0"/>
                                          </p:val>
                                        </p:tav>
                                        <p:tav tm="100000">
                                          <p:val>
                                            <p:fltVal val="1"/>
                                          </p:val>
                                        </p:tav>
                                      </p:tavLst>
                                    </p:anim>
                                    <p:anim calcmode="lin" valueType="num">
                                      <p:cBhvr>
                                        <p:cTn id="19" dur="5000" fill="hold"/>
                                        <p:tgtEl>
                                          <p:spTgt spid="70"/>
                                        </p:tgtEl>
                                        <p:attrNameLst>
                                          <p:attrName>ppt_h</p:attrName>
                                        </p:attrNameLst>
                                      </p:cBhvr>
                                      <p:tavLst>
                                        <p:tav tm="0">
                                          <p:val>
                                            <p:strVal val="#ppt_h"/>
                                          </p:val>
                                        </p:tav>
                                        <p:tav tm="100000">
                                          <p:val>
                                            <p:strVal val="#ppt_h"/>
                                          </p:val>
                                        </p:tav>
                                      </p:tavLst>
                                    </p:anim>
                                  </p:childTnLst>
                                </p:cTn>
                              </p:par>
                            </p:childTnLst>
                          </p:cTn>
                        </p:par>
                      </p:childTnLst>
                    </p:cTn>
                  </p:par>
                  <p:par>
                    <p:cTn id="20" fill="hold">
                      <p:stCondLst>
                        <p:cond delay="indefinite"/>
                      </p:stCondLst>
                      <p:childTnLst>
                        <p:par>
                          <p:cTn id="21" fill="hold">
                            <p:stCondLst>
                              <p:cond delay="0"/>
                            </p:stCondLst>
                            <p:childTnLst>
                              <p:par>
                                <p:cTn id="22" presetID="18" presetClass="entr" presetSubtype="3" fill="hold" nodeType="clickEffect">
                                  <p:stCondLst>
                                    <p:cond delay="0"/>
                                  </p:stCondLst>
                                  <p:childTnLst>
                                    <p:set>
                                      <p:cBhvr>
                                        <p:cTn id="23" dur="1" fill="hold">
                                          <p:stCondLst>
                                            <p:cond delay="0"/>
                                          </p:stCondLst>
                                        </p:cTn>
                                        <p:tgtEl>
                                          <p:spTgt spid="66"/>
                                        </p:tgtEl>
                                        <p:attrNameLst>
                                          <p:attrName>style.visibility</p:attrName>
                                        </p:attrNameLst>
                                      </p:cBhvr>
                                      <p:to>
                                        <p:strVal val="visible"/>
                                      </p:to>
                                    </p:set>
                                    <p:animEffect transition="in" filter="strips(upRight)">
                                      <p:cBhvr>
                                        <p:cTn id="24" dur="3000"/>
                                        <p:tgtEl>
                                          <p:spTgt spid="66"/>
                                        </p:tgtEl>
                                      </p:cBhvr>
                                    </p:animEffect>
                                  </p:childTnLst>
                                </p:cTn>
                              </p:par>
                              <p:par>
                                <p:cTn id="25" presetID="19" presetClass="entr" presetSubtype="10" fill="hold" grpId="0" nodeType="withEffect">
                                  <p:stCondLst>
                                    <p:cond delay="0"/>
                                  </p:stCondLst>
                                  <p:childTnLst>
                                    <p:set>
                                      <p:cBhvr>
                                        <p:cTn id="26" dur="1" fill="hold">
                                          <p:stCondLst>
                                            <p:cond delay="0"/>
                                          </p:stCondLst>
                                        </p:cTn>
                                        <p:tgtEl>
                                          <p:spTgt spid="63"/>
                                        </p:tgtEl>
                                        <p:attrNameLst>
                                          <p:attrName>style.visibility</p:attrName>
                                        </p:attrNameLst>
                                      </p:cBhvr>
                                      <p:to>
                                        <p:strVal val="visible"/>
                                      </p:to>
                                    </p:set>
                                    <p:anim calcmode="lin" valueType="num">
                                      <p:cBhvr>
                                        <p:cTn id="27" dur="5000" fill="hold"/>
                                        <p:tgtEl>
                                          <p:spTgt spid="63"/>
                                        </p:tgtEl>
                                        <p:attrNameLst>
                                          <p:attrName>ppt_w</p:attrName>
                                        </p:attrNameLst>
                                      </p:cBhvr>
                                      <p:tavLst>
                                        <p:tav tm="0" fmla="#ppt_w*sin(2.5*pi*$)">
                                          <p:val>
                                            <p:fltVal val="0"/>
                                          </p:val>
                                        </p:tav>
                                        <p:tav tm="100000">
                                          <p:val>
                                            <p:fltVal val="1"/>
                                          </p:val>
                                        </p:tav>
                                      </p:tavLst>
                                    </p:anim>
                                    <p:anim calcmode="lin" valueType="num">
                                      <p:cBhvr>
                                        <p:cTn id="28" dur="5000" fill="hold"/>
                                        <p:tgtEl>
                                          <p:spTgt spid="63"/>
                                        </p:tgtEl>
                                        <p:attrNameLst>
                                          <p:attrName>ppt_h</p:attrName>
                                        </p:attrNameLst>
                                      </p:cBhvr>
                                      <p:tavLst>
                                        <p:tav tm="0">
                                          <p:val>
                                            <p:strVal val="#ppt_h"/>
                                          </p:val>
                                        </p:tav>
                                        <p:tav tm="100000">
                                          <p:val>
                                            <p:strVal val="#ppt_h"/>
                                          </p:val>
                                        </p:tav>
                                      </p:tavLst>
                                    </p:anim>
                                  </p:childTnLst>
                                </p:cTn>
                              </p:par>
                              <p:par>
                                <p:cTn id="29" presetID="19" presetClass="entr" presetSubtype="10" fill="hold" grpId="0" nodeType="withEffect">
                                  <p:stCondLst>
                                    <p:cond delay="0"/>
                                  </p:stCondLst>
                                  <p:childTnLst>
                                    <p:set>
                                      <p:cBhvr>
                                        <p:cTn id="30" dur="1" fill="hold">
                                          <p:stCondLst>
                                            <p:cond delay="0"/>
                                          </p:stCondLst>
                                        </p:cTn>
                                        <p:tgtEl>
                                          <p:spTgt spid="71"/>
                                        </p:tgtEl>
                                        <p:attrNameLst>
                                          <p:attrName>style.visibility</p:attrName>
                                        </p:attrNameLst>
                                      </p:cBhvr>
                                      <p:to>
                                        <p:strVal val="visible"/>
                                      </p:to>
                                    </p:set>
                                    <p:anim calcmode="lin" valueType="num">
                                      <p:cBhvr>
                                        <p:cTn id="31" dur="5000" fill="hold"/>
                                        <p:tgtEl>
                                          <p:spTgt spid="71"/>
                                        </p:tgtEl>
                                        <p:attrNameLst>
                                          <p:attrName>ppt_w</p:attrName>
                                        </p:attrNameLst>
                                      </p:cBhvr>
                                      <p:tavLst>
                                        <p:tav tm="0" fmla="#ppt_w*sin(2.5*pi*$)">
                                          <p:val>
                                            <p:fltVal val="0"/>
                                          </p:val>
                                        </p:tav>
                                        <p:tav tm="100000">
                                          <p:val>
                                            <p:fltVal val="1"/>
                                          </p:val>
                                        </p:tav>
                                      </p:tavLst>
                                    </p:anim>
                                    <p:anim calcmode="lin" valueType="num">
                                      <p:cBhvr>
                                        <p:cTn id="32" dur="5000" fill="hold"/>
                                        <p:tgtEl>
                                          <p:spTgt spid="71"/>
                                        </p:tgtEl>
                                        <p:attrNameLst>
                                          <p:attrName>ppt_h</p:attrName>
                                        </p:attrNameLst>
                                      </p:cBhvr>
                                      <p:tavLst>
                                        <p:tav tm="0">
                                          <p:val>
                                            <p:strVal val="#ppt_h"/>
                                          </p:val>
                                        </p:tav>
                                        <p:tav tm="100000">
                                          <p:val>
                                            <p:strVal val="#ppt_h"/>
                                          </p:val>
                                        </p:tav>
                                      </p:tavLst>
                                    </p:anim>
                                  </p:childTnLst>
                                </p:cTn>
                              </p:par>
                              <p:par>
                                <p:cTn id="33" presetID="18" presetClass="entr" presetSubtype="9" fill="hold" nodeType="withEffect">
                                  <p:stCondLst>
                                    <p:cond delay="0"/>
                                  </p:stCondLst>
                                  <p:childTnLst>
                                    <p:set>
                                      <p:cBhvr>
                                        <p:cTn id="34" dur="1" fill="hold">
                                          <p:stCondLst>
                                            <p:cond delay="0"/>
                                          </p:stCondLst>
                                        </p:cTn>
                                        <p:tgtEl>
                                          <p:spTgt spid="72"/>
                                        </p:tgtEl>
                                        <p:attrNameLst>
                                          <p:attrName>style.visibility</p:attrName>
                                        </p:attrNameLst>
                                      </p:cBhvr>
                                      <p:to>
                                        <p:strVal val="visible"/>
                                      </p:to>
                                    </p:set>
                                    <p:animEffect transition="in" filter="strips(upLeft)">
                                      <p:cBhvr>
                                        <p:cTn id="35" dur="3000"/>
                                        <p:tgtEl>
                                          <p:spTgt spid="72"/>
                                        </p:tgtEl>
                                      </p:cBhvr>
                                    </p:animEffec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499"/>
                                          </p:stCondLst>
                                        </p:cTn>
                                        <p:tgtEl>
                                          <p:spTgt spid="52"/>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75"/>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nodeType="clickEffect">
                                  <p:stCondLst>
                                    <p:cond delay="0"/>
                                  </p:stCondLst>
                                  <p:childTnLst>
                                    <p:set>
                                      <p:cBhvr>
                                        <p:cTn id="47" dur="1" fill="hold">
                                          <p:stCondLst>
                                            <p:cond delay="0"/>
                                          </p:stCondLst>
                                        </p:cTn>
                                        <p:tgtEl>
                                          <p:spTgt spid="78"/>
                                        </p:tgtEl>
                                        <p:attrNameLst>
                                          <p:attrName>style.visibility</p:attrName>
                                        </p:attrNameLst>
                                      </p:cBhvr>
                                      <p:to>
                                        <p:strVal val="visible"/>
                                      </p:to>
                                    </p:set>
                                    <p:animEffect transition="in" filter="wipe(left)">
                                      <p:cBhvr>
                                        <p:cTn id="48" dur="5000"/>
                                        <p:tgtEl>
                                          <p:spTgt spid="78"/>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nodeType="clickEffect">
                                  <p:stCondLst>
                                    <p:cond delay="0"/>
                                  </p:stCondLst>
                                  <p:childTnLst>
                                    <p:set>
                                      <p:cBhvr>
                                        <p:cTn id="52" dur="1" fill="hold">
                                          <p:stCondLst>
                                            <p:cond delay="0"/>
                                          </p:stCondLst>
                                        </p:cTn>
                                        <p:tgtEl>
                                          <p:spTgt spid="80"/>
                                        </p:tgtEl>
                                        <p:attrNameLst>
                                          <p:attrName>style.visibility</p:attrName>
                                        </p:attrNameLst>
                                      </p:cBhvr>
                                      <p:to>
                                        <p:strVal val="visible"/>
                                      </p:to>
                                    </p:set>
                                    <p:animEffect transition="in" filter="wipe(left)">
                                      <p:cBhvr>
                                        <p:cTn id="53" dur="3000"/>
                                        <p:tgtEl>
                                          <p:spTgt spid="80"/>
                                        </p:tgtEl>
                                      </p:cBhvr>
                                    </p:animEffec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grpId="0" nodeType="clickEffect">
                                  <p:stCondLst>
                                    <p:cond delay="0"/>
                                  </p:stCondLst>
                                  <p:childTnLst>
                                    <p:set>
                                      <p:cBhvr>
                                        <p:cTn id="57" dur="1" fill="hold">
                                          <p:stCondLst>
                                            <p:cond delay="499"/>
                                          </p:stCondLst>
                                        </p:cTn>
                                        <p:tgtEl>
                                          <p:spTgt spid="7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utoUpdateAnimBg="0"/>
      <p:bldP spid="2" grpId="0" animBg="1"/>
      <p:bldP spid="63" grpId="0"/>
      <p:bldP spid="70" grpId="0"/>
      <p:bldP spid="71" grpId="0"/>
      <p:bldP spid="75" grpId="0"/>
      <p:bldP spid="79" grpId="0"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4653838"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第七章   动力学普遍定理</a:t>
            </a:r>
          </a:p>
        </p:txBody>
      </p:sp>
      <p:sp>
        <p:nvSpPr>
          <p:cNvPr id="52" name="Text Box 1032"/>
          <p:cNvSpPr txBox="1">
            <a:spLocks noChangeArrowheads="1"/>
          </p:cNvSpPr>
          <p:nvPr/>
        </p:nvSpPr>
        <p:spPr bwMode="auto">
          <a:xfrm>
            <a:off x="570416" y="932379"/>
            <a:ext cx="10926184" cy="21605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20000"/>
              </a:lnSpc>
            </a:pPr>
            <a:r>
              <a:rPr lang="zh-CN" altLang="en-US" sz="2800" i="0" dirty="0">
                <a:solidFill>
                  <a:srgbClr val="FF0000"/>
                </a:solidFill>
                <a:latin typeface="微软雅黑" panose="020B0503020204020204" pitchFamily="34" charset="-122"/>
                <a:ea typeface="微软雅黑" panose="020B0503020204020204" pitchFamily="34" charset="-122"/>
              </a:rPr>
              <a:t>质点系动量矩定理</a:t>
            </a:r>
            <a:endParaRPr lang="en-US" altLang="zh-CN" sz="2800" i="0" dirty="0">
              <a:solidFill>
                <a:srgbClr val="FF0000"/>
              </a:solidFill>
              <a:latin typeface="微软雅黑" panose="020B0503020204020204" pitchFamily="34" charset="-122"/>
              <a:ea typeface="微软雅黑" panose="020B0503020204020204" pitchFamily="34" charset="-122"/>
            </a:endParaRPr>
          </a:p>
          <a:p>
            <a:pPr lvl="0">
              <a:lnSpc>
                <a:spcPct val="120000"/>
              </a:lnSpc>
            </a:pPr>
            <a:r>
              <a:rPr kumimoji="1" lang="zh-CN" altLang="en-US" sz="2800" i="0" dirty="0">
                <a:latin typeface="+mn-lt"/>
                <a:ea typeface="微软雅黑" panose="020B0503020204020204" pitchFamily="34" charset="-122"/>
              </a:rPr>
              <a:t>设质点系由</a:t>
            </a:r>
            <a:r>
              <a:rPr kumimoji="1" lang="en-US" altLang="zh-CN" sz="2800" b="0" dirty="0">
                <a:latin typeface="+mn-lt"/>
                <a:ea typeface="微软雅黑" panose="020B0503020204020204" pitchFamily="34" charset="-122"/>
              </a:rPr>
              <a:t>n</a:t>
            </a:r>
            <a:r>
              <a:rPr kumimoji="1" lang="zh-CN" altLang="en-US" sz="2800" i="0" dirty="0">
                <a:latin typeface="+mn-lt"/>
                <a:ea typeface="微软雅黑" panose="020B0503020204020204" pitchFamily="34" charset="-122"/>
              </a:rPr>
              <a:t>个质点组成，取其中任一质点</a:t>
            </a:r>
            <a:r>
              <a:rPr kumimoji="1" lang="en-US" altLang="zh-CN" sz="2800" dirty="0" err="1">
                <a:latin typeface="+mn-lt"/>
                <a:ea typeface="微软雅黑" panose="020B0503020204020204" pitchFamily="34" charset="-122"/>
              </a:rPr>
              <a:t>M</a:t>
            </a:r>
            <a:r>
              <a:rPr kumimoji="1" lang="en-US" altLang="zh-CN" sz="2800" b="0" baseline="-25000" dirty="0" err="1">
                <a:latin typeface="+mn-lt"/>
                <a:ea typeface="微软雅黑" panose="020B0503020204020204" pitchFamily="34" charset="-122"/>
              </a:rPr>
              <a:t>i</a:t>
            </a:r>
            <a:r>
              <a:rPr kumimoji="1" lang="zh-CN" altLang="en-US" sz="2800" i="0" dirty="0">
                <a:latin typeface="+mn-lt"/>
                <a:ea typeface="微软雅黑" panose="020B0503020204020204" pitchFamily="34" charset="-122"/>
              </a:rPr>
              <a:t>，此质点的动量为</a:t>
            </a:r>
            <a:r>
              <a:rPr kumimoji="1" lang="en-US" altLang="zh-CN" sz="2800" dirty="0" err="1">
                <a:latin typeface="+mn-lt"/>
                <a:ea typeface="微软雅黑" panose="020B0503020204020204" pitchFamily="34" charset="-122"/>
              </a:rPr>
              <a:t>m</a:t>
            </a:r>
            <a:r>
              <a:rPr kumimoji="1" lang="en-US" altLang="zh-CN" sz="2800" b="0" baseline="-25000" dirty="0" err="1">
                <a:latin typeface="+mn-lt"/>
                <a:ea typeface="微软雅黑" panose="020B0503020204020204" pitchFamily="34" charset="-122"/>
              </a:rPr>
              <a:t>i</a:t>
            </a:r>
            <a:r>
              <a:rPr kumimoji="1" lang="en-US" altLang="zh-CN" sz="2800" dirty="0" err="1">
                <a:latin typeface="+mn-lt"/>
                <a:ea typeface="微软雅黑" panose="020B0503020204020204" pitchFamily="34" charset="-122"/>
              </a:rPr>
              <a:t>v</a:t>
            </a:r>
            <a:r>
              <a:rPr kumimoji="1" lang="en-US" altLang="zh-CN" sz="2800" b="0" baseline="-25000" dirty="0" err="1">
                <a:latin typeface="+mn-lt"/>
                <a:ea typeface="微软雅黑" panose="020B0503020204020204" pitchFamily="34" charset="-122"/>
              </a:rPr>
              <a:t>i</a:t>
            </a:r>
            <a:r>
              <a:rPr kumimoji="1" lang="zh-CN" altLang="en-US" sz="2800" i="0" dirty="0">
                <a:latin typeface="+mn-lt"/>
                <a:ea typeface="微软雅黑" panose="020B0503020204020204" pitchFamily="34" charset="-122"/>
              </a:rPr>
              <a:t>，作用在该质点上内力的合力为      ，外力的合力为       。由前述质点动量矩定理有</a:t>
            </a:r>
            <a:endParaRPr kumimoji="1" lang="zh-CN" altLang="en-US" sz="2800" b="0" i="0" dirty="0">
              <a:latin typeface="+mn-lt"/>
              <a:ea typeface="微软雅黑" panose="020B0503020204020204" pitchFamily="34" charset="-122"/>
            </a:endParaRPr>
          </a:p>
        </p:txBody>
      </p:sp>
      <p:graphicFrame>
        <p:nvGraphicFramePr>
          <p:cNvPr id="35" name="Object 7"/>
          <p:cNvGraphicFramePr>
            <a:graphicFrameLocks noChangeAspect="1"/>
          </p:cNvGraphicFramePr>
          <p:nvPr>
            <p:extLst>
              <p:ext uri="{D42A27DB-BD31-4B8C-83A1-F6EECF244321}">
                <p14:modId xmlns:p14="http://schemas.microsoft.com/office/powerpoint/2010/main" val="3243232943"/>
              </p:ext>
            </p:extLst>
          </p:nvPr>
        </p:nvGraphicFramePr>
        <p:xfrm>
          <a:off x="8328248" y="2006108"/>
          <a:ext cx="701675" cy="566737"/>
        </p:xfrm>
        <a:graphic>
          <a:graphicData uri="http://schemas.openxmlformats.org/presentationml/2006/ole">
            <mc:AlternateContent xmlns:mc="http://schemas.openxmlformats.org/markup-compatibility/2006">
              <mc:Choice xmlns:v="urn:schemas-microsoft-com:vml" Requires="v">
                <p:oleObj spid="_x0000_s9296" name="Equation" r:id="rId4" imgW="291960" imgH="241200" progId="Equation.DSMT4">
                  <p:embed/>
                </p:oleObj>
              </mc:Choice>
              <mc:Fallback>
                <p:oleObj name="Equation" r:id="rId4" imgW="291960" imgH="241200" progId="Equation.DSMT4">
                  <p:embed/>
                  <p:pic>
                    <p:nvPicPr>
                      <p:cNvPr id="0" name=""/>
                      <p:cNvPicPr>
                        <a:picLocks noChangeAspect="1" noChangeArrowheads="1"/>
                      </p:cNvPicPr>
                      <p:nvPr/>
                    </p:nvPicPr>
                    <p:blipFill>
                      <a:blip r:embed="rId5"/>
                      <a:srcRect/>
                      <a:stretch>
                        <a:fillRect/>
                      </a:stretch>
                    </p:blipFill>
                    <p:spPr bwMode="auto">
                      <a:xfrm>
                        <a:off x="8328248" y="2006108"/>
                        <a:ext cx="701675" cy="566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6" name="Object 7"/>
          <p:cNvGraphicFramePr>
            <a:graphicFrameLocks noChangeAspect="1"/>
          </p:cNvGraphicFramePr>
          <p:nvPr>
            <p:extLst>
              <p:ext uri="{D42A27DB-BD31-4B8C-83A1-F6EECF244321}">
                <p14:modId xmlns:p14="http://schemas.microsoft.com/office/powerpoint/2010/main" val="2735286937"/>
              </p:ext>
            </p:extLst>
          </p:nvPr>
        </p:nvGraphicFramePr>
        <p:xfrm>
          <a:off x="5250936" y="1988840"/>
          <a:ext cx="641350" cy="566737"/>
        </p:xfrm>
        <a:graphic>
          <a:graphicData uri="http://schemas.openxmlformats.org/presentationml/2006/ole">
            <mc:AlternateContent xmlns:mc="http://schemas.openxmlformats.org/markup-compatibility/2006">
              <mc:Choice xmlns:v="urn:schemas-microsoft-com:vml" Requires="v">
                <p:oleObj spid="_x0000_s9297" name="Equation" r:id="rId6" imgW="266400" imgH="241200" progId="Equation.DSMT4">
                  <p:embed/>
                </p:oleObj>
              </mc:Choice>
              <mc:Fallback>
                <p:oleObj name="Equation" r:id="rId6" imgW="266400" imgH="241200" progId="Equation.DSMT4">
                  <p:embed/>
                  <p:pic>
                    <p:nvPicPr>
                      <p:cNvPr id="0" name=""/>
                      <p:cNvPicPr>
                        <a:picLocks noChangeAspect="1" noChangeArrowheads="1"/>
                      </p:cNvPicPr>
                      <p:nvPr/>
                    </p:nvPicPr>
                    <p:blipFill>
                      <a:blip r:embed="rId7"/>
                      <a:srcRect/>
                      <a:stretch>
                        <a:fillRect/>
                      </a:stretch>
                    </p:blipFill>
                    <p:spPr bwMode="auto">
                      <a:xfrm>
                        <a:off x="5250936" y="1988840"/>
                        <a:ext cx="641350" cy="566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7" name="Object 10"/>
          <p:cNvGraphicFramePr>
            <a:graphicFrameLocks noChangeAspect="1"/>
          </p:cNvGraphicFramePr>
          <p:nvPr>
            <p:extLst>
              <p:ext uri="{D42A27DB-BD31-4B8C-83A1-F6EECF244321}">
                <p14:modId xmlns:p14="http://schemas.microsoft.com/office/powerpoint/2010/main" val="4187796274"/>
              </p:ext>
            </p:extLst>
          </p:nvPr>
        </p:nvGraphicFramePr>
        <p:xfrm>
          <a:off x="598980" y="3044825"/>
          <a:ext cx="4951412" cy="884238"/>
        </p:xfrm>
        <a:graphic>
          <a:graphicData uri="http://schemas.openxmlformats.org/presentationml/2006/ole">
            <mc:AlternateContent xmlns:mc="http://schemas.openxmlformats.org/markup-compatibility/2006">
              <mc:Choice xmlns:v="urn:schemas-microsoft-com:vml" Requires="v">
                <p:oleObj spid="_x0000_s9298" name="Equation" r:id="rId8" imgW="2184120" imgH="393480" progId="Equation.DSMT4">
                  <p:embed/>
                </p:oleObj>
              </mc:Choice>
              <mc:Fallback>
                <p:oleObj name="Equation" r:id="rId8" imgW="2184120" imgH="393480" progId="Equation.DSMT4">
                  <p:embed/>
                  <p:pic>
                    <p:nvPicPr>
                      <p:cNvPr id="0" name=""/>
                      <p:cNvPicPr>
                        <a:picLocks noChangeAspect="1" noChangeArrowheads="1"/>
                      </p:cNvPicPr>
                      <p:nvPr/>
                    </p:nvPicPr>
                    <p:blipFill>
                      <a:blip r:embed="rId9"/>
                      <a:srcRect/>
                      <a:stretch>
                        <a:fillRect/>
                      </a:stretch>
                    </p:blipFill>
                    <p:spPr bwMode="auto">
                      <a:xfrm>
                        <a:off x="598980" y="3044825"/>
                        <a:ext cx="4951412" cy="884238"/>
                      </a:xfrm>
                      <a:prstGeom prst="rect">
                        <a:avLst/>
                      </a:prstGeom>
                      <a:noFill/>
                    </p:spPr>
                  </p:pic>
                </p:oleObj>
              </mc:Fallback>
            </mc:AlternateContent>
          </a:graphicData>
        </a:graphic>
      </p:graphicFrame>
      <p:graphicFrame>
        <p:nvGraphicFramePr>
          <p:cNvPr id="38" name="Object 11"/>
          <p:cNvGraphicFramePr>
            <a:graphicFrameLocks noChangeAspect="1"/>
          </p:cNvGraphicFramePr>
          <p:nvPr>
            <p:extLst>
              <p:ext uri="{D42A27DB-BD31-4B8C-83A1-F6EECF244321}">
                <p14:modId xmlns:p14="http://schemas.microsoft.com/office/powerpoint/2010/main" val="2558425991"/>
              </p:ext>
            </p:extLst>
          </p:nvPr>
        </p:nvGraphicFramePr>
        <p:xfrm>
          <a:off x="6091180" y="3044825"/>
          <a:ext cx="5543550" cy="879475"/>
        </p:xfrm>
        <a:graphic>
          <a:graphicData uri="http://schemas.openxmlformats.org/presentationml/2006/ole">
            <mc:AlternateContent xmlns:mc="http://schemas.openxmlformats.org/markup-compatibility/2006">
              <mc:Choice xmlns:v="urn:schemas-microsoft-com:vml" Requires="v">
                <p:oleObj spid="_x0000_s9299" name="Equation" r:id="rId10" imgW="2463480" imgH="393480" progId="Equation.DSMT4">
                  <p:embed/>
                </p:oleObj>
              </mc:Choice>
              <mc:Fallback>
                <p:oleObj name="Equation" r:id="rId10" imgW="2463480" imgH="393480" progId="Equation.DSMT4">
                  <p:embed/>
                  <p:pic>
                    <p:nvPicPr>
                      <p:cNvPr id="0" name=""/>
                      <p:cNvPicPr>
                        <a:picLocks noChangeAspect="1" noChangeArrowheads="1"/>
                      </p:cNvPicPr>
                      <p:nvPr/>
                    </p:nvPicPr>
                    <p:blipFill>
                      <a:blip r:embed="rId11"/>
                      <a:srcRect/>
                      <a:stretch>
                        <a:fillRect/>
                      </a:stretch>
                    </p:blipFill>
                    <p:spPr bwMode="auto">
                      <a:xfrm>
                        <a:off x="6091180" y="3044825"/>
                        <a:ext cx="5543550" cy="879475"/>
                      </a:xfrm>
                      <a:prstGeom prst="rect">
                        <a:avLst/>
                      </a:prstGeom>
                      <a:noFill/>
                    </p:spPr>
                  </p:pic>
                </p:oleObj>
              </mc:Fallback>
            </mc:AlternateContent>
          </a:graphicData>
        </a:graphic>
      </p:graphicFrame>
      <p:sp>
        <p:nvSpPr>
          <p:cNvPr id="40" name="Text Box 1032"/>
          <p:cNvSpPr txBox="1">
            <a:spLocks noChangeArrowheads="1"/>
          </p:cNvSpPr>
          <p:nvPr/>
        </p:nvSpPr>
        <p:spPr bwMode="auto">
          <a:xfrm>
            <a:off x="570416" y="3855538"/>
            <a:ext cx="10926184" cy="1082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20000"/>
              </a:lnSpc>
            </a:pPr>
            <a:r>
              <a:rPr kumimoji="1" lang="zh-CN" altLang="en-US" sz="2800" i="0" dirty="0">
                <a:latin typeface="+mn-lt"/>
                <a:ea typeface="微软雅黑" panose="020B0503020204020204" pitchFamily="34" charset="-122"/>
              </a:rPr>
              <a:t>由于质点间相互作用的内力总是成对出现，它们对</a:t>
            </a:r>
            <a:r>
              <a:rPr kumimoji="1" lang="en-US" altLang="zh-CN" sz="2800" b="0" dirty="0">
                <a:latin typeface="+mn-lt"/>
                <a:ea typeface="微软雅黑" panose="020B0503020204020204" pitchFamily="34" charset="-122"/>
              </a:rPr>
              <a:t>z </a:t>
            </a:r>
            <a:r>
              <a:rPr kumimoji="1" lang="zh-CN" altLang="en-US" sz="2800" i="0" dirty="0">
                <a:latin typeface="+mn-lt"/>
                <a:ea typeface="微软雅黑" panose="020B0503020204020204" pitchFamily="34" charset="-122"/>
              </a:rPr>
              <a:t>轴力矩的代数和恒为零</a:t>
            </a:r>
            <a:endParaRPr kumimoji="1" lang="zh-CN" altLang="en-US" sz="2800" b="0" i="0" dirty="0">
              <a:latin typeface="+mn-lt"/>
              <a:ea typeface="微软雅黑" panose="020B0503020204020204" pitchFamily="34" charset="-122"/>
            </a:endParaRPr>
          </a:p>
        </p:txBody>
      </p:sp>
      <p:graphicFrame>
        <p:nvGraphicFramePr>
          <p:cNvPr id="42" name="Object 13"/>
          <p:cNvGraphicFramePr>
            <a:graphicFrameLocks noChangeAspect="1"/>
          </p:cNvGraphicFramePr>
          <p:nvPr>
            <p:extLst>
              <p:ext uri="{D42A27DB-BD31-4B8C-83A1-F6EECF244321}">
                <p14:modId xmlns:p14="http://schemas.microsoft.com/office/powerpoint/2010/main" val="1914420645"/>
              </p:ext>
            </p:extLst>
          </p:nvPr>
        </p:nvGraphicFramePr>
        <p:xfrm>
          <a:off x="2423591" y="4431568"/>
          <a:ext cx="2239649" cy="581607"/>
        </p:xfrm>
        <a:graphic>
          <a:graphicData uri="http://schemas.openxmlformats.org/presentationml/2006/ole">
            <mc:AlternateContent xmlns:mc="http://schemas.openxmlformats.org/markup-compatibility/2006">
              <mc:Choice xmlns:v="urn:schemas-microsoft-com:vml" Requires="v">
                <p:oleObj spid="_x0000_s9300" name="Equation" r:id="rId12" imgW="914400" imgH="241200" progId="Equation.DSMT4">
                  <p:embed/>
                </p:oleObj>
              </mc:Choice>
              <mc:Fallback>
                <p:oleObj name="Equation" r:id="rId12" imgW="914400" imgH="241200" progId="Equation.DSMT4">
                  <p:embed/>
                  <p:pic>
                    <p:nvPicPr>
                      <p:cNvPr id="0" name=""/>
                      <p:cNvPicPr>
                        <a:picLocks noChangeAspect="1" noChangeArrowheads="1"/>
                      </p:cNvPicPr>
                      <p:nvPr/>
                    </p:nvPicPr>
                    <p:blipFill>
                      <a:blip r:embed="rId13"/>
                      <a:srcRect/>
                      <a:stretch>
                        <a:fillRect/>
                      </a:stretch>
                    </p:blipFill>
                    <p:spPr bwMode="auto">
                      <a:xfrm>
                        <a:off x="2423591" y="4431568"/>
                        <a:ext cx="2239649" cy="581607"/>
                      </a:xfrm>
                      <a:prstGeom prst="rect">
                        <a:avLst/>
                      </a:prstGeom>
                      <a:noFill/>
                    </p:spPr>
                  </p:pic>
                </p:oleObj>
              </mc:Fallback>
            </mc:AlternateContent>
          </a:graphicData>
        </a:graphic>
      </p:graphicFrame>
      <p:graphicFrame>
        <p:nvGraphicFramePr>
          <p:cNvPr id="43" name="Object 14"/>
          <p:cNvGraphicFramePr>
            <a:graphicFrameLocks noChangeAspect="1"/>
          </p:cNvGraphicFramePr>
          <p:nvPr>
            <p:extLst>
              <p:ext uri="{D42A27DB-BD31-4B8C-83A1-F6EECF244321}">
                <p14:modId xmlns:p14="http://schemas.microsoft.com/office/powerpoint/2010/main" val="427285264"/>
              </p:ext>
            </p:extLst>
          </p:nvPr>
        </p:nvGraphicFramePr>
        <p:xfrm>
          <a:off x="2516188" y="5141913"/>
          <a:ext cx="5065712" cy="950912"/>
        </p:xfrm>
        <a:graphic>
          <a:graphicData uri="http://schemas.openxmlformats.org/presentationml/2006/ole">
            <mc:AlternateContent xmlns:mc="http://schemas.openxmlformats.org/markup-compatibility/2006">
              <mc:Choice xmlns:v="urn:schemas-microsoft-com:vml" Requires="v">
                <p:oleObj spid="_x0000_s9301" name="Equation" r:id="rId14" imgW="2082600" imgH="393480" progId="Equation.DSMT4">
                  <p:embed/>
                </p:oleObj>
              </mc:Choice>
              <mc:Fallback>
                <p:oleObj name="Equation" r:id="rId14" imgW="2082600" imgH="393480" progId="Equation.DSMT4">
                  <p:embed/>
                  <p:pic>
                    <p:nvPicPr>
                      <p:cNvPr id="0" name=""/>
                      <p:cNvPicPr>
                        <a:picLocks noChangeAspect="1" noChangeArrowheads="1"/>
                      </p:cNvPicPr>
                      <p:nvPr/>
                    </p:nvPicPr>
                    <p:blipFill>
                      <a:blip r:embed="rId15"/>
                      <a:srcRect/>
                      <a:stretch>
                        <a:fillRect/>
                      </a:stretch>
                    </p:blipFill>
                    <p:spPr bwMode="auto">
                      <a:xfrm>
                        <a:off x="2516188" y="5141913"/>
                        <a:ext cx="5065712" cy="950912"/>
                      </a:xfrm>
                      <a:prstGeom prst="rect">
                        <a:avLst/>
                      </a:prstGeom>
                      <a:noFill/>
                    </p:spPr>
                  </p:pic>
                </p:oleObj>
              </mc:Fallback>
            </mc:AlternateContent>
          </a:graphicData>
        </a:graphic>
      </p:graphicFrame>
    </p:spTree>
    <p:extLst>
      <p:ext uri="{BB962C8B-B14F-4D97-AF65-F5344CB8AC3E}">
        <p14:creationId xmlns:p14="http://schemas.microsoft.com/office/powerpoint/2010/main" val="2912150545"/>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2"/>
                                        </p:tgtEl>
                                        <p:attrNameLst>
                                          <p:attrName>style.visibility</p:attrName>
                                        </p:attrNameLst>
                                      </p:cBhvr>
                                      <p:to>
                                        <p:strVal val="visible"/>
                                      </p:to>
                                    </p:set>
                                  </p:childTnLst>
                                </p:cTn>
                              </p:par>
                              <p:par>
                                <p:cTn id="7" presetID="22" presetClass="entr" presetSubtype="8" fill="hold" nodeType="withEffect">
                                  <p:stCondLst>
                                    <p:cond delay="4000"/>
                                  </p:stCondLst>
                                  <p:childTnLst>
                                    <p:set>
                                      <p:cBhvr>
                                        <p:cTn id="8" dur="1" fill="hold">
                                          <p:stCondLst>
                                            <p:cond delay="0"/>
                                          </p:stCondLst>
                                        </p:cTn>
                                        <p:tgtEl>
                                          <p:spTgt spid="35"/>
                                        </p:tgtEl>
                                        <p:attrNameLst>
                                          <p:attrName>style.visibility</p:attrName>
                                        </p:attrNameLst>
                                      </p:cBhvr>
                                      <p:to>
                                        <p:strVal val="visible"/>
                                      </p:to>
                                    </p:set>
                                    <p:animEffect transition="in" filter="wipe(left)">
                                      <p:cBhvr>
                                        <p:cTn id="9" dur="2000"/>
                                        <p:tgtEl>
                                          <p:spTgt spid="35"/>
                                        </p:tgtEl>
                                      </p:cBhvr>
                                    </p:animEffect>
                                  </p:childTnLst>
                                </p:cTn>
                              </p:par>
                              <p:par>
                                <p:cTn id="10" presetID="22" presetClass="entr" presetSubtype="8" fill="hold" nodeType="withEffect">
                                  <p:stCondLst>
                                    <p:cond delay="4000"/>
                                  </p:stCondLst>
                                  <p:childTnLst>
                                    <p:set>
                                      <p:cBhvr>
                                        <p:cTn id="11" dur="1" fill="hold">
                                          <p:stCondLst>
                                            <p:cond delay="0"/>
                                          </p:stCondLst>
                                        </p:cTn>
                                        <p:tgtEl>
                                          <p:spTgt spid="36"/>
                                        </p:tgtEl>
                                        <p:attrNameLst>
                                          <p:attrName>style.visibility</p:attrName>
                                        </p:attrNameLst>
                                      </p:cBhvr>
                                      <p:to>
                                        <p:strVal val="visible"/>
                                      </p:to>
                                    </p:set>
                                    <p:animEffect transition="in" filter="wipe(left)">
                                      <p:cBhvr>
                                        <p:cTn id="12" dur="2000"/>
                                        <p:tgtEl>
                                          <p:spTgt spid="3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7"/>
                                        </p:tgtEl>
                                        <p:attrNameLst>
                                          <p:attrName>style.visibility</p:attrName>
                                        </p:attrNameLst>
                                      </p:cBhvr>
                                      <p:to>
                                        <p:strVal val="visible"/>
                                      </p:to>
                                    </p:set>
                                    <p:animEffect transition="in" filter="wipe(left)">
                                      <p:cBhvr>
                                        <p:cTn id="17" dur="3000"/>
                                        <p:tgtEl>
                                          <p:spTgt spid="3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8"/>
                                        </p:tgtEl>
                                        <p:attrNameLst>
                                          <p:attrName>style.visibility</p:attrName>
                                        </p:attrNameLst>
                                      </p:cBhvr>
                                      <p:to>
                                        <p:strVal val="visible"/>
                                      </p:to>
                                    </p:set>
                                    <p:animEffect transition="in" filter="wipe(left)">
                                      <p:cBhvr>
                                        <p:cTn id="22" dur="3000"/>
                                        <p:tgtEl>
                                          <p:spTgt spid="38"/>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40"/>
                                        </p:tgtEl>
                                        <p:attrNameLst>
                                          <p:attrName>style.visibility</p:attrName>
                                        </p:attrNameLst>
                                      </p:cBhvr>
                                      <p:to>
                                        <p:strVal val="visible"/>
                                      </p:to>
                                    </p:set>
                                  </p:childTnLst>
                                </p:cTn>
                              </p:par>
                            </p:childTnLst>
                          </p:cTn>
                        </p:par>
                        <p:par>
                          <p:cTn id="27" fill="hold">
                            <p:stCondLst>
                              <p:cond delay="500"/>
                            </p:stCondLst>
                            <p:childTnLst>
                              <p:par>
                                <p:cTn id="28" presetID="22" presetClass="entr" presetSubtype="8" fill="hold" nodeType="afterEffect">
                                  <p:stCondLst>
                                    <p:cond delay="0"/>
                                  </p:stCondLst>
                                  <p:childTnLst>
                                    <p:set>
                                      <p:cBhvr>
                                        <p:cTn id="29" dur="1" fill="hold">
                                          <p:stCondLst>
                                            <p:cond delay="0"/>
                                          </p:stCondLst>
                                        </p:cTn>
                                        <p:tgtEl>
                                          <p:spTgt spid="42"/>
                                        </p:tgtEl>
                                        <p:attrNameLst>
                                          <p:attrName>style.visibility</p:attrName>
                                        </p:attrNameLst>
                                      </p:cBhvr>
                                      <p:to>
                                        <p:strVal val="visible"/>
                                      </p:to>
                                    </p:set>
                                    <p:animEffect transition="in" filter="wipe(left)">
                                      <p:cBhvr>
                                        <p:cTn id="30" dur="2000"/>
                                        <p:tgtEl>
                                          <p:spTgt spid="42"/>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43"/>
                                        </p:tgtEl>
                                        <p:attrNameLst>
                                          <p:attrName>style.visibility</p:attrName>
                                        </p:attrNameLst>
                                      </p:cBhvr>
                                      <p:to>
                                        <p:strVal val="visible"/>
                                      </p:to>
                                    </p:set>
                                    <p:animEffect transition="in" filter="wipe(left)">
                                      <p:cBhvr>
                                        <p:cTn id="35" dur="30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utoUpdateAnimBg="0"/>
      <p:bldP spid="40" grpId="0"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4653838"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第七章   动力学普遍定理</a:t>
            </a:r>
          </a:p>
        </p:txBody>
      </p:sp>
      <p:sp>
        <p:nvSpPr>
          <p:cNvPr id="40" name="Text Box 1032"/>
          <p:cNvSpPr txBox="1">
            <a:spLocks noChangeArrowheads="1"/>
          </p:cNvSpPr>
          <p:nvPr/>
        </p:nvSpPr>
        <p:spPr bwMode="auto">
          <a:xfrm>
            <a:off x="570416" y="1911481"/>
            <a:ext cx="10926184" cy="1126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20000"/>
              </a:lnSpc>
            </a:pPr>
            <a:r>
              <a:rPr kumimoji="1" lang="zh-CN" altLang="en-US" sz="2800" i="0" dirty="0">
                <a:latin typeface="+mn-lt"/>
                <a:ea typeface="微软雅黑" panose="020B0503020204020204" pitchFamily="34" charset="-122"/>
              </a:rPr>
              <a:t>质点系对于某一固定轴的动量矩对于时间的导数，等于质点系所有外力对于同一轴之矩的代数和。这就是</a:t>
            </a:r>
            <a:r>
              <a:rPr kumimoji="1" lang="zh-CN" altLang="en-US" sz="2800" i="0" dirty="0">
                <a:solidFill>
                  <a:srgbClr val="FF00FF"/>
                </a:solidFill>
                <a:latin typeface="+mn-lt"/>
                <a:ea typeface="微软雅黑" panose="020B0503020204020204" pitchFamily="34" charset="-122"/>
              </a:rPr>
              <a:t>质点系的动量矩定理</a:t>
            </a:r>
          </a:p>
        </p:txBody>
      </p:sp>
      <p:graphicFrame>
        <p:nvGraphicFramePr>
          <p:cNvPr id="43" name="Object 14"/>
          <p:cNvGraphicFramePr>
            <a:graphicFrameLocks noChangeAspect="1"/>
          </p:cNvGraphicFramePr>
          <p:nvPr>
            <p:extLst>
              <p:ext uri="{D42A27DB-BD31-4B8C-83A1-F6EECF244321}">
                <p14:modId xmlns:p14="http://schemas.microsoft.com/office/powerpoint/2010/main" val="1298070794"/>
              </p:ext>
            </p:extLst>
          </p:nvPr>
        </p:nvGraphicFramePr>
        <p:xfrm>
          <a:off x="4260850" y="909638"/>
          <a:ext cx="1574800" cy="950912"/>
        </p:xfrm>
        <a:graphic>
          <a:graphicData uri="http://schemas.openxmlformats.org/presentationml/2006/ole">
            <mc:AlternateContent xmlns:mc="http://schemas.openxmlformats.org/markup-compatibility/2006">
              <mc:Choice xmlns:v="urn:schemas-microsoft-com:vml" Requires="v">
                <p:oleObj spid="_x0000_s10284" name="Equation" r:id="rId4" imgW="647640" imgH="393480" progId="Equation.DSMT4">
                  <p:embed/>
                </p:oleObj>
              </mc:Choice>
              <mc:Fallback>
                <p:oleObj name="Equation" r:id="rId4" imgW="647640" imgH="393480" progId="Equation.DSMT4">
                  <p:embed/>
                  <p:pic>
                    <p:nvPicPr>
                      <p:cNvPr id="0" name=""/>
                      <p:cNvPicPr>
                        <a:picLocks noChangeAspect="1" noChangeArrowheads="1"/>
                      </p:cNvPicPr>
                      <p:nvPr/>
                    </p:nvPicPr>
                    <p:blipFill>
                      <a:blip r:embed="rId5"/>
                      <a:srcRect/>
                      <a:stretch>
                        <a:fillRect/>
                      </a:stretch>
                    </p:blipFill>
                    <p:spPr bwMode="auto">
                      <a:xfrm>
                        <a:off x="4260850" y="909638"/>
                        <a:ext cx="1574800" cy="950912"/>
                      </a:xfrm>
                      <a:prstGeom prst="rect">
                        <a:avLst/>
                      </a:prstGeom>
                      <a:noFill/>
                    </p:spPr>
                  </p:pic>
                </p:oleObj>
              </mc:Fallback>
            </mc:AlternateContent>
          </a:graphicData>
        </a:graphic>
      </p:graphicFrame>
      <p:sp>
        <p:nvSpPr>
          <p:cNvPr id="11" name="Text Box 1032"/>
          <p:cNvSpPr txBox="1">
            <a:spLocks noChangeArrowheads="1"/>
          </p:cNvSpPr>
          <p:nvPr/>
        </p:nvSpPr>
        <p:spPr bwMode="auto">
          <a:xfrm>
            <a:off x="570416" y="3192660"/>
            <a:ext cx="10926184" cy="1081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20000"/>
              </a:lnSpc>
            </a:pPr>
            <a:r>
              <a:rPr lang="zh-CN" altLang="en-US" sz="2800" i="0" dirty="0">
                <a:solidFill>
                  <a:srgbClr val="FF0000"/>
                </a:solidFill>
                <a:latin typeface="微软雅黑" panose="020B0503020204020204" pitchFamily="34" charset="-122"/>
                <a:ea typeface="微软雅黑" panose="020B0503020204020204" pitchFamily="34" charset="-122"/>
              </a:rPr>
              <a:t>质点系动量矩守恒定理</a:t>
            </a:r>
            <a:endParaRPr lang="en-US" altLang="zh-CN" sz="2800" i="0" dirty="0">
              <a:solidFill>
                <a:srgbClr val="FF0000"/>
              </a:solidFill>
              <a:latin typeface="微软雅黑" panose="020B0503020204020204" pitchFamily="34" charset="-122"/>
              <a:ea typeface="微软雅黑" panose="020B0503020204020204" pitchFamily="34" charset="-122"/>
            </a:endParaRPr>
          </a:p>
          <a:p>
            <a:pPr>
              <a:lnSpc>
                <a:spcPct val="120000"/>
              </a:lnSpc>
            </a:pPr>
            <a:r>
              <a:rPr kumimoji="1" lang="zh-CN" altLang="en-US" sz="2800" i="0" dirty="0">
                <a:ea typeface="微软雅黑" panose="020B0503020204020204" pitchFamily="34" charset="-122"/>
              </a:rPr>
              <a:t>若作用在质点系上的外力对某固定轴之矩的代数和为零，</a:t>
            </a:r>
            <a:endParaRPr lang="zh-CN" altLang="en-US" sz="2800" dirty="0"/>
          </a:p>
        </p:txBody>
      </p:sp>
      <p:graphicFrame>
        <p:nvGraphicFramePr>
          <p:cNvPr id="12" name="Object 7"/>
          <p:cNvGraphicFramePr>
            <a:graphicFrameLocks noChangeAspect="1"/>
          </p:cNvGraphicFramePr>
          <p:nvPr>
            <p:extLst>
              <p:ext uri="{D42A27DB-BD31-4B8C-83A1-F6EECF244321}">
                <p14:modId xmlns:p14="http://schemas.microsoft.com/office/powerpoint/2010/main" val="2583748482"/>
              </p:ext>
            </p:extLst>
          </p:nvPr>
        </p:nvGraphicFramePr>
        <p:xfrm>
          <a:off x="9552384" y="3691917"/>
          <a:ext cx="2344167" cy="600336"/>
        </p:xfrm>
        <a:graphic>
          <a:graphicData uri="http://schemas.openxmlformats.org/presentationml/2006/ole">
            <mc:AlternateContent xmlns:mc="http://schemas.openxmlformats.org/markup-compatibility/2006">
              <mc:Choice xmlns:v="urn:schemas-microsoft-com:vml" Requires="v">
                <p:oleObj spid="_x0000_s10285" name="Equation" r:id="rId6" imgW="927000" imgH="241200" progId="Equation.DSMT4">
                  <p:embed/>
                </p:oleObj>
              </mc:Choice>
              <mc:Fallback>
                <p:oleObj name="Equation" r:id="rId6" imgW="927000" imgH="241200" progId="Equation.DSMT4">
                  <p:embed/>
                  <p:pic>
                    <p:nvPicPr>
                      <p:cNvPr id="0" name=""/>
                      <p:cNvPicPr>
                        <a:picLocks noChangeAspect="1" noChangeArrowheads="1"/>
                      </p:cNvPicPr>
                      <p:nvPr/>
                    </p:nvPicPr>
                    <p:blipFill>
                      <a:blip r:embed="rId7"/>
                      <a:srcRect/>
                      <a:stretch>
                        <a:fillRect/>
                      </a:stretch>
                    </p:blipFill>
                    <p:spPr bwMode="auto">
                      <a:xfrm>
                        <a:off x="9552384" y="3691917"/>
                        <a:ext cx="2344167" cy="600336"/>
                      </a:xfrm>
                      <a:prstGeom prst="rect">
                        <a:avLst/>
                      </a:prstGeom>
                      <a:noFill/>
                    </p:spPr>
                  </p:pic>
                </p:oleObj>
              </mc:Fallback>
            </mc:AlternateContent>
          </a:graphicData>
        </a:graphic>
      </p:graphicFrame>
      <p:graphicFrame>
        <p:nvGraphicFramePr>
          <p:cNvPr id="13" name="Object 13"/>
          <p:cNvGraphicFramePr>
            <a:graphicFrameLocks noChangeAspect="1"/>
          </p:cNvGraphicFramePr>
          <p:nvPr>
            <p:extLst>
              <p:ext uri="{D42A27DB-BD31-4B8C-83A1-F6EECF244321}">
                <p14:modId xmlns:p14="http://schemas.microsoft.com/office/powerpoint/2010/main" val="2048005358"/>
              </p:ext>
            </p:extLst>
          </p:nvPr>
        </p:nvGraphicFramePr>
        <p:xfrm>
          <a:off x="3822112" y="4428698"/>
          <a:ext cx="2808312" cy="981675"/>
        </p:xfrm>
        <a:graphic>
          <a:graphicData uri="http://schemas.openxmlformats.org/presentationml/2006/ole">
            <mc:AlternateContent xmlns:mc="http://schemas.openxmlformats.org/markup-compatibility/2006">
              <mc:Choice xmlns:v="urn:schemas-microsoft-com:vml" Requires="v">
                <p:oleObj spid="_x0000_s10286" name="Equation" r:id="rId8" imgW="1117440" imgH="393480" progId="Equation.DSMT4">
                  <p:embed/>
                </p:oleObj>
              </mc:Choice>
              <mc:Fallback>
                <p:oleObj name="Equation" r:id="rId8" imgW="1117440" imgH="393480" progId="Equation.DSMT4">
                  <p:embed/>
                  <p:pic>
                    <p:nvPicPr>
                      <p:cNvPr id="0" name=""/>
                      <p:cNvPicPr>
                        <a:picLocks noChangeAspect="1" noChangeArrowheads="1"/>
                      </p:cNvPicPr>
                      <p:nvPr/>
                    </p:nvPicPr>
                    <p:blipFill>
                      <a:blip r:embed="rId9"/>
                      <a:srcRect/>
                      <a:stretch>
                        <a:fillRect/>
                      </a:stretch>
                    </p:blipFill>
                    <p:spPr bwMode="auto">
                      <a:xfrm>
                        <a:off x="3822112" y="4428698"/>
                        <a:ext cx="2808312" cy="981675"/>
                      </a:xfrm>
                      <a:prstGeom prst="rect">
                        <a:avLst/>
                      </a:prstGeom>
                      <a:noFill/>
                    </p:spPr>
                  </p:pic>
                </p:oleObj>
              </mc:Fallback>
            </mc:AlternateContent>
          </a:graphicData>
        </a:graphic>
      </p:graphicFrame>
      <p:sp>
        <p:nvSpPr>
          <p:cNvPr id="14" name="Text Box 14"/>
          <p:cNvSpPr txBox="1">
            <a:spLocks noChangeArrowheads="1"/>
          </p:cNvSpPr>
          <p:nvPr/>
        </p:nvSpPr>
        <p:spPr bwMode="auto">
          <a:xfrm>
            <a:off x="3750104" y="5558782"/>
            <a:ext cx="8132763" cy="6524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30000"/>
              </a:lnSpc>
            </a:pPr>
            <a:r>
              <a:rPr kumimoji="1" lang="en-US" altLang="zh-CN" sz="2800" b="0" dirty="0" err="1">
                <a:solidFill>
                  <a:schemeClr val="tx1"/>
                </a:solidFill>
                <a:latin typeface="+mn-lt"/>
                <a:ea typeface="黑体" panose="02010609060101010101" pitchFamily="49" charset="-122"/>
              </a:rPr>
              <a:t>L</a:t>
            </a:r>
            <a:r>
              <a:rPr kumimoji="1" lang="en-US" altLang="zh-CN" sz="2800" b="0" baseline="-25000" dirty="0" err="1">
                <a:solidFill>
                  <a:schemeClr val="tx1"/>
                </a:solidFill>
                <a:latin typeface="+mn-lt"/>
                <a:ea typeface="黑体" panose="02010609060101010101" pitchFamily="49" charset="-122"/>
              </a:rPr>
              <a:t>z</a:t>
            </a:r>
            <a:r>
              <a:rPr kumimoji="1" lang="en-US" altLang="zh-CN" sz="2800" b="0" i="0" dirty="0">
                <a:solidFill>
                  <a:schemeClr val="tx1"/>
                </a:solidFill>
                <a:latin typeface="+mn-lt"/>
                <a:ea typeface="黑体" panose="02010609060101010101" pitchFamily="49" charset="-122"/>
              </a:rPr>
              <a:t>=∑</a:t>
            </a:r>
            <a:r>
              <a:rPr kumimoji="1" lang="en-US" altLang="zh-CN" sz="2800" b="0" dirty="0" err="1">
                <a:solidFill>
                  <a:schemeClr val="tx1"/>
                </a:solidFill>
                <a:latin typeface="+mn-lt"/>
                <a:ea typeface="黑体" panose="02010609060101010101" pitchFamily="49" charset="-122"/>
              </a:rPr>
              <a:t>M</a:t>
            </a:r>
            <a:r>
              <a:rPr kumimoji="1" lang="en-US" altLang="zh-CN" sz="2800" b="0" baseline="-25000" dirty="0" err="1">
                <a:solidFill>
                  <a:schemeClr val="tx1"/>
                </a:solidFill>
                <a:latin typeface="+mn-lt"/>
                <a:ea typeface="黑体" panose="02010609060101010101" pitchFamily="49" charset="-122"/>
              </a:rPr>
              <a:t>z</a:t>
            </a:r>
            <a:r>
              <a:rPr kumimoji="1" lang="en-US" altLang="zh-CN" sz="2800" b="0" i="0" dirty="0">
                <a:solidFill>
                  <a:schemeClr val="tx1"/>
                </a:solidFill>
                <a:latin typeface="+mn-lt"/>
                <a:ea typeface="黑体" panose="02010609060101010101" pitchFamily="49" charset="-122"/>
              </a:rPr>
              <a:t>(</a:t>
            </a:r>
            <a:r>
              <a:rPr kumimoji="1" lang="en-US" altLang="zh-CN" sz="2800" b="0" dirty="0" err="1">
                <a:solidFill>
                  <a:schemeClr val="tx1"/>
                </a:solidFill>
                <a:latin typeface="+mn-lt"/>
                <a:ea typeface="黑体" panose="02010609060101010101" pitchFamily="49" charset="-122"/>
              </a:rPr>
              <a:t>m</a:t>
            </a:r>
            <a:r>
              <a:rPr kumimoji="1" lang="en-US" altLang="zh-CN" sz="2800" b="0" baseline="-25000" dirty="0" err="1">
                <a:solidFill>
                  <a:schemeClr val="tx1"/>
                </a:solidFill>
                <a:ea typeface="黑体" panose="02010609060101010101" pitchFamily="49" charset="-122"/>
              </a:rPr>
              <a:t>i</a:t>
            </a:r>
            <a:r>
              <a:rPr kumimoji="1" lang="en-US" altLang="zh-CN" sz="2800" dirty="0" err="1">
                <a:solidFill>
                  <a:schemeClr val="tx1"/>
                </a:solidFill>
                <a:latin typeface="+mn-lt"/>
                <a:ea typeface="黑体" panose="02010609060101010101" pitchFamily="49" charset="-122"/>
              </a:rPr>
              <a:t>v</a:t>
            </a:r>
            <a:r>
              <a:rPr kumimoji="1" lang="en-US" altLang="zh-CN" sz="2800" b="0" baseline="-25000" dirty="0" err="1">
                <a:solidFill>
                  <a:schemeClr val="tx1"/>
                </a:solidFill>
                <a:ea typeface="黑体" panose="02010609060101010101" pitchFamily="49" charset="-122"/>
              </a:rPr>
              <a:t>i</a:t>
            </a:r>
            <a:r>
              <a:rPr kumimoji="1" lang="en-US" altLang="zh-CN" sz="2800" b="0" i="0" dirty="0">
                <a:solidFill>
                  <a:schemeClr val="tx1"/>
                </a:solidFill>
                <a:latin typeface="+mn-lt"/>
                <a:ea typeface="黑体" panose="02010609060101010101" pitchFamily="49" charset="-122"/>
              </a:rPr>
              <a:t>)=</a:t>
            </a:r>
            <a:r>
              <a:rPr kumimoji="1" lang="zh-CN" altLang="en-US" sz="2800" b="0" i="0" dirty="0">
                <a:solidFill>
                  <a:schemeClr val="tx1"/>
                </a:solidFill>
                <a:latin typeface="+mn-lt"/>
                <a:ea typeface="黑体" panose="02010609060101010101" pitchFamily="49" charset="-122"/>
              </a:rPr>
              <a:t>常量                    </a:t>
            </a:r>
          </a:p>
        </p:txBody>
      </p:sp>
    </p:spTree>
    <p:extLst>
      <p:ext uri="{BB962C8B-B14F-4D97-AF65-F5344CB8AC3E}">
        <p14:creationId xmlns:p14="http://schemas.microsoft.com/office/powerpoint/2010/main" val="198860529"/>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wipe(left)">
                                      <p:cBhvr>
                                        <p:cTn id="7" dur="3000"/>
                                        <p:tgtEl>
                                          <p:spTgt spid="43"/>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499"/>
                                          </p:stCondLst>
                                        </p:cTn>
                                        <p:tgtEl>
                                          <p:spTgt spid="40"/>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499"/>
                                          </p:stCondLst>
                                        </p:cTn>
                                        <p:tgtEl>
                                          <p:spTgt spid="11"/>
                                        </p:tgtEl>
                                        <p:attrNameLst>
                                          <p:attrName>style.visibility</p:attrName>
                                        </p:attrNameLst>
                                      </p:cBhvr>
                                      <p:to>
                                        <p:strVal val="visible"/>
                                      </p:to>
                                    </p:set>
                                  </p:childTnLst>
                                </p:cTn>
                              </p:par>
                            </p:childTnLst>
                          </p:cTn>
                        </p:par>
                        <p:par>
                          <p:cTn id="16" fill="hold">
                            <p:stCondLst>
                              <p:cond delay="500"/>
                            </p:stCondLst>
                            <p:childTnLst>
                              <p:par>
                                <p:cTn id="17" presetID="22" presetClass="entr" presetSubtype="8" fill="hold" nodeType="after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wipe(left)">
                                      <p:cBhvr>
                                        <p:cTn id="19" dur="2000"/>
                                        <p:tgtEl>
                                          <p:spTgt spid="12"/>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wipe(left)">
                                      <p:cBhvr>
                                        <p:cTn id="24" dur="3000"/>
                                        <p:tgtEl>
                                          <p:spTgt spid="13"/>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iterate type="lt">
                                    <p:tmPct val="20000"/>
                                  </p:iterate>
                                  <p:childTnLst>
                                    <p:set>
                                      <p:cBhvr>
                                        <p:cTn id="28" dur="1" fill="hold">
                                          <p:stCondLst>
                                            <p:cond delay="0"/>
                                          </p:stCondLst>
                                        </p:cTn>
                                        <p:tgtEl>
                                          <p:spTgt spid="14">
                                            <p:txEl>
                                              <p:pRg st="0" end="0"/>
                                            </p:txEl>
                                          </p:spTgt>
                                        </p:tgtEl>
                                        <p:attrNameLst>
                                          <p:attrName>style.visibility</p:attrName>
                                        </p:attrNameLst>
                                      </p:cBhvr>
                                      <p:to>
                                        <p:strVal val="visible"/>
                                      </p:to>
                                    </p:set>
                                    <p:animEffect transition="in" filter="wipe(left)">
                                      <p:cBhvr>
                                        <p:cTn id="29" dur="500"/>
                                        <p:tgtEl>
                                          <p:spTgt spid="1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autoUpdateAnimBg="0"/>
      <p:bldP spid="11" grpId="0" autoUpdateAnimBg="0"/>
      <p:bldP spid="14"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4653838"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第七章   动力学普遍定理</a:t>
            </a:r>
          </a:p>
        </p:txBody>
      </p:sp>
      <p:sp>
        <p:nvSpPr>
          <p:cNvPr id="52" name="Text Box 1032"/>
          <p:cNvSpPr txBox="1">
            <a:spLocks noChangeArrowheads="1"/>
          </p:cNvSpPr>
          <p:nvPr/>
        </p:nvSpPr>
        <p:spPr bwMode="auto">
          <a:xfrm>
            <a:off x="570416" y="932379"/>
            <a:ext cx="6461688" cy="21605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20000"/>
              </a:lnSpc>
            </a:pPr>
            <a:r>
              <a:rPr lang="zh-CN" altLang="en-US" sz="2800" i="0" dirty="0" smtClean="0">
                <a:solidFill>
                  <a:srgbClr val="FF0000"/>
                </a:solidFill>
                <a:latin typeface="微软雅黑" panose="020B0503020204020204" pitchFamily="34" charset="-122"/>
                <a:ea typeface="微软雅黑" panose="020B0503020204020204" pitchFamily="34" charset="-122"/>
              </a:rPr>
              <a:t>刚体</a:t>
            </a:r>
            <a:r>
              <a:rPr lang="zh-CN" altLang="en-US" sz="2800" i="0" dirty="0">
                <a:solidFill>
                  <a:srgbClr val="FF0000"/>
                </a:solidFill>
                <a:latin typeface="微软雅黑" panose="020B0503020204020204" pitchFamily="34" charset="-122"/>
                <a:ea typeface="微软雅黑" panose="020B0503020204020204" pitchFamily="34" charset="-122"/>
              </a:rPr>
              <a:t>绕定轴转动的</a:t>
            </a:r>
            <a:r>
              <a:rPr lang="zh-CN" altLang="en-US" sz="2800" i="0" dirty="0" smtClean="0">
                <a:solidFill>
                  <a:srgbClr val="FF0000"/>
                </a:solidFill>
                <a:latin typeface="微软雅黑" panose="020B0503020204020204" pitchFamily="34" charset="-122"/>
                <a:ea typeface="微软雅黑" panose="020B0503020204020204" pitchFamily="34" charset="-122"/>
              </a:rPr>
              <a:t>动力学方程</a:t>
            </a:r>
            <a:endParaRPr lang="en-US" altLang="zh-CN" sz="2800" i="0" dirty="0">
              <a:solidFill>
                <a:srgbClr val="FF0000"/>
              </a:solidFill>
              <a:latin typeface="微软雅黑" panose="020B0503020204020204" pitchFamily="34" charset="-122"/>
              <a:ea typeface="微软雅黑" panose="020B0503020204020204" pitchFamily="34" charset="-122"/>
            </a:endParaRPr>
          </a:p>
          <a:p>
            <a:pPr lvl="0">
              <a:lnSpc>
                <a:spcPct val="120000"/>
              </a:lnSpc>
            </a:pPr>
            <a:r>
              <a:rPr kumimoji="1" lang="zh-CN" altLang="en-US" sz="2800" i="0" dirty="0" smtClean="0">
                <a:latin typeface="+mn-lt"/>
                <a:ea typeface="微软雅黑" panose="020B0503020204020204" pitchFamily="34" charset="-122"/>
              </a:rPr>
              <a:t>定轴转动刚体上主动力：</a:t>
            </a:r>
            <a:endParaRPr kumimoji="1" lang="en-US" altLang="zh-CN" sz="2800" i="0" dirty="0" smtClean="0">
              <a:latin typeface="+mn-lt"/>
              <a:ea typeface="微软雅黑" panose="020B0503020204020204" pitchFamily="34" charset="-122"/>
            </a:endParaRPr>
          </a:p>
          <a:p>
            <a:pPr lvl="0">
              <a:lnSpc>
                <a:spcPct val="120000"/>
              </a:lnSpc>
            </a:pPr>
            <a:r>
              <a:rPr kumimoji="1" lang="en-US" altLang="zh-CN" sz="2800" i="0" dirty="0">
                <a:latin typeface="+mn-lt"/>
                <a:ea typeface="微软雅黑" panose="020B0503020204020204" pitchFamily="34" charset="-122"/>
              </a:rPr>
              <a:t> </a:t>
            </a:r>
            <a:r>
              <a:rPr kumimoji="1" lang="en-US" altLang="zh-CN" sz="2800" i="0" dirty="0" smtClean="0">
                <a:latin typeface="+mn-lt"/>
                <a:ea typeface="微软雅黑" panose="020B0503020204020204" pitchFamily="34" charset="-122"/>
              </a:rPr>
              <a:t>                           </a:t>
            </a:r>
            <a:r>
              <a:rPr kumimoji="1" lang="zh-CN" altLang="en-US" sz="2800" i="0" dirty="0" smtClean="0">
                <a:latin typeface="+mn-lt"/>
                <a:ea typeface="微软雅黑" panose="020B0503020204020204" pitchFamily="34" charset="-122"/>
              </a:rPr>
              <a:t>约束力：</a:t>
            </a:r>
            <a:endParaRPr kumimoji="1" lang="en-US" altLang="zh-CN" sz="2800" i="0" dirty="0" smtClean="0">
              <a:latin typeface="+mn-lt"/>
              <a:ea typeface="微软雅黑" panose="020B0503020204020204" pitchFamily="34" charset="-122"/>
            </a:endParaRPr>
          </a:p>
          <a:p>
            <a:pPr lvl="0">
              <a:lnSpc>
                <a:spcPct val="120000"/>
              </a:lnSpc>
            </a:pPr>
            <a:r>
              <a:rPr kumimoji="1" lang="zh-CN" altLang="en-US" sz="2800" i="0" dirty="0" smtClean="0">
                <a:latin typeface="+mn-lt"/>
                <a:ea typeface="微软雅黑" panose="020B0503020204020204" pitchFamily="34" charset="-122"/>
              </a:rPr>
              <a:t>动量矩定理</a:t>
            </a:r>
            <a:r>
              <a:rPr kumimoji="1" lang="zh-CN" altLang="en-US" sz="2800" i="0" dirty="0">
                <a:latin typeface="+mn-lt"/>
                <a:ea typeface="微软雅黑" panose="020B0503020204020204" pitchFamily="34" charset="-122"/>
              </a:rPr>
              <a:t>有</a:t>
            </a:r>
            <a:endParaRPr kumimoji="1" lang="zh-CN" altLang="en-US" sz="2800" b="0" i="0" dirty="0">
              <a:latin typeface="+mn-lt"/>
              <a:ea typeface="微软雅黑" panose="020B0503020204020204" pitchFamily="34" charset="-122"/>
            </a:endParaRPr>
          </a:p>
        </p:txBody>
      </p:sp>
      <p:graphicFrame>
        <p:nvGraphicFramePr>
          <p:cNvPr id="36" name="Object 7"/>
          <p:cNvGraphicFramePr>
            <a:graphicFrameLocks noChangeAspect="1"/>
          </p:cNvGraphicFramePr>
          <p:nvPr>
            <p:extLst>
              <p:ext uri="{D42A27DB-BD31-4B8C-83A1-F6EECF244321}">
                <p14:modId xmlns:p14="http://schemas.microsoft.com/office/powerpoint/2010/main" val="3941580976"/>
              </p:ext>
            </p:extLst>
          </p:nvPr>
        </p:nvGraphicFramePr>
        <p:xfrm>
          <a:off x="4526369" y="1477963"/>
          <a:ext cx="2047875" cy="566737"/>
        </p:xfrm>
        <a:graphic>
          <a:graphicData uri="http://schemas.openxmlformats.org/presentationml/2006/ole">
            <mc:AlternateContent xmlns:mc="http://schemas.openxmlformats.org/markup-compatibility/2006">
              <mc:Choice xmlns:v="urn:schemas-microsoft-com:vml" Requires="v">
                <p:oleObj spid="_x0000_s35858" name="Equation" r:id="rId4" imgW="850680" imgH="241200" progId="Equation.DSMT4">
                  <p:embed/>
                </p:oleObj>
              </mc:Choice>
              <mc:Fallback>
                <p:oleObj name="Equation" r:id="rId4" imgW="850680" imgH="241200" progId="Equation.DSMT4">
                  <p:embed/>
                  <p:pic>
                    <p:nvPicPr>
                      <p:cNvPr id="36" name="Object 7"/>
                      <p:cNvPicPr>
                        <a:picLocks noChangeAspect="1" noChangeArrowheads="1"/>
                      </p:cNvPicPr>
                      <p:nvPr/>
                    </p:nvPicPr>
                    <p:blipFill>
                      <a:blip r:embed="rId5"/>
                      <a:srcRect/>
                      <a:stretch>
                        <a:fillRect/>
                      </a:stretch>
                    </p:blipFill>
                    <p:spPr bwMode="auto">
                      <a:xfrm>
                        <a:off x="4526369" y="1477963"/>
                        <a:ext cx="2047875" cy="566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7" name="Object 10"/>
          <p:cNvGraphicFramePr>
            <a:graphicFrameLocks noChangeAspect="1"/>
          </p:cNvGraphicFramePr>
          <p:nvPr>
            <p:extLst>
              <p:ext uri="{D42A27DB-BD31-4B8C-83A1-F6EECF244321}">
                <p14:modId xmlns:p14="http://schemas.microsoft.com/office/powerpoint/2010/main" val="128618776"/>
              </p:ext>
            </p:extLst>
          </p:nvPr>
        </p:nvGraphicFramePr>
        <p:xfrm>
          <a:off x="866775" y="3044825"/>
          <a:ext cx="7138988" cy="884238"/>
        </p:xfrm>
        <a:graphic>
          <a:graphicData uri="http://schemas.openxmlformats.org/presentationml/2006/ole">
            <mc:AlternateContent xmlns:mc="http://schemas.openxmlformats.org/markup-compatibility/2006">
              <mc:Choice xmlns:v="urn:schemas-microsoft-com:vml" Requires="v">
                <p:oleObj spid="_x0000_s35859" name="Equation" r:id="rId6" imgW="3149280" imgH="393480" progId="Equation.DSMT4">
                  <p:embed/>
                </p:oleObj>
              </mc:Choice>
              <mc:Fallback>
                <p:oleObj name="Equation" r:id="rId6" imgW="3149280" imgH="393480" progId="Equation.DSMT4">
                  <p:embed/>
                  <p:pic>
                    <p:nvPicPr>
                      <p:cNvPr id="37" name="Object 10"/>
                      <p:cNvPicPr>
                        <a:picLocks noChangeAspect="1" noChangeArrowheads="1"/>
                      </p:cNvPicPr>
                      <p:nvPr/>
                    </p:nvPicPr>
                    <p:blipFill>
                      <a:blip r:embed="rId7"/>
                      <a:srcRect/>
                      <a:stretch>
                        <a:fillRect/>
                      </a:stretch>
                    </p:blipFill>
                    <p:spPr bwMode="auto">
                      <a:xfrm>
                        <a:off x="866775" y="3044825"/>
                        <a:ext cx="7138988" cy="884238"/>
                      </a:xfrm>
                      <a:prstGeom prst="rect">
                        <a:avLst/>
                      </a:prstGeom>
                      <a:noFill/>
                    </p:spPr>
                  </p:pic>
                </p:oleObj>
              </mc:Fallback>
            </mc:AlternateContent>
          </a:graphicData>
        </a:graphic>
      </p:graphicFrame>
      <p:sp>
        <p:nvSpPr>
          <p:cNvPr id="11" name="Rectangle 61">
            <a:extLst>
              <a:ext uri="{FF2B5EF4-FFF2-40B4-BE49-F238E27FC236}">
                <a16:creationId xmlns:a16="http://schemas.microsoft.com/office/drawing/2014/main" id="{7C7AC23E-A1CE-03F9-D8A4-D45156EAD5C0}"/>
              </a:ext>
            </a:extLst>
          </p:cNvPr>
          <p:cNvSpPr>
            <a:spLocks noChangeArrowheads="1"/>
          </p:cNvSpPr>
          <p:nvPr/>
        </p:nvSpPr>
        <p:spPr bwMode="auto">
          <a:xfrm>
            <a:off x="8485249" y="878276"/>
            <a:ext cx="3490194" cy="3875891"/>
          </a:xfrm>
          <a:prstGeom prst="rect">
            <a:avLst/>
          </a:prstGeom>
          <a:solidFill>
            <a:srgbClr val="B9CDE5"/>
          </a:solidFill>
          <a:ln>
            <a:noFill/>
          </a:ln>
          <a:effectLst/>
        </p:spPr>
        <p:txBody>
          <a:bodyPr wrap="none" anchor="ctr"/>
          <a:lstStyle/>
          <a:p>
            <a:endParaRPr lang="zh-CN" altLang="en-US"/>
          </a:p>
        </p:txBody>
      </p:sp>
      <p:sp>
        <p:nvSpPr>
          <p:cNvPr id="12" name="Text Box 9">
            <a:extLst>
              <a:ext uri="{FF2B5EF4-FFF2-40B4-BE49-F238E27FC236}">
                <a16:creationId xmlns:a16="http://schemas.microsoft.com/office/drawing/2014/main" id="{26E86C5F-0CA8-5588-615C-7485BA57F91E}"/>
              </a:ext>
            </a:extLst>
          </p:cNvPr>
          <p:cNvSpPr txBox="1">
            <a:spLocks noChangeAspect="1" noChangeArrowheads="1"/>
          </p:cNvSpPr>
          <p:nvPr/>
        </p:nvSpPr>
        <p:spPr bwMode="auto">
          <a:xfrm>
            <a:off x="10192246" y="878277"/>
            <a:ext cx="417512" cy="6397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3200" b="0" u="none" strike="noStrike" kern="0" cap="none" spc="0" normalizeH="0" baseline="0" noProof="0" dirty="0">
                <a:ln>
                  <a:noFill/>
                </a:ln>
                <a:solidFill>
                  <a:schemeClr val="tx1"/>
                </a:solidFill>
                <a:effectLst/>
                <a:uLnTx/>
                <a:uFillTx/>
              </a:rPr>
              <a:t>z</a:t>
            </a:r>
          </a:p>
        </p:txBody>
      </p:sp>
      <p:sp>
        <p:nvSpPr>
          <p:cNvPr id="13" name="Oval 22">
            <a:extLst>
              <a:ext uri="{FF2B5EF4-FFF2-40B4-BE49-F238E27FC236}">
                <a16:creationId xmlns:a16="http://schemas.microsoft.com/office/drawing/2014/main" id="{228C5FC6-EBDD-EA57-E68F-07E7E8D4AE18}"/>
              </a:ext>
            </a:extLst>
          </p:cNvPr>
          <p:cNvSpPr>
            <a:spLocks noChangeArrowheads="1"/>
          </p:cNvSpPr>
          <p:nvPr/>
        </p:nvSpPr>
        <p:spPr bwMode="auto">
          <a:xfrm>
            <a:off x="9852521" y="3380177"/>
            <a:ext cx="103187" cy="103187"/>
          </a:xfrm>
          <a:prstGeom prst="ellipse">
            <a:avLst/>
          </a:prstGeom>
          <a:gradFill rotWithShape="1">
            <a:gsLst>
              <a:gs pos="0">
                <a:srgbClr val="FF0000">
                  <a:gamma/>
                  <a:tint val="44314"/>
                  <a:invGamma/>
                </a:srgbClr>
              </a:gs>
              <a:gs pos="100000">
                <a:srgbClr val="FF0000"/>
              </a:gs>
            </a:gsLst>
            <a:path path="shape">
              <a:fillToRect l="50000" t="50000" r="50000" b="50000"/>
            </a:path>
          </a:gra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nvGrpSpPr>
          <p:cNvPr id="14" name="Group 25">
            <a:extLst>
              <a:ext uri="{FF2B5EF4-FFF2-40B4-BE49-F238E27FC236}">
                <a16:creationId xmlns:a16="http://schemas.microsoft.com/office/drawing/2014/main" id="{B028D483-FFA9-68CD-08FF-565F4351888A}"/>
              </a:ext>
            </a:extLst>
          </p:cNvPr>
          <p:cNvGrpSpPr>
            <a:grpSpLocks/>
          </p:cNvGrpSpPr>
          <p:nvPr/>
        </p:nvGrpSpPr>
        <p:grpSpPr bwMode="auto">
          <a:xfrm>
            <a:off x="10298608" y="1395802"/>
            <a:ext cx="123825" cy="249237"/>
            <a:chOff x="4582" y="1423"/>
            <a:chExt cx="78" cy="157"/>
          </a:xfrm>
        </p:grpSpPr>
        <p:sp>
          <p:nvSpPr>
            <p:cNvPr id="15" name="Rectangle 23">
              <a:extLst>
                <a:ext uri="{FF2B5EF4-FFF2-40B4-BE49-F238E27FC236}">
                  <a16:creationId xmlns:a16="http://schemas.microsoft.com/office/drawing/2014/main" id="{313A5BC2-4685-0FD9-D1D4-3BBD0625F5B6}"/>
                </a:ext>
              </a:extLst>
            </p:cNvPr>
            <p:cNvSpPr>
              <a:spLocks noChangeArrowheads="1"/>
            </p:cNvSpPr>
            <p:nvPr/>
          </p:nvSpPr>
          <p:spPr bwMode="auto">
            <a:xfrm>
              <a:off x="4599" y="1423"/>
              <a:ext cx="61" cy="157"/>
            </a:xfrm>
            <a:prstGeom prst="rect">
              <a:avLst/>
            </a:prstGeom>
            <a:pattFill prst="wdUpDiag">
              <a:fgClr>
                <a:srgbClr val="000000"/>
              </a:fgClr>
              <a:bgClr>
                <a:srgbClr val="FFFFFF"/>
              </a:bgClr>
            </a:patt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6" name="Line 24">
              <a:extLst>
                <a:ext uri="{FF2B5EF4-FFF2-40B4-BE49-F238E27FC236}">
                  <a16:creationId xmlns:a16="http://schemas.microsoft.com/office/drawing/2014/main" id="{87EC603F-8C69-707C-B0E2-0C349595E767}"/>
                </a:ext>
              </a:extLst>
            </p:cNvPr>
            <p:cNvSpPr>
              <a:spLocks noChangeShapeType="1"/>
            </p:cNvSpPr>
            <p:nvPr/>
          </p:nvSpPr>
          <p:spPr bwMode="auto">
            <a:xfrm>
              <a:off x="4582" y="1423"/>
              <a:ext cx="0" cy="157"/>
            </a:xfrm>
            <a:prstGeom prst="line">
              <a:avLst/>
            </a:prstGeom>
            <a:noFill/>
            <a:ln w="38100">
              <a:solidFill>
                <a:srgbClr val="FF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grpSp>
        <p:nvGrpSpPr>
          <p:cNvPr id="17" name="Group 26">
            <a:extLst>
              <a:ext uri="{FF2B5EF4-FFF2-40B4-BE49-F238E27FC236}">
                <a16:creationId xmlns:a16="http://schemas.microsoft.com/office/drawing/2014/main" id="{8EAB9DAD-0E9B-D916-2ED0-19F147A7A02D}"/>
              </a:ext>
            </a:extLst>
          </p:cNvPr>
          <p:cNvGrpSpPr>
            <a:grpSpLocks/>
          </p:cNvGrpSpPr>
          <p:nvPr/>
        </p:nvGrpSpPr>
        <p:grpSpPr bwMode="auto">
          <a:xfrm>
            <a:off x="10293846" y="4305689"/>
            <a:ext cx="123825" cy="249238"/>
            <a:chOff x="4582" y="1423"/>
            <a:chExt cx="78" cy="157"/>
          </a:xfrm>
        </p:grpSpPr>
        <p:sp>
          <p:nvSpPr>
            <p:cNvPr id="18" name="Rectangle 27">
              <a:extLst>
                <a:ext uri="{FF2B5EF4-FFF2-40B4-BE49-F238E27FC236}">
                  <a16:creationId xmlns:a16="http://schemas.microsoft.com/office/drawing/2014/main" id="{7E39532F-E3B1-6BB3-B34E-E61670796468}"/>
                </a:ext>
              </a:extLst>
            </p:cNvPr>
            <p:cNvSpPr>
              <a:spLocks noChangeArrowheads="1"/>
            </p:cNvSpPr>
            <p:nvPr/>
          </p:nvSpPr>
          <p:spPr bwMode="auto">
            <a:xfrm>
              <a:off x="4599" y="1423"/>
              <a:ext cx="61" cy="157"/>
            </a:xfrm>
            <a:prstGeom prst="rect">
              <a:avLst/>
            </a:prstGeom>
            <a:pattFill prst="wdUpDiag">
              <a:fgClr>
                <a:srgbClr val="000000"/>
              </a:fgClr>
              <a:bgClr>
                <a:srgbClr val="FFFFFF"/>
              </a:bgClr>
            </a:patt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9" name="Line 28">
              <a:extLst>
                <a:ext uri="{FF2B5EF4-FFF2-40B4-BE49-F238E27FC236}">
                  <a16:creationId xmlns:a16="http://schemas.microsoft.com/office/drawing/2014/main" id="{C52DAEC2-BE5A-029B-0A3E-C23DE27D8F7A}"/>
                </a:ext>
              </a:extLst>
            </p:cNvPr>
            <p:cNvSpPr>
              <a:spLocks noChangeShapeType="1"/>
            </p:cNvSpPr>
            <p:nvPr/>
          </p:nvSpPr>
          <p:spPr bwMode="auto">
            <a:xfrm>
              <a:off x="4582" y="1423"/>
              <a:ext cx="0" cy="157"/>
            </a:xfrm>
            <a:prstGeom prst="line">
              <a:avLst/>
            </a:prstGeom>
            <a:noFill/>
            <a:ln w="38100">
              <a:solidFill>
                <a:srgbClr val="FF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grpSp>
        <p:nvGrpSpPr>
          <p:cNvPr id="20" name="Group 29">
            <a:extLst>
              <a:ext uri="{FF2B5EF4-FFF2-40B4-BE49-F238E27FC236}">
                <a16:creationId xmlns:a16="http://schemas.microsoft.com/office/drawing/2014/main" id="{3DD68B5E-6079-03C1-B8CD-41F546559EDE}"/>
              </a:ext>
            </a:extLst>
          </p:cNvPr>
          <p:cNvGrpSpPr>
            <a:grpSpLocks/>
          </p:cNvGrpSpPr>
          <p:nvPr/>
        </p:nvGrpSpPr>
        <p:grpSpPr bwMode="auto">
          <a:xfrm flipH="1">
            <a:off x="10014446" y="1389452"/>
            <a:ext cx="123825" cy="249237"/>
            <a:chOff x="4582" y="1423"/>
            <a:chExt cx="78" cy="157"/>
          </a:xfrm>
        </p:grpSpPr>
        <p:sp>
          <p:nvSpPr>
            <p:cNvPr id="21" name="Rectangle 30">
              <a:extLst>
                <a:ext uri="{FF2B5EF4-FFF2-40B4-BE49-F238E27FC236}">
                  <a16:creationId xmlns:a16="http://schemas.microsoft.com/office/drawing/2014/main" id="{62298B3E-308B-F8C0-59CB-51DB5967712C}"/>
                </a:ext>
              </a:extLst>
            </p:cNvPr>
            <p:cNvSpPr>
              <a:spLocks noChangeArrowheads="1"/>
            </p:cNvSpPr>
            <p:nvPr/>
          </p:nvSpPr>
          <p:spPr bwMode="auto">
            <a:xfrm>
              <a:off x="4599" y="1423"/>
              <a:ext cx="61" cy="157"/>
            </a:xfrm>
            <a:prstGeom prst="rect">
              <a:avLst/>
            </a:prstGeom>
            <a:pattFill prst="wdUpDiag">
              <a:fgClr>
                <a:srgbClr val="000000"/>
              </a:fgClr>
              <a:bgClr>
                <a:srgbClr val="FFFFFF"/>
              </a:bgClr>
            </a:patt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22" name="Line 31">
              <a:extLst>
                <a:ext uri="{FF2B5EF4-FFF2-40B4-BE49-F238E27FC236}">
                  <a16:creationId xmlns:a16="http://schemas.microsoft.com/office/drawing/2014/main" id="{F23F9522-1177-CDF4-4BD2-F183BA1B200D}"/>
                </a:ext>
              </a:extLst>
            </p:cNvPr>
            <p:cNvSpPr>
              <a:spLocks noChangeShapeType="1"/>
            </p:cNvSpPr>
            <p:nvPr/>
          </p:nvSpPr>
          <p:spPr bwMode="auto">
            <a:xfrm>
              <a:off x="4582" y="1423"/>
              <a:ext cx="0" cy="157"/>
            </a:xfrm>
            <a:prstGeom prst="line">
              <a:avLst/>
            </a:prstGeom>
            <a:noFill/>
            <a:ln w="38100">
              <a:solidFill>
                <a:srgbClr val="FF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sp>
        <p:nvSpPr>
          <p:cNvPr id="23" name="Oval 37">
            <a:extLst>
              <a:ext uri="{FF2B5EF4-FFF2-40B4-BE49-F238E27FC236}">
                <a16:creationId xmlns:a16="http://schemas.microsoft.com/office/drawing/2014/main" id="{055112A4-B931-5284-7A32-30B19A2F927D}"/>
              </a:ext>
            </a:extLst>
          </p:cNvPr>
          <p:cNvSpPr>
            <a:spLocks noChangeArrowheads="1"/>
          </p:cNvSpPr>
          <p:nvPr/>
        </p:nvSpPr>
        <p:spPr bwMode="auto">
          <a:xfrm>
            <a:off x="9198471" y="1702189"/>
            <a:ext cx="2038350" cy="2547938"/>
          </a:xfrm>
          <a:prstGeom prst="ellipse">
            <a:avLst/>
          </a:prstGeom>
          <a:gradFill flip="none" rotWithShape="1">
            <a:gsLst>
              <a:gs pos="0">
                <a:srgbClr val="92D050">
                  <a:shade val="30000"/>
                  <a:satMod val="115000"/>
                </a:srgbClr>
              </a:gs>
              <a:gs pos="50000">
                <a:srgbClr val="92D050">
                  <a:shade val="67500"/>
                  <a:satMod val="115000"/>
                </a:srgbClr>
              </a:gs>
              <a:gs pos="100000">
                <a:srgbClr val="92D050">
                  <a:shade val="100000"/>
                  <a:satMod val="115000"/>
                </a:srgbClr>
              </a:gs>
            </a:gsLst>
            <a:lin ang="8100000" scaled="1"/>
            <a:tileRect/>
          </a:gradFill>
          <a:ln>
            <a:noFill/>
          </a:ln>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dirty="0">
              <a:ln>
                <a:noFill/>
              </a:ln>
              <a:solidFill>
                <a:srgbClr val="FFFFFF"/>
              </a:solidFill>
              <a:effectLst/>
              <a:uLnTx/>
              <a:uFillTx/>
              <a:ea typeface="黑体" panose="02010609060101010101" pitchFamily="49" charset="-122"/>
            </a:endParaRPr>
          </a:p>
        </p:txBody>
      </p:sp>
      <p:grpSp>
        <p:nvGrpSpPr>
          <p:cNvPr id="24" name="Group 32">
            <a:extLst>
              <a:ext uri="{FF2B5EF4-FFF2-40B4-BE49-F238E27FC236}">
                <a16:creationId xmlns:a16="http://schemas.microsoft.com/office/drawing/2014/main" id="{1DAA69B5-64E5-108A-756B-F9A8FBEB30A6}"/>
              </a:ext>
            </a:extLst>
          </p:cNvPr>
          <p:cNvGrpSpPr>
            <a:grpSpLocks/>
          </p:cNvGrpSpPr>
          <p:nvPr/>
        </p:nvGrpSpPr>
        <p:grpSpPr bwMode="auto">
          <a:xfrm flipH="1">
            <a:off x="10022383" y="4294577"/>
            <a:ext cx="123825" cy="249237"/>
            <a:chOff x="4582" y="1423"/>
            <a:chExt cx="78" cy="157"/>
          </a:xfrm>
        </p:grpSpPr>
        <p:sp>
          <p:nvSpPr>
            <p:cNvPr id="25" name="Rectangle 33">
              <a:extLst>
                <a:ext uri="{FF2B5EF4-FFF2-40B4-BE49-F238E27FC236}">
                  <a16:creationId xmlns:a16="http://schemas.microsoft.com/office/drawing/2014/main" id="{26AB54AD-2FA2-C471-DAB4-A5D4F229220A}"/>
                </a:ext>
              </a:extLst>
            </p:cNvPr>
            <p:cNvSpPr>
              <a:spLocks noChangeArrowheads="1"/>
            </p:cNvSpPr>
            <p:nvPr/>
          </p:nvSpPr>
          <p:spPr bwMode="auto">
            <a:xfrm>
              <a:off x="4599" y="1423"/>
              <a:ext cx="61" cy="157"/>
            </a:xfrm>
            <a:prstGeom prst="rect">
              <a:avLst/>
            </a:prstGeom>
            <a:pattFill prst="wdUpDiag">
              <a:fgClr>
                <a:srgbClr val="000000"/>
              </a:fgClr>
              <a:bgClr>
                <a:srgbClr val="FFFFFF"/>
              </a:bgClr>
            </a:patt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26" name="Line 34">
              <a:extLst>
                <a:ext uri="{FF2B5EF4-FFF2-40B4-BE49-F238E27FC236}">
                  <a16:creationId xmlns:a16="http://schemas.microsoft.com/office/drawing/2014/main" id="{72DC796E-CA07-0110-3151-E25602056AD7}"/>
                </a:ext>
              </a:extLst>
            </p:cNvPr>
            <p:cNvSpPr>
              <a:spLocks noChangeShapeType="1"/>
            </p:cNvSpPr>
            <p:nvPr/>
          </p:nvSpPr>
          <p:spPr bwMode="auto">
            <a:xfrm>
              <a:off x="4582" y="1423"/>
              <a:ext cx="0" cy="157"/>
            </a:xfrm>
            <a:prstGeom prst="line">
              <a:avLst/>
            </a:prstGeom>
            <a:noFill/>
            <a:ln w="38100">
              <a:solidFill>
                <a:srgbClr val="FF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sp>
        <p:nvSpPr>
          <p:cNvPr id="27" name="Oval 38">
            <a:extLst>
              <a:ext uri="{FF2B5EF4-FFF2-40B4-BE49-F238E27FC236}">
                <a16:creationId xmlns:a16="http://schemas.microsoft.com/office/drawing/2014/main" id="{427BCF2B-F232-2164-E7FD-6DDBBCA7D68A}"/>
              </a:ext>
            </a:extLst>
          </p:cNvPr>
          <p:cNvSpPr>
            <a:spLocks noChangeArrowheads="1"/>
          </p:cNvSpPr>
          <p:nvPr/>
        </p:nvSpPr>
        <p:spPr bwMode="auto">
          <a:xfrm>
            <a:off x="9500096" y="2684852"/>
            <a:ext cx="1506537" cy="573087"/>
          </a:xfrm>
          <a:prstGeom prst="ellipse">
            <a:avLst/>
          </a:prstGeom>
          <a:noFill/>
          <a:ln w="9525">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28" name="Text Box 13">
            <a:extLst>
              <a:ext uri="{FF2B5EF4-FFF2-40B4-BE49-F238E27FC236}">
                <a16:creationId xmlns:a16="http://schemas.microsoft.com/office/drawing/2014/main" id="{321E68FC-BD70-0031-664D-2A303D74E9F8}"/>
              </a:ext>
            </a:extLst>
          </p:cNvPr>
          <p:cNvSpPr txBox="1">
            <a:spLocks noChangeAspect="1" noChangeArrowheads="1"/>
          </p:cNvSpPr>
          <p:nvPr/>
        </p:nvSpPr>
        <p:spPr bwMode="auto">
          <a:xfrm>
            <a:off x="9757271" y="2727714"/>
            <a:ext cx="533400"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b="0" u="none" strike="noStrike" kern="0" cap="none" spc="0" normalizeH="0" baseline="0" noProof="0" dirty="0">
                <a:ln>
                  <a:noFill/>
                </a:ln>
                <a:solidFill>
                  <a:srgbClr val="000000"/>
                </a:solidFill>
                <a:effectLst/>
                <a:uLnTx/>
                <a:uFillTx/>
              </a:rPr>
              <a:t>O</a:t>
            </a:r>
            <a:endParaRPr kumimoji="1" lang="en-US" altLang="zh-CN" b="0" u="none" strike="noStrike" kern="0" cap="none" spc="0" normalizeH="0" baseline="0" noProof="0" dirty="0">
              <a:ln>
                <a:noFill/>
              </a:ln>
              <a:solidFill>
                <a:srgbClr val="000000"/>
              </a:solidFill>
              <a:effectLst/>
              <a:uLnTx/>
              <a:uFillTx/>
              <a:ea typeface="黑体" panose="02010609060101010101" pitchFamily="49" charset="-122"/>
            </a:endParaRPr>
          </a:p>
        </p:txBody>
      </p:sp>
      <p:sp>
        <p:nvSpPr>
          <p:cNvPr id="29" name="Oval 14">
            <a:extLst>
              <a:ext uri="{FF2B5EF4-FFF2-40B4-BE49-F238E27FC236}">
                <a16:creationId xmlns:a16="http://schemas.microsoft.com/office/drawing/2014/main" id="{C5763831-99A8-CFFE-1010-1C20880374A9}"/>
              </a:ext>
            </a:extLst>
          </p:cNvPr>
          <p:cNvSpPr>
            <a:spLocks noChangeArrowheads="1"/>
          </p:cNvSpPr>
          <p:nvPr/>
        </p:nvSpPr>
        <p:spPr bwMode="auto">
          <a:xfrm>
            <a:off x="10185896" y="3022989"/>
            <a:ext cx="88900" cy="88900"/>
          </a:xfrm>
          <a:prstGeom prst="ellipse">
            <a:avLst/>
          </a:prstGeom>
          <a:solidFill>
            <a:srgbClr val="00CC99"/>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31" name="Oval 16">
            <a:extLst>
              <a:ext uri="{FF2B5EF4-FFF2-40B4-BE49-F238E27FC236}">
                <a16:creationId xmlns:a16="http://schemas.microsoft.com/office/drawing/2014/main" id="{54A984F9-AD58-48FD-D979-5CD5B4FDEE0E}"/>
              </a:ext>
            </a:extLst>
          </p:cNvPr>
          <p:cNvSpPr>
            <a:spLocks noChangeArrowheads="1"/>
          </p:cNvSpPr>
          <p:nvPr/>
        </p:nvSpPr>
        <p:spPr bwMode="auto">
          <a:xfrm>
            <a:off x="10617696" y="3162689"/>
            <a:ext cx="88900" cy="88900"/>
          </a:xfrm>
          <a:prstGeom prst="ellipse">
            <a:avLst/>
          </a:prstGeom>
          <a:solidFill>
            <a:srgbClr val="FF000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32" name="Line 20">
            <a:extLst>
              <a:ext uri="{FF2B5EF4-FFF2-40B4-BE49-F238E27FC236}">
                <a16:creationId xmlns:a16="http://schemas.microsoft.com/office/drawing/2014/main" id="{DC3315C1-9DCF-52B5-36C9-A8D3A10773E6}"/>
              </a:ext>
            </a:extLst>
          </p:cNvPr>
          <p:cNvSpPr>
            <a:spLocks noChangeShapeType="1"/>
          </p:cNvSpPr>
          <p:nvPr/>
        </p:nvSpPr>
        <p:spPr bwMode="auto">
          <a:xfrm rot="5400000" flipH="1" flipV="1">
            <a:off x="10878839" y="2779308"/>
            <a:ext cx="238125" cy="598488"/>
          </a:xfrm>
          <a:prstGeom prst="line">
            <a:avLst/>
          </a:prstGeom>
          <a:noFill/>
          <a:ln w="28575">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kumimoji="1" lang="zh-CN" altLang="en-US" b="0" i="0">
              <a:solidFill>
                <a:srgbClr val="FFFFFF"/>
              </a:solidFill>
              <a:ea typeface="黑体" panose="02010609060101010101" pitchFamily="49" charset="-122"/>
            </a:endParaRPr>
          </a:p>
        </p:txBody>
      </p:sp>
      <p:sp>
        <p:nvSpPr>
          <p:cNvPr id="33" name="Text Box 21">
            <a:extLst>
              <a:ext uri="{FF2B5EF4-FFF2-40B4-BE49-F238E27FC236}">
                <a16:creationId xmlns:a16="http://schemas.microsoft.com/office/drawing/2014/main" id="{9A11F39B-13E6-DE32-D761-19FE1D41C459}"/>
              </a:ext>
            </a:extLst>
          </p:cNvPr>
          <p:cNvSpPr txBox="1">
            <a:spLocks noChangeArrowheads="1"/>
          </p:cNvSpPr>
          <p:nvPr/>
        </p:nvSpPr>
        <p:spPr bwMode="auto">
          <a:xfrm>
            <a:off x="10977533" y="2504123"/>
            <a:ext cx="86836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kumimoji="1" lang="en-US" altLang="zh-CN" sz="2800" b="0" dirty="0" smtClean="0">
                <a:solidFill>
                  <a:srgbClr val="FF0000"/>
                </a:solidFill>
                <a:ea typeface="黑体" panose="02010609060101010101" pitchFamily="49" charset="-122"/>
                <a:cs typeface="Times New Roman" panose="02020603050405020304" pitchFamily="18" charset="0"/>
              </a:rPr>
              <a:t>F</a:t>
            </a:r>
            <a:r>
              <a:rPr kumimoji="1" lang="en-US" altLang="zh-CN" sz="2800" b="0" baseline="-25000" dirty="0" smtClean="0">
                <a:solidFill>
                  <a:srgbClr val="FF0000"/>
                </a:solidFill>
                <a:ea typeface="黑体" panose="02010609060101010101" pitchFamily="49" charset="-122"/>
                <a:cs typeface="Times New Roman" panose="02020603050405020304" pitchFamily="18" charset="0"/>
              </a:rPr>
              <a:t>i</a:t>
            </a:r>
            <a:endParaRPr kumimoji="1" lang="en-US" altLang="zh-CN" sz="2800" b="0" baseline="-25000" dirty="0">
              <a:solidFill>
                <a:srgbClr val="FF0000"/>
              </a:solidFill>
              <a:ea typeface="黑体" panose="02010609060101010101" pitchFamily="49" charset="-122"/>
              <a:cs typeface="Times New Roman" panose="02020603050405020304" pitchFamily="18" charset="0"/>
            </a:endParaRPr>
          </a:p>
        </p:txBody>
      </p:sp>
      <p:sp>
        <p:nvSpPr>
          <p:cNvPr id="39" name="Arc 11">
            <a:extLst>
              <a:ext uri="{FF2B5EF4-FFF2-40B4-BE49-F238E27FC236}">
                <a16:creationId xmlns:a16="http://schemas.microsoft.com/office/drawing/2014/main" id="{7935A29E-BB1F-5E17-C172-3277C3EB1B14}"/>
              </a:ext>
            </a:extLst>
          </p:cNvPr>
          <p:cNvSpPr>
            <a:spLocks noChangeAspect="1"/>
          </p:cNvSpPr>
          <p:nvPr/>
        </p:nvSpPr>
        <p:spPr bwMode="auto">
          <a:xfrm rot="662529" flipV="1">
            <a:off x="9898558" y="1595827"/>
            <a:ext cx="595313" cy="465137"/>
          </a:xfrm>
          <a:custGeom>
            <a:avLst/>
            <a:gdLst>
              <a:gd name="G0" fmla="+- 8450 0 0"/>
              <a:gd name="G1" fmla="+- 21600 0 0"/>
              <a:gd name="G2" fmla="+- 21600 0 0"/>
              <a:gd name="T0" fmla="*/ 0 w 27703"/>
              <a:gd name="T1" fmla="*/ 1722 h 21600"/>
              <a:gd name="T2" fmla="*/ 27703 w 27703"/>
              <a:gd name="T3" fmla="*/ 11808 h 21600"/>
              <a:gd name="T4" fmla="*/ 8450 w 27703"/>
              <a:gd name="T5" fmla="*/ 21600 h 21600"/>
            </a:gdLst>
            <a:ahLst/>
            <a:cxnLst>
              <a:cxn ang="0">
                <a:pos x="T0" y="T1"/>
              </a:cxn>
              <a:cxn ang="0">
                <a:pos x="T2" y="T3"/>
              </a:cxn>
              <a:cxn ang="0">
                <a:pos x="T4" y="T5"/>
              </a:cxn>
            </a:cxnLst>
            <a:rect l="0" t="0" r="r" b="b"/>
            <a:pathLst>
              <a:path w="27703" h="21600" fill="none" extrusionOk="0">
                <a:moveTo>
                  <a:pt x="-1" y="1721"/>
                </a:moveTo>
                <a:cubicBezTo>
                  <a:pt x="2672" y="585"/>
                  <a:pt x="5546" y="0"/>
                  <a:pt x="8450" y="0"/>
                </a:cubicBezTo>
                <a:cubicBezTo>
                  <a:pt x="16578" y="0"/>
                  <a:pt x="24018" y="4563"/>
                  <a:pt x="27702" y="11808"/>
                </a:cubicBezTo>
              </a:path>
              <a:path w="27703" h="21600" stroke="0" extrusionOk="0">
                <a:moveTo>
                  <a:pt x="-1" y="1721"/>
                </a:moveTo>
                <a:cubicBezTo>
                  <a:pt x="2672" y="585"/>
                  <a:pt x="5546" y="0"/>
                  <a:pt x="8450" y="0"/>
                </a:cubicBezTo>
                <a:cubicBezTo>
                  <a:pt x="16578" y="0"/>
                  <a:pt x="24018" y="4563"/>
                  <a:pt x="27702" y="11808"/>
                </a:cubicBezTo>
                <a:lnTo>
                  <a:pt x="8450" y="21600"/>
                </a:lnTo>
                <a:close/>
              </a:path>
            </a:pathLst>
          </a:custGeom>
          <a:noFill/>
          <a:ln w="28575">
            <a:solidFill>
              <a:schemeClr val="tx1"/>
            </a:solidFill>
            <a:round/>
            <a:headEnd/>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41" name="Text Box 15">
            <a:extLst>
              <a:ext uri="{FF2B5EF4-FFF2-40B4-BE49-F238E27FC236}">
                <a16:creationId xmlns:a16="http://schemas.microsoft.com/office/drawing/2014/main" id="{AF40F514-0047-727D-B261-2642D9CAD9B5}"/>
              </a:ext>
            </a:extLst>
          </p:cNvPr>
          <p:cNvSpPr txBox="1">
            <a:spLocks noChangeAspect="1" noChangeArrowheads="1"/>
          </p:cNvSpPr>
          <p:nvPr/>
        </p:nvSpPr>
        <p:spPr bwMode="auto">
          <a:xfrm>
            <a:off x="10266858" y="1827602"/>
            <a:ext cx="533400" cy="49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000" b="0" u="none" strike="noStrike" kern="0" cap="none" spc="0" normalizeH="0" baseline="0" noProof="0" dirty="0">
                <a:ln>
                  <a:noFill/>
                </a:ln>
                <a:solidFill>
                  <a:schemeClr val="tx1"/>
                </a:solidFill>
                <a:effectLst/>
                <a:uLnTx/>
                <a:uFillTx/>
                <a:sym typeface="Symbol" panose="05050102010706020507" pitchFamily="18" charset="2"/>
              </a:rPr>
              <a:t></a:t>
            </a:r>
            <a:endParaRPr kumimoji="1" lang="en-US" altLang="zh-CN" sz="2000" b="0" u="none" strike="noStrike" kern="0" cap="none" spc="0" normalizeH="0" baseline="0" noProof="0" dirty="0">
              <a:ln>
                <a:noFill/>
              </a:ln>
              <a:solidFill>
                <a:schemeClr val="tx1"/>
              </a:solidFill>
              <a:effectLst/>
              <a:uLnTx/>
              <a:uFillTx/>
              <a:ea typeface="黑体" panose="02010609060101010101" pitchFamily="49" charset="-122"/>
              <a:sym typeface="Symbol" panose="05050102010706020507" pitchFamily="18" charset="2"/>
            </a:endParaRPr>
          </a:p>
        </p:txBody>
      </p:sp>
      <p:sp>
        <p:nvSpPr>
          <p:cNvPr id="44" name="Line 12">
            <a:extLst>
              <a:ext uri="{FF2B5EF4-FFF2-40B4-BE49-F238E27FC236}">
                <a16:creationId xmlns:a16="http://schemas.microsoft.com/office/drawing/2014/main" id="{6F758A13-366A-E723-CD80-B85A3B9E6C31}"/>
              </a:ext>
            </a:extLst>
          </p:cNvPr>
          <p:cNvSpPr>
            <a:spLocks noChangeShapeType="1"/>
          </p:cNvSpPr>
          <p:nvPr/>
        </p:nvSpPr>
        <p:spPr bwMode="auto">
          <a:xfrm flipV="1">
            <a:off x="10220821" y="1073539"/>
            <a:ext cx="0" cy="3587750"/>
          </a:xfrm>
          <a:prstGeom prst="line">
            <a:avLst/>
          </a:prstGeom>
          <a:noFill/>
          <a:ln w="3810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dirty="0">
              <a:ln>
                <a:noFill/>
              </a:ln>
              <a:solidFill>
                <a:srgbClr val="FFFFFF"/>
              </a:solidFill>
              <a:effectLst/>
              <a:uLnTx/>
              <a:uFillTx/>
              <a:ea typeface="黑体" panose="02010609060101010101" pitchFamily="49" charset="-122"/>
            </a:endParaRPr>
          </a:p>
        </p:txBody>
      </p:sp>
      <p:sp>
        <p:nvSpPr>
          <p:cNvPr id="45" name="Line 17">
            <a:extLst>
              <a:ext uri="{FF2B5EF4-FFF2-40B4-BE49-F238E27FC236}">
                <a16:creationId xmlns:a16="http://schemas.microsoft.com/office/drawing/2014/main" id="{26E49A3F-21B5-015A-741E-68DB926F73B1}"/>
              </a:ext>
            </a:extLst>
          </p:cNvPr>
          <p:cNvSpPr>
            <a:spLocks noChangeShapeType="1"/>
          </p:cNvSpPr>
          <p:nvPr/>
        </p:nvSpPr>
        <p:spPr bwMode="auto">
          <a:xfrm>
            <a:off x="10238283" y="3062677"/>
            <a:ext cx="373063" cy="122237"/>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46" name="Line 20">
            <a:extLst>
              <a:ext uri="{FF2B5EF4-FFF2-40B4-BE49-F238E27FC236}">
                <a16:creationId xmlns:a16="http://schemas.microsoft.com/office/drawing/2014/main" id="{DC3315C1-9DCF-52B5-36C9-A8D3A10773E6}"/>
              </a:ext>
            </a:extLst>
          </p:cNvPr>
          <p:cNvSpPr>
            <a:spLocks noChangeShapeType="1"/>
          </p:cNvSpPr>
          <p:nvPr/>
        </p:nvSpPr>
        <p:spPr bwMode="auto">
          <a:xfrm rot="5400000" flipH="1">
            <a:off x="9196843" y="2087862"/>
            <a:ext cx="349449" cy="574753"/>
          </a:xfrm>
          <a:prstGeom prst="line">
            <a:avLst/>
          </a:prstGeom>
          <a:noFill/>
          <a:ln w="28575">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kumimoji="1" lang="zh-CN" altLang="en-US" b="0" i="0">
              <a:solidFill>
                <a:srgbClr val="FFFFFF"/>
              </a:solidFill>
              <a:ea typeface="黑体" panose="02010609060101010101" pitchFamily="49" charset="-122"/>
            </a:endParaRPr>
          </a:p>
        </p:txBody>
      </p:sp>
      <p:sp>
        <p:nvSpPr>
          <p:cNvPr id="47" name="Text Box 21">
            <a:extLst>
              <a:ext uri="{FF2B5EF4-FFF2-40B4-BE49-F238E27FC236}">
                <a16:creationId xmlns:a16="http://schemas.microsoft.com/office/drawing/2014/main" id="{9A11F39B-13E6-DE32-D761-19FE1D41C459}"/>
              </a:ext>
            </a:extLst>
          </p:cNvPr>
          <p:cNvSpPr txBox="1">
            <a:spLocks noChangeArrowheads="1"/>
          </p:cNvSpPr>
          <p:nvPr/>
        </p:nvSpPr>
        <p:spPr bwMode="auto">
          <a:xfrm>
            <a:off x="8642867" y="1713152"/>
            <a:ext cx="868362"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spcBef>
                <a:spcPct val="50000"/>
              </a:spcBef>
            </a:pPr>
            <a:r>
              <a:rPr kumimoji="1" lang="en-US" altLang="zh-CN" sz="2800" b="0" dirty="0" smtClean="0">
                <a:solidFill>
                  <a:srgbClr val="FF0000"/>
                </a:solidFill>
                <a:ea typeface="黑体" panose="02010609060101010101" pitchFamily="49" charset="-122"/>
                <a:cs typeface="Times New Roman" panose="02020603050405020304" pitchFamily="18" charset="0"/>
              </a:rPr>
              <a:t>F</a:t>
            </a:r>
            <a:r>
              <a:rPr kumimoji="1" lang="en-US" altLang="zh-CN" sz="2800" b="0" i="0" baseline="-25000" dirty="0">
                <a:solidFill>
                  <a:srgbClr val="FF0000"/>
                </a:solidFill>
                <a:ea typeface="黑体" panose="02010609060101010101" pitchFamily="49" charset="-122"/>
                <a:cs typeface="Times New Roman" panose="02020603050405020304" pitchFamily="18" charset="0"/>
              </a:rPr>
              <a:t>1</a:t>
            </a:r>
            <a:endParaRPr kumimoji="1" lang="en-US" altLang="zh-CN" sz="2800" b="0" i="0" baseline="-25000" dirty="0">
              <a:solidFill>
                <a:srgbClr val="FF0000"/>
              </a:solidFill>
              <a:ea typeface="黑体" panose="02010609060101010101" pitchFamily="49" charset="-122"/>
              <a:cs typeface="Times New Roman" panose="02020603050405020304" pitchFamily="18" charset="0"/>
            </a:endParaRPr>
          </a:p>
        </p:txBody>
      </p:sp>
      <p:sp>
        <p:nvSpPr>
          <p:cNvPr id="48" name="Oval 16">
            <a:extLst>
              <a:ext uri="{FF2B5EF4-FFF2-40B4-BE49-F238E27FC236}">
                <a16:creationId xmlns:a16="http://schemas.microsoft.com/office/drawing/2014/main" id="{54A984F9-AD58-48FD-D979-5CD5B4FDEE0E}"/>
              </a:ext>
            </a:extLst>
          </p:cNvPr>
          <p:cNvSpPr>
            <a:spLocks noChangeArrowheads="1"/>
          </p:cNvSpPr>
          <p:nvPr/>
        </p:nvSpPr>
        <p:spPr bwMode="auto">
          <a:xfrm>
            <a:off x="9617723" y="2505513"/>
            <a:ext cx="88900" cy="88900"/>
          </a:xfrm>
          <a:prstGeom prst="ellipse">
            <a:avLst/>
          </a:prstGeom>
          <a:solidFill>
            <a:srgbClr val="FF000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49" name="Text Box 21">
            <a:extLst>
              <a:ext uri="{FF2B5EF4-FFF2-40B4-BE49-F238E27FC236}">
                <a16:creationId xmlns:a16="http://schemas.microsoft.com/office/drawing/2014/main" id="{9A11F39B-13E6-DE32-D761-19FE1D41C459}"/>
              </a:ext>
            </a:extLst>
          </p:cNvPr>
          <p:cNvSpPr txBox="1">
            <a:spLocks noChangeArrowheads="1"/>
          </p:cNvSpPr>
          <p:nvPr/>
        </p:nvSpPr>
        <p:spPr bwMode="auto">
          <a:xfrm>
            <a:off x="8301096" y="3123795"/>
            <a:ext cx="868362"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spcBef>
                <a:spcPct val="50000"/>
              </a:spcBef>
            </a:pPr>
            <a:r>
              <a:rPr kumimoji="1" lang="en-US" altLang="zh-CN" sz="2800" b="0" dirty="0" smtClean="0">
                <a:solidFill>
                  <a:srgbClr val="FF0000"/>
                </a:solidFill>
                <a:ea typeface="黑体" panose="02010609060101010101" pitchFamily="49" charset="-122"/>
                <a:cs typeface="Times New Roman" panose="02020603050405020304" pitchFamily="18" charset="0"/>
              </a:rPr>
              <a:t>F</a:t>
            </a:r>
            <a:r>
              <a:rPr kumimoji="1" lang="en-US" altLang="zh-CN" sz="2800" b="0" i="0" baseline="-25000" dirty="0" smtClean="0">
                <a:solidFill>
                  <a:srgbClr val="FF0000"/>
                </a:solidFill>
                <a:ea typeface="黑体" panose="02010609060101010101" pitchFamily="49" charset="-122"/>
                <a:cs typeface="Times New Roman" panose="02020603050405020304" pitchFamily="18" charset="0"/>
              </a:rPr>
              <a:t>2</a:t>
            </a:r>
            <a:endParaRPr kumimoji="1" lang="en-US" altLang="zh-CN" sz="2800" b="0" i="0" baseline="-25000" dirty="0">
              <a:solidFill>
                <a:srgbClr val="FF0000"/>
              </a:solidFill>
              <a:ea typeface="黑体" panose="02010609060101010101" pitchFamily="49" charset="-122"/>
              <a:cs typeface="Times New Roman" panose="02020603050405020304" pitchFamily="18" charset="0"/>
            </a:endParaRPr>
          </a:p>
        </p:txBody>
      </p:sp>
      <p:sp>
        <p:nvSpPr>
          <p:cNvPr id="50" name="Line 20">
            <a:extLst>
              <a:ext uri="{FF2B5EF4-FFF2-40B4-BE49-F238E27FC236}">
                <a16:creationId xmlns:a16="http://schemas.microsoft.com/office/drawing/2014/main" id="{DC3315C1-9DCF-52B5-36C9-A8D3A10773E6}"/>
              </a:ext>
            </a:extLst>
          </p:cNvPr>
          <p:cNvSpPr>
            <a:spLocks noChangeShapeType="1"/>
          </p:cNvSpPr>
          <p:nvPr/>
        </p:nvSpPr>
        <p:spPr bwMode="auto">
          <a:xfrm rot="5400000">
            <a:off x="8888088" y="3268745"/>
            <a:ext cx="392720" cy="567773"/>
          </a:xfrm>
          <a:prstGeom prst="line">
            <a:avLst/>
          </a:prstGeom>
          <a:noFill/>
          <a:ln w="28575">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kumimoji="1" lang="zh-CN" altLang="en-US" b="0" i="0">
              <a:solidFill>
                <a:srgbClr val="FFFFFF"/>
              </a:solidFill>
              <a:ea typeface="黑体" panose="02010609060101010101" pitchFamily="49" charset="-122"/>
            </a:endParaRPr>
          </a:p>
        </p:txBody>
      </p:sp>
      <p:sp>
        <p:nvSpPr>
          <p:cNvPr id="51" name="Oval 16">
            <a:extLst>
              <a:ext uri="{FF2B5EF4-FFF2-40B4-BE49-F238E27FC236}">
                <a16:creationId xmlns:a16="http://schemas.microsoft.com/office/drawing/2014/main" id="{54A984F9-AD58-48FD-D979-5CD5B4FDEE0E}"/>
              </a:ext>
            </a:extLst>
          </p:cNvPr>
          <p:cNvSpPr>
            <a:spLocks noChangeArrowheads="1"/>
          </p:cNvSpPr>
          <p:nvPr/>
        </p:nvSpPr>
        <p:spPr bwMode="auto">
          <a:xfrm>
            <a:off x="9327114" y="3311823"/>
            <a:ext cx="88900" cy="88900"/>
          </a:xfrm>
          <a:prstGeom prst="ellipse">
            <a:avLst/>
          </a:prstGeom>
          <a:solidFill>
            <a:srgbClr val="FF000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53" name="Line 20">
            <a:extLst>
              <a:ext uri="{FF2B5EF4-FFF2-40B4-BE49-F238E27FC236}">
                <a16:creationId xmlns:a16="http://schemas.microsoft.com/office/drawing/2014/main" id="{DC3315C1-9DCF-52B5-36C9-A8D3A10773E6}"/>
              </a:ext>
            </a:extLst>
          </p:cNvPr>
          <p:cNvSpPr>
            <a:spLocks noChangeShapeType="1"/>
          </p:cNvSpPr>
          <p:nvPr/>
        </p:nvSpPr>
        <p:spPr bwMode="auto">
          <a:xfrm rot="5400000" flipH="1">
            <a:off x="9820511" y="1091634"/>
            <a:ext cx="9936" cy="798612"/>
          </a:xfrm>
          <a:prstGeom prst="line">
            <a:avLst/>
          </a:prstGeom>
          <a:noFill/>
          <a:ln w="28575">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kumimoji="1" lang="zh-CN" altLang="en-US" b="0" i="0">
              <a:solidFill>
                <a:srgbClr val="FFFFFF"/>
              </a:solidFill>
              <a:ea typeface="黑体" panose="02010609060101010101" pitchFamily="49" charset="-122"/>
            </a:endParaRPr>
          </a:p>
        </p:txBody>
      </p:sp>
      <p:sp>
        <p:nvSpPr>
          <p:cNvPr id="54" name="Text Box 21">
            <a:extLst>
              <a:ext uri="{FF2B5EF4-FFF2-40B4-BE49-F238E27FC236}">
                <a16:creationId xmlns:a16="http://schemas.microsoft.com/office/drawing/2014/main" id="{9A11F39B-13E6-DE32-D761-19FE1D41C459}"/>
              </a:ext>
            </a:extLst>
          </p:cNvPr>
          <p:cNvSpPr txBox="1">
            <a:spLocks noChangeArrowheads="1"/>
          </p:cNvSpPr>
          <p:nvPr/>
        </p:nvSpPr>
        <p:spPr bwMode="auto">
          <a:xfrm>
            <a:off x="9169458" y="851573"/>
            <a:ext cx="86836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spcBef>
                <a:spcPct val="50000"/>
              </a:spcBef>
            </a:pPr>
            <a:r>
              <a:rPr kumimoji="1" lang="en-US" altLang="zh-CN" sz="2800" b="0" dirty="0" smtClean="0">
                <a:solidFill>
                  <a:srgbClr val="FF0000"/>
                </a:solidFill>
                <a:ea typeface="黑体" panose="02010609060101010101" pitchFamily="49" charset="-122"/>
                <a:cs typeface="Times New Roman" panose="02020603050405020304" pitchFamily="18" charset="0"/>
              </a:rPr>
              <a:t>F</a:t>
            </a:r>
            <a:r>
              <a:rPr kumimoji="1" lang="en-US" altLang="zh-CN" sz="2800" b="0" baseline="-25000" dirty="0" smtClean="0">
                <a:solidFill>
                  <a:srgbClr val="FF0000"/>
                </a:solidFill>
                <a:ea typeface="黑体" panose="02010609060101010101" pitchFamily="49" charset="-122"/>
                <a:cs typeface="Times New Roman" panose="02020603050405020304" pitchFamily="18" charset="0"/>
              </a:rPr>
              <a:t>N</a:t>
            </a:r>
            <a:r>
              <a:rPr kumimoji="1" lang="en-US" altLang="zh-CN" sz="2800" b="0" i="0" baseline="-25000" dirty="0" smtClean="0">
                <a:solidFill>
                  <a:srgbClr val="FF0000"/>
                </a:solidFill>
                <a:ea typeface="黑体" panose="02010609060101010101" pitchFamily="49" charset="-122"/>
                <a:cs typeface="Times New Roman" panose="02020603050405020304" pitchFamily="18" charset="0"/>
              </a:rPr>
              <a:t>1</a:t>
            </a:r>
            <a:endParaRPr kumimoji="1" lang="en-US" altLang="zh-CN" sz="2800" b="0" baseline="-25000" dirty="0">
              <a:solidFill>
                <a:srgbClr val="FF0000"/>
              </a:solidFill>
              <a:ea typeface="黑体" panose="02010609060101010101" pitchFamily="49" charset="-122"/>
              <a:cs typeface="Times New Roman" panose="02020603050405020304" pitchFamily="18" charset="0"/>
            </a:endParaRPr>
          </a:p>
        </p:txBody>
      </p:sp>
      <p:sp>
        <p:nvSpPr>
          <p:cNvPr id="55" name="Oval 16">
            <a:extLst>
              <a:ext uri="{FF2B5EF4-FFF2-40B4-BE49-F238E27FC236}">
                <a16:creationId xmlns:a16="http://schemas.microsoft.com/office/drawing/2014/main" id="{54A984F9-AD58-48FD-D979-5CD5B4FDEE0E}"/>
              </a:ext>
            </a:extLst>
          </p:cNvPr>
          <p:cNvSpPr>
            <a:spLocks noChangeArrowheads="1"/>
          </p:cNvSpPr>
          <p:nvPr/>
        </p:nvSpPr>
        <p:spPr bwMode="auto">
          <a:xfrm>
            <a:off x="10183564" y="1451459"/>
            <a:ext cx="88900" cy="88900"/>
          </a:xfrm>
          <a:prstGeom prst="ellipse">
            <a:avLst/>
          </a:prstGeom>
          <a:solidFill>
            <a:srgbClr val="FF000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56" name="Oval 16">
            <a:extLst>
              <a:ext uri="{FF2B5EF4-FFF2-40B4-BE49-F238E27FC236}">
                <a16:creationId xmlns:a16="http://schemas.microsoft.com/office/drawing/2014/main" id="{54A984F9-AD58-48FD-D979-5CD5B4FDEE0E}"/>
              </a:ext>
            </a:extLst>
          </p:cNvPr>
          <p:cNvSpPr>
            <a:spLocks noChangeArrowheads="1"/>
          </p:cNvSpPr>
          <p:nvPr/>
        </p:nvSpPr>
        <p:spPr bwMode="auto">
          <a:xfrm>
            <a:off x="10185897" y="4408205"/>
            <a:ext cx="88900" cy="88900"/>
          </a:xfrm>
          <a:prstGeom prst="ellipse">
            <a:avLst/>
          </a:prstGeom>
          <a:solidFill>
            <a:srgbClr val="FF000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57" name="Line 20">
            <a:extLst>
              <a:ext uri="{FF2B5EF4-FFF2-40B4-BE49-F238E27FC236}">
                <a16:creationId xmlns:a16="http://schemas.microsoft.com/office/drawing/2014/main" id="{DC3315C1-9DCF-52B5-36C9-A8D3A10773E6}"/>
              </a:ext>
            </a:extLst>
          </p:cNvPr>
          <p:cNvSpPr>
            <a:spLocks noChangeShapeType="1"/>
          </p:cNvSpPr>
          <p:nvPr/>
        </p:nvSpPr>
        <p:spPr bwMode="auto">
          <a:xfrm rot="5400000" flipH="1" flipV="1">
            <a:off x="10337887" y="4045995"/>
            <a:ext cx="326108" cy="468163"/>
          </a:xfrm>
          <a:prstGeom prst="line">
            <a:avLst/>
          </a:prstGeom>
          <a:noFill/>
          <a:ln w="28575">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kumimoji="1" lang="zh-CN" altLang="en-US" b="0" i="0">
              <a:solidFill>
                <a:srgbClr val="FFFFFF"/>
              </a:solidFill>
              <a:ea typeface="黑体" panose="02010609060101010101" pitchFamily="49" charset="-122"/>
            </a:endParaRPr>
          </a:p>
        </p:txBody>
      </p:sp>
      <p:sp>
        <p:nvSpPr>
          <p:cNvPr id="58" name="Text Box 21">
            <a:extLst>
              <a:ext uri="{FF2B5EF4-FFF2-40B4-BE49-F238E27FC236}">
                <a16:creationId xmlns:a16="http://schemas.microsoft.com/office/drawing/2014/main" id="{9A11F39B-13E6-DE32-D761-19FE1D41C459}"/>
              </a:ext>
            </a:extLst>
          </p:cNvPr>
          <p:cNvSpPr txBox="1">
            <a:spLocks noChangeArrowheads="1"/>
          </p:cNvSpPr>
          <p:nvPr/>
        </p:nvSpPr>
        <p:spPr bwMode="auto">
          <a:xfrm>
            <a:off x="10654059" y="3800061"/>
            <a:ext cx="868362"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kumimoji="1" lang="en-US" altLang="zh-CN" sz="2800" b="0" dirty="0" smtClean="0">
                <a:solidFill>
                  <a:srgbClr val="FF0000"/>
                </a:solidFill>
                <a:ea typeface="黑体" panose="02010609060101010101" pitchFamily="49" charset="-122"/>
                <a:cs typeface="Times New Roman" panose="02020603050405020304" pitchFamily="18" charset="0"/>
              </a:rPr>
              <a:t>F</a:t>
            </a:r>
            <a:r>
              <a:rPr kumimoji="1" lang="en-US" altLang="zh-CN" sz="2800" b="0" baseline="-25000" dirty="0" smtClean="0">
                <a:solidFill>
                  <a:srgbClr val="FF0000"/>
                </a:solidFill>
                <a:ea typeface="黑体" panose="02010609060101010101" pitchFamily="49" charset="-122"/>
                <a:cs typeface="Times New Roman" panose="02020603050405020304" pitchFamily="18" charset="0"/>
              </a:rPr>
              <a:t>N</a:t>
            </a:r>
            <a:r>
              <a:rPr kumimoji="1" lang="en-US" altLang="zh-CN" sz="2800" b="0" i="0" baseline="-25000" dirty="0" smtClean="0">
                <a:solidFill>
                  <a:srgbClr val="FF0000"/>
                </a:solidFill>
                <a:ea typeface="黑体" panose="02010609060101010101" pitchFamily="49" charset="-122"/>
                <a:cs typeface="Times New Roman" panose="02020603050405020304" pitchFamily="18" charset="0"/>
              </a:rPr>
              <a:t>2</a:t>
            </a:r>
            <a:endParaRPr kumimoji="1" lang="en-US" altLang="zh-CN" sz="2800" b="0" baseline="-25000" dirty="0">
              <a:solidFill>
                <a:srgbClr val="FF0000"/>
              </a:solidFill>
              <a:ea typeface="黑体" panose="02010609060101010101" pitchFamily="49" charset="-122"/>
              <a:cs typeface="Times New Roman" panose="02020603050405020304" pitchFamily="18" charset="0"/>
            </a:endParaRPr>
          </a:p>
          <a:p>
            <a:pPr algn="ctr">
              <a:spcBef>
                <a:spcPct val="50000"/>
              </a:spcBef>
            </a:pPr>
            <a:endParaRPr kumimoji="1" lang="en-US" altLang="zh-CN" sz="2800" b="0" baseline="-25000" dirty="0">
              <a:solidFill>
                <a:srgbClr val="FF0000"/>
              </a:solidFill>
              <a:ea typeface="黑体" panose="02010609060101010101" pitchFamily="49" charset="-122"/>
              <a:cs typeface="Times New Roman" panose="02020603050405020304" pitchFamily="18" charset="0"/>
            </a:endParaRPr>
          </a:p>
        </p:txBody>
      </p:sp>
      <p:sp>
        <p:nvSpPr>
          <p:cNvPr id="60" name="Rectangle 33">
            <a:extLst>
              <a:ext uri="{FF2B5EF4-FFF2-40B4-BE49-F238E27FC236}">
                <a16:creationId xmlns:a16="http://schemas.microsoft.com/office/drawing/2014/main" id="{26AB54AD-2FA2-C471-DAB4-A5D4F229220A}"/>
              </a:ext>
            </a:extLst>
          </p:cNvPr>
          <p:cNvSpPr>
            <a:spLocks noChangeArrowheads="1"/>
          </p:cNvSpPr>
          <p:nvPr/>
        </p:nvSpPr>
        <p:spPr bwMode="auto">
          <a:xfrm flipH="1">
            <a:off x="10023504" y="4543814"/>
            <a:ext cx="394168" cy="120238"/>
          </a:xfrm>
          <a:prstGeom prst="rect">
            <a:avLst/>
          </a:prstGeom>
          <a:pattFill prst="wdUpDiag">
            <a:fgClr>
              <a:srgbClr val="000000"/>
            </a:fgClr>
            <a:bgClr>
              <a:srgbClr val="FFFFFF"/>
            </a:bgClr>
          </a:patt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aphicFrame>
        <p:nvGraphicFramePr>
          <p:cNvPr id="62" name="Object 7"/>
          <p:cNvGraphicFramePr>
            <a:graphicFrameLocks noChangeAspect="1"/>
          </p:cNvGraphicFramePr>
          <p:nvPr>
            <p:extLst>
              <p:ext uri="{D42A27DB-BD31-4B8C-83A1-F6EECF244321}">
                <p14:modId xmlns:p14="http://schemas.microsoft.com/office/powerpoint/2010/main" val="2300003048"/>
              </p:ext>
            </p:extLst>
          </p:nvPr>
        </p:nvGraphicFramePr>
        <p:xfrm>
          <a:off x="4488151" y="1982788"/>
          <a:ext cx="1343025" cy="566737"/>
        </p:xfrm>
        <a:graphic>
          <a:graphicData uri="http://schemas.openxmlformats.org/presentationml/2006/ole">
            <mc:AlternateContent xmlns:mc="http://schemas.openxmlformats.org/markup-compatibility/2006">
              <mc:Choice xmlns:v="urn:schemas-microsoft-com:vml" Requires="v">
                <p:oleObj spid="_x0000_s35860" name="Equation" r:id="rId8" imgW="558720" imgH="241200" progId="Equation.DSMT4">
                  <p:embed/>
                </p:oleObj>
              </mc:Choice>
              <mc:Fallback>
                <p:oleObj name="Equation" r:id="rId8" imgW="558720" imgH="241200" progId="Equation.DSMT4">
                  <p:embed/>
                  <p:pic>
                    <p:nvPicPr>
                      <p:cNvPr id="36" name="Object 7"/>
                      <p:cNvPicPr>
                        <a:picLocks noChangeAspect="1" noChangeArrowheads="1"/>
                      </p:cNvPicPr>
                      <p:nvPr/>
                    </p:nvPicPr>
                    <p:blipFill>
                      <a:blip r:embed="rId9"/>
                      <a:srcRect/>
                      <a:stretch>
                        <a:fillRect/>
                      </a:stretch>
                    </p:blipFill>
                    <p:spPr bwMode="auto">
                      <a:xfrm>
                        <a:off x="4488151" y="1982788"/>
                        <a:ext cx="1343025" cy="566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3" name="Object 10"/>
          <p:cNvGraphicFramePr>
            <a:graphicFrameLocks noChangeAspect="1"/>
          </p:cNvGraphicFramePr>
          <p:nvPr>
            <p:extLst>
              <p:ext uri="{D42A27DB-BD31-4B8C-83A1-F6EECF244321}">
                <p14:modId xmlns:p14="http://schemas.microsoft.com/office/powerpoint/2010/main" val="818817100"/>
              </p:ext>
            </p:extLst>
          </p:nvPr>
        </p:nvGraphicFramePr>
        <p:xfrm>
          <a:off x="888601" y="4030545"/>
          <a:ext cx="1727200" cy="884237"/>
        </p:xfrm>
        <a:graphic>
          <a:graphicData uri="http://schemas.openxmlformats.org/presentationml/2006/ole">
            <mc:AlternateContent xmlns:mc="http://schemas.openxmlformats.org/markup-compatibility/2006">
              <mc:Choice xmlns:v="urn:schemas-microsoft-com:vml" Requires="v">
                <p:oleObj spid="_x0000_s35861" name="Equation" r:id="rId10" imgW="761760" imgH="393480" progId="Equation.DSMT4">
                  <p:embed/>
                </p:oleObj>
              </mc:Choice>
              <mc:Fallback>
                <p:oleObj name="Equation" r:id="rId10" imgW="761760" imgH="393480" progId="Equation.DSMT4">
                  <p:embed/>
                  <p:pic>
                    <p:nvPicPr>
                      <p:cNvPr id="37" name="Object 10"/>
                      <p:cNvPicPr>
                        <a:picLocks noChangeAspect="1" noChangeArrowheads="1"/>
                      </p:cNvPicPr>
                      <p:nvPr/>
                    </p:nvPicPr>
                    <p:blipFill>
                      <a:blip r:embed="rId11"/>
                      <a:srcRect/>
                      <a:stretch>
                        <a:fillRect/>
                      </a:stretch>
                    </p:blipFill>
                    <p:spPr bwMode="auto">
                      <a:xfrm>
                        <a:off x="888601" y="4030545"/>
                        <a:ext cx="1727200" cy="884237"/>
                      </a:xfrm>
                      <a:prstGeom prst="rect">
                        <a:avLst/>
                      </a:prstGeom>
                      <a:noFill/>
                    </p:spPr>
                  </p:pic>
                </p:oleObj>
              </mc:Fallback>
            </mc:AlternateContent>
          </a:graphicData>
        </a:graphic>
      </p:graphicFrame>
      <p:graphicFrame>
        <p:nvGraphicFramePr>
          <p:cNvPr id="64" name="Object 10"/>
          <p:cNvGraphicFramePr>
            <a:graphicFrameLocks noChangeAspect="1"/>
          </p:cNvGraphicFramePr>
          <p:nvPr>
            <p:extLst>
              <p:ext uri="{D42A27DB-BD31-4B8C-83A1-F6EECF244321}">
                <p14:modId xmlns:p14="http://schemas.microsoft.com/office/powerpoint/2010/main" val="1718929470"/>
              </p:ext>
            </p:extLst>
          </p:nvPr>
        </p:nvGraphicFramePr>
        <p:xfrm>
          <a:off x="3267331" y="4216799"/>
          <a:ext cx="1411287" cy="512763"/>
        </p:xfrm>
        <a:graphic>
          <a:graphicData uri="http://schemas.openxmlformats.org/presentationml/2006/ole">
            <mc:AlternateContent xmlns:mc="http://schemas.openxmlformats.org/markup-compatibility/2006">
              <mc:Choice xmlns:v="urn:schemas-microsoft-com:vml" Requires="v">
                <p:oleObj spid="_x0000_s35862" name="Equation" r:id="rId12" imgW="622080" imgH="228600" progId="Equation.DSMT4">
                  <p:embed/>
                </p:oleObj>
              </mc:Choice>
              <mc:Fallback>
                <p:oleObj name="Equation" r:id="rId12" imgW="622080" imgH="228600" progId="Equation.DSMT4">
                  <p:embed/>
                  <p:pic>
                    <p:nvPicPr>
                      <p:cNvPr id="63" name="Object 10"/>
                      <p:cNvPicPr>
                        <a:picLocks noChangeAspect="1" noChangeArrowheads="1"/>
                      </p:cNvPicPr>
                      <p:nvPr/>
                    </p:nvPicPr>
                    <p:blipFill>
                      <a:blip r:embed="rId13"/>
                      <a:srcRect/>
                      <a:stretch>
                        <a:fillRect/>
                      </a:stretch>
                    </p:blipFill>
                    <p:spPr bwMode="auto">
                      <a:xfrm>
                        <a:off x="3267331" y="4216799"/>
                        <a:ext cx="1411287" cy="512763"/>
                      </a:xfrm>
                      <a:prstGeom prst="rect">
                        <a:avLst/>
                      </a:prstGeom>
                      <a:noFill/>
                    </p:spPr>
                  </p:pic>
                </p:oleObj>
              </mc:Fallback>
            </mc:AlternateContent>
          </a:graphicData>
        </a:graphic>
      </p:graphicFrame>
      <p:sp>
        <p:nvSpPr>
          <p:cNvPr id="3" name="矩形 2"/>
          <p:cNvSpPr/>
          <p:nvPr/>
        </p:nvSpPr>
        <p:spPr>
          <a:xfrm>
            <a:off x="2626443" y="4234262"/>
            <a:ext cx="494046" cy="461665"/>
          </a:xfrm>
          <a:prstGeom prst="rect">
            <a:avLst/>
          </a:prstGeom>
        </p:spPr>
        <p:txBody>
          <a:bodyPr wrap="none">
            <a:spAutoFit/>
          </a:bodyPr>
          <a:lstStyle/>
          <a:p>
            <a:r>
              <a:rPr kumimoji="1" lang="zh-CN" altLang="en-US" i="0" dirty="0">
                <a:solidFill>
                  <a:schemeClr val="tx1"/>
                </a:solidFill>
                <a:ea typeface="微软雅黑" panose="020B0503020204020204" pitchFamily="34" charset="-122"/>
              </a:rPr>
              <a:t>或</a:t>
            </a:r>
            <a:endParaRPr lang="zh-CN" altLang="en-US" dirty="0">
              <a:solidFill>
                <a:schemeClr val="tx1"/>
              </a:solidFill>
            </a:endParaRPr>
          </a:p>
        </p:txBody>
      </p:sp>
      <p:sp>
        <p:nvSpPr>
          <p:cNvPr id="65" name="Text Box 1032">
            <a:extLst>
              <a:ext uri="{FF2B5EF4-FFF2-40B4-BE49-F238E27FC236}">
                <a16:creationId xmlns:a16="http://schemas.microsoft.com/office/drawing/2014/main" id="{601B0AF4-E94B-6B86-256C-BDA731B8AC7A}"/>
              </a:ext>
            </a:extLst>
          </p:cNvPr>
          <p:cNvSpPr txBox="1">
            <a:spLocks noChangeArrowheads="1"/>
          </p:cNvSpPr>
          <p:nvPr/>
        </p:nvSpPr>
        <p:spPr bwMode="auto">
          <a:xfrm>
            <a:off x="1087670" y="4754167"/>
            <a:ext cx="9891157" cy="1643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20000"/>
              </a:lnSpc>
            </a:pPr>
            <a:r>
              <a:rPr lang="en-US" altLang="zh-CN" sz="2800" i="0" dirty="0">
                <a:solidFill>
                  <a:srgbClr val="FF0000"/>
                </a:solidFill>
                <a:latin typeface="+mn-lt"/>
                <a:ea typeface="微软雅黑" panose="020B0503020204020204" pitchFamily="34" charset="-122"/>
              </a:rPr>
              <a:t>                     </a:t>
            </a:r>
            <a:r>
              <a:rPr lang="en-US" altLang="zh-CN" sz="2800" i="0" dirty="0">
                <a:solidFill>
                  <a:srgbClr val="FF0000"/>
                </a:solidFill>
                <a:ea typeface="微软雅黑" panose="020B0503020204020204" pitchFamily="34" charset="-122"/>
              </a:rPr>
              <a:t>—</a:t>
            </a:r>
            <a:r>
              <a:rPr lang="en-US" altLang="zh-CN" sz="2800" i="0" dirty="0">
                <a:solidFill>
                  <a:srgbClr val="FF0000"/>
                </a:solidFill>
                <a:latin typeface="+mn-lt"/>
                <a:ea typeface="微软雅黑" panose="020B0503020204020204" pitchFamily="34" charset="-122"/>
              </a:rPr>
              <a:t>— </a:t>
            </a:r>
            <a:r>
              <a:rPr lang="zh-CN" altLang="en-US" sz="2800" i="0" dirty="0">
                <a:solidFill>
                  <a:srgbClr val="FF0000"/>
                </a:solidFill>
                <a:latin typeface="+mn-lt"/>
                <a:ea typeface="微软雅黑" panose="020B0503020204020204" pitchFamily="34" charset="-122"/>
              </a:rPr>
              <a:t>刚体绕</a:t>
            </a:r>
            <a:r>
              <a:rPr lang="zh-CN" altLang="en-US" sz="2800" i="0" dirty="0" smtClean="0">
                <a:solidFill>
                  <a:srgbClr val="FF0000"/>
                </a:solidFill>
                <a:latin typeface="+mn-lt"/>
                <a:ea typeface="微软雅黑" panose="020B0503020204020204" pitchFamily="34" charset="-122"/>
              </a:rPr>
              <a:t>定轴转动微分方程</a:t>
            </a:r>
            <a:r>
              <a:rPr lang="zh-CN" altLang="en-US" sz="2800" i="0" dirty="0" smtClean="0">
                <a:latin typeface="+mn-lt"/>
                <a:ea typeface="微软雅黑" panose="020B0503020204020204" pitchFamily="34" charset="-122"/>
              </a:rPr>
              <a:t>，</a:t>
            </a:r>
            <a:r>
              <a:rPr lang="zh-CN" altLang="en-US" sz="2800" i="0" dirty="0">
                <a:latin typeface="+mn-lt"/>
                <a:ea typeface="微软雅黑" panose="020B0503020204020204" pitchFamily="34" charset="-122"/>
              </a:rPr>
              <a:t>它表明刚体绕定轴转动时，刚体对转轴的转动惯量与其角加速度的乘积，等于作用在刚体上所有外力对转轴力矩的代数和。</a:t>
            </a:r>
            <a:endParaRPr lang="en-US" altLang="zh-CN" sz="2800" i="0" dirty="0">
              <a:latin typeface="+mn-lt"/>
              <a:ea typeface="微软雅黑" panose="020B0503020204020204" pitchFamily="34" charset="-122"/>
            </a:endParaRPr>
          </a:p>
        </p:txBody>
      </p:sp>
    </p:spTree>
    <p:extLst>
      <p:ext uri="{BB962C8B-B14F-4D97-AF65-F5344CB8AC3E}">
        <p14:creationId xmlns:p14="http://schemas.microsoft.com/office/powerpoint/2010/main" val="3386487407"/>
      </p:ext>
    </p:extLst>
  </p:cSld>
  <p:clrMapOvr>
    <a:masterClrMapping/>
  </p:clrMapOvr>
  <p:transition spd="slow"/>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4653838"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第七章   动力学普遍定理</a:t>
            </a:r>
          </a:p>
        </p:txBody>
      </p:sp>
      <p:sp>
        <p:nvSpPr>
          <p:cNvPr id="9" name="Rectangle 61">
            <a:extLst>
              <a:ext uri="{FF2B5EF4-FFF2-40B4-BE49-F238E27FC236}">
                <a16:creationId xmlns:a16="http://schemas.microsoft.com/office/drawing/2014/main" id="{0C4CF67B-8CA2-F648-B364-D8C44A49A572}"/>
              </a:ext>
            </a:extLst>
          </p:cNvPr>
          <p:cNvSpPr>
            <a:spLocks noChangeArrowheads="1"/>
          </p:cNvSpPr>
          <p:nvPr/>
        </p:nvSpPr>
        <p:spPr bwMode="auto">
          <a:xfrm>
            <a:off x="9120336" y="842981"/>
            <a:ext cx="2880320" cy="5393935"/>
          </a:xfrm>
          <a:prstGeom prst="rect">
            <a:avLst/>
          </a:prstGeom>
          <a:solidFill>
            <a:srgbClr val="B9CDE5"/>
          </a:solidFill>
          <a:ln>
            <a:noFill/>
          </a:ln>
          <a:effectLst/>
        </p:spPr>
        <p:txBody>
          <a:bodyPr wrap="none" anchor="ctr"/>
          <a:lstStyle/>
          <a:p>
            <a:endParaRPr lang="zh-CN" altLang="en-US"/>
          </a:p>
        </p:txBody>
      </p:sp>
      <p:sp>
        <p:nvSpPr>
          <p:cNvPr id="64" name="矩形 63"/>
          <p:cNvSpPr/>
          <p:nvPr/>
        </p:nvSpPr>
        <p:spPr>
          <a:xfrm>
            <a:off x="191343" y="842981"/>
            <a:ext cx="8608318" cy="1421928"/>
          </a:xfrm>
          <a:prstGeom prst="rect">
            <a:avLst/>
          </a:prstGeom>
        </p:spPr>
        <p:txBody>
          <a:bodyPr wrap="square">
            <a:spAutoFit/>
          </a:bodyPr>
          <a:lstStyle/>
          <a:p>
            <a:pPr>
              <a:lnSpc>
                <a:spcPct val="120000"/>
              </a:lnSpc>
            </a:pPr>
            <a:r>
              <a:rPr lang="zh-CN" altLang="en-US" i="0" dirty="0">
                <a:solidFill>
                  <a:srgbClr val="0033CC"/>
                </a:solidFill>
                <a:ea typeface="黑体" panose="02010609060101010101" pitchFamily="49" charset="-122"/>
              </a:rPr>
              <a:t>例   </a:t>
            </a:r>
            <a:r>
              <a:rPr kumimoji="1" lang="zh-CN" altLang="en-US" sz="240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图示提升装置中，已知滚筒直径</a:t>
            </a:r>
            <a:r>
              <a:rPr kumimoji="1" lang="en-US" altLang="zh-CN" sz="2400" b="0" i="1"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d</a:t>
            </a:r>
            <a:r>
              <a:rPr kumimoji="1" lang="zh-CN" altLang="en-US" sz="240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，它对转轴的转动惯量为</a:t>
            </a:r>
            <a:r>
              <a:rPr kumimoji="1" lang="en-US" altLang="zh-CN" sz="2400" b="0" i="1"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J</a:t>
            </a:r>
            <a:r>
              <a:rPr kumimoji="1" lang="zh-CN" altLang="en-US" sz="240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，作用于滚筒上的主动转矩为</a:t>
            </a:r>
            <a:r>
              <a:rPr kumimoji="1" lang="en-US" altLang="zh-CN" sz="2400" b="0" i="1"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T</a:t>
            </a:r>
            <a:r>
              <a:rPr kumimoji="1" lang="zh-CN" altLang="en-US" sz="240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，被提升重物的质量为</a:t>
            </a:r>
            <a:r>
              <a:rPr kumimoji="1" lang="en-US" altLang="zh-CN" sz="2400" b="0" i="1"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m</a:t>
            </a:r>
            <a:r>
              <a:rPr kumimoji="1" lang="zh-CN" altLang="en-US" sz="240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。求重物上升的加速度</a:t>
            </a:r>
            <a:r>
              <a:rPr kumimoji="1" lang="zh-CN" altLang="en-US" i="0" dirty="0">
                <a:solidFill>
                  <a:schemeClr val="tx1"/>
                </a:solidFill>
                <a:ea typeface="黑体" panose="02010609060101010101" pitchFamily="49" charset="-122"/>
              </a:rPr>
              <a:t>。（用动量矩定理求解）</a:t>
            </a:r>
            <a:endParaRPr lang="zh-CN" altLang="en-US" i="0" dirty="0">
              <a:solidFill>
                <a:schemeClr val="tx1"/>
              </a:solidFill>
              <a:latin typeface="黑体" panose="02010609060101010101" pitchFamily="49" charset="-122"/>
              <a:ea typeface="黑体" panose="02010609060101010101" pitchFamily="49" charset="-122"/>
            </a:endParaRPr>
          </a:p>
        </p:txBody>
      </p:sp>
      <p:sp>
        <p:nvSpPr>
          <p:cNvPr id="65" name="矩形 64">
            <a:extLst>
              <a:ext uri="{FF2B5EF4-FFF2-40B4-BE49-F238E27FC236}">
                <a16:creationId xmlns:a16="http://schemas.microsoft.com/office/drawing/2014/main" id="{D3CDC4E8-6131-C61F-BBEF-CD6E3A776FFC}"/>
              </a:ext>
            </a:extLst>
          </p:cNvPr>
          <p:cNvSpPr/>
          <p:nvPr/>
        </p:nvSpPr>
        <p:spPr>
          <a:xfrm>
            <a:off x="191343" y="2111993"/>
            <a:ext cx="8467874" cy="3933384"/>
          </a:xfrm>
          <a:prstGeom prst="rect">
            <a:avLst/>
          </a:prstGeom>
        </p:spPr>
        <p:txBody>
          <a:bodyPr wrap="square">
            <a:spAutoFit/>
          </a:bodyPr>
          <a:lstStyle/>
          <a:p>
            <a:pPr>
              <a:lnSpc>
                <a:spcPct val="130000"/>
              </a:lnSpc>
              <a:defRPr/>
            </a:pPr>
            <a:r>
              <a:rPr lang="zh-CN" altLang="en-US" i="0" dirty="0">
                <a:solidFill>
                  <a:srgbClr val="0033CC"/>
                </a:solidFill>
                <a:ea typeface="黑体" panose="02010609060101010101" pitchFamily="49" charset="-122"/>
              </a:rPr>
              <a:t>解   </a:t>
            </a:r>
            <a:r>
              <a:rPr kumimoji="1" lang="zh-CN" altLang="en-US" sz="240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取滚筒与重物组成的质点系为研究对象。</a:t>
            </a:r>
            <a:r>
              <a:rPr kumimoji="1" lang="zh-CN" altLang="en-US" i="0" dirty="0">
                <a:solidFill>
                  <a:schemeClr val="tx1"/>
                </a:solidFill>
                <a:ea typeface="黑体" panose="02010609060101010101" pitchFamily="49" charset="-122"/>
              </a:rPr>
              <a:t>作用于质点系上的外力有转</a:t>
            </a:r>
            <a:r>
              <a:rPr kumimoji="1" lang="zh-CN" altLang="en-US" i="0" dirty="0">
                <a:solidFill>
                  <a:schemeClr val="tx1"/>
                </a:solidFill>
                <a:latin typeface="+mj-lt"/>
                <a:ea typeface="黑体" panose="02010609060101010101" pitchFamily="49" charset="-122"/>
              </a:rPr>
              <a:t>矩</a:t>
            </a:r>
            <a:r>
              <a:rPr kumimoji="1" lang="en-US" altLang="zh-CN" b="0" dirty="0">
                <a:solidFill>
                  <a:schemeClr val="tx1"/>
                </a:solidFill>
                <a:latin typeface="+mj-lt"/>
                <a:ea typeface="黑体" panose="02010609060101010101" pitchFamily="49" charset="-122"/>
              </a:rPr>
              <a:t>T</a:t>
            </a:r>
            <a:r>
              <a:rPr kumimoji="1" lang="zh-CN" altLang="en-US" i="0" dirty="0">
                <a:solidFill>
                  <a:schemeClr val="tx1"/>
                </a:solidFill>
                <a:latin typeface="+mj-lt"/>
                <a:ea typeface="黑体" panose="02010609060101010101" pitchFamily="49" charset="-122"/>
              </a:rPr>
              <a:t>、滚筒重力</a:t>
            </a:r>
            <a:r>
              <a:rPr kumimoji="1" lang="en-US" altLang="zh-CN" dirty="0">
                <a:solidFill>
                  <a:schemeClr val="tx1"/>
                </a:solidFill>
                <a:latin typeface="+mj-lt"/>
                <a:ea typeface="黑体" panose="02010609060101010101" pitchFamily="49" charset="-122"/>
              </a:rPr>
              <a:t>G</a:t>
            </a:r>
            <a:r>
              <a:rPr kumimoji="1" lang="zh-CN" altLang="en-US" dirty="0">
                <a:solidFill>
                  <a:schemeClr val="tx1"/>
                </a:solidFill>
                <a:latin typeface="+mj-lt"/>
                <a:ea typeface="黑体" panose="02010609060101010101" pitchFamily="49" charset="-122"/>
              </a:rPr>
              <a:t>、</a:t>
            </a:r>
            <a:r>
              <a:rPr kumimoji="1" lang="zh-CN" altLang="en-US" i="0" dirty="0">
                <a:solidFill>
                  <a:schemeClr val="tx1"/>
                </a:solidFill>
                <a:latin typeface="+mj-lt"/>
                <a:ea typeface="黑体" panose="02010609060101010101" pitchFamily="49" charset="-122"/>
              </a:rPr>
              <a:t>重力为</a:t>
            </a:r>
            <a:r>
              <a:rPr lang="en-US" altLang="zh-CN" b="0" dirty="0">
                <a:solidFill>
                  <a:schemeClr val="tx1"/>
                </a:solidFill>
                <a:latin typeface="+mj-lt"/>
                <a:ea typeface="黑体" panose="02010609060101010101" pitchFamily="49" charset="-122"/>
              </a:rPr>
              <a:t>m</a:t>
            </a:r>
            <a:r>
              <a:rPr lang="en-US" altLang="zh-CN" dirty="0">
                <a:solidFill>
                  <a:schemeClr val="tx1"/>
                </a:solidFill>
                <a:latin typeface="+mj-lt"/>
                <a:ea typeface="黑体" panose="02010609060101010101" pitchFamily="49" charset="-122"/>
              </a:rPr>
              <a:t>g</a:t>
            </a:r>
            <a:r>
              <a:rPr kumimoji="1" lang="zh-CN" altLang="en-US" i="0" dirty="0">
                <a:solidFill>
                  <a:schemeClr val="tx1"/>
                </a:solidFill>
                <a:latin typeface="+mj-lt"/>
                <a:ea typeface="黑体" panose="02010609060101010101" pitchFamily="49" charset="-122"/>
              </a:rPr>
              <a:t>以及轴承</a:t>
            </a:r>
            <a:r>
              <a:rPr lang="en-US" altLang="zh-CN" dirty="0">
                <a:solidFill>
                  <a:schemeClr val="tx1"/>
                </a:solidFill>
                <a:latin typeface="+mj-lt"/>
                <a:ea typeface="黑体" panose="02010609060101010101" pitchFamily="49" charset="-122"/>
              </a:rPr>
              <a:t>O</a:t>
            </a:r>
            <a:r>
              <a:rPr kumimoji="1" lang="zh-CN" altLang="en-US" i="0" dirty="0">
                <a:solidFill>
                  <a:schemeClr val="tx1"/>
                </a:solidFill>
                <a:latin typeface="+mj-lt"/>
                <a:ea typeface="黑体" panose="02010609060101010101" pitchFamily="49" charset="-122"/>
              </a:rPr>
              <a:t>处的约束反力</a:t>
            </a:r>
            <a:r>
              <a:rPr lang="en-US" altLang="zh-CN" dirty="0" err="1">
                <a:solidFill>
                  <a:schemeClr val="tx1"/>
                </a:solidFill>
                <a:latin typeface="+mj-lt"/>
                <a:ea typeface="黑体" panose="02010609060101010101" pitchFamily="49" charset="-122"/>
              </a:rPr>
              <a:t>F</a:t>
            </a:r>
            <a:r>
              <a:rPr lang="en-US" altLang="zh-CN" b="0" baseline="-25000" dirty="0" err="1">
                <a:solidFill>
                  <a:schemeClr val="tx1"/>
                </a:solidFill>
                <a:latin typeface="+mj-lt"/>
                <a:ea typeface="黑体" panose="02010609060101010101" pitchFamily="49" charset="-122"/>
              </a:rPr>
              <a:t>x</a:t>
            </a:r>
            <a:r>
              <a:rPr lang="zh-CN" altLang="en-US" dirty="0">
                <a:solidFill>
                  <a:schemeClr val="tx1"/>
                </a:solidFill>
                <a:latin typeface="+mj-lt"/>
                <a:ea typeface="黑体" panose="02010609060101010101" pitchFamily="49" charset="-122"/>
              </a:rPr>
              <a:t>、</a:t>
            </a:r>
            <a:r>
              <a:rPr lang="en-US" altLang="zh-CN" dirty="0" err="1">
                <a:solidFill>
                  <a:schemeClr val="tx1"/>
                </a:solidFill>
                <a:latin typeface="+mj-lt"/>
                <a:ea typeface="黑体" panose="02010609060101010101" pitchFamily="49" charset="-122"/>
              </a:rPr>
              <a:t>F</a:t>
            </a:r>
            <a:r>
              <a:rPr lang="en-US" altLang="zh-CN" b="0" baseline="-25000" dirty="0" err="1">
                <a:solidFill>
                  <a:schemeClr val="tx1"/>
                </a:solidFill>
                <a:latin typeface="+mj-lt"/>
                <a:ea typeface="黑体" panose="02010609060101010101" pitchFamily="49" charset="-122"/>
              </a:rPr>
              <a:t>y</a:t>
            </a:r>
            <a:r>
              <a:rPr lang="zh-CN" altLang="en-US" i="0" dirty="0">
                <a:solidFill>
                  <a:schemeClr val="tx1"/>
                </a:solidFill>
                <a:latin typeface="+mj-lt"/>
                <a:ea typeface="黑体" panose="02010609060101010101" pitchFamily="49" charset="-122"/>
              </a:rPr>
              <a:t>。</a:t>
            </a:r>
            <a:endParaRPr lang="en-US" altLang="zh-CN" i="0" dirty="0">
              <a:solidFill>
                <a:schemeClr val="tx1"/>
              </a:solidFill>
              <a:latin typeface="+mj-lt"/>
              <a:ea typeface="黑体" panose="02010609060101010101" pitchFamily="49" charset="-122"/>
            </a:endParaRPr>
          </a:p>
          <a:p>
            <a:pPr>
              <a:lnSpc>
                <a:spcPct val="130000"/>
              </a:lnSpc>
              <a:defRPr/>
            </a:pPr>
            <a:r>
              <a:rPr lang="zh-CN" altLang="en-US" i="0" dirty="0">
                <a:solidFill>
                  <a:schemeClr val="tx1"/>
                </a:solidFill>
                <a:latin typeface="+mn-lt"/>
                <a:ea typeface="黑体" panose="02010609060101010101" pitchFamily="49" charset="-122"/>
              </a:rPr>
              <a:t>设某瞬时滚筒转动的角速度为</a:t>
            </a:r>
            <a:r>
              <a:rPr lang="zh-CN" altLang="en-US" b="0" dirty="0">
                <a:solidFill>
                  <a:schemeClr val="tx1"/>
                </a:solidFill>
                <a:latin typeface="+mn-lt"/>
                <a:ea typeface="黑体" panose="02010609060101010101" pitchFamily="49" charset="-122"/>
                <a:sym typeface="Symbol" panose="05050102010706020507" pitchFamily="18" charset="2"/>
              </a:rPr>
              <a:t></a:t>
            </a:r>
            <a:r>
              <a:rPr lang="zh-CN" altLang="en-US" i="0" dirty="0">
                <a:solidFill>
                  <a:schemeClr val="tx1"/>
                </a:solidFill>
                <a:latin typeface="+mn-lt"/>
                <a:ea typeface="黑体" panose="02010609060101010101" pitchFamily="49" charset="-122"/>
              </a:rPr>
              <a:t>，则重物上升的速度</a:t>
            </a:r>
            <a:r>
              <a:rPr lang="en-US" altLang="zh-CN" b="0" dirty="0">
                <a:solidFill>
                  <a:schemeClr val="tx1"/>
                </a:solidFill>
                <a:latin typeface="+mn-lt"/>
                <a:ea typeface="黑体" panose="02010609060101010101" pitchFamily="49" charset="-122"/>
              </a:rPr>
              <a:t>v=</a:t>
            </a:r>
            <a:r>
              <a:rPr lang="en-US" altLang="zh-CN" b="0" dirty="0">
                <a:solidFill>
                  <a:schemeClr val="tx1"/>
                </a:solidFill>
                <a:latin typeface="+mn-lt"/>
                <a:ea typeface="黑体" panose="02010609060101010101" pitchFamily="49" charset="-122"/>
                <a:sym typeface="Symbol" panose="05050102010706020507" pitchFamily="18" charset="2"/>
              </a:rPr>
              <a:t></a:t>
            </a:r>
            <a:r>
              <a:rPr lang="en-US" altLang="zh-CN" b="0" dirty="0">
                <a:solidFill>
                  <a:schemeClr val="tx1"/>
                </a:solidFill>
                <a:latin typeface="+mn-lt"/>
                <a:ea typeface="黑体" panose="02010609060101010101" pitchFamily="49" charset="-122"/>
              </a:rPr>
              <a:t>d/2</a:t>
            </a:r>
            <a:r>
              <a:rPr lang="zh-CN" altLang="en-US" i="0" dirty="0">
                <a:solidFill>
                  <a:schemeClr val="tx1"/>
                </a:solidFill>
                <a:latin typeface="+mn-lt"/>
                <a:ea typeface="黑体" panose="02010609060101010101" pitchFamily="49" charset="-122"/>
              </a:rPr>
              <a:t>。整个系统对转轴</a:t>
            </a:r>
            <a:r>
              <a:rPr lang="en-US" altLang="zh-CN" b="0" dirty="0">
                <a:solidFill>
                  <a:schemeClr val="tx1"/>
                </a:solidFill>
                <a:latin typeface="+mn-lt"/>
                <a:ea typeface="黑体" panose="02010609060101010101" pitchFamily="49" charset="-122"/>
              </a:rPr>
              <a:t>O</a:t>
            </a:r>
            <a:r>
              <a:rPr lang="zh-CN" altLang="en-US" i="0" dirty="0">
                <a:solidFill>
                  <a:schemeClr val="tx1"/>
                </a:solidFill>
                <a:latin typeface="+mn-lt"/>
                <a:ea typeface="黑体" panose="02010609060101010101" pitchFamily="49" charset="-122"/>
              </a:rPr>
              <a:t>的动量矩为</a:t>
            </a:r>
            <a:endParaRPr lang="en-US" altLang="zh-CN" i="0" dirty="0">
              <a:solidFill>
                <a:schemeClr val="tx1"/>
              </a:solidFill>
              <a:latin typeface="+mn-lt"/>
              <a:ea typeface="黑体" panose="02010609060101010101" pitchFamily="49" charset="-122"/>
            </a:endParaRPr>
          </a:p>
          <a:p>
            <a:pPr>
              <a:lnSpc>
                <a:spcPct val="130000"/>
              </a:lnSpc>
              <a:defRPr/>
            </a:pPr>
            <a:r>
              <a:rPr lang="en-US" altLang="zh-CN" b="0" dirty="0">
                <a:solidFill>
                  <a:schemeClr val="tx1"/>
                </a:solidFill>
              </a:rPr>
              <a:t>                    L=J</a:t>
            </a:r>
            <a:r>
              <a:rPr lang="en-US" altLang="zh-CN" b="0" dirty="0">
                <a:solidFill>
                  <a:schemeClr val="tx1"/>
                </a:solidFill>
                <a:sym typeface="Symbol" panose="05050102010706020507" pitchFamily="18" charset="2"/>
              </a:rPr>
              <a:t></a:t>
            </a:r>
            <a:r>
              <a:rPr lang="en-US" altLang="zh-CN" b="0" dirty="0">
                <a:solidFill>
                  <a:schemeClr val="tx1"/>
                </a:solidFill>
              </a:rPr>
              <a:t>+</a:t>
            </a:r>
            <a:r>
              <a:rPr lang="en-US" altLang="zh-CN" b="0" dirty="0" err="1">
                <a:solidFill>
                  <a:schemeClr val="tx1"/>
                </a:solidFill>
              </a:rPr>
              <a:t>m</a:t>
            </a:r>
            <a:r>
              <a:rPr lang="en-US" altLang="zh-CN" b="0" dirty="0" err="1">
                <a:solidFill>
                  <a:schemeClr val="tx1"/>
                </a:solidFill>
                <a:latin typeface="+mn-lt"/>
              </a:rPr>
              <a:t>v</a:t>
            </a:r>
            <a:r>
              <a:rPr lang="en-US" altLang="zh-CN" b="0" dirty="0" err="1">
                <a:solidFill>
                  <a:schemeClr val="tx1"/>
                </a:solidFill>
              </a:rPr>
              <a:t>d</a:t>
            </a:r>
            <a:r>
              <a:rPr lang="en-US" altLang="zh-CN" b="0" i="0" dirty="0">
                <a:solidFill>
                  <a:schemeClr val="tx1"/>
                </a:solidFill>
              </a:rPr>
              <a:t>/2</a:t>
            </a:r>
            <a:r>
              <a:rPr lang="en-US" altLang="zh-CN" b="0" dirty="0">
                <a:solidFill>
                  <a:schemeClr val="tx1"/>
                </a:solidFill>
              </a:rPr>
              <a:t>= J</a:t>
            </a:r>
            <a:r>
              <a:rPr lang="en-US" altLang="zh-CN" b="0" dirty="0">
                <a:solidFill>
                  <a:schemeClr val="tx1"/>
                </a:solidFill>
                <a:sym typeface="Symbol" panose="05050102010706020507" pitchFamily="18" charset="2"/>
              </a:rPr>
              <a:t></a:t>
            </a:r>
            <a:r>
              <a:rPr lang="en-US" altLang="zh-CN" b="0" dirty="0">
                <a:solidFill>
                  <a:schemeClr val="tx1"/>
                </a:solidFill>
              </a:rPr>
              <a:t>+m</a:t>
            </a:r>
            <a:r>
              <a:rPr lang="en-US" altLang="zh-CN" b="0" dirty="0">
                <a:solidFill>
                  <a:schemeClr val="tx1"/>
                </a:solidFill>
                <a:sym typeface="Symbol" panose="05050102010706020507" pitchFamily="18" charset="2"/>
              </a:rPr>
              <a:t></a:t>
            </a:r>
            <a:r>
              <a:rPr lang="en-US" altLang="zh-CN" b="0" dirty="0">
                <a:solidFill>
                  <a:schemeClr val="tx1"/>
                </a:solidFill>
              </a:rPr>
              <a:t>d</a:t>
            </a:r>
            <a:r>
              <a:rPr lang="en-US" altLang="zh-CN" b="0" i="0" baseline="30000" dirty="0">
                <a:solidFill>
                  <a:schemeClr val="tx1"/>
                </a:solidFill>
              </a:rPr>
              <a:t>2</a:t>
            </a:r>
            <a:r>
              <a:rPr lang="en-US" altLang="zh-CN" b="0" i="0" dirty="0">
                <a:solidFill>
                  <a:schemeClr val="tx1"/>
                </a:solidFill>
              </a:rPr>
              <a:t>/4</a:t>
            </a:r>
          </a:p>
          <a:p>
            <a:pPr>
              <a:lnSpc>
                <a:spcPct val="130000"/>
              </a:lnSpc>
            </a:pPr>
            <a:r>
              <a:rPr lang="zh-CN" altLang="en-US" i="0" dirty="0">
                <a:solidFill>
                  <a:schemeClr val="tx1"/>
                </a:solidFill>
                <a:latin typeface="+mn-lt"/>
                <a:ea typeface="黑体" panose="02010609060101010101" pitchFamily="49" charset="-122"/>
              </a:rPr>
              <a:t>由质点系动量矩定理</a:t>
            </a:r>
          </a:p>
          <a:p>
            <a:pPr>
              <a:lnSpc>
                <a:spcPct val="130000"/>
              </a:lnSpc>
              <a:defRPr/>
            </a:pPr>
            <a:endParaRPr lang="zh-CN" altLang="en-US" i="0" dirty="0">
              <a:solidFill>
                <a:schemeClr val="tx1"/>
              </a:solidFill>
              <a:latin typeface="+mn-lt"/>
              <a:ea typeface="黑体" panose="02010609060101010101" pitchFamily="49" charset="-122"/>
            </a:endParaRPr>
          </a:p>
        </p:txBody>
      </p:sp>
      <p:sp>
        <p:nvSpPr>
          <p:cNvPr id="66" name="Oval 3"/>
          <p:cNvSpPr>
            <a:spLocks noChangeArrowheads="1"/>
          </p:cNvSpPr>
          <p:nvPr/>
        </p:nvSpPr>
        <p:spPr bwMode="auto">
          <a:xfrm>
            <a:off x="9899327" y="1258763"/>
            <a:ext cx="1165225" cy="1165225"/>
          </a:xfrm>
          <a:prstGeom prst="ellipse">
            <a:avLst/>
          </a:prstGeom>
          <a:gradFill rotWithShape="1">
            <a:gsLst>
              <a:gs pos="0">
                <a:schemeClr val="bg1"/>
              </a:gs>
              <a:gs pos="100000">
                <a:schemeClr val="bg1">
                  <a:gamma/>
                  <a:shade val="41176"/>
                  <a:invGamma/>
                </a:schemeClr>
              </a:gs>
            </a:gsLst>
            <a:path path="rect">
              <a:fillToRect r="100000" b="100000"/>
            </a:path>
          </a:gra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 name="Line 10"/>
          <p:cNvSpPr>
            <a:spLocks noChangeShapeType="1"/>
          </p:cNvSpPr>
          <p:nvPr/>
        </p:nvSpPr>
        <p:spPr bwMode="auto">
          <a:xfrm>
            <a:off x="11064552" y="1830263"/>
            <a:ext cx="0" cy="152717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8" name="Group 11"/>
          <p:cNvGrpSpPr>
            <a:grpSpLocks/>
          </p:cNvGrpSpPr>
          <p:nvPr/>
        </p:nvGrpSpPr>
        <p:grpSpPr bwMode="auto">
          <a:xfrm>
            <a:off x="10091415" y="1533401"/>
            <a:ext cx="887412" cy="654050"/>
            <a:chOff x="4605" y="278"/>
            <a:chExt cx="559" cy="412"/>
          </a:xfrm>
        </p:grpSpPr>
        <p:grpSp>
          <p:nvGrpSpPr>
            <p:cNvPr id="69" name="Group 12"/>
            <p:cNvGrpSpPr>
              <a:grpSpLocks/>
            </p:cNvGrpSpPr>
            <p:nvPr/>
          </p:nvGrpSpPr>
          <p:grpSpPr bwMode="auto">
            <a:xfrm rot="-5400000">
              <a:off x="4758" y="284"/>
              <a:ext cx="357" cy="455"/>
              <a:chOff x="3681" y="807"/>
              <a:chExt cx="425" cy="532"/>
            </a:xfrm>
          </p:grpSpPr>
          <p:sp>
            <p:nvSpPr>
              <p:cNvPr id="71" name="AutoShape 13"/>
              <p:cNvSpPr>
                <a:spLocks noChangeAspect="1" noChangeArrowheads="1"/>
              </p:cNvSpPr>
              <p:nvPr/>
            </p:nvSpPr>
            <p:spPr bwMode="auto">
              <a:xfrm rot="5400000">
                <a:off x="3762" y="881"/>
                <a:ext cx="202" cy="196"/>
              </a:xfrm>
              <a:prstGeom prst="triangle">
                <a:avLst>
                  <a:gd name="adj" fmla="val 50000"/>
                </a:avLst>
              </a:prstGeom>
              <a:gradFill rotWithShape="1">
                <a:gsLst>
                  <a:gs pos="0">
                    <a:srgbClr val="66FF33">
                      <a:gamma/>
                      <a:shade val="46275"/>
                      <a:invGamma/>
                    </a:srgbClr>
                  </a:gs>
                  <a:gs pos="50000">
                    <a:srgbClr val="66FF33"/>
                  </a:gs>
                  <a:gs pos="100000">
                    <a:srgbClr val="66FF33">
                      <a:gamma/>
                      <a:shade val="46275"/>
                      <a:invGamma/>
                    </a:srgbClr>
                  </a:gs>
                </a:gsLst>
                <a:lin ang="0" scaled="1"/>
              </a:gradFill>
              <a:ln w="381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2" name="Text Box 14"/>
              <p:cNvSpPr txBox="1">
                <a:spLocks noChangeAspect="1" noChangeArrowheads="1"/>
              </p:cNvSpPr>
              <p:nvPr/>
            </p:nvSpPr>
            <p:spPr bwMode="auto">
              <a:xfrm rot="5400000">
                <a:off x="3798" y="1031"/>
                <a:ext cx="336" cy="2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endParaRPr lang="zh-CN" altLang="zh-CN" baseline="-25000">
                  <a:solidFill>
                    <a:schemeClr val="tx1"/>
                  </a:solidFill>
                  <a:ea typeface="宋体" panose="02010600030101010101" pitchFamily="2" charset="-122"/>
                </a:endParaRPr>
              </a:p>
            </p:txBody>
          </p:sp>
          <p:sp>
            <p:nvSpPr>
              <p:cNvPr id="73" name="Oval 15"/>
              <p:cNvSpPr>
                <a:spLocks noChangeAspect="1" noChangeArrowheads="1"/>
              </p:cNvSpPr>
              <p:nvPr/>
            </p:nvSpPr>
            <p:spPr bwMode="auto">
              <a:xfrm rot="5400000">
                <a:off x="3905" y="947"/>
                <a:ext cx="64" cy="64"/>
              </a:xfrm>
              <a:prstGeom prst="ellipse">
                <a:avLst/>
              </a:prstGeom>
              <a:solidFill>
                <a:srgbClr val="FF0000"/>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4" name="Rectangle 16" descr="宽上对角线"/>
              <p:cNvSpPr>
                <a:spLocks noChangeAspect="1" noChangeArrowheads="1"/>
              </p:cNvSpPr>
              <p:nvPr/>
            </p:nvSpPr>
            <p:spPr bwMode="auto">
              <a:xfrm rot="5400000">
                <a:off x="3558" y="931"/>
                <a:ext cx="342" cy="96"/>
              </a:xfrm>
              <a:prstGeom prst="rect">
                <a:avLst/>
              </a:prstGeom>
              <a:pattFill prst="wdUpDiag">
                <a:fgClr>
                  <a:srgbClr val="000000"/>
                </a:fgClr>
                <a:bgClr>
                  <a:srgbClr val="FFFFCC"/>
                </a:bgClr>
              </a:patt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5" name="Line 17"/>
              <p:cNvSpPr>
                <a:spLocks noChangeAspect="1" noChangeShapeType="1"/>
              </p:cNvSpPr>
              <p:nvPr/>
            </p:nvSpPr>
            <p:spPr bwMode="auto">
              <a:xfrm rot="5400000">
                <a:off x="3612" y="978"/>
                <a:ext cx="344" cy="1"/>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70" name="Text Box 18"/>
            <p:cNvSpPr txBox="1">
              <a:spLocks noChangeAspect="1" noChangeArrowheads="1"/>
            </p:cNvSpPr>
            <p:nvPr/>
          </p:nvSpPr>
          <p:spPr bwMode="auto">
            <a:xfrm>
              <a:off x="4605" y="278"/>
              <a:ext cx="357" cy="34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i="1">
                  <a:solidFill>
                    <a:schemeClr val="tx1"/>
                  </a:solidFill>
                  <a:ea typeface="宋体" panose="02010600030101010101" pitchFamily="2" charset="-122"/>
                </a:rPr>
                <a:t>O</a:t>
              </a:r>
              <a:endParaRPr lang="en-US" altLang="zh-CN" baseline="-25000">
                <a:solidFill>
                  <a:schemeClr val="tx1"/>
                </a:solidFill>
                <a:ea typeface="宋体" panose="02010600030101010101" pitchFamily="2" charset="-122"/>
              </a:endParaRPr>
            </a:p>
          </p:txBody>
        </p:sp>
      </p:grpSp>
      <p:sp>
        <p:nvSpPr>
          <p:cNvPr id="76" name="Line 19"/>
          <p:cNvSpPr>
            <a:spLocks noChangeShapeType="1"/>
          </p:cNvSpPr>
          <p:nvPr/>
        </p:nvSpPr>
        <p:spPr bwMode="auto">
          <a:xfrm>
            <a:off x="11064552" y="3212977"/>
            <a:ext cx="0" cy="295232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7" name="Arc 22"/>
          <p:cNvSpPr>
            <a:spLocks/>
          </p:cNvSpPr>
          <p:nvPr/>
        </p:nvSpPr>
        <p:spPr bwMode="auto">
          <a:xfrm rot="12699306" flipV="1">
            <a:off x="10053315" y="1415926"/>
            <a:ext cx="231775" cy="466725"/>
          </a:xfrm>
          <a:custGeom>
            <a:avLst/>
            <a:gdLst>
              <a:gd name="G0" fmla="+- 0 0 0"/>
              <a:gd name="G1" fmla="+- 18861 0 0"/>
              <a:gd name="G2" fmla="+- 21600 0 0"/>
              <a:gd name="T0" fmla="*/ 10526 w 21600"/>
              <a:gd name="T1" fmla="*/ 0 h 34514"/>
              <a:gd name="T2" fmla="*/ 14884 w 21600"/>
              <a:gd name="T3" fmla="*/ 34514 h 34514"/>
              <a:gd name="T4" fmla="*/ 0 w 21600"/>
              <a:gd name="T5" fmla="*/ 18861 h 34514"/>
            </a:gdLst>
            <a:ahLst/>
            <a:cxnLst>
              <a:cxn ang="0">
                <a:pos x="T0" y="T1"/>
              </a:cxn>
              <a:cxn ang="0">
                <a:pos x="T2" y="T3"/>
              </a:cxn>
              <a:cxn ang="0">
                <a:pos x="T4" y="T5"/>
              </a:cxn>
            </a:cxnLst>
            <a:rect l="0" t="0" r="r" b="b"/>
            <a:pathLst>
              <a:path w="21600" h="34514" fill="none" extrusionOk="0">
                <a:moveTo>
                  <a:pt x="10526" y="-1"/>
                </a:moveTo>
                <a:cubicBezTo>
                  <a:pt x="17363" y="3815"/>
                  <a:pt x="21600" y="11031"/>
                  <a:pt x="21600" y="18861"/>
                </a:cubicBezTo>
                <a:cubicBezTo>
                  <a:pt x="21600" y="24778"/>
                  <a:pt x="19172" y="30436"/>
                  <a:pt x="14884" y="34514"/>
                </a:cubicBezTo>
              </a:path>
              <a:path w="21600" h="34514" stroke="0" extrusionOk="0">
                <a:moveTo>
                  <a:pt x="10526" y="-1"/>
                </a:moveTo>
                <a:cubicBezTo>
                  <a:pt x="17363" y="3815"/>
                  <a:pt x="21600" y="11031"/>
                  <a:pt x="21600" y="18861"/>
                </a:cubicBezTo>
                <a:cubicBezTo>
                  <a:pt x="21600" y="24778"/>
                  <a:pt x="19172" y="30436"/>
                  <a:pt x="14884" y="34514"/>
                </a:cubicBezTo>
                <a:lnTo>
                  <a:pt x="0" y="18861"/>
                </a:lnTo>
                <a:close/>
              </a:path>
            </a:pathLst>
          </a:custGeom>
          <a:noFill/>
          <a:ln w="28575">
            <a:solidFill>
              <a:srgbClr val="FF0000"/>
            </a:solidFill>
            <a:round/>
            <a:headEnd/>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8" name="Text Box 23"/>
          <p:cNvSpPr txBox="1">
            <a:spLocks noChangeAspect="1" noChangeArrowheads="1"/>
          </p:cNvSpPr>
          <p:nvPr/>
        </p:nvSpPr>
        <p:spPr bwMode="auto">
          <a:xfrm>
            <a:off x="9635802" y="1403226"/>
            <a:ext cx="490538" cy="463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b="0" i="1" dirty="0">
                <a:solidFill>
                  <a:srgbClr val="FF0000"/>
                </a:solidFill>
              </a:rPr>
              <a:t>T</a:t>
            </a:r>
            <a:endParaRPr lang="en-US" altLang="zh-CN" b="0" baseline="-25000" dirty="0">
              <a:solidFill>
                <a:srgbClr val="FF0000"/>
              </a:solidFill>
            </a:endParaRPr>
          </a:p>
        </p:txBody>
      </p:sp>
      <p:grpSp>
        <p:nvGrpSpPr>
          <p:cNvPr id="79" name="Group 24"/>
          <p:cNvGrpSpPr>
            <a:grpSpLocks/>
          </p:cNvGrpSpPr>
          <p:nvPr/>
        </p:nvGrpSpPr>
        <p:grpSpPr bwMode="auto">
          <a:xfrm>
            <a:off x="10813727" y="3028826"/>
            <a:ext cx="855663" cy="946150"/>
            <a:chOff x="5060" y="1220"/>
            <a:chExt cx="539" cy="596"/>
          </a:xfrm>
        </p:grpSpPr>
        <p:sp>
          <p:nvSpPr>
            <p:cNvPr id="80" name="Rectangle 25"/>
            <p:cNvSpPr>
              <a:spLocks noChangeArrowheads="1"/>
            </p:cNvSpPr>
            <p:nvPr/>
          </p:nvSpPr>
          <p:spPr bwMode="auto">
            <a:xfrm>
              <a:off x="5060" y="1220"/>
              <a:ext cx="326" cy="226"/>
            </a:xfrm>
            <a:prstGeom prst="rect">
              <a:avLst/>
            </a:prstGeom>
            <a:gradFill rotWithShape="1">
              <a:gsLst>
                <a:gs pos="0">
                  <a:schemeClr val="bg2"/>
                </a:gs>
                <a:gs pos="50000">
                  <a:schemeClr val="bg2">
                    <a:gamma/>
                    <a:tint val="0"/>
                    <a:invGamma/>
                  </a:schemeClr>
                </a:gs>
                <a:gs pos="100000">
                  <a:schemeClr val="bg2"/>
                </a:gs>
              </a:gsLst>
              <a:lin ang="0" scaled="1"/>
            </a:gra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1" name="Line 26"/>
            <p:cNvSpPr>
              <a:spLocks noChangeShapeType="1"/>
            </p:cNvSpPr>
            <p:nvPr/>
          </p:nvSpPr>
          <p:spPr bwMode="auto">
            <a:xfrm>
              <a:off x="5219" y="1344"/>
              <a:ext cx="0" cy="384"/>
            </a:xfrm>
            <a:prstGeom prst="line">
              <a:avLst/>
            </a:prstGeom>
            <a:noFill/>
            <a:ln w="28575">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82" name="Text Box 27"/>
            <p:cNvSpPr txBox="1">
              <a:spLocks noChangeAspect="1" noChangeArrowheads="1"/>
            </p:cNvSpPr>
            <p:nvPr/>
          </p:nvSpPr>
          <p:spPr bwMode="auto">
            <a:xfrm>
              <a:off x="5193" y="1524"/>
              <a:ext cx="406" cy="2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b="0" i="1" dirty="0">
                  <a:solidFill>
                    <a:srgbClr val="FF0000"/>
                  </a:solidFill>
                  <a:ea typeface="宋体" panose="02010600030101010101" pitchFamily="2" charset="-122"/>
                </a:rPr>
                <a:t>m</a:t>
              </a:r>
              <a:r>
                <a:rPr lang="en-US" altLang="zh-CN" i="1" dirty="0">
                  <a:solidFill>
                    <a:srgbClr val="FF0000"/>
                  </a:solidFill>
                  <a:ea typeface="宋体" panose="02010600030101010101" pitchFamily="2" charset="-122"/>
                </a:rPr>
                <a:t>g</a:t>
              </a:r>
              <a:endParaRPr lang="en-US" altLang="zh-CN" i="1" baseline="-25000" dirty="0">
                <a:solidFill>
                  <a:srgbClr val="FF0000"/>
                </a:solidFill>
                <a:ea typeface="宋体" panose="02010600030101010101" pitchFamily="2" charset="-122"/>
                <a:sym typeface="Symbol" panose="05050102010706020507" pitchFamily="18" charset="2"/>
              </a:endParaRPr>
            </a:p>
          </p:txBody>
        </p:sp>
      </p:grpSp>
      <p:sp>
        <p:nvSpPr>
          <p:cNvPr id="83" name="Text Box 28"/>
          <p:cNvSpPr txBox="1">
            <a:spLocks noChangeAspect="1" noChangeArrowheads="1"/>
          </p:cNvSpPr>
          <p:nvPr/>
        </p:nvSpPr>
        <p:spPr bwMode="auto">
          <a:xfrm>
            <a:off x="10266040" y="2387476"/>
            <a:ext cx="644525" cy="463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n-US" altLang="zh-CN" b="1" i="1" dirty="0">
                <a:solidFill>
                  <a:srgbClr val="FF0000"/>
                </a:solidFill>
                <a:ea typeface="宋体" panose="02010600030101010101" pitchFamily="2" charset="-122"/>
              </a:rPr>
              <a:t>G</a:t>
            </a:r>
            <a:endParaRPr lang="en-US" altLang="zh-CN" baseline="-25000" dirty="0">
              <a:solidFill>
                <a:srgbClr val="FF0000"/>
              </a:solidFill>
              <a:ea typeface="宋体" panose="02010600030101010101" pitchFamily="2" charset="-122"/>
              <a:sym typeface="Symbol" panose="05050102010706020507" pitchFamily="18" charset="2"/>
            </a:endParaRPr>
          </a:p>
        </p:txBody>
      </p:sp>
      <p:sp>
        <p:nvSpPr>
          <p:cNvPr id="84" name="Text Box 29"/>
          <p:cNvSpPr txBox="1">
            <a:spLocks noChangeAspect="1" noChangeArrowheads="1"/>
          </p:cNvSpPr>
          <p:nvPr/>
        </p:nvSpPr>
        <p:spPr bwMode="auto">
          <a:xfrm>
            <a:off x="10413677" y="804738"/>
            <a:ext cx="644525" cy="463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n-US" altLang="zh-CN" b="1" i="1" dirty="0" err="1">
                <a:solidFill>
                  <a:srgbClr val="FF0000"/>
                </a:solidFill>
                <a:ea typeface="宋体" panose="02010600030101010101" pitchFamily="2" charset="-122"/>
              </a:rPr>
              <a:t>F</a:t>
            </a:r>
            <a:r>
              <a:rPr lang="en-US" altLang="zh-CN" b="0" i="1" baseline="-25000" dirty="0" err="1">
                <a:solidFill>
                  <a:srgbClr val="FF0000"/>
                </a:solidFill>
                <a:ea typeface="宋体" panose="02010600030101010101" pitchFamily="2" charset="-122"/>
              </a:rPr>
              <a:t>y</a:t>
            </a:r>
            <a:endParaRPr lang="en-US" altLang="zh-CN" b="0" i="1" baseline="-25000" dirty="0">
              <a:solidFill>
                <a:srgbClr val="FF0000"/>
              </a:solidFill>
              <a:ea typeface="宋体" panose="02010600030101010101" pitchFamily="2" charset="-122"/>
              <a:sym typeface="Symbol" panose="05050102010706020507" pitchFamily="18" charset="2"/>
            </a:endParaRPr>
          </a:p>
        </p:txBody>
      </p:sp>
      <p:sp>
        <p:nvSpPr>
          <p:cNvPr id="85" name="Text Box 30"/>
          <p:cNvSpPr txBox="1">
            <a:spLocks noChangeAspect="1" noChangeArrowheads="1"/>
          </p:cNvSpPr>
          <p:nvPr/>
        </p:nvSpPr>
        <p:spPr bwMode="auto">
          <a:xfrm>
            <a:off x="11040740" y="1550863"/>
            <a:ext cx="644525" cy="463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n-US" altLang="zh-CN" b="1" i="1" dirty="0" err="1">
                <a:solidFill>
                  <a:srgbClr val="FF0000"/>
                </a:solidFill>
                <a:ea typeface="宋体" panose="02010600030101010101" pitchFamily="2" charset="-122"/>
              </a:rPr>
              <a:t>F</a:t>
            </a:r>
            <a:r>
              <a:rPr lang="en-US" altLang="zh-CN" b="0" i="1" baseline="-25000" dirty="0" err="1">
                <a:solidFill>
                  <a:srgbClr val="FF0000"/>
                </a:solidFill>
                <a:ea typeface="宋体" panose="02010600030101010101" pitchFamily="2" charset="-122"/>
              </a:rPr>
              <a:t>x</a:t>
            </a:r>
            <a:endParaRPr lang="en-US" altLang="zh-CN" b="0" i="1" baseline="-25000" dirty="0">
              <a:solidFill>
                <a:srgbClr val="FF0000"/>
              </a:solidFill>
              <a:ea typeface="宋体" panose="02010600030101010101" pitchFamily="2" charset="-122"/>
              <a:sym typeface="Symbol" panose="05050102010706020507" pitchFamily="18" charset="2"/>
            </a:endParaRPr>
          </a:p>
        </p:txBody>
      </p:sp>
      <p:sp>
        <p:nvSpPr>
          <p:cNvPr id="86" name="Line 31"/>
          <p:cNvSpPr>
            <a:spLocks noChangeShapeType="1"/>
          </p:cNvSpPr>
          <p:nvPr/>
        </p:nvSpPr>
        <p:spPr bwMode="auto">
          <a:xfrm rot="16200000">
            <a:off x="10835159" y="1505619"/>
            <a:ext cx="0" cy="658813"/>
          </a:xfrm>
          <a:prstGeom prst="line">
            <a:avLst/>
          </a:prstGeom>
          <a:noFill/>
          <a:ln w="28575">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87" name="Line 34"/>
          <p:cNvSpPr>
            <a:spLocks noChangeShapeType="1"/>
          </p:cNvSpPr>
          <p:nvPr/>
        </p:nvSpPr>
        <p:spPr bwMode="auto">
          <a:xfrm>
            <a:off x="10488290" y="1850901"/>
            <a:ext cx="0" cy="658812"/>
          </a:xfrm>
          <a:prstGeom prst="line">
            <a:avLst/>
          </a:prstGeom>
          <a:noFill/>
          <a:ln w="28575">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88" name="Line 35"/>
          <p:cNvSpPr>
            <a:spLocks noChangeShapeType="1"/>
          </p:cNvSpPr>
          <p:nvPr/>
        </p:nvSpPr>
        <p:spPr bwMode="auto">
          <a:xfrm flipV="1">
            <a:off x="10485115" y="1131763"/>
            <a:ext cx="0" cy="658813"/>
          </a:xfrm>
          <a:prstGeom prst="line">
            <a:avLst/>
          </a:prstGeom>
          <a:noFill/>
          <a:ln w="28575">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aphicFrame>
        <p:nvGraphicFramePr>
          <p:cNvPr id="89" name="Object 32"/>
          <p:cNvGraphicFramePr>
            <a:graphicFrameLocks noChangeAspect="1"/>
          </p:cNvGraphicFramePr>
          <p:nvPr>
            <p:extLst>
              <p:ext uri="{D42A27DB-BD31-4B8C-83A1-F6EECF244321}">
                <p14:modId xmlns:p14="http://schemas.microsoft.com/office/powerpoint/2010/main" val="1961391019"/>
              </p:ext>
            </p:extLst>
          </p:nvPr>
        </p:nvGraphicFramePr>
        <p:xfrm>
          <a:off x="822173" y="5533126"/>
          <a:ext cx="3566170" cy="685497"/>
        </p:xfrm>
        <a:graphic>
          <a:graphicData uri="http://schemas.openxmlformats.org/presentationml/2006/ole">
            <mc:AlternateContent xmlns:mc="http://schemas.openxmlformats.org/markup-compatibility/2006">
              <mc:Choice xmlns:v="urn:schemas-microsoft-com:vml" Requires="v">
                <p:oleObj spid="_x0000_s11292" name="Equation" r:id="rId4" imgW="2031840" imgH="393480" progId="Equation.DSMT4">
                  <p:embed/>
                </p:oleObj>
              </mc:Choice>
              <mc:Fallback>
                <p:oleObj name="Equation" r:id="rId4" imgW="2031840" imgH="393480" progId="Equation.DSMT4">
                  <p:embed/>
                  <p:pic>
                    <p:nvPicPr>
                      <p:cNvPr id="0" name=""/>
                      <p:cNvPicPr>
                        <a:picLocks noChangeAspect="1" noChangeArrowheads="1"/>
                      </p:cNvPicPr>
                      <p:nvPr/>
                    </p:nvPicPr>
                    <p:blipFill>
                      <a:blip r:embed="rId5"/>
                      <a:srcRect/>
                      <a:stretch>
                        <a:fillRect/>
                      </a:stretch>
                    </p:blipFill>
                    <p:spPr bwMode="auto">
                      <a:xfrm>
                        <a:off x="822173" y="5533126"/>
                        <a:ext cx="3566170" cy="685497"/>
                      </a:xfrm>
                      <a:prstGeom prst="rect">
                        <a:avLst/>
                      </a:prstGeom>
                      <a:noFill/>
                      <a:ln>
                        <a:noFill/>
                      </a:ln>
                    </p:spPr>
                  </p:pic>
                </p:oleObj>
              </mc:Fallback>
            </mc:AlternateContent>
          </a:graphicData>
        </a:graphic>
      </p:graphicFrame>
      <p:graphicFrame>
        <p:nvGraphicFramePr>
          <p:cNvPr id="90" name="Object 32"/>
          <p:cNvGraphicFramePr>
            <a:graphicFrameLocks noChangeAspect="1"/>
          </p:cNvGraphicFramePr>
          <p:nvPr>
            <p:extLst>
              <p:ext uri="{D42A27DB-BD31-4B8C-83A1-F6EECF244321}">
                <p14:modId xmlns:p14="http://schemas.microsoft.com/office/powerpoint/2010/main" val="421613193"/>
              </p:ext>
            </p:extLst>
          </p:nvPr>
        </p:nvGraphicFramePr>
        <p:xfrm>
          <a:off x="4956621" y="5533126"/>
          <a:ext cx="3319463" cy="685800"/>
        </p:xfrm>
        <a:graphic>
          <a:graphicData uri="http://schemas.openxmlformats.org/presentationml/2006/ole">
            <mc:AlternateContent xmlns:mc="http://schemas.openxmlformats.org/markup-compatibility/2006">
              <mc:Choice xmlns:v="urn:schemas-microsoft-com:vml" Requires="v">
                <p:oleObj spid="_x0000_s11293" name="Equation" r:id="rId6" imgW="1892160" imgH="393480" progId="Equation.DSMT4">
                  <p:embed/>
                </p:oleObj>
              </mc:Choice>
              <mc:Fallback>
                <p:oleObj name="Equation" r:id="rId6" imgW="1892160" imgH="393480" progId="Equation.DSMT4">
                  <p:embed/>
                  <p:pic>
                    <p:nvPicPr>
                      <p:cNvPr id="0" name=""/>
                      <p:cNvPicPr>
                        <a:picLocks noChangeAspect="1" noChangeArrowheads="1"/>
                      </p:cNvPicPr>
                      <p:nvPr/>
                    </p:nvPicPr>
                    <p:blipFill>
                      <a:blip r:embed="rId7"/>
                      <a:srcRect/>
                      <a:stretch>
                        <a:fillRect/>
                      </a:stretch>
                    </p:blipFill>
                    <p:spPr bwMode="auto">
                      <a:xfrm>
                        <a:off x="4956621" y="5533126"/>
                        <a:ext cx="3319463" cy="685800"/>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2887759514"/>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20" presetClass="entr" presetSubtype="0" fill="hold" grpId="0" nodeType="withEffect">
                                  <p:stCondLst>
                                    <p:cond delay="0"/>
                                  </p:stCondLst>
                                  <p:childTnLst>
                                    <p:set>
                                      <p:cBhvr>
                                        <p:cTn id="8" dur="1" fill="hold">
                                          <p:stCondLst>
                                            <p:cond delay="0"/>
                                          </p:stCondLst>
                                        </p:cTn>
                                        <p:tgtEl>
                                          <p:spTgt spid="66"/>
                                        </p:tgtEl>
                                        <p:attrNameLst>
                                          <p:attrName>style.visibility</p:attrName>
                                        </p:attrNameLst>
                                      </p:cBhvr>
                                      <p:to>
                                        <p:strVal val="visible"/>
                                      </p:to>
                                    </p:set>
                                    <p:animEffect transition="in" filter="wedge">
                                      <p:cBhvr>
                                        <p:cTn id="9" dur="250"/>
                                        <p:tgtEl>
                                          <p:spTgt spid="66"/>
                                        </p:tgtEl>
                                      </p:cBhvr>
                                    </p:animEffect>
                                  </p:childTnLst>
                                </p:cTn>
                              </p:par>
                              <p:par>
                                <p:cTn id="10" presetID="10" presetClass="entr" presetSubtype="0" fill="hold" nodeType="withEffect">
                                  <p:stCondLst>
                                    <p:cond delay="0"/>
                                  </p:stCondLst>
                                  <p:childTnLst>
                                    <p:set>
                                      <p:cBhvr>
                                        <p:cTn id="11" dur="1" fill="hold">
                                          <p:stCondLst>
                                            <p:cond delay="0"/>
                                          </p:stCondLst>
                                        </p:cTn>
                                        <p:tgtEl>
                                          <p:spTgt spid="68"/>
                                        </p:tgtEl>
                                        <p:attrNameLst>
                                          <p:attrName>style.visibility</p:attrName>
                                        </p:attrNameLst>
                                      </p:cBhvr>
                                      <p:to>
                                        <p:strVal val="visible"/>
                                      </p:to>
                                    </p:set>
                                    <p:animEffect transition="in" filter="fade">
                                      <p:cBhvr>
                                        <p:cTn id="12" dur="2000"/>
                                        <p:tgtEl>
                                          <p:spTgt spid="68"/>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67"/>
                                        </p:tgtEl>
                                        <p:attrNameLst>
                                          <p:attrName>style.visibility</p:attrName>
                                        </p:attrNameLst>
                                      </p:cBhvr>
                                      <p:to>
                                        <p:strVal val="visible"/>
                                      </p:to>
                                    </p:set>
                                    <p:animEffect transition="in" filter="fade">
                                      <p:cBhvr>
                                        <p:cTn id="15" dur="2000"/>
                                        <p:tgtEl>
                                          <p:spTgt spid="67"/>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76"/>
                                        </p:tgtEl>
                                        <p:attrNameLst>
                                          <p:attrName>style.visibility</p:attrName>
                                        </p:attrNameLst>
                                      </p:cBhvr>
                                      <p:to>
                                        <p:strVal val="visible"/>
                                      </p:to>
                                    </p:set>
                                    <p:animEffect transition="in" filter="fade">
                                      <p:cBhvr>
                                        <p:cTn id="18" dur="2000"/>
                                        <p:tgtEl>
                                          <p:spTgt spid="76"/>
                                        </p:tgtEl>
                                      </p:cBhvr>
                                    </p:animEffect>
                                  </p:childTnLst>
                                </p:cTn>
                              </p:par>
                            </p:childTnLst>
                          </p:cTn>
                        </p:par>
                        <p:par>
                          <p:cTn id="19" fill="hold">
                            <p:stCondLst>
                              <p:cond delay="2000"/>
                            </p:stCondLst>
                            <p:childTnLst>
                              <p:par>
                                <p:cTn id="20" presetID="22" presetClass="entr" presetSubtype="1" fill="hold" grpId="0" nodeType="afterEffect">
                                  <p:stCondLst>
                                    <p:cond delay="0"/>
                                  </p:stCondLst>
                                  <p:childTnLst>
                                    <p:set>
                                      <p:cBhvr>
                                        <p:cTn id="21" dur="1" fill="hold">
                                          <p:stCondLst>
                                            <p:cond delay="0"/>
                                          </p:stCondLst>
                                        </p:cTn>
                                        <p:tgtEl>
                                          <p:spTgt spid="77"/>
                                        </p:tgtEl>
                                        <p:attrNameLst>
                                          <p:attrName>style.visibility</p:attrName>
                                        </p:attrNameLst>
                                      </p:cBhvr>
                                      <p:to>
                                        <p:strVal val="visible"/>
                                      </p:to>
                                    </p:set>
                                    <p:animEffect transition="in" filter="wipe(up)">
                                      <p:cBhvr>
                                        <p:cTn id="22" dur="3000"/>
                                        <p:tgtEl>
                                          <p:spTgt spid="77"/>
                                        </p:tgtEl>
                                      </p:cBhvr>
                                    </p:animEffect>
                                  </p:childTnLst>
                                </p:cTn>
                              </p:par>
                              <p:par>
                                <p:cTn id="23" presetID="19" presetClass="entr" presetSubtype="10" fill="hold" grpId="0" nodeType="withEffect">
                                  <p:stCondLst>
                                    <p:cond delay="0"/>
                                  </p:stCondLst>
                                  <p:childTnLst>
                                    <p:set>
                                      <p:cBhvr>
                                        <p:cTn id="24" dur="1" fill="hold">
                                          <p:stCondLst>
                                            <p:cond delay="0"/>
                                          </p:stCondLst>
                                        </p:cTn>
                                        <p:tgtEl>
                                          <p:spTgt spid="78"/>
                                        </p:tgtEl>
                                        <p:attrNameLst>
                                          <p:attrName>style.visibility</p:attrName>
                                        </p:attrNameLst>
                                      </p:cBhvr>
                                      <p:to>
                                        <p:strVal val="visible"/>
                                      </p:to>
                                    </p:set>
                                    <p:anim calcmode="lin" valueType="num">
                                      <p:cBhvr>
                                        <p:cTn id="25" dur="5000" fill="hold"/>
                                        <p:tgtEl>
                                          <p:spTgt spid="78"/>
                                        </p:tgtEl>
                                        <p:attrNameLst>
                                          <p:attrName>ppt_w</p:attrName>
                                        </p:attrNameLst>
                                      </p:cBhvr>
                                      <p:tavLst>
                                        <p:tav tm="0" fmla="#ppt_w*sin(2.5*pi*$)">
                                          <p:val>
                                            <p:fltVal val="0"/>
                                          </p:val>
                                        </p:tav>
                                        <p:tav tm="100000">
                                          <p:val>
                                            <p:fltVal val="1"/>
                                          </p:val>
                                        </p:tav>
                                      </p:tavLst>
                                    </p:anim>
                                    <p:anim calcmode="lin" valueType="num">
                                      <p:cBhvr>
                                        <p:cTn id="26" dur="5000" fill="hold"/>
                                        <p:tgtEl>
                                          <p:spTgt spid="78"/>
                                        </p:tgtEl>
                                        <p:attrNameLst>
                                          <p:attrName>ppt_h</p:attrName>
                                        </p:attrNameLst>
                                      </p:cBhvr>
                                      <p:tavLst>
                                        <p:tav tm="0">
                                          <p:val>
                                            <p:strVal val="#ppt_h"/>
                                          </p:val>
                                        </p:tav>
                                        <p:tav tm="100000">
                                          <p:val>
                                            <p:strVal val="#ppt_h"/>
                                          </p:val>
                                        </p:tav>
                                      </p:tavLst>
                                    </p:anim>
                                  </p:childTnLst>
                                </p:cTn>
                              </p:par>
                            </p:childTnLst>
                          </p:cTn>
                        </p:par>
                        <p:par>
                          <p:cTn id="27" fill="hold">
                            <p:stCondLst>
                              <p:cond delay="7000"/>
                            </p:stCondLst>
                            <p:childTnLst>
                              <p:par>
                                <p:cTn id="28" presetID="7" presetClass="entr" presetSubtype="4" fill="hold" nodeType="afterEffect">
                                  <p:stCondLst>
                                    <p:cond delay="0"/>
                                  </p:stCondLst>
                                  <p:childTnLst>
                                    <p:set>
                                      <p:cBhvr>
                                        <p:cTn id="29" dur="1" fill="hold">
                                          <p:stCondLst>
                                            <p:cond delay="0"/>
                                          </p:stCondLst>
                                        </p:cTn>
                                        <p:tgtEl>
                                          <p:spTgt spid="79"/>
                                        </p:tgtEl>
                                        <p:attrNameLst>
                                          <p:attrName>style.visibility</p:attrName>
                                        </p:attrNameLst>
                                      </p:cBhvr>
                                      <p:to>
                                        <p:strVal val="visible"/>
                                      </p:to>
                                    </p:set>
                                    <p:anim calcmode="lin" valueType="num">
                                      <p:cBhvr additive="base">
                                        <p:cTn id="30" dur="6000" fill="hold"/>
                                        <p:tgtEl>
                                          <p:spTgt spid="79"/>
                                        </p:tgtEl>
                                        <p:attrNameLst>
                                          <p:attrName>ppt_x</p:attrName>
                                        </p:attrNameLst>
                                      </p:cBhvr>
                                      <p:tavLst>
                                        <p:tav tm="0">
                                          <p:val>
                                            <p:strVal val="#ppt_x"/>
                                          </p:val>
                                        </p:tav>
                                        <p:tav tm="100000">
                                          <p:val>
                                            <p:strVal val="#ppt_x"/>
                                          </p:val>
                                        </p:tav>
                                      </p:tavLst>
                                    </p:anim>
                                    <p:anim calcmode="lin" valueType="num">
                                      <p:cBhvr additive="base">
                                        <p:cTn id="31" dur="6000" fill="hold"/>
                                        <p:tgtEl>
                                          <p:spTgt spid="79"/>
                                        </p:tgtEl>
                                        <p:attrNameLst>
                                          <p:attrName>ppt_y</p:attrName>
                                        </p:attrNameLst>
                                      </p:cBhvr>
                                      <p:tavLst>
                                        <p:tav tm="0">
                                          <p:val>
                                            <p:strVal val="1+#ppt_h/2"/>
                                          </p:val>
                                        </p:tav>
                                        <p:tav tm="100000">
                                          <p:val>
                                            <p:strVal val="#ppt_y"/>
                                          </p:val>
                                        </p:tav>
                                      </p:tavLst>
                                    </p:anim>
                                  </p:childTnLst>
                                </p:cTn>
                              </p:par>
                              <p:par>
                                <p:cTn id="32" presetID="22" presetClass="exit" presetSubtype="4" fill="hold" grpId="1" nodeType="withEffect">
                                  <p:stCondLst>
                                    <p:cond delay="0"/>
                                  </p:stCondLst>
                                  <p:childTnLst>
                                    <p:animEffect transition="out" filter="wipe(down)">
                                      <p:cBhvr>
                                        <p:cTn id="33" dur="6000"/>
                                        <p:tgtEl>
                                          <p:spTgt spid="76"/>
                                        </p:tgtEl>
                                      </p:cBhvr>
                                    </p:animEffect>
                                    <p:set>
                                      <p:cBhvr>
                                        <p:cTn id="34" dur="1" fill="hold">
                                          <p:stCondLst>
                                            <p:cond delay="5999"/>
                                          </p:stCondLst>
                                        </p:cTn>
                                        <p:tgtEl>
                                          <p:spTgt spid="76"/>
                                        </p:tgtEl>
                                        <p:attrNameLst>
                                          <p:attrName>style.visibility</p:attrName>
                                        </p:attrNameLst>
                                      </p:cBhvr>
                                      <p:to>
                                        <p:strVal val="hidden"/>
                                      </p:to>
                                    </p:set>
                                  </p:childTnLst>
                                </p:cTn>
                              </p:par>
                              <p:par>
                                <p:cTn id="35" presetID="8" presetClass="emph" presetSubtype="0" repeatCount="3000" fill="hold" grpId="1" nodeType="withEffect">
                                  <p:stCondLst>
                                    <p:cond delay="0"/>
                                  </p:stCondLst>
                                  <p:childTnLst>
                                    <p:animRot by="-21600000">
                                      <p:cBhvr>
                                        <p:cTn id="36" dur="2000" fill="hold"/>
                                        <p:tgtEl>
                                          <p:spTgt spid="66"/>
                                        </p:tgtEl>
                                        <p:attrNameLst>
                                          <p:attrName>r</p:attrName>
                                        </p:attrNameLst>
                                      </p:cBhvr>
                                    </p:animRot>
                                  </p:childTnLst>
                                </p:cTn>
                              </p:par>
                            </p:childTnLst>
                          </p:cTn>
                        </p:par>
                        <p:par>
                          <p:cTn id="37" fill="hold">
                            <p:stCondLst>
                              <p:cond delay="13000"/>
                            </p:stCondLst>
                            <p:childTnLst>
                              <p:par>
                                <p:cTn id="38" presetID="12" presetClass="entr" presetSubtype="1" fill="hold" grpId="0" nodeType="afterEffect">
                                  <p:stCondLst>
                                    <p:cond delay="0"/>
                                  </p:stCondLst>
                                  <p:childTnLst>
                                    <p:set>
                                      <p:cBhvr>
                                        <p:cTn id="39" dur="1" fill="hold">
                                          <p:stCondLst>
                                            <p:cond delay="0"/>
                                          </p:stCondLst>
                                        </p:cTn>
                                        <p:tgtEl>
                                          <p:spTgt spid="87"/>
                                        </p:tgtEl>
                                        <p:attrNameLst>
                                          <p:attrName>style.visibility</p:attrName>
                                        </p:attrNameLst>
                                      </p:cBhvr>
                                      <p:to>
                                        <p:strVal val="visible"/>
                                      </p:to>
                                    </p:set>
                                    <p:animEffect transition="in" filter="slide(fromTop)">
                                      <p:cBhvr>
                                        <p:cTn id="40" dur="3000"/>
                                        <p:tgtEl>
                                          <p:spTgt spid="87"/>
                                        </p:tgtEl>
                                      </p:cBhvr>
                                    </p:animEffect>
                                  </p:childTnLst>
                                </p:cTn>
                              </p:par>
                              <p:par>
                                <p:cTn id="41" presetID="19" presetClass="entr" presetSubtype="10" fill="hold" grpId="0" nodeType="withEffect">
                                  <p:stCondLst>
                                    <p:cond delay="0"/>
                                  </p:stCondLst>
                                  <p:childTnLst>
                                    <p:set>
                                      <p:cBhvr>
                                        <p:cTn id="42" dur="1" fill="hold">
                                          <p:stCondLst>
                                            <p:cond delay="0"/>
                                          </p:stCondLst>
                                        </p:cTn>
                                        <p:tgtEl>
                                          <p:spTgt spid="83"/>
                                        </p:tgtEl>
                                        <p:attrNameLst>
                                          <p:attrName>style.visibility</p:attrName>
                                        </p:attrNameLst>
                                      </p:cBhvr>
                                      <p:to>
                                        <p:strVal val="visible"/>
                                      </p:to>
                                    </p:set>
                                    <p:anim calcmode="lin" valueType="num">
                                      <p:cBhvr>
                                        <p:cTn id="43" dur="5000" fill="hold"/>
                                        <p:tgtEl>
                                          <p:spTgt spid="83"/>
                                        </p:tgtEl>
                                        <p:attrNameLst>
                                          <p:attrName>ppt_w</p:attrName>
                                        </p:attrNameLst>
                                      </p:cBhvr>
                                      <p:tavLst>
                                        <p:tav tm="0" fmla="#ppt_w*sin(2.5*pi*$)">
                                          <p:val>
                                            <p:fltVal val="0"/>
                                          </p:val>
                                        </p:tav>
                                        <p:tav tm="100000">
                                          <p:val>
                                            <p:fltVal val="1"/>
                                          </p:val>
                                        </p:tav>
                                      </p:tavLst>
                                    </p:anim>
                                    <p:anim calcmode="lin" valueType="num">
                                      <p:cBhvr>
                                        <p:cTn id="44" dur="5000" fill="hold"/>
                                        <p:tgtEl>
                                          <p:spTgt spid="83"/>
                                        </p:tgtEl>
                                        <p:attrNameLst>
                                          <p:attrName>ppt_h</p:attrName>
                                        </p:attrNameLst>
                                      </p:cBhvr>
                                      <p:tavLst>
                                        <p:tav tm="0">
                                          <p:val>
                                            <p:strVal val="#ppt_h"/>
                                          </p:val>
                                        </p:tav>
                                        <p:tav tm="100000">
                                          <p:val>
                                            <p:strVal val="#ppt_h"/>
                                          </p:val>
                                        </p:tav>
                                      </p:tavLst>
                                    </p:anim>
                                  </p:childTnLst>
                                </p:cTn>
                              </p:par>
                              <p:par>
                                <p:cTn id="45" presetID="9" presetClass="emph" presetSubtype="0" nodeType="withEffect">
                                  <p:stCondLst>
                                    <p:cond delay="0"/>
                                  </p:stCondLst>
                                  <p:childTnLst>
                                    <p:set>
                                      <p:cBhvr rctx="PPT">
                                        <p:cTn id="46" dur="indefinite"/>
                                        <p:tgtEl>
                                          <p:spTgt spid="68"/>
                                        </p:tgtEl>
                                        <p:attrNameLst>
                                          <p:attrName>style.opacity</p:attrName>
                                        </p:attrNameLst>
                                      </p:cBhvr>
                                      <p:to>
                                        <p:strVal val="0.5"/>
                                      </p:to>
                                    </p:set>
                                    <p:animEffect filter="image" prLst="opacity: 0.5">
                                      <p:cBhvr rctx="IE">
                                        <p:cTn id="47" dur="indefinite"/>
                                        <p:tgtEl>
                                          <p:spTgt spid="68"/>
                                        </p:tgtEl>
                                      </p:cBhvr>
                                    </p:animEffect>
                                  </p:childTnLst>
                                </p:cTn>
                              </p:par>
                            </p:childTnLst>
                          </p:cTn>
                        </p:par>
                        <p:par>
                          <p:cTn id="48" fill="hold">
                            <p:stCondLst>
                              <p:cond delay="18000"/>
                            </p:stCondLst>
                            <p:childTnLst>
                              <p:par>
                                <p:cTn id="49" presetID="12" presetClass="entr" presetSubtype="4" fill="hold" grpId="0" nodeType="afterEffect">
                                  <p:stCondLst>
                                    <p:cond delay="0"/>
                                  </p:stCondLst>
                                  <p:childTnLst>
                                    <p:set>
                                      <p:cBhvr>
                                        <p:cTn id="50" dur="1" fill="hold">
                                          <p:stCondLst>
                                            <p:cond delay="0"/>
                                          </p:stCondLst>
                                        </p:cTn>
                                        <p:tgtEl>
                                          <p:spTgt spid="88"/>
                                        </p:tgtEl>
                                        <p:attrNameLst>
                                          <p:attrName>style.visibility</p:attrName>
                                        </p:attrNameLst>
                                      </p:cBhvr>
                                      <p:to>
                                        <p:strVal val="visible"/>
                                      </p:to>
                                    </p:set>
                                    <p:animEffect transition="in" filter="slide(fromBottom)">
                                      <p:cBhvr>
                                        <p:cTn id="51" dur="3000"/>
                                        <p:tgtEl>
                                          <p:spTgt spid="88"/>
                                        </p:tgtEl>
                                      </p:cBhvr>
                                    </p:animEffect>
                                  </p:childTnLst>
                                </p:cTn>
                              </p:par>
                              <p:par>
                                <p:cTn id="52" presetID="19" presetClass="entr" presetSubtype="10" fill="hold" grpId="0" nodeType="withEffect">
                                  <p:stCondLst>
                                    <p:cond delay="0"/>
                                  </p:stCondLst>
                                  <p:childTnLst>
                                    <p:set>
                                      <p:cBhvr>
                                        <p:cTn id="53" dur="1" fill="hold">
                                          <p:stCondLst>
                                            <p:cond delay="0"/>
                                          </p:stCondLst>
                                        </p:cTn>
                                        <p:tgtEl>
                                          <p:spTgt spid="84"/>
                                        </p:tgtEl>
                                        <p:attrNameLst>
                                          <p:attrName>style.visibility</p:attrName>
                                        </p:attrNameLst>
                                      </p:cBhvr>
                                      <p:to>
                                        <p:strVal val="visible"/>
                                      </p:to>
                                    </p:set>
                                    <p:anim calcmode="lin" valueType="num">
                                      <p:cBhvr>
                                        <p:cTn id="54" dur="5000" fill="hold"/>
                                        <p:tgtEl>
                                          <p:spTgt spid="84"/>
                                        </p:tgtEl>
                                        <p:attrNameLst>
                                          <p:attrName>ppt_w</p:attrName>
                                        </p:attrNameLst>
                                      </p:cBhvr>
                                      <p:tavLst>
                                        <p:tav tm="0" fmla="#ppt_w*sin(2.5*pi*$)">
                                          <p:val>
                                            <p:fltVal val="0"/>
                                          </p:val>
                                        </p:tav>
                                        <p:tav tm="100000">
                                          <p:val>
                                            <p:fltVal val="1"/>
                                          </p:val>
                                        </p:tav>
                                      </p:tavLst>
                                    </p:anim>
                                    <p:anim calcmode="lin" valueType="num">
                                      <p:cBhvr>
                                        <p:cTn id="55" dur="5000" fill="hold"/>
                                        <p:tgtEl>
                                          <p:spTgt spid="84"/>
                                        </p:tgtEl>
                                        <p:attrNameLst>
                                          <p:attrName>ppt_h</p:attrName>
                                        </p:attrNameLst>
                                      </p:cBhvr>
                                      <p:tavLst>
                                        <p:tav tm="0">
                                          <p:val>
                                            <p:strVal val="#ppt_h"/>
                                          </p:val>
                                        </p:tav>
                                        <p:tav tm="100000">
                                          <p:val>
                                            <p:strVal val="#ppt_h"/>
                                          </p:val>
                                        </p:tav>
                                      </p:tavLst>
                                    </p:anim>
                                  </p:childTnLst>
                                </p:cTn>
                              </p:par>
                            </p:childTnLst>
                          </p:cTn>
                        </p:par>
                        <p:par>
                          <p:cTn id="56" fill="hold">
                            <p:stCondLst>
                              <p:cond delay="23000"/>
                            </p:stCondLst>
                            <p:childTnLst>
                              <p:par>
                                <p:cTn id="57" presetID="12" presetClass="entr" presetSubtype="8" fill="hold" grpId="0" nodeType="afterEffect">
                                  <p:stCondLst>
                                    <p:cond delay="0"/>
                                  </p:stCondLst>
                                  <p:childTnLst>
                                    <p:set>
                                      <p:cBhvr>
                                        <p:cTn id="58" dur="1" fill="hold">
                                          <p:stCondLst>
                                            <p:cond delay="0"/>
                                          </p:stCondLst>
                                        </p:cTn>
                                        <p:tgtEl>
                                          <p:spTgt spid="86"/>
                                        </p:tgtEl>
                                        <p:attrNameLst>
                                          <p:attrName>style.visibility</p:attrName>
                                        </p:attrNameLst>
                                      </p:cBhvr>
                                      <p:to>
                                        <p:strVal val="visible"/>
                                      </p:to>
                                    </p:set>
                                    <p:animEffect transition="in" filter="slide(fromLeft)">
                                      <p:cBhvr>
                                        <p:cTn id="59" dur="3000"/>
                                        <p:tgtEl>
                                          <p:spTgt spid="86"/>
                                        </p:tgtEl>
                                      </p:cBhvr>
                                    </p:animEffect>
                                  </p:childTnLst>
                                </p:cTn>
                              </p:par>
                              <p:par>
                                <p:cTn id="60" presetID="19" presetClass="entr" presetSubtype="10" fill="hold" grpId="0" nodeType="withEffect">
                                  <p:stCondLst>
                                    <p:cond delay="0"/>
                                  </p:stCondLst>
                                  <p:childTnLst>
                                    <p:set>
                                      <p:cBhvr>
                                        <p:cTn id="61" dur="1" fill="hold">
                                          <p:stCondLst>
                                            <p:cond delay="0"/>
                                          </p:stCondLst>
                                        </p:cTn>
                                        <p:tgtEl>
                                          <p:spTgt spid="85"/>
                                        </p:tgtEl>
                                        <p:attrNameLst>
                                          <p:attrName>style.visibility</p:attrName>
                                        </p:attrNameLst>
                                      </p:cBhvr>
                                      <p:to>
                                        <p:strVal val="visible"/>
                                      </p:to>
                                    </p:set>
                                    <p:anim calcmode="lin" valueType="num">
                                      <p:cBhvr>
                                        <p:cTn id="62" dur="5000" fill="hold"/>
                                        <p:tgtEl>
                                          <p:spTgt spid="85"/>
                                        </p:tgtEl>
                                        <p:attrNameLst>
                                          <p:attrName>ppt_w</p:attrName>
                                        </p:attrNameLst>
                                      </p:cBhvr>
                                      <p:tavLst>
                                        <p:tav tm="0" fmla="#ppt_w*sin(2.5*pi*$)">
                                          <p:val>
                                            <p:fltVal val="0"/>
                                          </p:val>
                                        </p:tav>
                                        <p:tav tm="100000">
                                          <p:val>
                                            <p:fltVal val="1"/>
                                          </p:val>
                                        </p:tav>
                                      </p:tavLst>
                                    </p:anim>
                                    <p:anim calcmode="lin" valueType="num">
                                      <p:cBhvr>
                                        <p:cTn id="63" dur="5000" fill="hold"/>
                                        <p:tgtEl>
                                          <p:spTgt spid="85"/>
                                        </p:tgtEl>
                                        <p:attrNameLst>
                                          <p:attrName>ppt_h</p:attrName>
                                        </p:attrNameLst>
                                      </p:cBhvr>
                                      <p:tavLst>
                                        <p:tav tm="0">
                                          <p:val>
                                            <p:strVal val="#ppt_h"/>
                                          </p:val>
                                        </p:tav>
                                        <p:tav tm="100000">
                                          <p:val>
                                            <p:strVal val="#ppt_h"/>
                                          </p:val>
                                        </p:tav>
                                      </p:tavLst>
                                    </p:anim>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grpId="0" nodeType="clickEffect">
                                  <p:stCondLst>
                                    <p:cond delay="0"/>
                                  </p:stCondLst>
                                  <p:childTnLst>
                                    <p:set>
                                      <p:cBhvr>
                                        <p:cTn id="67" dur="1" fill="hold">
                                          <p:stCondLst>
                                            <p:cond delay="0"/>
                                          </p:stCondLst>
                                        </p:cTn>
                                        <p:tgtEl>
                                          <p:spTgt spid="64"/>
                                        </p:tgtEl>
                                        <p:attrNameLst>
                                          <p:attrName>style.visibility</p:attrName>
                                        </p:attrNameLst>
                                      </p:cBhvr>
                                      <p:to>
                                        <p:strVal val="visible"/>
                                      </p:to>
                                    </p:set>
                                  </p:childTnLst>
                                </p:cTn>
                              </p:par>
                            </p:childTnLst>
                          </p:cTn>
                        </p:par>
                      </p:childTnLst>
                    </p:cTn>
                  </p:par>
                  <p:par>
                    <p:cTn id="68" fill="hold">
                      <p:stCondLst>
                        <p:cond delay="indefinite"/>
                      </p:stCondLst>
                      <p:childTnLst>
                        <p:par>
                          <p:cTn id="69" fill="hold">
                            <p:stCondLst>
                              <p:cond delay="0"/>
                            </p:stCondLst>
                            <p:childTnLst>
                              <p:par>
                                <p:cTn id="70" presetID="1" presetClass="entr" presetSubtype="0" fill="hold" grpId="0" nodeType="clickEffect">
                                  <p:stCondLst>
                                    <p:cond delay="0"/>
                                  </p:stCondLst>
                                  <p:childTnLst>
                                    <p:set>
                                      <p:cBhvr>
                                        <p:cTn id="71" dur="1" fill="hold">
                                          <p:stCondLst>
                                            <p:cond delay="0"/>
                                          </p:stCondLst>
                                        </p:cTn>
                                        <p:tgtEl>
                                          <p:spTgt spid="65"/>
                                        </p:tgtEl>
                                        <p:attrNameLst>
                                          <p:attrName>style.visibility</p:attrName>
                                        </p:attrNameLst>
                                      </p:cBhvr>
                                      <p:to>
                                        <p:strVal val="visible"/>
                                      </p:to>
                                    </p:set>
                                  </p:childTnLst>
                                </p:cTn>
                              </p:par>
                            </p:childTnLst>
                          </p:cTn>
                        </p:par>
                      </p:childTnLst>
                    </p:cTn>
                  </p:par>
                  <p:par>
                    <p:cTn id="72" fill="hold">
                      <p:stCondLst>
                        <p:cond delay="indefinite"/>
                      </p:stCondLst>
                      <p:childTnLst>
                        <p:par>
                          <p:cTn id="73" fill="hold">
                            <p:stCondLst>
                              <p:cond delay="0"/>
                            </p:stCondLst>
                            <p:childTnLst>
                              <p:par>
                                <p:cTn id="74" presetID="22" presetClass="entr" presetSubtype="8" fill="hold" nodeType="clickEffect">
                                  <p:stCondLst>
                                    <p:cond delay="0"/>
                                  </p:stCondLst>
                                  <p:childTnLst>
                                    <p:set>
                                      <p:cBhvr>
                                        <p:cTn id="75" dur="1" fill="hold">
                                          <p:stCondLst>
                                            <p:cond delay="0"/>
                                          </p:stCondLst>
                                        </p:cTn>
                                        <p:tgtEl>
                                          <p:spTgt spid="89"/>
                                        </p:tgtEl>
                                        <p:attrNameLst>
                                          <p:attrName>style.visibility</p:attrName>
                                        </p:attrNameLst>
                                      </p:cBhvr>
                                      <p:to>
                                        <p:strVal val="visible"/>
                                      </p:to>
                                    </p:set>
                                    <p:animEffect transition="in" filter="wipe(left)">
                                      <p:cBhvr>
                                        <p:cTn id="76" dur="1000"/>
                                        <p:tgtEl>
                                          <p:spTgt spid="89"/>
                                        </p:tgtEl>
                                      </p:cBhvr>
                                    </p:animEffect>
                                  </p:childTnLst>
                                </p:cTn>
                              </p:par>
                            </p:childTnLst>
                          </p:cTn>
                        </p:par>
                      </p:childTnLst>
                    </p:cTn>
                  </p:par>
                  <p:par>
                    <p:cTn id="77" fill="hold">
                      <p:stCondLst>
                        <p:cond delay="indefinite"/>
                      </p:stCondLst>
                      <p:childTnLst>
                        <p:par>
                          <p:cTn id="78" fill="hold">
                            <p:stCondLst>
                              <p:cond delay="0"/>
                            </p:stCondLst>
                            <p:childTnLst>
                              <p:par>
                                <p:cTn id="79" presetID="22" presetClass="entr" presetSubtype="8" fill="hold" nodeType="clickEffect">
                                  <p:stCondLst>
                                    <p:cond delay="0"/>
                                  </p:stCondLst>
                                  <p:childTnLst>
                                    <p:set>
                                      <p:cBhvr>
                                        <p:cTn id="80" dur="1" fill="hold">
                                          <p:stCondLst>
                                            <p:cond delay="0"/>
                                          </p:stCondLst>
                                        </p:cTn>
                                        <p:tgtEl>
                                          <p:spTgt spid="90"/>
                                        </p:tgtEl>
                                        <p:attrNameLst>
                                          <p:attrName>style.visibility</p:attrName>
                                        </p:attrNameLst>
                                      </p:cBhvr>
                                      <p:to>
                                        <p:strVal val="visible"/>
                                      </p:to>
                                    </p:set>
                                    <p:animEffect transition="in" filter="wipe(left)">
                                      <p:cBhvr>
                                        <p:cTn id="81" dur="1000"/>
                                        <p:tgtEl>
                                          <p:spTgt spid="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64" grpId="0"/>
      <p:bldP spid="65" grpId="0"/>
      <p:bldP spid="66" grpId="0" animBg="1"/>
      <p:bldP spid="66" grpId="1" animBg="1"/>
      <p:bldP spid="67" grpId="0" animBg="1"/>
      <p:bldP spid="76" grpId="0" animBg="1"/>
      <p:bldP spid="76" grpId="1" animBg="1"/>
      <p:bldP spid="77" grpId="0" animBg="1"/>
      <p:bldP spid="78" grpId="0"/>
      <p:bldP spid="83" grpId="0"/>
      <p:bldP spid="84" grpId="0"/>
      <p:bldP spid="85" grpId="0"/>
      <p:bldP spid="86" grpId="0" animBg="1"/>
      <p:bldP spid="87" grpId="0" animBg="1"/>
      <p:bldP spid="88"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4653838"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第七章   动力学普遍定理</a:t>
            </a:r>
          </a:p>
        </p:txBody>
      </p:sp>
      <p:sp>
        <p:nvSpPr>
          <p:cNvPr id="9" name="Rectangle 61">
            <a:extLst>
              <a:ext uri="{FF2B5EF4-FFF2-40B4-BE49-F238E27FC236}">
                <a16:creationId xmlns:a16="http://schemas.microsoft.com/office/drawing/2014/main" id="{0C4CF67B-8CA2-F648-B364-D8C44A49A572}"/>
              </a:ext>
            </a:extLst>
          </p:cNvPr>
          <p:cNvSpPr>
            <a:spLocks noChangeArrowheads="1"/>
          </p:cNvSpPr>
          <p:nvPr/>
        </p:nvSpPr>
        <p:spPr bwMode="auto">
          <a:xfrm>
            <a:off x="9120336" y="842981"/>
            <a:ext cx="2880320" cy="5393935"/>
          </a:xfrm>
          <a:prstGeom prst="rect">
            <a:avLst/>
          </a:prstGeom>
          <a:solidFill>
            <a:srgbClr val="B9CDE5"/>
          </a:solidFill>
          <a:ln>
            <a:noFill/>
          </a:ln>
          <a:effectLst/>
        </p:spPr>
        <p:txBody>
          <a:bodyPr wrap="none" anchor="ctr"/>
          <a:lstStyle/>
          <a:p>
            <a:endParaRPr lang="zh-CN" altLang="en-US"/>
          </a:p>
        </p:txBody>
      </p:sp>
      <p:sp>
        <p:nvSpPr>
          <p:cNvPr id="66" name="Oval 3"/>
          <p:cNvSpPr>
            <a:spLocks noChangeArrowheads="1"/>
          </p:cNvSpPr>
          <p:nvPr/>
        </p:nvSpPr>
        <p:spPr bwMode="auto">
          <a:xfrm>
            <a:off x="9899327" y="1258763"/>
            <a:ext cx="1165225" cy="1165225"/>
          </a:xfrm>
          <a:prstGeom prst="ellipse">
            <a:avLst/>
          </a:prstGeom>
          <a:gradFill rotWithShape="1">
            <a:gsLst>
              <a:gs pos="0">
                <a:schemeClr val="bg1"/>
              </a:gs>
              <a:gs pos="100000">
                <a:schemeClr val="bg1">
                  <a:gamma/>
                  <a:shade val="41176"/>
                  <a:invGamma/>
                </a:schemeClr>
              </a:gs>
            </a:gsLst>
            <a:path path="rect">
              <a:fillToRect r="100000" b="100000"/>
            </a:path>
          </a:gra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 name="Line 10"/>
          <p:cNvSpPr>
            <a:spLocks noChangeShapeType="1"/>
          </p:cNvSpPr>
          <p:nvPr/>
        </p:nvSpPr>
        <p:spPr bwMode="auto">
          <a:xfrm>
            <a:off x="11064552" y="1830263"/>
            <a:ext cx="0" cy="152717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8" name="Group 11"/>
          <p:cNvGrpSpPr>
            <a:grpSpLocks/>
          </p:cNvGrpSpPr>
          <p:nvPr/>
        </p:nvGrpSpPr>
        <p:grpSpPr bwMode="auto">
          <a:xfrm>
            <a:off x="10091415" y="1533401"/>
            <a:ext cx="887412" cy="654050"/>
            <a:chOff x="4605" y="278"/>
            <a:chExt cx="559" cy="412"/>
          </a:xfrm>
        </p:grpSpPr>
        <p:grpSp>
          <p:nvGrpSpPr>
            <p:cNvPr id="69" name="Group 12"/>
            <p:cNvGrpSpPr>
              <a:grpSpLocks/>
            </p:cNvGrpSpPr>
            <p:nvPr/>
          </p:nvGrpSpPr>
          <p:grpSpPr bwMode="auto">
            <a:xfrm rot="-5400000">
              <a:off x="4758" y="284"/>
              <a:ext cx="357" cy="455"/>
              <a:chOff x="3681" y="807"/>
              <a:chExt cx="425" cy="532"/>
            </a:xfrm>
          </p:grpSpPr>
          <p:sp>
            <p:nvSpPr>
              <p:cNvPr id="71" name="AutoShape 13"/>
              <p:cNvSpPr>
                <a:spLocks noChangeAspect="1" noChangeArrowheads="1"/>
              </p:cNvSpPr>
              <p:nvPr/>
            </p:nvSpPr>
            <p:spPr bwMode="auto">
              <a:xfrm rot="5400000">
                <a:off x="3762" y="881"/>
                <a:ext cx="202" cy="196"/>
              </a:xfrm>
              <a:prstGeom prst="triangle">
                <a:avLst>
                  <a:gd name="adj" fmla="val 50000"/>
                </a:avLst>
              </a:prstGeom>
              <a:gradFill rotWithShape="1">
                <a:gsLst>
                  <a:gs pos="0">
                    <a:srgbClr val="66FF33">
                      <a:gamma/>
                      <a:shade val="46275"/>
                      <a:invGamma/>
                    </a:srgbClr>
                  </a:gs>
                  <a:gs pos="50000">
                    <a:srgbClr val="66FF33"/>
                  </a:gs>
                  <a:gs pos="100000">
                    <a:srgbClr val="66FF33">
                      <a:gamma/>
                      <a:shade val="46275"/>
                      <a:invGamma/>
                    </a:srgbClr>
                  </a:gs>
                </a:gsLst>
                <a:lin ang="0" scaled="1"/>
              </a:gradFill>
              <a:ln w="381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2" name="Text Box 14"/>
              <p:cNvSpPr txBox="1">
                <a:spLocks noChangeAspect="1" noChangeArrowheads="1"/>
              </p:cNvSpPr>
              <p:nvPr/>
            </p:nvSpPr>
            <p:spPr bwMode="auto">
              <a:xfrm rot="5400000">
                <a:off x="3798" y="1031"/>
                <a:ext cx="336" cy="2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endParaRPr lang="zh-CN" altLang="zh-CN" baseline="-25000">
                  <a:solidFill>
                    <a:schemeClr val="tx1"/>
                  </a:solidFill>
                  <a:ea typeface="宋体" panose="02010600030101010101" pitchFamily="2" charset="-122"/>
                </a:endParaRPr>
              </a:p>
            </p:txBody>
          </p:sp>
          <p:sp>
            <p:nvSpPr>
              <p:cNvPr id="73" name="Oval 15"/>
              <p:cNvSpPr>
                <a:spLocks noChangeAspect="1" noChangeArrowheads="1"/>
              </p:cNvSpPr>
              <p:nvPr/>
            </p:nvSpPr>
            <p:spPr bwMode="auto">
              <a:xfrm rot="5400000">
                <a:off x="3905" y="947"/>
                <a:ext cx="64" cy="64"/>
              </a:xfrm>
              <a:prstGeom prst="ellipse">
                <a:avLst/>
              </a:prstGeom>
              <a:solidFill>
                <a:srgbClr val="FF0000"/>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4" name="Rectangle 16" descr="宽上对角线"/>
              <p:cNvSpPr>
                <a:spLocks noChangeAspect="1" noChangeArrowheads="1"/>
              </p:cNvSpPr>
              <p:nvPr/>
            </p:nvSpPr>
            <p:spPr bwMode="auto">
              <a:xfrm rot="5400000">
                <a:off x="3558" y="931"/>
                <a:ext cx="342" cy="96"/>
              </a:xfrm>
              <a:prstGeom prst="rect">
                <a:avLst/>
              </a:prstGeom>
              <a:pattFill prst="wdUpDiag">
                <a:fgClr>
                  <a:srgbClr val="000000"/>
                </a:fgClr>
                <a:bgClr>
                  <a:srgbClr val="FFFFCC"/>
                </a:bgClr>
              </a:patt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5" name="Line 17"/>
              <p:cNvSpPr>
                <a:spLocks noChangeAspect="1" noChangeShapeType="1"/>
              </p:cNvSpPr>
              <p:nvPr/>
            </p:nvSpPr>
            <p:spPr bwMode="auto">
              <a:xfrm rot="5400000">
                <a:off x="3612" y="978"/>
                <a:ext cx="344" cy="1"/>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70" name="Text Box 18"/>
            <p:cNvSpPr txBox="1">
              <a:spLocks noChangeAspect="1" noChangeArrowheads="1"/>
            </p:cNvSpPr>
            <p:nvPr/>
          </p:nvSpPr>
          <p:spPr bwMode="auto">
            <a:xfrm>
              <a:off x="4605" y="278"/>
              <a:ext cx="357" cy="34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i="1">
                  <a:solidFill>
                    <a:schemeClr val="tx1"/>
                  </a:solidFill>
                  <a:ea typeface="宋体" panose="02010600030101010101" pitchFamily="2" charset="-122"/>
                </a:rPr>
                <a:t>O</a:t>
              </a:r>
              <a:endParaRPr lang="en-US" altLang="zh-CN" baseline="-25000">
                <a:solidFill>
                  <a:schemeClr val="tx1"/>
                </a:solidFill>
                <a:ea typeface="宋体" panose="02010600030101010101" pitchFamily="2" charset="-122"/>
              </a:endParaRPr>
            </a:p>
          </p:txBody>
        </p:sp>
      </p:grpSp>
      <p:sp>
        <p:nvSpPr>
          <p:cNvPr id="76" name="Line 19"/>
          <p:cNvSpPr>
            <a:spLocks noChangeShapeType="1"/>
          </p:cNvSpPr>
          <p:nvPr/>
        </p:nvSpPr>
        <p:spPr bwMode="auto">
          <a:xfrm>
            <a:off x="11064552" y="3212977"/>
            <a:ext cx="0" cy="295232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7" name="Arc 22"/>
          <p:cNvSpPr>
            <a:spLocks/>
          </p:cNvSpPr>
          <p:nvPr/>
        </p:nvSpPr>
        <p:spPr bwMode="auto">
          <a:xfrm rot="12699306" flipV="1">
            <a:off x="10053315" y="1415926"/>
            <a:ext cx="231775" cy="466725"/>
          </a:xfrm>
          <a:custGeom>
            <a:avLst/>
            <a:gdLst>
              <a:gd name="G0" fmla="+- 0 0 0"/>
              <a:gd name="G1" fmla="+- 18861 0 0"/>
              <a:gd name="G2" fmla="+- 21600 0 0"/>
              <a:gd name="T0" fmla="*/ 10526 w 21600"/>
              <a:gd name="T1" fmla="*/ 0 h 34514"/>
              <a:gd name="T2" fmla="*/ 14884 w 21600"/>
              <a:gd name="T3" fmla="*/ 34514 h 34514"/>
              <a:gd name="T4" fmla="*/ 0 w 21600"/>
              <a:gd name="T5" fmla="*/ 18861 h 34514"/>
            </a:gdLst>
            <a:ahLst/>
            <a:cxnLst>
              <a:cxn ang="0">
                <a:pos x="T0" y="T1"/>
              </a:cxn>
              <a:cxn ang="0">
                <a:pos x="T2" y="T3"/>
              </a:cxn>
              <a:cxn ang="0">
                <a:pos x="T4" y="T5"/>
              </a:cxn>
            </a:cxnLst>
            <a:rect l="0" t="0" r="r" b="b"/>
            <a:pathLst>
              <a:path w="21600" h="34514" fill="none" extrusionOk="0">
                <a:moveTo>
                  <a:pt x="10526" y="-1"/>
                </a:moveTo>
                <a:cubicBezTo>
                  <a:pt x="17363" y="3815"/>
                  <a:pt x="21600" y="11031"/>
                  <a:pt x="21600" y="18861"/>
                </a:cubicBezTo>
                <a:cubicBezTo>
                  <a:pt x="21600" y="24778"/>
                  <a:pt x="19172" y="30436"/>
                  <a:pt x="14884" y="34514"/>
                </a:cubicBezTo>
              </a:path>
              <a:path w="21600" h="34514" stroke="0" extrusionOk="0">
                <a:moveTo>
                  <a:pt x="10526" y="-1"/>
                </a:moveTo>
                <a:cubicBezTo>
                  <a:pt x="17363" y="3815"/>
                  <a:pt x="21600" y="11031"/>
                  <a:pt x="21600" y="18861"/>
                </a:cubicBezTo>
                <a:cubicBezTo>
                  <a:pt x="21600" y="24778"/>
                  <a:pt x="19172" y="30436"/>
                  <a:pt x="14884" y="34514"/>
                </a:cubicBezTo>
                <a:lnTo>
                  <a:pt x="0" y="18861"/>
                </a:lnTo>
                <a:close/>
              </a:path>
            </a:pathLst>
          </a:custGeom>
          <a:noFill/>
          <a:ln w="28575">
            <a:solidFill>
              <a:srgbClr val="FF0000"/>
            </a:solidFill>
            <a:round/>
            <a:headEnd/>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8" name="Text Box 23"/>
          <p:cNvSpPr txBox="1">
            <a:spLocks noChangeAspect="1" noChangeArrowheads="1"/>
          </p:cNvSpPr>
          <p:nvPr/>
        </p:nvSpPr>
        <p:spPr bwMode="auto">
          <a:xfrm>
            <a:off x="9635802" y="1403226"/>
            <a:ext cx="490538" cy="463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b="0" i="1" dirty="0">
                <a:solidFill>
                  <a:srgbClr val="FF0000"/>
                </a:solidFill>
              </a:rPr>
              <a:t>T</a:t>
            </a:r>
            <a:endParaRPr lang="en-US" altLang="zh-CN" b="0" baseline="-25000" dirty="0">
              <a:solidFill>
                <a:srgbClr val="FF0000"/>
              </a:solidFill>
            </a:endParaRPr>
          </a:p>
        </p:txBody>
      </p:sp>
      <p:grpSp>
        <p:nvGrpSpPr>
          <p:cNvPr id="79" name="Group 24"/>
          <p:cNvGrpSpPr>
            <a:grpSpLocks/>
          </p:cNvGrpSpPr>
          <p:nvPr/>
        </p:nvGrpSpPr>
        <p:grpSpPr bwMode="auto">
          <a:xfrm>
            <a:off x="10813727" y="3028826"/>
            <a:ext cx="855663" cy="946150"/>
            <a:chOff x="5060" y="1220"/>
            <a:chExt cx="539" cy="596"/>
          </a:xfrm>
        </p:grpSpPr>
        <p:sp>
          <p:nvSpPr>
            <p:cNvPr id="80" name="Rectangle 25"/>
            <p:cNvSpPr>
              <a:spLocks noChangeArrowheads="1"/>
            </p:cNvSpPr>
            <p:nvPr/>
          </p:nvSpPr>
          <p:spPr bwMode="auto">
            <a:xfrm>
              <a:off x="5060" y="1220"/>
              <a:ext cx="326" cy="226"/>
            </a:xfrm>
            <a:prstGeom prst="rect">
              <a:avLst/>
            </a:prstGeom>
            <a:gradFill rotWithShape="1">
              <a:gsLst>
                <a:gs pos="0">
                  <a:schemeClr val="bg2"/>
                </a:gs>
                <a:gs pos="50000">
                  <a:schemeClr val="bg2">
                    <a:gamma/>
                    <a:tint val="0"/>
                    <a:invGamma/>
                  </a:schemeClr>
                </a:gs>
                <a:gs pos="100000">
                  <a:schemeClr val="bg2"/>
                </a:gs>
              </a:gsLst>
              <a:lin ang="0" scaled="1"/>
            </a:gra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1" name="Line 26"/>
            <p:cNvSpPr>
              <a:spLocks noChangeShapeType="1"/>
            </p:cNvSpPr>
            <p:nvPr/>
          </p:nvSpPr>
          <p:spPr bwMode="auto">
            <a:xfrm>
              <a:off x="5219" y="1344"/>
              <a:ext cx="0" cy="384"/>
            </a:xfrm>
            <a:prstGeom prst="line">
              <a:avLst/>
            </a:prstGeom>
            <a:noFill/>
            <a:ln w="28575">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82" name="Text Box 27"/>
            <p:cNvSpPr txBox="1">
              <a:spLocks noChangeAspect="1" noChangeArrowheads="1"/>
            </p:cNvSpPr>
            <p:nvPr/>
          </p:nvSpPr>
          <p:spPr bwMode="auto">
            <a:xfrm>
              <a:off x="5193" y="1524"/>
              <a:ext cx="406" cy="2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b="0" i="1" dirty="0">
                  <a:solidFill>
                    <a:srgbClr val="FF0000"/>
                  </a:solidFill>
                  <a:ea typeface="宋体" panose="02010600030101010101" pitchFamily="2" charset="-122"/>
                </a:rPr>
                <a:t>m</a:t>
              </a:r>
              <a:r>
                <a:rPr lang="en-US" altLang="zh-CN" i="1" dirty="0">
                  <a:solidFill>
                    <a:srgbClr val="FF0000"/>
                  </a:solidFill>
                  <a:ea typeface="宋体" panose="02010600030101010101" pitchFamily="2" charset="-122"/>
                </a:rPr>
                <a:t>g</a:t>
              </a:r>
              <a:endParaRPr lang="en-US" altLang="zh-CN" i="1" baseline="-25000" dirty="0">
                <a:solidFill>
                  <a:srgbClr val="FF0000"/>
                </a:solidFill>
                <a:ea typeface="宋体" panose="02010600030101010101" pitchFamily="2" charset="-122"/>
                <a:sym typeface="Symbol" panose="05050102010706020507" pitchFamily="18" charset="2"/>
              </a:endParaRPr>
            </a:p>
          </p:txBody>
        </p:sp>
      </p:grpSp>
      <p:sp>
        <p:nvSpPr>
          <p:cNvPr id="83" name="Text Box 28"/>
          <p:cNvSpPr txBox="1">
            <a:spLocks noChangeAspect="1" noChangeArrowheads="1"/>
          </p:cNvSpPr>
          <p:nvPr/>
        </p:nvSpPr>
        <p:spPr bwMode="auto">
          <a:xfrm>
            <a:off x="10266040" y="2387476"/>
            <a:ext cx="644525" cy="463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n-US" altLang="zh-CN" b="1" i="1" dirty="0">
                <a:solidFill>
                  <a:srgbClr val="FF0000"/>
                </a:solidFill>
                <a:ea typeface="宋体" panose="02010600030101010101" pitchFamily="2" charset="-122"/>
              </a:rPr>
              <a:t>G</a:t>
            </a:r>
            <a:endParaRPr lang="en-US" altLang="zh-CN" baseline="-25000" dirty="0">
              <a:solidFill>
                <a:srgbClr val="FF0000"/>
              </a:solidFill>
              <a:ea typeface="宋体" panose="02010600030101010101" pitchFamily="2" charset="-122"/>
              <a:sym typeface="Symbol" panose="05050102010706020507" pitchFamily="18" charset="2"/>
            </a:endParaRPr>
          </a:p>
        </p:txBody>
      </p:sp>
      <p:sp>
        <p:nvSpPr>
          <p:cNvPr id="84" name="Text Box 29"/>
          <p:cNvSpPr txBox="1">
            <a:spLocks noChangeAspect="1" noChangeArrowheads="1"/>
          </p:cNvSpPr>
          <p:nvPr/>
        </p:nvSpPr>
        <p:spPr bwMode="auto">
          <a:xfrm>
            <a:off x="10413677" y="804738"/>
            <a:ext cx="644525" cy="463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n-US" altLang="zh-CN" b="1" i="1" dirty="0" err="1">
                <a:solidFill>
                  <a:srgbClr val="FF0000"/>
                </a:solidFill>
                <a:ea typeface="宋体" panose="02010600030101010101" pitchFamily="2" charset="-122"/>
              </a:rPr>
              <a:t>F</a:t>
            </a:r>
            <a:r>
              <a:rPr lang="en-US" altLang="zh-CN" b="0" i="1" baseline="-25000" dirty="0" err="1">
                <a:solidFill>
                  <a:srgbClr val="FF0000"/>
                </a:solidFill>
                <a:ea typeface="宋体" panose="02010600030101010101" pitchFamily="2" charset="-122"/>
              </a:rPr>
              <a:t>y</a:t>
            </a:r>
            <a:endParaRPr lang="en-US" altLang="zh-CN" b="0" i="1" baseline="-25000" dirty="0">
              <a:solidFill>
                <a:srgbClr val="FF0000"/>
              </a:solidFill>
              <a:ea typeface="宋体" panose="02010600030101010101" pitchFamily="2" charset="-122"/>
              <a:sym typeface="Symbol" panose="05050102010706020507" pitchFamily="18" charset="2"/>
            </a:endParaRPr>
          </a:p>
        </p:txBody>
      </p:sp>
      <p:sp>
        <p:nvSpPr>
          <p:cNvPr id="85" name="Text Box 30"/>
          <p:cNvSpPr txBox="1">
            <a:spLocks noChangeAspect="1" noChangeArrowheads="1"/>
          </p:cNvSpPr>
          <p:nvPr/>
        </p:nvSpPr>
        <p:spPr bwMode="auto">
          <a:xfrm>
            <a:off x="11040740" y="1550863"/>
            <a:ext cx="644525" cy="463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n-US" altLang="zh-CN" b="1" i="1" dirty="0" err="1">
                <a:solidFill>
                  <a:srgbClr val="FF0000"/>
                </a:solidFill>
                <a:ea typeface="宋体" panose="02010600030101010101" pitchFamily="2" charset="-122"/>
              </a:rPr>
              <a:t>F</a:t>
            </a:r>
            <a:r>
              <a:rPr lang="en-US" altLang="zh-CN" b="0" i="1" baseline="-25000" dirty="0" err="1">
                <a:solidFill>
                  <a:srgbClr val="FF0000"/>
                </a:solidFill>
                <a:ea typeface="宋体" panose="02010600030101010101" pitchFamily="2" charset="-122"/>
              </a:rPr>
              <a:t>x</a:t>
            </a:r>
            <a:endParaRPr lang="en-US" altLang="zh-CN" b="0" i="1" baseline="-25000" dirty="0">
              <a:solidFill>
                <a:srgbClr val="FF0000"/>
              </a:solidFill>
              <a:ea typeface="宋体" panose="02010600030101010101" pitchFamily="2" charset="-122"/>
              <a:sym typeface="Symbol" panose="05050102010706020507" pitchFamily="18" charset="2"/>
            </a:endParaRPr>
          </a:p>
        </p:txBody>
      </p:sp>
      <p:sp>
        <p:nvSpPr>
          <p:cNvPr id="86" name="Line 31"/>
          <p:cNvSpPr>
            <a:spLocks noChangeShapeType="1"/>
          </p:cNvSpPr>
          <p:nvPr/>
        </p:nvSpPr>
        <p:spPr bwMode="auto">
          <a:xfrm rot="16200000">
            <a:off x="10835159" y="1505619"/>
            <a:ext cx="0" cy="658813"/>
          </a:xfrm>
          <a:prstGeom prst="line">
            <a:avLst/>
          </a:prstGeom>
          <a:noFill/>
          <a:ln w="28575">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87" name="Line 34"/>
          <p:cNvSpPr>
            <a:spLocks noChangeShapeType="1"/>
          </p:cNvSpPr>
          <p:nvPr/>
        </p:nvSpPr>
        <p:spPr bwMode="auto">
          <a:xfrm>
            <a:off x="10488290" y="1850901"/>
            <a:ext cx="0" cy="658812"/>
          </a:xfrm>
          <a:prstGeom prst="line">
            <a:avLst/>
          </a:prstGeom>
          <a:noFill/>
          <a:ln w="28575">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88" name="Line 35"/>
          <p:cNvSpPr>
            <a:spLocks noChangeShapeType="1"/>
          </p:cNvSpPr>
          <p:nvPr/>
        </p:nvSpPr>
        <p:spPr bwMode="auto">
          <a:xfrm flipV="1">
            <a:off x="10485115" y="1131763"/>
            <a:ext cx="0" cy="658813"/>
          </a:xfrm>
          <a:prstGeom prst="line">
            <a:avLst/>
          </a:prstGeom>
          <a:noFill/>
          <a:ln w="28575">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aphicFrame>
        <p:nvGraphicFramePr>
          <p:cNvPr id="90" name="Object 32"/>
          <p:cNvGraphicFramePr>
            <a:graphicFrameLocks noChangeAspect="1"/>
          </p:cNvGraphicFramePr>
          <p:nvPr>
            <p:extLst>
              <p:ext uri="{D42A27DB-BD31-4B8C-83A1-F6EECF244321}">
                <p14:modId xmlns:p14="http://schemas.microsoft.com/office/powerpoint/2010/main" val="2781667218"/>
              </p:ext>
            </p:extLst>
          </p:nvPr>
        </p:nvGraphicFramePr>
        <p:xfrm>
          <a:off x="911022" y="1128271"/>
          <a:ext cx="3397837" cy="701992"/>
        </p:xfrm>
        <a:graphic>
          <a:graphicData uri="http://schemas.openxmlformats.org/presentationml/2006/ole">
            <mc:AlternateContent xmlns:mc="http://schemas.openxmlformats.org/markup-compatibility/2006">
              <mc:Choice xmlns:v="urn:schemas-microsoft-com:vml" Requires="v">
                <p:oleObj spid="_x0000_s12342" name="Equation" r:id="rId4" imgW="1892160" imgH="393480" progId="Equation.DSMT4">
                  <p:embed/>
                </p:oleObj>
              </mc:Choice>
              <mc:Fallback>
                <p:oleObj name="Equation" r:id="rId4" imgW="1892160" imgH="393480" progId="Equation.DSMT4">
                  <p:embed/>
                  <p:pic>
                    <p:nvPicPr>
                      <p:cNvPr id="0" name=""/>
                      <p:cNvPicPr>
                        <a:picLocks noChangeAspect="1" noChangeArrowheads="1"/>
                      </p:cNvPicPr>
                      <p:nvPr/>
                    </p:nvPicPr>
                    <p:blipFill>
                      <a:blip r:embed="rId5"/>
                      <a:srcRect/>
                      <a:stretch>
                        <a:fillRect/>
                      </a:stretch>
                    </p:blipFill>
                    <p:spPr bwMode="auto">
                      <a:xfrm>
                        <a:off x="911022" y="1128271"/>
                        <a:ext cx="3397837" cy="701992"/>
                      </a:xfrm>
                      <a:prstGeom prst="rect">
                        <a:avLst/>
                      </a:prstGeom>
                      <a:noFill/>
                      <a:ln>
                        <a:noFill/>
                      </a:ln>
                    </p:spPr>
                  </p:pic>
                </p:oleObj>
              </mc:Fallback>
            </mc:AlternateContent>
          </a:graphicData>
        </a:graphic>
      </p:graphicFrame>
      <p:graphicFrame>
        <p:nvGraphicFramePr>
          <p:cNvPr id="91" name="Object 32"/>
          <p:cNvGraphicFramePr>
            <a:graphicFrameLocks noChangeAspect="1"/>
          </p:cNvGraphicFramePr>
          <p:nvPr>
            <p:extLst>
              <p:ext uri="{D42A27DB-BD31-4B8C-83A1-F6EECF244321}">
                <p14:modId xmlns:p14="http://schemas.microsoft.com/office/powerpoint/2010/main" val="3544063032"/>
              </p:ext>
            </p:extLst>
          </p:nvPr>
        </p:nvGraphicFramePr>
        <p:xfrm>
          <a:off x="909175" y="2193926"/>
          <a:ext cx="3242610" cy="415506"/>
        </p:xfrm>
        <a:graphic>
          <a:graphicData uri="http://schemas.openxmlformats.org/presentationml/2006/ole">
            <mc:AlternateContent xmlns:mc="http://schemas.openxmlformats.org/markup-compatibility/2006">
              <mc:Choice xmlns:v="urn:schemas-microsoft-com:vml" Requires="v">
                <p:oleObj spid="_x0000_s12343" name="Equation" r:id="rId6" imgW="1765080" imgH="228600" progId="Equation.DSMT4">
                  <p:embed/>
                </p:oleObj>
              </mc:Choice>
              <mc:Fallback>
                <p:oleObj name="Equation" r:id="rId6" imgW="1765080" imgH="228600" progId="Equation.DSMT4">
                  <p:embed/>
                  <p:pic>
                    <p:nvPicPr>
                      <p:cNvPr id="0" name=""/>
                      <p:cNvPicPr>
                        <a:picLocks noChangeAspect="1" noChangeArrowheads="1"/>
                      </p:cNvPicPr>
                      <p:nvPr/>
                    </p:nvPicPr>
                    <p:blipFill>
                      <a:blip r:embed="rId7"/>
                      <a:srcRect/>
                      <a:stretch>
                        <a:fillRect/>
                      </a:stretch>
                    </p:blipFill>
                    <p:spPr bwMode="auto">
                      <a:xfrm>
                        <a:off x="909175" y="2193926"/>
                        <a:ext cx="3242610" cy="415506"/>
                      </a:xfrm>
                      <a:prstGeom prst="rect">
                        <a:avLst/>
                      </a:prstGeom>
                      <a:noFill/>
                      <a:ln>
                        <a:noFill/>
                      </a:ln>
                    </p:spPr>
                  </p:pic>
                </p:oleObj>
              </mc:Fallback>
            </mc:AlternateContent>
          </a:graphicData>
        </a:graphic>
      </p:graphicFrame>
      <p:graphicFrame>
        <p:nvGraphicFramePr>
          <p:cNvPr id="92" name="Object 32"/>
          <p:cNvGraphicFramePr>
            <a:graphicFrameLocks noChangeAspect="1"/>
          </p:cNvGraphicFramePr>
          <p:nvPr>
            <p:extLst>
              <p:ext uri="{D42A27DB-BD31-4B8C-83A1-F6EECF244321}">
                <p14:modId xmlns:p14="http://schemas.microsoft.com/office/powerpoint/2010/main" val="3276997050"/>
              </p:ext>
            </p:extLst>
          </p:nvPr>
        </p:nvGraphicFramePr>
        <p:xfrm>
          <a:off x="3534270" y="2717097"/>
          <a:ext cx="1929918" cy="759630"/>
        </p:xfrm>
        <a:graphic>
          <a:graphicData uri="http://schemas.openxmlformats.org/presentationml/2006/ole">
            <mc:AlternateContent xmlns:mc="http://schemas.openxmlformats.org/markup-compatibility/2006">
              <mc:Choice xmlns:v="urn:schemas-microsoft-com:vml" Requires="v">
                <p:oleObj spid="_x0000_s12344" name="Equation" r:id="rId8" imgW="990360" imgH="393480" progId="Equation.DSMT4">
                  <p:embed/>
                </p:oleObj>
              </mc:Choice>
              <mc:Fallback>
                <p:oleObj name="Equation" r:id="rId8" imgW="990360" imgH="393480" progId="Equation.DSMT4">
                  <p:embed/>
                  <p:pic>
                    <p:nvPicPr>
                      <p:cNvPr id="0" name=""/>
                      <p:cNvPicPr>
                        <a:picLocks noChangeAspect="1" noChangeArrowheads="1"/>
                      </p:cNvPicPr>
                      <p:nvPr/>
                    </p:nvPicPr>
                    <p:blipFill>
                      <a:blip r:embed="rId9"/>
                      <a:srcRect/>
                      <a:stretch>
                        <a:fillRect/>
                      </a:stretch>
                    </p:blipFill>
                    <p:spPr bwMode="auto">
                      <a:xfrm>
                        <a:off x="3534270" y="2717097"/>
                        <a:ext cx="1929918" cy="759630"/>
                      </a:xfrm>
                      <a:prstGeom prst="rect">
                        <a:avLst/>
                      </a:prstGeom>
                      <a:noFill/>
                      <a:ln>
                        <a:noFill/>
                      </a:ln>
                    </p:spPr>
                  </p:pic>
                </p:oleObj>
              </mc:Fallback>
            </mc:AlternateContent>
          </a:graphicData>
        </a:graphic>
      </p:graphicFrame>
      <p:sp>
        <p:nvSpPr>
          <p:cNvPr id="93" name="矩形 92">
            <a:extLst>
              <a:ext uri="{FF2B5EF4-FFF2-40B4-BE49-F238E27FC236}">
                <a16:creationId xmlns:a16="http://schemas.microsoft.com/office/drawing/2014/main" id="{001849FC-9FC7-A09E-FE8B-668342264D65}"/>
              </a:ext>
            </a:extLst>
          </p:cNvPr>
          <p:cNvSpPr/>
          <p:nvPr/>
        </p:nvSpPr>
        <p:spPr>
          <a:xfrm>
            <a:off x="767408" y="2810680"/>
            <a:ext cx="2952328" cy="572464"/>
          </a:xfrm>
          <a:prstGeom prst="rect">
            <a:avLst/>
          </a:prstGeom>
        </p:spPr>
        <p:txBody>
          <a:bodyPr wrap="square">
            <a:spAutoFit/>
          </a:bodyPr>
          <a:lstStyle/>
          <a:p>
            <a:pPr>
              <a:lnSpc>
                <a:spcPct val="130000"/>
              </a:lnSpc>
              <a:defRPr/>
            </a:pPr>
            <a:r>
              <a:rPr kumimoji="1" lang="zh-CN" altLang="en-US" i="0" dirty="0">
                <a:solidFill>
                  <a:schemeClr val="tx1"/>
                </a:solidFill>
                <a:ea typeface="黑体" panose="02010609060101010101" pitchFamily="49" charset="-122"/>
              </a:rPr>
              <a:t>滚筒角加速度为</a:t>
            </a:r>
            <a:endParaRPr kumimoji="1" lang="zh-CN" altLang="en-US" i="1"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endParaRPr>
          </a:p>
        </p:txBody>
      </p:sp>
      <p:sp>
        <p:nvSpPr>
          <p:cNvPr id="94" name="矩形 93">
            <a:extLst>
              <a:ext uri="{FF2B5EF4-FFF2-40B4-BE49-F238E27FC236}">
                <a16:creationId xmlns:a16="http://schemas.microsoft.com/office/drawing/2014/main" id="{001849FC-9FC7-A09E-FE8B-668342264D65}"/>
              </a:ext>
            </a:extLst>
          </p:cNvPr>
          <p:cNvSpPr/>
          <p:nvPr/>
        </p:nvSpPr>
        <p:spPr>
          <a:xfrm>
            <a:off x="767408" y="3835276"/>
            <a:ext cx="7056784" cy="1532727"/>
          </a:xfrm>
          <a:prstGeom prst="rect">
            <a:avLst/>
          </a:prstGeom>
        </p:spPr>
        <p:txBody>
          <a:bodyPr wrap="square">
            <a:spAutoFit/>
          </a:bodyPr>
          <a:lstStyle/>
          <a:p>
            <a:pPr>
              <a:lnSpc>
                <a:spcPct val="130000"/>
              </a:lnSpc>
              <a:defRPr/>
            </a:pPr>
            <a:r>
              <a:rPr kumimoji="1" lang="zh-CN" altLang="en-US" i="0" dirty="0">
                <a:solidFill>
                  <a:schemeClr val="tx1"/>
                </a:solidFill>
                <a:ea typeface="黑体" panose="02010609060101010101" pitchFamily="49" charset="-122"/>
              </a:rPr>
              <a:t>重物上升的加速度等于滚筒边缘上任意一点的切向加速度，故 </a:t>
            </a:r>
          </a:p>
          <a:p>
            <a:pPr>
              <a:lnSpc>
                <a:spcPct val="130000"/>
              </a:lnSpc>
              <a:defRPr/>
            </a:pPr>
            <a:endParaRPr kumimoji="1" lang="zh-CN" altLang="en-US" i="1"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endParaRPr>
          </a:p>
        </p:txBody>
      </p:sp>
      <p:graphicFrame>
        <p:nvGraphicFramePr>
          <p:cNvPr id="95" name="Object 38"/>
          <p:cNvGraphicFramePr>
            <a:graphicFrameLocks noChangeAspect="1"/>
          </p:cNvGraphicFramePr>
          <p:nvPr>
            <p:extLst>
              <p:ext uri="{D42A27DB-BD31-4B8C-83A1-F6EECF244321}">
                <p14:modId xmlns:p14="http://schemas.microsoft.com/office/powerpoint/2010/main" val="2368739093"/>
              </p:ext>
            </p:extLst>
          </p:nvPr>
        </p:nvGraphicFramePr>
        <p:xfrm>
          <a:off x="2478100" y="5251450"/>
          <a:ext cx="2986088" cy="879475"/>
        </p:xfrm>
        <a:graphic>
          <a:graphicData uri="http://schemas.openxmlformats.org/presentationml/2006/ole">
            <mc:AlternateContent xmlns:mc="http://schemas.openxmlformats.org/markup-compatibility/2006">
              <mc:Choice xmlns:v="urn:schemas-microsoft-com:vml" Requires="v">
                <p:oleObj spid="_x0000_s12345" name="Equation" r:id="rId10" imgW="1422360" imgH="419040" progId="Equation.DSMT4">
                  <p:embed/>
                </p:oleObj>
              </mc:Choice>
              <mc:Fallback>
                <p:oleObj name="Equation" r:id="rId10" imgW="1422360" imgH="419040" progId="Equation.DSMT4">
                  <p:embed/>
                  <p:pic>
                    <p:nvPicPr>
                      <p:cNvPr id="0" name=""/>
                      <p:cNvPicPr>
                        <a:picLocks noChangeAspect="1" noChangeArrowheads="1"/>
                      </p:cNvPicPr>
                      <p:nvPr/>
                    </p:nvPicPr>
                    <p:blipFill>
                      <a:blip r:embed="rId11"/>
                      <a:srcRect/>
                      <a:stretch>
                        <a:fillRect/>
                      </a:stretch>
                    </p:blipFill>
                    <p:spPr bwMode="auto">
                      <a:xfrm>
                        <a:off x="2478100" y="5251450"/>
                        <a:ext cx="2986088" cy="879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992451429"/>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250"/>
                                  </p:stCondLst>
                                  <p:childTnLst>
                                    <p:set>
                                      <p:cBhvr>
                                        <p:cTn id="6" dur="1" fill="hold">
                                          <p:stCondLst>
                                            <p:cond delay="999"/>
                                          </p:stCondLst>
                                        </p:cTn>
                                        <p:tgtEl>
                                          <p:spTgt spid="9"/>
                                        </p:tgtEl>
                                        <p:attrNameLst>
                                          <p:attrName>style.visibility</p:attrName>
                                        </p:attrNameLst>
                                      </p:cBhvr>
                                      <p:to>
                                        <p:strVal val="visible"/>
                                      </p:to>
                                    </p:set>
                                  </p:childTnLst>
                                </p:cTn>
                              </p:par>
                              <p:par>
                                <p:cTn id="7" presetID="20" presetClass="entr" presetSubtype="0" fill="hold" grpId="0" nodeType="withEffect">
                                  <p:stCondLst>
                                    <p:cond delay="250"/>
                                  </p:stCondLst>
                                  <p:childTnLst>
                                    <p:set>
                                      <p:cBhvr>
                                        <p:cTn id="8" dur="1" fill="hold">
                                          <p:stCondLst>
                                            <p:cond delay="0"/>
                                          </p:stCondLst>
                                        </p:cTn>
                                        <p:tgtEl>
                                          <p:spTgt spid="66"/>
                                        </p:tgtEl>
                                        <p:attrNameLst>
                                          <p:attrName>style.visibility</p:attrName>
                                        </p:attrNameLst>
                                      </p:cBhvr>
                                      <p:to>
                                        <p:strVal val="visible"/>
                                      </p:to>
                                    </p:set>
                                    <p:animEffect transition="in" filter="wedge">
                                      <p:cBhvr>
                                        <p:cTn id="9" dur="1000"/>
                                        <p:tgtEl>
                                          <p:spTgt spid="66"/>
                                        </p:tgtEl>
                                      </p:cBhvr>
                                    </p:animEffect>
                                  </p:childTnLst>
                                </p:cTn>
                              </p:par>
                              <p:par>
                                <p:cTn id="10" presetID="10" presetClass="entr" presetSubtype="0" fill="hold" nodeType="withEffect">
                                  <p:stCondLst>
                                    <p:cond delay="250"/>
                                  </p:stCondLst>
                                  <p:childTnLst>
                                    <p:set>
                                      <p:cBhvr>
                                        <p:cTn id="11" dur="1" fill="hold">
                                          <p:stCondLst>
                                            <p:cond delay="0"/>
                                          </p:stCondLst>
                                        </p:cTn>
                                        <p:tgtEl>
                                          <p:spTgt spid="68"/>
                                        </p:tgtEl>
                                        <p:attrNameLst>
                                          <p:attrName>style.visibility</p:attrName>
                                        </p:attrNameLst>
                                      </p:cBhvr>
                                      <p:to>
                                        <p:strVal val="visible"/>
                                      </p:to>
                                    </p:set>
                                    <p:animEffect transition="in" filter="fade">
                                      <p:cBhvr>
                                        <p:cTn id="12" dur="1000"/>
                                        <p:tgtEl>
                                          <p:spTgt spid="68"/>
                                        </p:tgtEl>
                                      </p:cBhvr>
                                    </p:animEffect>
                                  </p:childTnLst>
                                </p:cTn>
                              </p:par>
                              <p:par>
                                <p:cTn id="13" presetID="10" presetClass="entr" presetSubtype="0" fill="hold" grpId="0" nodeType="withEffect">
                                  <p:stCondLst>
                                    <p:cond delay="250"/>
                                  </p:stCondLst>
                                  <p:childTnLst>
                                    <p:set>
                                      <p:cBhvr>
                                        <p:cTn id="14" dur="1" fill="hold">
                                          <p:stCondLst>
                                            <p:cond delay="0"/>
                                          </p:stCondLst>
                                        </p:cTn>
                                        <p:tgtEl>
                                          <p:spTgt spid="67"/>
                                        </p:tgtEl>
                                        <p:attrNameLst>
                                          <p:attrName>style.visibility</p:attrName>
                                        </p:attrNameLst>
                                      </p:cBhvr>
                                      <p:to>
                                        <p:strVal val="visible"/>
                                      </p:to>
                                    </p:set>
                                    <p:animEffect transition="in" filter="fade">
                                      <p:cBhvr>
                                        <p:cTn id="15" dur="1000"/>
                                        <p:tgtEl>
                                          <p:spTgt spid="67"/>
                                        </p:tgtEl>
                                      </p:cBhvr>
                                    </p:animEffect>
                                  </p:childTnLst>
                                </p:cTn>
                              </p:par>
                              <p:par>
                                <p:cTn id="16" presetID="10" presetClass="entr" presetSubtype="0" fill="hold" grpId="0" nodeType="withEffect">
                                  <p:stCondLst>
                                    <p:cond delay="250"/>
                                  </p:stCondLst>
                                  <p:childTnLst>
                                    <p:set>
                                      <p:cBhvr>
                                        <p:cTn id="17" dur="1" fill="hold">
                                          <p:stCondLst>
                                            <p:cond delay="0"/>
                                          </p:stCondLst>
                                        </p:cTn>
                                        <p:tgtEl>
                                          <p:spTgt spid="76"/>
                                        </p:tgtEl>
                                        <p:attrNameLst>
                                          <p:attrName>style.visibility</p:attrName>
                                        </p:attrNameLst>
                                      </p:cBhvr>
                                      <p:to>
                                        <p:strVal val="visible"/>
                                      </p:to>
                                    </p:set>
                                    <p:animEffect transition="in" filter="fade">
                                      <p:cBhvr>
                                        <p:cTn id="18" dur="1000"/>
                                        <p:tgtEl>
                                          <p:spTgt spid="76"/>
                                        </p:tgtEl>
                                      </p:cBhvr>
                                    </p:animEffect>
                                  </p:childTnLst>
                                </p:cTn>
                              </p:par>
                            </p:childTnLst>
                          </p:cTn>
                        </p:par>
                        <p:par>
                          <p:cTn id="19" fill="hold">
                            <p:stCondLst>
                              <p:cond delay="1250"/>
                            </p:stCondLst>
                            <p:childTnLst>
                              <p:par>
                                <p:cTn id="20" presetID="22" presetClass="entr" presetSubtype="1" fill="hold" grpId="0" nodeType="afterEffect">
                                  <p:stCondLst>
                                    <p:cond delay="250"/>
                                  </p:stCondLst>
                                  <p:childTnLst>
                                    <p:set>
                                      <p:cBhvr>
                                        <p:cTn id="21" dur="1" fill="hold">
                                          <p:stCondLst>
                                            <p:cond delay="0"/>
                                          </p:stCondLst>
                                        </p:cTn>
                                        <p:tgtEl>
                                          <p:spTgt spid="77"/>
                                        </p:tgtEl>
                                        <p:attrNameLst>
                                          <p:attrName>style.visibility</p:attrName>
                                        </p:attrNameLst>
                                      </p:cBhvr>
                                      <p:to>
                                        <p:strVal val="visible"/>
                                      </p:to>
                                    </p:set>
                                    <p:animEffect transition="in" filter="wipe(up)">
                                      <p:cBhvr>
                                        <p:cTn id="22" dur="1000"/>
                                        <p:tgtEl>
                                          <p:spTgt spid="77"/>
                                        </p:tgtEl>
                                      </p:cBhvr>
                                    </p:animEffect>
                                  </p:childTnLst>
                                </p:cTn>
                              </p:par>
                              <p:par>
                                <p:cTn id="23" presetID="19" presetClass="entr" presetSubtype="10" fill="hold" grpId="0" nodeType="withEffect">
                                  <p:stCondLst>
                                    <p:cond delay="250"/>
                                  </p:stCondLst>
                                  <p:childTnLst>
                                    <p:set>
                                      <p:cBhvr>
                                        <p:cTn id="24" dur="1" fill="hold">
                                          <p:stCondLst>
                                            <p:cond delay="0"/>
                                          </p:stCondLst>
                                        </p:cTn>
                                        <p:tgtEl>
                                          <p:spTgt spid="78"/>
                                        </p:tgtEl>
                                        <p:attrNameLst>
                                          <p:attrName>style.visibility</p:attrName>
                                        </p:attrNameLst>
                                      </p:cBhvr>
                                      <p:to>
                                        <p:strVal val="visible"/>
                                      </p:to>
                                    </p:set>
                                    <p:anim calcmode="lin" valueType="num">
                                      <p:cBhvr>
                                        <p:cTn id="25" dur="1000" fill="hold"/>
                                        <p:tgtEl>
                                          <p:spTgt spid="78"/>
                                        </p:tgtEl>
                                        <p:attrNameLst>
                                          <p:attrName>ppt_w</p:attrName>
                                        </p:attrNameLst>
                                      </p:cBhvr>
                                      <p:tavLst>
                                        <p:tav tm="0" fmla="#ppt_w*sin(2.5*pi*$)">
                                          <p:val>
                                            <p:fltVal val="0"/>
                                          </p:val>
                                        </p:tav>
                                        <p:tav tm="100000">
                                          <p:val>
                                            <p:fltVal val="1"/>
                                          </p:val>
                                        </p:tav>
                                      </p:tavLst>
                                    </p:anim>
                                    <p:anim calcmode="lin" valueType="num">
                                      <p:cBhvr>
                                        <p:cTn id="26" dur="1000" fill="hold"/>
                                        <p:tgtEl>
                                          <p:spTgt spid="78"/>
                                        </p:tgtEl>
                                        <p:attrNameLst>
                                          <p:attrName>ppt_h</p:attrName>
                                        </p:attrNameLst>
                                      </p:cBhvr>
                                      <p:tavLst>
                                        <p:tav tm="0">
                                          <p:val>
                                            <p:strVal val="#ppt_h"/>
                                          </p:val>
                                        </p:tav>
                                        <p:tav tm="100000">
                                          <p:val>
                                            <p:strVal val="#ppt_h"/>
                                          </p:val>
                                        </p:tav>
                                      </p:tavLst>
                                    </p:anim>
                                  </p:childTnLst>
                                </p:cTn>
                              </p:par>
                            </p:childTnLst>
                          </p:cTn>
                        </p:par>
                        <p:par>
                          <p:cTn id="27" fill="hold">
                            <p:stCondLst>
                              <p:cond delay="2500"/>
                            </p:stCondLst>
                            <p:childTnLst>
                              <p:par>
                                <p:cTn id="28" presetID="7" presetClass="entr" presetSubtype="4" fill="hold" nodeType="afterEffect">
                                  <p:stCondLst>
                                    <p:cond delay="250"/>
                                  </p:stCondLst>
                                  <p:childTnLst>
                                    <p:set>
                                      <p:cBhvr>
                                        <p:cTn id="29" dur="1" fill="hold">
                                          <p:stCondLst>
                                            <p:cond delay="0"/>
                                          </p:stCondLst>
                                        </p:cTn>
                                        <p:tgtEl>
                                          <p:spTgt spid="79"/>
                                        </p:tgtEl>
                                        <p:attrNameLst>
                                          <p:attrName>style.visibility</p:attrName>
                                        </p:attrNameLst>
                                      </p:cBhvr>
                                      <p:to>
                                        <p:strVal val="visible"/>
                                      </p:to>
                                    </p:set>
                                    <p:anim calcmode="lin" valueType="num">
                                      <p:cBhvr additive="base">
                                        <p:cTn id="30" dur="1000" fill="hold"/>
                                        <p:tgtEl>
                                          <p:spTgt spid="79"/>
                                        </p:tgtEl>
                                        <p:attrNameLst>
                                          <p:attrName>ppt_x</p:attrName>
                                        </p:attrNameLst>
                                      </p:cBhvr>
                                      <p:tavLst>
                                        <p:tav tm="0">
                                          <p:val>
                                            <p:strVal val="#ppt_x"/>
                                          </p:val>
                                        </p:tav>
                                        <p:tav tm="100000">
                                          <p:val>
                                            <p:strVal val="#ppt_x"/>
                                          </p:val>
                                        </p:tav>
                                      </p:tavLst>
                                    </p:anim>
                                    <p:anim calcmode="lin" valueType="num">
                                      <p:cBhvr additive="base">
                                        <p:cTn id="31" dur="1000" fill="hold"/>
                                        <p:tgtEl>
                                          <p:spTgt spid="79"/>
                                        </p:tgtEl>
                                        <p:attrNameLst>
                                          <p:attrName>ppt_y</p:attrName>
                                        </p:attrNameLst>
                                      </p:cBhvr>
                                      <p:tavLst>
                                        <p:tav tm="0">
                                          <p:val>
                                            <p:strVal val="1+#ppt_h/2"/>
                                          </p:val>
                                        </p:tav>
                                        <p:tav tm="100000">
                                          <p:val>
                                            <p:strVal val="#ppt_y"/>
                                          </p:val>
                                        </p:tav>
                                      </p:tavLst>
                                    </p:anim>
                                  </p:childTnLst>
                                </p:cTn>
                              </p:par>
                              <p:par>
                                <p:cTn id="32" presetID="22" presetClass="exit" presetSubtype="4" fill="hold" grpId="1" nodeType="withEffect">
                                  <p:stCondLst>
                                    <p:cond delay="250"/>
                                  </p:stCondLst>
                                  <p:childTnLst>
                                    <p:animEffect transition="out" filter="wipe(down)">
                                      <p:cBhvr>
                                        <p:cTn id="33" dur="1000"/>
                                        <p:tgtEl>
                                          <p:spTgt spid="76"/>
                                        </p:tgtEl>
                                      </p:cBhvr>
                                    </p:animEffect>
                                    <p:set>
                                      <p:cBhvr>
                                        <p:cTn id="34" dur="1" fill="hold">
                                          <p:stCondLst>
                                            <p:cond delay="999"/>
                                          </p:stCondLst>
                                        </p:cTn>
                                        <p:tgtEl>
                                          <p:spTgt spid="76"/>
                                        </p:tgtEl>
                                        <p:attrNameLst>
                                          <p:attrName>style.visibility</p:attrName>
                                        </p:attrNameLst>
                                      </p:cBhvr>
                                      <p:to>
                                        <p:strVal val="hidden"/>
                                      </p:to>
                                    </p:set>
                                  </p:childTnLst>
                                </p:cTn>
                              </p:par>
                              <p:par>
                                <p:cTn id="35" presetID="8" presetClass="emph" presetSubtype="0" repeatCount="3000" fill="hold" grpId="1" nodeType="withEffect">
                                  <p:stCondLst>
                                    <p:cond delay="250"/>
                                  </p:stCondLst>
                                  <p:childTnLst>
                                    <p:animRot by="-21600000">
                                      <p:cBhvr>
                                        <p:cTn id="36" dur="1000" fill="hold"/>
                                        <p:tgtEl>
                                          <p:spTgt spid="66"/>
                                        </p:tgtEl>
                                        <p:attrNameLst>
                                          <p:attrName>r</p:attrName>
                                        </p:attrNameLst>
                                      </p:cBhvr>
                                    </p:animRot>
                                  </p:childTnLst>
                                </p:cTn>
                              </p:par>
                            </p:childTnLst>
                          </p:cTn>
                        </p:par>
                        <p:par>
                          <p:cTn id="37" fill="hold">
                            <p:stCondLst>
                              <p:cond delay="5750"/>
                            </p:stCondLst>
                            <p:childTnLst>
                              <p:par>
                                <p:cTn id="38" presetID="12" presetClass="entr" presetSubtype="1" fill="hold" grpId="0" nodeType="afterEffect">
                                  <p:stCondLst>
                                    <p:cond delay="250"/>
                                  </p:stCondLst>
                                  <p:childTnLst>
                                    <p:set>
                                      <p:cBhvr>
                                        <p:cTn id="39" dur="1" fill="hold">
                                          <p:stCondLst>
                                            <p:cond delay="0"/>
                                          </p:stCondLst>
                                        </p:cTn>
                                        <p:tgtEl>
                                          <p:spTgt spid="87"/>
                                        </p:tgtEl>
                                        <p:attrNameLst>
                                          <p:attrName>style.visibility</p:attrName>
                                        </p:attrNameLst>
                                      </p:cBhvr>
                                      <p:to>
                                        <p:strVal val="visible"/>
                                      </p:to>
                                    </p:set>
                                    <p:animEffect transition="in" filter="slide(fromTop)">
                                      <p:cBhvr>
                                        <p:cTn id="40" dur="1000"/>
                                        <p:tgtEl>
                                          <p:spTgt spid="87"/>
                                        </p:tgtEl>
                                      </p:cBhvr>
                                    </p:animEffect>
                                  </p:childTnLst>
                                </p:cTn>
                              </p:par>
                              <p:par>
                                <p:cTn id="41" presetID="19" presetClass="entr" presetSubtype="10" fill="hold" grpId="0" nodeType="withEffect">
                                  <p:stCondLst>
                                    <p:cond delay="250"/>
                                  </p:stCondLst>
                                  <p:childTnLst>
                                    <p:set>
                                      <p:cBhvr>
                                        <p:cTn id="42" dur="1" fill="hold">
                                          <p:stCondLst>
                                            <p:cond delay="0"/>
                                          </p:stCondLst>
                                        </p:cTn>
                                        <p:tgtEl>
                                          <p:spTgt spid="83"/>
                                        </p:tgtEl>
                                        <p:attrNameLst>
                                          <p:attrName>style.visibility</p:attrName>
                                        </p:attrNameLst>
                                      </p:cBhvr>
                                      <p:to>
                                        <p:strVal val="visible"/>
                                      </p:to>
                                    </p:set>
                                    <p:anim calcmode="lin" valueType="num">
                                      <p:cBhvr>
                                        <p:cTn id="43" dur="1000" fill="hold"/>
                                        <p:tgtEl>
                                          <p:spTgt spid="83"/>
                                        </p:tgtEl>
                                        <p:attrNameLst>
                                          <p:attrName>ppt_w</p:attrName>
                                        </p:attrNameLst>
                                      </p:cBhvr>
                                      <p:tavLst>
                                        <p:tav tm="0" fmla="#ppt_w*sin(2.5*pi*$)">
                                          <p:val>
                                            <p:fltVal val="0"/>
                                          </p:val>
                                        </p:tav>
                                        <p:tav tm="100000">
                                          <p:val>
                                            <p:fltVal val="1"/>
                                          </p:val>
                                        </p:tav>
                                      </p:tavLst>
                                    </p:anim>
                                    <p:anim calcmode="lin" valueType="num">
                                      <p:cBhvr>
                                        <p:cTn id="44" dur="1000" fill="hold"/>
                                        <p:tgtEl>
                                          <p:spTgt spid="83"/>
                                        </p:tgtEl>
                                        <p:attrNameLst>
                                          <p:attrName>ppt_h</p:attrName>
                                        </p:attrNameLst>
                                      </p:cBhvr>
                                      <p:tavLst>
                                        <p:tav tm="0">
                                          <p:val>
                                            <p:strVal val="#ppt_h"/>
                                          </p:val>
                                        </p:tav>
                                        <p:tav tm="100000">
                                          <p:val>
                                            <p:strVal val="#ppt_h"/>
                                          </p:val>
                                        </p:tav>
                                      </p:tavLst>
                                    </p:anim>
                                  </p:childTnLst>
                                </p:cTn>
                              </p:par>
                              <p:par>
                                <p:cTn id="45" presetID="9" presetClass="emph" presetSubtype="0" nodeType="withEffect">
                                  <p:stCondLst>
                                    <p:cond delay="250"/>
                                  </p:stCondLst>
                                  <p:childTnLst>
                                    <p:set>
                                      <p:cBhvr rctx="PPT">
                                        <p:cTn id="46" dur="1000"/>
                                        <p:tgtEl>
                                          <p:spTgt spid="68"/>
                                        </p:tgtEl>
                                        <p:attrNameLst>
                                          <p:attrName>style.opacity</p:attrName>
                                        </p:attrNameLst>
                                      </p:cBhvr>
                                      <p:to>
                                        <p:strVal val="0.5"/>
                                      </p:to>
                                    </p:set>
                                    <p:animEffect filter="image" prLst="opacity: 0.5">
                                      <p:cBhvr rctx="IE">
                                        <p:cTn id="47" dur="1000"/>
                                        <p:tgtEl>
                                          <p:spTgt spid="68"/>
                                        </p:tgtEl>
                                      </p:cBhvr>
                                    </p:animEffect>
                                  </p:childTnLst>
                                </p:cTn>
                              </p:par>
                            </p:childTnLst>
                          </p:cTn>
                        </p:par>
                        <p:par>
                          <p:cTn id="48" fill="hold">
                            <p:stCondLst>
                              <p:cond delay="7000"/>
                            </p:stCondLst>
                            <p:childTnLst>
                              <p:par>
                                <p:cTn id="49" presetID="12" presetClass="entr" presetSubtype="4" fill="hold" grpId="0" nodeType="afterEffect">
                                  <p:stCondLst>
                                    <p:cond delay="250"/>
                                  </p:stCondLst>
                                  <p:childTnLst>
                                    <p:set>
                                      <p:cBhvr>
                                        <p:cTn id="50" dur="1" fill="hold">
                                          <p:stCondLst>
                                            <p:cond delay="0"/>
                                          </p:stCondLst>
                                        </p:cTn>
                                        <p:tgtEl>
                                          <p:spTgt spid="88"/>
                                        </p:tgtEl>
                                        <p:attrNameLst>
                                          <p:attrName>style.visibility</p:attrName>
                                        </p:attrNameLst>
                                      </p:cBhvr>
                                      <p:to>
                                        <p:strVal val="visible"/>
                                      </p:to>
                                    </p:set>
                                    <p:animEffect transition="in" filter="slide(fromBottom)">
                                      <p:cBhvr>
                                        <p:cTn id="51" dur="1000"/>
                                        <p:tgtEl>
                                          <p:spTgt spid="88"/>
                                        </p:tgtEl>
                                      </p:cBhvr>
                                    </p:animEffect>
                                  </p:childTnLst>
                                </p:cTn>
                              </p:par>
                              <p:par>
                                <p:cTn id="52" presetID="19" presetClass="entr" presetSubtype="10" fill="hold" grpId="0" nodeType="withEffect">
                                  <p:stCondLst>
                                    <p:cond delay="250"/>
                                  </p:stCondLst>
                                  <p:childTnLst>
                                    <p:set>
                                      <p:cBhvr>
                                        <p:cTn id="53" dur="1" fill="hold">
                                          <p:stCondLst>
                                            <p:cond delay="0"/>
                                          </p:stCondLst>
                                        </p:cTn>
                                        <p:tgtEl>
                                          <p:spTgt spid="84"/>
                                        </p:tgtEl>
                                        <p:attrNameLst>
                                          <p:attrName>style.visibility</p:attrName>
                                        </p:attrNameLst>
                                      </p:cBhvr>
                                      <p:to>
                                        <p:strVal val="visible"/>
                                      </p:to>
                                    </p:set>
                                    <p:anim calcmode="lin" valueType="num">
                                      <p:cBhvr>
                                        <p:cTn id="54" dur="1000" fill="hold"/>
                                        <p:tgtEl>
                                          <p:spTgt spid="84"/>
                                        </p:tgtEl>
                                        <p:attrNameLst>
                                          <p:attrName>ppt_w</p:attrName>
                                        </p:attrNameLst>
                                      </p:cBhvr>
                                      <p:tavLst>
                                        <p:tav tm="0" fmla="#ppt_w*sin(2.5*pi*$)">
                                          <p:val>
                                            <p:fltVal val="0"/>
                                          </p:val>
                                        </p:tav>
                                        <p:tav tm="100000">
                                          <p:val>
                                            <p:fltVal val="1"/>
                                          </p:val>
                                        </p:tav>
                                      </p:tavLst>
                                    </p:anim>
                                    <p:anim calcmode="lin" valueType="num">
                                      <p:cBhvr>
                                        <p:cTn id="55" dur="1000" fill="hold"/>
                                        <p:tgtEl>
                                          <p:spTgt spid="84"/>
                                        </p:tgtEl>
                                        <p:attrNameLst>
                                          <p:attrName>ppt_h</p:attrName>
                                        </p:attrNameLst>
                                      </p:cBhvr>
                                      <p:tavLst>
                                        <p:tav tm="0">
                                          <p:val>
                                            <p:strVal val="#ppt_h"/>
                                          </p:val>
                                        </p:tav>
                                        <p:tav tm="100000">
                                          <p:val>
                                            <p:strVal val="#ppt_h"/>
                                          </p:val>
                                        </p:tav>
                                      </p:tavLst>
                                    </p:anim>
                                  </p:childTnLst>
                                </p:cTn>
                              </p:par>
                            </p:childTnLst>
                          </p:cTn>
                        </p:par>
                        <p:par>
                          <p:cTn id="56" fill="hold">
                            <p:stCondLst>
                              <p:cond delay="8250"/>
                            </p:stCondLst>
                            <p:childTnLst>
                              <p:par>
                                <p:cTn id="57" presetID="12" presetClass="entr" presetSubtype="8" fill="hold" grpId="0" nodeType="afterEffect">
                                  <p:stCondLst>
                                    <p:cond delay="250"/>
                                  </p:stCondLst>
                                  <p:childTnLst>
                                    <p:set>
                                      <p:cBhvr>
                                        <p:cTn id="58" dur="1" fill="hold">
                                          <p:stCondLst>
                                            <p:cond delay="0"/>
                                          </p:stCondLst>
                                        </p:cTn>
                                        <p:tgtEl>
                                          <p:spTgt spid="86"/>
                                        </p:tgtEl>
                                        <p:attrNameLst>
                                          <p:attrName>style.visibility</p:attrName>
                                        </p:attrNameLst>
                                      </p:cBhvr>
                                      <p:to>
                                        <p:strVal val="visible"/>
                                      </p:to>
                                    </p:set>
                                    <p:animEffect transition="in" filter="slide(fromLeft)">
                                      <p:cBhvr>
                                        <p:cTn id="59" dur="1000"/>
                                        <p:tgtEl>
                                          <p:spTgt spid="86"/>
                                        </p:tgtEl>
                                      </p:cBhvr>
                                    </p:animEffect>
                                  </p:childTnLst>
                                </p:cTn>
                              </p:par>
                              <p:par>
                                <p:cTn id="60" presetID="19" presetClass="entr" presetSubtype="10" fill="hold" grpId="0" nodeType="withEffect">
                                  <p:stCondLst>
                                    <p:cond delay="250"/>
                                  </p:stCondLst>
                                  <p:childTnLst>
                                    <p:set>
                                      <p:cBhvr>
                                        <p:cTn id="61" dur="1" fill="hold">
                                          <p:stCondLst>
                                            <p:cond delay="0"/>
                                          </p:stCondLst>
                                        </p:cTn>
                                        <p:tgtEl>
                                          <p:spTgt spid="85"/>
                                        </p:tgtEl>
                                        <p:attrNameLst>
                                          <p:attrName>style.visibility</p:attrName>
                                        </p:attrNameLst>
                                      </p:cBhvr>
                                      <p:to>
                                        <p:strVal val="visible"/>
                                      </p:to>
                                    </p:set>
                                    <p:anim calcmode="lin" valueType="num">
                                      <p:cBhvr>
                                        <p:cTn id="62" dur="1000" fill="hold"/>
                                        <p:tgtEl>
                                          <p:spTgt spid="85"/>
                                        </p:tgtEl>
                                        <p:attrNameLst>
                                          <p:attrName>ppt_w</p:attrName>
                                        </p:attrNameLst>
                                      </p:cBhvr>
                                      <p:tavLst>
                                        <p:tav tm="0" fmla="#ppt_w*sin(2.5*pi*$)">
                                          <p:val>
                                            <p:fltVal val="0"/>
                                          </p:val>
                                        </p:tav>
                                        <p:tav tm="100000">
                                          <p:val>
                                            <p:fltVal val="1"/>
                                          </p:val>
                                        </p:tav>
                                      </p:tavLst>
                                    </p:anim>
                                    <p:anim calcmode="lin" valueType="num">
                                      <p:cBhvr>
                                        <p:cTn id="63" dur="1000" fill="hold"/>
                                        <p:tgtEl>
                                          <p:spTgt spid="85"/>
                                        </p:tgtEl>
                                        <p:attrNameLst>
                                          <p:attrName>ppt_h</p:attrName>
                                        </p:attrNameLst>
                                      </p:cBhvr>
                                      <p:tavLst>
                                        <p:tav tm="0">
                                          <p:val>
                                            <p:strVal val="#ppt_h"/>
                                          </p:val>
                                        </p:tav>
                                        <p:tav tm="100000">
                                          <p:val>
                                            <p:strVal val="#ppt_h"/>
                                          </p:val>
                                        </p:tav>
                                      </p:tavLst>
                                    </p:anim>
                                  </p:childTnLst>
                                </p:cTn>
                              </p:par>
                            </p:childTnLst>
                          </p:cTn>
                        </p:par>
                      </p:childTnLst>
                    </p:cTn>
                  </p:par>
                  <p:par>
                    <p:cTn id="64" fill="hold">
                      <p:stCondLst>
                        <p:cond delay="indefinite"/>
                      </p:stCondLst>
                      <p:childTnLst>
                        <p:par>
                          <p:cTn id="65" fill="hold">
                            <p:stCondLst>
                              <p:cond delay="0"/>
                            </p:stCondLst>
                            <p:childTnLst>
                              <p:par>
                                <p:cTn id="66" presetID="22" presetClass="entr" presetSubtype="8" fill="hold" nodeType="clickEffect">
                                  <p:stCondLst>
                                    <p:cond delay="0"/>
                                  </p:stCondLst>
                                  <p:childTnLst>
                                    <p:set>
                                      <p:cBhvr>
                                        <p:cTn id="67" dur="1" fill="hold">
                                          <p:stCondLst>
                                            <p:cond delay="0"/>
                                          </p:stCondLst>
                                        </p:cTn>
                                        <p:tgtEl>
                                          <p:spTgt spid="90"/>
                                        </p:tgtEl>
                                        <p:attrNameLst>
                                          <p:attrName>style.visibility</p:attrName>
                                        </p:attrNameLst>
                                      </p:cBhvr>
                                      <p:to>
                                        <p:strVal val="visible"/>
                                      </p:to>
                                    </p:set>
                                    <p:animEffect transition="in" filter="wipe(left)">
                                      <p:cBhvr>
                                        <p:cTn id="68" dur="1000"/>
                                        <p:tgtEl>
                                          <p:spTgt spid="90"/>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8" fill="hold" nodeType="clickEffect">
                                  <p:stCondLst>
                                    <p:cond delay="0"/>
                                  </p:stCondLst>
                                  <p:childTnLst>
                                    <p:set>
                                      <p:cBhvr>
                                        <p:cTn id="72" dur="1" fill="hold">
                                          <p:stCondLst>
                                            <p:cond delay="0"/>
                                          </p:stCondLst>
                                        </p:cTn>
                                        <p:tgtEl>
                                          <p:spTgt spid="91"/>
                                        </p:tgtEl>
                                        <p:attrNameLst>
                                          <p:attrName>style.visibility</p:attrName>
                                        </p:attrNameLst>
                                      </p:cBhvr>
                                      <p:to>
                                        <p:strVal val="visible"/>
                                      </p:to>
                                    </p:set>
                                    <p:animEffect transition="in" filter="wipe(left)">
                                      <p:cBhvr>
                                        <p:cTn id="73" dur="1000"/>
                                        <p:tgtEl>
                                          <p:spTgt spid="91"/>
                                        </p:tgtEl>
                                      </p:cBhvr>
                                    </p:animEffect>
                                  </p:childTnLst>
                                </p:cTn>
                              </p:par>
                            </p:childTnLst>
                          </p:cTn>
                        </p:par>
                      </p:childTnLst>
                    </p:cTn>
                  </p:par>
                  <p:par>
                    <p:cTn id="74" fill="hold">
                      <p:stCondLst>
                        <p:cond delay="indefinite"/>
                      </p:stCondLst>
                      <p:childTnLst>
                        <p:par>
                          <p:cTn id="75" fill="hold">
                            <p:stCondLst>
                              <p:cond delay="0"/>
                            </p:stCondLst>
                            <p:childTnLst>
                              <p:par>
                                <p:cTn id="76" presetID="1" presetClass="entr" presetSubtype="0" fill="hold" grpId="0" nodeType="clickEffect">
                                  <p:stCondLst>
                                    <p:cond delay="0"/>
                                  </p:stCondLst>
                                  <p:childTnLst>
                                    <p:set>
                                      <p:cBhvr>
                                        <p:cTn id="77" dur="1" fill="hold">
                                          <p:stCondLst>
                                            <p:cond delay="0"/>
                                          </p:stCondLst>
                                        </p:cTn>
                                        <p:tgtEl>
                                          <p:spTgt spid="93"/>
                                        </p:tgtEl>
                                        <p:attrNameLst>
                                          <p:attrName>style.visibility</p:attrName>
                                        </p:attrNameLst>
                                      </p:cBhvr>
                                      <p:to>
                                        <p:strVal val="visible"/>
                                      </p:to>
                                    </p:se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nodeType="clickEffect">
                                  <p:stCondLst>
                                    <p:cond delay="0"/>
                                  </p:stCondLst>
                                  <p:childTnLst>
                                    <p:set>
                                      <p:cBhvr>
                                        <p:cTn id="81" dur="1" fill="hold">
                                          <p:stCondLst>
                                            <p:cond delay="0"/>
                                          </p:stCondLst>
                                        </p:cTn>
                                        <p:tgtEl>
                                          <p:spTgt spid="92"/>
                                        </p:tgtEl>
                                        <p:attrNameLst>
                                          <p:attrName>style.visibility</p:attrName>
                                        </p:attrNameLst>
                                      </p:cBhvr>
                                      <p:to>
                                        <p:strVal val="visible"/>
                                      </p:to>
                                    </p:set>
                                    <p:animEffect transition="in" filter="wipe(left)">
                                      <p:cBhvr>
                                        <p:cTn id="82" dur="1000"/>
                                        <p:tgtEl>
                                          <p:spTgt spid="92"/>
                                        </p:tgtEl>
                                      </p:cBhvr>
                                    </p:animEffec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94"/>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22" presetClass="entr" presetSubtype="8" fill="hold" nodeType="clickEffect">
                                  <p:stCondLst>
                                    <p:cond delay="0"/>
                                  </p:stCondLst>
                                  <p:childTnLst>
                                    <p:set>
                                      <p:cBhvr>
                                        <p:cTn id="90" dur="1" fill="hold">
                                          <p:stCondLst>
                                            <p:cond delay="0"/>
                                          </p:stCondLst>
                                        </p:cTn>
                                        <p:tgtEl>
                                          <p:spTgt spid="95"/>
                                        </p:tgtEl>
                                        <p:attrNameLst>
                                          <p:attrName>style.visibility</p:attrName>
                                        </p:attrNameLst>
                                      </p:cBhvr>
                                      <p:to>
                                        <p:strVal val="visible"/>
                                      </p:to>
                                    </p:set>
                                    <p:animEffect transition="in" filter="wipe(left)">
                                      <p:cBhvr>
                                        <p:cTn id="91" dur="3000"/>
                                        <p:tgtEl>
                                          <p:spTgt spid="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66" grpId="0" animBg="1"/>
      <p:bldP spid="66" grpId="1" animBg="1"/>
      <p:bldP spid="67" grpId="0" animBg="1"/>
      <p:bldP spid="76" grpId="0" animBg="1"/>
      <p:bldP spid="76" grpId="1" animBg="1"/>
      <p:bldP spid="77" grpId="0" animBg="1"/>
      <p:bldP spid="78" grpId="0"/>
      <p:bldP spid="83" grpId="0"/>
      <p:bldP spid="84" grpId="0"/>
      <p:bldP spid="85" grpId="0"/>
      <p:bldP spid="86" grpId="0" animBg="1"/>
      <p:bldP spid="87" grpId="0" animBg="1"/>
      <p:bldP spid="88" grpId="0" animBg="1"/>
      <p:bldP spid="93" grpId="0"/>
      <p:bldP spid="9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4653838"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第七章   动力学普遍定理</a:t>
            </a:r>
          </a:p>
        </p:txBody>
      </p:sp>
      <p:sp>
        <p:nvSpPr>
          <p:cNvPr id="9" name="Rectangle 61">
            <a:extLst>
              <a:ext uri="{FF2B5EF4-FFF2-40B4-BE49-F238E27FC236}">
                <a16:creationId xmlns:a16="http://schemas.microsoft.com/office/drawing/2014/main" id="{0C4CF67B-8CA2-F648-B364-D8C44A49A572}"/>
              </a:ext>
            </a:extLst>
          </p:cNvPr>
          <p:cNvSpPr>
            <a:spLocks noChangeArrowheads="1"/>
          </p:cNvSpPr>
          <p:nvPr/>
        </p:nvSpPr>
        <p:spPr bwMode="auto">
          <a:xfrm>
            <a:off x="8898731" y="842980"/>
            <a:ext cx="3200995" cy="5393935"/>
          </a:xfrm>
          <a:prstGeom prst="rect">
            <a:avLst/>
          </a:prstGeom>
          <a:solidFill>
            <a:srgbClr val="B9CDE5"/>
          </a:solidFill>
          <a:ln>
            <a:noFill/>
          </a:ln>
          <a:effectLst/>
        </p:spPr>
        <p:txBody>
          <a:bodyPr wrap="none" anchor="ctr"/>
          <a:lstStyle/>
          <a:p>
            <a:endParaRPr lang="zh-CN" altLang="en-US"/>
          </a:p>
        </p:txBody>
      </p:sp>
      <p:sp>
        <p:nvSpPr>
          <p:cNvPr id="64" name="矩形 63"/>
          <p:cNvSpPr/>
          <p:nvPr/>
        </p:nvSpPr>
        <p:spPr>
          <a:xfrm>
            <a:off x="191343" y="842981"/>
            <a:ext cx="8608318" cy="3194721"/>
          </a:xfrm>
          <a:prstGeom prst="rect">
            <a:avLst/>
          </a:prstGeom>
        </p:spPr>
        <p:txBody>
          <a:bodyPr wrap="square">
            <a:spAutoFit/>
          </a:bodyPr>
          <a:lstStyle/>
          <a:p>
            <a:pPr>
              <a:lnSpc>
                <a:spcPct val="120000"/>
              </a:lnSpc>
            </a:pPr>
            <a:r>
              <a:rPr lang="zh-CN" altLang="en-US" i="0" dirty="0">
                <a:solidFill>
                  <a:srgbClr val="0033CC"/>
                </a:solidFill>
                <a:ea typeface="黑体" panose="02010609060101010101" pitchFamily="49" charset="-122"/>
              </a:rPr>
              <a:t>例   </a:t>
            </a:r>
            <a:r>
              <a:rPr lang="zh-CN" altLang="en-US" i="0" dirty="0">
                <a:solidFill>
                  <a:schemeClr val="tx1"/>
                </a:solidFill>
                <a:latin typeface="+mn-lt"/>
                <a:ea typeface="黑体" panose="02010609060101010101" pitchFamily="49" charset="-122"/>
              </a:rPr>
              <a:t>图示的调速器中，长为</a:t>
            </a:r>
            <a:r>
              <a:rPr lang="en-US" altLang="zh-CN" b="0" i="0" dirty="0">
                <a:solidFill>
                  <a:schemeClr val="tx1"/>
                </a:solidFill>
                <a:latin typeface="+mn-lt"/>
                <a:ea typeface="黑体" panose="02010609060101010101" pitchFamily="49" charset="-122"/>
              </a:rPr>
              <a:t>2</a:t>
            </a:r>
            <a:r>
              <a:rPr lang="en-US" altLang="zh-CN" b="0" dirty="0">
                <a:solidFill>
                  <a:schemeClr val="tx1"/>
                </a:solidFill>
                <a:latin typeface="+mn-lt"/>
                <a:ea typeface="黑体" panose="02010609060101010101" pitchFamily="49" charset="-122"/>
              </a:rPr>
              <a:t>a</a:t>
            </a:r>
            <a:r>
              <a:rPr lang="zh-CN" altLang="en-US" i="0" dirty="0">
                <a:solidFill>
                  <a:schemeClr val="tx1"/>
                </a:solidFill>
                <a:latin typeface="+mn-lt"/>
                <a:ea typeface="黑体" panose="02010609060101010101" pitchFamily="49" charset="-122"/>
              </a:rPr>
              <a:t>的水平杆</a:t>
            </a:r>
            <a:r>
              <a:rPr lang="en-US" altLang="zh-CN" b="0" dirty="0">
                <a:solidFill>
                  <a:schemeClr val="tx1"/>
                </a:solidFill>
                <a:latin typeface="+mn-lt"/>
                <a:ea typeface="黑体" panose="02010609060101010101" pitchFamily="49" charset="-122"/>
              </a:rPr>
              <a:t>AB</a:t>
            </a:r>
            <a:r>
              <a:rPr lang="zh-CN" altLang="en-US" i="0" dirty="0">
                <a:solidFill>
                  <a:schemeClr val="tx1"/>
                </a:solidFill>
                <a:latin typeface="+mn-lt"/>
                <a:ea typeface="黑体" panose="02010609060101010101" pitchFamily="49" charset="-122"/>
              </a:rPr>
              <a:t>与铅垂轴固连，并绕</a:t>
            </a:r>
            <a:r>
              <a:rPr lang="en-US" altLang="zh-CN" b="0" dirty="0">
                <a:solidFill>
                  <a:schemeClr val="tx1"/>
                </a:solidFill>
                <a:latin typeface="+mn-lt"/>
                <a:ea typeface="黑体" panose="02010609060101010101" pitchFamily="49" charset="-122"/>
              </a:rPr>
              <a:t>z</a:t>
            </a:r>
            <a:r>
              <a:rPr lang="zh-CN" altLang="en-US" i="0" dirty="0">
                <a:solidFill>
                  <a:schemeClr val="tx1"/>
                </a:solidFill>
                <a:latin typeface="+mn-lt"/>
                <a:ea typeface="黑体" panose="02010609060101010101" pitchFamily="49" charset="-122"/>
              </a:rPr>
              <a:t>轴转动。其两端用铰链与长为 </a:t>
            </a:r>
            <a:r>
              <a:rPr lang="en-US" altLang="zh-CN" b="0" dirty="0">
                <a:solidFill>
                  <a:schemeClr val="tx1"/>
                </a:solidFill>
                <a:latin typeface="+mn-lt"/>
                <a:ea typeface="黑体" panose="02010609060101010101" pitchFamily="49" charset="-122"/>
              </a:rPr>
              <a:t>l</a:t>
            </a:r>
            <a:r>
              <a:rPr lang="zh-CN" altLang="en-US" i="0" dirty="0">
                <a:solidFill>
                  <a:schemeClr val="tx1"/>
                </a:solidFill>
                <a:latin typeface="+mn-lt"/>
                <a:ea typeface="黑体" panose="02010609060101010101" pitchFamily="49" charset="-122"/>
              </a:rPr>
              <a:t>的细杆 </a:t>
            </a:r>
            <a:r>
              <a:rPr lang="en-US" altLang="zh-CN" b="0" dirty="0">
                <a:solidFill>
                  <a:schemeClr val="tx1"/>
                </a:solidFill>
                <a:latin typeface="+mn-lt"/>
                <a:ea typeface="黑体" panose="02010609060101010101" pitchFamily="49" charset="-122"/>
              </a:rPr>
              <a:t>AC</a:t>
            </a:r>
            <a:r>
              <a:rPr lang="zh-CN" altLang="en-US" i="0" dirty="0">
                <a:solidFill>
                  <a:schemeClr val="tx1"/>
                </a:solidFill>
                <a:latin typeface="+mn-lt"/>
                <a:ea typeface="黑体" panose="02010609060101010101" pitchFamily="49" charset="-122"/>
              </a:rPr>
              <a:t>、</a:t>
            </a:r>
            <a:r>
              <a:rPr lang="en-US" altLang="zh-CN" b="0" dirty="0">
                <a:solidFill>
                  <a:schemeClr val="tx1"/>
                </a:solidFill>
                <a:latin typeface="+mn-lt"/>
                <a:ea typeface="黑体" panose="02010609060101010101" pitchFamily="49" charset="-122"/>
              </a:rPr>
              <a:t>BD</a:t>
            </a:r>
            <a:r>
              <a:rPr lang="zh-CN" altLang="en-US" i="0" dirty="0">
                <a:solidFill>
                  <a:schemeClr val="tx1"/>
                </a:solidFill>
                <a:latin typeface="+mn-lt"/>
                <a:ea typeface="黑体" panose="02010609060101010101" pitchFamily="49" charset="-122"/>
              </a:rPr>
              <a:t>相连，细杆端部各有一重力为</a:t>
            </a:r>
            <a:r>
              <a:rPr lang="en-US" altLang="zh-CN" dirty="0">
                <a:solidFill>
                  <a:schemeClr val="tx1"/>
                </a:solidFill>
                <a:latin typeface="+mn-lt"/>
                <a:ea typeface="黑体" panose="02010609060101010101" pitchFamily="49" charset="-122"/>
              </a:rPr>
              <a:t>G</a:t>
            </a:r>
            <a:r>
              <a:rPr lang="zh-CN" altLang="en-US" i="0" dirty="0">
                <a:solidFill>
                  <a:schemeClr val="tx1"/>
                </a:solidFill>
                <a:latin typeface="+mn-lt"/>
                <a:ea typeface="黑体" panose="02010609060101010101" pitchFamily="49" charset="-122"/>
              </a:rPr>
              <a:t>的球。起初两球用线相连，杆</a:t>
            </a:r>
            <a:r>
              <a:rPr lang="en-US" altLang="zh-CN" b="0" dirty="0">
                <a:solidFill>
                  <a:schemeClr val="tx1"/>
                </a:solidFill>
                <a:latin typeface="+mn-lt"/>
                <a:ea typeface="黑体" panose="02010609060101010101" pitchFamily="49" charset="-122"/>
              </a:rPr>
              <a:t>AC</a:t>
            </a:r>
            <a:r>
              <a:rPr lang="zh-CN" altLang="en-US" i="0" dirty="0">
                <a:solidFill>
                  <a:schemeClr val="tx1"/>
                </a:solidFill>
                <a:latin typeface="+mn-lt"/>
                <a:ea typeface="黑体" panose="02010609060101010101" pitchFamily="49" charset="-122"/>
              </a:rPr>
              <a:t>、</a:t>
            </a:r>
            <a:r>
              <a:rPr lang="en-US" altLang="zh-CN" b="0" dirty="0">
                <a:solidFill>
                  <a:schemeClr val="tx1"/>
                </a:solidFill>
                <a:latin typeface="+mn-lt"/>
                <a:ea typeface="黑体" panose="02010609060101010101" pitchFamily="49" charset="-122"/>
              </a:rPr>
              <a:t>BD</a:t>
            </a:r>
            <a:r>
              <a:rPr lang="zh-CN" altLang="en-US" i="0" dirty="0">
                <a:solidFill>
                  <a:schemeClr val="tx1"/>
                </a:solidFill>
                <a:latin typeface="+mn-lt"/>
                <a:ea typeface="黑体" panose="02010609060101010101" pitchFamily="49" charset="-122"/>
              </a:rPr>
              <a:t>位于铅垂位置。</a:t>
            </a:r>
            <a:r>
              <a:rPr lang="en-US" altLang="zh-CN" dirty="0"/>
              <a:t> </a:t>
            </a:r>
            <a:r>
              <a:rPr lang="zh-CN" altLang="en-US" i="0" dirty="0">
                <a:solidFill>
                  <a:schemeClr val="tx1"/>
                </a:solidFill>
                <a:latin typeface="+mn-lt"/>
                <a:ea typeface="黑体" panose="02010609060101010101" pitchFamily="49" charset="-122"/>
              </a:rPr>
              <a:t>当机构以角速度</a:t>
            </a:r>
            <a:r>
              <a:rPr lang="zh-CN" altLang="en-US" b="0" dirty="0">
                <a:solidFill>
                  <a:schemeClr val="tx1"/>
                </a:solidFill>
                <a:latin typeface="+mn-lt"/>
                <a:ea typeface="黑体" panose="02010609060101010101" pitchFamily="49" charset="-122"/>
                <a:sym typeface="Symbol" panose="05050102010706020507" pitchFamily="18" charset="2"/>
              </a:rPr>
              <a:t></a:t>
            </a:r>
            <a:r>
              <a:rPr lang="en-US" altLang="zh-CN" i="0" baseline="-25000" dirty="0">
                <a:solidFill>
                  <a:schemeClr val="tx1"/>
                </a:solidFill>
                <a:latin typeface="+mn-lt"/>
                <a:ea typeface="黑体" panose="02010609060101010101" pitchFamily="49" charset="-122"/>
                <a:sym typeface="Symbol" panose="05050102010706020507" pitchFamily="18" charset="2"/>
              </a:rPr>
              <a:t>0</a:t>
            </a:r>
            <a:r>
              <a:rPr lang="zh-CN" altLang="en-US" i="0" dirty="0">
                <a:solidFill>
                  <a:schemeClr val="tx1"/>
                </a:solidFill>
                <a:latin typeface="+mn-lt"/>
                <a:ea typeface="黑体" panose="02010609060101010101" pitchFamily="49" charset="-122"/>
              </a:rPr>
              <a:t>绕铅直轴转动时，线被拉断。此后，杆</a:t>
            </a:r>
            <a:r>
              <a:rPr lang="en-US" altLang="zh-CN" b="0" dirty="0">
                <a:solidFill>
                  <a:schemeClr val="tx1"/>
                </a:solidFill>
                <a:latin typeface="+mn-lt"/>
                <a:ea typeface="黑体" panose="02010609060101010101" pitchFamily="49" charset="-122"/>
              </a:rPr>
              <a:t>AC</a:t>
            </a:r>
            <a:r>
              <a:rPr lang="zh-CN" altLang="en-US" i="0" dirty="0">
                <a:solidFill>
                  <a:schemeClr val="tx1"/>
                </a:solidFill>
                <a:latin typeface="+mn-lt"/>
                <a:ea typeface="黑体" panose="02010609060101010101" pitchFamily="49" charset="-122"/>
              </a:rPr>
              <a:t>、</a:t>
            </a:r>
            <a:r>
              <a:rPr lang="en-US" altLang="zh-CN" b="0" dirty="0">
                <a:solidFill>
                  <a:schemeClr val="tx1"/>
                </a:solidFill>
                <a:latin typeface="+mn-lt"/>
                <a:ea typeface="黑体" panose="02010609060101010101" pitchFamily="49" charset="-122"/>
              </a:rPr>
              <a:t>BD</a:t>
            </a:r>
            <a:r>
              <a:rPr lang="zh-CN" altLang="en-US" i="0" dirty="0">
                <a:solidFill>
                  <a:schemeClr val="tx1"/>
                </a:solidFill>
                <a:latin typeface="+mn-lt"/>
                <a:ea typeface="黑体" panose="02010609060101010101" pitchFamily="49" charset="-122"/>
              </a:rPr>
              <a:t>各与铅垂线成</a:t>
            </a:r>
            <a:r>
              <a:rPr lang="zh-CN" altLang="en-US" b="0" dirty="0">
                <a:solidFill>
                  <a:schemeClr val="tx1"/>
                </a:solidFill>
                <a:latin typeface="+mn-lt"/>
                <a:ea typeface="黑体" panose="02010609060101010101" pitchFamily="49" charset="-122"/>
                <a:sym typeface="Symbol" panose="05050102010706020507" pitchFamily="18" charset="2"/>
              </a:rPr>
              <a:t></a:t>
            </a:r>
            <a:r>
              <a:rPr lang="zh-CN" altLang="en-US" i="0" dirty="0">
                <a:solidFill>
                  <a:schemeClr val="tx1"/>
                </a:solidFill>
                <a:latin typeface="+mn-lt"/>
                <a:ea typeface="黑体" panose="02010609060101010101" pitchFamily="49" charset="-122"/>
              </a:rPr>
              <a:t>角。若不计各杆重力，且此时转轴不受外力矩作用，求此系统的角速度</a:t>
            </a:r>
            <a:r>
              <a:rPr lang="zh-CN" altLang="en-US" b="0" dirty="0">
                <a:solidFill>
                  <a:schemeClr val="tx1"/>
                </a:solidFill>
                <a:latin typeface="+mn-lt"/>
                <a:ea typeface="黑体" panose="02010609060101010101" pitchFamily="49" charset="-122"/>
                <a:sym typeface="Symbol" panose="05050102010706020507" pitchFamily="18" charset="2"/>
              </a:rPr>
              <a:t></a:t>
            </a:r>
            <a:r>
              <a:rPr lang="zh-CN" altLang="en-US" i="0" dirty="0">
                <a:solidFill>
                  <a:schemeClr val="tx1"/>
                </a:solidFill>
                <a:latin typeface="+mn-lt"/>
                <a:ea typeface="黑体" panose="02010609060101010101" pitchFamily="49" charset="-122"/>
              </a:rPr>
              <a:t>。 </a:t>
            </a:r>
          </a:p>
          <a:p>
            <a:pPr>
              <a:lnSpc>
                <a:spcPct val="120000"/>
              </a:lnSpc>
            </a:pPr>
            <a:endParaRPr lang="zh-CN" altLang="en-US" i="0" dirty="0">
              <a:solidFill>
                <a:schemeClr val="tx1"/>
              </a:solidFill>
              <a:latin typeface="+mn-lt"/>
              <a:ea typeface="黑体" panose="02010609060101010101" pitchFamily="49" charset="-122"/>
            </a:endParaRPr>
          </a:p>
        </p:txBody>
      </p:sp>
      <p:sp>
        <p:nvSpPr>
          <p:cNvPr id="98" name="Arc 10"/>
          <p:cNvSpPr>
            <a:spLocks noChangeAspect="1"/>
          </p:cNvSpPr>
          <p:nvPr/>
        </p:nvSpPr>
        <p:spPr bwMode="auto">
          <a:xfrm rot="662529" flipV="1">
            <a:off x="10264279" y="1359011"/>
            <a:ext cx="595312" cy="465137"/>
          </a:xfrm>
          <a:custGeom>
            <a:avLst/>
            <a:gdLst>
              <a:gd name="G0" fmla="+- 8450 0 0"/>
              <a:gd name="G1" fmla="+- 21600 0 0"/>
              <a:gd name="G2" fmla="+- 21600 0 0"/>
              <a:gd name="T0" fmla="*/ 0 w 27703"/>
              <a:gd name="T1" fmla="*/ 1722 h 21600"/>
              <a:gd name="T2" fmla="*/ 27703 w 27703"/>
              <a:gd name="T3" fmla="*/ 11808 h 21600"/>
              <a:gd name="T4" fmla="*/ 8450 w 27703"/>
              <a:gd name="T5" fmla="*/ 21600 h 21600"/>
            </a:gdLst>
            <a:ahLst/>
            <a:cxnLst>
              <a:cxn ang="0">
                <a:pos x="T0" y="T1"/>
              </a:cxn>
              <a:cxn ang="0">
                <a:pos x="T2" y="T3"/>
              </a:cxn>
              <a:cxn ang="0">
                <a:pos x="T4" y="T5"/>
              </a:cxn>
            </a:cxnLst>
            <a:rect l="0" t="0" r="r" b="b"/>
            <a:pathLst>
              <a:path w="27703" h="21600" fill="none" extrusionOk="0">
                <a:moveTo>
                  <a:pt x="-1" y="1721"/>
                </a:moveTo>
                <a:cubicBezTo>
                  <a:pt x="2672" y="585"/>
                  <a:pt x="5546" y="-1"/>
                  <a:pt x="8450" y="0"/>
                </a:cubicBezTo>
                <a:cubicBezTo>
                  <a:pt x="16578" y="0"/>
                  <a:pt x="24018" y="4563"/>
                  <a:pt x="27702" y="11808"/>
                </a:cubicBezTo>
              </a:path>
              <a:path w="27703" h="21600" stroke="0" extrusionOk="0">
                <a:moveTo>
                  <a:pt x="-1" y="1721"/>
                </a:moveTo>
                <a:cubicBezTo>
                  <a:pt x="2672" y="585"/>
                  <a:pt x="5546" y="-1"/>
                  <a:pt x="8450" y="0"/>
                </a:cubicBezTo>
                <a:cubicBezTo>
                  <a:pt x="16578" y="0"/>
                  <a:pt x="24018" y="4563"/>
                  <a:pt x="27702" y="11808"/>
                </a:cubicBezTo>
                <a:lnTo>
                  <a:pt x="8450" y="21600"/>
                </a:lnTo>
                <a:close/>
              </a:path>
            </a:pathLst>
          </a:custGeom>
          <a:noFill/>
          <a:ln w="28575">
            <a:solidFill>
              <a:schemeClr val="tx1"/>
            </a:solidFill>
            <a:round/>
            <a:headEnd/>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9" name="Text Box 11"/>
          <p:cNvSpPr txBox="1">
            <a:spLocks noChangeAspect="1" noChangeArrowheads="1"/>
          </p:cNvSpPr>
          <p:nvPr/>
        </p:nvSpPr>
        <p:spPr bwMode="auto">
          <a:xfrm>
            <a:off x="10632579" y="1590786"/>
            <a:ext cx="533400" cy="49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b="0" i="1" dirty="0">
                <a:ea typeface="宋体" panose="02010600030101010101" pitchFamily="2" charset="-122"/>
                <a:sym typeface="Symbol" panose="05050102010706020507" pitchFamily="18" charset="2"/>
              </a:rPr>
              <a:t></a:t>
            </a:r>
            <a:r>
              <a:rPr lang="en-US" altLang="zh-CN" i="0" baseline="-25000" dirty="0">
                <a:sym typeface="Symbol" panose="05050102010706020507" pitchFamily="18" charset="2"/>
              </a:rPr>
              <a:t>0</a:t>
            </a:r>
          </a:p>
        </p:txBody>
      </p:sp>
      <p:sp>
        <p:nvSpPr>
          <p:cNvPr id="101" name="Line 13"/>
          <p:cNvSpPr>
            <a:spLocks noChangeShapeType="1"/>
          </p:cNvSpPr>
          <p:nvPr/>
        </p:nvSpPr>
        <p:spPr bwMode="auto">
          <a:xfrm flipV="1">
            <a:off x="10584954" y="836723"/>
            <a:ext cx="0" cy="2639608"/>
          </a:xfrm>
          <a:prstGeom prst="line">
            <a:avLst/>
          </a:prstGeom>
          <a:noFill/>
          <a:ln w="3810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02" name="Text Box 14"/>
          <p:cNvSpPr txBox="1">
            <a:spLocks noChangeAspect="1" noChangeArrowheads="1"/>
          </p:cNvSpPr>
          <p:nvPr/>
        </p:nvSpPr>
        <p:spPr bwMode="auto">
          <a:xfrm>
            <a:off x="10557967" y="641461"/>
            <a:ext cx="417513" cy="6397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sz="3200" b="0" i="1" dirty="0">
                <a:ea typeface="宋体" panose="02010600030101010101" pitchFamily="2" charset="-122"/>
              </a:rPr>
              <a:t>z</a:t>
            </a:r>
          </a:p>
        </p:txBody>
      </p:sp>
      <p:grpSp>
        <p:nvGrpSpPr>
          <p:cNvPr id="103" name="Group 15"/>
          <p:cNvGrpSpPr>
            <a:grpSpLocks/>
          </p:cNvGrpSpPr>
          <p:nvPr/>
        </p:nvGrpSpPr>
        <p:grpSpPr bwMode="auto">
          <a:xfrm>
            <a:off x="10664329" y="1158986"/>
            <a:ext cx="123825" cy="249237"/>
            <a:chOff x="4582" y="1423"/>
            <a:chExt cx="78" cy="157"/>
          </a:xfrm>
        </p:grpSpPr>
        <p:sp>
          <p:nvSpPr>
            <p:cNvPr id="119" name="Rectangle 16" descr="宽上对角线"/>
            <p:cNvSpPr>
              <a:spLocks noChangeArrowheads="1"/>
            </p:cNvSpPr>
            <p:nvPr/>
          </p:nvSpPr>
          <p:spPr bwMode="auto">
            <a:xfrm>
              <a:off x="4599" y="1423"/>
              <a:ext cx="61" cy="157"/>
            </a:xfrm>
            <a:prstGeom prst="rect">
              <a:avLst/>
            </a:prstGeom>
            <a:pattFill prst="wdUpDiag">
              <a:fgClr>
                <a:schemeClr val="tx2"/>
              </a:fgClr>
              <a:bgClr>
                <a:schemeClr val="bg1"/>
              </a:bgClr>
            </a:patt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0" name="Line 17"/>
            <p:cNvSpPr>
              <a:spLocks noChangeShapeType="1"/>
            </p:cNvSpPr>
            <p:nvPr/>
          </p:nvSpPr>
          <p:spPr bwMode="auto">
            <a:xfrm>
              <a:off x="4582" y="1423"/>
              <a:ext cx="0" cy="157"/>
            </a:xfrm>
            <a:prstGeom prst="line">
              <a:avLst/>
            </a:prstGeom>
            <a:noFill/>
            <a:ln w="381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04" name="Group 18"/>
          <p:cNvGrpSpPr>
            <a:grpSpLocks/>
          </p:cNvGrpSpPr>
          <p:nvPr/>
        </p:nvGrpSpPr>
        <p:grpSpPr bwMode="auto">
          <a:xfrm>
            <a:off x="10659567" y="2962978"/>
            <a:ext cx="123825" cy="249237"/>
            <a:chOff x="4582" y="1423"/>
            <a:chExt cx="78" cy="157"/>
          </a:xfrm>
        </p:grpSpPr>
        <p:sp>
          <p:nvSpPr>
            <p:cNvPr id="117" name="Rectangle 19" descr="宽上对角线"/>
            <p:cNvSpPr>
              <a:spLocks noChangeArrowheads="1"/>
            </p:cNvSpPr>
            <p:nvPr/>
          </p:nvSpPr>
          <p:spPr bwMode="auto">
            <a:xfrm>
              <a:off x="4599" y="1423"/>
              <a:ext cx="61" cy="157"/>
            </a:xfrm>
            <a:prstGeom prst="rect">
              <a:avLst/>
            </a:prstGeom>
            <a:pattFill prst="wdUpDiag">
              <a:fgClr>
                <a:schemeClr val="tx2"/>
              </a:fgClr>
              <a:bgClr>
                <a:schemeClr val="bg1"/>
              </a:bgClr>
            </a:patt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8" name="Line 20"/>
            <p:cNvSpPr>
              <a:spLocks noChangeShapeType="1"/>
            </p:cNvSpPr>
            <p:nvPr/>
          </p:nvSpPr>
          <p:spPr bwMode="auto">
            <a:xfrm>
              <a:off x="4582" y="1423"/>
              <a:ext cx="0" cy="157"/>
            </a:xfrm>
            <a:prstGeom prst="line">
              <a:avLst/>
            </a:prstGeom>
            <a:noFill/>
            <a:ln w="381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05" name="Group 21"/>
          <p:cNvGrpSpPr>
            <a:grpSpLocks/>
          </p:cNvGrpSpPr>
          <p:nvPr/>
        </p:nvGrpSpPr>
        <p:grpSpPr bwMode="auto">
          <a:xfrm flipH="1">
            <a:off x="10380167" y="1157398"/>
            <a:ext cx="123825" cy="249237"/>
            <a:chOff x="4582" y="1423"/>
            <a:chExt cx="78" cy="157"/>
          </a:xfrm>
        </p:grpSpPr>
        <p:sp>
          <p:nvSpPr>
            <p:cNvPr id="115" name="Rectangle 22" descr="宽上对角线"/>
            <p:cNvSpPr>
              <a:spLocks noChangeArrowheads="1"/>
            </p:cNvSpPr>
            <p:nvPr/>
          </p:nvSpPr>
          <p:spPr bwMode="auto">
            <a:xfrm>
              <a:off x="4599" y="1423"/>
              <a:ext cx="61" cy="157"/>
            </a:xfrm>
            <a:prstGeom prst="rect">
              <a:avLst/>
            </a:prstGeom>
            <a:pattFill prst="wdUpDiag">
              <a:fgClr>
                <a:schemeClr val="tx2"/>
              </a:fgClr>
              <a:bgClr>
                <a:schemeClr val="bg1"/>
              </a:bgClr>
            </a:patt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6" name="Line 23"/>
            <p:cNvSpPr>
              <a:spLocks noChangeShapeType="1"/>
            </p:cNvSpPr>
            <p:nvPr/>
          </p:nvSpPr>
          <p:spPr bwMode="auto">
            <a:xfrm>
              <a:off x="4582" y="1423"/>
              <a:ext cx="0" cy="157"/>
            </a:xfrm>
            <a:prstGeom prst="line">
              <a:avLst/>
            </a:prstGeom>
            <a:noFill/>
            <a:ln w="381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06" name="Group 24"/>
          <p:cNvGrpSpPr>
            <a:grpSpLocks/>
          </p:cNvGrpSpPr>
          <p:nvPr/>
        </p:nvGrpSpPr>
        <p:grpSpPr bwMode="auto">
          <a:xfrm flipH="1">
            <a:off x="10388104" y="2970915"/>
            <a:ext cx="123825" cy="249237"/>
            <a:chOff x="4582" y="1423"/>
            <a:chExt cx="78" cy="157"/>
          </a:xfrm>
        </p:grpSpPr>
        <p:sp>
          <p:nvSpPr>
            <p:cNvPr id="113" name="Rectangle 25" descr="宽上对角线"/>
            <p:cNvSpPr>
              <a:spLocks noChangeArrowheads="1"/>
            </p:cNvSpPr>
            <p:nvPr/>
          </p:nvSpPr>
          <p:spPr bwMode="auto">
            <a:xfrm>
              <a:off x="4599" y="1423"/>
              <a:ext cx="61" cy="157"/>
            </a:xfrm>
            <a:prstGeom prst="rect">
              <a:avLst/>
            </a:prstGeom>
            <a:pattFill prst="wdUpDiag">
              <a:fgClr>
                <a:schemeClr val="tx2"/>
              </a:fgClr>
              <a:bgClr>
                <a:schemeClr val="bg1"/>
              </a:bgClr>
            </a:patt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4" name="Line 26"/>
            <p:cNvSpPr>
              <a:spLocks noChangeShapeType="1"/>
            </p:cNvSpPr>
            <p:nvPr/>
          </p:nvSpPr>
          <p:spPr bwMode="auto">
            <a:xfrm>
              <a:off x="4582" y="1423"/>
              <a:ext cx="0" cy="157"/>
            </a:xfrm>
            <a:prstGeom prst="line">
              <a:avLst/>
            </a:prstGeom>
            <a:noFill/>
            <a:ln w="381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07" name="Group 27"/>
          <p:cNvGrpSpPr>
            <a:grpSpLocks/>
          </p:cNvGrpSpPr>
          <p:nvPr/>
        </p:nvGrpSpPr>
        <p:grpSpPr bwMode="auto">
          <a:xfrm>
            <a:off x="10659567" y="2052748"/>
            <a:ext cx="123825" cy="249237"/>
            <a:chOff x="4582" y="1423"/>
            <a:chExt cx="78" cy="157"/>
          </a:xfrm>
        </p:grpSpPr>
        <p:sp>
          <p:nvSpPr>
            <p:cNvPr id="111" name="Rectangle 28" descr="宽上对角线"/>
            <p:cNvSpPr>
              <a:spLocks noChangeArrowheads="1"/>
            </p:cNvSpPr>
            <p:nvPr/>
          </p:nvSpPr>
          <p:spPr bwMode="auto">
            <a:xfrm>
              <a:off x="4599" y="1423"/>
              <a:ext cx="61" cy="157"/>
            </a:xfrm>
            <a:prstGeom prst="rect">
              <a:avLst/>
            </a:prstGeom>
            <a:pattFill prst="wdUpDiag">
              <a:fgClr>
                <a:schemeClr val="tx2"/>
              </a:fgClr>
              <a:bgClr>
                <a:schemeClr val="bg1"/>
              </a:bgClr>
            </a:patt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 name="Line 29"/>
            <p:cNvSpPr>
              <a:spLocks noChangeShapeType="1"/>
            </p:cNvSpPr>
            <p:nvPr/>
          </p:nvSpPr>
          <p:spPr bwMode="auto">
            <a:xfrm>
              <a:off x="4582" y="1423"/>
              <a:ext cx="0" cy="157"/>
            </a:xfrm>
            <a:prstGeom prst="line">
              <a:avLst/>
            </a:prstGeom>
            <a:noFill/>
            <a:ln w="381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08" name="Group 30"/>
          <p:cNvGrpSpPr>
            <a:grpSpLocks/>
          </p:cNvGrpSpPr>
          <p:nvPr/>
        </p:nvGrpSpPr>
        <p:grpSpPr bwMode="auto">
          <a:xfrm flipH="1">
            <a:off x="10375404" y="2051161"/>
            <a:ext cx="123825" cy="249237"/>
            <a:chOff x="4582" y="1423"/>
            <a:chExt cx="78" cy="157"/>
          </a:xfrm>
        </p:grpSpPr>
        <p:sp>
          <p:nvSpPr>
            <p:cNvPr id="109" name="Rectangle 31" descr="宽上对角线"/>
            <p:cNvSpPr>
              <a:spLocks noChangeArrowheads="1"/>
            </p:cNvSpPr>
            <p:nvPr/>
          </p:nvSpPr>
          <p:spPr bwMode="auto">
            <a:xfrm>
              <a:off x="4599" y="1423"/>
              <a:ext cx="61" cy="157"/>
            </a:xfrm>
            <a:prstGeom prst="rect">
              <a:avLst/>
            </a:prstGeom>
            <a:pattFill prst="wdUpDiag">
              <a:fgClr>
                <a:schemeClr val="tx2"/>
              </a:fgClr>
              <a:bgClr>
                <a:schemeClr val="bg1"/>
              </a:bgClr>
            </a:patt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 name="Line 32"/>
            <p:cNvSpPr>
              <a:spLocks noChangeShapeType="1"/>
            </p:cNvSpPr>
            <p:nvPr/>
          </p:nvSpPr>
          <p:spPr bwMode="auto">
            <a:xfrm>
              <a:off x="4582" y="1423"/>
              <a:ext cx="0" cy="157"/>
            </a:xfrm>
            <a:prstGeom prst="line">
              <a:avLst/>
            </a:prstGeom>
            <a:noFill/>
            <a:ln w="381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22" name="Line 34"/>
          <p:cNvSpPr>
            <a:spLocks noChangeShapeType="1"/>
          </p:cNvSpPr>
          <p:nvPr/>
        </p:nvSpPr>
        <p:spPr bwMode="auto">
          <a:xfrm>
            <a:off x="9997579" y="1533253"/>
            <a:ext cx="117633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23" name="Line 35"/>
          <p:cNvSpPr>
            <a:spLocks noChangeShapeType="1"/>
          </p:cNvSpPr>
          <p:nvPr/>
        </p:nvSpPr>
        <p:spPr bwMode="auto">
          <a:xfrm>
            <a:off x="9999166" y="1547540"/>
            <a:ext cx="0" cy="122713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4" name="Line 36"/>
          <p:cNvSpPr>
            <a:spLocks noChangeShapeType="1"/>
          </p:cNvSpPr>
          <p:nvPr/>
        </p:nvSpPr>
        <p:spPr bwMode="auto">
          <a:xfrm>
            <a:off x="11142166" y="1541190"/>
            <a:ext cx="0" cy="123348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5" name="Line 37"/>
          <p:cNvSpPr>
            <a:spLocks noChangeShapeType="1"/>
          </p:cNvSpPr>
          <p:nvPr/>
        </p:nvSpPr>
        <p:spPr bwMode="auto">
          <a:xfrm>
            <a:off x="9984879" y="2798469"/>
            <a:ext cx="1163638" cy="0"/>
          </a:xfrm>
          <a:prstGeom prst="line">
            <a:avLst/>
          </a:prstGeom>
          <a:noFill/>
          <a:ln w="9525">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6" name="Oval 38"/>
          <p:cNvSpPr>
            <a:spLocks noChangeArrowheads="1"/>
          </p:cNvSpPr>
          <p:nvPr/>
        </p:nvSpPr>
        <p:spPr bwMode="auto">
          <a:xfrm>
            <a:off x="11010404" y="2673056"/>
            <a:ext cx="277813" cy="277813"/>
          </a:xfrm>
          <a:prstGeom prst="ellipse">
            <a:avLst/>
          </a:prstGeom>
          <a:gradFill rotWithShape="1">
            <a:gsLst>
              <a:gs pos="0">
                <a:srgbClr val="FF0000">
                  <a:gamma/>
                  <a:tint val="44314"/>
                  <a:invGamma/>
                </a:srgbClr>
              </a:gs>
              <a:gs pos="100000">
                <a:srgbClr val="FF0000"/>
              </a:gs>
            </a:gsLst>
            <a:path path="shape">
              <a:fillToRect l="50000" t="50000" r="50000" b="50000"/>
            </a:path>
          </a:gra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7" name="Oval 39"/>
          <p:cNvSpPr>
            <a:spLocks noChangeArrowheads="1"/>
          </p:cNvSpPr>
          <p:nvPr/>
        </p:nvSpPr>
        <p:spPr bwMode="auto">
          <a:xfrm>
            <a:off x="9840416" y="2666706"/>
            <a:ext cx="277813" cy="277813"/>
          </a:xfrm>
          <a:prstGeom prst="ellipse">
            <a:avLst/>
          </a:prstGeom>
          <a:gradFill rotWithShape="1">
            <a:gsLst>
              <a:gs pos="0">
                <a:srgbClr val="FF0000">
                  <a:gamma/>
                  <a:tint val="44314"/>
                  <a:invGamma/>
                </a:srgbClr>
              </a:gs>
              <a:gs pos="100000">
                <a:srgbClr val="FF0000"/>
              </a:gs>
            </a:gsLst>
            <a:path path="shape">
              <a:fillToRect l="50000" t="50000" r="50000" b="50000"/>
            </a:path>
          </a:gra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8" name="Oval 40"/>
          <p:cNvSpPr>
            <a:spLocks noChangeArrowheads="1"/>
          </p:cNvSpPr>
          <p:nvPr/>
        </p:nvSpPr>
        <p:spPr bwMode="auto">
          <a:xfrm>
            <a:off x="9940429" y="1464990"/>
            <a:ext cx="117475" cy="117475"/>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9" name="Oval 41"/>
          <p:cNvSpPr>
            <a:spLocks noChangeArrowheads="1"/>
          </p:cNvSpPr>
          <p:nvPr/>
        </p:nvSpPr>
        <p:spPr bwMode="auto">
          <a:xfrm>
            <a:off x="11097716" y="1472928"/>
            <a:ext cx="117475" cy="117475"/>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0" name="Text Box 81"/>
          <p:cNvSpPr txBox="1">
            <a:spLocks noChangeAspect="1" noChangeArrowheads="1"/>
          </p:cNvSpPr>
          <p:nvPr/>
        </p:nvSpPr>
        <p:spPr bwMode="auto">
          <a:xfrm>
            <a:off x="9651504" y="3233156"/>
            <a:ext cx="338137" cy="463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r>
              <a:rPr lang="en-US" altLang="zh-CN" b="1" i="1" dirty="0">
                <a:solidFill>
                  <a:srgbClr val="FFFF00"/>
                </a:solidFill>
                <a:ea typeface="宋体" panose="02010600030101010101" pitchFamily="2" charset="-122"/>
              </a:rPr>
              <a:t>G</a:t>
            </a:r>
            <a:endParaRPr lang="en-US" altLang="zh-CN" baseline="-25000" dirty="0">
              <a:solidFill>
                <a:srgbClr val="FFFF00"/>
              </a:solidFill>
              <a:ea typeface="宋体" panose="02010600030101010101" pitchFamily="2" charset="-122"/>
              <a:sym typeface="Symbol" panose="05050102010706020507" pitchFamily="18" charset="2"/>
            </a:endParaRPr>
          </a:p>
        </p:txBody>
      </p:sp>
      <p:sp>
        <p:nvSpPr>
          <p:cNvPr id="131" name="Line 82"/>
          <p:cNvSpPr>
            <a:spLocks noChangeShapeType="1"/>
          </p:cNvSpPr>
          <p:nvPr/>
        </p:nvSpPr>
        <p:spPr bwMode="auto">
          <a:xfrm>
            <a:off x="9989641" y="2823869"/>
            <a:ext cx="0" cy="658812"/>
          </a:xfrm>
          <a:prstGeom prst="line">
            <a:avLst/>
          </a:prstGeom>
          <a:noFill/>
          <a:ln w="28575">
            <a:solidFill>
              <a:srgbClr val="FFFF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32" name="Text Box 83"/>
          <p:cNvSpPr txBox="1">
            <a:spLocks noChangeAspect="1" noChangeArrowheads="1"/>
          </p:cNvSpPr>
          <p:nvPr/>
        </p:nvSpPr>
        <p:spPr bwMode="auto">
          <a:xfrm>
            <a:off x="11293112" y="3250906"/>
            <a:ext cx="338138" cy="463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r>
              <a:rPr lang="en-US" altLang="zh-CN" b="1" i="1" dirty="0">
                <a:solidFill>
                  <a:srgbClr val="FFFF00"/>
                </a:solidFill>
                <a:ea typeface="宋体" panose="02010600030101010101" pitchFamily="2" charset="-122"/>
              </a:rPr>
              <a:t>G</a:t>
            </a:r>
            <a:endParaRPr lang="en-US" altLang="zh-CN" baseline="-25000" dirty="0">
              <a:solidFill>
                <a:srgbClr val="FFFF00"/>
              </a:solidFill>
              <a:ea typeface="宋体" panose="02010600030101010101" pitchFamily="2" charset="-122"/>
              <a:sym typeface="Symbol" panose="05050102010706020507" pitchFamily="18" charset="2"/>
            </a:endParaRPr>
          </a:p>
        </p:txBody>
      </p:sp>
      <p:sp>
        <p:nvSpPr>
          <p:cNvPr id="133" name="Line 84"/>
          <p:cNvSpPr>
            <a:spLocks noChangeShapeType="1"/>
          </p:cNvSpPr>
          <p:nvPr/>
        </p:nvSpPr>
        <p:spPr bwMode="auto">
          <a:xfrm>
            <a:off x="11134229" y="2817519"/>
            <a:ext cx="0" cy="658812"/>
          </a:xfrm>
          <a:prstGeom prst="line">
            <a:avLst/>
          </a:prstGeom>
          <a:noFill/>
          <a:ln w="28575">
            <a:solidFill>
              <a:srgbClr val="FFFF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34" name="Text Box 85"/>
          <p:cNvSpPr txBox="1">
            <a:spLocks noChangeAspect="1" noChangeArrowheads="1"/>
          </p:cNvSpPr>
          <p:nvPr/>
        </p:nvSpPr>
        <p:spPr bwMode="auto">
          <a:xfrm>
            <a:off x="9634041" y="1324086"/>
            <a:ext cx="393700" cy="455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b="0" i="1" dirty="0">
                <a:ea typeface="宋体" panose="02010600030101010101" pitchFamily="2" charset="-122"/>
              </a:rPr>
              <a:t>A</a:t>
            </a:r>
            <a:endParaRPr lang="en-US" altLang="zh-CN" b="0" baseline="-25000" dirty="0">
              <a:ea typeface="宋体" panose="02010600030101010101" pitchFamily="2" charset="-122"/>
            </a:endParaRPr>
          </a:p>
        </p:txBody>
      </p:sp>
      <p:sp>
        <p:nvSpPr>
          <p:cNvPr id="135" name="Text Box 87"/>
          <p:cNvSpPr txBox="1">
            <a:spLocks noChangeAspect="1" noChangeArrowheads="1"/>
          </p:cNvSpPr>
          <p:nvPr/>
        </p:nvSpPr>
        <p:spPr bwMode="auto">
          <a:xfrm>
            <a:off x="11110416" y="1305036"/>
            <a:ext cx="393700" cy="455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b="0" i="1" dirty="0">
                <a:ea typeface="宋体" panose="02010600030101010101" pitchFamily="2" charset="-122"/>
              </a:rPr>
              <a:t>B</a:t>
            </a:r>
            <a:endParaRPr lang="en-US" altLang="zh-CN" b="0" baseline="-25000" dirty="0">
              <a:ea typeface="宋体" panose="02010600030101010101" pitchFamily="2" charset="-122"/>
            </a:endParaRPr>
          </a:p>
        </p:txBody>
      </p:sp>
      <p:sp>
        <p:nvSpPr>
          <p:cNvPr id="136" name="Text Box 89"/>
          <p:cNvSpPr txBox="1">
            <a:spLocks noChangeAspect="1" noChangeArrowheads="1"/>
          </p:cNvSpPr>
          <p:nvPr/>
        </p:nvSpPr>
        <p:spPr bwMode="auto">
          <a:xfrm>
            <a:off x="9530854" y="2684169"/>
            <a:ext cx="393700" cy="455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b="0" i="1" dirty="0">
                <a:ea typeface="宋体" panose="02010600030101010101" pitchFamily="2" charset="-122"/>
              </a:rPr>
              <a:t>C</a:t>
            </a:r>
            <a:endParaRPr lang="en-US" altLang="zh-CN" b="0" baseline="-25000" dirty="0">
              <a:ea typeface="宋体" panose="02010600030101010101" pitchFamily="2" charset="-122"/>
            </a:endParaRPr>
          </a:p>
        </p:txBody>
      </p:sp>
      <p:sp>
        <p:nvSpPr>
          <p:cNvPr id="137" name="Text Box 90"/>
          <p:cNvSpPr txBox="1">
            <a:spLocks noChangeAspect="1" noChangeArrowheads="1"/>
          </p:cNvSpPr>
          <p:nvPr/>
        </p:nvSpPr>
        <p:spPr bwMode="auto">
          <a:xfrm>
            <a:off x="11165979" y="2685756"/>
            <a:ext cx="393700" cy="4556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b="0" i="1" dirty="0">
                <a:ea typeface="宋体" panose="02010600030101010101" pitchFamily="2" charset="-122"/>
              </a:rPr>
              <a:t>D</a:t>
            </a:r>
            <a:endParaRPr lang="en-US" altLang="zh-CN" b="0" baseline="-25000" dirty="0">
              <a:ea typeface="宋体" panose="02010600030101010101" pitchFamily="2" charset="-122"/>
            </a:endParaRPr>
          </a:p>
        </p:txBody>
      </p:sp>
      <p:sp>
        <p:nvSpPr>
          <p:cNvPr id="185" name="Text Box 42"/>
          <p:cNvSpPr txBox="1">
            <a:spLocks noChangeAspect="1" noChangeArrowheads="1"/>
          </p:cNvSpPr>
          <p:nvPr/>
        </p:nvSpPr>
        <p:spPr bwMode="auto">
          <a:xfrm>
            <a:off x="10549679" y="3404761"/>
            <a:ext cx="417512" cy="6397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sz="3200" b="0" i="1" dirty="0">
                <a:ea typeface="宋体" panose="02010600030101010101" pitchFamily="2" charset="-122"/>
              </a:rPr>
              <a:t>z</a:t>
            </a:r>
          </a:p>
        </p:txBody>
      </p:sp>
      <p:sp>
        <p:nvSpPr>
          <p:cNvPr id="186" name="Text Box 43"/>
          <p:cNvSpPr txBox="1">
            <a:spLocks noChangeAspect="1" noChangeArrowheads="1"/>
          </p:cNvSpPr>
          <p:nvPr/>
        </p:nvSpPr>
        <p:spPr bwMode="auto">
          <a:xfrm>
            <a:off x="10624291" y="4354086"/>
            <a:ext cx="533400" cy="49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b="0" i="1" dirty="0">
                <a:sym typeface="Symbol" panose="05050102010706020507" pitchFamily="18" charset="2"/>
              </a:rPr>
              <a:t></a:t>
            </a:r>
            <a:endParaRPr lang="en-US" altLang="zh-CN" b="0" baseline="-25000" dirty="0">
              <a:sym typeface="Symbol" panose="05050102010706020507" pitchFamily="18" charset="2"/>
            </a:endParaRPr>
          </a:p>
        </p:txBody>
      </p:sp>
      <p:sp>
        <p:nvSpPr>
          <p:cNvPr id="188" name="Line 45"/>
          <p:cNvSpPr>
            <a:spLocks noChangeShapeType="1"/>
          </p:cNvSpPr>
          <p:nvPr/>
        </p:nvSpPr>
        <p:spPr bwMode="auto">
          <a:xfrm flipV="1">
            <a:off x="10576666" y="3600022"/>
            <a:ext cx="0" cy="2490789"/>
          </a:xfrm>
          <a:prstGeom prst="line">
            <a:avLst/>
          </a:prstGeom>
          <a:noFill/>
          <a:ln w="3810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nvGrpSpPr>
          <p:cNvPr id="189" name="Group 46"/>
          <p:cNvGrpSpPr>
            <a:grpSpLocks/>
          </p:cNvGrpSpPr>
          <p:nvPr/>
        </p:nvGrpSpPr>
        <p:grpSpPr bwMode="auto">
          <a:xfrm>
            <a:off x="10656041" y="3907998"/>
            <a:ext cx="123825" cy="249238"/>
            <a:chOff x="4582" y="1423"/>
            <a:chExt cx="78" cy="157"/>
          </a:xfrm>
        </p:grpSpPr>
        <p:sp>
          <p:nvSpPr>
            <p:cNvPr id="205" name="Rectangle 47" descr="宽上对角线"/>
            <p:cNvSpPr>
              <a:spLocks noChangeArrowheads="1"/>
            </p:cNvSpPr>
            <p:nvPr/>
          </p:nvSpPr>
          <p:spPr bwMode="auto">
            <a:xfrm>
              <a:off x="4599" y="1423"/>
              <a:ext cx="61" cy="157"/>
            </a:xfrm>
            <a:prstGeom prst="rect">
              <a:avLst/>
            </a:prstGeom>
            <a:pattFill prst="wdUpDiag">
              <a:fgClr>
                <a:schemeClr val="tx2"/>
              </a:fgClr>
              <a:bgClr>
                <a:schemeClr val="bg1"/>
              </a:bgClr>
            </a:patt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6" name="Line 48"/>
            <p:cNvSpPr>
              <a:spLocks noChangeShapeType="1"/>
            </p:cNvSpPr>
            <p:nvPr/>
          </p:nvSpPr>
          <p:spPr bwMode="auto">
            <a:xfrm>
              <a:off x="4582" y="1423"/>
              <a:ext cx="0" cy="157"/>
            </a:xfrm>
            <a:prstGeom prst="line">
              <a:avLst/>
            </a:prstGeom>
            <a:noFill/>
            <a:ln w="381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90" name="Group 49"/>
          <p:cNvGrpSpPr>
            <a:grpSpLocks/>
          </p:cNvGrpSpPr>
          <p:nvPr/>
        </p:nvGrpSpPr>
        <p:grpSpPr bwMode="auto">
          <a:xfrm>
            <a:off x="10651279" y="5749682"/>
            <a:ext cx="123825" cy="249238"/>
            <a:chOff x="4582" y="1423"/>
            <a:chExt cx="78" cy="157"/>
          </a:xfrm>
        </p:grpSpPr>
        <p:sp>
          <p:nvSpPr>
            <p:cNvPr id="203" name="Rectangle 50" descr="宽上对角线"/>
            <p:cNvSpPr>
              <a:spLocks noChangeArrowheads="1"/>
            </p:cNvSpPr>
            <p:nvPr/>
          </p:nvSpPr>
          <p:spPr bwMode="auto">
            <a:xfrm>
              <a:off x="4599" y="1423"/>
              <a:ext cx="61" cy="157"/>
            </a:xfrm>
            <a:prstGeom prst="rect">
              <a:avLst/>
            </a:prstGeom>
            <a:pattFill prst="wdUpDiag">
              <a:fgClr>
                <a:schemeClr val="tx2"/>
              </a:fgClr>
              <a:bgClr>
                <a:schemeClr val="bg1"/>
              </a:bgClr>
            </a:patt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4" name="Line 51"/>
            <p:cNvSpPr>
              <a:spLocks noChangeShapeType="1"/>
            </p:cNvSpPr>
            <p:nvPr/>
          </p:nvSpPr>
          <p:spPr bwMode="auto">
            <a:xfrm>
              <a:off x="4582" y="1423"/>
              <a:ext cx="0" cy="157"/>
            </a:xfrm>
            <a:prstGeom prst="line">
              <a:avLst/>
            </a:prstGeom>
            <a:noFill/>
            <a:ln w="381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91" name="Group 52"/>
          <p:cNvGrpSpPr>
            <a:grpSpLocks/>
          </p:cNvGrpSpPr>
          <p:nvPr/>
        </p:nvGrpSpPr>
        <p:grpSpPr bwMode="auto">
          <a:xfrm flipH="1">
            <a:off x="10371879" y="3915936"/>
            <a:ext cx="123825" cy="249238"/>
            <a:chOff x="4582" y="1423"/>
            <a:chExt cx="78" cy="157"/>
          </a:xfrm>
        </p:grpSpPr>
        <p:sp>
          <p:nvSpPr>
            <p:cNvPr id="201" name="Rectangle 53" descr="宽上对角线"/>
            <p:cNvSpPr>
              <a:spLocks noChangeArrowheads="1"/>
            </p:cNvSpPr>
            <p:nvPr/>
          </p:nvSpPr>
          <p:spPr bwMode="auto">
            <a:xfrm>
              <a:off x="4599" y="1423"/>
              <a:ext cx="61" cy="157"/>
            </a:xfrm>
            <a:prstGeom prst="rect">
              <a:avLst/>
            </a:prstGeom>
            <a:pattFill prst="wdUpDiag">
              <a:fgClr>
                <a:schemeClr val="tx2"/>
              </a:fgClr>
              <a:bgClr>
                <a:schemeClr val="bg1"/>
              </a:bgClr>
            </a:patt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2" name="Line 54"/>
            <p:cNvSpPr>
              <a:spLocks noChangeShapeType="1"/>
            </p:cNvSpPr>
            <p:nvPr/>
          </p:nvSpPr>
          <p:spPr bwMode="auto">
            <a:xfrm>
              <a:off x="4582" y="1423"/>
              <a:ext cx="0" cy="157"/>
            </a:xfrm>
            <a:prstGeom prst="line">
              <a:avLst/>
            </a:prstGeom>
            <a:noFill/>
            <a:ln w="381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92" name="Group 55"/>
          <p:cNvGrpSpPr>
            <a:grpSpLocks/>
          </p:cNvGrpSpPr>
          <p:nvPr/>
        </p:nvGrpSpPr>
        <p:grpSpPr bwMode="auto">
          <a:xfrm flipH="1">
            <a:off x="10379816" y="5757619"/>
            <a:ext cx="123825" cy="249238"/>
            <a:chOff x="4582" y="1423"/>
            <a:chExt cx="78" cy="157"/>
          </a:xfrm>
        </p:grpSpPr>
        <p:sp>
          <p:nvSpPr>
            <p:cNvPr id="199" name="Rectangle 56" descr="宽上对角线"/>
            <p:cNvSpPr>
              <a:spLocks noChangeArrowheads="1"/>
            </p:cNvSpPr>
            <p:nvPr/>
          </p:nvSpPr>
          <p:spPr bwMode="auto">
            <a:xfrm>
              <a:off x="4599" y="1423"/>
              <a:ext cx="61" cy="157"/>
            </a:xfrm>
            <a:prstGeom prst="rect">
              <a:avLst/>
            </a:prstGeom>
            <a:pattFill prst="wdUpDiag">
              <a:fgClr>
                <a:schemeClr val="tx2"/>
              </a:fgClr>
              <a:bgClr>
                <a:schemeClr val="bg1"/>
              </a:bgClr>
            </a:patt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0" name="Line 57"/>
            <p:cNvSpPr>
              <a:spLocks noChangeShapeType="1"/>
            </p:cNvSpPr>
            <p:nvPr/>
          </p:nvSpPr>
          <p:spPr bwMode="auto">
            <a:xfrm>
              <a:off x="4582" y="1423"/>
              <a:ext cx="0" cy="157"/>
            </a:xfrm>
            <a:prstGeom prst="line">
              <a:avLst/>
            </a:prstGeom>
            <a:noFill/>
            <a:ln w="381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93" name="Group 58"/>
          <p:cNvGrpSpPr>
            <a:grpSpLocks/>
          </p:cNvGrpSpPr>
          <p:nvPr/>
        </p:nvGrpSpPr>
        <p:grpSpPr bwMode="auto">
          <a:xfrm>
            <a:off x="10651279" y="4806523"/>
            <a:ext cx="123825" cy="249238"/>
            <a:chOff x="4582" y="1423"/>
            <a:chExt cx="78" cy="157"/>
          </a:xfrm>
        </p:grpSpPr>
        <p:sp>
          <p:nvSpPr>
            <p:cNvPr id="197" name="Rectangle 59" descr="宽上对角线"/>
            <p:cNvSpPr>
              <a:spLocks noChangeArrowheads="1"/>
            </p:cNvSpPr>
            <p:nvPr/>
          </p:nvSpPr>
          <p:spPr bwMode="auto">
            <a:xfrm>
              <a:off x="4599" y="1423"/>
              <a:ext cx="61" cy="157"/>
            </a:xfrm>
            <a:prstGeom prst="rect">
              <a:avLst/>
            </a:prstGeom>
            <a:pattFill prst="wdUpDiag">
              <a:fgClr>
                <a:schemeClr val="tx2"/>
              </a:fgClr>
              <a:bgClr>
                <a:schemeClr val="bg1"/>
              </a:bgClr>
            </a:patt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8" name="Line 60"/>
            <p:cNvSpPr>
              <a:spLocks noChangeShapeType="1"/>
            </p:cNvSpPr>
            <p:nvPr/>
          </p:nvSpPr>
          <p:spPr bwMode="auto">
            <a:xfrm>
              <a:off x="4582" y="1423"/>
              <a:ext cx="0" cy="157"/>
            </a:xfrm>
            <a:prstGeom prst="line">
              <a:avLst/>
            </a:prstGeom>
            <a:noFill/>
            <a:ln w="381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94" name="Group 61"/>
          <p:cNvGrpSpPr>
            <a:grpSpLocks/>
          </p:cNvGrpSpPr>
          <p:nvPr/>
        </p:nvGrpSpPr>
        <p:grpSpPr bwMode="auto">
          <a:xfrm flipH="1">
            <a:off x="10367116" y="4809698"/>
            <a:ext cx="123825" cy="249238"/>
            <a:chOff x="4582" y="1423"/>
            <a:chExt cx="78" cy="157"/>
          </a:xfrm>
        </p:grpSpPr>
        <p:sp>
          <p:nvSpPr>
            <p:cNvPr id="195" name="Rectangle 62" descr="宽上对角线"/>
            <p:cNvSpPr>
              <a:spLocks noChangeArrowheads="1"/>
            </p:cNvSpPr>
            <p:nvPr/>
          </p:nvSpPr>
          <p:spPr bwMode="auto">
            <a:xfrm>
              <a:off x="4599" y="1423"/>
              <a:ext cx="61" cy="157"/>
            </a:xfrm>
            <a:prstGeom prst="rect">
              <a:avLst/>
            </a:prstGeom>
            <a:pattFill prst="wdUpDiag">
              <a:fgClr>
                <a:schemeClr val="tx2"/>
              </a:fgClr>
              <a:bgClr>
                <a:schemeClr val="bg1"/>
              </a:bgClr>
            </a:patt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6" name="Line 63"/>
            <p:cNvSpPr>
              <a:spLocks noChangeShapeType="1"/>
            </p:cNvSpPr>
            <p:nvPr/>
          </p:nvSpPr>
          <p:spPr bwMode="auto">
            <a:xfrm>
              <a:off x="4582" y="1423"/>
              <a:ext cx="0" cy="157"/>
            </a:xfrm>
            <a:prstGeom prst="line">
              <a:avLst/>
            </a:prstGeom>
            <a:noFill/>
            <a:ln w="381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208" name="Line 65"/>
          <p:cNvSpPr>
            <a:spLocks noChangeShapeType="1"/>
          </p:cNvSpPr>
          <p:nvPr/>
        </p:nvSpPr>
        <p:spPr bwMode="auto">
          <a:xfrm>
            <a:off x="9998816" y="4296936"/>
            <a:ext cx="0" cy="112553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209" name="Group 66"/>
          <p:cNvGrpSpPr>
            <a:grpSpLocks/>
          </p:cNvGrpSpPr>
          <p:nvPr/>
        </p:nvGrpSpPr>
        <p:grpSpPr bwMode="auto">
          <a:xfrm>
            <a:off x="9543203" y="4235023"/>
            <a:ext cx="2073275" cy="1444625"/>
            <a:chOff x="3171" y="2397"/>
            <a:chExt cx="1306" cy="910"/>
          </a:xfrm>
        </p:grpSpPr>
        <p:sp>
          <p:nvSpPr>
            <p:cNvPr id="215" name="Line 67"/>
            <p:cNvSpPr>
              <a:spLocks noChangeShapeType="1"/>
            </p:cNvSpPr>
            <p:nvPr/>
          </p:nvSpPr>
          <p:spPr bwMode="auto">
            <a:xfrm>
              <a:off x="3452" y="2440"/>
              <a:ext cx="741"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16" name="Line 68"/>
            <p:cNvSpPr>
              <a:spLocks noChangeShapeType="1"/>
            </p:cNvSpPr>
            <p:nvPr/>
          </p:nvSpPr>
          <p:spPr bwMode="auto">
            <a:xfrm rot="900000">
              <a:off x="3349" y="2427"/>
              <a:ext cx="0" cy="78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7" name="Line 69"/>
            <p:cNvSpPr>
              <a:spLocks noChangeShapeType="1"/>
            </p:cNvSpPr>
            <p:nvPr/>
          </p:nvSpPr>
          <p:spPr bwMode="auto">
            <a:xfrm rot="20700000">
              <a:off x="4286" y="2423"/>
              <a:ext cx="0" cy="787"/>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8" name="Oval 70"/>
            <p:cNvSpPr>
              <a:spLocks noChangeArrowheads="1"/>
            </p:cNvSpPr>
            <p:nvPr/>
          </p:nvSpPr>
          <p:spPr bwMode="auto">
            <a:xfrm>
              <a:off x="4302" y="3132"/>
              <a:ext cx="175" cy="175"/>
            </a:xfrm>
            <a:prstGeom prst="ellipse">
              <a:avLst/>
            </a:prstGeom>
            <a:gradFill rotWithShape="1">
              <a:gsLst>
                <a:gs pos="0">
                  <a:srgbClr val="FF0000">
                    <a:gamma/>
                    <a:tint val="44314"/>
                    <a:invGamma/>
                  </a:srgbClr>
                </a:gs>
                <a:gs pos="100000">
                  <a:srgbClr val="FF0000"/>
                </a:gs>
              </a:gsLst>
              <a:path path="shape">
                <a:fillToRect l="50000" t="50000" r="50000" b="50000"/>
              </a:path>
            </a:gra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9" name="Oval 71"/>
            <p:cNvSpPr>
              <a:spLocks noChangeArrowheads="1"/>
            </p:cNvSpPr>
            <p:nvPr/>
          </p:nvSpPr>
          <p:spPr bwMode="auto">
            <a:xfrm>
              <a:off x="3171" y="3126"/>
              <a:ext cx="175" cy="175"/>
            </a:xfrm>
            <a:prstGeom prst="ellipse">
              <a:avLst/>
            </a:prstGeom>
            <a:gradFill rotWithShape="1">
              <a:gsLst>
                <a:gs pos="0">
                  <a:srgbClr val="FF0000">
                    <a:gamma/>
                    <a:tint val="44314"/>
                    <a:invGamma/>
                  </a:srgbClr>
                </a:gs>
                <a:gs pos="100000">
                  <a:srgbClr val="FF0000"/>
                </a:gs>
              </a:gsLst>
              <a:path path="shape">
                <a:fillToRect l="50000" t="50000" r="50000" b="50000"/>
              </a:path>
            </a:gra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0" name="Oval 72"/>
            <p:cNvSpPr>
              <a:spLocks noChangeArrowheads="1"/>
            </p:cNvSpPr>
            <p:nvPr/>
          </p:nvSpPr>
          <p:spPr bwMode="auto">
            <a:xfrm>
              <a:off x="3416" y="2397"/>
              <a:ext cx="74" cy="74"/>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1" name="Oval 73"/>
            <p:cNvSpPr>
              <a:spLocks noChangeArrowheads="1"/>
            </p:cNvSpPr>
            <p:nvPr/>
          </p:nvSpPr>
          <p:spPr bwMode="auto">
            <a:xfrm>
              <a:off x="4145" y="2402"/>
              <a:ext cx="74" cy="74"/>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10" name="Line 74"/>
          <p:cNvSpPr>
            <a:spLocks noChangeShapeType="1"/>
          </p:cNvSpPr>
          <p:nvPr/>
        </p:nvSpPr>
        <p:spPr bwMode="auto">
          <a:xfrm>
            <a:off x="11143404" y="4331861"/>
            <a:ext cx="0" cy="112553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1" name="Arc 75"/>
          <p:cNvSpPr>
            <a:spLocks noChangeAspect="1"/>
          </p:cNvSpPr>
          <p:nvPr/>
        </p:nvSpPr>
        <p:spPr bwMode="auto">
          <a:xfrm rot="662529" flipV="1">
            <a:off x="9835304" y="4593798"/>
            <a:ext cx="190500" cy="465138"/>
          </a:xfrm>
          <a:custGeom>
            <a:avLst/>
            <a:gdLst>
              <a:gd name="G0" fmla="+- 8450 0 0"/>
              <a:gd name="G1" fmla="+- 21600 0 0"/>
              <a:gd name="G2" fmla="+- 21600 0 0"/>
              <a:gd name="T0" fmla="*/ 0 w 19497"/>
              <a:gd name="T1" fmla="*/ 1722 h 21600"/>
              <a:gd name="T2" fmla="*/ 19497 w 19497"/>
              <a:gd name="T3" fmla="*/ 3038 h 21600"/>
              <a:gd name="T4" fmla="*/ 8450 w 19497"/>
              <a:gd name="T5" fmla="*/ 21600 h 21600"/>
            </a:gdLst>
            <a:ahLst/>
            <a:cxnLst>
              <a:cxn ang="0">
                <a:pos x="T0" y="T1"/>
              </a:cxn>
              <a:cxn ang="0">
                <a:pos x="T2" y="T3"/>
              </a:cxn>
              <a:cxn ang="0">
                <a:pos x="T4" y="T5"/>
              </a:cxn>
            </a:cxnLst>
            <a:rect l="0" t="0" r="r" b="b"/>
            <a:pathLst>
              <a:path w="19497" h="21600" fill="none" extrusionOk="0">
                <a:moveTo>
                  <a:pt x="-1" y="1721"/>
                </a:moveTo>
                <a:cubicBezTo>
                  <a:pt x="2672" y="585"/>
                  <a:pt x="5546" y="-1"/>
                  <a:pt x="8450" y="0"/>
                </a:cubicBezTo>
                <a:cubicBezTo>
                  <a:pt x="12338" y="0"/>
                  <a:pt x="16155" y="1049"/>
                  <a:pt x="19496" y="3038"/>
                </a:cubicBezTo>
              </a:path>
              <a:path w="19497" h="21600" stroke="0" extrusionOk="0">
                <a:moveTo>
                  <a:pt x="-1" y="1721"/>
                </a:moveTo>
                <a:cubicBezTo>
                  <a:pt x="2672" y="585"/>
                  <a:pt x="5546" y="-1"/>
                  <a:pt x="8450" y="0"/>
                </a:cubicBezTo>
                <a:cubicBezTo>
                  <a:pt x="12338" y="0"/>
                  <a:pt x="16155" y="1049"/>
                  <a:pt x="19496" y="3038"/>
                </a:cubicBezTo>
                <a:lnTo>
                  <a:pt x="8450" y="21600"/>
                </a:lnTo>
                <a:close/>
              </a:path>
            </a:pathLst>
          </a:custGeom>
          <a:noFill/>
          <a:ln w="12700">
            <a:solidFill>
              <a:schemeClr val="bg1"/>
            </a:solidFill>
            <a:round/>
            <a:headEnd/>
            <a:tailEnd type="non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2" name="Arc 76"/>
          <p:cNvSpPr>
            <a:spLocks noChangeAspect="1"/>
          </p:cNvSpPr>
          <p:nvPr/>
        </p:nvSpPr>
        <p:spPr bwMode="auto">
          <a:xfrm rot="24244" flipV="1">
            <a:off x="11146579" y="4609673"/>
            <a:ext cx="190500" cy="465138"/>
          </a:xfrm>
          <a:custGeom>
            <a:avLst/>
            <a:gdLst>
              <a:gd name="G0" fmla="+- 8450 0 0"/>
              <a:gd name="G1" fmla="+- 21600 0 0"/>
              <a:gd name="G2" fmla="+- 21600 0 0"/>
              <a:gd name="T0" fmla="*/ 0 w 19497"/>
              <a:gd name="T1" fmla="*/ 1722 h 21600"/>
              <a:gd name="T2" fmla="*/ 19497 w 19497"/>
              <a:gd name="T3" fmla="*/ 3038 h 21600"/>
              <a:gd name="T4" fmla="*/ 8450 w 19497"/>
              <a:gd name="T5" fmla="*/ 21600 h 21600"/>
            </a:gdLst>
            <a:ahLst/>
            <a:cxnLst>
              <a:cxn ang="0">
                <a:pos x="T0" y="T1"/>
              </a:cxn>
              <a:cxn ang="0">
                <a:pos x="T2" y="T3"/>
              </a:cxn>
              <a:cxn ang="0">
                <a:pos x="T4" y="T5"/>
              </a:cxn>
            </a:cxnLst>
            <a:rect l="0" t="0" r="r" b="b"/>
            <a:pathLst>
              <a:path w="19497" h="21600" fill="none" extrusionOk="0">
                <a:moveTo>
                  <a:pt x="-1" y="1721"/>
                </a:moveTo>
                <a:cubicBezTo>
                  <a:pt x="2672" y="585"/>
                  <a:pt x="5546" y="-1"/>
                  <a:pt x="8450" y="0"/>
                </a:cubicBezTo>
                <a:cubicBezTo>
                  <a:pt x="12338" y="0"/>
                  <a:pt x="16155" y="1049"/>
                  <a:pt x="19496" y="3038"/>
                </a:cubicBezTo>
              </a:path>
              <a:path w="19497" h="21600" stroke="0" extrusionOk="0">
                <a:moveTo>
                  <a:pt x="-1" y="1721"/>
                </a:moveTo>
                <a:cubicBezTo>
                  <a:pt x="2672" y="585"/>
                  <a:pt x="5546" y="-1"/>
                  <a:pt x="8450" y="0"/>
                </a:cubicBezTo>
                <a:cubicBezTo>
                  <a:pt x="12338" y="0"/>
                  <a:pt x="16155" y="1049"/>
                  <a:pt x="19496" y="3038"/>
                </a:cubicBezTo>
                <a:lnTo>
                  <a:pt x="8450" y="21600"/>
                </a:lnTo>
                <a:close/>
              </a:path>
            </a:pathLst>
          </a:custGeom>
          <a:noFill/>
          <a:ln w="12700">
            <a:solidFill>
              <a:schemeClr val="bg1"/>
            </a:solidFill>
            <a:round/>
            <a:headEnd/>
            <a:tailEnd type="non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3" name="Text Box 77"/>
          <p:cNvSpPr txBox="1">
            <a:spLocks noChangeAspect="1" noChangeArrowheads="1"/>
          </p:cNvSpPr>
          <p:nvPr/>
        </p:nvSpPr>
        <p:spPr bwMode="auto">
          <a:xfrm>
            <a:off x="9673379" y="4998611"/>
            <a:ext cx="400050"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b="0" i="1" dirty="0">
                <a:sym typeface="Symbol" panose="05050102010706020507" pitchFamily="18" charset="2"/>
              </a:rPr>
              <a:t></a:t>
            </a:r>
            <a:endParaRPr lang="en-US" altLang="zh-CN" b="0" dirty="0">
              <a:sym typeface="Symbol" panose="05050102010706020507" pitchFamily="18" charset="2"/>
            </a:endParaRPr>
          </a:p>
        </p:txBody>
      </p:sp>
      <p:sp>
        <p:nvSpPr>
          <p:cNvPr id="214" name="Text Box 78"/>
          <p:cNvSpPr txBox="1">
            <a:spLocks noChangeAspect="1" noChangeArrowheads="1"/>
          </p:cNvSpPr>
          <p:nvPr/>
        </p:nvSpPr>
        <p:spPr bwMode="auto">
          <a:xfrm>
            <a:off x="11056091" y="4990673"/>
            <a:ext cx="400050"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b="0" i="1" dirty="0">
                <a:sym typeface="Symbol" panose="05050102010706020507" pitchFamily="18" charset="2"/>
              </a:rPr>
              <a:t></a:t>
            </a:r>
            <a:endParaRPr lang="en-US" altLang="zh-CN" b="0" dirty="0">
              <a:sym typeface="Symbol" panose="05050102010706020507" pitchFamily="18" charset="2"/>
            </a:endParaRPr>
          </a:p>
        </p:txBody>
      </p:sp>
      <p:sp>
        <p:nvSpPr>
          <p:cNvPr id="222" name="Arc 79"/>
          <p:cNvSpPr>
            <a:spLocks noChangeAspect="1"/>
          </p:cNvSpPr>
          <p:nvPr/>
        </p:nvSpPr>
        <p:spPr bwMode="auto">
          <a:xfrm rot="662529" flipV="1">
            <a:off x="10255991" y="4122311"/>
            <a:ext cx="595313" cy="465137"/>
          </a:xfrm>
          <a:custGeom>
            <a:avLst/>
            <a:gdLst>
              <a:gd name="G0" fmla="+- 8450 0 0"/>
              <a:gd name="G1" fmla="+- 21600 0 0"/>
              <a:gd name="G2" fmla="+- 21600 0 0"/>
              <a:gd name="T0" fmla="*/ 0 w 27703"/>
              <a:gd name="T1" fmla="*/ 1722 h 21600"/>
              <a:gd name="T2" fmla="*/ 27703 w 27703"/>
              <a:gd name="T3" fmla="*/ 11808 h 21600"/>
              <a:gd name="T4" fmla="*/ 8450 w 27703"/>
              <a:gd name="T5" fmla="*/ 21600 h 21600"/>
            </a:gdLst>
            <a:ahLst/>
            <a:cxnLst>
              <a:cxn ang="0">
                <a:pos x="T0" y="T1"/>
              </a:cxn>
              <a:cxn ang="0">
                <a:pos x="T2" y="T3"/>
              </a:cxn>
              <a:cxn ang="0">
                <a:pos x="T4" y="T5"/>
              </a:cxn>
            </a:cxnLst>
            <a:rect l="0" t="0" r="r" b="b"/>
            <a:pathLst>
              <a:path w="27703" h="21600" fill="none" extrusionOk="0">
                <a:moveTo>
                  <a:pt x="-1" y="1721"/>
                </a:moveTo>
                <a:cubicBezTo>
                  <a:pt x="2672" y="585"/>
                  <a:pt x="5546" y="-1"/>
                  <a:pt x="8450" y="0"/>
                </a:cubicBezTo>
                <a:cubicBezTo>
                  <a:pt x="16578" y="0"/>
                  <a:pt x="24018" y="4563"/>
                  <a:pt x="27702" y="11808"/>
                </a:cubicBezTo>
              </a:path>
              <a:path w="27703" h="21600" stroke="0" extrusionOk="0">
                <a:moveTo>
                  <a:pt x="-1" y="1721"/>
                </a:moveTo>
                <a:cubicBezTo>
                  <a:pt x="2672" y="585"/>
                  <a:pt x="5546" y="-1"/>
                  <a:pt x="8450" y="0"/>
                </a:cubicBezTo>
                <a:cubicBezTo>
                  <a:pt x="16578" y="0"/>
                  <a:pt x="24018" y="4563"/>
                  <a:pt x="27702" y="11808"/>
                </a:cubicBezTo>
                <a:lnTo>
                  <a:pt x="8450" y="21600"/>
                </a:lnTo>
                <a:close/>
              </a:path>
            </a:pathLst>
          </a:custGeom>
          <a:noFill/>
          <a:ln w="28575">
            <a:solidFill>
              <a:schemeClr val="tx1"/>
            </a:solidFill>
            <a:round/>
            <a:headEnd/>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3" name="Text Box 86"/>
          <p:cNvSpPr txBox="1">
            <a:spLocks noChangeAspect="1" noChangeArrowheads="1"/>
          </p:cNvSpPr>
          <p:nvPr/>
        </p:nvSpPr>
        <p:spPr bwMode="auto">
          <a:xfrm>
            <a:off x="9638454" y="4058811"/>
            <a:ext cx="393700" cy="455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b="0" i="1" dirty="0">
                <a:ea typeface="宋体" panose="02010600030101010101" pitchFamily="2" charset="-122"/>
              </a:rPr>
              <a:t>A</a:t>
            </a:r>
            <a:endParaRPr lang="en-US" altLang="zh-CN" b="0" baseline="-25000" dirty="0">
              <a:ea typeface="宋体" panose="02010600030101010101" pitchFamily="2" charset="-122"/>
            </a:endParaRPr>
          </a:p>
        </p:txBody>
      </p:sp>
      <p:sp>
        <p:nvSpPr>
          <p:cNvPr id="224" name="Text Box 88"/>
          <p:cNvSpPr txBox="1">
            <a:spLocks noChangeAspect="1" noChangeArrowheads="1"/>
          </p:cNvSpPr>
          <p:nvPr/>
        </p:nvSpPr>
        <p:spPr bwMode="auto">
          <a:xfrm>
            <a:off x="11119591" y="4046111"/>
            <a:ext cx="393700" cy="455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b="0" i="1" dirty="0">
                <a:ea typeface="宋体" panose="02010600030101010101" pitchFamily="2" charset="-122"/>
              </a:rPr>
              <a:t>B</a:t>
            </a:r>
            <a:endParaRPr lang="en-US" altLang="zh-CN" b="0" baseline="-25000" dirty="0">
              <a:ea typeface="宋体" panose="02010600030101010101" pitchFamily="2" charset="-122"/>
            </a:endParaRPr>
          </a:p>
        </p:txBody>
      </p:sp>
      <p:sp>
        <p:nvSpPr>
          <p:cNvPr id="227" name="Text Box 93"/>
          <p:cNvSpPr txBox="1">
            <a:spLocks noChangeAspect="1" noChangeArrowheads="1"/>
          </p:cNvSpPr>
          <p:nvPr/>
        </p:nvSpPr>
        <p:spPr bwMode="auto">
          <a:xfrm>
            <a:off x="11577215" y="5852686"/>
            <a:ext cx="338138" cy="463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r>
              <a:rPr lang="en-US" altLang="zh-CN" b="1" i="1" dirty="0">
                <a:solidFill>
                  <a:srgbClr val="FFFF00"/>
                </a:solidFill>
                <a:ea typeface="宋体" panose="02010600030101010101" pitchFamily="2" charset="-122"/>
              </a:rPr>
              <a:t>G</a:t>
            </a:r>
            <a:endParaRPr lang="en-US" altLang="zh-CN" baseline="-25000" dirty="0">
              <a:solidFill>
                <a:srgbClr val="FFFF00"/>
              </a:solidFill>
              <a:ea typeface="宋体" panose="02010600030101010101" pitchFamily="2" charset="-122"/>
              <a:sym typeface="Symbol" panose="05050102010706020507" pitchFamily="18" charset="2"/>
            </a:endParaRPr>
          </a:p>
        </p:txBody>
      </p:sp>
      <p:sp>
        <p:nvSpPr>
          <p:cNvPr id="228" name="Line 94"/>
          <p:cNvSpPr>
            <a:spLocks noChangeShapeType="1"/>
          </p:cNvSpPr>
          <p:nvPr/>
        </p:nvSpPr>
        <p:spPr bwMode="auto">
          <a:xfrm>
            <a:off x="11483128" y="5576326"/>
            <a:ext cx="0" cy="514486"/>
          </a:xfrm>
          <a:prstGeom prst="line">
            <a:avLst/>
          </a:prstGeom>
          <a:noFill/>
          <a:ln w="28575">
            <a:solidFill>
              <a:srgbClr val="FFFF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29" name="Text Box 95"/>
          <p:cNvSpPr txBox="1">
            <a:spLocks noChangeAspect="1" noChangeArrowheads="1"/>
          </p:cNvSpPr>
          <p:nvPr/>
        </p:nvSpPr>
        <p:spPr bwMode="auto">
          <a:xfrm>
            <a:off x="9775901" y="5466574"/>
            <a:ext cx="393700" cy="455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b="0" i="1" dirty="0">
                <a:ea typeface="宋体" panose="02010600030101010101" pitchFamily="2" charset="-122"/>
              </a:rPr>
              <a:t>C</a:t>
            </a:r>
            <a:endParaRPr lang="en-US" altLang="zh-CN" b="0" baseline="-25000" dirty="0">
              <a:ea typeface="宋体" panose="02010600030101010101" pitchFamily="2" charset="-122"/>
            </a:endParaRPr>
          </a:p>
        </p:txBody>
      </p:sp>
      <p:sp>
        <p:nvSpPr>
          <p:cNvPr id="230" name="Text Box 96"/>
          <p:cNvSpPr txBox="1">
            <a:spLocks noChangeAspect="1" noChangeArrowheads="1"/>
          </p:cNvSpPr>
          <p:nvPr/>
        </p:nvSpPr>
        <p:spPr bwMode="auto">
          <a:xfrm>
            <a:off x="10851426" y="5445003"/>
            <a:ext cx="393700" cy="455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b="0" i="1" dirty="0">
                <a:ea typeface="宋体" panose="02010600030101010101" pitchFamily="2" charset="-122"/>
              </a:rPr>
              <a:t>D</a:t>
            </a:r>
            <a:endParaRPr lang="en-US" altLang="zh-CN" b="0" baseline="-25000" dirty="0">
              <a:ea typeface="宋体" panose="02010600030101010101" pitchFamily="2" charset="-122"/>
            </a:endParaRPr>
          </a:p>
        </p:txBody>
      </p:sp>
      <p:sp>
        <p:nvSpPr>
          <p:cNvPr id="231" name="Text Box 93"/>
          <p:cNvSpPr txBox="1">
            <a:spLocks noChangeAspect="1" noChangeArrowheads="1"/>
          </p:cNvSpPr>
          <p:nvPr/>
        </p:nvSpPr>
        <p:spPr bwMode="auto">
          <a:xfrm>
            <a:off x="9339170" y="5852686"/>
            <a:ext cx="338138" cy="463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r>
              <a:rPr lang="en-US" altLang="zh-CN" b="1" i="1" dirty="0">
                <a:solidFill>
                  <a:srgbClr val="FFFF00"/>
                </a:solidFill>
                <a:ea typeface="宋体" panose="02010600030101010101" pitchFamily="2" charset="-122"/>
              </a:rPr>
              <a:t>G</a:t>
            </a:r>
            <a:endParaRPr lang="en-US" altLang="zh-CN" baseline="-25000" dirty="0">
              <a:solidFill>
                <a:srgbClr val="FFFF00"/>
              </a:solidFill>
              <a:ea typeface="宋体" panose="02010600030101010101" pitchFamily="2" charset="-122"/>
              <a:sym typeface="Symbol" panose="05050102010706020507" pitchFamily="18" charset="2"/>
            </a:endParaRPr>
          </a:p>
        </p:txBody>
      </p:sp>
      <p:sp>
        <p:nvSpPr>
          <p:cNvPr id="232" name="Line 94"/>
          <p:cNvSpPr>
            <a:spLocks noChangeShapeType="1"/>
          </p:cNvSpPr>
          <p:nvPr/>
        </p:nvSpPr>
        <p:spPr bwMode="auto">
          <a:xfrm>
            <a:off x="9682645" y="5576326"/>
            <a:ext cx="0" cy="514486"/>
          </a:xfrm>
          <a:prstGeom prst="line">
            <a:avLst/>
          </a:prstGeom>
          <a:noFill/>
          <a:ln w="28575">
            <a:solidFill>
              <a:srgbClr val="FFFF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Tree>
    <p:extLst>
      <p:ext uri="{BB962C8B-B14F-4D97-AF65-F5344CB8AC3E}">
        <p14:creationId xmlns:p14="http://schemas.microsoft.com/office/powerpoint/2010/main" val="3320657490"/>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0" presetClass="entr" presetSubtype="0" fill="hold" grpId="0" nodeType="withEffect">
                                  <p:stCondLst>
                                    <p:cond delay="0"/>
                                  </p:stCondLst>
                                  <p:childTnLst>
                                    <p:set>
                                      <p:cBhvr>
                                        <p:cTn id="8" dur="1" fill="hold">
                                          <p:stCondLst>
                                            <p:cond delay="0"/>
                                          </p:stCondLst>
                                        </p:cTn>
                                        <p:tgtEl>
                                          <p:spTgt spid="98"/>
                                        </p:tgtEl>
                                        <p:attrNameLst>
                                          <p:attrName>style.visibility</p:attrName>
                                        </p:attrNameLst>
                                      </p:cBhvr>
                                      <p:to>
                                        <p:strVal val="visible"/>
                                      </p:to>
                                    </p:set>
                                    <p:animEffect transition="in" filter="fade">
                                      <p:cBhvr>
                                        <p:cTn id="9" dur="2000"/>
                                        <p:tgtEl>
                                          <p:spTgt spid="98"/>
                                        </p:tgtEl>
                                      </p:cBhvr>
                                    </p:animEffect>
                                  </p:childTnLst>
                                </p:cTn>
                              </p:par>
                              <p:par>
                                <p:cTn id="10" presetID="10" presetClass="entr" presetSubtype="0" fill="hold" grpId="0" nodeType="withEffect">
                                  <p:stCondLst>
                                    <p:cond delay="0"/>
                                  </p:stCondLst>
                                  <p:childTnLst>
                                    <p:set>
                                      <p:cBhvr>
                                        <p:cTn id="11" dur="1" fill="hold">
                                          <p:stCondLst>
                                            <p:cond delay="0"/>
                                          </p:stCondLst>
                                        </p:cTn>
                                        <p:tgtEl>
                                          <p:spTgt spid="99"/>
                                        </p:tgtEl>
                                        <p:attrNameLst>
                                          <p:attrName>style.visibility</p:attrName>
                                        </p:attrNameLst>
                                      </p:cBhvr>
                                      <p:to>
                                        <p:strVal val="visible"/>
                                      </p:to>
                                    </p:set>
                                    <p:animEffect transition="in" filter="fade">
                                      <p:cBhvr>
                                        <p:cTn id="12" dur="2000"/>
                                        <p:tgtEl>
                                          <p:spTgt spid="99"/>
                                        </p:tgtEl>
                                      </p:cBhvr>
                                    </p:animEffect>
                                  </p:childTnLst>
                                </p:cTn>
                              </p:par>
                              <p:par>
                                <p:cTn id="13" presetID="35" presetClass="emph" presetSubtype="0" repeatCount="2000" fill="hold" grpId="1" nodeType="withEffect">
                                  <p:stCondLst>
                                    <p:cond delay="2000"/>
                                  </p:stCondLst>
                                  <p:childTnLst>
                                    <p:anim calcmode="discrete" valueType="str">
                                      <p:cBhvr>
                                        <p:cTn id="14" dur="1000" fill="hold"/>
                                        <p:tgtEl>
                                          <p:spTgt spid="98"/>
                                        </p:tgtEl>
                                        <p:attrNameLst>
                                          <p:attrName>style.visibility</p:attrName>
                                        </p:attrNameLst>
                                      </p:cBhvr>
                                      <p:tavLst>
                                        <p:tav tm="0">
                                          <p:val>
                                            <p:strVal val="hidden"/>
                                          </p:val>
                                        </p:tav>
                                        <p:tav tm="50000">
                                          <p:val>
                                            <p:strVal val="visible"/>
                                          </p:val>
                                        </p:tav>
                                      </p:tavLst>
                                    </p:anim>
                                  </p:childTnLst>
                                </p:cTn>
                              </p:par>
                              <p:par>
                                <p:cTn id="15" presetID="35" presetClass="emph" presetSubtype="0" repeatCount="2000" fill="hold" grpId="1" nodeType="withEffect">
                                  <p:stCondLst>
                                    <p:cond delay="2000"/>
                                  </p:stCondLst>
                                  <p:childTnLst>
                                    <p:anim calcmode="discrete" valueType="str">
                                      <p:cBhvr>
                                        <p:cTn id="16" dur="1000" fill="hold"/>
                                        <p:tgtEl>
                                          <p:spTgt spid="99"/>
                                        </p:tgtEl>
                                        <p:attrNameLst>
                                          <p:attrName>style.visibility</p:attrName>
                                        </p:attrNameLst>
                                      </p:cBhvr>
                                      <p:tavLst>
                                        <p:tav tm="0">
                                          <p:val>
                                            <p:strVal val="hidden"/>
                                          </p:val>
                                        </p:tav>
                                        <p:tav tm="50000">
                                          <p:val>
                                            <p:strVal val="visible"/>
                                          </p:val>
                                        </p:tav>
                                      </p:tavLst>
                                    </p:anim>
                                  </p:childTnLst>
                                </p:cTn>
                              </p:par>
                              <p:par>
                                <p:cTn id="17" presetID="1" presetClass="entr" presetSubtype="0" fill="hold" grpId="0" nodeType="withEffect">
                                  <p:stCondLst>
                                    <p:cond delay="0"/>
                                  </p:stCondLst>
                                  <p:childTnLst>
                                    <p:set>
                                      <p:cBhvr>
                                        <p:cTn id="18" dur="1" fill="hold">
                                          <p:stCondLst>
                                            <p:cond delay="0"/>
                                          </p:stCondLst>
                                        </p:cTn>
                                        <p:tgtEl>
                                          <p:spTgt spid="13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3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3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3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3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32"/>
                                        </p:tgtEl>
                                        <p:attrNameLst>
                                          <p:attrName>style.visibility</p:attrName>
                                        </p:attrNameLst>
                                      </p:cBhvr>
                                      <p:to>
                                        <p:strVal val="visible"/>
                                      </p:to>
                                    </p:set>
                                  </p:childTnLst>
                                </p:cTn>
                              </p:par>
                              <p:par>
                                <p:cTn id="33" presetID="10" presetClass="entr" presetSubtype="0" fill="hold" grpId="0" nodeType="withEffect">
                                  <p:stCondLst>
                                    <p:cond delay="0"/>
                                  </p:stCondLst>
                                  <p:childTnLst>
                                    <p:set>
                                      <p:cBhvr>
                                        <p:cTn id="34" dur="1" fill="hold">
                                          <p:stCondLst>
                                            <p:cond delay="0"/>
                                          </p:stCondLst>
                                        </p:cTn>
                                        <p:tgtEl>
                                          <p:spTgt spid="185"/>
                                        </p:tgtEl>
                                        <p:attrNameLst>
                                          <p:attrName>style.visibility</p:attrName>
                                        </p:attrNameLst>
                                      </p:cBhvr>
                                      <p:to>
                                        <p:strVal val="visible"/>
                                      </p:to>
                                    </p:set>
                                    <p:animEffect transition="in" filter="fade">
                                      <p:cBhvr>
                                        <p:cTn id="35" dur="2000"/>
                                        <p:tgtEl>
                                          <p:spTgt spid="185"/>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86"/>
                                        </p:tgtEl>
                                        <p:attrNameLst>
                                          <p:attrName>style.visibility</p:attrName>
                                        </p:attrNameLst>
                                      </p:cBhvr>
                                      <p:to>
                                        <p:strVal val="visible"/>
                                      </p:to>
                                    </p:set>
                                    <p:animEffect transition="in" filter="fade">
                                      <p:cBhvr>
                                        <p:cTn id="38" dur="2000"/>
                                        <p:tgtEl>
                                          <p:spTgt spid="186"/>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222"/>
                                        </p:tgtEl>
                                        <p:attrNameLst>
                                          <p:attrName>style.visibility</p:attrName>
                                        </p:attrNameLst>
                                      </p:cBhvr>
                                      <p:to>
                                        <p:strVal val="visible"/>
                                      </p:to>
                                    </p:set>
                                    <p:animEffect transition="in" filter="fade">
                                      <p:cBhvr>
                                        <p:cTn id="41" dur="2000"/>
                                        <p:tgtEl>
                                          <p:spTgt spid="222"/>
                                        </p:tgtEl>
                                      </p:cBhvr>
                                    </p:animEffect>
                                  </p:childTnLst>
                                </p:cTn>
                              </p:par>
                              <p:par>
                                <p:cTn id="42" presetID="35" presetClass="emph" presetSubtype="0" repeatCount="2000" fill="hold" grpId="1" nodeType="withEffect">
                                  <p:stCondLst>
                                    <p:cond delay="0"/>
                                  </p:stCondLst>
                                  <p:childTnLst>
                                    <p:anim calcmode="discrete" valueType="str">
                                      <p:cBhvr>
                                        <p:cTn id="43" dur="1000" fill="hold"/>
                                        <p:tgtEl>
                                          <p:spTgt spid="222"/>
                                        </p:tgtEl>
                                        <p:attrNameLst>
                                          <p:attrName>style.visibility</p:attrName>
                                        </p:attrNameLst>
                                      </p:cBhvr>
                                      <p:tavLst>
                                        <p:tav tm="0">
                                          <p:val>
                                            <p:strVal val="hidden"/>
                                          </p:val>
                                        </p:tav>
                                        <p:tav tm="50000">
                                          <p:val>
                                            <p:strVal val="visible"/>
                                          </p:val>
                                        </p:tav>
                                      </p:tavLst>
                                    </p:anim>
                                  </p:childTnLst>
                                </p:cTn>
                              </p:par>
                              <p:par>
                                <p:cTn id="44" presetID="35" presetClass="emph" presetSubtype="0" repeatCount="2000" fill="hold" grpId="1" nodeType="withEffect">
                                  <p:stCondLst>
                                    <p:cond delay="0"/>
                                  </p:stCondLst>
                                  <p:childTnLst>
                                    <p:anim calcmode="discrete" valueType="str">
                                      <p:cBhvr>
                                        <p:cTn id="45" dur="1000" fill="hold"/>
                                        <p:tgtEl>
                                          <p:spTgt spid="186"/>
                                        </p:tgtEl>
                                        <p:attrNameLst>
                                          <p:attrName>style.visibility</p:attrName>
                                        </p:attrNameLst>
                                      </p:cBhvr>
                                      <p:tavLst>
                                        <p:tav tm="0">
                                          <p:val>
                                            <p:strVal val="hidden"/>
                                          </p:val>
                                        </p:tav>
                                        <p:tav tm="50000">
                                          <p:val>
                                            <p:strVal val="visible"/>
                                          </p:val>
                                        </p:tav>
                                      </p:tavLst>
                                    </p:anim>
                                  </p:childTnLst>
                                </p:cTn>
                              </p:par>
                            </p:childTnLst>
                          </p:cTn>
                        </p:par>
                        <p:par>
                          <p:cTn id="46" fill="hold">
                            <p:stCondLst>
                              <p:cond delay="4000"/>
                            </p:stCondLst>
                            <p:childTnLst>
                              <p:par>
                                <p:cTn id="47" presetID="1" presetClass="entr" presetSubtype="0" fill="hold" nodeType="afterEffect">
                                  <p:stCondLst>
                                    <p:cond delay="0"/>
                                  </p:stCondLst>
                                  <p:childTnLst>
                                    <p:set>
                                      <p:cBhvr>
                                        <p:cTn id="48" dur="1" fill="hold">
                                          <p:stCondLst>
                                            <p:cond delay="0"/>
                                          </p:stCondLst>
                                        </p:cTn>
                                        <p:tgtEl>
                                          <p:spTgt spid="223"/>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224"/>
                                        </p:tgtEl>
                                        <p:attrNameLst>
                                          <p:attrName>style.visibility</p:attrName>
                                        </p:attrNameLst>
                                      </p:cBhvr>
                                      <p:to>
                                        <p:strVal val="visible"/>
                                      </p:to>
                                    </p:set>
                                  </p:childTnLst>
                                </p:cTn>
                              </p:par>
                              <p:par>
                                <p:cTn id="51" presetID="12" presetClass="entr" presetSubtype="1" fill="hold" grpId="0" nodeType="withEffect">
                                  <p:stCondLst>
                                    <p:cond delay="0"/>
                                  </p:stCondLst>
                                  <p:childTnLst>
                                    <p:set>
                                      <p:cBhvr>
                                        <p:cTn id="52" dur="1" fill="hold">
                                          <p:stCondLst>
                                            <p:cond delay="0"/>
                                          </p:stCondLst>
                                        </p:cTn>
                                        <p:tgtEl>
                                          <p:spTgt spid="228"/>
                                        </p:tgtEl>
                                        <p:attrNameLst>
                                          <p:attrName>style.visibility</p:attrName>
                                        </p:attrNameLst>
                                      </p:cBhvr>
                                      <p:to>
                                        <p:strVal val="visible"/>
                                      </p:to>
                                    </p:set>
                                    <p:animEffect transition="in" filter="slide(fromTop)">
                                      <p:cBhvr>
                                        <p:cTn id="53" dur="3000"/>
                                        <p:tgtEl>
                                          <p:spTgt spid="228"/>
                                        </p:tgtEl>
                                      </p:cBhvr>
                                    </p:animEffect>
                                  </p:childTnLst>
                                </p:cTn>
                              </p:par>
                              <p:par>
                                <p:cTn id="54" presetID="19" presetClass="entr" presetSubtype="10" fill="hold" nodeType="withEffect">
                                  <p:stCondLst>
                                    <p:cond delay="0"/>
                                  </p:stCondLst>
                                  <p:childTnLst>
                                    <p:set>
                                      <p:cBhvr>
                                        <p:cTn id="55" dur="1" fill="hold">
                                          <p:stCondLst>
                                            <p:cond delay="0"/>
                                          </p:stCondLst>
                                        </p:cTn>
                                        <p:tgtEl>
                                          <p:spTgt spid="227"/>
                                        </p:tgtEl>
                                        <p:attrNameLst>
                                          <p:attrName>style.visibility</p:attrName>
                                        </p:attrNameLst>
                                      </p:cBhvr>
                                      <p:to>
                                        <p:strVal val="visible"/>
                                      </p:to>
                                    </p:set>
                                    <p:anim calcmode="lin" valueType="num">
                                      <p:cBhvr>
                                        <p:cTn id="56" dur="5000" fill="hold"/>
                                        <p:tgtEl>
                                          <p:spTgt spid="227"/>
                                        </p:tgtEl>
                                        <p:attrNameLst>
                                          <p:attrName>ppt_w</p:attrName>
                                        </p:attrNameLst>
                                      </p:cBhvr>
                                      <p:tavLst>
                                        <p:tav tm="0" fmla="#ppt_w*sin(2.5*pi*$)">
                                          <p:val>
                                            <p:fltVal val="0"/>
                                          </p:val>
                                        </p:tav>
                                        <p:tav tm="100000">
                                          <p:val>
                                            <p:fltVal val="1"/>
                                          </p:val>
                                        </p:tav>
                                      </p:tavLst>
                                    </p:anim>
                                    <p:anim calcmode="lin" valueType="num">
                                      <p:cBhvr>
                                        <p:cTn id="57" dur="5000" fill="hold"/>
                                        <p:tgtEl>
                                          <p:spTgt spid="227"/>
                                        </p:tgtEl>
                                        <p:attrNameLst>
                                          <p:attrName>ppt_h</p:attrName>
                                        </p:attrNameLst>
                                      </p:cBhvr>
                                      <p:tavLst>
                                        <p:tav tm="0">
                                          <p:val>
                                            <p:strVal val="#ppt_h"/>
                                          </p:val>
                                        </p:tav>
                                        <p:tav tm="100000">
                                          <p:val>
                                            <p:strVal val="#ppt_h"/>
                                          </p:val>
                                        </p:tav>
                                      </p:tavLst>
                                    </p:anim>
                                  </p:childTnLst>
                                </p:cTn>
                              </p:par>
                              <p:par>
                                <p:cTn id="58" presetID="1" presetClass="entr" presetSubtype="0" fill="hold" nodeType="withEffect">
                                  <p:stCondLst>
                                    <p:cond delay="0"/>
                                  </p:stCondLst>
                                  <p:childTnLst>
                                    <p:set>
                                      <p:cBhvr>
                                        <p:cTn id="59" dur="1" fill="hold">
                                          <p:stCondLst>
                                            <p:cond delay="0"/>
                                          </p:stCondLst>
                                        </p:cTn>
                                        <p:tgtEl>
                                          <p:spTgt spid="229"/>
                                        </p:tgtEl>
                                        <p:attrNameLst>
                                          <p:attrName>style.visibility</p:attrName>
                                        </p:attrNameLst>
                                      </p:cBhvr>
                                      <p:to>
                                        <p:strVal val="visible"/>
                                      </p:to>
                                    </p:set>
                                  </p:childTnLst>
                                </p:cTn>
                              </p:par>
                              <p:par>
                                <p:cTn id="60" presetID="1" presetClass="entr" presetSubtype="0" fill="hold" nodeType="withEffect">
                                  <p:stCondLst>
                                    <p:cond delay="0"/>
                                  </p:stCondLst>
                                  <p:childTnLst>
                                    <p:set>
                                      <p:cBhvr>
                                        <p:cTn id="61" dur="1" fill="hold">
                                          <p:stCondLst>
                                            <p:cond delay="0"/>
                                          </p:stCondLst>
                                        </p:cTn>
                                        <p:tgtEl>
                                          <p:spTgt spid="230"/>
                                        </p:tgtEl>
                                        <p:attrNameLst>
                                          <p:attrName>style.visibility</p:attrName>
                                        </p:attrNameLst>
                                      </p:cBhvr>
                                      <p:to>
                                        <p:strVal val="visible"/>
                                      </p:to>
                                    </p:set>
                                  </p:childTnLst>
                                </p:cTn>
                              </p:par>
                              <p:par>
                                <p:cTn id="62" presetID="12" presetClass="entr" presetSubtype="1" fill="hold" grpId="0" nodeType="withEffect">
                                  <p:stCondLst>
                                    <p:cond delay="0"/>
                                  </p:stCondLst>
                                  <p:childTnLst>
                                    <p:set>
                                      <p:cBhvr>
                                        <p:cTn id="63" dur="1" fill="hold">
                                          <p:stCondLst>
                                            <p:cond delay="0"/>
                                          </p:stCondLst>
                                        </p:cTn>
                                        <p:tgtEl>
                                          <p:spTgt spid="232"/>
                                        </p:tgtEl>
                                        <p:attrNameLst>
                                          <p:attrName>style.visibility</p:attrName>
                                        </p:attrNameLst>
                                      </p:cBhvr>
                                      <p:to>
                                        <p:strVal val="visible"/>
                                      </p:to>
                                    </p:set>
                                    <p:animEffect transition="in" filter="slide(fromTop)">
                                      <p:cBhvr>
                                        <p:cTn id="64" dur="3000"/>
                                        <p:tgtEl>
                                          <p:spTgt spid="232"/>
                                        </p:tgtEl>
                                      </p:cBhvr>
                                    </p:animEffect>
                                  </p:childTnLst>
                                </p:cTn>
                              </p:par>
                              <p:par>
                                <p:cTn id="65" presetID="19" presetClass="entr" presetSubtype="10" fill="hold" nodeType="withEffect">
                                  <p:stCondLst>
                                    <p:cond delay="0"/>
                                  </p:stCondLst>
                                  <p:childTnLst>
                                    <p:set>
                                      <p:cBhvr>
                                        <p:cTn id="66" dur="1" fill="hold">
                                          <p:stCondLst>
                                            <p:cond delay="0"/>
                                          </p:stCondLst>
                                        </p:cTn>
                                        <p:tgtEl>
                                          <p:spTgt spid="231"/>
                                        </p:tgtEl>
                                        <p:attrNameLst>
                                          <p:attrName>style.visibility</p:attrName>
                                        </p:attrNameLst>
                                      </p:cBhvr>
                                      <p:to>
                                        <p:strVal val="visible"/>
                                      </p:to>
                                    </p:set>
                                    <p:anim calcmode="lin" valueType="num">
                                      <p:cBhvr>
                                        <p:cTn id="67" dur="5000" fill="hold"/>
                                        <p:tgtEl>
                                          <p:spTgt spid="231"/>
                                        </p:tgtEl>
                                        <p:attrNameLst>
                                          <p:attrName>ppt_w</p:attrName>
                                        </p:attrNameLst>
                                      </p:cBhvr>
                                      <p:tavLst>
                                        <p:tav tm="0" fmla="#ppt_w*sin(2.5*pi*$)">
                                          <p:val>
                                            <p:fltVal val="0"/>
                                          </p:val>
                                        </p:tav>
                                        <p:tav tm="100000">
                                          <p:val>
                                            <p:fltVal val="1"/>
                                          </p:val>
                                        </p:tav>
                                      </p:tavLst>
                                    </p:anim>
                                    <p:anim calcmode="lin" valueType="num">
                                      <p:cBhvr>
                                        <p:cTn id="68" dur="5000" fill="hold"/>
                                        <p:tgtEl>
                                          <p:spTgt spid="231"/>
                                        </p:tgtEl>
                                        <p:attrNameLst>
                                          <p:attrName>ppt_h</p:attrName>
                                        </p:attrNameLst>
                                      </p:cBhvr>
                                      <p:tavLst>
                                        <p:tav tm="0">
                                          <p:val>
                                            <p:strVal val="#ppt_h"/>
                                          </p:val>
                                        </p:tav>
                                        <p:tav tm="100000">
                                          <p:val>
                                            <p:strVal val="#ppt_h"/>
                                          </p:val>
                                        </p:tav>
                                      </p:tavLst>
                                    </p:anim>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6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64" grpId="0"/>
      <p:bldP spid="98" grpId="0" animBg="1"/>
      <p:bldP spid="98" grpId="1" animBg="1"/>
      <p:bldP spid="99" grpId="0"/>
      <p:bldP spid="99" grpId="1"/>
      <p:bldP spid="130" grpId="0"/>
      <p:bldP spid="131" grpId="0" animBg="1"/>
      <p:bldP spid="132" grpId="0"/>
      <p:bldP spid="133" grpId="0" animBg="1"/>
      <p:bldP spid="134" grpId="0"/>
      <p:bldP spid="135" grpId="0"/>
      <p:bldP spid="136" grpId="0"/>
      <p:bldP spid="137" grpId="0"/>
      <p:bldP spid="185" grpId="0"/>
      <p:bldP spid="186" grpId="0"/>
      <p:bldP spid="186" grpId="1"/>
      <p:bldP spid="222" grpId="0" animBg="1"/>
      <p:bldP spid="222" grpId="1" animBg="1"/>
      <p:bldP spid="228" grpId="0" animBg="1"/>
      <p:bldP spid="232"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4653838"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第七章   动力学普遍定理</a:t>
            </a:r>
          </a:p>
        </p:txBody>
      </p:sp>
      <p:sp>
        <p:nvSpPr>
          <p:cNvPr id="9" name="Rectangle 61">
            <a:extLst>
              <a:ext uri="{FF2B5EF4-FFF2-40B4-BE49-F238E27FC236}">
                <a16:creationId xmlns:a16="http://schemas.microsoft.com/office/drawing/2014/main" id="{0C4CF67B-8CA2-F648-B364-D8C44A49A572}"/>
              </a:ext>
            </a:extLst>
          </p:cNvPr>
          <p:cNvSpPr>
            <a:spLocks noChangeArrowheads="1"/>
          </p:cNvSpPr>
          <p:nvPr/>
        </p:nvSpPr>
        <p:spPr bwMode="auto">
          <a:xfrm>
            <a:off x="8898731" y="842980"/>
            <a:ext cx="3200995" cy="5393935"/>
          </a:xfrm>
          <a:prstGeom prst="rect">
            <a:avLst/>
          </a:prstGeom>
          <a:solidFill>
            <a:srgbClr val="B9CDE5"/>
          </a:solidFill>
          <a:ln>
            <a:noFill/>
          </a:ln>
          <a:effectLst/>
        </p:spPr>
        <p:txBody>
          <a:bodyPr wrap="none" anchor="ctr"/>
          <a:lstStyle/>
          <a:p>
            <a:endParaRPr lang="zh-CN" altLang="en-US"/>
          </a:p>
        </p:txBody>
      </p:sp>
      <p:sp>
        <p:nvSpPr>
          <p:cNvPr id="98" name="Arc 10"/>
          <p:cNvSpPr>
            <a:spLocks noChangeAspect="1"/>
          </p:cNvSpPr>
          <p:nvPr/>
        </p:nvSpPr>
        <p:spPr bwMode="auto">
          <a:xfrm rot="662529" flipV="1">
            <a:off x="10264279" y="1359011"/>
            <a:ext cx="595312" cy="465137"/>
          </a:xfrm>
          <a:custGeom>
            <a:avLst/>
            <a:gdLst>
              <a:gd name="G0" fmla="+- 8450 0 0"/>
              <a:gd name="G1" fmla="+- 21600 0 0"/>
              <a:gd name="G2" fmla="+- 21600 0 0"/>
              <a:gd name="T0" fmla="*/ 0 w 27703"/>
              <a:gd name="T1" fmla="*/ 1722 h 21600"/>
              <a:gd name="T2" fmla="*/ 27703 w 27703"/>
              <a:gd name="T3" fmla="*/ 11808 h 21600"/>
              <a:gd name="T4" fmla="*/ 8450 w 27703"/>
              <a:gd name="T5" fmla="*/ 21600 h 21600"/>
            </a:gdLst>
            <a:ahLst/>
            <a:cxnLst>
              <a:cxn ang="0">
                <a:pos x="T0" y="T1"/>
              </a:cxn>
              <a:cxn ang="0">
                <a:pos x="T2" y="T3"/>
              </a:cxn>
              <a:cxn ang="0">
                <a:pos x="T4" y="T5"/>
              </a:cxn>
            </a:cxnLst>
            <a:rect l="0" t="0" r="r" b="b"/>
            <a:pathLst>
              <a:path w="27703" h="21600" fill="none" extrusionOk="0">
                <a:moveTo>
                  <a:pt x="-1" y="1721"/>
                </a:moveTo>
                <a:cubicBezTo>
                  <a:pt x="2672" y="585"/>
                  <a:pt x="5546" y="-1"/>
                  <a:pt x="8450" y="0"/>
                </a:cubicBezTo>
                <a:cubicBezTo>
                  <a:pt x="16578" y="0"/>
                  <a:pt x="24018" y="4563"/>
                  <a:pt x="27702" y="11808"/>
                </a:cubicBezTo>
              </a:path>
              <a:path w="27703" h="21600" stroke="0" extrusionOk="0">
                <a:moveTo>
                  <a:pt x="-1" y="1721"/>
                </a:moveTo>
                <a:cubicBezTo>
                  <a:pt x="2672" y="585"/>
                  <a:pt x="5546" y="-1"/>
                  <a:pt x="8450" y="0"/>
                </a:cubicBezTo>
                <a:cubicBezTo>
                  <a:pt x="16578" y="0"/>
                  <a:pt x="24018" y="4563"/>
                  <a:pt x="27702" y="11808"/>
                </a:cubicBezTo>
                <a:lnTo>
                  <a:pt x="8450" y="21600"/>
                </a:lnTo>
                <a:close/>
              </a:path>
            </a:pathLst>
          </a:custGeom>
          <a:noFill/>
          <a:ln w="28575">
            <a:solidFill>
              <a:schemeClr val="tx1"/>
            </a:solidFill>
            <a:round/>
            <a:headEnd/>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9" name="Text Box 11"/>
          <p:cNvSpPr txBox="1">
            <a:spLocks noChangeAspect="1" noChangeArrowheads="1"/>
          </p:cNvSpPr>
          <p:nvPr/>
        </p:nvSpPr>
        <p:spPr bwMode="auto">
          <a:xfrm>
            <a:off x="10632579" y="1590786"/>
            <a:ext cx="533400" cy="49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b="0" i="1" dirty="0">
                <a:ea typeface="宋体" panose="02010600030101010101" pitchFamily="2" charset="-122"/>
                <a:sym typeface="Symbol" panose="05050102010706020507" pitchFamily="18" charset="2"/>
              </a:rPr>
              <a:t></a:t>
            </a:r>
            <a:r>
              <a:rPr lang="en-US" altLang="zh-CN" i="0" baseline="-25000" dirty="0">
                <a:sym typeface="Symbol" panose="05050102010706020507" pitchFamily="18" charset="2"/>
              </a:rPr>
              <a:t>0</a:t>
            </a:r>
          </a:p>
        </p:txBody>
      </p:sp>
      <p:sp>
        <p:nvSpPr>
          <p:cNvPr id="101" name="Line 13"/>
          <p:cNvSpPr>
            <a:spLocks noChangeShapeType="1"/>
          </p:cNvSpPr>
          <p:nvPr/>
        </p:nvSpPr>
        <p:spPr bwMode="auto">
          <a:xfrm flipV="1">
            <a:off x="10584954" y="836723"/>
            <a:ext cx="0" cy="2639608"/>
          </a:xfrm>
          <a:prstGeom prst="line">
            <a:avLst/>
          </a:prstGeom>
          <a:noFill/>
          <a:ln w="3810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02" name="Text Box 14"/>
          <p:cNvSpPr txBox="1">
            <a:spLocks noChangeAspect="1" noChangeArrowheads="1"/>
          </p:cNvSpPr>
          <p:nvPr/>
        </p:nvSpPr>
        <p:spPr bwMode="auto">
          <a:xfrm>
            <a:off x="10557967" y="641461"/>
            <a:ext cx="417513" cy="6397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sz="3200" b="0" i="1" dirty="0">
                <a:ea typeface="宋体" panose="02010600030101010101" pitchFamily="2" charset="-122"/>
              </a:rPr>
              <a:t>z</a:t>
            </a:r>
          </a:p>
        </p:txBody>
      </p:sp>
      <p:grpSp>
        <p:nvGrpSpPr>
          <p:cNvPr id="103" name="Group 15"/>
          <p:cNvGrpSpPr>
            <a:grpSpLocks/>
          </p:cNvGrpSpPr>
          <p:nvPr/>
        </p:nvGrpSpPr>
        <p:grpSpPr bwMode="auto">
          <a:xfrm>
            <a:off x="10664329" y="1158986"/>
            <a:ext cx="123825" cy="249237"/>
            <a:chOff x="4582" y="1423"/>
            <a:chExt cx="78" cy="157"/>
          </a:xfrm>
        </p:grpSpPr>
        <p:sp>
          <p:nvSpPr>
            <p:cNvPr id="119" name="Rectangle 16" descr="宽上对角线"/>
            <p:cNvSpPr>
              <a:spLocks noChangeArrowheads="1"/>
            </p:cNvSpPr>
            <p:nvPr/>
          </p:nvSpPr>
          <p:spPr bwMode="auto">
            <a:xfrm>
              <a:off x="4599" y="1423"/>
              <a:ext cx="61" cy="157"/>
            </a:xfrm>
            <a:prstGeom prst="rect">
              <a:avLst/>
            </a:prstGeom>
            <a:pattFill prst="wdUpDiag">
              <a:fgClr>
                <a:schemeClr val="tx2"/>
              </a:fgClr>
              <a:bgClr>
                <a:schemeClr val="bg1"/>
              </a:bgClr>
            </a:patt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0" name="Line 17"/>
            <p:cNvSpPr>
              <a:spLocks noChangeShapeType="1"/>
            </p:cNvSpPr>
            <p:nvPr/>
          </p:nvSpPr>
          <p:spPr bwMode="auto">
            <a:xfrm>
              <a:off x="4582" y="1423"/>
              <a:ext cx="0" cy="157"/>
            </a:xfrm>
            <a:prstGeom prst="line">
              <a:avLst/>
            </a:prstGeom>
            <a:noFill/>
            <a:ln w="381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04" name="Group 18"/>
          <p:cNvGrpSpPr>
            <a:grpSpLocks/>
          </p:cNvGrpSpPr>
          <p:nvPr/>
        </p:nvGrpSpPr>
        <p:grpSpPr bwMode="auto">
          <a:xfrm>
            <a:off x="10659567" y="2962978"/>
            <a:ext cx="123825" cy="249237"/>
            <a:chOff x="4582" y="1423"/>
            <a:chExt cx="78" cy="157"/>
          </a:xfrm>
        </p:grpSpPr>
        <p:sp>
          <p:nvSpPr>
            <p:cNvPr id="117" name="Rectangle 19" descr="宽上对角线"/>
            <p:cNvSpPr>
              <a:spLocks noChangeArrowheads="1"/>
            </p:cNvSpPr>
            <p:nvPr/>
          </p:nvSpPr>
          <p:spPr bwMode="auto">
            <a:xfrm>
              <a:off x="4599" y="1423"/>
              <a:ext cx="61" cy="157"/>
            </a:xfrm>
            <a:prstGeom prst="rect">
              <a:avLst/>
            </a:prstGeom>
            <a:pattFill prst="wdUpDiag">
              <a:fgClr>
                <a:schemeClr val="tx2"/>
              </a:fgClr>
              <a:bgClr>
                <a:schemeClr val="bg1"/>
              </a:bgClr>
            </a:patt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8" name="Line 20"/>
            <p:cNvSpPr>
              <a:spLocks noChangeShapeType="1"/>
            </p:cNvSpPr>
            <p:nvPr/>
          </p:nvSpPr>
          <p:spPr bwMode="auto">
            <a:xfrm>
              <a:off x="4582" y="1423"/>
              <a:ext cx="0" cy="157"/>
            </a:xfrm>
            <a:prstGeom prst="line">
              <a:avLst/>
            </a:prstGeom>
            <a:noFill/>
            <a:ln w="381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05" name="Group 21"/>
          <p:cNvGrpSpPr>
            <a:grpSpLocks/>
          </p:cNvGrpSpPr>
          <p:nvPr/>
        </p:nvGrpSpPr>
        <p:grpSpPr bwMode="auto">
          <a:xfrm flipH="1">
            <a:off x="10380167" y="1157398"/>
            <a:ext cx="123825" cy="249237"/>
            <a:chOff x="4582" y="1423"/>
            <a:chExt cx="78" cy="157"/>
          </a:xfrm>
        </p:grpSpPr>
        <p:sp>
          <p:nvSpPr>
            <p:cNvPr id="115" name="Rectangle 22" descr="宽上对角线"/>
            <p:cNvSpPr>
              <a:spLocks noChangeArrowheads="1"/>
            </p:cNvSpPr>
            <p:nvPr/>
          </p:nvSpPr>
          <p:spPr bwMode="auto">
            <a:xfrm>
              <a:off x="4599" y="1423"/>
              <a:ext cx="61" cy="157"/>
            </a:xfrm>
            <a:prstGeom prst="rect">
              <a:avLst/>
            </a:prstGeom>
            <a:pattFill prst="wdUpDiag">
              <a:fgClr>
                <a:schemeClr val="tx2"/>
              </a:fgClr>
              <a:bgClr>
                <a:schemeClr val="bg1"/>
              </a:bgClr>
            </a:patt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6" name="Line 23"/>
            <p:cNvSpPr>
              <a:spLocks noChangeShapeType="1"/>
            </p:cNvSpPr>
            <p:nvPr/>
          </p:nvSpPr>
          <p:spPr bwMode="auto">
            <a:xfrm>
              <a:off x="4582" y="1423"/>
              <a:ext cx="0" cy="157"/>
            </a:xfrm>
            <a:prstGeom prst="line">
              <a:avLst/>
            </a:prstGeom>
            <a:noFill/>
            <a:ln w="381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06" name="Group 24"/>
          <p:cNvGrpSpPr>
            <a:grpSpLocks/>
          </p:cNvGrpSpPr>
          <p:nvPr/>
        </p:nvGrpSpPr>
        <p:grpSpPr bwMode="auto">
          <a:xfrm flipH="1">
            <a:off x="10388104" y="2970915"/>
            <a:ext cx="123825" cy="249237"/>
            <a:chOff x="4582" y="1423"/>
            <a:chExt cx="78" cy="157"/>
          </a:xfrm>
        </p:grpSpPr>
        <p:sp>
          <p:nvSpPr>
            <p:cNvPr id="113" name="Rectangle 25" descr="宽上对角线"/>
            <p:cNvSpPr>
              <a:spLocks noChangeArrowheads="1"/>
            </p:cNvSpPr>
            <p:nvPr/>
          </p:nvSpPr>
          <p:spPr bwMode="auto">
            <a:xfrm>
              <a:off x="4599" y="1423"/>
              <a:ext cx="61" cy="157"/>
            </a:xfrm>
            <a:prstGeom prst="rect">
              <a:avLst/>
            </a:prstGeom>
            <a:pattFill prst="wdUpDiag">
              <a:fgClr>
                <a:schemeClr val="tx2"/>
              </a:fgClr>
              <a:bgClr>
                <a:schemeClr val="bg1"/>
              </a:bgClr>
            </a:patt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4" name="Line 26"/>
            <p:cNvSpPr>
              <a:spLocks noChangeShapeType="1"/>
            </p:cNvSpPr>
            <p:nvPr/>
          </p:nvSpPr>
          <p:spPr bwMode="auto">
            <a:xfrm>
              <a:off x="4582" y="1423"/>
              <a:ext cx="0" cy="157"/>
            </a:xfrm>
            <a:prstGeom prst="line">
              <a:avLst/>
            </a:prstGeom>
            <a:noFill/>
            <a:ln w="381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07" name="Group 27"/>
          <p:cNvGrpSpPr>
            <a:grpSpLocks/>
          </p:cNvGrpSpPr>
          <p:nvPr/>
        </p:nvGrpSpPr>
        <p:grpSpPr bwMode="auto">
          <a:xfrm>
            <a:off x="10659567" y="2052748"/>
            <a:ext cx="123825" cy="249237"/>
            <a:chOff x="4582" y="1423"/>
            <a:chExt cx="78" cy="157"/>
          </a:xfrm>
        </p:grpSpPr>
        <p:sp>
          <p:nvSpPr>
            <p:cNvPr id="111" name="Rectangle 28" descr="宽上对角线"/>
            <p:cNvSpPr>
              <a:spLocks noChangeArrowheads="1"/>
            </p:cNvSpPr>
            <p:nvPr/>
          </p:nvSpPr>
          <p:spPr bwMode="auto">
            <a:xfrm>
              <a:off x="4599" y="1423"/>
              <a:ext cx="61" cy="157"/>
            </a:xfrm>
            <a:prstGeom prst="rect">
              <a:avLst/>
            </a:prstGeom>
            <a:pattFill prst="wdUpDiag">
              <a:fgClr>
                <a:schemeClr val="tx2"/>
              </a:fgClr>
              <a:bgClr>
                <a:schemeClr val="bg1"/>
              </a:bgClr>
            </a:patt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 name="Line 29"/>
            <p:cNvSpPr>
              <a:spLocks noChangeShapeType="1"/>
            </p:cNvSpPr>
            <p:nvPr/>
          </p:nvSpPr>
          <p:spPr bwMode="auto">
            <a:xfrm>
              <a:off x="4582" y="1423"/>
              <a:ext cx="0" cy="157"/>
            </a:xfrm>
            <a:prstGeom prst="line">
              <a:avLst/>
            </a:prstGeom>
            <a:noFill/>
            <a:ln w="381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08" name="Group 30"/>
          <p:cNvGrpSpPr>
            <a:grpSpLocks/>
          </p:cNvGrpSpPr>
          <p:nvPr/>
        </p:nvGrpSpPr>
        <p:grpSpPr bwMode="auto">
          <a:xfrm flipH="1">
            <a:off x="10375404" y="2051161"/>
            <a:ext cx="123825" cy="249237"/>
            <a:chOff x="4582" y="1423"/>
            <a:chExt cx="78" cy="157"/>
          </a:xfrm>
        </p:grpSpPr>
        <p:sp>
          <p:nvSpPr>
            <p:cNvPr id="109" name="Rectangle 31" descr="宽上对角线"/>
            <p:cNvSpPr>
              <a:spLocks noChangeArrowheads="1"/>
            </p:cNvSpPr>
            <p:nvPr/>
          </p:nvSpPr>
          <p:spPr bwMode="auto">
            <a:xfrm>
              <a:off x="4599" y="1423"/>
              <a:ext cx="61" cy="157"/>
            </a:xfrm>
            <a:prstGeom prst="rect">
              <a:avLst/>
            </a:prstGeom>
            <a:pattFill prst="wdUpDiag">
              <a:fgClr>
                <a:schemeClr val="tx2"/>
              </a:fgClr>
              <a:bgClr>
                <a:schemeClr val="bg1"/>
              </a:bgClr>
            </a:patt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 name="Line 32"/>
            <p:cNvSpPr>
              <a:spLocks noChangeShapeType="1"/>
            </p:cNvSpPr>
            <p:nvPr/>
          </p:nvSpPr>
          <p:spPr bwMode="auto">
            <a:xfrm>
              <a:off x="4582" y="1423"/>
              <a:ext cx="0" cy="157"/>
            </a:xfrm>
            <a:prstGeom prst="line">
              <a:avLst/>
            </a:prstGeom>
            <a:noFill/>
            <a:ln w="381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22" name="Line 34"/>
          <p:cNvSpPr>
            <a:spLocks noChangeShapeType="1"/>
          </p:cNvSpPr>
          <p:nvPr/>
        </p:nvSpPr>
        <p:spPr bwMode="auto">
          <a:xfrm>
            <a:off x="9997579" y="1533253"/>
            <a:ext cx="117633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23" name="Line 35"/>
          <p:cNvSpPr>
            <a:spLocks noChangeShapeType="1"/>
          </p:cNvSpPr>
          <p:nvPr/>
        </p:nvSpPr>
        <p:spPr bwMode="auto">
          <a:xfrm>
            <a:off x="9999166" y="1547540"/>
            <a:ext cx="0" cy="122713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4" name="Line 36"/>
          <p:cNvSpPr>
            <a:spLocks noChangeShapeType="1"/>
          </p:cNvSpPr>
          <p:nvPr/>
        </p:nvSpPr>
        <p:spPr bwMode="auto">
          <a:xfrm>
            <a:off x="11142166" y="1541190"/>
            <a:ext cx="0" cy="123348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5" name="Line 37"/>
          <p:cNvSpPr>
            <a:spLocks noChangeShapeType="1"/>
          </p:cNvSpPr>
          <p:nvPr/>
        </p:nvSpPr>
        <p:spPr bwMode="auto">
          <a:xfrm>
            <a:off x="9984879" y="2798469"/>
            <a:ext cx="1163638" cy="0"/>
          </a:xfrm>
          <a:prstGeom prst="line">
            <a:avLst/>
          </a:prstGeom>
          <a:noFill/>
          <a:ln w="9525">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6" name="Oval 38"/>
          <p:cNvSpPr>
            <a:spLocks noChangeArrowheads="1"/>
          </p:cNvSpPr>
          <p:nvPr/>
        </p:nvSpPr>
        <p:spPr bwMode="auto">
          <a:xfrm>
            <a:off x="11010404" y="2673056"/>
            <a:ext cx="277813" cy="277813"/>
          </a:xfrm>
          <a:prstGeom prst="ellipse">
            <a:avLst/>
          </a:prstGeom>
          <a:gradFill rotWithShape="1">
            <a:gsLst>
              <a:gs pos="0">
                <a:srgbClr val="FF0000">
                  <a:gamma/>
                  <a:tint val="44314"/>
                  <a:invGamma/>
                </a:srgbClr>
              </a:gs>
              <a:gs pos="100000">
                <a:srgbClr val="FF0000"/>
              </a:gs>
            </a:gsLst>
            <a:path path="shape">
              <a:fillToRect l="50000" t="50000" r="50000" b="50000"/>
            </a:path>
          </a:gra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7" name="Oval 39"/>
          <p:cNvSpPr>
            <a:spLocks noChangeArrowheads="1"/>
          </p:cNvSpPr>
          <p:nvPr/>
        </p:nvSpPr>
        <p:spPr bwMode="auto">
          <a:xfrm>
            <a:off x="9840416" y="2666706"/>
            <a:ext cx="277813" cy="277813"/>
          </a:xfrm>
          <a:prstGeom prst="ellipse">
            <a:avLst/>
          </a:prstGeom>
          <a:gradFill rotWithShape="1">
            <a:gsLst>
              <a:gs pos="0">
                <a:srgbClr val="FF0000">
                  <a:gamma/>
                  <a:tint val="44314"/>
                  <a:invGamma/>
                </a:srgbClr>
              </a:gs>
              <a:gs pos="100000">
                <a:srgbClr val="FF0000"/>
              </a:gs>
            </a:gsLst>
            <a:path path="shape">
              <a:fillToRect l="50000" t="50000" r="50000" b="50000"/>
            </a:path>
          </a:gra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8" name="Oval 40"/>
          <p:cNvSpPr>
            <a:spLocks noChangeArrowheads="1"/>
          </p:cNvSpPr>
          <p:nvPr/>
        </p:nvSpPr>
        <p:spPr bwMode="auto">
          <a:xfrm>
            <a:off x="9940429" y="1464990"/>
            <a:ext cx="117475" cy="117475"/>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9" name="Oval 41"/>
          <p:cNvSpPr>
            <a:spLocks noChangeArrowheads="1"/>
          </p:cNvSpPr>
          <p:nvPr/>
        </p:nvSpPr>
        <p:spPr bwMode="auto">
          <a:xfrm>
            <a:off x="11097716" y="1472928"/>
            <a:ext cx="117475" cy="117475"/>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0" name="Text Box 81"/>
          <p:cNvSpPr txBox="1">
            <a:spLocks noChangeAspect="1" noChangeArrowheads="1"/>
          </p:cNvSpPr>
          <p:nvPr/>
        </p:nvSpPr>
        <p:spPr bwMode="auto">
          <a:xfrm>
            <a:off x="9651504" y="3233156"/>
            <a:ext cx="338137" cy="463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r>
              <a:rPr lang="en-US" altLang="zh-CN" b="1" i="1" dirty="0">
                <a:solidFill>
                  <a:srgbClr val="FFFF00"/>
                </a:solidFill>
                <a:ea typeface="宋体" panose="02010600030101010101" pitchFamily="2" charset="-122"/>
              </a:rPr>
              <a:t>G</a:t>
            </a:r>
            <a:endParaRPr lang="en-US" altLang="zh-CN" baseline="-25000" dirty="0">
              <a:solidFill>
                <a:srgbClr val="FFFF00"/>
              </a:solidFill>
              <a:ea typeface="宋体" panose="02010600030101010101" pitchFamily="2" charset="-122"/>
              <a:sym typeface="Symbol" panose="05050102010706020507" pitchFamily="18" charset="2"/>
            </a:endParaRPr>
          </a:p>
        </p:txBody>
      </p:sp>
      <p:sp>
        <p:nvSpPr>
          <p:cNvPr id="131" name="Line 82"/>
          <p:cNvSpPr>
            <a:spLocks noChangeShapeType="1"/>
          </p:cNvSpPr>
          <p:nvPr/>
        </p:nvSpPr>
        <p:spPr bwMode="auto">
          <a:xfrm>
            <a:off x="9989641" y="2823869"/>
            <a:ext cx="0" cy="658812"/>
          </a:xfrm>
          <a:prstGeom prst="line">
            <a:avLst/>
          </a:prstGeom>
          <a:noFill/>
          <a:ln w="28575">
            <a:solidFill>
              <a:srgbClr val="FFFF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32" name="Text Box 83"/>
          <p:cNvSpPr txBox="1">
            <a:spLocks noChangeAspect="1" noChangeArrowheads="1"/>
          </p:cNvSpPr>
          <p:nvPr/>
        </p:nvSpPr>
        <p:spPr bwMode="auto">
          <a:xfrm>
            <a:off x="11293112" y="3250906"/>
            <a:ext cx="338138" cy="463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r>
              <a:rPr lang="en-US" altLang="zh-CN" b="1" i="1" dirty="0">
                <a:solidFill>
                  <a:srgbClr val="FFFF00"/>
                </a:solidFill>
                <a:ea typeface="宋体" panose="02010600030101010101" pitchFamily="2" charset="-122"/>
              </a:rPr>
              <a:t>G</a:t>
            </a:r>
            <a:endParaRPr lang="en-US" altLang="zh-CN" baseline="-25000" dirty="0">
              <a:solidFill>
                <a:srgbClr val="FFFF00"/>
              </a:solidFill>
              <a:ea typeface="宋体" panose="02010600030101010101" pitchFamily="2" charset="-122"/>
              <a:sym typeface="Symbol" panose="05050102010706020507" pitchFamily="18" charset="2"/>
            </a:endParaRPr>
          </a:p>
        </p:txBody>
      </p:sp>
      <p:sp>
        <p:nvSpPr>
          <p:cNvPr id="133" name="Line 84"/>
          <p:cNvSpPr>
            <a:spLocks noChangeShapeType="1"/>
          </p:cNvSpPr>
          <p:nvPr/>
        </p:nvSpPr>
        <p:spPr bwMode="auto">
          <a:xfrm>
            <a:off x="11134229" y="2817519"/>
            <a:ext cx="0" cy="658812"/>
          </a:xfrm>
          <a:prstGeom prst="line">
            <a:avLst/>
          </a:prstGeom>
          <a:noFill/>
          <a:ln w="28575">
            <a:solidFill>
              <a:srgbClr val="FFFF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34" name="Text Box 85"/>
          <p:cNvSpPr txBox="1">
            <a:spLocks noChangeAspect="1" noChangeArrowheads="1"/>
          </p:cNvSpPr>
          <p:nvPr/>
        </p:nvSpPr>
        <p:spPr bwMode="auto">
          <a:xfrm>
            <a:off x="9634041" y="1324086"/>
            <a:ext cx="393700" cy="455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b="0" i="1" dirty="0">
                <a:ea typeface="宋体" panose="02010600030101010101" pitchFamily="2" charset="-122"/>
              </a:rPr>
              <a:t>A</a:t>
            </a:r>
            <a:endParaRPr lang="en-US" altLang="zh-CN" b="0" baseline="-25000" dirty="0">
              <a:ea typeface="宋体" panose="02010600030101010101" pitchFamily="2" charset="-122"/>
            </a:endParaRPr>
          </a:p>
        </p:txBody>
      </p:sp>
      <p:sp>
        <p:nvSpPr>
          <p:cNvPr id="135" name="Text Box 87"/>
          <p:cNvSpPr txBox="1">
            <a:spLocks noChangeAspect="1" noChangeArrowheads="1"/>
          </p:cNvSpPr>
          <p:nvPr/>
        </p:nvSpPr>
        <p:spPr bwMode="auto">
          <a:xfrm>
            <a:off x="11110416" y="1305036"/>
            <a:ext cx="393700" cy="455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b="0" i="1" dirty="0">
                <a:ea typeface="宋体" panose="02010600030101010101" pitchFamily="2" charset="-122"/>
              </a:rPr>
              <a:t>B</a:t>
            </a:r>
            <a:endParaRPr lang="en-US" altLang="zh-CN" b="0" baseline="-25000" dirty="0">
              <a:ea typeface="宋体" panose="02010600030101010101" pitchFamily="2" charset="-122"/>
            </a:endParaRPr>
          </a:p>
        </p:txBody>
      </p:sp>
      <p:sp>
        <p:nvSpPr>
          <p:cNvPr id="136" name="Text Box 89"/>
          <p:cNvSpPr txBox="1">
            <a:spLocks noChangeAspect="1" noChangeArrowheads="1"/>
          </p:cNvSpPr>
          <p:nvPr/>
        </p:nvSpPr>
        <p:spPr bwMode="auto">
          <a:xfrm>
            <a:off x="9530854" y="2684169"/>
            <a:ext cx="393700" cy="455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b="0" i="1" dirty="0">
                <a:ea typeface="宋体" panose="02010600030101010101" pitchFamily="2" charset="-122"/>
              </a:rPr>
              <a:t>C</a:t>
            </a:r>
            <a:endParaRPr lang="en-US" altLang="zh-CN" b="0" baseline="-25000" dirty="0">
              <a:ea typeface="宋体" panose="02010600030101010101" pitchFamily="2" charset="-122"/>
            </a:endParaRPr>
          </a:p>
        </p:txBody>
      </p:sp>
      <p:sp>
        <p:nvSpPr>
          <p:cNvPr id="137" name="Text Box 90"/>
          <p:cNvSpPr txBox="1">
            <a:spLocks noChangeAspect="1" noChangeArrowheads="1"/>
          </p:cNvSpPr>
          <p:nvPr/>
        </p:nvSpPr>
        <p:spPr bwMode="auto">
          <a:xfrm>
            <a:off x="11165979" y="2685756"/>
            <a:ext cx="393700" cy="4556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b="0" i="1" dirty="0">
                <a:ea typeface="宋体" panose="02010600030101010101" pitchFamily="2" charset="-122"/>
              </a:rPr>
              <a:t>D</a:t>
            </a:r>
            <a:endParaRPr lang="en-US" altLang="zh-CN" b="0" baseline="-25000" dirty="0">
              <a:ea typeface="宋体" panose="02010600030101010101" pitchFamily="2" charset="-122"/>
            </a:endParaRPr>
          </a:p>
        </p:txBody>
      </p:sp>
      <p:sp>
        <p:nvSpPr>
          <p:cNvPr id="185" name="Text Box 42"/>
          <p:cNvSpPr txBox="1">
            <a:spLocks noChangeAspect="1" noChangeArrowheads="1"/>
          </p:cNvSpPr>
          <p:nvPr/>
        </p:nvSpPr>
        <p:spPr bwMode="auto">
          <a:xfrm>
            <a:off x="10549679" y="3404761"/>
            <a:ext cx="417512" cy="6397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sz="3200" b="0" i="1" dirty="0">
                <a:ea typeface="宋体" panose="02010600030101010101" pitchFamily="2" charset="-122"/>
              </a:rPr>
              <a:t>z</a:t>
            </a:r>
          </a:p>
        </p:txBody>
      </p:sp>
      <p:sp>
        <p:nvSpPr>
          <p:cNvPr id="186" name="Text Box 43"/>
          <p:cNvSpPr txBox="1">
            <a:spLocks noChangeAspect="1" noChangeArrowheads="1"/>
          </p:cNvSpPr>
          <p:nvPr/>
        </p:nvSpPr>
        <p:spPr bwMode="auto">
          <a:xfrm>
            <a:off x="10624291" y="4354086"/>
            <a:ext cx="533400" cy="49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b="0" i="1" dirty="0">
                <a:sym typeface="Symbol" panose="05050102010706020507" pitchFamily="18" charset="2"/>
              </a:rPr>
              <a:t></a:t>
            </a:r>
            <a:endParaRPr lang="en-US" altLang="zh-CN" b="0" baseline="-25000" dirty="0">
              <a:sym typeface="Symbol" panose="05050102010706020507" pitchFamily="18" charset="2"/>
            </a:endParaRPr>
          </a:p>
        </p:txBody>
      </p:sp>
      <p:sp>
        <p:nvSpPr>
          <p:cNvPr id="188" name="Line 45"/>
          <p:cNvSpPr>
            <a:spLocks noChangeShapeType="1"/>
          </p:cNvSpPr>
          <p:nvPr/>
        </p:nvSpPr>
        <p:spPr bwMode="auto">
          <a:xfrm flipV="1">
            <a:off x="10576666" y="3600022"/>
            <a:ext cx="0" cy="2490789"/>
          </a:xfrm>
          <a:prstGeom prst="line">
            <a:avLst/>
          </a:prstGeom>
          <a:noFill/>
          <a:ln w="3810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nvGrpSpPr>
          <p:cNvPr id="189" name="Group 46"/>
          <p:cNvGrpSpPr>
            <a:grpSpLocks/>
          </p:cNvGrpSpPr>
          <p:nvPr/>
        </p:nvGrpSpPr>
        <p:grpSpPr bwMode="auto">
          <a:xfrm>
            <a:off x="10656041" y="3907998"/>
            <a:ext cx="123825" cy="249238"/>
            <a:chOff x="4582" y="1423"/>
            <a:chExt cx="78" cy="157"/>
          </a:xfrm>
        </p:grpSpPr>
        <p:sp>
          <p:nvSpPr>
            <p:cNvPr id="205" name="Rectangle 47" descr="宽上对角线"/>
            <p:cNvSpPr>
              <a:spLocks noChangeArrowheads="1"/>
            </p:cNvSpPr>
            <p:nvPr/>
          </p:nvSpPr>
          <p:spPr bwMode="auto">
            <a:xfrm>
              <a:off x="4599" y="1423"/>
              <a:ext cx="61" cy="157"/>
            </a:xfrm>
            <a:prstGeom prst="rect">
              <a:avLst/>
            </a:prstGeom>
            <a:pattFill prst="wdUpDiag">
              <a:fgClr>
                <a:schemeClr val="tx2"/>
              </a:fgClr>
              <a:bgClr>
                <a:schemeClr val="bg1"/>
              </a:bgClr>
            </a:patt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6" name="Line 48"/>
            <p:cNvSpPr>
              <a:spLocks noChangeShapeType="1"/>
            </p:cNvSpPr>
            <p:nvPr/>
          </p:nvSpPr>
          <p:spPr bwMode="auto">
            <a:xfrm>
              <a:off x="4582" y="1423"/>
              <a:ext cx="0" cy="157"/>
            </a:xfrm>
            <a:prstGeom prst="line">
              <a:avLst/>
            </a:prstGeom>
            <a:noFill/>
            <a:ln w="381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90" name="Group 49"/>
          <p:cNvGrpSpPr>
            <a:grpSpLocks/>
          </p:cNvGrpSpPr>
          <p:nvPr/>
        </p:nvGrpSpPr>
        <p:grpSpPr bwMode="auto">
          <a:xfrm>
            <a:off x="10651279" y="5749682"/>
            <a:ext cx="123825" cy="249238"/>
            <a:chOff x="4582" y="1423"/>
            <a:chExt cx="78" cy="157"/>
          </a:xfrm>
        </p:grpSpPr>
        <p:sp>
          <p:nvSpPr>
            <p:cNvPr id="203" name="Rectangle 50" descr="宽上对角线"/>
            <p:cNvSpPr>
              <a:spLocks noChangeArrowheads="1"/>
            </p:cNvSpPr>
            <p:nvPr/>
          </p:nvSpPr>
          <p:spPr bwMode="auto">
            <a:xfrm>
              <a:off x="4599" y="1423"/>
              <a:ext cx="61" cy="157"/>
            </a:xfrm>
            <a:prstGeom prst="rect">
              <a:avLst/>
            </a:prstGeom>
            <a:pattFill prst="wdUpDiag">
              <a:fgClr>
                <a:schemeClr val="tx2"/>
              </a:fgClr>
              <a:bgClr>
                <a:schemeClr val="bg1"/>
              </a:bgClr>
            </a:patt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4" name="Line 51"/>
            <p:cNvSpPr>
              <a:spLocks noChangeShapeType="1"/>
            </p:cNvSpPr>
            <p:nvPr/>
          </p:nvSpPr>
          <p:spPr bwMode="auto">
            <a:xfrm>
              <a:off x="4582" y="1423"/>
              <a:ext cx="0" cy="157"/>
            </a:xfrm>
            <a:prstGeom prst="line">
              <a:avLst/>
            </a:prstGeom>
            <a:noFill/>
            <a:ln w="381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91" name="Group 52"/>
          <p:cNvGrpSpPr>
            <a:grpSpLocks/>
          </p:cNvGrpSpPr>
          <p:nvPr/>
        </p:nvGrpSpPr>
        <p:grpSpPr bwMode="auto">
          <a:xfrm flipH="1">
            <a:off x="10371879" y="3915936"/>
            <a:ext cx="123825" cy="249238"/>
            <a:chOff x="4582" y="1423"/>
            <a:chExt cx="78" cy="157"/>
          </a:xfrm>
        </p:grpSpPr>
        <p:sp>
          <p:nvSpPr>
            <p:cNvPr id="201" name="Rectangle 53" descr="宽上对角线"/>
            <p:cNvSpPr>
              <a:spLocks noChangeArrowheads="1"/>
            </p:cNvSpPr>
            <p:nvPr/>
          </p:nvSpPr>
          <p:spPr bwMode="auto">
            <a:xfrm>
              <a:off x="4599" y="1423"/>
              <a:ext cx="61" cy="157"/>
            </a:xfrm>
            <a:prstGeom prst="rect">
              <a:avLst/>
            </a:prstGeom>
            <a:pattFill prst="wdUpDiag">
              <a:fgClr>
                <a:schemeClr val="tx2"/>
              </a:fgClr>
              <a:bgClr>
                <a:schemeClr val="bg1"/>
              </a:bgClr>
            </a:patt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2" name="Line 54"/>
            <p:cNvSpPr>
              <a:spLocks noChangeShapeType="1"/>
            </p:cNvSpPr>
            <p:nvPr/>
          </p:nvSpPr>
          <p:spPr bwMode="auto">
            <a:xfrm>
              <a:off x="4582" y="1423"/>
              <a:ext cx="0" cy="157"/>
            </a:xfrm>
            <a:prstGeom prst="line">
              <a:avLst/>
            </a:prstGeom>
            <a:noFill/>
            <a:ln w="381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92" name="Group 55"/>
          <p:cNvGrpSpPr>
            <a:grpSpLocks/>
          </p:cNvGrpSpPr>
          <p:nvPr/>
        </p:nvGrpSpPr>
        <p:grpSpPr bwMode="auto">
          <a:xfrm flipH="1">
            <a:off x="10379816" y="5757619"/>
            <a:ext cx="123825" cy="249238"/>
            <a:chOff x="4582" y="1423"/>
            <a:chExt cx="78" cy="157"/>
          </a:xfrm>
        </p:grpSpPr>
        <p:sp>
          <p:nvSpPr>
            <p:cNvPr id="199" name="Rectangle 56" descr="宽上对角线"/>
            <p:cNvSpPr>
              <a:spLocks noChangeArrowheads="1"/>
            </p:cNvSpPr>
            <p:nvPr/>
          </p:nvSpPr>
          <p:spPr bwMode="auto">
            <a:xfrm>
              <a:off x="4599" y="1423"/>
              <a:ext cx="61" cy="157"/>
            </a:xfrm>
            <a:prstGeom prst="rect">
              <a:avLst/>
            </a:prstGeom>
            <a:pattFill prst="wdUpDiag">
              <a:fgClr>
                <a:schemeClr val="tx2"/>
              </a:fgClr>
              <a:bgClr>
                <a:schemeClr val="bg1"/>
              </a:bgClr>
            </a:patt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0" name="Line 57"/>
            <p:cNvSpPr>
              <a:spLocks noChangeShapeType="1"/>
            </p:cNvSpPr>
            <p:nvPr/>
          </p:nvSpPr>
          <p:spPr bwMode="auto">
            <a:xfrm>
              <a:off x="4582" y="1423"/>
              <a:ext cx="0" cy="157"/>
            </a:xfrm>
            <a:prstGeom prst="line">
              <a:avLst/>
            </a:prstGeom>
            <a:noFill/>
            <a:ln w="381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93" name="Group 58"/>
          <p:cNvGrpSpPr>
            <a:grpSpLocks/>
          </p:cNvGrpSpPr>
          <p:nvPr/>
        </p:nvGrpSpPr>
        <p:grpSpPr bwMode="auto">
          <a:xfrm>
            <a:off x="10651279" y="4806523"/>
            <a:ext cx="123825" cy="249238"/>
            <a:chOff x="4582" y="1423"/>
            <a:chExt cx="78" cy="157"/>
          </a:xfrm>
        </p:grpSpPr>
        <p:sp>
          <p:nvSpPr>
            <p:cNvPr id="197" name="Rectangle 59" descr="宽上对角线"/>
            <p:cNvSpPr>
              <a:spLocks noChangeArrowheads="1"/>
            </p:cNvSpPr>
            <p:nvPr/>
          </p:nvSpPr>
          <p:spPr bwMode="auto">
            <a:xfrm>
              <a:off x="4599" y="1423"/>
              <a:ext cx="61" cy="157"/>
            </a:xfrm>
            <a:prstGeom prst="rect">
              <a:avLst/>
            </a:prstGeom>
            <a:pattFill prst="wdUpDiag">
              <a:fgClr>
                <a:schemeClr val="tx2"/>
              </a:fgClr>
              <a:bgClr>
                <a:schemeClr val="bg1"/>
              </a:bgClr>
            </a:patt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8" name="Line 60"/>
            <p:cNvSpPr>
              <a:spLocks noChangeShapeType="1"/>
            </p:cNvSpPr>
            <p:nvPr/>
          </p:nvSpPr>
          <p:spPr bwMode="auto">
            <a:xfrm>
              <a:off x="4582" y="1423"/>
              <a:ext cx="0" cy="157"/>
            </a:xfrm>
            <a:prstGeom prst="line">
              <a:avLst/>
            </a:prstGeom>
            <a:noFill/>
            <a:ln w="381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94" name="Group 61"/>
          <p:cNvGrpSpPr>
            <a:grpSpLocks/>
          </p:cNvGrpSpPr>
          <p:nvPr/>
        </p:nvGrpSpPr>
        <p:grpSpPr bwMode="auto">
          <a:xfrm flipH="1">
            <a:off x="10367116" y="4809698"/>
            <a:ext cx="123825" cy="249238"/>
            <a:chOff x="4582" y="1423"/>
            <a:chExt cx="78" cy="157"/>
          </a:xfrm>
        </p:grpSpPr>
        <p:sp>
          <p:nvSpPr>
            <p:cNvPr id="195" name="Rectangle 62" descr="宽上对角线"/>
            <p:cNvSpPr>
              <a:spLocks noChangeArrowheads="1"/>
            </p:cNvSpPr>
            <p:nvPr/>
          </p:nvSpPr>
          <p:spPr bwMode="auto">
            <a:xfrm>
              <a:off x="4599" y="1423"/>
              <a:ext cx="61" cy="157"/>
            </a:xfrm>
            <a:prstGeom prst="rect">
              <a:avLst/>
            </a:prstGeom>
            <a:pattFill prst="wdUpDiag">
              <a:fgClr>
                <a:schemeClr val="tx2"/>
              </a:fgClr>
              <a:bgClr>
                <a:schemeClr val="bg1"/>
              </a:bgClr>
            </a:patt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6" name="Line 63"/>
            <p:cNvSpPr>
              <a:spLocks noChangeShapeType="1"/>
            </p:cNvSpPr>
            <p:nvPr/>
          </p:nvSpPr>
          <p:spPr bwMode="auto">
            <a:xfrm>
              <a:off x="4582" y="1423"/>
              <a:ext cx="0" cy="157"/>
            </a:xfrm>
            <a:prstGeom prst="line">
              <a:avLst/>
            </a:prstGeom>
            <a:noFill/>
            <a:ln w="381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208" name="Line 65"/>
          <p:cNvSpPr>
            <a:spLocks noChangeShapeType="1"/>
          </p:cNvSpPr>
          <p:nvPr/>
        </p:nvSpPr>
        <p:spPr bwMode="auto">
          <a:xfrm>
            <a:off x="9998816" y="4296936"/>
            <a:ext cx="0" cy="112553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209" name="Group 66"/>
          <p:cNvGrpSpPr>
            <a:grpSpLocks/>
          </p:cNvGrpSpPr>
          <p:nvPr/>
        </p:nvGrpSpPr>
        <p:grpSpPr bwMode="auto">
          <a:xfrm>
            <a:off x="9543203" y="4235023"/>
            <a:ext cx="2073275" cy="1444625"/>
            <a:chOff x="3171" y="2397"/>
            <a:chExt cx="1306" cy="910"/>
          </a:xfrm>
        </p:grpSpPr>
        <p:sp>
          <p:nvSpPr>
            <p:cNvPr id="215" name="Line 67"/>
            <p:cNvSpPr>
              <a:spLocks noChangeShapeType="1"/>
            </p:cNvSpPr>
            <p:nvPr/>
          </p:nvSpPr>
          <p:spPr bwMode="auto">
            <a:xfrm>
              <a:off x="3452" y="2440"/>
              <a:ext cx="741"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16" name="Line 68"/>
            <p:cNvSpPr>
              <a:spLocks noChangeShapeType="1"/>
            </p:cNvSpPr>
            <p:nvPr/>
          </p:nvSpPr>
          <p:spPr bwMode="auto">
            <a:xfrm rot="900000">
              <a:off x="3349" y="2427"/>
              <a:ext cx="0" cy="78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7" name="Line 69"/>
            <p:cNvSpPr>
              <a:spLocks noChangeShapeType="1"/>
            </p:cNvSpPr>
            <p:nvPr/>
          </p:nvSpPr>
          <p:spPr bwMode="auto">
            <a:xfrm rot="20700000">
              <a:off x="4286" y="2423"/>
              <a:ext cx="0" cy="787"/>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8" name="Oval 70"/>
            <p:cNvSpPr>
              <a:spLocks noChangeArrowheads="1"/>
            </p:cNvSpPr>
            <p:nvPr/>
          </p:nvSpPr>
          <p:spPr bwMode="auto">
            <a:xfrm>
              <a:off x="4302" y="3132"/>
              <a:ext cx="175" cy="175"/>
            </a:xfrm>
            <a:prstGeom prst="ellipse">
              <a:avLst/>
            </a:prstGeom>
            <a:gradFill rotWithShape="1">
              <a:gsLst>
                <a:gs pos="0">
                  <a:srgbClr val="FF0000">
                    <a:gamma/>
                    <a:tint val="44314"/>
                    <a:invGamma/>
                  </a:srgbClr>
                </a:gs>
                <a:gs pos="100000">
                  <a:srgbClr val="FF0000"/>
                </a:gs>
              </a:gsLst>
              <a:path path="shape">
                <a:fillToRect l="50000" t="50000" r="50000" b="50000"/>
              </a:path>
            </a:gra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9" name="Oval 71"/>
            <p:cNvSpPr>
              <a:spLocks noChangeArrowheads="1"/>
            </p:cNvSpPr>
            <p:nvPr/>
          </p:nvSpPr>
          <p:spPr bwMode="auto">
            <a:xfrm>
              <a:off x="3171" y="3126"/>
              <a:ext cx="175" cy="175"/>
            </a:xfrm>
            <a:prstGeom prst="ellipse">
              <a:avLst/>
            </a:prstGeom>
            <a:gradFill rotWithShape="1">
              <a:gsLst>
                <a:gs pos="0">
                  <a:srgbClr val="FF0000">
                    <a:gamma/>
                    <a:tint val="44314"/>
                    <a:invGamma/>
                  </a:srgbClr>
                </a:gs>
                <a:gs pos="100000">
                  <a:srgbClr val="FF0000"/>
                </a:gs>
              </a:gsLst>
              <a:path path="shape">
                <a:fillToRect l="50000" t="50000" r="50000" b="50000"/>
              </a:path>
            </a:gra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0" name="Oval 72"/>
            <p:cNvSpPr>
              <a:spLocks noChangeArrowheads="1"/>
            </p:cNvSpPr>
            <p:nvPr/>
          </p:nvSpPr>
          <p:spPr bwMode="auto">
            <a:xfrm>
              <a:off x="3416" y="2397"/>
              <a:ext cx="74" cy="74"/>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1" name="Oval 73"/>
            <p:cNvSpPr>
              <a:spLocks noChangeArrowheads="1"/>
            </p:cNvSpPr>
            <p:nvPr/>
          </p:nvSpPr>
          <p:spPr bwMode="auto">
            <a:xfrm>
              <a:off x="4145" y="2402"/>
              <a:ext cx="74" cy="74"/>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10" name="Line 74"/>
          <p:cNvSpPr>
            <a:spLocks noChangeShapeType="1"/>
          </p:cNvSpPr>
          <p:nvPr/>
        </p:nvSpPr>
        <p:spPr bwMode="auto">
          <a:xfrm>
            <a:off x="11143404" y="4331861"/>
            <a:ext cx="0" cy="112553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1" name="Arc 75"/>
          <p:cNvSpPr>
            <a:spLocks noChangeAspect="1"/>
          </p:cNvSpPr>
          <p:nvPr/>
        </p:nvSpPr>
        <p:spPr bwMode="auto">
          <a:xfrm rot="662529" flipV="1">
            <a:off x="9835304" y="4593798"/>
            <a:ext cx="190500" cy="465138"/>
          </a:xfrm>
          <a:custGeom>
            <a:avLst/>
            <a:gdLst>
              <a:gd name="G0" fmla="+- 8450 0 0"/>
              <a:gd name="G1" fmla="+- 21600 0 0"/>
              <a:gd name="G2" fmla="+- 21600 0 0"/>
              <a:gd name="T0" fmla="*/ 0 w 19497"/>
              <a:gd name="T1" fmla="*/ 1722 h 21600"/>
              <a:gd name="T2" fmla="*/ 19497 w 19497"/>
              <a:gd name="T3" fmla="*/ 3038 h 21600"/>
              <a:gd name="T4" fmla="*/ 8450 w 19497"/>
              <a:gd name="T5" fmla="*/ 21600 h 21600"/>
            </a:gdLst>
            <a:ahLst/>
            <a:cxnLst>
              <a:cxn ang="0">
                <a:pos x="T0" y="T1"/>
              </a:cxn>
              <a:cxn ang="0">
                <a:pos x="T2" y="T3"/>
              </a:cxn>
              <a:cxn ang="0">
                <a:pos x="T4" y="T5"/>
              </a:cxn>
            </a:cxnLst>
            <a:rect l="0" t="0" r="r" b="b"/>
            <a:pathLst>
              <a:path w="19497" h="21600" fill="none" extrusionOk="0">
                <a:moveTo>
                  <a:pt x="-1" y="1721"/>
                </a:moveTo>
                <a:cubicBezTo>
                  <a:pt x="2672" y="585"/>
                  <a:pt x="5546" y="-1"/>
                  <a:pt x="8450" y="0"/>
                </a:cubicBezTo>
                <a:cubicBezTo>
                  <a:pt x="12338" y="0"/>
                  <a:pt x="16155" y="1049"/>
                  <a:pt x="19496" y="3038"/>
                </a:cubicBezTo>
              </a:path>
              <a:path w="19497" h="21600" stroke="0" extrusionOk="0">
                <a:moveTo>
                  <a:pt x="-1" y="1721"/>
                </a:moveTo>
                <a:cubicBezTo>
                  <a:pt x="2672" y="585"/>
                  <a:pt x="5546" y="-1"/>
                  <a:pt x="8450" y="0"/>
                </a:cubicBezTo>
                <a:cubicBezTo>
                  <a:pt x="12338" y="0"/>
                  <a:pt x="16155" y="1049"/>
                  <a:pt x="19496" y="3038"/>
                </a:cubicBezTo>
                <a:lnTo>
                  <a:pt x="8450" y="21600"/>
                </a:lnTo>
                <a:close/>
              </a:path>
            </a:pathLst>
          </a:custGeom>
          <a:noFill/>
          <a:ln w="12700">
            <a:solidFill>
              <a:schemeClr val="bg1"/>
            </a:solidFill>
            <a:round/>
            <a:headEnd/>
            <a:tailEnd type="non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2" name="Arc 76"/>
          <p:cNvSpPr>
            <a:spLocks noChangeAspect="1"/>
          </p:cNvSpPr>
          <p:nvPr/>
        </p:nvSpPr>
        <p:spPr bwMode="auto">
          <a:xfrm rot="24244" flipV="1">
            <a:off x="11146579" y="4609673"/>
            <a:ext cx="190500" cy="465138"/>
          </a:xfrm>
          <a:custGeom>
            <a:avLst/>
            <a:gdLst>
              <a:gd name="G0" fmla="+- 8450 0 0"/>
              <a:gd name="G1" fmla="+- 21600 0 0"/>
              <a:gd name="G2" fmla="+- 21600 0 0"/>
              <a:gd name="T0" fmla="*/ 0 w 19497"/>
              <a:gd name="T1" fmla="*/ 1722 h 21600"/>
              <a:gd name="T2" fmla="*/ 19497 w 19497"/>
              <a:gd name="T3" fmla="*/ 3038 h 21600"/>
              <a:gd name="T4" fmla="*/ 8450 w 19497"/>
              <a:gd name="T5" fmla="*/ 21600 h 21600"/>
            </a:gdLst>
            <a:ahLst/>
            <a:cxnLst>
              <a:cxn ang="0">
                <a:pos x="T0" y="T1"/>
              </a:cxn>
              <a:cxn ang="0">
                <a:pos x="T2" y="T3"/>
              </a:cxn>
              <a:cxn ang="0">
                <a:pos x="T4" y="T5"/>
              </a:cxn>
            </a:cxnLst>
            <a:rect l="0" t="0" r="r" b="b"/>
            <a:pathLst>
              <a:path w="19497" h="21600" fill="none" extrusionOk="0">
                <a:moveTo>
                  <a:pt x="-1" y="1721"/>
                </a:moveTo>
                <a:cubicBezTo>
                  <a:pt x="2672" y="585"/>
                  <a:pt x="5546" y="-1"/>
                  <a:pt x="8450" y="0"/>
                </a:cubicBezTo>
                <a:cubicBezTo>
                  <a:pt x="12338" y="0"/>
                  <a:pt x="16155" y="1049"/>
                  <a:pt x="19496" y="3038"/>
                </a:cubicBezTo>
              </a:path>
              <a:path w="19497" h="21600" stroke="0" extrusionOk="0">
                <a:moveTo>
                  <a:pt x="-1" y="1721"/>
                </a:moveTo>
                <a:cubicBezTo>
                  <a:pt x="2672" y="585"/>
                  <a:pt x="5546" y="-1"/>
                  <a:pt x="8450" y="0"/>
                </a:cubicBezTo>
                <a:cubicBezTo>
                  <a:pt x="12338" y="0"/>
                  <a:pt x="16155" y="1049"/>
                  <a:pt x="19496" y="3038"/>
                </a:cubicBezTo>
                <a:lnTo>
                  <a:pt x="8450" y="21600"/>
                </a:lnTo>
                <a:close/>
              </a:path>
            </a:pathLst>
          </a:custGeom>
          <a:noFill/>
          <a:ln w="12700">
            <a:solidFill>
              <a:schemeClr val="bg1"/>
            </a:solidFill>
            <a:round/>
            <a:headEnd/>
            <a:tailEnd type="non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3" name="Text Box 77"/>
          <p:cNvSpPr txBox="1">
            <a:spLocks noChangeAspect="1" noChangeArrowheads="1"/>
          </p:cNvSpPr>
          <p:nvPr/>
        </p:nvSpPr>
        <p:spPr bwMode="auto">
          <a:xfrm>
            <a:off x="9673379" y="4998611"/>
            <a:ext cx="400050"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b="0" i="1" dirty="0">
                <a:sym typeface="Symbol" panose="05050102010706020507" pitchFamily="18" charset="2"/>
              </a:rPr>
              <a:t></a:t>
            </a:r>
            <a:endParaRPr lang="en-US" altLang="zh-CN" b="0" dirty="0">
              <a:sym typeface="Symbol" panose="05050102010706020507" pitchFamily="18" charset="2"/>
            </a:endParaRPr>
          </a:p>
        </p:txBody>
      </p:sp>
      <p:sp>
        <p:nvSpPr>
          <p:cNvPr id="214" name="Text Box 78"/>
          <p:cNvSpPr txBox="1">
            <a:spLocks noChangeAspect="1" noChangeArrowheads="1"/>
          </p:cNvSpPr>
          <p:nvPr/>
        </p:nvSpPr>
        <p:spPr bwMode="auto">
          <a:xfrm>
            <a:off x="11056091" y="4990673"/>
            <a:ext cx="400050"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b="0" i="1" dirty="0">
                <a:sym typeface="Symbol" panose="05050102010706020507" pitchFamily="18" charset="2"/>
              </a:rPr>
              <a:t></a:t>
            </a:r>
            <a:endParaRPr lang="en-US" altLang="zh-CN" b="0" dirty="0">
              <a:sym typeface="Symbol" panose="05050102010706020507" pitchFamily="18" charset="2"/>
            </a:endParaRPr>
          </a:p>
        </p:txBody>
      </p:sp>
      <p:sp>
        <p:nvSpPr>
          <p:cNvPr id="222" name="Arc 79"/>
          <p:cNvSpPr>
            <a:spLocks noChangeAspect="1"/>
          </p:cNvSpPr>
          <p:nvPr/>
        </p:nvSpPr>
        <p:spPr bwMode="auto">
          <a:xfrm rot="662529" flipV="1">
            <a:off x="10255991" y="4122311"/>
            <a:ext cx="595313" cy="465137"/>
          </a:xfrm>
          <a:custGeom>
            <a:avLst/>
            <a:gdLst>
              <a:gd name="G0" fmla="+- 8450 0 0"/>
              <a:gd name="G1" fmla="+- 21600 0 0"/>
              <a:gd name="G2" fmla="+- 21600 0 0"/>
              <a:gd name="T0" fmla="*/ 0 w 27703"/>
              <a:gd name="T1" fmla="*/ 1722 h 21600"/>
              <a:gd name="T2" fmla="*/ 27703 w 27703"/>
              <a:gd name="T3" fmla="*/ 11808 h 21600"/>
              <a:gd name="T4" fmla="*/ 8450 w 27703"/>
              <a:gd name="T5" fmla="*/ 21600 h 21600"/>
            </a:gdLst>
            <a:ahLst/>
            <a:cxnLst>
              <a:cxn ang="0">
                <a:pos x="T0" y="T1"/>
              </a:cxn>
              <a:cxn ang="0">
                <a:pos x="T2" y="T3"/>
              </a:cxn>
              <a:cxn ang="0">
                <a:pos x="T4" y="T5"/>
              </a:cxn>
            </a:cxnLst>
            <a:rect l="0" t="0" r="r" b="b"/>
            <a:pathLst>
              <a:path w="27703" h="21600" fill="none" extrusionOk="0">
                <a:moveTo>
                  <a:pt x="-1" y="1721"/>
                </a:moveTo>
                <a:cubicBezTo>
                  <a:pt x="2672" y="585"/>
                  <a:pt x="5546" y="-1"/>
                  <a:pt x="8450" y="0"/>
                </a:cubicBezTo>
                <a:cubicBezTo>
                  <a:pt x="16578" y="0"/>
                  <a:pt x="24018" y="4563"/>
                  <a:pt x="27702" y="11808"/>
                </a:cubicBezTo>
              </a:path>
              <a:path w="27703" h="21600" stroke="0" extrusionOk="0">
                <a:moveTo>
                  <a:pt x="-1" y="1721"/>
                </a:moveTo>
                <a:cubicBezTo>
                  <a:pt x="2672" y="585"/>
                  <a:pt x="5546" y="-1"/>
                  <a:pt x="8450" y="0"/>
                </a:cubicBezTo>
                <a:cubicBezTo>
                  <a:pt x="16578" y="0"/>
                  <a:pt x="24018" y="4563"/>
                  <a:pt x="27702" y="11808"/>
                </a:cubicBezTo>
                <a:lnTo>
                  <a:pt x="8450" y="21600"/>
                </a:lnTo>
                <a:close/>
              </a:path>
            </a:pathLst>
          </a:custGeom>
          <a:noFill/>
          <a:ln w="28575">
            <a:solidFill>
              <a:schemeClr val="tx1"/>
            </a:solidFill>
            <a:round/>
            <a:headEnd/>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3" name="Text Box 86"/>
          <p:cNvSpPr txBox="1">
            <a:spLocks noChangeAspect="1" noChangeArrowheads="1"/>
          </p:cNvSpPr>
          <p:nvPr/>
        </p:nvSpPr>
        <p:spPr bwMode="auto">
          <a:xfrm>
            <a:off x="9638454" y="4058811"/>
            <a:ext cx="393700" cy="455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b="0" i="1" dirty="0">
                <a:ea typeface="宋体" panose="02010600030101010101" pitchFamily="2" charset="-122"/>
              </a:rPr>
              <a:t>A</a:t>
            </a:r>
            <a:endParaRPr lang="en-US" altLang="zh-CN" b="0" baseline="-25000" dirty="0">
              <a:ea typeface="宋体" panose="02010600030101010101" pitchFamily="2" charset="-122"/>
            </a:endParaRPr>
          </a:p>
        </p:txBody>
      </p:sp>
      <p:sp>
        <p:nvSpPr>
          <p:cNvPr id="224" name="Text Box 88"/>
          <p:cNvSpPr txBox="1">
            <a:spLocks noChangeAspect="1" noChangeArrowheads="1"/>
          </p:cNvSpPr>
          <p:nvPr/>
        </p:nvSpPr>
        <p:spPr bwMode="auto">
          <a:xfrm>
            <a:off x="11119591" y="4046111"/>
            <a:ext cx="393700" cy="455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b="0" i="1" dirty="0">
                <a:ea typeface="宋体" panose="02010600030101010101" pitchFamily="2" charset="-122"/>
              </a:rPr>
              <a:t>B</a:t>
            </a:r>
            <a:endParaRPr lang="en-US" altLang="zh-CN" b="0" baseline="-25000" dirty="0">
              <a:ea typeface="宋体" panose="02010600030101010101" pitchFamily="2" charset="-122"/>
            </a:endParaRPr>
          </a:p>
        </p:txBody>
      </p:sp>
      <p:sp>
        <p:nvSpPr>
          <p:cNvPr id="227" name="Text Box 93"/>
          <p:cNvSpPr txBox="1">
            <a:spLocks noChangeAspect="1" noChangeArrowheads="1"/>
          </p:cNvSpPr>
          <p:nvPr/>
        </p:nvSpPr>
        <p:spPr bwMode="auto">
          <a:xfrm>
            <a:off x="11577215" y="5852686"/>
            <a:ext cx="338138" cy="463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r>
              <a:rPr lang="en-US" altLang="zh-CN" b="1" i="1" dirty="0">
                <a:solidFill>
                  <a:srgbClr val="FFFF00"/>
                </a:solidFill>
                <a:ea typeface="宋体" panose="02010600030101010101" pitchFamily="2" charset="-122"/>
              </a:rPr>
              <a:t>G</a:t>
            </a:r>
            <a:endParaRPr lang="en-US" altLang="zh-CN" baseline="-25000" dirty="0">
              <a:solidFill>
                <a:srgbClr val="FFFF00"/>
              </a:solidFill>
              <a:ea typeface="宋体" panose="02010600030101010101" pitchFamily="2" charset="-122"/>
              <a:sym typeface="Symbol" panose="05050102010706020507" pitchFamily="18" charset="2"/>
            </a:endParaRPr>
          </a:p>
        </p:txBody>
      </p:sp>
      <p:sp>
        <p:nvSpPr>
          <p:cNvPr id="228" name="Line 94"/>
          <p:cNvSpPr>
            <a:spLocks noChangeShapeType="1"/>
          </p:cNvSpPr>
          <p:nvPr/>
        </p:nvSpPr>
        <p:spPr bwMode="auto">
          <a:xfrm>
            <a:off x="11483128" y="5576326"/>
            <a:ext cx="0" cy="514486"/>
          </a:xfrm>
          <a:prstGeom prst="line">
            <a:avLst/>
          </a:prstGeom>
          <a:noFill/>
          <a:ln w="28575">
            <a:solidFill>
              <a:srgbClr val="FFFF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29" name="Text Box 95"/>
          <p:cNvSpPr txBox="1">
            <a:spLocks noChangeAspect="1" noChangeArrowheads="1"/>
          </p:cNvSpPr>
          <p:nvPr/>
        </p:nvSpPr>
        <p:spPr bwMode="auto">
          <a:xfrm>
            <a:off x="9775901" y="5466574"/>
            <a:ext cx="393700" cy="455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b="0" i="1" dirty="0">
                <a:ea typeface="宋体" panose="02010600030101010101" pitchFamily="2" charset="-122"/>
              </a:rPr>
              <a:t>C</a:t>
            </a:r>
            <a:endParaRPr lang="en-US" altLang="zh-CN" b="0" baseline="-25000" dirty="0">
              <a:ea typeface="宋体" panose="02010600030101010101" pitchFamily="2" charset="-122"/>
            </a:endParaRPr>
          </a:p>
        </p:txBody>
      </p:sp>
      <p:sp>
        <p:nvSpPr>
          <p:cNvPr id="230" name="Text Box 96"/>
          <p:cNvSpPr txBox="1">
            <a:spLocks noChangeAspect="1" noChangeArrowheads="1"/>
          </p:cNvSpPr>
          <p:nvPr/>
        </p:nvSpPr>
        <p:spPr bwMode="auto">
          <a:xfrm>
            <a:off x="10851426" y="5445003"/>
            <a:ext cx="393700" cy="455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b="0" i="1" dirty="0">
                <a:ea typeface="宋体" panose="02010600030101010101" pitchFamily="2" charset="-122"/>
              </a:rPr>
              <a:t>D</a:t>
            </a:r>
            <a:endParaRPr lang="en-US" altLang="zh-CN" b="0" baseline="-25000" dirty="0">
              <a:ea typeface="宋体" panose="02010600030101010101" pitchFamily="2" charset="-122"/>
            </a:endParaRPr>
          </a:p>
        </p:txBody>
      </p:sp>
      <p:sp>
        <p:nvSpPr>
          <p:cNvPr id="231" name="Text Box 93"/>
          <p:cNvSpPr txBox="1">
            <a:spLocks noChangeAspect="1" noChangeArrowheads="1"/>
          </p:cNvSpPr>
          <p:nvPr/>
        </p:nvSpPr>
        <p:spPr bwMode="auto">
          <a:xfrm>
            <a:off x="9339170" y="5852686"/>
            <a:ext cx="338138" cy="463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r>
              <a:rPr lang="en-US" altLang="zh-CN" b="1" i="1" dirty="0">
                <a:solidFill>
                  <a:srgbClr val="FFFF00"/>
                </a:solidFill>
                <a:ea typeface="宋体" panose="02010600030101010101" pitchFamily="2" charset="-122"/>
              </a:rPr>
              <a:t>G</a:t>
            </a:r>
            <a:endParaRPr lang="en-US" altLang="zh-CN" baseline="-25000" dirty="0">
              <a:solidFill>
                <a:srgbClr val="FFFF00"/>
              </a:solidFill>
              <a:ea typeface="宋体" panose="02010600030101010101" pitchFamily="2" charset="-122"/>
              <a:sym typeface="Symbol" panose="05050102010706020507" pitchFamily="18" charset="2"/>
            </a:endParaRPr>
          </a:p>
        </p:txBody>
      </p:sp>
      <p:sp>
        <p:nvSpPr>
          <p:cNvPr id="232" name="Line 94"/>
          <p:cNvSpPr>
            <a:spLocks noChangeShapeType="1"/>
          </p:cNvSpPr>
          <p:nvPr/>
        </p:nvSpPr>
        <p:spPr bwMode="auto">
          <a:xfrm>
            <a:off x="9682645" y="5576326"/>
            <a:ext cx="0" cy="514486"/>
          </a:xfrm>
          <a:prstGeom prst="line">
            <a:avLst/>
          </a:prstGeom>
          <a:noFill/>
          <a:ln w="28575">
            <a:solidFill>
              <a:srgbClr val="FFFF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3" name="矩形 232">
            <a:extLst>
              <a:ext uri="{FF2B5EF4-FFF2-40B4-BE49-F238E27FC236}">
                <a16:creationId xmlns:a16="http://schemas.microsoft.com/office/drawing/2014/main" id="{D3CDC4E8-6131-C61F-BBEF-CD6E3A776FFC}"/>
              </a:ext>
            </a:extLst>
          </p:cNvPr>
          <p:cNvSpPr/>
          <p:nvPr/>
        </p:nvSpPr>
        <p:spPr>
          <a:xfrm>
            <a:off x="191343" y="3927634"/>
            <a:ext cx="8467874" cy="572464"/>
          </a:xfrm>
          <a:prstGeom prst="rect">
            <a:avLst/>
          </a:prstGeom>
        </p:spPr>
        <p:txBody>
          <a:bodyPr wrap="square">
            <a:spAutoFit/>
          </a:bodyPr>
          <a:lstStyle/>
          <a:p>
            <a:pPr>
              <a:lnSpc>
                <a:spcPct val="130000"/>
              </a:lnSpc>
              <a:defRPr/>
            </a:pPr>
            <a:r>
              <a:rPr kumimoji="1" lang="zh-CN" altLang="en-US" i="0" dirty="0">
                <a:solidFill>
                  <a:schemeClr val="tx1"/>
                </a:solidFill>
                <a:ea typeface="黑体" panose="02010609060101010101" pitchFamily="49" charset="-122"/>
              </a:rPr>
              <a:t>绳拉断后系统的动量矩为：</a:t>
            </a:r>
            <a:endParaRPr lang="zh-CN" altLang="en-US" i="0" dirty="0">
              <a:solidFill>
                <a:schemeClr val="tx1"/>
              </a:solidFill>
              <a:latin typeface="+mn-lt"/>
              <a:ea typeface="黑体" panose="02010609060101010101" pitchFamily="49" charset="-122"/>
            </a:endParaRPr>
          </a:p>
        </p:txBody>
      </p:sp>
      <p:graphicFrame>
        <p:nvGraphicFramePr>
          <p:cNvPr id="234" name="Object 97"/>
          <p:cNvGraphicFramePr>
            <a:graphicFrameLocks noChangeAspect="1"/>
          </p:cNvGraphicFramePr>
          <p:nvPr>
            <p:extLst>
              <p:ext uri="{D42A27DB-BD31-4B8C-83A1-F6EECF244321}">
                <p14:modId xmlns:p14="http://schemas.microsoft.com/office/powerpoint/2010/main" val="1329941726"/>
              </p:ext>
            </p:extLst>
          </p:nvPr>
        </p:nvGraphicFramePr>
        <p:xfrm>
          <a:off x="263352" y="4450129"/>
          <a:ext cx="2692400" cy="784225"/>
        </p:xfrm>
        <a:graphic>
          <a:graphicData uri="http://schemas.openxmlformats.org/presentationml/2006/ole">
            <mc:AlternateContent xmlns:mc="http://schemas.openxmlformats.org/markup-compatibility/2006">
              <mc:Choice xmlns:v="urn:schemas-microsoft-com:vml" Requires="v">
                <p:oleObj spid="_x0000_s13366" name="Equation" r:id="rId4" imgW="1434960" imgH="419040" progId="Equation.DSMT4">
                  <p:embed/>
                </p:oleObj>
              </mc:Choice>
              <mc:Fallback>
                <p:oleObj name="Equation" r:id="rId4" imgW="1434960" imgH="419040" progId="Equation.DSMT4">
                  <p:embed/>
                  <p:pic>
                    <p:nvPicPr>
                      <p:cNvPr id="0" name=""/>
                      <p:cNvPicPr>
                        <a:picLocks noChangeAspect="1" noChangeArrowheads="1"/>
                      </p:cNvPicPr>
                      <p:nvPr/>
                    </p:nvPicPr>
                    <p:blipFill>
                      <a:blip r:embed="rId5"/>
                      <a:srcRect/>
                      <a:stretch>
                        <a:fillRect/>
                      </a:stretch>
                    </p:blipFill>
                    <p:spPr bwMode="auto">
                      <a:xfrm>
                        <a:off x="263352" y="4450129"/>
                        <a:ext cx="2692400" cy="784225"/>
                      </a:xfrm>
                      <a:prstGeom prst="rect">
                        <a:avLst/>
                      </a:prstGeom>
                      <a:noFill/>
                    </p:spPr>
                  </p:pic>
                </p:oleObj>
              </mc:Fallback>
            </mc:AlternateContent>
          </a:graphicData>
        </a:graphic>
      </p:graphicFrame>
      <p:sp>
        <p:nvSpPr>
          <p:cNvPr id="90" name="矩形 89">
            <a:extLst>
              <a:ext uri="{FF2B5EF4-FFF2-40B4-BE49-F238E27FC236}">
                <a16:creationId xmlns:a16="http://schemas.microsoft.com/office/drawing/2014/main" id="{D3CDC4E8-6131-C61F-BBEF-CD6E3A776FFC}"/>
              </a:ext>
            </a:extLst>
          </p:cNvPr>
          <p:cNvSpPr/>
          <p:nvPr/>
        </p:nvSpPr>
        <p:spPr>
          <a:xfrm>
            <a:off x="191343" y="1048661"/>
            <a:ext cx="8467874" cy="1532727"/>
          </a:xfrm>
          <a:prstGeom prst="rect">
            <a:avLst/>
          </a:prstGeom>
        </p:spPr>
        <p:txBody>
          <a:bodyPr wrap="square">
            <a:spAutoFit/>
          </a:bodyPr>
          <a:lstStyle/>
          <a:p>
            <a:pPr>
              <a:lnSpc>
                <a:spcPct val="130000"/>
              </a:lnSpc>
              <a:defRPr/>
            </a:pPr>
            <a:r>
              <a:rPr lang="zh-CN" altLang="en-US" i="0" dirty="0">
                <a:solidFill>
                  <a:srgbClr val="0033CC"/>
                </a:solidFill>
                <a:ea typeface="黑体" panose="02010609060101010101" pitchFamily="49" charset="-122"/>
              </a:rPr>
              <a:t>解  </a:t>
            </a:r>
            <a:r>
              <a:rPr kumimoji="1" lang="zh-CN" altLang="en-US" i="0" dirty="0">
                <a:solidFill>
                  <a:schemeClr val="tx1"/>
                </a:solidFill>
                <a:ea typeface="黑体" panose="02010609060101010101" pitchFamily="49" charset="-122"/>
              </a:rPr>
              <a:t>将整个调速器视为质点系，其所受外力有小球的重力及轴承处的约束反力，这些力对转轴之矩均为零。由质点系动量矩守恒定律知，绳拉断前后系统对</a:t>
            </a:r>
            <a:r>
              <a:rPr kumimoji="1" lang="en-US" altLang="zh-CN" b="0" dirty="0">
                <a:solidFill>
                  <a:schemeClr val="tx1"/>
                </a:solidFill>
                <a:ea typeface="黑体" panose="02010609060101010101" pitchFamily="49" charset="-122"/>
              </a:rPr>
              <a:t>z</a:t>
            </a:r>
            <a:r>
              <a:rPr kumimoji="1" lang="zh-CN" altLang="en-US" i="0" dirty="0">
                <a:solidFill>
                  <a:schemeClr val="tx1"/>
                </a:solidFill>
                <a:ea typeface="黑体" panose="02010609060101010101" pitchFamily="49" charset="-122"/>
              </a:rPr>
              <a:t>轴的动量矩不变。</a:t>
            </a:r>
            <a:endParaRPr lang="zh-CN" altLang="en-US" i="0" dirty="0">
              <a:solidFill>
                <a:schemeClr val="tx1"/>
              </a:solidFill>
              <a:latin typeface="+mn-lt"/>
              <a:ea typeface="黑体" panose="02010609060101010101" pitchFamily="49" charset="-122"/>
            </a:endParaRPr>
          </a:p>
        </p:txBody>
      </p:sp>
      <p:sp>
        <p:nvSpPr>
          <p:cNvPr id="91" name="矩形 90">
            <a:extLst>
              <a:ext uri="{FF2B5EF4-FFF2-40B4-BE49-F238E27FC236}">
                <a16:creationId xmlns:a16="http://schemas.microsoft.com/office/drawing/2014/main" id="{D3CDC4E8-6131-C61F-BBEF-CD6E3A776FFC}"/>
              </a:ext>
            </a:extLst>
          </p:cNvPr>
          <p:cNvSpPr/>
          <p:nvPr/>
        </p:nvSpPr>
        <p:spPr>
          <a:xfrm>
            <a:off x="191343" y="2581388"/>
            <a:ext cx="8467874" cy="572464"/>
          </a:xfrm>
          <a:prstGeom prst="rect">
            <a:avLst/>
          </a:prstGeom>
        </p:spPr>
        <p:txBody>
          <a:bodyPr wrap="square">
            <a:spAutoFit/>
          </a:bodyPr>
          <a:lstStyle/>
          <a:p>
            <a:pPr>
              <a:lnSpc>
                <a:spcPct val="130000"/>
              </a:lnSpc>
              <a:defRPr/>
            </a:pPr>
            <a:r>
              <a:rPr kumimoji="1" lang="zh-CN" altLang="en-US" i="0" dirty="0">
                <a:solidFill>
                  <a:schemeClr val="tx1"/>
                </a:solidFill>
                <a:ea typeface="黑体" panose="02010609060101010101" pitchFamily="49" charset="-122"/>
              </a:rPr>
              <a:t>绳拉断前系统的动量矩为：</a:t>
            </a:r>
            <a:endParaRPr lang="zh-CN" altLang="en-US" i="0" dirty="0">
              <a:solidFill>
                <a:schemeClr val="tx1"/>
              </a:solidFill>
              <a:latin typeface="+mn-lt"/>
              <a:ea typeface="黑体" panose="02010609060101010101" pitchFamily="49" charset="-122"/>
            </a:endParaRPr>
          </a:p>
        </p:txBody>
      </p:sp>
      <p:graphicFrame>
        <p:nvGraphicFramePr>
          <p:cNvPr id="92" name="Object 97"/>
          <p:cNvGraphicFramePr>
            <a:graphicFrameLocks noChangeAspect="1"/>
          </p:cNvGraphicFramePr>
          <p:nvPr>
            <p:extLst>
              <p:ext uri="{D42A27DB-BD31-4B8C-83A1-F6EECF244321}">
                <p14:modId xmlns:p14="http://schemas.microsoft.com/office/powerpoint/2010/main" val="1023944200"/>
              </p:ext>
            </p:extLst>
          </p:nvPr>
        </p:nvGraphicFramePr>
        <p:xfrm>
          <a:off x="263352" y="3079026"/>
          <a:ext cx="3097361" cy="855664"/>
        </p:xfrm>
        <a:graphic>
          <a:graphicData uri="http://schemas.openxmlformats.org/presentationml/2006/ole">
            <mc:AlternateContent xmlns:mc="http://schemas.openxmlformats.org/markup-compatibility/2006">
              <mc:Choice xmlns:v="urn:schemas-microsoft-com:vml" Requires="v">
                <p:oleObj spid="_x0000_s13367" name="Equation" r:id="rId6" imgW="1650960" imgH="457200" progId="Equation.DSMT4">
                  <p:embed/>
                </p:oleObj>
              </mc:Choice>
              <mc:Fallback>
                <p:oleObj name="Equation" r:id="rId6" imgW="1650960" imgH="457200" progId="Equation.DSMT4">
                  <p:embed/>
                  <p:pic>
                    <p:nvPicPr>
                      <p:cNvPr id="0" name=""/>
                      <p:cNvPicPr>
                        <a:picLocks noChangeAspect="1" noChangeArrowheads="1"/>
                      </p:cNvPicPr>
                      <p:nvPr/>
                    </p:nvPicPr>
                    <p:blipFill>
                      <a:blip r:embed="rId7"/>
                      <a:srcRect/>
                      <a:stretch>
                        <a:fillRect/>
                      </a:stretch>
                    </p:blipFill>
                    <p:spPr bwMode="auto">
                      <a:xfrm>
                        <a:off x="263352" y="3079026"/>
                        <a:ext cx="3097361" cy="855664"/>
                      </a:xfrm>
                      <a:prstGeom prst="rect">
                        <a:avLst/>
                      </a:prstGeom>
                      <a:noFill/>
                    </p:spPr>
                  </p:pic>
                </p:oleObj>
              </mc:Fallback>
            </mc:AlternateContent>
          </a:graphicData>
        </a:graphic>
      </p:graphicFrame>
      <p:sp>
        <p:nvSpPr>
          <p:cNvPr id="93" name="矩形 92">
            <a:extLst>
              <a:ext uri="{FF2B5EF4-FFF2-40B4-BE49-F238E27FC236}">
                <a16:creationId xmlns:a16="http://schemas.microsoft.com/office/drawing/2014/main" id="{D3CDC4E8-6131-C61F-BBEF-CD6E3A776FFC}"/>
              </a:ext>
            </a:extLst>
          </p:cNvPr>
          <p:cNvSpPr/>
          <p:nvPr/>
        </p:nvSpPr>
        <p:spPr>
          <a:xfrm>
            <a:off x="191343" y="5450967"/>
            <a:ext cx="8467874" cy="1052596"/>
          </a:xfrm>
          <a:prstGeom prst="rect">
            <a:avLst/>
          </a:prstGeom>
        </p:spPr>
        <p:txBody>
          <a:bodyPr wrap="square">
            <a:spAutoFit/>
          </a:bodyPr>
          <a:lstStyle/>
          <a:p>
            <a:pPr>
              <a:lnSpc>
                <a:spcPct val="130000"/>
              </a:lnSpc>
              <a:defRPr/>
            </a:pPr>
            <a:r>
              <a:rPr lang="zh-CN" altLang="en-US" i="0" dirty="0">
                <a:solidFill>
                  <a:schemeClr val="tx1"/>
                </a:solidFill>
                <a:latin typeface="+mn-lt"/>
                <a:ea typeface="黑体" panose="02010609060101010101" pitchFamily="49" charset="-122"/>
              </a:rPr>
              <a:t>由</a:t>
            </a:r>
            <a:r>
              <a:rPr lang="en-US" altLang="zh-CN" b="0" dirty="0" err="1">
                <a:solidFill>
                  <a:schemeClr val="tx1"/>
                </a:solidFill>
                <a:latin typeface="+mn-lt"/>
                <a:ea typeface="黑体" panose="02010609060101010101" pitchFamily="49" charset="-122"/>
              </a:rPr>
              <a:t>L</a:t>
            </a:r>
            <a:r>
              <a:rPr lang="en-US" altLang="zh-CN" b="0" baseline="-25000" dirty="0" err="1">
                <a:solidFill>
                  <a:schemeClr val="tx1"/>
                </a:solidFill>
                <a:latin typeface="+mn-lt"/>
                <a:ea typeface="黑体" panose="02010609060101010101" pitchFamily="49" charset="-122"/>
              </a:rPr>
              <a:t>z</a:t>
            </a:r>
            <a:r>
              <a:rPr lang="en-US" altLang="zh-CN" b="0" i="0" dirty="0">
                <a:solidFill>
                  <a:schemeClr val="tx1"/>
                </a:solidFill>
                <a:latin typeface="+mn-lt"/>
                <a:ea typeface="黑体" panose="02010609060101010101" pitchFamily="49" charset="-122"/>
              </a:rPr>
              <a:t>= </a:t>
            </a:r>
            <a:r>
              <a:rPr lang="en-US" altLang="zh-CN" b="0" dirty="0" err="1">
                <a:solidFill>
                  <a:schemeClr val="tx1"/>
                </a:solidFill>
                <a:latin typeface="+mn-lt"/>
                <a:ea typeface="黑体" panose="02010609060101010101" pitchFamily="49" charset="-122"/>
              </a:rPr>
              <a:t>L'</a:t>
            </a:r>
            <a:r>
              <a:rPr lang="en-US" altLang="zh-CN" b="0" baseline="-25000" dirty="0" err="1">
                <a:solidFill>
                  <a:schemeClr val="tx1"/>
                </a:solidFill>
                <a:latin typeface="+mn-lt"/>
                <a:ea typeface="黑体" panose="02010609060101010101" pitchFamily="49" charset="-122"/>
              </a:rPr>
              <a:t>z</a:t>
            </a:r>
            <a:r>
              <a:rPr lang="zh-CN" altLang="en-US" i="0" dirty="0">
                <a:solidFill>
                  <a:schemeClr val="tx1"/>
                </a:solidFill>
                <a:latin typeface="+mn-lt"/>
                <a:ea typeface="黑体" panose="02010609060101010101" pitchFamily="49" charset="-122"/>
              </a:rPr>
              <a:t>得</a:t>
            </a:r>
            <a:r>
              <a:rPr lang="zh-CN" altLang="en-US" b="0" i="0" dirty="0">
                <a:solidFill>
                  <a:schemeClr val="tx1"/>
                </a:solidFill>
                <a:latin typeface="+mn-lt"/>
                <a:ea typeface="黑体" panose="02010609060101010101" pitchFamily="49" charset="-122"/>
              </a:rPr>
              <a:t> </a:t>
            </a:r>
          </a:p>
          <a:p>
            <a:pPr>
              <a:lnSpc>
                <a:spcPct val="130000"/>
              </a:lnSpc>
              <a:defRPr/>
            </a:pPr>
            <a:endParaRPr lang="zh-CN" altLang="en-US" i="0" dirty="0">
              <a:solidFill>
                <a:schemeClr val="tx1"/>
              </a:solidFill>
              <a:latin typeface="+mn-lt"/>
              <a:ea typeface="黑体" panose="02010609060101010101" pitchFamily="49" charset="-122"/>
            </a:endParaRPr>
          </a:p>
        </p:txBody>
      </p:sp>
      <p:graphicFrame>
        <p:nvGraphicFramePr>
          <p:cNvPr id="94" name="Object 100"/>
          <p:cNvGraphicFramePr>
            <a:graphicFrameLocks noChangeAspect="1"/>
          </p:cNvGraphicFramePr>
          <p:nvPr>
            <p:extLst>
              <p:ext uri="{D42A27DB-BD31-4B8C-83A1-F6EECF244321}">
                <p14:modId xmlns:p14="http://schemas.microsoft.com/office/powerpoint/2010/main" val="4046474394"/>
              </p:ext>
            </p:extLst>
          </p:nvPr>
        </p:nvGraphicFramePr>
        <p:xfrm>
          <a:off x="1820140" y="5401836"/>
          <a:ext cx="3347864" cy="760381"/>
        </p:xfrm>
        <a:graphic>
          <a:graphicData uri="http://schemas.openxmlformats.org/presentationml/2006/ole">
            <mc:AlternateContent xmlns:mc="http://schemas.openxmlformats.org/markup-compatibility/2006">
              <mc:Choice xmlns:v="urn:schemas-microsoft-com:vml" Requires="v">
                <p:oleObj spid="_x0000_s13368" name="Equation" r:id="rId8" imgW="1841400" imgH="419040" progId="Equation.DSMT4">
                  <p:embed/>
                </p:oleObj>
              </mc:Choice>
              <mc:Fallback>
                <p:oleObj name="Equation" r:id="rId8" imgW="1841400" imgH="419040" progId="Equation.DSMT4">
                  <p:embed/>
                  <p:pic>
                    <p:nvPicPr>
                      <p:cNvPr id="0" name=""/>
                      <p:cNvPicPr>
                        <a:picLocks noChangeAspect="1" noChangeArrowheads="1"/>
                      </p:cNvPicPr>
                      <p:nvPr/>
                    </p:nvPicPr>
                    <p:blipFill>
                      <a:blip r:embed="rId9"/>
                      <a:srcRect/>
                      <a:stretch>
                        <a:fillRect/>
                      </a:stretch>
                    </p:blipFill>
                    <p:spPr bwMode="auto">
                      <a:xfrm>
                        <a:off x="1820140" y="5401836"/>
                        <a:ext cx="3347864" cy="760381"/>
                      </a:xfrm>
                      <a:prstGeom prst="rect">
                        <a:avLst/>
                      </a:prstGeom>
                      <a:noFill/>
                    </p:spPr>
                  </p:pic>
                </p:oleObj>
              </mc:Fallback>
            </mc:AlternateContent>
          </a:graphicData>
        </a:graphic>
      </p:graphicFrame>
      <p:graphicFrame>
        <p:nvGraphicFramePr>
          <p:cNvPr id="95" name="Object 102"/>
          <p:cNvGraphicFramePr>
            <a:graphicFrameLocks noChangeAspect="1"/>
          </p:cNvGraphicFramePr>
          <p:nvPr>
            <p:extLst>
              <p:ext uri="{D42A27DB-BD31-4B8C-83A1-F6EECF244321}">
                <p14:modId xmlns:p14="http://schemas.microsoft.com/office/powerpoint/2010/main" val="1241594581"/>
              </p:ext>
            </p:extLst>
          </p:nvPr>
        </p:nvGraphicFramePr>
        <p:xfrm>
          <a:off x="5918987" y="4468386"/>
          <a:ext cx="2241550" cy="933450"/>
        </p:xfrm>
        <a:graphic>
          <a:graphicData uri="http://schemas.openxmlformats.org/presentationml/2006/ole">
            <mc:AlternateContent xmlns:mc="http://schemas.openxmlformats.org/markup-compatibility/2006">
              <mc:Choice xmlns:v="urn:schemas-microsoft-com:vml" Requires="v">
                <p:oleObj spid="_x0000_s13369" name="Equation" r:id="rId10" imgW="1066680" imgH="444240" progId="Equation.DSMT4">
                  <p:embed/>
                </p:oleObj>
              </mc:Choice>
              <mc:Fallback>
                <p:oleObj name="Equation" r:id="rId10" imgW="1066680" imgH="444240" progId="Equation.DSMT4">
                  <p:embed/>
                  <p:pic>
                    <p:nvPicPr>
                      <p:cNvPr id="0" name=""/>
                      <p:cNvPicPr>
                        <a:picLocks noChangeAspect="1" noChangeArrowheads="1"/>
                      </p:cNvPicPr>
                      <p:nvPr/>
                    </p:nvPicPr>
                    <p:blipFill>
                      <a:blip r:embed="rId11"/>
                      <a:srcRect/>
                      <a:stretch>
                        <a:fillRect/>
                      </a:stretch>
                    </p:blipFill>
                    <p:spPr bwMode="auto">
                      <a:xfrm>
                        <a:off x="5918987" y="4468386"/>
                        <a:ext cx="2241550" cy="9334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6" name="矩形 95">
            <a:extLst>
              <a:ext uri="{FF2B5EF4-FFF2-40B4-BE49-F238E27FC236}">
                <a16:creationId xmlns:a16="http://schemas.microsoft.com/office/drawing/2014/main" id="{D3CDC4E8-6131-C61F-BBEF-CD6E3A776FFC}"/>
              </a:ext>
            </a:extLst>
          </p:cNvPr>
          <p:cNvSpPr/>
          <p:nvPr/>
        </p:nvSpPr>
        <p:spPr>
          <a:xfrm>
            <a:off x="5224903" y="3927634"/>
            <a:ext cx="4878409" cy="572464"/>
          </a:xfrm>
          <a:prstGeom prst="rect">
            <a:avLst/>
          </a:prstGeom>
        </p:spPr>
        <p:txBody>
          <a:bodyPr wrap="square">
            <a:spAutoFit/>
          </a:bodyPr>
          <a:lstStyle/>
          <a:p>
            <a:pPr>
              <a:lnSpc>
                <a:spcPct val="130000"/>
              </a:lnSpc>
              <a:defRPr/>
            </a:pPr>
            <a:r>
              <a:rPr kumimoji="1" lang="zh-CN" altLang="en-US" i="0" dirty="0">
                <a:solidFill>
                  <a:schemeClr val="tx1"/>
                </a:solidFill>
                <a:ea typeface="黑体" panose="02010609060101010101" pitchFamily="49" charset="-122"/>
              </a:rPr>
              <a:t>绳拉断后系统的角速度：</a:t>
            </a:r>
            <a:endParaRPr lang="zh-CN" altLang="en-US" i="0" dirty="0">
              <a:solidFill>
                <a:schemeClr val="tx1"/>
              </a:solidFill>
              <a:latin typeface="+mn-lt"/>
              <a:ea typeface="黑体" panose="02010609060101010101" pitchFamily="49" charset="-122"/>
            </a:endParaRPr>
          </a:p>
        </p:txBody>
      </p:sp>
    </p:spTree>
    <p:extLst>
      <p:ext uri="{BB962C8B-B14F-4D97-AF65-F5344CB8AC3E}">
        <p14:creationId xmlns:p14="http://schemas.microsoft.com/office/powerpoint/2010/main" val="2091308059"/>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0" presetClass="entr" presetSubtype="0" fill="hold" grpId="0" nodeType="withEffect">
                                  <p:stCondLst>
                                    <p:cond delay="0"/>
                                  </p:stCondLst>
                                  <p:childTnLst>
                                    <p:set>
                                      <p:cBhvr>
                                        <p:cTn id="8" dur="1" fill="hold">
                                          <p:stCondLst>
                                            <p:cond delay="0"/>
                                          </p:stCondLst>
                                        </p:cTn>
                                        <p:tgtEl>
                                          <p:spTgt spid="98"/>
                                        </p:tgtEl>
                                        <p:attrNameLst>
                                          <p:attrName>style.visibility</p:attrName>
                                        </p:attrNameLst>
                                      </p:cBhvr>
                                      <p:to>
                                        <p:strVal val="visible"/>
                                      </p:to>
                                    </p:set>
                                    <p:animEffect transition="in" filter="fade">
                                      <p:cBhvr>
                                        <p:cTn id="9" dur="2000"/>
                                        <p:tgtEl>
                                          <p:spTgt spid="98"/>
                                        </p:tgtEl>
                                      </p:cBhvr>
                                    </p:animEffect>
                                  </p:childTnLst>
                                </p:cTn>
                              </p:par>
                              <p:par>
                                <p:cTn id="10" presetID="10" presetClass="entr" presetSubtype="0" fill="hold" grpId="0" nodeType="withEffect">
                                  <p:stCondLst>
                                    <p:cond delay="0"/>
                                  </p:stCondLst>
                                  <p:childTnLst>
                                    <p:set>
                                      <p:cBhvr>
                                        <p:cTn id="11" dur="1" fill="hold">
                                          <p:stCondLst>
                                            <p:cond delay="0"/>
                                          </p:stCondLst>
                                        </p:cTn>
                                        <p:tgtEl>
                                          <p:spTgt spid="99"/>
                                        </p:tgtEl>
                                        <p:attrNameLst>
                                          <p:attrName>style.visibility</p:attrName>
                                        </p:attrNameLst>
                                      </p:cBhvr>
                                      <p:to>
                                        <p:strVal val="visible"/>
                                      </p:to>
                                    </p:set>
                                    <p:animEffect transition="in" filter="fade">
                                      <p:cBhvr>
                                        <p:cTn id="12" dur="2000"/>
                                        <p:tgtEl>
                                          <p:spTgt spid="99"/>
                                        </p:tgtEl>
                                      </p:cBhvr>
                                    </p:animEffect>
                                  </p:childTnLst>
                                </p:cTn>
                              </p:par>
                              <p:par>
                                <p:cTn id="13" presetID="35" presetClass="emph" presetSubtype="0" repeatCount="2000" fill="hold" grpId="1" nodeType="withEffect">
                                  <p:stCondLst>
                                    <p:cond delay="2000"/>
                                  </p:stCondLst>
                                  <p:childTnLst>
                                    <p:anim calcmode="discrete" valueType="str">
                                      <p:cBhvr>
                                        <p:cTn id="14" dur="1000" fill="hold"/>
                                        <p:tgtEl>
                                          <p:spTgt spid="98"/>
                                        </p:tgtEl>
                                        <p:attrNameLst>
                                          <p:attrName>style.visibility</p:attrName>
                                        </p:attrNameLst>
                                      </p:cBhvr>
                                      <p:tavLst>
                                        <p:tav tm="0">
                                          <p:val>
                                            <p:strVal val="hidden"/>
                                          </p:val>
                                        </p:tav>
                                        <p:tav tm="50000">
                                          <p:val>
                                            <p:strVal val="visible"/>
                                          </p:val>
                                        </p:tav>
                                      </p:tavLst>
                                    </p:anim>
                                  </p:childTnLst>
                                </p:cTn>
                              </p:par>
                              <p:par>
                                <p:cTn id="15" presetID="35" presetClass="emph" presetSubtype="0" repeatCount="2000" fill="hold" grpId="1" nodeType="withEffect">
                                  <p:stCondLst>
                                    <p:cond delay="2000"/>
                                  </p:stCondLst>
                                  <p:childTnLst>
                                    <p:anim calcmode="discrete" valueType="str">
                                      <p:cBhvr>
                                        <p:cTn id="16" dur="1000" fill="hold"/>
                                        <p:tgtEl>
                                          <p:spTgt spid="99"/>
                                        </p:tgtEl>
                                        <p:attrNameLst>
                                          <p:attrName>style.visibility</p:attrName>
                                        </p:attrNameLst>
                                      </p:cBhvr>
                                      <p:tavLst>
                                        <p:tav tm="0">
                                          <p:val>
                                            <p:strVal val="hidden"/>
                                          </p:val>
                                        </p:tav>
                                        <p:tav tm="50000">
                                          <p:val>
                                            <p:strVal val="visible"/>
                                          </p:val>
                                        </p:tav>
                                      </p:tavLst>
                                    </p:anim>
                                  </p:childTnLst>
                                </p:cTn>
                              </p:par>
                              <p:par>
                                <p:cTn id="17" presetID="1" presetClass="entr" presetSubtype="0" fill="hold" grpId="0" nodeType="withEffect">
                                  <p:stCondLst>
                                    <p:cond delay="0"/>
                                  </p:stCondLst>
                                  <p:childTnLst>
                                    <p:set>
                                      <p:cBhvr>
                                        <p:cTn id="18" dur="1" fill="hold">
                                          <p:stCondLst>
                                            <p:cond delay="0"/>
                                          </p:stCondLst>
                                        </p:cTn>
                                        <p:tgtEl>
                                          <p:spTgt spid="13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3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3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3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3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32"/>
                                        </p:tgtEl>
                                        <p:attrNameLst>
                                          <p:attrName>style.visibility</p:attrName>
                                        </p:attrNameLst>
                                      </p:cBhvr>
                                      <p:to>
                                        <p:strVal val="visible"/>
                                      </p:to>
                                    </p:set>
                                  </p:childTnLst>
                                </p:cTn>
                              </p:par>
                              <p:par>
                                <p:cTn id="33" presetID="10" presetClass="entr" presetSubtype="0" fill="hold" grpId="0" nodeType="withEffect">
                                  <p:stCondLst>
                                    <p:cond delay="0"/>
                                  </p:stCondLst>
                                  <p:childTnLst>
                                    <p:set>
                                      <p:cBhvr>
                                        <p:cTn id="34" dur="1" fill="hold">
                                          <p:stCondLst>
                                            <p:cond delay="0"/>
                                          </p:stCondLst>
                                        </p:cTn>
                                        <p:tgtEl>
                                          <p:spTgt spid="185"/>
                                        </p:tgtEl>
                                        <p:attrNameLst>
                                          <p:attrName>style.visibility</p:attrName>
                                        </p:attrNameLst>
                                      </p:cBhvr>
                                      <p:to>
                                        <p:strVal val="visible"/>
                                      </p:to>
                                    </p:set>
                                    <p:animEffect transition="in" filter="fade">
                                      <p:cBhvr>
                                        <p:cTn id="35" dur="2000"/>
                                        <p:tgtEl>
                                          <p:spTgt spid="185"/>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86"/>
                                        </p:tgtEl>
                                        <p:attrNameLst>
                                          <p:attrName>style.visibility</p:attrName>
                                        </p:attrNameLst>
                                      </p:cBhvr>
                                      <p:to>
                                        <p:strVal val="visible"/>
                                      </p:to>
                                    </p:set>
                                    <p:animEffect transition="in" filter="fade">
                                      <p:cBhvr>
                                        <p:cTn id="38" dur="2000"/>
                                        <p:tgtEl>
                                          <p:spTgt spid="186"/>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222"/>
                                        </p:tgtEl>
                                        <p:attrNameLst>
                                          <p:attrName>style.visibility</p:attrName>
                                        </p:attrNameLst>
                                      </p:cBhvr>
                                      <p:to>
                                        <p:strVal val="visible"/>
                                      </p:to>
                                    </p:set>
                                    <p:animEffect transition="in" filter="fade">
                                      <p:cBhvr>
                                        <p:cTn id="41" dur="2000"/>
                                        <p:tgtEl>
                                          <p:spTgt spid="222"/>
                                        </p:tgtEl>
                                      </p:cBhvr>
                                    </p:animEffect>
                                  </p:childTnLst>
                                </p:cTn>
                              </p:par>
                              <p:par>
                                <p:cTn id="42" presetID="35" presetClass="emph" presetSubtype="0" repeatCount="2000" fill="hold" grpId="1" nodeType="withEffect">
                                  <p:stCondLst>
                                    <p:cond delay="0"/>
                                  </p:stCondLst>
                                  <p:childTnLst>
                                    <p:anim calcmode="discrete" valueType="str">
                                      <p:cBhvr>
                                        <p:cTn id="43" dur="1000" fill="hold"/>
                                        <p:tgtEl>
                                          <p:spTgt spid="222"/>
                                        </p:tgtEl>
                                        <p:attrNameLst>
                                          <p:attrName>style.visibility</p:attrName>
                                        </p:attrNameLst>
                                      </p:cBhvr>
                                      <p:tavLst>
                                        <p:tav tm="0">
                                          <p:val>
                                            <p:strVal val="hidden"/>
                                          </p:val>
                                        </p:tav>
                                        <p:tav tm="50000">
                                          <p:val>
                                            <p:strVal val="visible"/>
                                          </p:val>
                                        </p:tav>
                                      </p:tavLst>
                                    </p:anim>
                                  </p:childTnLst>
                                </p:cTn>
                              </p:par>
                              <p:par>
                                <p:cTn id="44" presetID="35" presetClass="emph" presetSubtype="0" repeatCount="2000" fill="hold" grpId="1" nodeType="withEffect">
                                  <p:stCondLst>
                                    <p:cond delay="0"/>
                                  </p:stCondLst>
                                  <p:childTnLst>
                                    <p:anim calcmode="discrete" valueType="str">
                                      <p:cBhvr>
                                        <p:cTn id="45" dur="1000" fill="hold"/>
                                        <p:tgtEl>
                                          <p:spTgt spid="186"/>
                                        </p:tgtEl>
                                        <p:attrNameLst>
                                          <p:attrName>style.visibility</p:attrName>
                                        </p:attrNameLst>
                                      </p:cBhvr>
                                      <p:tavLst>
                                        <p:tav tm="0">
                                          <p:val>
                                            <p:strVal val="hidden"/>
                                          </p:val>
                                        </p:tav>
                                        <p:tav tm="50000">
                                          <p:val>
                                            <p:strVal val="visible"/>
                                          </p:val>
                                        </p:tav>
                                      </p:tavLst>
                                    </p:anim>
                                  </p:childTnLst>
                                </p:cTn>
                              </p:par>
                            </p:childTnLst>
                          </p:cTn>
                        </p:par>
                        <p:par>
                          <p:cTn id="46" fill="hold">
                            <p:stCondLst>
                              <p:cond delay="4000"/>
                            </p:stCondLst>
                            <p:childTnLst>
                              <p:par>
                                <p:cTn id="47" presetID="1" presetClass="entr" presetSubtype="0" fill="hold" nodeType="afterEffect">
                                  <p:stCondLst>
                                    <p:cond delay="0"/>
                                  </p:stCondLst>
                                  <p:childTnLst>
                                    <p:set>
                                      <p:cBhvr>
                                        <p:cTn id="48" dur="1" fill="hold">
                                          <p:stCondLst>
                                            <p:cond delay="0"/>
                                          </p:stCondLst>
                                        </p:cTn>
                                        <p:tgtEl>
                                          <p:spTgt spid="223"/>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224"/>
                                        </p:tgtEl>
                                        <p:attrNameLst>
                                          <p:attrName>style.visibility</p:attrName>
                                        </p:attrNameLst>
                                      </p:cBhvr>
                                      <p:to>
                                        <p:strVal val="visible"/>
                                      </p:to>
                                    </p:set>
                                  </p:childTnLst>
                                </p:cTn>
                              </p:par>
                              <p:par>
                                <p:cTn id="51" presetID="12" presetClass="entr" presetSubtype="1" fill="hold" grpId="0" nodeType="withEffect">
                                  <p:stCondLst>
                                    <p:cond delay="0"/>
                                  </p:stCondLst>
                                  <p:childTnLst>
                                    <p:set>
                                      <p:cBhvr>
                                        <p:cTn id="52" dur="1" fill="hold">
                                          <p:stCondLst>
                                            <p:cond delay="0"/>
                                          </p:stCondLst>
                                        </p:cTn>
                                        <p:tgtEl>
                                          <p:spTgt spid="228"/>
                                        </p:tgtEl>
                                        <p:attrNameLst>
                                          <p:attrName>style.visibility</p:attrName>
                                        </p:attrNameLst>
                                      </p:cBhvr>
                                      <p:to>
                                        <p:strVal val="visible"/>
                                      </p:to>
                                    </p:set>
                                    <p:animEffect transition="in" filter="slide(fromTop)">
                                      <p:cBhvr>
                                        <p:cTn id="53" dur="3000"/>
                                        <p:tgtEl>
                                          <p:spTgt spid="228"/>
                                        </p:tgtEl>
                                      </p:cBhvr>
                                    </p:animEffect>
                                  </p:childTnLst>
                                </p:cTn>
                              </p:par>
                              <p:par>
                                <p:cTn id="54" presetID="19" presetClass="entr" presetSubtype="10" fill="hold" nodeType="withEffect">
                                  <p:stCondLst>
                                    <p:cond delay="0"/>
                                  </p:stCondLst>
                                  <p:childTnLst>
                                    <p:set>
                                      <p:cBhvr>
                                        <p:cTn id="55" dur="1" fill="hold">
                                          <p:stCondLst>
                                            <p:cond delay="0"/>
                                          </p:stCondLst>
                                        </p:cTn>
                                        <p:tgtEl>
                                          <p:spTgt spid="227"/>
                                        </p:tgtEl>
                                        <p:attrNameLst>
                                          <p:attrName>style.visibility</p:attrName>
                                        </p:attrNameLst>
                                      </p:cBhvr>
                                      <p:to>
                                        <p:strVal val="visible"/>
                                      </p:to>
                                    </p:set>
                                    <p:anim calcmode="lin" valueType="num">
                                      <p:cBhvr>
                                        <p:cTn id="56" dur="5000" fill="hold"/>
                                        <p:tgtEl>
                                          <p:spTgt spid="227"/>
                                        </p:tgtEl>
                                        <p:attrNameLst>
                                          <p:attrName>ppt_w</p:attrName>
                                        </p:attrNameLst>
                                      </p:cBhvr>
                                      <p:tavLst>
                                        <p:tav tm="0" fmla="#ppt_w*sin(2.5*pi*$)">
                                          <p:val>
                                            <p:fltVal val="0"/>
                                          </p:val>
                                        </p:tav>
                                        <p:tav tm="100000">
                                          <p:val>
                                            <p:fltVal val="1"/>
                                          </p:val>
                                        </p:tav>
                                      </p:tavLst>
                                    </p:anim>
                                    <p:anim calcmode="lin" valueType="num">
                                      <p:cBhvr>
                                        <p:cTn id="57" dur="5000" fill="hold"/>
                                        <p:tgtEl>
                                          <p:spTgt spid="227"/>
                                        </p:tgtEl>
                                        <p:attrNameLst>
                                          <p:attrName>ppt_h</p:attrName>
                                        </p:attrNameLst>
                                      </p:cBhvr>
                                      <p:tavLst>
                                        <p:tav tm="0">
                                          <p:val>
                                            <p:strVal val="#ppt_h"/>
                                          </p:val>
                                        </p:tav>
                                        <p:tav tm="100000">
                                          <p:val>
                                            <p:strVal val="#ppt_h"/>
                                          </p:val>
                                        </p:tav>
                                      </p:tavLst>
                                    </p:anim>
                                  </p:childTnLst>
                                </p:cTn>
                              </p:par>
                              <p:par>
                                <p:cTn id="58" presetID="1" presetClass="entr" presetSubtype="0" fill="hold" nodeType="withEffect">
                                  <p:stCondLst>
                                    <p:cond delay="0"/>
                                  </p:stCondLst>
                                  <p:childTnLst>
                                    <p:set>
                                      <p:cBhvr>
                                        <p:cTn id="59" dur="1" fill="hold">
                                          <p:stCondLst>
                                            <p:cond delay="0"/>
                                          </p:stCondLst>
                                        </p:cTn>
                                        <p:tgtEl>
                                          <p:spTgt spid="229"/>
                                        </p:tgtEl>
                                        <p:attrNameLst>
                                          <p:attrName>style.visibility</p:attrName>
                                        </p:attrNameLst>
                                      </p:cBhvr>
                                      <p:to>
                                        <p:strVal val="visible"/>
                                      </p:to>
                                    </p:set>
                                  </p:childTnLst>
                                </p:cTn>
                              </p:par>
                              <p:par>
                                <p:cTn id="60" presetID="1" presetClass="entr" presetSubtype="0" fill="hold" nodeType="withEffect">
                                  <p:stCondLst>
                                    <p:cond delay="0"/>
                                  </p:stCondLst>
                                  <p:childTnLst>
                                    <p:set>
                                      <p:cBhvr>
                                        <p:cTn id="61" dur="1" fill="hold">
                                          <p:stCondLst>
                                            <p:cond delay="0"/>
                                          </p:stCondLst>
                                        </p:cTn>
                                        <p:tgtEl>
                                          <p:spTgt spid="230"/>
                                        </p:tgtEl>
                                        <p:attrNameLst>
                                          <p:attrName>style.visibility</p:attrName>
                                        </p:attrNameLst>
                                      </p:cBhvr>
                                      <p:to>
                                        <p:strVal val="visible"/>
                                      </p:to>
                                    </p:set>
                                  </p:childTnLst>
                                </p:cTn>
                              </p:par>
                              <p:par>
                                <p:cTn id="62" presetID="12" presetClass="entr" presetSubtype="1" fill="hold" grpId="0" nodeType="withEffect">
                                  <p:stCondLst>
                                    <p:cond delay="0"/>
                                  </p:stCondLst>
                                  <p:childTnLst>
                                    <p:set>
                                      <p:cBhvr>
                                        <p:cTn id="63" dur="1" fill="hold">
                                          <p:stCondLst>
                                            <p:cond delay="0"/>
                                          </p:stCondLst>
                                        </p:cTn>
                                        <p:tgtEl>
                                          <p:spTgt spid="232"/>
                                        </p:tgtEl>
                                        <p:attrNameLst>
                                          <p:attrName>style.visibility</p:attrName>
                                        </p:attrNameLst>
                                      </p:cBhvr>
                                      <p:to>
                                        <p:strVal val="visible"/>
                                      </p:to>
                                    </p:set>
                                    <p:animEffect transition="in" filter="slide(fromTop)">
                                      <p:cBhvr>
                                        <p:cTn id="64" dur="3000"/>
                                        <p:tgtEl>
                                          <p:spTgt spid="232"/>
                                        </p:tgtEl>
                                      </p:cBhvr>
                                    </p:animEffect>
                                  </p:childTnLst>
                                </p:cTn>
                              </p:par>
                              <p:par>
                                <p:cTn id="65" presetID="19" presetClass="entr" presetSubtype="10" fill="hold" nodeType="withEffect">
                                  <p:stCondLst>
                                    <p:cond delay="0"/>
                                  </p:stCondLst>
                                  <p:childTnLst>
                                    <p:set>
                                      <p:cBhvr>
                                        <p:cTn id="66" dur="1" fill="hold">
                                          <p:stCondLst>
                                            <p:cond delay="0"/>
                                          </p:stCondLst>
                                        </p:cTn>
                                        <p:tgtEl>
                                          <p:spTgt spid="231"/>
                                        </p:tgtEl>
                                        <p:attrNameLst>
                                          <p:attrName>style.visibility</p:attrName>
                                        </p:attrNameLst>
                                      </p:cBhvr>
                                      <p:to>
                                        <p:strVal val="visible"/>
                                      </p:to>
                                    </p:set>
                                    <p:anim calcmode="lin" valueType="num">
                                      <p:cBhvr>
                                        <p:cTn id="67" dur="5000" fill="hold"/>
                                        <p:tgtEl>
                                          <p:spTgt spid="231"/>
                                        </p:tgtEl>
                                        <p:attrNameLst>
                                          <p:attrName>ppt_w</p:attrName>
                                        </p:attrNameLst>
                                      </p:cBhvr>
                                      <p:tavLst>
                                        <p:tav tm="0" fmla="#ppt_w*sin(2.5*pi*$)">
                                          <p:val>
                                            <p:fltVal val="0"/>
                                          </p:val>
                                        </p:tav>
                                        <p:tav tm="100000">
                                          <p:val>
                                            <p:fltVal val="1"/>
                                          </p:val>
                                        </p:tav>
                                      </p:tavLst>
                                    </p:anim>
                                    <p:anim calcmode="lin" valueType="num">
                                      <p:cBhvr>
                                        <p:cTn id="68" dur="5000" fill="hold"/>
                                        <p:tgtEl>
                                          <p:spTgt spid="231"/>
                                        </p:tgtEl>
                                        <p:attrNameLst>
                                          <p:attrName>ppt_h</p:attrName>
                                        </p:attrNameLst>
                                      </p:cBhvr>
                                      <p:tavLst>
                                        <p:tav tm="0">
                                          <p:val>
                                            <p:strVal val="#ppt_h"/>
                                          </p:val>
                                        </p:tav>
                                        <p:tav tm="100000">
                                          <p:val>
                                            <p:strVal val="#ppt_h"/>
                                          </p:val>
                                        </p:tav>
                                      </p:tavLst>
                                    </p:anim>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90"/>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91"/>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22" presetClass="entr" presetSubtype="8" fill="hold" nodeType="clickEffect">
                                  <p:stCondLst>
                                    <p:cond delay="0"/>
                                  </p:stCondLst>
                                  <p:childTnLst>
                                    <p:set>
                                      <p:cBhvr>
                                        <p:cTn id="80" dur="1" fill="hold">
                                          <p:stCondLst>
                                            <p:cond delay="0"/>
                                          </p:stCondLst>
                                        </p:cTn>
                                        <p:tgtEl>
                                          <p:spTgt spid="92"/>
                                        </p:tgtEl>
                                        <p:attrNameLst>
                                          <p:attrName>style.visibility</p:attrName>
                                        </p:attrNameLst>
                                      </p:cBhvr>
                                      <p:to>
                                        <p:strVal val="visible"/>
                                      </p:to>
                                    </p:set>
                                    <p:animEffect transition="in" filter="wipe(left)">
                                      <p:cBhvr>
                                        <p:cTn id="81" dur="500"/>
                                        <p:tgtEl>
                                          <p:spTgt spid="92"/>
                                        </p:tgtEl>
                                      </p:cBhvr>
                                    </p:animEffec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grpId="0" nodeType="clickEffect">
                                  <p:stCondLst>
                                    <p:cond delay="0"/>
                                  </p:stCondLst>
                                  <p:childTnLst>
                                    <p:set>
                                      <p:cBhvr>
                                        <p:cTn id="85" dur="1" fill="hold">
                                          <p:stCondLst>
                                            <p:cond delay="0"/>
                                          </p:stCondLst>
                                        </p:cTn>
                                        <p:tgtEl>
                                          <p:spTgt spid="233"/>
                                        </p:tgtEl>
                                        <p:attrNameLst>
                                          <p:attrName>style.visibility</p:attrName>
                                        </p:attrNameLst>
                                      </p:cBhvr>
                                      <p:to>
                                        <p:strVal val="visible"/>
                                      </p:to>
                                    </p:set>
                                  </p:childTnLst>
                                </p:cTn>
                              </p:par>
                            </p:childTnLst>
                          </p:cTn>
                        </p:par>
                      </p:childTnLst>
                    </p:cTn>
                  </p:par>
                  <p:par>
                    <p:cTn id="86" fill="hold">
                      <p:stCondLst>
                        <p:cond delay="indefinite"/>
                      </p:stCondLst>
                      <p:childTnLst>
                        <p:par>
                          <p:cTn id="87" fill="hold">
                            <p:stCondLst>
                              <p:cond delay="0"/>
                            </p:stCondLst>
                            <p:childTnLst>
                              <p:par>
                                <p:cTn id="88" presetID="22" presetClass="entr" presetSubtype="8" fill="hold" nodeType="clickEffect">
                                  <p:stCondLst>
                                    <p:cond delay="0"/>
                                  </p:stCondLst>
                                  <p:childTnLst>
                                    <p:set>
                                      <p:cBhvr>
                                        <p:cTn id="89" dur="1" fill="hold">
                                          <p:stCondLst>
                                            <p:cond delay="0"/>
                                          </p:stCondLst>
                                        </p:cTn>
                                        <p:tgtEl>
                                          <p:spTgt spid="234"/>
                                        </p:tgtEl>
                                        <p:attrNameLst>
                                          <p:attrName>style.visibility</p:attrName>
                                        </p:attrNameLst>
                                      </p:cBhvr>
                                      <p:to>
                                        <p:strVal val="visible"/>
                                      </p:to>
                                    </p:set>
                                    <p:animEffect transition="in" filter="wipe(left)">
                                      <p:cBhvr>
                                        <p:cTn id="90" dur="500"/>
                                        <p:tgtEl>
                                          <p:spTgt spid="234"/>
                                        </p:tgtEl>
                                      </p:cBhvr>
                                    </p:animEffec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93"/>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22" presetClass="entr" presetSubtype="8" fill="hold" nodeType="clickEffect">
                                  <p:stCondLst>
                                    <p:cond delay="0"/>
                                  </p:stCondLst>
                                  <p:childTnLst>
                                    <p:set>
                                      <p:cBhvr>
                                        <p:cTn id="98" dur="1" fill="hold">
                                          <p:stCondLst>
                                            <p:cond delay="0"/>
                                          </p:stCondLst>
                                        </p:cTn>
                                        <p:tgtEl>
                                          <p:spTgt spid="94"/>
                                        </p:tgtEl>
                                        <p:attrNameLst>
                                          <p:attrName>style.visibility</p:attrName>
                                        </p:attrNameLst>
                                      </p:cBhvr>
                                      <p:to>
                                        <p:strVal val="visible"/>
                                      </p:to>
                                    </p:set>
                                    <p:animEffect transition="in" filter="wipe(left)">
                                      <p:cBhvr>
                                        <p:cTn id="99" dur="500"/>
                                        <p:tgtEl>
                                          <p:spTgt spid="94"/>
                                        </p:tgtEl>
                                      </p:cBhvr>
                                    </p:animEffect>
                                  </p:childTnLst>
                                </p:cTn>
                              </p:par>
                            </p:childTnLst>
                          </p:cTn>
                        </p:par>
                      </p:childTnLst>
                    </p:cTn>
                  </p:par>
                  <p:par>
                    <p:cTn id="100" fill="hold">
                      <p:stCondLst>
                        <p:cond delay="indefinite"/>
                      </p:stCondLst>
                      <p:childTnLst>
                        <p:par>
                          <p:cTn id="101" fill="hold">
                            <p:stCondLst>
                              <p:cond delay="0"/>
                            </p:stCondLst>
                            <p:childTnLst>
                              <p:par>
                                <p:cTn id="102" presetID="1" presetClass="entr" presetSubtype="0" fill="hold" grpId="0" nodeType="clickEffect">
                                  <p:stCondLst>
                                    <p:cond delay="0"/>
                                  </p:stCondLst>
                                  <p:childTnLst>
                                    <p:set>
                                      <p:cBhvr>
                                        <p:cTn id="103" dur="1" fill="hold">
                                          <p:stCondLst>
                                            <p:cond delay="0"/>
                                          </p:stCondLst>
                                        </p:cTn>
                                        <p:tgtEl>
                                          <p:spTgt spid="96"/>
                                        </p:tgtEl>
                                        <p:attrNameLst>
                                          <p:attrName>style.visibility</p:attrName>
                                        </p:attrNameLst>
                                      </p:cBhvr>
                                      <p:to>
                                        <p:strVal val="visible"/>
                                      </p:to>
                                    </p:set>
                                  </p:childTnLst>
                                </p:cTn>
                              </p:par>
                            </p:childTnLst>
                          </p:cTn>
                        </p:par>
                      </p:childTnLst>
                    </p:cTn>
                  </p:par>
                  <p:par>
                    <p:cTn id="104" fill="hold">
                      <p:stCondLst>
                        <p:cond delay="indefinite"/>
                      </p:stCondLst>
                      <p:childTnLst>
                        <p:par>
                          <p:cTn id="105" fill="hold">
                            <p:stCondLst>
                              <p:cond delay="0"/>
                            </p:stCondLst>
                            <p:childTnLst>
                              <p:par>
                                <p:cTn id="106" presetID="22" presetClass="entr" presetSubtype="8" fill="hold" nodeType="clickEffect">
                                  <p:stCondLst>
                                    <p:cond delay="0"/>
                                  </p:stCondLst>
                                  <p:childTnLst>
                                    <p:set>
                                      <p:cBhvr>
                                        <p:cTn id="107" dur="1" fill="hold">
                                          <p:stCondLst>
                                            <p:cond delay="0"/>
                                          </p:stCondLst>
                                        </p:cTn>
                                        <p:tgtEl>
                                          <p:spTgt spid="95"/>
                                        </p:tgtEl>
                                        <p:attrNameLst>
                                          <p:attrName>style.visibility</p:attrName>
                                        </p:attrNameLst>
                                      </p:cBhvr>
                                      <p:to>
                                        <p:strVal val="visible"/>
                                      </p:to>
                                    </p:set>
                                    <p:animEffect transition="in" filter="wipe(left)">
                                      <p:cBhvr>
                                        <p:cTn id="108" dur="500"/>
                                        <p:tgtEl>
                                          <p:spTgt spid="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98" grpId="0" animBg="1"/>
      <p:bldP spid="98" grpId="1" animBg="1"/>
      <p:bldP spid="99" grpId="0"/>
      <p:bldP spid="99" grpId="1"/>
      <p:bldP spid="130" grpId="0"/>
      <p:bldP spid="131" grpId="0" animBg="1"/>
      <p:bldP spid="132" grpId="0"/>
      <p:bldP spid="133" grpId="0" animBg="1"/>
      <p:bldP spid="134" grpId="0"/>
      <p:bldP spid="135" grpId="0"/>
      <p:bldP spid="136" grpId="0"/>
      <p:bldP spid="137" grpId="0"/>
      <p:bldP spid="185" grpId="0"/>
      <p:bldP spid="186" grpId="0"/>
      <p:bldP spid="186" grpId="1"/>
      <p:bldP spid="222" grpId="0" animBg="1"/>
      <p:bldP spid="222" grpId="1" animBg="1"/>
      <p:bldP spid="228" grpId="0" animBg="1"/>
      <p:bldP spid="232" grpId="0" animBg="1"/>
      <p:bldP spid="233" grpId="0"/>
      <p:bldP spid="90" grpId="0"/>
      <p:bldP spid="91" grpId="0"/>
      <p:bldP spid="93" grpId="0"/>
      <p:bldP spid="96"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4653838"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第七章   动力学普遍定理</a:t>
            </a:r>
          </a:p>
        </p:txBody>
      </p:sp>
      <p:sp>
        <p:nvSpPr>
          <p:cNvPr id="97" name="Text Box 1032"/>
          <p:cNvSpPr txBox="1">
            <a:spLocks noChangeArrowheads="1"/>
          </p:cNvSpPr>
          <p:nvPr/>
        </p:nvSpPr>
        <p:spPr bwMode="auto">
          <a:xfrm>
            <a:off x="939805" y="1943507"/>
            <a:ext cx="10772819" cy="21167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20000"/>
              </a:lnSpc>
            </a:pPr>
            <a:r>
              <a:rPr lang="zh-CN" altLang="en-US" sz="2800" i="0" dirty="0">
                <a:latin typeface="+mj-lt"/>
                <a:ea typeface="微软雅黑" panose="020B0503020204020204" pitchFamily="34" charset="-122"/>
              </a:rPr>
              <a:t>刚体绕定轴</a:t>
            </a:r>
            <a:r>
              <a:rPr lang="en-US" altLang="zh-CN" sz="2800" b="0" dirty="0">
                <a:latin typeface="+mj-lt"/>
                <a:ea typeface="微软雅黑" panose="020B0503020204020204" pitchFamily="34" charset="-122"/>
              </a:rPr>
              <a:t>z</a:t>
            </a:r>
            <a:r>
              <a:rPr lang="zh-CN" altLang="en-US" sz="2800" i="0" dirty="0">
                <a:latin typeface="+mj-lt"/>
                <a:ea typeface="微软雅黑" panose="020B0503020204020204" pitchFamily="34" charset="-122"/>
              </a:rPr>
              <a:t>的转动惯量为 </a:t>
            </a:r>
            <a:r>
              <a:rPr lang="en-US" altLang="zh-CN" sz="2800" b="0" dirty="0" err="1">
                <a:latin typeface="+mj-lt"/>
                <a:ea typeface="微软雅黑" panose="020B0503020204020204" pitchFamily="34" charset="-122"/>
              </a:rPr>
              <a:t>J</a:t>
            </a:r>
            <a:r>
              <a:rPr lang="en-US" altLang="zh-CN" sz="2800" b="0" baseline="-25000" dirty="0" err="1">
                <a:latin typeface="+mj-lt"/>
                <a:ea typeface="微软雅黑" panose="020B0503020204020204" pitchFamily="34" charset="-122"/>
              </a:rPr>
              <a:t>z</a:t>
            </a:r>
            <a:r>
              <a:rPr lang="en-US" altLang="zh-CN" sz="2800" b="0" dirty="0">
                <a:latin typeface="+mj-lt"/>
                <a:ea typeface="微软雅黑" panose="020B0503020204020204" pitchFamily="34" charset="-122"/>
              </a:rPr>
              <a:t>= ∑m</a:t>
            </a:r>
            <a:r>
              <a:rPr lang="en-US" altLang="zh-CN" sz="2800" b="0" baseline="-25000" dirty="0">
                <a:latin typeface="+mj-lt"/>
                <a:ea typeface="微软雅黑" panose="020B0503020204020204" pitchFamily="34" charset="-122"/>
              </a:rPr>
              <a:t>i</a:t>
            </a:r>
            <a:r>
              <a:rPr lang="en-US" altLang="zh-CN" sz="2800" b="0" dirty="0">
                <a:latin typeface="+mj-lt"/>
                <a:ea typeface="微软雅黑" panose="020B0503020204020204" pitchFamily="34" charset="-122"/>
              </a:rPr>
              <a:t>r</a:t>
            </a:r>
            <a:r>
              <a:rPr lang="en-US" altLang="zh-CN" sz="2800" b="0" baseline="-25000" dirty="0">
                <a:latin typeface="+mj-lt"/>
                <a:ea typeface="微软雅黑" panose="020B0503020204020204" pitchFamily="34" charset="-122"/>
              </a:rPr>
              <a:t>i</a:t>
            </a:r>
            <a:r>
              <a:rPr lang="en-US" altLang="zh-CN" sz="2800" b="0" i="0" baseline="30000" dirty="0">
                <a:latin typeface="+mj-lt"/>
                <a:ea typeface="微软雅黑" panose="020B0503020204020204" pitchFamily="34" charset="-122"/>
              </a:rPr>
              <a:t>2</a:t>
            </a:r>
            <a:r>
              <a:rPr lang="zh-CN" altLang="en-US" sz="2800" i="0" dirty="0">
                <a:latin typeface="+mj-lt"/>
                <a:ea typeface="微软雅黑" panose="020B0503020204020204" pitchFamily="34" charset="-122"/>
              </a:rPr>
              <a:t>，它表明了刚体绕定轴</a:t>
            </a:r>
            <a:r>
              <a:rPr lang="en-US" altLang="zh-CN" sz="2800" b="0" dirty="0">
                <a:latin typeface="+mj-lt"/>
                <a:ea typeface="微软雅黑" panose="020B0503020204020204" pitchFamily="34" charset="-122"/>
              </a:rPr>
              <a:t>z</a:t>
            </a:r>
            <a:r>
              <a:rPr lang="zh-CN" altLang="en-US" sz="2800" i="0" dirty="0">
                <a:latin typeface="+mj-lt"/>
                <a:ea typeface="微软雅黑" panose="020B0503020204020204" pitchFamily="34" charset="-122"/>
              </a:rPr>
              <a:t>的转动时的惯性大小。从转动惯量的公式可见，影响其大小的有两个因素，一个是它的质量大小，另一个是这些质量对转轴的分布状况，后一个因素具体反映在刚体的形状及其与转轴的相对位置上</a:t>
            </a:r>
            <a:r>
              <a:rPr lang="zh-CN" altLang="en-US" sz="2800" i="0" dirty="0">
                <a:ea typeface="微软雅黑" panose="020B0503020204020204" pitchFamily="34" charset="-122"/>
              </a:rPr>
              <a:t>。</a:t>
            </a:r>
            <a:endParaRPr lang="zh-CN" altLang="en-US" sz="2800" i="0" dirty="0">
              <a:solidFill>
                <a:srgbClr val="FF0000"/>
              </a:solidFill>
              <a:latin typeface="微软雅黑" panose="020B0503020204020204" pitchFamily="34" charset="-122"/>
              <a:ea typeface="微软雅黑" panose="020B0503020204020204" pitchFamily="34" charset="-122"/>
            </a:endParaRPr>
          </a:p>
        </p:txBody>
      </p:sp>
      <p:sp>
        <p:nvSpPr>
          <p:cNvPr id="100" name="矩形 99"/>
          <p:cNvSpPr/>
          <p:nvPr/>
        </p:nvSpPr>
        <p:spPr>
          <a:xfrm>
            <a:off x="4570254" y="1389509"/>
            <a:ext cx="1723549" cy="599331"/>
          </a:xfrm>
          <a:prstGeom prst="rect">
            <a:avLst/>
          </a:prstGeom>
        </p:spPr>
        <p:txBody>
          <a:bodyPr wrap="none">
            <a:spAutoFit/>
          </a:bodyPr>
          <a:lstStyle/>
          <a:p>
            <a:pPr>
              <a:lnSpc>
                <a:spcPct val="120000"/>
              </a:lnSpc>
            </a:pPr>
            <a:r>
              <a:rPr lang="zh-CN" altLang="en-US" sz="3000" i="0" dirty="0">
                <a:solidFill>
                  <a:srgbClr val="4F81BD"/>
                </a:solidFill>
                <a:latin typeface="微软雅黑" panose="020B0503020204020204" pitchFamily="34" charset="-122"/>
                <a:ea typeface="微软雅黑" panose="020B0503020204020204" pitchFamily="34" charset="-122"/>
              </a:rPr>
              <a:t>转动惯量</a:t>
            </a:r>
          </a:p>
        </p:txBody>
      </p:sp>
      <p:graphicFrame>
        <p:nvGraphicFramePr>
          <p:cNvPr id="121" name="Object 36">
            <a:extLst>
              <a:ext uri="{FF2B5EF4-FFF2-40B4-BE49-F238E27FC236}">
                <a16:creationId xmlns:a16="http://schemas.microsoft.com/office/drawing/2014/main" id="{074B72CF-A2DD-B9ED-9934-93AFB602E6EB}"/>
              </a:ext>
            </a:extLst>
          </p:cNvPr>
          <p:cNvGraphicFramePr>
            <a:graphicFrameLocks noChangeAspect="1"/>
          </p:cNvGraphicFramePr>
          <p:nvPr>
            <p:extLst>
              <p:ext uri="{D42A27DB-BD31-4B8C-83A1-F6EECF244321}">
                <p14:modId xmlns:p14="http://schemas.microsoft.com/office/powerpoint/2010/main" val="4038901693"/>
              </p:ext>
            </p:extLst>
          </p:nvPr>
        </p:nvGraphicFramePr>
        <p:xfrm>
          <a:off x="4502157" y="4060305"/>
          <a:ext cx="2170113" cy="884238"/>
        </p:xfrm>
        <a:graphic>
          <a:graphicData uri="http://schemas.openxmlformats.org/presentationml/2006/ole">
            <mc:AlternateContent xmlns:mc="http://schemas.openxmlformats.org/markup-compatibility/2006">
              <mc:Choice xmlns:v="urn:schemas-microsoft-com:vml" Requires="v">
                <p:oleObj spid="_x0000_s36866" name="Equation" r:id="rId4" imgW="825480" imgH="330120" progId="Equation.DSMT4">
                  <p:embed/>
                </p:oleObj>
              </mc:Choice>
              <mc:Fallback>
                <p:oleObj name="Equation" r:id="rId4" imgW="825480" imgH="330120" progId="Equation.DSMT4">
                  <p:embed/>
                  <p:pic>
                    <p:nvPicPr>
                      <p:cNvPr id="30" name="Object 36">
                        <a:extLst>
                          <a:ext uri="{FF2B5EF4-FFF2-40B4-BE49-F238E27FC236}">
                            <a16:creationId xmlns:a16="http://schemas.microsoft.com/office/drawing/2014/main" id="{074B72CF-A2DD-B9ED-9934-93AFB602E6EB}"/>
                          </a:ext>
                        </a:extLst>
                      </p:cNvPr>
                      <p:cNvPicPr>
                        <a:picLocks noChangeAspect="1" noChangeArrowheads="1"/>
                      </p:cNvPicPr>
                      <p:nvPr/>
                    </p:nvPicPr>
                    <p:blipFill>
                      <a:blip r:embed="rId5"/>
                      <a:srcRect/>
                      <a:stretch>
                        <a:fillRect/>
                      </a:stretch>
                    </p:blipFill>
                    <p:spPr bwMode="auto">
                      <a:xfrm>
                        <a:off x="4502157" y="4060305"/>
                        <a:ext cx="2170113" cy="884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178405678"/>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9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nodeType="clickEffect">
                                  <p:stCondLst>
                                    <p:cond delay="0"/>
                                  </p:stCondLst>
                                  <p:childTnLst>
                                    <p:set>
                                      <p:cBhvr>
                                        <p:cTn id="10" dur="1" fill="hold">
                                          <p:stCondLst>
                                            <p:cond delay="0"/>
                                          </p:stCondLst>
                                        </p:cTn>
                                        <p:tgtEl>
                                          <p:spTgt spid="121"/>
                                        </p:tgtEl>
                                        <p:attrNameLst>
                                          <p:attrName>style.visibility</p:attrName>
                                        </p:attrNameLst>
                                      </p:cBhvr>
                                      <p:to>
                                        <p:strVal val="visible"/>
                                      </p:to>
                                    </p:set>
                                    <p:animEffect transition="in" filter="wipe(left)">
                                      <p:cBhvr>
                                        <p:cTn id="11" dur="3000"/>
                                        <p:tgtEl>
                                          <p:spTgt spid="1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 grpId="0"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4653838"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第七章   动力学普遍定理</a:t>
            </a:r>
          </a:p>
        </p:txBody>
      </p:sp>
      <p:sp>
        <p:nvSpPr>
          <p:cNvPr id="6" name="Text Box 1032"/>
          <p:cNvSpPr txBox="1">
            <a:spLocks noChangeArrowheads="1"/>
          </p:cNvSpPr>
          <p:nvPr/>
        </p:nvSpPr>
        <p:spPr bwMode="auto">
          <a:xfrm>
            <a:off x="839416" y="1943506"/>
            <a:ext cx="10772819" cy="1077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20000"/>
              </a:lnSpc>
            </a:pPr>
            <a:r>
              <a:rPr kumimoji="1" lang="zh-CN" altLang="en-US" sz="2800" i="0" dirty="0">
                <a:latin typeface="+mn-lt"/>
                <a:ea typeface="微软雅黑" panose="020B0503020204020204" pitchFamily="34" charset="-122"/>
              </a:rPr>
              <a:t>设有等截面细直杆，如图。其质量为</a:t>
            </a:r>
            <a:r>
              <a:rPr kumimoji="1" lang="en-US" altLang="zh-CN" sz="2800" b="0" dirty="0">
                <a:latin typeface="+mn-lt"/>
                <a:ea typeface="微软雅黑" panose="020B0503020204020204" pitchFamily="34" charset="-122"/>
              </a:rPr>
              <a:t>m</a:t>
            </a:r>
            <a:r>
              <a:rPr kumimoji="1" lang="zh-CN" altLang="en-US" sz="2800" i="0" dirty="0">
                <a:latin typeface="+mn-lt"/>
                <a:ea typeface="微软雅黑" panose="020B0503020204020204" pitchFamily="34" charset="-122"/>
              </a:rPr>
              <a:t>，长为</a:t>
            </a:r>
            <a:r>
              <a:rPr kumimoji="1" lang="en-US" altLang="zh-CN" sz="2800" b="0" dirty="0">
                <a:latin typeface="+mn-lt"/>
                <a:ea typeface="微软雅黑" panose="020B0503020204020204" pitchFamily="34" charset="-122"/>
              </a:rPr>
              <a:t>l</a:t>
            </a:r>
            <a:r>
              <a:rPr kumimoji="1" lang="zh-CN" altLang="en-US" sz="2800" i="0" dirty="0">
                <a:latin typeface="+mn-lt"/>
                <a:ea typeface="微软雅黑" panose="020B0503020204020204" pitchFamily="34" charset="-122"/>
              </a:rPr>
              <a:t>。求它对过形心之轴的转动惯量。</a:t>
            </a:r>
            <a:endParaRPr lang="zh-CN" altLang="en-US" sz="2800" i="0" dirty="0">
              <a:latin typeface="+mn-lt"/>
              <a:ea typeface="微软雅黑" panose="020B0503020204020204" pitchFamily="34" charset="-122"/>
            </a:endParaRPr>
          </a:p>
        </p:txBody>
      </p:sp>
      <p:sp>
        <p:nvSpPr>
          <p:cNvPr id="8" name="矩形 7"/>
          <p:cNvSpPr/>
          <p:nvPr/>
        </p:nvSpPr>
        <p:spPr>
          <a:xfrm>
            <a:off x="839416" y="1027313"/>
            <a:ext cx="6647974" cy="565348"/>
          </a:xfrm>
          <a:prstGeom prst="rect">
            <a:avLst/>
          </a:prstGeom>
        </p:spPr>
        <p:txBody>
          <a:bodyPr wrap="none">
            <a:spAutoFit/>
          </a:bodyPr>
          <a:lstStyle/>
          <a:p>
            <a:pPr>
              <a:lnSpc>
                <a:spcPct val="120000"/>
              </a:lnSpc>
            </a:pPr>
            <a:r>
              <a:rPr lang="zh-CN" altLang="en-US" sz="2800" i="0" dirty="0">
                <a:latin typeface="+mj-lt"/>
                <a:ea typeface="微软雅黑" panose="020B0503020204020204" pitchFamily="34" charset="-122"/>
              </a:rPr>
              <a:t>均质等截面细直杆绕其形心轴的转动惯量</a:t>
            </a:r>
          </a:p>
        </p:txBody>
      </p:sp>
      <p:graphicFrame>
        <p:nvGraphicFramePr>
          <p:cNvPr id="9" name="Object 36">
            <a:extLst>
              <a:ext uri="{FF2B5EF4-FFF2-40B4-BE49-F238E27FC236}">
                <a16:creationId xmlns:a16="http://schemas.microsoft.com/office/drawing/2014/main" id="{074B72CF-A2DD-B9ED-9934-93AFB602E6EB}"/>
              </a:ext>
            </a:extLst>
          </p:cNvPr>
          <p:cNvGraphicFramePr>
            <a:graphicFrameLocks noChangeAspect="1"/>
          </p:cNvGraphicFramePr>
          <p:nvPr>
            <p:extLst>
              <p:ext uri="{D42A27DB-BD31-4B8C-83A1-F6EECF244321}">
                <p14:modId xmlns:p14="http://schemas.microsoft.com/office/powerpoint/2010/main" val="36268533"/>
              </p:ext>
            </p:extLst>
          </p:nvPr>
        </p:nvGraphicFramePr>
        <p:xfrm>
          <a:off x="1559216" y="3914003"/>
          <a:ext cx="4381202" cy="1017224"/>
        </p:xfrm>
        <a:graphic>
          <a:graphicData uri="http://schemas.openxmlformats.org/presentationml/2006/ole">
            <mc:AlternateContent xmlns:mc="http://schemas.openxmlformats.org/markup-compatibility/2006">
              <mc:Choice xmlns:v="urn:schemas-microsoft-com:vml" Requires="v">
                <p:oleObj spid="_x0000_s37890" name="Equation" r:id="rId4" imgW="2006280" imgH="457200" progId="Equation.DSMT4">
                  <p:embed/>
                </p:oleObj>
              </mc:Choice>
              <mc:Fallback>
                <p:oleObj name="Equation" r:id="rId4" imgW="2006280" imgH="457200" progId="Equation.DSMT4">
                  <p:embed/>
                  <p:pic>
                    <p:nvPicPr>
                      <p:cNvPr id="30" name="Object 36">
                        <a:extLst>
                          <a:ext uri="{FF2B5EF4-FFF2-40B4-BE49-F238E27FC236}">
                            <a16:creationId xmlns:a16="http://schemas.microsoft.com/office/drawing/2014/main" id="{074B72CF-A2DD-B9ED-9934-93AFB602E6EB}"/>
                          </a:ext>
                        </a:extLst>
                      </p:cNvPr>
                      <p:cNvPicPr>
                        <a:picLocks noChangeAspect="1" noChangeArrowheads="1"/>
                      </p:cNvPicPr>
                      <p:nvPr/>
                    </p:nvPicPr>
                    <p:blipFill>
                      <a:blip r:embed="rId5"/>
                      <a:srcRect/>
                      <a:stretch>
                        <a:fillRect/>
                      </a:stretch>
                    </p:blipFill>
                    <p:spPr bwMode="auto">
                      <a:xfrm>
                        <a:off x="1559216" y="3914003"/>
                        <a:ext cx="4381202" cy="1017224"/>
                      </a:xfrm>
                      <a:prstGeom prst="rect">
                        <a:avLst/>
                      </a:prstGeom>
                      <a:noFill/>
                      <a:ln>
                        <a:noFill/>
                      </a:ln>
                    </p:spPr>
                  </p:pic>
                </p:oleObj>
              </mc:Fallback>
            </mc:AlternateContent>
          </a:graphicData>
        </a:graphic>
      </p:graphicFrame>
      <p:sp>
        <p:nvSpPr>
          <p:cNvPr id="10" name="Rectangle 61">
            <a:extLst>
              <a:ext uri="{FF2B5EF4-FFF2-40B4-BE49-F238E27FC236}">
                <a16:creationId xmlns:a16="http://schemas.microsoft.com/office/drawing/2014/main" id="{9D4911C9-6482-230E-A8C6-0975606E3873}"/>
              </a:ext>
            </a:extLst>
          </p:cNvPr>
          <p:cNvSpPr>
            <a:spLocks noChangeArrowheads="1"/>
          </p:cNvSpPr>
          <p:nvPr/>
        </p:nvSpPr>
        <p:spPr bwMode="auto">
          <a:xfrm>
            <a:off x="8040216" y="2622113"/>
            <a:ext cx="3672408" cy="2734778"/>
          </a:xfrm>
          <a:prstGeom prst="rect">
            <a:avLst/>
          </a:prstGeom>
          <a:solidFill>
            <a:srgbClr val="B9CDE5"/>
          </a:solidFill>
          <a:ln>
            <a:noFill/>
          </a:ln>
          <a:effectLst/>
        </p:spPr>
        <p:txBody>
          <a:bodyPr wrap="none" anchor="ctr"/>
          <a:lstStyle/>
          <a:p>
            <a:endParaRPr lang="zh-CN" altLang="en-US"/>
          </a:p>
        </p:txBody>
      </p:sp>
      <p:grpSp>
        <p:nvGrpSpPr>
          <p:cNvPr id="11" name="Group 35">
            <a:extLst>
              <a:ext uri="{FF2B5EF4-FFF2-40B4-BE49-F238E27FC236}">
                <a16:creationId xmlns:a16="http://schemas.microsoft.com/office/drawing/2014/main" id="{0F88D860-111E-5C3B-79A0-E45B0ED5578B}"/>
              </a:ext>
            </a:extLst>
          </p:cNvPr>
          <p:cNvGrpSpPr>
            <a:grpSpLocks/>
          </p:cNvGrpSpPr>
          <p:nvPr/>
        </p:nvGrpSpPr>
        <p:grpSpPr bwMode="auto">
          <a:xfrm>
            <a:off x="7922885" y="2790326"/>
            <a:ext cx="3689350" cy="2055813"/>
            <a:chOff x="3436" y="1318"/>
            <a:chExt cx="2324" cy="1295"/>
          </a:xfrm>
        </p:grpSpPr>
        <p:sp>
          <p:nvSpPr>
            <p:cNvPr id="12" name="Rectangle 15">
              <a:extLst>
                <a:ext uri="{FF2B5EF4-FFF2-40B4-BE49-F238E27FC236}">
                  <a16:creationId xmlns:a16="http://schemas.microsoft.com/office/drawing/2014/main" id="{8C4D2240-A02B-1C98-0819-2504053A02E3}"/>
                </a:ext>
              </a:extLst>
            </p:cNvPr>
            <p:cNvSpPr>
              <a:spLocks noChangeArrowheads="1"/>
            </p:cNvSpPr>
            <p:nvPr/>
          </p:nvSpPr>
          <p:spPr bwMode="auto">
            <a:xfrm>
              <a:off x="3665" y="1789"/>
              <a:ext cx="1885" cy="140"/>
            </a:xfrm>
            <a:prstGeom prst="rect">
              <a:avLst/>
            </a:prstGeom>
            <a:gradFill rotWithShape="1">
              <a:gsLst>
                <a:gs pos="0">
                  <a:srgbClr val="5F5F5F"/>
                </a:gs>
                <a:gs pos="50000">
                  <a:srgbClr val="DBDBDB"/>
                </a:gs>
                <a:gs pos="100000">
                  <a:srgbClr val="5F5F5F"/>
                </a:gs>
              </a:gsLst>
              <a:lin ang="5400000" scaled="1"/>
            </a:gradFill>
            <a:ln w="28575">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lang="zh-CN" altLang="en-US" sz="2400">
                <a:solidFill>
                  <a:schemeClr val="bg1"/>
                </a:solidFill>
                <a:ea typeface="黑体" panose="02010609060101010101" pitchFamily="49" charset="-122"/>
              </a:endParaRPr>
            </a:p>
          </p:txBody>
        </p:sp>
        <p:sp>
          <p:nvSpPr>
            <p:cNvPr id="13" name="Line 16">
              <a:extLst>
                <a:ext uri="{FF2B5EF4-FFF2-40B4-BE49-F238E27FC236}">
                  <a16:creationId xmlns:a16="http://schemas.microsoft.com/office/drawing/2014/main" id="{32312779-EA73-7461-A946-CF98FD5C324E}"/>
                </a:ext>
              </a:extLst>
            </p:cNvPr>
            <p:cNvSpPr>
              <a:spLocks noChangeShapeType="1"/>
            </p:cNvSpPr>
            <p:nvPr/>
          </p:nvSpPr>
          <p:spPr bwMode="auto">
            <a:xfrm>
              <a:off x="3663" y="1937"/>
              <a:ext cx="0" cy="65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 name="Line 17">
              <a:extLst>
                <a:ext uri="{FF2B5EF4-FFF2-40B4-BE49-F238E27FC236}">
                  <a16:creationId xmlns:a16="http://schemas.microsoft.com/office/drawing/2014/main" id="{A3F58B83-6A59-B1AF-7E62-C2332A51B8B3}"/>
                </a:ext>
              </a:extLst>
            </p:cNvPr>
            <p:cNvSpPr>
              <a:spLocks noChangeShapeType="1"/>
            </p:cNvSpPr>
            <p:nvPr/>
          </p:nvSpPr>
          <p:spPr bwMode="auto">
            <a:xfrm>
              <a:off x="5550" y="1947"/>
              <a:ext cx="0" cy="65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 name="Line 18">
              <a:extLst>
                <a:ext uri="{FF2B5EF4-FFF2-40B4-BE49-F238E27FC236}">
                  <a16:creationId xmlns:a16="http://schemas.microsoft.com/office/drawing/2014/main" id="{12A164E2-9847-0246-55DE-21E05346C362}"/>
                </a:ext>
              </a:extLst>
            </p:cNvPr>
            <p:cNvSpPr>
              <a:spLocks noChangeShapeType="1"/>
            </p:cNvSpPr>
            <p:nvPr/>
          </p:nvSpPr>
          <p:spPr bwMode="auto">
            <a:xfrm>
              <a:off x="4610" y="1454"/>
              <a:ext cx="0" cy="873"/>
            </a:xfrm>
            <a:prstGeom prst="line">
              <a:avLst/>
            </a:prstGeom>
            <a:noFill/>
            <a:ln w="9525">
              <a:solidFill>
                <a:schemeClr val="tx1"/>
              </a:solidFill>
              <a:round/>
              <a:headEnd type="stealth" w="sm" len="lg"/>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16" name="Text Box 19">
              <a:extLst>
                <a:ext uri="{FF2B5EF4-FFF2-40B4-BE49-F238E27FC236}">
                  <a16:creationId xmlns:a16="http://schemas.microsoft.com/office/drawing/2014/main" id="{4002555A-76E5-D55F-3A95-DD3572AB8DD7}"/>
                </a:ext>
              </a:extLst>
            </p:cNvPr>
            <p:cNvSpPr txBox="1">
              <a:spLocks noChangeArrowheads="1"/>
            </p:cNvSpPr>
            <p:nvPr/>
          </p:nvSpPr>
          <p:spPr bwMode="auto">
            <a:xfrm>
              <a:off x="4582" y="1318"/>
              <a:ext cx="3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FontTx/>
                <a:buNone/>
              </a:pPr>
              <a:r>
                <a:rPr lang="en-US" altLang="zh-CN" sz="2400" b="0" i="1" dirty="0">
                  <a:ea typeface="黑体" panose="02010609060101010101" pitchFamily="49" charset="-122"/>
                </a:rPr>
                <a:t>z</a:t>
              </a:r>
            </a:p>
          </p:txBody>
        </p:sp>
        <p:sp>
          <p:nvSpPr>
            <p:cNvPr id="17" name="Text Box 20">
              <a:extLst>
                <a:ext uri="{FF2B5EF4-FFF2-40B4-BE49-F238E27FC236}">
                  <a16:creationId xmlns:a16="http://schemas.microsoft.com/office/drawing/2014/main" id="{908CBD61-19AD-5F91-44C6-3D6034BCB9B1}"/>
                </a:ext>
              </a:extLst>
            </p:cNvPr>
            <p:cNvSpPr txBox="1">
              <a:spLocks noChangeArrowheads="1"/>
            </p:cNvSpPr>
            <p:nvPr/>
          </p:nvSpPr>
          <p:spPr bwMode="auto">
            <a:xfrm>
              <a:off x="4360" y="1873"/>
              <a:ext cx="3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a:spcBef>
                  <a:spcPct val="50000"/>
                </a:spcBef>
                <a:buNone/>
              </a:pPr>
              <a:r>
                <a:rPr lang="en-US" altLang="zh-CN" sz="2400" b="0" dirty="0">
                  <a:ea typeface="黑体" panose="02010609060101010101" pitchFamily="49" charset="-122"/>
                </a:rPr>
                <a:t>C</a:t>
              </a:r>
            </a:p>
          </p:txBody>
        </p:sp>
        <p:sp>
          <p:nvSpPr>
            <p:cNvPr id="18" name="Rectangle 21" descr="宽上对角线">
              <a:extLst>
                <a:ext uri="{FF2B5EF4-FFF2-40B4-BE49-F238E27FC236}">
                  <a16:creationId xmlns:a16="http://schemas.microsoft.com/office/drawing/2014/main" id="{084EA231-E09F-AAEC-61DE-432362A6D7BE}"/>
                </a:ext>
              </a:extLst>
            </p:cNvPr>
            <p:cNvSpPr>
              <a:spLocks noChangeArrowheads="1"/>
            </p:cNvSpPr>
            <p:nvPr/>
          </p:nvSpPr>
          <p:spPr bwMode="auto">
            <a:xfrm>
              <a:off x="5140" y="1789"/>
              <a:ext cx="96" cy="137"/>
            </a:xfrm>
            <a:prstGeom prst="rect">
              <a:avLst/>
            </a:prstGeom>
            <a:pattFill prst="wdUpDiag">
              <a:fgClr>
                <a:schemeClr val="tx1"/>
              </a:fgClr>
              <a:bgClr>
                <a:schemeClr val="bg1"/>
              </a:bgClr>
            </a:pattFill>
            <a:ln w="19050">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lang="zh-CN" altLang="en-US" sz="2400">
                <a:solidFill>
                  <a:schemeClr val="bg1"/>
                </a:solidFill>
                <a:ea typeface="黑体" panose="02010609060101010101" pitchFamily="49" charset="-122"/>
              </a:endParaRPr>
            </a:p>
          </p:txBody>
        </p:sp>
        <p:sp>
          <p:nvSpPr>
            <p:cNvPr id="19" name="Text Box 22">
              <a:extLst>
                <a:ext uri="{FF2B5EF4-FFF2-40B4-BE49-F238E27FC236}">
                  <a16:creationId xmlns:a16="http://schemas.microsoft.com/office/drawing/2014/main" id="{70DAECE2-C899-CFAB-1AE9-A8D46F801B82}"/>
                </a:ext>
              </a:extLst>
            </p:cNvPr>
            <p:cNvSpPr txBox="1">
              <a:spLocks noChangeArrowheads="1"/>
            </p:cNvSpPr>
            <p:nvPr/>
          </p:nvSpPr>
          <p:spPr bwMode="auto">
            <a:xfrm>
              <a:off x="3980" y="1982"/>
              <a:ext cx="3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FontTx/>
                <a:buNone/>
              </a:pPr>
              <a:r>
                <a:rPr lang="en-US" altLang="zh-CN" sz="2400" b="0" dirty="0">
                  <a:ea typeface="黑体" panose="02010609060101010101" pitchFamily="49" charset="-122"/>
                </a:rPr>
                <a:t>l/</a:t>
              </a:r>
              <a:r>
                <a:rPr lang="en-US" altLang="zh-CN" sz="2400" b="0" i="0" dirty="0">
                  <a:ea typeface="黑体" panose="02010609060101010101" pitchFamily="49" charset="-122"/>
                </a:rPr>
                <a:t>2</a:t>
              </a:r>
            </a:p>
          </p:txBody>
        </p:sp>
        <p:sp>
          <p:nvSpPr>
            <p:cNvPr id="20" name="Text Box 23">
              <a:extLst>
                <a:ext uri="{FF2B5EF4-FFF2-40B4-BE49-F238E27FC236}">
                  <a16:creationId xmlns:a16="http://schemas.microsoft.com/office/drawing/2014/main" id="{B66D0571-43A0-C323-CD6A-9B9BF565820D}"/>
                </a:ext>
              </a:extLst>
            </p:cNvPr>
            <p:cNvSpPr txBox="1">
              <a:spLocks noChangeArrowheads="1"/>
            </p:cNvSpPr>
            <p:nvPr/>
          </p:nvSpPr>
          <p:spPr bwMode="auto">
            <a:xfrm>
              <a:off x="4440" y="2325"/>
              <a:ext cx="3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FontTx/>
                <a:buNone/>
              </a:pPr>
              <a:r>
                <a:rPr lang="en-US" altLang="zh-CN" sz="2400" b="0" i="1" dirty="0">
                  <a:ea typeface="黑体" panose="02010609060101010101" pitchFamily="49" charset="-122"/>
                </a:rPr>
                <a:t>l</a:t>
              </a:r>
            </a:p>
          </p:txBody>
        </p:sp>
        <p:sp>
          <p:nvSpPr>
            <p:cNvPr id="21" name="Text Box 24">
              <a:extLst>
                <a:ext uri="{FF2B5EF4-FFF2-40B4-BE49-F238E27FC236}">
                  <a16:creationId xmlns:a16="http://schemas.microsoft.com/office/drawing/2014/main" id="{CE08FA87-7837-99D7-EA70-50061B240999}"/>
                </a:ext>
              </a:extLst>
            </p:cNvPr>
            <p:cNvSpPr txBox="1">
              <a:spLocks noChangeArrowheads="1"/>
            </p:cNvSpPr>
            <p:nvPr/>
          </p:nvSpPr>
          <p:spPr bwMode="auto">
            <a:xfrm>
              <a:off x="5230" y="1981"/>
              <a:ext cx="3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a:spcBef>
                  <a:spcPct val="50000"/>
                </a:spcBef>
                <a:buNone/>
              </a:pPr>
              <a:r>
                <a:rPr lang="en-US" altLang="zh-CN" sz="2400" b="0" i="0" dirty="0">
                  <a:ea typeface="黑体" panose="02010609060101010101" pitchFamily="49" charset="-122"/>
                </a:rPr>
                <a:t>d</a:t>
              </a:r>
              <a:r>
                <a:rPr lang="en-US" altLang="zh-CN" sz="2400" b="0" dirty="0">
                  <a:ea typeface="黑体" panose="02010609060101010101" pitchFamily="49" charset="-122"/>
                </a:rPr>
                <a:t>x</a:t>
              </a:r>
            </a:p>
          </p:txBody>
        </p:sp>
        <p:sp>
          <p:nvSpPr>
            <p:cNvPr id="22" name="Text Box 25">
              <a:extLst>
                <a:ext uri="{FF2B5EF4-FFF2-40B4-BE49-F238E27FC236}">
                  <a16:creationId xmlns:a16="http://schemas.microsoft.com/office/drawing/2014/main" id="{737910BD-D645-A671-109D-20676C8BD251}"/>
                </a:ext>
              </a:extLst>
            </p:cNvPr>
            <p:cNvSpPr txBox="1">
              <a:spLocks noChangeArrowheads="1"/>
            </p:cNvSpPr>
            <p:nvPr/>
          </p:nvSpPr>
          <p:spPr bwMode="auto">
            <a:xfrm>
              <a:off x="4727" y="1976"/>
              <a:ext cx="3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a:spcBef>
                  <a:spcPct val="50000"/>
                </a:spcBef>
                <a:buNone/>
              </a:pPr>
              <a:r>
                <a:rPr lang="en-US" altLang="zh-CN" sz="2400" b="0" dirty="0">
                  <a:ea typeface="黑体" panose="02010609060101010101" pitchFamily="49" charset="-122"/>
                </a:rPr>
                <a:t>x</a:t>
              </a:r>
            </a:p>
          </p:txBody>
        </p:sp>
        <p:sp>
          <p:nvSpPr>
            <p:cNvPr id="23" name="Text Box 26">
              <a:extLst>
                <a:ext uri="{FF2B5EF4-FFF2-40B4-BE49-F238E27FC236}">
                  <a16:creationId xmlns:a16="http://schemas.microsoft.com/office/drawing/2014/main" id="{952DF350-01E1-F79C-C502-D73F4A9660CC}"/>
                </a:ext>
              </a:extLst>
            </p:cNvPr>
            <p:cNvSpPr txBox="1">
              <a:spLocks noChangeArrowheads="1"/>
            </p:cNvSpPr>
            <p:nvPr/>
          </p:nvSpPr>
          <p:spPr bwMode="auto">
            <a:xfrm>
              <a:off x="5420" y="1554"/>
              <a:ext cx="3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a:spcBef>
                  <a:spcPct val="50000"/>
                </a:spcBef>
                <a:buNone/>
              </a:pPr>
              <a:r>
                <a:rPr lang="en-US" altLang="zh-CN" sz="2400" b="0" dirty="0">
                  <a:ea typeface="黑体" panose="02010609060101010101" pitchFamily="49" charset="-122"/>
                </a:rPr>
                <a:t>B</a:t>
              </a:r>
            </a:p>
          </p:txBody>
        </p:sp>
        <p:sp>
          <p:nvSpPr>
            <p:cNvPr id="24" name="Text Box 27">
              <a:extLst>
                <a:ext uri="{FF2B5EF4-FFF2-40B4-BE49-F238E27FC236}">
                  <a16:creationId xmlns:a16="http://schemas.microsoft.com/office/drawing/2014/main" id="{39E1F0B3-1D35-F900-34DE-2E2E5653D9D1}"/>
                </a:ext>
              </a:extLst>
            </p:cNvPr>
            <p:cNvSpPr txBox="1">
              <a:spLocks noChangeArrowheads="1"/>
            </p:cNvSpPr>
            <p:nvPr/>
          </p:nvSpPr>
          <p:spPr bwMode="auto">
            <a:xfrm>
              <a:off x="3436" y="1594"/>
              <a:ext cx="3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FontTx/>
                <a:buNone/>
              </a:pPr>
              <a:r>
                <a:rPr lang="en-US" altLang="zh-CN" sz="2400" b="0" i="1" dirty="0">
                  <a:ea typeface="黑体" panose="02010609060101010101" pitchFamily="49" charset="-122"/>
                </a:rPr>
                <a:t>A</a:t>
              </a:r>
            </a:p>
          </p:txBody>
        </p:sp>
        <p:sp>
          <p:nvSpPr>
            <p:cNvPr id="25" name="Line 28">
              <a:extLst>
                <a:ext uri="{FF2B5EF4-FFF2-40B4-BE49-F238E27FC236}">
                  <a16:creationId xmlns:a16="http://schemas.microsoft.com/office/drawing/2014/main" id="{C2C6E82A-5EAD-4538-D79B-72E6D4592883}"/>
                </a:ext>
              </a:extLst>
            </p:cNvPr>
            <p:cNvSpPr>
              <a:spLocks noChangeShapeType="1"/>
            </p:cNvSpPr>
            <p:nvPr/>
          </p:nvSpPr>
          <p:spPr bwMode="auto">
            <a:xfrm>
              <a:off x="5235" y="1936"/>
              <a:ext cx="0" cy="36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 name="Line 29">
              <a:extLst>
                <a:ext uri="{FF2B5EF4-FFF2-40B4-BE49-F238E27FC236}">
                  <a16:creationId xmlns:a16="http://schemas.microsoft.com/office/drawing/2014/main" id="{E950D54A-BF8A-B829-C6D8-F74E575B73AB}"/>
                </a:ext>
              </a:extLst>
            </p:cNvPr>
            <p:cNvSpPr>
              <a:spLocks noChangeShapeType="1"/>
            </p:cNvSpPr>
            <p:nvPr/>
          </p:nvSpPr>
          <p:spPr bwMode="auto">
            <a:xfrm>
              <a:off x="5141" y="1939"/>
              <a:ext cx="0" cy="35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 name="Line 30">
              <a:extLst>
                <a:ext uri="{FF2B5EF4-FFF2-40B4-BE49-F238E27FC236}">
                  <a16:creationId xmlns:a16="http://schemas.microsoft.com/office/drawing/2014/main" id="{99D331FD-149C-280C-1BD0-95297D669BB5}"/>
                </a:ext>
              </a:extLst>
            </p:cNvPr>
            <p:cNvSpPr>
              <a:spLocks noChangeShapeType="1"/>
            </p:cNvSpPr>
            <p:nvPr/>
          </p:nvSpPr>
          <p:spPr bwMode="auto">
            <a:xfrm>
              <a:off x="3657" y="2217"/>
              <a:ext cx="957" cy="0"/>
            </a:xfrm>
            <a:prstGeom prst="line">
              <a:avLst/>
            </a:prstGeom>
            <a:noFill/>
            <a:ln w="9525">
              <a:solidFill>
                <a:schemeClr val="tx1"/>
              </a:solidFill>
              <a:round/>
              <a:headEnd type="stealth" w="sm" len="lg"/>
              <a:tailEnd type="stealth" w="sm" len="lg"/>
            </a:ln>
            <a:extLst>
              <a:ext uri="{909E8E84-426E-40DD-AFC4-6F175D3DCCD1}">
                <a14:hiddenFill xmlns:a14="http://schemas.microsoft.com/office/drawing/2010/main">
                  <a:noFill/>
                </a14:hiddenFill>
              </a:ext>
            </a:extLst>
          </p:spPr>
          <p:txBody>
            <a:bodyPr/>
            <a:lstStyle/>
            <a:p>
              <a:endParaRPr lang="zh-CN" altLang="en-US"/>
            </a:p>
          </p:txBody>
        </p:sp>
        <p:sp>
          <p:nvSpPr>
            <p:cNvPr id="28" name="Line 31">
              <a:extLst>
                <a:ext uri="{FF2B5EF4-FFF2-40B4-BE49-F238E27FC236}">
                  <a16:creationId xmlns:a16="http://schemas.microsoft.com/office/drawing/2014/main" id="{F550A2D9-9E89-13D6-48E6-2FD95FA81289}"/>
                </a:ext>
              </a:extLst>
            </p:cNvPr>
            <p:cNvSpPr>
              <a:spLocks noChangeShapeType="1"/>
            </p:cNvSpPr>
            <p:nvPr/>
          </p:nvSpPr>
          <p:spPr bwMode="auto">
            <a:xfrm>
              <a:off x="4609" y="2218"/>
              <a:ext cx="534" cy="0"/>
            </a:xfrm>
            <a:prstGeom prst="line">
              <a:avLst/>
            </a:prstGeom>
            <a:noFill/>
            <a:ln w="9525">
              <a:solidFill>
                <a:schemeClr val="tx1"/>
              </a:solidFill>
              <a:round/>
              <a:headEnd type="stealth" w="sm" len="lg"/>
              <a:tailEnd type="stealth" w="sm" len="lg"/>
            </a:ln>
            <a:extLst>
              <a:ext uri="{909E8E84-426E-40DD-AFC4-6F175D3DCCD1}">
                <a14:hiddenFill xmlns:a14="http://schemas.microsoft.com/office/drawing/2010/main">
                  <a:noFill/>
                </a14:hiddenFill>
              </a:ext>
            </a:extLst>
          </p:spPr>
          <p:txBody>
            <a:bodyPr/>
            <a:lstStyle/>
            <a:p>
              <a:endParaRPr lang="zh-CN" altLang="en-US"/>
            </a:p>
          </p:txBody>
        </p:sp>
        <p:sp>
          <p:nvSpPr>
            <p:cNvPr id="29" name="Line 32">
              <a:extLst>
                <a:ext uri="{FF2B5EF4-FFF2-40B4-BE49-F238E27FC236}">
                  <a16:creationId xmlns:a16="http://schemas.microsoft.com/office/drawing/2014/main" id="{E045F8A9-76B5-7C8D-1379-CAD9D96D3B9D}"/>
                </a:ext>
              </a:extLst>
            </p:cNvPr>
            <p:cNvSpPr>
              <a:spLocks noChangeShapeType="1"/>
            </p:cNvSpPr>
            <p:nvPr/>
          </p:nvSpPr>
          <p:spPr bwMode="auto">
            <a:xfrm>
              <a:off x="5238" y="2216"/>
              <a:ext cx="285" cy="0"/>
            </a:xfrm>
            <a:prstGeom prst="line">
              <a:avLst/>
            </a:prstGeom>
            <a:noFill/>
            <a:ln w="9525">
              <a:solidFill>
                <a:schemeClr val="tx1"/>
              </a:solidFill>
              <a:round/>
              <a:headEnd type="stealth" w="sm" len="lg"/>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30" name="Line 33">
              <a:extLst>
                <a:ext uri="{FF2B5EF4-FFF2-40B4-BE49-F238E27FC236}">
                  <a16:creationId xmlns:a16="http://schemas.microsoft.com/office/drawing/2014/main" id="{F9F38632-E1FF-2CE7-459A-9CD188BFF491}"/>
                </a:ext>
              </a:extLst>
            </p:cNvPr>
            <p:cNvSpPr>
              <a:spLocks noChangeShapeType="1"/>
            </p:cNvSpPr>
            <p:nvPr/>
          </p:nvSpPr>
          <p:spPr bwMode="auto">
            <a:xfrm>
              <a:off x="5136" y="2217"/>
              <a:ext cx="9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 name="Line 34">
              <a:extLst>
                <a:ext uri="{FF2B5EF4-FFF2-40B4-BE49-F238E27FC236}">
                  <a16:creationId xmlns:a16="http://schemas.microsoft.com/office/drawing/2014/main" id="{ECFB4117-14FA-372B-6A27-959A2D01E3A9}"/>
                </a:ext>
              </a:extLst>
            </p:cNvPr>
            <p:cNvSpPr>
              <a:spLocks noChangeShapeType="1"/>
            </p:cNvSpPr>
            <p:nvPr/>
          </p:nvSpPr>
          <p:spPr bwMode="auto">
            <a:xfrm>
              <a:off x="3659" y="2570"/>
              <a:ext cx="1893" cy="0"/>
            </a:xfrm>
            <a:prstGeom prst="line">
              <a:avLst/>
            </a:prstGeom>
            <a:noFill/>
            <a:ln w="9525">
              <a:solidFill>
                <a:schemeClr val="tx1"/>
              </a:solidFill>
              <a:round/>
              <a:headEnd type="stealth" w="sm" len="lg"/>
              <a:tailEnd type="stealth" w="sm" len="lg"/>
            </a:ln>
            <a:extLst>
              <a:ext uri="{909E8E84-426E-40DD-AFC4-6F175D3DCCD1}">
                <a14:hiddenFill xmlns:a14="http://schemas.microsoft.com/office/drawing/2010/main">
                  <a:noFill/>
                </a14:hiddenFill>
              </a:ext>
            </a:extLst>
          </p:spPr>
          <p:txBody>
            <a:bodyPr/>
            <a:lstStyle/>
            <a:p>
              <a:endParaRPr lang="zh-CN" altLang="en-US"/>
            </a:p>
          </p:txBody>
        </p:sp>
      </p:grpSp>
      <p:graphicFrame>
        <p:nvGraphicFramePr>
          <p:cNvPr id="32" name="Object 11">
            <a:extLst>
              <a:ext uri="{FF2B5EF4-FFF2-40B4-BE49-F238E27FC236}">
                <a16:creationId xmlns:a16="http://schemas.microsoft.com/office/drawing/2014/main" id="{D65FD303-1340-1E64-E3D6-B72340A1E518}"/>
              </a:ext>
            </a:extLst>
          </p:cNvPr>
          <p:cNvGraphicFramePr>
            <a:graphicFrameLocks noChangeAspect="1"/>
          </p:cNvGraphicFramePr>
          <p:nvPr>
            <p:extLst>
              <p:ext uri="{D42A27DB-BD31-4B8C-83A1-F6EECF244321}">
                <p14:modId xmlns:p14="http://schemas.microsoft.com/office/powerpoint/2010/main" val="1866635546"/>
              </p:ext>
            </p:extLst>
          </p:nvPr>
        </p:nvGraphicFramePr>
        <p:xfrm>
          <a:off x="1606550" y="3062288"/>
          <a:ext cx="1598613" cy="928687"/>
        </p:xfrm>
        <a:graphic>
          <a:graphicData uri="http://schemas.openxmlformats.org/presentationml/2006/ole">
            <mc:AlternateContent xmlns:mc="http://schemas.openxmlformats.org/markup-compatibility/2006">
              <mc:Choice xmlns:v="urn:schemas-microsoft-com:vml" Requires="v">
                <p:oleObj spid="_x0000_s37891" name="Equation" r:id="rId6" imgW="685800" imgH="393480" progId="Equation.DSMT4">
                  <p:embed/>
                </p:oleObj>
              </mc:Choice>
              <mc:Fallback>
                <p:oleObj name="Equation" r:id="rId6" imgW="685800" imgH="393480" progId="Equation.DSMT4">
                  <p:embed/>
                  <p:pic>
                    <p:nvPicPr>
                      <p:cNvPr id="27" name="Object 11">
                        <a:extLst>
                          <a:ext uri="{FF2B5EF4-FFF2-40B4-BE49-F238E27FC236}">
                            <a16:creationId xmlns:a16="http://schemas.microsoft.com/office/drawing/2014/main" id="{D65FD303-1340-1E64-E3D6-B72340A1E518}"/>
                          </a:ext>
                        </a:extLst>
                      </p:cNvPr>
                      <p:cNvPicPr>
                        <a:picLocks noChangeAspect="1" noChangeArrowheads="1"/>
                      </p:cNvPicPr>
                      <p:nvPr/>
                    </p:nvPicPr>
                    <p:blipFill>
                      <a:blip r:embed="rId7"/>
                      <a:srcRect/>
                      <a:stretch>
                        <a:fillRect/>
                      </a:stretch>
                    </p:blipFill>
                    <p:spPr bwMode="auto">
                      <a:xfrm>
                        <a:off x="1606550" y="3062288"/>
                        <a:ext cx="1598613" cy="928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4129339070"/>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9" presetClass="entr" presetSubtype="1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anim calcmode="lin" valueType="num">
                                      <p:cBhvr>
                                        <p:cTn id="9" dur="5000" fill="hold"/>
                                        <p:tgtEl>
                                          <p:spTgt spid="11"/>
                                        </p:tgtEl>
                                        <p:attrNameLst>
                                          <p:attrName>ppt_w</p:attrName>
                                        </p:attrNameLst>
                                      </p:cBhvr>
                                      <p:tavLst>
                                        <p:tav tm="0" fmla="#ppt_w*sin(2.5*pi*$)">
                                          <p:val>
                                            <p:fltVal val="0"/>
                                          </p:val>
                                        </p:tav>
                                        <p:tav tm="100000">
                                          <p:val>
                                            <p:fltVal val="1"/>
                                          </p:val>
                                        </p:tav>
                                      </p:tavLst>
                                    </p:anim>
                                    <p:anim calcmode="lin" valueType="num">
                                      <p:cBhvr>
                                        <p:cTn id="10" dur="5000" fill="hold"/>
                                        <p:tgtEl>
                                          <p:spTgt spid="11"/>
                                        </p:tgtEl>
                                        <p:attrNameLst>
                                          <p:attrName>ppt_h</p:attrName>
                                        </p:attrNameLst>
                                      </p:cBhvr>
                                      <p:tavLst>
                                        <p:tav tm="0">
                                          <p:val>
                                            <p:strVal val="#ppt_h"/>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nodeType="clickEffect">
                                  <p:stCondLst>
                                    <p:cond delay="0"/>
                                  </p:stCondLst>
                                  <p:childTnLst>
                                    <p:set>
                                      <p:cBhvr>
                                        <p:cTn id="18" dur="1" fill="hold">
                                          <p:stCondLst>
                                            <p:cond delay="0"/>
                                          </p:stCondLst>
                                        </p:cTn>
                                        <p:tgtEl>
                                          <p:spTgt spid="32"/>
                                        </p:tgtEl>
                                        <p:attrNameLst>
                                          <p:attrName>style.visibility</p:attrName>
                                        </p:attrNameLst>
                                      </p:cBhvr>
                                      <p:to>
                                        <p:strVal val="visible"/>
                                      </p:to>
                                    </p:set>
                                    <p:animEffect transition="in" filter="wipe(left)">
                                      <p:cBhvr>
                                        <p:cTn id="19" dur="3000"/>
                                        <p:tgtEl>
                                          <p:spTgt spid="32"/>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wipe(left)">
                                      <p:cBhvr>
                                        <p:cTn id="24" dur="3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utoUpdateAnimBg="0"/>
      <p:bldP spid="10"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4653838"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第七章   动力学普遍定理</a:t>
            </a:r>
          </a:p>
        </p:txBody>
      </p:sp>
      <p:sp>
        <p:nvSpPr>
          <p:cNvPr id="6" name="Text Box 1032"/>
          <p:cNvSpPr txBox="1">
            <a:spLocks noChangeArrowheads="1"/>
          </p:cNvSpPr>
          <p:nvPr/>
        </p:nvSpPr>
        <p:spPr bwMode="auto">
          <a:xfrm>
            <a:off x="839416" y="1701126"/>
            <a:ext cx="10772819" cy="1643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20000"/>
              </a:lnSpc>
            </a:pPr>
            <a:r>
              <a:rPr kumimoji="1" lang="zh-CN" altLang="en-US" sz="2800" i="0" dirty="0">
                <a:latin typeface="+mn-lt"/>
                <a:ea typeface="微软雅黑" panose="020B0503020204020204" pitchFamily="34" charset="-122"/>
              </a:rPr>
              <a:t>设有均质圆板，如图。其质量为</a:t>
            </a:r>
            <a:r>
              <a:rPr kumimoji="1" lang="en-US" altLang="zh-CN" sz="2800" b="0" dirty="0">
                <a:latin typeface="+mn-lt"/>
                <a:ea typeface="微软雅黑" panose="020B0503020204020204" pitchFamily="34" charset="-122"/>
              </a:rPr>
              <a:t>m</a:t>
            </a:r>
            <a:r>
              <a:rPr kumimoji="1" lang="zh-CN" altLang="en-US" sz="2800" i="0" dirty="0">
                <a:latin typeface="+mn-lt"/>
                <a:ea typeface="微软雅黑" panose="020B0503020204020204" pitchFamily="34" charset="-122"/>
              </a:rPr>
              <a:t>，半径为</a:t>
            </a:r>
            <a:r>
              <a:rPr kumimoji="1" lang="en-US" altLang="zh-CN" sz="2800" b="0" dirty="0">
                <a:latin typeface="+mn-lt"/>
                <a:ea typeface="微软雅黑" panose="020B0503020204020204" pitchFamily="34" charset="-122"/>
              </a:rPr>
              <a:t>R</a:t>
            </a:r>
            <a:r>
              <a:rPr kumimoji="1" lang="zh-CN" altLang="en-US" sz="2800" i="0" dirty="0">
                <a:latin typeface="+mn-lt"/>
                <a:ea typeface="微软雅黑" panose="020B0503020204020204" pitchFamily="34" charset="-122"/>
              </a:rPr>
              <a:t>。求它对圆心轴之转动惯量。在圆板上取任意半径</a:t>
            </a:r>
            <a:r>
              <a:rPr kumimoji="1" lang="zh-CN" altLang="en-US" sz="2800" b="0" dirty="0">
                <a:latin typeface="+mn-lt"/>
                <a:ea typeface="微软雅黑" panose="020B0503020204020204" pitchFamily="34" charset="-122"/>
                <a:sym typeface="Symbol" panose="05050102010706020507" pitchFamily="18" charset="2"/>
              </a:rPr>
              <a:t></a:t>
            </a:r>
            <a:r>
              <a:rPr kumimoji="1" lang="zh-CN" altLang="en-US" sz="2800" dirty="0">
                <a:latin typeface="+mn-lt"/>
                <a:ea typeface="微软雅黑" panose="020B0503020204020204" pitchFamily="34" charset="-122"/>
                <a:sym typeface="Symbol" panose="05050102010706020507" pitchFamily="18" charset="2"/>
              </a:rPr>
              <a:t> </a:t>
            </a:r>
            <a:r>
              <a:rPr kumimoji="1" lang="zh-CN" altLang="en-US" sz="2800" i="0" dirty="0">
                <a:latin typeface="+mn-lt"/>
                <a:ea typeface="微软雅黑" panose="020B0503020204020204" pitchFamily="34" charset="-122"/>
              </a:rPr>
              <a:t>处厚为</a:t>
            </a:r>
            <a:r>
              <a:rPr kumimoji="1" lang="en-US" altLang="zh-CN" sz="2800" b="0" i="0" dirty="0">
                <a:latin typeface="+mn-lt"/>
                <a:ea typeface="微软雅黑" panose="020B0503020204020204" pitchFamily="34" charset="-122"/>
              </a:rPr>
              <a:t>d</a:t>
            </a:r>
            <a:r>
              <a:rPr kumimoji="1" lang="en-US" altLang="zh-CN" sz="2800" b="0" dirty="0">
                <a:latin typeface="+mn-lt"/>
                <a:ea typeface="微软雅黑" panose="020B0503020204020204" pitchFamily="34" charset="-122"/>
                <a:sym typeface="Symbol" panose="05050102010706020507" pitchFamily="18" charset="2"/>
              </a:rPr>
              <a:t></a:t>
            </a:r>
            <a:r>
              <a:rPr kumimoji="1" lang="zh-CN" altLang="en-US" sz="2800" i="0" dirty="0">
                <a:latin typeface="+mn-lt"/>
                <a:ea typeface="微软雅黑" panose="020B0503020204020204" pitchFamily="34" charset="-122"/>
              </a:rPr>
              <a:t>之圆环为微元。由于圆板为均质，故有 </a:t>
            </a:r>
            <a:endParaRPr lang="zh-CN" altLang="en-US" sz="2800" i="0" dirty="0">
              <a:latin typeface="+mn-lt"/>
              <a:ea typeface="微软雅黑" panose="020B0503020204020204" pitchFamily="34" charset="-122"/>
            </a:endParaRPr>
          </a:p>
        </p:txBody>
      </p:sp>
      <p:sp>
        <p:nvSpPr>
          <p:cNvPr id="8" name="矩形 7"/>
          <p:cNvSpPr/>
          <p:nvPr/>
        </p:nvSpPr>
        <p:spPr>
          <a:xfrm>
            <a:off x="839416" y="1027313"/>
            <a:ext cx="4852610" cy="565348"/>
          </a:xfrm>
          <a:prstGeom prst="rect">
            <a:avLst/>
          </a:prstGeom>
        </p:spPr>
        <p:txBody>
          <a:bodyPr wrap="none">
            <a:spAutoFit/>
          </a:bodyPr>
          <a:lstStyle/>
          <a:p>
            <a:pPr>
              <a:lnSpc>
                <a:spcPct val="120000"/>
              </a:lnSpc>
            </a:pPr>
            <a:r>
              <a:rPr lang="zh-CN" altLang="en-US" sz="2800" i="0" dirty="0">
                <a:latin typeface="+mj-lt"/>
                <a:ea typeface="微软雅黑" panose="020B0503020204020204" pitchFamily="34" charset="-122"/>
              </a:rPr>
              <a:t>均质圆板绕圆心轴的转动惯量</a:t>
            </a:r>
          </a:p>
        </p:txBody>
      </p:sp>
      <p:graphicFrame>
        <p:nvGraphicFramePr>
          <p:cNvPr id="9" name="Object 36">
            <a:extLst>
              <a:ext uri="{FF2B5EF4-FFF2-40B4-BE49-F238E27FC236}">
                <a16:creationId xmlns:a16="http://schemas.microsoft.com/office/drawing/2014/main" id="{074B72CF-A2DD-B9ED-9934-93AFB602E6EB}"/>
              </a:ext>
            </a:extLst>
          </p:cNvPr>
          <p:cNvGraphicFramePr>
            <a:graphicFrameLocks noChangeAspect="1"/>
          </p:cNvGraphicFramePr>
          <p:nvPr>
            <p:extLst>
              <p:ext uri="{D42A27DB-BD31-4B8C-83A1-F6EECF244321}">
                <p14:modId xmlns:p14="http://schemas.microsoft.com/office/powerpoint/2010/main" val="823279775"/>
              </p:ext>
            </p:extLst>
          </p:nvPr>
        </p:nvGraphicFramePr>
        <p:xfrm>
          <a:off x="961627" y="4252843"/>
          <a:ext cx="5407025" cy="930275"/>
        </p:xfrm>
        <a:graphic>
          <a:graphicData uri="http://schemas.openxmlformats.org/presentationml/2006/ole">
            <mc:AlternateContent xmlns:mc="http://schemas.openxmlformats.org/markup-compatibility/2006">
              <mc:Choice xmlns:v="urn:schemas-microsoft-com:vml" Requires="v">
                <p:oleObj spid="_x0000_s38914" name="Equation" r:id="rId4" imgW="2476440" imgH="419040" progId="Equation.DSMT4">
                  <p:embed/>
                </p:oleObj>
              </mc:Choice>
              <mc:Fallback>
                <p:oleObj name="Equation" r:id="rId4" imgW="2476440" imgH="419040" progId="Equation.DSMT4">
                  <p:embed/>
                  <p:pic>
                    <p:nvPicPr>
                      <p:cNvPr id="30" name="Object 36">
                        <a:extLst>
                          <a:ext uri="{FF2B5EF4-FFF2-40B4-BE49-F238E27FC236}">
                            <a16:creationId xmlns:a16="http://schemas.microsoft.com/office/drawing/2014/main" id="{074B72CF-A2DD-B9ED-9934-93AFB602E6EB}"/>
                          </a:ext>
                        </a:extLst>
                      </p:cNvPr>
                      <p:cNvPicPr>
                        <a:picLocks noChangeAspect="1" noChangeArrowheads="1"/>
                      </p:cNvPicPr>
                      <p:nvPr/>
                    </p:nvPicPr>
                    <p:blipFill>
                      <a:blip r:embed="rId5"/>
                      <a:srcRect/>
                      <a:stretch>
                        <a:fillRect/>
                      </a:stretch>
                    </p:blipFill>
                    <p:spPr bwMode="auto">
                      <a:xfrm>
                        <a:off x="961627" y="4252843"/>
                        <a:ext cx="5407025" cy="930275"/>
                      </a:xfrm>
                      <a:prstGeom prst="rect">
                        <a:avLst/>
                      </a:prstGeom>
                      <a:noFill/>
                      <a:ln>
                        <a:noFill/>
                      </a:ln>
                    </p:spPr>
                  </p:pic>
                </p:oleObj>
              </mc:Fallback>
            </mc:AlternateContent>
          </a:graphicData>
        </a:graphic>
      </p:graphicFrame>
      <p:sp>
        <p:nvSpPr>
          <p:cNvPr id="10" name="Rectangle 61">
            <a:extLst>
              <a:ext uri="{FF2B5EF4-FFF2-40B4-BE49-F238E27FC236}">
                <a16:creationId xmlns:a16="http://schemas.microsoft.com/office/drawing/2014/main" id="{9D4911C9-6482-230E-A8C6-0975606E3873}"/>
              </a:ext>
            </a:extLst>
          </p:cNvPr>
          <p:cNvSpPr>
            <a:spLocks noChangeArrowheads="1"/>
          </p:cNvSpPr>
          <p:nvPr/>
        </p:nvSpPr>
        <p:spPr bwMode="auto">
          <a:xfrm>
            <a:off x="8060857" y="2848808"/>
            <a:ext cx="3818083" cy="3316496"/>
          </a:xfrm>
          <a:prstGeom prst="rect">
            <a:avLst/>
          </a:prstGeom>
          <a:solidFill>
            <a:srgbClr val="B9CDE5"/>
          </a:solidFill>
          <a:ln>
            <a:noFill/>
          </a:ln>
          <a:effectLst/>
        </p:spPr>
        <p:txBody>
          <a:bodyPr wrap="none" anchor="ctr"/>
          <a:lstStyle/>
          <a:p>
            <a:endParaRPr lang="zh-CN" altLang="en-US"/>
          </a:p>
        </p:txBody>
      </p:sp>
      <p:graphicFrame>
        <p:nvGraphicFramePr>
          <p:cNvPr id="11" name="Object 11">
            <a:extLst>
              <a:ext uri="{FF2B5EF4-FFF2-40B4-BE49-F238E27FC236}">
                <a16:creationId xmlns:a16="http://schemas.microsoft.com/office/drawing/2014/main" id="{D65FD303-1340-1E64-E3D6-B72340A1E518}"/>
              </a:ext>
            </a:extLst>
          </p:cNvPr>
          <p:cNvGraphicFramePr>
            <a:graphicFrameLocks noChangeAspect="1"/>
          </p:cNvGraphicFramePr>
          <p:nvPr>
            <p:extLst>
              <p:ext uri="{D42A27DB-BD31-4B8C-83A1-F6EECF244321}">
                <p14:modId xmlns:p14="http://schemas.microsoft.com/office/powerpoint/2010/main" val="3387389636"/>
              </p:ext>
            </p:extLst>
          </p:nvPr>
        </p:nvGraphicFramePr>
        <p:xfrm>
          <a:off x="1133475" y="3260725"/>
          <a:ext cx="2546350" cy="928688"/>
        </p:xfrm>
        <a:graphic>
          <a:graphicData uri="http://schemas.openxmlformats.org/presentationml/2006/ole">
            <mc:AlternateContent xmlns:mc="http://schemas.openxmlformats.org/markup-compatibility/2006">
              <mc:Choice xmlns:v="urn:schemas-microsoft-com:vml" Requires="v">
                <p:oleObj spid="_x0000_s38915" name="Equation" r:id="rId6" imgW="1091880" imgH="393480" progId="Equation.DSMT4">
                  <p:embed/>
                </p:oleObj>
              </mc:Choice>
              <mc:Fallback>
                <p:oleObj name="Equation" r:id="rId6" imgW="1091880" imgH="393480" progId="Equation.DSMT4">
                  <p:embed/>
                  <p:pic>
                    <p:nvPicPr>
                      <p:cNvPr id="27" name="Object 11">
                        <a:extLst>
                          <a:ext uri="{FF2B5EF4-FFF2-40B4-BE49-F238E27FC236}">
                            <a16:creationId xmlns:a16="http://schemas.microsoft.com/office/drawing/2014/main" id="{D65FD303-1340-1E64-E3D6-B72340A1E518}"/>
                          </a:ext>
                        </a:extLst>
                      </p:cNvPr>
                      <p:cNvPicPr>
                        <a:picLocks noChangeAspect="1" noChangeArrowheads="1"/>
                      </p:cNvPicPr>
                      <p:nvPr/>
                    </p:nvPicPr>
                    <p:blipFill>
                      <a:blip r:embed="rId7"/>
                      <a:srcRect/>
                      <a:stretch>
                        <a:fillRect/>
                      </a:stretch>
                    </p:blipFill>
                    <p:spPr bwMode="auto">
                      <a:xfrm>
                        <a:off x="1133475" y="3260725"/>
                        <a:ext cx="2546350" cy="928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12" name="Group 39">
            <a:extLst>
              <a:ext uri="{FF2B5EF4-FFF2-40B4-BE49-F238E27FC236}">
                <a16:creationId xmlns:a16="http://schemas.microsoft.com/office/drawing/2014/main" id="{B20942C8-C491-CDE2-1DBA-B37413D5EA8A}"/>
              </a:ext>
            </a:extLst>
          </p:cNvPr>
          <p:cNvGrpSpPr>
            <a:grpSpLocks/>
          </p:cNvGrpSpPr>
          <p:nvPr/>
        </p:nvGrpSpPr>
        <p:grpSpPr bwMode="auto">
          <a:xfrm>
            <a:off x="8709423" y="3246581"/>
            <a:ext cx="2520950" cy="2520950"/>
            <a:chOff x="3910" y="1572"/>
            <a:chExt cx="1588" cy="1588"/>
          </a:xfrm>
        </p:grpSpPr>
        <p:sp>
          <p:nvSpPr>
            <p:cNvPr id="13" name="Oval 35">
              <a:extLst>
                <a:ext uri="{FF2B5EF4-FFF2-40B4-BE49-F238E27FC236}">
                  <a16:creationId xmlns:a16="http://schemas.microsoft.com/office/drawing/2014/main" id="{423D88B1-B675-9E6B-7111-E4F507D94528}"/>
                </a:ext>
              </a:extLst>
            </p:cNvPr>
            <p:cNvSpPr>
              <a:spLocks noChangeArrowheads="1"/>
            </p:cNvSpPr>
            <p:nvPr/>
          </p:nvSpPr>
          <p:spPr bwMode="auto">
            <a:xfrm>
              <a:off x="3910" y="1572"/>
              <a:ext cx="1588" cy="1588"/>
            </a:xfrm>
            <a:prstGeom prst="ellipse">
              <a:avLst/>
            </a:prstGeom>
            <a:gradFill rotWithShape="1">
              <a:gsLst>
                <a:gs pos="0">
                  <a:srgbClr val="FFFFFF"/>
                </a:gs>
                <a:gs pos="100000">
                  <a:srgbClr val="C0C0C0"/>
                </a:gs>
              </a:gsLst>
              <a:path path="shape">
                <a:fillToRect l="50000" t="50000" r="50000" b="50000"/>
              </a:path>
            </a:gradFill>
            <a:ln w="28575">
              <a:solidFill>
                <a:schemeClr val="tx1"/>
              </a:solidFill>
              <a:round/>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lang="zh-CN" altLang="zh-CN" sz="2400">
                <a:ea typeface="黑体" panose="02010609060101010101" pitchFamily="49" charset="-122"/>
              </a:endParaRPr>
            </a:p>
          </p:txBody>
        </p:sp>
        <p:sp>
          <p:nvSpPr>
            <p:cNvPr id="14" name="Text Box 16">
              <a:extLst>
                <a:ext uri="{FF2B5EF4-FFF2-40B4-BE49-F238E27FC236}">
                  <a16:creationId xmlns:a16="http://schemas.microsoft.com/office/drawing/2014/main" id="{5D6A5B26-FC35-C936-815B-C6F7E63EB629}"/>
                </a:ext>
              </a:extLst>
            </p:cNvPr>
            <p:cNvSpPr txBox="1">
              <a:spLocks noChangeArrowheads="1"/>
            </p:cNvSpPr>
            <p:nvPr/>
          </p:nvSpPr>
          <p:spPr bwMode="auto">
            <a:xfrm>
              <a:off x="4420" y="2193"/>
              <a:ext cx="3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FontTx/>
                <a:buNone/>
              </a:pPr>
              <a:r>
                <a:rPr lang="en-US" altLang="zh-CN" sz="2400" b="0" i="1" dirty="0">
                  <a:ea typeface="黑体" panose="02010609060101010101" pitchFamily="49" charset="-122"/>
                </a:rPr>
                <a:t>O</a:t>
              </a:r>
            </a:p>
          </p:txBody>
        </p:sp>
        <p:sp>
          <p:nvSpPr>
            <p:cNvPr id="15" name="Text Box 18">
              <a:extLst>
                <a:ext uri="{FF2B5EF4-FFF2-40B4-BE49-F238E27FC236}">
                  <a16:creationId xmlns:a16="http://schemas.microsoft.com/office/drawing/2014/main" id="{C83A5185-CD0F-CD82-9BBE-5CFFF0B50A0C}"/>
                </a:ext>
              </a:extLst>
            </p:cNvPr>
            <p:cNvSpPr txBox="1">
              <a:spLocks noChangeArrowheads="1"/>
            </p:cNvSpPr>
            <p:nvPr/>
          </p:nvSpPr>
          <p:spPr bwMode="auto">
            <a:xfrm>
              <a:off x="4669" y="1979"/>
              <a:ext cx="3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FontTx/>
                <a:buNone/>
              </a:pPr>
              <a:r>
                <a:rPr lang="en-US" altLang="zh-CN" sz="2400" b="0" i="1" dirty="0">
                  <a:ea typeface="黑体" panose="02010609060101010101" pitchFamily="49" charset="-122"/>
                  <a:sym typeface="Symbol" panose="05050102010706020507" pitchFamily="18" charset="2"/>
                </a:rPr>
                <a:t></a:t>
              </a:r>
            </a:p>
          </p:txBody>
        </p:sp>
        <p:sp>
          <p:nvSpPr>
            <p:cNvPr id="16" name="Text Box 20">
              <a:extLst>
                <a:ext uri="{FF2B5EF4-FFF2-40B4-BE49-F238E27FC236}">
                  <a16:creationId xmlns:a16="http://schemas.microsoft.com/office/drawing/2014/main" id="{FE97B6B0-49B6-3045-8DB9-9A6B572DDFCE}"/>
                </a:ext>
              </a:extLst>
            </p:cNvPr>
            <p:cNvSpPr txBox="1">
              <a:spLocks noChangeArrowheads="1"/>
            </p:cNvSpPr>
            <p:nvPr/>
          </p:nvSpPr>
          <p:spPr bwMode="auto">
            <a:xfrm>
              <a:off x="4967" y="1760"/>
              <a:ext cx="3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FontTx/>
                <a:buNone/>
              </a:pPr>
              <a:r>
                <a:rPr lang="en-US" altLang="zh-CN" sz="2400" b="0" i="0" dirty="0">
                  <a:ea typeface="黑体" panose="02010609060101010101" pitchFamily="49" charset="-122"/>
                </a:rPr>
                <a:t>d</a:t>
              </a:r>
              <a:r>
                <a:rPr lang="en-US" altLang="zh-CN" sz="2400" b="0" dirty="0">
                  <a:ea typeface="黑体" panose="02010609060101010101" pitchFamily="49" charset="-122"/>
                  <a:sym typeface="Symbol" panose="05050102010706020507" pitchFamily="18" charset="2"/>
                </a:rPr>
                <a:t></a:t>
              </a:r>
              <a:endParaRPr lang="en-US" altLang="zh-CN" sz="2400" b="0" dirty="0">
                <a:ea typeface="黑体" panose="02010609060101010101" pitchFamily="49" charset="-122"/>
              </a:endParaRPr>
            </a:p>
          </p:txBody>
        </p:sp>
        <p:sp>
          <p:nvSpPr>
            <p:cNvPr id="17" name="Line 24">
              <a:extLst>
                <a:ext uri="{FF2B5EF4-FFF2-40B4-BE49-F238E27FC236}">
                  <a16:creationId xmlns:a16="http://schemas.microsoft.com/office/drawing/2014/main" id="{B6690CAB-4F2C-6A9B-89DB-208642835292}"/>
                </a:ext>
              </a:extLst>
            </p:cNvPr>
            <p:cNvSpPr>
              <a:spLocks noChangeShapeType="1"/>
            </p:cNvSpPr>
            <p:nvPr/>
          </p:nvSpPr>
          <p:spPr bwMode="auto">
            <a:xfrm>
              <a:off x="5043" y="2124"/>
              <a:ext cx="0" cy="361"/>
            </a:xfrm>
            <a:prstGeom prst="line">
              <a:avLst/>
            </a:prstGeom>
            <a:noFill/>
            <a:ln w="9525">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 name="Line 25">
              <a:extLst>
                <a:ext uri="{FF2B5EF4-FFF2-40B4-BE49-F238E27FC236}">
                  <a16:creationId xmlns:a16="http://schemas.microsoft.com/office/drawing/2014/main" id="{5B591A47-6258-50B5-0D38-D4318F2E90C1}"/>
                </a:ext>
              </a:extLst>
            </p:cNvPr>
            <p:cNvSpPr>
              <a:spLocks noChangeShapeType="1"/>
            </p:cNvSpPr>
            <p:nvPr/>
          </p:nvSpPr>
          <p:spPr bwMode="auto">
            <a:xfrm>
              <a:off x="4948" y="2128"/>
              <a:ext cx="0" cy="358"/>
            </a:xfrm>
            <a:prstGeom prst="line">
              <a:avLst/>
            </a:prstGeom>
            <a:noFill/>
            <a:ln w="9525">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 name="Line 27">
              <a:extLst>
                <a:ext uri="{FF2B5EF4-FFF2-40B4-BE49-F238E27FC236}">
                  <a16:creationId xmlns:a16="http://schemas.microsoft.com/office/drawing/2014/main" id="{2AEE6D58-D5F0-B6D2-4007-1EE2AF744CEC}"/>
                </a:ext>
              </a:extLst>
            </p:cNvPr>
            <p:cNvSpPr>
              <a:spLocks noChangeShapeType="1"/>
            </p:cNvSpPr>
            <p:nvPr/>
          </p:nvSpPr>
          <p:spPr bwMode="auto">
            <a:xfrm flipV="1">
              <a:off x="4712" y="2129"/>
              <a:ext cx="324" cy="226"/>
            </a:xfrm>
            <a:prstGeom prst="line">
              <a:avLst/>
            </a:prstGeom>
            <a:noFill/>
            <a:ln w="9525">
              <a:solidFill>
                <a:schemeClr val="tx1"/>
              </a:solidFill>
              <a:round/>
              <a:headEnd type="none" w="sm" len="lg"/>
              <a:tailEnd type="stealth" w="sm" len="lg"/>
            </a:ln>
            <a:extLst>
              <a:ext uri="{909E8E84-426E-40DD-AFC4-6F175D3DCCD1}">
                <a14:hiddenFill xmlns:a14="http://schemas.microsoft.com/office/drawing/2010/main">
                  <a:noFill/>
                </a14:hiddenFill>
              </a:ext>
            </a:extLst>
          </p:spPr>
          <p:txBody>
            <a:bodyPr/>
            <a:lstStyle/>
            <a:p>
              <a:endParaRPr lang="zh-CN" altLang="en-US"/>
            </a:p>
          </p:txBody>
        </p:sp>
        <p:sp>
          <p:nvSpPr>
            <p:cNvPr id="20" name="AutoShape 36" descr="深色上对角线">
              <a:extLst>
                <a:ext uri="{FF2B5EF4-FFF2-40B4-BE49-F238E27FC236}">
                  <a16:creationId xmlns:a16="http://schemas.microsoft.com/office/drawing/2014/main" id="{0BC17084-E915-0B0B-627D-29F7BE922129}"/>
                </a:ext>
              </a:extLst>
            </p:cNvPr>
            <p:cNvSpPr>
              <a:spLocks noChangeArrowheads="1"/>
            </p:cNvSpPr>
            <p:nvPr/>
          </p:nvSpPr>
          <p:spPr bwMode="auto">
            <a:xfrm>
              <a:off x="4211" y="1873"/>
              <a:ext cx="986" cy="986"/>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 name="T24" fmla="*/ 3155 w 21600"/>
                <a:gd name="T25" fmla="*/ 3155 h 21600"/>
                <a:gd name="T26" fmla="*/ 18445 w 21600"/>
                <a:gd name="T27" fmla="*/ 18445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972" y="10800"/>
                  </a:moveTo>
                  <a:cubicBezTo>
                    <a:pt x="1972" y="15676"/>
                    <a:pt x="5924" y="19628"/>
                    <a:pt x="10800" y="19628"/>
                  </a:cubicBezTo>
                  <a:cubicBezTo>
                    <a:pt x="15676" y="19628"/>
                    <a:pt x="19628" y="15676"/>
                    <a:pt x="19628" y="10800"/>
                  </a:cubicBezTo>
                  <a:cubicBezTo>
                    <a:pt x="19628" y="5924"/>
                    <a:pt x="15676" y="1972"/>
                    <a:pt x="10800" y="1972"/>
                  </a:cubicBezTo>
                  <a:cubicBezTo>
                    <a:pt x="5924" y="1972"/>
                    <a:pt x="1972" y="5924"/>
                    <a:pt x="1972" y="10800"/>
                  </a:cubicBezTo>
                  <a:close/>
                </a:path>
              </a:pathLst>
            </a:custGeom>
            <a:pattFill prst="dkUpDiag">
              <a:fgClr>
                <a:schemeClr val="tx1"/>
              </a:fgClr>
              <a:bgClr>
                <a:schemeClr val="bg1"/>
              </a:bgClr>
            </a:pattFill>
            <a:ln w="19050" algn="ctr">
              <a:solidFill>
                <a:schemeClr val="tx1"/>
              </a:solidFill>
              <a:round/>
              <a:headEnd/>
              <a:tailEnd/>
            </a:ln>
          </p:spPr>
          <p:txBody>
            <a:bodyPr wrap="none" anchor="ctr"/>
            <a:lstStyle/>
            <a:p>
              <a:endParaRPr lang="zh-CN" altLang="en-US"/>
            </a:p>
          </p:txBody>
        </p:sp>
        <p:sp>
          <p:nvSpPr>
            <p:cNvPr id="21" name="Line 14">
              <a:extLst>
                <a:ext uri="{FF2B5EF4-FFF2-40B4-BE49-F238E27FC236}">
                  <a16:creationId xmlns:a16="http://schemas.microsoft.com/office/drawing/2014/main" id="{72009AF5-EE57-B627-D267-1175DBADE91B}"/>
                </a:ext>
              </a:extLst>
            </p:cNvPr>
            <p:cNvSpPr>
              <a:spLocks noChangeShapeType="1"/>
            </p:cNvSpPr>
            <p:nvPr/>
          </p:nvSpPr>
          <p:spPr bwMode="auto">
            <a:xfrm flipH="1" flipV="1">
              <a:off x="4705" y="2358"/>
              <a:ext cx="541" cy="575"/>
            </a:xfrm>
            <a:prstGeom prst="line">
              <a:avLst/>
            </a:prstGeom>
            <a:noFill/>
            <a:ln w="9525">
              <a:solidFill>
                <a:schemeClr val="tx1"/>
              </a:solidFill>
              <a:round/>
              <a:headEnd type="stealth" w="sm" len="lg"/>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22" name="Text Box 19">
              <a:extLst>
                <a:ext uri="{FF2B5EF4-FFF2-40B4-BE49-F238E27FC236}">
                  <a16:creationId xmlns:a16="http://schemas.microsoft.com/office/drawing/2014/main" id="{846A771E-DB64-9577-DF6C-2A66C4193FD5}"/>
                </a:ext>
              </a:extLst>
            </p:cNvPr>
            <p:cNvSpPr txBox="1">
              <a:spLocks noChangeArrowheads="1"/>
            </p:cNvSpPr>
            <p:nvPr/>
          </p:nvSpPr>
          <p:spPr bwMode="auto">
            <a:xfrm rot="2847741">
              <a:off x="4770" y="2322"/>
              <a:ext cx="3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FontTx/>
                <a:buNone/>
              </a:pPr>
              <a:r>
                <a:rPr lang="en-US" altLang="zh-CN" sz="2400" b="0" i="1" dirty="0">
                  <a:ea typeface="黑体" panose="02010609060101010101" pitchFamily="49" charset="-122"/>
                </a:rPr>
                <a:t>R</a:t>
              </a:r>
            </a:p>
          </p:txBody>
        </p:sp>
        <p:sp>
          <p:nvSpPr>
            <p:cNvPr id="23" name="Line 29">
              <a:extLst>
                <a:ext uri="{FF2B5EF4-FFF2-40B4-BE49-F238E27FC236}">
                  <a16:creationId xmlns:a16="http://schemas.microsoft.com/office/drawing/2014/main" id="{8333BA7A-A843-D39B-9C0A-9871A62A1614}"/>
                </a:ext>
              </a:extLst>
            </p:cNvPr>
            <p:cNvSpPr>
              <a:spLocks noChangeShapeType="1"/>
            </p:cNvSpPr>
            <p:nvPr/>
          </p:nvSpPr>
          <p:spPr bwMode="auto">
            <a:xfrm>
              <a:off x="4943" y="2406"/>
              <a:ext cx="99" cy="0"/>
            </a:xfrm>
            <a:prstGeom prst="line">
              <a:avLst/>
            </a:prstGeom>
            <a:noFill/>
            <a:ln w="9525">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 name="Line 37">
              <a:extLst>
                <a:ext uri="{FF2B5EF4-FFF2-40B4-BE49-F238E27FC236}">
                  <a16:creationId xmlns:a16="http://schemas.microsoft.com/office/drawing/2014/main" id="{3160BD28-1C8E-BF0F-09B7-950D9605CCEE}"/>
                </a:ext>
              </a:extLst>
            </p:cNvPr>
            <p:cNvSpPr>
              <a:spLocks noChangeShapeType="1"/>
            </p:cNvSpPr>
            <p:nvPr/>
          </p:nvSpPr>
          <p:spPr bwMode="auto">
            <a:xfrm flipV="1">
              <a:off x="5014" y="2069"/>
              <a:ext cx="92" cy="64"/>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25" name="Line 38">
              <a:extLst>
                <a:ext uri="{FF2B5EF4-FFF2-40B4-BE49-F238E27FC236}">
                  <a16:creationId xmlns:a16="http://schemas.microsoft.com/office/drawing/2014/main" id="{9E7BCF51-3056-217B-A3D2-62CC326E46DC}"/>
                </a:ext>
              </a:extLst>
            </p:cNvPr>
            <p:cNvSpPr>
              <a:spLocks noChangeShapeType="1"/>
            </p:cNvSpPr>
            <p:nvPr/>
          </p:nvSpPr>
          <p:spPr bwMode="auto">
            <a:xfrm rot="10800000" flipV="1">
              <a:off x="5101" y="1955"/>
              <a:ext cx="193" cy="135"/>
            </a:xfrm>
            <a:prstGeom prst="line">
              <a:avLst/>
            </a:prstGeom>
            <a:noFill/>
            <a:ln w="9525">
              <a:solidFill>
                <a:schemeClr val="tx1"/>
              </a:solidFill>
              <a:round/>
              <a:headEnd type="none" w="sm" len="lg"/>
              <a:tailEnd type="stealth" w="sm" len="lg"/>
            </a:ln>
            <a:extLst>
              <a:ext uri="{909E8E84-426E-40DD-AFC4-6F175D3DCCD1}">
                <a14:hiddenFill xmlns:a14="http://schemas.microsoft.com/office/drawing/2010/main">
                  <a:noFill/>
                </a14:hiddenFill>
              </a:ext>
            </a:extLst>
          </p:spPr>
          <p:txBody>
            <a:bodyPr/>
            <a:lstStyle/>
            <a:p>
              <a:endParaRPr lang="zh-CN" altLang="en-US"/>
            </a:p>
          </p:txBody>
        </p:sp>
      </p:grpSp>
    </p:spTree>
    <p:extLst>
      <p:ext uri="{BB962C8B-B14F-4D97-AF65-F5344CB8AC3E}">
        <p14:creationId xmlns:p14="http://schemas.microsoft.com/office/powerpoint/2010/main" val="3491402994"/>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20" presetClass="entr" presetSubtype="0" fill="hold" nodeType="with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wedge">
                                      <p:cBhvr>
                                        <p:cTn id="9" dur="2000"/>
                                        <p:tgtEl>
                                          <p:spTgt spid="12"/>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499"/>
                                          </p:stCondLst>
                                        </p:cTn>
                                        <p:tgtEl>
                                          <p:spTgt spid="6"/>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wipe(left)">
                                      <p:cBhvr>
                                        <p:cTn id="18" dur="3000"/>
                                        <p:tgtEl>
                                          <p:spTgt spid="11"/>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wipe(left)">
                                      <p:cBhvr>
                                        <p:cTn id="23" dur="3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utoUpdateAnimBg="0"/>
      <p:bldP spid="10"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4653838"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第七章   动力学普遍定理</a:t>
            </a:r>
          </a:p>
        </p:txBody>
      </p:sp>
      <p:sp>
        <p:nvSpPr>
          <p:cNvPr id="26" name="Text Box 1032"/>
          <p:cNvSpPr txBox="1">
            <a:spLocks noChangeArrowheads="1"/>
          </p:cNvSpPr>
          <p:nvPr/>
        </p:nvSpPr>
        <p:spPr bwMode="auto">
          <a:xfrm>
            <a:off x="839416" y="1701126"/>
            <a:ext cx="10772819" cy="34899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20000"/>
              </a:lnSpc>
            </a:pPr>
            <a:r>
              <a:rPr lang="zh-CN" altLang="en-US" sz="2800" i="0" dirty="0">
                <a:latin typeface="+mn-lt"/>
                <a:ea typeface="微软雅黑" panose="020B0503020204020204" pitchFamily="34" charset="-122"/>
              </a:rPr>
              <a:t>工程中有时也把转动惯量写成刚体的总质量</a:t>
            </a:r>
            <a:r>
              <a:rPr lang="en-US" altLang="zh-CN" sz="2800" b="0" dirty="0">
                <a:latin typeface="+mn-lt"/>
                <a:ea typeface="微软雅黑" panose="020B0503020204020204" pitchFamily="34" charset="-122"/>
              </a:rPr>
              <a:t>m</a:t>
            </a:r>
            <a:r>
              <a:rPr lang="zh-CN" altLang="en-US" sz="2800" i="0" dirty="0">
                <a:latin typeface="+mn-lt"/>
                <a:ea typeface="微软雅黑" panose="020B0503020204020204" pitchFamily="34" charset="-122"/>
              </a:rPr>
              <a:t>与当量长度</a:t>
            </a:r>
            <a:r>
              <a:rPr lang="zh-CN" altLang="en-US" sz="2800" b="0" dirty="0">
                <a:latin typeface="+mn-lt"/>
                <a:ea typeface="微软雅黑" panose="020B0503020204020204" pitchFamily="34" charset="-122"/>
                <a:sym typeface="Symbol" panose="05050102010706020507" pitchFamily="18" charset="2"/>
              </a:rPr>
              <a:t></a:t>
            </a:r>
            <a:r>
              <a:rPr lang="en-US" altLang="zh-CN" sz="2800" b="0" baseline="-25000" dirty="0">
                <a:latin typeface="+mn-lt"/>
                <a:ea typeface="微软雅黑" panose="020B0503020204020204" pitchFamily="34" charset="-122"/>
              </a:rPr>
              <a:t>z</a:t>
            </a:r>
            <a:r>
              <a:rPr lang="zh-CN" altLang="en-US" sz="2800" i="0" dirty="0">
                <a:latin typeface="+mn-lt"/>
                <a:ea typeface="微软雅黑" panose="020B0503020204020204" pitchFamily="34" charset="-122"/>
              </a:rPr>
              <a:t>的平方乘积形式，即</a:t>
            </a:r>
            <a:endParaRPr lang="en-US" altLang="zh-CN" sz="2800" i="0" dirty="0">
              <a:latin typeface="+mn-lt"/>
              <a:ea typeface="微软雅黑" panose="020B0503020204020204" pitchFamily="34" charset="-122"/>
            </a:endParaRPr>
          </a:p>
          <a:p>
            <a:pPr>
              <a:lnSpc>
                <a:spcPct val="120000"/>
              </a:lnSpc>
            </a:pPr>
            <a:r>
              <a:rPr lang="en-US" altLang="zh-CN" sz="2800" b="0" dirty="0">
                <a:ea typeface="黑体" panose="02010609060101010101" pitchFamily="49" charset="-122"/>
              </a:rPr>
              <a:t>                          </a:t>
            </a:r>
            <a:r>
              <a:rPr lang="en-US" altLang="zh-CN" sz="2800" b="0" dirty="0" err="1">
                <a:ea typeface="黑体" panose="02010609060101010101" pitchFamily="49" charset="-122"/>
              </a:rPr>
              <a:t>J</a:t>
            </a:r>
            <a:r>
              <a:rPr lang="en-US" altLang="zh-CN" sz="2800" b="0" baseline="-25000" dirty="0" err="1">
                <a:ea typeface="黑体" panose="02010609060101010101" pitchFamily="49" charset="-122"/>
              </a:rPr>
              <a:t>z</a:t>
            </a:r>
            <a:r>
              <a:rPr lang="en-US" altLang="zh-CN" sz="2800" b="0" dirty="0">
                <a:ea typeface="黑体" panose="02010609060101010101" pitchFamily="49" charset="-122"/>
              </a:rPr>
              <a:t>=m</a:t>
            </a:r>
            <a:r>
              <a:rPr lang="en-US" altLang="zh-CN" sz="2800" b="0" dirty="0">
                <a:ea typeface="黑体" panose="02010609060101010101" pitchFamily="49" charset="-122"/>
                <a:sym typeface="Symbol" panose="05050102010706020507" pitchFamily="18" charset="2"/>
              </a:rPr>
              <a:t></a:t>
            </a:r>
            <a:r>
              <a:rPr lang="en-US" altLang="zh-CN" sz="2800" b="0" baseline="-25000" dirty="0">
                <a:ea typeface="黑体" panose="02010609060101010101" pitchFamily="49" charset="-122"/>
              </a:rPr>
              <a:t>z</a:t>
            </a:r>
            <a:r>
              <a:rPr lang="en-US" altLang="zh-CN" sz="2800" b="0" i="0" baseline="30000" dirty="0">
                <a:ea typeface="黑体" panose="02010609060101010101" pitchFamily="49" charset="-122"/>
              </a:rPr>
              <a:t>2</a:t>
            </a:r>
          </a:p>
          <a:p>
            <a:pPr>
              <a:lnSpc>
                <a:spcPct val="120000"/>
              </a:lnSpc>
            </a:pPr>
            <a:endParaRPr lang="en-US" altLang="zh-CN" sz="2800" i="0" baseline="30000" dirty="0">
              <a:latin typeface="+mn-lt"/>
              <a:ea typeface="微软雅黑" panose="020B0503020204020204" pitchFamily="34" charset="-122"/>
            </a:endParaRPr>
          </a:p>
          <a:p>
            <a:pPr>
              <a:lnSpc>
                <a:spcPct val="120000"/>
              </a:lnSpc>
            </a:pPr>
            <a:r>
              <a:rPr lang="zh-CN" altLang="en-US" sz="2800" b="0" dirty="0">
                <a:latin typeface="+mj-lt"/>
                <a:ea typeface="微软雅黑" panose="020B0503020204020204" pitchFamily="34" charset="-122"/>
                <a:sym typeface="Symbol" panose="05050102010706020507" pitchFamily="18" charset="2"/>
              </a:rPr>
              <a:t></a:t>
            </a:r>
            <a:r>
              <a:rPr lang="en-US" altLang="zh-CN" sz="2800" b="0" baseline="-25000" dirty="0">
                <a:latin typeface="+mj-lt"/>
                <a:ea typeface="微软雅黑" panose="020B0503020204020204" pitchFamily="34" charset="-122"/>
              </a:rPr>
              <a:t>z </a:t>
            </a:r>
            <a:r>
              <a:rPr lang="zh-CN" altLang="en-US" sz="2800" i="0" dirty="0">
                <a:latin typeface="+mn-lt"/>
                <a:ea typeface="微软雅黑" panose="020B0503020204020204" pitchFamily="34" charset="-122"/>
              </a:rPr>
              <a:t>称为刚体对于轴的回转半径。它是假想把刚体的质量集中于距转轴为</a:t>
            </a:r>
            <a:r>
              <a:rPr lang="zh-CN" altLang="en-US" sz="2800" b="0" dirty="0">
                <a:latin typeface="+mn-lt"/>
                <a:ea typeface="微软雅黑" panose="020B0503020204020204" pitchFamily="34" charset="-122"/>
                <a:sym typeface="Symbol" panose="05050102010706020507" pitchFamily="18" charset="2"/>
              </a:rPr>
              <a:t></a:t>
            </a:r>
            <a:r>
              <a:rPr lang="en-US" altLang="zh-CN" sz="2800" b="0" baseline="-25000" dirty="0">
                <a:latin typeface="+mn-lt"/>
                <a:ea typeface="微软雅黑" panose="020B0503020204020204" pitchFamily="34" charset="-122"/>
              </a:rPr>
              <a:t>z </a:t>
            </a:r>
            <a:r>
              <a:rPr lang="zh-CN" altLang="en-US" sz="2800" i="0" dirty="0">
                <a:latin typeface="+mn-lt"/>
                <a:ea typeface="微软雅黑" panose="020B0503020204020204" pitchFamily="34" charset="-122"/>
              </a:rPr>
              <a:t>的质点上，则此质点对于</a:t>
            </a:r>
            <a:r>
              <a:rPr lang="en-US" altLang="zh-CN" sz="2800" b="0" dirty="0">
                <a:latin typeface="+mn-lt"/>
                <a:ea typeface="微软雅黑" panose="020B0503020204020204" pitchFamily="34" charset="-122"/>
              </a:rPr>
              <a:t>z </a:t>
            </a:r>
            <a:r>
              <a:rPr lang="zh-CN" altLang="en-US" sz="2800" i="0" dirty="0">
                <a:latin typeface="+mn-lt"/>
                <a:ea typeface="微软雅黑" panose="020B0503020204020204" pitchFamily="34" charset="-122"/>
              </a:rPr>
              <a:t>轴的转动惯量等于原来刚体对于</a:t>
            </a:r>
            <a:r>
              <a:rPr lang="en-US" altLang="zh-CN" sz="2800" b="0" dirty="0">
                <a:latin typeface="+mn-lt"/>
                <a:ea typeface="微软雅黑" panose="020B0503020204020204" pitchFamily="34" charset="-122"/>
              </a:rPr>
              <a:t>z</a:t>
            </a:r>
            <a:r>
              <a:rPr lang="zh-CN" altLang="en-US" sz="2800" i="0" dirty="0">
                <a:latin typeface="+mn-lt"/>
                <a:ea typeface="微软雅黑" panose="020B0503020204020204" pitchFamily="34" charset="-122"/>
              </a:rPr>
              <a:t>轴的转动惯量。</a:t>
            </a:r>
          </a:p>
        </p:txBody>
      </p:sp>
      <p:sp>
        <p:nvSpPr>
          <p:cNvPr id="27" name="矩形 26"/>
          <p:cNvSpPr/>
          <p:nvPr/>
        </p:nvSpPr>
        <p:spPr>
          <a:xfrm>
            <a:off x="839416" y="1027313"/>
            <a:ext cx="3775393" cy="565348"/>
          </a:xfrm>
          <a:prstGeom prst="rect">
            <a:avLst/>
          </a:prstGeom>
        </p:spPr>
        <p:txBody>
          <a:bodyPr wrap="none">
            <a:spAutoFit/>
          </a:bodyPr>
          <a:lstStyle/>
          <a:p>
            <a:pPr>
              <a:lnSpc>
                <a:spcPct val="120000"/>
              </a:lnSpc>
            </a:pPr>
            <a:r>
              <a:rPr lang="zh-CN" altLang="en-US" sz="2800" i="0" dirty="0">
                <a:latin typeface="+mj-lt"/>
                <a:ea typeface="微软雅黑" panose="020B0503020204020204" pitchFamily="34" charset="-122"/>
              </a:rPr>
              <a:t>回转半径（惯性半径）</a:t>
            </a:r>
          </a:p>
        </p:txBody>
      </p:sp>
    </p:spTree>
    <p:extLst>
      <p:ext uri="{BB962C8B-B14F-4D97-AF65-F5344CB8AC3E}">
        <p14:creationId xmlns:p14="http://schemas.microsoft.com/office/powerpoint/2010/main" val="2784951616"/>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4653838"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第七章   动力学普遍定理</a:t>
            </a:r>
          </a:p>
        </p:txBody>
      </p:sp>
      <p:sp>
        <p:nvSpPr>
          <p:cNvPr id="5" name="Text Box 1032"/>
          <p:cNvSpPr txBox="1">
            <a:spLocks noChangeArrowheads="1"/>
          </p:cNvSpPr>
          <p:nvPr/>
        </p:nvSpPr>
        <p:spPr bwMode="auto">
          <a:xfrm>
            <a:off x="839416" y="1701126"/>
            <a:ext cx="10772819" cy="3194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lnSpc>
                <a:spcPct val="120000"/>
              </a:lnSpc>
            </a:pPr>
            <a:r>
              <a:rPr lang="zh-CN" altLang="en-US" sz="2800" i="0" dirty="0">
                <a:latin typeface="+mn-lt"/>
                <a:ea typeface="微软雅黑" panose="020B0503020204020204" pitchFamily="34" charset="-122"/>
              </a:rPr>
              <a:t>工程手册一般给出刚体对通过质心轴的转动惯量。在工程中，有时需要确定刚体对不通过质心轴的转动惯量，例如求等截面直杆</a:t>
            </a:r>
            <a:r>
              <a:rPr lang="en-US" altLang="zh-CN" sz="2800" b="0" dirty="0">
                <a:latin typeface="+mn-lt"/>
                <a:ea typeface="微软雅黑" panose="020B0503020204020204" pitchFamily="34" charset="-122"/>
              </a:rPr>
              <a:t>AB</a:t>
            </a:r>
            <a:r>
              <a:rPr lang="zh-CN" altLang="en-US" sz="2800" i="0" dirty="0">
                <a:latin typeface="+mn-lt"/>
                <a:ea typeface="微软雅黑" panose="020B0503020204020204" pitchFamily="34" charset="-122"/>
              </a:rPr>
              <a:t>对通过杆端</a:t>
            </a:r>
            <a:r>
              <a:rPr lang="en-US" altLang="zh-CN" sz="2800" b="0" dirty="0">
                <a:latin typeface="+mn-lt"/>
                <a:ea typeface="微软雅黑" panose="020B0503020204020204" pitchFamily="34" charset="-122"/>
              </a:rPr>
              <a:t>A</a:t>
            </a:r>
            <a:r>
              <a:rPr lang="zh-CN" altLang="en-US" sz="2800" i="0" dirty="0">
                <a:latin typeface="+mn-lt"/>
                <a:ea typeface="微软雅黑" panose="020B0503020204020204" pitchFamily="34" charset="-122"/>
              </a:rPr>
              <a:t>点上的横轴 </a:t>
            </a:r>
            <a:r>
              <a:rPr lang="en-US" altLang="zh-CN" sz="2800" b="0" dirty="0">
                <a:latin typeface="+mn-lt"/>
                <a:ea typeface="微软雅黑" panose="020B0503020204020204" pitchFamily="34" charset="-122"/>
              </a:rPr>
              <a:t>z</a:t>
            </a:r>
            <a:r>
              <a:rPr lang="en-US" altLang="zh-CN" sz="2800" b="0" dirty="0">
                <a:ea typeface="微软雅黑" panose="020B0503020204020204" pitchFamily="34" charset="-122"/>
              </a:rPr>
              <a:t>' </a:t>
            </a:r>
            <a:r>
              <a:rPr lang="zh-CN" altLang="en-US" sz="2800" i="0" dirty="0">
                <a:latin typeface="+mn-lt"/>
                <a:ea typeface="微软雅黑" panose="020B0503020204020204" pitchFamily="34" charset="-122"/>
              </a:rPr>
              <a:t>的转动惯量，这就需要利用如下转动惯量的</a:t>
            </a:r>
            <a:r>
              <a:rPr lang="zh-CN" altLang="en-US" sz="2800" i="0" dirty="0">
                <a:solidFill>
                  <a:srgbClr val="FF0000"/>
                </a:solidFill>
                <a:latin typeface="+mn-lt"/>
                <a:ea typeface="微软雅黑" panose="020B0503020204020204" pitchFamily="34" charset="-122"/>
              </a:rPr>
              <a:t>平行轴定理</a:t>
            </a:r>
            <a:r>
              <a:rPr lang="zh-CN" altLang="en-US" sz="2800" i="0" dirty="0">
                <a:latin typeface="+mn-lt"/>
                <a:ea typeface="微软雅黑" panose="020B0503020204020204" pitchFamily="34" charset="-122"/>
              </a:rPr>
              <a:t>：</a:t>
            </a:r>
            <a:endParaRPr lang="en-US" altLang="zh-CN" sz="2800" i="0" dirty="0">
              <a:latin typeface="+mn-lt"/>
              <a:ea typeface="微软雅黑" panose="020B0503020204020204" pitchFamily="34" charset="-122"/>
            </a:endParaRPr>
          </a:p>
          <a:p>
            <a:pPr algn="just">
              <a:lnSpc>
                <a:spcPct val="120000"/>
              </a:lnSpc>
            </a:pPr>
            <a:r>
              <a:rPr lang="zh-CN" altLang="en-US" sz="2800" i="0" dirty="0">
                <a:latin typeface="+mn-lt"/>
                <a:ea typeface="微软雅黑" panose="020B0503020204020204" pitchFamily="34" charset="-122"/>
              </a:rPr>
              <a:t>刚体对于任一轴 </a:t>
            </a:r>
            <a:r>
              <a:rPr lang="en-US" altLang="zh-CN" sz="2800" b="0" dirty="0">
                <a:ea typeface="微软雅黑" panose="020B0503020204020204" pitchFamily="34" charset="-122"/>
              </a:rPr>
              <a:t>z' </a:t>
            </a:r>
            <a:r>
              <a:rPr lang="zh-CN" altLang="en-US" sz="2800" i="0" dirty="0">
                <a:latin typeface="+mn-lt"/>
                <a:ea typeface="微软雅黑" panose="020B0503020204020204" pitchFamily="34" charset="-122"/>
              </a:rPr>
              <a:t>的转动惯量，等于与此轴平行的质心轴的转动惯量</a:t>
            </a:r>
            <a:r>
              <a:rPr lang="en-US" altLang="zh-CN" sz="2800" b="0" dirty="0" err="1">
                <a:latin typeface="+mn-lt"/>
                <a:ea typeface="微软雅黑" panose="020B0503020204020204" pitchFamily="34" charset="-122"/>
              </a:rPr>
              <a:t>J</a:t>
            </a:r>
            <a:r>
              <a:rPr lang="en-US" altLang="zh-CN" sz="2800" b="0" baseline="-25000" dirty="0" err="1">
                <a:latin typeface="+mn-lt"/>
                <a:ea typeface="微软雅黑" panose="020B0503020204020204" pitchFamily="34" charset="-122"/>
              </a:rPr>
              <a:t>z</a:t>
            </a:r>
            <a:r>
              <a:rPr lang="zh-CN" altLang="en-US" sz="2800" i="0" dirty="0">
                <a:latin typeface="+mn-lt"/>
                <a:ea typeface="微软雅黑" panose="020B0503020204020204" pitchFamily="34" charset="-122"/>
              </a:rPr>
              <a:t>，加上刚体的质量与</a:t>
            </a:r>
            <a:r>
              <a:rPr lang="en-US" altLang="zh-CN" sz="2800" b="0" dirty="0">
                <a:ea typeface="微软雅黑" panose="020B0503020204020204" pitchFamily="34" charset="-122"/>
              </a:rPr>
              <a:t>z' </a:t>
            </a:r>
            <a:r>
              <a:rPr lang="zh-CN" altLang="en-US" sz="2800" i="0" dirty="0">
                <a:latin typeface="+mn-lt"/>
                <a:ea typeface="微软雅黑" panose="020B0503020204020204" pitchFamily="34" charset="-122"/>
              </a:rPr>
              <a:t>轴到质心轴 </a:t>
            </a:r>
            <a:r>
              <a:rPr lang="en-US" altLang="zh-CN" sz="2800" b="0" dirty="0">
                <a:latin typeface="+mn-lt"/>
                <a:ea typeface="微软雅黑" panose="020B0503020204020204" pitchFamily="34" charset="-122"/>
              </a:rPr>
              <a:t>z </a:t>
            </a:r>
            <a:r>
              <a:rPr lang="zh-CN" altLang="en-US" sz="2800" i="0" dirty="0">
                <a:latin typeface="+mn-lt"/>
                <a:ea typeface="微软雅黑" panose="020B0503020204020204" pitchFamily="34" charset="-122"/>
              </a:rPr>
              <a:t>的距离</a:t>
            </a:r>
            <a:r>
              <a:rPr lang="en-US" altLang="zh-CN" sz="2800" b="0" dirty="0">
                <a:latin typeface="+mn-lt"/>
                <a:ea typeface="微软雅黑" panose="020B0503020204020204" pitchFamily="34" charset="-122"/>
              </a:rPr>
              <a:t>d </a:t>
            </a:r>
            <a:r>
              <a:rPr lang="zh-CN" altLang="en-US" sz="2800" i="0" dirty="0">
                <a:latin typeface="+mn-lt"/>
                <a:ea typeface="微软雅黑" panose="020B0503020204020204" pitchFamily="34" charset="-122"/>
              </a:rPr>
              <a:t>平方的乘积，即</a:t>
            </a:r>
          </a:p>
        </p:txBody>
      </p:sp>
      <p:sp>
        <p:nvSpPr>
          <p:cNvPr id="6" name="矩形 5"/>
          <p:cNvSpPr/>
          <p:nvPr/>
        </p:nvSpPr>
        <p:spPr>
          <a:xfrm>
            <a:off x="839416" y="1027313"/>
            <a:ext cx="1980029" cy="565348"/>
          </a:xfrm>
          <a:prstGeom prst="rect">
            <a:avLst/>
          </a:prstGeom>
        </p:spPr>
        <p:txBody>
          <a:bodyPr wrap="none">
            <a:spAutoFit/>
          </a:bodyPr>
          <a:lstStyle/>
          <a:p>
            <a:pPr>
              <a:lnSpc>
                <a:spcPct val="120000"/>
              </a:lnSpc>
            </a:pPr>
            <a:r>
              <a:rPr lang="zh-CN" altLang="en-US" sz="2800" i="0" dirty="0">
                <a:latin typeface="+mj-lt"/>
                <a:ea typeface="微软雅黑" panose="020B0503020204020204" pitchFamily="34" charset="-122"/>
              </a:rPr>
              <a:t>平行轴定理</a:t>
            </a:r>
          </a:p>
        </p:txBody>
      </p:sp>
      <p:graphicFrame>
        <p:nvGraphicFramePr>
          <p:cNvPr id="8" name="Object 36">
            <a:extLst>
              <a:ext uri="{FF2B5EF4-FFF2-40B4-BE49-F238E27FC236}">
                <a16:creationId xmlns:a16="http://schemas.microsoft.com/office/drawing/2014/main" id="{B038F9C1-FA0E-DC99-F39E-091E321CD8AC}"/>
              </a:ext>
            </a:extLst>
          </p:cNvPr>
          <p:cNvGraphicFramePr>
            <a:graphicFrameLocks noChangeAspect="1"/>
          </p:cNvGraphicFramePr>
          <p:nvPr>
            <p:extLst>
              <p:ext uri="{D42A27DB-BD31-4B8C-83A1-F6EECF244321}">
                <p14:modId xmlns:p14="http://schemas.microsoft.com/office/powerpoint/2010/main" val="30769678"/>
              </p:ext>
            </p:extLst>
          </p:nvPr>
        </p:nvGraphicFramePr>
        <p:xfrm>
          <a:off x="4295800" y="5013176"/>
          <a:ext cx="2295929" cy="625826"/>
        </p:xfrm>
        <a:graphic>
          <a:graphicData uri="http://schemas.openxmlformats.org/presentationml/2006/ole">
            <mc:AlternateContent xmlns:mc="http://schemas.openxmlformats.org/markup-compatibility/2006">
              <mc:Choice xmlns:v="urn:schemas-microsoft-com:vml" Requires="v">
                <p:oleObj spid="_x0000_s39938" name="Equation" r:id="rId4" imgW="901440" imgH="241200" progId="Equation.DSMT4">
                  <p:embed/>
                </p:oleObj>
              </mc:Choice>
              <mc:Fallback>
                <p:oleObj name="Equation" r:id="rId4" imgW="901440" imgH="241200" progId="Equation.DSMT4">
                  <p:embed/>
                  <p:pic>
                    <p:nvPicPr>
                      <p:cNvPr id="4" name="Object 36">
                        <a:extLst>
                          <a:ext uri="{FF2B5EF4-FFF2-40B4-BE49-F238E27FC236}">
                            <a16:creationId xmlns:a16="http://schemas.microsoft.com/office/drawing/2014/main" id="{B038F9C1-FA0E-DC99-F39E-091E321CD8AC}"/>
                          </a:ext>
                        </a:extLst>
                      </p:cNvPr>
                      <p:cNvPicPr>
                        <a:picLocks noChangeAspect="1" noChangeArrowheads="1"/>
                      </p:cNvPicPr>
                      <p:nvPr/>
                    </p:nvPicPr>
                    <p:blipFill>
                      <a:blip r:embed="rId5"/>
                      <a:srcRect/>
                      <a:stretch>
                        <a:fillRect/>
                      </a:stretch>
                    </p:blipFill>
                    <p:spPr bwMode="auto">
                      <a:xfrm>
                        <a:off x="4295800" y="5013176"/>
                        <a:ext cx="2295929" cy="625826"/>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1847001890"/>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ipe(left)">
                                      <p:cBhvr>
                                        <p:cTn id="11" dur="3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4653838"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第七章   动力学普遍定理</a:t>
            </a:r>
          </a:p>
        </p:txBody>
      </p:sp>
      <p:sp>
        <p:nvSpPr>
          <p:cNvPr id="9" name="矩形 8"/>
          <p:cNvSpPr/>
          <p:nvPr/>
        </p:nvSpPr>
        <p:spPr>
          <a:xfrm>
            <a:off x="191343" y="842981"/>
            <a:ext cx="11665297" cy="493148"/>
          </a:xfrm>
          <a:prstGeom prst="rect">
            <a:avLst/>
          </a:prstGeom>
        </p:spPr>
        <p:txBody>
          <a:bodyPr wrap="square">
            <a:spAutoFit/>
          </a:bodyPr>
          <a:lstStyle/>
          <a:p>
            <a:pPr>
              <a:lnSpc>
                <a:spcPct val="120000"/>
              </a:lnSpc>
            </a:pPr>
            <a:r>
              <a:rPr lang="zh-CN" altLang="en-US" i="0" dirty="0">
                <a:solidFill>
                  <a:srgbClr val="0033CC"/>
                </a:solidFill>
                <a:ea typeface="黑体" panose="02010609060101010101" pitchFamily="49" charset="-122"/>
              </a:rPr>
              <a:t>例   </a:t>
            </a:r>
            <a:r>
              <a:rPr kumimoji="1" lang="zh-CN" altLang="en-US"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求图中等截面直杆</a:t>
            </a:r>
            <a:r>
              <a:rPr kumimoji="1" lang="en-US" altLang="zh-CN" b="0" i="1"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AB</a:t>
            </a:r>
            <a:r>
              <a:rPr kumimoji="1" lang="zh-CN" altLang="en-US"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对轴</a:t>
            </a:r>
            <a:r>
              <a:rPr kumimoji="1" lang="en-US" altLang="zh-CN" b="0" i="1"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z'</a:t>
            </a:r>
            <a:r>
              <a:rPr kumimoji="1" lang="zh-CN" altLang="en-US"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的转动惯量及对</a:t>
            </a:r>
            <a:r>
              <a:rPr kumimoji="1" lang="en-US" altLang="zh-CN" b="0" i="1"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z' </a:t>
            </a:r>
            <a:r>
              <a:rPr kumimoji="1" lang="zh-CN" altLang="en-US"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轴之回转半径</a:t>
            </a:r>
            <a:r>
              <a:rPr kumimoji="1" lang="zh-CN" altLang="en-US" b="0" i="1"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sym typeface="Symbol" panose="05050102010706020507" pitchFamily="18" charset="2"/>
              </a:rPr>
              <a:t></a:t>
            </a:r>
            <a:r>
              <a:rPr kumimoji="1" lang="en-US" altLang="zh-CN" b="0" i="1" u="none" strike="noStrike" kern="1200" cap="none" spc="0" normalizeH="0" baseline="-25000" noProof="0" dirty="0">
                <a:ln>
                  <a:noFill/>
                </a:ln>
                <a:solidFill>
                  <a:schemeClr val="tx1"/>
                </a:solidFill>
                <a:effectLst/>
                <a:uLnTx/>
                <a:uFillTx/>
                <a:latin typeface="Times New Roman" panose="02020603050405020304" pitchFamily="18" charset="0"/>
                <a:ea typeface="黑体" panose="02010609060101010101" pitchFamily="49" charset="-122"/>
                <a:cs typeface="+mn-cs"/>
              </a:rPr>
              <a:t>z'</a:t>
            </a:r>
            <a:r>
              <a:rPr kumimoji="1" lang="zh-CN" altLang="en-US"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a:t>
            </a:r>
            <a:endParaRPr lang="zh-CN" altLang="en-US" i="0" dirty="0">
              <a:solidFill>
                <a:schemeClr val="tx1"/>
              </a:solidFill>
              <a:latin typeface="黑体" panose="02010609060101010101" pitchFamily="49" charset="-122"/>
              <a:ea typeface="黑体" panose="02010609060101010101" pitchFamily="49" charset="-122"/>
            </a:endParaRPr>
          </a:p>
        </p:txBody>
      </p:sp>
      <p:sp>
        <p:nvSpPr>
          <p:cNvPr id="10" name="Rectangle 61">
            <a:extLst>
              <a:ext uri="{FF2B5EF4-FFF2-40B4-BE49-F238E27FC236}">
                <a16:creationId xmlns:a16="http://schemas.microsoft.com/office/drawing/2014/main" id="{0C4CF67B-8CA2-F648-B364-D8C44A49A572}"/>
              </a:ext>
            </a:extLst>
          </p:cNvPr>
          <p:cNvSpPr>
            <a:spLocks noChangeArrowheads="1"/>
          </p:cNvSpPr>
          <p:nvPr/>
        </p:nvSpPr>
        <p:spPr bwMode="auto">
          <a:xfrm>
            <a:off x="8184232" y="1701781"/>
            <a:ext cx="3672408" cy="2734778"/>
          </a:xfrm>
          <a:prstGeom prst="rect">
            <a:avLst/>
          </a:prstGeom>
          <a:solidFill>
            <a:srgbClr val="B9CDE5"/>
          </a:solidFill>
          <a:ln>
            <a:noFill/>
          </a:ln>
          <a:effectLst/>
        </p:spPr>
        <p:txBody>
          <a:bodyPr wrap="none" anchor="ctr"/>
          <a:lstStyle/>
          <a:p>
            <a:endParaRPr lang="zh-CN" altLang="en-US"/>
          </a:p>
        </p:txBody>
      </p:sp>
      <p:grpSp>
        <p:nvGrpSpPr>
          <p:cNvPr id="11" name="Group 35">
            <a:extLst>
              <a:ext uri="{FF2B5EF4-FFF2-40B4-BE49-F238E27FC236}">
                <a16:creationId xmlns:a16="http://schemas.microsoft.com/office/drawing/2014/main" id="{0463863E-E374-F80E-1FB3-83BC68889A92}"/>
              </a:ext>
            </a:extLst>
          </p:cNvPr>
          <p:cNvGrpSpPr>
            <a:grpSpLocks/>
          </p:cNvGrpSpPr>
          <p:nvPr/>
        </p:nvGrpSpPr>
        <p:grpSpPr bwMode="auto">
          <a:xfrm>
            <a:off x="8066901" y="1869994"/>
            <a:ext cx="3689350" cy="2055813"/>
            <a:chOff x="3436" y="1318"/>
            <a:chExt cx="2324" cy="1295"/>
          </a:xfrm>
        </p:grpSpPr>
        <p:sp>
          <p:nvSpPr>
            <p:cNvPr id="12" name="Rectangle 15">
              <a:extLst>
                <a:ext uri="{FF2B5EF4-FFF2-40B4-BE49-F238E27FC236}">
                  <a16:creationId xmlns:a16="http://schemas.microsoft.com/office/drawing/2014/main" id="{B7D9A353-C3B3-9CD4-7431-577FBB411A01}"/>
                </a:ext>
              </a:extLst>
            </p:cNvPr>
            <p:cNvSpPr>
              <a:spLocks noChangeArrowheads="1"/>
            </p:cNvSpPr>
            <p:nvPr/>
          </p:nvSpPr>
          <p:spPr bwMode="auto">
            <a:xfrm>
              <a:off x="3665" y="1789"/>
              <a:ext cx="1885" cy="140"/>
            </a:xfrm>
            <a:prstGeom prst="rect">
              <a:avLst/>
            </a:prstGeom>
            <a:gradFill rotWithShape="1">
              <a:gsLst>
                <a:gs pos="0">
                  <a:srgbClr val="5F5F5F"/>
                </a:gs>
                <a:gs pos="50000">
                  <a:srgbClr val="DBDBDB"/>
                </a:gs>
                <a:gs pos="100000">
                  <a:srgbClr val="5F5F5F"/>
                </a:gs>
              </a:gsLst>
              <a:lin ang="5400000" scaled="1"/>
            </a:gradFill>
            <a:ln w="28575">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lang="zh-CN" altLang="en-US" sz="2400">
                <a:solidFill>
                  <a:schemeClr val="bg1"/>
                </a:solidFill>
                <a:ea typeface="黑体" panose="02010609060101010101" pitchFamily="49" charset="-122"/>
              </a:endParaRPr>
            </a:p>
          </p:txBody>
        </p:sp>
        <p:sp>
          <p:nvSpPr>
            <p:cNvPr id="13" name="Line 16">
              <a:extLst>
                <a:ext uri="{FF2B5EF4-FFF2-40B4-BE49-F238E27FC236}">
                  <a16:creationId xmlns:a16="http://schemas.microsoft.com/office/drawing/2014/main" id="{8CA3557A-EB5B-DE64-80F4-464ADF5268FF}"/>
                </a:ext>
              </a:extLst>
            </p:cNvPr>
            <p:cNvSpPr>
              <a:spLocks noChangeShapeType="1"/>
            </p:cNvSpPr>
            <p:nvPr/>
          </p:nvSpPr>
          <p:spPr bwMode="auto">
            <a:xfrm>
              <a:off x="3663" y="1937"/>
              <a:ext cx="0" cy="65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 name="Line 17">
              <a:extLst>
                <a:ext uri="{FF2B5EF4-FFF2-40B4-BE49-F238E27FC236}">
                  <a16:creationId xmlns:a16="http://schemas.microsoft.com/office/drawing/2014/main" id="{F998593A-3B46-E1FB-AED1-CFACA6F7428D}"/>
                </a:ext>
              </a:extLst>
            </p:cNvPr>
            <p:cNvSpPr>
              <a:spLocks noChangeShapeType="1"/>
            </p:cNvSpPr>
            <p:nvPr/>
          </p:nvSpPr>
          <p:spPr bwMode="auto">
            <a:xfrm>
              <a:off x="5550" y="1947"/>
              <a:ext cx="0" cy="65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 name="Line 18">
              <a:extLst>
                <a:ext uri="{FF2B5EF4-FFF2-40B4-BE49-F238E27FC236}">
                  <a16:creationId xmlns:a16="http://schemas.microsoft.com/office/drawing/2014/main" id="{9675FBAC-47A7-A3C3-270F-2D99CBA5A257}"/>
                </a:ext>
              </a:extLst>
            </p:cNvPr>
            <p:cNvSpPr>
              <a:spLocks noChangeShapeType="1"/>
            </p:cNvSpPr>
            <p:nvPr/>
          </p:nvSpPr>
          <p:spPr bwMode="auto">
            <a:xfrm>
              <a:off x="4610" y="1454"/>
              <a:ext cx="0" cy="873"/>
            </a:xfrm>
            <a:prstGeom prst="line">
              <a:avLst/>
            </a:prstGeom>
            <a:noFill/>
            <a:ln w="9525">
              <a:solidFill>
                <a:schemeClr val="tx1"/>
              </a:solidFill>
              <a:round/>
              <a:headEnd type="stealth" w="sm" len="lg"/>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16" name="Text Box 19">
              <a:extLst>
                <a:ext uri="{FF2B5EF4-FFF2-40B4-BE49-F238E27FC236}">
                  <a16:creationId xmlns:a16="http://schemas.microsoft.com/office/drawing/2014/main" id="{00F31E9F-E115-7167-9C84-031CA8EBD884}"/>
                </a:ext>
              </a:extLst>
            </p:cNvPr>
            <p:cNvSpPr txBox="1">
              <a:spLocks noChangeArrowheads="1"/>
            </p:cNvSpPr>
            <p:nvPr/>
          </p:nvSpPr>
          <p:spPr bwMode="auto">
            <a:xfrm>
              <a:off x="4582" y="1318"/>
              <a:ext cx="3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FontTx/>
                <a:buNone/>
              </a:pPr>
              <a:r>
                <a:rPr lang="en-US" altLang="zh-CN" sz="2400" b="0" i="1" dirty="0">
                  <a:ea typeface="黑体" panose="02010609060101010101" pitchFamily="49" charset="-122"/>
                </a:rPr>
                <a:t>z</a:t>
              </a:r>
            </a:p>
          </p:txBody>
        </p:sp>
        <p:sp>
          <p:nvSpPr>
            <p:cNvPr id="17" name="Text Box 20">
              <a:extLst>
                <a:ext uri="{FF2B5EF4-FFF2-40B4-BE49-F238E27FC236}">
                  <a16:creationId xmlns:a16="http://schemas.microsoft.com/office/drawing/2014/main" id="{03152EFE-A2F9-A48C-FD2F-DC1E69593949}"/>
                </a:ext>
              </a:extLst>
            </p:cNvPr>
            <p:cNvSpPr txBox="1">
              <a:spLocks noChangeArrowheads="1"/>
            </p:cNvSpPr>
            <p:nvPr/>
          </p:nvSpPr>
          <p:spPr bwMode="auto">
            <a:xfrm>
              <a:off x="4360" y="1873"/>
              <a:ext cx="3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a:spcBef>
                  <a:spcPct val="50000"/>
                </a:spcBef>
                <a:buNone/>
              </a:pPr>
              <a:r>
                <a:rPr lang="en-US" altLang="zh-CN" sz="2400" b="0" dirty="0">
                  <a:ea typeface="黑体" panose="02010609060101010101" pitchFamily="49" charset="-122"/>
                </a:rPr>
                <a:t>C</a:t>
              </a:r>
            </a:p>
          </p:txBody>
        </p:sp>
        <p:sp>
          <p:nvSpPr>
            <p:cNvPr id="18" name="Text Box 22">
              <a:extLst>
                <a:ext uri="{FF2B5EF4-FFF2-40B4-BE49-F238E27FC236}">
                  <a16:creationId xmlns:a16="http://schemas.microsoft.com/office/drawing/2014/main" id="{E0E35099-66B7-B059-1F94-C2F3746C6067}"/>
                </a:ext>
              </a:extLst>
            </p:cNvPr>
            <p:cNvSpPr txBox="1">
              <a:spLocks noChangeArrowheads="1"/>
            </p:cNvSpPr>
            <p:nvPr/>
          </p:nvSpPr>
          <p:spPr bwMode="auto">
            <a:xfrm>
              <a:off x="3980" y="1982"/>
              <a:ext cx="3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FontTx/>
                <a:buNone/>
              </a:pPr>
              <a:r>
                <a:rPr lang="en-US" altLang="zh-CN" sz="2400" b="0" dirty="0">
                  <a:ea typeface="黑体" panose="02010609060101010101" pitchFamily="49" charset="-122"/>
                </a:rPr>
                <a:t>l/</a:t>
              </a:r>
              <a:r>
                <a:rPr lang="en-US" altLang="zh-CN" sz="2400" b="0" i="0" dirty="0">
                  <a:ea typeface="黑体" panose="02010609060101010101" pitchFamily="49" charset="-122"/>
                </a:rPr>
                <a:t>2</a:t>
              </a:r>
            </a:p>
          </p:txBody>
        </p:sp>
        <p:sp>
          <p:nvSpPr>
            <p:cNvPr id="19" name="Text Box 23">
              <a:extLst>
                <a:ext uri="{FF2B5EF4-FFF2-40B4-BE49-F238E27FC236}">
                  <a16:creationId xmlns:a16="http://schemas.microsoft.com/office/drawing/2014/main" id="{980FAAFA-6EA2-AE15-6D6B-568B3537F2BE}"/>
                </a:ext>
              </a:extLst>
            </p:cNvPr>
            <p:cNvSpPr txBox="1">
              <a:spLocks noChangeArrowheads="1"/>
            </p:cNvSpPr>
            <p:nvPr/>
          </p:nvSpPr>
          <p:spPr bwMode="auto">
            <a:xfrm>
              <a:off x="4440" y="2325"/>
              <a:ext cx="3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FontTx/>
                <a:buNone/>
              </a:pPr>
              <a:r>
                <a:rPr lang="en-US" altLang="zh-CN" sz="2400" b="0" i="1" dirty="0">
                  <a:ea typeface="黑体" panose="02010609060101010101" pitchFamily="49" charset="-122"/>
                </a:rPr>
                <a:t>l</a:t>
              </a:r>
            </a:p>
          </p:txBody>
        </p:sp>
        <p:sp>
          <p:nvSpPr>
            <p:cNvPr id="20" name="Text Box 26">
              <a:extLst>
                <a:ext uri="{FF2B5EF4-FFF2-40B4-BE49-F238E27FC236}">
                  <a16:creationId xmlns:a16="http://schemas.microsoft.com/office/drawing/2014/main" id="{1906CF7F-AA64-504E-EB73-18FBB79C2326}"/>
                </a:ext>
              </a:extLst>
            </p:cNvPr>
            <p:cNvSpPr txBox="1">
              <a:spLocks noChangeArrowheads="1"/>
            </p:cNvSpPr>
            <p:nvPr/>
          </p:nvSpPr>
          <p:spPr bwMode="auto">
            <a:xfrm>
              <a:off x="5420" y="1554"/>
              <a:ext cx="3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a:spcBef>
                  <a:spcPct val="50000"/>
                </a:spcBef>
                <a:buNone/>
              </a:pPr>
              <a:r>
                <a:rPr lang="en-US" altLang="zh-CN" sz="2400" b="0" dirty="0">
                  <a:ea typeface="黑体" panose="02010609060101010101" pitchFamily="49" charset="-122"/>
                </a:rPr>
                <a:t>B</a:t>
              </a:r>
            </a:p>
          </p:txBody>
        </p:sp>
        <p:sp>
          <p:nvSpPr>
            <p:cNvPr id="21" name="Text Box 27">
              <a:extLst>
                <a:ext uri="{FF2B5EF4-FFF2-40B4-BE49-F238E27FC236}">
                  <a16:creationId xmlns:a16="http://schemas.microsoft.com/office/drawing/2014/main" id="{6FBA5E79-2134-5573-323B-25FDDEE03058}"/>
                </a:ext>
              </a:extLst>
            </p:cNvPr>
            <p:cNvSpPr txBox="1">
              <a:spLocks noChangeArrowheads="1"/>
            </p:cNvSpPr>
            <p:nvPr/>
          </p:nvSpPr>
          <p:spPr bwMode="auto">
            <a:xfrm>
              <a:off x="3436" y="1594"/>
              <a:ext cx="3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FontTx/>
                <a:buNone/>
              </a:pPr>
              <a:r>
                <a:rPr lang="en-US" altLang="zh-CN" sz="2400" b="0" i="1" dirty="0">
                  <a:ea typeface="黑体" panose="02010609060101010101" pitchFamily="49" charset="-122"/>
                </a:rPr>
                <a:t>A</a:t>
              </a:r>
            </a:p>
          </p:txBody>
        </p:sp>
        <p:sp>
          <p:nvSpPr>
            <p:cNvPr id="22" name="Line 30">
              <a:extLst>
                <a:ext uri="{FF2B5EF4-FFF2-40B4-BE49-F238E27FC236}">
                  <a16:creationId xmlns:a16="http://schemas.microsoft.com/office/drawing/2014/main" id="{5D365F4D-AB50-F035-DFAC-EAF88E1780D1}"/>
                </a:ext>
              </a:extLst>
            </p:cNvPr>
            <p:cNvSpPr>
              <a:spLocks noChangeShapeType="1"/>
            </p:cNvSpPr>
            <p:nvPr/>
          </p:nvSpPr>
          <p:spPr bwMode="auto">
            <a:xfrm>
              <a:off x="3657" y="2217"/>
              <a:ext cx="957" cy="0"/>
            </a:xfrm>
            <a:prstGeom prst="line">
              <a:avLst/>
            </a:prstGeom>
            <a:noFill/>
            <a:ln w="9525">
              <a:solidFill>
                <a:schemeClr val="tx1"/>
              </a:solidFill>
              <a:round/>
              <a:headEnd type="stealth" w="sm" len="lg"/>
              <a:tailEnd type="stealth" w="sm" len="lg"/>
            </a:ln>
            <a:extLst>
              <a:ext uri="{909E8E84-426E-40DD-AFC4-6F175D3DCCD1}">
                <a14:hiddenFill xmlns:a14="http://schemas.microsoft.com/office/drawing/2010/main">
                  <a:noFill/>
                </a14:hiddenFill>
              </a:ext>
            </a:extLst>
          </p:spPr>
          <p:txBody>
            <a:bodyPr/>
            <a:lstStyle/>
            <a:p>
              <a:endParaRPr lang="zh-CN" altLang="en-US"/>
            </a:p>
          </p:txBody>
        </p:sp>
        <p:sp>
          <p:nvSpPr>
            <p:cNvPr id="23" name="Line 34">
              <a:extLst>
                <a:ext uri="{FF2B5EF4-FFF2-40B4-BE49-F238E27FC236}">
                  <a16:creationId xmlns:a16="http://schemas.microsoft.com/office/drawing/2014/main" id="{1679171F-8A5F-50AD-4160-C33284687039}"/>
                </a:ext>
              </a:extLst>
            </p:cNvPr>
            <p:cNvSpPr>
              <a:spLocks noChangeShapeType="1"/>
            </p:cNvSpPr>
            <p:nvPr/>
          </p:nvSpPr>
          <p:spPr bwMode="auto">
            <a:xfrm>
              <a:off x="3659" y="2570"/>
              <a:ext cx="1893" cy="0"/>
            </a:xfrm>
            <a:prstGeom prst="line">
              <a:avLst/>
            </a:prstGeom>
            <a:noFill/>
            <a:ln w="9525">
              <a:solidFill>
                <a:schemeClr val="tx1"/>
              </a:solidFill>
              <a:round/>
              <a:headEnd type="stealth" w="sm" len="lg"/>
              <a:tailEnd type="stealth" w="sm" len="lg"/>
            </a:ln>
            <a:extLst>
              <a:ext uri="{909E8E84-426E-40DD-AFC4-6F175D3DCCD1}">
                <a14:hiddenFill xmlns:a14="http://schemas.microsoft.com/office/drawing/2010/main">
                  <a:noFill/>
                </a14:hiddenFill>
              </a:ext>
            </a:extLst>
          </p:spPr>
          <p:txBody>
            <a:bodyPr/>
            <a:lstStyle/>
            <a:p>
              <a:endParaRPr lang="zh-CN" altLang="en-US"/>
            </a:p>
          </p:txBody>
        </p:sp>
        <p:sp>
          <p:nvSpPr>
            <p:cNvPr id="24" name="Line 18">
              <a:extLst>
                <a:ext uri="{FF2B5EF4-FFF2-40B4-BE49-F238E27FC236}">
                  <a16:creationId xmlns:a16="http://schemas.microsoft.com/office/drawing/2014/main" id="{C78F1A3F-1809-9EE9-0352-89F0116C0715}"/>
                </a:ext>
              </a:extLst>
            </p:cNvPr>
            <p:cNvSpPr>
              <a:spLocks noChangeShapeType="1"/>
            </p:cNvSpPr>
            <p:nvPr/>
          </p:nvSpPr>
          <p:spPr bwMode="auto">
            <a:xfrm>
              <a:off x="3662" y="1454"/>
              <a:ext cx="0" cy="873"/>
            </a:xfrm>
            <a:prstGeom prst="line">
              <a:avLst/>
            </a:prstGeom>
            <a:noFill/>
            <a:ln w="9525">
              <a:solidFill>
                <a:schemeClr val="tx1"/>
              </a:solidFill>
              <a:round/>
              <a:headEnd type="stealth" w="sm" len="lg"/>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25" name="Text Box 19">
              <a:extLst>
                <a:ext uri="{FF2B5EF4-FFF2-40B4-BE49-F238E27FC236}">
                  <a16:creationId xmlns:a16="http://schemas.microsoft.com/office/drawing/2014/main" id="{2387D595-95F4-3EEB-7E2B-A134B8C8252D}"/>
                </a:ext>
              </a:extLst>
            </p:cNvPr>
            <p:cNvSpPr txBox="1">
              <a:spLocks noChangeArrowheads="1"/>
            </p:cNvSpPr>
            <p:nvPr/>
          </p:nvSpPr>
          <p:spPr bwMode="auto">
            <a:xfrm>
              <a:off x="3614" y="1318"/>
              <a:ext cx="340"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FontTx/>
                <a:buNone/>
              </a:pPr>
              <a:r>
                <a:rPr kumimoji="1" lang="en-US" altLang="zh-CN" sz="2400" b="0" i="1"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z'</a:t>
              </a:r>
              <a:endParaRPr lang="en-US" altLang="zh-CN" sz="2400" b="0" i="1" dirty="0">
                <a:ea typeface="黑体" panose="02010609060101010101" pitchFamily="49" charset="-122"/>
              </a:endParaRPr>
            </a:p>
          </p:txBody>
        </p:sp>
      </p:grpSp>
      <p:sp>
        <p:nvSpPr>
          <p:cNvPr id="26" name="矩形 25">
            <a:extLst>
              <a:ext uri="{FF2B5EF4-FFF2-40B4-BE49-F238E27FC236}">
                <a16:creationId xmlns:a16="http://schemas.microsoft.com/office/drawing/2014/main" id="{D3CDC4E8-6131-C61F-BBEF-CD6E3A776FFC}"/>
              </a:ext>
            </a:extLst>
          </p:cNvPr>
          <p:cNvSpPr/>
          <p:nvPr/>
        </p:nvSpPr>
        <p:spPr>
          <a:xfrm>
            <a:off x="191343" y="1354429"/>
            <a:ext cx="7659515" cy="2521139"/>
          </a:xfrm>
          <a:prstGeom prst="rect">
            <a:avLst/>
          </a:prstGeom>
        </p:spPr>
        <p:txBody>
          <a:bodyPr wrap="square">
            <a:spAutoFit/>
          </a:bodyPr>
          <a:lstStyle/>
          <a:p>
            <a:pPr marL="0" marR="0" lvl="0" indent="0" algn="l" defTabSz="914400" rtl="0" eaLnBrk="1" fontAlgn="base" latinLnBrk="0" hangingPunct="1">
              <a:lnSpc>
                <a:spcPct val="130000"/>
              </a:lnSpc>
              <a:spcBef>
                <a:spcPct val="0"/>
              </a:spcBef>
              <a:spcAft>
                <a:spcPct val="0"/>
              </a:spcAft>
              <a:buClrTx/>
              <a:buSzTx/>
              <a:buFontTx/>
              <a:buNone/>
              <a:tabLst/>
              <a:defRPr/>
            </a:pPr>
            <a:r>
              <a:rPr lang="zh-CN" altLang="en-US" i="0" dirty="0">
                <a:solidFill>
                  <a:srgbClr val="0033CC"/>
                </a:solidFill>
                <a:ea typeface="黑体" panose="02010609060101010101" pitchFamily="49" charset="-122"/>
              </a:rPr>
              <a:t>解   </a:t>
            </a:r>
            <a:r>
              <a:rPr kumimoji="1" lang="zh-CN" altLang="en-US"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以设等截面直杆的质量为</a:t>
            </a:r>
            <a:r>
              <a:rPr kumimoji="1" lang="en-US" altLang="zh-CN" b="0" i="1"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m</a:t>
            </a:r>
            <a:r>
              <a:rPr kumimoji="1" lang="zh-CN" altLang="en-US"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，直杆对质心轴的转动惯量</a:t>
            </a:r>
            <a:r>
              <a:rPr kumimoji="1" lang="en-US" altLang="zh-CN" b="0" i="1" u="none" strike="noStrike" kern="1200" cap="none" spc="0" normalizeH="0" baseline="0" noProof="0" dirty="0" err="1">
                <a:ln>
                  <a:noFill/>
                </a:ln>
                <a:solidFill>
                  <a:schemeClr val="tx1"/>
                </a:solidFill>
                <a:effectLst/>
                <a:uLnTx/>
                <a:uFillTx/>
                <a:latin typeface="Times New Roman" panose="02020603050405020304" pitchFamily="18" charset="0"/>
                <a:ea typeface="黑体" panose="02010609060101010101" pitchFamily="49" charset="-122"/>
                <a:cs typeface="+mn-cs"/>
              </a:rPr>
              <a:t>J</a:t>
            </a:r>
            <a:r>
              <a:rPr kumimoji="1" lang="en-US" altLang="zh-CN" b="0" i="1" u="none" strike="noStrike" kern="1200" cap="none" spc="0" normalizeH="0" baseline="-25000" noProof="0" dirty="0" err="1">
                <a:ln>
                  <a:noFill/>
                </a:ln>
                <a:solidFill>
                  <a:schemeClr val="tx1"/>
                </a:solidFill>
                <a:effectLst/>
                <a:uLnTx/>
                <a:uFillTx/>
                <a:latin typeface="Times New Roman" panose="02020603050405020304" pitchFamily="18" charset="0"/>
                <a:ea typeface="黑体" panose="02010609060101010101" pitchFamily="49" charset="-122"/>
                <a:cs typeface="+mn-cs"/>
              </a:rPr>
              <a:t>z</a:t>
            </a:r>
            <a:r>
              <a:rPr kumimoji="1" lang="en-US" altLang="zh-CN" b="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a:t>
            </a:r>
            <a:r>
              <a:rPr kumimoji="1" lang="en-US" altLang="zh-CN" b="0" i="1"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ml</a:t>
            </a:r>
            <a:r>
              <a:rPr kumimoji="1" lang="en-US" altLang="zh-CN" b="0" i="0" u="none" strike="noStrike" kern="1200" cap="none" spc="0" normalizeH="0" baseline="30000" noProof="0" dirty="0">
                <a:ln>
                  <a:noFill/>
                </a:ln>
                <a:solidFill>
                  <a:schemeClr val="tx1"/>
                </a:solidFill>
                <a:effectLst/>
                <a:uLnTx/>
                <a:uFillTx/>
                <a:latin typeface="Times New Roman" panose="02020603050405020304" pitchFamily="18" charset="0"/>
                <a:ea typeface="黑体" panose="02010609060101010101" pitchFamily="49" charset="-122"/>
                <a:cs typeface="+mn-cs"/>
              </a:rPr>
              <a:t>2</a:t>
            </a:r>
            <a:r>
              <a:rPr kumimoji="1" lang="en-US" altLang="zh-CN" b="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/12</a:t>
            </a:r>
            <a:r>
              <a:rPr kumimoji="1" lang="zh-CN" altLang="en-US"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。根据转动惯量的平行移轴定理，直杆</a:t>
            </a:r>
            <a:r>
              <a:rPr kumimoji="1" lang="en-US" altLang="zh-CN" i="1"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AB</a:t>
            </a:r>
            <a:r>
              <a:rPr kumimoji="1" lang="zh-CN" altLang="en-US"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对</a:t>
            </a:r>
            <a:r>
              <a:rPr kumimoji="1" lang="en-US" altLang="zh-CN" b="0" i="1"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z' </a:t>
            </a:r>
            <a:r>
              <a:rPr kumimoji="1" lang="zh-CN" altLang="en-US"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轴的转动惯量为</a:t>
            </a:r>
            <a:endParaRPr kumimoji="1" lang="en-US" altLang="zh-CN"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endParaRPr>
          </a:p>
          <a:p>
            <a:pPr marL="0" marR="0" lvl="0" indent="0" algn="l" defTabSz="914400" rtl="0" eaLnBrk="1" fontAlgn="base" latinLnBrk="0" hangingPunct="1">
              <a:lnSpc>
                <a:spcPct val="130000"/>
              </a:lnSpc>
              <a:spcBef>
                <a:spcPct val="0"/>
              </a:spcBef>
              <a:spcAft>
                <a:spcPct val="0"/>
              </a:spcAft>
              <a:buClrTx/>
              <a:buSzTx/>
              <a:buFontTx/>
              <a:buNone/>
              <a:tabLst/>
              <a:defRPr/>
            </a:pPr>
            <a:r>
              <a:rPr kumimoji="1" lang="en-US" altLang="zh-CN" b="0" i="1"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              </a:t>
            </a:r>
            <a:r>
              <a:rPr kumimoji="1" lang="en-US" altLang="zh-CN" b="0" i="1" u="none" strike="noStrike" kern="1200" cap="none" spc="0" normalizeH="0" baseline="0" noProof="0" dirty="0" err="1">
                <a:ln>
                  <a:noFill/>
                </a:ln>
                <a:solidFill>
                  <a:schemeClr val="tx1"/>
                </a:solidFill>
                <a:effectLst/>
                <a:uLnTx/>
                <a:uFillTx/>
                <a:latin typeface="Times New Roman" panose="02020603050405020304" pitchFamily="18" charset="0"/>
                <a:ea typeface="黑体" panose="02010609060101010101" pitchFamily="49" charset="-122"/>
                <a:cs typeface="+mn-cs"/>
              </a:rPr>
              <a:t>J</a:t>
            </a:r>
            <a:r>
              <a:rPr kumimoji="1" lang="en-US" altLang="zh-CN" b="0" i="1" u="none" strike="noStrike" kern="1200" cap="none" spc="0" normalizeH="0" baseline="-25000" noProof="0" dirty="0" err="1">
                <a:ln>
                  <a:noFill/>
                </a:ln>
                <a:solidFill>
                  <a:schemeClr val="tx1"/>
                </a:solidFill>
                <a:effectLst/>
                <a:uLnTx/>
                <a:uFillTx/>
                <a:latin typeface="Times New Roman" panose="02020603050405020304" pitchFamily="18" charset="0"/>
                <a:ea typeface="黑体" panose="02010609060101010101" pitchFamily="49" charset="-122"/>
                <a:cs typeface="+mn-cs"/>
              </a:rPr>
              <a:t>z</a:t>
            </a:r>
            <a:r>
              <a:rPr kumimoji="1" lang="en-US" altLang="zh-CN" b="0" i="1" u="none" strike="noStrike" kern="1200" cap="none" spc="0" normalizeH="0" baseline="-25000" noProof="0" dirty="0">
                <a:ln>
                  <a:noFill/>
                </a:ln>
                <a:solidFill>
                  <a:schemeClr val="tx1"/>
                </a:solidFill>
                <a:effectLst/>
                <a:uLnTx/>
                <a:uFillTx/>
                <a:latin typeface="Times New Roman" panose="02020603050405020304" pitchFamily="18" charset="0"/>
                <a:ea typeface="黑体" panose="02010609060101010101" pitchFamily="49" charset="-122"/>
                <a:cs typeface="+mn-cs"/>
              </a:rPr>
              <a:t>'</a:t>
            </a:r>
            <a:r>
              <a:rPr kumimoji="1" lang="en-US" altLang="zh-CN" b="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 =</a:t>
            </a:r>
            <a:r>
              <a:rPr kumimoji="1" lang="en-US" altLang="zh-CN" b="0" i="1"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 J</a:t>
            </a:r>
            <a:r>
              <a:rPr kumimoji="1" lang="en-US" altLang="zh-CN" b="0" i="1" u="none" strike="noStrike" kern="1200" cap="none" spc="0" normalizeH="0" baseline="-25000" noProof="0" dirty="0">
                <a:ln>
                  <a:noFill/>
                </a:ln>
                <a:solidFill>
                  <a:schemeClr val="tx1"/>
                </a:solidFill>
                <a:effectLst/>
                <a:uLnTx/>
                <a:uFillTx/>
                <a:latin typeface="Times New Roman" panose="02020603050405020304" pitchFamily="18" charset="0"/>
                <a:ea typeface="黑体" panose="02010609060101010101" pitchFamily="49" charset="-122"/>
                <a:cs typeface="+mn-cs"/>
              </a:rPr>
              <a:t>z</a:t>
            </a:r>
            <a:r>
              <a:rPr kumimoji="1" lang="en-US" altLang="zh-CN" b="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a:t>
            </a:r>
            <a:r>
              <a:rPr kumimoji="1" lang="en-US" altLang="zh-CN" b="0" i="1"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md</a:t>
            </a:r>
            <a:r>
              <a:rPr kumimoji="1" lang="en-US" altLang="zh-CN" b="0" i="0" u="none" strike="noStrike" kern="1200" cap="none" spc="0" normalizeH="0" baseline="30000" noProof="0" dirty="0">
                <a:ln>
                  <a:noFill/>
                </a:ln>
                <a:solidFill>
                  <a:schemeClr val="tx1"/>
                </a:solidFill>
                <a:effectLst/>
                <a:uLnTx/>
                <a:uFillTx/>
                <a:latin typeface="Times New Roman" panose="02020603050405020304" pitchFamily="18" charset="0"/>
                <a:ea typeface="黑体" panose="02010609060101010101" pitchFamily="49" charset="-122"/>
                <a:cs typeface="+mn-cs"/>
              </a:rPr>
              <a:t>2</a:t>
            </a:r>
          </a:p>
          <a:p>
            <a:pPr marL="0" marR="0" lvl="0" indent="0" algn="l" defTabSz="914400" rtl="0" eaLnBrk="1" fontAlgn="base" latinLnBrk="0" hangingPunct="1">
              <a:lnSpc>
                <a:spcPct val="130000"/>
              </a:lnSpc>
              <a:spcBef>
                <a:spcPct val="0"/>
              </a:spcBef>
              <a:spcAft>
                <a:spcPct val="0"/>
              </a:spcAft>
              <a:buClrTx/>
              <a:buSzTx/>
              <a:buFontTx/>
              <a:buNone/>
              <a:tabLst/>
              <a:defRPr/>
            </a:pPr>
            <a:r>
              <a:rPr kumimoji="1" lang="en-US" altLang="zh-CN" b="0" i="0" u="none" strike="noStrike" kern="1200" cap="none" spc="0" normalizeH="0" baseline="30000" noProof="0" dirty="0">
                <a:ln>
                  <a:noFill/>
                </a:ln>
                <a:solidFill>
                  <a:schemeClr val="tx1"/>
                </a:solidFill>
                <a:effectLst/>
                <a:uLnTx/>
                <a:uFillTx/>
                <a:latin typeface="Times New Roman" panose="02020603050405020304" pitchFamily="18" charset="0"/>
                <a:ea typeface="黑体" panose="02010609060101010101" pitchFamily="49" charset="-122"/>
                <a:cs typeface="+mn-cs"/>
              </a:rPr>
              <a:t>                            </a:t>
            </a:r>
            <a:r>
              <a:rPr kumimoji="1" lang="en-US" altLang="zh-CN" b="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a:t>
            </a:r>
            <a:r>
              <a:rPr kumimoji="1" lang="en-US" altLang="zh-CN" b="0" i="1"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 ml</a:t>
            </a:r>
            <a:r>
              <a:rPr kumimoji="1" lang="en-US" altLang="zh-CN" b="0" i="0" u="none" strike="noStrike" kern="1200" cap="none" spc="0" normalizeH="0" baseline="30000" noProof="0" dirty="0">
                <a:ln>
                  <a:noFill/>
                </a:ln>
                <a:solidFill>
                  <a:schemeClr val="tx1"/>
                </a:solidFill>
                <a:effectLst/>
                <a:uLnTx/>
                <a:uFillTx/>
                <a:latin typeface="Times New Roman" panose="02020603050405020304" pitchFamily="18" charset="0"/>
                <a:ea typeface="黑体" panose="02010609060101010101" pitchFamily="49" charset="-122"/>
                <a:cs typeface="+mn-cs"/>
              </a:rPr>
              <a:t>2</a:t>
            </a:r>
            <a:r>
              <a:rPr kumimoji="1" lang="en-US" altLang="zh-CN" b="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/12+</a:t>
            </a:r>
            <a:r>
              <a:rPr kumimoji="1" lang="en-US" altLang="zh-CN" b="0" i="1"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 m</a:t>
            </a:r>
            <a:r>
              <a:rPr kumimoji="1" lang="en-US" altLang="zh-CN" b="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a:t>
            </a:r>
            <a:r>
              <a:rPr kumimoji="1" lang="en-US" altLang="zh-CN" b="0" i="1"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l</a:t>
            </a:r>
            <a:r>
              <a:rPr kumimoji="1" lang="en-US" altLang="zh-CN" b="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/2)</a:t>
            </a:r>
            <a:r>
              <a:rPr kumimoji="1" lang="en-US" altLang="zh-CN" b="0" i="0" u="none" strike="noStrike" kern="1200" cap="none" spc="0" normalizeH="0" baseline="30000" noProof="0" dirty="0">
                <a:ln>
                  <a:noFill/>
                </a:ln>
                <a:solidFill>
                  <a:schemeClr val="tx1"/>
                </a:solidFill>
                <a:effectLst/>
                <a:uLnTx/>
                <a:uFillTx/>
                <a:latin typeface="Times New Roman" panose="02020603050405020304" pitchFamily="18" charset="0"/>
                <a:ea typeface="黑体" panose="02010609060101010101" pitchFamily="49" charset="-122"/>
                <a:cs typeface="+mn-cs"/>
              </a:rPr>
              <a:t>2</a:t>
            </a:r>
            <a:r>
              <a:rPr kumimoji="1" lang="en-US" altLang="zh-CN" b="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a:t>
            </a:r>
            <a:r>
              <a:rPr kumimoji="1" lang="en-US" altLang="zh-CN" b="0" i="1"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 ml</a:t>
            </a:r>
            <a:r>
              <a:rPr kumimoji="1" lang="en-US" altLang="zh-CN" b="0" i="0" u="none" strike="noStrike" kern="1200" cap="none" spc="0" normalizeH="0" baseline="30000" noProof="0" dirty="0">
                <a:ln>
                  <a:noFill/>
                </a:ln>
                <a:solidFill>
                  <a:schemeClr val="tx1"/>
                </a:solidFill>
                <a:effectLst/>
                <a:uLnTx/>
                <a:uFillTx/>
                <a:latin typeface="Times New Roman" panose="02020603050405020304" pitchFamily="18" charset="0"/>
                <a:ea typeface="黑体" panose="02010609060101010101" pitchFamily="49" charset="-122"/>
                <a:cs typeface="+mn-cs"/>
              </a:rPr>
              <a:t>2</a:t>
            </a:r>
            <a:r>
              <a:rPr kumimoji="1" lang="en-US" altLang="zh-CN" b="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/3</a:t>
            </a:r>
            <a:endParaRPr kumimoji="1" lang="zh-CN" altLang="en-US" i="1"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endParaRPr>
          </a:p>
        </p:txBody>
      </p:sp>
      <p:graphicFrame>
        <p:nvGraphicFramePr>
          <p:cNvPr id="27" name="Object 70">
            <a:extLst>
              <a:ext uri="{FF2B5EF4-FFF2-40B4-BE49-F238E27FC236}">
                <a16:creationId xmlns:a16="http://schemas.microsoft.com/office/drawing/2014/main" id="{265B39B0-5CD0-4A81-05C7-A45B8F178D87}"/>
              </a:ext>
            </a:extLst>
          </p:cNvPr>
          <p:cNvGraphicFramePr>
            <a:graphicFrameLocks noChangeAspect="1"/>
          </p:cNvGraphicFramePr>
          <p:nvPr>
            <p:extLst>
              <p:ext uri="{D42A27DB-BD31-4B8C-83A1-F6EECF244321}">
                <p14:modId xmlns:p14="http://schemas.microsoft.com/office/powerpoint/2010/main" val="3263059003"/>
              </p:ext>
            </p:extLst>
          </p:nvPr>
        </p:nvGraphicFramePr>
        <p:xfrm>
          <a:off x="1343472" y="3717032"/>
          <a:ext cx="2520280" cy="851136"/>
        </p:xfrm>
        <a:graphic>
          <a:graphicData uri="http://schemas.openxmlformats.org/presentationml/2006/ole">
            <mc:AlternateContent xmlns:mc="http://schemas.openxmlformats.org/markup-compatibility/2006">
              <mc:Choice xmlns:v="urn:schemas-microsoft-com:vml" Requires="v">
                <p:oleObj spid="_x0000_s40962" name="Equation" r:id="rId4" imgW="1295280" imgH="431640" progId="Equation.DSMT4">
                  <p:embed/>
                </p:oleObj>
              </mc:Choice>
              <mc:Fallback>
                <p:oleObj name="Equation" r:id="rId4" imgW="1295280" imgH="431640" progId="Equation.DSMT4">
                  <p:embed/>
                  <p:pic>
                    <p:nvPicPr>
                      <p:cNvPr id="60" name="Object 70">
                        <a:extLst>
                          <a:ext uri="{FF2B5EF4-FFF2-40B4-BE49-F238E27FC236}">
                            <a16:creationId xmlns:a16="http://schemas.microsoft.com/office/drawing/2014/main" id="{265B39B0-5CD0-4A81-05C7-A45B8F178D87}"/>
                          </a:ext>
                        </a:extLst>
                      </p:cNvPr>
                      <p:cNvPicPr>
                        <a:picLocks noChangeAspect="1" noChangeArrowheads="1"/>
                      </p:cNvPicPr>
                      <p:nvPr/>
                    </p:nvPicPr>
                    <p:blipFill>
                      <a:blip r:embed="rId5"/>
                      <a:srcRect/>
                      <a:stretch>
                        <a:fillRect/>
                      </a:stretch>
                    </p:blipFill>
                    <p:spPr bwMode="auto">
                      <a:xfrm>
                        <a:off x="1343472" y="3717032"/>
                        <a:ext cx="2520280" cy="851136"/>
                      </a:xfrm>
                      <a:prstGeom prst="rect">
                        <a:avLst/>
                      </a:prstGeom>
                      <a:noFill/>
                      <a:ln>
                        <a:noFill/>
                      </a:ln>
                    </p:spPr>
                  </p:pic>
                </p:oleObj>
              </mc:Fallback>
            </mc:AlternateContent>
          </a:graphicData>
        </a:graphic>
      </p:graphicFrame>
      <p:sp>
        <p:nvSpPr>
          <p:cNvPr id="28" name="矩形 27">
            <a:extLst>
              <a:ext uri="{FF2B5EF4-FFF2-40B4-BE49-F238E27FC236}">
                <a16:creationId xmlns:a16="http://schemas.microsoft.com/office/drawing/2014/main" id="{C0F573EB-E911-A648-0348-F3A06C405423}"/>
              </a:ext>
            </a:extLst>
          </p:cNvPr>
          <p:cNvSpPr/>
          <p:nvPr/>
        </p:nvSpPr>
        <p:spPr>
          <a:xfrm>
            <a:off x="191343" y="4520097"/>
            <a:ext cx="11665297" cy="493148"/>
          </a:xfrm>
          <a:prstGeom prst="rect">
            <a:avLst/>
          </a:prstGeom>
        </p:spPr>
        <p:txBody>
          <a:bodyPr wrap="square">
            <a:spAutoFit/>
          </a:bodyPr>
          <a:lstStyle/>
          <a:p>
            <a:pPr>
              <a:lnSpc>
                <a:spcPct val="120000"/>
              </a:lnSpc>
            </a:pPr>
            <a:r>
              <a:rPr lang="zh-CN" altLang="en-US" i="0" dirty="0">
                <a:ea typeface="黑体" panose="02010609060101010101" pitchFamily="49" charset="-122"/>
              </a:rPr>
              <a:t>   要</a:t>
            </a:r>
            <a:r>
              <a:rPr kumimoji="1" lang="zh-CN" altLang="en-US" i="0" u="none" strike="noStrike" kern="1200" cap="none" spc="0" normalizeH="0" baseline="0" noProof="0" dirty="0">
                <a:ln>
                  <a:noFill/>
                </a:ln>
                <a:effectLst/>
                <a:uLnTx/>
                <a:uFillTx/>
                <a:latin typeface="Times New Roman" panose="02020603050405020304" pitchFamily="18" charset="0"/>
                <a:ea typeface="黑体" panose="02010609060101010101" pitchFamily="49" charset="-122"/>
                <a:cs typeface="+mn-cs"/>
              </a:rPr>
              <a:t>求记住三个转动惯量</a:t>
            </a:r>
            <a:endParaRPr lang="zh-CN" altLang="en-US" i="0" dirty="0">
              <a:solidFill>
                <a:schemeClr val="tx1"/>
              </a:solidFill>
              <a:latin typeface="黑体" panose="02010609060101010101" pitchFamily="49" charset="-122"/>
              <a:ea typeface="黑体" panose="02010609060101010101" pitchFamily="49" charset="-122"/>
            </a:endParaRPr>
          </a:p>
        </p:txBody>
      </p:sp>
      <p:sp>
        <p:nvSpPr>
          <p:cNvPr id="29" name="矩形 28">
            <a:extLst>
              <a:ext uri="{FF2B5EF4-FFF2-40B4-BE49-F238E27FC236}">
                <a16:creationId xmlns:a16="http://schemas.microsoft.com/office/drawing/2014/main" id="{FB0E4822-8AC4-1F2C-45EA-8CF0CD437AE5}"/>
              </a:ext>
            </a:extLst>
          </p:cNvPr>
          <p:cNvSpPr/>
          <p:nvPr/>
        </p:nvSpPr>
        <p:spPr>
          <a:xfrm>
            <a:off x="191343" y="4958963"/>
            <a:ext cx="11665297" cy="1379545"/>
          </a:xfrm>
          <a:prstGeom prst="rect">
            <a:avLst/>
          </a:prstGeom>
        </p:spPr>
        <p:txBody>
          <a:bodyPr wrap="square">
            <a:spAutoFit/>
          </a:bodyPr>
          <a:lstStyle/>
          <a:p>
            <a:pPr>
              <a:lnSpc>
                <a:spcPct val="120000"/>
              </a:lnSpc>
            </a:pPr>
            <a:r>
              <a:rPr kumimoji="1" lang="zh-CN" altLang="en-US"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a:t>
            </a:r>
            <a:r>
              <a:rPr kumimoji="1" lang="en-US" altLang="zh-CN" i="0" dirty="0">
                <a:solidFill>
                  <a:schemeClr val="tx1"/>
                </a:solidFill>
                <a:ea typeface="黑体" panose="02010609060101010101" pitchFamily="49" charset="-122"/>
              </a:rPr>
              <a:t>1</a:t>
            </a:r>
            <a:r>
              <a:rPr kumimoji="1" lang="zh-CN" altLang="en-US" i="0" dirty="0">
                <a:solidFill>
                  <a:schemeClr val="tx1"/>
                </a:solidFill>
                <a:ea typeface="黑体" panose="02010609060101010101" pitchFamily="49" charset="-122"/>
              </a:rPr>
              <a:t>）均质圆盘对盘心轴的转动惯量  </a:t>
            </a:r>
            <a:r>
              <a:rPr kumimoji="1" lang="en-US" altLang="zh-CN" b="0" dirty="0">
                <a:solidFill>
                  <a:schemeClr val="tx1"/>
                </a:solidFill>
                <a:ea typeface="黑体" panose="02010609060101010101" pitchFamily="49" charset="-122"/>
              </a:rPr>
              <a:t>mR</a:t>
            </a:r>
            <a:r>
              <a:rPr kumimoji="1" lang="en-US" altLang="zh-CN" b="0" i="0" baseline="30000" dirty="0">
                <a:solidFill>
                  <a:schemeClr val="tx1"/>
                </a:solidFill>
                <a:ea typeface="黑体" panose="02010609060101010101" pitchFamily="49" charset="-122"/>
              </a:rPr>
              <a:t>2</a:t>
            </a:r>
            <a:r>
              <a:rPr kumimoji="1" lang="en-US" altLang="zh-CN" b="0" i="0" dirty="0">
                <a:solidFill>
                  <a:schemeClr val="tx1"/>
                </a:solidFill>
                <a:ea typeface="黑体" panose="02010609060101010101" pitchFamily="49" charset="-122"/>
              </a:rPr>
              <a:t>/2</a:t>
            </a:r>
            <a:r>
              <a:rPr kumimoji="1" lang="zh-CN" altLang="en-US" i="0" dirty="0">
                <a:solidFill>
                  <a:schemeClr val="tx1"/>
                </a:solidFill>
                <a:ea typeface="黑体" panose="02010609060101010101" pitchFamily="49" charset="-122"/>
              </a:rPr>
              <a:t> </a:t>
            </a:r>
            <a:endParaRPr kumimoji="1" lang="en-US" altLang="zh-CN" i="0" dirty="0">
              <a:solidFill>
                <a:schemeClr val="tx1"/>
              </a:solidFill>
              <a:ea typeface="黑体" panose="02010609060101010101" pitchFamily="49" charset="-122"/>
            </a:endParaRPr>
          </a:p>
          <a:p>
            <a:pPr>
              <a:lnSpc>
                <a:spcPct val="120000"/>
              </a:lnSpc>
            </a:pPr>
            <a:r>
              <a:rPr kumimoji="1" lang="zh-CN" altLang="en-US"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a:t>
            </a:r>
            <a:r>
              <a:rPr kumimoji="1" lang="en-US" altLang="zh-CN" i="0" dirty="0">
                <a:solidFill>
                  <a:schemeClr val="tx1"/>
                </a:solidFill>
                <a:ea typeface="黑体" panose="02010609060101010101" pitchFamily="49" charset="-122"/>
              </a:rPr>
              <a:t>2</a:t>
            </a:r>
            <a:r>
              <a:rPr kumimoji="1" lang="zh-CN" altLang="en-US" i="0" dirty="0">
                <a:solidFill>
                  <a:schemeClr val="tx1"/>
                </a:solidFill>
                <a:ea typeface="黑体" panose="02010609060101010101" pitchFamily="49" charset="-122"/>
              </a:rPr>
              <a:t>）均质均质细直杆对一端的转动惯量 </a:t>
            </a:r>
            <a:r>
              <a:rPr kumimoji="1" lang="en-US" altLang="zh-CN" b="0" dirty="0">
                <a:solidFill>
                  <a:schemeClr val="tx1"/>
                </a:solidFill>
                <a:ea typeface="黑体" panose="02010609060101010101" pitchFamily="49" charset="-122"/>
              </a:rPr>
              <a:t>ml</a:t>
            </a:r>
            <a:r>
              <a:rPr kumimoji="1" lang="en-US" altLang="zh-CN" b="0" i="0" baseline="30000" dirty="0">
                <a:solidFill>
                  <a:schemeClr val="tx1"/>
                </a:solidFill>
                <a:ea typeface="黑体" panose="02010609060101010101" pitchFamily="49" charset="-122"/>
              </a:rPr>
              <a:t>2</a:t>
            </a:r>
            <a:r>
              <a:rPr kumimoji="1" lang="en-US" altLang="zh-CN" b="0" i="0" dirty="0">
                <a:solidFill>
                  <a:schemeClr val="tx1"/>
                </a:solidFill>
                <a:ea typeface="黑体" panose="02010609060101010101" pitchFamily="49" charset="-122"/>
              </a:rPr>
              <a:t>/3</a:t>
            </a:r>
            <a:r>
              <a:rPr kumimoji="1" lang="zh-CN" altLang="en-US" i="0" dirty="0">
                <a:solidFill>
                  <a:schemeClr val="tx1"/>
                </a:solidFill>
                <a:ea typeface="黑体" panose="02010609060101010101" pitchFamily="49" charset="-122"/>
              </a:rPr>
              <a:t> </a:t>
            </a:r>
          </a:p>
          <a:p>
            <a:pPr>
              <a:lnSpc>
                <a:spcPct val="120000"/>
              </a:lnSpc>
            </a:pPr>
            <a:r>
              <a:rPr kumimoji="1" lang="zh-CN" altLang="en-US"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a:t>
            </a:r>
            <a:r>
              <a:rPr kumimoji="1" lang="en-US" altLang="zh-CN" i="0" dirty="0">
                <a:solidFill>
                  <a:schemeClr val="tx1"/>
                </a:solidFill>
                <a:ea typeface="黑体" panose="02010609060101010101" pitchFamily="49" charset="-122"/>
              </a:rPr>
              <a:t>3</a:t>
            </a:r>
            <a:r>
              <a:rPr kumimoji="1" lang="zh-CN" altLang="en-US" i="0" dirty="0">
                <a:solidFill>
                  <a:schemeClr val="tx1"/>
                </a:solidFill>
                <a:ea typeface="黑体" panose="02010609060101010101" pitchFamily="49" charset="-122"/>
              </a:rPr>
              <a:t>）均质细直杆对中心轴的转动惯量  </a:t>
            </a:r>
            <a:r>
              <a:rPr kumimoji="1" lang="en-US" altLang="zh-CN" b="0" dirty="0">
                <a:solidFill>
                  <a:schemeClr val="tx1"/>
                </a:solidFill>
                <a:ea typeface="黑体" panose="02010609060101010101" pitchFamily="49" charset="-122"/>
              </a:rPr>
              <a:t>ml</a:t>
            </a:r>
            <a:r>
              <a:rPr kumimoji="1" lang="en-US" altLang="zh-CN" b="0" i="0" baseline="30000" dirty="0">
                <a:solidFill>
                  <a:schemeClr val="tx1"/>
                </a:solidFill>
                <a:ea typeface="黑体" panose="02010609060101010101" pitchFamily="49" charset="-122"/>
              </a:rPr>
              <a:t>2</a:t>
            </a:r>
            <a:r>
              <a:rPr kumimoji="1" lang="en-US" altLang="zh-CN" b="0" i="0" dirty="0">
                <a:solidFill>
                  <a:schemeClr val="tx1"/>
                </a:solidFill>
                <a:ea typeface="黑体" panose="02010609060101010101" pitchFamily="49" charset="-122"/>
              </a:rPr>
              <a:t>/12</a:t>
            </a:r>
            <a:endParaRPr lang="zh-CN" altLang="en-US" i="0" dirty="0">
              <a:solidFill>
                <a:schemeClr val="tx1"/>
              </a:solidFill>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2542504826"/>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9" presetClass="entr" presetSubtype="1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anim calcmode="lin" valueType="num">
                                      <p:cBhvr>
                                        <p:cTn id="9" dur="5000" fill="hold"/>
                                        <p:tgtEl>
                                          <p:spTgt spid="11"/>
                                        </p:tgtEl>
                                        <p:attrNameLst>
                                          <p:attrName>ppt_w</p:attrName>
                                        </p:attrNameLst>
                                      </p:cBhvr>
                                      <p:tavLst>
                                        <p:tav tm="0" fmla="#ppt_w*sin(2.5*pi*$)">
                                          <p:val>
                                            <p:fltVal val="0"/>
                                          </p:val>
                                        </p:tav>
                                        <p:tav tm="100000">
                                          <p:val>
                                            <p:fltVal val="1"/>
                                          </p:val>
                                        </p:tav>
                                      </p:tavLst>
                                    </p:anim>
                                    <p:anim calcmode="lin" valueType="num">
                                      <p:cBhvr>
                                        <p:cTn id="10" dur="5000" fill="hold"/>
                                        <p:tgtEl>
                                          <p:spTgt spid="11"/>
                                        </p:tgtEl>
                                        <p:attrNameLst>
                                          <p:attrName>ppt_h</p:attrName>
                                        </p:attrNameLst>
                                      </p:cBhvr>
                                      <p:tavLst>
                                        <p:tav tm="0">
                                          <p:val>
                                            <p:strVal val="#ppt_h"/>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27"/>
                                        </p:tgtEl>
                                        <p:attrNameLst>
                                          <p:attrName>style.visibility</p:attrName>
                                        </p:attrNameLst>
                                      </p:cBhvr>
                                      <p:to>
                                        <p:strVal val="visible"/>
                                      </p:to>
                                    </p:set>
                                    <p:animEffect transition="in" filter="wipe(left)">
                                      <p:cBhvr>
                                        <p:cTn id="23" dur="3000"/>
                                        <p:tgtEl>
                                          <p:spTgt spid="27"/>
                                        </p:tgtEl>
                                      </p:cBhvr>
                                    </p:animEffec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28"/>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animBg="1"/>
      <p:bldP spid="26" grpId="0"/>
      <p:bldP spid="28" grpId="0"/>
      <p:bldP spid="29"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4653838"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第七章   动力学普遍定理</a:t>
            </a:r>
          </a:p>
        </p:txBody>
      </p:sp>
      <p:sp>
        <p:nvSpPr>
          <p:cNvPr id="5" name="Rectangle 2"/>
          <p:cNvSpPr>
            <a:spLocks noChangeArrowheads="1"/>
          </p:cNvSpPr>
          <p:nvPr/>
        </p:nvSpPr>
        <p:spPr bwMode="auto">
          <a:xfrm>
            <a:off x="164442" y="928670"/>
            <a:ext cx="9747982"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3000" i="0" dirty="0">
                <a:solidFill>
                  <a:schemeClr val="accent6">
                    <a:lumMod val="75000"/>
                  </a:schemeClr>
                </a:solidFill>
                <a:latin typeface="+mn-lt"/>
                <a:ea typeface="微软雅黑" panose="020B0503020204020204" pitchFamily="34" charset="-122"/>
              </a:rPr>
              <a:t>§7-3  </a:t>
            </a:r>
            <a:r>
              <a:rPr lang="zh-CN" altLang="en-US" sz="3000" i="0" dirty="0" smtClean="0">
                <a:solidFill>
                  <a:schemeClr val="accent6">
                    <a:lumMod val="75000"/>
                  </a:schemeClr>
                </a:solidFill>
                <a:latin typeface="+mn-lt"/>
                <a:ea typeface="微软雅黑" panose="020B0503020204020204" pitchFamily="34" charset="-122"/>
              </a:rPr>
              <a:t>刚体绕定轴转动的动力学方程</a:t>
            </a:r>
            <a:endParaRPr lang="zh-CN" altLang="en-US" sz="3000" i="0" dirty="0">
              <a:solidFill>
                <a:schemeClr val="accent6">
                  <a:lumMod val="75000"/>
                </a:schemeClr>
              </a:solidFill>
              <a:latin typeface="+mn-lt"/>
              <a:ea typeface="微软雅黑" panose="020B0503020204020204" pitchFamily="34" charset="-122"/>
            </a:endParaRPr>
          </a:p>
        </p:txBody>
      </p:sp>
      <p:sp>
        <p:nvSpPr>
          <p:cNvPr id="52" name="Text Box 1032"/>
          <p:cNvSpPr txBox="1">
            <a:spLocks noChangeArrowheads="1"/>
          </p:cNvSpPr>
          <p:nvPr/>
        </p:nvSpPr>
        <p:spPr bwMode="auto">
          <a:xfrm>
            <a:off x="570416" y="1988840"/>
            <a:ext cx="10422128"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20000"/>
              </a:lnSpc>
            </a:pPr>
            <a:r>
              <a:rPr lang="zh-CN" altLang="en-US" sz="2800" i="0" dirty="0">
                <a:solidFill>
                  <a:srgbClr val="FF0000"/>
                </a:solidFill>
                <a:latin typeface="微软雅黑" panose="020B0503020204020204" pitchFamily="34" charset="-122"/>
                <a:ea typeface="微软雅黑" panose="020B0503020204020204" pitchFamily="34" charset="-122"/>
              </a:rPr>
              <a:t>常力在直线运动中的功 </a:t>
            </a:r>
            <a:endParaRPr lang="en-US" altLang="zh-CN" sz="2800" i="0" dirty="0">
              <a:solidFill>
                <a:srgbClr val="FF0000"/>
              </a:solidFill>
              <a:latin typeface="微软雅黑" panose="020B0503020204020204" pitchFamily="34" charset="-122"/>
              <a:ea typeface="微软雅黑" panose="020B0503020204020204" pitchFamily="34" charset="-122"/>
            </a:endParaRPr>
          </a:p>
          <a:p>
            <a:pPr algn="just">
              <a:lnSpc>
                <a:spcPct val="120000"/>
              </a:lnSpc>
            </a:pPr>
            <a:r>
              <a:rPr lang="zh-CN" altLang="en-US" sz="2800" i="0" dirty="0">
                <a:latin typeface="+mj-lt"/>
                <a:ea typeface="微软雅黑" panose="020B0503020204020204" pitchFamily="34" charset="-122"/>
              </a:rPr>
              <a:t>设有质点</a:t>
            </a:r>
            <a:r>
              <a:rPr kumimoji="1" lang="en-US" altLang="zh-CN" sz="2800" b="0" dirty="0">
                <a:latin typeface="+mn-lt"/>
                <a:ea typeface="微软雅黑" panose="020B0503020204020204" pitchFamily="34" charset="-122"/>
              </a:rPr>
              <a:t>M</a:t>
            </a:r>
            <a:r>
              <a:rPr kumimoji="1" lang="zh-CN" altLang="en-US" sz="2800" i="0" dirty="0">
                <a:latin typeface="+mn-lt"/>
                <a:ea typeface="微软雅黑" panose="020B0503020204020204" pitchFamily="34" charset="-122"/>
              </a:rPr>
              <a:t>，</a:t>
            </a:r>
            <a:r>
              <a:rPr lang="zh-CN" altLang="en-US" sz="2800" i="0" dirty="0">
                <a:latin typeface="+mn-lt"/>
                <a:ea typeface="微软雅黑" panose="020B0503020204020204" pitchFamily="34" charset="-122"/>
              </a:rPr>
              <a:t>在常力</a:t>
            </a:r>
            <a:r>
              <a:rPr lang="en-US" altLang="zh-CN" sz="2800" dirty="0">
                <a:latin typeface="+mn-lt"/>
                <a:ea typeface="微软雅黑" panose="020B0503020204020204" pitchFamily="34" charset="-122"/>
              </a:rPr>
              <a:t>F</a:t>
            </a:r>
            <a:r>
              <a:rPr lang="zh-CN" altLang="en-US" sz="2800" i="0" dirty="0">
                <a:latin typeface="+mn-lt"/>
                <a:ea typeface="微软雅黑" panose="020B0503020204020204" pitchFamily="34" charset="-122"/>
              </a:rPr>
              <a:t>作用下使质点上力的作用点</a:t>
            </a:r>
            <a:r>
              <a:rPr lang="en-US" altLang="zh-CN" sz="2800" b="0" dirty="0">
                <a:latin typeface="+mn-lt"/>
                <a:ea typeface="微软雅黑" panose="020B0503020204020204" pitchFamily="34" charset="-122"/>
              </a:rPr>
              <a:t>M</a:t>
            </a:r>
            <a:r>
              <a:rPr lang="en-US" altLang="zh-CN" sz="2800" b="0" i="0" baseline="-25000" dirty="0">
                <a:latin typeface="+mn-lt"/>
                <a:ea typeface="微软雅黑" panose="020B0503020204020204" pitchFamily="34" charset="-122"/>
              </a:rPr>
              <a:t>l</a:t>
            </a:r>
            <a:r>
              <a:rPr lang="zh-CN" altLang="en-US" sz="2800" i="0" dirty="0">
                <a:latin typeface="+mn-lt"/>
                <a:ea typeface="微软雅黑" panose="020B0503020204020204" pitchFamily="34" charset="-122"/>
              </a:rPr>
              <a:t>到</a:t>
            </a:r>
            <a:r>
              <a:rPr lang="en-US" altLang="zh-CN" sz="2800" b="0" dirty="0">
                <a:latin typeface="+mn-lt"/>
                <a:ea typeface="微软雅黑" panose="020B0503020204020204" pitchFamily="34" charset="-122"/>
              </a:rPr>
              <a:t>M</a:t>
            </a:r>
            <a:r>
              <a:rPr lang="en-US" altLang="zh-CN" sz="2800" b="0" i="0" baseline="-25000" dirty="0">
                <a:latin typeface="+mn-lt"/>
                <a:ea typeface="微软雅黑" panose="020B0503020204020204" pitchFamily="34" charset="-122"/>
              </a:rPr>
              <a:t>2</a:t>
            </a:r>
            <a:r>
              <a:rPr lang="zh-CN" altLang="en-US" sz="2800" i="0" dirty="0">
                <a:latin typeface="+mn-lt"/>
                <a:ea typeface="微软雅黑" panose="020B0503020204020204" pitchFamily="34" charset="-122"/>
              </a:rPr>
              <a:t>有一位移</a:t>
            </a:r>
            <a:r>
              <a:rPr lang="en-US" altLang="zh-CN" sz="2800" b="0" dirty="0">
                <a:latin typeface="+mn-lt"/>
                <a:ea typeface="微软雅黑" panose="020B0503020204020204" pitchFamily="34" charset="-122"/>
              </a:rPr>
              <a:t>s</a:t>
            </a:r>
            <a:r>
              <a:rPr lang="zh-CN" altLang="en-US" sz="2800" i="0" dirty="0">
                <a:latin typeface="+mn-lt"/>
                <a:ea typeface="微软雅黑" panose="020B0503020204020204" pitchFamily="34" charset="-122"/>
              </a:rPr>
              <a:t>，则力</a:t>
            </a:r>
            <a:r>
              <a:rPr lang="en-US" altLang="zh-CN" sz="2800" dirty="0">
                <a:latin typeface="+mn-lt"/>
                <a:ea typeface="微软雅黑" panose="020B0503020204020204" pitchFamily="34" charset="-122"/>
              </a:rPr>
              <a:t>F</a:t>
            </a:r>
            <a:r>
              <a:rPr lang="zh-CN" altLang="en-US" sz="2800" i="0" dirty="0">
                <a:latin typeface="+mn-lt"/>
                <a:ea typeface="微软雅黑" panose="020B0503020204020204" pitchFamily="34" charset="-122"/>
              </a:rPr>
              <a:t>所作的功为 </a:t>
            </a:r>
            <a:endParaRPr lang="en-US" altLang="zh-CN" sz="2800" i="0" dirty="0">
              <a:latin typeface="+mn-lt"/>
              <a:ea typeface="微软雅黑" panose="020B0503020204020204" pitchFamily="34" charset="-122"/>
            </a:endParaRPr>
          </a:p>
          <a:p>
            <a:pPr algn="just">
              <a:lnSpc>
                <a:spcPct val="120000"/>
              </a:lnSpc>
            </a:pPr>
            <a:r>
              <a:rPr lang="en-US" altLang="zh-CN" sz="2800" b="0" dirty="0"/>
              <a:t>               W</a:t>
            </a:r>
            <a:r>
              <a:rPr lang="zh-CN" altLang="en-US" sz="2800" i="0" dirty="0"/>
              <a:t>＝</a:t>
            </a:r>
            <a:r>
              <a:rPr lang="en-US" altLang="zh-CN" sz="2800" b="0" dirty="0" err="1"/>
              <a:t>Fs</a:t>
            </a:r>
            <a:r>
              <a:rPr lang="en-US" altLang="zh-CN" sz="2800" b="0" i="0" dirty="0" err="1"/>
              <a:t>cos</a:t>
            </a:r>
            <a:r>
              <a:rPr lang="en-US" altLang="zh-CN" sz="2800" b="0" dirty="0">
                <a:sym typeface="Symbol" panose="05050102010706020507" pitchFamily="18" charset="2"/>
              </a:rPr>
              <a:t>      </a:t>
            </a:r>
            <a:r>
              <a:rPr lang="zh-CN" altLang="en-US" sz="2800" i="0" dirty="0">
                <a:ea typeface="微软雅黑" panose="020B0503020204020204" pitchFamily="34" charset="-122"/>
              </a:rPr>
              <a:t>或</a:t>
            </a:r>
            <a:r>
              <a:rPr lang="zh-CN" altLang="en-US" sz="2800" dirty="0"/>
              <a:t>     </a:t>
            </a:r>
            <a:r>
              <a:rPr lang="en-US" altLang="zh-CN" sz="2800" dirty="0"/>
              <a:t> </a:t>
            </a:r>
            <a:r>
              <a:rPr lang="en-US" altLang="zh-CN" sz="2800" b="0" dirty="0"/>
              <a:t>W</a:t>
            </a:r>
            <a:r>
              <a:rPr lang="zh-CN" altLang="en-US" sz="2800" b="0" i="0" dirty="0"/>
              <a:t>＝</a:t>
            </a:r>
            <a:r>
              <a:rPr lang="en-US" altLang="zh-CN" sz="2800" dirty="0"/>
              <a:t>F</a:t>
            </a:r>
            <a:r>
              <a:rPr lang="en-US" altLang="zh-CN" sz="2800" b="0" dirty="0"/>
              <a:t>·</a:t>
            </a:r>
            <a:r>
              <a:rPr lang="en-US" altLang="zh-CN" sz="2800" dirty="0"/>
              <a:t>s    </a:t>
            </a:r>
            <a:r>
              <a:rPr lang="zh-CN" altLang="en-US" sz="2800" i="0" dirty="0">
                <a:solidFill>
                  <a:srgbClr val="FF00FF"/>
                </a:solidFill>
                <a:latin typeface="+mn-lt"/>
                <a:ea typeface="微软雅黑" panose="020B0503020204020204" pitchFamily="34" charset="-122"/>
              </a:rPr>
              <a:t>功是代数量</a:t>
            </a:r>
            <a:r>
              <a:rPr lang="en-US" altLang="zh-CN" sz="2800" i="0" dirty="0">
                <a:solidFill>
                  <a:srgbClr val="FF00FF"/>
                </a:solidFill>
                <a:latin typeface="+mn-lt"/>
                <a:ea typeface="微软雅黑" panose="020B0503020204020204" pitchFamily="34" charset="-122"/>
              </a:rPr>
              <a:t>   J</a:t>
            </a:r>
            <a:r>
              <a:rPr lang="zh-CN" altLang="en-US" sz="2800" i="0" dirty="0">
                <a:solidFill>
                  <a:srgbClr val="FF00FF"/>
                </a:solidFill>
                <a:latin typeface="+mn-lt"/>
                <a:ea typeface="微软雅黑" panose="020B0503020204020204" pitchFamily="34" charset="-122"/>
              </a:rPr>
              <a:t>（焦耳）</a:t>
            </a:r>
          </a:p>
          <a:p>
            <a:pPr algn="just">
              <a:lnSpc>
                <a:spcPct val="120000"/>
              </a:lnSpc>
            </a:pPr>
            <a:endParaRPr lang="zh-CN" altLang="en-US" sz="2800" i="0" dirty="0">
              <a:latin typeface="+mn-lt"/>
              <a:ea typeface="微软雅黑" panose="020B0503020204020204" pitchFamily="34" charset="-122"/>
            </a:endParaRPr>
          </a:p>
        </p:txBody>
      </p:sp>
      <p:sp>
        <p:nvSpPr>
          <p:cNvPr id="6" name="矩形 5"/>
          <p:cNvSpPr/>
          <p:nvPr/>
        </p:nvSpPr>
        <p:spPr>
          <a:xfrm>
            <a:off x="3904597" y="1389509"/>
            <a:ext cx="1441420" cy="1237262"/>
          </a:xfrm>
          <a:prstGeom prst="rect">
            <a:avLst/>
          </a:prstGeom>
        </p:spPr>
        <p:txBody>
          <a:bodyPr wrap="none">
            <a:spAutoFit/>
          </a:bodyPr>
          <a:lstStyle/>
          <a:p>
            <a:pPr>
              <a:lnSpc>
                <a:spcPct val="120000"/>
              </a:lnSpc>
            </a:pPr>
            <a:r>
              <a:rPr lang="zh-CN" altLang="en-US" sz="3000" i="0" dirty="0">
                <a:solidFill>
                  <a:srgbClr val="4F81BD"/>
                </a:solidFill>
                <a:latin typeface="微软雅黑" panose="020B0503020204020204" pitchFamily="34" charset="-122"/>
                <a:ea typeface="微软雅黑" panose="020B0503020204020204" pitchFamily="34" charset="-122"/>
              </a:rPr>
              <a:t>力的功</a:t>
            </a:r>
            <a:r>
              <a:rPr lang="zh-CN" altLang="en-US" sz="3200" dirty="0"/>
              <a:t> </a:t>
            </a:r>
          </a:p>
          <a:p>
            <a:pPr>
              <a:lnSpc>
                <a:spcPct val="120000"/>
              </a:lnSpc>
            </a:pPr>
            <a:endParaRPr lang="zh-CN" altLang="en-US" sz="3000" i="0" dirty="0">
              <a:solidFill>
                <a:srgbClr val="4F81BD"/>
              </a:solidFill>
              <a:latin typeface="微软雅黑" panose="020B0503020204020204" pitchFamily="34" charset="-122"/>
              <a:ea typeface="微软雅黑" panose="020B0503020204020204" pitchFamily="34" charset="-122"/>
            </a:endParaRPr>
          </a:p>
        </p:txBody>
      </p:sp>
      <p:sp>
        <p:nvSpPr>
          <p:cNvPr id="2" name="Rectangle 61">
            <a:extLst>
              <a:ext uri="{FF2B5EF4-FFF2-40B4-BE49-F238E27FC236}">
                <a16:creationId xmlns:a16="http://schemas.microsoft.com/office/drawing/2014/main" id="{7C7AC23E-A1CE-03F9-D8A4-D45156EAD5C0}"/>
              </a:ext>
            </a:extLst>
          </p:cNvPr>
          <p:cNvSpPr>
            <a:spLocks noChangeArrowheads="1"/>
          </p:cNvSpPr>
          <p:nvPr/>
        </p:nvSpPr>
        <p:spPr bwMode="auto">
          <a:xfrm>
            <a:off x="335360" y="4365104"/>
            <a:ext cx="11695287" cy="1872208"/>
          </a:xfrm>
          <a:prstGeom prst="rect">
            <a:avLst/>
          </a:prstGeom>
          <a:solidFill>
            <a:srgbClr val="B9CDE5"/>
          </a:solidFill>
          <a:ln>
            <a:noFill/>
          </a:ln>
          <a:effectLst/>
        </p:spPr>
        <p:txBody>
          <a:bodyPr wrap="none" anchor="ctr"/>
          <a:lstStyle/>
          <a:p>
            <a:endParaRPr lang="zh-CN" altLang="en-US"/>
          </a:p>
        </p:txBody>
      </p:sp>
      <p:sp>
        <p:nvSpPr>
          <p:cNvPr id="41" name="Rectangle 4"/>
          <p:cNvSpPr>
            <a:spLocks noChangeArrowheads="1"/>
          </p:cNvSpPr>
          <p:nvPr/>
        </p:nvSpPr>
        <p:spPr bwMode="auto">
          <a:xfrm>
            <a:off x="407368" y="5511166"/>
            <a:ext cx="11449272" cy="650875"/>
          </a:xfrm>
          <a:prstGeom prst="rect">
            <a:avLst/>
          </a:prstGeom>
          <a:gradFill rotWithShape="1">
            <a:gsLst>
              <a:gs pos="0">
                <a:srgbClr val="C0C0C0"/>
              </a:gs>
              <a:gs pos="100000">
                <a:srgbClr val="C0C0C0">
                  <a:gamma/>
                  <a:shade val="46275"/>
                  <a:invGamma/>
                </a:srgbClr>
              </a:gs>
            </a:gsLst>
            <a:lin ang="5400000" scaled="1"/>
          </a:gradFill>
          <a:ln w="571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44" name="Group 5"/>
          <p:cNvGrpSpPr>
            <a:grpSpLocks/>
          </p:cNvGrpSpPr>
          <p:nvPr/>
        </p:nvGrpSpPr>
        <p:grpSpPr bwMode="auto">
          <a:xfrm>
            <a:off x="2073896" y="4549141"/>
            <a:ext cx="1558926" cy="950912"/>
            <a:chOff x="450" y="3308"/>
            <a:chExt cx="982" cy="599"/>
          </a:xfrm>
        </p:grpSpPr>
        <p:sp>
          <p:nvSpPr>
            <p:cNvPr id="45" name="Text Box 6"/>
            <p:cNvSpPr txBox="1">
              <a:spLocks noChangeArrowheads="1"/>
            </p:cNvSpPr>
            <p:nvPr/>
          </p:nvSpPr>
          <p:spPr bwMode="auto">
            <a:xfrm>
              <a:off x="987" y="3308"/>
              <a:ext cx="44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spcBef>
                  <a:spcPct val="50000"/>
                </a:spcBef>
              </a:pPr>
              <a:r>
                <a:rPr lang="en-US" altLang="zh-CN" b="1" i="1" dirty="0">
                  <a:solidFill>
                    <a:srgbClr val="FFFF00"/>
                  </a:solidFill>
                  <a:latin typeface="+mn-lt"/>
                  <a:ea typeface="宋体" panose="02010600030101010101" pitchFamily="2" charset="-122"/>
                </a:rPr>
                <a:t>F</a:t>
              </a:r>
            </a:p>
          </p:txBody>
        </p:sp>
        <p:sp>
          <p:nvSpPr>
            <p:cNvPr id="46" name="Rectangle 7"/>
            <p:cNvSpPr>
              <a:spLocks noChangeArrowheads="1"/>
            </p:cNvSpPr>
            <p:nvPr/>
          </p:nvSpPr>
          <p:spPr bwMode="auto">
            <a:xfrm>
              <a:off x="450" y="3646"/>
              <a:ext cx="591" cy="253"/>
            </a:xfrm>
            <a:prstGeom prst="rect">
              <a:avLst/>
            </a:prstGeom>
            <a:gradFill rotWithShape="1">
              <a:gsLst>
                <a:gs pos="0">
                  <a:srgbClr val="009900"/>
                </a:gs>
                <a:gs pos="50000">
                  <a:srgbClr val="00FF00"/>
                </a:gs>
                <a:gs pos="100000">
                  <a:srgbClr val="009900"/>
                </a:gs>
              </a:gsLst>
              <a:lin ang="0" scaled="1"/>
            </a:gra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 name="Line 8"/>
            <p:cNvSpPr>
              <a:spLocks noChangeShapeType="1"/>
            </p:cNvSpPr>
            <p:nvPr/>
          </p:nvSpPr>
          <p:spPr bwMode="auto">
            <a:xfrm>
              <a:off x="774" y="3767"/>
              <a:ext cx="585" cy="0"/>
            </a:xfrm>
            <a:prstGeom prst="line">
              <a:avLst/>
            </a:prstGeom>
            <a:noFill/>
            <a:ln w="12700">
              <a:solidFill>
                <a:schemeClr val="bg1"/>
              </a:solidFill>
              <a:round/>
              <a:headE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 name="Text Box 9"/>
            <p:cNvSpPr txBox="1">
              <a:spLocks noChangeArrowheads="1"/>
            </p:cNvSpPr>
            <p:nvPr/>
          </p:nvSpPr>
          <p:spPr bwMode="auto">
            <a:xfrm>
              <a:off x="459" y="3619"/>
              <a:ext cx="44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spcBef>
                  <a:spcPct val="50000"/>
                </a:spcBef>
              </a:pPr>
              <a:r>
                <a:rPr lang="en-US" altLang="zh-CN" i="1">
                  <a:solidFill>
                    <a:schemeClr val="tx1"/>
                  </a:solidFill>
                  <a:latin typeface="" pitchFamily="18" charset="-52"/>
                  <a:ea typeface="宋体" panose="02010600030101010101" pitchFamily="2" charset="-122"/>
                </a:rPr>
                <a:t>M</a:t>
              </a:r>
              <a:r>
                <a:rPr lang="en-US" altLang="zh-CN" baseline="-25000">
                  <a:solidFill>
                    <a:schemeClr val="tx1"/>
                  </a:solidFill>
                  <a:latin typeface="" pitchFamily="18" charset="-52"/>
                  <a:ea typeface="宋体" panose="02010600030101010101" pitchFamily="2" charset="-122"/>
                </a:rPr>
                <a:t>1</a:t>
              </a:r>
            </a:p>
          </p:txBody>
        </p:sp>
        <p:sp>
          <p:nvSpPr>
            <p:cNvPr id="49" name="Line 10"/>
            <p:cNvSpPr>
              <a:spLocks noChangeShapeType="1"/>
            </p:cNvSpPr>
            <p:nvPr/>
          </p:nvSpPr>
          <p:spPr bwMode="auto">
            <a:xfrm flipV="1">
              <a:off x="751" y="3534"/>
              <a:ext cx="489" cy="236"/>
            </a:xfrm>
            <a:prstGeom prst="line">
              <a:avLst/>
            </a:prstGeom>
            <a:noFill/>
            <a:ln w="38100">
              <a:solidFill>
                <a:srgbClr val="FFFF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 name="Arc 11"/>
            <p:cNvSpPr>
              <a:spLocks/>
            </p:cNvSpPr>
            <p:nvPr/>
          </p:nvSpPr>
          <p:spPr bwMode="auto">
            <a:xfrm>
              <a:off x="1065" y="3639"/>
              <a:ext cx="56" cy="14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127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 name="Text Box 12"/>
            <p:cNvSpPr txBox="1">
              <a:spLocks noChangeArrowheads="1"/>
            </p:cNvSpPr>
            <p:nvPr/>
          </p:nvSpPr>
          <p:spPr bwMode="auto">
            <a:xfrm>
              <a:off x="1052" y="3501"/>
              <a:ext cx="36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spcBef>
                  <a:spcPct val="50000"/>
                </a:spcBef>
              </a:pPr>
              <a:r>
                <a:rPr lang="en-US" altLang="zh-CN" i="1">
                  <a:latin typeface="" pitchFamily="18" charset="-52"/>
                  <a:ea typeface="宋体" panose="02010600030101010101" pitchFamily="2" charset="-122"/>
                  <a:sym typeface="Symbol" panose="05050102010706020507" pitchFamily="18" charset="2"/>
                </a:rPr>
                <a:t></a:t>
              </a:r>
              <a:endParaRPr lang="en-US" altLang="zh-CN" baseline="-25000">
                <a:latin typeface="" pitchFamily="18" charset="-52"/>
                <a:ea typeface="宋体" panose="02010600030101010101" pitchFamily="2" charset="-122"/>
                <a:sym typeface="Symbol" panose="05050102010706020507" pitchFamily="18" charset="2"/>
              </a:endParaRPr>
            </a:p>
          </p:txBody>
        </p:sp>
      </p:grpSp>
      <p:grpSp>
        <p:nvGrpSpPr>
          <p:cNvPr id="53" name="Group 13"/>
          <p:cNvGrpSpPr>
            <a:grpSpLocks/>
          </p:cNvGrpSpPr>
          <p:nvPr/>
        </p:nvGrpSpPr>
        <p:grpSpPr bwMode="auto">
          <a:xfrm>
            <a:off x="7985746" y="4541203"/>
            <a:ext cx="1558925" cy="950913"/>
            <a:chOff x="450" y="3308"/>
            <a:chExt cx="982" cy="599"/>
          </a:xfrm>
        </p:grpSpPr>
        <p:sp>
          <p:nvSpPr>
            <p:cNvPr id="54" name="Text Box 14"/>
            <p:cNvSpPr txBox="1">
              <a:spLocks noChangeArrowheads="1"/>
            </p:cNvSpPr>
            <p:nvPr/>
          </p:nvSpPr>
          <p:spPr bwMode="auto">
            <a:xfrm>
              <a:off x="987" y="3308"/>
              <a:ext cx="44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spcBef>
                  <a:spcPct val="50000"/>
                </a:spcBef>
              </a:pPr>
              <a:r>
                <a:rPr lang="en-US" altLang="zh-CN" b="1" i="1" dirty="0">
                  <a:solidFill>
                    <a:srgbClr val="FFFF00"/>
                  </a:solidFill>
                  <a:latin typeface="+mj-lt"/>
                  <a:ea typeface="宋体" panose="02010600030101010101" pitchFamily="2" charset="-122"/>
                </a:rPr>
                <a:t>F</a:t>
              </a:r>
            </a:p>
          </p:txBody>
        </p:sp>
        <p:sp>
          <p:nvSpPr>
            <p:cNvPr id="55" name="Rectangle 15"/>
            <p:cNvSpPr>
              <a:spLocks noChangeArrowheads="1"/>
            </p:cNvSpPr>
            <p:nvPr/>
          </p:nvSpPr>
          <p:spPr bwMode="auto">
            <a:xfrm>
              <a:off x="450" y="3646"/>
              <a:ext cx="591" cy="253"/>
            </a:xfrm>
            <a:prstGeom prst="rect">
              <a:avLst/>
            </a:prstGeom>
            <a:gradFill rotWithShape="1">
              <a:gsLst>
                <a:gs pos="0">
                  <a:srgbClr val="009900"/>
                </a:gs>
                <a:gs pos="50000">
                  <a:srgbClr val="00FF00"/>
                </a:gs>
                <a:gs pos="100000">
                  <a:srgbClr val="009900"/>
                </a:gs>
              </a:gsLst>
              <a:lin ang="0" scaled="1"/>
            </a:gra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 name="Line 16"/>
            <p:cNvSpPr>
              <a:spLocks noChangeShapeType="1"/>
            </p:cNvSpPr>
            <p:nvPr/>
          </p:nvSpPr>
          <p:spPr bwMode="auto">
            <a:xfrm>
              <a:off x="774" y="3767"/>
              <a:ext cx="585" cy="0"/>
            </a:xfrm>
            <a:prstGeom prst="line">
              <a:avLst/>
            </a:prstGeom>
            <a:noFill/>
            <a:ln w="12700">
              <a:solidFill>
                <a:schemeClr val="bg1"/>
              </a:solidFill>
              <a:round/>
              <a:headE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 name="Text Box 17"/>
            <p:cNvSpPr txBox="1">
              <a:spLocks noChangeArrowheads="1"/>
            </p:cNvSpPr>
            <p:nvPr/>
          </p:nvSpPr>
          <p:spPr bwMode="auto">
            <a:xfrm>
              <a:off x="459" y="3619"/>
              <a:ext cx="44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spcBef>
                  <a:spcPct val="50000"/>
                </a:spcBef>
              </a:pPr>
              <a:r>
                <a:rPr lang="en-US" altLang="zh-CN" i="1" dirty="0">
                  <a:solidFill>
                    <a:schemeClr val="tx1"/>
                  </a:solidFill>
                  <a:latin typeface="" pitchFamily="18" charset="-52"/>
                  <a:ea typeface="宋体" panose="02010600030101010101" pitchFamily="2" charset="-122"/>
                </a:rPr>
                <a:t>M</a:t>
              </a:r>
              <a:r>
                <a:rPr lang="en-US" altLang="zh-CN" baseline="-25000" dirty="0">
                  <a:solidFill>
                    <a:schemeClr val="tx1"/>
                  </a:solidFill>
                  <a:latin typeface="" pitchFamily="18" charset="-52"/>
                  <a:ea typeface="宋体" panose="02010600030101010101" pitchFamily="2" charset="-122"/>
                </a:rPr>
                <a:t>2</a:t>
              </a:r>
            </a:p>
          </p:txBody>
        </p:sp>
        <p:sp>
          <p:nvSpPr>
            <p:cNvPr id="58" name="Line 18"/>
            <p:cNvSpPr>
              <a:spLocks noChangeShapeType="1"/>
            </p:cNvSpPr>
            <p:nvPr/>
          </p:nvSpPr>
          <p:spPr bwMode="auto">
            <a:xfrm flipV="1">
              <a:off x="751" y="3534"/>
              <a:ext cx="489" cy="236"/>
            </a:xfrm>
            <a:prstGeom prst="line">
              <a:avLst/>
            </a:prstGeom>
            <a:noFill/>
            <a:ln w="38100">
              <a:solidFill>
                <a:srgbClr val="FFFF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 name="Arc 19"/>
            <p:cNvSpPr>
              <a:spLocks/>
            </p:cNvSpPr>
            <p:nvPr/>
          </p:nvSpPr>
          <p:spPr bwMode="auto">
            <a:xfrm>
              <a:off x="1065" y="3639"/>
              <a:ext cx="56" cy="14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127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 name="Text Box 20"/>
            <p:cNvSpPr txBox="1">
              <a:spLocks noChangeArrowheads="1"/>
            </p:cNvSpPr>
            <p:nvPr/>
          </p:nvSpPr>
          <p:spPr bwMode="auto">
            <a:xfrm>
              <a:off x="1052" y="3501"/>
              <a:ext cx="36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spcBef>
                  <a:spcPct val="50000"/>
                </a:spcBef>
              </a:pPr>
              <a:r>
                <a:rPr lang="en-US" altLang="zh-CN" i="1">
                  <a:latin typeface="" pitchFamily="18" charset="-52"/>
                  <a:ea typeface="宋体" panose="02010600030101010101" pitchFamily="2" charset="-122"/>
                  <a:sym typeface="Symbol" panose="05050102010706020507" pitchFamily="18" charset="2"/>
                </a:rPr>
                <a:t></a:t>
              </a:r>
              <a:endParaRPr lang="en-US" altLang="zh-CN" baseline="-25000">
                <a:latin typeface="" pitchFamily="18" charset="-52"/>
                <a:ea typeface="宋体" panose="02010600030101010101" pitchFamily="2" charset="-122"/>
                <a:sym typeface="Symbol" panose="05050102010706020507" pitchFamily="18" charset="2"/>
              </a:endParaRPr>
            </a:p>
          </p:txBody>
        </p:sp>
      </p:grpSp>
      <p:grpSp>
        <p:nvGrpSpPr>
          <p:cNvPr id="61" name="Group 21"/>
          <p:cNvGrpSpPr>
            <a:grpSpLocks/>
          </p:cNvGrpSpPr>
          <p:nvPr/>
        </p:nvGrpSpPr>
        <p:grpSpPr bwMode="auto">
          <a:xfrm>
            <a:off x="5228258" y="4528503"/>
            <a:ext cx="1558925" cy="950913"/>
            <a:chOff x="450" y="3308"/>
            <a:chExt cx="982" cy="599"/>
          </a:xfrm>
        </p:grpSpPr>
        <p:sp>
          <p:nvSpPr>
            <p:cNvPr id="62" name="Text Box 22"/>
            <p:cNvSpPr txBox="1">
              <a:spLocks noChangeArrowheads="1"/>
            </p:cNvSpPr>
            <p:nvPr/>
          </p:nvSpPr>
          <p:spPr bwMode="auto">
            <a:xfrm>
              <a:off x="987" y="3308"/>
              <a:ext cx="44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spcBef>
                  <a:spcPct val="50000"/>
                </a:spcBef>
              </a:pPr>
              <a:r>
                <a:rPr lang="en-US" altLang="zh-CN" b="1" i="1" dirty="0">
                  <a:solidFill>
                    <a:srgbClr val="FFFF00"/>
                  </a:solidFill>
                  <a:latin typeface="+mn-lt"/>
                  <a:ea typeface="宋体" panose="02010600030101010101" pitchFamily="2" charset="-122"/>
                </a:rPr>
                <a:t>F</a:t>
              </a:r>
            </a:p>
          </p:txBody>
        </p:sp>
        <p:sp>
          <p:nvSpPr>
            <p:cNvPr id="63" name="Rectangle 23"/>
            <p:cNvSpPr>
              <a:spLocks noChangeArrowheads="1"/>
            </p:cNvSpPr>
            <p:nvPr/>
          </p:nvSpPr>
          <p:spPr bwMode="auto">
            <a:xfrm>
              <a:off x="450" y="3646"/>
              <a:ext cx="591" cy="253"/>
            </a:xfrm>
            <a:prstGeom prst="rect">
              <a:avLst/>
            </a:prstGeom>
            <a:gradFill rotWithShape="1">
              <a:gsLst>
                <a:gs pos="0">
                  <a:srgbClr val="009900"/>
                </a:gs>
                <a:gs pos="50000">
                  <a:srgbClr val="00FF00"/>
                </a:gs>
                <a:gs pos="100000">
                  <a:srgbClr val="009900"/>
                </a:gs>
              </a:gsLst>
              <a:lin ang="0" scaled="1"/>
            </a:gra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 name="Line 24"/>
            <p:cNvSpPr>
              <a:spLocks noChangeShapeType="1"/>
            </p:cNvSpPr>
            <p:nvPr/>
          </p:nvSpPr>
          <p:spPr bwMode="auto">
            <a:xfrm>
              <a:off x="774" y="3767"/>
              <a:ext cx="585" cy="0"/>
            </a:xfrm>
            <a:prstGeom prst="line">
              <a:avLst/>
            </a:prstGeom>
            <a:noFill/>
            <a:ln w="12700">
              <a:solidFill>
                <a:schemeClr val="bg1"/>
              </a:solidFill>
              <a:round/>
              <a:headE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 name="Text Box 25"/>
            <p:cNvSpPr txBox="1">
              <a:spLocks noChangeArrowheads="1"/>
            </p:cNvSpPr>
            <p:nvPr/>
          </p:nvSpPr>
          <p:spPr bwMode="auto">
            <a:xfrm>
              <a:off x="459" y="3619"/>
              <a:ext cx="44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spcBef>
                  <a:spcPct val="50000"/>
                </a:spcBef>
              </a:pPr>
              <a:r>
                <a:rPr lang="en-US" altLang="zh-CN" i="1">
                  <a:solidFill>
                    <a:schemeClr val="tx1"/>
                  </a:solidFill>
                  <a:latin typeface="" pitchFamily="18" charset="-52"/>
                  <a:ea typeface="宋体" panose="02010600030101010101" pitchFamily="2" charset="-122"/>
                </a:rPr>
                <a:t>M</a:t>
              </a:r>
              <a:endParaRPr lang="en-US" altLang="zh-CN" baseline="-25000">
                <a:solidFill>
                  <a:schemeClr val="tx1"/>
                </a:solidFill>
                <a:latin typeface="" pitchFamily="18" charset="-52"/>
                <a:ea typeface="宋体" panose="02010600030101010101" pitchFamily="2" charset="-122"/>
              </a:endParaRPr>
            </a:p>
          </p:txBody>
        </p:sp>
        <p:sp>
          <p:nvSpPr>
            <p:cNvPr id="66" name="Line 26"/>
            <p:cNvSpPr>
              <a:spLocks noChangeShapeType="1"/>
            </p:cNvSpPr>
            <p:nvPr/>
          </p:nvSpPr>
          <p:spPr bwMode="auto">
            <a:xfrm flipV="1">
              <a:off x="751" y="3534"/>
              <a:ext cx="489" cy="236"/>
            </a:xfrm>
            <a:prstGeom prst="line">
              <a:avLst/>
            </a:prstGeom>
            <a:noFill/>
            <a:ln w="38100">
              <a:solidFill>
                <a:srgbClr val="FFFF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 name="Arc 27"/>
            <p:cNvSpPr>
              <a:spLocks/>
            </p:cNvSpPr>
            <p:nvPr/>
          </p:nvSpPr>
          <p:spPr bwMode="auto">
            <a:xfrm>
              <a:off x="1065" y="3639"/>
              <a:ext cx="56" cy="14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127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 name="Text Box 28"/>
            <p:cNvSpPr txBox="1">
              <a:spLocks noChangeArrowheads="1"/>
            </p:cNvSpPr>
            <p:nvPr/>
          </p:nvSpPr>
          <p:spPr bwMode="auto">
            <a:xfrm>
              <a:off x="1052" y="3501"/>
              <a:ext cx="36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spcBef>
                  <a:spcPct val="50000"/>
                </a:spcBef>
              </a:pPr>
              <a:r>
                <a:rPr lang="en-US" altLang="zh-CN" i="1">
                  <a:latin typeface="" pitchFamily="18" charset="-52"/>
                  <a:ea typeface="宋体" panose="02010600030101010101" pitchFamily="2" charset="-122"/>
                  <a:sym typeface="Symbol" panose="05050102010706020507" pitchFamily="18" charset="2"/>
                </a:rPr>
                <a:t></a:t>
              </a:r>
              <a:endParaRPr lang="en-US" altLang="zh-CN" baseline="-25000">
                <a:latin typeface="" pitchFamily="18" charset="-52"/>
                <a:ea typeface="宋体" panose="02010600030101010101" pitchFamily="2" charset="-122"/>
                <a:sym typeface="Symbol" panose="05050102010706020507" pitchFamily="18" charset="2"/>
              </a:endParaRPr>
            </a:p>
          </p:txBody>
        </p:sp>
      </p:grpSp>
      <p:grpSp>
        <p:nvGrpSpPr>
          <p:cNvPr id="69" name="Group 29"/>
          <p:cNvGrpSpPr>
            <a:grpSpLocks/>
          </p:cNvGrpSpPr>
          <p:nvPr/>
        </p:nvGrpSpPr>
        <p:grpSpPr bwMode="auto">
          <a:xfrm>
            <a:off x="2567608" y="4882516"/>
            <a:ext cx="5883275" cy="1295400"/>
            <a:chOff x="840" y="3523"/>
            <a:chExt cx="3706" cy="816"/>
          </a:xfrm>
        </p:grpSpPr>
        <p:sp>
          <p:nvSpPr>
            <p:cNvPr id="70" name="Line 30"/>
            <p:cNvSpPr>
              <a:spLocks noChangeShapeType="1"/>
            </p:cNvSpPr>
            <p:nvPr/>
          </p:nvSpPr>
          <p:spPr bwMode="auto">
            <a:xfrm>
              <a:off x="840" y="4181"/>
              <a:ext cx="3706" cy="0"/>
            </a:xfrm>
            <a:prstGeom prst="line">
              <a:avLst/>
            </a:prstGeom>
            <a:noFill/>
            <a:ln w="9525">
              <a:solidFill>
                <a:schemeClr val="tx1"/>
              </a:solidFill>
              <a:round/>
              <a:headEnd type="stealth"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1" name="Text Box 31"/>
            <p:cNvSpPr txBox="1">
              <a:spLocks noChangeArrowheads="1"/>
            </p:cNvSpPr>
            <p:nvPr/>
          </p:nvSpPr>
          <p:spPr bwMode="auto">
            <a:xfrm>
              <a:off x="2624" y="3828"/>
              <a:ext cx="286"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spcBef>
                  <a:spcPct val="50000"/>
                </a:spcBef>
              </a:pPr>
              <a:r>
                <a:rPr lang="en-US" altLang="zh-CN" sz="3200" i="1">
                  <a:solidFill>
                    <a:schemeClr val="tx1"/>
                  </a:solidFill>
                  <a:sym typeface="Symbol" panose="05050102010706020507" pitchFamily="18" charset="2"/>
                </a:rPr>
                <a:t>s</a:t>
              </a:r>
            </a:p>
          </p:txBody>
        </p:sp>
        <p:sp>
          <p:nvSpPr>
            <p:cNvPr id="72" name="Line 32"/>
            <p:cNvSpPr>
              <a:spLocks noChangeShapeType="1"/>
            </p:cNvSpPr>
            <p:nvPr/>
          </p:nvSpPr>
          <p:spPr bwMode="auto">
            <a:xfrm flipV="1">
              <a:off x="843" y="3606"/>
              <a:ext cx="0" cy="73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3" name="Line 33"/>
            <p:cNvSpPr>
              <a:spLocks noChangeShapeType="1"/>
            </p:cNvSpPr>
            <p:nvPr/>
          </p:nvSpPr>
          <p:spPr bwMode="auto">
            <a:xfrm flipV="1">
              <a:off x="4545" y="3523"/>
              <a:ext cx="0" cy="81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74" name="Text Box 34"/>
          <p:cNvSpPr txBox="1">
            <a:spLocks noChangeAspect="1" noChangeArrowheads="1"/>
          </p:cNvSpPr>
          <p:nvPr/>
        </p:nvSpPr>
        <p:spPr bwMode="auto">
          <a:xfrm>
            <a:off x="2010397" y="4468863"/>
            <a:ext cx="504825" cy="462866"/>
          </a:xfrm>
          <a:prstGeom prst="rect">
            <a:avLst/>
          </a:prstGeom>
          <a:noFill/>
          <a:ln>
            <a:noFill/>
          </a:ln>
          <a:effectLst/>
        </p:spPr>
        <p:txBody>
          <a:bodyPr/>
          <a:lstStyle/>
          <a:p>
            <a:r>
              <a:rPr lang="en-US" altLang="zh-CN" sz="2800" b="1" i="1" dirty="0">
                <a:latin typeface="+mn-lt"/>
                <a:ea typeface="宋体" panose="02010600030101010101" pitchFamily="2" charset="-122"/>
              </a:rPr>
              <a:t>v</a:t>
            </a:r>
            <a:endParaRPr lang="en-US" altLang="zh-CN" sz="2800" baseline="-25000" dirty="0">
              <a:latin typeface="+mn-lt"/>
              <a:ea typeface="宋体" panose="02010600030101010101" pitchFamily="2" charset="-122"/>
            </a:endParaRPr>
          </a:p>
        </p:txBody>
      </p:sp>
      <p:sp>
        <p:nvSpPr>
          <p:cNvPr id="75" name="Line 35"/>
          <p:cNvSpPr>
            <a:spLocks noChangeAspect="1" noChangeShapeType="1"/>
          </p:cNvSpPr>
          <p:nvPr/>
        </p:nvSpPr>
        <p:spPr bwMode="auto">
          <a:xfrm>
            <a:off x="2266351" y="4844552"/>
            <a:ext cx="539750" cy="1588"/>
          </a:xfrm>
          <a:prstGeom prst="line">
            <a:avLst/>
          </a:prstGeom>
          <a:noFill/>
          <a:ln w="28575">
            <a:solidFill>
              <a:srgbClr val="FF33CC"/>
            </a:solidFill>
            <a:round/>
            <a:headEnd type="none" w="sm"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nvGrpSpPr>
          <p:cNvPr id="76" name="Group 36"/>
          <p:cNvGrpSpPr>
            <a:grpSpLocks/>
          </p:cNvGrpSpPr>
          <p:nvPr/>
        </p:nvGrpSpPr>
        <p:grpSpPr bwMode="auto">
          <a:xfrm>
            <a:off x="2075483" y="4560256"/>
            <a:ext cx="1555750" cy="942976"/>
            <a:chOff x="450" y="3316"/>
            <a:chExt cx="980" cy="594"/>
          </a:xfrm>
        </p:grpSpPr>
        <p:sp>
          <p:nvSpPr>
            <p:cNvPr id="77" name="Text Box 37"/>
            <p:cNvSpPr txBox="1">
              <a:spLocks noChangeArrowheads="1"/>
            </p:cNvSpPr>
            <p:nvPr/>
          </p:nvSpPr>
          <p:spPr bwMode="auto">
            <a:xfrm>
              <a:off x="985" y="3316"/>
              <a:ext cx="44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spcBef>
                  <a:spcPct val="50000"/>
                </a:spcBef>
              </a:pPr>
              <a:r>
                <a:rPr lang="en-US" altLang="zh-CN" dirty="0">
                  <a:solidFill>
                    <a:srgbClr val="FFFF00"/>
                  </a:solidFill>
                  <a:latin typeface="+mn-lt"/>
                </a:rPr>
                <a:t>F</a:t>
              </a:r>
            </a:p>
          </p:txBody>
        </p:sp>
        <p:sp>
          <p:nvSpPr>
            <p:cNvPr id="78" name="Rectangle 38"/>
            <p:cNvSpPr>
              <a:spLocks noChangeArrowheads="1"/>
            </p:cNvSpPr>
            <p:nvPr/>
          </p:nvSpPr>
          <p:spPr bwMode="auto">
            <a:xfrm>
              <a:off x="450" y="3646"/>
              <a:ext cx="591" cy="253"/>
            </a:xfrm>
            <a:prstGeom prst="rect">
              <a:avLst/>
            </a:prstGeom>
            <a:gradFill rotWithShape="1">
              <a:gsLst>
                <a:gs pos="0">
                  <a:srgbClr val="009900"/>
                </a:gs>
                <a:gs pos="50000">
                  <a:srgbClr val="00FF00"/>
                </a:gs>
                <a:gs pos="100000">
                  <a:srgbClr val="009900"/>
                </a:gs>
              </a:gsLst>
              <a:lin ang="0" scaled="1"/>
            </a:gra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 name="Line 39"/>
            <p:cNvSpPr>
              <a:spLocks noChangeShapeType="1"/>
            </p:cNvSpPr>
            <p:nvPr/>
          </p:nvSpPr>
          <p:spPr bwMode="auto">
            <a:xfrm>
              <a:off x="774" y="3767"/>
              <a:ext cx="585" cy="0"/>
            </a:xfrm>
            <a:prstGeom prst="line">
              <a:avLst/>
            </a:prstGeom>
            <a:noFill/>
            <a:ln w="12700">
              <a:solidFill>
                <a:schemeClr val="bg1"/>
              </a:solidFill>
              <a:round/>
              <a:headE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0" name="Text Box 40"/>
            <p:cNvSpPr txBox="1">
              <a:spLocks noChangeArrowheads="1"/>
            </p:cNvSpPr>
            <p:nvPr/>
          </p:nvSpPr>
          <p:spPr bwMode="auto">
            <a:xfrm>
              <a:off x="459" y="3619"/>
              <a:ext cx="445"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spcBef>
                  <a:spcPct val="50000"/>
                </a:spcBef>
              </a:pPr>
              <a:r>
                <a:rPr lang="en-US" altLang="zh-CN" i="1" dirty="0">
                  <a:solidFill>
                    <a:schemeClr val="tx1"/>
                  </a:solidFill>
                  <a:latin typeface="" pitchFamily="18" charset="-52"/>
                  <a:ea typeface="宋体" panose="02010600030101010101" pitchFamily="2" charset="-122"/>
                </a:rPr>
                <a:t>M</a:t>
              </a:r>
              <a:r>
                <a:rPr lang="en-US" altLang="zh-CN" baseline="-25000" dirty="0">
                  <a:solidFill>
                    <a:schemeClr val="tx1"/>
                  </a:solidFill>
                  <a:latin typeface="" pitchFamily="18" charset="-52"/>
                  <a:ea typeface="宋体" panose="02010600030101010101" pitchFamily="2" charset="-122"/>
                </a:rPr>
                <a:t>1</a:t>
              </a:r>
            </a:p>
          </p:txBody>
        </p:sp>
        <p:sp>
          <p:nvSpPr>
            <p:cNvPr id="81" name="Line 41"/>
            <p:cNvSpPr>
              <a:spLocks noChangeShapeType="1"/>
            </p:cNvSpPr>
            <p:nvPr/>
          </p:nvSpPr>
          <p:spPr bwMode="auto">
            <a:xfrm flipV="1">
              <a:off x="751" y="3534"/>
              <a:ext cx="489" cy="236"/>
            </a:xfrm>
            <a:prstGeom prst="line">
              <a:avLst/>
            </a:prstGeom>
            <a:noFill/>
            <a:ln w="38100">
              <a:solidFill>
                <a:srgbClr val="FFFF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 name="Arc 42"/>
            <p:cNvSpPr>
              <a:spLocks/>
            </p:cNvSpPr>
            <p:nvPr/>
          </p:nvSpPr>
          <p:spPr bwMode="auto">
            <a:xfrm>
              <a:off x="1065" y="3639"/>
              <a:ext cx="56" cy="14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127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 name="Text Box 43"/>
            <p:cNvSpPr txBox="1">
              <a:spLocks noChangeArrowheads="1"/>
            </p:cNvSpPr>
            <p:nvPr/>
          </p:nvSpPr>
          <p:spPr bwMode="auto">
            <a:xfrm>
              <a:off x="1052" y="3501"/>
              <a:ext cx="36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spcBef>
                  <a:spcPct val="50000"/>
                </a:spcBef>
              </a:pPr>
              <a:r>
                <a:rPr lang="en-US" altLang="zh-CN" i="1">
                  <a:latin typeface="" pitchFamily="18" charset="-52"/>
                  <a:ea typeface="宋体" panose="02010600030101010101" pitchFamily="2" charset="-122"/>
                  <a:sym typeface="Symbol" panose="05050102010706020507" pitchFamily="18" charset="2"/>
                </a:rPr>
                <a:t></a:t>
              </a:r>
              <a:endParaRPr lang="en-US" altLang="zh-CN" baseline="-25000">
                <a:latin typeface="" pitchFamily="18" charset="-52"/>
                <a:ea typeface="宋体" panose="02010600030101010101" pitchFamily="2" charset="-122"/>
                <a:sym typeface="Symbol" panose="05050102010706020507" pitchFamily="18" charset="2"/>
              </a:endParaRPr>
            </a:p>
          </p:txBody>
        </p:sp>
      </p:grpSp>
    </p:spTree>
    <p:extLst>
      <p:ext uri="{BB962C8B-B14F-4D97-AF65-F5344CB8AC3E}">
        <p14:creationId xmlns:p14="http://schemas.microsoft.com/office/powerpoint/2010/main" val="4122010406"/>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5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5"/>
                                        </p:tgtEl>
                                        <p:attrNameLst>
                                          <p:attrName>style.visibility</p:attrName>
                                        </p:attrNameLst>
                                      </p:cBhvr>
                                      <p:to>
                                        <p:strVal val="visible"/>
                                      </p:to>
                                    </p:set>
                                  </p:childTnLst>
                                </p:cTn>
                              </p:par>
                            </p:childTnLst>
                          </p:cTn>
                        </p:par>
                        <p:par>
                          <p:cTn id="15" fill="hold">
                            <p:stCondLst>
                              <p:cond delay="0"/>
                            </p:stCondLst>
                            <p:childTnLst>
                              <p:par>
                                <p:cTn id="16" presetID="1" presetClass="entr" presetSubtype="0" fill="hold" nodeType="afterEffect">
                                  <p:stCondLst>
                                    <p:cond delay="0"/>
                                  </p:stCondLst>
                                  <p:childTnLst>
                                    <p:set>
                                      <p:cBhvr>
                                        <p:cTn id="17" dur="1" fill="hold">
                                          <p:stCondLst>
                                            <p:cond delay="0"/>
                                          </p:stCondLst>
                                        </p:cTn>
                                        <p:tgtEl>
                                          <p:spTgt spid="76"/>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74"/>
                                        </p:tgtEl>
                                        <p:attrNameLst>
                                          <p:attrName>style.visibility</p:attrName>
                                        </p:attrNameLst>
                                      </p:cBhvr>
                                      <p:to>
                                        <p:strVal val="visible"/>
                                      </p:to>
                                    </p:set>
                                  </p:childTnLst>
                                </p:cTn>
                              </p:par>
                              <p:par>
                                <p:cTn id="20" presetID="27" presetClass="emph" presetSubtype="0" repeatCount="3000" fill="hold" grpId="1" nodeType="withEffect">
                                  <p:stCondLst>
                                    <p:cond delay="0"/>
                                  </p:stCondLst>
                                  <p:childTnLst>
                                    <p:animClr clrSpc="rgb" dir="cw">
                                      <p:cBhvr override="childStyle">
                                        <p:cTn id="21" dur="250" autoRev="1" fill="hold"/>
                                        <p:tgtEl>
                                          <p:spTgt spid="75"/>
                                        </p:tgtEl>
                                        <p:attrNameLst>
                                          <p:attrName>style.color</p:attrName>
                                        </p:attrNameLst>
                                      </p:cBhvr>
                                      <p:to>
                                        <a:schemeClr val="bg1"/>
                                      </p:to>
                                    </p:animClr>
                                    <p:animClr clrSpc="rgb" dir="cw">
                                      <p:cBhvr>
                                        <p:cTn id="22" dur="250" autoRev="1" fill="hold"/>
                                        <p:tgtEl>
                                          <p:spTgt spid="75"/>
                                        </p:tgtEl>
                                        <p:attrNameLst>
                                          <p:attrName>fillcolor</p:attrName>
                                        </p:attrNameLst>
                                      </p:cBhvr>
                                      <p:to>
                                        <a:schemeClr val="bg1"/>
                                      </p:to>
                                    </p:animClr>
                                    <p:set>
                                      <p:cBhvr>
                                        <p:cTn id="23" dur="250" autoRev="1" fill="hold"/>
                                        <p:tgtEl>
                                          <p:spTgt spid="75"/>
                                        </p:tgtEl>
                                        <p:attrNameLst>
                                          <p:attrName>fill.type</p:attrName>
                                        </p:attrNameLst>
                                      </p:cBhvr>
                                      <p:to>
                                        <p:strVal val="solid"/>
                                      </p:to>
                                    </p:set>
                                    <p:set>
                                      <p:cBhvr>
                                        <p:cTn id="24" dur="250" autoRev="1" fill="hold"/>
                                        <p:tgtEl>
                                          <p:spTgt spid="75"/>
                                        </p:tgtEl>
                                        <p:attrNameLst>
                                          <p:attrName>fill.on</p:attrName>
                                        </p:attrNameLst>
                                      </p:cBhvr>
                                      <p:to>
                                        <p:strVal val="true"/>
                                      </p:to>
                                    </p:set>
                                  </p:childTnLst>
                                </p:cTn>
                              </p:par>
                              <p:par>
                                <p:cTn id="25" presetID="27" presetClass="emph" presetSubtype="0" repeatCount="3000" fill="hold" grpId="1" nodeType="withEffect">
                                  <p:stCondLst>
                                    <p:cond delay="0"/>
                                  </p:stCondLst>
                                  <p:childTnLst>
                                    <p:animClr clrSpc="rgb" dir="cw">
                                      <p:cBhvr override="childStyle">
                                        <p:cTn id="26" dur="250" autoRev="1" fill="hold"/>
                                        <p:tgtEl>
                                          <p:spTgt spid="74"/>
                                        </p:tgtEl>
                                        <p:attrNameLst>
                                          <p:attrName>style.color</p:attrName>
                                        </p:attrNameLst>
                                      </p:cBhvr>
                                      <p:to>
                                        <a:schemeClr val="bg1"/>
                                      </p:to>
                                    </p:animClr>
                                    <p:animClr clrSpc="rgb" dir="cw">
                                      <p:cBhvr>
                                        <p:cTn id="27" dur="250" autoRev="1" fill="hold"/>
                                        <p:tgtEl>
                                          <p:spTgt spid="74"/>
                                        </p:tgtEl>
                                        <p:attrNameLst>
                                          <p:attrName>fillcolor</p:attrName>
                                        </p:attrNameLst>
                                      </p:cBhvr>
                                      <p:to>
                                        <a:schemeClr val="bg1"/>
                                      </p:to>
                                    </p:animClr>
                                    <p:set>
                                      <p:cBhvr>
                                        <p:cTn id="28" dur="250" autoRev="1" fill="hold"/>
                                        <p:tgtEl>
                                          <p:spTgt spid="74"/>
                                        </p:tgtEl>
                                        <p:attrNameLst>
                                          <p:attrName>fill.type</p:attrName>
                                        </p:attrNameLst>
                                      </p:cBhvr>
                                      <p:to>
                                        <p:strVal val="solid"/>
                                      </p:to>
                                    </p:set>
                                    <p:set>
                                      <p:cBhvr>
                                        <p:cTn id="29" dur="250" autoRev="1" fill="hold"/>
                                        <p:tgtEl>
                                          <p:spTgt spid="74"/>
                                        </p:tgtEl>
                                        <p:attrNameLst>
                                          <p:attrName>fill.on</p:attrName>
                                        </p:attrNameLst>
                                      </p:cBhvr>
                                      <p:to>
                                        <p:strVal val="true"/>
                                      </p:to>
                                    </p:set>
                                  </p:childTnLst>
                                </p:cTn>
                              </p:par>
                            </p:childTnLst>
                          </p:cTn>
                        </p:par>
                        <p:par>
                          <p:cTn id="30" fill="hold">
                            <p:stCondLst>
                              <p:cond delay="1500"/>
                            </p:stCondLst>
                            <p:childTnLst>
                              <p:par>
                                <p:cTn id="31" presetID="63" presetClass="path" presetSubtype="0" accel="50000" decel="50000" fill="hold" nodeType="afterEffect">
                                  <p:stCondLst>
                                    <p:cond delay="0"/>
                                  </p:stCondLst>
                                  <p:childTnLst>
                                    <p:animMotion origin="layout" path="M -4.375E-6 -3.33333E-6 L 0.64701 -3.33333E-6 " pathEditMode="relative" rAng="0" ptsTypes="AA">
                                      <p:cBhvr>
                                        <p:cTn id="32" dur="5000" fill="hold"/>
                                        <p:tgtEl>
                                          <p:spTgt spid="76"/>
                                        </p:tgtEl>
                                        <p:attrNameLst>
                                          <p:attrName>ppt_x</p:attrName>
                                          <p:attrName>ppt_y</p:attrName>
                                        </p:attrNameLst>
                                      </p:cBhvr>
                                      <p:rCtr x="32344" y="0"/>
                                    </p:animMotion>
                                  </p:childTnLst>
                                </p:cTn>
                              </p:par>
                              <p:par>
                                <p:cTn id="33" presetID="22" presetClass="entr" presetSubtype="8" fill="hold" nodeType="withEffect">
                                  <p:stCondLst>
                                    <p:cond delay="0"/>
                                  </p:stCondLst>
                                  <p:childTnLst>
                                    <p:set>
                                      <p:cBhvr>
                                        <p:cTn id="34" dur="1" fill="hold">
                                          <p:stCondLst>
                                            <p:cond delay="0"/>
                                          </p:stCondLst>
                                        </p:cTn>
                                        <p:tgtEl>
                                          <p:spTgt spid="69"/>
                                        </p:tgtEl>
                                        <p:attrNameLst>
                                          <p:attrName>style.visibility</p:attrName>
                                        </p:attrNameLst>
                                      </p:cBhvr>
                                      <p:to>
                                        <p:strVal val="visible"/>
                                      </p:to>
                                    </p:set>
                                    <p:animEffect transition="in" filter="wipe(left)">
                                      <p:cBhvr>
                                        <p:cTn id="35" dur="5000"/>
                                        <p:tgtEl>
                                          <p:spTgt spid="69"/>
                                        </p:tgtEl>
                                      </p:cBhvr>
                                    </p:animEffect>
                                  </p:childTnLst>
                                </p:cTn>
                              </p:par>
                              <p:par>
                                <p:cTn id="36" presetID="1" presetClass="entr" presetSubtype="0" fill="hold" nodeType="withEffect">
                                  <p:stCondLst>
                                    <p:cond delay="0"/>
                                  </p:stCondLst>
                                  <p:childTnLst>
                                    <p:set>
                                      <p:cBhvr>
                                        <p:cTn id="37" dur="1" fill="hold">
                                          <p:stCondLst>
                                            <p:cond delay="0"/>
                                          </p:stCondLst>
                                        </p:cTn>
                                        <p:tgtEl>
                                          <p:spTgt spid="44"/>
                                        </p:tgtEl>
                                        <p:attrNameLst>
                                          <p:attrName>style.visibility</p:attrName>
                                        </p:attrNameLst>
                                      </p:cBhvr>
                                      <p:to>
                                        <p:strVal val="visible"/>
                                      </p:to>
                                    </p:set>
                                  </p:childTnLst>
                                </p:cTn>
                              </p:par>
                              <p:par>
                                <p:cTn id="38" presetID="9" presetClass="emph" presetSubtype="0" nodeType="withEffect">
                                  <p:stCondLst>
                                    <p:cond delay="0"/>
                                  </p:stCondLst>
                                  <p:childTnLst>
                                    <p:set>
                                      <p:cBhvr rctx="PPT">
                                        <p:cTn id="39" dur="indefinite"/>
                                        <p:tgtEl>
                                          <p:spTgt spid="44"/>
                                        </p:tgtEl>
                                        <p:attrNameLst>
                                          <p:attrName>style.opacity</p:attrName>
                                        </p:attrNameLst>
                                      </p:cBhvr>
                                      <p:to>
                                        <p:strVal val="0.5"/>
                                      </p:to>
                                    </p:set>
                                    <p:animEffect filter="image" prLst="opacity: 0.5">
                                      <p:cBhvr rctx="IE">
                                        <p:cTn id="40" dur="indefinite"/>
                                        <p:tgtEl>
                                          <p:spTgt spid="44"/>
                                        </p:tgtEl>
                                      </p:cBhvr>
                                    </p:animEffect>
                                  </p:childTnLst>
                                </p:cTn>
                              </p:par>
                              <p:par>
                                <p:cTn id="41" presetID="1" presetClass="entr" presetSubtype="0" fill="hold" nodeType="withEffect">
                                  <p:stCondLst>
                                    <p:cond delay="2500"/>
                                  </p:stCondLst>
                                  <p:childTnLst>
                                    <p:set>
                                      <p:cBhvr>
                                        <p:cTn id="42" dur="1" fill="hold">
                                          <p:stCondLst>
                                            <p:cond delay="0"/>
                                          </p:stCondLst>
                                        </p:cTn>
                                        <p:tgtEl>
                                          <p:spTgt spid="61"/>
                                        </p:tgtEl>
                                        <p:attrNameLst>
                                          <p:attrName>style.visibility</p:attrName>
                                        </p:attrNameLst>
                                      </p:cBhvr>
                                      <p:to>
                                        <p:strVal val="visible"/>
                                      </p:to>
                                    </p:set>
                                  </p:childTnLst>
                                </p:cTn>
                              </p:par>
                              <p:par>
                                <p:cTn id="43" presetID="9" presetClass="emph" presetSubtype="0" nodeType="withEffect">
                                  <p:stCondLst>
                                    <p:cond delay="2500"/>
                                  </p:stCondLst>
                                  <p:childTnLst>
                                    <p:set>
                                      <p:cBhvr rctx="PPT">
                                        <p:cTn id="44" dur="indefinite"/>
                                        <p:tgtEl>
                                          <p:spTgt spid="61"/>
                                        </p:tgtEl>
                                        <p:attrNameLst>
                                          <p:attrName>style.opacity</p:attrName>
                                        </p:attrNameLst>
                                      </p:cBhvr>
                                      <p:to>
                                        <p:strVal val="0.5"/>
                                      </p:to>
                                    </p:set>
                                    <p:animEffect filter="image" prLst="opacity: 0.5">
                                      <p:cBhvr rctx="IE">
                                        <p:cTn id="45" dur="indefinite"/>
                                        <p:tgtEl>
                                          <p:spTgt spid="61"/>
                                        </p:tgtEl>
                                      </p:cBhvr>
                                    </p:animEffect>
                                  </p:childTnLst>
                                </p:cTn>
                              </p:par>
                            </p:childTnLst>
                          </p:cTn>
                        </p:par>
                        <p:par>
                          <p:cTn id="46" fill="hold">
                            <p:stCondLst>
                              <p:cond delay="6500"/>
                            </p:stCondLst>
                            <p:childTnLst>
                              <p:par>
                                <p:cTn id="47" presetID="1" presetClass="entr" presetSubtype="0" fill="hold" nodeType="afterEffect">
                                  <p:stCondLst>
                                    <p:cond delay="0"/>
                                  </p:stCondLst>
                                  <p:childTnLst>
                                    <p:set>
                                      <p:cBhvr>
                                        <p:cTn id="48" dur="1" fill="hold">
                                          <p:stCondLst>
                                            <p:cond delay="0"/>
                                          </p:stCondLst>
                                        </p:cTn>
                                        <p:tgtEl>
                                          <p:spTgt spid="53"/>
                                        </p:tgtEl>
                                        <p:attrNameLst>
                                          <p:attrName>style.visibility</p:attrName>
                                        </p:attrNameLst>
                                      </p:cBhvr>
                                      <p:to>
                                        <p:strVal val="visible"/>
                                      </p:to>
                                    </p:set>
                                  </p:childTnLst>
                                </p:cTn>
                              </p:par>
                              <p:par>
                                <p:cTn id="49" presetID="1" presetClass="exit" presetSubtype="0" fill="hold" nodeType="withEffect">
                                  <p:stCondLst>
                                    <p:cond delay="0"/>
                                  </p:stCondLst>
                                  <p:childTnLst>
                                    <p:set>
                                      <p:cBhvr>
                                        <p:cTn id="50" dur="1" fill="hold">
                                          <p:stCondLst>
                                            <p:cond delay="0"/>
                                          </p:stCondLst>
                                        </p:cTn>
                                        <p:tgtEl>
                                          <p:spTgt spid="7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utoUpdateAnimBg="0"/>
      <p:bldP spid="2" grpId="0" animBg="1"/>
      <p:bldP spid="74" grpId="0"/>
      <p:bldP spid="74" grpId="1"/>
      <p:bldP spid="75" grpId="0" animBg="1"/>
      <p:bldP spid="75" grpId="1"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4653838"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第七章   动力学普遍定理</a:t>
            </a:r>
          </a:p>
        </p:txBody>
      </p:sp>
      <p:sp>
        <p:nvSpPr>
          <p:cNvPr id="5" name="Rectangle 2"/>
          <p:cNvSpPr>
            <a:spLocks noChangeArrowheads="1"/>
          </p:cNvSpPr>
          <p:nvPr/>
        </p:nvSpPr>
        <p:spPr bwMode="auto">
          <a:xfrm>
            <a:off x="164442" y="928670"/>
            <a:ext cx="9747982"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3000" i="0" dirty="0">
                <a:solidFill>
                  <a:schemeClr val="accent6">
                    <a:lumMod val="75000"/>
                  </a:schemeClr>
                </a:solidFill>
                <a:latin typeface="+mn-lt"/>
                <a:ea typeface="微软雅黑" panose="020B0503020204020204" pitchFamily="34" charset="-122"/>
              </a:rPr>
              <a:t>§</a:t>
            </a:r>
            <a:r>
              <a:rPr lang="en-US" altLang="zh-CN" sz="3000" i="0" dirty="0" smtClean="0">
                <a:solidFill>
                  <a:schemeClr val="accent6">
                    <a:lumMod val="75000"/>
                  </a:schemeClr>
                </a:solidFill>
                <a:latin typeface="+mn-lt"/>
                <a:ea typeface="微软雅黑" panose="020B0503020204020204" pitchFamily="34" charset="-122"/>
              </a:rPr>
              <a:t>7-4  </a:t>
            </a:r>
            <a:r>
              <a:rPr lang="zh-CN" altLang="en-US" sz="3000" i="0" dirty="0">
                <a:solidFill>
                  <a:schemeClr val="accent6">
                    <a:lumMod val="75000"/>
                  </a:schemeClr>
                </a:solidFill>
                <a:latin typeface="+mn-lt"/>
                <a:ea typeface="微软雅黑" panose="020B0503020204020204" pitchFamily="34" charset="-122"/>
              </a:rPr>
              <a:t>动能定理</a:t>
            </a:r>
          </a:p>
        </p:txBody>
      </p:sp>
      <p:sp>
        <p:nvSpPr>
          <p:cNvPr id="52" name="Text Box 1032"/>
          <p:cNvSpPr txBox="1">
            <a:spLocks noChangeArrowheads="1"/>
          </p:cNvSpPr>
          <p:nvPr/>
        </p:nvSpPr>
        <p:spPr bwMode="auto">
          <a:xfrm>
            <a:off x="570416" y="1988840"/>
            <a:ext cx="10422128"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20000"/>
              </a:lnSpc>
            </a:pPr>
            <a:r>
              <a:rPr lang="zh-CN" altLang="en-US" sz="2800" i="0" dirty="0">
                <a:solidFill>
                  <a:srgbClr val="FF0000"/>
                </a:solidFill>
                <a:latin typeface="微软雅黑" panose="020B0503020204020204" pitchFamily="34" charset="-122"/>
                <a:ea typeface="微软雅黑" panose="020B0503020204020204" pitchFamily="34" charset="-122"/>
              </a:rPr>
              <a:t>常力在直线运动中的功 </a:t>
            </a:r>
            <a:endParaRPr lang="en-US" altLang="zh-CN" sz="2800" i="0" dirty="0">
              <a:solidFill>
                <a:srgbClr val="FF0000"/>
              </a:solidFill>
              <a:latin typeface="微软雅黑" panose="020B0503020204020204" pitchFamily="34" charset="-122"/>
              <a:ea typeface="微软雅黑" panose="020B0503020204020204" pitchFamily="34" charset="-122"/>
            </a:endParaRPr>
          </a:p>
          <a:p>
            <a:pPr algn="just">
              <a:lnSpc>
                <a:spcPct val="120000"/>
              </a:lnSpc>
            </a:pPr>
            <a:r>
              <a:rPr lang="zh-CN" altLang="en-US" sz="2800" i="0" dirty="0">
                <a:latin typeface="+mj-lt"/>
                <a:ea typeface="微软雅黑" panose="020B0503020204020204" pitchFamily="34" charset="-122"/>
              </a:rPr>
              <a:t>设有质点</a:t>
            </a:r>
            <a:r>
              <a:rPr kumimoji="1" lang="en-US" altLang="zh-CN" sz="2800" b="0" dirty="0">
                <a:latin typeface="+mn-lt"/>
                <a:ea typeface="微软雅黑" panose="020B0503020204020204" pitchFamily="34" charset="-122"/>
              </a:rPr>
              <a:t>M</a:t>
            </a:r>
            <a:r>
              <a:rPr kumimoji="1" lang="zh-CN" altLang="en-US" sz="2800" i="0" dirty="0">
                <a:latin typeface="+mn-lt"/>
                <a:ea typeface="微软雅黑" panose="020B0503020204020204" pitchFamily="34" charset="-122"/>
              </a:rPr>
              <a:t>，</a:t>
            </a:r>
            <a:r>
              <a:rPr lang="zh-CN" altLang="en-US" sz="2800" i="0" dirty="0">
                <a:latin typeface="+mn-lt"/>
                <a:ea typeface="微软雅黑" panose="020B0503020204020204" pitchFamily="34" charset="-122"/>
              </a:rPr>
              <a:t>在常力</a:t>
            </a:r>
            <a:r>
              <a:rPr lang="en-US" altLang="zh-CN" sz="2800" dirty="0">
                <a:latin typeface="+mn-lt"/>
                <a:ea typeface="微软雅黑" panose="020B0503020204020204" pitchFamily="34" charset="-122"/>
              </a:rPr>
              <a:t>F</a:t>
            </a:r>
            <a:r>
              <a:rPr lang="zh-CN" altLang="en-US" sz="2800" i="0" dirty="0">
                <a:latin typeface="+mn-lt"/>
                <a:ea typeface="微软雅黑" panose="020B0503020204020204" pitchFamily="34" charset="-122"/>
              </a:rPr>
              <a:t>作用下使质点上力的作用点</a:t>
            </a:r>
            <a:r>
              <a:rPr lang="en-US" altLang="zh-CN" sz="2800" b="0" dirty="0">
                <a:latin typeface="+mn-lt"/>
                <a:ea typeface="微软雅黑" panose="020B0503020204020204" pitchFamily="34" charset="-122"/>
              </a:rPr>
              <a:t>M</a:t>
            </a:r>
            <a:r>
              <a:rPr lang="en-US" altLang="zh-CN" sz="2800" b="0" i="0" baseline="-25000" dirty="0">
                <a:latin typeface="+mn-lt"/>
                <a:ea typeface="微软雅黑" panose="020B0503020204020204" pitchFamily="34" charset="-122"/>
              </a:rPr>
              <a:t>l</a:t>
            </a:r>
            <a:r>
              <a:rPr lang="zh-CN" altLang="en-US" sz="2800" i="0" dirty="0">
                <a:latin typeface="+mn-lt"/>
                <a:ea typeface="微软雅黑" panose="020B0503020204020204" pitchFamily="34" charset="-122"/>
              </a:rPr>
              <a:t>到</a:t>
            </a:r>
            <a:r>
              <a:rPr lang="en-US" altLang="zh-CN" sz="2800" b="0" dirty="0">
                <a:latin typeface="+mn-lt"/>
                <a:ea typeface="微软雅黑" panose="020B0503020204020204" pitchFamily="34" charset="-122"/>
              </a:rPr>
              <a:t>M</a:t>
            </a:r>
            <a:r>
              <a:rPr lang="en-US" altLang="zh-CN" sz="2800" b="0" i="0" baseline="-25000" dirty="0">
                <a:latin typeface="+mn-lt"/>
                <a:ea typeface="微软雅黑" panose="020B0503020204020204" pitchFamily="34" charset="-122"/>
              </a:rPr>
              <a:t>2</a:t>
            </a:r>
            <a:r>
              <a:rPr lang="zh-CN" altLang="en-US" sz="2800" i="0" dirty="0">
                <a:latin typeface="+mn-lt"/>
                <a:ea typeface="微软雅黑" panose="020B0503020204020204" pitchFamily="34" charset="-122"/>
              </a:rPr>
              <a:t>有一位移</a:t>
            </a:r>
            <a:r>
              <a:rPr lang="en-US" altLang="zh-CN" sz="2800" b="0" dirty="0">
                <a:latin typeface="+mn-lt"/>
                <a:ea typeface="微软雅黑" panose="020B0503020204020204" pitchFamily="34" charset="-122"/>
              </a:rPr>
              <a:t>s</a:t>
            </a:r>
            <a:r>
              <a:rPr lang="zh-CN" altLang="en-US" sz="2800" i="0" dirty="0">
                <a:latin typeface="+mn-lt"/>
                <a:ea typeface="微软雅黑" panose="020B0503020204020204" pitchFamily="34" charset="-122"/>
              </a:rPr>
              <a:t>，则力</a:t>
            </a:r>
            <a:r>
              <a:rPr lang="en-US" altLang="zh-CN" sz="2800" dirty="0">
                <a:latin typeface="+mn-lt"/>
                <a:ea typeface="微软雅黑" panose="020B0503020204020204" pitchFamily="34" charset="-122"/>
              </a:rPr>
              <a:t>F</a:t>
            </a:r>
            <a:r>
              <a:rPr lang="zh-CN" altLang="en-US" sz="2800" i="0" dirty="0">
                <a:latin typeface="+mn-lt"/>
                <a:ea typeface="微软雅黑" panose="020B0503020204020204" pitchFamily="34" charset="-122"/>
              </a:rPr>
              <a:t>所作的功为 </a:t>
            </a:r>
            <a:endParaRPr lang="en-US" altLang="zh-CN" sz="2800" i="0" dirty="0">
              <a:latin typeface="+mn-lt"/>
              <a:ea typeface="微软雅黑" panose="020B0503020204020204" pitchFamily="34" charset="-122"/>
            </a:endParaRPr>
          </a:p>
          <a:p>
            <a:pPr algn="just">
              <a:lnSpc>
                <a:spcPct val="120000"/>
              </a:lnSpc>
            </a:pPr>
            <a:r>
              <a:rPr lang="en-US" altLang="zh-CN" sz="2800" b="0" dirty="0"/>
              <a:t>               W</a:t>
            </a:r>
            <a:r>
              <a:rPr lang="zh-CN" altLang="en-US" sz="2800" i="0" dirty="0"/>
              <a:t>＝</a:t>
            </a:r>
            <a:r>
              <a:rPr lang="en-US" altLang="zh-CN" sz="2800" b="0" dirty="0" err="1"/>
              <a:t>Fs</a:t>
            </a:r>
            <a:r>
              <a:rPr lang="en-US" altLang="zh-CN" sz="2800" b="0" i="0" dirty="0" err="1"/>
              <a:t>cos</a:t>
            </a:r>
            <a:r>
              <a:rPr lang="en-US" altLang="zh-CN" sz="2800" b="0" dirty="0">
                <a:sym typeface="Symbol" panose="05050102010706020507" pitchFamily="18" charset="2"/>
              </a:rPr>
              <a:t>      </a:t>
            </a:r>
            <a:r>
              <a:rPr lang="zh-CN" altLang="en-US" sz="2800" i="0" dirty="0">
                <a:ea typeface="微软雅黑" panose="020B0503020204020204" pitchFamily="34" charset="-122"/>
              </a:rPr>
              <a:t>或</a:t>
            </a:r>
            <a:r>
              <a:rPr lang="zh-CN" altLang="en-US" sz="2800" dirty="0"/>
              <a:t>     </a:t>
            </a:r>
            <a:r>
              <a:rPr lang="en-US" altLang="zh-CN" sz="2800" dirty="0"/>
              <a:t> </a:t>
            </a:r>
            <a:r>
              <a:rPr lang="en-US" altLang="zh-CN" sz="2800" b="0" dirty="0"/>
              <a:t>W</a:t>
            </a:r>
            <a:r>
              <a:rPr lang="zh-CN" altLang="en-US" sz="2800" b="0" i="0" dirty="0"/>
              <a:t>＝</a:t>
            </a:r>
            <a:r>
              <a:rPr lang="en-US" altLang="zh-CN" sz="2800" dirty="0"/>
              <a:t>F</a:t>
            </a:r>
            <a:r>
              <a:rPr lang="en-US" altLang="zh-CN" sz="2800" b="0" dirty="0"/>
              <a:t>·</a:t>
            </a:r>
            <a:r>
              <a:rPr lang="en-US" altLang="zh-CN" sz="2800" dirty="0"/>
              <a:t>s    </a:t>
            </a:r>
            <a:r>
              <a:rPr lang="zh-CN" altLang="en-US" sz="2800" i="0" dirty="0">
                <a:solidFill>
                  <a:srgbClr val="FF00FF"/>
                </a:solidFill>
                <a:latin typeface="+mn-lt"/>
                <a:ea typeface="微软雅黑" panose="020B0503020204020204" pitchFamily="34" charset="-122"/>
              </a:rPr>
              <a:t>功是代数量</a:t>
            </a:r>
            <a:r>
              <a:rPr lang="en-US" altLang="zh-CN" sz="2800" i="0" dirty="0">
                <a:solidFill>
                  <a:srgbClr val="FF00FF"/>
                </a:solidFill>
                <a:latin typeface="+mn-lt"/>
                <a:ea typeface="微软雅黑" panose="020B0503020204020204" pitchFamily="34" charset="-122"/>
              </a:rPr>
              <a:t>   J</a:t>
            </a:r>
            <a:r>
              <a:rPr lang="zh-CN" altLang="en-US" sz="2800" i="0" dirty="0">
                <a:solidFill>
                  <a:srgbClr val="FF00FF"/>
                </a:solidFill>
                <a:latin typeface="+mn-lt"/>
                <a:ea typeface="微软雅黑" panose="020B0503020204020204" pitchFamily="34" charset="-122"/>
              </a:rPr>
              <a:t>（焦耳）</a:t>
            </a:r>
          </a:p>
          <a:p>
            <a:pPr algn="just">
              <a:lnSpc>
                <a:spcPct val="120000"/>
              </a:lnSpc>
            </a:pPr>
            <a:endParaRPr lang="zh-CN" altLang="en-US" sz="2800" i="0" dirty="0">
              <a:latin typeface="+mn-lt"/>
              <a:ea typeface="微软雅黑" panose="020B0503020204020204" pitchFamily="34" charset="-122"/>
            </a:endParaRPr>
          </a:p>
        </p:txBody>
      </p:sp>
      <p:sp>
        <p:nvSpPr>
          <p:cNvPr id="6" name="矩形 5"/>
          <p:cNvSpPr/>
          <p:nvPr/>
        </p:nvSpPr>
        <p:spPr>
          <a:xfrm>
            <a:off x="3904597" y="1389509"/>
            <a:ext cx="1441420" cy="1237262"/>
          </a:xfrm>
          <a:prstGeom prst="rect">
            <a:avLst/>
          </a:prstGeom>
        </p:spPr>
        <p:txBody>
          <a:bodyPr wrap="none">
            <a:spAutoFit/>
          </a:bodyPr>
          <a:lstStyle/>
          <a:p>
            <a:pPr>
              <a:lnSpc>
                <a:spcPct val="120000"/>
              </a:lnSpc>
            </a:pPr>
            <a:r>
              <a:rPr lang="zh-CN" altLang="en-US" sz="3000" i="0" dirty="0">
                <a:solidFill>
                  <a:srgbClr val="4F81BD"/>
                </a:solidFill>
                <a:latin typeface="微软雅黑" panose="020B0503020204020204" pitchFamily="34" charset="-122"/>
                <a:ea typeface="微软雅黑" panose="020B0503020204020204" pitchFamily="34" charset="-122"/>
              </a:rPr>
              <a:t>力的功</a:t>
            </a:r>
            <a:r>
              <a:rPr lang="zh-CN" altLang="en-US" sz="3200" dirty="0"/>
              <a:t> </a:t>
            </a:r>
          </a:p>
          <a:p>
            <a:pPr>
              <a:lnSpc>
                <a:spcPct val="120000"/>
              </a:lnSpc>
            </a:pPr>
            <a:endParaRPr lang="zh-CN" altLang="en-US" sz="3000" i="0" dirty="0">
              <a:solidFill>
                <a:srgbClr val="4F81BD"/>
              </a:solidFill>
              <a:latin typeface="微软雅黑" panose="020B0503020204020204" pitchFamily="34" charset="-122"/>
              <a:ea typeface="微软雅黑" panose="020B0503020204020204" pitchFamily="34" charset="-122"/>
            </a:endParaRPr>
          </a:p>
        </p:txBody>
      </p:sp>
      <p:sp>
        <p:nvSpPr>
          <p:cNvPr id="2" name="Rectangle 61">
            <a:extLst>
              <a:ext uri="{FF2B5EF4-FFF2-40B4-BE49-F238E27FC236}">
                <a16:creationId xmlns:a16="http://schemas.microsoft.com/office/drawing/2014/main" id="{7C7AC23E-A1CE-03F9-D8A4-D45156EAD5C0}"/>
              </a:ext>
            </a:extLst>
          </p:cNvPr>
          <p:cNvSpPr>
            <a:spLocks noChangeArrowheads="1"/>
          </p:cNvSpPr>
          <p:nvPr/>
        </p:nvSpPr>
        <p:spPr bwMode="auto">
          <a:xfrm>
            <a:off x="335360" y="4365104"/>
            <a:ext cx="11695287" cy="1872208"/>
          </a:xfrm>
          <a:prstGeom prst="rect">
            <a:avLst/>
          </a:prstGeom>
          <a:solidFill>
            <a:srgbClr val="B9CDE5"/>
          </a:solidFill>
          <a:ln>
            <a:noFill/>
          </a:ln>
          <a:effectLst/>
        </p:spPr>
        <p:txBody>
          <a:bodyPr wrap="none" anchor="ctr"/>
          <a:lstStyle/>
          <a:p>
            <a:endParaRPr lang="zh-CN" altLang="en-US"/>
          </a:p>
        </p:txBody>
      </p:sp>
      <p:sp>
        <p:nvSpPr>
          <p:cNvPr id="41" name="Rectangle 4"/>
          <p:cNvSpPr>
            <a:spLocks noChangeArrowheads="1"/>
          </p:cNvSpPr>
          <p:nvPr/>
        </p:nvSpPr>
        <p:spPr bwMode="auto">
          <a:xfrm>
            <a:off x="407368" y="5511166"/>
            <a:ext cx="11449272" cy="650875"/>
          </a:xfrm>
          <a:prstGeom prst="rect">
            <a:avLst/>
          </a:prstGeom>
          <a:gradFill rotWithShape="1">
            <a:gsLst>
              <a:gs pos="0">
                <a:srgbClr val="C0C0C0"/>
              </a:gs>
              <a:gs pos="100000">
                <a:srgbClr val="C0C0C0">
                  <a:gamma/>
                  <a:shade val="46275"/>
                  <a:invGamma/>
                </a:srgbClr>
              </a:gs>
            </a:gsLst>
            <a:lin ang="5400000" scaled="1"/>
          </a:gradFill>
          <a:ln w="571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44" name="Group 5"/>
          <p:cNvGrpSpPr>
            <a:grpSpLocks/>
          </p:cNvGrpSpPr>
          <p:nvPr/>
        </p:nvGrpSpPr>
        <p:grpSpPr bwMode="auto">
          <a:xfrm>
            <a:off x="2073896" y="4549141"/>
            <a:ext cx="1558926" cy="950912"/>
            <a:chOff x="450" y="3308"/>
            <a:chExt cx="982" cy="599"/>
          </a:xfrm>
        </p:grpSpPr>
        <p:sp>
          <p:nvSpPr>
            <p:cNvPr id="45" name="Text Box 6"/>
            <p:cNvSpPr txBox="1">
              <a:spLocks noChangeArrowheads="1"/>
            </p:cNvSpPr>
            <p:nvPr/>
          </p:nvSpPr>
          <p:spPr bwMode="auto">
            <a:xfrm>
              <a:off x="987" y="3308"/>
              <a:ext cx="44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spcBef>
                  <a:spcPct val="50000"/>
                </a:spcBef>
              </a:pPr>
              <a:r>
                <a:rPr lang="en-US" altLang="zh-CN" b="1" i="1" dirty="0">
                  <a:solidFill>
                    <a:srgbClr val="FFFF00"/>
                  </a:solidFill>
                  <a:latin typeface="+mn-lt"/>
                  <a:ea typeface="宋体" panose="02010600030101010101" pitchFamily="2" charset="-122"/>
                </a:rPr>
                <a:t>F</a:t>
              </a:r>
            </a:p>
          </p:txBody>
        </p:sp>
        <p:sp>
          <p:nvSpPr>
            <p:cNvPr id="46" name="Rectangle 7"/>
            <p:cNvSpPr>
              <a:spLocks noChangeArrowheads="1"/>
            </p:cNvSpPr>
            <p:nvPr/>
          </p:nvSpPr>
          <p:spPr bwMode="auto">
            <a:xfrm>
              <a:off x="450" y="3646"/>
              <a:ext cx="591" cy="253"/>
            </a:xfrm>
            <a:prstGeom prst="rect">
              <a:avLst/>
            </a:prstGeom>
            <a:gradFill rotWithShape="1">
              <a:gsLst>
                <a:gs pos="0">
                  <a:srgbClr val="009900"/>
                </a:gs>
                <a:gs pos="50000">
                  <a:srgbClr val="00FF00"/>
                </a:gs>
                <a:gs pos="100000">
                  <a:srgbClr val="009900"/>
                </a:gs>
              </a:gsLst>
              <a:lin ang="0" scaled="1"/>
            </a:gra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 name="Line 8"/>
            <p:cNvSpPr>
              <a:spLocks noChangeShapeType="1"/>
            </p:cNvSpPr>
            <p:nvPr/>
          </p:nvSpPr>
          <p:spPr bwMode="auto">
            <a:xfrm>
              <a:off x="774" y="3767"/>
              <a:ext cx="585" cy="0"/>
            </a:xfrm>
            <a:prstGeom prst="line">
              <a:avLst/>
            </a:prstGeom>
            <a:noFill/>
            <a:ln w="12700">
              <a:solidFill>
                <a:schemeClr val="bg1"/>
              </a:solidFill>
              <a:round/>
              <a:headE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 name="Text Box 9"/>
            <p:cNvSpPr txBox="1">
              <a:spLocks noChangeArrowheads="1"/>
            </p:cNvSpPr>
            <p:nvPr/>
          </p:nvSpPr>
          <p:spPr bwMode="auto">
            <a:xfrm>
              <a:off x="459" y="3619"/>
              <a:ext cx="44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spcBef>
                  <a:spcPct val="50000"/>
                </a:spcBef>
              </a:pPr>
              <a:r>
                <a:rPr lang="en-US" altLang="zh-CN" i="1">
                  <a:solidFill>
                    <a:schemeClr val="tx1"/>
                  </a:solidFill>
                  <a:latin typeface="" pitchFamily="18" charset="-52"/>
                  <a:ea typeface="宋体" panose="02010600030101010101" pitchFamily="2" charset="-122"/>
                </a:rPr>
                <a:t>M</a:t>
              </a:r>
              <a:r>
                <a:rPr lang="en-US" altLang="zh-CN" baseline="-25000">
                  <a:solidFill>
                    <a:schemeClr val="tx1"/>
                  </a:solidFill>
                  <a:latin typeface="" pitchFamily="18" charset="-52"/>
                  <a:ea typeface="宋体" panose="02010600030101010101" pitchFamily="2" charset="-122"/>
                </a:rPr>
                <a:t>1</a:t>
              </a:r>
            </a:p>
          </p:txBody>
        </p:sp>
        <p:sp>
          <p:nvSpPr>
            <p:cNvPr id="49" name="Line 10"/>
            <p:cNvSpPr>
              <a:spLocks noChangeShapeType="1"/>
            </p:cNvSpPr>
            <p:nvPr/>
          </p:nvSpPr>
          <p:spPr bwMode="auto">
            <a:xfrm flipV="1">
              <a:off x="751" y="3534"/>
              <a:ext cx="489" cy="236"/>
            </a:xfrm>
            <a:prstGeom prst="line">
              <a:avLst/>
            </a:prstGeom>
            <a:noFill/>
            <a:ln w="38100">
              <a:solidFill>
                <a:srgbClr val="FFFF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 name="Arc 11"/>
            <p:cNvSpPr>
              <a:spLocks/>
            </p:cNvSpPr>
            <p:nvPr/>
          </p:nvSpPr>
          <p:spPr bwMode="auto">
            <a:xfrm>
              <a:off x="1065" y="3639"/>
              <a:ext cx="56" cy="14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127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 name="Text Box 12"/>
            <p:cNvSpPr txBox="1">
              <a:spLocks noChangeArrowheads="1"/>
            </p:cNvSpPr>
            <p:nvPr/>
          </p:nvSpPr>
          <p:spPr bwMode="auto">
            <a:xfrm>
              <a:off x="1052" y="3501"/>
              <a:ext cx="36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spcBef>
                  <a:spcPct val="50000"/>
                </a:spcBef>
              </a:pPr>
              <a:r>
                <a:rPr lang="en-US" altLang="zh-CN" i="1">
                  <a:latin typeface="" pitchFamily="18" charset="-52"/>
                  <a:ea typeface="宋体" panose="02010600030101010101" pitchFamily="2" charset="-122"/>
                  <a:sym typeface="Symbol" panose="05050102010706020507" pitchFamily="18" charset="2"/>
                </a:rPr>
                <a:t></a:t>
              </a:r>
              <a:endParaRPr lang="en-US" altLang="zh-CN" baseline="-25000">
                <a:latin typeface="" pitchFamily="18" charset="-52"/>
                <a:ea typeface="宋体" panose="02010600030101010101" pitchFamily="2" charset="-122"/>
                <a:sym typeface="Symbol" panose="05050102010706020507" pitchFamily="18" charset="2"/>
              </a:endParaRPr>
            </a:p>
          </p:txBody>
        </p:sp>
      </p:grpSp>
      <p:grpSp>
        <p:nvGrpSpPr>
          <p:cNvPr id="53" name="Group 13"/>
          <p:cNvGrpSpPr>
            <a:grpSpLocks/>
          </p:cNvGrpSpPr>
          <p:nvPr/>
        </p:nvGrpSpPr>
        <p:grpSpPr bwMode="auto">
          <a:xfrm>
            <a:off x="7985746" y="4541203"/>
            <a:ext cx="1558925" cy="950913"/>
            <a:chOff x="450" y="3308"/>
            <a:chExt cx="982" cy="599"/>
          </a:xfrm>
        </p:grpSpPr>
        <p:sp>
          <p:nvSpPr>
            <p:cNvPr id="54" name="Text Box 14"/>
            <p:cNvSpPr txBox="1">
              <a:spLocks noChangeArrowheads="1"/>
            </p:cNvSpPr>
            <p:nvPr/>
          </p:nvSpPr>
          <p:spPr bwMode="auto">
            <a:xfrm>
              <a:off x="987" y="3308"/>
              <a:ext cx="44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spcBef>
                  <a:spcPct val="50000"/>
                </a:spcBef>
              </a:pPr>
              <a:r>
                <a:rPr lang="en-US" altLang="zh-CN" b="1" i="1" dirty="0">
                  <a:solidFill>
                    <a:srgbClr val="FFFF00"/>
                  </a:solidFill>
                  <a:latin typeface="+mj-lt"/>
                  <a:ea typeface="宋体" panose="02010600030101010101" pitchFamily="2" charset="-122"/>
                </a:rPr>
                <a:t>F</a:t>
              </a:r>
            </a:p>
          </p:txBody>
        </p:sp>
        <p:sp>
          <p:nvSpPr>
            <p:cNvPr id="55" name="Rectangle 15"/>
            <p:cNvSpPr>
              <a:spLocks noChangeArrowheads="1"/>
            </p:cNvSpPr>
            <p:nvPr/>
          </p:nvSpPr>
          <p:spPr bwMode="auto">
            <a:xfrm>
              <a:off x="450" y="3646"/>
              <a:ext cx="591" cy="253"/>
            </a:xfrm>
            <a:prstGeom prst="rect">
              <a:avLst/>
            </a:prstGeom>
            <a:gradFill rotWithShape="1">
              <a:gsLst>
                <a:gs pos="0">
                  <a:srgbClr val="009900"/>
                </a:gs>
                <a:gs pos="50000">
                  <a:srgbClr val="00FF00"/>
                </a:gs>
                <a:gs pos="100000">
                  <a:srgbClr val="009900"/>
                </a:gs>
              </a:gsLst>
              <a:lin ang="0" scaled="1"/>
            </a:gra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 name="Line 16"/>
            <p:cNvSpPr>
              <a:spLocks noChangeShapeType="1"/>
            </p:cNvSpPr>
            <p:nvPr/>
          </p:nvSpPr>
          <p:spPr bwMode="auto">
            <a:xfrm>
              <a:off x="774" y="3767"/>
              <a:ext cx="585" cy="0"/>
            </a:xfrm>
            <a:prstGeom prst="line">
              <a:avLst/>
            </a:prstGeom>
            <a:noFill/>
            <a:ln w="12700">
              <a:solidFill>
                <a:schemeClr val="bg1"/>
              </a:solidFill>
              <a:round/>
              <a:headE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 name="Text Box 17"/>
            <p:cNvSpPr txBox="1">
              <a:spLocks noChangeArrowheads="1"/>
            </p:cNvSpPr>
            <p:nvPr/>
          </p:nvSpPr>
          <p:spPr bwMode="auto">
            <a:xfrm>
              <a:off x="459" y="3619"/>
              <a:ext cx="44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spcBef>
                  <a:spcPct val="50000"/>
                </a:spcBef>
              </a:pPr>
              <a:r>
                <a:rPr lang="en-US" altLang="zh-CN" i="1" dirty="0">
                  <a:solidFill>
                    <a:schemeClr val="tx1"/>
                  </a:solidFill>
                  <a:latin typeface="" pitchFamily="18" charset="-52"/>
                  <a:ea typeface="宋体" panose="02010600030101010101" pitchFamily="2" charset="-122"/>
                </a:rPr>
                <a:t>M</a:t>
              </a:r>
              <a:r>
                <a:rPr lang="en-US" altLang="zh-CN" baseline="-25000" dirty="0">
                  <a:solidFill>
                    <a:schemeClr val="tx1"/>
                  </a:solidFill>
                  <a:latin typeface="" pitchFamily="18" charset="-52"/>
                  <a:ea typeface="宋体" panose="02010600030101010101" pitchFamily="2" charset="-122"/>
                </a:rPr>
                <a:t>2</a:t>
              </a:r>
            </a:p>
          </p:txBody>
        </p:sp>
        <p:sp>
          <p:nvSpPr>
            <p:cNvPr id="58" name="Line 18"/>
            <p:cNvSpPr>
              <a:spLocks noChangeShapeType="1"/>
            </p:cNvSpPr>
            <p:nvPr/>
          </p:nvSpPr>
          <p:spPr bwMode="auto">
            <a:xfrm flipV="1">
              <a:off x="751" y="3534"/>
              <a:ext cx="489" cy="236"/>
            </a:xfrm>
            <a:prstGeom prst="line">
              <a:avLst/>
            </a:prstGeom>
            <a:noFill/>
            <a:ln w="38100">
              <a:solidFill>
                <a:srgbClr val="FFFF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 name="Arc 19"/>
            <p:cNvSpPr>
              <a:spLocks/>
            </p:cNvSpPr>
            <p:nvPr/>
          </p:nvSpPr>
          <p:spPr bwMode="auto">
            <a:xfrm>
              <a:off x="1065" y="3639"/>
              <a:ext cx="56" cy="14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127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 name="Text Box 20"/>
            <p:cNvSpPr txBox="1">
              <a:spLocks noChangeArrowheads="1"/>
            </p:cNvSpPr>
            <p:nvPr/>
          </p:nvSpPr>
          <p:spPr bwMode="auto">
            <a:xfrm>
              <a:off x="1052" y="3501"/>
              <a:ext cx="36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spcBef>
                  <a:spcPct val="50000"/>
                </a:spcBef>
              </a:pPr>
              <a:r>
                <a:rPr lang="en-US" altLang="zh-CN" i="1">
                  <a:latin typeface="" pitchFamily="18" charset="-52"/>
                  <a:ea typeface="宋体" panose="02010600030101010101" pitchFamily="2" charset="-122"/>
                  <a:sym typeface="Symbol" panose="05050102010706020507" pitchFamily="18" charset="2"/>
                </a:rPr>
                <a:t></a:t>
              </a:r>
              <a:endParaRPr lang="en-US" altLang="zh-CN" baseline="-25000">
                <a:latin typeface="" pitchFamily="18" charset="-52"/>
                <a:ea typeface="宋体" panose="02010600030101010101" pitchFamily="2" charset="-122"/>
                <a:sym typeface="Symbol" panose="05050102010706020507" pitchFamily="18" charset="2"/>
              </a:endParaRPr>
            </a:p>
          </p:txBody>
        </p:sp>
      </p:grpSp>
      <p:grpSp>
        <p:nvGrpSpPr>
          <p:cNvPr id="61" name="Group 21"/>
          <p:cNvGrpSpPr>
            <a:grpSpLocks/>
          </p:cNvGrpSpPr>
          <p:nvPr/>
        </p:nvGrpSpPr>
        <p:grpSpPr bwMode="auto">
          <a:xfrm>
            <a:off x="5228258" y="4528503"/>
            <a:ext cx="1558925" cy="950913"/>
            <a:chOff x="450" y="3308"/>
            <a:chExt cx="982" cy="599"/>
          </a:xfrm>
        </p:grpSpPr>
        <p:sp>
          <p:nvSpPr>
            <p:cNvPr id="62" name="Text Box 22"/>
            <p:cNvSpPr txBox="1">
              <a:spLocks noChangeArrowheads="1"/>
            </p:cNvSpPr>
            <p:nvPr/>
          </p:nvSpPr>
          <p:spPr bwMode="auto">
            <a:xfrm>
              <a:off x="987" y="3308"/>
              <a:ext cx="44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spcBef>
                  <a:spcPct val="50000"/>
                </a:spcBef>
              </a:pPr>
              <a:r>
                <a:rPr lang="en-US" altLang="zh-CN" b="1" i="1" dirty="0">
                  <a:solidFill>
                    <a:srgbClr val="FFFF00"/>
                  </a:solidFill>
                  <a:latin typeface="+mn-lt"/>
                  <a:ea typeface="宋体" panose="02010600030101010101" pitchFamily="2" charset="-122"/>
                </a:rPr>
                <a:t>F</a:t>
              </a:r>
            </a:p>
          </p:txBody>
        </p:sp>
        <p:sp>
          <p:nvSpPr>
            <p:cNvPr id="63" name="Rectangle 23"/>
            <p:cNvSpPr>
              <a:spLocks noChangeArrowheads="1"/>
            </p:cNvSpPr>
            <p:nvPr/>
          </p:nvSpPr>
          <p:spPr bwMode="auto">
            <a:xfrm>
              <a:off x="450" y="3646"/>
              <a:ext cx="591" cy="253"/>
            </a:xfrm>
            <a:prstGeom prst="rect">
              <a:avLst/>
            </a:prstGeom>
            <a:gradFill rotWithShape="1">
              <a:gsLst>
                <a:gs pos="0">
                  <a:srgbClr val="009900"/>
                </a:gs>
                <a:gs pos="50000">
                  <a:srgbClr val="00FF00"/>
                </a:gs>
                <a:gs pos="100000">
                  <a:srgbClr val="009900"/>
                </a:gs>
              </a:gsLst>
              <a:lin ang="0" scaled="1"/>
            </a:gra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 name="Line 24"/>
            <p:cNvSpPr>
              <a:spLocks noChangeShapeType="1"/>
            </p:cNvSpPr>
            <p:nvPr/>
          </p:nvSpPr>
          <p:spPr bwMode="auto">
            <a:xfrm>
              <a:off x="774" y="3767"/>
              <a:ext cx="585" cy="0"/>
            </a:xfrm>
            <a:prstGeom prst="line">
              <a:avLst/>
            </a:prstGeom>
            <a:noFill/>
            <a:ln w="12700">
              <a:solidFill>
                <a:schemeClr val="bg1"/>
              </a:solidFill>
              <a:round/>
              <a:headE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 name="Text Box 25"/>
            <p:cNvSpPr txBox="1">
              <a:spLocks noChangeArrowheads="1"/>
            </p:cNvSpPr>
            <p:nvPr/>
          </p:nvSpPr>
          <p:spPr bwMode="auto">
            <a:xfrm>
              <a:off x="459" y="3619"/>
              <a:ext cx="44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spcBef>
                  <a:spcPct val="50000"/>
                </a:spcBef>
              </a:pPr>
              <a:r>
                <a:rPr lang="en-US" altLang="zh-CN" i="1">
                  <a:solidFill>
                    <a:schemeClr val="tx1"/>
                  </a:solidFill>
                  <a:latin typeface="" pitchFamily="18" charset="-52"/>
                  <a:ea typeface="宋体" panose="02010600030101010101" pitchFamily="2" charset="-122"/>
                </a:rPr>
                <a:t>M</a:t>
              </a:r>
              <a:endParaRPr lang="en-US" altLang="zh-CN" baseline="-25000">
                <a:solidFill>
                  <a:schemeClr val="tx1"/>
                </a:solidFill>
                <a:latin typeface="" pitchFamily="18" charset="-52"/>
                <a:ea typeface="宋体" panose="02010600030101010101" pitchFamily="2" charset="-122"/>
              </a:endParaRPr>
            </a:p>
          </p:txBody>
        </p:sp>
        <p:sp>
          <p:nvSpPr>
            <p:cNvPr id="66" name="Line 26"/>
            <p:cNvSpPr>
              <a:spLocks noChangeShapeType="1"/>
            </p:cNvSpPr>
            <p:nvPr/>
          </p:nvSpPr>
          <p:spPr bwMode="auto">
            <a:xfrm flipV="1">
              <a:off x="751" y="3534"/>
              <a:ext cx="489" cy="236"/>
            </a:xfrm>
            <a:prstGeom prst="line">
              <a:avLst/>
            </a:prstGeom>
            <a:noFill/>
            <a:ln w="38100">
              <a:solidFill>
                <a:srgbClr val="FFFF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 name="Arc 27"/>
            <p:cNvSpPr>
              <a:spLocks/>
            </p:cNvSpPr>
            <p:nvPr/>
          </p:nvSpPr>
          <p:spPr bwMode="auto">
            <a:xfrm>
              <a:off x="1065" y="3639"/>
              <a:ext cx="56" cy="14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127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 name="Text Box 28"/>
            <p:cNvSpPr txBox="1">
              <a:spLocks noChangeArrowheads="1"/>
            </p:cNvSpPr>
            <p:nvPr/>
          </p:nvSpPr>
          <p:spPr bwMode="auto">
            <a:xfrm>
              <a:off x="1052" y="3501"/>
              <a:ext cx="36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spcBef>
                  <a:spcPct val="50000"/>
                </a:spcBef>
              </a:pPr>
              <a:r>
                <a:rPr lang="en-US" altLang="zh-CN" i="1">
                  <a:latin typeface="" pitchFamily="18" charset="-52"/>
                  <a:ea typeface="宋体" panose="02010600030101010101" pitchFamily="2" charset="-122"/>
                  <a:sym typeface="Symbol" panose="05050102010706020507" pitchFamily="18" charset="2"/>
                </a:rPr>
                <a:t></a:t>
              </a:r>
              <a:endParaRPr lang="en-US" altLang="zh-CN" baseline="-25000">
                <a:latin typeface="" pitchFamily="18" charset="-52"/>
                <a:ea typeface="宋体" panose="02010600030101010101" pitchFamily="2" charset="-122"/>
                <a:sym typeface="Symbol" panose="05050102010706020507" pitchFamily="18" charset="2"/>
              </a:endParaRPr>
            </a:p>
          </p:txBody>
        </p:sp>
      </p:grpSp>
      <p:grpSp>
        <p:nvGrpSpPr>
          <p:cNvPr id="69" name="Group 29"/>
          <p:cNvGrpSpPr>
            <a:grpSpLocks/>
          </p:cNvGrpSpPr>
          <p:nvPr/>
        </p:nvGrpSpPr>
        <p:grpSpPr bwMode="auto">
          <a:xfrm>
            <a:off x="2567608" y="4882516"/>
            <a:ext cx="5883275" cy="1295400"/>
            <a:chOff x="840" y="3523"/>
            <a:chExt cx="3706" cy="816"/>
          </a:xfrm>
        </p:grpSpPr>
        <p:sp>
          <p:nvSpPr>
            <p:cNvPr id="70" name="Line 30"/>
            <p:cNvSpPr>
              <a:spLocks noChangeShapeType="1"/>
            </p:cNvSpPr>
            <p:nvPr/>
          </p:nvSpPr>
          <p:spPr bwMode="auto">
            <a:xfrm>
              <a:off x="840" y="4181"/>
              <a:ext cx="3706" cy="0"/>
            </a:xfrm>
            <a:prstGeom prst="line">
              <a:avLst/>
            </a:prstGeom>
            <a:noFill/>
            <a:ln w="9525">
              <a:solidFill>
                <a:schemeClr val="tx1"/>
              </a:solidFill>
              <a:round/>
              <a:headEnd type="stealth"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1" name="Text Box 31"/>
            <p:cNvSpPr txBox="1">
              <a:spLocks noChangeArrowheads="1"/>
            </p:cNvSpPr>
            <p:nvPr/>
          </p:nvSpPr>
          <p:spPr bwMode="auto">
            <a:xfrm>
              <a:off x="2624" y="3828"/>
              <a:ext cx="286"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spcBef>
                  <a:spcPct val="50000"/>
                </a:spcBef>
              </a:pPr>
              <a:r>
                <a:rPr lang="en-US" altLang="zh-CN" sz="3200" i="1">
                  <a:solidFill>
                    <a:schemeClr val="tx1"/>
                  </a:solidFill>
                  <a:sym typeface="Symbol" panose="05050102010706020507" pitchFamily="18" charset="2"/>
                </a:rPr>
                <a:t>s</a:t>
              </a:r>
            </a:p>
          </p:txBody>
        </p:sp>
        <p:sp>
          <p:nvSpPr>
            <p:cNvPr id="72" name="Line 32"/>
            <p:cNvSpPr>
              <a:spLocks noChangeShapeType="1"/>
            </p:cNvSpPr>
            <p:nvPr/>
          </p:nvSpPr>
          <p:spPr bwMode="auto">
            <a:xfrm flipV="1">
              <a:off x="843" y="3606"/>
              <a:ext cx="0" cy="73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3" name="Line 33"/>
            <p:cNvSpPr>
              <a:spLocks noChangeShapeType="1"/>
            </p:cNvSpPr>
            <p:nvPr/>
          </p:nvSpPr>
          <p:spPr bwMode="auto">
            <a:xfrm flipV="1">
              <a:off x="4545" y="3523"/>
              <a:ext cx="0" cy="81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74" name="Text Box 34"/>
          <p:cNvSpPr txBox="1">
            <a:spLocks noChangeAspect="1" noChangeArrowheads="1"/>
          </p:cNvSpPr>
          <p:nvPr/>
        </p:nvSpPr>
        <p:spPr bwMode="auto">
          <a:xfrm>
            <a:off x="2010397" y="4468863"/>
            <a:ext cx="504825" cy="462866"/>
          </a:xfrm>
          <a:prstGeom prst="rect">
            <a:avLst/>
          </a:prstGeom>
          <a:noFill/>
          <a:ln>
            <a:noFill/>
          </a:ln>
          <a:effectLst/>
        </p:spPr>
        <p:txBody>
          <a:bodyPr/>
          <a:lstStyle/>
          <a:p>
            <a:r>
              <a:rPr lang="en-US" altLang="zh-CN" sz="2800" b="1" i="1" dirty="0">
                <a:latin typeface="+mn-lt"/>
                <a:ea typeface="宋体" panose="02010600030101010101" pitchFamily="2" charset="-122"/>
              </a:rPr>
              <a:t>v</a:t>
            </a:r>
            <a:endParaRPr lang="en-US" altLang="zh-CN" sz="2800" baseline="-25000" dirty="0">
              <a:latin typeface="+mn-lt"/>
              <a:ea typeface="宋体" panose="02010600030101010101" pitchFamily="2" charset="-122"/>
            </a:endParaRPr>
          </a:p>
        </p:txBody>
      </p:sp>
      <p:sp>
        <p:nvSpPr>
          <p:cNvPr id="75" name="Line 35"/>
          <p:cNvSpPr>
            <a:spLocks noChangeAspect="1" noChangeShapeType="1"/>
          </p:cNvSpPr>
          <p:nvPr/>
        </p:nvSpPr>
        <p:spPr bwMode="auto">
          <a:xfrm>
            <a:off x="2266351" y="4844552"/>
            <a:ext cx="539750" cy="1588"/>
          </a:xfrm>
          <a:prstGeom prst="line">
            <a:avLst/>
          </a:prstGeom>
          <a:noFill/>
          <a:ln w="28575">
            <a:solidFill>
              <a:srgbClr val="FF33CC"/>
            </a:solidFill>
            <a:round/>
            <a:headEnd type="none" w="sm"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nvGrpSpPr>
          <p:cNvPr id="76" name="Group 36"/>
          <p:cNvGrpSpPr>
            <a:grpSpLocks/>
          </p:cNvGrpSpPr>
          <p:nvPr/>
        </p:nvGrpSpPr>
        <p:grpSpPr bwMode="auto">
          <a:xfrm>
            <a:off x="2075483" y="4560256"/>
            <a:ext cx="1555750" cy="942976"/>
            <a:chOff x="450" y="3316"/>
            <a:chExt cx="980" cy="594"/>
          </a:xfrm>
        </p:grpSpPr>
        <p:sp>
          <p:nvSpPr>
            <p:cNvPr id="77" name="Text Box 37"/>
            <p:cNvSpPr txBox="1">
              <a:spLocks noChangeArrowheads="1"/>
            </p:cNvSpPr>
            <p:nvPr/>
          </p:nvSpPr>
          <p:spPr bwMode="auto">
            <a:xfrm>
              <a:off x="985" y="3316"/>
              <a:ext cx="44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spcBef>
                  <a:spcPct val="50000"/>
                </a:spcBef>
              </a:pPr>
              <a:r>
                <a:rPr lang="en-US" altLang="zh-CN" dirty="0">
                  <a:solidFill>
                    <a:srgbClr val="FFFF00"/>
                  </a:solidFill>
                  <a:latin typeface="+mn-lt"/>
                </a:rPr>
                <a:t>F</a:t>
              </a:r>
            </a:p>
          </p:txBody>
        </p:sp>
        <p:sp>
          <p:nvSpPr>
            <p:cNvPr id="78" name="Rectangle 38"/>
            <p:cNvSpPr>
              <a:spLocks noChangeArrowheads="1"/>
            </p:cNvSpPr>
            <p:nvPr/>
          </p:nvSpPr>
          <p:spPr bwMode="auto">
            <a:xfrm>
              <a:off x="450" y="3646"/>
              <a:ext cx="591" cy="253"/>
            </a:xfrm>
            <a:prstGeom prst="rect">
              <a:avLst/>
            </a:prstGeom>
            <a:gradFill rotWithShape="1">
              <a:gsLst>
                <a:gs pos="0">
                  <a:srgbClr val="009900"/>
                </a:gs>
                <a:gs pos="50000">
                  <a:srgbClr val="00FF00"/>
                </a:gs>
                <a:gs pos="100000">
                  <a:srgbClr val="009900"/>
                </a:gs>
              </a:gsLst>
              <a:lin ang="0" scaled="1"/>
            </a:gra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 name="Line 39"/>
            <p:cNvSpPr>
              <a:spLocks noChangeShapeType="1"/>
            </p:cNvSpPr>
            <p:nvPr/>
          </p:nvSpPr>
          <p:spPr bwMode="auto">
            <a:xfrm>
              <a:off x="774" y="3767"/>
              <a:ext cx="585" cy="0"/>
            </a:xfrm>
            <a:prstGeom prst="line">
              <a:avLst/>
            </a:prstGeom>
            <a:noFill/>
            <a:ln w="12700">
              <a:solidFill>
                <a:schemeClr val="bg1"/>
              </a:solidFill>
              <a:round/>
              <a:headE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0" name="Text Box 40"/>
            <p:cNvSpPr txBox="1">
              <a:spLocks noChangeArrowheads="1"/>
            </p:cNvSpPr>
            <p:nvPr/>
          </p:nvSpPr>
          <p:spPr bwMode="auto">
            <a:xfrm>
              <a:off x="459" y="3619"/>
              <a:ext cx="445"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spcBef>
                  <a:spcPct val="50000"/>
                </a:spcBef>
              </a:pPr>
              <a:r>
                <a:rPr lang="en-US" altLang="zh-CN" i="1" dirty="0">
                  <a:solidFill>
                    <a:schemeClr val="tx1"/>
                  </a:solidFill>
                  <a:latin typeface="" pitchFamily="18" charset="-52"/>
                  <a:ea typeface="宋体" panose="02010600030101010101" pitchFamily="2" charset="-122"/>
                </a:rPr>
                <a:t>M</a:t>
              </a:r>
              <a:r>
                <a:rPr lang="en-US" altLang="zh-CN" baseline="-25000" dirty="0">
                  <a:solidFill>
                    <a:schemeClr val="tx1"/>
                  </a:solidFill>
                  <a:latin typeface="" pitchFamily="18" charset="-52"/>
                  <a:ea typeface="宋体" panose="02010600030101010101" pitchFamily="2" charset="-122"/>
                </a:rPr>
                <a:t>1</a:t>
              </a:r>
            </a:p>
          </p:txBody>
        </p:sp>
        <p:sp>
          <p:nvSpPr>
            <p:cNvPr id="81" name="Line 41"/>
            <p:cNvSpPr>
              <a:spLocks noChangeShapeType="1"/>
            </p:cNvSpPr>
            <p:nvPr/>
          </p:nvSpPr>
          <p:spPr bwMode="auto">
            <a:xfrm flipV="1">
              <a:off x="751" y="3534"/>
              <a:ext cx="489" cy="236"/>
            </a:xfrm>
            <a:prstGeom prst="line">
              <a:avLst/>
            </a:prstGeom>
            <a:noFill/>
            <a:ln w="38100">
              <a:solidFill>
                <a:srgbClr val="FFFF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 name="Arc 42"/>
            <p:cNvSpPr>
              <a:spLocks/>
            </p:cNvSpPr>
            <p:nvPr/>
          </p:nvSpPr>
          <p:spPr bwMode="auto">
            <a:xfrm>
              <a:off x="1065" y="3639"/>
              <a:ext cx="56" cy="14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127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 name="Text Box 43"/>
            <p:cNvSpPr txBox="1">
              <a:spLocks noChangeArrowheads="1"/>
            </p:cNvSpPr>
            <p:nvPr/>
          </p:nvSpPr>
          <p:spPr bwMode="auto">
            <a:xfrm>
              <a:off x="1052" y="3501"/>
              <a:ext cx="36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spcBef>
                  <a:spcPct val="50000"/>
                </a:spcBef>
              </a:pPr>
              <a:r>
                <a:rPr lang="en-US" altLang="zh-CN" i="1">
                  <a:latin typeface="" pitchFamily="18" charset="-52"/>
                  <a:ea typeface="宋体" panose="02010600030101010101" pitchFamily="2" charset="-122"/>
                  <a:sym typeface="Symbol" panose="05050102010706020507" pitchFamily="18" charset="2"/>
                </a:rPr>
                <a:t></a:t>
              </a:r>
              <a:endParaRPr lang="en-US" altLang="zh-CN" baseline="-25000">
                <a:latin typeface="" pitchFamily="18" charset="-52"/>
                <a:ea typeface="宋体" panose="02010600030101010101" pitchFamily="2" charset="-122"/>
                <a:sym typeface="Symbol" panose="05050102010706020507" pitchFamily="18" charset="2"/>
              </a:endParaRPr>
            </a:p>
          </p:txBody>
        </p:sp>
      </p:grpSp>
    </p:spTree>
    <p:extLst>
      <p:ext uri="{BB962C8B-B14F-4D97-AF65-F5344CB8AC3E}">
        <p14:creationId xmlns:p14="http://schemas.microsoft.com/office/powerpoint/2010/main" val="1867576130"/>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5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5"/>
                                        </p:tgtEl>
                                        <p:attrNameLst>
                                          <p:attrName>style.visibility</p:attrName>
                                        </p:attrNameLst>
                                      </p:cBhvr>
                                      <p:to>
                                        <p:strVal val="visible"/>
                                      </p:to>
                                    </p:set>
                                  </p:childTnLst>
                                </p:cTn>
                              </p:par>
                            </p:childTnLst>
                          </p:cTn>
                        </p:par>
                        <p:par>
                          <p:cTn id="15" fill="hold">
                            <p:stCondLst>
                              <p:cond delay="0"/>
                            </p:stCondLst>
                            <p:childTnLst>
                              <p:par>
                                <p:cTn id="16" presetID="1" presetClass="entr" presetSubtype="0" fill="hold" nodeType="afterEffect">
                                  <p:stCondLst>
                                    <p:cond delay="0"/>
                                  </p:stCondLst>
                                  <p:childTnLst>
                                    <p:set>
                                      <p:cBhvr>
                                        <p:cTn id="17" dur="1" fill="hold">
                                          <p:stCondLst>
                                            <p:cond delay="0"/>
                                          </p:stCondLst>
                                        </p:cTn>
                                        <p:tgtEl>
                                          <p:spTgt spid="76"/>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74"/>
                                        </p:tgtEl>
                                        <p:attrNameLst>
                                          <p:attrName>style.visibility</p:attrName>
                                        </p:attrNameLst>
                                      </p:cBhvr>
                                      <p:to>
                                        <p:strVal val="visible"/>
                                      </p:to>
                                    </p:set>
                                  </p:childTnLst>
                                </p:cTn>
                              </p:par>
                              <p:par>
                                <p:cTn id="20" presetID="27" presetClass="emph" presetSubtype="0" repeatCount="3000" fill="hold" grpId="1" nodeType="withEffect">
                                  <p:stCondLst>
                                    <p:cond delay="0"/>
                                  </p:stCondLst>
                                  <p:childTnLst>
                                    <p:animClr clrSpc="rgb" dir="cw">
                                      <p:cBhvr override="childStyle">
                                        <p:cTn id="21" dur="250" autoRev="1" fill="hold"/>
                                        <p:tgtEl>
                                          <p:spTgt spid="75"/>
                                        </p:tgtEl>
                                        <p:attrNameLst>
                                          <p:attrName>style.color</p:attrName>
                                        </p:attrNameLst>
                                      </p:cBhvr>
                                      <p:to>
                                        <a:schemeClr val="bg1"/>
                                      </p:to>
                                    </p:animClr>
                                    <p:animClr clrSpc="rgb" dir="cw">
                                      <p:cBhvr>
                                        <p:cTn id="22" dur="250" autoRev="1" fill="hold"/>
                                        <p:tgtEl>
                                          <p:spTgt spid="75"/>
                                        </p:tgtEl>
                                        <p:attrNameLst>
                                          <p:attrName>fillcolor</p:attrName>
                                        </p:attrNameLst>
                                      </p:cBhvr>
                                      <p:to>
                                        <a:schemeClr val="bg1"/>
                                      </p:to>
                                    </p:animClr>
                                    <p:set>
                                      <p:cBhvr>
                                        <p:cTn id="23" dur="250" autoRev="1" fill="hold"/>
                                        <p:tgtEl>
                                          <p:spTgt spid="75"/>
                                        </p:tgtEl>
                                        <p:attrNameLst>
                                          <p:attrName>fill.type</p:attrName>
                                        </p:attrNameLst>
                                      </p:cBhvr>
                                      <p:to>
                                        <p:strVal val="solid"/>
                                      </p:to>
                                    </p:set>
                                    <p:set>
                                      <p:cBhvr>
                                        <p:cTn id="24" dur="250" autoRev="1" fill="hold"/>
                                        <p:tgtEl>
                                          <p:spTgt spid="75"/>
                                        </p:tgtEl>
                                        <p:attrNameLst>
                                          <p:attrName>fill.on</p:attrName>
                                        </p:attrNameLst>
                                      </p:cBhvr>
                                      <p:to>
                                        <p:strVal val="true"/>
                                      </p:to>
                                    </p:set>
                                  </p:childTnLst>
                                </p:cTn>
                              </p:par>
                              <p:par>
                                <p:cTn id="25" presetID="27" presetClass="emph" presetSubtype="0" repeatCount="3000" fill="hold" grpId="1" nodeType="withEffect">
                                  <p:stCondLst>
                                    <p:cond delay="0"/>
                                  </p:stCondLst>
                                  <p:childTnLst>
                                    <p:animClr clrSpc="rgb" dir="cw">
                                      <p:cBhvr override="childStyle">
                                        <p:cTn id="26" dur="250" autoRev="1" fill="hold"/>
                                        <p:tgtEl>
                                          <p:spTgt spid="74"/>
                                        </p:tgtEl>
                                        <p:attrNameLst>
                                          <p:attrName>style.color</p:attrName>
                                        </p:attrNameLst>
                                      </p:cBhvr>
                                      <p:to>
                                        <a:schemeClr val="bg1"/>
                                      </p:to>
                                    </p:animClr>
                                    <p:animClr clrSpc="rgb" dir="cw">
                                      <p:cBhvr>
                                        <p:cTn id="27" dur="250" autoRev="1" fill="hold"/>
                                        <p:tgtEl>
                                          <p:spTgt spid="74"/>
                                        </p:tgtEl>
                                        <p:attrNameLst>
                                          <p:attrName>fillcolor</p:attrName>
                                        </p:attrNameLst>
                                      </p:cBhvr>
                                      <p:to>
                                        <a:schemeClr val="bg1"/>
                                      </p:to>
                                    </p:animClr>
                                    <p:set>
                                      <p:cBhvr>
                                        <p:cTn id="28" dur="250" autoRev="1" fill="hold"/>
                                        <p:tgtEl>
                                          <p:spTgt spid="74"/>
                                        </p:tgtEl>
                                        <p:attrNameLst>
                                          <p:attrName>fill.type</p:attrName>
                                        </p:attrNameLst>
                                      </p:cBhvr>
                                      <p:to>
                                        <p:strVal val="solid"/>
                                      </p:to>
                                    </p:set>
                                    <p:set>
                                      <p:cBhvr>
                                        <p:cTn id="29" dur="250" autoRev="1" fill="hold"/>
                                        <p:tgtEl>
                                          <p:spTgt spid="74"/>
                                        </p:tgtEl>
                                        <p:attrNameLst>
                                          <p:attrName>fill.on</p:attrName>
                                        </p:attrNameLst>
                                      </p:cBhvr>
                                      <p:to>
                                        <p:strVal val="true"/>
                                      </p:to>
                                    </p:set>
                                  </p:childTnLst>
                                </p:cTn>
                              </p:par>
                            </p:childTnLst>
                          </p:cTn>
                        </p:par>
                        <p:par>
                          <p:cTn id="30" fill="hold">
                            <p:stCondLst>
                              <p:cond delay="1500"/>
                            </p:stCondLst>
                            <p:childTnLst>
                              <p:par>
                                <p:cTn id="31" presetID="63" presetClass="path" presetSubtype="0" accel="50000" decel="50000" fill="hold" nodeType="afterEffect">
                                  <p:stCondLst>
                                    <p:cond delay="0"/>
                                  </p:stCondLst>
                                  <p:childTnLst>
                                    <p:animMotion origin="layout" path="M -4.375E-6 -3.33333E-6 L 0.64701 -3.33333E-6 " pathEditMode="relative" rAng="0" ptsTypes="AA">
                                      <p:cBhvr>
                                        <p:cTn id="32" dur="5000" fill="hold"/>
                                        <p:tgtEl>
                                          <p:spTgt spid="76"/>
                                        </p:tgtEl>
                                        <p:attrNameLst>
                                          <p:attrName>ppt_x</p:attrName>
                                          <p:attrName>ppt_y</p:attrName>
                                        </p:attrNameLst>
                                      </p:cBhvr>
                                      <p:rCtr x="32344" y="0"/>
                                    </p:animMotion>
                                  </p:childTnLst>
                                </p:cTn>
                              </p:par>
                              <p:par>
                                <p:cTn id="33" presetID="22" presetClass="entr" presetSubtype="8" fill="hold" nodeType="withEffect">
                                  <p:stCondLst>
                                    <p:cond delay="0"/>
                                  </p:stCondLst>
                                  <p:childTnLst>
                                    <p:set>
                                      <p:cBhvr>
                                        <p:cTn id="34" dur="1" fill="hold">
                                          <p:stCondLst>
                                            <p:cond delay="0"/>
                                          </p:stCondLst>
                                        </p:cTn>
                                        <p:tgtEl>
                                          <p:spTgt spid="69"/>
                                        </p:tgtEl>
                                        <p:attrNameLst>
                                          <p:attrName>style.visibility</p:attrName>
                                        </p:attrNameLst>
                                      </p:cBhvr>
                                      <p:to>
                                        <p:strVal val="visible"/>
                                      </p:to>
                                    </p:set>
                                    <p:animEffect transition="in" filter="wipe(left)">
                                      <p:cBhvr>
                                        <p:cTn id="35" dur="5000"/>
                                        <p:tgtEl>
                                          <p:spTgt spid="69"/>
                                        </p:tgtEl>
                                      </p:cBhvr>
                                    </p:animEffect>
                                  </p:childTnLst>
                                </p:cTn>
                              </p:par>
                              <p:par>
                                <p:cTn id="36" presetID="1" presetClass="entr" presetSubtype="0" fill="hold" nodeType="withEffect">
                                  <p:stCondLst>
                                    <p:cond delay="0"/>
                                  </p:stCondLst>
                                  <p:childTnLst>
                                    <p:set>
                                      <p:cBhvr>
                                        <p:cTn id="37" dur="1" fill="hold">
                                          <p:stCondLst>
                                            <p:cond delay="0"/>
                                          </p:stCondLst>
                                        </p:cTn>
                                        <p:tgtEl>
                                          <p:spTgt spid="44"/>
                                        </p:tgtEl>
                                        <p:attrNameLst>
                                          <p:attrName>style.visibility</p:attrName>
                                        </p:attrNameLst>
                                      </p:cBhvr>
                                      <p:to>
                                        <p:strVal val="visible"/>
                                      </p:to>
                                    </p:set>
                                  </p:childTnLst>
                                </p:cTn>
                              </p:par>
                              <p:par>
                                <p:cTn id="38" presetID="9" presetClass="emph" presetSubtype="0" nodeType="withEffect">
                                  <p:stCondLst>
                                    <p:cond delay="0"/>
                                  </p:stCondLst>
                                  <p:childTnLst>
                                    <p:set>
                                      <p:cBhvr rctx="PPT">
                                        <p:cTn id="39" dur="indefinite"/>
                                        <p:tgtEl>
                                          <p:spTgt spid="44"/>
                                        </p:tgtEl>
                                        <p:attrNameLst>
                                          <p:attrName>style.opacity</p:attrName>
                                        </p:attrNameLst>
                                      </p:cBhvr>
                                      <p:to>
                                        <p:strVal val="0.5"/>
                                      </p:to>
                                    </p:set>
                                    <p:animEffect filter="image" prLst="opacity: 0.5">
                                      <p:cBhvr rctx="IE">
                                        <p:cTn id="40" dur="indefinite"/>
                                        <p:tgtEl>
                                          <p:spTgt spid="44"/>
                                        </p:tgtEl>
                                      </p:cBhvr>
                                    </p:animEffect>
                                  </p:childTnLst>
                                </p:cTn>
                              </p:par>
                              <p:par>
                                <p:cTn id="41" presetID="1" presetClass="entr" presetSubtype="0" fill="hold" nodeType="withEffect">
                                  <p:stCondLst>
                                    <p:cond delay="2500"/>
                                  </p:stCondLst>
                                  <p:childTnLst>
                                    <p:set>
                                      <p:cBhvr>
                                        <p:cTn id="42" dur="1" fill="hold">
                                          <p:stCondLst>
                                            <p:cond delay="0"/>
                                          </p:stCondLst>
                                        </p:cTn>
                                        <p:tgtEl>
                                          <p:spTgt spid="61"/>
                                        </p:tgtEl>
                                        <p:attrNameLst>
                                          <p:attrName>style.visibility</p:attrName>
                                        </p:attrNameLst>
                                      </p:cBhvr>
                                      <p:to>
                                        <p:strVal val="visible"/>
                                      </p:to>
                                    </p:set>
                                  </p:childTnLst>
                                </p:cTn>
                              </p:par>
                              <p:par>
                                <p:cTn id="43" presetID="9" presetClass="emph" presetSubtype="0" nodeType="withEffect">
                                  <p:stCondLst>
                                    <p:cond delay="2500"/>
                                  </p:stCondLst>
                                  <p:childTnLst>
                                    <p:set>
                                      <p:cBhvr rctx="PPT">
                                        <p:cTn id="44" dur="indefinite"/>
                                        <p:tgtEl>
                                          <p:spTgt spid="61"/>
                                        </p:tgtEl>
                                        <p:attrNameLst>
                                          <p:attrName>style.opacity</p:attrName>
                                        </p:attrNameLst>
                                      </p:cBhvr>
                                      <p:to>
                                        <p:strVal val="0.5"/>
                                      </p:to>
                                    </p:set>
                                    <p:animEffect filter="image" prLst="opacity: 0.5">
                                      <p:cBhvr rctx="IE">
                                        <p:cTn id="45" dur="indefinite"/>
                                        <p:tgtEl>
                                          <p:spTgt spid="61"/>
                                        </p:tgtEl>
                                      </p:cBhvr>
                                    </p:animEffect>
                                  </p:childTnLst>
                                </p:cTn>
                              </p:par>
                            </p:childTnLst>
                          </p:cTn>
                        </p:par>
                        <p:par>
                          <p:cTn id="46" fill="hold">
                            <p:stCondLst>
                              <p:cond delay="6500"/>
                            </p:stCondLst>
                            <p:childTnLst>
                              <p:par>
                                <p:cTn id="47" presetID="1" presetClass="entr" presetSubtype="0" fill="hold" nodeType="afterEffect">
                                  <p:stCondLst>
                                    <p:cond delay="0"/>
                                  </p:stCondLst>
                                  <p:childTnLst>
                                    <p:set>
                                      <p:cBhvr>
                                        <p:cTn id="48" dur="1" fill="hold">
                                          <p:stCondLst>
                                            <p:cond delay="0"/>
                                          </p:stCondLst>
                                        </p:cTn>
                                        <p:tgtEl>
                                          <p:spTgt spid="53"/>
                                        </p:tgtEl>
                                        <p:attrNameLst>
                                          <p:attrName>style.visibility</p:attrName>
                                        </p:attrNameLst>
                                      </p:cBhvr>
                                      <p:to>
                                        <p:strVal val="visible"/>
                                      </p:to>
                                    </p:set>
                                  </p:childTnLst>
                                </p:cTn>
                              </p:par>
                              <p:par>
                                <p:cTn id="49" presetID="1" presetClass="exit" presetSubtype="0" fill="hold" nodeType="withEffect">
                                  <p:stCondLst>
                                    <p:cond delay="0"/>
                                  </p:stCondLst>
                                  <p:childTnLst>
                                    <p:set>
                                      <p:cBhvr>
                                        <p:cTn id="50" dur="1" fill="hold">
                                          <p:stCondLst>
                                            <p:cond delay="0"/>
                                          </p:stCondLst>
                                        </p:cTn>
                                        <p:tgtEl>
                                          <p:spTgt spid="7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utoUpdateAnimBg="0"/>
      <p:bldP spid="2" grpId="0" animBg="1"/>
      <p:bldP spid="74" grpId="0"/>
      <p:bldP spid="74" grpId="1"/>
      <p:bldP spid="75" grpId="0" animBg="1"/>
      <p:bldP spid="75" grpId="1"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4653838"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第七章   动力学普遍定理</a:t>
            </a:r>
          </a:p>
        </p:txBody>
      </p:sp>
      <p:sp>
        <p:nvSpPr>
          <p:cNvPr id="52" name="Text Box 1032"/>
          <p:cNvSpPr txBox="1">
            <a:spLocks noChangeArrowheads="1"/>
          </p:cNvSpPr>
          <p:nvPr/>
        </p:nvSpPr>
        <p:spPr bwMode="auto">
          <a:xfrm>
            <a:off x="570416" y="799357"/>
            <a:ext cx="6924023" cy="1643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20000"/>
              </a:lnSpc>
            </a:pPr>
            <a:r>
              <a:rPr lang="zh-CN" altLang="en-US" sz="2800" i="0" dirty="0">
                <a:solidFill>
                  <a:srgbClr val="FF0000"/>
                </a:solidFill>
                <a:latin typeface="微软雅黑" panose="020B0503020204020204" pitchFamily="34" charset="-122"/>
                <a:ea typeface="微软雅黑" panose="020B0503020204020204" pitchFamily="34" charset="-122"/>
              </a:rPr>
              <a:t>变力在曲线运动中的功 </a:t>
            </a:r>
            <a:endParaRPr lang="en-US" altLang="zh-CN" sz="2800" i="0" dirty="0">
              <a:solidFill>
                <a:srgbClr val="FF0000"/>
              </a:solidFill>
              <a:latin typeface="微软雅黑" panose="020B0503020204020204" pitchFamily="34" charset="-122"/>
              <a:ea typeface="微软雅黑" panose="020B0503020204020204" pitchFamily="34" charset="-122"/>
            </a:endParaRPr>
          </a:p>
          <a:p>
            <a:pPr algn="just">
              <a:lnSpc>
                <a:spcPct val="120000"/>
              </a:lnSpc>
            </a:pPr>
            <a:r>
              <a:rPr lang="zh-CN" altLang="en-US" sz="2800" i="0" dirty="0">
                <a:latin typeface="+mj-lt"/>
                <a:ea typeface="微软雅黑" panose="020B0503020204020204" pitchFamily="34" charset="-122"/>
              </a:rPr>
              <a:t>设有质点</a:t>
            </a:r>
            <a:r>
              <a:rPr kumimoji="1" lang="en-US" altLang="zh-CN" sz="2800" b="0" dirty="0">
                <a:latin typeface="+mn-lt"/>
                <a:ea typeface="微软雅黑" panose="020B0503020204020204" pitchFamily="34" charset="-122"/>
              </a:rPr>
              <a:t>M</a:t>
            </a:r>
            <a:r>
              <a:rPr lang="zh-CN" altLang="en-US" sz="2800" i="0" dirty="0">
                <a:latin typeface="+mn-lt"/>
                <a:ea typeface="微软雅黑" panose="020B0503020204020204" pitchFamily="34" charset="-122"/>
              </a:rPr>
              <a:t>在</a:t>
            </a:r>
            <a:r>
              <a:rPr lang="zh-CN" altLang="en-US" sz="2800" i="0" dirty="0">
                <a:latin typeface="+mj-lt"/>
                <a:ea typeface="微软雅黑" panose="020B0503020204020204" pitchFamily="34" charset="-122"/>
              </a:rPr>
              <a:t>变</a:t>
            </a:r>
            <a:r>
              <a:rPr lang="zh-CN" altLang="en-US" sz="2800" i="0" dirty="0">
                <a:latin typeface="+mn-lt"/>
                <a:ea typeface="微软雅黑" panose="020B0503020204020204" pitchFamily="34" charset="-122"/>
              </a:rPr>
              <a:t>力</a:t>
            </a:r>
            <a:r>
              <a:rPr lang="en-US" altLang="zh-CN" sz="2800" dirty="0">
                <a:latin typeface="+mn-lt"/>
                <a:ea typeface="微软雅黑" panose="020B0503020204020204" pitchFamily="34" charset="-122"/>
              </a:rPr>
              <a:t>F</a:t>
            </a:r>
            <a:r>
              <a:rPr lang="zh-CN" altLang="en-US" sz="2800" i="0" dirty="0">
                <a:latin typeface="+mn-lt"/>
                <a:ea typeface="微软雅黑" panose="020B0503020204020204" pitchFamily="34" charset="-122"/>
              </a:rPr>
              <a:t>作用下沿曲线</a:t>
            </a:r>
            <a:r>
              <a:rPr lang="en-US" altLang="zh-CN" sz="2800" b="0" dirty="0">
                <a:latin typeface="+mn-lt"/>
                <a:ea typeface="微软雅黑" panose="020B0503020204020204" pitchFamily="34" charset="-122"/>
              </a:rPr>
              <a:t>M</a:t>
            </a:r>
            <a:r>
              <a:rPr lang="en-US" altLang="zh-CN" sz="2800" b="0" i="0" baseline="-25000" dirty="0">
                <a:latin typeface="+mn-lt"/>
                <a:ea typeface="微软雅黑" panose="020B0503020204020204" pitchFamily="34" charset="-122"/>
              </a:rPr>
              <a:t>1</a:t>
            </a:r>
            <a:r>
              <a:rPr lang="zh-CN" altLang="en-US" sz="2800" i="0" dirty="0">
                <a:latin typeface="+mn-lt"/>
                <a:ea typeface="微软雅黑" panose="020B0503020204020204" pitchFamily="34" charset="-122"/>
              </a:rPr>
              <a:t>到</a:t>
            </a:r>
            <a:r>
              <a:rPr lang="en-US" altLang="zh-CN" sz="2800" b="0" dirty="0">
                <a:latin typeface="+mn-lt"/>
                <a:ea typeface="微软雅黑" panose="020B0503020204020204" pitchFamily="34" charset="-122"/>
              </a:rPr>
              <a:t>M</a:t>
            </a:r>
            <a:r>
              <a:rPr lang="en-US" altLang="zh-CN" sz="2800" b="0" i="0" baseline="-25000" dirty="0">
                <a:latin typeface="+mn-lt"/>
                <a:ea typeface="微软雅黑" panose="020B0503020204020204" pitchFamily="34" charset="-122"/>
              </a:rPr>
              <a:t>2</a:t>
            </a:r>
            <a:r>
              <a:rPr lang="zh-CN" altLang="en-US" sz="2800" i="0" dirty="0">
                <a:latin typeface="+mn-lt"/>
                <a:ea typeface="微软雅黑" panose="020B0503020204020204" pitchFamily="34" charset="-122"/>
              </a:rPr>
              <a:t>如图所示，求变力</a:t>
            </a:r>
            <a:r>
              <a:rPr lang="en-US" altLang="zh-CN" sz="2800" dirty="0">
                <a:latin typeface="+mn-lt"/>
                <a:ea typeface="微软雅黑" panose="020B0503020204020204" pitchFamily="34" charset="-122"/>
              </a:rPr>
              <a:t>F </a:t>
            </a:r>
            <a:r>
              <a:rPr lang="zh-CN" altLang="en-US" sz="2800" i="0" dirty="0">
                <a:latin typeface="+mn-lt"/>
                <a:ea typeface="微软雅黑" panose="020B0503020204020204" pitchFamily="34" charset="-122"/>
              </a:rPr>
              <a:t>在路程</a:t>
            </a:r>
            <a:r>
              <a:rPr lang="en-US" altLang="zh-CN" sz="2800" b="0" dirty="0">
                <a:ea typeface="微软雅黑" panose="020B0503020204020204" pitchFamily="34" charset="-122"/>
              </a:rPr>
              <a:t>M</a:t>
            </a:r>
            <a:r>
              <a:rPr lang="en-US" altLang="zh-CN" sz="2800" b="0" i="0" baseline="-25000" dirty="0">
                <a:ea typeface="微软雅黑" panose="020B0503020204020204" pitchFamily="34" charset="-122"/>
              </a:rPr>
              <a:t>1</a:t>
            </a:r>
            <a:r>
              <a:rPr lang="en-US" altLang="zh-CN" sz="2800" b="0" dirty="0">
                <a:ea typeface="微软雅黑" panose="020B0503020204020204" pitchFamily="34" charset="-122"/>
              </a:rPr>
              <a:t>M</a:t>
            </a:r>
            <a:r>
              <a:rPr lang="en-US" altLang="zh-CN" sz="2800" b="0" i="0" baseline="-25000" dirty="0">
                <a:ea typeface="微软雅黑" panose="020B0503020204020204" pitchFamily="34" charset="-122"/>
              </a:rPr>
              <a:t>2</a:t>
            </a:r>
            <a:r>
              <a:rPr lang="zh-CN" altLang="en-US" sz="2800" i="0" dirty="0">
                <a:latin typeface="+mn-lt"/>
                <a:ea typeface="微软雅黑" panose="020B0503020204020204" pitchFamily="34" charset="-122"/>
              </a:rPr>
              <a:t>中所作的功。</a:t>
            </a:r>
          </a:p>
        </p:txBody>
      </p:sp>
      <p:sp>
        <p:nvSpPr>
          <p:cNvPr id="2" name="Rectangle 61">
            <a:extLst>
              <a:ext uri="{FF2B5EF4-FFF2-40B4-BE49-F238E27FC236}">
                <a16:creationId xmlns:a16="http://schemas.microsoft.com/office/drawing/2014/main" id="{7C7AC23E-A1CE-03F9-D8A4-D45156EAD5C0}"/>
              </a:ext>
            </a:extLst>
          </p:cNvPr>
          <p:cNvSpPr>
            <a:spLocks noChangeArrowheads="1"/>
          </p:cNvSpPr>
          <p:nvPr/>
        </p:nvSpPr>
        <p:spPr bwMode="auto">
          <a:xfrm>
            <a:off x="7680175" y="908720"/>
            <a:ext cx="4323605" cy="5328592"/>
          </a:xfrm>
          <a:prstGeom prst="rect">
            <a:avLst/>
          </a:prstGeom>
          <a:solidFill>
            <a:srgbClr val="B9CDE5"/>
          </a:solidFill>
          <a:ln>
            <a:noFill/>
          </a:ln>
          <a:effectLst/>
        </p:spPr>
        <p:txBody>
          <a:bodyPr wrap="none" anchor="ctr"/>
          <a:lstStyle/>
          <a:p>
            <a:endParaRPr lang="zh-CN" altLang="en-US"/>
          </a:p>
        </p:txBody>
      </p:sp>
      <p:grpSp>
        <p:nvGrpSpPr>
          <p:cNvPr id="84" name="Group 5"/>
          <p:cNvGrpSpPr>
            <a:grpSpLocks/>
          </p:cNvGrpSpPr>
          <p:nvPr/>
        </p:nvGrpSpPr>
        <p:grpSpPr bwMode="auto">
          <a:xfrm>
            <a:off x="8146950" y="3341265"/>
            <a:ext cx="3792537" cy="3040063"/>
            <a:chOff x="3371" y="1505"/>
            <a:chExt cx="2389" cy="1915"/>
          </a:xfrm>
        </p:grpSpPr>
        <p:sp>
          <p:nvSpPr>
            <p:cNvPr id="85" name="Text Box 6"/>
            <p:cNvSpPr txBox="1">
              <a:spLocks noChangeAspect="1" noChangeArrowheads="1"/>
            </p:cNvSpPr>
            <p:nvPr/>
          </p:nvSpPr>
          <p:spPr bwMode="auto">
            <a:xfrm>
              <a:off x="3474" y="2581"/>
              <a:ext cx="431"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sz="3200" i="1" dirty="0">
                  <a:solidFill>
                    <a:srgbClr val="D60093"/>
                  </a:solidFill>
                  <a:sym typeface="Symbol" panose="05050102010706020507" pitchFamily="18" charset="2"/>
                </a:rPr>
                <a:t> </a:t>
              </a:r>
              <a:r>
                <a:rPr lang="en-US" altLang="zh-CN" sz="3200" b="0" i="1" dirty="0">
                  <a:solidFill>
                    <a:srgbClr val="D60093"/>
                  </a:solidFill>
                  <a:sym typeface="Symbol" panose="05050102010706020507" pitchFamily="18" charset="2"/>
                </a:rPr>
                <a:t>O</a:t>
              </a:r>
            </a:p>
          </p:txBody>
        </p:sp>
        <p:sp>
          <p:nvSpPr>
            <p:cNvPr id="86" name="Text Box 7"/>
            <p:cNvSpPr txBox="1">
              <a:spLocks noChangeAspect="1" noChangeArrowheads="1"/>
            </p:cNvSpPr>
            <p:nvPr/>
          </p:nvSpPr>
          <p:spPr bwMode="auto">
            <a:xfrm>
              <a:off x="3416" y="3017"/>
              <a:ext cx="432" cy="40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sz="3200" b="0" i="1" dirty="0">
                  <a:solidFill>
                    <a:srgbClr val="FF00FF"/>
                  </a:solidFill>
                  <a:ea typeface="宋体" panose="02010600030101010101" pitchFamily="2" charset="-122"/>
                </a:rPr>
                <a:t>x</a:t>
              </a:r>
            </a:p>
          </p:txBody>
        </p:sp>
        <p:sp>
          <p:nvSpPr>
            <p:cNvPr id="87" name="Line 8"/>
            <p:cNvSpPr>
              <a:spLocks noChangeAspect="1" noChangeShapeType="1"/>
            </p:cNvSpPr>
            <p:nvPr/>
          </p:nvSpPr>
          <p:spPr bwMode="auto">
            <a:xfrm flipV="1">
              <a:off x="3788" y="1651"/>
              <a:ext cx="0" cy="1170"/>
            </a:xfrm>
            <a:prstGeom prst="line">
              <a:avLst/>
            </a:prstGeom>
            <a:noFill/>
            <a:ln w="19050">
              <a:solidFill>
                <a:srgbClr val="FF00FF"/>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88" name="Line 9"/>
            <p:cNvSpPr>
              <a:spLocks noChangeAspect="1" noChangeShapeType="1"/>
            </p:cNvSpPr>
            <p:nvPr/>
          </p:nvSpPr>
          <p:spPr bwMode="auto">
            <a:xfrm>
              <a:off x="3788" y="2821"/>
              <a:ext cx="1770" cy="0"/>
            </a:xfrm>
            <a:prstGeom prst="line">
              <a:avLst/>
            </a:prstGeom>
            <a:noFill/>
            <a:ln w="19050">
              <a:solidFill>
                <a:srgbClr val="FF00FF"/>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89" name="Line 10"/>
            <p:cNvSpPr>
              <a:spLocks noChangeAspect="1" noChangeShapeType="1"/>
            </p:cNvSpPr>
            <p:nvPr/>
          </p:nvSpPr>
          <p:spPr bwMode="auto">
            <a:xfrm flipH="1">
              <a:off x="3371" y="2821"/>
              <a:ext cx="417" cy="432"/>
            </a:xfrm>
            <a:prstGeom prst="line">
              <a:avLst/>
            </a:prstGeom>
            <a:noFill/>
            <a:ln w="19050">
              <a:solidFill>
                <a:srgbClr val="FF00FF"/>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90" name="Text Box 11"/>
            <p:cNvSpPr txBox="1">
              <a:spLocks noChangeAspect="1" noChangeArrowheads="1"/>
            </p:cNvSpPr>
            <p:nvPr/>
          </p:nvSpPr>
          <p:spPr bwMode="auto">
            <a:xfrm>
              <a:off x="5328" y="2749"/>
              <a:ext cx="432"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sz="3200" b="0" i="1" dirty="0">
                  <a:solidFill>
                    <a:srgbClr val="FF00FF"/>
                  </a:solidFill>
                </a:rPr>
                <a:t>y</a:t>
              </a:r>
              <a:endParaRPr lang="en-US" altLang="zh-CN" sz="3200" b="0" dirty="0">
                <a:solidFill>
                  <a:srgbClr val="FF00FF"/>
                </a:solidFill>
              </a:endParaRPr>
            </a:p>
          </p:txBody>
        </p:sp>
        <p:sp>
          <p:nvSpPr>
            <p:cNvPr id="91" name="Text Box 12"/>
            <p:cNvSpPr txBox="1">
              <a:spLocks noChangeAspect="1" noChangeArrowheads="1"/>
            </p:cNvSpPr>
            <p:nvPr/>
          </p:nvSpPr>
          <p:spPr bwMode="auto">
            <a:xfrm>
              <a:off x="3805" y="1505"/>
              <a:ext cx="432" cy="40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sz="3200" b="0" i="1" dirty="0">
                  <a:solidFill>
                    <a:srgbClr val="FF00FF"/>
                  </a:solidFill>
                  <a:ea typeface="宋体" panose="02010600030101010101" pitchFamily="2" charset="-122"/>
                </a:rPr>
                <a:t>z</a:t>
              </a:r>
            </a:p>
          </p:txBody>
        </p:sp>
      </p:grpSp>
      <p:sp>
        <p:nvSpPr>
          <p:cNvPr id="92" name="Arc 13"/>
          <p:cNvSpPr>
            <a:spLocks/>
          </p:cNvSpPr>
          <p:nvPr/>
        </p:nvSpPr>
        <p:spPr bwMode="auto">
          <a:xfrm rot="11106470" flipV="1">
            <a:off x="8107262" y="4068340"/>
            <a:ext cx="3414713" cy="1719263"/>
          </a:xfrm>
          <a:custGeom>
            <a:avLst/>
            <a:gdLst>
              <a:gd name="G0" fmla="+- 0 0 0"/>
              <a:gd name="G1" fmla="+- 21584 0 0"/>
              <a:gd name="G2" fmla="+- 21600 0 0"/>
              <a:gd name="T0" fmla="*/ 835 w 20205"/>
              <a:gd name="T1" fmla="*/ 0 h 21584"/>
              <a:gd name="T2" fmla="*/ 20205 w 20205"/>
              <a:gd name="T3" fmla="*/ 13947 h 21584"/>
              <a:gd name="T4" fmla="*/ 0 w 20205"/>
              <a:gd name="T5" fmla="*/ 21584 h 21584"/>
            </a:gdLst>
            <a:ahLst/>
            <a:cxnLst>
              <a:cxn ang="0">
                <a:pos x="T0" y="T1"/>
              </a:cxn>
              <a:cxn ang="0">
                <a:pos x="T2" y="T3"/>
              </a:cxn>
              <a:cxn ang="0">
                <a:pos x="T4" y="T5"/>
              </a:cxn>
            </a:cxnLst>
            <a:rect l="0" t="0" r="r" b="b"/>
            <a:pathLst>
              <a:path w="20205" h="21584" fill="none" extrusionOk="0">
                <a:moveTo>
                  <a:pt x="834" y="0"/>
                </a:moveTo>
                <a:cubicBezTo>
                  <a:pt x="9507" y="335"/>
                  <a:pt x="17136" y="5828"/>
                  <a:pt x="20204" y="13947"/>
                </a:cubicBezTo>
              </a:path>
              <a:path w="20205" h="21584" stroke="0" extrusionOk="0">
                <a:moveTo>
                  <a:pt x="834" y="0"/>
                </a:moveTo>
                <a:cubicBezTo>
                  <a:pt x="9507" y="335"/>
                  <a:pt x="17136" y="5828"/>
                  <a:pt x="20204" y="13947"/>
                </a:cubicBezTo>
                <a:lnTo>
                  <a:pt x="0" y="21584"/>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 name="Text Box 14"/>
          <p:cNvSpPr txBox="1">
            <a:spLocks noChangeArrowheads="1"/>
          </p:cNvSpPr>
          <p:nvPr/>
        </p:nvSpPr>
        <p:spPr bwMode="auto">
          <a:xfrm>
            <a:off x="9630303" y="4573334"/>
            <a:ext cx="6604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800" b="1" i="1" dirty="0">
                <a:cs typeface="Times New Roman" panose="02020603050405020304" pitchFamily="18" charset="0"/>
              </a:rPr>
              <a:t>a</a:t>
            </a:r>
          </a:p>
        </p:txBody>
      </p:sp>
      <p:sp>
        <p:nvSpPr>
          <p:cNvPr id="94" name="Text Box 15"/>
          <p:cNvSpPr txBox="1">
            <a:spLocks noChangeArrowheads="1"/>
          </p:cNvSpPr>
          <p:nvPr/>
        </p:nvSpPr>
        <p:spPr bwMode="auto">
          <a:xfrm>
            <a:off x="10398932" y="4906540"/>
            <a:ext cx="6604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800" b="1" i="1" dirty="0">
                <a:solidFill>
                  <a:srgbClr val="FF0000"/>
                </a:solidFill>
                <a:cs typeface="Times New Roman" panose="02020603050405020304" pitchFamily="18" charset="0"/>
              </a:rPr>
              <a:t>F</a:t>
            </a:r>
            <a:endParaRPr lang="en-US" altLang="zh-CN" baseline="-25000" dirty="0">
              <a:solidFill>
                <a:srgbClr val="FF0000"/>
              </a:solidFill>
              <a:cs typeface="Times New Roman" panose="02020603050405020304" pitchFamily="18" charset="0"/>
            </a:endParaRPr>
          </a:p>
        </p:txBody>
      </p:sp>
      <p:sp>
        <p:nvSpPr>
          <p:cNvPr id="95" name="Text Box 16"/>
          <p:cNvSpPr txBox="1">
            <a:spLocks noChangeArrowheads="1"/>
          </p:cNvSpPr>
          <p:nvPr/>
        </p:nvSpPr>
        <p:spPr bwMode="auto">
          <a:xfrm>
            <a:off x="7837387" y="4346153"/>
            <a:ext cx="6111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0" i="1" dirty="0">
                <a:solidFill>
                  <a:schemeClr val="tx1"/>
                </a:solidFill>
              </a:rPr>
              <a:t>M</a:t>
            </a:r>
            <a:r>
              <a:rPr lang="en-US" altLang="zh-CN" b="0" i="0" baseline="-25000" dirty="0">
                <a:solidFill>
                  <a:schemeClr val="tx1"/>
                </a:solidFill>
              </a:rPr>
              <a:t>1</a:t>
            </a:r>
          </a:p>
        </p:txBody>
      </p:sp>
      <p:sp>
        <p:nvSpPr>
          <p:cNvPr id="96" name="Line 17"/>
          <p:cNvSpPr>
            <a:spLocks noChangeShapeType="1"/>
          </p:cNvSpPr>
          <p:nvPr/>
        </p:nvSpPr>
        <p:spPr bwMode="auto">
          <a:xfrm rot="5400000" flipH="1" flipV="1">
            <a:off x="8297762" y="4419178"/>
            <a:ext cx="398463" cy="490537"/>
          </a:xfrm>
          <a:prstGeom prst="line">
            <a:avLst/>
          </a:prstGeom>
          <a:noFill/>
          <a:ln w="28575">
            <a:solidFill>
              <a:srgbClr val="FFFF66"/>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7" name="Text Box 18"/>
          <p:cNvSpPr txBox="1">
            <a:spLocks noChangeArrowheads="1"/>
          </p:cNvSpPr>
          <p:nvPr/>
        </p:nvSpPr>
        <p:spPr bwMode="auto">
          <a:xfrm>
            <a:off x="8259662" y="3938165"/>
            <a:ext cx="6604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800" b="1" i="1" dirty="0">
                <a:solidFill>
                  <a:srgbClr val="FFFF66"/>
                </a:solidFill>
                <a:latin typeface="+mn-lt"/>
                <a:cs typeface="Times New Roman" panose="02020603050405020304" pitchFamily="18" charset="0"/>
              </a:rPr>
              <a:t>v</a:t>
            </a:r>
            <a:r>
              <a:rPr lang="en-US" altLang="zh-CN" sz="2800" baseline="-25000" dirty="0">
                <a:solidFill>
                  <a:srgbClr val="FFFF66"/>
                </a:solidFill>
                <a:cs typeface="Times New Roman" panose="02020603050405020304" pitchFamily="18" charset="0"/>
              </a:rPr>
              <a:t>1</a:t>
            </a:r>
            <a:endParaRPr lang="en-US" altLang="zh-CN" baseline="-25000" dirty="0">
              <a:solidFill>
                <a:srgbClr val="FFFF66"/>
              </a:solidFill>
              <a:cs typeface="Times New Roman" panose="02020603050405020304" pitchFamily="18" charset="0"/>
              <a:sym typeface="Symbol" panose="05050102010706020507" pitchFamily="18" charset="2"/>
            </a:endParaRPr>
          </a:p>
        </p:txBody>
      </p:sp>
      <p:sp>
        <p:nvSpPr>
          <p:cNvPr id="98" name="Oval 19"/>
          <p:cNvSpPr>
            <a:spLocks noChangeArrowheads="1"/>
          </p:cNvSpPr>
          <p:nvPr/>
        </p:nvSpPr>
        <p:spPr bwMode="auto">
          <a:xfrm>
            <a:off x="8207275" y="4811290"/>
            <a:ext cx="96837" cy="96838"/>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9" name="Text Box 20"/>
          <p:cNvSpPr txBox="1">
            <a:spLocks noChangeArrowheads="1"/>
          </p:cNvSpPr>
          <p:nvPr/>
        </p:nvSpPr>
        <p:spPr bwMode="auto">
          <a:xfrm>
            <a:off x="10613925" y="4160415"/>
            <a:ext cx="6111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0" i="1" dirty="0">
                <a:solidFill>
                  <a:schemeClr val="tx1"/>
                </a:solidFill>
              </a:rPr>
              <a:t>M</a:t>
            </a:r>
            <a:r>
              <a:rPr lang="en-US" altLang="zh-CN" b="0" i="0" baseline="-25000" dirty="0">
                <a:solidFill>
                  <a:schemeClr val="tx1"/>
                </a:solidFill>
              </a:rPr>
              <a:t>2</a:t>
            </a:r>
          </a:p>
        </p:txBody>
      </p:sp>
      <p:sp>
        <p:nvSpPr>
          <p:cNvPr id="100" name="Oval 21"/>
          <p:cNvSpPr>
            <a:spLocks noChangeArrowheads="1"/>
          </p:cNvSpPr>
          <p:nvPr/>
        </p:nvSpPr>
        <p:spPr bwMode="auto">
          <a:xfrm>
            <a:off x="10750450" y="4142953"/>
            <a:ext cx="96837" cy="96837"/>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1" name="Text Box 22"/>
          <p:cNvSpPr txBox="1">
            <a:spLocks noChangeArrowheads="1"/>
          </p:cNvSpPr>
          <p:nvPr/>
        </p:nvSpPr>
        <p:spPr bwMode="auto">
          <a:xfrm>
            <a:off x="9216925" y="3800053"/>
            <a:ext cx="6111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0" i="1" dirty="0">
                <a:solidFill>
                  <a:schemeClr val="tx1"/>
                </a:solidFill>
              </a:rPr>
              <a:t>M</a:t>
            </a:r>
            <a:endParaRPr lang="en-US" altLang="zh-CN" b="0" baseline="-25000" dirty="0">
              <a:solidFill>
                <a:schemeClr val="tx1"/>
              </a:solidFill>
            </a:endParaRPr>
          </a:p>
        </p:txBody>
      </p:sp>
      <p:sp>
        <p:nvSpPr>
          <p:cNvPr id="102" name="Line 23"/>
          <p:cNvSpPr>
            <a:spLocks noChangeShapeType="1"/>
          </p:cNvSpPr>
          <p:nvPr/>
        </p:nvSpPr>
        <p:spPr bwMode="auto">
          <a:xfrm rot="5400000" flipH="1" flipV="1">
            <a:off x="9896374" y="3838153"/>
            <a:ext cx="214313" cy="744538"/>
          </a:xfrm>
          <a:prstGeom prst="line">
            <a:avLst/>
          </a:prstGeom>
          <a:noFill/>
          <a:ln w="28575">
            <a:solidFill>
              <a:srgbClr val="FFFF66"/>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3" name="Text Box 24"/>
          <p:cNvSpPr txBox="1">
            <a:spLocks noChangeArrowheads="1"/>
          </p:cNvSpPr>
          <p:nvPr/>
        </p:nvSpPr>
        <p:spPr bwMode="auto">
          <a:xfrm>
            <a:off x="9805887" y="3682578"/>
            <a:ext cx="6604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800" b="1" i="1" dirty="0">
                <a:solidFill>
                  <a:srgbClr val="FFFF66"/>
                </a:solidFill>
                <a:latin typeface="+mn-lt"/>
                <a:cs typeface="Times New Roman" panose="02020603050405020304" pitchFamily="18" charset="0"/>
              </a:rPr>
              <a:t>v</a:t>
            </a:r>
            <a:endParaRPr lang="en-US" altLang="zh-CN" baseline="-25000" dirty="0">
              <a:solidFill>
                <a:srgbClr val="FFFF66"/>
              </a:solidFill>
              <a:latin typeface="+mn-lt"/>
              <a:cs typeface="Times New Roman" panose="02020603050405020304" pitchFamily="18" charset="0"/>
              <a:sym typeface="Symbol" panose="05050102010706020507" pitchFamily="18" charset="2"/>
            </a:endParaRPr>
          </a:p>
        </p:txBody>
      </p:sp>
      <p:sp>
        <p:nvSpPr>
          <p:cNvPr id="104" name="Oval 25"/>
          <p:cNvSpPr>
            <a:spLocks noChangeArrowheads="1"/>
          </p:cNvSpPr>
          <p:nvPr/>
        </p:nvSpPr>
        <p:spPr bwMode="auto">
          <a:xfrm>
            <a:off x="9586812" y="4265190"/>
            <a:ext cx="96838" cy="96838"/>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 name="Line 26"/>
          <p:cNvSpPr>
            <a:spLocks noChangeShapeType="1"/>
          </p:cNvSpPr>
          <p:nvPr/>
        </p:nvSpPr>
        <p:spPr bwMode="auto">
          <a:xfrm rot="9600000" flipH="1" flipV="1">
            <a:off x="9786837" y="4292178"/>
            <a:ext cx="214313" cy="744537"/>
          </a:xfrm>
          <a:prstGeom prst="line">
            <a:avLst/>
          </a:prstGeom>
          <a:noFill/>
          <a:ln w="28575">
            <a:solidFill>
              <a:srgbClr val="FFC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6" name="Line 27"/>
          <p:cNvSpPr>
            <a:spLocks noChangeShapeType="1"/>
          </p:cNvSpPr>
          <p:nvPr/>
        </p:nvSpPr>
        <p:spPr bwMode="auto">
          <a:xfrm rot="9600000" flipH="1" flipV="1">
            <a:off x="10242450" y="4900190"/>
            <a:ext cx="214312" cy="744538"/>
          </a:xfrm>
          <a:prstGeom prst="line">
            <a:avLst/>
          </a:prstGeom>
          <a:noFill/>
          <a:ln w="28575">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7" name="Line 28"/>
          <p:cNvSpPr>
            <a:spLocks noChangeShapeType="1"/>
          </p:cNvSpPr>
          <p:nvPr/>
        </p:nvSpPr>
        <p:spPr bwMode="auto">
          <a:xfrm flipV="1">
            <a:off x="8804175" y="4328690"/>
            <a:ext cx="809625" cy="1101725"/>
          </a:xfrm>
          <a:prstGeom prst="line">
            <a:avLst/>
          </a:prstGeom>
          <a:noFill/>
          <a:ln w="28575">
            <a:solidFill>
              <a:srgbClr val="00FF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8" name="Text Box 29"/>
          <p:cNvSpPr txBox="1">
            <a:spLocks noChangeArrowheads="1"/>
          </p:cNvSpPr>
          <p:nvPr/>
        </p:nvSpPr>
        <p:spPr bwMode="auto">
          <a:xfrm>
            <a:off x="8895307" y="4558174"/>
            <a:ext cx="6604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66FF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800" b="1" i="1" dirty="0">
                <a:solidFill>
                  <a:schemeClr val="accent1">
                    <a:lumMod val="75000"/>
                  </a:schemeClr>
                </a:solidFill>
                <a:cs typeface="Times New Roman" panose="02020603050405020304" pitchFamily="18" charset="0"/>
              </a:rPr>
              <a:t>r</a:t>
            </a:r>
          </a:p>
        </p:txBody>
      </p:sp>
      <p:sp>
        <p:nvSpPr>
          <p:cNvPr id="109" name="Line 30"/>
          <p:cNvSpPr>
            <a:spLocks noChangeShapeType="1"/>
          </p:cNvSpPr>
          <p:nvPr/>
        </p:nvSpPr>
        <p:spPr bwMode="auto">
          <a:xfrm rot="5400000" flipH="1" flipV="1">
            <a:off x="10556775" y="3636540"/>
            <a:ext cx="214312" cy="744538"/>
          </a:xfrm>
          <a:prstGeom prst="line">
            <a:avLst/>
          </a:prstGeom>
          <a:noFill/>
          <a:ln w="28575">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0" name="Text Box 31"/>
          <p:cNvSpPr txBox="1">
            <a:spLocks noChangeArrowheads="1"/>
          </p:cNvSpPr>
          <p:nvPr/>
        </p:nvSpPr>
        <p:spPr bwMode="auto">
          <a:xfrm>
            <a:off x="10437712" y="3401590"/>
            <a:ext cx="6604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800" b="1" i="1" dirty="0">
                <a:solidFill>
                  <a:srgbClr val="FF0000"/>
                </a:solidFill>
                <a:cs typeface="Times New Roman" panose="02020603050405020304" pitchFamily="18" charset="0"/>
              </a:rPr>
              <a:t>F</a:t>
            </a:r>
            <a:r>
              <a:rPr lang="en-US" altLang="zh-CN" sz="2800" b="0" i="0" baseline="-25000" dirty="0">
                <a:solidFill>
                  <a:srgbClr val="FF0000"/>
                </a:solidFill>
                <a:cs typeface="Times New Roman" panose="02020603050405020304" pitchFamily="18" charset="0"/>
                <a:sym typeface="Symbol" panose="05050102010706020507" pitchFamily="18" charset="2"/>
              </a:rPr>
              <a:t></a:t>
            </a:r>
            <a:endParaRPr lang="en-US" altLang="zh-CN" b="0" i="0" baseline="-25000" dirty="0">
              <a:solidFill>
                <a:srgbClr val="FF0000"/>
              </a:solidFill>
              <a:cs typeface="Times New Roman" panose="02020603050405020304" pitchFamily="18" charset="0"/>
              <a:sym typeface="Symbol" panose="05050102010706020507" pitchFamily="18" charset="2"/>
            </a:endParaRPr>
          </a:p>
        </p:txBody>
      </p:sp>
      <p:sp>
        <p:nvSpPr>
          <p:cNvPr id="111" name="Line 32"/>
          <p:cNvSpPr>
            <a:spLocks noChangeShapeType="1"/>
          </p:cNvSpPr>
          <p:nvPr/>
        </p:nvSpPr>
        <p:spPr bwMode="auto">
          <a:xfrm rot="9600000" flipH="1" flipV="1">
            <a:off x="9666187" y="4114378"/>
            <a:ext cx="1063625" cy="295275"/>
          </a:xfrm>
          <a:prstGeom prst="line">
            <a:avLst/>
          </a:prstGeom>
          <a:noFill/>
          <a:ln w="28575">
            <a:solidFill>
              <a:srgbClr val="00FF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2" name="Text Box 33"/>
          <p:cNvSpPr txBox="1">
            <a:spLocks noChangeArrowheads="1"/>
          </p:cNvSpPr>
          <p:nvPr/>
        </p:nvSpPr>
        <p:spPr bwMode="auto">
          <a:xfrm>
            <a:off x="9942412" y="4155653"/>
            <a:ext cx="6604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66FF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800" b="0" i="0" dirty="0" err="1">
                <a:solidFill>
                  <a:schemeClr val="accent1">
                    <a:lumMod val="75000"/>
                  </a:schemeClr>
                </a:solidFill>
                <a:cs typeface="Times New Roman" panose="02020603050405020304" pitchFamily="18" charset="0"/>
              </a:rPr>
              <a:t>d</a:t>
            </a:r>
            <a:r>
              <a:rPr lang="en-US" altLang="zh-CN" sz="2800" b="1" i="1" dirty="0" err="1">
                <a:solidFill>
                  <a:schemeClr val="accent1">
                    <a:lumMod val="75000"/>
                  </a:schemeClr>
                </a:solidFill>
                <a:cs typeface="Times New Roman" panose="02020603050405020304" pitchFamily="18" charset="0"/>
              </a:rPr>
              <a:t>r</a:t>
            </a:r>
            <a:endParaRPr lang="en-US" altLang="zh-CN" sz="2800" b="1" i="1" dirty="0">
              <a:solidFill>
                <a:schemeClr val="accent1">
                  <a:lumMod val="75000"/>
                </a:schemeClr>
              </a:solidFill>
              <a:cs typeface="Times New Roman" panose="02020603050405020304" pitchFamily="18" charset="0"/>
            </a:endParaRPr>
          </a:p>
        </p:txBody>
      </p:sp>
      <p:sp>
        <p:nvSpPr>
          <p:cNvPr id="113" name="Text Box 34"/>
          <p:cNvSpPr txBox="1">
            <a:spLocks noChangeArrowheads="1"/>
          </p:cNvSpPr>
          <p:nvPr/>
        </p:nvSpPr>
        <p:spPr bwMode="auto">
          <a:xfrm>
            <a:off x="10199587" y="3739728"/>
            <a:ext cx="6604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66FF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800" b="0" i="0" dirty="0">
                <a:solidFill>
                  <a:schemeClr val="accent1">
                    <a:lumMod val="75000"/>
                  </a:schemeClr>
                </a:solidFill>
                <a:cs typeface="Times New Roman" panose="02020603050405020304" pitchFamily="18" charset="0"/>
              </a:rPr>
              <a:t>d</a:t>
            </a:r>
            <a:r>
              <a:rPr lang="en-US" altLang="zh-CN" sz="2800" b="0" i="1" dirty="0">
                <a:solidFill>
                  <a:schemeClr val="accent1">
                    <a:lumMod val="75000"/>
                  </a:schemeClr>
                </a:solidFill>
                <a:cs typeface="Times New Roman" panose="02020603050405020304" pitchFamily="18" charset="0"/>
              </a:rPr>
              <a:t>s</a:t>
            </a:r>
          </a:p>
        </p:txBody>
      </p:sp>
      <p:sp>
        <p:nvSpPr>
          <p:cNvPr id="114" name="Line 35"/>
          <p:cNvSpPr>
            <a:spLocks noChangeShapeType="1"/>
          </p:cNvSpPr>
          <p:nvPr/>
        </p:nvSpPr>
        <p:spPr bwMode="auto">
          <a:xfrm>
            <a:off x="9626500" y="4341390"/>
            <a:ext cx="0" cy="1546225"/>
          </a:xfrm>
          <a:prstGeom prst="line">
            <a:avLst/>
          </a:prstGeom>
          <a:noFill/>
          <a:ln w="9525">
            <a:solidFill>
              <a:schemeClr val="tx1"/>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5" name="Line 36"/>
          <p:cNvSpPr>
            <a:spLocks noChangeShapeType="1"/>
          </p:cNvSpPr>
          <p:nvPr/>
        </p:nvSpPr>
        <p:spPr bwMode="auto">
          <a:xfrm flipH="1">
            <a:off x="8389837" y="5887615"/>
            <a:ext cx="1223963" cy="0"/>
          </a:xfrm>
          <a:prstGeom prst="line">
            <a:avLst/>
          </a:prstGeom>
          <a:noFill/>
          <a:ln w="9525">
            <a:solidFill>
              <a:schemeClr val="tx1"/>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6" name="Line 37"/>
          <p:cNvSpPr>
            <a:spLocks noChangeShapeType="1"/>
          </p:cNvSpPr>
          <p:nvPr/>
        </p:nvSpPr>
        <p:spPr bwMode="auto">
          <a:xfrm flipH="1">
            <a:off x="9601100" y="5471690"/>
            <a:ext cx="430212" cy="430213"/>
          </a:xfrm>
          <a:prstGeom prst="line">
            <a:avLst/>
          </a:prstGeom>
          <a:noFill/>
          <a:ln w="9525">
            <a:solidFill>
              <a:schemeClr val="tx1"/>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7" name="Text Box 38"/>
          <p:cNvSpPr txBox="1">
            <a:spLocks noChangeArrowheads="1"/>
          </p:cNvSpPr>
          <p:nvPr/>
        </p:nvSpPr>
        <p:spPr bwMode="auto">
          <a:xfrm>
            <a:off x="8786712" y="5701878"/>
            <a:ext cx="6604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66FF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800" b="0" i="1" dirty="0">
                <a:cs typeface="Times New Roman" panose="02020603050405020304" pitchFamily="18" charset="0"/>
              </a:rPr>
              <a:t>y</a:t>
            </a:r>
          </a:p>
        </p:txBody>
      </p:sp>
      <p:sp>
        <p:nvSpPr>
          <p:cNvPr id="118" name="Text Box 39"/>
          <p:cNvSpPr txBox="1">
            <a:spLocks noChangeArrowheads="1"/>
          </p:cNvSpPr>
          <p:nvPr/>
        </p:nvSpPr>
        <p:spPr bwMode="auto">
          <a:xfrm>
            <a:off x="9728100" y="5419303"/>
            <a:ext cx="6604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66FF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800" b="0" i="1" dirty="0">
                <a:cs typeface="Times New Roman" panose="02020603050405020304" pitchFamily="18" charset="0"/>
              </a:rPr>
              <a:t>x</a:t>
            </a:r>
          </a:p>
        </p:txBody>
      </p:sp>
      <p:sp>
        <p:nvSpPr>
          <p:cNvPr id="119" name="Text Box 40"/>
          <p:cNvSpPr txBox="1">
            <a:spLocks noChangeArrowheads="1"/>
          </p:cNvSpPr>
          <p:nvPr/>
        </p:nvSpPr>
        <p:spPr bwMode="auto">
          <a:xfrm>
            <a:off x="9162950" y="4827165"/>
            <a:ext cx="6604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66FF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800" b="0" i="1" dirty="0">
                <a:cs typeface="Times New Roman" panose="02020603050405020304" pitchFamily="18" charset="0"/>
              </a:rPr>
              <a:t>z</a:t>
            </a:r>
          </a:p>
        </p:txBody>
      </p:sp>
      <p:sp>
        <p:nvSpPr>
          <p:cNvPr id="120" name="Arc 41"/>
          <p:cNvSpPr>
            <a:spLocks/>
          </p:cNvSpPr>
          <p:nvPr/>
        </p:nvSpPr>
        <p:spPr bwMode="auto">
          <a:xfrm rot="11106470" flipV="1">
            <a:off x="9553475" y="4173115"/>
            <a:ext cx="1962150" cy="1676400"/>
          </a:xfrm>
          <a:custGeom>
            <a:avLst/>
            <a:gdLst>
              <a:gd name="G0" fmla="+- 0 0 0"/>
              <a:gd name="G1" fmla="+- 21065 0 0"/>
              <a:gd name="G2" fmla="+- 21600 0 0"/>
              <a:gd name="T0" fmla="*/ 4778 w 11607"/>
              <a:gd name="T1" fmla="*/ 0 h 21065"/>
              <a:gd name="T2" fmla="*/ 11607 w 11607"/>
              <a:gd name="T3" fmla="*/ 2849 h 21065"/>
              <a:gd name="T4" fmla="*/ 0 w 11607"/>
              <a:gd name="T5" fmla="*/ 21065 h 21065"/>
            </a:gdLst>
            <a:ahLst/>
            <a:cxnLst>
              <a:cxn ang="0">
                <a:pos x="T0" y="T1"/>
              </a:cxn>
              <a:cxn ang="0">
                <a:pos x="T2" y="T3"/>
              </a:cxn>
              <a:cxn ang="0">
                <a:pos x="T4" y="T5"/>
              </a:cxn>
            </a:cxnLst>
            <a:rect l="0" t="0" r="r" b="b"/>
            <a:pathLst>
              <a:path w="11607" h="21065" fill="none" extrusionOk="0">
                <a:moveTo>
                  <a:pt x="4777" y="0"/>
                </a:moveTo>
                <a:cubicBezTo>
                  <a:pt x="7201" y="549"/>
                  <a:pt x="9511" y="1513"/>
                  <a:pt x="11607" y="2848"/>
                </a:cubicBezTo>
              </a:path>
              <a:path w="11607" h="21065" stroke="0" extrusionOk="0">
                <a:moveTo>
                  <a:pt x="4777" y="0"/>
                </a:moveTo>
                <a:cubicBezTo>
                  <a:pt x="7201" y="549"/>
                  <a:pt x="9511" y="1513"/>
                  <a:pt x="11607" y="2848"/>
                </a:cubicBezTo>
                <a:lnTo>
                  <a:pt x="0" y="21065"/>
                </a:lnTo>
                <a:close/>
              </a:path>
            </a:pathLst>
          </a:custGeom>
          <a:noFill/>
          <a:ln w="19050">
            <a:solidFill>
              <a:srgbClr val="FF66CC"/>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1" name="Text Box 1032"/>
          <p:cNvSpPr txBox="1">
            <a:spLocks noChangeArrowheads="1"/>
          </p:cNvSpPr>
          <p:nvPr/>
        </p:nvSpPr>
        <p:spPr bwMode="auto">
          <a:xfrm>
            <a:off x="570416" y="2565773"/>
            <a:ext cx="6811098"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20000"/>
              </a:lnSpc>
            </a:pPr>
            <a:r>
              <a:rPr lang="zh-CN" altLang="en-US" sz="2800" i="0" dirty="0">
                <a:ea typeface="微软雅黑" panose="020B0503020204020204" pitchFamily="34" charset="-122"/>
              </a:rPr>
              <a:t>由于</a:t>
            </a:r>
            <a:r>
              <a:rPr lang="en-US" altLang="zh-CN" sz="2800" dirty="0">
                <a:ea typeface="微软雅黑" panose="020B0503020204020204" pitchFamily="34" charset="-122"/>
              </a:rPr>
              <a:t>F</a:t>
            </a:r>
            <a:r>
              <a:rPr lang="zh-CN" altLang="en-US" sz="2800" i="0" dirty="0">
                <a:ea typeface="微软雅黑" panose="020B0503020204020204" pitchFamily="34" charset="-122"/>
              </a:rPr>
              <a:t>是变力，因此把</a:t>
            </a:r>
            <a:r>
              <a:rPr lang="en-US" altLang="zh-CN" sz="2800" b="0" dirty="0">
                <a:ea typeface="微软雅黑" panose="020B0503020204020204" pitchFamily="34" charset="-122"/>
              </a:rPr>
              <a:t>M</a:t>
            </a:r>
            <a:r>
              <a:rPr lang="en-US" altLang="zh-CN" sz="2800" b="0" i="0" baseline="-25000" dirty="0">
                <a:ea typeface="微软雅黑" panose="020B0503020204020204" pitchFamily="34" charset="-122"/>
              </a:rPr>
              <a:t>1</a:t>
            </a:r>
            <a:r>
              <a:rPr lang="en-US" altLang="zh-CN" sz="2800" b="0" dirty="0">
                <a:ea typeface="微软雅黑" panose="020B0503020204020204" pitchFamily="34" charset="-122"/>
              </a:rPr>
              <a:t>M</a:t>
            </a:r>
            <a:r>
              <a:rPr lang="en-US" altLang="zh-CN" sz="2800" b="0" i="0" baseline="-25000" dirty="0">
                <a:ea typeface="微软雅黑" panose="020B0503020204020204" pitchFamily="34" charset="-122"/>
              </a:rPr>
              <a:t>2</a:t>
            </a:r>
            <a:r>
              <a:rPr lang="zh-CN" altLang="en-US" sz="2800" i="0" dirty="0">
                <a:ea typeface="微软雅黑" panose="020B0503020204020204" pitchFamily="34" charset="-122"/>
              </a:rPr>
              <a:t>分成无数微小的段。在微小弧段</a:t>
            </a:r>
            <a:r>
              <a:rPr lang="en-US" altLang="zh-CN" sz="2800" b="0" i="0" dirty="0">
                <a:ea typeface="微软雅黑" panose="020B0503020204020204" pitchFamily="34" charset="-122"/>
              </a:rPr>
              <a:t>d</a:t>
            </a:r>
            <a:r>
              <a:rPr lang="en-US" altLang="zh-CN" sz="2800" b="0" dirty="0">
                <a:ea typeface="微软雅黑" panose="020B0503020204020204" pitchFamily="34" charset="-122"/>
              </a:rPr>
              <a:t>s</a:t>
            </a:r>
            <a:r>
              <a:rPr lang="zh-CN" altLang="en-US" sz="2800" i="0" dirty="0">
                <a:ea typeface="微软雅黑" panose="020B0503020204020204" pitchFamily="34" charset="-122"/>
              </a:rPr>
              <a:t>上，力</a:t>
            </a:r>
            <a:r>
              <a:rPr lang="en-US" altLang="zh-CN" sz="2800" dirty="0">
                <a:ea typeface="微软雅黑" panose="020B0503020204020204" pitchFamily="34" charset="-122"/>
              </a:rPr>
              <a:t>F</a:t>
            </a:r>
            <a:r>
              <a:rPr lang="zh-CN" altLang="en-US" sz="2800" i="0" dirty="0">
                <a:ea typeface="微软雅黑" panose="020B0503020204020204" pitchFamily="34" charset="-122"/>
              </a:rPr>
              <a:t>可近似地看成常力，</a:t>
            </a:r>
            <a:r>
              <a:rPr lang="en-US" altLang="zh-CN" sz="2800" b="0" i="0" dirty="0">
                <a:ea typeface="微软雅黑" panose="020B0503020204020204" pitchFamily="34" charset="-122"/>
              </a:rPr>
              <a:t> d</a:t>
            </a:r>
            <a:r>
              <a:rPr lang="en-US" altLang="zh-CN" sz="2800" b="0" dirty="0">
                <a:ea typeface="微软雅黑" panose="020B0503020204020204" pitchFamily="34" charset="-122"/>
              </a:rPr>
              <a:t>s</a:t>
            </a:r>
            <a:r>
              <a:rPr lang="zh-CN" altLang="en-US" sz="2800" i="0" dirty="0">
                <a:ea typeface="微软雅黑" panose="020B0503020204020204" pitchFamily="34" charset="-122"/>
              </a:rPr>
              <a:t>也近似为直线，力在微小弧段</a:t>
            </a:r>
            <a:r>
              <a:rPr lang="en-US" altLang="zh-CN" sz="2800" b="0" i="0" dirty="0">
                <a:ea typeface="微软雅黑" panose="020B0503020204020204" pitchFamily="34" charset="-122"/>
              </a:rPr>
              <a:t>d</a:t>
            </a:r>
            <a:r>
              <a:rPr lang="en-US" altLang="zh-CN" sz="2800" b="0" dirty="0">
                <a:ea typeface="微软雅黑" panose="020B0503020204020204" pitchFamily="34" charset="-122"/>
              </a:rPr>
              <a:t>s</a:t>
            </a:r>
            <a:r>
              <a:rPr lang="zh-CN" altLang="en-US" sz="2800" i="0" dirty="0">
                <a:ea typeface="微软雅黑" panose="020B0503020204020204" pitchFamily="34" charset="-122"/>
              </a:rPr>
              <a:t>中的元功为  </a:t>
            </a:r>
          </a:p>
          <a:p>
            <a:pPr algn="just">
              <a:lnSpc>
                <a:spcPct val="120000"/>
              </a:lnSpc>
            </a:pPr>
            <a:r>
              <a:rPr lang="en-US" altLang="zh-CN" sz="2800" dirty="0">
                <a:sym typeface="Symbol" panose="05050102010706020507" pitchFamily="18" charset="2"/>
              </a:rPr>
              <a:t>             </a:t>
            </a:r>
            <a:r>
              <a:rPr lang="en-US" altLang="zh-CN" sz="2800" b="0" dirty="0">
                <a:sym typeface="Symbol" panose="05050102010706020507" pitchFamily="18" charset="2"/>
              </a:rPr>
              <a:t></a:t>
            </a:r>
            <a:r>
              <a:rPr lang="en-US" altLang="zh-CN" sz="2800" b="0" dirty="0"/>
              <a:t>W=</a:t>
            </a:r>
            <a:r>
              <a:rPr lang="en-US" altLang="zh-CN" sz="2800" b="0" dirty="0" err="1"/>
              <a:t>F</a:t>
            </a:r>
            <a:r>
              <a:rPr lang="en-US" altLang="zh-CN" sz="2800" b="0" i="0" dirty="0" err="1"/>
              <a:t>cos</a:t>
            </a:r>
            <a:r>
              <a:rPr lang="en-US" altLang="zh-CN" sz="2800" b="0" dirty="0">
                <a:sym typeface="Symbol" panose="05050102010706020507" pitchFamily="18" charset="2"/>
              </a:rPr>
              <a:t></a:t>
            </a:r>
            <a:r>
              <a:rPr lang="en-US" altLang="zh-CN" sz="2800" b="0" dirty="0"/>
              <a:t>·</a:t>
            </a:r>
            <a:r>
              <a:rPr lang="en-US" altLang="zh-CN" sz="2800" b="0" i="0" dirty="0"/>
              <a:t>d</a:t>
            </a:r>
            <a:r>
              <a:rPr lang="en-US" altLang="zh-CN" sz="2800" b="0" dirty="0"/>
              <a:t>s</a:t>
            </a:r>
            <a:endParaRPr lang="zh-CN" altLang="en-US" sz="2800" b="0" dirty="0">
              <a:latin typeface="+mn-lt"/>
              <a:ea typeface="微软雅黑" panose="020B0503020204020204" pitchFamily="34" charset="-122"/>
            </a:endParaRPr>
          </a:p>
        </p:txBody>
      </p:sp>
      <p:sp>
        <p:nvSpPr>
          <p:cNvPr id="122" name="Text Box 1032"/>
          <p:cNvSpPr txBox="1">
            <a:spLocks noChangeArrowheads="1"/>
          </p:cNvSpPr>
          <p:nvPr/>
        </p:nvSpPr>
        <p:spPr bwMode="auto">
          <a:xfrm>
            <a:off x="570416" y="5243429"/>
            <a:ext cx="6811098" cy="596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30000"/>
              </a:lnSpc>
            </a:pPr>
            <a:r>
              <a:rPr lang="zh-CN" altLang="en-US" sz="2800" b="0" dirty="0">
                <a:sym typeface="Symbol" panose="05050102010706020507" pitchFamily="18" charset="2"/>
              </a:rPr>
              <a:t></a:t>
            </a:r>
            <a:r>
              <a:rPr lang="zh-CN" altLang="en-US" sz="2800" dirty="0">
                <a:sym typeface="Symbol" panose="05050102010706020507" pitchFamily="18" charset="2"/>
              </a:rPr>
              <a:t> </a:t>
            </a:r>
            <a:r>
              <a:rPr lang="zh-CN" altLang="en-US" sz="2800" i="0" dirty="0">
                <a:ea typeface="微软雅黑" panose="020B0503020204020204" pitchFamily="34" charset="-122"/>
              </a:rPr>
              <a:t>是力</a:t>
            </a:r>
            <a:r>
              <a:rPr lang="zh-CN" altLang="en-US" sz="2800" dirty="0"/>
              <a:t> </a:t>
            </a:r>
            <a:r>
              <a:rPr lang="en-US" altLang="zh-CN" sz="2800" dirty="0"/>
              <a:t>F</a:t>
            </a:r>
            <a:r>
              <a:rPr lang="zh-CN" altLang="en-US" sz="2800" i="0" dirty="0">
                <a:ea typeface="微软雅黑" panose="020B0503020204020204" pitchFamily="34" charset="-122"/>
              </a:rPr>
              <a:t>与轨迹切向之夹角。</a:t>
            </a:r>
          </a:p>
        </p:txBody>
      </p:sp>
      <p:pic>
        <p:nvPicPr>
          <p:cNvPr id="123" name="002-5.avi">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extLst>
              <a:ext uri="{28A0092B-C50C-407E-A947-70E740481C1C}">
                <a14:useLocalDpi xmlns:a14="http://schemas.microsoft.com/office/drawing/2010/main" val="0"/>
              </a:ext>
            </a:extLst>
          </a:blip>
          <a:srcRect/>
          <a:stretch>
            <a:fillRect/>
          </a:stretch>
        </p:blipFill>
        <p:spPr bwMode="auto">
          <a:xfrm>
            <a:off x="8037508" y="991921"/>
            <a:ext cx="3782384" cy="2458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68100499"/>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9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9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9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9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9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0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0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0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03"/>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04"/>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05"/>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06"/>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07"/>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08"/>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09"/>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10"/>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11"/>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112"/>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13"/>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14"/>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15"/>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116"/>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117"/>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118"/>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119"/>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120"/>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121"/>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1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81" fill="hold" display="0">
                  <p:stCondLst>
                    <p:cond delay="indefinite"/>
                  </p:stCondLst>
                </p:cTn>
                <p:tgtEl>
                  <p:spTgt spid="123"/>
                </p:tgtEl>
              </p:cMediaNode>
            </p:video>
          </p:childTnLst>
        </p:cTn>
      </p:par>
    </p:tnLst>
    <p:bldLst>
      <p:bldP spid="52" grpId="0" autoUpdateAnimBg="0"/>
      <p:bldP spid="92" grpId="0" animBg="1"/>
      <p:bldP spid="93" grpId="0"/>
      <p:bldP spid="94" grpId="0"/>
      <p:bldP spid="95" grpId="0"/>
      <p:bldP spid="96" grpId="0" animBg="1"/>
      <p:bldP spid="97" grpId="0"/>
      <p:bldP spid="98" grpId="0" animBg="1"/>
      <p:bldP spid="99" grpId="0"/>
      <p:bldP spid="100" grpId="0" animBg="1"/>
      <p:bldP spid="101" grpId="0"/>
      <p:bldP spid="102" grpId="0" animBg="1"/>
      <p:bldP spid="103" grpId="0"/>
      <p:bldP spid="104" grpId="0" animBg="1"/>
      <p:bldP spid="105" grpId="0" animBg="1"/>
      <p:bldP spid="106" grpId="0" animBg="1"/>
      <p:bldP spid="107" grpId="0" animBg="1"/>
      <p:bldP spid="108" grpId="0"/>
      <p:bldP spid="109" grpId="0" animBg="1"/>
      <p:bldP spid="110" grpId="0"/>
      <p:bldP spid="111" grpId="0" animBg="1"/>
      <p:bldP spid="112" grpId="0"/>
      <p:bldP spid="113" grpId="0"/>
      <p:bldP spid="114" grpId="0" animBg="1"/>
      <p:bldP spid="115" grpId="0" animBg="1"/>
      <p:bldP spid="116" grpId="0" animBg="1"/>
      <p:bldP spid="117" grpId="0"/>
      <p:bldP spid="118" grpId="0"/>
      <p:bldP spid="119" grpId="0"/>
      <p:bldP spid="120" grpId="0" animBg="1"/>
      <p:bldP spid="121" grpId="0"/>
      <p:bldP spid="122"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4653838"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第七章   动力学普遍定理</a:t>
            </a:r>
          </a:p>
        </p:txBody>
      </p:sp>
      <p:sp>
        <p:nvSpPr>
          <p:cNvPr id="52" name="Text Box 1032"/>
          <p:cNvSpPr txBox="1">
            <a:spLocks noChangeArrowheads="1"/>
          </p:cNvSpPr>
          <p:nvPr/>
        </p:nvSpPr>
        <p:spPr bwMode="auto">
          <a:xfrm>
            <a:off x="570416" y="799357"/>
            <a:ext cx="7109759" cy="1643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20000"/>
              </a:lnSpc>
            </a:pPr>
            <a:r>
              <a:rPr lang="zh-CN" altLang="en-US" sz="2800" i="0" dirty="0">
                <a:latin typeface="+mn-lt"/>
                <a:ea typeface="微软雅黑" panose="020B0503020204020204" pitchFamily="34" charset="-122"/>
              </a:rPr>
              <a:t>当</a:t>
            </a:r>
            <a:r>
              <a:rPr lang="en-US" altLang="zh-CN" sz="2800" b="0" i="0" dirty="0">
                <a:latin typeface="+mn-lt"/>
                <a:ea typeface="微软雅黑" panose="020B0503020204020204" pitchFamily="34" charset="-122"/>
              </a:rPr>
              <a:t>d</a:t>
            </a:r>
            <a:r>
              <a:rPr lang="en-US" altLang="zh-CN" sz="2800" b="0" dirty="0">
                <a:latin typeface="+mn-lt"/>
                <a:ea typeface="微软雅黑" panose="020B0503020204020204" pitchFamily="34" charset="-122"/>
              </a:rPr>
              <a:t>s</a:t>
            </a:r>
            <a:r>
              <a:rPr lang="zh-CN" altLang="en-US" sz="2800" i="0" dirty="0">
                <a:latin typeface="+mn-lt"/>
                <a:ea typeface="微软雅黑" panose="020B0503020204020204" pitchFamily="34" charset="-122"/>
              </a:rPr>
              <a:t>足够小时，</a:t>
            </a:r>
            <a:r>
              <a:rPr lang="en-US" altLang="zh-CN" sz="2800" b="0" i="0" dirty="0">
                <a:latin typeface="+mn-lt"/>
                <a:ea typeface="微软雅黑" panose="020B0503020204020204" pitchFamily="34" charset="-122"/>
              </a:rPr>
              <a:t>d</a:t>
            </a:r>
            <a:r>
              <a:rPr lang="en-US" altLang="zh-CN" sz="2800" b="0" dirty="0">
                <a:latin typeface="+mn-lt"/>
                <a:ea typeface="微软雅黑" panose="020B0503020204020204" pitchFamily="34" charset="-122"/>
              </a:rPr>
              <a:t>s</a:t>
            </a:r>
            <a:r>
              <a:rPr lang="zh-CN" altLang="en-US" sz="2800" b="0" i="0" dirty="0">
                <a:latin typeface="+mn-lt"/>
                <a:ea typeface="微软雅黑" panose="020B0503020204020204" pitchFamily="34" charset="-122"/>
              </a:rPr>
              <a:t>＝</a:t>
            </a:r>
            <a:r>
              <a:rPr lang="en-US" altLang="zh-CN" sz="2800" b="0" i="0" dirty="0">
                <a:latin typeface="+mn-lt"/>
                <a:ea typeface="微软雅黑" panose="020B0503020204020204" pitchFamily="34" charset="-122"/>
              </a:rPr>
              <a:t>|</a:t>
            </a:r>
            <a:r>
              <a:rPr lang="en-US" altLang="zh-CN" sz="2800" b="0" i="0" dirty="0" err="1">
                <a:latin typeface="+mn-lt"/>
                <a:ea typeface="微软雅黑" panose="020B0503020204020204" pitchFamily="34" charset="-122"/>
              </a:rPr>
              <a:t>d</a:t>
            </a:r>
            <a:r>
              <a:rPr lang="en-US" altLang="zh-CN" sz="2800" dirty="0" err="1">
                <a:latin typeface="+mn-lt"/>
                <a:ea typeface="微软雅黑" panose="020B0503020204020204" pitchFamily="34" charset="-122"/>
              </a:rPr>
              <a:t>r</a:t>
            </a:r>
            <a:r>
              <a:rPr lang="en-US" altLang="zh-CN" sz="2800" b="0" i="0" dirty="0">
                <a:ea typeface="微软雅黑" panose="020B0503020204020204" pitchFamily="34" charset="-122"/>
              </a:rPr>
              <a:t>|</a:t>
            </a:r>
            <a:r>
              <a:rPr lang="zh-CN" altLang="en-US" sz="2800" b="0" i="0" dirty="0">
                <a:ea typeface="微软雅黑" panose="020B0503020204020204" pitchFamily="34" charset="-122"/>
              </a:rPr>
              <a:t> </a:t>
            </a:r>
            <a:r>
              <a:rPr lang="zh-CN" altLang="en-US" sz="2800" i="0" dirty="0">
                <a:latin typeface="+mn-lt"/>
                <a:ea typeface="微软雅黑" panose="020B0503020204020204" pitchFamily="34" charset="-122"/>
              </a:rPr>
              <a:t>，其中</a:t>
            </a:r>
            <a:r>
              <a:rPr lang="en-US" altLang="zh-CN" sz="2800" b="0" i="0" dirty="0" err="1">
                <a:latin typeface="+mn-lt"/>
                <a:ea typeface="微软雅黑" panose="020B0503020204020204" pitchFamily="34" charset="-122"/>
              </a:rPr>
              <a:t>d</a:t>
            </a:r>
            <a:r>
              <a:rPr lang="en-US" altLang="zh-CN" sz="2800" dirty="0" err="1">
                <a:latin typeface="+mn-lt"/>
                <a:ea typeface="微软雅黑" panose="020B0503020204020204" pitchFamily="34" charset="-122"/>
              </a:rPr>
              <a:t>r</a:t>
            </a:r>
            <a:r>
              <a:rPr lang="zh-CN" altLang="en-US" sz="2800" i="0" dirty="0">
                <a:latin typeface="+mn-lt"/>
                <a:ea typeface="微软雅黑" panose="020B0503020204020204" pitchFamily="34" charset="-122"/>
              </a:rPr>
              <a:t>是与</a:t>
            </a:r>
            <a:r>
              <a:rPr lang="en-US" altLang="zh-CN" sz="2800" b="0" i="0" dirty="0">
                <a:ea typeface="微软雅黑" panose="020B0503020204020204" pitchFamily="34" charset="-122"/>
              </a:rPr>
              <a:t>d</a:t>
            </a:r>
            <a:r>
              <a:rPr lang="en-US" altLang="zh-CN" sz="2800" b="0" dirty="0">
                <a:ea typeface="微软雅黑" panose="020B0503020204020204" pitchFamily="34" charset="-122"/>
              </a:rPr>
              <a:t>s</a:t>
            </a:r>
            <a:r>
              <a:rPr lang="zh-CN" altLang="en-US" sz="2800" i="0" dirty="0">
                <a:latin typeface="+mn-lt"/>
                <a:ea typeface="微软雅黑" panose="020B0503020204020204" pitchFamily="34" charset="-122"/>
              </a:rPr>
              <a:t>相对应的微小位移，元功可表示为矢量积</a:t>
            </a:r>
            <a:endParaRPr lang="en-US" altLang="zh-CN" sz="2800" i="0" dirty="0">
              <a:latin typeface="+mn-lt"/>
              <a:ea typeface="微软雅黑" panose="020B0503020204020204" pitchFamily="34" charset="-122"/>
            </a:endParaRPr>
          </a:p>
          <a:p>
            <a:pPr>
              <a:lnSpc>
                <a:spcPct val="120000"/>
              </a:lnSpc>
            </a:pPr>
            <a:r>
              <a:rPr lang="zh-CN" altLang="en-US" sz="2800" dirty="0">
                <a:sym typeface="Symbol" panose="05050102010706020507" pitchFamily="18" charset="2"/>
              </a:rPr>
              <a:t>              </a:t>
            </a:r>
            <a:r>
              <a:rPr lang="zh-CN" altLang="en-US" sz="2800" b="0" i="0" dirty="0">
                <a:sym typeface="Symbol" panose="05050102010706020507" pitchFamily="18" charset="2"/>
              </a:rPr>
              <a:t></a:t>
            </a:r>
            <a:r>
              <a:rPr lang="en-US" altLang="zh-CN" sz="2800" b="0" dirty="0"/>
              <a:t>W=</a:t>
            </a:r>
            <a:r>
              <a:rPr lang="en-US" altLang="zh-CN" sz="2800" dirty="0" err="1"/>
              <a:t>F</a:t>
            </a:r>
            <a:r>
              <a:rPr lang="en-US" altLang="zh-CN" sz="2800" b="0" i="0" dirty="0" err="1"/>
              <a:t>·d</a:t>
            </a:r>
            <a:r>
              <a:rPr lang="en-US" altLang="zh-CN" sz="2800" dirty="0" err="1"/>
              <a:t>r</a:t>
            </a:r>
            <a:endParaRPr lang="zh-CN" altLang="en-US" sz="2800" i="0" dirty="0">
              <a:latin typeface="+mn-lt"/>
              <a:ea typeface="微软雅黑" panose="020B0503020204020204" pitchFamily="34" charset="-122"/>
            </a:endParaRPr>
          </a:p>
        </p:txBody>
      </p:sp>
      <p:sp>
        <p:nvSpPr>
          <p:cNvPr id="2" name="Rectangle 61">
            <a:extLst>
              <a:ext uri="{FF2B5EF4-FFF2-40B4-BE49-F238E27FC236}">
                <a16:creationId xmlns:a16="http://schemas.microsoft.com/office/drawing/2014/main" id="{7C7AC23E-A1CE-03F9-D8A4-D45156EAD5C0}"/>
              </a:ext>
            </a:extLst>
          </p:cNvPr>
          <p:cNvSpPr>
            <a:spLocks noChangeArrowheads="1"/>
          </p:cNvSpPr>
          <p:nvPr/>
        </p:nvSpPr>
        <p:spPr bwMode="auto">
          <a:xfrm>
            <a:off x="7680175" y="980728"/>
            <a:ext cx="4323605" cy="3925436"/>
          </a:xfrm>
          <a:prstGeom prst="rect">
            <a:avLst/>
          </a:prstGeom>
          <a:solidFill>
            <a:srgbClr val="B9CDE5"/>
          </a:solidFill>
          <a:ln>
            <a:noFill/>
          </a:ln>
          <a:effectLst/>
        </p:spPr>
        <p:txBody>
          <a:bodyPr wrap="none" anchor="ctr"/>
          <a:lstStyle/>
          <a:p>
            <a:endParaRPr lang="zh-CN" altLang="en-US"/>
          </a:p>
        </p:txBody>
      </p:sp>
      <p:sp>
        <p:nvSpPr>
          <p:cNvPr id="121" name="Text Box 1032"/>
          <p:cNvSpPr txBox="1">
            <a:spLocks noChangeArrowheads="1"/>
          </p:cNvSpPr>
          <p:nvPr/>
        </p:nvSpPr>
        <p:spPr bwMode="auto">
          <a:xfrm>
            <a:off x="1706780" y="2480529"/>
            <a:ext cx="6811098" cy="1643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20000"/>
              </a:lnSpc>
            </a:pPr>
            <a:r>
              <a:rPr lang="en-US" altLang="zh-CN" sz="2800" dirty="0">
                <a:ea typeface="微软雅黑" panose="020B0503020204020204" pitchFamily="34" charset="-122"/>
              </a:rPr>
              <a:t>F =</a:t>
            </a:r>
            <a:r>
              <a:rPr lang="en-US" altLang="zh-CN" sz="2800" dirty="0"/>
              <a:t> </a:t>
            </a:r>
            <a:r>
              <a:rPr lang="en-US" altLang="zh-CN" sz="2800" b="0" dirty="0" err="1"/>
              <a:t>F</a:t>
            </a:r>
            <a:r>
              <a:rPr lang="en-US" altLang="zh-CN" sz="2800" b="0" baseline="-25000" dirty="0" err="1"/>
              <a:t>x</a:t>
            </a:r>
            <a:r>
              <a:rPr lang="en-US" altLang="zh-CN" sz="2800" dirty="0" err="1"/>
              <a:t>i+</a:t>
            </a:r>
            <a:r>
              <a:rPr lang="en-US" altLang="zh-CN" sz="2800" b="0" dirty="0" err="1"/>
              <a:t>F</a:t>
            </a:r>
            <a:r>
              <a:rPr lang="en-US" altLang="zh-CN" sz="2800" b="0" baseline="-25000" dirty="0" err="1"/>
              <a:t>y</a:t>
            </a:r>
            <a:r>
              <a:rPr lang="en-US" altLang="zh-CN" sz="2800" dirty="0" err="1"/>
              <a:t>j+</a:t>
            </a:r>
            <a:r>
              <a:rPr lang="en-US" altLang="zh-CN" sz="2800" b="0" dirty="0" err="1"/>
              <a:t>F</a:t>
            </a:r>
            <a:r>
              <a:rPr lang="en-US" altLang="zh-CN" sz="2800" b="0" baseline="-25000" dirty="0" err="1"/>
              <a:t>z</a:t>
            </a:r>
            <a:r>
              <a:rPr lang="en-US" altLang="zh-CN" sz="2800" dirty="0" err="1"/>
              <a:t>k</a:t>
            </a:r>
            <a:endParaRPr lang="en-US" altLang="zh-CN" sz="2800" dirty="0"/>
          </a:p>
          <a:p>
            <a:pPr>
              <a:lnSpc>
                <a:spcPct val="120000"/>
              </a:lnSpc>
            </a:pPr>
            <a:r>
              <a:rPr lang="en-US" altLang="zh-CN" sz="2800" b="0" i="0" dirty="0" err="1"/>
              <a:t>d</a:t>
            </a:r>
            <a:r>
              <a:rPr lang="en-US" altLang="zh-CN" sz="2800" dirty="0" err="1"/>
              <a:t>r</a:t>
            </a:r>
            <a:r>
              <a:rPr lang="en-US" altLang="zh-CN" sz="2800" dirty="0"/>
              <a:t>=</a:t>
            </a:r>
            <a:r>
              <a:rPr lang="en-US" altLang="zh-CN" sz="2800" b="0" i="0" dirty="0" err="1"/>
              <a:t>d</a:t>
            </a:r>
            <a:r>
              <a:rPr lang="en-US" altLang="zh-CN" sz="2800" b="0" dirty="0" err="1"/>
              <a:t>x</a:t>
            </a:r>
            <a:r>
              <a:rPr lang="en-US" altLang="zh-CN" sz="2800" dirty="0" err="1"/>
              <a:t>i+</a:t>
            </a:r>
            <a:r>
              <a:rPr lang="en-US" altLang="zh-CN" sz="2800" b="0" i="0" dirty="0" err="1"/>
              <a:t>d</a:t>
            </a:r>
            <a:r>
              <a:rPr lang="en-US" altLang="zh-CN" sz="2800" b="0" dirty="0" err="1"/>
              <a:t>y</a:t>
            </a:r>
            <a:r>
              <a:rPr lang="en-US" altLang="zh-CN" sz="2800" dirty="0" err="1"/>
              <a:t>j+</a:t>
            </a:r>
            <a:r>
              <a:rPr lang="en-US" altLang="zh-CN" sz="2800" b="0" i="0" dirty="0" err="1"/>
              <a:t>d</a:t>
            </a:r>
            <a:r>
              <a:rPr lang="en-US" altLang="zh-CN" sz="2800" b="0" dirty="0" err="1"/>
              <a:t>z</a:t>
            </a:r>
            <a:r>
              <a:rPr lang="en-US" altLang="zh-CN" sz="2800" dirty="0" err="1"/>
              <a:t>k</a:t>
            </a:r>
            <a:endParaRPr lang="en-US" altLang="zh-CN" sz="2800" dirty="0"/>
          </a:p>
          <a:p>
            <a:pPr>
              <a:lnSpc>
                <a:spcPct val="120000"/>
              </a:lnSpc>
            </a:pPr>
            <a:r>
              <a:rPr lang="zh-CN" altLang="en-US" sz="2800" b="0" i="0" dirty="0">
                <a:sym typeface="Symbol" panose="05050102010706020507" pitchFamily="18" charset="2"/>
              </a:rPr>
              <a:t></a:t>
            </a:r>
            <a:r>
              <a:rPr lang="en-US" altLang="zh-CN" sz="2800" b="0" dirty="0"/>
              <a:t>W=</a:t>
            </a:r>
            <a:r>
              <a:rPr kumimoji="1" lang="en-US" altLang="zh-CN" sz="2800" b="0" dirty="0" err="1">
                <a:ea typeface="黑体" panose="02010609060101010101" pitchFamily="49" charset="-122"/>
              </a:rPr>
              <a:t>F</a:t>
            </a:r>
            <a:r>
              <a:rPr kumimoji="1" lang="en-US" altLang="zh-CN" sz="2800" b="0" baseline="-25000" dirty="0" err="1">
                <a:ea typeface="黑体" panose="02010609060101010101" pitchFamily="49" charset="-122"/>
              </a:rPr>
              <a:t>x</a:t>
            </a:r>
            <a:r>
              <a:rPr kumimoji="1" lang="en-US" altLang="zh-CN" sz="2800" b="0" i="0" dirty="0" err="1">
                <a:ea typeface="黑体" panose="02010609060101010101" pitchFamily="49" charset="-122"/>
              </a:rPr>
              <a:t>d</a:t>
            </a:r>
            <a:r>
              <a:rPr kumimoji="1" lang="en-US" altLang="zh-CN" sz="2800" b="0" dirty="0" err="1">
                <a:ea typeface="黑体" panose="02010609060101010101" pitchFamily="49" charset="-122"/>
              </a:rPr>
              <a:t>x</a:t>
            </a:r>
            <a:r>
              <a:rPr kumimoji="1" lang="en-US" altLang="zh-CN" sz="2800" b="0" i="0" dirty="0" err="1">
                <a:ea typeface="黑体" panose="02010609060101010101" pitchFamily="49" charset="-122"/>
              </a:rPr>
              <a:t>+</a:t>
            </a:r>
            <a:r>
              <a:rPr kumimoji="1" lang="en-US" altLang="zh-CN" sz="2800" b="0" dirty="0" err="1">
                <a:ea typeface="黑体" panose="02010609060101010101" pitchFamily="49" charset="-122"/>
              </a:rPr>
              <a:t>F</a:t>
            </a:r>
            <a:r>
              <a:rPr kumimoji="1" lang="en-US" altLang="zh-CN" sz="2800" b="0" baseline="-25000" dirty="0" err="1">
                <a:ea typeface="黑体" panose="02010609060101010101" pitchFamily="49" charset="-122"/>
              </a:rPr>
              <a:t>y</a:t>
            </a:r>
            <a:r>
              <a:rPr kumimoji="1" lang="en-US" altLang="zh-CN" sz="2800" b="0" i="0" dirty="0" err="1">
                <a:ea typeface="黑体" panose="02010609060101010101" pitchFamily="49" charset="-122"/>
              </a:rPr>
              <a:t>d</a:t>
            </a:r>
            <a:r>
              <a:rPr kumimoji="1" lang="en-US" altLang="zh-CN" sz="2800" b="0" dirty="0" err="1">
                <a:ea typeface="黑体" panose="02010609060101010101" pitchFamily="49" charset="-122"/>
              </a:rPr>
              <a:t>y</a:t>
            </a:r>
            <a:r>
              <a:rPr kumimoji="1" lang="en-US" altLang="zh-CN" sz="2800" b="0" i="0" dirty="0" err="1">
                <a:ea typeface="黑体" panose="02010609060101010101" pitchFamily="49" charset="-122"/>
              </a:rPr>
              <a:t>+</a:t>
            </a:r>
            <a:r>
              <a:rPr kumimoji="1" lang="en-US" altLang="zh-CN" sz="2800" b="0" dirty="0" err="1">
                <a:ea typeface="黑体" panose="02010609060101010101" pitchFamily="49" charset="-122"/>
              </a:rPr>
              <a:t>F</a:t>
            </a:r>
            <a:r>
              <a:rPr kumimoji="1" lang="en-US" altLang="zh-CN" sz="2800" b="0" baseline="-25000" dirty="0" err="1">
                <a:ea typeface="黑体" panose="02010609060101010101" pitchFamily="49" charset="-122"/>
              </a:rPr>
              <a:t>z</a:t>
            </a:r>
            <a:r>
              <a:rPr kumimoji="1" lang="en-US" altLang="zh-CN" sz="2800" b="0" i="0" dirty="0" err="1">
                <a:ea typeface="黑体" panose="02010609060101010101" pitchFamily="49" charset="-122"/>
              </a:rPr>
              <a:t>d</a:t>
            </a:r>
            <a:r>
              <a:rPr kumimoji="1" lang="en-US" altLang="zh-CN" sz="2800" b="0" dirty="0" err="1">
                <a:ea typeface="黑体" panose="02010609060101010101" pitchFamily="49" charset="-122"/>
              </a:rPr>
              <a:t>z</a:t>
            </a:r>
            <a:r>
              <a:rPr kumimoji="1" lang="en-US" altLang="zh-CN" sz="2800" b="0" i="0" dirty="0">
                <a:ea typeface="黑体" panose="02010609060101010101" pitchFamily="49" charset="-122"/>
              </a:rPr>
              <a:t> </a:t>
            </a:r>
            <a:endParaRPr lang="zh-CN" altLang="en-US" sz="2800" b="0" dirty="0">
              <a:latin typeface="+mn-lt"/>
              <a:ea typeface="微软雅黑" panose="020B0503020204020204" pitchFamily="34" charset="-122"/>
            </a:endParaRPr>
          </a:p>
        </p:txBody>
      </p:sp>
      <p:sp>
        <p:nvSpPr>
          <p:cNvPr id="122" name="Text Box 1032"/>
          <p:cNvSpPr txBox="1">
            <a:spLocks noChangeArrowheads="1"/>
          </p:cNvSpPr>
          <p:nvPr/>
        </p:nvSpPr>
        <p:spPr bwMode="auto">
          <a:xfrm>
            <a:off x="570416" y="4048919"/>
            <a:ext cx="6811098" cy="6524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30000"/>
              </a:lnSpc>
            </a:pPr>
            <a:r>
              <a:rPr lang="zh-CN" altLang="en-US" sz="2800" i="0" dirty="0">
                <a:latin typeface="+mn-lt"/>
                <a:ea typeface="微软雅黑" panose="020B0503020204020204" pitchFamily="34" charset="-122"/>
              </a:rPr>
              <a:t>变力</a:t>
            </a:r>
            <a:r>
              <a:rPr lang="en-US" altLang="zh-CN" sz="2800" dirty="0"/>
              <a:t>F </a:t>
            </a:r>
            <a:r>
              <a:rPr lang="zh-CN" altLang="en-US" sz="2800" i="0" dirty="0">
                <a:latin typeface="+mn-lt"/>
                <a:ea typeface="微软雅黑" panose="020B0503020204020204" pitchFamily="34" charset="-122"/>
              </a:rPr>
              <a:t>在</a:t>
            </a:r>
            <a:r>
              <a:rPr lang="en-US" altLang="zh-CN" sz="2800" b="0" dirty="0"/>
              <a:t>M</a:t>
            </a:r>
            <a:r>
              <a:rPr lang="en-US" altLang="zh-CN" sz="2800" b="0" i="0" baseline="-25000" dirty="0"/>
              <a:t>1</a:t>
            </a:r>
            <a:r>
              <a:rPr lang="en-US" altLang="zh-CN" sz="2800" b="0" dirty="0"/>
              <a:t>M</a:t>
            </a:r>
            <a:r>
              <a:rPr lang="en-US" altLang="zh-CN" sz="2800" b="0" i="0" baseline="-25000" dirty="0"/>
              <a:t>2</a:t>
            </a:r>
            <a:r>
              <a:rPr lang="zh-CN" altLang="en-US" sz="2800" i="0" dirty="0">
                <a:latin typeface="+mn-lt"/>
                <a:ea typeface="微软雅黑" panose="020B0503020204020204" pitchFamily="34" charset="-122"/>
              </a:rPr>
              <a:t>路程上的总功</a:t>
            </a:r>
          </a:p>
        </p:txBody>
      </p:sp>
      <p:graphicFrame>
        <p:nvGraphicFramePr>
          <p:cNvPr id="82" name="Object 39"/>
          <p:cNvGraphicFramePr>
            <a:graphicFrameLocks noChangeAspect="1"/>
          </p:cNvGraphicFramePr>
          <p:nvPr>
            <p:extLst>
              <p:ext uri="{D42A27DB-BD31-4B8C-83A1-F6EECF244321}">
                <p14:modId xmlns:p14="http://schemas.microsoft.com/office/powerpoint/2010/main" val="10131819"/>
              </p:ext>
            </p:extLst>
          </p:nvPr>
        </p:nvGraphicFramePr>
        <p:xfrm>
          <a:off x="1630363" y="4652963"/>
          <a:ext cx="4389437" cy="1692275"/>
        </p:xfrm>
        <a:graphic>
          <a:graphicData uri="http://schemas.openxmlformats.org/presentationml/2006/ole">
            <mc:AlternateContent xmlns:mc="http://schemas.openxmlformats.org/markup-compatibility/2006">
              <mc:Choice xmlns:v="urn:schemas-microsoft-com:vml" Requires="v">
                <p:oleObj spid="_x0000_s14351" name="Equation" r:id="rId4" imgW="1828800" imgH="711000" progId="Equation.DSMT4">
                  <p:embed/>
                </p:oleObj>
              </mc:Choice>
              <mc:Fallback>
                <p:oleObj name="Equation" r:id="rId4" imgW="1828800" imgH="711000" progId="Equation.DSMT4">
                  <p:embed/>
                  <p:pic>
                    <p:nvPicPr>
                      <p:cNvPr id="0" name=""/>
                      <p:cNvPicPr>
                        <a:picLocks noChangeAspect="1" noChangeArrowheads="1"/>
                      </p:cNvPicPr>
                      <p:nvPr/>
                    </p:nvPicPr>
                    <p:blipFill>
                      <a:blip r:embed="rId5"/>
                      <a:srcRect/>
                      <a:stretch>
                        <a:fillRect/>
                      </a:stretch>
                    </p:blipFill>
                    <p:spPr bwMode="auto">
                      <a:xfrm>
                        <a:off x="1630363" y="4652963"/>
                        <a:ext cx="4389437" cy="16922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41" name="Group 5">
            <a:extLst>
              <a:ext uri="{FF2B5EF4-FFF2-40B4-BE49-F238E27FC236}">
                <a16:creationId xmlns:a16="http://schemas.microsoft.com/office/drawing/2014/main" id="{D8EA56C4-69D2-2346-CD99-E3F82F725A49}"/>
              </a:ext>
            </a:extLst>
          </p:cNvPr>
          <p:cNvGrpSpPr>
            <a:grpSpLocks/>
          </p:cNvGrpSpPr>
          <p:nvPr/>
        </p:nvGrpSpPr>
        <p:grpSpPr bwMode="auto">
          <a:xfrm>
            <a:off x="8209779" y="1412776"/>
            <a:ext cx="3792537" cy="3040063"/>
            <a:chOff x="3371" y="1505"/>
            <a:chExt cx="2389" cy="1915"/>
          </a:xfrm>
        </p:grpSpPr>
        <p:sp>
          <p:nvSpPr>
            <p:cNvPr id="42" name="Text Box 6">
              <a:extLst>
                <a:ext uri="{FF2B5EF4-FFF2-40B4-BE49-F238E27FC236}">
                  <a16:creationId xmlns:a16="http://schemas.microsoft.com/office/drawing/2014/main" id="{2BAD8FFF-591E-4190-102B-90AA5F8B0215}"/>
                </a:ext>
              </a:extLst>
            </p:cNvPr>
            <p:cNvSpPr txBox="1">
              <a:spLocks noChangeAspect="1" noChangeArrowheads="1"/>
            </p:cNvSpPr>
            <p:nvPr/>
          </p:nvSpPr>
          <p:spPr bwMode="auto">
            <a:xfrm>
              <a:off x="3474" y="2581"/>
              <a:ext cx="431"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sz="3200" i="1" dirty="0">
                  <a:solidFill>
                    <a:srgbClr val="D60093"/>
                  </a:solidFill>
                  <a:sym typeface="Symbol" panose="05050102010706020507" pitchFamily="18" charset="2"/>
                </a:rPr>
                <a:t> </a:t>
              </a:r>
              <a:r>
                <a:rPr lang="en-US" altLang="zh-CN" sz="3200" b="0" i="1" dirty="0">
                  <a:solidFill>
                    <a:srgbClr val="D60093"/>
                  </a:solidFill>
                  <a:sym typeface="Symbol" panose="05050102010706020507" pitchFamily="18" charset="2"/>
                </a:rPr>
                <a:t>O</a:t>
              </a:r>
            </a:p>
          </p:txBody>
        </p:sp>
        <p:sp>
          <p:nvSpPr>
            <p:cNvPr id="43" name="Text Box 7">
              <a:extLst>
                <a:ext uri="{FF2B5EF4-FFF2-40B4-BE49-F238E27FC236}">
                  <a16:creationId xmlns:a16="http://schemas.microsoft.com/office/drawing/2014/main" id="{FF69B36C-54E2-3A00-F23B-30C6917394BA}"/>
                </a:ext>
              </a:extLst>
            </p:cNvPr>
            <p:cNvSpPr txBox="1">
              <a:spLocks noChangeAspect="1" noChangeArrowheads="1"/>
            </p:cNvSpPr>
            <p:nvPr/>
          </p:nvSpPr>
          <p:spPr bwMode="auto">
            <a:xfrm>
              <a:off x="3416" y="3017"/>
              <a:ext cx="432" cy="40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sz="3200" b="0" i="1" dirty="0">
                  <a:solidFill>
                    <a:srgbClr val="FF00FF"/>
                  </a:solidFill>
                  <a:ea typeface="宋体" panose="02010600030101010101" pitchFamily="2" charset="-122"/>
                </a:rPr>
                <a:t>x</a:t>
              </a:r>
            </a:p>
          </p:txBody>
        </p:sp>
        <p:sp>
          <p:nvSpPr>
            <p:cNvPr id="83" name="Line 8">
              <a:extLst>
                <a:ext uri="{FF2B5EF4-FFF2-40B4-BE49-F238E27FC236}">
                  <a16:creationId xmlns:a16="http://schemas.microsoft.com/office/drawing/2014/main" id="{DDC43D5F-268F-6628-34D0-3EC495E05421}"/>
                </a:ext>
              </a:extLst>
            </p:cNvPr>
            <p:cNvSpPr>
              <a:spLocks noChangeAspect="1" noChangeShapeType="1"/>
            </p:cNvSpPr>
            <p:nvPr/>
          </p:nvSpPr>
          <p:spPr bwMode="auto">
            <a:xfrm flipV="1">
              <a:off x="3788" y="1651"/>
              <a:ext cx="0" cy="1170"/>
            </a:xfrm>
            <a:prstGeom prst="line">
              <a:avLst/>
            </a:prstGeom>
            <a:noFill/>
            <a:ln w="19050">
              <a:solidFill>
                <a:srgbClr val="FF00FF"/>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84" name="Line 9">
              <a:extLst>
                <a:ext uri="{FF2B5EF4-FFF2-40B4-BE49-F238E27FC236}">
                  <a16:creationId xmlns:a16="http://schemas.microsoft.com/office/drawing/2014/main" id="{83BDB693-3452-AD79-8F75-C40B82BCE73F}"/>
                </a:ext>
              </a:extLst>
            </p:cNvPr>
            <p:cNvSpPr>
              <a:spLocks noChangeAspect="1" noChangeShapeType="1"/>
            </p:cNvSpPr>
            <p:nvPr/>
          </p:nvSpPr>
          <p:spPr bwMode="auto">
            <a:xfrm>
              <a:off x="3788" y="2821"/>
              <a:ext cx="1770" cy="0"/>
            </a:xfrm>
            <a:prstGeom prst="line">
              <a:avLst/>
            </a:prstGeom>
            <a:noFill/>
            <a:ln w="19050">
              <a:solidFill>
                <a:srgbClr val="FF00FF"/>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85" name="Line 10">
              <a:extLst>
                <a:ext uri="{FF2B5EF4-FFF2-40B4-BE49-F238E27FC236}">
                  <a16:creationId xmlns:a16="http://schemas.microsoft.com/office/drawing/2014/main" id="{0182AF11-CCD5-29F3-F5DA-95862937DBF6}"/>
                </a:ext>
              </a:extLst>
            </p:cNvPr>
            <p:cNvSpPr>
              <a:spLocks noChangeAspect="1" noChangeShapeType="1"/>
            </p:cNvSpPr>
            <p:nvPr/>
          </p:nvSpPr>
          <p:spPr bwMode="auto">
            <a:xfrm flipH="1">
              <a:off x="3371" y="2821"/>
              <a:ext cx="417" cy="432"/>
            </a:xfrm>
            <a:prstGeom prst="line">
              <a:avLst/>
            </a:prstGeom>
            <a:noFill/>
            <a:ln w="19050">
              <a:solidFill>
                <a:srgbClr val="FF00FF"/>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86" name="Text Box 11">
              <a:extLst>
                <a:ext uri="{FF2B5EF4-FFF2-40B4-BE49-F238E27FC236}">
                  <a16:creationId xmlns:a16="http://schemas.microsoft.com/office/drawing/2014/main" id="{4DC0ABC4-C01D-492E-F839-632B7A23233E}"/>
                </a:ext>
              </a:extLst>
            </p:cNvPr>
            <p:cNvSpPr txBox="1">
              <a:spLocks noChangeAspect="1" noChangeArrowheads="1"/>
            </p:cNvSpPr>
            <p:nvPr/>
          </p:nvSpPr>
          <p:spPr bwMode="auto">
            <a:xfrm>
              <a:off x="5328" y="2749"/>
              <a:ext cx="432"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sz="3200" b="0" i="1" dirty="0">
                  <a:solidFill>
                    <a:srgbClr val="FF00FF"/>
                  </a:solidFill>
                </a:rPr>
                <a:t>y</a:t>
              </a:r>
              <a:endParaRPr lang="en-US" altLang="zh-CN" sz="3200" b="0" dirty="0">
                <a:solidFill>
                  <a:srgbClr val="FF00FF"/>
                </a:solidFill>
              </a:endParaRPr>
            </a:p>
          </p:txBody>
        </p:sp>
        <p:sp>
          <p:nvSpPr>
            <p:cNvPr id="87" name="Text Box 12">
              <a:extLst>
                <a:ext uri="{FF2B5EF4-FFF2-40B4-BE49-F238E27FC236}">
                  <a16:creationId xmlns:a16="http://schemas.microsoft.com/office/drawing/2014/main" id="{F6BBD8FB-6398-F16C-4254-3124A74A4066}"/>
                </a:ext>
              </a:extLst>
            </p:cNvPr>
            <p:cNvSpPr txBox="1">
              <a:spLocks noChangeAspect="1" noChangeArrowheads="1"/>
            </p:cNvSpPr>
            <p:nvPr/>
          </p:nvSpPr>
          <p:spPr bwMode="auto">
            <a:xfrm>
              <a:off x="3805" y="1505"/>
              <a:ext cx="432" cy="40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sz="3200" b="0" i="1" dirty="0">
                  <a:solidFill>
                    <a:srgbClr val="FF00FF"/>
                  </a:solidFill>
                  <a:ea typeface="宋体" panose="02010600030101010101" pitchFamily="2" charset="-122"/>
                </a:rPr>
                <a:t>z</a:t>
              </a:r>
            </a:p>
          </p:txBody>
        </p:sp>
      </p:grpSp>
      <p:sp>
        <p:nvSpPr>
          <p:cNvPr id="88" name="Arc 13">
            <a:extLst>
              <a:ext uri="{FF2B5EF4-FFF2-40B4-BE49-F238E27FC236}">
                <a16:creationId xmlns:a16="http://schemas.microsoft.com/office/drawing/2014/main" id="{658F9208-B51B-C9E5-CD2D-1B211EBBFAB6}"/>
              </a:ext>
            </a:extLst>
          </p:cNvPr>
          <p:cNvSpPr>
            <a:spLocks/>
          </p:cNvSpPr>
          <p:nvPr/>
        </p:nvSpPr>
        <p:spPr bwMode="auto">
          <a:xfrm rot="11106470" flipV="1">
            <a:off x="8170091" y="2139851"/>
            <a:ext cx="3414713" cy="1719263"/>
          </a:xfrm>
          <a:custGeom>
            <a:avLst/>
            <a:gdLst>
              <a:gd name="G0" fmla="+- 0 0 0"/>
              <a:gd name="G1" fmla="+- 21584 0 0"/>
              <a:gd name="G2" fmla="+- 21600 0 0"/>
              <a:gd name="T0" fmla="*/ 835 w 20205"/>
              <a:gd name="T1" fmla="*/ 0 h 21584"/>
              <a:gd name="T2" fmla="*/ 20205 w 20205"/>
              <a:gd name="T3" fmla="*/ 13947 h 21584"/>
              <a:gd name="T4" fmla="*/ 0 w 20205"/>
              <a:gd name="T5" fmla="*/ 21584 h 21584"/>
            </a:gdLst>
            <a:ahLst/>
            <a:cxnLst>
              <a:cxn ang="0">
                <a:pos x="T0" y="T1"/>
              </a:cxn>
              <a:cxn ang="0">
                <a:pos x="T2" y="T3"/>
              </a:cxn>
              <a:cxn ang="0">
                <a:pos x="T4" y="T5"/>
              </a:cxn>
            </a:cxnLst>
            <a:rect l="0" t="0" r="r" b="b"/>
            <a:pathLst>
              <a:path w="20205" h="21584" fill="none" extrusionOk="0">
                <a:moveTo>
                  <a:pt x="834" y="0"/>
                </a:moveTo>
                <a:cubicBezTo>
                  <a:pt x="9507" y="335"/>
                  <a:pt x="17136" y="5828"/>
                  <a:pt x="20204" y="13947"/>
                </a:cubicBezTo>
              </a:path>
              <a:path w="20205" h="21584" stroke="0" extrusionOk="0">
                <a:moveTo>
                  <a:pt x="834" y="0"/>
                </a:moveTo>
                <a:cubicBezTo>
                  <a:pt x="9507" y="335"/>
                  <a:pt x="17136" y="5828"/>
                  <a:pt x="20204" y="13947"/>
                </a:cubicBezTo>
                <a:lnTo>
                  <a:pt x="0" y="21584"/>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9" name="Text Box 14">
            <a:extLst>
              <a:ext uri="{FF2B5EF4-FFF2-40B4-BE49-F238E27FC236}">
                <a16:creationId xmlns:a16="http://schemas.microsoft.com/office/drawing/2014/main" id="{69C45793-D068-A3ED-A857-A9DFBB820A08}"/>
              </a:ext>
            </a:extLst>
          </p:cNvPr>
          <p:cNvSpPr txBox="1">
            <a:spLocks noChangeArrowheads="1"/>
          </p:cNvSpPr>
          <p:nvPr/>
        </p:nvSpPr>
        <p:spPr bwMode="auto">
          <a:xfrm>
            <a:off x="9693132" y="2644845"/>
            <a:ext cx="6604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800" b="1" i="1" dirty="0">
                <a:cs typeface="Times New Roman" panose="02020603050405020304" pitchFamily="18" charset="0"/>
              </a:rPr>
              <a:t>a</a:t>
            </a:r>
          </a:p>
        </p:txBody>
      </p:sp>
      <p:sp>
        <p:nvSpPr>
          <p:cNvPr id="90" name="Text Box 15">
            <a:extLst>
              <a:ext uri="{FF2B5EF4-FFF2-40B4-BE49-F238E27FC236}">
                <a16:creationId xmlns:a16="http://schemas.microsoft.com/office/drawing/2014/main" id="{C2E9494B-1AE2-3724-1325-CE1D9F0AEDBB}"/>
              </a:ext>
            </a:extLst>
          </p:cNvPr>
          <p:cNvSpPr txBox="1">
            <a:spLocks noChangeArrowheads="1"/>
          </p:cNvSpPr>
          <p:nvPr/>
        </p:nvSpPr>
        <p:spPr bwMode="auto">
          <a:xfrm>
            <a:off x="10461761" y="2978051"/>
            <a:ext cx="6604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800" b="1" i="1" dirty="0">
                <a:solidFill>
                  <a:srgbClr val="FF0000"/>
                </a:solidFill>
                <a:cs typeface="Times New Roman" panose="02020603050405020304" pitchFamily="18" charset="0"/>
              </a:rPr>
              <a:t>F</a:t>
            </a:r>
            <a:endParaRPr lang="en-US" altLang="zh-CN" baseline="-25000" dirty="0">
              <a:solidFill>
                <a:srgbClr val="FF0000"/>
              </a:solidFill>
              <a:cs typeface="Times New Roman" panose="02020603050405020304" pitchFamily="18" charset="0"/>
            </a:endParaRPr>
          </a:p>
        </p:txBody>
      </p:sp>
      <p:sp>
        <p:nvSpPr>
          <p:cNvPr id="91" name="Text Box 16">
            <a:extLst>
              <a:ext uri="{FF2B5EF4-FFF2-40B4-BE49-F238E27FC236}">
                <a16:creationId xmlns:a16="http://schemas.microsoft.com/office/drawing/2014/main" id="{F74ACFF7-8DB2-542C-109F-AECEBA422908}"/>
              </a:ext>
            </a:extLst>
          </p:cNvPr>
          <p:cNvSpPr txBox="1">
            <a:spLocks noChangeArrowheads="1"/>
          </p:cNvSpPr>
          <p:nvPr/>
        </p:nvSpPr>
        <p:spPr bwMode="auto">
          <a:xfrm>
            <a:off x="7900216" y="2417664"/>
            <a:ext cx="6111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0" i="1" dirty="0">
                <a:solidFill>
                  <a:schemeClr val="tx1"/>
                </a:solidFill>
              </a:rPr>
              <a:t>M</a:t>
            </a:r>
            <a:r>
              <a:rPr lang="en-US" altLang="zh-CN" b="0" i="0" baseline="-25000" dirty="0">
                <a:solidFill>
                  <a:schemeClr val="tx1"/>
                </a:solidFill>
              </a:rPr>
              <a:t>1</a:t>
            </a:r>
          </a:p>
        </p:txBody>
      </p:sp>
      <p:sp>
        <p:nvSpPr>
          <p:cNvPr id="92" name="Line 17">
            <a:extLst>
              <a:ext uri="{FF2B5EF4-FFF2-40B4-BE49-F238E27FC236}">
                <a16:creationId xmlns:a16="http://schemas.microsoft.com/office/drawing/2014/main" id="{11CC986E-ECAB-5718-93F8-EB98E72FC137}"/>
              </a:ext>
            </a:extLst>
          </p:cNvPr>
          <p:cNvSpPr>
            <a:spLocks noChangeShapeType="1"/>
          </p:cNvSpPr>
          <p:nvPr/>
        </p:nvSpPr>
        <p:spPr bwMode="auto">
          <a:xfrm rot="5400000" flipH="1" flipV="1">
            <a:off x="8360591" y="2490689"/>
            <a:ext cx="398463" cy="490537"/>
          </a:xfrm>
          <a:prstGeom prst="line">
            <a:avLst/>
          </a:prstGeom>
          <a:noFill/>
          <a:ln w="28575">
            <a:solidFill>
              <a:srgbClr val="FFFF66"/>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3" name="Text Box 18">
            <a:extLst>
              <a:ext uri="{FF2B5EF4-FFF2-40B4-BE49-F238E27FC236}">
                <a16:creationId xmlns:a16="http://schemas.microsoft.com/office/drawing/2014/main" id="{A4488C77-3630-EE19-A85E-2994F10C753A}"/>
              </a:ext>
            </a:extLst>
          </p:cNvPr>
          <p:cNvSpPr txBox="1">
            <a:spLocks noChangeArrowheads="1"/>
          </p:cNvSpPr>
          <p:nvPr/>
        </p:nvSpPr>
        <p:spPr bwMode="auto">
          <a:xfrm>
            <a:off x="8322491" y="2009676"/>
            <a:ext cx="6604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800" b="1" i="1" dirty="0">
                <a:solidFill>
                  <a:srgbClr val="FFFF66"/>
                </a:solidFill>
                <a:latin typeface="+mn-lt"/>
                <a:cs typeface="Times New Roman" panose="02020603050405020304" pitchFamily="18" charset="0"/>
              </a:rPr>
              <a:t>v</a:t>
            </a:r>
            <a:r>
              <a:rPr lang="en-US" altLang="zh-CN" sz="2800" baseline="-25000" dirty="0">
                <a:solidFill>
                  <a:srgbClr val="FFFF66"/>
                </a:solidFill>
                <a:cs typeface="Times New Roman" panose="02020603050405020304" pitchFamily="18" charset="0"/>
              </a:rPr>
              <a:t>1</a:t>
            </a:r>
            <a:endParaRPr lang="en-US" altLang="zh-CN" baseline="-25000" dirty="0">
              <a:solidFill>
                <a:srgbClr val="FFFF66"/>
              </a:solidFill>
              <a:cs typeface="Times New Roman" panose="02020603050405020304" pitchFamily="18" charset="0"/>
              <a:sym typeface="Symbol" panose="05050102010706020507" pitchFamily="18" charset="2"/>
            </a:endParaRPr>
          </a:p>
        </p:txBody>
      </p:sp>
      <p:sp>
        <p:nvSpPr>
          <p:cNvPr id="94" name="Oval 19">
            <a:extLst>
              <a:ext uri="{FF2B5EF4-FFF2-40B4-BE49-F238E27FC236}">
                <a16:creationId xmlns:a16="http://schemas.microsoft.com/office/drawing/2014/main" id="{70F37B76-5317-0519-6754-93295CD8275F}"/>
              </a:ext>
            </a:extLst>
          </p:cNvPr>
          <p:cNvSpPr>
            <a:spLocks noChangeArrowheads="1"/>
          </p:cNvSpPr>
          <p:nvPr/>
        </p:nvSpPr>
        <p:spPr bwMode="auto">
          <a:xfrm>
            <a:off x="8270104" y="2882801"/>
            <a:ext cx="96837" cy="96838"/>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 name="Text Box 20">
            <a:extLst>
              <a:ext uri="{FF2B5EF4-FFF2-40B4-BE49-F238E27FC236}">
                <a16:creationId xmlns:a16="http://schemas.microsoft.com/office/drawing/2014/main" id="{DCA44F5F-7DC7-E5C5-C2E1-1DBDE7F95526}"/>
              </a:ext>
            </a:extLst>
          </p:cNvPr>
          <p:cNvSpPr txBox="1">
            <a:spLocks noChangeArrowheads="1"/>
          </p:cNvSpPr>
          <p:nvPr/>
        </p:nvSpPr>
        <p:spPr bwMode="auto">
          <a:xfrm>
            <a:off x="10676754" y="2231926"/>
            <a:ext cx="6111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0" i="1" dirty="0">
                <a:solidFill>
                  <a:schemeClr val="tx1"/>
                </a:solidFill>
              </a:rPr>
              <a:t>M</a:t>
            </a:r>
            <a:r>
              <a:rPr lang="en-US" altLang="zh-CN" b="0" i="0" baseline="-25000" dirty="0">
                <a:solidFill>
                  <a:schemeClr val="tx1"/>
                </a:solidFill>
              </a:rPr>
              <a:t>2</a:t>
            </a:r>
          </a:p>
        </p:txBody>
      </p:sp>
      <p:sp>
        <p:nvSpPr>
          <p:cNvPr id="96" name="Oval 21">
            <a:extLst>
              <a:ext uri="{FF2B5EF4-FFF2-40B4-BE49-F238E27FC236}">
                <a16:creationId xmlns:a16="http://schemas.microsoft.com/office/drawing/2014/main" id="{267670A3-1927-3AF3-0E9F-8C35FDC64304}"/>
              </a:ext>
            </a:extLst>
          </p:cNvPr>
          <p:cNvSpPr>
            <a:spLocks noChangeArrowheads="1"/>
          </p:cNvSpPr>
          <p:nvPr/>
        </p:nvSpPr>
        <p:spPr bwMode="auto">
          <a:xfrm>
            <a:off x="10813279" y="2214464"/>
            <a:ext cx="96837" cy="96837"/>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 name="Text Box 22">
            <a:extLst>
              <a:ext uri="{FF2B5EF4-FFF2-40B4-BE49-F238E27FC236}">
                <a16:creationId xmlns:a16="http://schemas.microsoft.com/office/drawing/2014/main" id="{EC33E203-1B4E-2A85-A5A7-C6CF8FE288B6}"/>
              </a:ext>
            </a:extLst>
          </p:cNvPr>
          <p:cNvSpPr txBox="1">
            <a:spLocks noChangeArrowheads="1"/>
          </p:cNvSpPr>
          <p:nvPr/>
        </p:nvSpPr>
        <p:spPr bwMode="auto">
          <a:xfrm>
            <a:off x="9279754" y="1871564"/>
            <a:ext cx="6111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0" i="1" dirty="0">
                <a:solidFill>
                  <a:schemeClr val="tx1"/>
                </a:solidFill>
              </a:rPr>
              <a:t>M</a:t>
            </a:r>
            <a:endParaRPr lang="en-US" altLang="zh-CN" b="0" baseline="-25000" dirty="0">
              <a:solidFill>
                <a:schemeClr val="tx1"/>
              </a:solidFill>
            </a:endParaRPr>
          </a:p>
        </p:txBody>
      </p:sp>
      <p:sp>
        <p:nvSpPr>
          <p:cNvPr id="98" name="Line 23">
            <a:extLst>
              <a:ext uri="{FF2B5EF4-FFF2-40B4-BE49-F238E27FC236}">
                <a16:creationId xmlns:a16="http://schemas.microsoft.com/office/drawing/2014/main" id="{CB2F0F70-8E70-695C-0D6A-3FAB9D3D9CE9}"/>
              </a:ext>
            </a:extLst>
          </p:cNvPr>
          <p:cNvSpPr>
            <a:spLocks noChangeShapeType="1"/>
          </p:cNvSpPr>
          <p:nvPr/>
        </p:nvSpPr>
        <p:spPr bwMode="auto">
          <a:xfrm rot="5400000" flipH="1" flipV="1">
            <a:off x="9959203" y="1909664"/>
            <a:ext cx="214313" cy="744538"/>
          </a:xfrm>
          <a:prstGeom prst="line">
            <a:avLst/>
          </a:prstGeom>
          <a:noFill/>
          <a:ln w="28575">
            <a:solidFill>
              <a:srgbClr val="FFFF66"/>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9" name="Text Box 24">
            <a:extLst>
              <a:ext uri="{FF2B5EF4-FFF2-40B4-BE49-F238E27FC236}">
                <a16:creationId xmlns:a16="http://schemas.microsoft.com/office/drawing/2014/main" id="{C0BAC720-924B-D7D1-4ACB-3500B9BC1FEF}"/>
              </a:ext>
            </a:extLst>
          </p:cNvPr>
          <p:cNvSpPr txBox="1">
            <a:spLocks noChangeArrowheads="1"/>
          </p:cNvSpPr>
          <p:nvPr/>
        </p:nvSpPr>
        <p:spPr bwMode="auto">
          <a:xfrm>
            <a:off x="9868716" y="1754089"/>
            <a:ext cx="6604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800" b="1" i="1" dirty="0">
                <a:solidFill>
                  <a:srgbClr val="FFFF66"/>
                </a:solidFill>
                <a:latin typeface="+mn-lt"/>
                <a:cs typeface="Times New Roman" panose="02020603050405020304" pitchFamily="18" charset="0"/>
              </a:rPr>
              <a:t>v</a:t>
            </a:r>
            <a:endParaRPr lang="en-US" altLang="zh-CN" baseline="-25000" dirty="0">
              <a:solidFill>
                <a:srgbClr val="FFFF66"/>
              </a:solidFill>
              <a:latin typeface="+mn-lt"/>
              <a:cs typeface="Times New Roman" panose="02020603050405020304" pitchFamily="18" charset="0"/>
              <a:sym typeface="Symbol" panose="05050102010706020507" pitchFamily="18" charset="2"/>
            </a:endParaRPr>
          </a:p>
        </p:txBody>
      </p:sp>
      <p:sp>
        <p:nvSpPr>
          <p:cNvPr id="100" name="Oval 25">
            <a:extLst>
              <a:ext uri="{FF2B5EF4-FFF2-40B4-BE49-F238E27FC236}">
                <a16:creationId xmlns:a16="http://schemas.microsoft.com/office/drawing/2014/main" id="{212C4E0D-AAB2-1A73-73C9-059A9E38CD94}"/>
              </a:ext>
            </a:extLst>
          </p:cNvPr>
          <p:cNvSpPr>
            <a:spLocks noChangeArrowheads="1"/>
          </p:cNvSpPr>
          <p:nvPr/>
        </p:nvSpPr>
        <p:spPr bwMode="auto">
          <a:xfrm>
            <a:off x="9649641" y="2336701"/>
            <a:ext cx="96838" cy="96838"/>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1" name="Line 26">
            <a:extLst>
              <a:ext uri="{FF2B5EF4-FFF2-40B4-BE49-F238E27FC236}">
                <a16:creationId xmlns:a16="http://schemas.microsoft.com/office/drawing/2014/main" id="{16CCF867-A465-5FDB-0E5D-7145C44065FF}"/>
              </a:ext>
            </a:extLst>
          </p:cNvPr>
          <p:cNvSpPr>
            <a:spLocks noChangeShapeType="1"/>
          </p:cNvSpPr>
          <p:nvPr/>
        </p:nvSpPr>
        <p:spPr bwMode="auto">
          <a:xfrm rot="9600000" flipH="1" flipV="1">
            <a:off x="9849666" y="2363689"/>
            <a:ext cx="214313" cy="744537"/>
          </a:xfrm>
          <a:prstGeom prst="line">
            <a:avLst/>
          </a:prstGeom>
          <a:noFill/>
          <a:ln w="28575">
            <a:solidFill>
              <a:srgbClr val="FFC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2" name="Line 27">
            <a:extLst>
              <a:ext uri="{FF2B5EF4-FFF2-40B4-BE49-F238E27FC236}">
                <a16:creationId xmlns:a16="http://schemas.microsoft.com/office/drawing/2014/main" id="{28B475B3-F31C-1125-9B69-00B59FFF6AC2}"/>
              </a:ext>
            </a:extLst>
          </p:cNvPr>
          <p:cNvSpPr>
            <a:spLocks noChangeShapeType="1"/>
          </p:cNvSpPr>
          <p:nvPr/>
        </p:nvSpPr>
        <p:spPr bwMode="auto">
          <a:xfrm rot="9600000" flipH="1" flipV="1">
            <a:off x="10305279" y="2971701"/>
            <a:ext cx="214312" cy="744538"/>
          </a:xfrm>
          <a:prstGeom prst="line">
            <a:avLst/>
          </a:prstGeom>
          <a:noFill/>
          <a:ln w="28575">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3" name="Line 28">
            <a:extLst>
              <a:ext uri="{FF2B5EF4-FFF2-40B4-BE49-F238E27FC236}">
                <a16:creationId xmlns:a16="http://schemas.microsoft.com/office/drawing/2014/main" id="{33CBD5BD-0CFE-C92A-DD69-6CF8E5B91C0B}"/>
              </a:ext>
            </a:extLst>
          </p:cNvPr>
          <p:cNvSpPr>
            <a:spLocks noChangeShapeType="1"/>
          </p:cNvSpPr>
          <p:nvPr/>
        </p:nvSpPr>
        <p:spPr bwMode="auto">
          <a:xfrm flipV="1">
            <a:off x="8867004" y="2400201"/>
            <a:ext cx="809625" cy="1101725"/>
          </a:xfrm>
          <a:prstGeom prst="line">
            <a:avLst/>
          </a:prstGeom>
          <a:noFill/>
          <a:ln w="28575">
            <a:solidFill>
              <a:srgbClr val="00FF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4" name="Text Box 29">
            <a:extLst>
              <a:ext uri="{FF2B5EF4-FFF2-40B4-BE49-F238E27FC236}">
                <a16:creationId xmlns:a16="http://schemas.microsoft.com/office/drawing/2014/main" id="{EADF1CC7-C3FF-8745-DF05-07C2CE3598B3}"/>
              </a:ext>
            </a:extLst>
          </p:cNvPr>
          <p:cNvSpPr txBox="1">
            <a:spLocks noChangeArrowheads="1"/>
          </p:cNvSpPr>
          <p:nvPr/>
        </p:nvSpPr>
        <p:spPr bwMode="auto">
          <a:xfrm>
            <a:off x="8958136" y="2629685"/>
            <a:ext cx="6604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66FF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800" b="1" i="1" dirty="0">
                <a:solidFill>
                  <a:schemeClr val="accent1">
                    <a:lumMod val="75000"/>
                  </a:schemeClr>
                </a:solidFill>
                <a:cs typeface="Times New Roman" panose="02020603050405020304" pitchFamily="18" charset="0"/>
              </a:rPr>
              <a:t>r</a:t>
            </a:r>
          </a:p>
        </p:txBody>
      </p:sp>
      <p:sp>
        <p:nvSpPr>
          <p:cNvPr id="105" name="Line 30">
            <a:extLst>
              <a:ext uri="{FF2B5EF4-FFF2-40B4-BE49-F238E27FC236}">
                <a16:creationId xmlns:a16="http://schemas.microsoft.com/office/drawing/2014/main" id="{730BF328-6626-2268-F838-C1822DF0B0AF}"/>
              </a:ext>
            </a:extLst>
          </p:cNvPr>
          <p:cNvSpPr>
            <a:spLocks noChangeShapeType="1"/>
          </p:cNvSpPr>
          <p:nvPr/>
        </p:nvSpPr>
        <p:spPr bwMode="auto">
          <a:xfrm rot="5400000" flipH="1" flipV="1">
            <a:off x="10619604" y="1708051"/>
            <a:ext cx="214312" cy="744538"/>
          </a:xfrm>
          <a:prstGeom prst="line">
            <a:avLst/>
          </a:prstGeom>
          <a:noFill/>
          <a:ln w="28575">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6" name="Text Box 31">
            <a:extLst>
              <a:ext uri="{FF2B5EF4-FFF2-40B4-BE49-F238E27FC236}">
                <a16:creationId xmlns:a16="http://schemas.microsoft.com/office/drawing/2014/main" id="{249F99FC-8949-B352-E030-EC15C1D5BEF6}"/>
              </a:ext>
            </a:extLst>
          </p:cNvPr>
          <p:cNvSpPr txBox="1">
            <a:spLocks noChangeArrowheads="1"/>
          </p:cNvSpPr>
          <p:nvPr/>
        </p:nvSpPr>
        <p:spPr bwMode="auto">
          <a:xfrm>
            <a:off x="10500541" y="1473101"/>
            <a:ext cx="6604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800" b="1" i="1" dirty="0">
                <a:solidFill>
                  <a:srgbClr val="FF0000"/>
                </a:solidFill>
                <a:cs typeface="Times New Roman" panose="02020603050405020304" pitchFamily="18" charset="0"/>
              </a:rPr>
              <a:t>F</a:t>
            </a:r>
            <a:r>
              <a:rPr lang="en-US" altLang="zh-CN" sz="2800" b="0" i="0" baseline="-25000" dirty="0">
                <a:solidFill>
                  <a:srgbClr val="FF0000"/>
                </a:solidFill>
                <a:cs typeface="Times New Roman" panose="02020603050405020304" pitchFamily="18" charset="0"/>
                <a:sym typeface="Symbol" panose="05050102010706020507" pitchFamily="18" charset="2"/>
              </a:rPr>
              <a:t></a:t>
            </a:r>
            <a:endParaRPr lang="en-US" altLang="zh-CN" b="0" i="0" baseline="-25000" dirty="0">
              <a:solidFill>
                <a:srgbClr val="FF0000"/>
              </a:solidFill>
              <a:cs typeface="Times New Roman" panose="02020603050405020304" pitchFamily="18" charset="0"/>
              <a:sym typeface="Symbol" panose="05050102010706020507" pitchFamily="18" charset="2"/>
            </a:endParaRPr>
          </a:p>
        </p:txBody>
      </p:sp>
      <p:sp>
        <p:nvSpPr>
          <p:cNvPr id="107" name="Line 32">
            <a:extLst>
              <a:ext uri="{FF2B5EF4-FFF2-40B4-BE49-F238E27FC236}">
                <a16:creationId xmlns:a16="http://schemas.microsoft.com/office/drawing/2014/main" id="{B0D7EB11-E95E-6C51-0415-FA866C831CEE}"/>
              </a:ext>
            </a:extLst>
          </p:cNvPr>
          <p:cNvSpPr>
            <a:spLocks noChangeShapeType="1"/>
          </p:cNvSpPr>
          <p:nvPr/>
        </p:nvSpPr>
        <p:spPr bwMode="auto">
          <a:xfrm rot="9600000" flipH="1" flipV="1">
            <a:off x="9729016" y="2185889"/>
            <a:ext cx="1063625" cy="295275"/>
          </a:xfrm>
          <a:prstGeom prst="line">
            <a:avLst/>
          </a:prstGeom>
          <a:noFill/>
          <a:ln w="28575">
            <a:solidFill>
              <a:srgbClr val="00FF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8" name="Text Box 33">
            <a:extLst>
              <a:ext uri="{FF2B5EF4-FFF2-40B4-BE49-F238E27FC236}">
                <a16:creationId xmlns:a16="http://schemas.microsoft.com/office/drawing/2014/main" id="{92F4F70F-FD35-7EC6-25A7-BBD574B7F7B3}"/>
              </a:ext>
            </a:extLst>
          </p:cNvPr>
          <p:cNvSpPr txBox="1">
            <a:spLocks noChangeArrowheads="1"/>
          </p:cNvSpPr>
          <p:nvPr/>
        </p:nvSpPr>
        <p:spPr bwMode="auto">
          <a:xfrm>
            <a:off x="10005241" y="2227164"/>
            <a:ext cx="6604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66FF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800" b="0" i="0" dirty="0" err="1">
                <a:solidFill>
                  <a:schemeClr val="accent1">
                    <a:lumMod val="75000"/>
                  </a:schemeClr>
                </a:solidFill>
                <a:cs typeface="Times New Roman" panose="02020603050405020304" pitchFamily="18" charset="0"/>
              </a:rPr>
              <a:t>d</a:t>
            </a:r>
            <a:r>
              <a:rPr lang="en-US" altLang="zh-CN" sz="2800" b="1" i="1" dirty="0" err="1">
                <a:solidFill>
                  <a:schemeClr val="accent1">
                    <a:lumMod val="75000"/>
                  </a:schemeClr>
                </a:solidFill>
                <a:cs typeface="Times New Roman" panose="02020603050405020304" pitchFamily="18" charset="0"/>
              </a:rPr>
              <a:t>r</a:t>
            </a:r>
            <a:endParaRPr lang="en-US" altLang="zh-CN" sz="2800" b="1" i="1" dirty="0">
              <a:solidFill>
                <a:schemeClr val="accent1">
                  <a:lumMod val="75000"/>
                </a:schemeClr>
              </a:solidFill>
              <a:cs typeface="Times New Roman" panose="02020603050405020304" pitchFamily="18" charset="0"/>
            </a:endParaRPr>
          </a:p>
        </p:txBody>
      </p:sp>
      <p:sp>
        <p:nvSpPr>
          <p:cNvPr id="109" name="Text Box 34">
            <a:extLst>
              <a:ext uri="{FF2B5EF4-FFF2-40B4-BE49-F238E27FC236}">
                <a16:creationId xmlns:a16="http://schemas.microsoft.com/office/drawing/2014/main" id="{D876CD10-E68D-CA6C-36C0-8226F0402B6C}"/>
              </a:ext>
            </a:extLst>
          </p:cNvPr>
          <p:cNvSpPr txBox="1">
            <a:spLocks noChangeArrowheads="1"/>
          </p:cNvSpPr>
          <p:nvPr/>
        </p:nvSpPr>
        <p:spPr bwMode="auto">
          <a:xfrm>
            <a:off x="10262416" y="1811239"/>
            <a:ext cx="6604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66FF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800" b="0" i="0" dirty="0">
                <a:solidFill>
                  <a:schemeClr val="accent1">
                    <a:lumMod val="75000"/>
                  </a:schemeClr>
                </a:solidFill>
                <a:cs typeface="Times New Roman" panose="02020603050405020304" pitchFamily="18" charset="0"/>
              </a:rPr>
              <a:t>d</a:t>
            </a:r>
            <a:r>
              <a:rPr lang="en-US" altLang="zh-CN" sz="2800" b="0" i="1" dirty="0">
                <a:solidFill>
                  <a:schemeClr val="accent1">
                    <a:lumMod val="75000"/>
                  </a:schemeClr>
                </a:solidFill>
                <a:cs typeface="Times New Roman" panose="02020603050405020304" pitchFamily="18" charset="0"/>
              </a:rPr>
              <a:t>s</a:t>
            </a:r>
          </a:p>
        </p:txBody>
      </p:sp>
      <p:sp>
        <p:nvSpPr>
          <p:cNvPr id="110" name="Line 35">
            <a:extLst>
              <a:ext uri="{FF2B5EF4-FFF2-40B4-BE49-F238E27FC236}">
                <a16:creationId xmlns:a16="http://schemas.microsoft.com/office/drawing/2014/main" id="{9836BA0E-650A-F7E0-99AF-470BF473A30E}"/>
              </a:ext>
            </a:extLst>
          </p:cNvPr>
          <p:cNvSpPr>
            <a:spLocks noChangeShapeType="1"/>
          </p:cNvSpPr>
          <p:nvPr/>
        </p:nvSpPr>
        <p:spPr bwMode="auto">
          <a:xfrm>
            <a:off x="9689329" y="2412901"/>
            <a:ext cx="0" cy="1546225"/>
          </a:xfrm>
          <a:prstGeom prst="line">
            <a:avLst/>
          </a:prstGeom>
          <a:noFill/>
          <a:ln w="9525">
            <a:solidFill>
              <a:schemeClr val="tx1"/>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1" name="Line 36">
            <a:extLst>
              <a:ext uri="{FF2B5EF4-FFF2-40B4-BE49-F238E27FC236}">
                <a16:creationId xmlns:a16="http://schemas.microsoft.com/office/drawing/2014/main" id="{243147B2-A76C-F7E2-69AA-CE8C0DAF57BC}"/>
              </a:ext>
            </a:extLst>
          </p:cNvPr>
          <p:cNvSpPr>
            <a:spLocks noChangeShapeType="1"/>
          </p:cNvSpPr>
          <p:nvPr/>
        </p:nvSpPr>
        <p:spPr bwMode="auto">
          <a:xfrm flipH="1">
            <a:off x="8452666" y="3959126"/>
            <a:ext cx="1223963" cy="0"/>
          </a:xfrm>
          <a:prstGeom prst="line">
            <a:avLst/>
          </a:prstGeom>
          <a:noFill/>
          <a:ln w="9525">
            <a:solidFill>
              <a:schemeClr val="tx1"/>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2" name="Line 37">
            <a:extLst>
              <a:ext uri="{FF2B5EF4-FFF2-40B4-BE49-F238E27FC236}">
                <a16:creationId xmlns:a16="http://schemas.microsoft.com/office/drawing/2014/main" id="{577F4967-D3F4-6F33-7A5E-49AFB0D176CE}"/>
              </a:ext>
            </a:extLst>
          </p:cNvPr>
          <p:cNvSpPr>
            <a:spLocks noChangeShapeType="1"/>
          </p:cNvSpPr>
          <p:nvPr/>
        </p:nvSpPr>
        <p:spPr bwMode="auto">
          <a:xfrm flipH="1">
            <a:off x="9663929" y="3543201"/>
            <a:ext cx="430212" cy="430213"/>
          </a:xfrm>
          <a:prstGeom prst="line">
            <a:avLst/>
          </a:prstGeom>
          <a:noFill/>
          <a:ln w="9525">
            <a:solidFill>
              <a:schemeClr val="tx1"/>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3" name="Text Box 38">
            <a:extLst>
              <a:ext uri="{FF2B5EF4-FFF2-40B4-BE49-F238E27FC236}">
                <a16:creationId xmlns:a16="http://schemas.microsoft.com/office/drawing/2014/main" id="{F7EB1AA3-0D02-557B-B324-1E43D062EAE2}"/>
              </a:ext>
            </a:extLst>
          </p:cNvPr>
          <p:cNvSpPr txBox="1">
            <a:spLocks noChangeArrowheads="1"/>
          </p:cNvSpPr>
          <p:nvPr/>
        </p:nvSpPr>
        <p:spPr bwMode="auto">
          <a:xfrm>
            <a:off x="8849541" y="3773389"/>
            <a:ext cx="6604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66FF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800" b="0" i="1" dirty="0">
                <a:cs typeface="Times New Roman" panose="02020603050405020304" pitchFamily="18" charset="0"/>
              </a:rPr>
              <a:t>y</a:t>
            </a:r>
          </a:p>
        </p:txBody>
      </p:sp>
      <p:sp>
        <p:nvSpPr>
          <p:cNvPr id="114" name="Text Box 39">
            <a:extLst>
              <a:ext uri="{FF2B5EF4-FFF2-40B4-BE49-F238E27FC236}">
                <a16:creationId xmlns:a16="http://schemas.microsoft.com/office/drawing/2014/main" id="{2D50503E-B4DF-7465-2469-EDBF99BF6892}"/>
              </a:ext>
            </a:extLst>
          </p:cNvPr>
          <p:cNvSpPr txBox="1">
            <a:spLocks noChangeArrowheads="1"/>
          </p:cNvSpPr>
          <p:nvPr/>
        </p:nvSpPr>
        <p:spPr bwMode="auto">
          <a:xfrm>
            <a:off x="9790929" y="3490814"/>
            <a:ext cx="6604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66FF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800" b="0" i="1" dirty="0">
                <a:cs typeface="Times New Roman" panose="02020603050405020304" pitchFamily="18" charset="0"/>
              </a:rPr>
              <a:t>x</a:t>
            </a:r>
          </a:p>
        </p:txBody>
      </p:sp>
      <p:sp>
        <p:nvSpPr>
          <p:cNvPr id="115" name="Text Box 40">
            <a:extLst>
              <a:ext uri="{FF2B5EF4-FFF2-40B4-BE49-F238E27FC236}">
                <a16:creationId xmlns:a16="http://schemas.microsoft.com/office/drawing/2014/main" id="{47B05244-6D05-7C60-ECDD-F11977A9F4D8}"/>
              </a:ext>
            </a:extLst>
          </p:cNvPr>
          <p:cNvSpPr txBox="1">
            <a:spLocks noChangeArrowheads="1"/>
          </p:cNvSpPr>
          <p:nvPr/>
        </p:nvSpPr>
        <p:spPr bwMode="auto">
          <a:xfrm>
            <a:off x="9225779" y="2898676"/>
            <a:ext cx="6604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66FF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800" b="0" i="1" dirty="0">
                <a:cs typeface="Times New Roman" panose="02020603050405020304" pitchFamily="18" charset="0"/>
              </a:rPr>
              <a:t>z</a:t>
            </a:r>
          </a:p>
        </p:txBody>
      </p:sp>
      <p:sp>
        <p:nvSpPr>
          <p:cNvPr id="116" name="Arc 41">
            <a:extLst>
              <a:ext uri="{FF2B5EF4-FFF2-40B4-BE49-F238E27FC236}">
                <a16:creationId xmlns:a16="http://schemas.microsoft.com/office/drawing/2014/main" id="{D82BEC17-E447-86D1-403A-F31F06A266EB}"/>
              </a:ext>
            </a:extLst>
          </p:cNvPr>
          <p:cNvSpPr>
            <a:spLocks/>
          </p:cNvSpPr>
          <p:nvPr/>
        </p:nvSpPr>
        <p:spPr bwMode="auto">
          <a:xfrm rot="11106470" flipV="1">
            <a:off x="9616304" y="2244626"/>
            <a:ext cx="1962150" cy="1676400"/>
          </a:xfrm>
          <a:custGeom>
            <a:avLst/>
            <a:gdLst>
              <a:gd name="G0" fmla="+- 0 0 0"/>
              <a:gd name="G1" fmla="+- 21065 0 0"/>
              <a:gd name="G2" fmla="+- 21600 0 0"/>
              <a:gd name="T0" fmla="*/ 4778 w 11607"/>
              <a:gd name="T1" fmla="*/ 0 h 21065"/>
              <a:gd name="T2" fmla="*/ 11607 w 11607"/>
              <a:gd name="T3" fmla="*/ 2849 h 21065"/>
              <a:gd name="T4" fmla="*/ 0 w 11607"/>
              <a:gd name="T5" fmla="*/ 21065 h 21065"/>
            </a:gdLst>
            <a:ahLst/>
            <a:cxnLst>
              <a:cxn ang="0">
                <a:pos x="T0" y="T1"/>
              </a:cxn>
              <a:cxn ang="0">
                <a:pos x="T2" y="T3"/>
              </a:cxn>
              <a:cxn ang="0">
                <a:pos x="T4" y="T5"/>
              </a:cxn>
            </a:cxnLst>
            <a:rect l="0" t="0" r="r" b="b"/>
            <a:pathLst>
              <a:path w="11607" h="21065" fill="none" extrusionOk="0">
                <a:moveTo>
                  <a:pt x="4777" y="0"/>
                </a:moveTo>
                <a:cubicBezTo>
                  <a:pt x="7201" y="549"/>
                  <a:pt x="9511" y="1513"/>
                  <a:pt x="11607" y="2848"/>
                </a:cubicBezTo>
              </a:path>
              <a:path w="11607" h="21065" stroke="0" extrusionOk="0">
                <a:moveTo>
                  <a:pt x="4777" y="0"/>
                </a:moveTo>
                <a:cubicBezTo>
                  <a:pt x="7201" y="549"/>
                  <a:pt x="9511" y="1513"/>
                  <a:pt x="11607" y="2848"/>
                </a:cubicBezTo>
                <a:lnTo>
                  <a:pt x="0" y="21065"/>
                </a:lnTo>
                <a:close/>
              </a:path>
            </a:pathLst>
          </a:custGeom>
          <a:noFill/>
          <a:ln w="19050">
            <a:solidFill>
              <a:srgbClr val="FF66CC"/>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2119777040"/>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2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2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nodeType="clickEffect">
                                  <p:stCondLst>
                                    <p:cond delay="0"/>
                                  </p:stCondLst>
                                  <p:childTnLst>
                                    <p:set>
                                      <p:cBhvr>
                                        <p:cTn id="18" dur="1" fill="hold">
                                          <p:stCondLst>
                                            <p:cond delay="0"/>
                                          </p:stCondLst>
                                        </p:cTn>
                                        <p:tgtEl>
                                          <p:spTgt spid="82"/>
                                        </p:tgtEl>
                                        <p:attrNameLst>
                                          <p:attrName>style.visibility</p:attrName>
                                        </p:attrNameLst>
                                      </p:cBhvr>
                                      <p:to>
                                        <p:strVal val="visible"/>
                                      </p:to>
                                    </p:set>
                                    <p:animEffect transition="in" filter="wipe(left)">
                                      <p:cBhvr>
                                        <p:cTn id="19" dur="3000"/>
                                        <p:tgtEl>
                                          <p:spTgt spid="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utoUpdateAnimBg="0"/>
      <p:bldP spid="121" grpId="0" autoUpdateAnimBg="0"/>
      <p:bldP spid="122" grpId="0"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4653838"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第七章   动力学普遍定理</a:t>
            </a:r>
          </a:p>
        </p:txBody>
      </p:sp>
      <p:sp>
        <p:nvSpPr>
          <p:cNvPr id="52" name="Text Box 1032"/>
          <p:cNvSpPr txBox="1">
            <a:spLocks noChangeArrowheads="1"/>
          </p:cNvSpPr>
          <p:nvPr/>
        </p:nvSpPr>
        <p:spPr bwMode="auto">
          <a:xfrm>
            <a:off x="570416" y="799357"/>
            <a:ext cx="9414016" cy="21605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20000"/>
              </a:lnSpc>
            </a:pPr>
            <a:r>
              <a:rPr lang="zh-CN" altLang="en-US" sz="2800" i="0" dirty="0">
                <a:solidFill>
                  <a:srgbClr val="FF0000"/>
                </a:solidFill>
                <a:latin typeface="微软雅黑" panose="020B0503020204020204" pitchFamily="34" charset="-122"/>
                <a:ea typeface="微软雅黑" panose="020B0503020204020204" pitchFamily="34" charset="-122"/>
              </a:rPr>
              <a:t>合力的功 </a:t>
            </a:r>
            <a:endParaRPr lang="en-US" altLang="zh-CN" sz="2800" i="0" dirty="0">
              <a:solidFill>
                <a:srgbClr val="FF0000"/>
              </a:solidFill>
              <a:latin typeface="微软雅黑" panose="020B0503020204020204" pitchFamily="34" charset="-122"/>
              <a:ea typeface="微软雅黑" panose="020B0503020204020204" pitchFamily="34" charset="-122"/>
            </a:endParaRPr>
          </a:p>
          <a:p>
            <a:pPr algn="just">
              <a:lnSpc>
                <a:spcPct val="120000"/>
              </a:lnSpc>
            </a:pPr>
            <a:r>
              <a:rPr lang="en-US" altLang="zh-CN" sz="2800" dirty="0"/>
              <a:t> </a:t>
            </a:r>
            <a:r>
              <a:rPr lang="zh-CN" altLang="en-US" sz="2800" i="0" dirty="0">
                <a:latin typeface="+mn-lt"/>
                <a:ea typeface="微软雅黑" panose="020B0503020204020204" pitchFamily="34" charset="-122"/>
              </a:rPr>
              <a:t>若质点</a:t>
            </a:r>
            <a:r>
              <a:rPr lang="en-US" altLang="zh-CN" sz="2800" b="0" dirty="0">
                <a:latin typeface="+mn-lt"/>
                <a:ea typeface="微软雅黑" panose="020B0503020204020204" pitchFamily="34" charset="-122"/>
              </a:rPr>
              <a:t>M</a:t>
            </a:r>
            <a:r>
              <a:rPr lang="zh-CN" altLang="en-US" sz="2800" i="0" dirty="0">
                <a:latin typeface="+mn-lt"/>
                <a:ea typeface="微软雅黑" panose="020B0503020204020204" pitchFamily="34" charset="-122"/>
              </a:rPr>
              <a:t>受力系</a:t>
            </a:r>
            <a:r>
              <a:rPr lang="en-US" altLang="zh-CN" sz="2800" dirty="0">
                <a:latin typeface="+mn-lt"/>
                <a:ea typeface="微软雅黑" panose="020B0503020204020204" pitchFamily="34" charset="-122"/>
              </a:rPr>
              <a:t>F</a:t>
            </a:r>
            <a:r>
              <a:rPr lang="en-US" altLang="zh-CN" sz="2800" b="0" i="0" baseline="-25000" dirty="0">
                <a:latin typeface="+mn-lt"/>
                <a:ea typeface="微软雅黑" panose="020B0503020204020204" pitchFamily="34" charset="-122"/>
              </a:rPr>
              <a:t>1</a:t>
            </a:r>
            <a:r>
              <a:rPr lang="zh-CN" altLang="en-US" sz="2800" i="0" dirty="0">
                <a:latin typeface="+mn-lt"/>
                <a:ea typeface="微软雅黑" panose="020B0503020204020204" pitchFamily="34" charset="-122"/>
              </a:rPr>
              <a:t>，</a:t>
            </a:r>
            <a:r>
              <a:rPr lang="en-US" altLang="zh-CN" sz="2800" dirty="0">
                <a:latin typeface="+mn-lt"/>
                <a:ea typeface="微软雅黑" panose="020B0503020204020204" pitchFamily="34" charset="-122"/>
              </a:rPr>
              <a:t>F</a:t>
            </a:r>
            <a:r>
              <a:rPr lang="en-US" altLang="zh-CN" sz="2800" b="0" i="0" baseline="-25000" dirty="0">
                <a:latin typeface="+mn-lt"/>
                <a:ea typeface="微软雅黑" panose="020B0503020204020204" pitchFamily="34" charset="-122"/>
              </a:rPr>
              <a:t>2</a:t>
            </a:r>
            <a:r>
              <a:rPr lang="zh-CN" altLang="en-US" sz="2800" i="0" dirty="0">
                <a:latin typeface="+mn-lt"/>
                <a:ea typeface="微软雅黑" panose="020B0503020204020204" pitchFamily="34" charset="-122"/>
              </a:rPr>
              <a:t>，</a:t>
            </a:r>
            <a:r>
              <a:rPr lang="en-US" altLang="zh-CN" sz="2800" i="0" dirty="0">
                <a:latin typeface="+mn-lt"/>
                <a:ea typeface="微软雅黑" panose="020B0503020204020204" pitchFamily="34" charset="-122"/>
              </a:rPr>
              <a:t>……</a:t>
            </a:r>
            <a:r>
              <a:rPr lang="zh-CN" altLang="en-US" sz="2800" i="0" dirty="0">
                <a:latin typeface="+mn-lt"/>
                <a:ea typeface="微软雅黑" panose="020B0503020204020204" pitchFamily="34" charset="-122"/>
              </a:rPr>
              <a:t>，</a:t>
            </a:r>
            <a:r>
              <a:rPr lang="en-US" altLang="zh-CN" sz="2800" dirty="0" err="1">
                <a:latin typeface="+mn-lt"/>
                <a:ea typeface="微软雅黑" panose="020B0503020204020204" pitchFamily="34" charset="-122"/>
              </a:rPr>
              <a:t>F</a:t>
            </a:r>
            <a:r>
              <a:rPr lang="en-US" altLang="zh-CN" sz="2800" b="0" baseline="-25000" dirty="0" err="1">
                <a:latin typeface="+mn-lt"/>
                <a:ea typeface="微软雅黑" panose="020B0503020204020204" pitchFamily="34" charset="-122"/>
              </a:rPr>
              <a:t>n</a:t>
            </a:r>
            <a:r>
              <a:rPr lang="zh-CN" altLang="en-US" sz="2800" i="0" dirty="0">
                <a:latin typeface="+mn-lt"/>
                <a:ea typeface="微软雅黑" panose="020B0503020204020204" pitchFamily="34" charset="-122"/>
              </a:rPr>
              <a:t>作用，其合力为</a:t>
            </a:r>
            <a:r>
              <a:rPr lang="en-US" altLang="zh-CN" sz="2800" dirty="0">
                <a:latin typeface="+mn-lt"/>
                <a:ea typeface="微软雅黑" panose="020B0503020204020204" pitchFamily="34" charset="-122"/>
              </a:rPr>
              <a:t>F</a:t>
            </a:r>
            <a:r>
              <a:rPr lang="en-US" altLang="zh-CN" sz="2800" b="0" i="0" baseline="-25000" dirty="0">
                <a:latin typeface="+mn-lt"/>
                <a:ea typeface="微软雅黑" panose="020B0503020204020204" pitchFamily="34" charset="-122"/>
              </a:rPr>
              <a:t>R</a:t>
            </a:r>
            <a:r>
              <a:rPr lang="zh-CN" altLang="en-US" sz="2800" i="0" dirty="0">
                <a:latin typeface="+mn-lt"/>
                <a:ea typeface="微软雅黑" panose="020B0503020204020204" pitchFamily="34" charset="-122"/>
              </a:rPr>
              <a:t>，即</a:t>
            </a:r>
            <a:r>
              <a:rPr lang="en-US" altLang="zh-CN" sz="2800" dirty="0">
                <a:latin typeface="+mn-lt"/>
                <a:ea typeface="微软雅黑" panose="020B0503020204020204" pitchFamily="34" charset="-122"/>
              </a:rPr>
              <a:t>F</a:t>
            </a:r>
            <a:r>
              <a:rPr lang="en-US" altLang="zh-CN" sz="2800" b="0" i="0" baseline="-25000" dirty="0">
                <a:latin typeface="+mn-lt"/>
                <a:ea typeface="微软雅黑" panose="020B0503020204020204" pitchFamily="34" charset="-122"/>
              </a:rPr>
              <a:t>R</a:t>
            </a:r>
            <a:r>
              <a:rPr lang="zh-CN" altLang="en-US" sz="2800" i="0" dirty="0">
                <a:latin typeface="+mn-lt"/>
                <a:ea typeface="微软雅黑" panose="020B0503020204020204" pitchFamily="34" charset="-122"/>
              </a:rPr>
              <a:t>＝</a:t>
            </a:r>
            <a:r>
              <a:rPr lang="en-US" altLang="zh-CN" sz="2800" dirty="0">
                <a:latin typeface="+mn-lt"/>
                <a:ea typeface="微软雅黑" panose="020B0503020204020204" pitchFamily="34" charset="-122"/>
              </a:rPr>
              <a:t>F</a:t>
            </a:r>
            <a:r>
              <a:rPr lang="en-US" altLang="zh-CN" sz="2800" b="0" i="0" baseline="-25000" dirty="0">
                <a:latin typeface="+mn-lt"/>
                <a:ea typeface="微软雅黑" panose="020B0503020204020204" pitchFamily="34" charset="-122"/>
              </a:rPr>
              <a:t>1</a:t>
            </a:r>
            <a:r>
              <a:rPr lang="zh-CN" altLang="en-US" sz="2800" i="0" dirty="0">
                <a:latin typeface="+mn-lt"/>
                <a:ea typeface="微软雅黑" panose="020B0503020204020204" pitchFamily="34" charset="-122"/>
              </a:rPr>
              <a:t>＋</a:t>
            </a:r>
            <a:r>
              <a:rPr lang="en-US" altLang="zh-CN" sz="2800" dirty="0">
                <a:latin typeface="+mn-lt"/>
                <a:ea typeface="微软雅黑" panose="020B0503020204020204" pitchFamily="34" charset="-122"/>
              </a:rPr>
              <a:t>F</a:t>
            </a:r>
            <a:r>
              <a:rPr lang="en-US" altLang="zh-CN" sz="2800" b="0" i="0" baseline="-25000" dirty="0">
                <a:latin typeface="+mn-lt"/>
                <a:ea typeface="微软雅黑" panose="020B0503020204020204" pitchFamily="34" charset="-122"/>
              </a:rPr>
              <a:t>2</a:t>
            </a:r>
            <a:r>
              <a:rPr lang="en-US" altLang="zh-CN" sz="2800" i="0" dirty="0">
                <a:latin typeface="+mn-lt"/>
                <a:ea typeface="微软雅黑" panose="020B0503020204020204" pitchFamily="34" charset="-122"/>
              </a:rPr>
              <a:t>+…+ </a:t>
            </a:r>
            <a:r>
              <a:rPr lang="en-US" altLang="zh-CN" sz="2800" dirty="0" err="1">
                <a:latin typeface="+mn-lt"/>
                <a:ea typeface="微软雅黑" panose="020B0503020204020204" pitchFamily="34" charset="-122"/>
              </a:rPr>
              <a:t>F</a:t>
            </a:r>
            <a:r>
              <a:rPr lang="en-US" altLang="zh-CN" sz="2800" b="0" baseline="-25000" dirty="0" err="1">
                <a:latin typeface="+mn-lt"/>
                <a:ea typeface="微软雅黑" panose="020B0503020204020204" pitchFamily="34" charset="-122"/>
              </a:rPr>
              <a:t>n</a:t>
            </a:r>
            <a:r>
              <a:rPr lang="zh-CN" altLang="en-US" sz="2800" i="0" dirty="0">
                <a:latin typeface="+mn-lt"/>
                <a:ea typeface="微软雅黑" panose="020B0503020204020204" pitchFamily="34" charset="-122"/>
              </a:rPr>
              <a:t>，于是质点</a:t>
            </a:r>
            <a:r>
              <a:rPr lang="en-US" altLang="zh-CN" sz="2800" b="0" dirty="0">
                <a:latin typeface="+mn-lt"/>
                <a:ea typeface="微软雅黑" panose="020B0503020204020204" pitchFamily="34" charset="-122"/>
              </a:rPr>
              <a:t>M </a:t>
            </a:r>
            <a:r>
              <a:rPr lang="zh-CN" altLang="en-US" sz="2800" i="0" dirty="0">
                <a:latin typeface="+mn-lt"/>
                <a:ea typeface="微软雅黑" panose="020B0503020204020204" pitchFamily="34" charset="-122"/>
              </a:rPr>
              <a:t>在合力</a:t>
            </a:r>
            <a:r>
              <a:rPr lang="en-US" altLang="zh-CN" sz="2800" dirty="0">
                <a:latin typeface="+mn-lt"/>
                <a:ea typeface="微软雅黑" panose="020B0503020204020204" pitchFamily="34" charset="-122"/>
              </a:rPr>
              <a:t>F</a:t>
            </a:r>
            <a:r>
              <a:rPr lang="en-US" altLang="zh-CN" sz="2800" b="0" i="0" baseline="-25000" dirty="0">
                <a:latin typeface="+mn-lt"/>
                <a:ea typeface="微软雅黑" panose="020B0503020204020204" pitchFamily="34" charset="-122"/>
              </a:rPr>
              <a:t>R</a:t>
            </a:r>
            <a:r>
              <a:rPr lang="zh-CN" altLang="en-US" sz="2800" i="0" dirty="0">
                <a:latin typeface="+mn-lt"/>
                <a:ea typeface="微软雅黑" panose="020B0503020204020204" pitchFamily="34" charset="-122"/>
              </a:rPr>
              <a:t>作用下沿曲线</a:t>
            </a:r>
            <a:r>
              <a:rPr lang="en-US" altLang="zh-CN" sz="2800" b="0" dirty="0">
                <a:latin typeface="+mn-lt"/>
                <a:ea typeface="微软雅黑" panose="020B0503020204020204" pitchFamily="34" charset="-122"/>
              </a:rPr>
              <a:t>M</a:t>
            </a:r>
            <a:r>
              <a:rPr lang="en-US" altLang="zh-CN" sz="2800" b="0" i="0" baseline="-25000" dirty="0">
                <a:latin typeface="+mn-lt"/>
                <a:ea typeface="微软雅黑" panose="020B0503020204020204" pitchFamily="34" charset="-122"/>
              </a:rPr>
              <a:t>1</a:t>
            </a:r>
            <a:r>
              <a:rPr lang="en-US" altLang="zh-CN" sz="2800" b="0" dirty="0">
                <a:latin typeface="+mn-lt"/>
                <a:ea typeface="微软雅黑" panose="020B0503020204020204" pitchFamily="34" charset="-122"/>
              </a:rPr>
              <a:t>M</a:t>
            </a:r>
            <a:r>
              <a:rPr lang="en-US" altLang="zh-CN" sz="2800" b="0" i="0" baseline="-25000" dirty="0">
                <a:latin typeface="+mn-lt"/>
                <a:ea typeface="微软雅黑" panose="020B0503020204020204" pitchFamily="34" charset="-122"/>
              </a:rPr>
              <a:t>2</a:t>
            </a:r>
            <a:r>
              <a:rPr lang="zh-CN" altLang="en-US" sz="2800" i="0" dirty="0">
                <a:latin typeface="+mn-lt"/>
                <a:ea typeface="微软雅黑" panose="020B0503020204020204" pitchFamily="34" charset="-122"/>
              </a:rPr>
              <a:t>路程中的总功为</a:t>
            </a:r>
          </a:p>
        </p:txBody>
      </p:sp>
      <p:sp>
        <p:nvSpPr>
          <p:cNvPr id="122" name="Text Box 1032"/>
          <p:cNvSpPr txBox="1">
            <a:spLocks noChangeArrowheads="1"/>
          </p:cNvSpPr>
          <p:nvPr/>
        </p:nvSpPr>
        <p:spPr bwMode="auto">
          <a:xfrm>
            <a:off x="570416" y="4725834"/>
            <a:ext cx="9990080" cy="1212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30000"/>
              </a:lnSpc>
            </a:pPr>
            <a:r>
              <a:rPr lang="zh-CN" altLang="en-US" sz="2800" i="0" dirty="0">
                <a:ea typeface="微软雅黑" panose="020B0503020204020204" pitchFamily="34" charset="-122"/>
              </a:rPr>
              <a:t>在任一路程中，作用于质点上合力的功等于各分力在同一路程中所作功的代数和。 </a:t>
            </a:r>
          </a:p>
        </p:txBody>
      </p:sp>
      <p:graphicFrame>
        <p:nvGraphicFramePr>
          <p:cNvPr id="45" name="Object 39"/>
          <p:cNvGraphicFramePr>
            <a:graphicFrameLocks noChangeAspect="1"/>
          </p:cNvGraphicFramePr>
          <p:nvPr>
            <p:extLst>
              <p:ext uri="{D42A27DB-BD31-4B8C-83A1-F6EECF244321}">
                <p14:modId xmlns:p14="http://schemas.microsoft.com/office/powerpoint/2010/main" val="2024880750"/>
              </p:ext>
            </p:extLst>
          </p:nvPr>
        </p:nvGraphicFramePr>
        <p:xfrm>
          <a:off x="1266825" y="3113088"/>
          <a:ext cx="6553200" cy="1449387"/>
        </p:xfrm>
        <a:graphic>
          <a:graphicData uri="http://schemas.openxmlformats.org/presentationml/2006/ole">
            <mc:AlternateContent xmlns:mc="http://schemas.openxmlformats.org/markup-compatibility/2006">
              <mc:Choice xmlns:v="urn:schemas-microsoft-com:vml" Requires="v">
                <p:oleObj spid="_x0000_s15375" name="Equation" r:id="rId4" imgW="2730240" imgH="609480" progId="Equation.DSMT4">
                  <p:embed/>
                </p:oleObj>
              </mc:Choice>
              <mc:Fallback>
                <p:oleObj name="Equation" r:id="rId4" imgW="2730240" imgH="609480" progId="Equation.DSMT4">
                  <p:embed/>
                  <p:pic>
                    <p:nvPicPr>
                      <p:cNvPr id="0" name=""/>
                      <p:cNvPicPr>
                        <a:picLocks noChangeAspect="1" noChangeArrowheads="1"/>
                      </p:cNvPicPr>
                      <p:nvPr/>
                    </p:nvPicPr>
                    <p:blipFill>
                      <a:blip r:embed="rId5"/>
                      <a:srcRect/>
                      <a:stretch>
                        <a:fillRect/>
                      </a:stretch>
                    </p:blipFill>
                    <p:spPr bwMode="auto">
                      <a:xfrm>
                        <a:off x="1266825" y="3113088"/>
                        <a:ext cx="6553200" cy="14493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910644773"/>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nodeType="clickEffect">
                                  <p:stCondLst>
                                    <p:cond delay="0"/>
                                  </p:stCondLst>
                                  <p:childTnLst>
                                    <p:set>
                                      <p:cBhvr>
                                        <p:cTn id="10" dur="1" fill="hold">
                                          <p:stCondLst>
                                            <p:cond delay="0"/>
                                          </p:stCondLst>
                                        </p:cTn>
                                        <p:tgtEl>
                                          <p:spTgt spid="45"/>
                                        </p:tgtEl>
                                        <p:attrNameLst>
                                          <p:attrName>style.visibility</p:attrName>
                                        </p:attrNameLst>
                                      </p:cBhvr>
                                      <p:to>
                                        <p:strVal val="visible"/>
                                      </p:to>
                                    </p:set>
                                    <p:animEffect transition="in" filter="wipe(left)">
                                      <p:cBhvr>
                                        <p:cTn id="11" dur="3000"/>
                                        <p:tgtEl>
                                          <p:spTgt spid="45"/>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499"/>
                                          </p:stCondLst>
                                        </p:cTn>
                                        <p:tgtEl>
                                          <p:spTgt spid="1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utoUpdateAnimBg="0"/>
      <p:bldP spid="122" grpId="0"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4653838"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第七章   动力学普遍定理</a:t>
            </a:r>
          </a:p>
        </p:txBody>
      </p:sp>
      <p:sp>
        <p:nvSpPr>
          <p:cNvPr id="52" name="Text Box 1032"/>
          <p:cNvSpPr txBox="1">
            <a:spLocks noChangeArrowheads="1"/>
          </p:cNvSpPr>
          <p:nvPr/>
        </p:nvSpPr>
        <p:spPr bwMode="auto">
          <a:xfrm>
            <a:off x="570416" y="799357"/>
            <a:ext cx="9414016" cy="1126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20000"/>
              </a:lnSpc>
            </a:pPr>
            <a:r>
              <a:rPr lang="zh-CN" altLang="en-US" sz="2800" i="0" dirty="0">
                <a:solidFill>
                  <a:srgbClr val="FF0000"/>
                </a:solidFill>
                <a:latin typeface="微软雅黑" panose="020B0503020204020204" pitchFamily="34" charset="-122"/>
                <a:ea typeface="微软雅黑" panose="020B0503020204020204" pitchFamily="34" charset="-122"/>
              </a:rPr>
              <a:t>几种常见力的功 </a:t>
            </a:r>
            <a:endParaRPr lang="en-US" altLang="zh-CN" sz="2800" i="0" dirty="0">
              <a:solidFill>
                <a:srgbClr val="FF0000"/>
              </a:solidFill>
              <a:latin typeface="微软雅黑" panose="020B0503020204020204" pitchFamily="34" charset="-122"/>
              <a:ea typeface="微软雅黑" panose="020B0503020204020204" pitchFamily="34" charset="-122"/>
            </a:endParaRPr>
          </a:p>
          <a:p>
            <a:pPr algn="just">
              <a:lnSpc>
                <a:spcPct val="120000"/>
              </a:lnSpc>
            </a:pPr>
            <a:r>
              <a:rPr lang="en-US" altLang="zh-CN" sz="2800" dirty="0">
                <a:solidFill>
                  <a:srgbClr val="FF00FF"/>
                </a:solidFill>
              </a:rPr>
              <a:t> </a:t>
            </a:r>
            <a:r>
              <a:rPr lang="zh-CN" altLang="en-US" sz="2800" i="0" dirty="0">
                <a:solidFill>
                  <a:srgbClr val="FF00FF"/>
                </a:solidFill>
                <a:latin typeface="+mn-lt"/>
                <a:ea typeface="微软雅黑" panose="020B0503020204020204" pitchFamily="34" charset="-122"/>
              </a:rPr>
              <a:t>（</a:t>
            </a:r>
            <a:r>
              <a:rPr lang="en-US" altLang="zh-CN" sz="2800" i="0" dirty="0">
                <a:solidFill>
                  <a:srgbClr val="FF00FF"/>
                </a:solidFill>
                <a:latin typeface="+mn-lt"/>
                <a:ea typeface="微软雅黑" panose="020B0503020204020204" pitchFamily="34" charset="-122"/>
              </a:rPr>
              <a:t>1</a:t>
            </a:r>
            <a:r>
              <a:rPr lang="zh-CN" altLang="en-US" sz="2800" i="0" dirty="0">
                <a:solidFill>
                  <a:srgbClr val="FF00FF"/>
                </a:solidFill>
                <a:latin typeface="+mn-lt"/>
                <a:ea typeface="微软雅黑" panose="020B0503020204020204" pitchFamily="34" charset="-122"/>
              </a:rPr>
              <a:t>）重力的功</a:t>
            </a:r>
          </a:p>
        </p:txBody>
      </p:sp>
      <p:sp>
        <p:nvSpPr>
          <p:cNvPr id="122" name="Text Box 1032"/>
          <p:cNvSpPr txBox="1">
            <a:spLocks noChangeArrowheads="1"/>
          </p:cNvSpPr>
          <p:nvPr/>
        </p:nvSpPr>
        <p:spPr bwMode="auto">
          <a:xfrm>
            <a:off x="839416" y="1900448"/>
            <a:ext cx="1440160" cy="6524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30000"/>
              </a:lnSpc>
            </a:pPr>
            <a:r>
              <a:rPr lang="zh-CN" altLang="en-US" sz="2800" i="0" dirty="0">
                <a:ea typeface="微软雅黑" panose="020B0503020204020204" pitchFamily="34" charset="-122"/>
              </a:rPr>
              <a:t>质点</a:t>
            </a:r>
          </a:p>
        </p:txBody>
      </p:sp>
      <p:graphicFrame>
        <p:nvGraphicFramePr>
          <p:cNvPr id="6" name="Object 4"/>
          <p:cNvGraphicFramePr>
            <a:graphicFrameLocks noChangeAspect="1"/>
          </p:cNvGraphicFramePr>
          <p:nvPr>
            <p:extLst>
              <p:ext uri="{D42A27DB-BD31-4B8C-83A1-F6EECF244321}">
                <p14:modId xmlns:p14="http://schemas.microsoft.com/office/powerpoint/2010/main" val="354341770"/>
              </p:ext>
            </p:extLst>
          </p:nvPr>
        </p:nvGraphicFramePr>
        <p:xfrm>
          <a:off x="4511824" y="2462213"/>
          <a:ext cx="4419600" cy="609600"/>
        </p:xfrm>
        <a:graphic>
          <a:graphicData uri="http://schemas.openxmlformats.org/presentationml/2006/ole">
            <mc:AlternateContent xmlns:mc="http://schemas.openxmlformats.org/markup-compatibility/2006">
              <mc:Choice xmlns:v="urn:schemas-microsoft-com:vml" Requires="v">
                <p:oleObj spid="_x0000_s16451" name="Equation" r:id="rId6" imgW="1828800" imgH="247785" progId="Equation.3">
                  <p:embed/>
                </p:oleObj>
              </mc:Choice>
              <mc:Fallback>
                <p:oleObj name="Equation" r:id="rId6" imgW="1828800" imgH="247785"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511824" y="2462213"/>
                        <a:ext cx="4419600" cy="609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 name="Object 5"/>
          <p:cNvGraphicFramePr>
            <a:graphicFrameLocks noChangeAspect="1"/>
          </p:cNvGraphicFramePr>
          <p:nvPr>
            <p:extLst>
              <p:ext uri="{D42A27DB-BD31-4B8C-83A1-F6EECF244321}">
                <p14:modId xmlns:p14="http://schemas.microsoft.com/office/powerpoint/2010/main" val="2696019587"/>
              </p:ext>
            </p:extLst>
          </p:nvPr>
        </p:nvGraphicFramePr>
        <p:xfrm>
          <a:off x="941536" y="2462213"/>
          <a:ext cx="3489325" cy="603250"/>
        </p:xfrm>
        <a:graphic>
          <a:graphicData uri="http://schemas.openxmlformats.org/presentationml/2006/ole">
            <mc:AlternateContent xmlns:mc="http://schemas.openxmlformats.org/markup-compatibility/2006">
              <mc:Choice xmlns:v="urn:schemas-microsoft-com:vml" Requires="v">
                <p:oleObj spid="_x0000_s16452" name="Equation" r:id="rId8" imgW="1390644" imgH="228600" progId="Equation.DSMT4">
                  <p:embed/>
                </p:oleObj>
              </mc:Choice>
              <mc:Fallback>
                <p:oleObj name="Equation" r:id="rId8" imgW="1390644" imgH="228600" progId="Equation.DSMT4">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41536" y="2462213"/>
                        <a:ext cx="3489325" cy="603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 name="Text Box 1032"/>
          <p:cNvSpPr txBox="1">
            <a:spLocks noChangeArrowheads="1"/>
          </p:cNvSpPr>
          <p:nvPr/>
        </p:nvSpPr>
        <p:spPr bwMode="auto">
          <a:xfrm>
            <a:off x="839416" y="3040092"/>
            <a:ext cx="1440160" cy="597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30000"/>
              </a:lnSpc>
            </a:pPr>
            <a:r>
              <a:rPr lang="zh-CN" altLang="en-US" sz="2800" i="0" dirty="0">
                <a:ea typeface="微软雅黑" panose="020B0503020204020204" pitchFamily="34" charset="-122"/>
              </a:rPr>
              <a:t>质点系</a:t>
            </a:r>
          </a:p>
        </p:txBody>
      </p:sp>
      <p:graphicFrame>
        <p:nvGraphicFramePr>
          <p:cNvPr id="13" name="Object 2"/>
          <p:cNvGraphicFramePr>
            <a:graphicFrameLocks noChangeAspect="1"/>
          </p:cNvGraphicFramePr>
          <p:nvPr>
            <p:extLst>
              <p:ext uri="{D42A27DB-BD31-4B8C-83A1-F6EECF244321}">
                <p14:modId xmlns:p14="http://schemas.microsoft.com/office/powerpoint/2010/main" val="2980004410"/>
              </p:ext>
            </p:extLst>
          </p:nvPr>
        </p:nvGraphicFramePr>
        <p:xfrm>
          <a:off x="932755" y="3700463"/>
          <a:ext cx="3444875" cy="588962"/>
        </p:xfrm>
        <a:graphic>
          <a:graphicData uri="http://schemas.openxmlformats.org/presentationml/2006/ole">
            <mc:AlternateContent xmlns:mc="http://schemas.openxmlformats.org/markup-compatibility/2006">
              <mc:Choice xmlns:v="urn:schemas-microsoft-com:vml" Requires="v">
                <p:oleObj spid="_x0000_s16453" name="Equation" r:id="rId10" imgW="1434960" imgH="241200" progId="Equation.DSMT4">
                  <p:embed/>
                </p:oleObj>
              </mc:Choice>
              <mc:Fallback>
                <p:oleObj name="Equation" r:id="rId10" imgW="1434960" imgH="241200" progId="Equation.DSMT4">
                  <p:embed/>
                  <p:pic>
                    <p:nvPicPr>
                      <p:cNvPr id="0" name=""/>
                      <p:cNvPicPr>
                        <a:picLocks noChangeAspect="1" noChangeArrowheads="1"/>
                      </p:cNvPicPr>
                      <p:nvPr/>
                    </p:nvPicPr>
                    <p:blipFill>
                      <a:blip r:embed="rId11"/>
                      <a:srcRect/>
                      <a:stretch>
                        <a:fillRect/>
                      </a:stretch>
                    </p:blipFill>
                    <p:spPr bwMode="auto">
                      <a:xfrm>
                        <a:off x="932755" y="3700463"/>
                        <a:ext cx="3444875" cy="5889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4" name="Text Box 1032"/>
          <p:cNvSpPr txBox="1">
            <a:spLocks noChangeArrowheads="1"/>
          </p:cNvSpPr>
          <p:nvPr/>
        </p:nvSpPr>
        <p:spPr bwMode="auto">
          <a:xfrm>
            <a:off x="839416" y="4338312"/>
            <a:ext cx="1440160" cy="597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30000"/>
              </a:lnSpc>
            </a:pPr>
            <a:r>
              <a:rPr lang="zh-CN" altLang="en-US" sz="2800" i="0" dirty="0">
                <a:ea typeface="微软雅黑" panose="020B0503020204020204" pitchFamily="34" charset="-122"/>
              </a:rPr>
              <a:t>由于</a:t>
            </a:r>
          </a:p>
        </p:txBody>
      </p:sp>
      <p:graphicFrame>
        <p:nvGraphicFramePr>
          <p:cNvPr id="16" name="Object 2"/>
          <p:cNvGraphicFramePr>
            <a:graphicFrameLocks noChangeAspect="1"/>
          </p:cNvGraphicFramePr>
          <p:nvPr>
            <p:extLst>
              <p:ext uri="{D42A27DB-BD31-4B8C-83A1-F6EECF244321}">
                <p14:modId xmlns:p14="http://schemas.microsoft.com/office/powerpoint/2010/main" val="3781908130"/>
              </p:ext>
            </p:extLst>
          </p:nvPr>
        </p:nvGraphicFramePr>
        <p:xfrm>
          <a:off x="1919536" y="4354513"/>
          <a:ext cx="2103438" cy="620712"/>
        </p:xfrm>
        <a:graphic>
          <a:graphicData uri="http://schemas.openxmlformats.org/presentationml/2006/ole">
            <mc:AlternateContent xmlns:mc="http://schemas.openxmlformats.org/markup-compatibility/2006">
              <mc:Choice xmlns:v="urn:schemas-microsoft-com:vml" Requires="v">
                <p:oleObj spid="_x0000_s16454" name="Equation" r:id="rId12" imgW="876240" imgH="253800" progId="Equation.DSMT4">
                  <p:embed/>
                </p:oleObj>
              </mc:Choice>
              <mc:Fallback>
                <p:oleObj name="Equation" r:id="rId12" imgW="876240" imgH="253800" progId="Equation.DSMT4">
                  <p:embed/>
                  <p:pic>
                    <p:nvPicPr>
                      <p:cNvPr id="0" name=""/>
                      <p:cNvPicPr>
                        <a:picLocks noChangeAspect="1" noChangeArrowheads="1"/>
                      </p:cNvPicPr>
                      <p:nvPr/>
                    </p:nvPicPr>
                    <p:blipFill>
                      <a:blip r:embed="rId13"/>
                      <a:srcRect/>
                      <a:stretch>
                        <a:fillRect/>
                      </a:stretch>
                    </p:blipFill>
                    <p:spPr bwMode="auto">
                      <a:xfrm>
                        <a:off x="1919536" y="4354513"/>
                        <a:ext cx="2103438" cy="620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7" name="Text Box 1032"/>
          <p:cNvSpPr txBox="1">
            <a:spLocks noChangeArrowheads="1"/>
          </p:cNvSpPr>
          <p:nvPr/>
        </p:nvSpPr>
        <p:spPr bwMode="auto">
          <a:xfrm>
            <a:off x="839416" y="5038868"/>
            <a:ext cx="1440160" cy="597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30000"/>
              </a:lnSpc>
            </a:pPr>
            <a:r>
              <a:rPr lang="zh-CN" altLang="en-US" sz="2800" i="0" dirty="0">
                <a:ea typeface="微软雅黑" panose="020B0503020204020204" pitchFamily="34" charset="-122"/>
              </a:rPr>
              <a:t>得</a:t>
            </a:r>
          </a:p>
        </p:txBody>
      </p:sp>
      <p:graphicFrame>
        <p:nvGraphicFramePr>
          <p:cNvPr id="19" name="Object 6"/>
          <p:cNvGraphicFramePr>
            <a:graphicFrameLocks noChangeAspect="1"/>
          </p:cNvGraphicFramePr>
          <p:nvPr>
            <p:extLst>
              <p:ext uri="{D42A27DB-BD31-4B8C-83A1-F6EECF244321}">
                <p14:modId xmlns:p14="http://schemas.microsoft.com/office/powerpoint/2010/main" val="3770962492"/>
              </p:ext>
            </p:extLst>
          </p:nvPr>
        </p:nvGraphicFramePr>
        <p:xfrm>
          <a:off x="1566863" y="5110163"/>
          <a:ext cx="3457575" cy="573087"/>
        </p:xfrm>
        <a:graphic>
          <a:graphicData uri="http://schemas.openxmlformats.org/presentationml/2006/ole">
            <mc:AlternateContent xmlns:mc="http://schemas.openxmlformats.org/markup-compatibility/2006">
              <mc:Choice xmlns:v="urn:schemas-microsoft-com:vml" Requires="v">
                <p:oleObj spid="_x0000_s16455" name="Equation" r:id="rId14" imgW="1346040" imgH="241200" progId="Equation.DSMT4">
                  <p:embed/>
                </p:oleObj>
              </mc:Choice>
              <mc:Fallback>
                <p:oleObj name="Equation" r:id="rId14" imgW="1346040" imgH="241200" progId="Equation.DSMT4">
                  <p:embed/>
                  <p:pic>
                    <p:nvPicPr>
                      <p:cNvPr id="0" name=""/>
                      <p:cNvPicPr>
                        <a:picLocks noChangeAspect="1" noChangeArrowheads="1"/>
                      </p:cNvPicPr>
                      <p:nvPr/>
                    </p:nvPicPr>
                    <p:blipFill>
                      <a:blip r:embed="rId15"/>
                      <a:srcRect/>
                      <a:stretch>
                        <a:fillRect/>
                      </a:stretch>
                    </p:blipFill>
                    <p:spPr bwMode="auto">
                      <a:xfrm>
                        <a:off x="1566863" y="5110163"/>
                        <a:ext cx="3457575" cy="5730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0" name="Rectangle 61">
            <a:extLst>
              <a:ext uri="{FF2B5EF4-FFF2-40B4-BE49-F238E27FC236}">
                <a16:creationId xmlns:a16="http://schemas.microsoft.com/office/drawing/2014/main" id="{7C7AC23E-A1CE-03F9-D8A4-D45156EAD5C0}"/>
              </a:ext>
            </a:extLst>
          </p:cNvPr>
          <p:cNvSpPr>
            <a:spLocks noChangeArrowheads="1"/>
          </p:cNvSpPr>
          <p:nvPr/>
        </p:nvSpPr>
        <p:spPr bwMode="auto">
          <a:xfrm>
            <a:off x="7903957" y="3140968"/>
            <a:ext cx="4066840" cy="3004061"/>
          </a:xfrm>
          <a:prstGeom prst="rect">
            <a:avLst/>
          </a:prstGeom>
          <a:solidFill>
            <a:srgbClr val="B9CDE5"/>
          </a:solidFill>
          <a:ln>
            <a:noFill/>
          </a:ln>
          <a:effectLst/>
        </p:spPr>
        <p:txBody>
          <a:bodyPr wrap="none" anchor="ctr"/>
          <a:lstStyle/>
          <a:p>
            <a:endParaRPr lang="zh-CN" altLang="en-US"/>
          </a:p>
        </p:txBody>
      </p:sp>
      <p:pic>
        <p:nvPicPr>
          <p:cNvPr id="21" name="003-5new.avi">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16">
            <a:extLst>
              <a:ext uri="{28A0092B-C50C-407E-A947-70E740481C1C}">
                <a14:useLocalDpi xmlns:a14="http://schemas.microsoft.com/office/drawing/2010/main" val="0"/>
              </a:ext>
            </a:extLst>
          </a:blip>
          <a:srcRect/>
          <a:stretch>
            <a:fillRect/>
          </a:stretch>
        </p:blipFill>
        <p:spPr bwMode="auto">
          <a:xfrm>
            <a:off x="8172077" y="3313959"/>
            <a:ext cx="3530600" cy="264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 name="Text Box 1032"/>
          <p:cNvSpPr txBox="1">
            <a:spLocks noChangeArrowheads="1"/>
          </p:cNvSpPr>
          <p:nvPr/>
        </p:nvSpPr>
        <p:spPr bwMode="auto">
          <a:xfrm>
            <a:off x="839416" y="5652143"/>
            <a:ext cx="7056784" cy="1212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30000"/>
              </a:lnSpc>
            </a:pPr>
            <a:r>
              <a:rPr lang="zh-CN" altLang="en-US" sz="2800" i="0" dirty="0">
                <a:ea typeface="微软雅黑" panose="020B0503020204020204" pitchFamily="34" charset="-122"/>
              </a:rPr>
              <a:t>重力的功只与始、末位置有关，与路径无关。</a:t>
            </a:r>
          </a:p>
          <a:p>
            <a:pPr>
              <a:lnSpc>
                <a:spcPct val="130000"/>
              </a:lnSpc>
            </a:pPr>
            <a:endParaRPr lang="zh-CN" altLang="en-US" sz="2800" i="0" dirty="0">
              <a:ea typeface="微软雅黑" panose="020B0503020204020204" pitchFamily="34" charset="-122"/>
            </a:endParaRPr>
          </a:p>
        </p:txBody>
      </p:sp>
    </p:spTree>
    <p:extLst>
      <p:ext uri="{BB962C8B-B14F-4D97-AF65-F5344CB8AC3E}">
        <p14:creationId xmlns:p14="http://schemas.microsoft.com/office/powerpoint/2010/main" val="581367660"/>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2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499"/>
                                          </p:stCondLst>
                                        </p:cTn>
                                        <p:tgtEl>
                                          <p:spTgt spid="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499"/>
                                          </p:stCondLst>
                                        </p:cTn>
                                        <p:tgtEl>
                                          <p:spTgt spid="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499"/>
                                          </p:stCondLst>
                                        </p:cTn>
                                        <p:tgtEl>
                                          <p:spTgt spid="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499"/>
                                          </p:stCondLst>
                                        </p:cTn>
                                        <p:tgtEl>
                                          <p:spTgt spid="1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499"/>
                                          </p:stCondLst>
                                        </p:cTn>
                                        <p:tgtEl>
                                          <p:spTgt spid="14"/>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499"/>
                                          </p:stCondLst>
                                        </p:cTn>
                                        <p:tgtEl>
                                          <p:spTgt spid="16"/>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7"/>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9"/>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51" fill="hold" display="0">
                  <p:stCondLst>
                    <p:cond delay="indefinite"/>
                  </p:stCondLst>
                </p:cTn>
                <p:tgtEl>
                  <p:spTgt spid="21"/>
                </p:tgtEl>
              </p:cMediaNode>
            </p:video>
          </p:childTnLst>
        </p:cTn>
      </p:par>
    </p:tnLst>
    <p:bldLst>
      <p:bldP spid="52" grpId="0" autoUpdateAnimBg="0"/>
      <p:bldP spid="122" grpId="0" autoUpdateAnimBg="0"/>
      <p:bldP spid="9" grpId="0" autoUpdateAnimBg="0"/>
      <p:bldP spid="14" grpId="0" autoUpdateAnimBg="0"/>
      <p:bldP spid="17" grpId="0"/>
      <p:bldP spid="20" grpId="0" animBg="1"/>
      <p:bldP spid="22"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4653838"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第七章   动力学普遍定理</a:t>
            </a:r>
          </a:p>
        </p:txBody>
      </p:sp>
      <p:sp>
        <p:nvSpPr>
          <p:cNvPr id="52" name="Text Box 1032"/>
          <p:cNvSpPr txBox="1">
            <a:spLocks noChangeArrowheads="1"/>
          </p:cNvSpPr>
          <p:nvPr/>
        </p:nvSpPr>
        <p:spPr bwMode="auto">
          <a:xfrm>
            <a:off x="570416" y="799357"/>
            <a:ext cx="9414016" cy="609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20000"/>
              </a:lnSpc>
            </a:pPr>
            <a:r>
              <a:rPr lang="zh-CN" altLang="en-US" sz="2800" i="0" dirty="0">
                <a:solidFill>
                  <a:srgbClr val="FF00FF"/>
                </a:solidFill>
                <a:latin typeface="+mn-lt"/>
                <a:ea typeface="微软雅黑" panose="020B0503020204020204" pitchFamily="34" charset="-122"/>
              </a:rPr>
              <a:t>（</a:t>
            </a:r>
            <a:r>
              <a:rPr lang="en-US" altLang="zh-CN" sz="2800" i="0" dirty="0">
                <a:solidFill>
                  <a:srgbClr val="FF00FF"/>
                </a:solidFill>
                <a:latin typeface="+mn-lt"/>
                <a:ea typeface="微软雅黑" panose="020B0503020204020204" pitchFamily="34" charset="-122"/>
              </a:rPr>
              <a:t>2</a:t>
            </a:r>
            <a:r>
              <a:rPr lang="zh-CN" altLang="en-US" sz="2800" i="0" dirty="0">
                <a:solidFill>
                  <a:srgbClr val="FF00FF"/>
                </a:solidFill>
                <a:latin typeface="+mn-lt"/>
                <a:ea typeface="微软雅黑" panose="020B0503020204020204" pitchFamily="34" charset="-122"/>
              </a:rPr>
              <a:t>）弹性力的功</a:t>
            </a:r>
          </a:p>
        </p:txBody>
      </p:sp>
      <p:sp>
        <p:nvSpPr>
          <p:cNvPr id="122" name="Text Box 1032"/>
          <p:cNvSpPr txBox="1">
            <a:spLocks noChangeArrowheads="1"/>
          </p:cNvSpPr>
          <p:nvPr/>
        </p:nvSpPr>
        <p:spPr bwMode="auto">
          <a:xfrm>
            <a:off x="816015" y="1384715"/>
            <a:ext cx="5400600" cy="6524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30000"/>
              </a:lnSpc>
            </a:pPr>
            <a:r>
              <a:rPr lang="zh-CN" altLang="en-US" sz="2800" i="0" dirty="0">
                <a:ea typeface="微软雅黑" panose="020B0503020204020204" pitchFamily="34" charset="-122"/>
              </a:rPr>
              <a:t>弹簧刚度系数 </a:t>
            </a:r>
            <a:r>
              <a:rPr lang="en-US" altLang="zh-CN" sz="2800" b="0" dirty="0">
                <a:ea typeface="微软雅黑" panose="020B0503020204020204" pitchFamily="34" charset="-122"/>
              </a:rPr>
              <a:t>k </a:t>
            </a:r>
            <a:endParaRPr lang="zh-CN" altLang="en-US" sz="2800" i="0" dirty="0">
              <a:ea typeface="微软雅黑" panose="020B0503020204020204" pitchFamily="34" charset="-122"/>
            </a:endParaRPr>
          </a:p>
        </p:txBody>
      </p:sp>
      <p:graphicFrame>
        <p:nvGraphicFramePr>
          <p:cNvPr id="6" name="Object 4"/>
          <p:cNvGraphicFramePr>
            <a:graphicFrameLocks noChangeAspect="1"/>
          </p:cNvGraphicFramePr>
          <p:nvPr>
            <p:extLst>
              <p:ext uri="{D42A27DB-BD31-4B8C-83A1-F6EECF244321}">
                <p14:modId xmlns:p14="http://schemas.microsoft.com/office/powerpoint/2010/main" val="164960384"/>
              </p:ext>
            </p:extLst>
          </p:nvPr>
        </p:nvGraphicFramePr>
        <p:xfrm>
          <a:off x="877096" y="2652699"/>
          <a:ext cx="5278438" cy="625475"/>
        </p:xfrm>
        <a:graphic>
          <a:graphicData uri="http://schemas.openxmlformats.org/presentationml/2006/ole">
            <mc:AlternateContent xmlns:mc="http://schemas.openxmlformats.org/markup-compatibility/2006">
              <mc:Choice xmlns:v="urn:schemas-microsoft-com:vml" Requires="v">
                <p:oleObj spid="_x0000_s17475" name="Equation" r:id="rId6" imgW="2184120" imgH="253800" progId="Equation.DSMT4">
                  <p:embed/>
                </p:oleObj>
              </mc:Choice>
              <mc:Fallback>
                <p:oleObj name="Equation" r:id="rId6" imgW="2184120" imgH="253800" progId="Equation.DSMT4">
                  <p:embed/>
                  <p:pic>
                    <p:nvPicPr>
                      <p:cNvPr id="0" name=""/>
                      <p:cNvPicPr>
                        <a:picLocks noChangeAspect="1" noChangeArrowheads="1"/>
                      </p:cNvPicPr>
                      <p:nvPr/>
                    </p:nvPicPr>
                    <p:blipFill>
                      <a:blip r:embed="rId7"/>
                      <a:srcRect/>
                      <a:stretch>
                        <a:fillRect/>
                      </a:stretch>
                    </p:blipFill>
                    <p:spPr bwMode="auto">
                      <a:xfrm>
                        <a:off x="877096" y="2652699"/>
                        <a:ext cx="5278438" cy="625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 name="Object 5"/>
          <p:cNvGraphicFramePr>
            <a:graphicFrameLocks noChangeAspect="1"/>
          </p:cNvGraphicFramePr>
          <p:nvPr>
            <p:extLst>
              <p:ext uri="{D42A27DB-BD31-4B8C-83A1-F6EECF244321}">
                <p14:modId xmlns:p14="http://schemas.microsoft.com/office/powerpoint/2010/main" val="2086049917"/>
              </p:ext>
            </p:extLst>
          </p:nvPr>
        </p:nvGraphicFramePr>
        <p:xfrm>
          <a:off x="5188245" y="1464638"/>
          <a:ext cx="2547937" cy="603250"/>
        </p:xfrm>
        <a:graphic>
          <a:graphicData uri="http://schemas.openxmlformats.org/presentationml/2006/ole">
            <mc:AlternateContent xmlns:mc="http://schemas.openxmlformats.org/markup-compatibility/2006">
              <mc:Choice xmlns:v="urn:schemas-microsoft-com:vml" Requires="v">
                <p:oleObj spid="_x0000_s17476" name="Equation" r:id="rId8" imgW="1015920" imgH="228600" progId="Equation.DSMT4">
                  <p:embed/>
                </p:oleObj>
              </mc:Choice>
              <mc:Fallback>
                <p:oleObj name="Equation" r:id="rId8" imgW="1015920" imgH="228600" progId="Equation.DSMT4">
                  <p:embed/>
                  <p:pic>
                    <p:nvPicPr>
                      <p:cNvPr id="0" name=""/>
                      <p:cNvPicPr>
                        <a:picLocks noChangeAspect="1" noChangeArrowheads="1"/>
                      </p:cNvPicPr>
                      <p:nvPr/>
                    </p:nvPicPr>
                    <p:blipFill>
                      <a:blip r:embed="rId9"/>
                      <a:srcRect/>
                      <a:stretch>
                        <a:fillRect/>
                      </a:stretch>
                    </p:blipFill>
                    <p:spPr bwMode="auto">
                      <a:xfrm>
                        <a:off x="5188245" y="1464638"/>
                        <a:ext cx="2547937" cy="603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0" name="Rectangle 61">
            <a:extLst>
              <a:ext uri="{FF2B5EF4-FFF2-40B4-BE49-F238E27FC236}">
                <a16:creationId xmlns:a16="http://schemas.microsoft.com/office/drawing/2014/main" id="{7C7AC23E-A1CE-03F9-D8A4-D45156EAD5C0}"/>
              </a:ext>
            </a:extLst>
          </p:cNvPr>
          <p:cNvSpPr>
            <a:spLocks noChangeArrowheads="1"/>
          </p:cNvSpPr>
          <p:nvPr/>
        </p:nvSpPr>
        <p:spPr bwMode="auto">
          <a:xfrm>
            <a:off x="8026228" y="836712"/>
            <a:ext cx="3880675" cy="5308317"/>
          </a:xfrm>
          <a:prstGeom prst="rect">
            <a:avLst/>
          </a:prstGeom>
          <a:solidFill>
            <a:srgbClr val="B9CDE5"/>
          </a:solidFill>
          <a:ln>
            <a:noFill/>
          </a:ln>
          <a:effectLst/>
        </p:spPr>
        <p:txBody>
          <a:bodyPr wrap="none" anchor="ctr"/>
          <a:lstStyle/>
          <a:p>
            <a:endParaRPr lang="zh-CN" altLang="en-US"/>
          </a:p>
        </p:txBody>
      </p:sp>
      <p:sp>
        <p:nvSpPr>
          <p:cNvPr id="22" name="Text Box 1032"/>
          <p:cNvSpPr txBox="1">
            <a:spLocks noChangeArrowheads="1"/>
          </p:cNvSpPr>
          <p:nvPr/>
        </p:nvSpPr>
        <p:spPr bwMode="auto">
          <a:xfrm>
            <a:off x="839416" y="5652143"/>
            <a:ext cx="7056784" cy="597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30000"/>
              </a:lnSpc>
            </a:pPr>
            <a:r>
              <a:rPr lang="zh-CN" altLang="en-US" sz="2800" i="0" dirty="0">
                <a:ea typeface="微软雅黑" panose="020B0503020204020204" pitchFamily="34" charset="-122"/>
              </a:rPr>
              <a:t>弹性力的功也与路径无关。</a:t>
            </a:r>
          </a:p>
        </p:txBody>
      </p:sp>
      <p:sp>
        <p:nvSpPr>
          <p:cNvPr id="18" name="Text Box 1032"/>
          <p:cNvSpPr txBox="1">
            <a:spLocks noChangeArrowheads="1"/>
          </p:cNvSpPr>
          <p:nvPr/>
        </p:nvSpPr>
        <p:spPr bwMode="auto">
          <a:xfrm>
            <a:off x="4030124" y="1382307"/>
            <a:ext cx="1440160" cy="6524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30000"/>
              </a:lnSpc>
            </a:pPr>
            <a:r>
              <a:rPr lang="zh-CN" altLang="en-US" sz="2800" i="0" dirty="0">
                <a:ea typeface="微软雅黑" panose="020B0503020204020204" pitchFamily="34" charset="-122"/>
              </a:rPr>
              <a:t>弹性力</a:t>
            </a:r>
          </a:p>
        </p:txBody>
      </p:sp>
      <p:sp>
        <p:nvSpPr>
          <p:cNvPr id="23" name="Text Box 1032"/>
          <p:cNvSpPr txBox="1">
            <a:spLocks noChangeArrowheads="1"/>
          </p:cNvSpPr>
          <p:nvPr/>
        </p:nvSpPr>
        <p:spPr bwMode="auto">
          <a:xfrm>
            <a:off x="816014" y="1935945"/>
            <a:ext cx="2471673" cy="6524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30000"/>
              </a:lnSpc>
            </a:pPr>
            <a:r>
              <a:rPr lang="zh-CN" altLang="en-US" sz="2800" i="0" dirty="0">
                <a:ea typeface="微软雅黑" panose="020B0503020204020204" pitchFamily="34" charset="-122"/>
              </a:rPr>
              <a:t>弹性力的功为</a:t>
            </a:r>
          </a:p>
        </p:txBody>
      </p:sp>
      <p:pic>
        <p:nvPicPr>
          <p:cNvPr id="24" name="004-5new.avi">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10">
            <a:extLst>
              <a:ext uri="{28A0092B-C50C-407E-A947-70E740481C1C}">
                <a14:useLocalDpi xmlns:a14="http://schemas.microsoft.com/office/drawing/2010/main" val="0"/>
              </a:ext>
            </a:extLst>
          </a:blip>
          <a:srcRect/>
          <a:stretch>
            <a:fillRect/>
          </a:stretch>
        </p:blipFill>
        <p:spPr bwMode="auto">
          <a:xfrm>
            <a:off x="8364524" y="913098"/>
            <a:ext cx="3204084" cy="24041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 name="Picture 25" descr="13-3"/>
          <p:cNvPicPr>
            <a:picLocks noChangeAspect="1" noChangeArrowheads="1"/>
          </p:cNvPicPr>
          <p:nvPr/>
        </p:nvPicPr>
        <p:blipFill rotWithShape="1">
          <a:blip r:embed="rId11">
            <a:extLst>
              <a:ext uri="{28A0092B-C50C-407E-A947-70E740481C1C}">
                <a14:useLocalDpi xmlns:a14="http://schemas.microsoft.com/office/drawing/2010/main" val="0"/>
              </a:ext>
            </a:extLst>
          </a:blip>
          <a:srcRect b="9471"/>
          <a:stretch/>
        </p:blipFill>
        <p:spPr bwMode="auto">
          <a:xfrm>
            <a:off x="8364524" y="3412603"/>
            <a:ext cx="3204084" cy="2637071"/>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 name="Text Box 1032"/>
          <p:cNvSpPr txBox="1">
            <a:spLocks noChangeArrowheads="1"/>
          </p:cNvSpPr>
          <p:nvPr/>
        </p:nvSpPr>
        <p:spPr bwMode="auto">
          <a:xfrm>
            <a:off x="816014" y="3304228"/>
            <a:ext cx="2471673" cy="597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30000"/>
              </a:lnSpc>
            </a:pPr>
            <a:r>
              <a:rPr lang="zh-CN" altLang="en-US" sz="2800" i="0" dirty="0">
                <a:ea typeface="微软雅黑" panose="020B0503020204020204" pitchFamily="34" charset="-122"/>
              </a:rPr>
              <a:t>因</a:t>
            </a:r>
          </a:p>
        </p:txBody>
      </p:sp>
      <p:graphicFrame>
        <p:nvGraphicFramePr>
          <p:cNvPr id="27" name="Object 4"/>
          <p:cNvGraphicFramePr>
            <a:graphicFrameLocks noChangeAspect="1"/>
          </p:cNvGraphicFramePr>
          <p:nvPr>
            <p:extLst>
              <p:ext uri="{D42A27DB-BD31-4B8C-83A1-F6EECF244321}">
                <p14:modId xmlns:p14="http://schemas.microsoft.com/office/powerpoint/2010/main" val="1315234769"/>
              </p:ext>
            </p:extLst>
          </p:nvPr>
        </p:nvGraphicFramePr>
        <p:xfrm>
          <a:off x="1415480" y="3156600"/>
          <a:ext cx="4572000" cy="969963"/>
        </p:xfrm>
        <a:graphic>
          <a:graphicData uri="http://schemas.openxmlformats.org/presentationml/2006/ole">
            <mc:AlternateContent xmlns:mc="http://schemas.openxmlformats.org/markup-compatibility/2006">
              <mc:Choice xmlns:v="urn:schemas-microsoft-com:vml" Requires="v">
                <p:oleObj spid="_x0000_s17477" name="Equation" r:id="rId12" imgW="1892160" imgH="393480" progId="Equation.DSMT4">
                  <p:embed/>
                </p:oleObj>
              </mc:Choice>
              <mc:Fallback>
                <p:oleObj name="Equation" r:id="rId12" imgW="1892160" imgH="393480" progId="Equation.DSMT4">
                  <p:embed/>
                  <p:pic>
                    <p:nvPicPr>
                      <p:cNvPr id="0" name=""/>
                      <p:cNvPicPr>
                        <a:picLocks noChangeAspect="1" noChangeArrowheads="1"/>
                      </p:cNvPicPr>
                      <p:nvPr/>
                    </p:nvPicPr>
                    <p:blipFill>
                      <a:blip r:embed="rId13"/>
                      <a:srcRect/>
                      <a:stretch>
                        <a:fillRect/>
                      </a:stretch>
                    </p:blipFill>
                    <p:spPr bwMode="auto">
                      <a:xfrm>
                        <a:off x="1415480" y="3156600"/>
                        <a:ext cx="4572000" cy="969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8" name="Text Box 1032"/>
          <p:cNvSpPr txBox="1">
            <a:spLocks noChangeArrowheads="1"/>
          </p:cNvSpPr>
          <p:nvPr/>
        </p:nvSpPr>
        <p:spPr bwMode="auto">
          <a:xfrm>
            <a:off x="816014" y="4100705"/>
            <a:ext cx="2471673" cy="597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30000"/>
              </a:lnSpc>
            </a:pPr>
            <a:r>
              <a:rPr lang="zh-CN" altLang="en-US" sz="2800" i="0" dirty="0">
                <a:ea typeface="微软雅黑" panose="020B0503020204020204" pitchFamily="34" charset="-122"/>
              </a:rPr>
              <a:t>得</a:t>
            </a:r>
          </a:p>
        </p:txBody>
      </p:sp>
      <p:graphicFrame>
        <p:nvGraphicFramePr>
          <p:cNvPr id="29" name="Object 4"/>
          <p:cNvGraphicFramePr>
            <a:graphicFrameLocks noChangeAspect="1"/>
          </p:cNvGraphicFramePr>
          <p:nvPr>
            <p:extLst>
              <p:ext uri="{D42A27DB-BD31-4B8C-83A1-F6EECF244321}">
                <p14:modId xmlns:p14="http://schemas.microsoft.com/office/powerpoint/2010/main" val="283766695"/>
              </p:ext>
            </p:extLst>
          </p:nvPr>
        </p:nvGraphicFramePr>
        <p:xfrm>
          <a:off x="1415480" y="3975100"/>
          <a:ext cx="5216525" cy="968375"/>
        </p:xfrm>
        <a:graphic>
          <a:graphicData uri="http://schemas.openxmlformats.org/presentationml/2006/ole">
            <mc:AlternateContent xmlns:mc="http://schemas.openxmlformats.org/markup-compatibility/2006">
              <mc:Choice xmlns:v="urn:schemas-microsoft-com:vml" Requires="v">
                <p:oleObj spid="_x0000_s17478" name="Equation" r:id="rId14" imgW="2158920" imgH="393480" progId="Equation.DSMT4">
                  <p:embed/>
                </p:oleObj>
              </mc:Choice>
              <mc:Fallback>
                <p:oleObj name="Equation" r:id="rId14" imgW="2158920" imgH="393480" progId="Equation.DSMT4">
                  <p:embed/>
                  <p:pic>
                    <p:nvPicPr>
                      <p:cNvPr id="0" name=""/>
                      <p:cNvPicPr>
                        <a:picLocks noChangeAspect="1" noChangeArrowheads="1"/>
                      </p:cNvPicPr>
                      <p:nvPr/>
                    </p:nvPicPr>
                    <p:blipFill>
                      <a:blip r:embed="rId15"/>
                      <a:srcRect/>
                      <a:stretch>
                        <a:fillRect/>
                      </a:stretch>
                    </p:blipFill>
                    <p:spPr bwMode="auto">
                      <a:xfrm>
                        <a:off x="1415480" y="3975100"/>
                        <a:ext cx="5216525" cy="968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0" name="Text Box 1032"/>
          <p:cNvSpPr txBox="1">
            <a:spLocks noChangeArrowheads="1"/>
          </p:cNvSpPr>
          <p:nvPr/>
        </p:nvSpPr>
        <p:spPr bwMode="auto">
          <a:xfrm>
            <a:off x="816014" y="4842360"/>
            <a:ext cx="2471673" cy="6524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30000"/>
              </a:lnSpc>
            </a:pPr>
            <a:r>
              <a:rPr lang="zh-CN" altLang="en-US" sz="2800" i="0" dirty="0">
                <a:ea typeface="微软雅黑" panose="020B0503020204020204" pitchFamily="34" charset="-122"/>
              </a:rPr>
              <a:t>式中</a:t>
            </a:r>
          </a:p>
        </p:txBody>
      </p:sp>
      <p:graphicFrame>
        <p:nvGraphicFramePr>
          <p:cNvPr id="31" name="Object 4"/>
          <p:cNvGraphicFramePr>
            <a:graphicFrameLocks noChangeAspect="1"/>
          </p:cNvGraphicFramePr>
          <p:nvPr>
            <p:extLst>
              <p:ext uri="{D42A27DB-BD31-4B8C-83A1-F6EECF244321}">
                <p14:modId xmlns:p14="http://schemas.microsoft.com/office/powerpoint/2010/main" val="920984723"/>
              </p:ext>
            </p:extLst>
          </p:nvPr>
        </p:nvGraphicFramePr>
        <p:xfrm>
          <a:off x="1799134" y="4919663"/>
          <a:ext cx="3160712" cy="561975"/>
        </p:xfrm>
        <a:graphic>
          <a:graphicData uri="http://schemas.openxmlformats.org/presentationml/2006/ole">
            <mc:AlternateContent xmlns:mc="http://schemas.openxmlformats.org/markup-compatibility/2006">
              <mc:Choice xmlns:v="urn:schemas-microsoft-com:vml" Requires="v">
                <p:oleObj spid="_x0000_s17479" name="Equation" r:id="rId16" imgW="1307880" imgH="228600" progId="Equation.DSMT4">
                  <p:embed/>
                </p:oleObj>
              </mc:Choice>
              <mc:Fallback>
                <p:oleObj name="Equation" r:id="rId16" imgW="1307880" imgH="228600" progId="Equation.DSMT4">
                  <p:embed/>
                  <p:pic>
                    <p:nvPicPr>
                      <p:cNvPr id="0" name=""/>
                      <p:cNvPicPr>
                        <a:picLocks noChangeAspect="1" noChangeArrowheads="1"/>
                      </p:cNvPicPr>
                      <p:nvPr/>
                    </p:nvPicPr>
                    <p:blipFill>
                      <a:blip r:embed="rId17"/>
                      <a:srcRect/>
                      <a:stretch>
                        <a:fillRect/>
                      </a:stretch>
                    </p:blipFill>
                    <p:spPr bwMode="auto">
                      <a:xfrm>
                        <a:off x="1799134" y="4919663"/>
                        <a:ext cx="316071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2381622907"/>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499"/>
                                          </p:stCondLst>
                                        </p:cTn>
                                        <p:tgtEl>
                                          <p:spTgt spid="12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499"/>
                                          </p:stCondLst>
                                        </p:cTn>
                                        <p:tgtEl>
                                          <p:spTgt spid="1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499"/>
                                          </p:stCondLst>
                                        </p:cTn>
                                        <p:tgtEl>
                                          <p:spTgt spid="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499"/>
                                          </p:stCondLst>
                                        </p:cTn>
                                        <p:tgtEl>
                                          <p:spTgt spid="2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499"/>
                                          </p:stCondLst>
                                        </p:cTn>
                                        <p:tgtEl>
                                          <p:spTgt spid="6"/>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499"/>
                                          </p:stCondLst>
                                        </p:cTn>
                                        <p:tgtEl>
                                          <p:spTgt spid="26"/>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499"/>
                                          </p:stCondLst>
                                        </p:cTn>
                                        <p:tgtEl>
                                          <p:spTgt spid="27"/>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499"/>
                                          </p:stCondLst>
                                        </p:cTn>
                                        <p:tgtEl>
                                          <p:spTgt spid="28"/>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499"/>
                                          </p:stCondLst>
                                        </p:cTn>
                                        <p:tgtEl>
                                          <p:spTgt spid="29"/>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499"/>
                                          </p:stCondLst>
                                        </p:cTn>
                                        <p:tgtEl>
                                          <p:spTgt spid="30"/>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499"/>
                                          </p:stCondLst>
                                        </p:cTn>
                                        <p:tgtEl>
                                          <p:spTgt spid="31"/>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499"/>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65" fill="hold" display="0">
                  <p:stCondLst>
                    <p:cond delay="indefinite"/>
                  </p:stCondLst>
                </p:cTn>
                <p:tgtEl>
                  <p:spTgt spid="24"/>
                </p:tgtEl>
              </p:cMediaNode>
            </p:video>
          </p:childTnLst>
        </p:cTn>
      </p:par>
    </p:tnLst>
    <p:bldLst>
      <p:bldP spid="52" grpId="0" autoUpdateAnimBg="0"/>
      <p:bldP spid="122" grpId="0" autoUpdateAnimBg="0"/>
      <p:bldP spid="20" grpId="0" animBg="1"/>
      <p:bldP spid="22" grpId="0" autoUpdateAnimBg="0"/>
      <p:bldP spid="18" grpId="0" autoUpdateAnimBg="0"/>
      <p:bldP spid="23" grpId="0" autoUpdateAnimBg="0"/>
      <p:bldP spid="26" grpId="0" autoUpdateAnimBg="0"/>
      <p:bldP spid="28" grpId="0" autoUpdateAnimBg="0"/>
      <p:bldP spid="30" grpId="0"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4653838"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第七章   动力学普遍定理</a:t>
            </a:r>
          </a:p>
        </p:txBody>
      </p:sp>
      <p:sp>
        <p:nvSpPr>
          <p:cNvPr id="52" name="Text Box 1032"/>
          <p:cNvSpPr txBox="1">
            <a:spLocks noChangeArrowheads="1"/>
          </p:cNvSpPr>
          <p:nvPr/>
        </p:nvSpPr>
        <p:spPr bwMode="auto">
          <a:xfrm>
            <a:off x="570416" y="799357"/>
            <a:ext cx="9414016" cy="609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20000"/>
              </a:lnSpc>
            </a:pPr>
            <a:r>
              <a:rPr lang="zh-CN" altLang="en-US" sz="2800" i="0" dirty="0">
                <a:solidFill>
                  <a:srgbClr val="FF00FF"/>
                </a:solidFill>
                <a:latin typeface="+mn-lt"/>
                <a:ea typeface="微软雅黑" panose="020B0503020204020204" pitchFamily="34" charset="-122"/>
              </a:rPr>
              <a:t>（</a:t>
            </a:r>
            <a:r>
              <a:rPr lang="en-US" altLang="zh-CN" sz="2800" i="0" dirty="0">
                <a:solidFill>
                  <a:srgbClr val="FF00FF"/>
                </a:solidFill>
                <a:latin typeface="+mn-lt"/>
                <a:ea typeface="微软雅黑" panose="020B0503020204020204" pitchFamily="34" charset="-122"/>
              </a:rPr>
              <a:t>3</a:t>
            </a:r>
            <a:r>
              <a:rPr lang="zh-CN" altLang="en-US" sz="2800" i="0" dirty="0">
                <a:solidFill>
                  <a:srgbClr val="FF00FF"/>
                </a:solidFill>
                <a:latin typeface="+mn-lt"/>
                <a:ea typeface="微软雅黑" panose="020B0503020204020204" pitchFamily="34" charset="-122"/>
              </a:rPr>
              <a:t>）动摩擦力的功</a:t>
            </a:r>
          </a:p>
        </p:txBody>
      </p:sp>
      <p:sp>
        <p:nvSpPr>
          <p:cNvPr id="122" name="Text Box 1032"/>
          <p:cNvSpPr txBox="1">
            <a:spLocks noChangeArrowheads="1"/>
          </p:cNvSpPr>
          <p:nvPr/>
        </p:nvSpPr>
        <p:spPr bwMode="auto">
          <a:xfrm>
            <a:off x="816014" y="1408755"/>
            <a:ext cx="10392554" cy="23329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lnSpc>
                <a:spcPct val="130000"/>
              </a:lnSpc>
            </a:pPr>
            <a:r>
              <a:rPr lang="zh-CN" altLang="en-US" sz="2800" i="0" dirty="0">
                <a:latin typeface="+mn-lt"/>
                <a:ea typeface="微软雅黑" panose="020B0503020204020204" pitchFamily="34" charset="-122"/>
              </a:rPr>
              <a:t>当质点受动摩擦力作用由</a:t>
            </a:r>
            <a:r>
              <a:rPr lang="en-US" altLang="zh-CN" sz="2800" b="0" dirty="0">
                <a:latin typeface="+mn-lt"/>
                <a:ea typeface="微软雅黑" panose="020B0503020204020204" pitchFamily="34" charset="-122"/>
              </a:rPr>
              <a:t>M</a:t>
            </a:r>
            <a:r>
              <a:rPr lang="en-US" altLang="zh-CN" sz="2800" b="0" i="0" baseline="-25000" dirty="0">
                <a:latin typeface="+mn-lt"/>
                <a:ea typeface="微软雅黑" panose="020B0503020204020204" pitchFamily="34" charset="-122"/>
              </a:rPr>
              <a:t>1</a:t>
            </a:r>
            <a:r>
              <a:rPr lang="zh-CN" altLang="en-US" sz="2800" i="0" dirty="0">
                <a:latin typeface="+mn-lt"/>
                <a:ea typeface="微软雅黑" panose="020B0503020204020204" pitchFamily="34" charset="-122"/>
              </a:rPr>
              <a:t>运动到</a:t>
            </a:r>
            <a:r>
              <a:rPr lang="en-US" altLang="zh-CN" sz="2800" b="0" dirty="0">
                <a:latin typeface="+mn-lt"/>
                <a:ea typeface="微软雅黑" panose="020B0503020204020204" pitchFamily="34" charset="-122"/>
              </a:rPr>
              <a:t>M</a:t>
            </a:r>
            <a:r>
              <a:rPr lang="en-US" altLang="zh-CN" sz="2800" b="0" i="0" baseline="-25000" dirty="0">
                <a:latin typeface="+mn-lt"/>
                <a:ea typeface="微软雅黑" panose="020B0503020204020204" pitchFamily="34" charset="-122"/>
              </a:rPr>
              <a:t>2</a:t>
            </a:r>
            <a:r>
              <a:rPr lang="zh-CN" altLang="en-US" sz="2800" i="0" dirty="0">
                <a:latin typeface="+mn-lt"/>
                <a:ea typeface="微软雅黑" panose="020B0503020204020204" pitchFamily="34" charset="-122"/>
              </a:rPr>
              <a:t>时，由于动摩擦力的方向总是与质点运动的方向相反，根据摩擦定律，</a:t>
            </a:r>
            <a:r>
              <a:rPr lang="en-US" altLang="zh-CN" sz="2800" dirty="0">
                <a:latin typeface="+mn-lt"/>
                <a:ea typeface="微软雅黑" panose="020B0503020204020204" pitchFamily="34" charset="-122"/>
              </a:rPr>
              <a:t>F</a:t>
            </a:r>
            <a:r>
              <a:rPr lang="en-US" altLang="zh-CN" sz="2800" i="0" dirty="0">
                <a:latin typeface="+mn-lt"/>
                <a:ea typeface="微软雅黑" panose="020B0503020204020204" pitchFamily="34" charset="-122"/>
                <a:cs typeface="Times New Roman" panose="02020603050405020304" pitchFamily="18" charset="0"/>
              </a:rPr>
              <a:t>'</a:t>
            </a:r>
            <a:r>
              <a:rPr lang="zh-CN" altLang="en-US" sz="2800" i="0" dirty="0">
                <a:latin typeface="+mn-lt"/>
                <a:ea typeface="微软雅黑" panose="020B0503020204020204" pitchFamily="34" charset="-122"/>
              </a:rPr>
              <a:t>＝</a:t>
            </a:r>
            <a:r>
              <a:rPr lang="en-US" altLang="zh-CN" sz="2800" b="0" dirty="0">
                <a:latin typeface="+mn-lt"/>
                <a:ea typeface="微软雅黑" panose="020B0503020204020204" pitchFamily="34" charset="-122"/>
              </a:rPr>
              <a:t>f </a:t>
            </a:r>
            <a:r>
              <a:rPr lang="en-US" altLang="zh-CN" sz="2800" dirty="0">
                <a:latin typeface="+mn-lt"/>
                <a:ea typeface="微软雅黑" panose="020B0503020204020204" pitchFamily="34" charset="-122"/>
              </a:rPr>
              <a:t>F</a:t>
            </a:r>
            <a:r>
              <a:rPr lang="en-US" altLang="zh-CN" sz="2800" b="0" i="0" baseline="-25000" dirty="0">
                <a:latin typeface="+mn-lt"/>
                <a:ea typeface="微软雅黑" panose="020B0503020204020204" pitchFamily="34" charset="-122"/>
              </a:rPr>
              <a:t>N</a:t>
            </a:r>
            <a:r>
              <a:rPr lang="zh-CN" altLang="en-US" sz="2800" i="0" dirty="0">
                <a:latin typeface="+mn-lt"/>
                <a:ea typeface="微软雅黑" panose="020B0503020204020204" pitchFamily="34" charset="-122"/>
              </a:rPr>
              <a:t>，所以在一般情况下，动摩擦力的功为负，其大小与质点的运动路径有关，即</a:t>
            </a:r>
          </a:p>
          <a:p>
            <a:pPr>
              <a:lnSpc>
                <a:spcPct val="130000"/>
              </a:lnSpc>
            </a:pPr>
            <a:endParaRPr lang="zh-CN" altLang="en-US" sz="2800" i="0" dirty="0">
              <a:ea typeface="微软雅黑" panose="020B0503020204020204" pitchFamily="34" charset="-122"/>
            </a:endParaRPr>
          </a:p>
        </p:txBody>
      </p:sp>
      <p:graphicFrame>
        <p:nvGraphicFramePr>
          <p:cNvPr id="19" name="Object 4"/>
          <p:cNvGraphicFramePr>
            <a:graphicFrameLocks noChangeAspect="1"/>
          </p:cNvGraphicFramePr>
          <p:nvPr>
            <p:extLst>
              <p:ext uri="{D42A27DB-BD31-4B8C-83A1-F6EECF244321}">
                <p14:modId xmlns:p14="http://schemas.microsoft.com/office/powerpoint/2010/main" val="3864179122"/>
              </p:ext>
            </p:extLst>
          </p:nvPr>
        </p:nvGraphicFramePr>
        <p:xfrm>
          <a:off x="3143672" y="3429000"/>
          <a:ext cx="2576512" cy="623888"/>
        </p:xfrm>
        <a:graphic>
          <a:graphicData uri="http://schemas.openxmlformats.org/presentationml/2006/ole">
            <mc:AlternateContent xmlns:mc="http://schemas.openxmlformats.org/markup-compatibility/2006">
              <mc:Choice xmlns:v="urn:schemas-microsoft-com:vml" Requires="v">
                <p:oleObj spid="_x0000_s18447" name="Equation" r:id="rId4" imgW="1066680" imgH="253800" progId="Equation.DSMT4">
                  <p:embed/>
                </p:oleObj>
              </mc:Choice>
              <mc:Fallback>
                <p:oleObj name="Equation" r:id="rId4" imgW="1066680" imgH="253800" progId="Equation.DSMT4">
                  <p:embed/>
                  <p:pic>
                    <p:nvPicPr>
                      <p:cNvPr id="0" name=""/>
                      <p:cNvPicPr>
                        <a:picLocks noChangeAspect="1" noChangeArrowheads="1"/>
                      </p:cNvPicPr>
                      <p:nvPr/>
                    </p:nvPicPr>
                    <p:blipFill>
                      <a:blip r:embed="rId5"/>
                      <a:srcRect/>
                      <a:stretch>
                        <a:fillRect/>
                      </a:stretch>
                    </p:blipFill>
                    <p:spPr bwMode="auto">
                      <a:xfrm>
                        <a:off x="3143672" y="3429000"/>
                        <a:ext cx="2576512" cy="6238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2189093317"/>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2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499"/>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utoUpdateAnimBg="0"/>
      <p:bldP spid="122" grpId="0"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61">
            <a:extLst>
              <a:ext uri="{FF2B5EF4-FFF2-40B4-BE49-F238E27FC236}">
                <a16:creationId xmlns:a16="http://schemas.microsoft.com/office/drawing/2014/main" id="{7C7AC23E-A1CE-03F9-D8A4-D45156EAD5C0}"/>
              </a:ext>
            </a:extLst>
          </p:cNvPr>
          <p:cNvSpPr>
            <a:spLocks noChangeArrowheads="1"/>
          </p:cNvSpPr>
          <p:nvPr/>
        </p:nvSpPr>
        <p:spPr bwMode="auto">
          <a:xfrm>
            <a:off x="8026228" y="1505059"/>
            <a:ext cx="3880675" cy="4012173"/>
          </a:xfrm>
          <a:prstGeom prst="rect">
            <a:avLst/>
          </a:prstGeom>
          <a:solidFill>
            <a:srgbClr val="B9CDE5"/>
          </a:solidFill>
          <a:ln>
            <a:noFill/>
          </a:ln>
          <a:effectLst/>
        </p:spPr>
        <p:txBody>
          <a:bodyPr wrap="none" anchor="ctr"/>
          <a:lstStyle/>
          <a:p>
            <a:endParaRPr lang="zh-CN" altLang="en-US"/>
          </a:p>
        </p:txBody>
      </p:sp>
      <p:sp>
        <p:nvSpPr>
          <p:cNvPr id="45" name="Oval 19"/>
          <p:cNvSpPr>
            <a:spLocks noChangeArrowheads="1"/>
          </p:cNvSpPr>
          <p:nvPr/>
        </p:nvSpPr>
        <p:spPr bwMode="auto">
          <a:xfrm>
            <a:off x="8545548" y="2457170"/>
            <a:ext cx="2038350" cy="2547938"/>
          </a:xfrm>
          <a:prstGeom prst="ellipse">
            <a:avLst/>
          </a:prstGeom>
          <a:gradFill flip="none" rotWithShape="1">
            <a:gsLst>
              <a:gs pos="0">
                <a:schemeClr val="accent1">
                  <a:lumMod val="75000"/>
                  <a:shade val="30000"/>
                  <a:satMod val="115000"/>
                </a:schemeClr>
              </a:gs>
              <a:gs pos="50000">
                <a:schemeClr val="accent1">
                  <a:lumMod val="75000"/>
                  <a:shade val="67500"/>
                  <a:satMod val="115000"/>
                </a:schemeClr>
              </a:gs>
              <a:gs pos="100000">
                <a:schemeClr val="accent1">
                  <a:lumMod val="75000"/>
                  <a:shade val="100000"/>
                  <a:satMod val="115000"/>
                </a:schemeClr>
              </a:gs>
            </a:gsLst>
            <a:path path="circle">
              <a:fillToRect l="50000" t="50000" r="50000" b="50000"/>
            </a:path>
            <a:tileRect/>
          </a:gradFill>
          <a:ln>
            <a:noFill/>
          </a:ln>
          <a:effectLst/>
        </p:spPr>
        <p:txBody>
          <a:bodyPr wrap="none" anchor="ctr"/>
          <a:lstStyle/>
          <a:p>
            <a:endParaRPr lang="zh-CN" altLang="en-US"/>
          </a:p>
        </p:txBody>
      </p:sp>
      <p:sp>
        <p:nvSpPr>
          <p:cNvPr id="7" name="矩形 6"/>
          <p:cNvSpPr/>
          <p:nvPr/>
        </p:nvSpPr>
        <p:spPr>
          <a:xfrm>
            <a:off x="20960" y="91693"/>
            <a:ext cx="4653838"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第七章   动力学普遍定理</a:t>
            </a:r>
          </a:p>
        </p:txBody>
      </p:sp>
      <p:sp>
        <p:nvSpPr>
          <p:cNvPr id="52" name="Text Box 1032"/>
          <p:cNvSpPr txBox="1">
            <a:spLocks noChangeArrowheads="1"/>
          </p:cNvSpPr>
          <p:nvPr/>
        </p:nvSpPr>
        <p:spPr bwMode="auto">
          <a:xfrm>
            <a:off x="570416" y="799357"/>
            <a:ext cx="6695400" cy="1126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20000"/>
              </a:lnSpc>
            </a:pPr>
            <a:r>
              <a:rPr lang="zh-CN" altLang="en-US" sz="2800" i="0" dirty="0">
                <a:solidFill>
                  <a:srgbClr val="FF00FF"/>
                </a:solidFill>
                <a:latin typeface="+mn-lt"/>
                <a:ea typeface="微软雅黑" panose="020B0503020204020204" pitchFamily="34" charset="-122"/>
              </a:rPr>
              <a:t>（</a:t>
            </a:r>
            <a:r>
              <a:rPr lang="en-US" altLang="zh-CN" sz="2800" i="0" dirty="0">
                <a:solidFill>
                  <a:srgbClr val="FF00FF"/>
                </a:solidFill>
                <a:latin typeface="+mn-lt"/>
                <a:ea typeface="微软雅黑" panose="020B0503020204020204" pitchFamily="34" charset="-122"/>
              </a:rPr>
              <a:t>4</a:t>
            </a:r>
            <a:r>
              <a:rPr lang="zh-CN" altLang="en-US" sz="2800" i="0" dirty="0">
                <a:solidFill>
                  <a:srgbClr val="FF00FF"/>
                </a:solidFill>
                <a:latin typeface="+mn-lt"/>
                <a:ea typeface="微软雅黑" panose="020B0503020204020204" pitchFamily="34" charset="-122"/>
              </a:rPr>
              <a:t>）作用于定轴转动刚物体上力的功</a:t>
            </a:r>
            <a:endParaRPr lang="zh-CN" altLang="en-US" sz="2800" dirty="0">
              <a:ea typeface="黑体" panose="02010609060101010101" pitchFamily="49" charset="-122"/>
            </a:endParaRPr>
          </a:p>
          <a:p>
            <a:pPr>
              <a:lnSpc>
                <a:spcPct val="120000"/>
              </a:lnSpc>
            </a:pPr>
            <a:endParaRPr lang="zh-CN" altLang="en-US" sz="2800" i="0" dirty="0">
              <a:solidFill>
                <a:srgbClr val="FF00FF"/>
              </a:solidFill>
              <a:latin typeface="+mn-lt"/>
              <a:ea typeface="微软雅黑" panose="020B0503020204020204" pitchFamily="34" charset="-122"/>
            </a:endParaRPr>
          </a:p>
        </p:txBody>
      </p:sp>
      <p:sp>
        <p:nvSpPr>
          <p:cNvPr id="122" name="Text Box 1032"/>
          <p:cNvSpPr txBox="1">
            <a:spLocks noChangeArrowheads="1"/>
          </p:cNvSpPr>
          <p:nvPr/>
        </p:nvSpPr>
        <p:spPr bwMode="auto">
          <a:xfrm>
            <a:off x="816015" y="1384715"/>
            <a:ext cx="7032413" cy="2278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lnSpc>
                <a:spcPct val="130000"/>
              </a:lnSpc>
            </a:pPr>
            <a:r>
              <a:rPr lang="zh-CN" altLang="en-US" sz="2800" i="0" dirty="0">
                <a:latin typeface="+mn-lt"/>
                <a:ea typeface="微软雅黑" panose="020B0503020204020204" pitchFamily="34" charset="-122"/>
              </a:rPr>
              <a:t>设定轴转动刚体上</a:t>
            </a:r>
            <a:r>
              <a:rPr lang="en-US" altLang="zh-CN" sz="2800" b="0" dirty="0">
                <a:latin typeface="+mn-lt"/>
                <a:ea typeface="微软雅黑" panose="020B0503020204020204" pitchFamily="34" charset="-122"/>
              </a:rPr>
              <a:t>M</a:t>
            </a:r>
            <a:r>
              <a:rPr lang="zh-CN" altLang="en-US" sz="2800" i="0" dirty="0">
                <a:latin typeface="+mn-lt"/>
                <a:ea typeface="微软雅黑" panose="020B0503020204020204" pitchFamily="34" charset="-122"/>
              </a:rPr>
              <a:t>点处有一个力</a:t>
            </a:r>
            <a:r>
              <a:rPr lang="en-US" altLang="zh-CN" sz="2800" dirty="0">
                <a:latin typeface="+mn-lt"/>
                <a:ea typeface="微软雅黑" panose="020B0503020204020204" pitchFamily="34" charset="-122"/>
              </a:rPr>
              <a:t>F</a:t>
            </a:r>
            <a:r>
              <a:rPr lang="zh-CN" altLang="en-US" sz="2800" i="0" dirty="0">
                <a:latin typeface="+mn-lt"/>
                <a:ea typeface="微软雅黑" panose="020B0503020204020204" pitchFamily="34" charset="-122"/>
              </a:rPr>
              <a:t>，求刚体转动时力</a:t>
            </a:r>
            <a:r>
              <a:rPr lang="en-US" altLang="zh-CN" sz="2800" dirty="0">
                <a:latin typeface="+mn-lt"/>
                <a:ea typeface="微软雅黑" panose="020B0503020204020204" pitchFamily="34" charset="-122"/>
              </a:rPr>
              <a:t>F</a:t>
            </a:r>
            <a:r>
              <a:rPr lang="zh-CN" altLang="en-US" sz="2800" i="0" dirty="0">
                <a:latin typeface="+mn-lt"/>
                <a:ea typeface="微软雅黑" panose="020B0503020204020204" pitchFamily="34" charset="-122"/>
              </a:rPr>
              <a:t>所作的功。此力可分解为三个分力，</a:t>
            </a:r>
            <a:r>
              <a:rPr lang="en-US" altLang="zh-CN" sz="2800" dirty="0" err="1">
                <a:latin typeface="+mn-lt"/>
                <a:ea typeface="微软雅黑" panose="020B0503020204020204" pitchFamily="34" charset="-122"/>
              </a:rPr>
              <a:t>F</a:t>
            </a:r>
            <a:r>
              <a:rPr lang="en-US" altLang="zh-CN" sz="2800" b="0" baseline="-25000" dirty="0" err="1">
                <a:latin typeface="+mn-lt"/>
                <a:ea typeface="微软雅黑" panose="020B0503020204020204" pitchFamily="34" charset="-122"/>
              </a:rPr>
              <a:t>z</a:t>
            </a:r>
            <a:r>
              <a:rPr lang="zh-CN" altLang="en-US" sz="2800" i="0" dirty="0">
                <a:latin typeface="+mn-lt"/>
                <a:ea typeface="微软雅黑" panose="020B0503020204020204" pitchFamily="34" charset="-122"/>
              </a:rPr>
              <a:t>平行于</a:t>
            </a:r>
            <a:r>
              <a:rPr lang="en-US" altLang="zh-CN" sz="2800" b="0" dirty="0">
                <a:latin typeface="+mn-lt"/>
                <a:ea typeface="微软雅黑" panose="020B0503020204020204" pitchFamily="34" charset="-122"/>
              </a:rPr>
              <a:t>z</a:t>
            </a:r>
            <a:r>
              <a:rPr lang="zh-CN" altLang="en-US" sz="2800" i="0" dirty="0">
                <a:latin typeface="+mn-lt"/>
                <a:ea typeface="微软雅黑" panose="020B0503020204020204" pitchFamily="34" charset="-122"/>
              </a:rPr>
              <a:t>轴，</a:t>
            </a:r>
            <a:r>
              <a:rPr lang="en-US" altLang="zh-CN" sz="2800" dirty="0">
                <a:latin typeface="+mn-lt"/>
                <a:ea typeface="微软雅黑" panose="020B0503020204020204" pitchFamily="34" charset="-122"/>
              </a:rPr>
              <a:t>F</a:t>
            </a:r>
            <a:r>
              <a:rPr lang="en-US" altLang="zh-CN" sz="2800" b="0" i="0" baseline="-25000" dirty="0">
                <a:ea typeface="微软雅黑" panose="020B0503020204020204" pitchFamily="34" charset="-122"/>
              </a:rPr>
              <a:t>r</a:t>
            </a:r>
            <a:r>
              <a:rPr lang="zh-CN" altLang="en-US" sz="2800" i="0" dirty="0">
                <a:latin typeface="+mn-lt"/>
                <a:ea typeface="微软雅黑" panose="020B0503020204020204" pitchFamily="34" charset="-122"/>
              </a:rPr>
              <a:t>为垂直于转轴的径向力，</a:t>
            </a:r>
            <a:r>
              <a:rPr lang="en-US" altLang="zh-CN" sz="2800" dirty="0">
                <a:latin typeface="+mn-lt"/>
                <a:ea typeface="微软雅黑" panose="020B0503020204020204" pitchFamily="34" charset="-122"/>
              </a:rPr>
              <a:t>F</a:t>
            </a:r>
            <a:r>
              <a:rPr lang="en-US" altLang="zh-CN" sz="2800" b="0" i="0" baseline="-25000" dirty="0">
                <a:latin typeface="+mn-lt"/>
                <a:ea typeface="微软雅黑" panose="020B0503020204020204" pitchFamily="34" charset="-122"/>
                <a:sym typeface="Symbol" panose="05050102010706020507" pitchFamily="18" charset="2"/>
              </a:rPr>
              <a:t></a:t>
            </a:r>
            <a:r>
              <a:rPr lang="zh-CN" altLang="en-US" sz="2800" i="0" dirty="0">
                <a:latin typeface="+mn-lt"/>
                <a:ea typeface="微软雅黑" panose="020B0503020204020204" pitchFamily="34" charset="-122"/>
              </a:rPr>
              <a:t>为切于</a:t>
            </a:r>
            <a:r>
              <a:rPr lang="en-US" altLang="zh-CN" sz="2800" b="0" dirty="0">
                <a:latin typeface="+mn-lt"/>
                <a:ea typeface="微软雅黑" panose="020B0503020204020204" pitchFamily="34" charset="-122"/>
              </a:rPr>
              <a:t>M</a:t>
            </a:r>
            <a:r>
              <a:rPr lang="zh-CN" altLang="en-US" sz="2800" i="0" dirty="0">
                <a:latin typeface="+mn-lt"/>
                <a:ea typeface="微软雅黑" panose="020B0503020204020204" pitchFamily="34" charset="-122"/>
              </a:rPr>
              <a:t>点圆周运动路径的切向力。</a:t>
            </a:r>
            <a:endParaRPr lang="zh-CN" altLang="en-US" sz="2800" i="0" dirty="0">
              <a:ea typeface="微软雅黑" panose="020B0503020204020204" pitchFamily="34" charset="-122"/>
            </a:endParaRPr>
          </a:p>
        </p:txBody>
      </p:sp>
      <p:sp>
        <p:nvSpPr>
          <p:cNvPr id="19" name="Line 4"/>
          <p:cNvSpPr>
            <a:spLocks noChangeShapeType="1"/>
          </p:cNvSpPr>
          <p:nvPr/>
        </p:nvSpPr>
        <p:spPr bwMode="auto">
          <a:xfrm flipV="1">
            <a:off x="9567898" y="1828520"/>
            <a:ext cx="0" cy="3587750"/>
          </a:xfrm>
          <a:prstGeom prst="line">
            <a:avLst/>
          </a:prstGeom>
          <a:noFill/>
          <a:ln w="38100">
            <a:solidFill>
              <a:schemeClr val="tx1"/>
            </a:solidFill>
            <a:prstDash val="lgDashDot"/>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1" name="Text Box 5"/>
          <p:cNvSpPr txBox="1">
            <a:spLocks noChangeAspect="1" noChangeArrowheads="1"/>
          </p:cNvSpPr>
          <p:nvPr/>
        </p:nvSpPr>
        <p:spPr bwMode="auto">
          <a:xfrm>
            <a:off x="9539323" y="1633258"/>
            <a:ext cx="417513" cy="6397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sz="3200" b="0" i="1" dirty="0">
                <a:ea typeface="宋体" panose="02010600030101010101" pitchFamily="2" charset="-122"/>
              </a:rPr>
              <a:t>z</a:t>
            </a:r>
          </a:p>
        </p:txBody>
      </p:sp>
      <p:sp>
        <p:nvSpPr>
          <p:cNvPr id="32" name="Oval 6"/>
          <p:cNvSpPr>
            <a:spLocks noChangeArrowheads="1"/>
          </p:cNvSpPr>
          <p:nvPr/>
        </p:nvSpPr>
        <p:spPr bwMode="auto">
          <a:xfrm>
            <a:off x="9199598" y="4135158"/>
            <a:ext cx="103188" cy="103187"/>
          </a:xfrm>
          <a:prstGeom prst="ellipse">
            <a:avLst/>
          </a:prstGeom>
          <a:gradFill rotWithShape="1">
            <a:gsLst>
              <a:gs pos="0">
                <a:srgbClr val="FF0000">
                  <a:gamma/>
                  <a:tint val="44314"/>
                  <a:invGamma/>
                </a:srgbClr>
              </a:gs>
              <a:gs pos="100000">
                <a:srgbClr val="FF0000"/>
              </a:gs>
            </a:gsLst>
            <a:path path="shape">
              <a:fillToRect l="50000" t="50000" r="50000" b="5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33" name="Group 7"/>
          <p:cNvGrpSpPr>
            <a:grpSpLocks/>
          </p:cNvGrpSpPr>
          <p:nvPr/>
        </p:nvGrpSpPr>
        <p:grpSpPr bwMode="auto">
          <a:xfrm>
            <a:off x="9645686" y="2150783"/>
            <a:ext cx="123825" cy="249237"/>
            <a:chOff x="4582" y="1423"/>
            <a:chExt cx="78" cy="157"/>
          </a:xfrm>
        </p:grpSpPr>
        <p:sp>
          <p:nvSpPr>
            <p:cNvPr id="34" name="Rectangle 8" descr="宽上对角线"/>
            <p:cNvSpPr>
              <a:spLocks noChangeArrowheads="1"/>
            </p:cNvSpPr>
            <p:nvPr/>
          </p:nvSpPr>
          <p:spPr bwMode="auto">
            <a:xfrm>
              <a:off x="4599" y="1423"/>
              <a:ext cx="61" cy="157"/>
            </a:xfrm>
            <a:prstGeom prst="rect">
              <a:avLst/>
            </a:prstGeom>
            <a:pattFill prst="wdUpDiag">
              <a:fgClr>
                <a:schemeClr val="tx2"/>
              </a:fgClr>
              <a:bgClr>
                <a:schemeClr val="bg1"/>
              </a:bgClr>
            </a:patt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 name="Line 9"/>
            <p:cNvSpPr>
              <a:spLocks noChangeShapeType="1"/>
            </p:cNvSpPr>
            <p:nvPr/>
          </p:nvSpPr>
          <p:spPr bwMode="auto">
            <a:xfrm>
              <a:off x="4582" y="1423"/>
              <a:ext cx="0" cy="157"/>
            </a:xfrm>
            <a:prstGeom prst="line">
              <a:avLst/>
            </a:prstGeom>
            <a:noFill/>
            <a:ln w="381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6" name="Group 10"/>
          <p:cNvGrpSpPr>
            <a:grpSpLocks/>
          </p:cNvGrpSpPr>
          <p:nvPr/>
        </p:nvGrpSpPr>
        <p:grpSpPr bwMode="auto">
          <a:xfrm>
            <a:off x="9640923" y="5041620"/>
            <a:ext cx="123825" cy="249238"/>
            <a:chOff x="4582" y="1423"/>
            <a:chExt cx="78" cy="157"/>
          </a:xfrm>
        </p:grpSpPr>
        <p:sp>
          <p:nvSpPr>
            <p:cNvPr id="37" name="Rectangle 11" descr="宽上对角线"/>
            <p:cNvSpPr>
              <a:spLocks noChangeArrowheads="1"/>
            </p:cNvSpPr>
            <p:nvPr/>
          </p:nvSpPr>
          <p:spPr bwMode="auto">
            <a:xfrm>
              <a:off x="4599" y="1423"/>
              <a:ext cx="61" cy="157"/>
            </a:xfrm>
            <a:prstGeom prst="rect">
              <a:avLst/>
            </a:prstGeom>
            <a:pattFill prst="wdUpDiag">
              <a:fgClr>
                <a:schemeClr val="tx2"/>
              </a:fgClr>
              <a:bgClr>
                <a:schemeClr val="bg1"/>
              </a:bgClr>
            </a:patt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 name="Line 12"/>
            <p:cNvSpPr>
              <a:spLocks noChangeShapeType="1"/>
            </p:cNvSpPr>
            <p:nvPr/>
          </p:nvSpPr>
          <p:spPr bwMode="auto">
            <a:xfrm>
              <a:off x="4582" y="1423"/>
              <a:ext cx="0" cy="157"/>
            </a:xfrm>
            <a:prstGeom prst="line">
              <a:avLst/>
            </a:prstGeom>
            <a:noFill/>
            <a:ln w="381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9" name="Group 13"/>
          <p:cNvGrpSpPr>
            <a:grpSpLocks/>
          </p:cNvGrpSpPr>
          <p:nvPr/>
        </p:nvGrpSpPr>
        <p:grpSpPr bwMode="auto">
          <a:xfrm flipH="1">
            <a:off x="9361523" y="2144433"/>
            <a:ext cx="123825" cy="249237"/>
            <a:chOff x="4582" y="1423"/>
            <a:chExt cx="78" cy="157"/>
          </a:xfrm>
        </p:grpSpPr>
        <p:sp>
          <p:nvSpPr>
            <p:cNvPr id="40" name="Rectangle 14" descr="宽上对角线"/>
            <p:cNvSpPr>
              <a:spLocks noChangeArrowheads="1"/>
            </p:cNvSpPr>
            <p:nvPr/>
          </p:nvSpPr>
          <p:spPr bwMode="auto">
            <a:xfrm>
              <a:off x="4599" y="1423"/>
              <a:ext cx="61" cy="157"/>
            </a:xfrm>
            <a:prstGeom prst="rect">
              <a:avLst/>
            </a:prstGeom>
            <a:pattFill prst="wdUpDiag">
              <a:fgClr>
                <a:schemeClr val="tx2"/>
              </a:fgClr>
              <a:bgClr>
                <a:schemeClr val="bg1"/>
              </a:bgClr>
            </a:patt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 name="Line 15"/>
            <p:cNvSpPr>
              <a:spLocks noChangeShapeType="1"/>
            </p:cNvSpPr>
            <p:nvPr/>
          </p:nvSpPr>
          <p:spPr bwMode="auto">
            <a:xfrm>
              <a:off x="4582" y="1423"/>
              <a:ext cx="0" cy="157"/>
            </a:xfrm>
            <a:prstGeom prst="line">
              <a:avLst/>
            </a:prstGeom>
            <a:noFill/>
            <a:ln w="381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2" name="Group 16"/>
          <p:cNvGrpSpPr>
            <a:grpSpLocks/>
          </p:cNvGrpSpPr>
          <p:nvPr/>
        </p:nvGrpSpPr>
        <p:grpSpPr bwMode="auto">
          <a:xfrm flipH="1">
            <a:off x="9369461" y="5049558"/>
            <a:ext cx="123825" cy="249237"/>
            <a:chOff x="4582" y="1423"/>
            <a:chExt cx="78" cy="157"/>
          </a:xfrm>
        </p:grpSpPr>
        <p:sp>
          <p:nvSpPr>
            <p:cNvPr id="43" name="Rectangle 17" descr="宽上对角线"/>
            <p:cNvSpPr>
              <a:spLocks noChangeArrowheads="1"/>
            </p:cNvSpPr>
            <p:nvPr/>
          </p:nvSpPr>
          <p:spPr bwMode="auto">
            <a:xfrm>
              <a:off x="4599" y="1423"/>
              <a:ext cx="61" cy="157"/>
            </a:xfrm>
            <a:prstGeom prst="rect">
              <a:avLst/>
            </a:prstGeom>
            <a:pattFill prst="wdUpDiag">
              <a:fgClr>
                <a:schemeClr val="tx2"/>
              </a:fgClr>
              <a:bgClr>
                <a:schemeClr val="bg1"/>
              </a:bgClr>
            </a:patt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 name="Line 18"/>
            <p:cNvSpPr>
              <a:spLocks noChangeShapeType="1"/>
            </p:cNvSpPr>
            <p:nvPr/>
          </p:nvSpPr>
          <p:spPr bwMode="auto">
            <a:xfrm>
              <a:off x="4582" y="1423"/>
              <a:ext cx="0" cy="157"/>
            </a:xfrm>
            <a:prstGeom prst="line">
              <a:avLst/>
            </a:prstGeom>
            <a:noFill/>
            <a:ln w="381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46" name="Oval 20"/>
          <p:cNvSpPr>
            <a:spLocks noChangeArrowheads="1"/>
          </p:cNvSpPr>
          <p:nvPr/>
        </p:nvSpPr>
        <p:spPr bwMode="auto">
          <a:xfrm>
            <a:off x="8618573" y="3373158"/>
            <a:ext cx="1893888" cy="720725"/>
          </a:xfrm>
          <a:prstGeom prst="ellipse">
            <a:avLst/>
          </a:prstGeom>
          <a:noFill/>
          <a:ln w="9525">
            <a:solidFill>
              <a:schemeClr val="tx1"/>
            </a:solidFill>
            <a:prstDash val="lgDashDotDot"/>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 name="Text Box 21"/>
          <p:cNvSpPr txBox="1">
            <a:spLocks noChangeAspect="1" noChangeArrowheads="1"/>
          </p:cNvSpPr>
          <p:nvPr/>
        </p:nvSpPr>
        <p:spPr bwMode="auto">
          <a:xfrm>
            <a:off x="9185311" y="3347758"/>
            <a:ext cx="533400" cy="49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i="1">
                <a:solidFill>
                  <a:schemeClr val="tx1"/>
                </a:solidFill>
                <a:ea typeface="宋体" panose="02010600030101010101" pitchFamily="2" charset="-122"/>
              </a:rPr>
              <a:t>O</a:t>
            </a:r>
            <a:endParaRPr lang="en-US" altLang="zh-CN">
              <a:solidFill>
                <a:schemeClr val="tx1"/>
              </a:solidFill>
            </a:endParaRPr>
          </a:p>
        </p:txBody>
      </p:sp>
      <p:sp>
        <p:nvSpPr>
          <p:cNvPr id="48" name="Text Box 22"/>
          <p:cNvSpPr txBox="1">
            <a:spLocks noChangeAspect="1" noChangeArrowheads="1"/>
          </p:cNvSpPr>
          <p:nvPr/>
        </p:nvSpPr>
        <p:spPr bwMode="auto">
          <a:xfrm>
            <a:off x="9761573" y="3398558"/>
            <a:ext cx="404813" cy="373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b="0" i="1" dirty="0"/>
              <a:t>r</a:t>
            </a:r>
            <a:endParaRPr lang="en-US" altLang="zh-CN" b="0" baseline="-25000" dirty="0"/>
          </a:p>
        </p:txBody>
      </p:sp>
      <p:sp>
        <p:nvSpPr>
          <p:cNvPr id="49" name="Line 23"/>
          <p:cNvSpPr>
            <a:spLocks noChangeShapeType="1"/>
          </p:cNvSpPr>
          <p:nvPr/>
        </p:nvSpPr>
        <p:spPr bwMode="auto">
          <a:xfrm>
            <a:off x="9585361" y="3736695"/>
            <a:ext cx="495300" cy="3095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 name="Text Box 24"/>
          <p:cNvSpPr txBox="1">
            <a:spLocks noChangeAspect="1" noChangeArrowheads="1"/>
          </p:cNvSpPr>
          <p:nvPr/>
        </p:nvSpPr>
        <p:spPr bwMode="auto">
          <a:xfrm>
            <a:off x="9855236" y="3570008"/>
            <a:ext cx="533400" cy="49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b="0" i="0" dirty="0">
                <a:ea typeface="宋体" panose="02010600030101010101" pitchFamily="2" charset="-122"/>
                <a:sym typeface="Symbol" panose="05050102010706020507" pitchFamily="18" charset="2"/>
              </a:rPr>
              <a:t>d</a:t>
            </a:r>
            <a:r>
              <a:rPr lang="en-US" altLang="zh-CN" b="0" i="1" dirty="0">
                <a:sym typeface="Symbol" panose="05050102010706020507" pitchFamily="18" charset="2"/>
              </a:rPr>
              <a:t></a:t>
            </a:r>
            <a:endParaRPr lang="en-US" altLang="zh-CN" b="0" baseline="-25000" dirty="0">
              <a:sym typeface="Symbol" panose="05050102010706020507" pitchFamily="18" charset="2"/>
            </a:endParaRPr>
          </a:p>
        </p:txBody>
      </p:sp>
      <p:sp>
        <p:nvSpPr>
          <p:cNvPr id="51" name="Arc 25"/>
          <p:cNvSpPr>
            <a:spLocks noChangeAspect="1"/>
          </p:cNvSpPr>
          <p:nvPr/>
        </p:nvSpPr>
        <p:spPr bwMode="auto">
          <a:xfrm rot="662529" flipV="1">
            <a:off x="9245636" y="2350808"/>
            <a:ext cx="595312" cy="465137"/>
          </a:xfrm>
          <a:custGeom>
            <a:avLst/>
            <a:gdLst>
              <a:gd name="G0" fmla="+- 8450 0 0"/>
              <a:gd name="G1" fmla="+- 21600 0 0"/>
              <a:gd name="G2" fmla="+- 21600 0 0"/>
              <a:gd name="T0" fmla="*/ 0 w 27703"/>
              <a:gd name="T1" fmla="*/ 1722 h 21600"/>
              <a:gd name="T2" fmla="*/ 27703 w 27703"/>
              <a:gd name="T3" fmla="*/ 11808 h 21600"/>
              <a:gd name="T4" fmla="*/ 8450 w 27703"/>
              <a:gd name="T5" fmla="*/ 21600 h 21600"/>
            </a:gdLst>
            <a:ahLst/>
            <a:cxnLst>
              <a:cxn ang="0">
                <a:pos x="T0" y="T1"/>
              </a:cxn>
              <a:cxn ang="0">
                <a:pos x="T2" y="T3"/>
              </a:cxn>
              <a:cxn ang="0">
                <a:pos x="T4" y="T5"/>
              </a:cxn>
            </a:cxnLst>
            <a:rect l="0" t="0" r="r" b="b"/>
            <a:pathLst>
              <a:path w="27703" h="21600" fill="none" extrusionOk="0">
                <a:moveTo>
                  <a:pt x="-1" y="1721"/>
                </a:moveTo>
                <a:cubicBezTo>
                  <a:pt x="2672" y="585"/>
                  <a:pt x="5546" y="-1"/>
                  <a:pt x="8450" y="0"/>
                </a:cubicBezTo>
                <a:cubicBezTo>
                  <a:pt x="16578" y="0"/>
                  <a:pt x="24018" y="4563"/>
                  <a:pt x="27702" y="11808"/>
                </a:cubicBezTo>
              </a:path>
              <a:path w="27703" h="21600" stroke="0" extrusionOk="0">
                <a:moveTo>
                  <a:pt x="-1" y="1721"/>
                </a:moveTo>
                <a:cubicBezTo>
                  <a:pt x="2672" y="585"/>
                  <a:pt x="5546" y="-1"/>
                  <a:pt x="8450" y="0"/>
                </a:cubicBezTo>
                <a:cubicBezTo>
                  <a:pt x="16578" y="0"/>
                  <a:pt x="24018" y="4563"/>
                  <a:pt x="27702" y="11808"/>
                </a:cubicBezTo>
                <a:lnTo>
                  <a:pt x="8450" y="21600"/>
                </a:lnTo>
                <a:close/>
              </a:path>
            </a:pathLst>
          </a:custGeom>
          <a:noFill/>
          <a:ln w="28575">
            <a:solidFill>
              <a:schemeClr val="tx1"/>
            </a:solidFill>
            <a:round/>
            <a:headEnd/>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 name="Text Box 26"/>
          <p:cNvSpPr txBox="1">
            <a:spLocks noChangeAspect="1" noChangeArrowheads="1"/>
          </p:cNvSpPr>
          <p:nvPr/>
        </p:nvSpPr>
        <p:spPr bwMode="auto">
          <a:xfrm>
            <a:off x="9613936" y="2582583"/>
            <a:ext cx="533400" cy="49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b="0" i="1" dirty="0">
                <a:sym typeface="Symbol" panose="05050102010706020507" pitchFamily="18" charset="2"/>
              </a:rPr>
              <a:t></a:t>
            </a:r>
            <a:endParaRPr lang="en-US" altLang="zh-CN" b="0" dirty="0">
              <a:sym typeface="Symbol" panose="05050102010706020507" pitchFamily="18" charset="2"/>
            </a:endParaRPr>
          </a:p>
        </p:txBody>
      </p:sp>
      <p:sp>
        <p:nvSpPr>
          <p:cNvPr id="54" name="Text Box 27"/>
          <p:cNvSpPr txBox="1">
            <a:spLocks noChangeAspect="1" noChangeArrowheads="1"/>
          </p:cNvSpPr>
          <p:nvPr/>
        </p:nvSpPr>
        <p:spPr bwMode="auto">
          <a:xfrm>
            <a:off x="9983823" y="2188883"/>
            <a:ext cx="601663"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n-US" altLang="zh-CN" sz="2800" b="1" i="1" dirty="0" err="1">
                <a:solidFill>
                  <a:srgbClr val="FF00FF"/>
                </a:solidFill>
                <a:ea typeface="宋体" panose="02010600030101010101" pitchFamily="2" charset="-122"/>
              </a:rPr>
              <a:t>F</a:t>
            </a:r>
            <a:r>
              <a:rPr lang="en-US" altLang="zh-CN" sz="2800" b="0" i="1" baseline="-25000" dirty="0" err="1">
                <a:solidFill>
                  <a:srgbClr val="FF00FF"/>
                </a:solidFill>
                <a:ea typeface="宋体" panose="02010600030101010101" pitchFamily="2" charset="-122"/>
              </a:rPr>
              <a:t>z</a:t>
            </a:r>
            <a:endParaRPr lang="en-US" altLang="zh-CN" sz="2800" b="0" i="1" baseline="-25000" dirty="0">
              <a:solidFill>
                <a:srgbClr val="FF00FF"/>
              </a:solidFill>
              <a:ea typeface="宋体" panose="02010600030101010101" pitchFamily="2" charset="-122"/>
            </a:endParaRPr>
          </a:p>
        </p:txBody>
      </p:sp>
      <p:sp>
        <p:nvSpPr>
          <p:cNvPr id="55" name="Arc 28"/>
          <p:cNvSpPr>
            <a:spLocks/>
          </p:cNvSpPr>
          <p:nvPr/>
        </p:nvSpPr>
        <p:spPr bwMode="auto">
          <a:xfrm>
            <a:off x="9845711" y="3744633"/>
            <a:ext cx="60325" cy="158750"/>
          </a:xfrm>
          <a:custGeom>
            <a:avLst/>
            <a:gdLst>
              <a:gd name="G0" fmla="+- 2279 0 0"/>
              <a:gd name="G1" fmla="+- 21600 0 0"/>
              <a:gd name="G2" fmla="+- 21600 0 0"/>
              <a:gd name="T0" fmla="*/ 2279 w 23879"/>
              <a:gd name="T1" fmla="*/ 0 h 43200"/>
              <a:gd name="T2" fmla="*/ 0 w 23879"/>
              <a:gd name="T3" fmla="*/ 43079 h 43200"/>
              <a:gd name="T4" fmla="*/ 2279 w 23879"/>
              <a:gd name="T5" fmla="*/ 21600 h 43200"/>
            </a:gdLst>
            <a:ahLst/>
            <a:cxnLst>
              <a:cxn ang="0">
                <a:pos x="T0" y="T1"/>
              </a:cxn>
              <a:cxn ang="0">
                <a:pos x="T2" y="T3"/>
              </a:cxn>
              <a:cxn ang="0">
                <a:pos x="T4" y="T5"/>
              </a:cxn>
            </a:cxnLst>
            <a:rect l="0" t="0" r="r" b="b"/>
            <a:pathLst>
              <a:path w="23879" h="43200" fill="none" extrusionOk="0">
                <a:moveTo>
                  <a:pt x="2279" y="0"/>
                </a:moveTo>
                <a:cubicBezTo>
                  <a:pt x="14208" y="0"/>
                  <a:pt x="23879" y="9670"/>
                  <a:pt x="23879" y="21600"/>
                </a:cubicBezTo>
                <a:cubicBezTo>
                  <a:pt x="23879" y="33529"/>
                  <a:pt x="14208" y="43200"/>
                  <a:pt x="2279" y="43200"/>
                </a:cubicBezTo>
                <a:cubicBezTo>
                  <a:pt x="1517" y="43200"/>
                  <a:pt x="756" y="43159"/>
                  <a:pt x="-1" y="43079"/>
                </a:cubicBezTo>
              </a:path>
              <a:path w="23879" h="43200" stroke="0" extrusionOk="0">
                <a:moveTo>
                  <a:pt x="2279" y="0"/>
                </a:moveTo>
                <a:cubicBezTo>
                  <a:pt x="14208" y="0"/>
                  <a:pt x="23879" y="9670"/>
                  <a:pt x="23879" y="21600"/>
                </a:cubicBezTo>
                <a:cubicBezTo>
                  <a:pt x="23879" y="33529"/>
                  <a:pt x="14208" y="43200"/>
                  <a:pt x="2279" y="43200"/>
                </a:cubicBezTo>
                <a:cubicBezTo>
                  <a:pt x="1517" y="43200"/>
                  <a:pt x="756" y="43159"/>
                  <a:pt x="-1" y="43079"/>
                </a:cubicBezTo>
                <a:lnTo>
                  <a:pt x="2279" y="21600"/>
                </a:lnTo>
                <a:close/>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 name="Line 29"/>
          <p:cNvSpPr>
            <a:spLocks noChangeAspect="1" noChangeShapeType="1"/>
          </p:cNvSpPr>
          <p:nvPr/>
        </p:nvSpPr>
        <p:spPr bwMode="auto">
          <a:xfrm>
            <a:off x="8478873" y="3736695"/>
            <a:ext cx="2311400" cy="0"/>
          </a:xfrm>
          <a:prstGeom prst="line">
            <a:avLst/>
          </a:prstGeom>
          <a:noFill/>
          <a:ln w="9525">
            <a:solidFill>
              <a:schemeClr val="tx1"/>
            </a:solidFill>
            <a:prstDash val="lgDashDot"/>
            <a:round/>
            <a:headE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7" name="Oval 30"/>
          <p:cNvSpPr>
            <a:spLocks noChangeArrowheads="1"/>
          </p:cNvSpPr>
          <p:nvPr/>
        </p:nvSpPr>
        <p:spPr bwMode="auto">
          <a:xfrm>
            <a:off x="9523448" y="3692245"/>
            <a:ext cx="88900" cy="889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 name="Rectangle 31"/>
          <p:cNvSpPr>
            <a:spLocks noChangeArrowheads="1"/>
          </p:cNvSpPr>
          <p:nvPr/>
        </p:nvSpPr>
        <p:spPr bwMode="auto">
          <a:xfrm>
            <a:off x="10509286" y="2546070"/>
            <a:ext cx="836612" cy="1192213"/>
          </a:xfrm>
          <a:prstGeom prst="rect">
            <a:avLst/>
          </a:prstGeom>
          <a:noFill/>
          <a:ln w="9525">
            <a:solidFill>
              <a:schemeClr val="bg1"/>
            </a:solidFill>
            <a:miter lim="800000"/>
            <a:headEnd/>
            <a:tailEnd/>
          </a:ln>
          <a:effectLst/>
          <a:scene3d>
            <a:camera prst="legacyObliqueTopRight"/>
            <a:lightRig rig="legacyFlat3" dir="b"/>
          </a:scene3d>
          <a:sp3d extrusionH="887400" prstMaterial="legacyWireframe">
            <a:bevelT w="13500" h="13500" prst="angle"/>
            <a:bevelB w="13500" h="13500" prst="angle"/>
            <a:extrusionClr>
              <a:schemeClr val="bg1"/>
            </a:extrusionClr>
            <a:contourClr>
              <a:schemeClr val="bg1"/>
            </a:contourClr>
          </a:sp3d>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endParaRPr lang="zh-CN" altLang="en-US"/>
          </a:p>
        </p:txBody>
      </p:sp>
      <p:sp>
        <p:nvSpPr>
          <p:cNvPr id="59" name="Line 32"/>
          <p:cNvSpPr>
            <a:spLocks noChangeAspect="1" noChangeShapeType="1"/>
          </p:cNvSpPr>
          <p:nvPr/>
        </p:nvSpPr>
        <p:spPr bwMode="auto">
          <a:xfrm flipV="1">
            <a:off x="10504523" y="2550833"/>
            <a:ext cx="0" cy="1165225"/>
          </a:xfrm>
          <a:prstGeom prst="line">
            <a:avLst/>
          </a:prstGeom>
          <a:noFill/>
          <a:ln w="28575">
            <a:solidFill>
              <a:srgbClr val="FF00FF"/>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0" name="Line 33"/>
          <p:cNvSpPr>
            <a:spLocks noChangeAspect="1" noChangeShapeType="1"/>
          </p:cNvSpPr>
          <p:nvPr/>
        </p:nvSpPr>
        <p:spPr bwMode="auto">
          <a:xfrm>
            <a:off x="10539448" y="3736695"/>
            <a:ext cx="803275" cy="0"/>
          </a:xfrm>
          <a:prstGeom prst="line">
            <a:avLst/>
          </a:prstGeom>
          <a:noFill/>
          <a:ln w="28575">
            <a:solidFill>
              <a:srgbClr val="FF00FF"/>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1" name="Line 34"/>
          <p:cNvSpPr>
            <a:spLocks noChangeAspect="1" noChangeShapeType="1"/>
          </p:cNvSpPr>
          <p:nvPr/>
        </p:nvSpPr>
        <p:spPr bwMode="auto">
          <a:xfrm rot="120000" flipV="1">
            <a:off x="10507698" y="3396970"/>
            <a:ext cx="320675" cy="333375"/>
          </a:xfrm>
          <a:prstGeom prst="line">
            <a:avLst/>
          </a:prstGeom>
          <a:noFill/>
          <a:ln w="28575">
            <a:solidFill>
              <a:srgbClr val="FF00FF"/>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2" name="Line 35"/>
          <p:cNvSpPr>
            <a:spLocks noChangeShapeType="1"/>
          </p:cNvSpPr>
          <p:nvPr/>
        </p:nvSpPr>
        <p:spPr bwMode="auto">
          <a:xfrm rot="5400000" flipH="1" flipV="1">
            <a:off x="10316404" y="2416689"/>
            <a:ext cx="1520825" cy="1144588"/>
          </a:xfrm>
          <a:prstGeom prst="line">
            <a:avLst/>
          </a:prstGeom>
          <a:noFill/>
          <a:ln w="28575">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3" name="Oval 36"/>
          <p:cNvSpPr>
            <a:spLocks noChangeArrowheads="1"/>
          </p:cNvSpPr>
          <p:nvPr/>
        </p:nvSpPr>
        <p:spPr bwMode="auto">
          <a:xfrm>
            <a:off x="10463248" y="3690658"/>
            <a:ext cx="88900" cy="88900"/>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 name="Text Box 37"/>
          <p:cNvSpPr txBox="1">
            <a:spLocks noChangeAspect="1" noChangeArrowheads="1"/>
          </p:cNvSpPr>
          <p:nvPr/>
        </p:nvSpPr>
        <p:spPr bwMode="auto">
          <a:xfrm>
            <a:off x="10879173" y="3630333"/>
            <a:ext cx="601663"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n-US" altLang="zh-CN" sz="2800" b="1" i="1" dirty="0">
                <a:solidFill>
                  <a:srgbClr val="FF00FF"/>
                </a:solidFill>
                <a:ea typeface="宋体" panose="02010600030101010101" pitchFamily="2" charset="-122"/>
              </a:rPr>
              <a:t>F</a:t>
            </a:r>
            <a:r>
              <a:rPr lang="en-US" altLang="zh-CN" sz="2800" b="0" i="0" baseline="-25000" dirty="0">
                <a:solidFill>
                  <a:srgbClr val="FF00FF"/>
                </a:solidFill>
                <a:ea typeface="宋体" panose="02010600030101010101" pitchFamily="2" charset="-122"/>
              </a:rPr>
              <a:t>r</a:t>
            </a:r>
          </a:p>
        </p:txBody>
      </p:sp>
      <p:sp>
        <p:nvSpPr>
          <p:cNvPr id="65" name="Text Box 38"/>
          <p:cNvSpPr txBox="1">
            <a:spLocks noChangeAspect="1" noChangeArrowheads="1"/>
          </p:cNvSpPr>
          <p:nvPr/>
        </p:nvSpPr>
        <p:spPr bwMode="auto">
          <a:xfrm>
            <a:off x="10701373" y="3154083"/>
            <a:ext cx="601663"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n-US" altLang="zh-CN" sz="2800" b="1" i="1" dirty="0">
                <a:solidFill>
                  <a:srgbClr val="FF00FF"/>
                </a:solidFill>
                <a:ea typeface="宋体" panose="02010600030101010101" pitchFamily="2" charset="-122"/>
              </a:rPr>
              <a:t>F</a:t>
            </a:r>
            <a:r>
              <a:rPr lang="en-US" altLang="zh-CN" sz="2800" b="0" i="0" baseline="-25000" dirty="0">
                <a:solidFill>
                  <a:srgbClr val="FF00FF"/>
                </a:solidFill>
                <a:ea typeface="宋体" panose="02010600030101010101" pitchFamily="2" charset="-122"/>
                <a:sym typeface="Symbol" panose="05050102010706020507" pitchFamily="18" charset="2"/>
              </a:rPr>
              <a:t></a:t>
            </a:r>
          </a:p>
        </p:txBody>
      </p:sp>
      <p:sp>
        <p:nvSpPr>
          <p:cNvPr id="66" name="Text Box 39"/>
          <p:cNvSpPr txBox="1">
            <a:spLocks noChangeAspect="1" noChangeArrowheads="1"/>
          </p:cNvSpPr>
          <p:nvPr/>
        </p:nvSpPr>
        <p:spPr bwMode="auto">
          <a:xfrm>
            <a:off x="11520523" y="1714551"/>
            <a:ext cx="601663"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n-US" altLang="zh-CN" sz="2800" b="1" i="1" dirty="0">
                <a:solidFill>
                  <a:srgbClr val="FF0000"/>
                </a:solidFill>
                <a:ea typeface="宋体" panose="02010600030101010101" pitchFamily="2" charset="-122"/>
              </a:rPr>
              <a:t>F</a:t>
            </a:r>
            <a:endParaRPr lang="en-US" altLang="zh-CN" sz="2800" baseline="-25000" dirty="0">
              <a:solidFill>
                <a:srgbClr val="FF0000"/>
              </a:solidFill>
              <a:ea typeface="宋体" panose="02010600030101010101" pitchFamily="2" charset="-122"/>
            </a:endParaRPr>
          </a:p>
        </p:txBody>
      </p:sp>
      <p:sp>
        <p:nvSpPr>
          <p:cNvPr id="67" name="Text Box 40"/>
          <p:cNvSpPr txBox="1">
            <a:spLocks noChangeAspect="1" noChangeArrowheads="1"/>
          </p:cNvSpPr>
          <p:nvPr/>
        </p:nvSpPr>
        <p:spPr bwMode="auto">
          <a:xfrm>
            <a:off x="10167973" y="3855758"/>
            <a:ext cx="533400" cy="49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b="0" i="0" dirty="0">
                <a:ea typeface="宋体" panose="02010600030101010101" pitchFamily="2" charset="-122"/>
                <a:sym typeface="Symbol" panose="05050102010706020507" pitchFamily="18" charset="2"/>
              </a:rPr>
              <a:t>d</a:t>
            </a:r>
            <a:r>
              <a:rPr lang="en-US" altLang="zh-CN" b="0" dirty="0">
                <a:sym typeface="Symbol" panose="05050102010706020507" pitchFamily="18" charset="2"/>
              </a:rPr>
              <a:t>s</a:t>
            </a:r>
            <a:endParaRPr lang="en-US" altLang="zh-CN" b="0" baseline="-25000" dirty="0">
              <a:sym typeface="Symbol" panose="05050102010706020507" pitchFamily="18" charset="2"/>
            </a:endParaRPr>
          </a:p>
        </p:txBody>
      </p:sp>
      <p:sp>
        <p:nvSpPr>
          <p:cNvPr id="68" name="Arc 41"/>
          <p:cNvSpPr>
            <a:spLocks/>
          </p:cNvSpPr>
          <p:nvPr/>
        </p:nvSpPr>
        <p:spPr bwMode="auto">
          <a:xfrm rot="10573663" flipH="1">
            <a:off x="10077486" y="3736695"/>
            <a:ext cx="422275" cy="277813"/>
          </a:xfrm>
          <a:custGeom>
            <a:avLst/>
            <a:gdLst>
              <a:gd name="G0" fmla="+- 0 0 0"/>
              <a:gd name="G1" fmla="+- 21600 0 0"/>
              <a:gd name="G2" fmla="+- 21600 0 0"/>
              <a:gd name="T0" fmla="*/ 0 w 21259"/>
              <a:gd name="T1" fmla="*/ 0 h 21600"/>
              <a:gd name="T2" fmla="*/ 21259 w 21259"/>
              <a:gd name="T3" fmla="*/ 17777 h 21600"/>
              <a:gd name="T4" fmla="*/ 0 w 21259"/>
              <a:gd name="T5" fmla="*/ 21600 h 21600"/>
            </a:gdLst>
            <a:ahLst/>
            <a:cxnLst>
              <a:cxn ang="0">
                <a:pos x="T0" y="T1"/>
              </a:cxn>
              <a:cxn ang="0">
                <a:pos x="T2" y="T3"/>
              </a:cxn>
              <a:cxn ang="0">
                <a:pos x="T4" y="T5"/>
              </a:cxn>
            </a:cxnLst>
            <a:rect l="0" t="0" r="r" b="b"/>
            <a:pathLst>
              <a:path w="21259" h="21600" fill="none" extrusionOk="0">
                <a:moveTo>
                  <a:pt x="0" y="0"/>
                </a:moveTo>
                <a:cubicBezTo>
                  <a:pt x="10454" y="0"/>
                  <a:pt x="19408" y="7487"/>
                  <a:pt x="21258" y="17777"/>
                </a:cubicBezTo>
              </a:path>
              <a:path w="21259" h="21600" stroke="0" extrusionOk="0">
                <a:moveTo>
                  <a:pt x="0" y="0"/>
                </a:moveTo>
                <a:cubicBezTo>
                  <a:pt x="10454" y="0"/>
                  <a:pt x="19408" y="7487"/>
                  <a:pt x="21258" y="17777"/>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 name="Text Box 1032"/>
          <p:cNvSpPr txBox="1">
            <a:spLocks noChangeArrowheads="1"/>
          </p:cNvSpPr>
          <p:nvPr/>
        </p:nvSpPr>
        <p:spPr bwMode="auto">
          <a:xfrm>
            <a:off x="816015" y="3675579"/>
            <a:ext cx="7032413" cy="17179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lnSpc>
                <a:spcPct val="130000"/>
              </a:lnSpc>
            </a:pPr>
            <a:r>
              <a:rPr lang="zh-CN" altLang="en-US" sz="2800" i="0" dirty="0">
                <a:latin typeface="+mn-lt"/>
                <a:ea typeface="微软雅黑" panose="020B0503020204020204" pitchFamily="34" charset="-122"/>
              </a:rPr>
              <a:t>设刚体转动</a:t>
            </a:r>
            <a:r>
              <a:rPr lang="en-US" altLang="zh-CN" sz="2800" b="0" i="0" dirty="0">
                <a:latin typeface="+mn-lt"/>
                <a:ea typeface="微软雅黑" panose="020B0503020204020204" pitchFamily="34" charset="-122"/>
              </a:rPr>
              <a:t>d</a:t>
            </a:r>
            <a:r>
              <a:rPr lang="en-US" altLang="zh-CN" sz="2800" b="0" dirty="0">
                <a:latin typeface="+mn-lt"/>
                <a:ea typeface="微软雅黑" panose="020B0503020204020204" pitchFamily="34" charset="-122"/>
                <a:sym typeface="Symbol" panose="05050102010706020507" pitchFamily="18" charset="2"/>
              </a:rPr>
              <a:t></a:t>
            </a:r>
            <a:r>
              <a:rPr lang="zh-CN" altLang="en-US" sz="2800" i="0" dirty="0">
                <a:latin typeface="+mn-lt"/>
                <a:ea typeface="微软雅黑" panose="020B0503020204020204" pitchFamily="34" charset="-122"/>
              </a:rPr>
              <a:t>角，则</a:t>
            </a:r>
            <a:r>
              <a:rPr lang="en-US" altLang="zh-CN" sz="2800" b="0" dirty="0">
                <a:latin typeface="+mn-lt"/>
                <a:ea typeface="微软雅黑" panose="020B0503020204020204" pitchFamily="34" charset="-122"/>
              </a:rPr>
              <a:t>M</a:t>
            </a:r>
            <a:r>
              <a:rPr lang="zh-CN" altLang="en-US" sz="2800" i="0" dirty="0">
                <a:latin typeface="+mn-lt"/>
                <a:ea typeface="微软雅黑" panose="020B0503020204020204" pitchFamily="34" charset="-122"/>
              </a:rPr>
              <a:t>点的路径</a:t>
            </a:r>
            <a:r>
              <a:rPr lang="en-US" altLang="zh-CN" sz="2800" b="0" i="0" dirty="0">
                <a:latin typeface="+mn-lt"/>
                <a:ea typeface="微软雅黑" panose="020B0503020204020204" pitchFamily="34" charset="-122"/>
              </a:rPr>
              <a:t>d</a:t>
            </a:r>
            <a:r>
              <a:rPr lang="en-US" altLang="zh-CN" sz="2800" b="0" dirty="0">
                <a:latin typeface="+mn-lt"/>
                <a:ea typeface="微软雅黑" panose="020B0503020204020204" pitchFamily="34" charset="-122"/>
              </a:rPr>
              <a:t>s</a:t>
            </a:r>
            <a:r>
              <a:rPr lang="zh-CN" altLang="en-US" sz="2800" b="0" i="0" dirty="0">
                <a:latin typeface="+mn-lt"/>
                <a:ea typeface="微软雅黑" panose="020B0503020204020204" pitchFamily="34" charset="-122"/>
              </a:rPr>
              <a:t>＝</a:t>
            </a:r>
            <a:r>
              <a:rPr lang="en-US" altLang="zh-CN" sz="2800" b="0" dirty="0" err="1">
                <a:latin typeface="+mn-lt"/>
                <a:ea typeface="微软雅黑" panose="020B0503020204020204" pitchFamily="34" charset="-122"/>
              </a:rPr>
              <a:t>r</a:t>
            </a:r>
            <a:r>
              <a:rPr lang="en-US" altLang="zh-CN" sz="2800" b="0" i="0" dirty="0" err="1">
                <a:latin typeface="+mn-lt"/>
                <a:ea typeface="微软雅黑" panose="020B0503020204020204" pitchFamily="34" charset="-122"/>
              </a:rPr>
              <a:t>d</a:t>
            </a:r>
            <a:r>
              <a:rPr lang="en-US" altLang="zh-CN" sz="2800" b="0" dirty="0">
                <a:latin typeface="+mn-lt"/>
                <a:ea typeface="微软雅黑" panose="020B0503020204020204" pitchFamily="34" charset="-122"/>
                <a:sym typeface="Symbol" panose="05050102010706020507" pitchFamily="18" charset="2"/>
              </a:rPr>
              <a:t></a:t>
            </a:r>
            <a:r>
              <a:rPr lang="en-US" altLang="zh-CN" sz="2800" b="0" dirty="0">
                <a:latin typeface="+mn-lt"/>
                <a:ea typeface="微软雅黑" panose="020B0503020204020204" pitchFamily="34" charset="-122"/>
              </a:rPr>
              <a:t> </a:t>
            </a:r>
            <a:r>
              <a:rPr lang="zh-CN" altLang="en-US" sz="2800" i="0" dirty="0">
                <a:latin typeface="+mn-lt"/>
                <a:ea typeface="微软雅黑" panose="020B0503020204020204" pitchFamily="34" charset="-122"/>
              </a:rPr>
              <a:t>，</a:t>
            </a:r>
            <a:r>
              <a:rPr lang="en-US" altLang="zh-CN" sz="2800" b="0" dirty="0">
                <a:ea typeface="微软雅黑" panose="020B0503020204020204" pitchFamily="34" charset="-122"/>
              </a:rPr>
              <a:t>r</a:t>
            </a:r>
            <a:r>
              <a:rPr lang="zh-CN" altLang="en-US" sz="2800" i="0" dirty="0">
                <a:latin typeface="+mn-lt"/>
                <a:ea typeface="微软雅黑" panose="020B0503020204020204" pitchFamily="34" charset="-122"/>
              </a:rPr>
              <a:t>为</a:t>
            </a:r>
            <a:r>
              <a:rPr lang="en-US" altLang="zh-CN" sz="2800" b="0" dirty="0">
                <a:latin typeface="+mn-lt"/>
                <a:ea typeface="微软雅黑" panose="020B0503020204020204" pitchFamily="34" charset="-122"/>
              </a:rPr>
              <a:t>M</a:t>
            </a:r>
            <a:r>
              <a:rPr lang="zh-CN" altLang="en-US" sz="2800" i="0" dirty="0">
                <a:latin typeface="+mn-lt"/>
                <a:ea typeface="微软雅黑" panose="020B0503020204020204" pitchFamily="34" charset="-122"/>
              </a:rPr>
              <a:t>点离转轴的距离。由于</a:t>
            </a:r>
            <a:r>
              <a:rPr lang="en-US" altLang="zh-CN" sz="2800" dirty="0">
                <a:ea typeface="微软雅黑" panose="020B0503020204020204" pitchFamily="34" charset="-122"/>
              </a:rPr>
              <a:t>F</a:t>
            </a:r>
            <a:r>
              <a:rPr lang="en-US" altLang="zh-CN" sz="2800" b="0" i="0" baseline="-25000" dirty="0">
                <a:ea typeface="微软雅黑" panose="020B0503020204020204" pitchFamily="34" charset="-122"/>
              </a:rPr>
              <a:t>r</a:t>
            </a:r>
            <a:r>
              <a:rPr lang="zh-CN" altLang="en-US" sz="2800" i="0" dirty="0">
                <a:latin typeface="+mn-lt"/>
                <a:ea typeface="微软雅黑" panose="020B0503020204020204" pitchFamily="34" charset="-122"/>
              </a:rPr>
              <a:t>与</a:t>
            </a:r>
            <a:r>
              <a:rPr lang="en-US" altLang="zh-CN" sz="2800" dirty="0" err="1">
                <a:ea typeface="微软雅黑" panose="020B0503020204020204" pitchFamily="34" charset="-122"/>
              </a:rPr>
              <a:t>F</a:t>
            </a:r>
            <a:r>
              <a:rPr lang="en-US" altLang="zh-CN" sz="2800" b="0" baseline="-25000" dirty="0" err="1">
                <a:ea typeface="微软雅黑" panose="020B0503020204020204" pitchFamily="34" charset="-122"/>
              </a:rPr>
              <a:t>z</a:t>
            </a:r>
            <a:r>
              <a:rPr lang="zh-CN" altLang="en-US" sz="2800" i="0" dirty="0">
                <a:latin typeface="+mn-lt"/>
                <a:ea typeface="微软雅黑" panose="020B0503020204020204" pitchFamily="34" charset="-122"/>
              </a:rPr>
              <a:t>均垂直于</a:t>
            </a:r>
            <a:r>
              <a:rPr lang="en-US" altLang="zh-CN" sz="2800" b="0" i="0" dirty="0">
                <a:ea typeface="微软雅黑" panose="020B0503020204020204" pitchFamily="34" charset="-122"/>
              </a:rPr>
              <a:t>d</a:t>
            </a:r>
            <a:r>
              <a:rPr lang="en-US" altLang="zh-CN" sz="2800" b="0" dirty="0">
                <a:ea typeface="微软雅黑" panose="020B0503020204020204" pitchFamily="34" charset="-122"/>
              </a:rPr>
              <a:t>s</a:t>
            </a:r>
            <a:r>
              <a:rPr lang="zh-CN" altLang="en-US" sz="2800" i="0" dirty="0">
                <a:latin typeface="+mn-lt"/>
                <a:ea typeface="微软雅黑" panose="020B0503020204020204" pitchFamily="34" charset="-122"/>
              </a:rPr>
              <a:t>不作功，故力</a:t>
            </a:r>
            <a:r>
              <a:rPr lang="en-US" altLang="zh-CN" sz="2800" dirty="0">
                <a:latin typeface="+mn-lt"/>
                <a:ea typeface="微软雅黑" panose="020B0503020204020204" pitchFamily="34" charset="-122"/>
              </a:rPr>
              <a:t>F</a:t>
            </a:r>
            <a:r>
              <a:rPr lang="zh-CN" altLang="en-US" sz="2800" i="0" dirty="0">
                <a:latin typeface="+mn-lt"/>
                <a:ea typeface="微软雅黑" panose="020B0503020204020204" pitchFamily="34" charset="-122"/>
              </a:rPr>
              <a:t>在</a:t>
            </a:r>
            <a:r>
              <a:rPr lang="en-US" altLang="zh-CN" sz="2800" b="0" i="0" dirty="0">
                <a:ea typeface="微软雅黑" panose="020B0503020204020204" pitchFamily="34" charset="-122"/>
              </a:rPr>
              <a:t>d</a:t>
            </a:r>
            <a:r>
              <a:rPr lang="en-US" altLang="zh-CN" sz="2800" b="0" dirty="0">
                <a:ea typeface="微软雅黑" panose="020B0503020204020204" pitchFamily="34" charset="-122"/>
              </a:rPr>
              <a:t>s</a:t>
            </a:r>
            <a:r>
              <a:rPr lang="zh-CN" altLang="en-US" sz="2800" i="0" dirty="0">
                <a:latin typeface="+mn-lt"/>
                <a:ea typeface="微软雅黑" panose="020B0503020204020204" pitchFamily="34" charset="-122"/>
              </a:rPr>
              <a:t>上的元功为</a:t>
            </a:r>
            <a:endParaRPr lang="zh-CN" altLang="en-US" sz="2800" i="0" dirty="0">
              <a:ea typeface="微软雅黑" panose="020B0503020204020204" pitchFamily="34" charset="-122"/>
            </a:endParaRPr>
          </a:p>
        </p:txBody>
      </p:sp>
      <p:sp>
        <p:nvSpPr>
          <p:cNvPr id="2" name="矩形 1"/>
          <p:cNvSpPr/>
          <p:nvPr/>
        </p:nvSpPr>
        <p:spPr>
          <a:xfrm>
            <a:off x="1703512" y="5517232"/>
            <a:ext cx="4097597" cy="652486"/>
          </a:xfrm>
          <a:prstGeom prst="rect">
            <a:avLst/>
          </a:prstGeom>
        </p:spPr>
        <p:txBody>
          <a:bodyPr wrap="none">
            <a:spAutoFit/>
          </a:bodyPr>
          <a:lstStyle/>
          <a:p>
            <a:pPr>
              <a:lnSpc>
                <a:spcPct val="130000"/>
              </a:lnSpc>
            </a:pPr>
            <a:r>
              <a:rPr lang="zh-CN" altLang="en-US" sz="2800" b="0" dirty="0">
                <a:solidFill>
                  <a:schemeClr val="tx1"/>
                </a:solidFill>
                <a:sym typeface="Symbol" panose="05050102010706020507" pitchFamily="18" charset="2"/>
              </a:rPr>
              <a:t></a:t>
            </a:r>
            <a:r>
              <a:rPr lang="en-US" altLang="zh-CN" sz="2800" b="0" dirty="0">
                <a:solidFill>
                  <a:schemeClr val="tx1"/>
                </a:solidFill>
              </a:rPr>
              <a:t>W</a:t>
            </a:r>
            <a:r>
              <a:rPr lang="zh-CN" altLang="en-US" sz="2800" i="0" dirty="0">
                <a:solidFill>
                  <a:schemeClr val="tx1"/>
                </a:solidFill>
              </a:rPr>
              <a:t>＝</a:t>
            </a:r>
            <a:r>
              <a:rPr lang="en-US" altLang="zh-CN" sz="2800" b="0" dirty="0" err="1">
                <a:solidFill>
                  <a:schemeClr val="tx1"/>
                </a:solidFill>
              </a:rPr>
              <a:t>F</a:t>
            </a:r>
            <a:r>
              <a:rPr lang="en-US" altLang="zh-CN" sz="2800" b="0" i="0" baseline="-25000" dirty="0" err="1">
                <a:solidFill>
                  <a:schemeClr val="tx1"/>
                </a:solidFill>
                <a:sym typeface="Symbol" panose="05050102010706020507" pitchFamily="18" charset="2"/>
              </a:rPr>
              <a:t></a:t>
            </a:r>
            <a:r>
              <a:rPr lang="en-US" altLang="zh-CN" sz="2800" b="0" i="0" dirty="0" err="1">
                <a:solidFill>
                  <a:schemeClr val="tx1"/>
                </a:solidFill>
              </a:rPr>
              <a:t>d</a:t>
            </a:r>
            <a:r>
              <a:rPr lang="en-US" altLang="zh-CN" sz="2800" b="0" dirty="0" err="1">
                <a:solidFill>
                  <a:schemeClr val="tx1"/>
                </a:solidFill>
              </a:rPr>
              <a:t>s</a:t>
            </a:r>
            <a:r>
              <a:rPr lang="zh-CN" altLang="en-US" sz="2800" i="0" dirty="0">
                <a:solidFill>
                  <a:schemeClr val="tx1"/>
                </a:solidFill>
              </a:rPr>
              <a:t>＝</a:t>
            </a:r>
            <a:r>
              <a:rPr lang="en-US" altLang="zh-CN" sz="2800" b="0" dirty="0" err="1">
                <a:solidFill>
                  <a:schemeClr val="tx1"/>
                </a:solidFill>
              </a:rPr>
              <a:t>F</a:t>
            </a:r>
            <a:r>
              <a:rPr lang="en-US" altLang="zh-CN" sz="2800" b="0" i="0" baseline="-25000" dirty="0" err="1">
                <a:solidFill>
                  <a:schemeClr val="tx1"/>
                </a:solidFill>
                <a:sym typeface="Symbol" panose="05050102010706020507" pitchFamily="18" charset="2"/>
              </a:rPr>
              <a:t></a:t>
            </a:r>
            <a:r>
              <a:rPr lang="en-US" altLang="zh-CN" sz="2800" b="0" dirty="0" err="1">
                <a:solidFill>
                  <a:schemeClr val="tx1"/>
                </a:solidFill>
              </a:rPr>
              <a:t>r</a:t>
            </a:r>
            <a:r>
              <a:rPr lang="en-US" altLang="zh-CN" sz="2800" b="0" i="0" dirty="0" err="1">
                <a:solidFill>
                  <a:schemeClr val="tx1"/>
                </a:solidFill>
              </a:rPr>
              <a:t>d</a:t>
            </a:r>
            <a:r>
              <a:rPr lang="en-US" altLang="zh-CN" sz="2800" b="0" dirty="0">
                <a:solidFill>
                  <a:schemeClr val="tx1"/>
                </a:solidFill>
                <a:sym typeface="Symbol" panose="05050102010706020507" pitchFamily="18" charset="2"/>
              </a:rPr>
              <a:t></a:t>
            </a:r>
            <a:r>
              <a:rPr lang="zh-CN" altLang="en-US" sz="2800" i="0" dirty="0">
                <a:solidFill>
                  <a:schemeClr val="tx1"/>
                </a:solidFill>
              </a:rPr>
              <a:t>＝</a:t>
            </a:r>
            <a:r>
              <a:rPr lang="en-US" altLang="zh-CN" sz="2800" b="0" dirty="0" err="1">
                <a:solidFill>
                  <a:schemeClr val="tx1"/>
                </a:solidFill>
              </a:rPr>
              <a:t>M</a:t>
            </a:r>
            <a:r>
              <a:rPr lang="en-US" altLang="zh-CN" sz="2800" b="0" baseline="-25000" dirty="0" err="1">
                <a:solidFill>
                  <a:schemeClr val="tx1"/>
                </a:solidFill>
                <a:sym typeface="Symbol" panose="05050102010706020507" pitchFamily="18" charset="2"/>
              </a:rPr>
              <a:t>z</a:t>
            </a:r>
            <a:r>
              <a:rPr lang="en-US" altLang="zh-CN" sz="2800" b="0" i="0" baseline="-25000" dirty="0">
                <a:solidFill>
                  <a:schemeClr val="tx1"/>
                </a:solidFill>
                <a:sym typeface="Symbol" panose="05050102010706020507" pitchFamily="18" charset="2"/>
              </a:rPr>
              <a:t> </a:t>
            </a:r>
            <a:r>
              <a:rPr lang="en-US" altLang="zh-CN" sz="2800" b="0" i="0" dirty="0">
                <a:solidFill>
                  <a:schemeClr val="tx1"/>
                </a:solidFill>
              </a:rPr>
              <a:t>d</a:t>
            </a:r>
            <a:r>
              <a:rPr lang="en-US" altLang="zh-CN" sz="2800" b="0" dirty="0">
                <a:solidFill>
                  <a:schemeClr val="tx1"/>
                </a:solidFill>
                <a:sym typeface="Symbol" panose="05050102010706020507" pitchFamily="18" charset="2"/>
              </a:rPr>
              <a:t></a:t>
            </a:r>
            <a:endParaRPr lang="en-US" altLang="zh-CN" sz="2800" b="0" dirty="0">
              <a:solidFill>
                <a:schemeClr val="tx1"/>
              </a:solidFill>
            </a:endParaRPr>
          </a:p>
        </p:txBody>
      </p:sp>
    </p:spTree>
    <p:extLst>
      <p:ext uri="{BB962C8B-B14F-4D97-AF65-F5344CB8AC3E}">
        <p14:creationId xmlns:p14="http://schemas.microsoft.com/office/powerpoint/2010/main" val="1413349065"/>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2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2"/>
                                        </p:tgtEl>
                                        <p:attrNameLst>
                                          <p:attrName>style.visibility</p:attrName>
                                        </p:attrNameLst>
                                      </p:cBhvr>
                                      <p:to>
                                        <p:strVal val="visible"/>
                                      </p:to>
                                    </p:set>
                                  </p:childTnLst>
                                </p:cTn>
                              </p:par>
                              <p:par>
                                <p:cTn id="13" presetID="1" presetClass="emph" presetSubtype="2" repeatCount="indefinite" accel="50000" decel="50000" autoRev="1" nodeType="withEffect">
                                  <p:stCondLst>
                                    <p:cond delay="0"/>
                                  </p:stCondLst>
                                  <p:endCondLst>
                                    <p:cond evt="onNext" delay="0">
                                      <p:tgtEl>
                                        <p:sldTgt/>
                                      </p:tgtEl>
                                    </p:cond>
                                  </p:endCondLst>
                                  <p:childTnLst>
                                    <p:animClr clrSpc="rgb" dir="cw">
                                      <p:cBhvr>
                                        <p:cTn id="14" dur="500" fill="hold"/>
                                        <p:tgtEl>
                                          <p:spTgt spid="45"/>
                                        </p:tgtEl>
                                        <p:attrNameLst>
                                          <p:attrName>fillcolor</p:attrName>
                                        </p:attrNameLst>
                                      </p:cBhvr>
                                      <p:to>
                                        <a:schemeClr val="accent2"/>
                                      </p:to>
                                    </p:animClr>
                                    <p:set>
                                      <p:cBhvr>
                                        <p:cTn id="15" dur="500" fill="hold"/>
                                        <p:tgtEl>
                                          <p:spTgt spid="45"/>
                                        </p:tgtEl>
                                        <p:attrNameLst>
                                          <p:attrName>fill.type</p:attrName>
                                        </p:attrNameLst>
                                      </p:cBhvr>
                                      <p:to>
                                        <p:strVal val="solid"/>
                                      </p:to>
                                    </p:set>
                                    <p:set>
                                      <p:cBhvr>
                                        <p:cTn id="16" dur="500" fill="hold"/>
                                        <p:tgtEl>
                                          <p:spTgt spid="45"/>
                                        </p:tgtEl>
                                        <p:attrNameLst>
                                          <p:attrName>fill.on</p:attrName>
                                        </p:attrNameLst>
                                      </p:cBhvr>
                                      <p:to>
                                        <p:strVal val="true"/>
                                      </p:to>
                                    </p:set>
                                  </p:childTnLst>
                                </p:cTn>
                              </p:par>
                              <p:par>
                                <p:cTn id="17" presetID="12" presetClass="path" presetSubtype="0" repeatCount="indefinite" fill="hold" grpId="1" nodeType="withEffect">
                                  <p:stCondLst>
                                    <p:cond delay="0"/>
                                  </p:stCondLst>
                                  <p:childTnLst>
                                    <p:animMotion origin="layout" path="M -0.05195 -0.06412 C -0.0526 -0.08241 -0.04049 -0.09445 -0.0276 -0.10394 C -0.01471 -0.11343 0.00287 -0.11945 0.02487 -0.12037 C 0.05756 -0.12037 0.09974 -0.09885 0.10313 -0.06598 C 0.10482 -0.03542 0.05677 -0.01459 0.02409 -0.01528 C -0.00833 -0.01528 -0.04974 -0.03704 -0.05195 -0.06412 Z " pathEditMode="relative" rAng="0" ptsTypes="AAAAAA">
                                      <p:cBhvr>
                                        <p:cTn id="18" dur="1000" spd="-100000" fill="hold"/>
                                        <p:tgtEl>
                                          <p:spTgt spid="32"/>
                                        </p:tgtEl>
                                        <p:attrNameLst>
                                          <p:attrName>ppt_x</p:attrName>
                                          <p:attrName>ppt_y</p:attrName>
                                        </p:attrNameLst>
                                      </p:cBhvr>
                                      <p:rCtr x="7747" y="-370"/>
                                    </p:animMotion>
                                  </p:childTnLst>
                                </p:cTn>
                              </p:par>
                              <p:par>
                                <p:cTn id="19" presetID="1" presetClass="emph" presetSubtype="2" repeatCount="indefinite" accel="50000" decel="50000" autoRev="1" fill="hold" nodeType="withEffect">
                                  <p:stCondLst>
                                    <p:cond delay="0"/>
                                  </p:stCondLst>
                                  <p:endCondLst>
                                    <p:cond evt="onNext" delay="0">
                                      <p:tgtEl>
                                        <p:sldTgt/>
                                      </p:tgtEl>
                                    </p:cond>
                                  </p:endCondLst>
                                  <p:childTnLst>
                                    <p:animClr clrSpc="rgb" dir="cw">
                                      <p:cBhvr>
                                        <p:cTn id="20" dur="500" fill="hold"/>
                                        <p:tgtEl>
                                          <p:spTgt spid="45"/>
                                        </p:tgtEl>
                                        <p:attrNameLst>
                                          <p:attrName>fillcolor</p:attrName>
                                        </p:attrNameLst>
                                      </p:cBhvr>
                                      <p:to>
                                        <a:schemeClr val="accent2"/>
                                      </p:to>
                                    </p:animClr>
                                    <p:set>
                                      <p:cBhvr>
                                        <p:cTn id="21" dur="500" fill="hold"/>
                                        <p:tgtEl>
                                          <p:spTgt spid="45"/>
                                        </p:tgtEl>
                                        <p:attrNameLst>
                                          <p:attrName>fill.type</p:attrName>
                                        </p:attrNameLst>
                                      </p:cBhvr>
                                      <p:to>
                                        <p:strVal val="solid"/>
                                      </p:to>
                                    </p:set>
                                    <p:set>
                                      <p:cBhvr>
                                        <p:cTn id="22" dur="500" fill="hold"/>
                                        <p:tgtEl>
                                          <p:spTgt spid="45"/>
                                        </p:tgtEl>
                                        <p:attrNameLst>
                                          <p:attrName>fill.on</p:attrName>
                                        </p:attrNameLst>
                                      </p:cBhvr>
                                      <p:to>
                                        <p:strVal val="true"/>
                                      </p:to>
                                    </p:se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63"/>
                                        </p:tgtEl>
                                        <p:attrNameLst>
                                          <p:attrName>style.visibility</p:attrName>
                                        </p:attrNameLst>
                                      </p:cBhvr>
                                      <p:to>
                                        <p:strVal val="visible"/>
                                      </p:to>
                                    </p:set>
                                    <p:animEffect transition="in" filter="fade">
                                      <p:cBhvr>
                                        <p:cTn id="27" dur="2000"/>
                                        <p:tgtEl>
                                          <p:spTgt spid="63"/>
                                        </p:tgtEl>
                                      </p:cBhvr>
                                    </p:animEffect>
                                  </p:childTnLst>
                                </p:cTn>
                              </p:par>
                              <p:par>
                                <p:cTn id="28" presetID="55" presetClass="exit" presetSubtype="0" fill="hold" grpId="2" nodeType="withEffect">
                                  <p:stCondLst>
                                    <p:cond delay="0"/>
                                  </p:stCondLst>
                                  <p:childTnLst>
                                    <p:anim calcmode="lin" valueType="num">
                                      <p:cBhvr>
                                        <p:cTn id="29" dur="1000"/>
                                        <p:tgtEl>
                                          <p:spTgt spid="32"/>
                                        </p:tgtEl>
                                        <p:attrNameLst>
                                          <p:attrName>ppt_w</p:attrName>
                                        </p:attrNameLst>
                                      </p:cBhvr>
                                      <p:tavLst>
                                        <p:tav tm="0">
                                          <p:val>
                                            <p:strVal val="ppt_w"/>
                                          </p:val>
                                        </p:tav>
                                        <p:tav tm="100000">
                                          <p:val>
                                            <p:strVal val="ppt_w*0.70"/>
                                          </p:val>
                                        </p:tav>
                                      </p:tavLst>
                                    </p:anim>
                                    <p:anim calcmode="lin" valueType="num">
                                      <p:cBhvr>
                                        <p:cTn id="30" dur="1000"/>
                                        <p:tgtEl>
                                          <p:spTgt spid="32"/>
                                        </p:tgtEl>
                                        <p:attrNameLst>
                                          <p:attrName>ppt_h</p:attrName>
                                        </p:attrNameLst>
                                      </p:cBhvr>
                                      <p:tavLst>
                                        <p:tav tm="0">
                                          <p:val>
                                            <p:strVal val="ppt_h"/>
                                          </p:val>
                                        </p:tav>
                                        <p:tav tm="100000">
                                          <p:val>
                                            <p:strVal val="ppt_h"/>
                                          </p:val>
                                        </p:tav>
                                      </p:tavLst>
                                    </p:anim>
                                    <p:animEffect transition="out" filter="fade">
                                      <p:cBhvr>
                                        <p:cTn id="31" dur="1000"/>
                                        <p:tgtEl>
                                          <p:spTgt spid="32"/>
                                        </p:tgtEl>
                                      </p:cBhvr>
                                    </p:animEffect>
                                    <p:set>
                                      <p:cBhvr>
                                        <p:cTn id="32" dur="1" fill="hold">
                                          <p:stCondLst>
                                            <p:cond delay="999"/>
                                          </p:stCondLst>
                                        </p:cTn>
                                        <p:tgtEl>
                                          <p:spTgt spid="32"/>
                                        </p:tgtEl>
                                        <p:attrNameLst>
                                          <p:attrName>style.visibility</p:attrName>
                                        </p:attrNameLst>
                                      </p:cBhvr>
                                      <p:to>
                                        <p:strVal val="hidden"/>
                                      </p:to>
                                    </p:set>
                                  </p:childTnLst>
                                </p:cTn>
                              </p:par>
                            </p:childTnLst>
                          </p:cTn>
                        </p:par>
                        <p:par>
                          <p:cTn id="33" fill="hold">
                            <p:stCondLst>
                              <p:cond delay="2000"/>
                            </p:stCondLst>
                            <p:childTnLst>
                              <p:par>
                                <p:cTn id="34" presetID="35" presetClass="emph" presetSubtype="0" repeatCount="3000" fill="hold" grpId="1" nodeType="afterEffect">
                                  <p:stCondLst>
                                    <p:cond delay="0"/>
                                  </p:stCondLst>
                                  <p:childTnLst>
                                    <p:anim calcmode="discrete" valueType="str">
                                      <p:cBhvr>
                                        <p:cTn id="35" dur="1000" fill="hold"/>
                                        <p:tgtEl>
                                          <p:spTgt spid="63"/>
                                        </p:tgtEl>
                                        <p:attrNameLst>
                                          <p:attrName>style.visibility</p:attrName>
                                        </p:attrNameLst>
                                      </p:cBhvr>
                                      <p:tavLst>
                                        <p:tav tm="0">
                                          <p:val>
                                            <p:strVal val="hidden"/>
                                          </p:val>
                                        </p:tav>
                                        <p:tav tm="50000">
                                          <p:val>
                                            <p:strVal val="visible"/>
                                          </p:val>
                                        </p:tav>
                                      </p:tavLst>
                                    </p:anim>
                                  </p:childTnLst>
                                </p:cTn>
                              </p:par>
                            </p:childTnLst>
                          </p:cTn>
                        </p:par>
                        <p:par>
                          <p:cTn id="36" fill="hold">
                            <p:stCondLst>
                              <p:cond delay="5000"/>
                            </p:stCondLst>
                            <p:childTnLst>
                              <p:par>
                                <p:cTn id="37" presetID="18" presetClass="entr" presetSubtype="3" fill="hold" grpId="0" nodeType="afterEffect">
                                  <p:stCondLst>
                                    <p:cond delay="0"/>
                                  </p:stCondLst>
                                  <p:childTnLst>
                                    <p:set>
                                      <p:cBhvr>
                                        <p:cTn id="38" dur="1" fill="hold">
                                          <p:stCondLst>
                                            <p:cond delay="0"/>
                                          </p:stCondLst>
                                        </p:cTn>
                                        <p:tgtEl>
                                          <p:spTgt spid="62"/>
                                        </p:tgtEl>
                                        <p:attrNameLst>
                                          <p:attrName>style.visibility</p:attrName>
                                        </p:attrNameLst>
                                      </p:cBhvr>
                                      <p:to>
                                        <p:strVal val="visible"/>
                                      </p:to>
                                    </p:set>
                                    <p:animEffect transition="in" filter="strips(upRight)">
                                      <p:cBhvr>
                                        <p:cTn id="39" dur="3000"/>
                                        <p:tgtEl>
                                          <p:spTgt spid="62"/>
                                        </p:tgtEl>
                                      </p:cBhvr>
                                    </p:animEffect>
                                  </p:childTnLst>
                                </p:cTn>
                              </p:par>
                              <p:par>
                                <p:cTn id="40" presetID="19" presetClass="entr" presetSubtype="10" fill="hold" grpId="0" nodeType="withEffect">
                                  <p:stCondLst>
                                    <p:cond delay="0"/>
                                  </p:stCondLst>
                                  <p:childTnLst>
                                    <p:set>
                                      <p:cBhvr>
                                        <p:cTn id="41" dur="1" fill="hold">
                                          <p:stCondLst>
                                            <p:cond delay="0"/>
                                          </p:stCondLst>
                                        </p:cTn>
                                        <p:tgtEl>
                                          <p:spTgt spid="66"/>
                                        </p:tgtEl>
                                        <p:attrNameLst>
                                          <p:attrName>style.visibility</p:attrName>
                                        </p:attrNameLst>
                                      </p:cBhvr>
                                      <p:to>
                                        <p:strVal val="visible"/>
                                      </p:to>
                                    </p:set>
                                    <p:anim calcmode="lin" valueType="num">
                                      <p:cBhvr>
                                        <p:cTn id="42" dur="5000" fill="hold"/>
                                        <p:tgtEl>
                                          <p:spTgt spid="66"/>
                                        </p:tgtEl>
                                        <p:attrNameLst>
                                          <p:attrName>ppt_w</p:attrName>
                                        </p:attrNameLst>
                                      </p:cBhvr>
                                      <p:tavLst>
                                        <p:tav tm="0" fmla="#ppt_w*sin(2.5*pi*$)">
                                          <p:val>
                                            <p:fltVal val="0"/>
                                          </p:val>
                                        </p:tav>
                                        <p:tav tm="100000">
                                          <p:val>
                                            <p:fltVal val="1"/>
                                          </p:val>
                                        </p:tav>
                                      </p:tavLst>
                                    </p:anim>
                                    <p:anim calcmode="lin" valueType="num">
                                      <p:cBhvr>
                                        <p:cTn id="43" dur="5000" fill="hold"/>
                                        <p:tgtEl>
                                          <p:spTgt spid="66"/>
                                        </p:tgtEl>
                                        <p:attrNameLst>
                                          <p:attrName>ppt_h</p:attrName>
                                        </p:attrNameLst>
                                      </p:cBhvr>
                                      <p:tavLst>
                                        <p:tav tm="0">
                                          <p:val>
                                            <p:strVal val="#ppt_h"/>
                                          </p:val>
                                        </p:tav>
                                        <p:tav tm="100000">
                                          <p:val>
                                            <p:strVal val="#ppt_h"/>
                                          </p:val>
                                        </p:tav>
                                      </p:tavLst>
                                    </p:anim>
                                  </p:childTnLst>
                                </p:cTn>
                              </p:par>
                            </p:childTnLst>
                          </p:cTn>
                        </p:par>
                        <p:par>
                          <p:cTn id="44" fill="hold">
                            <p:stCondLst>
                              <p:cond delay="10000"/>
                            </p:stCondLst>
                            <p:childTnLst>
                              <p:par>
                                <p:cTn id="45" presetID="18" presetClass="entr" presetSubtype="3" fill="hold" grpId="0" nodeType="afterEffect">
                                  <p:stCondLst>
                                    <p:cond delay="0"/>
                                  </p:stCondLst>
                                  <p:childTnLst>
                                    <p:set>
                                      <p:cBhvr>
                                        <p:cTn id="46" dur="1" fill="hold">
                                          <p:stCondLst>
                                            <p:cond delay="0"/>
                                          </p:stCondLst>
                                        </p:cTn>
                                        <p:tgtEl>
                                          <p:spTgt spid="58"/>
                                        </p:tgtEl>
                                        <p:attrNameLst>
                                          <p:attrName>style.visibility</p:attrName>
                                        </p:attrNameLst>
                                      </p:cBhvr>
                                      <p:to>
                                        <p:strVal val="visible"/>
                                      </p:to>
                                    </p:set>
                                    <p:animEffect transition="in" filter="strips(upRight)">
                                      <p:cBhvr>
                                        <p:cTn id="47" dur="5000"/>
                                        <p:tgtEl>
                                          <p:spTgt spid="58"/>
                                        </p:tgtEl>
                                      </p:cBhvr>
                                    </p:animEffect>
                                  </p:childTnLst>
                                </p:cTn>
                              </p:par>
                            </p:childTnLst>
                          </p:cTn>
                        </p:par>
                        <p:par>
                          <p:cTn id="48" fill="hold">
                            <p:stCondLst>
                              <p:cond delay="15000"/>
                            </p:stCondLst>
                            <p:childTnLst>
                              <p:par>
                                <p:cTn id="49" presetID="12" presetClass="entr" presetSubtype="4" fill="hold" grpId="0" nodeType="afterEffect">
                                  <p:stCondLst>
                                    <p:cond delay="0"/>
                                  </p:stCondLst>
                                  <p:childTnLst>
                                    <p:set>
                                      <p:cBhvr>
                                        <p:cTn id="50" dur="1" fill="hold">
                                          <p:stCondLst>
                                            <p:cond delay="0"/>
                                          </p:stCondLst>
                                        </p:cTn>
                                        <p:tgtEl>
                                          <p:spTgt spid="59"/>
                                        </p:tgtEl>
                                        <p:attrNameLst>
                                          <p:attrName>style.visibility</p:attrName>
                                        </p:attrNameLst>
                                      </p:cBhvr>
                                      <p:to>
                                        <p:strVal val="visible"/>
                                      </p:to>
                                    </p:set>
                                    <p:animEffect transition="in" filter="slide(fromBottom)">
                                      <p:cBhvr>
                                        <p:cTn id="51" dur="3000"/>
                                        <p:tgtEl>
                                          <p:spTgt spid="59"/>
                                        </p:tgtEl>
                                      </p:cBhvr>
                                    </p:animEffect>
                                  </p:childTnLst>
                                </p:cTn>
                              </p:par>
                              <p:par>
                                <p:cTn id="52" presetID="19" presetClass="entr" presetSubtype="10" fill="hold" grpId="0" nodeType="withEffect">
                                  <p:stCondLst>
                                    <p:cond delay="0"/>
                                  </p:stCondLst>
                                  <p:childTnLst>
                                    <p:set>
                                      <p:cBhvr>
                                        <p:cTn id="53" dur="1" fill="hold">
                                          <p:stCondLst>
                                            <p:cond delay="0"/>
                                          </p:stCondLst>
                                        </p:cTn>
                                        <p:tgtEl>
                                          <p:spTgt spid="54"/>
                                        </p:tgtEl>
                                        <p:attrNameLst>
                                          <p:attrName>style.visibility</p:attrName>
                                        </p:attrNameLst>
                                      </p:cBhvr>
                                      <p:to>
                                        <p:strVal val="visible"/>
                                      </p:to>
                                    </p:set>
                                    <p:anim calcmode="lin" valueType="num">
                                      <p:cBhvr>
                                        <p:cTn id="54" dur="5000" fill="hold"/>
                                        <p:tgtEl>
                                          <p:spTgt spid="54"/>
                                        </p:tgtEl>
                                        <p:attrNameLst>
                                          <p:attrName>ppt_w</p:attrName>
                                        </p:attrNameLst>
                                      </p:cBhvr>
                                      <p:tavLst>
                                        <p:tav tm="0" fmla="#ppt_w*sin(2.5*pi*$)">
                                          <p:val>
                                            <p:fltVal val="0"/>
                                          </p:val>
                                        </p:tav>
                                        <p:tav tm="100000">
                                          <p:val>
                                            <p:fltVal val="1"/>
                                          </p:val>
                                        </p:tav>
                                      </p:tavLst>
                                    </p:anim>
                                    <p:anim calcmode="lin" valueType="num">
                                      <p:cBhvr>
                                        <p:cTn id="55" dur="5000" fill="hold"/>
                                        <p:tgtEl>
                                          <p:spTgt spid="54"/>
                                        </p:tgtEl>
                                        <p:attrNameLst>
                                          <p:attrName>ppt_h</p:attrName>
                                        </p:attrNameLst>
                                      </p:cBhvr>
                                      <p:tavLst>
                                        <p:tav tm="0">
                                          <p:val>
                                            <p:strVal val="#ppt_h"/>
                                          </p:val>
                                        </p:tav>
                                        <p:tav tm="100000">
                                          <p:val>
                                            <p:strVal val="#ppt_h"/>
                                          </p:val>
                                        </p:tav>
                                      </p:tavLst>
                                    </p:anim>
                                  </p:childTnLst>
                                </p:cTn>
                              </p:par>
                            </p:childTnLst>
                          </p:cTn>
                        </p:par>
                        <p:par>
                          <p:cTn id="56" fill="hold">
                            <p:stCondLst>
                              <p:cond delay="20000"/>
                            </p:stCondLst>
                            <p:childTnLst>
                              <p:par>
                                <p:cTn id="57" presetID="18" presetClass="entr" presetSubtype="3" fill="hold" grpId="0" nodeType="afterEffect">
                                  <p:stCondLst>
                                    <p:cond delay="0"/>
                                  </p:stCondLst>
                                  <p:childTnLst>
                                    <p:set>
                                      <p:cBhvr>
                                        <p:cTn id="58" dur="1" fill="hold">
                                          <p:stCondLst>
                                            <p:cond delay="0"/>
                                          </p:stCondLst>
                                        </p:cTn>
                                        <p:tgtEl>
                                          <p:spTgt spid="61"/>
                                        </p:tgtEl>
                                        <p:attrNameLst>
                                          <p:attrName>style.visibility</p:attrName>
                                        </p:attrNameLst>
                                      </p:cBhvr>
                                      <p:to>
                                        <p:strVal val="visible"/>
                                      </p:to>
                                    </p:set>
                                    <p:animEffect transition="in" filter="strips(upRight)">
                                      <p:cBhvr>
                                        <p:cTn id="59" dur="3000"/>
                                        <p:tgtEl>
                                          <p:spTgt spid="61"/>
                                        </p:tgtEl>
                                      </p:cBhvr>
                                    </p:animEffect>
                                  </p:childTnLst>
                                </p:cTn>
                              </p:par>
                              <p:par>
                                <p:cTn id="60" presetID="19" presetClass="entr" presetSubtype="10" fill="hold" grpId="0" nodeType="withEffect">
                                  <p:stCondLst>
                                    <p:cond delay="0"/>
                                  </p:stCondLst>
                                  <p:childTnLst>
                                    <p:set>
                                      <p:cBhvr>
                                        <p:cTn id="61" dur="1" fill="hold">
                                          <p:stCondLst>
                                            <p:cond delay="0"/>
                                          </p:stCondLst>
                                        </p:cTn>
                                        <p:tgtEl>
                                          <p:spTgt spid="65"/>
                                        </p:tgtEl>
                                        <p:attrNameLst>
                                          <p:attrName>style.visibility</p:attrName>
                                        </p:attrNameLst>
                                      </p:cBhvr>
                                      <p:to>
                                        <p:strVal val="visible"/>
                                      </p:to>
                                    </p:set>
                                    <p:anim calcmode="lin" valueType="num">
                                      <p:cBhvr>
                                        <p:cTn id="62" dur="5000" fill="hold"/>
                                        <p:tgtEl>
                                          <p:spTgt spid="65"/>
                                        </p:tgtEl>
                                        <p:attrNameLst>
                                          <p:attrName>ppt_w</p:attrName>
                                        </p:attrNameLst>
                                      </p:cBhvr>
                                      <p:tavLst>
                                        <p:tav tm="0" fmla="#ppt_w*sin(2.5*pi*$)">
                                          <p:val>
                                            <p:fltVal val="0"/>
                                          </p:val>
                                        </p:tav>
                                        <p:tav tm="100000">
                                          <p:val>
                                            <p:fltVal val="1"/>
                                          </p:val>
                                        </p:tav>
                                      </p:tavLst>
                                    </p:anim>
                                    <p:anim calcmode="lin" valueType="num">
                                      <p:cBhvr>
                                        <p:cTn id="63" dur="5000" fill="hold"/>
                                        <p:tgtEl>
                                          <p:spTgt spid="65"/>
                                        </p:tgtEl>
                                        <p:attrNameLst>
                                          <p:attrName>ppt_h</p:attrName>
                                        </p:attrNameLst>
                                      </p:cBhvr>
                                      <p:tavLst>
                                        <p:tav tm="0">
                                          <p:val>
                                            <p:strVal val="#ppt_h"/>
                                          </p:val>
                                        </p:tav>
                                        <p:tav tm="100000">
                                          <p:val>
                                            <p:strVal val="#ppt_h"/>
                                          </p:val>
                                        </p:tav>
                                      </p:tavLst>
                                    </p:anim>
                                  </p:childTnLst>
                                </p:cTn>
                              </p:par>
                            </p:childTnLst>
                          </p:cTn>
                        </p:par>
                        <p:par>
                          <p:cTn id="64" fill="hold">
                            <p:stCondLst>
                              <p:cond delay="25000"/>
                            </p:stCondLst>
                            <p:childTnLst>
                              <p:par>
                                <p:cTn id="65" presetID="12" presetClass="entr" presetSubtype="8" fill="hold" grpId="0" nodeType="afterEffect">
                                  <p:stCondLst>
                                    <p:cond delay="0"/>
                                  </p:stCondLst>
                                  <p:childTnLst>
                                    <p:set>
                                      <p:cBhvr>
                                        <p:cTn id="66" dur="1" fill="hold">
                                          <p:stCondLst>
                                            <p:cond delay="0"/>
                                          </p:stCondLst>
                                        </p:cTn>
                                        <p:tgtEl>
                                          <p:spTgt spid="60"/>
                                        </p:tgtEl>
                                        <p:attrNameLst>
                                          <p:attrName>style.visibility</p:attrName>
                                        </p:attrNameLst>
                                      </p:cBhvr>
                                      <p:to>
                                        <p:strVal val="visible"/>
                                      </p:to>
                                    </p:set>
                                    <p:animEffect transition="in" filter="slide(fromLeft)">
                                      <p:cBhvr>
                                        <p:cTn id="67" dur="3000"/>
                                        <p:tgtEl>
                                          <p:spTgt spid="60"/>
                                        </p:tgtEl>
                                      </p:cBhvr>
                                    </p:animEffect>
                                  </p:childTnLst>
                                </p:cTn>
                              </p:par>
                              <p:par>
                                <p:cTn id="68" presetID="19" presetClass="entr" presetSubtype="10" fill="hold" grpId="0" nodeType="withEffect">
                                  <p:stCondLst>
                                    <p:cond delay="0"/>
                                  </p:stCondLst>
                                  <p:childTnLst>
                                    <p:set>
                                      <p:cBhvr>
                                        <p:cTn id="69" dur="1" fill="hold">
                                          <p:stCondLst>
                                            <p:cond delay="0"/>
                                          </p:stCondLst>
                                        </p:cTn>
                                        <p:tgtEl>
                                          <p:spTgt spid="64"/>
                                        </p:tgtEl>
                                        <p:attrNameLst>
                                          <p:attrName>style.visibility</p:attrName>
                                        </p:attrNameLst>
                                      </p:cBhvr>
                                      <p:to>
                                        <p:strVal val="visible"/>
                                      </p:to>
                                    </p:set>
                                    <p:anim calcmode="lin" valueType="num">
                                      <p:cBhvr>
                                        <p:cTn id="70" dur="5000" fill="hold"/>
                                        <p:tgtEl>
                                          <p:spTgt spid="64"/>
                                        </p:tgtEl>
                                        <p:attrNameLst>
                                          <p:attrName>ppt_w</p:attrName>
                                        </p:attrNameLst>
                                      </p:cBhvr>
                                      <p:tavLst>
                                        <p:tav tm="0" fmla="#ppt_w*sin(2.5*pi*$)">
                                          <p:val>
                                            <p:fltVal val="0"/>
                                          </p:val>
                                        </p:tav>
                                        <p:tav tm="100000">
                                          <p:val>
                                            <p:fltVal val="1"/>
                                          </p:val>
                                        </p:tav>
                                      </p:tavLst>
                                    </p:anim>
                                    <p:anim calcmode="lin" valueType="num">
                                      <p:cBhvr>
                                        <p:cTn id="71" dur="5000" fill="hold"/>
                                        <p:tgtEl>
                                          <p:spTgt spid="64"/>
                                        </p:tgtEl>
                                        <p:attrNameLst>
                                          <p:attrName>ppt_h</p:attrName>
                                        </p:attrNameLst>
                                      </p:cBhvr>
                                      <p:tavLst>
                                        <p:tav tm="0">
                                          <p:val>
                                            <p:strVal val="#ppt_h"/>
                                          </p:val>
                                        </p:tav>
                                        <p:tav tm="100000">
                                          <p:val>
                                            <p:strVal val="#ppt_h"/>
                                          </p:val>
                                        </p:tav>
                                      </p:tavLst>
                                    </p:anim>
                                  </p:childTnLst>
                                </p:cTn>
                              </p:par>
                            </p:childTnLst>
                          </p:cTn>
                        </p:par>
                        <p:par>
                          <p:cTn id="72" fill="hold">
                            <p:stCondLst>
                              <p:cond delay="30000"/>
                            </p:stCondLst>
                            <p:childTnLst>
                              <p:par>
                                <p:cTn id="73" presetID="19" presetClass="entr" presetSubtype="10" fill="hold" grpId="0" nodeType="afterEffect">
                                  <p:stCondLst>
                                    <p:cond delay="0"/>
                                  </p:stCondLst>
                                  <p:childTnLst>
                                    <p:set>
                                      <p:cBhvr>
                                        <p:cTn id="74" dur="1" fill="hold">
                                          <p:stCondLst>
                                            <p:cond delay="0"/>
                                          </p:stCondLst>
                                        </p:cTn>
                                        <p:tgtEl>
                                          <p:spTgt spid="48"/>
                                        </p:tgtEl>
                                        <p:attrNameLst>
                                          <p:attrName>style.visibility</p:attrName>
                                        </p:attrNameLst>
                                      </p:cBhvr>
                                      <p:to>
                                        <p:strVal val="visible"/>
                                      </p:to>
                                    </p:set>
                                    <p:anim calcmode="lin" valueType="num">
                                      <p:cBhvr>
                                        <p:cTn id="75" dur="5000" fill="hold"/>
                                        <p:tgtEl>
                                          <p:spTgt spid="48"/>
                                        </p:tgtEl>
                                        <p:attrNameLst>
                                          <p:attrName>ppt_w</p:attrName>
                                        </p:attrNameLst>
                                      </p:cBhvr>
                                      <p:tavLst>
                                        <p:tav tm="0" fmla="#ppt_w*sin(2.5*pi*$)">
                                          <p:val>
                                            <p:fltVal val="0"/>
                                          </p:val>
                                        </p:tav>
                                        <p:tav tm="100000">
                                          <p:val>
                                            <p:fltVal val="1"/>
                                          </p:val>
                                        </p:tav>
                                      </p:tavLst>
                                    </p:anim>
                                    <p:anim calcmode="lin" valueType="num">
                                      <p:cBhvr>
                                        <p:cTn id="76" dur="5000" fill="hold"/>
                                        <p:tgtEl>
                                          <p:spTgt spid="48"/>
                                        </p:tgtEl>
                                        <p:attrNameLst>
                                          <p:attrName>ppt_h</p:attrName>
                                        </p:attrNameLst>
                                      </p:cBhvr>
                                      <p:tavLst>
                                        <p:tav tm="0">
                                          <p:val>
                                            <p:strVal val="#ppt_h"/>
                                          </p:val>
                                        </p:tav>
                                        <p:tav tm="100000">
                                          <p:val>
                                            <p:strVal val="#ppt_h"/>
                                          </p:val>
                                        </p:tav>
                                      </p:tavLst>
                                    </p:anim>
                                  </p:childTnLst>
                                </p:cTn>
                              </p:par>
                            </p:childTnLst>
                          </p:cTn>
                        </p:par>
                        <p:par>
                          <p:cTn id="77" fill="hold">
                            <p:stCondLst>
                              <p:cond delay="35000"/>
                            </p:stCondLst>
                            <p:childTnLst>
                              <p:par>
                                <p:cTn id="78" presetID="18" presetClass="entr" presetSubtype="6" fill="hold" grpId="0" nodeType="afterEffect">
                                  <p:stCondLst>
                                    <p:cond delay="0"/>
                                  </p:stCondLst>
                                  <p:childTnLst>
                                    <p:set>
                                      <p:cBhvr>
                                        <p:cTn id="79" dur="1" fill="hold">
                                          <p:stCondLst>
                                            <p:cond delay="0"/>
                                          </p:stCondLst>
                                        </p:cTn>
                                        <p:tgtEl>
                                          <p:spTgt spid="49"/>
                                        </p:tgtEl>
                                        <p:attrNameLst>
                                          <p:attrName>style.visibility</p:attrName>
                                        </p:attrNameLst>
                                      </p:cBhvr>
                                      <p:to>
                                        <p:strVal val="visible"/>
                                      </p:to>
                                    </p:set>
                                    <p:animEffect transition="in" filter="strips(downRight)">
                                      <p:cBhvr>
                                        <p:cTn id="80" dur="3000"/>
                                        <p:tgtEl>
                                          <p:spTgt spid="49"/>
                                        </p:tgtEl>
                                      </p:cBhvr>
                                    </p:animEffect>
                                  </p:childTnLst>
                                </p:cTn>
                              </p:par>
                            </p:childTnLst>
                          </p:cTn>
                        </p:par>
                        <p:par>
                          <p:cTn id="81" fill="hold">
                            <p:stCondLst>
                              <p:cond delay="38000"/>
                            </p:stCondLst>
                            <p:childTnLst>
                              <p:par>
                                <p:cTn id="82" presetID="22" presetClass="entr" presetSubtype="1" fill="hold" grpId="0" nodeType="afterEffect">
                                  <p:stCondLst>
                                    <p:cond delay="0"/>
                                  </p:stCondLst>
                                  <p:childTnLst>
                                    <p:set>
                                      <p:cBhvr>
                                        <p:cTn id="83" dur="1" fill="hold">
                                          <p:stCondLst>
                                            <p:cond delay="0"/>
                                          </p:stCondLst>
                                        </p:cTn>
                                        <p:tgtEl>
                                          <p:spTgt spid="55"/>
                                        </p:tgtEl>
                                        <p:attrNameLst>
                                          <p:attrName>style.visibility</p:attrName>
                                        </p:attrNameLst>
                                      </p:cBhvr>
                                      <p:to>
                                        <p:strVal val="visible"/>
                                      </p:to>
                                    </p:set>
                                    <p:animEffect transition="in" filter="wipe(up)">
                                      <p:cBhvr>
                                        <p:cTn id="84" dur="3000"/>
                                        <p:tgtEl>
                                          <p:spTgt spid="55"/>
                                        </p:tgtEl>
                                      </p:cBhvr>
                                    </p:animEffect>
                                  </p:childTnLst>
                                </p:cTn>
                              </p:par>
                              <p:par>
                                <p:cTn id="85" presetID="19" presetClass="entr" presetSubtype="10" fill="hold" grpId="0" nodeType="withEffect">
                                  <p:stCondLst>
                                    <p:cond delay="0"/>
                                  </p:stCondLst>
                                  <p:childTnLst>
                                    <p:set>
                                      <p:cBhvr>
                                        <p:cTn id="86" dur="1" fill="hold">
                                          <p:stCondLst>
                                            <p:cond delay="0"/>
                                          </p:stCondLst>
                                        </p:cTn>
                                        <p:tgtEl>
                                          <p:spTgt spid="50"/>
                                        </p:tgtEl>
                                        <p:attrNameLst>
                                          <p:attrName>style.visibility</p:attrName>
                                        </p:attrNameLst>
                                      </p:cBhvr>
                                      <p:to>
                                        <p:strVal val="visible"/>
                                      </p:to>
                                    </p:set>
                                    <p:anim calcmode="lin" valueType="num">
                                      <p:cBhvr>
                                        <p:cTn id="87" dur="5000" fill="hold"/>
                                        <p:tgtEl>
                                          <p:spTgt spid="50"/>
                                        </p:tgtEl>
                                        <p:attrNameLst>
                                          <p:attrName>ppt_w</p:attrName>
                                        </p:attrNameLst>
                                      </p:cBhvr>
                                      <p:tavLst>
                                        <p:tav tm="0" fmla="#ppt_w*sin(2.5*pi*$)">
                                          <p:val>
                                            <p:fltVal val="0"/>
                                          </p:val>
                                        </p:tav>
                                        <p:tav tm="100000">
                                          <p:val>
                                            <p:fltVal val="1"/>
                                          </p:val>
                                        </p:tav>
                                      </p:tavLst>
                                    </p:anim>
                                    <p:anim calcmode="lin" valueType="num">
                                      <p:cBhvr>
                                        <p:cTn id="88" dur="5000" fill="hold"/>
                                        <p:tgtEl>
                                          <p:spTgt spid="50"/>
                                        </p:tgtEl>
                                        <p:attrNameLst>
                                          <p:attrName>ppt_h</p:attrName>
                                        </p:attrNameLst>
                                      </p:cBhvr>
                                      <p:tavLst>
                                        <p:tav tm="0">
                                          <p:val>
                                            <p:strVal val="#ppt_h"/>
                                          </p:val>
                                        </p:tav>
                                        <p:tav tm="100000">
                                          <p:val>
                                            <p:strVal val="#ppt_h"/>
                                          </p:val>
                                        </p:tav>
                                      </p:tavLst>
                                    </p:anim>
                                  </p:childTnLst>
                                </p:cTn>
                              </p:par>
                            </p:childTnLst>
                          </p:cTn>
                        </p:par>
                        <p:par>
                          <p:cTn id="89" fill="hold">
                            <p:stCondLst>
                              <p:cond delay="43000"/>
                            </p:stCondLst>
                            <p:childTnLst>
                              <p:par>
                                <p:cTn id="90" presetID="21" presetClass="entr" presetSubtype="1" fill="hold" grpId="0" nodeType="afterEffect">
                                  <p:stCondLst>
                                    <p:cond delay="0"/>
                                  </p:stCondLst>
                                  <p:childTnLst>
                                    <p:set>
                                      <p:cBhvr>
                                        <p:cTn id="91" dur="1" fill="hold">
                                          <p:stCondLst>
                                            <p:cond delay="0"/>
                                          </p:stCondLst>
                                        </p:cTn>
                                        <p:tgtEl>
                                          <p:spTgt spid="68"/>
                                        </p:tgtEl>
                                        <p:attrNameLst>
                                          <p:attrName>style.visibility</p:attrName>
                                        </p:attrNameLst>
                                      </p:cBhvr>
                                      <p:to>
                                        <p:strVal val="visible"/>
                                      </p:to>
                                    </p:set>
                                    <p:animEffect transition="in" filter="wheel(1)">
                                      <p:cBhvr>
                                        <p:cTn id="92" dur="3000"/>
                                        <p:tgtEl>
                                          <p:spTgt spid="68"/>
                                        </p:tgtEl>
                                      </p:cBhvr>
                                    </p:animEffect>
                                  </p:childTnLst>
                                </p:cTn>
                              </p:par>
                              <p:par>
                                <p:cTn id="93" presetID="19" presetClass="entr" presetSubtype="10" fill="hold" grpId="0" nodeType="withEffect">
                                  <p:stCondLst>
                                    <p:cond delay="0"/>
                                  </p:stCondLst>
                                  <p:childTnLst>
                                    <p:set>
                                      <p:cBhvr>
                                        <p:cTn id="94" dur="1" fill="hold">
                                          <p:stCondLst>
                                            <p:cond delay="0"/>
                                          </p:stCondLst>
                                        </p:cTn>
                                        <p:tgtEl>
                                          <p:spTgt spid="67"/>
                                        </p:tgtEl>
                                        <p:attrNameLst>
                                          <p:attrName>style.visibility</p:attrName>
                                        </p:attrNameLst>
                                      </p:cBhvr>
                                      <p:to>
                                        <p:strVal val="visible"/>
                                      </p:to>
                                    </p:set>
                                    <p:anim calcmode="lin" valueType="num">
                                      <p:cBhvr>
                                        <p:cTn id="95" dur="5000" fill="hold"/>
                                        <p:tgtEl>
                                          <p:spTgt spid="67"/>
                                        </p:tgtEl>
                                        <p:attrNameLst>
                                          <p:attrName>ppt_w</p:attrName>
                                        </p:attrNameLst>
                                      </p:cBhvr>
                                      <p:tavLst>
                                        <p:tav tm="0" fmla="#ppt_w*sin(2.5*pi*$)">
                                          <p:val>
                                            <p:fltVal val="0"/>
                                          </p:val>
                                        </p:tav>
                                        <p:tav tm="100000">
                                          <p:val>
                                            <p:fltVal val="1"/>
                                          </p:val>
                                        </p:tav>
                                      </p:tavLst>
                                    </p:anim>
                                    <p:anim calcmode="lin" valueType="num">
                                      <p:cBhvr>
                                        <p:cTn id="96" dur="5000" fill="hold"/>
                                        <p:tgtEl>
                                          <p:spTgt spid="67"/>
                                        </p:tgtEl>
                                        <p:attrNameLst>
                                          <p:attrName>ppt_h</p:attrName>
                                        </p:attrNameLst>
                                      </p:cBhvr>
                                      <p:tavLst>
                                        <p:tav tm="0">
                                          <p:val>
                                            <p:strVal val="#ppt_h"/>
                                          </p:val>
                                        </p:tav>
                                        <p:tav tm="100000">
                                          <p:val>
                                            <p:strVal val="#ppt_h"/>
                                          </p:val>
                                        </p:tav>
                                      </p:tavLst>
                                    </p:anim>
                                  </p:childTnLst>
                                </p:cTn>
                              </p:par>
                            </p:childTnLst>
                          </p:cTn>
                        </p:par>
                        <p:par>
                          <p:cTn id="97" fill="hold">
                            <p:stCondLst>
                              <p:cond delay="48000"/>
                            </p:stCondLst>
                            <p:childTnLst>
                              <p:par>
                                <p:cTn id="98" presetID="35" presetClass="emph" presetSubtype="0" repeatCount="indefinite" fill="hold" grpId="1" nodeType="afterEffect">
                                  <p:stCondLst>
                                    <p:cond delay="0"/>
                                  </p:stCondLst>
                                  <p:childTnLst>
                                    <p:anim calcmode="discrete" valueType="str">
                                      <p:cBhvr>
                                        <p:cTn id="99" dur="1000" fill="hold"/>
                                        <p:tgtEl>
                                          <p:spTgt spid="68"/>
                                        </p:tgtEl>
                                        <p:attrNameLst>
                                          <p:attrName>style.visibility</p:attrName>
                                        </p:attrNameLst>
                                      </p:cBhvr>
                                      <p:tavLst>
                                        <p:tav tm="0">
                                          <p:val>
                                            <p:strVal val="hidden"/>
                                          </p:val>
                                        </p:tav>
                                        <p:tav tm="50000">
                                          <p:val>
                                            <p:strVal val="visible"/>
                                          </p:val>
                                        </p:tav>
                                      </p:tavLst>
                                    </p:anim>
                                  </p:childTnLst>
                                </p:cTn>
                              </p:par>
                            </p:childTnLst>
                          </p:cTn>
                        </p:par>
                      </p:childTnLst>
                    </p:cTn>
                  </p:par>
                  <p:par>
                    <p:cTn id="100" fill="hold">
                      <p:stCondLst>
                        <p:cond delay="indefinite"/>
                      </p:stCondLst>
                      <p:childTnLst>
                        <p:par>
                          <p:cTn id="101" fill="hold">
                            <p:stCondLst>
                              <p:cond delay="0"/>
                            </p:stCondLst>
                            <p:childTnLst>
                              <p:par>
                                <p:cTn id="102" presetID="1" presetClass="entr" presetSubtype="0" fill="hold" grpId="0" nodeType="clickEffect">
                                  <p:stCondLst>
                                    <p:cond delay="0"/>
                                  </p:stCondLst>
                                  <p:childTnLst>
                                    <p:set>
                                      <p:cBhvr>
                                        <p:cTn id="103" dur="1" fill="hold">
                                          <p:stCondLst>
                                            <p:cond delay="499"/>
                                          </p:stCondLst>
                                        </p:cTn>
                                        <p:tgtEl>
                                          <p:spTgt spid="71"/>
                                        </p:tgtEl>
                                        <p:attrNameLst>
                                          <p:attrName>style.visibility</p:attrName>
                                        </p:attrNameLst>
                                      </p:cBhvr>
                                      <p:to>
                                        <p:strVal val="visible"/>
                                      </p:to>
                                    </p:set>
                                  </p:childTnLst>
                                </p:cTn>
                              </p:par>
                            </p:childTnLst>
                          </p:cTn>
                        </p:par>
                      </p:childTnLst>
                    </p:cTn>
                  </p:par>
                  <p:par>
                    <p:cTn id="104" fill="hold">
                      <p:stCondLst>
                        <p:cond delay="indefinite"/>
                      </p:stCondLst>
                      <p:childTnLst>
                        <p:par>
                          <p:cTn id="105" fill="hold">
                            <p:stCondLst>
                              <p:cond delay="0"/>
                            </p:stCondLst>
                            <p:childTnLst>
                              <p:par>
                                <p:cTn id="106" presetID="1" presetClass="entr" presetSubtype="0" fill="hold" grpId="0" nodeType="clickEffect">
                                  <p:stCondLst>
                                    <p:cond delay="0"/>
                                  </p:stCondLst>
                                  <p:childTnLst>
                                    <p:set>
                                      <p:cBhvr>
                                        <p:cTn id="107"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utoUpdateAnimBg="0"/>
      <p:bldP spid="122" grpId="0" autoUpdateAnimBg="0"/>
      <p:bldP spid="32" grpId="0" animBg="1"/>
      <p:bldP spid="32" grpId="1" animBg="1"/>
      <p:bldP spid="32" grpId="2" animBg="1"/>
      <p:bldP spid="48" grpId="0"/>
      <p:bldP spid="49" grpId="0" animBg="1"/>
      <p:bldP spid="50" grpId="0"/>
      <p:bldP spid="54" grpId="0"/>
      <p:bldP spid="55" grpId="0" animBg="1"/>
      <p:bldP spid="58" grpId="0" animBg="1"/>
      <p:bldP spid="59" grpId="0" animBg="1"/>
      <p:bldP spid="60" grpId="0" animBg="1"/>
      <p:bldP spid="61" grpId="0" animBg="1"/>
      <p:bldP spid="62" grpId="0" animBg="1"/>
      <p:bldP spid="63" grpId="0" animBg="1"/>
      <p:bldP spid="63" grpId="1" animBg="1"/>
      <p:bldP spid="64" grpId="0"/>
      <p:bldP spid="65" grpId="0"/>
      <p:bldP spid="66" grpId="0"/>
      <p:bldP spid="67" grpId="0"/>
      <p:bldP spid="68" grpId="0" animBg="1"/>
      <p:bldP spid="68" grpId="1" animBg="1"/>
      <p:bldP spid="71" grpId="0" autoUpdateAnimBg="0"/>
      <p:bldP spid="2"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61">
            <a:extLst>
              <a:ext uri="{FF2B5EF4-FFF2-40B4-BE49-F238E27FC236}">
                <a16:creationId xmlns:a16="http://schemas.microsoft.com/office/drawing/2014/main" id="{7C7AC23E-A1CE-03F9-D8A4-D45156EAD5C0}"/>
              </a:ext>
            </a:extLst>
          </p:cNvPr>
          <p:cNvSpPr>
            <a:spLocks noChangeArrowheads="1"/>
          </p:cNvSpPr>
          <p:nvPr/>
        </p:nvSpPr>
        <p:spPr bwMode="auto">
          <a:xfrm>
            <a:off x="8026228" y="1505059"/>
            <a:ext cx="3880675" cy="4012173"/>
          </a:xfrm>
          <a:prstGeom prst="rect">
            <a:avLst/>
          </a:prstGeom>
          <a:solidFill>
            <a:srgbClr val="B9CDE5"/>
          </a:solidFill>
          <a:ln>
            <a:noFill/>
          </a:ln>
          <a:effectLst/>
        </p:spPr>
        <p:txBody>
          <a:bodyPr wrap="none" anchor="ctr"/>
          <a:lstStyle/>
          <a:p>
            <a:endParaRPr lang="zh-CN" altLang="en-US"/>
          </a:p>
        </p:txBody>
      </p:sp>
      <p:sp>
        <p:nvSpPr>
          <p:cNvPr id="45" name="Oval 19"/>
          <p:cNvSpPr>
            <a:spLocks noChangeArrowheads="1"/>
          </p:cNvSpPr>
          <p:nvPr/>
        </p:nvSpPr>
        <p:spPr bwMode="auto">
          <a:xfrm>
            <a:off x="8545548" y="2457170"/>
            <a:ext cx="2038350" cy="2547938"/>
          </a:xfrm>
          <a:prstGeom prst="ellipse">
            <a:avLst/>
          </a:prstGeom>
          <a:gradFill flip="none" rotWithShape="1">
            <a:gsLst>
              <a:gs pos="0">
                <a:schemeClr val="accent1">
                  <a:lumMod val="75000"/>
                  <a:shade val="30000"/>
                  <a:satMod val="115000"/>
                </a:schemeClr>
              </a:gs>
              <a:gs pos="50000">
                <a:schemeClr val="accent1">
                  <a:lumMod val="75000"/>
                  <a:shade val="67500"/>
                  <a:satMod val="115000"/>
                </a:schemeClr>
              </a:gs>
              <a:gs pos="100000">
                <a:schemeClr val="accent1">
                  <a:lumMod val="75000"/>
                  <a:shade val="100000"/>
                  <a:satMod val="115000"/>
                </a:schemeClr>
              </a:gs>
            </a:gsLst>
            <a:path path="circle">
              <a:fillToRect l="50000" t="50000" r="50000" b="50000"/>
            </a:path>
            <a:tileRect/>
          </a:gradFill>
          <a:ln>
            <a:noFill/>
          </a:ln>
          <a:effectLst/>
        </p:spPr>
        <p:txBody>
          <a:bodyPr wrap="none" anchor="ctr"/>
          <a:lstStyle/>
          <a:p>
            <a:endParaRPr lang="zh-CN" altLang="en-US"/>
          </a:p>
        </p:txBody>
      </p:sp>
      <p:sp>
        <p:nvSpPr>
          <p:cNvPr id="7" name="矩形 6"/>
          <p:cNvSpPr/>
          <p:nvPr/>
        </p:nvSpPr>
        <p:spPr>
          <a:xfrm>
            <a:off x="20960" y="91693"/>
            <a:ext cx="4653838"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第七章   动力学普遍定理</a:t>
            </a:r>
          </a:p>
        </p:txBody>
      </p:sp>
      <p:sp>
        <p:nvSpPr>
          <p:cNvPr id="122" name="Text Box 1032"/>
          <p:cNvSpPr txBox="1">
            <a:spLocks noChangeArrowheads="1"/>
          </p:cNvSpPr>
          <p:nvPr/>
        </p:nvSpPr>
        <p:spPr bwMode="auto">
          <a:xfrm>
            <a:off x="816015" y="1005371"/>
            <a:ext cx="7032413" cy="6524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lnSpc>
                <a:spcPct val="130000"/>
              </a:lnSpc>
            </a:pPr>
            <a:r>
              <a:rPr lang="zh-CN" altLang="en-US" sz="2800" i="0" dirty="0">
                <a:latin typeface="+mn-lt"/>
                <a:ea typeface="微软雅黑" panose="020B0503020204020204" pitchFamily="34" charset="-122"/>
              </a:rPr>
              <a:t>当刚体从转角</a:t>
            </a:r>
            <a:r>
              <a:rPr lang="zh-CN" altLang="en-US" sz="2800" b="0" dirty="0">
                <a:latin typeface="+mn-lt"/>
                <a:ea typeface="微软雅黑" panose="020B0503020204020204" pitchFamily="34" charset="-122"/>
                <a:sym typeface="Symbol" panose="05050102010706020507" pitchFamily="18" charset="2"/>
              </a:rPr>
              <a:t></a:t>
            </a:r>
            <a:r>
              <a:rPr lang="en-US" altLang="zh-CN" sz="2800" b="0" i="0" baseline="-25000" dirty="0">
                <a:latin typeface="+mn-lt"/>
                <a:ea typeface="微软雅黑" panose="020B0503020204020204" pitchFamily="34" charset="-122"/>
              </a:rPr>
              <a:t>1</a:t>
            </a:r>
            <a:r>
              <a:rPr lang="zh-CN" altLang="en-US" sz="2800" i="0" dirty="0">
                <a:latin typeface="+mn-lt"/>
                <a:ea typeface="微软雅黑" panose="020B0503020204020204" pitchFamily="34" charset="-122"/>
              </a:rPr>
              <a:t>到</a:t>
            </a:r>
            <a:r>
              <a:rPr lang="zh-CN" altLang="en-US" sz="2800" b="0" dirty="0">
                <a:latin typeface="+mn-lt"/>
                <a:ea typeface="微软雅黑" panose="020B0503020204020204" pitchFamily="34" charset="-122"/>
                <a:sym typeface="Symbol" panose="05050102010706020507" pitchFamily="18" charset="2"/>
              </a:rPr>
              <a:t></a:t>
            </a:r>
            <a:r>
              <a:rPr lang="en-US" altLang="zh-CN" sz="2800" b="0" i="0" baseline="-25000" dirty="0">
                <a:latin typeface="+mn-lt"/>
                <a:ea typeface="微软雅黑" panose="020B0503020204020204" pitchFamily="34" charset="-122"/>
              </a:rPr>
              <a:t>2</a:t>
            </a:r>
            <a:r>
              <a:rPr lang="zh-CN" altLang="en-US" sz="2800" i="0" dirty="0">
                <a:latin typeface="+mn-lt"/>
                <a:ea typeface="微软雅黑" panose="020B0503020204020204" pitchFamily="34" charset="-122"/>
              </a:rPr>
              <a:t>时，力</a:t>
            </a:r>
            <a:r>
              <a:rPr lang="en-US" altLang="zh-CN" sz="2800" dirty="0">
                <a:latin typeface="+mn-lt"/>
                <a:ea typeface="微软雅黑" panose="020B0503020204020204" pitchFamily="34" charset="-122"/>
              </a:rPr>
              <a:t>F</a:t>
            </a:r>
            <a:r>
              <a:rPr lang="zh-CN" altLang="en-US" sz="2800" i="0" dirty="0">
                <a:latin typeface="+mn-lt"/>
                <a:ea typeface="微软雅黑" panose="020B0503020204020204" pitchFamily="34" charset="-122"/>
              </a:rPr>
              <a:t>所作的功为</a:t>
            </a:r>
            <a:endParaRPr lang="zh-CN" altLang="en-US" sz="2800" i="0" dirty="0">
              <a:ea typeface="微软雅黑" panose="020B0503020204020204" pitchFamily="34" charset="-122"/>
            </a:endParaRPr>
          </a:p>
        </p:txBody>
      </p:sp>
      <p:sp>
        <p:nvSpPr>
          <p:cNvPr id="19" name="Line 4"/>
          <p:cNvSpPr>
            <a:spLocks noChangeShapeType="1"/>
          </p:cNvSpPr>
          <p:nvPr/>
        </p:nvSpPr>
        <p:spPr bwMode="auto">
          <a:xfrm flipV="1">
            <a:off x="9567898" y="1828520"/>
            <a:ext cx="0" cy="3587750"/>
          </a:xfrm>
          <a:prstGeom prst="line">
            <a:avLst/>
          </a:prstGeom>
          <a:noFill/>
          <a:ln w="38100">
            <a:solidFill>
              <a:schemeClr val="tx1"/>
            </a:solidFill>
            <a:prstDash val="lgDashDot"/>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1" name="Text Box 5"/>
          <p:cNvSpPr txBox="1">
            <a:spLocks noChangeAspect="1" noChangeArrowheads="1"/>
          </p:cNvSpPr>
          <p:nvPr/>
        </p:nvSpPr>
        <p:spPr bwMode="auto">
          <a:xfrm>
            <a:off x="9539323" y="1633258"/>
            <a:ext cx="417513" cy="6397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sz="3200" b="0" i="1" dirty="0">
                <a:ea typeface="宋体" panose="02010600030101010101" pitchFamily="2" charset="-122"/>
              </a:rPr>
              <a:t>z</a:t>
            </a:r>
          </a:p>
        </p:txBody>
      </p:sp>
      <p:sp>
        <p:nvSpPr>
          <p:cNvPr id="32" name="Oval 6"/>
          <p:cNvSpPr>
            <a:spLocks noChangeArrowheads="1"/>
          </p:cNvSpPr>
          <p:nvPr/>
        </p:nvSpPr>
        <p:spPr bwMode="auto">
          <a:xfrm>
            <a:off x="9199598" y="4135158"/>
            <a:ext cx="103188" cy="103187"/>
          </a:xfrm>
          <a:prstGeom prst="ellipse">
            <a:avLst/>
          </a:prstGeom>
          <a:gradFill rotWithShape="1">
            <a:gsLst>
              <a:gs pos="0">
                <a:srgbClr val="FF0000">
                  <a:gamma/>
                  <a:tint val="44314"/>
                  <a:invGamma/>
                </a:srgbClr>
              </a:gs>
              <a:gs pos="100000">
                <a:srgbClr val="FF0000"/>
              </a:gs>
            </a:gsLst>
            <a:path path="shape">
              <a:fillToRect l="50000" t="50000" r="50000" b="5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33" name="Group 7"/>
          <p:cNvGrpSpPr>
            <a:grpSpLocks/>
          </p:cNvGrpSpPr>
          <p:nvPr/>
        </p:nvGrpSpPr>
        <p:grpSpPr bwMode="auto">
          <a:xfrm>
            <a:off x="9645686" y="2150783"/>
            <a:ext cx="123825" cy="249237"/>
            <a:chOff x="4582" y="1423"/>
            <a:chExt cx="78" cy="157"/>
          </a:xfrm>
        </p:grpSpPr>
        <p:sp>
          <p:nvSpPr>
            <p:cNvPr id="34" name="Rectangle 8" descr="宽上对角线"/>
            <p:cNvSpPr>
              <a:spLocks noChangeArrowheads="1"/>
            </p:cNvSpPr>
            <p:nvPr/>
          </p:nvSpPr>
          <p:spPr bwMode="auto">
            <a:xfrm>
              <a:off x="4599" y="1423"/>
              <a:ext cx="61" cy="157"/>
            </a:xfrm>
            <a:prstGeom prst="rect">
              <a:avLst/>
            </a:prstGeom>
            <a:pattFill prst="wdUpDiag">
              <a:fgClr>
                <a:schemeClr val="tx2"/>
              </a:fgClr>
              <a:bgClr>
                <a:schemeClr val="bg1"/>
              </a:bgClr>
            </a:patt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 name="Line 9"/>
            <p:cNvSpPr>
              <a:spLocks noChangeShapeType="1"/>
            </p:cNvSpPr>
            <p:nvPr/>
          </p:nvSpPr>
          <p:spPr bwMode="auto">
            <a:xfrm>
              <a:off x="4582" y="1423"/>
              <a:ext cx="0" cy="157"/>
            </a:xfrm>
            <a:prstGeom prst="line">
              <a:avLst/>
            </a:prstGeom>
            <a:noFill/>
            <a:ln w="381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6" name="Group 10"/>
          <p:cNvGrpSpPr>
            <a:grpSpLocks/>
          </p:cNvGrpSpPr>
          <p:nvPr/>
        </p:nvGrpSpPr>
        <p:grpSpPr bwMode="auto">
          <a:xfrm>
            <a:off x="9640923" y="5041620"/>
            <a:ext cx="123825" cy="249238"/>
            <a:chOff x="4582" y="1423"/>
            <a:chExt cx="78" cy="157"/>
          </a:xfrm>
        </p:grpSpPr>
        <p:sp>
          <p:nvSpPr>
            <p:cNvPr id="37" name="Rectangle 11" descr="宽上对角线"/>
            <p:cNvSpPr>
              <a:spLocks noChangeArrowheads="1"/>
            </p:cNvSpPr>
            <p:nvPr/>
          </p:nvSpPr>
          <p:spPr bwMode="auto">
            <a:xfrm>
              <a:off x="4599" y="1423"/>
              <a:ext cx="61" cy="157"/>
            </a:xfrm>
            <a:prstGeom prst="rect">
              <a:avLst/>
            </a:prstGeom>
            <a:pattFill prst="wdUpDiag">
              <a:fgClr>
                <a:schemeClr val="tx2"/>
              </a:fgClr>
              <a:bgClr>
                <a:schemeClr val="bg1"/>
              </a:bgClr>
            </a:patt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 name="Line 12"/>
            <p:cNvSpPr>
              <a:spLocks noChangeShapeType="1"/>
            </p:cNvSpPr>
            <p:nvPr/>
          </p:nvSpPr>
          <p:spPr bwMode="auto">
            <a:xfrm>
              <a:off x="4582" y="1423"/>
              <a:ext cx="0" cy="157"/>
            </a:xfrm>
            <a:prstGeom prst="line">
              <a:avLst/>
            </a:prstGeom>
            <a:noFill/>
            <a:ln w="381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9" name="Group 13"/>
          <p:cNvGrpSpPr>
            <a:grpSpLocks/>
          </p:cNvGrpSpPr>
          <p:nvPr/>
        </p:nvGrpSpPr>
        <p:grpSpPr bwMode="auto">
          <a:xfrm flipH="1">
            <a:off x="9361523" y="2144433"/>
            <a:ext cx="123825" cy="249237"/>
            <a:chOff x="4582" y="1423"/>
            <a:chExt cx="78" cy="157"/>
          </a:xfrm>
        </p:grpSpPr>
        <p:sp>
          <p:nvSpPr>
            <p:cNvPr id="40" name="Rectangle 14" descr="宽上对角线"/>
            <p:cNvSpPr>
              <a:spLocks noChangeArrowheads="1"/>
            </p:cNvSpPr>
            <p:nvPr/>
          </p:nvSpPr>
          <p:spPr bwMode="auto">
            <a:xfrm>
              <a:off x="4599" y="1423"/>
              <a:ext cx="61" cy="157"/>
            </a:xfrm>
            <a:prstGeom prst="rect">
              <a:avLst/>
            </a:prstGeom>
            <a:pattFill prst="wdUpDiag">
              <a:fgClr>
                <a:schemeClr val="tx2"/>
              </a:fgClr>
              <a:bgClr>
                <a:schemeClr val="bg1"/>
              </a:bgClr>
            </a:patt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 name="Line 15"/>
            <p:cNvSpPr>
              <a:spLocks noChangeShapeType="1"/>
            </p:cNvSpPr>
            <p:nvPr/>
          </p:nvSpPr>
          <p:spPr bwMode="auto">
            <a:xfrm>
              <a:off x="4582" y="1423"/>
              <a:ext cx="0" cy="157"/>
            </a:xfrm>
            <a:prstGeom prst="line">
              <a:avLst/>
            </a:prstGeom>
            <a:noFill/>
            <a:ln w="381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2" name="Group 16"/>
          <p:cNvGrpSpPr>
            <a:grpSpLocks/>
          </p:cNvGrpSpPr>
          <p:nvPr/>
        </p:nvGrpSpPr>
        <p:grpSpPr bwMode="auto">
          <a:xfrm flipH="1">
            <a:off x="9369461" y="5049558"/>
            <a:ext cx="123825" cy="249237"/>
            <a:chOff x="4582" y="1423"/>
            <a:chExt cx="78" cy="157"/>
          </a:xfrm>
        </p:grpSpPr>
        <p:sp>
          <p:nvSpPr>
            <p:cNvPr id="43" name="Rectangle 17" descr="宽上对角线"/>
            <p:cNvSpPr>
              <a:spLocks noChangeArrowheads="1"/>
            </p:cNvSpPr>
            <p:nvPr/>
          </p:nvSpPr>
          <p:spPr bwMode="auto">
            <a:xfrm>
              <a:off x="4599" y="1423"/>
              <a:ext cx="61" cy="157"/>
            </a:xfrm>
            <a:prstGeom prst="rect">
              <a:avLst/>
            </a:prstGeom>
            <a:pattFill prst="wdUpDiag">
              <a:fgClr>
                <a:schemeClr val="tx2"/>
              </a:fgClr>
              <a:bgClr>
                <a:schemeClr val="bg1"/>
              </a:bgClr>
            </a:patt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 name="Line 18"/>
            <p:cNvSpPr>
              <a:spLocks noChangeShapeType="1"/>
            </p:cNvSpPr>
            <p:nvPr/>
          </p:nvSpPr>
          <p:spPr bwMode="auto">
            <a:xfrm>
              <a:off x="4582" y="1423"/>
              <a:ext cx="0" cy="157"/>
            </a:xfrm>
            <a:prstGeom prst="line">
              <a:avLst/>
            </a:prstGeom>
            <a:noFill/>
            <a:ln w="381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46" name="Oval 20"/>
          <p:cNvSpPr>
            <a:spLocks noChangeArrowheads="1"/>
          </p:cNvSpPr>
          <p:nvPr/>
        </p:nvSpPr>
        <p:spPr bwMode="auto">
          <a:xfrm>
            <a:off x="8618573" y="3373158"/>
            <a:ext cx="1893888" cy="720725"/>
          </a:xfrm>
          <a:prstGeom prst="ellipse">
            <a:avLst/>
          </a:prstGeom>
          <a:noFill/>
          <a:ln w="9525">
            <a:solidFill>
              <a:schemeClr val="tx1"/>
            </a:solidFill>
            <a:prstDash val="lgDashDotDot"/>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 name="Text Box 21"/>
          <p:cNvSpPr txBox="1">
            <a:spLocks noChangeAspect="1" noChangeArrowheads="1"/>
          </p:cNvSpPr>
          <p:nvPr/>
        </p:nvSpPr>
        <p:spPr bwMode="auto">
          <a:xfrm>
            <a:off x="9185311" y="3347758"/>
            <a:ext cx="533400" cy="49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i="1">
                <a:solidFill>
                  <a:schemeClr val="tx1"/>
                </a:solidFill>
                <a:ea typeface="宋体" panose="02010600030101010101" pitchFamily="2" charset="-122"/>
              </a:rPr>
              <a:t>O</a:t>
            </a:r>
            <a:endParaRPr lang="en-US" altLang="zh-CN">
              <a:solidFill>
                <a:schemeClr val="tx1"/>
              </a:solidFill>
            </a:endParaRPr>
          </a:p>
        </p:txBody>
      </p:sp>
      <p:sp>
        <p:nvSpPr>
          <p:cNvPr id="48" name="Text Box 22"/>
          <p:cNvSpPr txBox="1">
            <a:spLocks noChangeAspect="1" noChangeArrowheads="1"/>
          </p:cNvSpPr>
          <p:nvPr/>
        </p:nvSpPr>
        <p:spPr bwMode="auto">
          <a:xfrm>
            <a:off x="9761573" y="3398558"/>
            <a:ext cx="404813" cy="373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b="0" i="1" dirty="0"/>
              <a:t>r</a:t>
            </a:r>
            <a:endParaRPr lang="en-US" altLang="zh-CN" b="0" baseline="-25000" dirty="0"/>
          </a:p>
        </p:txBody>
      </p:sp>
      <p:sp>
        <p:nvSpPr>
          <p:cNvPr id="49" name="Line 23"/>
          <p:cNvSpPr>
            <a:spLocks noChangeShapeType="1"/>
          </p:cNvSpPr>
          <p:nvPr/>
        </p:nvSpPr>
        <p:spPr bwMode="auto">
          <a:xfrm>
            <a:off x="9585361" y="3736695"/>
            <a:ext cx="495300" cy="3095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 name="Text Box 24"/>
          <p:cNvSpPr txBox="1">
            <a:spLocks noChangeAspect="1" noChangeArrowheads="1"/>
          </p:cNvSpPr>
          <p:nvPr/>
        </p:nvSpPr>
        <p:spPr bwMode="auto">
          <a:xfrm>
            <a:off x="9855236" y="3570008"/>
            <a:ext cx="533400" cy="49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b="0" i="0" dirty="0">
                <a:ea typeface="宋体" panose="02010600030101010101" pitchFamily="2" charset="-122"/>
                <a:sym typeface="Symbol" panose="05050102010706020507" pitchFamily="18" charset="2"/>
              </a:rPr>
              <a:t>d</a:t>
            </a:r>
            <a:r>
              <a:rPr lang="en-US" altLang="zh-CN" b="0" i="1" dirty="0">
                <a:sym typeface="Symbol" panose="05050102010706020507" pitchFamily="18" charset="2"/>
              </a:rPr>
              <a:t></a:t>
            </a:r>
            <a:endParaRPr lang="en-US" altLang="zh-CN" b="0" baseline="-25000" dirty="0">
              <a:sym typeface="Symbol" panose="05050102010706020507" pitchFamily="18" charset="2"/>
            </a:endParaRPr>
          </a:p>
        </p:txBody>
      </p:sp>
      <p:sp>
        <p:nvSpPr>
          <p:cNvPr id="51" name="Arc 25"/>
          <p:cNvSpPr>
            <a:spLocks noChangeAspect="1"/>
          </p:cNvSpPr>
          <p:nvPr/>
        </p:nvSpPr>
        <p:spPr bwMode="auto">
          <a:xfrm rot="662529" flipV="1">
            <a:off x="9245636" y="2350808"/>
            <a:ext cx="595312" cy="465137"/>
          </a:xfrm>
          <a:custGeom>
            <a:avLst/>
            <a:gdLst>
              <a:gd name="G0" fmla="+- 8450 0 0"/>
              <a:gd name="G1" fmla="+- 21600 0 0"/>
              <a:gd name="G2" fmla="+- 21600 0 0"/>
              <a:gd name="T0" fmla="*/ 0 w 27703"/>
              <a:gd name="T1" fmla="*/ 1722 h 21600"/>
              <a:gd name="T2" fmla="*/ 27703 w 27703"/>
              <a:gd name="T3" fmla="*/ 11808 h 21600"/>
              <a:gd name="T4" fmla="*/ 8450 w 27703"/>
              <a:gd name="T5" fmla="*/ 21600 h 21600"/>
            </a:gdLst>
            <a:ahLst/>
            <a:cxnLst>
              <a:cxn ang="0">
                <a:pos x="T0" y="T1"/>
              </a:cxn>
              <a:cxn ang="0">
                <a:pos x="T2" y="T3"/>
              </a:cxn>
              <a:cxn ang="0">
                <a:pos x="T4" y="T5"/>
              </a:cxn>
            </a:cxnLst>
            <a:rect l="0" t="0" r="r" b="b"/>
            <a:pathLst>
              <a:path w="27703" h="21600" fill="none" extrusionOk="0">
                <a:moveTo>
                  <a:pt x="-1" y="1721"/>
                </a:moveTo>
                <a:cubicBezTo>
                  <a:pt x="2672" y="585"/>
                  <a:pt x="5546" y="-1"/>
                  <a:pt x="8450" y="0"/>
                </a:cubicBezTo>
                <a:cubicBezTo>
                  <a:pt x="16578" y="0"/>
                  <a:pt x="24018" y="4563"/>
                  <a:pt x="27702" y="11808"/>
                </a:cubicBezTo>
              </a:path>
              <a:path w="27703" h="21600" stroke="0" extrusionOk="0">
                <a:moveTo>
                  <a:pt x="-1" y="1721"/>
                </a:moveTo>
                <a:cubicBezTo>
                  <a:pt x="2672" y="585"/>
                  <a:pt x="5546" y="-1"/>
                  <a:pt x="8450" y="0"/>
                </a:cubicBezTo>
                <a:cubicBezTo>
                  <a:pt x="16578" y="0"/>
                  <a:pt x="24018" y="4563"/>
                  <a:pt x="27702" y="11808"/>
                </a:cubicBezTo>
                <a:lnTo>
                  <a:pt x="8450" y="21600"/>
                </a:lnTo>
                <a:close/>
              </a:path>
            </a:pathLst>
          </a:custGeom>
          <a:noFill/>
          <a:ln w="28575">
            <a:solidFill>
              <a:schemeClr val="tx1"/>
            </a:solidFill>
            <a:round/>
            <a:headEnd/>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 name="Text Box 26"/>
          <p:cNvSpPr txBox="1">
            <a:spLocks noChangeAspect="1" noChangeArrowheads="1"/>
          </p:cNvSpPr>
          <p:nvPr/>
        </p:nvSpPr>
        <p:spPr bwMode="auto">
          <a:xfrm>
            <a:off x="9613936" y="2582583"/>
            <a:ext cx="533400" cy="49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b="0" i="1" dirty="0">
                <a:sym typeface="Symbol" panose="05050102010706020507" pitchFamily="18" charset="2"/>
              </a:rPr>
              <a:t></a:t>
            </a:r>
            <a:endParaRPr lang="en-US" altLang="zh-CN" b="0" dirty="0">
              <a:sym typeface="Symbol" panose="05050102010706020507" pitchFamily="18" charset="2"/>
            </a:endParaRPr>
          </a:p>
        </p:txBody>
      </p:sp>
      <p:sp>
        <p:nvSpPr>
          <p:cNvPr id="54" name="Text Box 27"/>
          <p:cNvSpPr txBox="1">
            <a:spLocks noChangeAspect="1" noChangeArrowheads="1"/>
          </p:cNvSpPr>
          <p:nvPr/>
        </p:nvSpPr>
        <p:spPr bwMode="auto">
          <a:xfrm>
            <a:off x="9983823" y="2188883"/>
            <a:ext cx="601663"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n-US" altLang="zh-CN" sz="2800" b="1" i="1" dirty="0" err="1">
                <a:solidFill>
                  <a:srgbClr val="FF00FF"/>
                </a:solidFill>
                <a:ea typeface="宋体" panose="02010600030101010101" pitchFamily="2" charset="-122"/>
              </a:rPr>
              <a:t>F</a:t>
            </a:r>
            <a:r>
              <a:rPr lang="en-US" altLang="zh-CN" sz="2800" b="0" i="1" baseline="-25000" dirty="0" err="1">
                <a:solidFill>
                  <a:srgbClr val="FF00FF"/>
                </a:solidFill>
                <a:ea typeface="宋体" panose="02010600030101010101" pitchFamily="2" charset="-122"/>
              </a:rPr>
              <a:t>z</a:t>
            </a:r>
            <a:endParaRPr lang="en-US" altLang="zh-CN" sz="2800" b="0" i="1" baseline="-25000" dirty="0">
              <a:solidFill>
                <a:srgbClr val="FF00FF"/>
              </a:solidFill>
              <a:ea typeface="宋体" panose="02010600030101010101" pitchFamily="2" charset="-122"/>
            </a:endParaRPr>
          </a:p>
        </p:txBody>
      </p:sp>
      <p:sp>
        <p:nvSpPr>
          <p:cNvPr id="55" name="Arc 28"/>
          <p:cNvSpPr>
            <a:spLocks/>
          </p:cNvSpPr>
          <p:nvPr/>
        </p:nvSpPr>
        <p:spPr bwMode="auto">
          <a:xfrm>
            <a:off x="9845711" y="3744633"/>
            <a:ext cx="60325" cy="158750"/>
          </a:xfrm>
          <a:custGeom>
            <a:avLst/>
            <a:gdLst>
              <a:gd name="G0" fmla="+- 2279 0 0"/>
              <a:gd name="G1" fmla="+- 21600 0 0"/>
              <a:gd name="G2" fmla="+- 21600 0 0"/>
              <a:gd name="T0" fmla="*/ 2279 w 23879"/>
              <a:gd name="T1" fmla="*/ 0 h 43200"/>
              <a:gd name="T2" fmla="*/ 0 w 23879"/>
              <a:gd name="T3" fmla="*/ 43079 h 43200"/>
              <a:gd name="T4" fmla="*/ 2279 w 23879"/>
              <a:gd name="T5" fmla="*/ 21600 h 43200"/>
            </a:gdLst>
            <a:ahLst/>
            <a:cxnLst>
              <a:cxn ang="0">
                <a:pos x="T0" y="T1"/>
              </a:cxn>
              <a:cxn ang="0">
                <a:pos x="T2" y="T3"/>
              </a:cxn>
              <a:cxn ang="0">
                <a:pos x="T4" y="T5"/>
              </a:cxn>
            </a:cxnLst>
            <a:rect l="0" t="0" r="r" b="b"/>
            <a:pathLst>
              <a:path w="23879" h="43200" fill="none" extrusionOk="0">
                <a:moveTo>
                  <a:pt x="2279" y="0"/>
                </a:moveTo>
                <a:cubicBezTo>
                  <a:pt x="14208" y="0"/>
                  <a:pt x="23879" y="9670"/>
                  <a:pt x="23879" y="21600"/>
                </a:cubicBezTo>
                <a:cubicBezTo>
                  <a:pt x="23879" y="33529"/>
                  <a:pt x="14208" y="43200"/>
                  <a:pt x="2279" y="43200"/>
                </a:cubicBezTo>
                <a:cubicBezTo>
                  <a:pt x="1517" y="43200"/>
                  <a:pt x="756" y="43159"/>
                  <a:pt x="-1" y="43079"/>
                </a:cubicBezTo>
              </a:path>
              <a:path w="23879" h="43200" stroke="0" extrusionOk="0">
                <a:moveTo>
                  <a:pt x="2279" y="0"/>
                </a:moveTo>
                <a:cubicBezTo>
                  <a:pt x="14208" y="0"/>
                  <a:pt x="23879" y="9670"/>
                  <a:pt x="23879" y="21600"/>
                </a:cubicBezTo>
                <a:cubicBezTo>
                  <a:pt x="23879" y="33529"/>
                  <a:pt x="14208" y="43200"/>
                  <a:pt x="2279" y="43200"/>
                </a:cubicBezTo>
                <a:cubicBezTo>
                  <a:pt x="1517" y="43200"/>
                  <a:pt x="756" y="43159"/>
                  <a:pt x="-1" y="43079"/>
                </a:cubicBezTo>
                <a:lnTo>
                  <a:pt x="2279" y="21600"/>
                </a:lnTo>
                <a:close/>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 name="Line 29"/>
          <p:cNvSpPr>
            <a:spLocks noChangeAspect="1" noChangeShapeType="1"/>
          </p:cNvSpPr>
          <p:nvPr/>
        </p:nvSpPr>
        <p:spPr bwMode="auto">
          <a:xfrm>
            <a:off x="8478873" y="3736695"/>
            <a:ext cx="2311400" cy="0"/>
          </a:xfrm>
          <a:prstGeom prst="line">
            <a:avLst/>
          </a:prstGeom>
          <a:noFill/>
          <a:ln w="9525">
            <a:solidFill>
              <a:schemeClr val="tx1"/>
            </a:solidFill>
            <a:prstDash val="lgDashDot"/>
            <a:round/>
            <a:headE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7" name="Oval 30"/>
          <p:cNvSpPr>
            <a:spLocks noChangeArrowheads="1"/>
          </p:cNvSpPr>
          <p:nvPr/>
        </p:nvSpPr>
        <p:spPr bwMode="auto">
          <a:xfrm>
            <a:off x="9523448" y="3692245"/>
            <a:ext cx="88900" cy="889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 name="Rectangle 31"/>
          <p:cNvSpPr>
            <a:spLocks noChangeArrowheads="1"/>
          </p:cNvSpPr>
          <p:nvPr/>
        </p:nvSpPr>
        <p:spPr bwMode="auto">
          <a:xfrm>
            <a:off x="10509286" y="2546070"/>
            <a:ext cx="836612" cy="1192213"/>
          </a:xfrm>
          <a:prstGeom prst="rect">
            <a:avLst/>
          </a:prstGeom>
          <a:noFill/>
          <a:ln w="9525">
            <a:solidFill>
              <a:schemeClr val="bg1"/>
            </a:solidFill>
            <a:miter lim="800000"/>
            <a:headEnd/>
            <a:tailEnd/>
          </a:ln>
          <a:effectLst/>
          <a:scene3d>
            <a:camera prst="legacyObliqueTopRight"/>
            <a:lightRig rig="legacyFlat3" dir="b"/>
          </a:scene3d>
          <a:sp3d extrusionH="887400" prstMaterial="legacyWireframe">
            <a:bevelT w="13500" h="13500" prst="angle"/>
            <a:bevelB w="13500" h="13500" prst="angle"/>
            <a:extrusionClr>
              <a:schemeClr val="bg1"/>
            </a:extrusionClr>
            <a:contourClr>
              <a:schemeClr val="bg1"/>
            </a:contourClr>
          </a:sp3d>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endParaRPr lang="zh-CN" altLang="en-US"/>
          </a:p>
        </p:txBody>
      </p:sp>
      <p:sp>
        <p:nvSpPr>
          <p:cNvPr id="59" name="Line 32"/>
          <p:cNvSpPr>
            <a:spLocks noChangeAspect="1" noChangeShapeType="1"/>
          </p:cNvSpPr>
          <p:nvPr/>
        </p:nvSpPr>
        <p:spPr bwMode="auto">
          <a:xfrm flipV="1">
            <a:off x="10504523" y="2550833"/>
            <a:ext cx="0" cy="1165225"/>
          </a:xfrm>
          <a:prstGeom prst="line">
            <a:avLst/>
          </a:prstGeom>
          <a:noFill/>
          <a:ln w="28575">
            <a:solidFill>
              <a:srgbClr val="FF00FF"/>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0" name="Line 33"/>
          <p:cNvSpPr>
            <a:spLocks noChangeAspect="1" noChangeShapeType="1"/>
          </p:cNvSpPr>
          <p:nvPr/>
        </p:nvSpPr>
        <p:spPr bwMode="auto">
          <a:xfrm>
            <a:off x="10539448" y="3736695"/>
            <a:ext cx="803275" cy="0"/>
          </a:xfrm>
          <a:prstGeom prst="line">
            <a:avLst/>
          </a:prstGeom>
          <a:noFill/>
          <a:ln w="28575">
            <a:solidFill>
              <a:srgbClr val="FF00FF"/>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1" name="Line 34"/>
          <p:cNvSpPr>
            <a:spLocks noChangeAspect="1" noChangeShapeType="1"/>
          </p:cNvSpPr>
          <p:nvPr/>
        </p:nvSpPr>
        <p:spPr bwMode="auto">
          <a:xfrm rot="120000" flipV="1">
            <a:off x="10507698" y="3396970"/>
            <a:ext cx="320675" cy="333375"/>
          </a:xfrm>
          <a:prstGeom prst="line">
            <a:avLst/>
          </a:prstGeom>
          <a:noFill/>
          <a:ln w="28575">
            <a:solidFill>
              <a:srgbClr val="FF00FF"/>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2" name="Line 35"/>
          <p:cNvSpPr>
            <a:spLocks noChangeShapeType="1"/>
          </p:cNvSpPr>
          <p:nvPr/>
        </p:nvSpPr>
        <p:spPr bwMode="auto">
          <a:xfrm rot="5400000" flipH="1" flipV="1">
            <a:off x="10316404" y="2416689"/>
            <a:ext cx="1520825" cy="1144588"/>
          </a:xfrm>
          <a:prstGeom prst="line">
            <a:avLst/>
          </a:prstGeom>
          <a:noFill/>
          <a:ln w="28575">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3" name="Oval 36"/>
          <p:cNvSpPr>
            <a:spLocks noChangeArrowheads="1"/>
          </p:cNvSpPr>
          <p:nvPr/>
        </p:nvSpPr>
        <p:spPr bwMode="auto">
          <a:xfrm>
            <a:off x="10463248" y="3690658"/>
            <a:ext cx="88900" cy="88900"/>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 name="Text Box 37"/>
          <p:cNvSpPr txBox="1">
            <a:spLocks noChangeAspect="1" noChangeArrowheads="1"/>
          </p:cNvSpPr>
          <p:nvPr/>
        </p:nvSpPr>
        <p:spPr bwMode="auto">
          <a:xfrm>
            <a:off x="10879173" y="3630333"/>
            <a:ext cx="601663"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n-US" altLang="zh-CN" sz="2800" b="1" i="1" dirty="0">
                <a:solidFill>
                  <a:srgbClr val="FF00FF"/>
                </a:solidFill>
                <a:ea typeface="宋体" panose="02010600030101010101" pitchFamily="2" charset="-122"/>
              </a:rPr>
              <a:t>F</a:t>
            </a:r>
            <a:r>
              <a:rPr lang="en-US" altLang="zh-CN" sz="2800" b="0" i="0" baseline="-25000" dirty="0">
                <a:solidFill>
                  <a:srgbClr val="FF00FF"/>
                </a:solidFill>
                <a:ea typeface="宋体" panose="02010600030101010101" pitchFamily="2" charset="-122"/>
              </a:rPr>
              <a:t>r</a:t>
            </a:r>
          </a:p>
        </p:txBody>
      </p:sp>
      <p:sp>
        <p:nvSpPr>
          <p:cNvPr id="65" name="Text Box 38"/>
          <p:cNvSpPr txBox="1">
            <a:spLocks noChangeAspect="1" noChangeArrowheads="1"/>
          </p:cNvSpPr>
          <p:nvPr/>
        </p:nvSpPr>
        <p:spPr bwMode="auto">
          <a:xfrm>
            <a:off x="10701373" y="3154083"/>
            <a:ext cx="601663"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n-US" altLang="zh-CN" sz="2800" b="1" i="1" dirty="0">
                <a:solidFill>
                  <a:srgbClr val="FF00FF"/>
                </a:solidFill>
                <a:ea typeface="宋体" panose="02010600030101010101" pitchFamily="2" charset="-122"/>
              </a:rPr>
              <a:t>F</a:t>
            </a:r>
            <a:r>
              <a:rPr lang="en-US" altLang="zh-CN" sz="2800" b="0" i="0" baseline="-25000" dirty="0">
                <a:solidFill>
                  <a:srgbClr val="FF00FF"/>
                </a:solidFill>
                <a:ea typeface="宋体" panose="02010600030101010101" pitchFamily="2" charset="-122"/>
                <a:sym typeface="Symbol" panose="05050102010706020507" pitchFamily="18" charset="2"/>
              </a:rPr>
              <a:t></a:t>
            </a:r>
          </a:p>
        </p:txBody>
      </p:sp>
      <p:sp>
        <p:nvSpPr>
          <p:cNvPr id="66" name="Text Box 39"/>
          <p:cNvSpPr txBox="1">
            <a:spLocks noChangeAspect="1" noChangeArrowheads="1"/>
          </p:cNvSpPr>
          <p:nvPr/>
        </p:nvSpPr>
        <p:spPr bwMode="auto">
          <a:xfrm>
            <a:off x="11520523" y="1714551"/>
            <a:ext cx="601663"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n-US" altLang="zh-CN" sz="2800" b="1" i="1" dirty="0">
                <a:solidFill>
                  <a:srgbClr val="FF0000"/>
                </a:solidFill>
                <a:ea typeface="宋体" panose="02010600030101010101" pitchFamily="2" charset="-122"/>
              </a:rPr>
              <a:t>F</a:t>
            </a:r>
            <a:endParaRPr lang="en-US" altLang="zh-CN" sz="2800" baseline="-25000" dirty="0">
              <a:solidFill>
                <a:srgbClr val="FF0000"/>
              </a:solidFill>
              <a:ea typeface="宋体" panose="02010600030101010101" pitchFamily="2" charset="-122"/>
            </a:endParaRPr>
          </a:p>
        </p:txBody>
      </p:sp>
      <p:sp>
        <p:nvSpPr>
          <p:cNvPr id="67" name="Text Box 40"/>
          <p:cNvSpPr txBox="1">
            <a:spLocks noChangeAspect="1" noChangeArrowheads="1"/>
          </p:cNvSpPr>
          <p:nvPr/>
        </p:nvSpPr>
        <p:spPr bwMode="auto">
          <a:xfrm>
            <a:off x="10167973" y="3855758"/>
            <a:ext cx="533400" cy="49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b="0" i="0" dirty="0">
                <a:ea typeface="宋体" panose="02010600030101010101" pitchFamily="2" charset="-122"/>
                <a:sym typeface="Symbol" panose="05050102010706020507" pitchFamily="18" charset="2"/>
              </a:rPr>
              <a:t>d</a:t>
            </a:r>
            <a:r>
              <a:rPr lang="en-US" altLang="zh-CN" b="0" dirty="0">
                <a:sym typeface="Symbol" panose="05050102010706020507" pitchFamily="18" charset="2"/>
              </a:rPr>
              <a:t>s</a:t>
            </a:r>
            <a:endParaRPr lang="en-US" altLang="zh-CN" b="0" baseline="-25000" dirty="0">
              <a:sym typeface="Symbol" panose="05050102010706020507" pitchFamily="18" charset="2"/>
            </a:endParaRPr>
          </a:p>
        </p:txBody>
      </p:sp>
      <p:sp>
        <p:nvSpPr>
          <p:cNvPr id="68" name="Arc 41"/>
          <p:cNvSpPr>
            <a:spLocks/>
          </p:cNvSpPr>
          <p:nvPr/>
        </p:nvSpPr>
        <p:spPr bwMode="auto">
          <a:xfrm rot="10573663" flipH="1">
            <a:off x="10077486" y="3736695"/>
            <a:ext cx="422275" cy="277813"/>
          </a:xfrm>
          <a:custGeom>
            <a:avLst/>
            <a:gdLst>
              <a:gd name="G0" fmla="+- 0 0 0"/>
              <a:gd name="G1" fmla="+- 21600 0 0"/>
              <a:gd name="G2" fmla="+- 21600 0 0"/>
              <a:gd name="T0" fmla="*/ 0 w 21259"/>
              <a:gd name="T1" fmla="*/ 0 h 21600"/>
              <a:gd name="T2" fmla="*/ 21259 w 21259"/>
              <a:gd name="T3" fmla="*/ 17777 h 21600"/>
              <a:gd name="T4" fmla="*/ 0 w 21259"/>
              <a:gd name="T5" fmla="*/ 21600 h 21600"/>
            </a:gdLst>
            <a:ahLst/>
            <a:cxnLst>
              <a:cxn ang="0">
                <a:pos x="T0" y="T1"/>
              </a:cxn>
              <a:cxn ang="0">
                <a:pos x="T2" y="T3"/>
              </a:cxn>
              <a:cxn ang="0">
                <a:pos x="T4" y="T5"/>
              </a:cxn>
            </a:cxnLst>
            <a:rect l="0" t="0" r="r" b="b"/>
            <a:pathLst>
              <a:path w="21259" h="21600" fill="none" extrusionOk="0">
                <a:moveTo>
                  <a:pt x="0" y="0"/>
                </a:moveTo>
                <a:cubicBezTo>
                  <a:pt x="10454" y="0"/>
                  <a:pt x="19408" y="7487"/>
                  <a:pt x="21258" y="17777"/>
                </a:cubicBezTo>
              </a:path>
              <a:path w="21259" h="21600" stroke="0" extrusionOk="0">
                <a:moveTo>
                  <a:pt x="0" y="0"/>
                </a:moveTo>
                <a:cubicBezTo>
                  <a:pt x="10454" y="0"/>
                  <a:pt x="19408" y="7487"/>
                  <a:pt x="21258" y="17777"/>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 name="Text Box 1032"/>
          <p:cNvSpPr txBox="1">
            <a:spLocks noChangeArrowheads="1"/>
          </p:cNvSpPr>
          <p:nvPr/>
        </p:nvSpPr>
        <p:spPr bwMode="auto">
          <a:xfrm>
            <a:off x="816015" y="3675579"/>
            <a:ext cx="7032413" cy="1718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lnSpc>
                <a:spcPct val="130000"/>
              </a:lnSpc>
            </a:pPr>
            <a:r>
              <a:rPr lang="zh-CN" altLang="en-US" sz="2800" i="0" dirty="0">
                <a:latin typeface="微软雅黑" panose="020B0503020204020204" pitchFamily="34" charset="-122"/>
                <a:ea typeface="微软雅黑" panose="020B0503020204020204" pitchFamily="34" charset="-122"/>
              </a:rPr>
              <a:t>作用于定轴转动刚体上常力矩的功，等于力矩与转角大小的乘积。当力矩与转角转向一致时，功取正值；相反时，功取负值。</a:t>
            </a:r>
          </a:p>
        </p:txBody>
      </p:sp>
      <p:graphicFrame>
        <p:nvGraphicFramePr>
          <p:cNvPr id="69" name="Object 2"/>
          <p:cNvGraphicFramePr>
            <a:graphicFrameLocks noChangeAspect="1"/>
          </p:cNvGraphicFramePr>
          <p:nvPr>
            <p:extLst>
              <p:ext uri="{D42A27DB-BD31-4B8C-83A1-F6EECF244321}">
                <p14:modId xmlns:p14="http://schemas.microsoft.com/office/powerpoint/2010/main" val="1376470299"/>
              </p:ext>
            </p:extLst>
          </p:nvPr>
        </p:nvGraphicFramePr>
        <p:xfrm>
          <a:off x="1903413" y="1617663"/>
          <a:ext cx="2444750" cy="922337"/>
        </p:xfrm>
        <a:graphic>
          <a:graphicData uri="http://schemas.openxmlformats.org/presentationml/2006/ole">
            <mc:AlternateContent xmlns:mc="http://schemas.openxmlformats.org/markup-compatibility/2006">
              <mc:Choice xmlns:v="urn:schemas-microsoft-com:vml" Requires="v">
                <p:oleObj spid="_x0000_s19484" name="Equation" r:id="rId4" imgW="965160" imgH="355320" progId="Equation.DSMT4">
                  <p:embed/>
                </p:oleObj>
              </mc:Choice>
              <mc:Fallback>
                <p:oleObj name="Equation" r:id="rId4" imgW="965160" imgH="355320" progId="Equation.DSMT4">
                  <p:embed/>
                  <p:pic>
                    <p:nvPicPr>
                      <p:cNvPr id="0" name=""/>
                      <p:cNvPicPr>
                        <a:picLocks noChangeAspect="1" noChangeArrowheads="1"/>
                      </p:cNvPicPr>
                      <p:nvPr/>
                    </p:nvPicPr>
                    <p:blipFill>
                      <a:blip r:embed="rId5"/>
                      <a:srcRect/>
                      <a:stretch>
                        <a:fillRect/>
                      </a:stretch>
                    </p:blipFill>
                    <p:spPr bwMode="auto">
                      <a:xfrm>
                        <a:off x="1903413" y="1617663"/>
                        <a:ext cx="2444750" cy="9223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0" name="Text Box 1032"/>
          <p:cNvSpPr txBox="1">
            <a:spLocks noChangeArrowheads="1"/>
          </p:cNvSpPr>
          <p:nvPr/>
        </p:nvSpPr>
        <p:spPr bwMode="auto">
          <a:xfrm>
            <a:off x="816015" y="2393670"/>
            <a:ext cx="7032413" cy="597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lnSpc>
                <a:spcPct val="130000"/>
              </a:lnSpc>
            </a:pPr>
            <a:r>
              <a:rPr lang="zh-CN" altLang="en-US" sz="2800" i="0" dirty="0">
                <a:latin typeface="+mn-lt"/>
                <a:ea typeface="微软雅黑" panose="020B0503020204020204" pitchFamily="34" charset="-122"/>
              </a:rPr>
              <a:t>若力矩</a:t>
            </a:r>
            <a:r>
              <a:rPr lang="en-US" altLang="zh-CN" sz="2800" b="0" dirty="0" err="1"/>
              <a:t>M</a:t>
            </a:r>
            <a:r>
              <a:rPr lang="en-US" altLang="zh-CN" sz="2800" b="0" baseline="-25000" dirty="0" err="1"/>
              <a:t>z</a:t>
            </a:r>
            <a:r>
              <a:rPr lang="zh-CN" altLang="en-US" sz="2800" i="0" dirty="0">
                <a:latin typeface="+mn-lt"/>
                <a:ea typeface="微软雅黑" panose="020B0503020204020204" pitchFamily="34" charset="-122"/>
              </a:rPr>
              <a:t>为常量时，有</a:t>
            </a:r>
            <a:endParaRPr lang="zh-CN" altLang="en-US" sz="2800" i="0" dirty="0">
              <a:ea typeface="微软雅黑" panose="020B0503020204020204" pitchFamily="34" charset="-122"/>
            </a:endParaRPr>
          </a:p>
        </p:txBody>
      </p:sp>
      <p:graphicFrame>
        <p:nvGraphicFramePr>
          <p:cNvPr id="72" name="Object 2"/>
          <p:cNvGraphicFramePr>
            <a:graphicFrameLocks noChangeAspect="1"/>
          </p:cNvGraphicFramePr>
          <p:nvPr>
            <p:extLst>
              <p:ext uri="{D42A27DB-BD31-4B8C-83A1-F6EECF244321}">
                <p14:modId xmlns:p14="http://schemas.microsoft.com/office/powerpoint/2010/main" val="2888479425"/>
              </p:ext>
            </p:extLst>
          </p:nvPr>
        </p:nvGraphicFramePr>
        <p:xfrm>
          <a:off x="1877841" y="3119438"/>
          <a:ext cx="3990975" cy="593725"/>
        </p:xfrm>
        <a:graphic>
          <a:graphicData uri="http://schemas.openxmlformats.org/presentationml/2006/ole">
            <mc:AlternateContent xmlns:mc="http://schemas.openxmlformats.org/markup-compatibility/2006">
              <mc:Choice xmlns:v="urn:schemas-microsoft-com:vml" Requires="v">
                <p:oleObj spid="_x0000_s19485" name="Equation" r:id="rId6" imgW="1574640" imgH="228600" progId="Equation.DSMT4">
                  <p:embed/>
                </p:oleObj>
              </mc:Choice>
              <mc:Fallback>
                <p:oleObj name="Equation" r:id="rId6" imgW="1574640" imgH="228600" progId="Equation.DSMT4">
                  <p:embed/>
                  <p:pic>
                    <p:nvPicPr>
                      <p:cNvPr id="0" name=""/>
                      <p:cNvPicPr>
                        <a:picLocks noChangeAspect="1" noChangeArrowheads="1"/>
                      </p:cNvPicPr>
                      <p:nvPr/>
                    </p:nvPicPr>
                    <p:blipFill>
                      <a:blip r:embed="rId7"/>
                      <a:srcRect/>
                      <a:stretch>
                        <a:fillRect/>
                      </a:stretch>
                    </p:blipFill>
                    <p:spPr bwMode="auto">
                      <a:xfrm>
                        <a:off x="1877841" y="3119438"/>
                        <a:ext cx="3990975" cy="593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319189086"/>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 grpId="0" autoUpdateAnimBg="0"/>
      <p:bldP spid="71" grpId="0"/>
      <p:bldP spid="70"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4653838"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第七章   动力学普遍定理</a:t>
            </a:r>
          </a:p>
        </p:txBody>
      </p:sp>
      <p:sp>
        <p:nvSpPr>
          <p:cNvPr id="52" name="Text Box 1032"/>
          <p:cNvSpPr txBox="1">
            <a:spLocks noChangeArrowheads="1"/>
          </p:cNvSpPr>
          <p:nvPr/>
        </p:nvSpPr>
        <p:spPr bwMode="auto">
          <a:xfrm>
            <a:off x="570416" y="799357"/>
            <a:ext cx="9414016" cy="609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20000"/>
              </a:lnSpc>
            </a:pPr>
            <a:r>
              <a:rPr lang="zh-CN" altLang="en-US" sz="2800" i="0" dirty="0">
                <a:solidFill>
                  <a:srgbClr val="FF00FF"/>
                </a:solidFill>
                <a:latin typeface="+mn-lt"/>
                <a:ea typeface="微软雅黑" panose="020B0503020204020204" pitchFamily="34" charset="-122"/>
              </a:rPr>
              <a:t>（</a:t>
            </a:r>
            <a:r>
              <a:rPr lang="en-US" altLang="zh-CN" sz="2800" i="0" dirty="0">
                <a:solidFill>
                  <a:srgbClr val="FF00FF"/>
                </a:solidFill>
                <a:latin typeface="+mn-lt"/>
                <a:ea typeface="微软雅黑" panose="020B0503020204020204" pitchFamily="34" charset="-122"/>
              </a:rPr>
              <a:t>5</a:t>
            </a:r>
            <a:r>
              <a:rPr lang="zh-CN" altLang="en-US" sz="2800" i="0" dirty="0">
                <a:solidFill>
                  <a:srgbClr val="FF00FF"/>
                </a:solidFill>
                <a:latin typeface="+mn-lt"/>
                <a:ea typeface="微软雅黑" panose="020B0503020204020204" pitchFamily="34" charset="-122"/>
              </a:rPr>
              <a:t>）内力的功</a:t>
            </a:r>
          </a:p>
        </p:txBody>
      </p:sp>
      <p:sp>
        <p:nvSpPr>
          <p:cNvPr id="122" name="Text Box 1032"/>
          <p:cNvSpPr txBox="1">
            <a:spLocks noChangeArrowheads="1"/>
          </p:cNvSpPr>
          <p:nvPr/>
        </p:nvSpPr>
        <p:spPr bwMode="auto">
          <a:xfrm>
            <a:off x="816014" y="1408755"/>
            <a:ext cx="10608578" cy="23329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lnSpc>
                <a:spcPct val="130000"/>
              </a:lnSpc>
            </a:pPr>
            <a:r>
              <a:rPr lang="zh-CN" altLang="en-US" sz="2800" i="0" dirty="0">
                <a:latin typeface="+mn-lt"/>
                <a:ea typeface="微软雅黑" panose="020B0503020204020204" pitchFamily="34" charset="-122"/>
              </a:rPr>
              <a:t>质点系中两质点间的距离不一定保持不变，因此其内力功的总和一般不一定为零。例如汽车的汽缸，由于缸体与活塞的位移不一，因此，缸内</a:t>
            </a:r>
            <a:r>
              <a:rPr lang="zh-CN" altLang="en-US" sz="2800" i="0" dirty="0" smtClean="0">
                <a:latin typeface="+mn-lt"/>
                <a:ea typeface="微软雅黑" panose="020B0503020204020204" pitchFamily="34" charset="-122"/>
              </a:rPr>
              <a:t>燃</a:t>
            </a:r>
            <a:r>
              <a:rPr lang="zh-CN" altLang="en-US" sz="2800" i="0" dirty="0">
                <a:latin typeface="+mn-lt"/>
                <a:ea typeface="微软雅黑" panose="020B0503020204020204" pitchFamily="34" charset="-122"/>
              </a:rPr>
              <a:t>气</a:t>
            </a:r>
            <a:r>
              <a:rPr lang="zh-CN" altLang="en-US" sz="2800" i="0" dirty="0" smtClean="0">
                <a:latin typeface="+mn-lt"/>
                <a:ea typeface="微软雅黑" panose="020B0503020204020204" pitchFamily="34" charset="-122"/>
              </a:rPr>
              <a:t>压力</a:t>
            </a:r>
            <a:r>
              <a:rPr lang="zh-CN" altLang="en-US" sz="2800" i="0" dirty="0">
                <a:latin typeface="+mn-lt"/>
                <a:ea typeface="微软雅黑" panose="020B0503020204020204" pitchFamily="34" charset="-122"/>
              </a:rPr>
              <a:t>是作功的。但对于刚体，由速度投影定理可知， </a:t>
            </a:r>
            <a:r>
              <a:rPr lang="en-US" altLang="zh-CN" sz="2800" b="0" dirty="0" err="1">
                <a:latin typeface="+mn-lt"/>
                <a:ea typeface="微软雅黑" panose="020B0503020204020204" pitchFamily="34" charset="-122"/>
              </a:rPr>
              <a:t>v</a:t>
            </a:r>
            <a:r>
              <a:rPr lang="en-US" altLang="zh-CN" sz="2800" b="0" baseline="-25000" dirty="0" err="1">
                <a:latin typeface="+mn-lt"/>
                <a:ea typeface="微软雅黑" panose="020B0503020204020204" pitchFamily="34" charset="-122"/>
              </a:rPr>
              <a:t>A</a:t>
            </a:r>
            <a:r>
              <a:rPr lang="en-US" altLang="zh-CN" sz="2800" b="0" i="0" dirty="0" err="1">
                <a:latin typeface="+mn-lt"/>
                <a:ea typeface="微软雅黑" panose="020B0503020204020204" pitchFamily="34" charset="-122"/>
              </a:rPr>
              <a:t>cos</a:t>
            </a:r>
            <a:r>
              <a:rPr lang="en-US" altLang="zh-CN" sz="2800" b="0" dirty="0" err="1">
                <a:latin typeface="+mn-lt"/>
                <a:ea typeface="微软雅黑" panose="020B0503020204020204" pitchFamily="34" charset="-122"/>
                <a:sym typeface="Symbol" panose="05050102010706020507" pitchFamily="18" charset="2"/>
              </a:rPr>
              <a:t></a:t>
            </a:r>
            <a:r>
              <a:rPr lang="en-US" altLang="zh-CN" sz="2800" b="0" baseline="-25000" dirty="0" err="1">
                <a:latin typeface="+mn-lt"/>
                <a:ea typeface="微软雅黑" panose="020B0503020204020204" pitchFamily="34" charset="-122"/>
              </a:rPr>
              <a:t>A</a:t>
            </a:r>
            <a:r>
              <a:rPr lang="en-US" altLang="zh-CN" sz="2800" b="0" i="0" dirty="0" err="1">
                <a:latin typeface="+mn-lt"/>
                <a:ea typeface="微软雅黑" panose="020B0503020204020204" pitchFamily="34" charset="-122"/>
              </a:rPr>
              <a:t>-</a:t>
            </a:r>
            <a:r>
              <a:rPr lang="en-US" altLang="zh-CN" sz="2800" b="0" dirty="0" err="1">
                <a:latin typeface="+mn-lt"/>
                <a:ea typeface="微软雅黑" panose="020B0503020204020204" pitchFamily="34" charset="-122"/>
              </a:rPr>
              <a:t>v</a:t>
            </a:r>
            <a:r>
              <a:rPr lang="en-US" altLang="zh-CN" sz="2800" b="0" baseline="-25000" dirty="0" err="1">
                <a:latin typeface="+mn-lt"/>
                <a:ea typeface="微软雅黑" panose="020B0503020204020204" pitchFamily="34" charset="-122"/>
              </a:rPr>
              <a:t>B</a:t>
            </a:r>
            <a:r>
              <a:rPr lang="en-US" altLang="zh-CN" sz="2800" b="0" i="0" dirty="0" err="1">
                <a:latin typeface="+mn-lt"/>
                <a:ea typeface="微软雅黑" panose="020B0503020204020204" pitchFamily="34" charset="-122"/>
              </a:rPr>
              <a:t>cos</a:t>
            </a:r>
            <a:r>
              <a:rPr lang="en-US" altLang="zh-CN" sz="2800" b="0" dirty="0" err="1">
                <a:latin typeface="+mn-lt"/>
                <a:ea typeface="微软雅黑" panose="020B0503020204020204" pitchFamily="34" charset="-122"/>
                <a:sym typeface="Symbol" panose="05050102010706020507" pitchFamily="18" charset="2"/>
              </a:rPr>
              <a:t></a:t>
            </a:r>
            <a:r>
              <a:rPr lang="en-US" altLang="zh-CN" sz="2800" b="0" baseline="-25000" dirty="0" err="1">
                <a:latin typeface="+mn-lt"/>
                <a:ea typeface="微软雅黑" panose="020B0503020204020204" pitchFamily="34" charset="-122"/>
              </a:rPr>
              <a:t>B</a:t>
            </a:r>
            <a:r>
              <a:rPr lang="zh-CN" altLang="en-US" sz="2800" b="0" i="0" dirty="0">
                <a:latin typeface="+mn-lt"/>
                <a:ea typeface="微软雅黑" panose="020B0503020204020204" pitchFamily="34" charset="-122"/>
              </a:rPr>
              <a:t>＝</a:t>
            </a:r>
            <a:r>
              <a:rPr lang="en-US" altLang="zh-CN" sz="2800" b="0" i="0" dirty="0">
                <a:latin typeface="+mn-lt"/>
                <a:ea typeface="微软雅黑" panose="020B0503020204020204" pitchFamily="34" charset="-122"/>
              </a:rPr>
              <a:t>0</a:t>
            </a:r>
            <a:r>
              <a:rPr lang="zh-CN" altLang="en-US" sz="2800" i="0" dirty="0">
                <a:latin typeface="+mn-lt"/>
                <a:ea typeface="微软雅黑" panose="020B0503020204020204" pitchFamily="34" charset="-122"/>
              </a:rPr>
              <a:t>，因此</a:t>
            </a:r>
            <a:r>
              <a:rPr lang="zh-CN" altLang="en-US" sz="2800" b="0" dirty="0">
                <a:latin typeface="+mn-lt"/>
                <a:ea typeface="微软雅黑" panose="020B0503020204020204" pitchFamily="34" charset="-122"/>
                <a:sym typeface="Symbol" panose="05050102010706020507" pitchFamily="18" charset="2"/>
              </a:rPr>
              <a:t></a:t>
            </a:r>
            <a:r>
              <a:rPr lang="en-US" altLang="zh-CN" sz="2800" b="0" dirty="0">
                <a:latin typeface="+mn-lt"/>
                <a:ea typeface="微软雅黑" panose="020B0503020204020204" pitchFamily="34" charset="-122"/>
              </a:rPr>
              <a:t>W</a:t>
            </a:r>
            <a:r>
              <a:rPr lang="zh-CN" altLang="en-US" sz="2800" b="0" i="0" dirty="0">
                <a:latin typeface="+mn-lt"/>
                <a:ea typeface="微软雅黑" panose="020B0503020204020204" pitchFamily="34" charset="-122"/>
              </a:rPr>
              <a:t>＝</a:t>
            </a:r>
            <a:r>
              <a:rPr lang="en-US" altLang="zh-CN" sz="2800" b="0" i="0" dirty="0">
                <a:latin typeface="+mn-lt"/>
                <a:ea typeface="微软雅黑" panose="020B0503020204020204" pitchFamily="34" charset="-122"/>
              </a:rPr>
              <a:t>0</a:t>
            </a:r>
            <a:r>
              <a:rPr lang="zh-CN" altLang="en-US" sz="2800" i="0" dirty="0">
                <a:latin typeface="+mn-lt"/>
                <a:ea typeface="微软雅黑" panose="020B0503020204020204" pitchFamily="34" charset="-122"/>
              </a:rPr>
              <a:t>，即刚体内力的功之和等于零。</a:t>
            </a:r>
            <a:endParaRPr lang="zh-CN" altLang="en-US" sz="2800" i="0" dirty="0">
              <a:ea typeface="微软雅黑" panose="020B0503020204020204" pitchFamily="34" charset="-122"/>
            </a:endParaRPr>
          </a:p>
        </p:txBody>
      </p:sp>
    </p:spTree>
    <p:extLst>
      <p:ext uri="{BB962C8B-B14F-4D97-AF65-F5344CB8AC3E}">
        <p14:creationId xmlns:p14="http://schemas.microsoft.com/office/powerpoint/2010/main" val="1126456792"/>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utoUpdateAnimBg="0"/>
      <p:bldP spid="122" grpId="0"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4653838"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第七章   动力学普遍定理</a:t>
            </a:r>
          </a:p>
        </p:txBody>
      </p:sp>
      <p:sp>
        <p:nvSpPr>
          <p:cNvPr id="52" name="Text Box 1032"/>
          <p:cNvSpPr txBox="1">
            <a:spLocks noChangeArrowheads="1"/>
          </p:cNvSpPr>
          <p:nvPr/>
        </p:nvSpPr>
        <p:spPr bwMode="auto">
          <a:xfrm>
            <a:off x="570416" y="799357"/>
            <a:ext cx="9414016" cy="609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20000"/>
              </a:lnSpc>
            </a:pPr>
            <a:r>
              <a:rPr lang="zh-CN" altLang="en-US" sz="2800" i="0" dirty="0">
                <a:solidFill>
                  <a:srgbClr val="FF00FF"/>
                </a:solidFill>
                <a:latin typeface="+mn-lt"/>
                <a:ea typeface="微软雅黑" panose="020B0503020204020204" pitchFamily="34" charset="-122"/>
              </a:rPr>
              <a:t>（</a:t>
            </a:r>
            <a:r>
              <a:rPr lang="en-US" altLang="zh-CN" sz="2800" i="0" dirty="0">
                <a:solidFill>
                  <a:srgbClr val="FF00FF"/>
                </a:solidFill>
                <a:latin typeface="+mn-lt"/>
                <a:ea typeface="微软雅黑" panose="020B0503020204020204" pitchFamily="34" charset="-122"/>
              </a:rPr>
              <a:t>6</a:t>
            </a:r>
            <a:r>
              <a:rPr lang="zh-CN" altLang="en-US" sz="2800" i="0" dirty="0">
                <a:solidFill>
                  <a:srgbClr val="FF00FF"/>
                </a:solidFill>
                <a:latin typeface="+mn-lt"/>
                <a:ea typeface="微软雅黑" panose="020B0503020204020204" pitchFamily="34" charset="-122"/>
              </a:rPr>
              <a:t>）理想约束其约束反力的功为零 </a:t>
            </a:r>
          </a:p>
        </p:txBody>
      </p:sp>
      <p:sp>
        <p:nvSpPr>
          <p:cNvPr id="122" name="Text Box 1032"/>
          <p:cNvSpPr txBox="1">
            <a:spLocks noChangeArrowheads="1"/>
          </p:cNvSpPr>
          <p:nvPr/>
        </p:nvSpPr>
        <p:spPr bwMode="auto">
          <a:xfrm>
            <a:off x="816014" y="1408755"/>
            <a:ext cx="10608578" cy="22770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lnSpc>
                <a:spcPct val="130000"/>
              </a:lnSpc>
            </a:pPr>
            <a:r>
              <a:rPr lang="zh-CN" altLang="zh-CN" sz="2800" i="0" dirty="0">
                <a:latin typeface="+mn-lt"/>
                <a:ea typeface="微软雅黑" panose="020B0503020204020204" pitchFamily="34" charset="-122"/>
              </a:rPr>
              <a:t>在许多理想情况下，约束反力的功</a:t>
            </a:r>
            <a:r>
              <a:rPr lang="en-US" altLang="zh-CN" sz="2800" i="0" dirty="0">
                <a:latin typeface="+mn-lt"/>
                <a:ea typeface="微软雅黑" panose="020B0503020204020204" pitchFamily="34" charset="-122"/>
              </a:rPr>
              <a:t>(</a:t>
            </a:r>
            <a:r>
              <a:rPr lang="zh-CN" altLang="en-US" sz="2800" i="0" dirty="0">
                <a:latin typeface="+mn-lt"/>
                <a:ea typeface="微软雅黑" panose="020B0503020204020204" pitchFamily="34" charset="-122"/>
              </a:rPr>
              <a:t>或功之和</a:t>
            </a:r>
            <a:r>
              <a:rPr lang="en-US" altLang="zh-CN" sz="2800" i="0" dirty="0">
                <a:latin typeface="+mn-lt"/>
                <a:ea typeface="微软雅黑" panose="020B0503020204020204" pitchFamily="34" charset="-122"/>
              </a:rPr>
              <a:t>)</a:t>
            </a:r>
            <a:r>
              <a:rPr lang="zh-CN" altLang="en-US" sz="2800" i="0" dirty="0">
                <a:latin typeface="+mn-lt"/>
                <a:ea typeface="微软雅黑" panose="020B0503020204020204" pitchFamily="34" charset="-122"/>
              </a:rPr>
              <a:t>等于零，合乎上述条件约束称为理想约束。所谓理想约束在本书范围内即为静力学中已介绍过的不计摩擦的约束。 </a:t>
            </a:r>
          </a:p>
          <a:p>
            <a:pPr algn="just">
              <a:lnSpc>
                <a:spcPct val="130000"/>
              </a:lnSpc>
            </a:pPr>
            <a:endParaRPr lang="zh-CN" altLang="en-US" sz="2800" i="0" dirty="0">
              <a:ea typeface="微软雅黑" panose="020B0503020204020204" pitchFamily="34" charset="-122"/>
            </a:endParaRPr>
          </a:p>
        </p:txBody>
      </p:sp>
      <p:sp>
        <p:nvSpPr>
          <p:cNvPr id="5" name="Text Box 1032"/>
          <p:cNvSpPr txBox="1">
            <a:spLocks noChangeArrowheads="1"/>
          </p:cNvSpPr>
          <p:nvPr/>
        </p:nvSpPr>
        <p:spPr bwMode="auto">
          <a:xfrm>
            <a:off x="816014" y="3356992"/>
            <a:ext cx="10608578" cy="22770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lnSpc>
                <a:spcPct val="130000"/>
              </a:lnSpc>
            </a:pPr>
            <a:r>
              <a:rPr lang="zh-CN" altLang="en-US" sz="2800" i="0" dirty="0">
                <a:latin typeface="+mn-lt"/>
                <a:ea typeface="微软雅黑" panose="020B0503020204020204" pitchFamily="34" charset="-122"/>
              </a:rPr>
              <a:t>另外，作纯滚动的轮子对作用于轮子上轮、地接触点的滑动摩擦力来说，因该点为瞬心，其速为零，任何瞬时无微位移，故其功为零。但若计滚阻力矩则因有转角，它是作功的。 </a:t>
            </a:r>
          </a:p>
          <a:p>
            <a:pPr algn="just">
              <a:lnSpc>
                <a:spcPct val="130000"/>
              </a:lnSpc>
            </a:pPr>
            <a:endParaRPr lang="zh-CN" altLang="en-US" sz="2800" i="0" dirty="0">
              <a:ea typeface="微软雅黑" panose="020B0503020204020204" pitchFamily="34" charset="-122"/>
            </a:endParaRPr>
          </a:p>
        </p:txBody>
      </p:sp>
    </p:spTree>
    <p:extLst>
      <p:ext uri="{BB962C8B-B14F-4D97-AF65-F5344CB8AC3E}">
        <p14:creationId xmlns:p14="http://schemas.microsoft.com/office/powerpoint/2010/main" val="38919461"/>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2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utoUpdateAnimBg="0"/>
      <p:bldP spid="122" grpId="0" autoUpdateAnimBg="0"/>
      <p:bldP spid="5" grpId="0"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4653838"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第七章   动力学普遍定理</a:t>
            </a:r>
          </a:p>
        </p:txBody>
      </p:sp>
      <p:sp>
        <p:nvSpPr>
          <p:cNvPr id="9" name="Rectangle 61">
            <a:extLst>
              <a:ext uri="{FF2B5EF4-FFF2-40B4-BE49-F238E27FC236}">
                <a16:creationId xmlns:a16="http://schemas.microsoft.com/office/drawing/2014/main" id="{0C4CF67B-8CA2-F648-B364-D8C44A49A572}"/>
              </a:ext>
            </a:extLst>
          </p:cNvPr>
          <p:cNvSpPr>
            <a:spLocks noChangeArrowheads="1"/>
          </p:cNvSpPr>
          <p:nvPr/>
        </p:nvSpPr>
        <p:spPr bwMode="auto">
          <a:xfrm>
            <a:off x="7752184" y="842981"/>
            <a:ext cx="4176464" cy="5322323"/>
          </a:xfrm>
          <a:prstGeom prst="rect">
            <a:avLst/>
          </a:prstGeom>
          <a:solidFill>
            <a:srgbClr val="B9CDE5"/>
          </a:solidFill>
          <a:ln>
            <a:noFill/>
          </a:ln>
          <a:effectLst/>
        </p:spPr>
        <p:txBody>
          <a:bodyPr wrap="none" anchor="ctr"/>
          <a:lstStyle/>
          <a:p>
            <a:endParaRPr lang="zh-CN" altLang="en-US"/>
          </a:p>
        </p:txBody>
      </p:sp>
      <p:sp>
        <p:nvSpPr>
          <p:cNvPr id="64" name="矩形 63"/>
          <p:cNvSpPr/>
          <p:nvPr/>
        </p:nvSpPr>
        <p:spPr>
          <a:xfrm>
            <a:off x="191343" y="842981"/>
            <a:ext cx="7056785" cy="1379545"/>
          </a:xfrm>
          <a:prstGeom prst="rect">
            <a:avLst/>
          </a:prstGeom>
        </p:spPr>
        <p:txBody>
          <a:bodyPr wrap="square">
            <a:spAutoFit/>
          </a:bodyPr>
          <a:lstStyle/>
          <a:p>
            <a:pPr>
              <a:lnSpc>
                <a:spcPct val="120000"/>
              </a:lnSpc>
            </a:pPr>
            <a:r>
              <a:rPr lang="zh-CN" altLang="en-US" i="0" dirty="0">
                <a:solidFill>
                  <a:srgbClr val="0033CC"/>
                </a:solidFill>
                <a:ea typeface="黑体" panose="02010609060101010101" pitchFamily="49" charset="-122"/>
              </a:rPr>
              <a:t>例   </a:t>
            </a:r>
            <a:r>
              <a:rPr lang="zh-CN" altLang="en-US" i="0" dirty="0">
                <a:solidFill>
                  <a:schemeClr val="tx1"/>
                </a:solidFill>
                <a:latin typeface="+mn-lt"/>
                <a:ea typeface="黑体" panose="02010609060101010101" pitchFamily="49" charset="-122"/>
              </a:rPr>
              <a:t>均质圆盘</a:t>
            </a:r>
            <a:r>
              <a:rPr lang="en-US" altLang="zh-CN" b="0" dirty="0">
                <a:solidFill>
                  <a:schemeClr val="tx1"/>
                </a:solidFill>
                <a:latin typeface="+mn-lt"/>
                <a:ea typeface="黑体" panose="02010609060101010101" pitchFamily="49" charset="-122"/>
              </a:rPr>
              <a:t>R</a:t>
            </a:r>
            <a:r>
              <a:rPr lang="zh-CN" altLang="en-US" i="0" dirty="0">
                <a:solidFill>
                  <a:schemeClr val="tx1"/>
                </a:solidFill>
                <a:latin typeface="+mn-lt"/>
                <a:ea typeface="黑体" panose="02010609060101010101" pitchFamily="49" charset="-122"/>
              </a:rPr>
              <a:t>，</a:t>
            </a:r>
            <a:r>
              <a:rPr lang="en-US" altLang="zh-CN" b="0" dirty="0">
                <a:solidFill>
                  <a:schemeClr val="tx1"/>
                </a:solidFill>
                <a:latin typeface="+mn-lt"/>
                <a:ea typeface="黑体" panose="02010609060101010101" pitchFamily="49" charset="-122"/>
              </a:rPr>
              <a:t>m</a:t>
            </a:r>
            <a:r>
              <a:rPr lang="zh-CN" altLang="en-US" i="0" dirty="0">
                <a:solidFill>
                  <a:schemeClr val="tx1"/>
                </a:solidFill>
                <a:latin typeface="+mn-lt"/>
                <a:ea typeface="黑体" panose="02010609060101010101" pitchFamily="49" charset="-122"/>
              </a:rPr>
              <a:t>，</a:t>
            </a:r>
            <a:r>
              <a:rPr lang="en-US" altLang="zh-CN" dirty="0">
                <a:solidFill>
                  <a:schemeClr val="tx1"/>
                </a:solidFill>
                <a:latin typeface="+mn-lt"/>
                <a:ea typeface="黑体" panose="02010609060101010101" pitchFamily="49" charset="-122"/>
              </a:rPr>
              <a:t>F</a:t>
            </a:r>
            <a:r>
              <a:rPr lang="en-US" altLang="zh-CN" i="0" dirty="0">
                <a:solidFill>
                  <a:schemeClr val="tx1"/>
                </a:solidFill>
                <a:latin typeface="+mn-lt"/>
                <a:ea typeface="黑体" panose="02010609060101010101" pitchFamily="49" charset="-122"/>
              </a:rPr>
              <a:t>=</a:t>
            </a:r>
            <a:r>
              <a:rPr lang="zh-CN" altLang="en-US" i="0" dirty="0">
                <a:solidFill>
                  <a:schemeClr val="tx1"/>
                </a:solidFill>
                <a:latin typeface="+mn-lt"/>
                <a:ea typeface="黑体" panose="02010609060101010101" pitchFamily="49" charset="-122"/>
              </a:rPr>
              <a:t>常量，且很大，使</a:t>
            </a:r>
            <a:r>
              <a:rPr lang="en-US" altLang="zh-CN" b="0" dirty="0">
                <a:solidFill>
                  <a:schemeClr val="tx1"/>
                </a:solidFill>
                <a:latin typeface="+mn-lt"/>
                <a:ea typeface="黑体" panose="02010609060101010101" pitchFamily="49" charset="-122"/>
              </a:rPr>
              <a:t>O</a:t>
            </a:r>
            <a:r>
              <a:rPr lang="zh-CN" altLang="en-US" i="0" dirty="0">
                <a:solidFill>
                  <a:schemeClr val="tx1"/>
                </a:solidFill>
                <a:latin typeface="+mn-lt"/>
                <a:ea typeface="黑体" panose="02010609060101010101" pitchFamily="49" charset="-122"/>
              </a:rPr>
              <a:t>向右运动，滑动摩擦系数 </a:t>
            </a:r>
            <a:r>
              <a:rPr lang="en-US" altLang="zh-CN" b="0" dirty="0">
                <a:solidFill>
                  <a:schemeClr val="tx1"/>
                </a:solidFill>
                <a:latin typeface="+mn-lt"/>
                <a:ea typeface="黑体" panose="02010609060101010101" pitchFamily="49" charset="-122"/>
              </a:rPr>
              <a:t>f</a:t>
            </a:r>
            <a:r>
              <a:rPr lang="zh-CN" altLang="en-US" i="0" dirty="0">
                <a:solidFill>
                  <a:schemeClr val="tx1"/>
                </a:solidFill>
                <a:latin typeface="+mn-lt"/>
                <a:ea typeface="黑体" panose="02010609060101010101" pitchFamily="49" charset="-122"/>
              </a:rPr>
              <a:t>，初静止。求：</a:t>
            </a:r>
            <a:r>
              <a:rPr lang="en-US" altLang="zh-CN" b="0" dirty="0">
                <a:solidFill>
                  <a:schemeClr val="tx1"/>
                </a:solidFill>
                <a:latin typeface="+mn-lt"/>
                <a:ea typeface="黑体" panose="02010609060101010101" pitchFamily="49" charset="-122"/>
              </a:rPr>
              <a:t>O</a:t>
            </a:r>
            <a:r>
              <a:rPr lang="zh-CN" altLang="en-US" i="0" dirty="0">
                <a:solidFill>
                  <a:schemeClr val="tx1"/>
                </a:solidFill>
                <a:latin typeface="+mn-lt"/>
                <a:ea typeface="黑体" panose="02010609060101010101" pitchFamily="49" charset="-122"/>
              </a:rPr>
              <a:t>走过</a:t>
            </a:r>
            <a:r>
              <a:rPr lang="en-US" altLang="zh-CN" b="0" dirty="0">
                <a:solidFill>
                  <a:schemeClr val="tx1"/>
                </a:solidFill>
                <a:latin typeface="+mn-lt"/>
                <a:ea typeface="黑体" panose="02010609060101010101" pitchFamily="49" charset="-122"/>
              </a:rPr>
              <a:t>S</a:t>
            </a:r>
            <a:r>
              <a:rPr lang="zh-CN" altLang="en-US" i="0" dirty="0">
                <a:solidFill>
                  <a:schemeClr val="tx1"/>
                </a:solidFill>
                <a:latin typeface="+mn-lt"/>
                <a:ea typeface="黑体" panose="02010609060101010101" pitchFamily="49" charset="-122"/>
              </a:rPr>
              <a:t>路程时力的功。</a:t>
            </a:r>
          </a:p>
        </p:txBody>
      </p:sp>
      <p:pic>
        <p:nvPicPr>
          <p:cNvPr id="2" name="013-5new">
            <a:hlinkClick r:id="" action="ppaction://media"/>
            <a:extLst>
              <a:ext uri="{FF2B5EF4-FFF2-40B4-BE49-F238E27FC236}">
                <a16:creationId xmlns:a16="http://schemas.microsoft.com/office/drawing/2014/main" id="{E2FE8544-278A-971D-3C58-AF29BAB93182}"/>
              </a:ext>
            </a:extLst>
          </p:cNvPr>
          <p:cNvPicPr>
            <a:picLocks noChangeAspect="1"/>
          </p:cNvPicPr>
          <p:nvPr>
            <a:videoFile r:link="rId3"/>
            <p:extLst>
              <p:ext uri="{DAA4B4D4-6D71-4841-9C94-3DE7FCFB9230}">
                <p14:media xmlns:p14="http://schemas.microsoft.com/office/powerpoint/2010/main" r:embed="rId2"/>
              </p:ext>
            </p:extLst>
          </p:nvPr>
        </p:nvPicPr>
        <p:blipFill rotWithShape="1">
          <a:blip r:embed="rId6"/>
          <a:srcRect l="13846"/>
          <a:stretch/>
        </p:blipFill>
        <p:spPr>
          <a:xfrm>
            <a:off x="7968208" y="943741"/>
            <a:ext cx="3672408" cy="2557570"/>
          </a:xfrm>
          <a:prstGeom prst="rect">
            <a:avLst/>
          </a:prstGeom>
        </p:spPr>
      </p:pic>
      <p:sp>
        <p:nvSpPr>
          <p:cNvPr id="3" name="矩形 2">
            <a:extLst>
              <a:ext uri="{FF2B5EF4-FFF2-40B4-BE49-F238E27FC236}">
                <a16:creationId xmlns:a16="http://schemas.microsoft.com/office/drawing/2014/main" id="{4FF1FF19-B714-7506-8CEA-CD59139B9A0D}"/>
              </a:ext>
            </a:extLst>
          </p:cNvPr>
          <p:cNvSpPr/>
          <p:nvPr/>
        </p:nvSpPr>
        <p:spPr>
          <a:xfrm>
            <a:off x="191343" y="2211969"/>
            <a:ext cx="6552729" cy="493148"/>
          </a:xfrm>
          <a:prstGeom prst="rect">
            <a:avLst/>
          </a:prstGeom>
        </p:spPr>
        <p:txBody>
          <a:bodyPr wrap="square">
            <a:spAutoFit/>
          </a:bodyPr>
          <a:lstStyle/>
          <a:p>
            <a:pPr>
              <a:lnSpc>
                <a:spcPct val="120000"/>
              </a:lnSpc>
            </a:pPr>
            <a:r>
              <a:rPr lang="zh-CN" altLang="en-US" i="0" dirty="0">
                <a:solidFill>
                  <a:srgbClr val="0033CC"/>
                </a:solidFill>
                <a:ea typeface="黑体" panose="02010609060101010101" pitchFamily="49" charset="-122"/>
              </a:rPr>
              <a:t>解   </a:t>
            </a:r>
            <a:r>
              <a:rPr lang="zh-CN" altLang="en-US" i="0" dirty="0">
                <a:solidFill>
                  <a:schemeClr val="tx1"/>
                </a:solidFill>
                <a:latin typeface="+mn-lt"/>
                <a:ea typeface="黑体" panose="02010609060101010101" pitchFamily="49" charset="-122"/>
              </a:rPr>
              <a:t>对均质圆盘受力分析，各个力所作的功</a:t>
            </a:r>
          </a:p>
        </p:txBody>
      </p:sp>
      <p:graphicFrame>
        <p:nvGraphicFramePr>
          <p:cNvPr id="4" name="Object 2">
            <a:extLst>
              <a:ext uri="{FF2B5EF4-FFF2-40B4-BE49-F238E27FC236}">
                <a16:creationId xmlns:a16="http://schemas.microsoft.com/office/drawing/2014/main" id="{E81C4068-C5AF-BC0C-9584-6FCAB5D288EB}"/>
              </a:ext>
            </a:extLst>
          </p:cNvPr>
          <p:cNvGraphicFramePr>
            <a:graphicFrameLocks noChangeAspect="1"/>
          </p:cNvGraphicFramePr>
          <p:nvPr>
            <p:extLst>
              <p:ext uri="{D42A27DB-BD31-4B8C-83A1-F6EECF244321}">
                <p14:modId xmlns:p14="http://schemas.microsoft.com/office/powerpoint/2010/main" val="537300261"/>
              </p:ext>
            </p:extLst>
          </p:nvPr>
        </p:nvGraphicFramePr>
        <p:xfrm>
          <a:off x="8616280" y="3602071"/>
          <a:ext cx="2495550" cy="2478088"/>
        </p:xfrm>
        <a:graphic>
          <a:graphicData uri="http://schemas.openxmlformats.org/presentationml/2006/ole">
            <mc:AlternateContent xmlns:mc="http://schemas.openxmlformats.org/markup-compatibility/2006">
              <mc:Choice xmlns:v="urn:schemas-microsoft-com:vml" Requires="v">
                <p:oleObj spid="_x0000_s20534" name="位图图像" r:id="rId7" imgW="2819794" imgH="2800741" progId="Paint.Picture">
                  <p:embed/>
                </p:oleObj>
              </mc:Choice>
              <mc:Fallback>
                <p:oleObj name="位图图像" r:id="rId7" imgW="2819794" imgH="2800741" progId="Paint.Picture">
                  <p:embed/>
                  <p:pic>
                    <p:nvPicPr>
                      <p:cNvPr id="36866" name="Object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616280" y="3602071"/>
                        <a:ext cx="2495550" cy="2478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 name="矩形 4">
            <a:extLst>
              <a:ext uri="{FF2B5EF4-FFF2-40B4-BE49-F238E27FC236}">
                <a16:creationId xmlns:a16="http://schemas.microsoft.com/office/drawing/2014/main" id="{2AD24AE9-EB75-531D-B183-9CBD453EF425}"/>
              </a:ext>
            </a:extLst>
          </p:cNvPr>
          <p:cNvSpPr/>
          <p:nvPr/>
        </p:nvSpPr>
        <p:spPr>
          <a:xfrm>
            <a:off x="695399" y="2740255"/>
            <a:ext cx="6552729" cy="493148"/>
          </a:xfrm>
          <a:prstGeom prst="rect">
            <a:avLst/>
          </a:prstGeom>
        </p:spPr>
        <p:txBody>
          <a:bodyPr wrap="square">
            <a:spAutoFit/>
          </a:bodyPr>
          <a:lstStyle/>
          <a:p>
            <a:pPr>
              <a:lnSpc>
                <a:spcPct val="120000"/>
              </a:lnSpc>
            </a:pPr>
            <a:r>
              <a:rPr lang="zh-CN" altLang="en-US" i="0" dirty="0">
                <a:solidFill>
                  <a:schemeClr val="tx1"/>
                </a:solidFill>
                <a:latin typeface="+mn-lt"/>
                <a:ea typeface="黑体" panose="02010609060101010101" pitchFamily="49" charset="-122"/>
              </a:rPr>
              <a:t>摩檫力</a:t>
            </a:r>
            <a:r>
              <a:rPr lang="en-US" altLang="zh-CN" dirty="0" err="1">
                <a:solidFill>
                  <a:schemeClr val="tx1"/>
                </a:solidFill>
                <a:ea typeface="黑体" panose="02010609060101010101" pitchFamily="49" charset="-122"/>
                <a:cs typeface="Times New Roman" panose="02020603050405020304" pitchFamily="18" charset="0"/>
              </a:rPr>
              <a:t>F</a:t>
            </a:r>
            <a:r>
              <a:rPr lang="en-US" altLang="zh-CN" b="0" i="0" baseline="-25000" dirty="0" err="1">
                <a:solidFill>
                  <a:schemeClr val="tx1"/>
                </a:solidFill>
                <a:ea typeface="黑体" panose="02010609060101010101" pitchFamily="49" charset="-122"/>
                <a:cs typeface="Times New Roman" panose="02020603050405020304" pitchFamily="18" charset="0"/>
              </a:rPr>
              <a:t>d</a:t>
            </a:r>
            <a:r>
              <a:rPr lang="zh-CN" altLang="en-US" i="0" dirty="0">
                <a:solidFill>
                  <a:schemeClr val="tx1"/>
                </a:solidFill>
                <a:latin typeface="+mn-lt"/>
                <a:ea typeface="黑体" panose="02010609060101010101" pitchFamily="49" charset="-122"/>
              </a:rPr>
              <a:t>所做的功</a:t>
            </a:r>
          </a:p>
        </p:txBody>
      </p:sp>
      <p:graphicFrame>
        <p:nvGraphicFramePr>
          <p:cNvPr id="6" name="Object 6">
            <a:extLst>
              <a:ext uri="{FF2B5EF4-FFF2-40B4-BE49-F238E27FC236}">
                <a16:creationId xmlns:a16="http://schemas.microsoft.com/office/drawing/2014/main" id="{4C670850-6D1D-CF50-461B-E783395BD412}"/>
              </a:ext>
            </a:extLst>
          </p:cNvPr>
          <p:cNvGraphicFramePr>
            <a:graphicFrameLocks noChangeAspect="1"/>
          </p:cNvGraphicFramePr>
          <p:nvPr>
            <p:extLst>
              <p:ext uri="{D42A27DB-BD31-4B8C-83A1-F6EECF244321}">
                <p14:modId xmlns:p14="http://schemas.microsoft.com/office/powerpoint/2010/main" val="2820548833"/>
              </p:ext>
            </p:extLst>
          </p:nvPr>
        </p:nvGraphicFramePr>
        <p:xfrm>
          <a:off x="1227138" y="3400425"/>
          <a:ext cx="3584575" cy="619125"/>
        </p:xfrm>
        <a:graphic>
          <a:graphicData uri="http://schemas.openxmlformats.org/presentationml/2006/ole">
            <mc:AlternateContent xmlns:mc="http://schemas.openxmlformats.org/markup-compatibility/2006">
              <mc:Choice xmlns:v="urn:schemas-microsoft-com:vml" Requires="v">
                <p:oleObj spid="_x0000_s20535" name="Equation" r:id="rId9" imgW="1447560" imgH="241200" progId="Equation.DSMT4">
                  <p:embed/>
                </p:oleObj>
              </mc:Choice>
              <mc:Fallback>
                <p:oleObj name="Equation" r:id="rId9" imgW="1447560" imgH="241200" progId="Equation.DSMT4">
                  <p:embed/>
                  <p:pic>
                    <p:nvPicPr>
                      <p:cNvPr id="167940" name="Object 6"/>
                      <p:cNvPicPr>
                        <a:picLocks noChangeAspect="1" noChangeArrowheads="1"/>
                      </p:cNvPicPr>
                      <p:nvPr/>
                    </p:nvPicPr>
                    <p:blipFill>
                      <a:blip r:embed="rId10"/>
                      <a:srcRect/>
                      <a:stretch>
                        <a:fillRect/>
                      </a:stretch>
                    </p:blipFill>
                    <p:spPr bwMode="auto">
                      <a:xfrm>
                        <a:off x="1227138" y="3400425"/>
                        <a:ext cx="3584575" cy="619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 name="矩形 7">
            <a:extLst>
              <a:ext uri="{FF2B5EF4-FFF2-40B4-BE49-F238E27FC236}">
                <a16:creationId xmlns:a16="http://schemas.microsoft.com/office/drawing/2014/main" id="{0590C9CE-58F1-AB50-B730-F7321EC1B488}"/>
              </a:ext>
            </a:extLst>
          </p:cNvPr>
          <p:cNvSpPr/>
          <p:nvPr/>
        </p:nvSpPr>
        <p:spPr>
          <a:xfrm>
            <a:off x="695399" y="4074105"/>
            <a:ext cx="6552729" cy="493148"/>
          </a:xfrm>
          <a:prstGeom prst="rect">
            <a:avLst/>
          </a:prstGeom>
        </p:spPr>
        <p:txBody>
          <a:bodyPr wrap="square">
            <a:spAutoFit/>
          </a:bodyPr>
          <a:lstStyle/>
          <a:p>
            <a:pPr>
              <a:lnSpc>
                <a:spcPct val="120000"/>
              </a:lnSpc>
            </a:pPr>
            <a:r>
              <a:rPr lang="zh-CN" altLang="en-US" i="0" dirty="0">
                <a:solidFill>
                  <a:schemeClr val="tx1"/>
                </a:solidFill>
                <a:latin typeface="+mn-lt"/>
                <a:ea typeface="黑体" panose="02010609060101010101" pitchFamily="49" charset="-122"/>
              </a:rPr>
              <a:t>水平拉力</a:t>
            </a:r>
            <a:r>
              <a:rPr lang="en-US" altLang="zh-CN" dirty="0">
                <a:solidFill>
                  <a:schemeClr val="tx1"/>
                </a:solidFill>
                <a:ea typeface="黑体" panose="02010609060101010101" pitchFamily="49" charset="-122"/>
                <a:cs typeface="Times New Roman" panose="02020603050405020304" pitchFamily="18" charset="0"/>
              </a:rPr>
              <a:t>F</a:t>
            </a:r>
            <a:r>
              <a:rPr lang="zh-CN" altLang="en-US" i="0" dirty="0">
                <a:solidFill>
                  <a:schemeClr val="tx1"/>
                </a:solidFill>
                <a:latin typeface="+mn-lt"/>
                <a:ea typeface="黑体" panose="02010609060101010101" pitchFamily="49" charset="-122"/>
              </a:rPr>
              <a:t>所做的功</a:t>
            </a:r>
          </a:p>
        </p:txBody>
      </p:sp>
      <p:graphicFrame>
        <p:nvGraphicFramePr>
          <p:cNvPr id="10" name="Object 6">
            <a:extLst>
              <a:ext uri="{FF2B5EF4-FFF2-40B4-BE49-F238E27FC236}">
                <a16:creationId xmlns:a16="http://schemas.microsoft.com/office/drawing/2014/main" id="{4C1B9F7E-E211-5C4B-0A93-14718F0F444A}"/>
              </a:ext>
            </a:extLst>
          </p:cNvPr>
          <p:cNvGraphicFramePr>
            <a:graphicFrameLocks noChangeAspect="1"/>
          </p:cNvGraphicFramePr>
          <p:nvPr>
            <p:extLst>
              <p:ext uri="{D42A27DB-BD31-4B8C-83A1-F6EECF244321}">
                <p14:modId xmlns:p14="http://schemas.microsoft.com/office/powerpoint/2010/main" val="4158069519"/>
              </p:ext>
            </p:extLst>
          </p:nvPr>
        </p:nvGraphicFramePr>
        <p:xfrm>
          <a:off x="1227138" y="4621808"/>
          <a:ext cx="1446213" cy="587375"/>
        </p:xfrm>
        <a:graphic>
          <a:graphicData uri="http://schemas.openxmlformats.org/presentationml/2006/ole">
            <mc:AlternateContent xmlns:mc="http://schemas.openxmlformats.org/markup-compatibility/2006">
              <mc:Choice xmlns:v="urn:schemas-microsoft-com:vml" Requires="v">
                <p:oleObj spid="_x0000_s20536" name="Equation" r:id="rId11" imgW="583920" imgH="228600" progId="Equation.DSMT4">
                  <p:embed/>
                </p:oleObj>
              </mc:Choice>
              <mc:Fallback>
                <p:oleObj name="Equation" r:id="rId11" imgW="583920" imgH="228600" progId="Equation.DSMT4">
                  <p:embed/>
                  <p:pic>
                    <p:nvPicPr>
                      <p:cNvPr id="6" name="Object 6">
                        <a:extLst>
                          <a:ext uri="{FF2B5EF4-FFF2-40B4-BE49-F238E27FC236}">
                            <a16:creationId xmlns:a16="http://schemas.microsoft.com/office/drawing/2014/main" id="{4C670850-6D1D-CF50-461B-E783395BD412}"/>
                          </a:ext>
                        </a:extLst>
                      </p:cNvPr>
                      <p:cNvPicPr>
                        <a:picLocks noChangeAspect="1" noChangeArrowheads="1"/>
                      </p:cNvPicPr>
                      <p:nvPr/>
                    </p:nvPicPr>
                    <p:blipFill>
                      <a:blip r:embed="rId12"/>
                      <a:srcRect/>
                      <a:stretch>
                        <a:fillRect/>
                      </a:stretch>
                    </p:blipFill>
                    <p:spPr bwMode="auto">
                      <a:xfrm>
                        <a:off x="1227138" y="4621808"/>
                        <a:ext cx="1446213" cy="587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 name="Object 6">
            <a:extLst>
              <a:ext uri="{FF2B5EF4-FFF2-40B4-BE49-F238E27FC236}">
                <a16:creationId xmlns:a16="http://schemas.microsoft.com/office/drawing/2014/main" id="{564A418D-B7C1-1C67-3D26-F98B51940EFE}"/>
              </a:ext>
            </a:extLst>
          </p:cNvPr>
          <p:cNvGraphicFramePr>
            <a:graphicFrameLocks noChangeAspect="1"/>
          </p:cNvGraphicFramePr>
          <p:nvPr>
            <p:extLst>
              <p:ext uri="{D42A27DB-BD31-4B8C-83A1-F6EECF244321}">
                <p14:modId xmlns:p14="http://schemas.microsoft.com/office/powerpoint/2010/main" val="2959368241"/>
              </p:ext>
            </p:extLst>
          </p:nvPr>
        </p:nvGraphicFramePr>
        <p:xfrm>
          <a:off x="1180319" y="5500688"/>
          <a:ext cx="4213225" cy="619125"/>
        </p:xfrm>
        <a:graphic>
          <a:graphicData uri="http://schemas.openxmlformats.org/presentationml/2006/ole">
            <mc:AlternateContent xmlns:mc="http://schemas.openxmlformats.org/markup-compatibility/2006">
              <mc:Choice xmlns:v="urn:schemas-microsoft-com:vml" Requires="v">
                <p:oleObj spid="_x0000_s20537" name="Equation" r:id="rId13" imgW="1701720" imgH="241200" progId="Equation.DSMT4">
                  <p:embed/>
                </p:oleObj>
              </mc:Choice>
              <mc:Fallback>
                <p:oleObj name="Equation" r:id="rId13" imgW="1701720" imgH="241200" progId="Equation.DSMT4">
                  <p:embed/>
                  <p:pic>
                    <p:nvPicPr>
                      <p:cNvPr id="6" name="Object 6">
                        <a:extLst>
                          <a:ext uri="{FF2B5EF4-FFF2-40B4-BE49-F238E27FC236}">
                            <a16:creationId xmlns:a16="http://schemas.microsoft.com/office/drawing/2014/main" id="{4C670850-6D1D-CF50-461B-E783395BD412}"/>
                          </a:ext>
                        </a:extLst>
                      </p:cNvPr>
                      <p:cNvPicPr>
                        <a:picLocks noChangeAspect="1" noChangeArrowheads="1"/>
                      </p:cNvPicPr>
                      <p:nvPr/>
                    </p:nvPicPr>
                    <p:blipFill>
                      <a:blip r:embed="rId14"/>
                      <a:srcRect/>
                      <a:stretch>
                        <a:fillRect/>
                      </a:stretch>
                    </p:blipFill>
                    <p:spPr bwMode="auto">
                      <a:xfrm>
                        <a:off x="1180319" y="5500688"/>
                        <a:ext cx="4213225" cy="619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4006322333"/>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499"/>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499"/>
                                          </p:stCondLst>
                                        </p:cTn>
                                        <p:tgtEl>
                                          <p:spTgt spid="1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499"/>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35" fill="hold" display="0">
                  <p:stCondLst>
                    <p:cond delay="indefinite"/>
                  </p:stCondLst>
                </p:cTn>
                <p:tgtEl>
                  <p:spTgt spid="2"/>
                </p:tgtEl>
              </p:cMediaNode>
            </p:video>
          </p:childTnLst>
        </p:cTn>
      </p:par>
    </p:tnLst>
    <p:bldLst>
      <p:bldP spid="64" grpId="0"/>
      <p:bldP spid="3" grpId="0"/>
      <p:bldP spid="5" grpId="0"/>
      <p:bldP spid="8"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4653838"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第七章   动力学普遍定理</a:t>
            </a:r>
          </a:p>
        </p:txBody>
      </p:sp>
      <p:sp>
        <p:nvSpPr>
          <p:cNvPr id="52" name="Text Box 1032"/>
          <p:cNvSpPr txBox="1">
            <a:spLocks noChangeArrowheads="1"/>
          </p:cNvSpPr>
          <p:nvPr/>
        </p:nvSpPr>
        <p:spPr bwMode="auto">
          <a:xfrm>
            <a:off x="570416" y="1333580"/>
            <a:ext cx="10422128" cy="1594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20000"/>
              </a:lnSpc>
            </a:pPr>
            <a:r>
              <a:rPr lang="zh-CN" altLang="en-US" sz="2800" i="0" dirty="0">
                <a:solidFill>
                  <a:srgbClr val="FF0000"/>
                </a:solidFill>
                <a:latin typeface="微软雅黑" panose="020B0503020204020204" pitchFamily="34" charset="-122"/>
                <a:ea typeface="微软雅黑" panose="020B0503020204020204" pitchFamily="34" charset="-122"/>
              </a:rPr>
              <a:t>质点的动能 </a:t>
            </a:r>
            <a:endParaRPr lang="en-US" altLang="zh-CN" sz="2800" i="0" dirty="0">
              <a:solidFill>
                <a:srgbClr val="FF0000"/>
              </a:solidFill>
              <a:latin typeface="微软雅黑" panose="020B0503020204020204" pitchFamily="34" charset="-122"/>
              <a:ea typeface="微软雅黑" panose="020B0503020204020204" pitchFamily="34" charset="-122"/>
            </a:endParaRPr>
          </a:p>
          <a:p>
            <a:pPr algn="just">
              <a:lnSpc>
                <a:spcPct val="120000"/>
              </a:lnSpc>
            </a:pPr>
            <a:r>
              <a:rPr lang="zh-CN" altLang="en-US" sz="2800" i="0" dirty="0">
                <a:latin typeface="微软雅黑" panose="020B0503020204020204" pitchFamily="34" charset="-122"/>
                <a:ea typeface="微软雅黑" panose="020B0503020204020204" pitchFamily="34" charset="-122"/>
              </a:rPr>
              <a:t>设质量</a:t>
            </a:r>
            <a:r>
              <a:rPr lang="zh-CN" altLang="en-US" sz="2800" i="0" dirty="0">
                <a:latin typeface="+mn-lt"/>
                <a:ea typeface="微软雅黑" panose="020B0503020204020204" pitchFamily="34" charset="-122"/>
              </a:rPr>
              <a:t>为</a:t>
            </a:r>
            <a:r>
              <a:rPr lang="en-US" altLang="zh-CN" sz="2800" b="0" dirty="0">
                <a:latin typeface="+mn-lt"/>
                <a:ea typeface="微软雅黑" panose="020B0503020204020204" pitchFamily="34" charset="-122"/>
              </a:rPr>
              <a:t>m</a:t>
            </a:r>
            <a:r>
              <a:rPr lang="zh-CN" altLang="en-US" sz="2800" i="0" dirty="0">
                <a:latin typeface="+mn-lt"/>
                <a:ea typeface="微软雅黑" panose="020B0503020204020204" pitchFamily="34" charset="-122"/>
              </a:rPr>
              <a:t>的质点，某瞬时的速度为</a:t>
            </a:r>
            <a:r>
              <a:rPr lang="en-US" altLang="zh-CN" sz="2800" dirty="0">
                <a:latin typeface="+mn-lt"/>
                <a:ea typeface="微软雅黑" panose="020B0503020204020204" pitchFamily="34" charset="-122"/>
              </a:rPr>
              <a:t>v</a:t>
            </a:r>
            <a:r>
              <a:rPr lang="zh-CN" altLang="en-US" sz="2800" i="0" dirty="0">
                <a:latin typeface="+mn-lt"/>
                <a:ea typeface="微软雅黑" panose="020B0503020204020204" pitchFamily="34" charset="-122"/>
              </a:rPr>
              <a:t>，则质点质量与其速度平方乘积的一半，称为质点在该瞬时的动能，以</a:t>
            </a:r>
            <a:r>
              <a:rPr lang="en-US" altLang="zh-CN" sz="2800" b="0" dirty="0">
                <a:latin typeface="+mn-lt"/>
                <a:ea typeface="微软雅黑" panose="020B0503020204020204" pitchFamily="34" charset="-122"/>
              </a:rPr>
              <a:t>E</a:t>
            </a:r>
            <a:r>
              <a:rPr lang="en-US" altLang="zh-CN" sz="2800" b="0" i="0" baseline="-25000" dirty="0">
                <a:latin typeface="+mn-lt"/>
                <a:ea typeface="微软雅黑" panose="020B0503020204020204" pitchFamily="34" charset="-122"/>
              </a:rPr>
              <a:t>k</a:t>
            </a:r>
            <a:r>
              <a:rPr lang="zh-CN" altLang="en-US" sz="2800" i="0" dirty="0">
                <a:latin typeface="+mn-lt"/>
                <a:ea typeface="微软雅黑" panose="020B0503020204020204" pitchFamily="34" charset="-122"/>
              </a:rPr>
              <a:t>表示</a:t>
            </a:r>
          </a:p>
        </p:txBody>
      </p:sp>
      <p:sp>
        <p:nvSpPr>
          <p:cNvPr id="6" name="矩形 5"/>
          <p:cNvSpPr/>
          <p:nvPr/>
        </p:nvSpPr>
        <p:spPr>
          <a:xfrm>
            <a:off x="5037540" y="834960"/>
            <a:ext cx="954107" cy="599331"/>
          </a:xfrm>
          <a:prstGeom prst="rect">
            <a:avLst/>
          </a:prstGeom>
        </p:spPr>
        <p:txBody>
          <a:bodyPr wrap="none">
            <a:spAutoFit/>
          </a:bodyPr>
          <a:lstStyle/>
          <a:p>
            <a:pPr>
              <a:lnSpc>
                <a:spcPct val="120000"/>
              </a:lnSpc>
            </a:pPr>
            <a:r>
              <a:rPr lang="zh-CN" altLang="en-US" sz="3000" i="0" dirty="0">
                <a:solidFill>
                  <a:srgbClr val="4F81BD"/>
                </a:solidFill>
                <a:latin typeface="微软雅黑" panose="020B0503020204020204" pitchFamily="34" charset="-122"/>
                <a:ea typeface="微软雅黑" panose="020B0503020204020204" pitchFamily="34" charset="-122"/>
              </a:rPr>
              <a:t>动能</a:t>
            </a:r>
          </a:p>
        </p:txBody>
      </p:sp>
      <p:graphicFrame>
        <p:nvGraphicFramePr>
          <p:cNvPr id="3" name="Object 6">
            <a:extLst>
              <a:ext uri="{FF2B5EF4-FFF2-40B4-BE49-F238E27FC236}">
                <a16:creationId xmlns:a16="http://schemas.microsoft.com/office/drawing/2014/main" id="{A3518E01-9DFC-35C8-6B91-F87AB3F09FD5}"/>
              </a:ext>
            </a:extLst>
          </p:cNvPr>
          <p:cNvGraphicFramePr>
            <a:graphicFrameLocks noChangeAspect="1"/>
          </p:cNvGraphicFramePr>
          <p:nvPr>
            <p:extLst>
              <p:ext uri="{D42A27DB-BD31-4B8C-83A1-F6EECF244321}">
                <p14:modId xmlns:p14="http://schemas.microsoft.com/office/powerpoint/2010/main" val="679620654"/>
              </p:ext>
            </p:extLst>
          </p:nvPr>
        </p:nvGraphicFramePr>
        <p:xfrm>
          <a:off x="3762375" y="2942250"/>
          <a:ext cx="1700213" cy="927100"/>
        </p:xfrm>
        <a:graphic>
          <a:graphicData uri="http://schemas.openxmlformats.org/presentationml/2006/ole">
            <mc:AlternateContent xmlns:mc="http://schemas.openxmlformats.org/markup-compatibility/2006">
              <mc:Choice xmlns:v="urn:schemas-microsoft-com:vml" Requires="v">
                <p:oleObj spid="_x0000_s21532" name="Equation" r:id="rId4" imgW="711000" imgH="393480" progId="Equation.DSMT4">
                  <p:embed/>
                </p:oleObj>
              </mc:Choice>
              <mc:Fallback>
                <p:oleObj name="Equation" r:id="rId4" imgW="711000" imgH="393480" progId="Equation.DSMT4">
                  <p:embed/>
                  <p:pic>
                    <p:nvPicPr>
                      <p:cNvPr id="1111046" name="Object 6">
                        <a:extLst>
                          <a:ext uri="{FF2B5EF4-FFF2-40B4-BE49-F238E27FC236}">
                            <a16:creationId xmlns:a16="http://schemas.microsoft.com/office/drawing/2014/main" id="{B5420CBA-E2D5-C199-63FC-296FAE4A0B67}"/>
                          </a:ext>
                        </a:extLst>
                      </p:cNvPr>
                      <p:cNvPicPr>
                        <a:picLocks noChangeAspect="1" noChangeArrowheads="1"/>
                      </p:cNvPicPr>
                      <p:nvPr/>
                    </p:nvPicPr>
                    <p:blipFill>
                      <a:blip r:embed="rId5"/>
                      <a:srcRect/>
                      <a:stretch>
                        <a:fillRect/>
                      </a:stretch>
                    </p:blipFill>
                    <p:spPr bwMode="auto">
                      <a:xfrm>
                        <a:off x="3762375" y="2942250"/>
                        <a:ext cx="1700213" cy="927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Text Box 1032">
            <a:extLst>
              <a:ext uri="{FF2B5EF4-FFF2-40B4-BE49-F238E27FC236}">
                <a16:creationId xmlns:a16="http://schemas.microsoft.com/office/drawing/2014/main" id="{07EC096B-D1B6-2C63-4DAB-4124F0258EBA}"/>
              </a:ext>
            </a:extLst>
          </p:cNvPr>
          <p:cNvSpPr txBox="1">
            <a:spLocks noChangeArrowheads="1"/>
          </p:cNvSpPr>
          <p:nvPr/>
        </p:nvSpPr>
        <p:spPr bwMode="auto">
          <a:xfrm>
            <a:off x="570416" y="3717032"/>
            <a:ext cx="10422128" cy="21165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20000"/>
              </a:lnSpc>
            </a:pPr>
            <a:r>
              <a:rPr lang="zh-CN" altLang="en-US" sz="2800" i="0" dirty="0">
                <a:solidFill>
                  <a:srgbClr val="FF0000"/>
                </a:solidFill>
                <a:latin typeface="微软雅黑" panose="020B0503020204020204" pitchFamily="34" charset="-122"/>
                <a:ea typeface="微软雅黑" panose="020B0503020204020204" pitchFamily="34" charset="-122"/>
              </a:rPr>
              <a:t>质点系的动能 </a:t>
            </a:r>
            <a:endParaRPr lang="en-US" altLang="zh-CN" sz="2800" i="0" dirty="0">
              <a:solidFill>
                <a:srgbClr val="FF0000"/>
              </a:solidFill>
              <a:latin typeface="微软雅黑" panose="020B0503020204020204" pitchFamily="34" charset="-122"/>
              <a:ea typeface="微软雅黑" panose="020B0503020204020204" pitchFamily="34" charset="-122"/>
            </a:endParaRPr>
          </a:p>
          <a:p>
            <a:pPr algn="just">
              <a:lnSpc>
                <a:spcPct val="120000"/>
              </a:lnSpc>
            </a:pPr>
            <a:r>
              <a:rPr lang="zh-CN" altLang="en-US" sz="2800" i="0" dirty="0">
                <a:latin typeface="+mn-lt"/>
                <a:ea typeface="微软雅黑" panose="020B0503020204020204" pitchFamily="34" charset="-122"/>
              </a:rPr>
              <a:t>质点系内各质点动能的总和称为质点系的动能。设质点系由</a:t>
            </a:r>
            <a:r>
              <a:rPr lang="en-US" altLang="zh-CN" sz="2800" dirty="0"/>
              <a:t>n</a:t>
            </a:r>
            <a:r>
              <a:rPr lang="zh-CN" altLang="en-US" sz="2800" i="0" dirty="0">
                <a:latin typeface="+mn-lt"/>
                <a:ea typeface="微软雅黑" panose="020B0503020204020204" pitchFamily="34" charset="-122"/>
              </a:rPr>
              <a:t>个质点组成，其中第</a:t>
            </a:r>
            <a:r>
              <a:rPr lang="en-US" altLang="zh-CN" sz="2800" b="0" dirty="0" err="1">
                <a:latin typeface="+mn-lt"/>
                <a:ea typeface="微软雅黑" panose="020B0503020204020204" pitchFamily="34" charset="-122"/>
              </a:rPr>
              <a:t>i</a:t>
            </a:r>
            <a:r>
              <a:rPr lang="zh-CN" altLang="en-US" sz="2800" i="0" dirty="0">
                <a:latin typeface="+mn-lt"/>
                <a:ea typeface="微软雅黑" panose="020B0503020204020204" pitchFamily="34" charset="-122"/>
              </a:rPr>
              <a:t>个质点的质量为</a:t>
            </a:r>
            <a:r>
              <a:rPr lang="en-US" altLang="zh-CN" sz="2800" b="0" dirty="0"/>
              <a:t>m</a:t>
            </a:r>
            <a:r>
              <a:rPr lang="en-US" altLang="zh-CN" sz="2800" b="0" baseline="-25000" dirty="0"/>
              <a:t>i</a:t>
            </a:r>
            <a:r>
              <a:rPr lang="zh-CN" altLang="en-US" sz="2800" i="0" dirty="0">
                <a:latin typeface="+mn-lt"/>
                <a:ea typeface="微软雅黑" panose="020B0503020204020204" pitchFamily="34" charset="-122"/>
              </a:rPr>
              <a:t>，瞬时速度为</a:t>
            </a:r>
            <a:r>
              <a:rPr lang="en-US" altLang="zh-CN" sz="2800" dirty="0">
                <a:latin typeface="+mn-lt"/>
              </a:rPr>
              <a:t>v</a:t>
            </a:r>
            <a:r>
              <a:rPr lang="en-US" altLang="zh-CN" sz="2800" baseline="-25000" dirty="0"/>
              <a:t>i</a:t>
            </a:r>
            <a:r>
              <a:rPr lang="zh-CN" altLang="en-US" sz="2800" i="0" dirty="0">
                <a:latin typeface="+mn-lt"/>
                <a:ea typeface="微软雅黑" panose="020B0503020204020204" pitchFamily="34" charset="-122"/>
              </a:rPr>
              <a:t>，质点系的动能为</a:t>
            </a:r>
          </a:p>
        </p:txBody>
      </p:sp>
      <p:graphicFrame>
        <p:nvGraphicFramePr>
          <p:cNvPr id="9" name="Object 6">
            <a:extLst>
              <a:ext uri="{FF2B5EF4-FFF2-40B4-BE49-F238E27FC236}">
                <a16:creationId xmlns:a16="http://schemas.microsoft.com/office/drawing/2014/main" id="{CC120B13-6455-D469-4CA7-09F1CD516F98}"/>
              </a:ext>
            </a:extLst>
          </p:cNvPr>
          <p:cNvGraphicFramePr>
            <a:graphicFrameLocks noChangeAspect="1"/>
          </p:cNvGraphicFramePr>
          <p:nvPr>
            <p:extLst>
              <p:ext uri="{D42A27DB-BD31-4B8C-83A1-F6EECF244321}">
                <p14:modId xmlns:p14="http://schemas.microsoft.com/office/powerpoint/2010/main" val="3746122603"/>
              </p:ext>
            </p:extLst>
          </p:nvPr>
        </p:nvGraphicFramePr>
        <p:xfrm>
          <a:off x="3489325" y="5373688"/>
          <a:ext cx="2246313" cy="927100"/>
        </p:xfrm>
        <a:graphic>
          <a:graphicData uri="http://schemas.openxmlformats.org/presentationml/2006/ole">
            <mc:AlternateContent xmlns:mc="http://schemas.openxmlformats.org/markup-compatibility/2006">
              <mc:Choice xmlns:v="urn:schemas-microsoft-com:vml" Requires="v">
                <p:oleObj spid="_x0000_s21533" name="Equation" r:id="rId6" imgW="939600" imgH="393480" progId="Equation.DSMT4">
                  <p:embed/>
                </p:oleObj>
              </mc:Choice>
              <mc:Fallback>
                <p:oleObj name="Equation" r:id="rId6" imgW="939600" imgH="393480" progId="Equation.DSMT4">
                  <p:embed/>
                  <p:pic>
                    <p:nvPicPr>
                      <p:cNvPr id="3" name="Object 6">
                        <a:extLst>
                          <a:ext uri="{FF2B5EF4-FFF2-40B4-BE49-F238E27FC236}">
                            <a16:creationId xmlns:a16="http://schemas.microsoft.com/office/drawing/2014/main" id="{A3518E01-9DFC-35C8-6B91-F87AB3F09FD5}"/>
                          </a:ext>
                        </a:extLst>
                      </p:cNvPr>
                      <p:cNvPicPr>
                        <a:picLocks noChangeAspect="1" noChangeArrowheads="1"/>
                      </p:cNvPicPr>
                      <p:nvPr/>
                    </p:nvPicPr>
                    <p:blipFill>
                      <a:blip r:embed="rId7"/>
                      <a:srcRect/>
                      <a:stretch>
                        <a:fillRect/>
                      </a:stretch>
                    </p:blipFill>
                    <p:spPr bwMode="auto">
                      <a:xfrm>
                        <a:off x="3489325" y="5373688"/>
                        <a:ext cx="2246313" cy="927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113121894"/>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left)">
                                      <p:cBhvr>
                                        <p:cTn id="11" dur="3000"/>
                                        <p:tgtEl>
                                          <p:spTgt spid="3"/>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499"/>
                                          </p:stCondLst>
                                        </p:cTn>
                                        <p:tgtEl>
                                          <p:spTgt spid="4"/>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wipe(left)">
                                      <p:cBhvr>
                                        <p:cTn id="20" dur="3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utoUpdateAnimBg="0"/>
      <p:bldP spid="4" grpId="0"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4653838"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第七章   动力学普遍定理</a:t>
            </a:r>
          </a:p>
        </p:txBody>
      </p:sp>
      <p:sp>
        <p:nvSpPr>
          <p:cNvPr id="52" name="Text Box 1032"/>
          <p:cNvSpPr txBox="1">
            <a:spLocks noChangeArrowheads="1"/>
          </p:cNvSpPr>
          <p:nvPr/>
        </p:nvSpPr>
        <p:spPr bwMode="auto">
          <a:xfrm>
            <a:off x="570416" y="886007"/>
            <a:ext cx="10422128" cy="1594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20000"/>
              </a:lnSpc>
            </a:pPr>
            <a:r>
              <a:rPr lang="zh-CN" altLang="en-US" sz="2800" i="0" dirty="0">
                <a:solidFill>
                  <a:srgbClr val="FF00FF"/>
                </a:solidFill>
                <a:ea typeface="微软雅黑" panose="020B0503020204020204" pitchFamily="34" charset="-122"/>
              </a:rPr>
              <a:t>（</a:t>
            </a:r>
            <a:r>
              <a:rPr lang="en-US" altLang="zh-CN" sz="2800" i="0" dirty="0">
                <a:solidFill>
                  <a:srgbClr val="FF00FF"/>
                </a:solidFill>
                <a:ea typeface="微软雅黑" panose="020B0503020204020204" pitchFamily="34" charset="-122"/>
              </a:rPr>
              <a:t>1</a:t>
            </a:r>
            <a:r>
              <a:rPr lang="zh-CN" altLang="en-US" sz="2800" i="0" dirty="0">
                <a:solidFill>
                  <a:srgbClr val="FF00FF"/>
                </a:solidFill>
                <a:ea typeface="微软雅黑" panose="020B0503020204020204" pitchFamily="34" charset="-122"/>
              </a:rPr>
              <a:t>）平移刚体的动能</a:t>
            </a:r>
            <a:endParaRPr lang="en-US" altLang="zh-CN" sz="2800" i="0" dirty="0">
              <a:solidFill>
                <a:srgbClr val="FF0000"/>
              </a:solidFill>
              <a:latin typeface="微软雅黑" panose="020B0503020204020204" pitchFamily="34" charset="-122"/>
              <a:ea typeface="微软雅黑" panose="020B0503020204020204" pitchFamily="34" charset="-122"/>
            </a:endParaRPr>
          </a:p>
          <a:p>
            <a:pPr algn="just">
              <a:lnSpc>
                <a:spcPct val="120000"/>
              </a:lnSpc>
            </a:pPr>
            <a:r>
              <a:rPr lang="zh-CN" altLang="en-US" sz="2800" i="0" dirty="0">
                <a:latin typeface="+mn-lt"/>
                <a:ea typeface="微软雅黑" panose="020B0503020204020204" pitchFamily="34" charset="-122"/>
              </a:rPr>
              <a:t>刚体平动时，其内各质点的瞬时速度都相同，等于刚体的质量</a:t>
            </a:r>
            <a:r>
              <a:rPr lang="en-US" altLang="zh-CN" sz="2800" b="0" dirty="0">
                <a:latin typeface="+mn-lt"/>
                <a:ea typeface="微软雅黑" panose="020B0503020204020204" pitchFamily="34" charset="-122"/>
              </a:rPr>
              <a:t>m</a:t>
            </a:r>
            <a:r>
              <a:rPr lang="zh-CN" altLang="en-US" sz="2800" i="0" dirty="0">
                <a:latin typeface="+mn-lt"/>
                <a:ea typeface="微软雅黑" panose="020B0503020204020204" pitchFamily="34" charset="-122"/>
              </a:rPr>
              <a:t>与其质心速度平方乘积的一半。</a:t>
            </a:r>
          </a:p>
        </p:txBody>
      </p:sp>
      <p:graphicFrame>
        <p:nvGraphicFramePr>
          <p:cNvPr id="2" name="Object 6">
            <a:extLst>
              <a:ext uri="{FF2B5EF4-FFF2-40B4-BE49-F238E27FC236}">
                <a16:creationId xmlns:a16="http://schemas.microsoft.com/office/drawing/2014/main" id="{4F82FDEB-AAD9-608A-711A-6422E3D3E281}"/>
              </a:ext>
            </a:extLst>
          </p:cNvPr>
          <p:cNvGraphicFramePr>
            <a:graphicFrameLocks noChangeAspect="1"/>
          </p:cNvGraphicFramePr>
          <p:nvPr>
            <p:extLst>
              <p:ext uri="{D42A27DB-BD31-4B8C-83A1-F6EECF244321}">
                <p14:modId xmlns:p14="http://schemas.microsoft.com/office/powerpoint/2010/main" val="2839688488"/>
              </p:ext>
            </p:extLst>
          </p:nvPr>
        </p:nvGraphicFramePr>
        <p:xfrm>
          <a:off x="2001838" y="2480033"/>
          <a:ext cx="5221287" cy="927100"/>
        </p:xfrm>
        <a:graphic>
          <a:graphicData uri="http://schemas.openxmlformats.org/presentationml/2006/ole">
            <mc:AlternateContent xmlns:mc="http://schemas.openxmlformats.org/markup-compatibility/2006">
              <mc:Choice xmlns:v="urn:schemas-microsoft-com:vml" Requires="v">
                <p:oleObj spid="_x0000_s22556" name="Equation" r:id="rId4" imgW="2184120" imgH="393480" progId="Equation.DSMT4">
                  <p:embed/>
                </p:oleObj>
              </mc:Choice>
              <mc:Fallback>
                <p:oleObj name="Equation" r:id="rId4" imgW="2184120" imgH="393480" progId="Equation.DSMT4">
                  <p:embed/>
                  <p:pic>
                    <p:nvPicPr>
                      <p:cNvPr id="9" name="Object 6">
                        <a:extLst>
                          <a:ext uri="{FF2B5EF4-FFF2-40B4-BE49-F238E27FC236}">
                            <a16:creationId xmlns:a16="http://schemas.microsoft.com/office/drawing/2014/main" id="{CC120B13-6455-D469-4CA7-09F1CD516F98}"/>
                          </a:ext>
                        </a:extLst>
                      </p:cNvPr>
                      <p:cNvPicPr>
                        <a:picLocks noChangeAspect="1" noChangeArrowheads="1"/>
                      </p:cNvPicPr>
                      <p:nvPr/>
                    </p:nvPicPr>
                    <p:blipFill>
                      <a:blip r:embed="rId5"/>
                      <a:srcRect/>
                      <a:stretch>
                        <a:fillRect/>
                      </a:stretch>
                    </p:blipFill>
                    <p:spPr bwMode="auto">
                      <a:xfrm>
                        <a:off x="2001838" y="2480033"/>
                        <a:ext cx="5221287" cy="927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Text Box 1032">
            <a:extLst>
              <a:ext uri="{FF2B5EF4-FFF2-40B4-BE49-F238E27FC236}">
                <a16:creationId xmlns:a16="http://schemas.microsoft.com/office/drawing/2014/main" id="{FE2589C1-40FA-EC6C-240F-9DF1EC83AE4D}"/>
              </a:ext>
            </a:extLst>
          </p:cNvPr>
          <p:cNvSpPr txBox="1">
            <a:spLocks noChangeArrowheads="1"/>
          </p:cNvSpPr>
          <p:nvPr/>
        </p:nvSpPr>
        <p:spPr bwMode="auto">
          <a:xfrm>
            <a:off x="570416" y="3450868"/>
            <a:ext cx="10422128" cy="1598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20000"/>
              </a:lnSpc>
            </a:pPr>
            <a:r>
              <a:rPr lang="zh-CN" altLang="en-US" sz="2800" i="0" dirty="0">
                <a:solidFill>
                  <a:srgbClr val="FF00FF"/>
                </a:solidFill>
                <a:ea typeface="微软雅黑" panose="020B0503020204020204" pitchFamily="34" charset="-122"/>
              </a:rPr>
              <a:t>（</a:t>
            </a:r>
            <a:r>
              <a:rPr lang="en-US" altLang="zh-CN" sz="2800" i="0" dirty="0">
                <a:solidFill>
                  <a:srgbClr val="FF00FF"/>
                </a:solidFill>
                <a:ea typeface="微软雅黑" panose="020B0503020204020204" pitchFamily="34" charset="-122"/>
              </a:rPr>
              <a:t>2</a:t>
            </a:r>
            <a:r>
              <a:rPr lang="zh-CN" altLang="en-US" sz="2800" i="0" dirty="0">
                <a:solidFill>
                  <a:srgbClr val="FF00FF"/>
                </a:solidFill>
                <a:ea typeface="微软雅黑" panose="020B0503020204020204" pitchFamily="34" charset="-122"/>
              </a:rPr>
              <a:t>）刚体定轴转动时的动能</a:t>
            </a:r>
            <a:endParaRPr lang="en-US" altLang="zh-CN" sz="2800" i="0" dirty="0">
              <a:solidFill>
                <a:srgbClr val="FF0000"/>
              </a:solidFill>
              <a:latin typeface="微软雅黑" panose="020B0503020204020204" pitchFamily="34" charset="-122"/>
              <a:ea typeface="微软雅黑" panose="020B0503020204020204" pitchFamily="34" charset="-122"/>
            </a:endParaRPr>
          </a:p>
          <a:p>
            <a:pPr algn="just">
              <a:lnSpc>
                <a:spcPct val="120000"/>
              </a:lnSpc>
            </a:pPr>
            <a:r>
              <a:rPr lang="zh-CN" altLang="en-US" sz="2800" i="0" dirty="0">
                <a:latin typeface="+mn-lt"/>
                <a:ea typeface="微软雅黑" panose="020B0503020204020204" pitchFamily="34" charset="-122"/>
              </a:rPr>
              <a:t>刚体刚体绕固定轴</a:t>
            </a:r>
            <a:r>
              <a:rPr lang="en-US" altLang="zh-CN" sz="2800" b="0" dirty="0">
                <a:latin typeface="+mn-lt"/>
                <a:ea typeface="微软雅黑" panose="020B0503020204020204" pitchFamily="34" charset="-122"/>
              </a:rPr>
              <a:t>z</a:t>
            </a:r>
            <a:r>
              <a:rPr lang="zh-CN" altLang="en-US" sz="2800" i="0" dirty="0">
                <a:latin typeface="+mn-lt"/>
                <a:ea typeface="微软雅黑" panose="020B0503020204020204" pitchFamily="34" charset="-122"/>
              </a:rPr>
              <a:t>转动，角速度为</a:t>
            </a:r>
            <a:r>
              <a:rPr lang="zh-CN" altLang="en-US" sz="2800" b="0" dirty="0">
                <a:latin typeface="+mn-lt"/>
                <a:ea typeface="微软雅黑" panose="020B0503020204020204" pitchFamily="34" charset="-122"/>
                <a:sym typeface="Symbol" panose="05050102010706020507" pitchFamily="18" charset="2"/>
              </a:rPr>
              <a:t></a:t>
            </a:r>
            <a:r>
              <a:rPr lang="zh-CN" altLang="en-US" sz="2800" i="0" dirty="0">
                <a:latin typeface="+mn-lt"/>
                <a:ea typeface="微软雅黑" panose="020B0503020204020204" pitchFamily="34" charset="-122"/>
                <a:sym typeface="Symbol" panose="05050102010706020507" pitchFamily="18" charset="2"/>
              </a:rPr>
              <a:t>，</a:t>
            </a:r>
            <a:r>
              <a:rPr lang="zh-CN" altLang="en-US" sz="2800" i="0" dirty="0">
                <a:latin typeface="+mn-lt"/>
                <a:ea typeface="微软雅黑" panose="020B0503020204020204" pitchFamily="34" charset="-122"/>
              </a:rPr>
              <a:t>任一质点的质点的质量为</a:t>
            </a:r>
            <a:r>
              <a:rPr lang="en-US" altLang="zh-CN" sz="2800" b="0" dirty="0"/>
              <a:t>m</a:t>
            </a:r>
            <a:r>
              <a:rPr lang="en-US" altLang="zh-CN" sz="2800" b="0" baseline="-25000" dirty="0"/>
              <a:t>i</a:t>
            </a:r>
            <a:r>
              <a:rPr lang="zh-CN" altLang="en-US" sz="2800" i="0" dirty="0">
                <a:latin typeface="+mn-lt"/>
                <a:ea typeface="微软雅黑" panose="020B0503020204020204" pitchFamily="34" charset="-122"/>
              </a:rPr>
              <a:t>，离</a:t>
            </a:r>
            <a:r>
              <a:rPr lang="en-US" altLang="zh-CN" sz="2800" b="0" dirty="0">
                <a:latin typeface="+mn-lt"/>
                <a:ea typeface="微软雅黑" panose="020B0503020204020204" pitchFamily="34" charset="-122"/>
              </a:rPr>
              <a:t>z</a:t>
            </a:r>
            <a:r>
              <a:rPr lang="zh-CN" altLang="en-US" sz="2800" i="0" dirty="0">
                <a:latin typeface="+mn-lt"/>
                <a:ea typeface="微软雅黑" panose="020B0503020204020204" pitchFamily="34" charset="-122"/>
              </a:rPr>
              <a:t>轴的距离为</a:t>
            </a:r>
            <a:r>
              <a:rPr lang="en-US" altLang="zh-CN" sz="2800" b="0" dirty="0" err="1"/>
              <a:t>r</a:t>
            </a:r>
            <a:r>
              <a:rPr lang="en-US" altLang="zh-CN" sz="2800" b="0" baseline="-25000" dirty="0" err="1"/>
              <a:t>i</a:t>
            </a:r>
            <a:r>
              <a:rPr lang="en-US" altLang="zh-CN" sz="2800" b="0" baseline="-25000" dirty="0"/>
              <a:t> </a:t>
            </a:r>
            <a:r>
              <a:rPr lang="zh-CN" altLang="en-US" sz="2800" i="0" dirty="0">
                <a:latin typeface="+mn-lt"/>
                <a:ea typeface="微软雅黑" panose="020B0503020204020204" pitchFamily="34" charset="-122"/>
              </a:rPr>
              <a:t>，速度</a:t>
            </a:r>
            <a:r>
              <a:rPr lang="en-US" altLang="zh-CN" sz="2800" b="0" dirty="0">
                <a:latin typeface="+mn-lt"/>
              </a:rPr>
              <a:t>v</a:t>
            </a:r>
            <a:r>
              <a:rPr lang="en-US" altLang="zh-CN" sz="2800" b="0" baseline="-25000" dirty="0"/>
              <a:t>i</a:t>
            </a:r>
            <a:r>
              <a:rPr lang="en-US" altLang="zh-CN" sz="2800" b="0" dirty="0"/>
              <a:t>=</a:t>
            </a:r>
            <a:r>
              <a:rPr lang="en-US" altLang="zh-CN" sz="2800" b="0" dirty="0" err="1"/>
              <a:t>r</a:t>
            </a:r>
            <a:r>
              <a:rPr lang="en-US" altLang="zh-CN" sz="2800" b="0" baseline="-25000" dirty="0" err="1"/>
              <a:t>i</a:t>
            </a:r>
            <a:r>
              <a:rPr lang="en-US" altLang="zh-CN" sz="2800" b="0" dirty="0">
                <a:sym typeface="Symbol" panose="05050102010706020507" pitchFamily="18" charset="2"/>
              </a:rPr>
              <a:t></a:t>
            </a:r>
            <a:r>
              <a:rPr lang="zh-CN" altLang="en-US" sz="2800" i="0" dirty="0">
                <a:latin typeface="+mn-lt"/>
                <a:ea typeface="微软雅黑" panose="020B0503020204020204" pitchFamily="34" charset="-122"/>
              </a:rPr>
              <a:t>，则刚体的动能为</a:t>
            </a:r>
          </a:p>
        </p:txBody>
      </p:sp>
      <p:graphicFrame>
        <p:nvGraphicFramePr>
          <p:cNvPr id="8" name="Object 6">
            <a:extLst>
              <a:ext uri="{FF2B5EF4-FFF2-40B4-BE49-F238E27FC236}">
                <a16:creationId xmlns:a16="http://schemas.microsoft.com/office/drawing/2014/main" id="{D2EDBFAE-C89F-5A8D-91D2-8BBDB19C3252}"/>
              </a:ext>
            </a:extLst>
          </p:cNvPr>
          <p:cNvGraphicFramePr>
            <a:graphicFrameLocks noChangeAspect="1"/>
          </p:cNvGraphicFramePr>
          <p:nvPr>
            <p:extLst>
              <p:ext uri="{D42A27DB-BD31-4B8C-83A1-F6EECF244321}">
                <p14:modId xmlns:p14="http://schemas.microsoft.com/office/powerpoint/2010/main" val="789679760"/>
              </p:ext>
            </p:extLst>
          </p:nvPr>
        </p:nvGraphicFramePr>
        <p:xfrm>
          <a:off x="1758950" y="5329808"/>
          <a:ext cx="5707063" cy="927100"/>
        </p:xfrm>
        <a:graphic>
          <a:graphicData uri="http://schemas.openxmlformats.org/presentationml/2006/ole">
            <mc:AlternateContent xmlns:mc="http://schemas.openxmlformats.org/markup-compatibility/2006">
              <mc:Choice xmlns:v="urn:schemas-microsoft-com:vml" Requires="v">
                <p:oleObj spid="_x0000_s22557" name="Equation" r:id="rId6" imgW="2387520" imgH="393480" progId="Equation.DSMT4">
                  <p:embed/>
                </p:oleObj>
              </mc:Choice>
              <mc:Fallback>
                <p:oleObj name="Equation" r:id="rId6" imgW="2387520" imgH="393480" progId="Equation.DSMT4">
                  <p:embed/>
                  <p:pic>
                    <p:nvPicPr>
                      <p:cNvPr id="2" name="Object 6">
                        <a:extLst>
                          <a:ext uri="{FF2B5EF4-FFF2-40B4-BE49-F238E27FC236}">
                            <a16:creationId xmlns:a16="http://schemas.microsoft.com/office/drawing/2014/main" id="{4F82FDEB-AAD9-608A-711A-6422E3D3E281}"/>
                          </a:ext>
                        </a:extLst>
                      </p:cNvPr>
                      <p:cNvPicPr>
                        <a:picLocks noChangeAspect="1" noChangeArrowheads="1"/>
                      </p:cNvPicPr>
                      <p:nvPr/>
                    </p:nvPicPr>
                    <p:blipFill>
                      <a:blip r:embed="rId7"/>
                      <a:srcRect/>
                      <a:stretch>
                        <a:fillRect/>
                      </a:stretch>
                    </p:blipFill>
                    <p:spPr bwMode="auto">
                      <a:xfrm>
                        <a:off x="1758950" y="5329808"/>
                        <a:ext cx="5707063" cy="927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997831092"/>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left)">
                                      <p:cBhvr>
                                        <p:cTn id="11" dur="3000"/>
                                        <p:tgtEl>
                                          <p:spTgt spid="2"/>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499"/>
                                          </p:stCondLst>
                                        </p:cTn>
                                        <p:tgtEl>
                                          <p:spTgt spid="5"/>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wipe(left)">
                                      <p:cBhvr>
                                        <p:cTn id="20" dur="3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utoUpdateAnimBg="0"/>
      <p:bldP spid="5" grpId="0"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4653838"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第七章   动力学普遍定理</a:t>
            </a:r>
          </a:p>
        </p:txBody>
      </p:sp>
      <p:sp>
        <p:nvSpPr>
          <p:cNvPr id="52" name="Text Box 1032"/>
          <p:cNvSpPr txBox="1">
            <a:spLocks noChangeArrowheads="1"/>
          </p:cNvSpPr>
          <p:nvPr/>
        </p:nvSpPr>
        <p:spPr bwMode="auto">
          <a:xfrm>
            <a:off x="570416" y="886007"/>
            <a:ext cx="8117872" cy="2632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20000"/>
              </a:lnSpc>
            </a:pPr>
            <a:r>
              <a:rPr lang="zh-CN" altLang="en-US" sz="2800" i="0" dirty="0">
                <a:solidFill>
                  <a:srgbClr val="FF00FF"/>
                </a:solidFill>
                <a:ea typeface="微软雅黑" panose="020B0503020204020204" pitchFamily="34" charset="-122"/>
              </a:rPr>
              <a:t>（</a:t>
            </a:r>
            <a:r>
              <a:rPr lang="en-US" altLang="zh-CN" sz="2800" i="0" dirty="0">
                <a:solidFill>
                  <a:srgbClr val="FF00FF"/>
                </a:solidFill>
                <a:ea typeface="微软雅黑" panose="020B0503020204020204" pitchFamily="34" charset="-122"/>
              </a:rPr>
              <a:t>3</a:t>
            </a:r>
            <a:r>
              <a:rPr lang="zh-CN" altLang="en-US" sz="2800" i="0" dirty="0">
                <a:solidFill>
                  <a:srgbClr val="FF00FF"/>
                </a:solidFill>
                <a:ea typeface="微软雅黑" panose="020B0503020204020204" pitchFamily="34" charset="-122"/>
              </a:rPr>
              <a:t>）刚体作平面运动时的动能</a:t>
            </a:r>
            <a:endParaRPr lang="en-US" altLang="zh-CN" sz="2800" i="0" dirty="0">
              <a:solidFill>
                <a:srgbClr val="FF0000"/>
              </a:solidFill>
              <a:latin typeface="微软雅黑" panose="020B0503020204020204" pitchFamily="34" charset="-122"/>
              <a:ea typeface="微软雅黑" panose="020B0503020204020204" pitchFamily="34" charset="-122"/>
            </a:endParaRPr>
          </a:p>
          <a:p>
            <a:pPr algn="just">
              <a:lnSpc>
                <a:spcPct val="120000"/>
              </a:lnSpc>
            </a:pPr>
            <a:r>
              <a:rPr lang="zh-CN" altLang="en-US" sz="2800" i="0" dirty="0">
                <a:latin typeface="+mn-lt"/>
                <a:ea typeface="微软雅黑" panose="020B0503020204020204" pitchFamily="34" charset="-122"/>
              </a:rPr>
              <a:t>设作平面运动的刚体的质量为</a:t>
            </a:r>
            <a:r>
              <a:rPr lang="en-US" altLang="zh-CN" sz="2800" b="0" dirty="0">
                <a:latin typeface="+mn-lt"/>
                <a:ea typeface="微软雅黑" panose="020B0503020204020204" pitchFamily="34" charset="-122"/>
              </a:rPr>
              <a:t>m</a:t>
            </a:r>
            <a:r>
              <a:rPr lang="zh-CN" altLang="en-US" sz="2800" i="0" dirty="0">
                <a:latin typeface="+mn-lt"/>
                <a:ea typeface="微软雅黑" panose="020B0503020204020204" pitchFamily="34" charset="-122"/>
              </a:rPr>
              <a:t>，在某瞬时的速度瞬心为</a:t>
            </a:r>
            <a:r>
              <a:rPr lang="en-US" altLang="zh-CN" sz="2800" b="0" dirty="0">
                <a:latin typeface="+mn-lt"/>
                <a:ea typeface="微软雅黑" panose="020B0503020204020204" pitchFamily="34" charset="-122"/>
              </a:rPr>
              <a:t>P</a:t>
            </a:r>
            <a:r>
              <a:rPr lang="zh-CN" altLang="en-US" sz="2800" i="0" dirty="0">
                <a:latin typeface="+mn-lt"/>
                <a:ea typeface="微软雅黑" panose="020B0503020204020204" pitchFamily="34" charset="-122"/>
              </a:rPr>
              <a:t>，质心为</a:t>
            </a:r>
            <a:r>
              <a:rPr lang="en-US" altLang="zh-CN" sz="2800" b="0" dirty="0">
                <a:latin typeface="+mn-lt"/>
                <a:ea typeface="微软雅黑" panose="020B0503020204020204" pitchFamily="34" charset="-122"/>
              </a:rPr>
              <a:t>C</a:t>
            </a:r>
            <a:r>
              <a:rPr lang="zh-CN" altLang="en-US" sz="2800" i="0" dirty="0">
                <a:latin typeface="+mn-lt"/>
                <a:ea typeface="微软雅黑" panose="020B0503020204020204" pitchFamily="34" charset="-122"/>
              </a:rPr>
              <a:t>，角速度为</a:t>
            </a:r>
            <a:r>
              <a:rPr lang="zh-CN" altLang="en-US" sz="2800" b="0" dirty="0">
                <a:latin typeface="+mn-lt"/>
                <a:ea typeface="微软雅黑" panose="020B0503020204020204" pitchFamily="34" charset="-122"/>
                <a:sym typeface="Symbol" panose="05050102010706020507" pitchFamily="18" charset="2"/>
              </a:rPr>
              <a:t></a:t>
            </a:r>
            <a:r>
              <a:rPr lang="zh-CN" altLang="en-US" sz="2800" i="0" dirty="0">
                <a:latin typeface="+mn-lt"/>
                <a:ea typeface="微软雅黑" panose="020B0503020204020204" pitchFamily="34" charset="-122"/>
              </a:rPr>
              <a:t>，此时可视刚体绕瞬心轴转动，则刚体的动能为</a:t>
            </a:r>
          </a:p>
          <a:p>
            <a:pPr algn="just">
              <a:lnSpc>
                <a:spcPct val="120000"/>
              </a:lnSpc>
            </a:pPr>
            <a:endParaRPr lang="zh-CN" altLang="en-US" sz="2800" i="0" dirty="0">
              <a:latin typeface="+mn-lt"/>
              <a:ea typeface="微软雅黑" panose="020B0503020204020204" pitchFamily="34" charset="-122"/>
            </a:endParaRPr>
          </a:p>
        </p:txBody>
      </p:sp>
      <p:sp>
        <p:nvSpPr>
          <p:cNvPr id="5" name="Text Box 1032">
            <a:extLst>
              <a:ext uri="{FF2B5EF4-FFF2-40B4-BE49-F238E27FC236}">
                <a16:creationId xmlns:a16="http://schemas.microsoft.com/office/drawing/2014/main" id="{FE2589C1-40FA-EC6C-240F-9DF1EC83AE4D}"/>
              </a:ext>
            </a:extLst>
          </p:cNvPr>
          <p:cNvSpPr txBox="1">
            <a:spLocks noChangeArrowheads="1"/>
          </p:cNvSpPr>
          <p:nvPr/>
        </p:nvSpPr>
        <p:spPr bwMode="auto">
          <a:xfrm>
            <a:off x="570416" y="3255065"/>
            <a:ext cx="8252511" cy="1082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lnSpc>
                <a:spcPct val="120000"/>
              </a:lnSpc>
            </a:pPr>
            <a:r>
              <a:rPr lang="zh-CN" altLang="en-US" sz="2800" i="0" dirty="0">
                <a:latin typeface="+mn-lt"/>
                <a:ea typeface="微软雅黑" panose="020B0503020204020204" pitchFamily="34" charset="-122"/>
              </a:rPr>
              <a:t>取通过质心</a:t>
            </a:r>
            <a:r>
              <a:rPr lang="en-US" altLang="zh-CN" sz="2800" b="0" dirty="0">
                <a:latin typeface="+mn-lt"/>
                <a:ea typeface="微软雅黑" panose="020B0503020204020204" pitchFamily="34" charset="-122"/>
              </a:rPr>
              <a:t>C</a:t>
            </a:r>
            <a:r>
              <a:rPr lang="zh-CN" altLang="en-US" sz="2800" i="0" dirty="0">
                <a:latin typeface="+mn-lt"/>
                <a:ea typeface="微软雅黑" panose="020B0503020204020204" pitchFamily="34" charset="-122"/>
              </a:rPr>
              <a:t>并与瞬心轴平行的轴，刚体对质心轴的转动惯量为</a:t>
            </a:r>
            <a:r>
              <a:rPr lang="en-US" altLang="zh-CN" sz="2800" b="0" dirty="0"/>
              <a:t>J</a:t>
            </a:r>
            <a:r>
              <a:rPr lang="en-US" altLang="zh-CN" sz="2800" b="0" baseline="-25000" dirty="0"/>
              <a:t>C</a:t>
            </a:r>
            <a:r>
              <a:rPr lang="zh-CN" altLang="en-US" sz="2800" dirty="0"/>
              <a:t>，</a:t>
            </a:r>
            <a:r>
              <a:rPr lang="zh-CN" altLang="en-US" sz="2800" i="0" dirty="0">
                <a:latin typeface="+mn-lt"/>
                <a:ea typeface="微软雅黑" panose="020B0503020204020204" pitchFamily="34" charset="-122"/>
              </a:rPr>
              <a:t>两轴距离为</a:t>
            </a:r>
            <a:r>
              <a:rPr lang="en-US" altLang="zh-CN" sz="2800" b="0" dirty="0" err="1"/>
              <a:t>r</a:t>
            </a:r>
            <a:r>
              <a:rPr lang="en-US" altLang="zh-CN" sz="2800" b="0" baseline="-25000" dirty="0" err="1"/>
              <a:t>C</a:t>
            </a:r>
            <a:r>
              <a:rPr lang="zh-CN" altLang="en-US" sz="2800" i="0" dirty="0">
                <a:latin typeface="+mn-lt"/>
                <a:ea typeface="微软雅黑" panose="020B0503020204020204" pitchFamily="34" charset="-122"/>
              </a:rPr>
              <a:t>，由平行移轴定理有</a:t>
            </a:r>
            <a:endParaRPr lang="zh-CN" altLang="en-US" sz="2800" b="0" i="0" dirty="0">
              <a:latin typeface="+mn-lt"/>
              <a:ea typeface="微软雅黑" panose="020B0503020204020204" pitchFamily="34" charset="-122"/>
            </a:endParaRPr>
          </a:p>
        </p:txBody>
      </p:sp>
      <p:graphicFrame>
        <p:nvGraphicFramePr>
          <p:cNvPr id="8" name="Object 6">
            <a:extLst>
              <a:ext uri="{FF2B5EF4-FFF2-40B4-BE49-F238E27FC236}">
                <a16:creationId xmlns:a16="http://schemas.microsoft.com/office/drawing/2014/main" id="{D2EDBFAE-C89F-5A8D-91D2-8BBDB19C3252}"/>
              </a:ext>
            </a:extLst>
          </p:cNvPr>
          <p:cNvGraphicFramePr>
            <a:graphicFrameLocks noChangeAspect="1"/>
          </p:cNvGraphicFramePr>
          <p:nvPr>
            <p:extLst>
              <p:ext uri="{D42A27DB-BD31-4B8C-83A1-F6EECF244321}">
                <p14:modId xmlns:p14="http://schemas.microsoft.com/office/powerpoint/2010/main" val="1758508326"/>
              </p:ext>
            </p:extLst>
          </p:nvPr>
        </p:nvGraphicFramePr>
        <p:xfrm>
          <a:off x="5519936" y="2365864"/>
          <a:ext cx="1746478" cy="859986"/>
        </p:xfrm>
        <a:graphic>
          <a:graphicData uri="http://schemas.openxmlformats.org/presentationml/2006/ole">
            <mc:AlternateContent xmlns:mc="http://schemas.openxmlformats.org/markup-compatibility/2006">
              <mc:Choice xmlns:v="urn:schemas-microsoft-com:vml" Requires="v">
                <p:oleObj spid="_x0000_s23593" name="Equation" r:id="rId4" imgW="787320" imgH="393480" progId="Equation.DSMT4">
                  <p:embed/>
                </p:oleObj>
              </mc:Choice>
              <mc:Fallback>
                <p:oleObj name="Equation" r:id="rId4" imgW="787320" imgH="393480" progId="Equation.DSMT4">
                  <p:embed/>
                  <p:pic>
                    <p:nvPicPr>
                      <p:cNvPr id="8" name="Object 6">
                        <a:extLst>
                          <a:ext uri="{FF2B5EF4-FFF2-40B4-BE49-F238E27FC236}">
                            <a16:creationId xmlns:a16="http://schemas.microsoft.com/office/drawing/2014/main" id="{D2EDBFAE-C89F-5A8D-91D2-8BBDB19C3252}"/>
                          </a:ext>
                        </a:extLst>
                      </p:cNvPr>
                      <p:cNvPicPr>
                        <a:picLocks noChangeAspect="1" noChangeArrowheads="1"/>
                      </p:cNvPicPr>
                      <p:nvPr/>
                    </p:nvPicPr>
                    <p:blipFill>
                      <a:blip r:embed="rId5"/>
                      <a:srcRect/>
                      <a:stretch>
                        <a:fillRect/>
                      </a:stretch>
                    </p:blipFill>
                    <p:spPr bwMode="auto">
                      <a:xfrm>
                        <a:off x="5519936" y="2365864"/>
                        <a:ext cx="1746478" cy="859986"/>
                      </a:xfrm>
                      <a:prstGeom prst="rect">
                        <a:avLst/>
                      </a:prstGeom>
                      <a:noFill/>
                    </p:spPr>
                  </p:pic>
                </p:oleObj>
              </mc:Fallback>
            </mc:AlternateContent>
          </a:graphicData>
        </a:graphic>
      </p:graphicFrame>
      <p:graphicFrame>
        <p:nvGraphicFramePr>
          <p:cNvPr id="3" name="Object 6">
            <a:extLst>
              <a:ext uri="{FF2B5EF4-FFF2-40B4-BE49-F238E27FC236}">
                <a16:creationId xmlns:a16="http://schemas.microsoft.com/office/drawing/2014/main" id="{A4AD9559-636C-8EC2-F0CB-C682F97AF8A0}"/>
              </a:ext>
            </a:extLst>
          </p:cNvPr>
          <p:cNvGraphicFramePr>
            <a:graphicFrameLocks noChangeAspect="1"/>
          </p:cNvGraphicFramePr>
          <p:nvPr>
            <p:extLst>
              <p:ext uri="{D42A27DB-BD31-4B8C-83A1-F6EECF244321}">
                <p14:modId xmlns:p14="http://schemas.microsoft.com/office/powerpoint/2010/main" val="3103235894"/>
              </p:ext>
            </p:extLst>
          </p:nvPr>
        </p:nvGraphicFramePr>
        <p:xfrm>
          <a:off x="767408" y="4544218"/>
          <a:ext cx="2125662" cy="568325"/>
        </p:xfrm>
        <a:graphic>
          <a:graphicData uri="http://schemas.openxmlformats.org/presentationml/2006/ole">
            <mc:AlternateContent xmlns:mc="http://schemas.openxmlformats.org/markup-compatibility/2006">
              <mc:Choice xmlns:v="urn:schemas-microsoft-com:vml" Requires="v">
                <p:oleObj spid="_x0000_s23594" name="Equation" r:id="rId6" imgW="888840" imgH="241200" progId="Equation.DSMT4">
                  <p:embed/>
                </p:oleObj>
              </mc:Choice>
              <mc:Fallback>
                <p:oleObj name="Equation" r:id="rId6" imgW="888840" imgH="241200" progId="Equation.DSMT4">
                  <p:embed/>
                  <p:pic>
                    <p:nvPicPr>
                      <p:cNvPr id="8" name="Object 6">
                        <a:extLst>
                          <a:ext uri="{FF2B5EF4-FFF2-40B4-BE49-F238E27FC236}">
                            <a16:creationId xmlns:a16="http://schemas.microsoft.com/office/drawing/2014/main" id="{D2EDBFAE-C89F-5A8D-91D2-8BBDB19C3252}"/>
                          </a:ext>
                        </a:extLst>
                      </p:cNvPr>
                      <p:cNvPicPr>
                        <a:picLocks noChangeAspect="1" noChangeArrowheads="1"/>
                      </p:cNvPicPr>
                      <p:nvPr/>
                    </p:nvPicPr>
                    <p:blipFill>
                      <a:blip r:embed="rId7"/>
                      <a:srcRect/>
                      <a:stretch>
                        <a:fillRect/>
                      </a:stretch>
                    </p:blipFill>
                    <p:spPr bwMode="auto">
                      <a:xfrm>
                        <a:off x="767408" y="4544218"/>
                        <a:ext cx="2125662" cy="5683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 name="Object 4">
            <a:extLst>
              <a:ext uri="{FF2B5EF4-FFF2-40B4-BE49-F238E27FC236}">
                <a16:creationId xmlns:a16="http://schemas.microsoft.com/office/drawing/2014/main" id="{05925EF5-2043-A9C2-BA7C-DA3AE8479046}"/>
              </a:ext>
            </a:extLst>
          </p:cNvPr>
          <p:cNvGraphicFramePr>
            <a:graphicFrameLocks noChangeAspect="1"/>
          </p:cNvGraphicFramePr>
          <p:nvPr>
            <p:extLst>
              <p:ext uri="{D42A27DB-BD31-4B8C-83A1-F6EECF244321}">
                <p14:modId xmlns:p14="http://schemas.microsoft.com/office/powerpoint/2010/main" val="4077979363"/>
              </p:ext>
            </p:extLst>
          </p:nvPr>
        </p:nvGraphicFramePr>
        <p:xfrm>
          <a:off x="3427101" y="4359276"/>
          <a:ext cx="8357532" cy="905630"/>
        </p:xfrm>
        <a:graphic>
          <a:graphicData uri="http://schemas.openxmlformats.org/presentationml/2006/ole">
            <mc:AlternateContent xmlns:mc="http://schemas.openxmlformats.org/markup-compatibility/2006">
              <mc:Choice xmlns:v="urn:schemas-microsoft-com:vml" Requires="v">
                <p:oleObj spid="_x0000_s23595" name="Equation" r:id="rId8" imgW="3606480" imgH="393480" progId="Equation.DSMT4">
                  <p:embed/>
                </p:oleObj>
              </mc:Choice>
              <mc:Fallback>
                <p:oleObj name="Equation" r:id="rId8" imgW="3606480" imgH="393480" progId="Equation.DSMT4">
                  <p:embed/>
                  <p:pic>
                    <p:nvPicPr>
                      <p:cNvPr id="1121284" name="Object 4">
                        <a:extLst>
                          <a:ext uri="{FF2B5EF4-FFF2-40B4-BE49-F238E27FC236}">
                            <a16:creationId xmlns:a16="http://schemas.microsoft.com/office/drawing/2014/main" id="{2083ED45-1539-1760-0014-1FE8780C5FE8}"/>
                          </a:ext>
                        </a:extLst>
                      </p:cNvPr>
                      <p:cNvPicPr>
                        <a:picLocks noChangeAspect="1" noChangeArrowheads="1"/>
                      </p:cNvPicPr>
                      <p:nvPr/>
                    </p:nvPicPr>
                    <p:blipFill>
                      <a:blip r:embed="rId9"/>
                      <a:srcRect/>
                      <a:stretch>
                        <a:fillRect/>
                      </a:stretch>
                    </p:blipFill>
                    <p:spPr bwMode="auto">
                      <a:xfrm>
                        <a:off x="3427101" y="4359276"/>
                        <a:ext cx="8357532" cy="905630"/>
                      </a:xfrm>
                      <a:prstGeom prst="rect">
                        <a:avLst/>
                      </a:prstGeom>
                      <a:noFill/>
                    </p:spPr>
                  </p:pic>
                </p:oleObj>
              </mc:Fallback>
            </mc:AlternateContent>
          </a:graphicData>
        </a:graphic>
      </p:graphicFrame>
      <p:sp>
        <p:nvSpPr>
          <p:cNvPr id="6" name="Text Box 1032">
            <a:extLst>
              <a:ext uri="{FF2B5EF4-FFF2-40B4-BE49-F238E27FC236}">
                <a16:creationId xmlns:a16="http://schemas.microsoft.com/office/drawing/2014/main" id="{5791581B-BE67-3A48-1B9D-9819F7A0BAC4}"/>
              </a:ext>
            </a:extLst>
          </p:cNvPr>
          <p:cNvSpPr txBox="1">
            <a:spLocks noChangeArrowheads="1"/>
          </p:cNvSpPr>
          <p:nvPr/>
        </p:nvSpPr>
        <p:spPr bwMode="auto">
          <a:xfrm>
            <a:off x="570416" y="5226678"/>
            <a:ext cx="9414016" cy="1082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lnSpc>
                <a:spcPct val="120000"/>
              </a:lnSpc>
            </a:pPr>
            <a:r>
              <a:rPr lang="zh-CN" altLang="en-US" sz="2800" i="0" dirty="0">
                <a:latin typeface="+mn-lt"/>
                <a:ea typeface="微软雅黑" panose="020B0503020204020204" pitchFamily="34" charset="-122"/>
              </a:rPr>
              <a:t>刚体作平面运动时的动能，等于随质心平动的动能与相对于质心转动的动能之和。 </a:t>
            </a:r>
          </a:p>
        </p:txBody>
      </p:sp>
      <p:sp>
        <p:nvSpPr>
          <p:cNvPr id="9" name="Rectangle 61">
            <a:extLst>
              <a:ext uri="{FF2B5EF4-FFF2-40B4-BE49-F238E27FC236}">
                <a16:creationId xmlns:a16="http://schemas.microsoft.com/office/drawing/2014/main" id="{98089CD3-02A2-5331-B7A0-9F51B3C1BC21}"/>
              </a:ext>
            </a:extLst>
          </p:cNvPr>
          <p:cNvSpPr>
            <a:spLocks noChangeArrowheads="1"/>
          </p:cNvSpPr>
          <p:nvPr/>
        </p:nvSpPr>
        <p:spPr bwMode="auto">
          <a:xfrm>
            <a:off x="8904311" y="907802"/>
            <a:ext cx="3188817" cy="3429675"/>
          </a:xfrm>
          <a:prstGeom prst="rect">
            <a:avLst/>
          </a:prstGeom>
          <a:solidFill>
            <a:srgbClr val="B9CDE5"/>
          </a:solidFill>
          <a:ln>
            <a:noFill/>
          </a:ln>
          <a:effectLst/>
        </p:spPr>
        <p:txBody>
          <a:bodyPr wrap="none" anchor="ctr"/>
          <a:lstStyle/>
          <a:p>
            <a:endParaRPr lang="zh-CN" altLang="en-US"/>
          </a:p>
        </p:txBody>
      </p:sp>
      <p:pic>
        <p:nvPicPr>
          <p:cNvPr id="10" name="Picture 16" descr="13-2">
            <a:extLst>
              <a:ext uri="{FF2B5EF4-FFF2-40B4-BE49-F238E27FC236}">
                <a16:creationId xmlns:a16="http://schemas.microsoft.com/office/drawing/2014/main" id="{47727790-8154-5B91-D11A-2CBC73F4D7E5}"/>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089019" y="1173137"/>
            <a:ext cx="2819400" cy="281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79914048"/>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ipe(left)">
                                      <p:cBhvr>
                                        <p:cTn id="11" dur="3000"/>
                                        <p:tgtEl>
                                          <p:spTgt spid="8"/>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499"/>
                                          </p:stCondLst>
                                        </p:cTn>
                                        <p:tgtEl>
                                          <p:spTgt spid="5"/>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wipe(left)">
                                      <p:cBhvr>
                                        <p:cTn id="20" dur="3000"/>
                                        <p:tgtEl>
                                          <p:spTgt spid="3"/>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wipe(left)">
                                      <p:cBhvr>
                                        <p:cTn id="25" dur="3000"/>
                                        <p:tgtEl>
                                          <p:spTgt spid="4"/>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499"/>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utoUpdateAnimBg="0"/>
      <p:bldP spid="5" grpId="0" autoUpdateAnimBg="0"/>
      <p:bldP spid="6" grpId="0"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4653838"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第七章   动力学普遍定理</a:t>
            </a:r>
          </a:p>
        </p:txBody>
      </p:sp>
      <p:sp>
        <p:nvSpPr>
          <p:cNvPr id="9" name="Rectangle 61">
            <a:extLst>
              <a:ext uri="{FF2B5EF4-FFF2-40B4-BE49-F238E27FC236}">
                <a16:creationId xmlns:a16="http://schemas.microsoft.com/office/drawing/2014/main" id="{0C4CF67B-8CA2-F648-B364-D8C44A49A572}"/>
              </a:ext>
            </a:extLst>
          </p:cNvPr>
          <p:cNvSpPr>
            <a:spLocks noChangeArrowheads="1"/>
          </p:cNvSpPr>
          <p:nvPr/>
        </p:nvSpPr>
        <p:spPr bwMode="auto">
          <a:xfrm>
            <a:off x="8155741" y="842981"/>
            <a:ext cx="3888432" cy="3231124"/>
          </a:xfrm>
          <a:prstGeom prst="rect">
            <a:avLst/>
          </a:prstGeom>
          <a:solidFill>
            <a:srgbClr val="B9CDE5"/>
          </a:solidFill>
          <a:ln>
            <a:noFill/>
          </a:ln>
          <a:effectLst/>
        </p:spPr>
        <p:txBody>
          <a:bodyPr wrap="none" anchor="ctr"/>
          <a:lstStyle/>
          <a:p>
            <a:endParaRPr lang="zh-CN" altLang="en-US"/>
          </a:p>
        </p:txBody>
      </p:sp>
      <p:sp>
        <p:nvSpPr>
          <p:cNvPr id="64" name="矩形 63"/>
          <p:cNvSpPr/>
          <p:nvPr/>
        </p:nvSpPr>
        <p:spPr>
          <a:xfrm>
            <a:off x="191342" y="842981"/>
            <a:ext cx="7964399" cy="1865126"/>
          </a:xfrm>
          <a:prstGeom prst="rect">
            <a:avLst/>
          </a:prstGeom>
        </p:spPr>
        <p:txBody>
          <a:bodyPr wrap="square">
            <a:spAutoFit/>
          </a:bodyPr>
          <a:lstStyle/>
          <a:p>
            <a:pPr algn="just">
              <a:lnSpc>
                <a:spcPct val="120000"/>
              </a:lnSpc>
            </a:pPr>
            <a:r>
              <a:rPr lang="zh-CN" altLang="en-US" i="0" dirty="0">
                <a:solidFill>
                  <a:srgbClr val="0033CC"/>
                </a:solidFill>
                <a:ea typeface="黑体" panose="02010609060101010101" pitchFamily="49" charset="-122"/>
              </a:rPr>
              <a:t>例 </a:t>
            </a:r>
            <a:r>
              <a:rPr lang="zh-CN" altLang="en-US" i="0" dirty="0" smtClean="0">
                <a:solidFill>
                  <a:schemeClr val="tx1"/>
                </a:solidFill>
                <a:latin typeface="+mn-lt"/>
                <a:ea typeface="黑体" panose="02010609060101010101" pitchFamily="49" charset="-122"/>
              </a:rPr>
              <a:t>质量</a:t>
            </a:r>
            <a:r>
              <a:rPr lang="zh-CN" altLang="en-US" i="0" dirty="0">
                <a:solidFill>
                  <a:schemeClr val="tx1"/>
                </a:solidFill>
                <a:latin typeface="+mn-lt"/>
                <a:ea typeface="黑体" panose="02010609060101010101" pitchFamily="49" charset="-122"/>
              </a:rPr>
              <a:t>为</a:t>
            </a:r>
            <a:r>
              <a:rPr lang="en-US" altLang="zh-CN" b="0" dirty="0">
                <a:solidFill>
                  <a:schemeClr val="tx1"/>
                </a:solidFill>
                <a:latin typeface="+mn-lt"/>
                <a:ea typeface="黑体" panose="02010609060101010101" pitchFamily="49" charset="-122"/>
              </a:rPr>
              <a:t>m</a:t>
            </a:r>
            <a:r>
              <a:rPr lang="zh-CN" altLang="en-US" i="0" dirty="0">
                <a:solidFill>
                  <a:schemeClr val="tx1"/>
                </a:solidFill>
                <a:latin typeface="+mn-lt"/>
                <a:ea typeface="黑体" panose="02010609060101010101" pitchFamily="49" charset="-122"/>
              </a:rPr>
              <a:t>的滚子</a:t>
            </a:r>
            <a:r>
              <a:rPr lang="en-US" altLang="zh-CN" b="0" dirty="0">
                <a:solidFill>
                  <a:schemeClr val="tx1"/>
                </a:solidFill>
                <a:latin typeface="+mn-lt"/>
                <a:ea typeface="黑体" panose="02010609060101010101" pitchFamily="49" charset="-122"/>
              </a:rPr>
              <a:t>A</a:t>
            </a:r>
            <a:r>
              <a:rPr lang="zh-CN" altLang="en-US" i="0" dirty="0">
                <a:solidFill>
                  <a:schemeClr val="tx1"/>
                </a:solidFill>
                <a:latin typeface="+mn-lt"/>
                <a:ea typeface="黑体" panose="02010609060101010101" pitchFamily="49" charset="-122"/>
              </a:rPr>
              <a:t>在倾角为</a:t>
            </a:r>
            <a:r>
              <a:rPr lang="zh-CN" altLang="en-US" b="0" dirty="0">
                <a:solidFill>
                  <a:schemeClr val="tx1"/>
                </a:solidFill>
                <a:latin typeface="+mn-lt"/>
                <a:ea typeface="黑体" panose="02010609060101010101" pitchFamily="49" charset="-122"/>
                <a:sym typeface="Symbol" panose="05050102010706020507" pitchFamily="18" charset="2"/>
              </a:rPr>
              <a:t></a:t>
            </a:r>
            <a:r>
              <a:rPr lang="zh-CN" altLang="en-US" i="0" dirty="0">
                <a:solidFill>
                  <a:schemeClr val="tx1"/>
                </a:solidFill>
                <a:latin typeface="+mn-lt"/>
                <a:ea typeface="黑体" panose="02010609060101010101" pitchFamily="49" charset="-122"/>
              </a:rPr>
              <a:t>的斜面作纯滚动，滚子借绳子</a:t>
            </a:r>
            <a:r>
              <a:rPr lang="zh-CN" altLang="en-US" i="0" dirty="0" smtClean="0">
                <a:solidFill>
                  <a:schemeClr val="tx1"/>
                </a:solidFill>
                <a:latin typeface="+mn-lt"/>
                <a:ea typeface="黑体" panose="02010609060101010101" pitchFamily="49" charset="-122"/>
              </a:rPr>
              <a:t>跨过质量为</a:t>
            </a:r>
            <a:r>
              <a:rPr lang="en-US" altLang="zh-CN" b="0" dirty="0">
                <a:solidFill>
                  <a:schemeClr val="tx1"/>
                </a:solidFill>
                <a:latin typeface="+mn-lt"/>
                <a:ea typeface="黑体" panose="02010609060101010101" pitchFamily="49" charset="-122"/>
              </a:rPr>
              <a:t>m</a:t>
            </a:r>
            <a:r>
              <a:rPr lang="zh-CN" altLang="en-US" i="0" dirty="0" smtClean="0">
                <a:solidFill>
                  <a:schemeClr val="tx1"/>
                </a:solidFill>
                <a:latin typeface="+mn-lt"/>
                <a:ea typeface="黑体" panose="02010609060101010101" pitchFamily="49" charset="-122"/>
              </a:rPr>
              <a:t>滑轮</a:t>
            </a:r>
            <a:r>
              <a:rPr lang="en-US" altLang="zh-CN" b="0" dirty="0">
                <a:solidFill>
                  <a:schemeClr val="tx1"/>
                </a:solidFill>
                <a:latin typeface="+mn-lt"/>
                <a:ea typeface="黑体" panose="02010609060101010101" pitchFamily="49" charset="-122"/>
              </a:rPr>
              <a:t>B</a:t>
            </a:r>
            <a:r>
              <a:rPr lang="zh-CN" altLang="en-US" i="0" dirty="0">
                <a:solidFill>
                  <a:schemeClr val="tx1"/>
                </a:solidFill>
                <a:latin typeface="+mn-lt"/>
                <a:ea typeface="黑体" panose="02010609060101010101" pitchFamily="49" charset="-122"/>
              </a:rPr>
              <a:t>连接质量为</a:t>
            </a:r>
            <a:r>
              <a:rPr lang="en-US" altLang="zh-CN" b="0" dirty="0">
                <a:solidFill>
                  <a:schemeClr val="tx1"/>
                </a:solidFill>
                <a:latin typeface="+mn-lt"/>
                <a:ea typeface="黑体" panose="02010609060101010101" pitchFamily="49" charset="-122"/>
              </a:rPr>
              <a:t>m</a:t>
            </a:r>
            <a:r>
              <a:rPr lang="en-US" altLang="zh-CN" b="0" i="0" baseline="-25000" dirty="0">
                <a:solidFill>
                  <a:schemeClr val="tx1"/>
                </a:solidFill>
                <a:latin typeface="+mn-lt"/>
                <a:ea typeface="黑体" panose="02010609060101010101" pitchFamily="49" charset="-122"/>
              </a:rPr>
              <a:t>1</a:t>
            </a:r>
            <a:r>
              <a:rPr lang="zh-CN" altLang="en-US" i="0" dirty="0">
                <a:solidFill>
                  <a:schemeClr val="tx1"/>
                </a:solidFill>
                <a:latin typeface="+mn-lt"/>
                <a:ea typeface="黑体" panose="02010609060101010101" pitchFamily="49" charset="-122"/>
              </a:rPr>
              <a:t>的物体，如图。滚子与滑轮质量相等，半径相同为</a:t>
            </a:r>
            <a:r>
              <a:rPr lang="en-US" altLang="zh-CN" b="0" dirty="0">
                <a:solidFill>
                  <a:schemeClr val="tx1"/>
                </a:solidFill>
                <a:latin typeface="+mn-lt"/>
                <a:ea typeface="黑体" panose="02010609060101010101" pitchFamily="49" charset="-122"/>
              </a:rPr>
              <a:t>r</a:t>
            </a:r>
            <a:r>
              <a:rPr lang="zh-CN" altLang="en-US" i="0" dirty="0">
                <a:solidFill>
                  <a:schemeClr val="tx1"/>
                </a:solidFill>
                <a:latin typeface="+mn-lt"/>
                <a:ea typeface="黑体" panose="02010609060101010101" pitchFamily="49" charset="-122"/>
              </a:rPr>
              <a:t>，皆为均质圆盘。此瞬时物体的速度为</a:t>
            </a:r>
            <a:r>
              <a:rPr lang="en-US" altLang="zh-CN" b="0" dirty="0">
                <a:solidFill>
                  <a:schemeClr val="tx1"/>
                </a:solidFill>
                <a:latin typeface="+mn-lt"/>
                <a:ea typeface="黑体" panose="02010609060101010101" pitchFamily="49" charset="-122"/>
              </a:rPr>
              <a:t>v</a:t>
            </a:r>
            <a:r>
              <a:rPr lang="zh-CN" altLang="en-US" i="0" dirty="0">
                <a:solidFill>
                  <a:schemeClr val="tx1"/>
                </a:solidFill>
                <a:latin typeface="+mn-lt"/>
                <a:ea typeface="黑体" panose="02010609060101010101" pitchFamily="49" charset="-122"/>
              </a:rPr>
              <a:t>，绳不可伸长，质量不计，求系统的动能。 </a:t>
            </a:r>
          </a:p>
        </p:txBody>
      </p:sp>
      <p:grpSp>
        <p:nvGrpSpPr>
          <p:cNvPr id="65" name="Group 2">
            <a:extLst>
              <a:ext uri="{FF2B5EF4-FFF2-40B4-BE49-F238E27FC236}">
                <a16:creationId xmlns:a16="http://schemas.microsoft.com/office/drawing/2014/main" id="{9F939AC9-120F-D8F1-0C30-3F51C3A00260}"/>
              </a:ext>
            </a:extLst>
          </p:cNvPr>
          <p:cNvGrpSpPr>
            <a:grpSpLocks/>
          </p:cNvGrpSpPr>
          <p:nvPr/>
        </p:nvGrpSpPr>
        <p:grpSpPr bwMode="auto">
          <a:xfrm>
            <a:off x="8580496" y="1568373"/>
            <a:ext cx="2384425" cy="1571625"/>
            <a:chOff x="3691" y="398"/>
            <a:chExt cx="1502" cy="990"/>
          </a:xfrm>
        </p:grpSpPr>
        <p:grpSp>
          <p:nvGrpSpPr>
            <p:cNvPr id="66" name="Group 3">
              <a:extLst>
                <a:ext uri="{FF2B5EF4-FFF2-40B4-BE49-F238E27FC236}">
                  <a16:creationId xmlns:a16="http://schemas.microsoft.com/office/drawing/2014/main" id="{2D80E8EC-7673-7E56-94C1-D167195B4F51}"/>
                </a:ext>
              </a:extLst>
            </p:cNvPr>
            <p:cNvGrpSpPr>
              <a:grpSpLocks/>
            </p:cNvGrpSpPr>
            <p:nvPr/>
          </p:nvGrpSpPr>
          <p:grpSpPr bwMode="auto">
            <a:xfrm>
              <a:off x="3691" y="398"/>
              <a:ext cx="1502" cy="990"/>
              <a:chOff x="3691" y="398"/>
              <a:chExt cx="1502" cy="990"/>
            </a:xfrm>
          </p:grpSpPr>
          <p:sp>
            <p:nvSpPr>
              <p:cNvPr id="71" name="Rectangle 6">
                <a:extLst>
                  <a:ext uri="{FF2B5EF4-FFF2-40B4-BE49-F238E27FC236}">
                    <a16:creationId xmlns:a16="http://schemas.microsoft.com/office/drawing/2014/main" id="{7F5C3CCE-22CF-AF8A-5378-88A99C97583A}"/>
                  </a:ext>
                </a:extLst>
              </p:cNvPr>
              <p:cNvSpPr>
                <a:spLocks noChangeArrowheads="1"/>
              </p:cNvSpPr>
              <p:nvPr/>
            </p:nvSpPr>
            <p:spPr bwMode="auto">
              <a:xfrm>
                <a:off x="3691" y="1265"/>
                <a:ext cx="1502" cy="123"/>
              </a:xfrm>
              <a:prstGeom prst="rect">
                <a:avLst/>
              </a:prstGeom>
              <a:pattFill prst="wdUpDiag">
                <a:fgClr>
                  <a:schemeClr val="tx2"/>
                </a:fgClr>
                <a:bgClr>
                  <a:srgbClr val="66CCFF"/>
                </a:bgClr>
              </a:patt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 name="AutoShape 7">
                <a:extLst>
                  <a:ext uri="{FF2B5EF4-FFF2-40B4-BE49-F238E27FC236}">
                    <a16:creationId xmlns:a16="http://schemas.microsoft.com/office/drawing/2014/main" id="{30C03802-66AD-300F-0EE4-1A79C1D8A524}"/>
                  </a:ext>
                </a:extLst>
              </p:cNvPr>
              <p:cNvSpPr>
                <a:spLocks noChangeArrowheads="1"/>
              </p:cNvSpPr>
              <p:nvPr/>
            </p:nvSpPr>
            <p:spPr bwMode="auto">
              <a:xfrm flipH="1">
                <a:off x="3703" y="398"/>
                <a:ext cx="1490" cy="865"/>
              </a:xfrm>
              <a:prstGeom prst="rtTriangle">
                <a:avLst/>
              </a:prstGeom>
              <a:gradFill rotWithShape="1">
                <a:gsLst>
                  <a:gs pos="0">
                    <a:schemeClr val="accent1"/>
                  </a:gs>
                  <a:gs pos="100000">
                    <a:schemeClr val="accent1">
                      <a:gamma/>
                      <a:shade val="46275"/>
                      <a:invGamma/>
                    </a:schemeClr>
                  </a:gs>
                </a:gsLst>
                <a:path path="rect">
                  <a:fillToRect t="100000" r="100000"/>
                </a:path>
              </a:gra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67" name="Text Box 8">
              <a:extLst>
                <a:ext uri="{FF2B5EF4-FFF2-40B4-BE49-F238E27FC236}">
                  <a16:creationId xmlns:a16="http://schemas.microsoft.com/office/drawing/2014/main" id="{8E99A5A7-9224-2239-6AA8-F2DB00C59C84}"/>
                </a:ext>
              </a:extLst>
            </p:cNvPr>
            <p:cNvSpPr txBox="1">
              <a:spLocks noChangeAspect="1" noChangeArrowheads="1"/>
            </p:cNvSpPr>
            <p:nvPr/>
          </p:nvSpPr>
          <p:spPr bwMode="auto">
            <a:xfrm>
              <a:off x="3990" y="990"/>
              <a:ext cx="258" cy="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i="1" dirty="0">
                  <a:ea typeface="宋体" panose="02010600030101010101" pitchFamily="2" charset="-122"/>
                  <a:sym typeface="Symbol" panose="05050102010706020507" pitchFamily="18" charset="2"/>
                </a:rPr>
                <a:t></a:t>
              </a:r>
              <a:endParaRPr lang="en-US" altLang="zh-CN" i="1" dirty="0">
                <a:sym typeface="Symbol" panose="05050102010706020507" pitchFamily="18" charset="2"/>
              </a:endParaRPr>
            </a:p>
          </p:txBody>
        </p:sp>
        <p:sp>
          <p:nvSpPr>
            <p:cNvPr id="68" name="Arc 9">
              <a:extLst>
                <a:ext uri="{FF2B5EF4-FFF2-40B4-BE49-F238E27FC236}">
                  <a16:creationId xmlns:a16="http://schemas.microsoft.com/office/drawing/2014/main" id="{E311A63B-EEDF-AF5E-7D21-61D06D9E8B25}"/>
                </a:ext>
              </a:extLst>
            </p:cNvPr>
            <p:cNvSpPr>
              <a:spLocks/>
            </p:cNvSpPr>
            <p:nvPr/>
          </p:nvSpPr>
          <p:spPr bwMode="auto">
            <a:xfrm>
              <a:off x="3988" y="1099"/>
              <a:ext cx="56" cy="174"/>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3" name="Line 10">
            <a:extLst>
              <a:ext uri="{FF2B5EF4-FFF2-40B4-BE49-F238E27FC236}">
                <a16:creationId xmlns:a16="http://schemas.microsoft.com/office/drawing/2014/main" id="{49FD0C2F-EDA0-F042-7684-E23AB35E0FE7}"/>
              </a:ext>
            </a:extLst>
          </p:cNvPr>
          <p:cNvSpPr>
            <a:spLocks noChangeShapeType="1"/>
          </p:cNvSpPr>
          <p:nvPr/>
        </p:nvSpPr>
        <p:spPr bwMode="auto">
          <a:xfrm>
            <a:off x="11357033" y="2349423"/>
            <a:ext cx="0" cy="1293813"/>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4" name="Oval 17">
            <a:extLst>
              <a:ext uri="{FF2B5EF4-FFF2-40B4-BE49-F238E27FC236}">
                <a16:creationId xmlns:a16="http://schemas.microsoft.com/office/drawing/2014/main" id="{6EC7207E-5ADD-36A3-03AC-86E9CF20B555}"/>
              </a:ext>
            </a:extLst>
          </p:cNvPr>
          <p:cNvSpPr>
            <a:spLocks noChangeArrowheads="1"/>
          </p:cNvSpPr>
          <p:nvPr/>
        </p:nvSpPr>
        <p:spPr bwMode="auto">
          <a:xfrm>
            <a:off x="10556933" y="1171498"/>
            <a:ext cx="796925" cy="796925"/>
          </a:xfrm>
          <a:prstGeom prst="ellipse">
            <a:avLst/>
          </a:prstGeom>
          <a:gradFill rotWithShape="1">
            <a:gsLst>
              <a:gs pos="0">
                <a:schemeClr val="bg1"/>
              </a:gs>
              <a:gs pos="100000">
                <a:schemeClr val="bg1">
                  <a:gamma/>
                  <a:shade val="62353"/>
                  <a:invGamma/>
                </a:schemeClr>
              </a:gs>
            </a:gsLst>
            <a:path path="rect">
              <a:fillToRect r="100000" b="100000"/>
            </a:path>
          </a:gra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 name="Oval 18">
            <a:extLst>
              <a:ext uri="{FF2B5EF4-FFF2-40B4-BE49-F238E27FC236}">
                <a16:creationId xmlns:a16="http://schemas.microsoft.com/office/drawing/2014/main" id="{081E4C19-EFD8-64CB-11D7-DD5B77AF8780}"/>
              </a:ext>
            </a:extLst>
          </p:cNvPr>
          <p:cNvSpPr>
            <a:spLocks noChangeArrowheads="1"/>
          </p:cNvSpPr>
          <p:nvPr/>
        </p:nvSpPr>
        <p:spPr bwMode="auto">
          <a:xfrm>
            <a:off x="10910946" y="1525511"/>
            <a:ext cx="88900" cy="88900"/>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76" name="Group 19">
            <a:extLst>
              <a:ext uri="{FF2B5EF4-FFF2-40B4-BE49-F238E27FC236}">
                <a16:creationId xmlns:a16="http://schemas.microsoft.com/office/drawing/2014/main" id="{CF0206F6-36FF-3262-8EDA-8056C275F089}"/>
              </a:ext>
            </a:extLst>
          </p:cNvPr>
          <p:cNvGrpSpPr>
            <a:grpSpLocks/>
          </p:cNvGrpSpPr>
          <p:nvPr/>
        </p:nvGrpSpPr>
        <p:grpSpPr bwMode="auto">
          <a:xfrm>
            <a:off x="8621771" y="1817611"/>
            <a:ext cx="796925" cy="796925"/>
            <a:chOff x="5072" y="1384"/>
            <a:chExt cx="502" cy="502"/>
          </a:xfrm>
        </p:grpSpPr>
        <p:sp>
          <p:nvSpPr>
            <p:cNvPr id="77" name="Oval 20">
              <a:extLst>
                <a:ext uri="{FF2B5EF4-FFF2-40B4-BE49-F238E27FC236}">
                  <a16:creationId xmlns:a16="http://schemas.microsoft.com/office/drawing/2014/main" id="{AA86C806-EB9E-B85D-D11B-0795C7304146}"/>
                </a:ext>
              </a:extLst>
            </p:cNvPr>
            <p:cNvSpPr>
              <a:spLocks noChangeArrowheads="1"/>
            </p:cNvSpPr>
            <p:nvPr/>
          </p:nvSpPr>
          <p:spPr bwMode="auto">
            <a:xfrm>
              <a:off x="5072" y="1384"/>
              <a:ext cx="502" cy="502"/>
            </a:xfrm>
            <a:prstGeom prst="ellipse">
              <a:avLst/>
            </a:prstGeom>
            <a:gradFill rotWithShape="1">
              <a:gsLst>
                <a:gs pos="0">
                  <a:schemeClr val="bg1"/>
                </a:gs>
                <a:gs pos="100000">
                  <a:schemeClr val="bg1">
                    <a:gamma/>
                    <a:shade val="62353"/>
                    <a:invGamma/>
                  </a:schemeClr>
                </a:gs>
              </a:gsLst>
              <a:path path="rect">
                <a:fillToRect r="100000" b="100000"/>
              </a:path>
            </a:gra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 name="Oval 21">
              <a:extLst>
                <a:ext uri="{FF2B5EF4-FFF2-40B4-BE49-F238E27FC236}">
                  <a16:creationId xmlns:a16="http://schemas.microsoft.com/office/drawing/2014/main" id="{4BECFDAA-D3AD-C63A-D914-B732264FCC74}"/>
                </a:ext>
              </a:extLst>
            </p:cNvPr>
            <p:cNvSpPr>
              <a:spLocks noChangeArrowheads="1"/>
            </p:cNvSpPr>
            <p:nvPr/>
          </p:nvSpPr>
          <p:spPr bwMode="auto">
            <a:xfrm>
              <a:off x="5295" y="1607"/>
              <a:ext cx="56" cy="56"/>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9" name="Line 22">
            <a:extLst>
              <a:ext uri="{FF2B5EF4-FFF2-40B4-BE49-F238E27FC236}">
                <a16:creationId xmlns:a16="http://schemas.microsoft.com/office/drawing/2014/main" id="{297CE19C-4C84-71BD-F644-BF3284467211}"/>
              </a:ext>
            </a:extLst>
          </p:cNvPr>
          <p:cNvSpPr>
            <a:spLocks noChangeShapeType="1"/>
          </p:cNvSpPr>
          <p:nvPr/>
        </p:nvSpPr>
        <p:spPr bwMode="auto">
          <a:xfrm rot="19800000" flipV="1">
            <a:off x="9781054" y="1480639"/>
            <a:ext cx="1053280" cy="3223"/>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0" name="Line 23">
            <a:extLst>
              <a:ext uri="{FF2B5EF4-FFF2-40B4-BE49-F238E27FC236}">
                <a16:creationId xmlns:a16="http://schemas.microsoft.com/office/drawing/2014/main" id="{E6D6B538-2680-16E4-C468-DE69F1F30E5A}"/>
              </a:ext>
            </a:extLst>
          </p:cNvPr>
          <p:cNvSpPr>
            <a:spLocks noChangeShapeType="1"/>
          </p:cNvSpPr>
          <p:nvPr/>
        </p:nvSpPr>
        <p:spPr bwMode="auto">
          <a:xfrm>
            <a:off x="11355446" y="1569961"/>
            <a:ext cx="0" cy="79375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1" name="Text Box 24">
            <a:extLst>
              <a:ext uri="{FF2B5EF4-FFF2-40B4-BE49-F238E27FC236}">
                <a16:creationId xmlns:a16="http://schemas.microsoft.com/office/drawing/2014/main" id="{E6E07A68-999F-FECE-4C3E-C49B0DA32FA9}"/>
              </a:ext>
            </a:extLst>
          </p:cNvPr>
          <p:cNvSpPr txBox="1">
            <a:spLocks noChangeAspect="1" noChangeArrowheads="1"/>
          </p:cNvSpPr>
          <p:nvPr/>
        </p:nvSpPr>
        <p:spPr bwMode="auto">
          <a:xfrm>
            <a:off x="10647421" y="1171498"/>
            <a:ext cx="533400"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b="0" i="1" dirty="0">
                <a:solidFill>
                  <a:schemeClr val="tx1"/>
                </a:solidFill>
                <a:sym typeface="Symbol" panose="05050102010706020507" pitchFamily="18" charset="2"/>
              </a:rPr>
              <a:t>B</a:t>
            </a:r>
            <a:endParaRPr lang="en-US" altLang="zh-CN" b="0" dirty="0">
              <a:solidFill>
                <a:schemeClr val="tx1"/>
              </a:solidFill>
              <a:sym typeface="Symbol" panose="05050102010706020507" pitchFamily="18" charset="2"/>
            </a:endParaRPr>
          </a:p>
        </p:txBody>
      </p:sp>
      <p:grpSp>
        <p:nvGrpSpPr>
          <p:cNvPr id="82" name="Group 25">
            <a:extLst>
              <a:ext uri="{FF2B5EF4-FFF2-40B4-BE49-F238E27FC236}">
                <a16:creationId xmlns:a16="http://schemas.microsoft.com/office/drawing/2014/main" id="{123F6FD2-C953-D658-209B-46CA9868C3C8}"/>
              </a:ext>
            </a:extLst>
          </p:cNvPr>
          <p:cNvGrpSpPr>
            <a:grpSpLocks/>
          </p:cNvGrpSpPr>
          <p:nvPr/>
        </p:nvGrpSpPr>
        <p:grpSpPr bwMode="auto">
          <a:xfrm>
            <a:off x="8617011" y="1427086"/>
            <a:ext cx="852488" cy="1181100"/>
            <a:chOff x="3714" y="309"/>
            <a:chExt cx="537" cy="744"/>
          </a:xfrm>
        </p:grpSpPr>
        <p:sp>
          <p:nvSpPr>
            <p:cNvPr id="83" name="Text Box 26">
              <a:extLst>
                <a:ext uri="{FF2B5EF4-FFF2-40B4-BE49-F238E27FC236}">
                  <a16:creationId xmlns:a16="http://schemas.microsoft.com/office/drawing/2014/main" id="{0E4C2B73-D002-15A8-55B2-5ECE9F2B379B}"/>
                </a:ext>
              </a:extLst>
            </p:cNvPr>
            <p:cNvSpPr txBox="1">
              <a:spLocks noChangeAspect="1" noChangeArrowheads="1"/>
            </p:cNvSpPr>
            <p:nvPr/>
          </p:nvSpPr>
          <p:spPr bwMode="auto">
            <a:xfrm>
              <a:off x="3722" y="309"/>
              <a:ext cx="336" cy="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b="0" i="1" dirty="0">
                  <a:solidFill>
                    <a:schemeClr val="tx1"/>
                  </a:solidFill>
                  <a:ea typeface="宋体" panose="02010600030101010101" pitchFamily="2" charset="-122"/>
                  <a:sym typeface="Symbol" panose="05050102010706020507" pitchFamily="18" charset="2"/>
                </a:rPr>
                <a:t>A</a:t>
              </a:r>
              <a:endParaRPr lang="en-US" altLang="zh-CN" b="0" dirty="0">
                <a:solidFill>
                  <a:schemeClr val="tx1"/>
                </a:solidFill>
                <a:sym typeface="Symbol" panose="05050102010706020507" pitchFamily="18" charset="2"/>
              </a:endParaRPr>
            </a:p>
          </p:txBody>
        </p:sp>
        <p:sp>
          <p:nvSpPr>
            <p:cNvPr id="84" name="Text Box 27">
              <a:extLst>
                <a:ext uri="{FF2B5EF4-FFF2-40B4-BE49-F238E27FC236}">
                  <a16:creationId xmlns:a16="http://schemas.microsoft.com/office/drawing/2014/main" id="{6CE970A8-A423-4B8D-1DC4-FACCEDDB60E9}"/>
                </a:ext>
              </a:extLst>
            </p:cNvPr>
            <p:cNvSpPr txBox="1">
              <a:spLocks noChangeAspect="1" noChangeArrowheads="1"/>
            </p:cNvSpPr>
            <p:nvPr/>
          </p:nvSpPr>
          <p:spPr bwMode="auto">
            <a:xfrm>
              <a:off x="3915" y="740"/>
              <a:ext cx="336" cy="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b="0" i="1" dirty="0">
                  <a:solidFill>
                    <a:schemeClr val="tx1"/>
                  </a:solidFill>
                  <a:ea typeface="宋体" panose="02010600030101010101" pitchFamily="2" charset="-122"/>
                  <a:sym typeface="Symbol" panose="05050102010706020507" pitchFamily="18" charset="2"/>
                </a:rPr>
                <a:t>C</a:t>
              </a:r>
              <a:endParaRPr lang="en-US" altLang="zh-CN" b="0" dirty="0">
                <a:solidFill>
                  <a:schemeClr val="tx1"/>
                </a:solidFill>
                <a:sym typeface="Symbol" panose="05050102010706020507" pitchFamily="18" charset="2"/>
              </a:endParaRPr>
            </a:p>
          </p:txBody>
        </p:sp>
        <p:sp>
          <p:nvSpPr>
            <p:cNvPr id="85" name="Text Box 28">
              <a:extLst>
                <a:ext uri="{FF2B5EF4-FFF2-40B4-BE49-F238E27FC236}">
                  <a16:creationId xmlns:a16="http://schemas.microsoft.com/office/drawing/2014/main" id="{ECCB7D24-8C7E-D21F-4ED1-74768A7A6560}"/>
                </a:ext>
              </a:extLst>
            </p:cNvPr>
            <p:cNvSpPr txBox="1">
              <a:spLocks noChangeAspect="1" noChangeArrowheads="1"/>
            </p:cNvSpPr>
            <p:nvPr/>
          </p:nvSpPr>
          <p:spPr bwMode="auto">
            <a:xfrm>
              <a:off x="3714" y="589"/>
              <a:ext cx="218" cy="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b="0" i="1" dirty="0">
                  <a:solidFill>
                    <a:schemeClr val="tx1"/>
                  </a:solidFill>
                  <a:ea typeface="宋体" panose="02010600030101010101" pitchFamily="2" charset="-122"/>
                  <a:sym typeface="Symbol" panose="05050102010706020507" pitchFamily="18" charset="2"/>
                </a:rPr>
                <a:t>m</a:t>
              </a:r>
              <a:endParaRPr lang="en-US" altLang="zh-CN" b="0" dirty="0">
                <a:solidFill>
                  <a:schemeClr val="tx1"/>
                </a:solidFill>
                <a:sym typeface="Symbol" panose="05050102010706020507" pitchFamily="18" charset="2"/>
              </a:endParaRPr>
            </a:p>
          </p:txBody>
        </p:sp>
      </p:grpSp>
      <p:grpSp>
        <p:nvGrpSpPr>
          <p:cNvPr id="86" name="Group 29">
            <a:extLst>
              <a:ext uri="{FF2B5EF4-FFF2-40B4-BE49-F238E27FC236}">
                <a16:creationId xmlns:a16="http://schemas.microsoft.com/office/drawing/2014/main" id="{4DB067BE-A74D-1C2C-9A18-B8FDCB7134BD}"/>
              </a:ext>
            </a:extLst>
          </p:cNvPr>
          <p:cNvGrpSpPr>
            <a:grpSpLocks/>
          </p:cNvGrpSpPr>
          <p:nvPr/>
        </p:nvGrpSpPr>
        <p:grpSpPr bwMode="auto">
          <a:xfrm>
            <a:off x="11220508" y="1906511"/>
            <a:ext cx="746125" cy="1282699"/>
            <a:chOff x="5354" y="611"/>
            <a:chExt cx="470" cy="808"/>
          </a:xfrm>
        </p:grpSpPr>
        <p:sp>
          <p:nvSpPr>
            <p:cNvPr id="87" name="Text Box 30">
              <a:extLst>
                <a:ext uri="{FF2B5EF4-FFF2-40B4-BE49-F238E27FC236}">
                  <a16:creationId xmlns:a16="http://schemas.microsoft.com/office/drawing/2014/main" id="{2801FF67-9B01-5BAD-04A2-89426151F0A2}"/>
                </a:ext>
              </a:extLst>
            </p:cNvPr>
            <p:cNvSpPr txBox="1">
              <a:spLocks noChangeArrowheads="1"/>
            </p:cNvSpPr>
            <p:nvPr/>
          </p:nvSpPr>
          <p:spPr bwMode="auto">
            <a:xfrm>
              <a:off x="5478" y="1186"/>
              <a:ext cx="231" cy="233"/>
            </a:xfrm>
            <a:prstGeom prst="rect">
              <a:avLst/>
            </a:prstGeom>
            <a:noFill/>
            <a:ln>
              <a:noFill/>
            </a:ln>
            <a:effectLst/>
            <a:extLst>
              <a:ext uri="{909E8E84-426E-40DD-AFC4-6F175D3DCCD1}">
                <a14:hiddenFill xmlns:a14="http://schemas.microsoft.com/office/drawing/2010/main">
                  <a:solidFill>
                    <a:srgbClr val="00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spcBef>
                  <a:spcPct val="50000"/>
                </a:spcBef>
              </a:pPr>
              <a:r>
                <a:rPr lang="en-US" altLang="zh-CN" b="1" i="1" dirty="0" smtClean="0">
                  <a:solidFill>
                    <a:srgbClr val="FF0000"/>
                  </a:solidFill>
                </a:rPr>
                <a:t>m</a:t>
              </a:r>
              <a:r>
                <a:rPr lang="en-US" altLang="zh-CN" b="1" i="0" baseline="-25000" dirty="0" smtClean="0">
                  <a:solidFill>
                    <a:srgbClr val="FF0000"/>
                  </a:solidFill>
                </a:rPr>
                <a:t>1</a:t>
              </a:r>
              <a:endParaRPr lang="en-US" altLang="zh-CN" b="1" i="0" baseline="-25000" dirty="0">
                <a:solidFill>
                  <a:srgbClr val="FF0000"/>
                </a:solidFill>
              </a:endParaRPr>
            </a:p>
          </p:txBody>
        </p:sp>
        <p:sp>
          <p:nvSpPr>
            <p:cNvPr id="88" name="Rectangle 31">
              <a:extLst>
                <a:ext uri="{FF2B5EF4-FFF2-40B4-BE49-F238E27FC236}">
                  <a16:creationId xmlns:a16="http://schemas.microsoft.com/office/drawing/2014/main" id="{3EB59A5E-0BC8-7F6F-720F-9A1116362C03}"/>
                </a:ext>
              </a:extLst>
            </p:cNvPr>
            <p:cNvSpPr>
              <a:spLocks noChangeArrowheads="1"/>
            </p:cNvSpPr>
            <p:nvPr/>
          </p:nvSpPr>
          <p:spPr bwMode="auto">
            <a:xfrm>
              <a:off x="5354" y="899"/>
              <a:ext cx="170" cy="169"/>
            </a:xfrm>
            <a:prstGeom prst="rect">
              <a:avLst/>
            </a:prstGeom>
            <a:gradFill rotWithShape="1">
              <a:gsLst>
                <a:gs pos="0">
                  <a:schemeClr val="bg1"/>
                </a:gs>
                <a:gs pos="100000">
                  <a:schemeClr val="bg1">
                    <a:gamma/>
                    <a:shade val="46275"/>
                    <a:invGamma/>
                  </a:schemeClr>
                </a:gs>
              </a:gsLst>
              <a:path path="rect">
                <a:fillToRect r="100000" b="100000"/>
              </a:path>
            </a:gradFill>
            <a:ln w="2857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9" name="Line 32">
              <a:extLst>
                <a:ext uri="{FF2B5EF4-FFF2-40B4-BE49-F238E27FC236}">
                  <a16:creationId xmlns:a16="http://schemas.microsoft.com/office/drawing/2014/main" id="{9833A5DB-85C7-2D8C-8268-FD617BAD6125}"/>
                </a:ext>
              </a:extLst>
            </p:cNvPr>
            <p:cNvSpPr>
              <a:spLocks noChangeShapeType="1"/>
            </p:cNvSpPr>
            <p:nvPr/>
          </p:nvSpPr>
          <p:spPr bwMode="auto">
            <a:xfrm>
              <a:off x="5440" y="983"/>
              <a:ext cx="0" cy="357"/>
            </a:xfrm>
            <a:prstGeom prst="line">
              <a:avLst/>
            </a:prstGeom>
            <a:noFill/>
            <a:ln w="28575">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0" name="Text Box 33">
              <a:extLst>
                <a:ext uri="{FF2B5EF4-FFF2-40B4-BE49-F238E27FC236}">
                  <a16:creationId xmlns:a16="http://schemas.microsoft.com/office/drawing/2014/main" id="{9182ED2A-B3E1-F1F9-066B-AD43A32F4AAF}"/>
                </a:ext>
              </a:extLst>
            </p:cNvPr>
            <p:cNvSpPr txBox="1">
              <a:spLocks noChangeArrowheads="1"/>
            </p:cNvSpPr>
            <p:nvPr/>
          </p:nvSpPr>
          <p:spPr bwMode="auto">
            <a:xfrm>
              <a:off x="5593" y="611"/>
              <a:ext cx="231" cy="233"/>
            </a:xfrm>
            <a:prstGeom prst="rect">
              <a:avLst/>
            </a:prstGeom>
            <a:noFill/>
            <a:ln>
              <a:noFill/>
            </a:ln>
            <a:effectLst/>
            <a:extLst>
              <a:ext uri="{909E8E84-426E-40DD-AFC4-6F175D3DCCD1}">
                <a14:hiddenFill xmlns:a14="http://schemas.microsoft.com/office/drawing/2010/main">
                  <a:solidFill>
                    <a:srgbClr val="00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spcBef>
                  <a:spcPct val="50000"/>
                </a:spcBef>
              </a:pPr>
              <a:r>
                <a:rPr lang="en-US" altLang="zh-CN" b="1" i="1" dirty="0">
                  <a:solidFill>
                    <a:srgbClr val="FF3399"/>
                  </a:solidFill>
                  <a:latin typeface="+mn-lt"/>
                </a:rPr>
                <a:t>v</a:t>
              </a:r>
            </a:p>
          </p:txBody>
        </p:sp>
        <p:sp>
          <p:nvSpPr>
            <p:cNvPr id="91" name="Line 34">
              <a:extLst>
                <a:ext uri="{FF2B5EF4-FFF2-40B4-BE49-F238E27FC236}">
                  <a16:creationId xmlns:a16="http://schemas.microsoft.com/office/drawing/2014/main" id="{1DDB28CB-FC1E-AB7B-7520-9A5C298CA190}"/>
                </a:ext>
              </a:extLst>
            </p:cNvPr>
            <p:cNvSpPr>
              <a:spLocks noChangeShapeType="1"/>
            </p:cNvSpPr>
            <p:nvPr/>
          </p:nvSpPr>
          <p:spPr bwMode="auto">
            <a:xfrm>
              <a:off x="5582" y="780"/>
              <a:ext cx="0" cy="357"/>
            </a:xfrm>
            <a:prstGeom prst="line">
              <a:avLst/>
            </a:prstGeom>
            <a:noFill/>
            <a:ln w="28575">
              <a:solidFill>
                <a:srgbClr val="FF3399"/>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92" name="Line 38">
            <a:extLst>
              <a:ext uri="{FF2B5EF4-FFF2-40B4-BE49-F238E27FC236}">
                <a16:creationId xmlns:a16="http://schemas.microsoft.com/office/drawing/2014/main" id="{C71D76E5-B613-C2F8-1EB5-B000F7A5387E}"/>
              </a:ext>
            </a:extLst>
          </p:cNvPr>
          <p:cNvSpPr>
            <a:spLocks noChangeShapeType="1"/>
          </p:cNvSpPr>
          <p:nvPr/>
        </p:nvSpPr>
        <p:spPr bwMode="auto">
          <a:xfrm rot="19800000">
            <a:off x="8972608" y="1982711"/>
            <a:ext cx="942975"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3" name="矩形 92">
            <a:extLst>
              <a:ext uri="{FF2B5EF4-FFF2-40B4-BE49-F238E27FC236}">
                <a16:creationId xmlns:a16="http://schemas.microsoft.com/office/drawing/2014/main" id="{77CF9808-61EB-D4BA-10C7-C85E98A9BD3D}"/>
              </a:ext>
            </a:extLst>
          </p:cNvPr>
          <p:cNvSpPr/>
          <p:nvPr/>
        </p:nvSpPr>
        <p:spPr>
          <a:xfrm>
            <a:off x="191343" y="2696016"/>
            <a:ext cx="7700900" cy="936347"/>
          </a:xfrm>
          <a:prstGeom prst="rect">
            <a:avLst/>
          </a:prstGeom>
        </p:spPr>
        <p:txBody>
          <a:bodyPr wrap="square">
            <a:spAutoFit/>
          </a:bodyPr>
          <a:lstStyle/>
          <a:p>
            <a:pPr>
              <a:lnSpc>
                <a:spcPct val="120000"/>
              </a:lnSpc>
            </a:pPr>
            <a:r>
              <a:rPr lang="zh-CN" altLang="en-US" i="0" dirty="0">
                <a:solidFill>
                  <a:srgbClr val="0033CC"/>
                </a:solidFill>
                <a:ea typeface="黑体" panose="02010609060101010101" pitchFamily="49" charset="-122"/>
              </a:rPr>
              <a:t>解  </a:t>
            </a:r>
            <a:r>
              <a:rPr lang="zh-CN" altLang="en-US" i="0" dirty="0">
                <a:solidFill>
                  <a:schemeClr val="tx1"/>
                </a:solidFill>
                <a:latin typeface="+mn-lt"/>
                <a:ea typeface="黑体" panose="02010609060101010101" pitchFamily="49" charset="-122"/>
              </a:rPr>
              <a:t>取系统为研究对象，其中重物平动，滑轮定轴转动，滚子作平面运动，系统的动能为</a:t>
            </a:r>
          </a:p>
        </p:txBody>
      </p:sp>
      <p:graphicFrame>
        <p:nvGraphicFramePr>
          <p:cNvPr id="94" name="Object 35">
            <a:extLst>
              <a:ext uri="{FF2B5EF4-FFF2-40B4-BE49-F238E27FC236}">
                <a16:creationId xmlns:a16="http://schemas.microsoft.com/office/drawing/2014/main" id="{5D3CEA44-460B-D30F-8A93-795DE612A2EE}"/>
              </a:ext>
            </a:extLst>
          </p:cNvPr>
          <p:cNvGraphicFramePr>
            <a:graphicFrameLocks noChangeAspect="1"/>
          </p:cNvGraphicFramePr>
          <p:nvPr>
            <p:extLst>
              <p:ext uri="{D42A27DB-BD31-4B8C-83A1-F6EECF244321}">
                <p14:modId xmlns:p14="http://schemas.microsoft.com/office/powerpoint/2010/main" val="1039042994"/>
              </p:ext>
            </p:extLst>
          </p:nvPr>
        </p:nvGraphicFramePr>
        <p:xfrm>
          <a:off x="1539875" y="3608388"/>
          <a:ext cx="5070475" cy="820737"/>
        </p:xfrm>
        <a:graphic>
          <a:graphicData uri="http://schemas.openxmlformats.org/presentationml/2006/ole">
            <mc:AlternateContent xmlns:mc="http://schemas.openxmlformats.org/markup-compatibility/2006">
              <mc:Choice xmlns:v="urn:schemas-microsoft-com:vml" Requires="v">
                <p:oleObj spid="_x0000_s24604" name="Equation" r:id="rId4" imgW="2412720" imgH="393480" progId="Equation.DSMT4">
                  <p:embed/>
                </p:oleObj>
              </mc:Choice>
              <mc:Fallback>
                <p:oleObj name="Equation" r:id="rId4" imgW="2412720" imgH="393480" progId="Equation.DSMT4">
                  <p:embed/>
                  <p:pic>
                    <p:nvPicPr>
                      <p:cNvPr id="1123363" name="Object 35">
                        <a:extLst>
                          <a:ext uri="{FF2B5EF4-FFF2-40B4-BE49-F238E27FC236}">
                            <a16:creationId xmlns:a16="http://schemas.microsoft.com/office/drawing/2014/main" id="{F339AD29-337B-B6A4-1AE9-F93C729043ED}"/>
                          </a:ext>
                        </a:extLst>
                      </p:cNvPr>
                      <p:cNvPicPr>
                        <a:picLocks noChangeAspect="1" noChangeArrowheads="1"/>
                      </p:cNvPicPr>
                      <p:nvPr/>
                    </p:nvPicPr>
                    <p:blipFill>
                      <a:blip r:embed="rId5"/>
                      <a:srcRect/>
                      <a:stretch>
                        <a:fillRect/>
                      </a:stretch>
                    </p:blipFill>
                    <p:spPr bwMode="auto">
                      <a:xfrm>
                        <a:off x="1539875" y="3608388"/>
                        <a:ext cx="5070475" cy="8207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5" name="矩形 94">
            <a:extLst>
              <a:ext uri="{FF2B5EF4-FFF2-40B4-BE49-F238E27FC236}">
                <a16:creationId xmlns:a16="http://schemas.microsoft.com/office/drawing/2014/main" id="{C1D31C76-9517-5534-1EB3-5F768CB8B1A0}"/>
              </a:ext>
            </a:extLst>
          </p:cNvPr>
          <p:cNvSpPr/>
          <p:nvPr/>
        </p:nvSpPr>
        <p:spPr>
          <a:xfrm>
            <a:off x="191343" y="4429125"/>
            <a:ext cx="7700900" cy="493148"/>
          </a:xfrm>
          <a:prstGeom prst="rect">
            <a:avLst/>
          </a:prstGeom>
        </p:spPr>
        <p:txBody>
          <a:bodyPr wrap="square">
            <a:spAutoFit/>
          </a:bodyPr>
          <a:lstStyle/>
          <a:p>
            <a:pPr>
              <a:lnSpc>
                <a:spcPct val="120000"/>
              </a:lnSpc>
            </a:pPr>
            <a:r>
              <a:rPr lang="zh-CN" altLang="en-US" i="0" dirty="0">
                <a:solidFill>
                  <a:schemeClr val="tx1"/>
                </a:solidFill>
                <a:latin typeface="+mn-lt"/>
                <a:ea typeface="黑体" panose="02010609060101010101" pitchFamily="49" charset="-122"/>
              </a:rPr>
              <a:t> 根据运动学关系 </a:t>
            </a:r>
            <a:r>
              <a:rPr lang="en-US" altLang="zh-CN" b="0" dirty="0" err="1">
                <a:solidFill>
                  <a:schemeClr val="tx1"/>
                </a:solidFill>
                <a:latin typeface="+mn-lt"/>
              </a:rPr>
              <a:t>v</a:t>
            </a:r>
            <a:r>
              <a:rPr lang="en-US" altLang="zh-CN" b="0" baseline="-25000" dirty="0" err="1">
                <a:solidFill>
                  <a:schemeClr val="tx1"/>
                </a:solidFill>
                <a:latin typeface="+mn-lt"/>
              </a:rPr>
              <a:t>C</a:t>
            </a:r>
            <a:r>
              <a:rPr lang="zh-CN" altLang="en-US" b="0" dirty="0">
                <a:solidFill>
                  <a:schemeClr val="tx1"/>
                </a:solidFill>
                <a:latin typeface="+mn-lt"/>
              </a:rPr>
              <a:t>＝</a:t>
            </a:r>
            <a:r>
              <a:rPr lang="en-US" altLang="zh-CN" b="0" dirty="0">
                <a:solidFill>
                  <a:schemeClr val="tx1"/>
                </a:solidFill>
                <a:latin typeface="+mn-lt"/>
              </a:rPr>
              <a:t>v</a:t>
            </a:r>
            <a:r>
              <a:rPr lang="zh-CN" altLang="en-US" i="0" dirty="0">
                <a:solidFill>
                  <a:schemeClr val="tx1"/>
                </a:solidFill>
                <a:latin typeface="+mn-lt"/>
                <a:ea typeface="黑体" panose="02010609060101010101" pitchFamily="49" charset="-122"/>
              </a:rPr>
              <a:t>，</a:t>
            </a:r>
            <a:r>
              <a:rPr lang="en-US" altLang="zh-CN" b="0" dirty="0" err="1">
                <a:solidFill>
                  <a:schemeClr val="tx1"/>
                </a:solidFill>
                <a:latin typeface="+mn-lt"/>
              </a:rPr>
              <a:t>v</a:t>
            </a:r>
            <a:r>
              <a:rPr lang="en-US" altLang="zh-CN" b="0" baseline="-25000" dirty="0" err="1">
                <a:solidFill>
                  <a:schemeClr val="tx1"/>
                </a:solidFill>
                <a:latin typeface="+mn-lt"/>
              </a:rPr>
              <a:t>C</a:t>
            </a:r>
            <a:r>
              <a:rPr lang="zh-CN" altLang="en-US" b="0" dirty="0">
                <a:solidFill>
                  <a:schemeClr val="tx1"/>
                </a:solidFill>
                <a:latin typeface="+mn-lt"/>
              </a:rPr>
              <a:t>＝</a:t>
            </a:r>
            <a:r>
              <a:rPr lang="en-US" altLang="zh-CN" b="0" dirty="0">
                <a:solidFill>
                  <a:schemeClr val="tx1"/>
                </a:solidFill>
                <a:latin typeface="+mn-lt"/>
              </a:rPr>
              <a:t>r</a:t>
            </a:r>
            <a:r>
              <a:rPr lang="en-US" altLang="zh-CN" b="0" dirty="0">
                <a:solidFill>
                  <a:schemeClr val="tx1"/>
                </a:solidFill>
                <a:latin typeface="+mn-lt"/>
                <a:sym typeface="Symbol" panose="05050102010706020507" pitchFamily="18" charset="2"/>
              </a:rPr>
              <a:t></a:t>
            </a:r>
            <a:endParaRPr lang="zh-CN" altLang="en-US" b="0" i="0" dirty="0">
              <a:solidFill>
                <a:schemeClr val="tx1"/>
              </a:solidFill>
              <a:latin typeface="+mn-lt"/>
              <a:ea typeface="黑体" panose="02010609060101010101" pitchFamily="49" charset="-122"/>
            </a:endParaRPr>
          </a:p>
        </p:txBody>
      </p:sp>
      <p:graphicFrame>
        <p:nvGraphicFramePr>
          <p:cNvPr id="96" name="Object 35">
            <a:extLst>
              <a:ext uri="{FF2B5EF4-FFF2-40B4-BE49-F238E27FC236}">
                <a16:creationId xmlns:a16="http://schemas.microsoft.com/office/drawing/2014/main" id="{C56CAF84-9EA2-9886-9299-57D438A4CDFB}"/>
              </a:ext>
            </a:extLst>
          </p:cNvPr>
          <p:cNvGraphicFramePr>
            <a:graphicFrameLocks noChangeAspect="1"/>
          </p:cNvGraphicFramePr>
          <p:nvPr>
            <p:extLst>
              <p:ext uri="{D42A27DB-BD31-4B8C-83A1-F6EECF244321}">
                <p14:modId xmlns:p14="http://schemas.microsoft.com/office/powerpoint/2010/main" val="811926977"/>
              </p:ext>
            </p:extLst>
          </p:nvPr>
        </p:nvGraphicFramePr>
        <p:xfrm>
          <a:off x="1539875" y="5069059"/>
          <a:ext cx="8324851" cy="874712"/>
        </p:xfrm>
        <a:graphic>
          <a:graphicData uri="http://schemas.openxmlformats.org/presentationml/2006/ole">
            <mc:AlternateContent xmlns:mc="http://schemas.openxmlformats.org/markup-compatibility/2006">
              <mc:Choice xmlns:v="urn:schemas-microsoft-com:vml" Requires="v">
                <p:oleObj spid="_x0000_s24605" name="Equation" r:id="rId6" imgW="3962160" imgH="419040" progId="Equation.DSMT4">
                  <p:embed/>
                </p:oleObj>
              </mc:Choice>
              <mc:Fallback>
                <p:oleObj name="Equation" r:id="rId6" imgW="3962160" imgH="419040" progId="Equation.DSMT4">
                  <p:embed/>
                  <p:pic>
                    <p:nvPicPr>
                      <p:cNvPr id="94" name="Object 35">
                        <a:extLst>
                          <a:ext uri="{FF2B5EF4-FFF2-40B4-BE49-F238E27FC236}">
                            <a16:creationId xmlns:a16="http://schemas.microsoft.com/office/drawing/2014/main" id="{5D3CEA44-460B-D30F-8A93-795DE612A2EE}"/>
                          </a:ext>
                        </a:extLst>
                      </p:cNvPr>
                      <p:cNvPicPr>
                        <a:picLocks noChangeAspect="1" noChangeArrowheads="1"/>
                      </p:cNvPicPr>
                      <p:nvPr/>
                    </p:nvPicPr>
                    <p:blipFill>
                      <a:blip r:embed="rId7"/>
                      <a:srcRect/>
                      <a:stretch>
                        <a:fillRect/>
                      </a:stretch>
                    </p:blipFill>
                    <p:spPr bwMode="auto">
                      <a:xfrm>
                        <a:off x="1539875" y="5069059"/>
                        <a:ext cx="8324851" cy="8747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132270751"/>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4"/>
                                        </p:tgtEl>
                                        <p:attrNameLst>
                                          <p:attrName>style.visibility</p:attrName>
                                        </p:attrNameLst>
                                      </p:cBhvr>
                                      <p:to>
                                        <p:strVal val="visible"/>
                                      </p:to>
                                    </p:set>
                                  </p:childTnLst>
                                </p:cTn>
                              </p:par>
                              <p:par>
                                <p:cTn id="11" presetID="10" presetClass="entr" presetSubtype="0" fill="hold" nodeType="withEffect">
                                  <p:stCondLst>
                                    <p:cond delay="0"/>
                                  </p:stCondLst>
                                  <p:childTnLst>
                                    <p:set>
                                      <p:cBhvr>
                                        <p:cTn id="12" dur="1" fill="hold">
                                          <p:stCondLst>
                                            <p:cond delay="0"/>
                                          </p:stCondLst>
                                        </p:cTn>
                                        <p:tgtEl>
                                          <p:spTgt spid="74"/>
                                        </p:tgtEl>
                                        <p:attrNameLst>
                                          <p:attrName>style.visibility</p:attrName>
                                        </p:attrNameLst>
                                      </p:cBhvr>
                                      <p:to>
                                        <p:strVal val="visible"/>
                                      </p:to>
                                    </p:set>
                                    <p:animEffect transition="in" filter="fade">
                                      <p:cBhvr>
                                        <p:cTn id="13" dur="2000"/>
                                        <p:tgtEl>
                                          <p:spTgt spid="74"/>
                                        </p:tgtEl>
                                      </p:cBhvr>
                                    </p:animEffect>
                                  </p:childTnLst>
                                </p:cTn>
                              </p:par>
                              <p:par>
                                <p:cTn id="14" presetID="10" presetClass="entr" presetSubtype="0" fill="hold" nodeType="withEffect">
                                  <p:stCondLst>
                                    <p:cond delay="0"/>
                                  </p:stCondLst>
                                  <p:childTnLst>
                                    <p:set>
                                      <p:cBhvr>
                                        <p:cTn id="15" dur="1" fill="hold">
                                          <p:stCondLst>
                                            <p:cond delay="0"/>
                                          </p:stCondLst>
                                        </p:cTn>
                                        <p:tgtEl>
                                          <p:spTgt spid="75"/>
                                        </p:tgtEl>
                                        <p:attrNameLst>
                                          <p:attrName>style.visibility</p:attrName>
                                        </p:attrNameLst>
                                      </p:cBhvr>
                                      <p:to>
                                        <p:strVal val="visible"/>
                                      </p:to>
                                    </p:set>
                                    <p:animEffect transition="in" filter="fade">
                                      <p:cBhvr>
                                        <p:cTn id="16" dur="2000"/>
                                        <p:tgtEl>
                                          <p:spTgt spid="75"/>
                                        </p:tgtEl>
                                      </p:cBhvr>
                                    </p:animEffect>
                                  </p:childTnLst>
                                </p:cTn>
                              </p:par>
                              <p:par>
                                <p:cTn id="17" presetID="10" presetClass="entr" presetSubtype="0" fill="hold" nodeType="withEffect">
                                  <p:stCondLst>
                                    <p:cond delay="0"/>
                                  </p:stCondLst>
                                  <p:childTnLst>
                                    <p:set>
                                      <p:cBhvr>
                                        <p:cTn id="18" dur="1" fill="hold">
                                          <p:stCondLst>
                                            <p:cond delay="0"/>
                                          </p:stCondLst>
                                        </p:cTn>
                                        <p:tgtEl>
                                          <p:spTgt spid="76"/>
                                        </p:tgtEl>
                                        <p:attrNameLst>
                                          <p:attrName>style.visibility</p:attrName>
                                        </p:attrNameLst>
                                      </p:cBhvr>
                                      <p:to>
                                        <p:strVal val="visible"/>
                                      </p:to>
                                    </p:set>
                                    <p:animEffect transition="in" filter="fade">
                                      <p:cBhvr>
                                        <p:cTn id="19" dur="2000"/>
                                        <p:tgtEl>
                                          <p:spTgt spid="76"/>
                                        </p:tgtEl>
                                      </p:cBhvr>
                                    </p:animEffect>
                                  </p:childTnLst>
                                </p:cTn>
                              </p:par>
                              <p:par>
                                <p:cTn id="20" presetID="10" presetClass="entr" presetSubtype="0" fill="hold" nodeType="withEffect">
                                  <p:stCondLst>
                                    <p:cond delay="0"/>
                                  </p:stCondLst>
                                  <p:childTnLst>
                                    <p:set>
                                      <p:cBhvr>
                                        <p:cTn id="21" dur="1" fill="hold">
                                          <p:stCondLst>
                                            <p:cond delay="0"/>
                                          </p:stCondLst>
                                        </p:cTn>
                                        <p:tgtEl>
                                          <p:spTgt spid="79"/>
                                        </p:tgtEl>
                                        <p:attrNameLst>
                                          <p:attrName>style.visibility</p:attrName>
                                        </p:attrNameLst>
                                      </p:cBhvr>
                                      <p:to>
                                        <p:strVal val="visible"/>
                                      </p:to>
                                    </p:set>
                                    <p:animEffect transition="in" filter="fade">
                                      <p:cBhvr>
                                        <p:cTn id="22" dur="2000"/>
                                        <p:tgtEl>
                                          <p:spTgt spid="79"/>
                                        </p:tgtEl>
                                      </p:cBhvr>
                                    </p:animEffect>
                                  </p:childTnLst>
                                </p:cTn>
                              </p:par>
                              <p:par>
                                <p:cTn id="23" presetID="10" presetClass="entr" presetSubtype="0" fill="hold" nodeType="withEffect">
                                  <p:stCondLst>
                                    <p:cond delay="0"/>
                                  </p:stCondLst>
                                  <p:childTnLst>
                                    <p:set>
                                      <p:cBhvr>
                                        <p:cTn id="24" dur="1" fill="hold">
                                          <p:stCondLst>
                                            <p:cond delay="0"/>
                                          </p:stCondLst>
                                        </p:cTn>
                                        <p:tgtEl>
                                          <p:spTgt spid="80"/>
                                        </p:tgtEl>
                                        <p:attrNameLst>
                                          <p:attrName>style.visibility</p:attrName>
                                        </p:attrNameLst>
                                      </p:cBhvr>
                                      <p:to>
                                        <p:strVal val="visible"/>
                                      </p:to>
                                    </p:set>
                                    <p:animEffect transition="in" filter="fade">
                                      <p:cBhvr>
                                        <p:cTn id="25" dur="2000"/>
                                        <p:tgtEl>
                                          <p:spTgt spid="80"/>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81"/>
                                        </p:tgtEl>
                                        <p:attrNameLst>
                                          <p:attrName>style.visibility</p:attrName>
                                        </p:attrNameLst>
                                      </p:cBhvr>
                                      <p:to>
                                        <p:strVal val="visible"/>
                                      </p:to>
                                    </p:set>
                                    <p:animEffect transition="in" filter="fade">
                                      <p:cBhvr>
                                        <p:cTn id="28" dur="2000"/>
                                        <p:tgtEl>
                                          <p:spTgt spid="81"/>
                                        </p:tgtEl>
                                      </p:cBhvr>
                                    </p:animEffect>
                                  </p:childTnLst>
                                </p:cTn>
                              </p:par>
                              <p:par>
                                <p:cTn id="29" presetID="10" presetClass="entr" presetSubtype="0" fill="hold" nodeType="withEffect">
                                  <p:stCondLst>
                                    <p:cond delay="0"/>
                                  </p:stCondLst>
                                  <p:childTnLst>
                                    <p:set>
                                      <p:cBhvr>
                                        <p:cTn id="30" dur="1" fill="hold">
                                          <p:stCondLst>
                                            <p:cond delay="0"/>
                                          </p:stCondLst>
                                        </p:cTn>
                                        <p:tgtEl>
                                          <p:spTgt spid="82"/>
                                        </p:tgtEl>
                                        <p:attrNameLst>
                                          <p:attrName>style.visibility</p:attrName>
                                        </p:attrNameLst>
                                      </p:cBhvr>
                                      <p:to>
                                        <p:strVal val="visible"/>
                                      </p:to>
                                    </p:set>
                                    <p:animEffect transition="in" filter="fade">
                                      <p:cBhvr>
                                        <p:cTn id="31" dur="2000"/>
                                        <p:tgtEl>
                                          <p:spTgt spid="82"/>
                                        </p:tgtEl>
                                      </p:cBhvr>
                                    </p:animEffect>
                                  </p:childTnLst>
                                </p:cTn>
                              </p:par>
                              <p:par>
                                <p:cTn id="32" presetID="10" presetClass="entr" presetSubtype="0" fill="hold" nodeType="withEffect">
                                  <p:stCondLst>
                                    <p:cond delay="0"/>
                                  </p:stCondLst>
                                  <p:childTnLst>
                                    <p:set>
                                      <p:cBhvr>
                                        <p:cTn id="33" dur="1" fill="hold">
                                          <p:stCondLst>
                                            <p:cond delay="0"/>
                                          </p:stCondLst>
                                        </p:cTn>
                                        <p:tgtEl>
                                          <p:spTgt spid="65"/>
                                        </p:tgtEl>
                                        <p:attrNameLst>
                                          <p:attrName>style.visibility</p:attrName>
                                        </p:attrNameLst>
                                      </p:cBhvr>
                                      <p:to>
                                        <p:strVal val="visible"/>
                                      </p:to>
                                    </p:set>
                                    <p:animEffect transition="in" filter="fade">
                                      <p:cBhvr>
                                        <p:cTn id="34" dur="2000"/>
                                        <p:tgtEl>
                                          <p:spTgt spid="65"/>
                                        </p:tgtEl>
                                      </p:cBhvr>
                                    </p:animEffect>
                                  </p:childTnLst>
                                </p:cTn>
                              </p:par>
                              <p:par>
                                <p:cTn id="35" presetID="10" presetClass="entr" presetSubtype="0" fill="hold" nodeType="withEffect">
                                  <p:stCondLst>
                                    <p:cond delay="0"/>
                                  </p:stCondLst>
                                  <p:childTnLst>
                                    <p:set>
                                      <p:cBhvr>
                                        <p:cTn id="36" dur="1" fill="hold">
                                          <p:stCondLst>
                                            <p:cond delay="0"/>
                                          </p:stCondLst>
                                        </p:cTn>
                                        <p:tgtEl>
                                          <p:spTgt spid="86"/>
                                        </p:tgtEl>
                                        <p:attrNameLst>
                                          <p:attrName>style.visibility</p:attrName>
                                        </p:attrNameLst>
                                      </p:cBhvr>
                                      <p:to>
                                        <p:strVal val="visible"/>
                                      </p:to>
                                    </p:set>
                                    <p:animEffect transition="in" filter="fade">
                                      <p:cBhvr>
                                        <p:cTn id="37" dur="2000"/>
                                        <p:tgtEl>
                                          <p:spTgt spid="86"/>
                                        </p:tgtEl>
                                      </p:cBhvr>
                                    </p:animEffect>
                                  </p:childTnLst>
                                </p:cTn>
                              </p:par>
                              <p:par>
                                <p:cTn id="38" presetID="10" presetClass="entr" presetSubtype="0" fill="hold" nodeType="withEffect">
                                  <p:stCondLst>
                                    <p:cond delay="0"/>
                                  </p:stCondLst>
                                  <p:childTnLst>
                                    <p:set>
                                      <p:cBhvr>
                                        <p:cTn id="39" dur="1" fill="hold">
                                          <p:stCondLst>
                                            <p:cond delay="0"/>
                                          </p:stCondLst>
                                        </p:cTn>
                                        <p:tgtEl>
                                          <p:spTgt spid="92"/>
                                        </p:tgtEl>
                                        <p:attrNameLst>
                                          <p:attrName>style.visibility</p:attrName>
                                        </p:attrNameLst>
                                      </p:cBhvr>
                                      <p:to>
                                        <p:strVal val="visible"/>
                                      </p:to>
                                    </p:set>
                                    <p:animEffect transition="in" filter="fade">
                                      <p:cBhvr>
                                        <p:cTn id="40" dur="2000"/>
                                        <p:tgtEl>
                                          <p:spTgt spid="92"/>
                                        </p:tgtEl>
                                      </p:cBhvr>
                                    </p:animEffect>
                                  </p:childTnLst>
                                </p:cTn>
                              </p:par>
                            </p:childTnLst>
                          </p:cTn>
                        </p:par>
                      </p:childTnLst>
                    </p:cTn>
                  </p:par>
                  <p:par>
                    <p:cTn id="41" fill="hold">
                      <p:stCondLst>
                        <p:cond delay="indefinite"/>
                      </p:stCondLst>
                      <p:childTnLst>
                        <p:par>
                          <p:cTn id="42" fill="hold">
                            <p:stCondLst>
                              <p:cond delay="0"/>
                            </p:stCondLst>
                            <p:childTnLst>
                              <p:par>
                                <p:cTn id="43" presetID="8" presetClass="emph" presetSubtype="0" accel="50000" decel="50000" fill="hold" nodeType="clickEffect">
                                  <p:stCondLst>
                                    <p:cond delay="0"/>
                                  </p:stCondLst>
                                  <p:childTnLst>
                                    <p:animRot by="10800000">
                                      <p:cBhvr>
                                        <p:cTn id="44" dur="5000" fill="hold"/>
                                        <p:tgtEl>
                                          <p:spTgt spid="74"/>
                                        </p:tgtEl>
                                        <p:attrNameLst>
                                          <p:attrName>r</p:attrName>
                                        </p:attrNameLst>
                                      </p:cBhvr>
                                    </p:animRot>
                                  </p:childTnLst>
                                </p:cTn>
                              </p:par>
                              <p:par>
                                <p:cTn id="45" presetID="8" presetClass="emph" presetSubtype="0" accel="50000" decel="50000" fill="hold" nodeType="withEffect">
                                  <p:stCondLst>
                                    <p:cond delay="0"/>
                                  </p:stCondLst>
                                  <p:childTnLst>
                                    <p:animRot by="10800000">
                                      <p:cBhvr>
                                        <p:cTn id="46" dur="5000" fill="hold"/>
                                        <p:tgtEl>
                                          <p:spTgt spid="76"/>
                                        </p:tgtEl>
                                        <p:attrNameLst>
                                          <p:attrName>r</p:attrName>
                                        </p:attrNameLst>
                                      </p:cBhvr>
                                    </p:animRot>
                                  </p:childTnLst>
                                </p:cTn>
                              </p:par>
                              <p:par>
                                <p:cTn id="47" presetID="0" presetClass="path" presetSubtype="0" accel="50000" decel="50000" fill="hold" nodeType="withEffect">
                                  <p:stCondLst>
                                    <p:cond delay="0"/>
                                  </p:stCondLst>
                                  <p:childTnLst>
                                    <p:animMotion origin="layout" path="M 1.45833E-6 1.85185E-6 L 0.06797 -0.06829 " pathEditMode="relative" rAng="0" ptsTypes="AA">
                                      <p:cBhvr>
                                        <p:cTn id="48" dur="5000" fill="hold"/>
                                        <p:tgtEl>
                                          <p:spTgt spid="76"/>
                                        </p:tgtEl>
                                        <p:attrNameLst>
                                          <p:attrName>ppt_x</p:attrName>
                                          <p:attrName>ppt_y</p:attrName>
                                        </p:attrNameLst>
                                      </p:cBhvr>
                                      <p:rCtr x="3398" y="-3426"/>
                                    </p:animMotion>
                                  </p:childTnLst>
                                </p:cTn>
                              </p:par>
                              <p:par>
                                <p:cTn id="49" presetID="0" presetClass="path" presetSubtype="0" accel="50000" decel="50000" fill="hold" nodeType="withEffect">
                                  <p:stCondLst>
                                    <p:cond delay="0"/>
                                  </p:stCondLst>
                                  <p:childTnLst>
                                    <p:animMotion origin="layout" path="M -1.45833E-6 -2.96296E-6 L 0.0819 -0.07986 " pathEditMode="relative" rAng="0" ptsTypes="AA">
                                      <p:cBhvr>
                                        <p:cTn id="50" dur="5000" fill="hold"/>
                                        <p:tgtEl>
                                          <p:spTgt spid="82"/>
                                        </p:tgtEl>
                                        <p:attrNameLst>
                                          <p:attrName>ppt_x</p:attrName>
                                          <p:attrName>ppt_y</p:attrName>
                                        </p:attrNameLst>
                                      </p:cBhvr>
                                      <p:rCtr x="4089" y="-4005"/>
                                    </p:animMotion>
                                  </p:childTnLst>
                                </p:cTn>
                              </p:par>
                              <p:par>
                                <p:cTn id="51" presetID="0" presetClass="path" presetSubtype="0" accel="50000" decel="50000" fill="hold" nodeType="withEffect">
                                  <p:stCondLst>
                                    <p:cond delay="0"/>
                                  </p:stCondLst>
                                  <p:childTnLst>
                                    <p:animMotion origin="layout" path="M -4.16667E-6 -3.33333E-6 L -4.16667E-6 0.14352 " pathEditMode="relative" ptsTypes="AA">
                                      <p:cBhvr>
                                        <p:cTn id="52" dur="5000" fill="hold"/>
                                        <p:tgtEl>
                                          <p:spTgt spid="86"/>
                                        </p:tgtEl>
                                        <p:attrNameLst>
                                          <p:attrName>ppt_x</p:attrName>
                                          <p:attrName>ppt_y</p:attrName>
                                        </p:attrNameLst>
                                      </p:cBhvr>
                                    </p:animMotion>
                                  </p:childTnLst>
                                </p:cTn>
                              </p:par>
                              <p:par>
                                <p:cTn id="53" presetID="0" presetClass="path" presetSubtype="0" accel="50000" decel="50000" fill="hold" nodeType="withEffect">
                                  <p:stCondLst>
                                    <p:cond delay="0"/>
                                  </p:stCondLst>
                                  <p:childTnLst>
                                    <p:animMotion origin="layout" path="M -4.16667E-6 -3.7037E-7 L 0.07448 -0.07662 " pathEditMode="relative" rAng="0" ptsTypes="AA">
                                      <p:cBhvr>
                                        <p:cTn id="54" dur="5000" fill="hold"/>
                                        <p:tgtEl>
                                          <p:spTgt spid="92"/>
                                        </p:tgtEl>
                                        <p:attrNameLst>
                                          <p:attrName>ppt_x</p:attrName>
                                          <p:attrName>ppt_y</p:attrName>
                                        </p:attrNameLst>
                                      </p:cBhvr>
                                      <p:rCtr x="3724" y="-3843"/>
                                    </p:animMotion>
                                  </p:childTnLst>
                                </p:cTn>
                              </p:par>
                              <p:par>
                                <p:cTn id="55" presetID="22" presetClass="entr" presetSubtype="1" fill="hold" nodeType="withEffect">
                                  <p:stCondLst>
                                    <p:cond delay="0"/>
                                  </p:stCondLst>
                                  <p:childTnLst>
                                    <p:set>
                                      <p:cBhvr>
                                        <p:cTn id="56" dur="1" fill="hold">
                                          <p:stCondLst>
                                            <p:cond delay="0"/>
                                          </p:stCondLst>
                                        </p:cTn>
                                        <p:tgtEl>
                                          <p:spTgt spid="73"/>
                                        </p:tgtEl>
                                        <p:attrNameLst>
                                          <p:attrName>style.visibility</p:attrName>
                                        </p:attrNameLst>
                                      </p:cBhvr>
                                      <p:to>
                                        <p:strVal val="visible"/>
                                      </p:to>
                                    </p:set>
                                    <p:animEffect transition="in" filter="wipe(up)">
                                      <p:cBhvr>
                                        <p:cTn id="57" dur="5000"/>
                                        <p:tgtEl>
                                          <p:spTgt spid="73"/>
                                        </p:tgtEl>
                                      </p:cBhvr>
                                    </p:animEffect>
                                  </p:childTnLst>
                                </p:cTn>
                              </p:par>
                              <p:par>
                                <p:cTn id="58" presetID="18" presetClass="exit" presetSubtype="3" fill="hold" nodeType="withEffect">
                                  <p:stCondLst>
                                    <p:cond delay="0"/>
                                  </p:stCondLst>
                                  <p:childTnLst>
                                    <p:animEffect transition="out" filter="strips(upRight)">
                                      <p:cBhvr>
                                        <p:cTn id="59" dur="5000"/>
                                        <p:tgtEl>
                                          <p:spTgt spid="92"/>
                                        </p:tgtEl>
                                      </p:cBhvr>
                                    </p:animEffect>
                                    <p:set>
                                      <p:cBhvr>
                                        <p:cTn id="60" dur="1" fill="hold">
                                          <p:stCondLst>
                                            <p:cond delay="4999"/>
                                          </p:stCondLst>
                                        </p:cTn>
                                        <p:tgtEl>
                                          <p:spTgt spid="92"/>
                                        </p:tgtEl>
                                        <p:attrNameLst>
                                          <p:attrName>style.visibility</p:attrName>
                                        </p:attrNameLst>
                                      </p:cBhvr>
                                      <p:to>
                                        <p:strVal val="hidden"/>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93"/>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22" presetClass="entr" presetSubtype="8" fill="hold" nodeType="clickEffect">
                                  <p:stCondLst>
                                    <p:cond delay="0"/>
                                  </p:stCondLst>
                                  <p:childTnLst>
                                    <p:set>
                                      <p:cBhvr>
                                        <p:cTn id="68" dur="1" fill="hold">
                                          <p:stCondLst>
                                            <p:cond delay="0"/>
                                          </p:stCondLst>
                                        </p:cTn>
                                        <p:tgtEl>
                                          <p:spTgt spid="94"/>
                                        </p:tgtEl>
                                        <p:attrNameLst>
                                          <p:attrName>style.visibility</p:attrName>
                                        </p:attrNameLst>
                                      </p:cBhvr>
                                      <p:to>
                                        <p:strVal val="visible"/>
                                      </p:to>
                                    </p:set>
                                    <p:animEffect transition="in" filter="wipe(left)">
                                      <p:cBhvr>
                                        <p:cTn id="69" dur="3000"/>
                                        <p:tgtEl>
                                          <p:spTgt spid="94"/>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grpId="0" nodeType="clickEffect">
                                  <p:stCondLst>
                                    <p:cond delay="0"/>
                                  </p:stCondLst>
                                  <p:childTnLst>
                                    <p:set>
                                      <p:cBhvr>
                                        <p:cTn id="73" dur="1" fill="hold">
                                          <p:stCondLst>
                                            <p:cond delay="0"/>
                                          </p:stCondLst>
                                        </p:cTn>
                                        <p:tgtEl>
                                          <p:spTgt spid="95"/>
                                        </p:tgtEl>
                                        <p:attrNameLst>
                                          <p:attrName>style.visibility</p:attrName>
                                        </p:attrNameLst>
                                      </p:cBhvr>
                                      <p:to>
                                        <p:strVal val="visible"/>
                                      </p:to>
                                    </p:set>
                                  </p:childTnLst>
                                </p:cTn>
                              </p:par>
                            </p:childTnLst>
                          </p:cTn>
                        </p:par>
                      </p:childTnLst>
                    </p:cTn>
                  </p:par>
                  <p:par>
                    <p:cTn id="74" fill="hold">
                      <p:stCondLst>
                        <p:cond delay="indefinite"/>
                      </p:stCondLst>
                      <p:childTnLst>
                        <p:par>
                          <p:cTn id="75" fill="hold">
                            <p:stCondLst>
                              <p:cond delay="0"/>
                            </p:stCondLst>
                            <p:childTnLst>
                              <p:par>
                                <p:cTn id="76" presetID="22" presetClass="entr" presetSubtype="8" fill="hold" nodeType="clickEffect">
                                  <p:stCondLst>
                                    <p:cond delay="0"/>
                                  </p:stCondLst>
                                  <p:childTnLst>
                                    <p:set>
                                      <p:cBhvr>
                                        <p:cTn id="77" dur="1" fill="hold">
                                          <p:stCondLst>
                                            <p:cond delay="0"/>
                                          </p:stCondLst>
                                        </p:cTn>
                                        <p:tgtEl>
                                          <p:spTgt spid="96"/>
                                        </p:tgtEl>
                                        <p:attrNameLst>
                                          <p:attrName>style.visibility</p:attrName>
                                        </p:attrNameLst>
                                      </p:cBhvr>
                                      <p:to>
                                        <p:strVal val="visible"/>
                                      </p:to>
                                    </p:set>
                                    <p:animEffect transition="in" filter="wipe(left)">
                                      <p:cBhvr>
                                        <p:cTn id="78" dur="3000"/>
                                        <p:tgtEl>
                                          <p:spTgt spid="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64" grpId="0"/>
      <p:bldP spid="81" grpId="0"/>
      <p:bldP spid="93" grpId="0"/>
      <p:bldP spid="95"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4653838"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第七章   动力学普遍定理</a:t>
            </a:r>
          </a:p>
        </p:txBody>
      </p:sp>
      <p:sp>
        <p:nvSpPr>
          <p:cNvPr id="9" name="Rectangle 61">
            <a:extLst>
              <a:ext uri="{FF2B5EF4-FFF2-40B4-BE49-F238E27FC236}">
                <a16:creationId xmlns:a16="http://schemas.microsoft.com/office/drawing/2014/main" id="{0C4CF67B-8CA2-F648-B364-D8C44A49A572}"/>
              </a:ext>
            </a:extLst>
          </p:cNvPr>
          <p:cNvSpPr>
            <a:spLocks noChangeArrowheads="1"/>
          </p:cNvSpPr>
          <p:nvPr/>
        </p:nvSpPr>
        <p:spPr bwMode="auto">
          <a:xfrm>
            <a:off x="8040216" y="835636"/>
            <a:ext cx="3888432" cy="2924666"/>
          </a:xfrm>
          <a:prstGeom prst="rect">
            <a:avLst/>
          </a:prstGeom>
          <a:solidFill>
            <a:srgbClr val="B9CDE5"/>
          </a:solidFill>
          <a:ln>
            <a:noFill/>
          </a:ln>
          <a:effectLst/>
        </p:spPr>
        <p:txBody>
          <a:bodyPr wrap="none" anchor="ctr"/>
          <a:lstStyle/>
          <a:p>
            <a:endParaRPr lang="zh-CN" altLang="en-US"/>
          </a:p>
        </p:txBody>
      </p:sp>
      <p:sp>
        <p:nvSpPr>
          <p:cNvPr id="64" name="矩形 63"/>
          <p:cNvSpPr/>
          <p:nvPr/>
        </p:nvSpPr>
        <p:spPr>
          <a:xfrm>
            <a:off x="191343" y="842981"/>
            <a:ext cx="7700900" cy="936347"/>
          </a:xfrm>
          <a:prstGeom prst="rect">
            <a:avLst/>
          </a:prstGeom>
        </p:spPr>
        <p:txBody>
          <a:bodyPr wrap="square">
            <a:spAutoFit/>
          </a:bodyPr>
          <a:lstStyle/>
          <a:p>
            <a:pPr>
              <a:lnSpc>
                <a:spcPct val="120000"/>
              </a:lnSpc>
            </a:pPr>
            <a:r>
              <a:rPr lang="zh-CN" altLang="en-US" i="0" dirty="0">
                <a:solidFill>
                  <a:srgbClr val="0033CC"/>
                </a:solidFill>
                <a:ea typeface="黑体" panose="02010609060101010101" pitchFamily="49" charset="-122"/>
              </a:rPr>
              <a:t>例   </a:t>
            </a:r>
            <a:r>
              <a:rPr lang="zh-CN" altLang="en-US" i="0" dirty="0">
                <a:solidFill>
                  <a:schemeClr val="tx1"/>
                </a:solidFill>
                <a:latin typeface="+mn-lt"/>
                <a:ea typeface="黑体" panose="02010609060101010101" pitchFamily="49" charset="-122"/>
              </a:rPr>
              <a:t>均质细长杆长为</a:t>
            </a:r>
            <a:r>
              <a:rPr lang="en-US" altLang="zh-CN" b="0" dirty="0">
                <a:solidFill>
                  <a:schemeClr val="tx1"/>
                </a:solidFill>
                <a:latin typeface="+mn-lt"/>
                <a:ea typeface="黑体" panose="02010609060101010101" pitchFamily="49" charset="-122"/>
              </a:rPr>
              <a:t>l</a:t>
            </a:r>
            <a:r>
              <a:rPr lang="zh-CN" altLang="en-US" i="0" dirty="0">
                <a:solidFill>
                  <a:schemeClr val="tx1"/>
                </a:solidFill>
                <a:latin typeface="+mn-lt"/>
                <a:ea typeface="黑体" panose="02010609060101010101" pitchFamily="49" charset="-122"/>
              </a:rPr>
              <a:t>， 质量为</a:t>
            </a:r>
            <a:r>
              <a:rPr lang="en-US" altLang="zh-CN" b="0" dirty="0">
                <a:solidFill>
                  <a:schemeClr val="tx1"/>
                </a:solidFill>
                <a:latin typeface="+mn-lt"/>
                <a:ea typeface="黑体" panose="02010609060101010101" pitchFamily="49" charset="-122"/>
              </a:rPr>
              <a:t>m</a:t>
            </a:r>
            <a:r>
              <a:rPr lang="zh-CN" altLang="en-US" i="0" dirty="0">
                <a:solidFill>
                  <a:schemeClr val="tx1"/>
                </a:solidFill>
                <a:latin typeface="+mn-lt"/>
                <a:ea typeface="黑体" panose="02010609060101010101" pitchFamily="49" charset="-122"/>
              </a:rPr>
              <a:t>，与水平面夹角</a:t>
            </a:r>
            <a:r>
              <a:rPr lang="zh-CN" altLang="en-US" b="0" dirty="0">
                <a:solidFill>
                  <a:schemeClr val="tx1"/>
                </a:solidFill>
                <a:latin typeface="+mn-lt"/>
                <a:ea typeface="黑体" panose="02010609060101010101" pitchFamily="49" charset="-122"/>
                <a:sym typeface="Symbol" panose="05050102010706020507" pitchFamily="18" charset="2"/>
              </a:rPr>
              <a:t></a:t>
            </a:r>
            <a:r>
              <a:rPr lang="zh-CN" altLang="en-US" b="0" i="0" dirty="0">
                <a:solidFill>
                  <a:schemeClr val="tx1"/>
                </a:solidFill>
                <a:latin typeface="+mn-lt"/>
                <a:ea typeface="黑体" panose="02010609060101010101" pitchFamily="49" charset="-122"/>
              </a:rPr>
              <a:t>＝</a:t>
            </a:r>
            <a:r>
              <a:rPr lang="en-US" altLang="zh-CN" b="0" i="0" dirty="0">
                <a:solidFill>
                  <a:schemeClr val="tx1"/>
                </a:solidFill>
                <a:latin typeface="+mn-lt"/>
                <a:ea typeface="黑体" panose="02010609060101010101" pitchFamily="49" charset="-122"/>
              </a:rPr>
              <a:t>30</a:t>
            </a:r>
            <a:r>
              <a:rPr lang="en-US" altLang="zh-CN" b="0" i="0" dirty="0">
                <a:solidFill>
                  <a:schemeClr val="tx1"/>
                </a:solidFill>
                <a:latin typeface="+mn-lt"/>
                <a:ea typeface="黑体" panose="02010609060101010101" pitchFamily="49" charset="-122"/>
                <a:sym typeface="Symbol" panose="05050102010706020507" pitchFamily="18" charset="2"/>
              </a:rPr>
              <a:t></a:t>
            </a:r>
            <a:r>
              <a:rPr lang="zh-CN" altLang="en-US" i="0" dirty="0">
                <a:solidFill>
                  <a:schemeClr val="tx1"/>
                </a:solidFill>
                <a:latin typeface="+mn-lt"/>
                <a:ea typeface="黑体" panose="02010609060101010101" pitchFamily="49" charset="-122"/>
              </a:rPr>
              <a:t>。已知端点</a:t>
            </a:r>
            <a:r>
              <a:rPr lang="en-US" altLang="zh-CN" b="0" dirty="0">
                <a:solidFill>
                  <a:schemeClr val="tx1"/>
                </a:solidFill>
                <a:latin typeface="+mn-lt"/>
                <a:ea typeface="黑体" panose="02010609060101010101" pitchFamily="49" charset="-122"/>
              </a:rPr>
              <a:t>B</a:t>
            </a:r>
            <a:r>
              <a:rPr lang="zh-CN" altLang="en-US" i="0" dirty="0">
                <a:solidFill>
                  <a:schemeClr val="tx1"/>
                </a:solidFill>
                <a:latin typeface="+mn-lt"/>
                <a:ea typeface="黑体" panose="02010609060101010101" pitchFamily="49" charset="-122"/>
              </a:rPr>
              <a:t>的瞬时速度为</a:t>
            </a:r>
            <a:r>
              <a:rPr lang="en-US" altLang="zh-CN" b="0" dirty="0" err="1">
                <a:solidFill>
                  <a:schemeClr val="tx1"/>
                </a:solidFill>
                <a:latin typeface="+mn-lt"/>
                <a:ea typeface="黑体" panose="02010609060101010101" pitchFamily="49" charset="-122"/>
              </a:rPr>
              <a:t>v</a:t>
            </a:r>
            <a:r>
              <a:rPr lang="en-US" altLang="zh-CN" b="0" baseline="-25000" dirty="0" err="1">
                <a:solidFill>
                  <a:schemeClr val="tx1"/>
                </a:solidFill>
                <a:latin typeface="+mn-lt"/>
                <a:ea typeface="黑体" panose="02010609060101010101" pitchFamily="49" charset="-122"/>
              </a:rPr>
              <a:t>B</a:t>
            </a:r>
            <a:r>
              <a:rPr lang="zh-CN" altLang="en-US" i="0" dirty="0">
                <a:solidFill>
                  <a:schemeClr val="tx1"/>
                </a:solidFill>
                <a:latin typeface="+mn-lt"/>
                <a:ea typeface="黑体" panose="02010609060101010101" pitchFamily="49" charset="-122"/>
              </a:rPr>
              <a:t>，如图。求杆</a:t>
            </a:r>
            <a:r>
              <a:rPr lang="en-US" altLang="zh-CN" b="0" dirty="0">
                <a:solidFill>
                  <a:schemeClr val="tx1"/>
                </a:solidFill>
                <a:latin typeface="+mn-lt"/>
                <a:ea typeface="黑体" panose="02010609060101010101" pitchFamily="49" charset="-122"/>
              </a:rPr>
              <a:t>AB</a:t>
            </a:r>
            <a:r>
              <a:rPr lang="zh-CN" altLang="en-US" i="0" dirty="0">
                <a:solidFill>
                  <a:schemeClr val="tx1"/>
                </a:solidFill>
                <a:latin typeface="+mn-lt"/>
                <a:ea typeface="黑体" panose="02010609060101010101" pitchFamily="49" charset="-122"/>
              </a:rPr>
              <a:t>的动能。</a:t>
            </a:r>
          </a:p>
        </p:txBody>
      </p:sp>
      <p:sp>
        <p:nvSpPr>
          <p:cNvPr id="93" name="矩形 92">
            <a:extLst>
              <a:ext uri="{FF2B5EF4-FFF2-40B4-BE49-F238E27FC236}">
                <a16:creationId xmlns:a16="http://schemas.microsoft.com/office/drawing/2014/main" id="{77CF9808-61EB-D4BA-10C7-C85E98A9BD3D}"/>
              </a:ext>
            </a:extLst>
          </p:cNvPr>
          <p:cNvSpPr/>
          <p:nvPr/>
        </p:nvSpPr>
        <p:spPr>
          <a:xfrm>
            <a:off x="191343" y="1931740"/>
            <a:ext cx="7700900" cy="1379545"/>
          </a:xfrm>
          <a:prstGeom prst="rect">
            <a:avLst/>
          </a:prstGeom>
        </p:spPr>
        <p:txBody>
          <a:bodyPr wrap="square">
            <a:spAutoFit/>
          </a:bodyPr>
          <a:lstStyle/>
          <a:p>
            <a:pPr>
              <a:lnSpc>
                <a:spcPct val="120000"/>
              </a:lnSpc>
            </a:pPr>
            <a:r>
              <a:rPr lang="zh-CN" altLang="en-US" i="0" dirty="0">
                <a:solidFill>
                  <a:srgbClr val="0033CC"/>
                </a:solidFill>
                <a:ea typeface="黑体" panose="02010609060101010101" pitchFamily="49" charset="-122"/>
              </a:rPr>
              <a:t>解  </a:t>
            </a:r>
            <a:r>
              <a:rPr lang="zh-CN" altLang="en-US" i="0" dirty="0">
                <a:solidFill>
                  <a:schemeClr val="tx1"/>
                </a:solidFill>
                <a:latin typeface="+mn-lt"/>
                <a:ea typeface="黑体" panose="02010609060101010101" pitchFamily="49" charset="-122"/>
              </a:rPr>
              <a:t>杆作平运动，瞬时速度中心为</a:t>
            </a:r>
            <a:r>
              <a:rPr lang="en-US" altLang="zh-CN" b="0" dirty="0">
                <a:solidFill>
                  <a:schemeClr val="tx1"/>
                </a:solidFill>
                <a:latin typeface="+mn-lt"/>
                <a:ea typeface="黑体" panose="02010609060101010101" pitchFamily="49" charset="-122"/>
              </a:rPr>
              <a:t>P</a:t>
            </a:r>
            <a:r>
              <a:rPr lang="zh-CN" altLang="en-US" i="0" dirty="0">
                <a:solidFill>
                  <a:schemeClr val="tx1"/>
                </a:solidFill>
                <a:latin typeface="+mn-lt"/>
                <a:ea typeface="黑体" panose="02010609060101010101" pitchFamily="49" charset="-122"/>
              </a:rPr>
              <a:t>，杆的角速度为</a:t>
            </a:r>
            <a:r>
              <a:rPr lang="zh-CN" altLang="en-US" b="0" dirty="0">
                <a:solidFill>
                  <a:schemeClr val="tx1"/>
                </a:solidFill>
                <a:latin typeface="+mn-lt"/>
                <a:ea typeface="黑体" panose="02010609060101010101" pitchFamily="49" charset="-122"/>
                <a:sym typeface="Symbol" panose="05050102010706020507" pitchFamily="18" charset="2"/>
              </a:rPr>
              <a:t></a:t>
            </a:r>
            <a:r>
              <a:rPr lang="en-US" altLang="zh-CN" b="0" dirty="0">
                <a:solidFill>
                  <a:schemeClr val="tx1"/>
                </a:solidFill>
                <a:latin typeface="+mn-lt"/>
                <a:ea typeface="黑体" panose="02010609060101010101" pitchFamily="49" charset="-122"/>
              </a:rPr>
              <a:t>=</a:t>
            </a:r>
            <a:r>
              <a:rPr lang="en-US" altLang="zh-CN" b="0" dirty="0" err="1">
                <a:solidFill>
                  <a:schemeClr val="tx1"/>
                </a:solidFill>
                <a:latin typeface="+mn-lt"/>
                <a:ea typeface="黑体" panose="02010609060101010101" pitchFamily="49" charset="-122"/>
              </a:rPr>
              <a:t>v</a:t>
            </a:r>
            <a:r>
              <a:rPr lang="en-US" altLang="zh-CN" b="0" baseline="-25000" dirty="0" err="1">
                <a:solidFill>
                  <a:schemeClr val="tx1"/>
                </a:solidFill>
                <a:latin typeface="+mn-lt"/>
                <a:ea typeface="黑体" panose="02010609060101010101" pitchFamily="49" charset="-122"/>
              </a:rPr>
              <a:t>B</a:t>
            </a:r>
            <a:r>
              <a:rPr lang="en-US" altLang="zh-CN" b="0" i="0" dirty="0">
                <a:solidFill>
                  <a:schemeClr val="tx1"/>
                </a:solidFill>
                <a:latin typeface="+mn-lt"/>
                <a:ea typeface="黑体" panose="02010609060101010101" pitchFamily="49" charset="-122"/>
              </a:rPr>
              <a:t>/</a:t>
            </a:r>
            <a:r>
              <a:rPr lang="en-US" altLang="zh-CN" b="0" dirty="0">
                <a:solidFill>
                  <a:schemeClr val="tx1"/>
                </a:solidFill>
                <a:latin typeface="+mn-lt"/>
                <a:ea typeface="黑体" panose="02010609060101010101" pitchFamily="49" charset="-122"/>
              </a:rPr>
              <a:t>P</a:t>
            </a:r>
            <a:r>
              <a:rPr lang="en-US" altLang="zh-CN" b="0" baseline="-25000" dirty="0">
                <a:solidFill>
                  <a:schemeClr val="tx1"/>
                </a:solidFill>
                <a:latin typeface="+mn-lt"/>
                <a:ea typeface="黑体" panose="02010609060101010101" pitchFamily="49" charset="-122"/>
              </a:rPr>
              <a:t>B</a:t>
            </a:r>
            <a:r>
              <a:rPr lang="en-US" altLang="zh-CN" b="0" i="0" dirty="0">
                <a:solidFill>
                  <a:schemeClr val="tx1"/>
                </a:solidFill>
                <a:latin typeface="+mn-lt"/>
                <a:ea typeface="黑体" panose="02010609060101010101" pitchFamily="49" charset="-122"/>
              </a:rPr>
              <a:t>=2</a:t>
            </a:r>
            <a:r>
              <a:rPr lang="en-US" altLang="zh-CN" b="0" dirty="0">
                <a:solidFill>
                  <a:schemeClr val="tx1"/>
                </a:solidFill>
                <a:latin typeface="+mn-lt"/>
                <a:ea typeface="黑体" panose="02010609060101010101" pitchFamily="49" charset="-122"/>
              </a:rPr>
              <a:t>v</a:t>
            </a:r>
            <a:r>
              <a:rPr lang="en-US" altLang="zh-CN" b="0" baseline="-25000" dirty="0">
                <a:solidFill>
                  <a:schemeClr val="tx1"/>
                </a:solidFill>
                <a:latin typeface="+mn-lt"/>
                <a:ea typeface="黑体" panose="02010609060101010101" pitchFamily="49" charset="-122"/>
              </a:rPr>
              <a:t>B</a:t>
            </a:r>
            <a:r>
              <a:rPr lang="en-US" altLang="zh-CN" b="0" i="0" dirty="0">
                <a:solidFill>
                  <a:schemeClr val="tx1"/>
                </a:solidFill>
                <a:latin typeface="+mn-lt"/>
                <a:ea typeface="黑体" panose="02010609060101010101" pitchFamily="49" charset="-122"/>
              </a:rPr>
              <a:t>/</a:t>
            </a:r>
            <a:r>
              <a:rPr lang="en-US" altLang="zh-CN" b="0" dirty="0">
                <a:solidFill>
                  <a:schemeClr val="tx1"/>
                </a:solidFill>
                <a:latin typeface="+mn-lt"/>
                <a:ea typeface="黑体" panose="02010609060101010101" pitchFamily="49" charset="-122"/>
              </a:rPr>
              <a:t>l</a:t>
            </a:r>
            <a:r>
              <a:rPr lang="zh-CN" altLang="en-US" i="0" dirty="0">
                <a:solidFill>
                  <a:schemeClr val="tx1"/>
                </a:solidFill>
                <a:latin typeface="+mn-lt"/>
                <a:ea typeface="黑体" panose="02010609060101010101" pitchFamily="49" charset="-122"/>
              </a:rPr>
              <a:t>，其质心速度为</a:t>
            </a:r>
            <a:r>
              <a:rPr lang="en-US" altLang="zh-CN" b="0" dirty="0" err="1">
                <a:solidFill>
                  <a:schemeClr val="tx1"/>
                </a:solidFill>
                <a:latin typeface="+mn-lt"/>
                <a:ea typeface="黑体" panose="02010609060101010101" pitchFamily="49" charset="-122"/>
              </a:rPr>
              <a:t>v</a:t>
            </a:r>
            <a:r>
              <a:rPr lang="en-US" altLang="zh-CN" b="0" baseline="-25000" dirty="0" err="1">
                <a:solidFill>
                  <a:schemeClr val="tx1"/>
                </a:solidFill>
                <a:latin typeface="+mn-lt"/>
                <a:ea typeface="黑体" panose="02010609060101010101" pitchFamily="49" charset="-122"/>
              </a:rPr>
              <a:t>C</a:t>
            </a:r>
            <a:r>
              <a:rPr lang="en-US" altLang="zh-CN" b="0" dirty="0">
                <a:solidFill>
                  <a:schemeClr val="tx1"/>
                </a:solidFill>
                <a:latin typeface="+mn-lt"/>
                <a:ea typeface="黑体" panose="02010609060101010101" pitchFamily="49" charset="-122"/>
              </a:rPr>
              <a:t>=</a:t>
            </a:r>
            <a:r>
              <a:rPr lang="en-US" altLang="zh-CN" b="0" dirty="0">
                <a:solidFill>
                  <a:schemeClr val="tx1"/>
                </a:solidFill>
                <a:latin typeface="+mn-lt"/>
                <a:ea typeface="黑体" panose="02010609060101010101" pitchFamily="49" charset="-122"/>
                <a:sym typeface="Symbol" panose="05050102010706020507" pitchFamily="18" charset="2"/>
              </a:rPr>
              <a:t></a:t>
            </a:r>
            <a:r>
              <a:rPr lang="en-US" altLang="zh-CN" b="0" dirty="0">
                <a:solidFill>
                  <a:schemeClr val="tx1"/>
                </a:solidFill>
                <a:latin typeface="+mn-lt"/>
                <a:ea typeface="黑体" panose="02010609060101010101" pitchFamily="49" charset="-122"/>
              </a:rPr>
              <a:t>l</a:t>
            </a:r>
            <a:r>
              <a:rPr lang="en-US" altLang="zh-CN" b="0" i="0" dirty="0">
                <a:solidFill>
                  <a:schemeClr val="tx1"/>
                </a:solidFill>
                <a:latin typeface="+mn-lt"/>
                <a:ea typeface="黑体" panose="02010609060101010101" pitchFamily="49" charset="-122"/>
              </a:rPr>
              <a:t>/2</a:t>
            </a:r>
            <a:r>
              <a:rPr lang="en-US" altLang="zh-CN" b="0" dirty="0">
                <a:solidFill>
                  <a:schemeClr val="tx1"/>
                </a:solidFill>
                <a:latin typeface="+mn-lt"/>
                <a:ea typeface="黑体" panose="02010609060101010101" pitchFamily="49" charset="-122"/>
              </a:rPr>
              <a:t>=</a:t>
            </a:r>
            <a:r>
              <a:rPr lang="en-US" altLang="zh-CN" b="0" dirty="0" err="1">
                <a:solidFill>
                  <a:schemeClr val="tx1"/>
                </a:solidFill>
                <a:latin typeface="+mn-lt"/>
                <a:ea typeface="黑体" panose="02010609060101010101" pitchFamily="49" charset="-122"/>
              </a:rPr>
              <a:t>v</a:t>
            </a:r>
            <a:r>
              <a:rPr lang="en-US" altLang="zh-CN" b="0" baseline="-25000" dirty="0" err="1">
                <a:solidFill>
                  <a:schemeClr val="tx1"/>
                </a:solidFill>
                <a:latin typeface="+mn-lt"/>
                <a:ea typeface="黑体" panose="02010609060101010101" pitchFamily="49" charset="-122"/>
              </a:rPr>
              <a:t>B</a:t>
            </a:r>
            <a:r>
              <a:rPr lang="zh-CN" altLang="en-US" i="0" dirty="0">
                <a:solidFill>
                  <a:schemeClr val="tx1"/>
                </a:solidFill>
                <a:latin typeface="+mn-lt"/>
                <a:ea typeface="黑体" panose="02010609060101010101" pitchFamily="49" charset="-122"/>
              </a:rPr>
              <a:t>，则杆的动能为 </a:t>
            </a:r>
          </a:p>
        </p:txBody>
      </p:sp>
      <p:grpSp>
        <p:nvGrpSpPr>
          <p:cNvPr id="2" name="Group 2">
            <a:extLst>
              <a:ext uri="{FF2B5EF4-FFF2-40B4-BE49-F238E27FC236}">
                <a16:creationId xmlns:a16="http://schemas.microsoft.com/office/drawing/2014/main" id="{D103E4B8-F304-55D8-3EED-A127D7DAC2B3}"/>
              </a:ext>
            </a:extLst>
          </p:cNvPr>
          <p:cNvGrpSpPr>
            <a:grpSpLocks/>
          </p:cNvGrpSpPr>
          <p:nvPr/>
        </p:nvGrpSpPr>
        <p:grpSpPr bwMode="auto">
          <a:xfrm>
            <a:off x="8336062" y="835636"/>
            <a:ext cx="3494088" cy="2700338"/>
            <a:chOff x="3559" y="2552"/>
            <a:chExt cx="2201" cy="1701"/>
          </a:xfrm>
        </p:grpSpPr>
        <p:grpSp>
          <p:nvGrpSpPr>
            <p:cNvPr id="4" name="Group 4">
              <a:extLst>
                <a:ext uri="{FF2B5EF4-FFF2-40B4-BE49-F238E27FC236}">
                  <a16:creationId xmlns:a16="http://schemas.microsoft.com/office/drawing/2014/main" id="{5118DF09-BB2F-BD84-6D68-E165D236790B}"/>
                </a:ext>
              </a:extLst>
            </p:cNvPr>
            <p:cNvGrpSpPr>
              <a:grpSpLocks/>
            </p:cNvGrpSpPr>
            <p:nvPr/>
          </p:nvGrpSpPr>
          <p:grpSpPr bwMode="auto">
            <a:xfrm>
              <a:off x="3570" y="2627"/>
              <a:ext cx="2042" cy="1327"/>
              <a:chOff x="3570" y="2627"/>
              <a:chExt cx="2042" cy="1327"/>
            </a:xfrm>
          </p:grpSpPr>
          <p:sp>
            <p:nvSpPr>
              <p:cNvPr id="15" name="Freeform 5">
                <a:extLst>
                  <a:ext uri="{FF2B5EF4-FFF2-40B4-BE49-F238E27FC236}">
                    <a16:creationId xmlns:a16="http://schemas.microsoft.com/office/drawing/2014/main" id="{86F1C85B-B1DE-4A50-C4BD-2CDAC6C99839}"/>
                  </a:ext>
                </a:extLst>
              </p:cNvPr>
              <p:cNvSpPr>
                <a:spLocks/>
              </p:cNvSpPr>
              <p:nvPr/>
            </p:nvSpPr>
            <p:spPr bwMode="auto">
              <a:xfrm>
                <a:off x="3570" y="2636"/>
                <a:ext cx="2042" cy="1318"/>
              </a:xfrm>
              <a:custGeom>
                <a:avLst/>
                <a:gdLst>
                  <a:gd name="T0" fmla="*/ 113 w 2042"/>
                  <a:gd name="T1" fmla="*/ 0 h 1318"/>
                  <a:gd name="T2" fmla="*/ 113 w 2042"/>
                  <a:gd name="T3" fmla="*/ 1196 h 1318"/>
                  <a:gd name="T4" fmla="*/ 2040 w 2042"/>
                  <a:gd name="T5" fmla="*/ 1202 h 1318"/>
                  <a:gd name="T6" fmla="*/ 2042 w 2042"/>
                  <a:gd name="T7" fmla="*/ 1314 h 1318"/>
                  <a:gd name="T8" fmla="*/ 0 w 2042"/>
                  <a:gd name="T9" fmla="*/ 1318 h 1318"/>
                  <a:gd name="T10" fmla="*/ 0 w 2042"/>
                  <a:gd name="T11" fmla="*/ 9 h 1318"/>
                  <a:gd name="T12" fmla="*/ 113 w 2042"/>
                  <a:gd name="T13" fmla="*/ 0 h 1318"/>
                </a:gdLst>
                <a:ahLst/>
                <a:cxnLst>
                  <a:cxn ang="0">
                    <a:pos x="T0" y="T1"/>
                  </a:cxn>
                  <a:cxn ang="0">
                    <a:pos x="T2" y="T3"/>
                  </a:cxn>
                  <a:cxn ang="0">
                    <a:pos x="T4" y="T5"/>
                  </a:cxn>
                  <a:cxn ang="0">
                    <a:pos x="T6" y="T7"/>
                  </a:cxn>
                  <a:cxn ang="0">
                    <a:pos x="T8" y="T9"/>
                  </a:cxn>
                  <a:cxn ang="0">
                    <a:pos x="T10" y="T11"/>
                  </a:cxn>
                  <a:cxn ang="0">
                    <a:pos x="T12" y="T13"/>
                  </a:cxn>
                </a:cxnLst>
                <a:rect l="0" t="0" r="r" b="b"/>
                <a:pathLst>
                  <a:path w="2042" h="1318">
                    <a:moveTo>
                      <a:pt x="113" y="0"/>
                    </a:moveTo>
                    <a:lnTo>
                      <a:pt x="113" y="1196"/>
                    </a:lnTo>
                    <a:lnTo>
                      <a:pt x="2040" y="1202"/>
                    </a:lnTo>
                    <a:lnTo>
                      <a:pt x="2042" y="1314"/>
                    </a:lnTo>
                    <a:lnTo>
                      <a:pt x="0" y="1318"/>
                    </a:lnTo>
                    <a:lnTo>
                      <a:pt x="0" y="9"/>
                    </a:lnTo>
                    <a:lnTo>
                      <a:pt x="113" y="0"/>
                    </a:lnTo>
                    <a:close/>
                  </a:path>
                </a:pathLst>
              </a:custGeom>
              <a:pattFill prst="wdUpDiag">
                <a:fgClr>
                  <a:schemeClr val="tx2"/>
                </a:fgClr>
                <a:bgClr>
                  <a:srgbClr val="66FFFF"/>
                </a:bgClr>
              </a:patt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 name="Freeform 6">
                <a:extLst>
                  <a:ext uri="{FF2B5EF4-FFF2-40B4-BE49-F238E27FC236}">
                    <a16:creationId xmlns:a16="http://schemas.microsoft.com/office/drawing/2014/main" id="{9C22F50C-0A5E-47FE-87DB-D2D1002FBC0D}"/>
                  </a:ext>
                </a:extLst>
              </p:cNvPr>
              <p:cNvSpPr>
                <a:spLocks/>
              </p:cNvSpPr>
              <p:nvPr/>
            </p:nvSpPr>
            <p:spPr bwMode="auto">
              <a:xfrm>
                <a:off x="3683" y="2627"/>
                <a:ext cx="1929" cy="1274"/>
              </a:xfrm>
              <a:custGeom>
                <a:avLst/>
                <a:gdLst>
                  <a:gd name="T0" fmla="*/ 0 w 1929"/>
                  <a:gd name="T1" fmla="*/ 0 h 1274"/>
                  <a:gd name="T2" fmla="*/ 0 w 1929"/>
                  <a:gd name="T3" fmla="*/ 1213 h 1274"/>
                  <a:gd name="T4" fmla="*/ 1929 w 1929"/>
                  <a:gd name="T5" fmla="*/ 1213 h 1274"/>
                  <a:gd name="T6" fmla="*/ 1929 w 1929"/>
                  <a:gd name="T7" fmla="*/ 1274 h 1274"/>
                </a:gdLst>
                <a:ahLst/>
                <a:cxnLst>
                  <a:cxn ang="0">
                    <a:pos x="T0" y="T1"/>
                  </a:cxn>
                  <a:cxn ang="0">
                    <a:pos x="T2" y="T3"/>
                  </a:cxn>
                  <a:cxn ang="0">
                    <a:pos x="T4" y="T5"/>
                  </a:cxn>
                  <a:cxn ang="0">
                    <a:pos x="T6" y="T7"/>
                  </a:cxn>
                </a:cxnLst>
                <a:rect l="0" t="0" r="r" b="b"/>
                <a:pathLst>
                  <a:path w="1929" h="1274">
                    <a:moveTo>
                      <a:pt x="0" y="0"/>
                    </a:moveTo>
                    <a:lnTo>
                      <a:pt x="0" y="1213"/>
                    </a:lnTo>
                    <a:lnTo>
                      <a:pt x="1929" y="1213"/>
                    </a:lnTo>
                    <a:lnTo>
                      <a:pt x="1929" y="1274"/>
                    </a:lnTo>
                  </a:path>
                </a:pathLst>
              </a:custGeom>
              <a:noFill/>
              <a:ln w="38100"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5" name="Rectangle 7">
              <a:extLst>
                <a:ext uri="{FF2B5EF4-FFF2-40B4-BE49-F238E27FC236}">
                  <a16:creationId xmlns:a16="http://schemas.microsoft.com/office/drawing/2014/main" id="{D936CBB4-1838-AE8B-32AA-ECA6FEEF75D0}"/>
                </a:ext>
              </a:extLst>
            </p:cNvPr>
            <p:cNvSpPr>
              <a:spLocks noChangeArrowheads="1"/>
            </p:cNvSpPr>
            <p:nvPr/>
          </p:nvSpPr>
          <p:spPr bwMode="auto">
            <a:xfrm rot="1800000">
              <a:off x="3559" y="3279"/>
              <a:ext cx="1926" cy="67"/>
            </a:xfrm>
            <a:prstGeom prst="rect">
              <a:avLst/>
            </a:prstGeom>
            <a:gradFill rotWithShape="1">
              <a:gsLst>
                <a:gs pos="0">
                  <a:schemeClr val="bg1">
                    <a:gamma/>
                    <a:shade val="9412"/>
                    <a:invGamma/>
                  </a:schemeClr>
                </a:gs>
                <a:gs pos="50000">
                  <a:schemeClr val="bg1"/>
                </a:gs>
                <a:gs pos="100000">
                  <a:schemeClr val="bg1">
                    <a:gamma/>
                    <a:shade val="9412"/>
                    <a:invGamma/>
                  </a:schemeClr>
                </a:gs>
              </a:gsLst>
              <a:lin ang="5400000" scaled="1"/>
            </a:gra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 name="Text Box 8">
              <a:extLst>
                <a:ext uri="{FF2B5EF4-FFF2-40B4-BE49-F238E27FC236}">
                  <a16:creationId xmlns:a16="http://schemas.microsoft.com/office/drawing/2014/main" id="{5650A61B-9497-D66A-DCFE-F2D4A356AFDE}"/>
                </a:ext>
              </a:extLst>
            </p:cNvPr>
            <p:cNvSpPr txBox="1">
              <a:spLocks noChangeAspect="1" noChangeArrowheads="1"/>
            </p:cNvSpPr>
            <p:nvPr/>
          </p:nvSpPr>
          <p:spPr bwMode="auto">
            <a:xfrm>
              <a:off x="3679" y="2552"/>
              <a:ext cx="336" cy="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b="0" i="1" dirty="0">
                  <a:solidFill>
                    <a:schemeClr val="tx1"/>
                  </a:solidFill>
                  <a:ea typeface="宋体" panose="02010600030101010101" pitchFamily="2" charset="-122"/>
                  <a:sym typeface="Symbol" panose="05050102010706020507" pitchFamily="18" charset="2"/>
                </a:rPr>
                <a:t>A</a:t>
              </a:r>
              <a:endParaRPr lang="en-US" altLang="zh-CN" b="0" dirty="0">
                <a:solidFill>
                  <a:schemeClr val="tx1"/>
                </a:solidFill>
                <a:sym typeface="Symbol" panose="05050102010706020507" pitchFamily="18" charset="2"/>
              </a:endParaRPr>
            </a:p>
          </p:txBody>
        </p:sp>
        <p:sp>
          <p:nvSpPr>
            <p:cNvPr id="11" name="Text Box 11">
              <a:extLst>
                <a:ext uri="{FF2B5EF4-FFF2-40B4-BE49-F238E27FC236}">
                  <a16:creationId xmlns:a16="http://schemas.microsoft.com/office/drawing/2014/main" id="{5626EBFD-EE18-F99E-3560-929607733A1E}"/>
                </a:ext>
              </a:extLst>
            </p:cNvPr>
            <p:cNvSpPr txBox="1">
              <a:spLocks noChangeArrowheads="1"/>
            </p:cNvSpPr>
            <p:nvPr/>
          </p:nvSpPr>
          <p:spPr bwMode="auto">
            <a:xfrm>
              <a:off x="5529" y="3541"/>
              <a:ext cx="231" cy="233"/>
            </a:xfrm>
            <a:prstGeom prst="rect">
              <a:avLst/>
            </a:prstGeom>
            <a:noFill/>
            <a:ln>
              <a:noFill/>
            </a:ln>
            <a:effectLst/>
            <a:extLst>
              <a:ext uri="{909E8E84-426E-40DD-AFC4-6F175D3DCCD1}">
                <a14:hiddenFill xmlns:a14="http://schemas.microsoft.com/office/drawing/2010/main">
                  <a:solidFill>
                    <a:srgbClr val="00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spcBef>
                  <a:spcPct val="50000"/>
                </a:spcBef>
              </a:pPr>
              <a:r>
                <a:rPr lang="en-US" altLang="zh-CN" b="0" dirty="0" err="1">
                  <a:solidFill>
                    <a:srgbClr val="FF3399"/>
                  </a:solidFill>
                  <a:latin typeface="+mn-lt"/>
                </a:rPr>
                <a:t>v</a:t>
              </a:r>
              <a:r>
                <a:rPr lang="en-US" altLang="zh-CN" b="0" baseline="-25000" dirty="0" err="1">
                  <a:solidFill>
                    <a:srgbClr val="FF3399"/>
                  </a:solidFill>
                </a:rPr>
                <a:t>B</a:t>
              </a:r>
              <a:endParaRPr lang="en-US" altLang="zh-CN" b="0" baseline="-25000" dirty="0">
                <a:solidFill>
                  <a:srgbClr val="FF3399"/>
                </a:solidFill>
              </a:endParaRPr>
            </a:p>
          </p:txBody>
        </p:sp>
        <p:sp>
          <p:nvSpPr>
            <p:cNvPr id="12" name="Line 12">
              <a:extLst>
                <a:ext uri="{FF2B5EF4-FFF2-40B4-BE49-F238E27FC236}">
                  <a16:creationId xmlns:a16="http://schemas.microsoft.com/office/drawing/2014/main" id="{AE0B8F7D-3226-0AF1-5A78-E57008304A9B}"/>
                </a:ext>
              </a:extLst>
            </p:cNvPr>
            <p:cNvSpPr>
              <a:spLocks noChangeShapeType="1"/>
            </p:cNvSpPr>
            <p:nvPr/>
          </p:nvSpPr>
          <p:spPr bwMode="auto">
            <a:xfrm rot="-5400000">
              <a:off x="5493" y="3630"/>
              <a:ext cx="0" cy="357"/>
            </a:xfrm>
            <a:prstGeom prst="line">
              <a:avLst/>
            </a:prstGeom>
            <a:noFill/>
            <a:ln w="28575">
              <a:solidFill>
                <a:srgbClr val="FF3399"/>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 name="Text Box 13">
              <a:extLst>
                <a:ext uri="{FF2B5EF4-FFF2-40B4-BE49-F238E27FC236}">
                  <a16:creationId xmlns:a16="http://schemas.microsoft.com/office/drawing/2014/main" id="{B0D49EF5-71A4-42C4-ED32-1DBAA64118E2}"/>
                </a:ext>
              </a:extLst>
            </p:cNvPr>
            <p:cNvSpPr txBox="1">
              <a:spLocks noChangeAspect="1" noChangeArrowheads="1"/>
            </p:cNvSpPr>
            <p:nvPr/>
          </p:nvSpPr>
          <p:spPr bwMode="auto">
            <a:xfrm>
              <a:off x="4641" y="3583"/>
              <a:ext cx="415" cy="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b="0" i="0" dirty="0">
                  <a:solidFill>
                    <a:schemeClr val="tx1"/>
                  </a:solidFill>
                  <a:ea typeface="宋体" panose="02010600030101010101" pitchFamily="2" charset="-122"/>
                  <a:sym typeface="Symbol" panose="05050102010706020507" pitchFamily="18" charset="2"/>
                </a:rPr>
                <a:t>30</a:t>
              </a:r>
              <a:endParaRPr lang="en-US" altLang="zh-CN" b="0" i="0" dirty="0">
                <a:solidFill>
                  <a:schemeClr val="tx1"/>
                </a:solidFill>
                <a:sym typeface="Symbol" panose="05050102010706020507" pitchFamily="18" charset="2"/>
              </a:endParaRPr>
            </a:p>
          </p:txBody>
        </p:sp>
        <p:sp>
          <p:nvSpPr>
            <p:cNvPr id="14" name="Arc 14">
              <a:extLst>
                <a:ext uri="{FF2B5EF4-FFF2-40B4-BE49-F238E27FC236}">
                  <a16:creationId xmlns:a16="http://schemas.microsoft.com/office/drawing/2014/main" id="{AB127DBC-990E-D9EB-E447-8F382A3C4E27}"/>
                </a:ext>
              </a:extLst>
            </p:cNvPr>
            <p:cNvSpPr>
              <a:spLocks/>
            </p:cNvSpPr>
            <p:nvPr/>
          </p:nvSpPr>
          <p:spPr bwMode="auto">
            <a:xfrm flipH="1">
              <a:off x="4997" y="3657"/>
              <a:ext cx="56" cy="174"/>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 name="Text Box 8">
              <a:extLst>
                <a:ext uri="{FF2B5EF4-FFF2-40B4-BE49-F238E27FC236}">
                  <a16:creationId xmlns:a16="http://schemas.microsoft.com/office/drawing/2014/main" id="{F9CFF4BE-3338-72BF-3560-C968326D8ADE}"/>
                </a:ext>
              </a:extLst>
            </p:cNvPr>
            <p:cNvSpPr txBox="1">
              <a:spLocks noChangeAspect="1" noChangeArrowheads="1"/>
            </p:cNvSpPr>
            <p:nvPr/>
          </p:nvSpPr>
          <p:spPr bwMode="auto">
            <a:xfrm>
              <a:off x="5158" y="3940"/>
              <a:ext cx="336" cy="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b="0" i="1" dirty="0">
                  <a:solidFill>
                    <a:schemeClr val="tx1"/>
                  </a:solidFill>
                  <a:ea typeface="宋体" panose="02010600030101010101" pitchFamily="2" charset="-122"/>
                  <a:sym typeface="Symbol" panose="05050102010706020507" pitchFamily="18" charset="2"/>
                </a:rPr>
                <a:t>B</a:t>
              </a:r>
              <a:endParaRPr lang="en-US" altLang="zh-CN" b="0" dirty="0">
                <a:solidFill>
                  <a:schemeClr val="tx1"/>
                </a:solidFill>
                <a:sym typeface="Symbol" panose="05050102010706020507" pitchFamily="18" charset="2"/>
              </a:endParaRPr>
            </a:p>
          </p:txBody>
        </p:sp>
      </p:grpSp>
      <p:graphicFrame>
        <p:nvGraphicFramePr>
          <p:cNvPr id="26" name="Object 23">
            <a:extLst>
              <a:ext uri="{FF2B5EF4-FFF2-40B4-BE49-F238E27FC236}">
                <a16:creationId xmlns:a16="http://schemas.microsoft.com/office/drawing/2014/main" id="{56D94BB1-D68D-386F-79B0-E4E8D61D3D3F}"/>
              </a:ext>
            </a:extLst>
          </p:cNvPr>
          <p:cNvGraphicFramePr>
            <a:graphicFrameLocks noChangeAspect="1"/>
          </p:cNvGraphicFramePr>
          <p:nvPr>
            <p:extLst>
              <p:ext uri="{D42A27DB-BD31-4B8C-83A1-F6EECF244321}">
                <p14:modId xmlns:p14="http://schemas.microsoft.com/office/powerpoint/2010/main" val="2889880178"/>
              </p:ext>
            </p:extLst>
          </p:nvPr>
        </p:nvGraphicFramePr>
        <p:xfrm>
          <a:off x="1055440" y="3311285"/>
          <a:ext cx="4083050" cy="2701925"/>
        </p:xfrm>
        <a:graphic>
          <a:graphicData uri="http://schemas.openxmlformats.org/presentationml/2006/ole">
            <mc:AlternateContent xmlns:mc="http://schemas.openxmlformats.org/markup-compatibility/2006">
              <mc:Choice xmlns:v="urn:schemas-microsoft-com:vml" Requires="v">
                <p:oleObj spid="_x0000_s25615" name="Equation" r:id="rId4" imgW="1942920" imgH="1295280" progId="Equation.DSMT4">
                  <p:embed/>
                </p:oleObj>
              </mc:Choice>
              <mc:Fallback>
                <p:oleObj name="Equation" r:id="rId4" imgW="1942920" imgH="1295280" progId="Equation.DSMT4">
                  <p:embed/>
                  <p:pic>
                    <p:nvPicPr>
                      <p:cNvPr id="1124375" name="Object 23">
                        <a:extLst>
                          <a:ext uri="{FF2B5EF4-FFF2-40B4-BE49-F238E27FC236}">
                            <a16:creationId xmlns:a16="http://schemas.microsoft.com/office/drawing/2014/main" id="{0C68BAD2-3873-B2ED-F380-2CDA26087648}"/>
                          </a:ext>
                        </a:extLst>
                      </p:cNvPr>
                      <p:cNvPicPr>
                        <a:picLocks noChangeAspect="1" noChangeArrowheads="1"/>
                      </p:cNvPicPr>
                      <p:nvPr/>
                    </p:nvPicPr>
                    <p:blipFill>
                      <a:blip r:embed="rId5"/>
                      <a:srcRect/>
                      <a:stretch>
                        <a:fillRect/>
                      </a:stretch>
                    </p:blipFill>
                    <p:spPr bwMode="auto">
                      <a:xfrm>
                        <a:off x="1055440" y="3311285"/>
                        <a:ext cx="4083050" cy="27019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7" name="Rectangle 61">
            <a:extLst>
              <a:ext uri="{FF2B5EF4-FFF2-40B4-BE49-F238E27FC236}">
                <a16:creationId xmlns:a16="http://schemas.microsoft.com/office/drawing/2014/main" id="{0C4CF67B-8CA2-F648-B364-D8C44A49A572}"/>
              </a:ext>
            </a:extLst>
          </p:cNvPr>
          <p:cNvSpPr>
            <a:spLocks noChangeArrowheads="1"/>
          </p:cNvSpPr>
          <p:nvPr/>
        </p:nvSpPr>
        <p:spPr bwMode="auto">
          <a:xfrm>
            <a:off x="8040216" y="3649990"/>
            <a:ext cx="3888432" cy="2662224"/>
          </a:xfrm>
          <a:prstGeom prst="rect">
            <a:avLst/>
          </a:prstGeom>
          <a:solidFill>
            <a:srgbClr val="B9CDE5"/>
          </a:solidFill>
          <a:ln>
            <a:noFill/>
          </a:ln>
          <a:effectLst/>
        </p:spPr>
        <p:txBody>
          <a:bodyPr wrap="none" anchor="ctr"/>
          <a:lstStyle/>
          <a:p>
            <a:endParaRPr lang="zh-CN" altLang="en-US"/>
          </a:p>
        </p:txBody>
      </p:sp>
      <p:grpSp>
        <p:nvGrpSpPr>
          <p:cNvPr id="28" name="Group 2">
            <a:extLst>
              <a:ext uri="{FF2B5EF4-FFF2-40B4-BE49-F238E27FC236}">
                <a16:creationId xmlns:a16="http://schemas.microsoft.com/office/drawing/2014/main" id="{D103E4B8-F304-55D8-3EED-A127D7DAC2B3}"/>
              </a:ext>
            </a:extLst>
          </p:cNvPr>
          <p:cNvGrpSpPr>
            <a:grpSpLocks/>
          </p:cNvGrpSpPr>
          <p:nvPr/>
        </p:nvGrpSpPr>
        <p:grpSpPr bwMode="auto">
          <a:xfrm>
            <a:off x="8336062" y="3731171"/>
            <a:ext cx="3494088" cy="2700338"/>
            <a:chOff x="3559" y="2552"/>
            <a:chExt cx="2201" cy="1701"/>
          </a:xfrm>
        </p:grpSpPr>
        <p:grpSp>
          <p:nvGrpSpPr>
            <p:cNvPr id="29" name="Group 4">
              <a:extLst>
                <a:ext uri="{FF2B5EF4-FFF2-40B4-BE49-F238E27FC236}">
                  <a16:creationId xmlns:a16="http://schemas.microsoft.com/office/drawing/2014/main" id="{5118DF09-BB2F-BD84-6D68-E165D236790B}"/>
                </a:ext>
              </a:extLst>
            </p:cNvPr>
            <p:cNvGrpSpPr>
              <a:grpSpLocks/>
            </p:cNvGrpSpPr>
            <p:nvPr/>
          </p:nvGrpSpPr>
          <p:grpSpPr bwMode="auto">
            <a:xfrm>
              <a:off x="3570" y="2627"/>
              <a:ext cx="2042" cy="1327"/>
              <a:chOff x="3570" y="2627"/>
              <a:chExt cx="2042" cy="1327"/>
            </a:xfrm>
          </p:grpSpPr>
          <p:sp>
            <p:nvSpPr>
              <p:cNvPr id="38" name="Freeform 5">
                <a:extLst>
                  <a:ext uri="{FF2B5EF4-FFF2-40B4-BE49-F238E27FC236}">
                    <a16:creationId xmlns:a16="http://schemas.microsoft.com/office/drawing/2014/main" id="{86F1C85B-B1DE-4A50-C4BD-2CDAC6C99839}"/>
                  </a:ext>
                </a:extLst>
              </p:cNvPr>
              <p:cNvSpPr>
                <a:spLocks/>
              </p:cNvSpPr>
              <p:nvPr/>
            </p:nvSpPr>
            <p:spPr bwMode="auto">
              <a:xfrm>
                <a:off x="3570" y="2636"/>
                <a:ext cx="2042" cy="1318"/>
              </a:xfrm>
              <a:custGeom>
                <a:avLst/>
                <a:gdLst>
                  <a:gd name="T0" fmla="*/ 113 w 2042"/>
                  <a:gd name="T1" fmla="*/ 0 h 1318"/>
                  <a:gd name="T2" fmla="*/ 113 w 2042"/>
                  <a:gd name="T3" fmla="*/ 1196 h 1318"/>
                  <a:gd name="T4" fmla="*/ 2040 w 2042"/>
                  <a:gd name="T5" fmla="*/ 1202 h 1318"/>
                  <a:gd name="T6" fmla="*/ 2042 w 2042"/>
                  <a:gd name="T7" fmla="*/ 1314 h 1318"/>
                  <a:gd name="T8" fmla="*/ 0 w 2042"/>
                  <a:gd name="T9" fmla="*/ 1318 h 1318"/>
                  <a:gd name="T10" fmla="*/ 0 w 2042"/>
                  <a:gd name="T11" fmla="*/ 9 h 1318"/>
                  <a:gd name="T12" fmla="*/ 113 w 2042"/>
                  <a:gd name="T13" fmla="*/ 0 h 1318"/>
                </a:gdLst>
                <a:ahLst/>
                <a:cxnLst>
                  <a:cxn ang="0">
                    <a:pos x="T0" y="T1"/>
                  </a:cxn>
                  <a:cxn ang="0">
                    <a:pos x="T2" y="T3"/>
                  </a:cxn>
                  <a:cxn ang="0">
                    <a:pos x="T4" y="T5"/>
                  </a:cxn>
                  <a:cxn ang="0">
                    <a:pos x="T6" y="T7"/>
                  </a:cxn>
                  <a:cxn ang="0">
                    <a:pos x="T8" y="T9"/>
                  </a:cxn>
                  <a:cxn ang="0">
                    <a:pos x="T10" y="T11"/>
                  </a:cxn>
                  <a:cxn ang="0">
                    <a:pos x="T12" y="T13"/>
                  </a:cxn>
                </a:cxnLst>
                <a:rect l="0" t="0" r="r" b="b"/>
                <a:pathLst>
                  <a:path w="2042" h="1318">
                    <a:moveTo>
                      <a:pt x="113" y="0"/>
                    </a:moveTo>
                    <a:lnTo>
                      <a:pt x="113" y="1196"/>
                    </a:lnTo>
                    <a:lnTo>
                      <a:pt x="2040" y="1202"/>
                    </a:lnTo>
                    <a:lnTo>
                      <a:pt x="2042" y="1314"/>
                    </a:lnTo>
                    <a:lnTo>
                      <a:pt x="0" y="1318"/>
                    </a:lnTo>
                    <a:lnTo>
                      <a:pt x="0" y="9"/>
                    </a:lnTo>
                    <a:lnTo>
                      <a:pt x="113" y="0"/>
                    </a:lnTo>
                    <a:close/>
                  </a:path>
                </a:pathLst>
              </a:custGeom>
              <a:pattFill prst="wdUpDiag">
                <a:fgClr>
                  <a:schemeClr val="tx2"/>
                </a:fgClr>
                <a:bgClr>
                  <a:srgbClr val="66FFFF"/>
                </a:bgClr>
              </a:patt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9" name="Freeform 6">
                <a:extLst>
                  <a:ext uri="{FF2B5EF4-FFF2-40B4-BE49-F238E27FC236}">
                    <a16:creationId xmlns:a16="http://schemas.microsoft.com/office/drawing/2014/main" id="{9C22F50C-0A5E-47FE-87DB-D2D1002FBC0D}"/>
                  </a:ext>
                </a:extLst>
              </p:cNvPr>
              <p:cNvSpPr>
                <a:spLocks/>
              </p:cNvSpPr>
              <p:nvPr/>
            </p:nvSpPr>
            <p:spPr bwMode="auto">
              <a:xfrm>
                <a:off x="3683" y="2627"/>
                <a:ext cx="1929" cy="1274"/>
              </a:xfrm>
              <a:custGeom>
                <a:avLst/>
                <a:gdLst>
                  <a:gd name="T0" fmla="*/ 0 w 1929"/>
                  <a:gd name="T1" fmla="*/ 0 h 1274"/>
                  <a:gd name="T2" fmla="*/ 0 w 1929"/>
                  <a:gd name="T3" fmla="*/ 1213 h 1274"/>
                  <a:gd name="T4" fmla="*/ 1929 w 1929"/>
                  <a:gd name="T5" fmla="*/ 1213 h 1274"/>
                  <a:gd name="T6" fmla="*/ 1929 w 1929"/>
                  <a:gd name="T7" fmla="*/ 1274 h 1274"/>
                </a:gdLst>
                <a:ahLst/>
                <a:cxnLst>
                  <a:cxn ang="0">
                    <a:pos x="T0" y="T1"/>
                  </a:cxn>
                  <a:cxn ang="0">
                    <a:pos x="T2" y="T3"/>
                  </a:cxn>
                  <a:cxn ang="0">
                    <a:pos x="T4" y="T5"/>
                  </a:cxn>
                  <a:cxn ang="0">
                    <a:pos x="T6" y="T7"/>
                  </a:cxn>
                </a:cxnLst>
                <a:rect l="0" t="0" r="r" b="b"/>
                <a:pathLst>
                  <a:path w="1929" h="1274">
                    <a:moveTo>
                      <a:pt x="0" y="0"/>
                    </a:moveTo>
                    <a:lnTo>
                      <a:pt x="0" y="1213"/>
                    </a:lnTo>
                    <a:lnTo>
                      <a:pt x="1929" y="1213"/>
                    </a:lnTo>
                    <a:lnTo>
                      <a:pt x="1929" y="1274"/>
                    </a:lnTo>
                  </a:path>
                </a:pathLst>
              </a:custGeom>
              <a:noFill/>
              <a:ln w="38100"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0" name="Rectangle 7">
              <a:extLst>
                <a:ext uri="{FF2B5EF4-FFF2-40B4-BE49-F238E27FC236}">
                  <a16:creationId xmlns:a16="http://schemas.microsoft.com/office/drawing/2014/main" id="{D936CBB4-1838-AE8B-32AA-ECA6FEEF75D0}"/>
                </a:ext>
              </a:extLst>
            </p:cNvPr>
            <p:cNvSpPr>
              <a:spLocks noChangeArrowheads="1"/>
            </p:cNvSpPr>
            <p:nvPr/>
          </p:nvSpPr>
          <p:spPr bwMode="auto">
            <a:xfrm rot="1800000">
              <a:off x="3559" y="3279"/>
              <a:ext cx="1926" cy="67"/>
            </a:xfrm>
            <a:prstGeom prst="rect">
              <a:avLst/>
            </a:prstGeom>
            <a:gradFill rotWithShape="1">
              <a:gsLst>
                <a:gs pos="0">
                  <a:schemeClr val="bg1">
                    <a:gamma/>
                    <a:shade val="9412"/>
                    <a:invGamma/>
                  </a:schemeClr>
                </a:gs>
                <a:gs pos="50000">
                  <a:schemeClr val="bg1"/>
                </a:gs>
                <a:gs pos="100000">
                  <a:schemeClr val="bg1">
                    <a:gamma/>
                    <a:shade val="9412"/>
                    <a:invGamma/>
                  </a:schemeClr>
                </a:gs>
              </a:gsLst>
              <a:lin ang="5400000" scaled="1"/>
            </a:gra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 name="Text Box 8">
              <a:extLst>
                <a:ext uri="{FF2B5EF4-FFF2-40B4-BE49-F238E27FC236}">
                  <a16:creationId xmlns:a16="http://schemas.microsoft.com/office/drawing/2014/main" id="{5650A61B-9497-D66A-DCFE-F2D4A356AFDE}"/>
                </a:ext>
              </a:extLst>
            </p:cNvPr>
            <p:cNvSpPr txBox="1">
              <a:spLocks noChangeAspect="1" noChangeArrowheads="1"/>
            </p:cNvSpPr>
            <p:nvPr/>
          </p:nvSpPr>
          <p:spPr bwMode="auto">
            <a:xfrm>
              <a:off x="3679" y="2552"/>
              <a:ext cx="336" cy="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b="0" i="1" dirty="0">
                  <a:solidFill>
                    <a:schemeClr val="tx1"/>
                  </a:solidFill>
                  <a:ea typeface="宋体" panose="02010600030101010101" pitchFamily="2" charset="-122"/>
                  <a:sym typeface="Symbol" panose="05050102010706020507" pitchFamily="18" charset="2"/>
                </a:rPr>
                <a:t>A</a:t>
              </a:r>
              <a:endParaRPr lang="en-US" altLang="zh-CN" b="0" dirty="0">
                <a:solidFill>
                  <a:schemeClr val="tx1"/>
                </a:solidFill>
                <a:sym typeface="Symbol" panose="05050102010706020507" pitchFamily="18" charset="2"/>
              </a:endParaRPr>
            </a:p>
          </p:txBody>
        </p:sp>
        <p:sp>
          <p:nvSpPr>
            <p:cNvPr id="32" name="Text Box 10">
              <a:extLst>
                <a:ext uri="{FF2B5EF4-FFF2-40B4-BE49-F238E27FC236}">
                  <a16:creationId xmlns:a16="http://schemas.microsoft.com/office/drawing/2014/main" id="{46F46D77-49CF-8BB3-A975-D6250347B754}"/>
                </a:ext>
              </a:extLst>
            </p:cNvPr>
            <p:cNvSpPr txBox="1">
              <a:spLocks noChangeAspect="1" noChangeArrowheads="1"/>
            </p:cNvSpPr>
            <p:nvPr/>
          </p:nvSpPr>
          <p:spPr bwMode="auto">
            <a:xfrm>
              <a:off x="4409" y="3010"/>
              <a:ext cx="336" cy="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b="0" i="1" dirty="0">
                  <a:solidFill>
                    <a:schemeClr val="tx1"/>
                  </a:solidFill>
                  <a:ea typeface="宋体" panose="02010600030101010101" pitchFamily="2" charset="-122"/>
                  <a:sym typeface="Symbol" panose="05050102010706020507" pitchFamily="18" charset="2"/>
                </a:rPr>
                <a:t>C</a:t>
              </a:r>
              <a:endParaRPr lang="en-US" altLang="zh-CN" b="0" dirty="0">
                <a:solidFill>
                  <a:schemeClr val="tx1"/>
                </a:solidFill>
                <a:sym typeface="Symbol" panose="05050102010706020507" pitchFamily="18" charset="2"/>
              </a:endParaRPr>
            </a:p>
          </p:txBody>
        </p:sp>
        <p:sp>
          <p:nvSpPr>
            <p:cNvPr id="33" name="Text Box 11">
              <a:extLst>
                <a:ext uri="{FF2B5EF4-FFF2-40B4-BE49-F238E27FC236}">
                  <a16:creationId xmlns:a16="http://schemas.microsoft.com/office/drawing/2014/main" id="{5626EBFD-EE18-F99E-3560-929607733A1E}"/>
                </a:ext>
              </a:extLst>
            </p:cNvPr>
            <p:cNvSpPr txBox="1">
              <a:spLocks noChangeArrowheads="1"/>
            </p:cNvSpPr>
            <p:nvPr/>
          </p:nvSpPr>
          <p:spPr bwMode="auto">
            <a:xfrm>
              <a:off x="5529" y="3541"/>
              <a:ext cx="231" cy="233"/>
            </a:xfrm>
            <a:prstGeom prst="rect">
              <a:avLst/>
            </a:prstGeom>
            <a:noFill/>
            <a:ln>
              <a:noFill/>
            </a:ln>
            <a:effectLst/>
            <a:extLst>
              <a:ext uri="{909E8E84-426E-40DD-AFC4-6F175D3DCCD1}">
                <a14:hiddenFill xmlns:a14="http://schemas.microsoft.com/office/drawing/2010/main">
                  <a:solidFill>
                    <a:srgbClr val="00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spcBef>
                  <a:spcPct val="50000"/>
                </a:spcBef>
              </a:pPr>
              <a:r>
                <a:rPr lang="en-US" altLang="zh-CN" b="0" dirty="0" err="1">
                  <a:solidFill>
                    <a:srgbClr val="FF3399"/>
                  </a:solidFill>
                  <a:latin typeface="+mn-lt"/>
                </a:rPr>
                <a:t>v</a:t>
              </a:r>
              <a:r>
                <a:rPr lang="en-US" altLang="zh-CN" b="0" baseline="-25000" dirty="0" err="1">
                  <a:solidFill>
                    <a:srgbClr val="FF3399"/>
                  </a:solidFill>
                </a:rPr>
                <a:t>B</a:t>
              </a:r>
              <a:endParaRPr lang="en-US" altLang="zh-CN" b="0" baseline="-25000" dirty="0">
                <a:solidFill>
                  <a:srgbClr val="FF3399"/>
                </a:solidFill>
              </a:endParaRPr>
            </a:p>
          </p:txBody>
        </p:sp>
        <p:sp>
          <p:nvSpPr>
            <p:cNvPr id="34" name="Line 12">
              <a:extLst>
                <a:ext uri="{FF2B5EF4-FFF2-40B4-BE49-F238E27FC236}">
                  <a16:creationId xmlns:a16="http://schemas.microsoft.com/office/drawing/2014/main" id="{AE0B8F7D-3226-0AF1-5A78-E57008304A9B}"/>
                </a:ext>
              </a:extLst>
            </p:cNvPr>
            <p:cNvSpPr>
              <a:spLocks noChangeShapeType="1"/>
            </p:cNvSpPr>
            <p:nvPr/>
          </p:nvSpPr>
          <p:spPr bwMode="auto">
            <a:xfrm rot="-5400000">
              <a:off x="5493" y="3630"/>
              <a:ext cx="0" cy="357"/>
            </a:xfrm>
            <a:prstGeom prst="line">
              <a:avLst/>
            </a:prstGeom>
            <a:noFill/>
            <a:ln w="28575">
              <a:solidFill>
                <a:srgbClr val="FF3399"/>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 name="Text Box 13">
              <a:extLst>
                <a:ext uri="{FF2B5EF4-FFF2-40B4-BE49-F238E27FC236}">
                  <a16:creationId xmlns:a16="http://schemas.microsoft.com/office/drawing/2014/main" id="{B0D49EF5-71A4-42C4-ED32-1DBAA64118E2}"/>
                </a:ext>
              </a:extLst>
            </p:cNvPr>
            <p:cNvSpPr txBox="1">
              <a:spLocks noChangeAspect="1" noChangeArrowheads="1"/>
            </p:cNvSpPr>
            <p:nvPr/>
          </p:nvSpPr>
          <p:spPr bwMode="auto">
            <a:xfrm>
              <a:off x="4641" y="3583"/>
              <a:ext cx="415" cy="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b="0" i="0" dirty="0">
                  <a:solidFill>
                    <a:schemeClr val="tx1"/>
                  </a:solidFill>
                  <a:ea typeface="宋体" panose="02010600030101010101" pitchFamily="2" charset="-122"/>
                  <a:sym typeface="Symbol" panose="05050102010706020507" pitchFamily="18" charset="2"/>
                </a:rPr>
                <a:t>30</a:t>
              </a:r>
              <a:endParaRPr lang="en-US" altLang="zh-CN" b="0" i="0" dirty="0">
                <a:solidFill>
                  <a:schemeClr val="tx1"/>
                </a:solidFill>
                <a:sym typeface="Symbol" panose="05050102010706020507" pitchFamily="18" charset="2"/>
              </a:endParaRPr>
            </a:p>
          </p:txBody>
        </p:sp>
        <p:sp>
          <p:nvSpPr>
            <p:cNvPr id="36" name="Arc 14">
              <a:extLst>
                <a:ext uri="{FF2B5EF4-FFF2-40B4-BE49-F238E27FC236}">
                  <a16:creationId xmlns:a16="http://schemas.microsoft.com/office/drawing/2014/main" id="{AB127DBC-990E-D9EB-E447-8F382A3C4E27}"/>
                </a:ext>
              </a:extLst>
            </p:cNvPr>
            <p:cNvSpPr>
              <a:spLocks/>
            </p:cNvSpPr>
            <p:nvPr/>
          </p:nvSpPr>
          <p:spPr bwMode="auto">
            <a:xfrm flipH="1">
              <a:off x="4997" y="3657"/>
              <a:ext cx="56" cy="174"/>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 name="Text Box 8">
              <a:extLst>
                <a:ext uri="{FF2B5EF4-FFF2-40B4-BE49-F238E27FC236}">
                  <a16:creationId xmlns:a16="http://schemas.microsoft.com/office/drawing/2014/main" id="{F9CFF4BE-3338-72BF-3560-C968326D8ADE}"/>
                </a:ext>
              </a:extLst>
            </p:cNvPr>
            <p:cNvSpPr txBox="1">
              <a:spLocks noChangeAspect="1" noChangeArrowheads="1"/>
            </p:cNvSpPr>
            <p:nvPr/>
          </p:nvSpPr>
          <p:spPr bwMode="auto">
            <a:xfrm>
              <a:off x="5158" y="3940"/>
              <a:ext cx="336" cy="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b="0" i="1" dirty="0">
                  <a:solidFill>
                    <a:schemeClr val="tx1"/>
                  </a:solidFill>
                  <a:ea typeface="宋体" panose="02010600030101010101" pitchFamily="2" charset="-122"/>
                  <a:sym typeface="Symbol" panose="05050102010706020507" pitchFamily="18" charset="2"/>
                </a:rPr>
                <a:t>B</a:t>
              </a:r>
              <a:endParaRPr lang="en-US" altLang="zh-CN" b="0" dirty="0">
                <a:solidFill>
                  <a:schemeClr val="tx1"/>
                </a:solidFill>
                <a:sym typeface="Symbol" panose="05050102010706020507" pitchFamily="18" charset="2"/>
              </a:endParaRPr>
            </a:p>
          </p:txBody>
        </p:sp>
      </p:grpSp>
      <p:sp>
        <p:nvSpPr>
          <p:cNvPr id="40" name="Text Box 20">
            <a:extLst>
              <a:ext uri="{FF2B5EF4-FFF2-40B4-BE49-F238E27FC236}">
                <a16:creationId xmlns:a16="http://schemas.microsoft.com/office/drawing/2014/main" id="{712B4107-4482-F348-8F24-73303885AE6A}"/>
              </a:ext>
            </a:extLst>
          </p:cNvPr>
          <p:cNvSpPr txBox="1">
            <a:spLocks noChangeArrowheads="1"/>
          </p:cNvSpPr>
          <p:nvPr/>
        </p:nvSpPr>
        <p:spPr bwMode="auto">
          <a:xfrm>
            <a:off x="8582124" y="4572544"/>
            <a:ext cx="366713" cy="369332"/>
          </a:xfrm>
          <a:prstGeom prst="rect">
            <a:avLst/>
          </a:prstGeom>
          <a:noFill/>
          <a:ln>
            <a:noFill/>
          </a:ln>
          <a:effectLst/>
          <a:extLst>
            <a:ext uri="{909E8E84-426E-40DD-AFC4-6F175D3DCCD1}">
              <a14:hiddenFill xmlns:a14="http://schemas.microsoft.com/office/drawing/2010/main">
                <a:solidFill>
                  <a:srgbClr val="00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spcBef>
                <a:spcPct val="50000"/>
              </a:spcBef>
            </a:pPr>
            <a:r>
              <a:rPr lang="en-US" altLang="zh-CN" b="0" i="1" dirty="0" err="1">
                <a:solidFill>
                  <a:srgbClr val="FF3399"/>
                </a:solidFill>
                <a:latin typeface="+mj-lt"/>
              </a:rPr>
              <a:t>v</a:t>
            </a:r>
            <a:r>
              <a:rPr lang="en-US" altLang="zh-CN" b="0" i="1" baseline="-25000" dirty="0" err="1">
                <a:solidFill>
                  <a:srgbClr val="FF3399"/>
                </a:solidFill>
                <a:latin typeface="+mj-lt"/>
              </a:rPr>
              <a:t>A</a:t>
            </a:r>
            <a:endParaRPr lang="en-US" altLang="zh-CN" b="0" i="1" baseline="-25000" dirty="0">
              <a:solidFill>
                <a:srgbClr val="FF3399"/>
              </a:solidFill>
              <a:latin typeface="+mj-lt"/>
            </a:endParaRPr>
          </a:p>
        </p:txBody>
      </p:sp>
      <p:sp>
        <p:nvSpPr>
          <p:cNvPr id="41" name="Line 21">
            <a:extLst>
              <a:ext uri="{FF2B5EF4-FFF2-40B4-BE49-F238E27FC236}">
                <a16:creationId xmlns:a16="http://schemas.microsoft.com/office/drawing/2014/main" id="{16D5774E-4D1B-20AE-BE9D-E6F67897C26B}"/>
              </a:ext>
            </a:extLst>
          </p:cNvPr>
          <p:cNvSpPr>
            <a:spLocks noChangeShapeType="1"/>
          </p:cNvSpPr>
          <p:nvPr/>
        </p:nvSpPr>
        <p:spPr bwMode="auto">
          <a:xfrm>
            <a:off x="8583712" y="4285207"/>
            <a:ext cx="0" cy="566737"/>
          </a:xfrm>
          <a:prstGeom prst="line">
            <a:avLst/>
          </a:prstGeom>
          <a:noFill/>
          <a:ln w="28575">
            <a:solidFill>
              <a:srgbClr val="FF3399"/>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 name="Line 25">
            <a:extLst>
              <a:ext uri="{FF2B5EF4-FFF2-40B4-BE49-F238E27FC236}">
                <a16:creationId xmlns:a16="http://schemas.microsoft.com/office/drawing/2014/main" id="{7DAFCCF6-C593-F971-ED4B-95D524D449C7}"/>
              </a:ext>
            </a:extLst>
          </p:cNvPr>
          <p:cNvSpPr>
            <a:spLocks noChangeShapeType="1"/>
          </p:cNvSpPr>
          <p:nvPr/>
        </p:nvSpPr>
        <p:spPr bwMode="auto">
          <a:xfrm>
            <a:off x="8518624" y="4209007"/>
            <a:ext cx="2646363" cy="0"/>
          </a:xfrm>
          <a:prstGeom prst="line">
            <a:avLst/>
          </a:prstGeom>
          <a:noFill/>
          <a:ln w="9525">
            <a:solidFill>
              <a:schemeClr val="tx1"/>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 name="Line 26">
            <a:extLst>
              <a:ext uri="{FF2B5EF4-FFF2-40B4-BE49-F238E27FC236}">
                <a16:creationId xmlns:a16="http://schemas.microsoft.com/office/drawing/2014/main" id="{8D8BB008-F11D-38D6-85C8-9E843313D5D9}"/>
              </a:ext>
            </a:extLst>
          </p:cNvPr>
          <p:cNvSpPr>
            <a:spLocks noChangeShapeType="1"/>
          </p:cNvSpPr>
          <p:nvPr/>
        </p:nvSpPr>
        <p:spPr bwMode="auto">
          <a:xfrm flipV="1">
            <a:off x="11152287" y="4210594"/>
            <a:ext cx="0" cy="1565275"/>
          </a:xfrm>
          <a:prstGeom prst="line">
            <a:avLst/>
          </a:prstGeom>
          <a:noFill/>
          <a:ln w="9525">
            <a:solidFill>
              <a:schemeClr val="tx1"/>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 name="Line 27">
            <a:extLst>
              <a:ext uri="{FF2B5EF4-FFF2-40B4-BE49-F238E27FC236}">
                <a16:creationId xmlns:a16="http://schemas.microsoft.com/office/drawing/2014/main" id="{54A927D8-EAEA-FD3B-FC4F-D2AD569D5825}"/>
              </a:ext>
            </a:extLst>
          </p:cNvPr>
          <p:cNvSpPr>
            <a:spLocks noChangeShapeType="1"/>
          </p:cNvSpPr>
          <p:nvPr/>
        </p:nvSpPr>
        <p:spPr bwMode="auto">
          <a:xfrm flipV="1">
            <a:off x="9890224" y="4210594"/>
            <a:ext cx="1274763" cy="720725"/>
          </a:xfrm>
          <a:prstGeom prst="line">
            <a:avLst/>
          </a:prstGeom>
          <a:noFill/>
          <a:ln w="9525">
            <a:solidFill>
              <a:schemeClr val="tx1"/>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5" name="Text Box 28">
            <a:extLst>
              <a:ext uri="{FF2B5EF4-FFF2-40B4-BE49-F238E27FC236}">
                <a16:creationId xmlns:a16="http://schemas.microsoft.com/office/drawing/2014/main" id="{9D963E75-4BA6-8C22-A4AB-14A297763CDC}"/>
              </a:ext>
            </a:extLst>
          </p:cNvPr>
          <p:cNvSpPr txBox="1">
            <a:spLocks noChangeArrowheads="1"/>
          </p:cNvSpPr>
          <p:nvPr/>
        </p:nvSpPr>
        <p:spPr bwMode="auto">
          <a:xfrm>
            <a:off x="9747349" y="5115469"/>
            <a:ext cx="366713" cy="369332"/>
          </a:xfrm>
          <a:prstGeom prst="rect">
            <a:avLst/>
          </a:prstGeom>
          <a:noFill/>
          <a:ln>
            <a:noFill/>
          </a:ln>
          <a:effectLst/>
          <a:extLst>
            <a:ext uri="{909E8E84-426E-40DD-AFC4-6F175D3DCCD1}">
              <a14:hiddenFill xmlns:a14="http://schemas.microsoft.com/office/drawing/2010/main">
                <a:solidFill>
                  <a:srgbClr val="00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spcBef>
                <a:spcPct val="50000"/>
              </a:spcBef>
            </a:pPr>
            <a:r>
              <a:rPr lang="en-US" altLang="zh-CN" b="0" i="1" dirty="0" err="1">
                <a:solidFill>
                  <a:srgbClr val="FF3399"/>
                </a:solidFill>
                <a:latin typeface="+mj-lt"/>
              </a:rPr>
              <a:t>v</a:t>
            </a:r>
            <a:r>
              <a:rPr lang="en-US" altLang="zh-CN" b="0" i="1" baseline="-25000" dirty="0" err="1">
                <a:solidFill>
                  <a:srgbClr val="FF3399"/>
                </a:solidFill>
                <a:latin typeface="+mj-lt"/>
              </a:rPr>
              <a:t>C</a:t>
            </a:r>
            <a:endParaRPr lang="en-US" altLang="zh-CN" b="0" i="1" baseline="-25000" dirty="0">
              <a:solidFill>
                <a:srgbClr val="FF3399"/>
              </a:solidFill>
              <a:latin typeface="+mj-lt"/>
            </a:endParaRPr>
          </a:p>
        </p:txBody>
      </p:sp>
      <p:sp>
        <p:nvSpPr>
          <p:cNvPr id="46" name="Line 29">
            <a:extLst>
              <a:ext uri="{FF2B5EF4-FFF2-40B4-BE49-F238E27FC236}">
                <a16:creationId xmlns:a16="http://schemas.microsoft.com/office/drawing/2014/main" id="{FE88C619-5A98-D913-8EE4-86E3B3945B79}"/>
              </a:ext>
            </a:extLst>
          </p:cNvPr>
          <p:cNvSpPr>
            <a:spLocks noChangeShapeType="1"/>
          </p:cNvSpPr>
          <p:nvPr/>
        </p:nvSpPr>
        <p:spPr bwMode="auto">
          <a:xfrm>
            <a:off x="9875937" y="4953544"/>
            <a:ext cx="263525" cy="457200"/>
          </a:xfrm>
          <a:prstGeom prst="line">
            <a:avLst/>
          </a:prstGeom>
          <a:noFill/>
          <a:ln w="28575">
            <a:solidFill>
              <a:srgbClr val="FF3399"/>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 name="Text Box 30">
            <a:extLst>
              <a:ext uri="{FF2B5EF4-FFF2-40B4-BE49-F238E27FC236}">
                <a16:creationId xmlns:a16="http://schemas.microsoft.com/office/drawing/2014/main" id="{BBFDC4CD-0126-9FA8-F15E-6DECEFC80B59}"/>
              </a:ext>
            </a:extLst>
          </p:cNvPr>
          <p:cNvSpPr txBox="1">
            <a:spLocks noChangeAspect="1" noChangeArrowheads="1"/>
          </p:cNvSpPr>
          <p:nvPr/>
        </p:nvSpPr>
        <p:spPr bwMode="auto">
          <a:xfrm>
            <a:off x="11023699" y="3939132"/>
            <a:ext cx="533400" cy="49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b="0" i="1" dirty="0">
                <a:solidFill>
                  <a:schemeClr val="tx1"/>
                </a:solidFill>
                <a:sym typeface="Symbol" panose="05050102010706020507" pitchFamily="18" charset="2"/>
              </a:rPr>
              <a:t>P</a:t>
            </a:r>
            <a:endParaRPr lang="en-US" altLang="zh-CN" b="0" dirty="0">
              <a:solidFill>
                <a:schemeClr val="tx1"/>
              </a:solidFill>
              <a:sym typeface="Symbol" panose="05050102010706020507" pitchFamily="18" charset="2"/>
            </a:endParaRPr>
          </a:p>
        </p:txBody>
      </p:sp>
    </p:spTree>
    <p:extLst>
      <p:ext uri="{BB962C8B-B14F-4D97-AF65-F5344CB8AC3E}">
        <p14:creationId xmlns:p14="http://schemas.microsoft.com/office/powerpoint/2010/main" val="1618580828"/>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9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p:bldP spid="93" grpId="0"/>
      <p:bldP spid="27" grpId="0" animBg="1"/>
      <p:bldP spid="40" grpId="0"/>
      <p:bldP spid="41" grpId="0" animBg="1"/>
      <p:bldP spid="42" grpId="0" animBg="1"/>
      <p:bldP spid="43" grpId="0" animBg="1"/>
      <p:bldP spid="44" grpId="0" animBg="1"/>
      <p:bldP spid="45" grpId="0"/>
      <p:bldP spid="46" grpId="0" animBg="1"/>
      <p:bldP spid="47"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4653838"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第七章   动力学普遍定理</a:t>
            </a:r>
          </a:p>
        </p:txBody>
      </p:sp>
      <p:sp>
        <p:nvSpPr>
          <p:cNvPr id="52" name="Text Box 1032"/>
          <p:cNvSpPr txBox="1">
            <a:spLocks noChangeArrowheads="1"/>
          </p:cNvSpPr>
          <p:nvPr/>
        </p:nvSpPr>
        <p:spPr bwMode="auto">
          <a:xfrm>
            <a:off x="570416" y="1333580"/>
            <a:ext cx="10422128" cy="15946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20000"/>
              </a:lnSpc>
            </a:pPr>
            <a:r>
              <a:rPr lang="zh-CN" altLang="en-US" sz="2800" i="0" dirty="0">
                <a:solidFill>
                  <a:srgbClr val="FF0000"/>
                </a:solidFill>
                <a:latin typeface="微软雅黑" panose="020B0503020204020204" pitchFamily="34" charset="-122"/>
                <a:ea typeface="微软雅黑" panose="020B0503020204020204" pitchFamily="34" charset="-122"/>
              </a:rPr>
              <a:t>质点的动能定理 </a:t>
            </a:r>
            <a:endParaRPr lang="en-US" altLang="zh-CN" sz="2800" i="0" dirty="0">
              <a:solidFill>
                <a:srgbClr val="FF0000"/>
              </a:solidFill>
              <a:latin typeface="微软雅黑" panose="020B0503020204020204" pitchFamily="34" charset="-122"/>
              <a:ea typeface="微软雅黑" panose="020B0503020204020204" pitchFamily="34" charset="-122"/>
            </a:endParaRPr>
          </a:p>
          <a:p>
            <a:pPr algn="just">
              <a:lnSpc>
                <a:spcPct val="120000"/>
              </a:lnSpc>
            </a:pPr>
            <a:r>
              <a:rPr lang="zh-CN" altLang="en-US" sz="2800" i="0" dirty="0">
                <a:latin typeface="微软雅黑" panose="020B0503020204020204" pitchFamily="34" charset="-122"/>
                <a:ea typeface="微软雅黑" panose="020B0503020204020204" pitchFamily="34" charset="-122"/>
              </a:rPr>
              <a:t>设质量</a:t>
            </a:r>
            <a:r>
              <a:rPr lang="zh-CN" altLang="en-US" sz="2800" i="0" dirty="0">
                <a:latin typeface="+mn-lt"/>
                <a:ea typeface="微软雅黑" panose="020B0503020204020204" pitchFamily="34" charset="-122"/>
              </a:rPr>
              <a:t>为</a:t>
            </a:r>
            <a:r>
              <a:rPr lang="en-US" altLang="zh-CN" sz="2800" b="0" dirty="0">
                <a:latin typeface="+mn-lt"/>
                <a:ea typeface="微软雅黑" panose="020B0503020204020204" pitchFamily="34" charset="-122"/>
              </a:rPr>
              <a:t>m</a:t>
            </a:r>
            <a:r>
              <a:rPr lang="zh-CN" altLang="en-US" sz="2800" i="0" dirty="0">
                <a:latin typeface="+mn-lt"/>
                <a:ea typeface="微软雅黑" panose="020B0503020204020204" pitchFamily="34" charset="-122"/>
              </a:rPr>
              <a:t>的质点</a:t>
            </a:r>
            <a:r>
              <a:rPr lang="en-US" altLang="zh-CN" sz="2800" b="0" dirty="0"/>
              <a:t>M </a:t>
            </a:r>
            <a:r>
              <a:rPr lang="zh-CN" altLang="en-US" sz="2800" i="0" dirty="0">
                <a:latin typeface="+mn-lt"/>
                <a:ea typeface="微软雅黑" panose="020B0503020204020204" pitchFamily="34" charset="-122"/>
              </a:rPr>
              <a:t>在力</a:t>
            </a:r>
            <a:r>
              <a:rPr lang="en-US" altLang="zh-CN" sz="2800" dirty="0">
                <a:latin typeface="+mn-lt"/>
                <a:ea typeface="微软雅黑" panose="020B0503020204020204" pitchFamily="34" charset="-122"/>
              </a:rPr>
              <a:t>F</a:t>
            </a:r>
            <a:r>
              <a:rPr lang="zh-CN" altLang="en-US" sz="2800" i="0" dirty="0">
                <a:latin typeface="+mn-lt"/>
                <a:ea typeface="微软雅黑" panose="020B0503020204020204" pitchFamily="34" charset="-122"/>
              </a:rPr>
              <a:t>作用下作曲线运动，由</a:t>
            </a:r>
            <a:r>
              <a:rPr lang="en-US" altLang="zh-CN" sz="2800" b="0" dirty="0"/>
              <a:t>M</a:t>
            </a:r>
            <a:r>
              <a:rPr lang="en-US" altLang="zh-CN" sz="2800" b="0" i="0" baseline="-25000" dirty="0"/>
              <a:t>1</a:t>
            </a:r>
            <a:r>
              <a:rPr lang="zh-CN" altLang="en-US" sz="2800" i="0" dirty="0">
                <a:latin typeface="+mn-lt"/>
                <a:ea typeface="微软雅黑" panose="020B0503020204020204" pitchFamily="34" charset="-122"/>
              </a:rPr>
              <a:t>运动到</a:t>
            </a:r>
            <a:r>
              <a:rPr lang="en-US" altLang="zh-CN" sz="2800" b="0" dirty="0"/>
              <a:t>M</a:t>
            </a:r>
            <a:r>
              <a:rPr lang="en-US" altLang="zh-CN" sz="2800" b="0" i="0" baseline="-25000" dirty="0"/>
              <a:t>2</a:t>
            </a:r>
            <a:r>
              <a:rPr lang="zh-CN" altLang="en-US" sz="2800" i="0" dirty="0">
                <a:latin typeface="+mn-lt"/>
                <a:ea typeface="微软雅黑" panose="020B0503020204020204" pitchFamily="34" charset="-122"/>
              </a:rPr>
              <a:t>速度由</a:t>
            </a:r>
            <a:r>
              <a:rPr lang="en-US" altLang="zh-CN" sz="2800" dirty="0">
                <a:latin typeface="+mj-lt"/>
              </a:rPr>
              <a:t>v</a:t>
            </a:r>
            <a:r>
              <a:rPr lang="en-US" altLang="zh-CN" sz="2800" i="0" baseline="-25000" dirty="0">
                <a:latin typeface="+mj-lt"/>
              </a:rPr>
              <a:t>1</a:t>
            </a:r>
            <a:r>
              <a:rPr lang="zh-CN" altLang="en-US" sz="2800" i="0" dirty="0">
                <a:latin typeface="+mj-lt"/>
                <a:ea typeface="微软雅黑" panose="020B0503020204020204" pitchFamily="34" charset="-122"/>
              </a:rPr>
              <a:t>变为</a:t>
            </a:r>
            <a:r>
              <a:rPr lang="en-US" altLang="zh-CN" sz="2800" dirty="0">
                <a:latin typeface="+mj-lt"/>
              </a:rPr>
              <a:t>v</a:t>
            </a:r>
            <a:r>
              <a:rPr lang="en-US" altLang="zh-CN" sz="2800" i="0" baseline="-25000" dirty="0">
                <a:latin typeface="+mj-lt"/>
              </a:rPr>
              <a:t>2</a:t>
            </a:r>
            <a:r>
              <a:rPr lang="zh-CN" altLang="en-US" sz="2800" i="0" dirty="0">
                <a:latin typeface="+mn-lt"/>
                <a:ea typeface="微软雅黑" panose="020B0503020204020204" pitchFamily="34" charset="-122"/>
              </a:rPr>
              <a:t>，由运动学基本方程，有</a:t>
            </a:r>
          </a:p>
        </p:txBody>
      </p:sp>
      <p:sp>
        <p:nvSpPr>
          <p:cNvPr id="6" name="矩形 5"/>
          <p:cNvSpPr/>
          <p:nvPr/>
        </p:nvSpPr>
        <p:spPr>
          <a:xfrm>
            <a:off x="5037540" y="834960"/>
            <a:ext cx="1723549" cy="599331"/>
          </a:xfrm>
          <a:prstGeom prst="rect">
            <a:avLst/>
          </a:prstGeom>
        </p:spPr>
        <p:txBody>
          <a:bodyPr wrap="none">
            <a:spAutoFit/>
          </a:bodyPr>
          <a:lstStyle/>
          <a:p>
            <a:pPr>
              <a:lnSpc>
                <a:spcPct val="120000"/>
              </a:lnSpc>
            </a:pPr>
            <a:r>
              <a:rPr lang="zh-CN" altLang="en-US" sz="3000" i="0" dirty="0">
                <a:solidFill>
                  <a:srgbClr val="4F81BD"/>
                </a:solidFill>
                <a:latin typeface="微软雅黑" panose="020B0503020204020204" pitchFamily="34" charset="-122"/>
                <a:ea typeface="微软雅黑" panose="020B0503020204020204" pitchFamily="34" charset="-122"/>
              </a:rPr>
              <a:t>动能定理</a:t>
            </a:r>
          </a:p>
        </p:txBody>
      </p:sp>
      <p:graphicFrame>
        <p:nvGraphicFramePr>
          <p:cNvPr id="3" name="Object 6">
            <a:extLst>
              <a:ext uri="{FF2B5EF4-FFF2-40B4-BE49-F238E27FC236}">
                <a16:creationId xmlns:a16="http://schemas.microsoft.com/office/drawing/2014/main" id="{A3518E01-9DFC-35C8-6B91-F87AB3F09FD5}"/>
              </a:ext>
            </a:extLst>
          </p:cNvPr>
          <p:cNvGraphicFramePr>
            <a:graphicFrameLocks noChangeAspect="1"/>
          </p:cNvGraphicFramePr>
          <p:nvPr>
            <p:extLst>
              <p:ext uri="{D42A27DB-BD31-4B8C-83A1-F6EECF244321}">
                <p14:modId xmlns:p14="http://schemas.microsoft.com/office/powerpoint/2010/main" val="2109056187"/>
              </p:ext>
            </p:extLst>
          </p:nvPr>
        </p:nvGraphicFramePr>
        <p:xfrm>
          <a:off x="3868738" y="2824718"/>
          <a:ext cx="1487487" cy="927100"/>
        </p:xfrm>
        <a:graphic>
          <a:graphicData uri="http://schemas.openxmlformats.org/presentationml/2006/ole">
            <mc:AlternateContent xmlns:mc="http://schemas.openxmlformats.org/markup-compatibility/2006">
              <mc:Choice xmlns:v="urn:schemas-microsoft-com:vml" Requires="v">
                <p:oleObj spid="_x0000_s26704" name="Equation" r:id="rId4" imgW="622080" imgH="393480" progId="Equation.DSMT4">
                  <p:embed/>
                </p:oleObj>
              </mc:Choice>
              <mc:Fallback>
                <p:oleObj name="Equation" r:id="rId4" imgW="622080" imgH="393480" progId="Equation.DSMT4">
                  <p:embed/>
                  <p:pic>
                    <p:nvPicPr>
                      <p:cNvPr id="3" name="Object 6">
                        <a:extLst>
                          <a:ext uri="{FF2B5EF4-FFF2-40B4-BE49-F238E27FC236}">
                            <a16:creationId xmlns:a16="http://schemas.microsoft.com/office/drawing/2014/main" id="{A3518E01-9DFC-35C8-6B91-F87AB3F09FD5}"/>
                          </a:ext>
                        </a:extLst>
                      </p:cNvPr>
                      <p:cNvPicPr>
                        <a:picLocks noChangeAspect="1" noChangeArrowheads="1"/>
                      </p:cNvPicPr>
                      <p:nvPr/>
                    </p:nvPicPr>
                    <p:blipFill>
                      <a:blip r:embed="rId5"/>
                      <a:srcRect/>
                      <a:stretch>
                        <a:fillRect/>
                      </a:stretch>
                    </p:blipFill>
                    <p:spPr bwMode="auto">
                      <a:xfrm>
                        <a:off x="3868738" y="2824718"/>
                        <a:ext cx="1487487" cy="927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Text Box 1032">
            <a:extLst>
              <a:ext uri="{FF2B5EF4-FFF2-40B4-BE49-F238E27FC236}">
                <a16:creationId xmlns:a16="http://schemas.microsoft.com/office/drawing/2014/main" id="{07EC096B-D1B6-2C63-4DAB-4124F0258EBA}"/>
              </a:ext>
            </a:extLst>
          </p:cNvPr>
          <p:cNvSpPr txBox="1">
            <a:spLocks noChangeArrowheads="1"/>
          </p:cNvSpPr>
          <p:nvPr/>
        </p:nvSpPr>
        <p:spPr bwMode="auto">
          <a:xfrm>
            <a:off x="570416" y="3732818"/>
            <a:ext cx="10422128" cy="565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20000"/>
              </a:lnSpc>
            </a:pPr>
            <a:r>
              <a:rPr lang="zh-CN" altLang="en-US" sz="2800" i="0" dirty="0">
                <a:latin typeface="+mn-lt"/>
                <a:ea typeface="微软雅黑" panose="020B0503020204020204" pitchFamily="34" charset="-122"/>
              </a:rPr>
              <a:t>等式两边分别标量积</a:t>
            </a:r>
            <a:r>
              <a:rPr lang="en-US" altLang="zh-CN" sz="2800" b="0" i="0" dirty="0" err="1"/>
              <a:t>d</a:t>
            </a:r>
            <a:r>
              <a:rPr lang="en-US" altLang="zh-CN" sz="2800" b="0" dirty="0" err="1"/>
              <a:t>r</a:t>
            </a:r>
            <a:r>
              <a:rPr lang="zh-CN" altLang="en-US" sz="2800" i="0" dirty="0">
                <a:latin typeface="+mn-lt"/>
                <a:ea typeface="微软雅黑" panose="020B0503020204020204" pitchFamily="34" charset="-122"/>
              </a:rPr>
              <a:t>，得</a:t>
            </a:r>
          </a:p>
        </p:txBody>
      </p:sp>
      <p:graphicFrame>
        <p:nvGraphicFramePr>
          <p:cNvPr id="2" name="Object 7">
            <a:extLst>
              <a:ext uri="{FF2B5EF4-FFF2-40B4-BE49-F238E27FC236}">
                <a16:creationId xmlns:a16="http://schemas.microsoft.com/office/drawing/2014/main" id="{8960F3C9-4A94-1331-1BA0-E32C2C58488A}"/>
              </a:ext>
            </a:extLst>
          </p:cNvPr>
          <p:cNvGraphicFramePr>
            <a:graphicFrameLocks noChangeAspect="1"/>
          </p:cNvGraphicFramePr>
          <p:nvPr>
            <p:extLst>
              <p:ext uri="{D42A27DB-BD31-4B8C-83A1-F6EECF244321}">
                <p14:modId xmlns:p14="http://schemas.microsoft.com/office/powerpoint/2010/main" val="3465773098"/>
              </p:ext>
            </p:extLst>
          </p:nvPr>
        </p:nvGraphicFramePr>
        <p:xfrm>
          <a:off x="5056304" y="3556630"/>
          <a:ext cx="2570162" cy="938212"/>
        </p:xfrm>
        <a:graphic>
          <a:graphicData uri="http://schemas.openxmlformats.org/presentationml/2006/ole">
            <mc:AlternateContent xmlns:mc="http://schemas.openxmlformats.org/markup-compatibility/2006">
              <mc:Choice xmlns:v="urn:schemas-microsoft-com:vml" Requires="v">
                <p:oleObj spid="_x0000_s26705" name="Equation" r:id="rId6" imgW="1066680" imgH="393480" progId="Equation.DSMT4">
                  <p:embed/>
                </p:oleObj>
              </mc:Choice>
              <mc:Fallback>
                <p:oleObj name="Equation" r:id="rId6" imgW="1066680" imgH="393480" progId="Equation.DSMT4">
                  <p:embed/>
                  <p:pic>
                    <p:nvPicPr>
                      <p:cNvPr id="1125383" name="Object 7">
                        <a:extLst>
                          <a:ext uri="{FF2B5EF4-FFF2-40B4-BE49-F238E27FC236}">
                            <a16:creationId xmlns:a16="http://schemas.microsoft.com/office/drawing/2014/main" id="{E80D2E4B-AFD1-573D-0889-14EDC12C364C}"/>
                          </a:ext>
                        </a:extLst>
                      </p:cNvPr>
                      <p:cNvPicPr>
                        <a:picLocks noChangeAspect="1" noChangeArrowheads="1"/>
                      </p:cNvPicPr>
                      <p:nvPr/>
                    </p:nvPicPr>
                    <p:blipFill>
                      <a:blip r:embed="rId7"/>
                      <a:srcRect/>
                      <a:stretch>
                        <a:fillRect/>
                      </a:stretch>
                    </p:blipFill>
                    <p:spPr bwMode="auto">
                      <a:xfrm>
                        <a:off x="5056304" y="3556630"/>
                        <a:ext cx="2570162" cy="9382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Text Box 1032">
            <a:extLst>
              <a:ext uri="{FF2B5EF4-FFF2-40B4-BE49-F238E27FC236}">
                <a16:creationId xmlns:a16="http://schemas.microsoft.com/office/drawing/2014/main" id="{AFFB4A95-C204-EFF7-4E2F-350B6D8940C0}"/>
              </a:ext>
            </a:extLst>
          </p:cNvPr>
          <p:cNvSpPr txBox="1">
            <a:spLocks noChangeArrowheads="1"/>
          </p:cNvSpPr>
          <p:nvPr/>
        </p:nvSpPr>
        <p:spPr bwMode="auto">
          <a:xfrm>
            <a:off x="7816684" y="3707279"/>
            <a:ext cx="926588" cy="565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20000"/>
              </a:lnSpc>
            </a:pPr>
            <a:r>
              <a:rPr lang="zh-CN" altLang="en-US" sz="2800" i="0" dirty="0">
                <a:latin typeface="+mn-lt"/>
                <a:ea typeface="微软雅黑" panose="020B0503020204020204" pitchFamily="34" charset="-122"/>
              </a:rPr>
              <a:t>或</a:t>
            </a:r>
          </a:p>
        </p:txBody>
      </p:sp>
      <p:graphicFrame>
        <p:nvGraphicFramePr>
          <p:cNvPr id="8" name="Object 7">
            <a:extLst>
              <a:ext uri="{FF2B5EF4-FFF2-40B4-BE49-F238E27FC236}">
                <a16:creationId xmlns:a16="http://schemas.microsoft.com/office/drawing/2014/main" id="{2170155A-9837-37AD-D216-213747ECD353}"/>
              </a:ext>
            </a:extLst>
          </p:cNvPr>
          <p:cNvGraphicFramePr>
            <a:graphicFrameLocks noChangeAspect="1"/>
          </p:cNvGraphicFramePr>
          <p:nvPr>
            <p:extLst>
              <p:ext uri="{D42A27DB-BD31-4B8C-83A1-F6EECF244321}">
                <p14:modId xmlns:p14="http://schemas.microsoft.com/office/powerpoint/2010/main" val="3807133249"/>
              </p:ext>
            </p:extLst>
          </p:nvPr>
        </p:nvGraphicFramePr>
        <p:xfrm>
          <a:off x="8568647" y="3778022"/>
          <a:ext cx="2293937" cy="423862"/>
        </p:xfrm>
        <a:graphic>
          <a:graphicData uri="http://schemas.openxmlformats.org/presentationml/2006/ole">
            <mc:AlternateContent xmlns:mc="http://schemas.openxmlformats.org/markup-compatibility/2006">
              <mc:Choice xmlns:v="urn:schemas-microsoft-com:vml" Requires="v">
                <p:oleObj spid="_x0000_s26706" name="Equation" r:id="rId8" imgW="952200" imgH="177480" progId="Equation.DSMT4">
                  <p:embed/>
                </p:oleObj>
              </mc:Choice>
              <mc:Fallback>
                <p:oleObj name="Equation" r:id="rId8" imgW="952200" imgH="177480" progId="Equation.DSMT4">
                  <p:embed/>
                  <p:pic>
                    <p:nvPicPr>
                      <p:cNvPr id="2" name="Object 7">
                        <a:extLst>
                          <a:ext uri="{FF2B5EF4-FFF2-40B4-BE49-F238E27FC236}">
                            <a16:creationId xmlns:a16="http://schemas.microsoft.com/office/drawing/2014/main" id="{8960F3C9-4A94-1331-1BA0-E32C2C58488A}"/>
                          </a:ext>
                        </a:extLst>
                      </p:cNvPr>
                      <p:cNvPicPr>
                        <a:picLocks noChangeAspect="1" noChangeArrowheads="1"/>
                      </p:cNvPicPr>
                      <p:nvPr/>
                    </p:nvPicPr>
                    <p:blipFill>
                      <a:blip r:embed="rId9"/>
                      <a:srcRect/>
                      <a:stretch>
                        <a:fillRect/>
                      </a:stretch>
                    </p:blipFill>
                    <p:spPr bwMode="auto">
                      <a:xfrm>
                        <a:off x="8568647" y="3778022"/>
                        <a:ext cx="2293937" cy="4238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Text Box 1032">
            <a:extLst>
              <a:ext uri="{FF2B5EF4-FFF2-40B4-BE49-F238E27FC236}">
                <a16:creationId xmlns:a16="http://schemas.microsoft.com/office/drawing/2014/main" id="{4DDD196C-3C70-8ABD-9825-9C1E588DF660}"/>
              </a:ext>
            </a:extLst>
          </p:cNvPr>
          <p:cNvSpPr txBox="1">
            <a:spLocks noChangeArrowheads="1"/>
          </p:cNvSpPr>
          <p:nvPr/>
        </p:nvSpPr>
        <p:spPr bwMode="auto">
          <a:xfrm>
            <a:off x="570416" y="4664609"/>
            <a:ext cx="1421128" cy="565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20000"/>
              </a:lnSpc>
            </a:pPr>
            <a:r>
              <a:rPr lang="zh-CN" altLang="en-US" sz="2800" i="0" dirty="0">
                <a:latin typeface="+mn-lt"/>
                <a:ea typeface="微软雅黑" panose="020B0503020204020204" pitchFamily="34" charset="-122"/>
              </a:rPr>
              <a:t>由于</a:t>
            </a:r>
          </a:p>
        </p:txBody>
      </p:sp>
      <p:graphicFrame>
        <p:nvGraphicFramePr>
          <p:cNvPr id="11" name="Object 7">
            <a:extLst>
              <a:ext uri="{FF2B5EF4-FFF2-40B4-BE49-F238E27FC236}">
                <a16:creationId xmlns:a16="http://schemas.microsoft.com/office/drawing/2014/main" id="{D00711B6-9379-2D2D-B82F-D829FEB09779}"/>
              </a:ext>
            </a:extLst>
          </p:cNvPr>
          <p:cNvGraphicFramePr>
            <a:graphicFrameLocks noChangeAspect="1"/>
          </p:cNvGraphicFramePr>
          <p:nvPr>
            <p:extLst>
              <p:ext uri="{D42A27DB-BD31-4B8C-83A1-F6EECF244321}">
                <p14:modId xmlns:p14="http://schemas.microsoft.com/office/powerpoint/2010/main" val="3913888510"/>
              </p:ext>
            </p:extLst>
          </p:nvPr>
        </p:nvGraphicFramePr>
        <p:xfrm>
          <a:off x="1552052" y="4448377"/>
          <a:ext cx="4191000" cy="998537"/>
        </p:xfrm>
        <a:graphic>
          <a:graphicData uri="http://schemas.openxmlformats.org/presentationml/2006/ole">
            <mc:AlternateContent xmlns:mc="http://schemas.openxmlformats.org/markup-compatibility/2006">
              <mc:Choice xmlns:v="urn:schemas-microsoft-com:vml" Requires="v">
                <p:oleObj spid="_x0000_s26707" name="Equation" r:id="rId10" imgW="1739880" imgH="419040" progId="Equation.DSMT4">
                  <p:embed/>
                </p:oleObj>
              </mc:Choice>
              <mc:Fallback>
                <p:oleObj name="Equation" r:id="rId10" imgW="1739880" imgH="419040" progId="Equation.DSMT4">
                  <p:embed/>
                  <p:pic>
                    <p:nvPicPr>
                      <p:cNvPr id="8" name="Object 7">
                        <a:extLst>
                          <a:ext uri="{FF2B5EF4-FFF2-40B4-BE49-F238E27FC236}">
                            <a16:creationId xmlns:a16="http://schemas.microsoft.com/office/drawing/2014/main" id="{2170155A-9837-37AD-D216-213747ECD353}"/>
                          </a:ext>
                        </a:extLst>
                      </p:cNvPr>
                      <p:cNvPicPr>
                        <a:picLocks noChangeAspect="1" noChangeArrowheads="1"/>
                      </p:cNvPicPr>
                      <p:nvPr/>
                    </p:nvPicPr>
                    <p:blipFill>
                      <a:blip r:embed="rId11"/>
                      <a:srcRect/>
                      <a:stretch>
                        <a:fillRect/>
                      </a:stretch>
                    </p:blipFill>
                    <p:spPr bwMode="auto">
                      <a:xfrm>
                        <a:off x="1552052" y="4448377"/>
                        <a:ext cx="4191000" cy="9985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 name="Object 7">
            <a:extLst>
              <a:ext uri="{FF2B5EF4-FFF2-40B4-BE49-F238E27FC236}">
                <a16:creationId xmlns:a16="http://schemas.microsoft.com/office/drawing/2014/main" id="{22B93072-A3BB-E1B3-6B81-7148667E882D}"/>
              </a:ext>
            </a:extLst>
          </p:cNvPr>
          <p:cNvGraphicFramePr>
            <a:graphicFrameLocks noChangeAspect="1"/>
          </p:cNvGraphicFramePr>
          <p:nvPr>
            <p:extLst>
              <p:ext uri="{D42A27DB-BD31-4B8C-83A1-F6EECF244321}">
                <p14:modId xmlns:p14="http://schemas.microsoft.com/office/powerpoint/2010/main" val="2297245999"/>
              </p:ext>
            </p:extLst>
          </p:nvPr>
        </p:nvGraphicFramePr>
        <p:xfrm>
          <a:off x="7075488" y="4735513"/>
          <a:ext cx="1836737" cy="423862"/>
        </p:xfrm>
        <a:graphic>
          <a:graphicData uri="http://schemas.openxmlformats.org/presentationml/2006/ole">
            <mc:AlternateContent xmlns:mc="http://schemas.openxmlformats.org/markup-compatibility/2006">
              <mc:Choice xmlns:v="urn:schemas-microsoft-com:vml" Requires="v">
                <p:oleObj spid="_x0000_s26708" name="Equation" r:id="rId12" imgW="761760" imgH="177480" progId="Equation.DSMT4">
                  <p:embed/>
                </p:oleObj>
              </mc:Choice>
              <mc:Fallback>
                <p:oleObj name="Equation" r:id="rId12" imgW="761760" imgH="177480" progId="Equation.DSMT4">
                  <p:embed/>
                  <p:pic>
                    <p:nvPicPr>
                      <p:cNvPr id="11" name="Object 7">
                        <a:extLst>
                          <a:ext uri="{FF2B5EF4-FFF2-40B4-BE49-F238E27FC236}">
                            <a16:creationId xmlns:a16="http://schemas.microsoft.com/office/drawing/2014/main" id="{D00711B6-9379-2D2D-B82F-D829FEB09779}"/>
                          </a:ext>
                        </a:extLst>
                      </p:cNvPr>
                      <p:cNvPicPr>
                        <a:picLocks noChangeAspect="1" noChangeArrowheads="1"/>
                      </p:cNvPicPr>
                      <p:nvPr/>
                    </p:nvPicPr>
                    <p:blipFill>
                      <a:blip r:embed="rId13"/>
                      <a:srcRect/>
                      <a:stretch>
                        <a:fillRect/>
                      </a:stretch>
                    </p:blipFill>
                    <p:spPr bwMode="auto">
                      <a:xfrm>
                        <a:off x="7075488" y="4735513"/>
                        <a:ext cx="1836737" cy="4238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 name="Object 7">
            <a:extLst>
              <a:ext uri="{FF2B5EF4-FFF2-40B4-BE49-F238E27FC236}">
                <a16:creationId xmlns:a16="http://schemas.microsoft.com/office/drawing/2014/main" id="{83107685-83EE-165F-1FC1-8B4252D110A2}"/>
              </a:ext>
            </a:extLst>
          </p:cNvPr>
          <p:cNvGraphicFramePr>
            <a:graphicFrameLocks noChangeAspect="1"/>
          </p:cNvGraphicFramePr>
          <p:nvPr>
            <p:extLst>
              <p:ext uri="{D42A27DB-BD31-4B8C-83A1-F6EECF244321}">
                <p14:modId xmlns:p14="http://schemas.microsoft.com/office/powerpoint/2010/main" val="4214692098"/>
              </p:ext>
            </p:extLst>
          </p:nvPr>
        </p:nvGraphicFramePr>
        <p:xfrm>
          <a:off x="2135560" y="5373216"/>
          <a:ext cx="2171700" cy="998537"/>
        </p:xfrm>
        <a:graphic>
          <a:graphicData uri="http://schemas.openxmlformats.org/presentationml/2006/ole">
            <mc:AlternateContent xmlns:mc="http://schemas.openxmlformats.org/markup-compatibility/2006">
              <mc:Choice xmlns:v="urn:schemas-microsoft-com:vml" Requires="v">
                <p:oleObj spid="_x0000_s26709" name="Equation" r:id="rId14" imgW="901440" imgH="419040" progId="Equation.DSMT4">
                  <p:embed/>
                </p:oleObj>
              </mc:Choice>
              <mc:Fallback>
                <p:oleObj name="Equation" r:id="rId14" imgW="901440" imgH="419040" progId="Equation.DSMT4">
                  <p:embed/>
                  <p:pic>
                    <p:nvPicPr>
                      <p:cNvPr id="11" name="Object 7">
                        <a:extLst>
                          <a:ext uri="{FF2B5EF4-FFF2-40B4-BE49-F238E27FC236}">
                            <a16:creationId xmlns:a16="http://schemas.microsoft.com/office/drawing/2014/main" id="{D00711B6-9379-2D2D-B82F-D829FEB09779}"/>
                          </a:ext>
                        </a:extLst>
                      </p:cNvPr>
                      <p:cNvPicPr>
                        <a:picLocks noChangeAspect="1" noChangeArrowheads="1"/>
                      </p:cNvPicPr>
                      <p:nvPr/>
                    </p:nvPicPr>
                    <p:blipFill>
                      <a:blip r:embed="rId15"/>
                      <a:srcRect/>
                      <a:stretch>
                        <a:fillRect/>
                      </a:stretch>
                    </p:blipFill>
                    <p:spPr bwMode="auto">
                      <a:xfrm>
                        <a:off x="2135560" y="5373216"/>
                        <a:ext cx="2171700" cy="9985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 name="Text Box 1032">
            <a:extLst>
              <a:ext uri="{FF2B5EF4-FFF2-40B4-BE49-F238E27FC236}">
                <a16:creationId xmlns:a16="http://schemas.microsoft.com/office/drawing/2014/main" id="{22D2D28B-FCA1-AF31-F51F-9B152FC16203}"/>
              </a:ext>
            </a:extLst>
          </p:cNvPr>
          <p:cNvSpPr txBox="1">
            <a:spLocks noChangeArrowheads="1"/>
          </p:cNvSpPr>
          <p:nvPr/>
        </p:nvSpPr>
        <p:spPr bwMode="auto">
          <a:xfrm>
            <a:off x="4720852" y="5571989"/>
            <a:ext cx="4975547" cy="565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20000"/>
              </a:lnSpc>
            </a:pPr>
            <a:r>
              <a:rPr lang="zh-CN" altLang="en-US" sz="2800" i="0" dirty="0">
                <a:solidFill>
                  <a:srgbClr val="FF00FF"/>
                </a:solidFill>
                <a:latin typeface="+mn-lt"/>
                <a:ea typeface="微软雅黑" panose="020B0503020204020204" pitchFamily="34" charset="-122"/>
              </a:rPr>
              <a:t>质点动能定理的微分形式</a:t>
            </a:r>
          </a:p>
        </p:txBody>
      </p:sp>
    </p:spTree>
    <p:extLst>
      <p:ext uri="{BB962C8B-B14F-4D97-AF65-F5344CB8AC3E}">
        <p14:creationId xmlns:p14="http://schemas.microsoft.com/office/powerpoint/2010/main" val="1131465073"/>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left)">
                                      <p:cBhvr>
                                        <p:cTn id="11" dur="3000"/>
                                        <p:tgtEl>
                                          <p:spTgt spid="3"/>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499"/>
                                          </p:stCondLst>
                                        </p:cTn>
                                        <p:tgtEl>
                                          <p:spTgt spid="4"/>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wipe(left)">
                                      <p:cBhvr>
                                        <p:cTn id="20" dur="3000"/>
                                        <p:tgtEl>
                                          <p:spTgt spid="2"/>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499"/>
                                          </p:stCondLst>
                                        </p:cTn>
                                        <p:tgtEl>
                                          <p:spTgt spid="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wipe(left)">
                                      <p:cBhvr>
                                        <p:cTn id="29" dur="3000"/>
                                        <p:tgtEl>
                                          <p:spTgt spid="8"/>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499"/>
                                          </p:stCondLst>
                                        </p:cTn>
                                        <p:tgtEl>
                                          <p:spTgt spid="10"/>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wipe(left)">
                                      <p:cBhvr>
                                        <p:cTn id="38" dur="3000"/>
                                        <p:tgtEl>
                                          <p:spTgt spid="11"/>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nodeType="clickEffect">
                                  <p:stCondLst>
                                    <p:cond delay="0"/>
                                  </p:stCondLst>
                                  <p:childTnLst>
                                    <p:set>
                                      <p:cBhvr>
                                        <p:cTn id="42" dur="1" fill="hold">
                                          <p:stCondLst>
                                            <p:cond delay="0"/>
                                          </p:stCondLst>
                                        </p:cTn>
                                        <p:tgtEl>
                                          <p:spTgt spid="13"/>
                                        </p:tgtEl>
                                        <p:attrNameLst>
                                          <p:attrName>style.visibility</p:attrName>
                                        </p:attrNameLst>
                                      </p:cBhvr>
                                      <p:to>
                                        <p:strVal val="visible"/>
                                      </p:to>
                                    </p:set>
                                    <p:animEffect transition="in" filter="wipe(left)">
                                      <p:cBhvr>
                                        <p:cTn id="43" dur="3000"/>
                                        <p:tgtEl>
                                          <p:spTgt spid="13"/>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nodeType="clickEffect">
                                  <p:stCondLst>
                                    <p:cond delay="0"/>
                                  </p:stCondLst>
                                  <p:childTnLst>
                                    <p:set>
                                      <p:cBhvr>
                                        <p:cTn id="47" dur="1" fill="hold">
                                          <p:stCondLst>
                                            <p:cond delay="0"/>
                                          </p:stCondLst>
                                        </p:cTn>
                                        <p:tgtEl>
                                          <p:spTgt spid="14"/>
                                        </p:tgtEl>
                                        <p:attrNameLst>
                                          <p:attrName>style.visibility</p:attrName>
                                        </p:attrNameLst>
                                      </p:cBhvr>
                                      <p:to>
                                        <p:strVal val="visible"/>
                                      </p:to>
                                    </p:set>
                                    <p:animEffect transition="in" filter="wipe(left)">
                                      <p:cBhvr>
                                        <p:cTn id="48" dur="3000"/>
                                        <p:tgtEl>
                                          <p:spTgt spid="14"/>
                                        </p:tgtEl>
                                      </p:cBhvr>
                                    </p:animEffec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499"/>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utoUpdateAnimBg="0"/>
      <p:bldP spid="4" grpId="0" autoUpdateAnimBg="0"/>
      <p:bldP spid="5" grpId="0" autoUpdateAnimBg="0"/>
      <p:bldP spid="10" grpId="0" autoUpdateAnimBg="0"/>
      <p:bldP spid="15" grpId="0" autoUpdateAnimBg="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4653838"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第七章   动力学普遍定理</a:t>
            </a:r>
          </a:p>
        </p:txBody>
      </p:sp>
      <p:sp>
        <p:nvSpPr>
          <p:cNvPr id="52" name="Text Box 1032"/>
          <p:cNvSpPr txBox="1">
            <a:spLocks noChangeArrowheads="1"/>
          </p:cNvSpPr>
          <p:nvPr/>
        </p:nvSpPr>
        <p:spPr bwMode="auto">
          <a:xfrm>
            <a:off x="570416" y="1179516"/>
            <a:ext cx="5813616" cy="565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20000"/>
              </a:lnSpc>
            </a:pPr>
            <a:r>
              <a:rPr lang="zh-CN" altLang="en-US" sz="2800" i="0" dirty="0">
                <a:latin typeface="+mn-lt"/>
                <a:ea typeface="微软雅黑" panose="020B0503020204020204" pitchFamily="34" charset="-122"/>
              </a:rPr>
              <a:t>对                          沿曲线</a:t>
            </a:r>
            <a:r>
              <a:rPr lang="en-US" altLang="zh-CN" sz="2800" b="0" dirty="0"/>
              <a:t>M</a:t>
            </a:r>
            <a:r>
              <a:rPr lang="en-US" altLang="zh-CN" sz="2800" b="0" i="0" baseline="-25000" dirty="0"/>
              <a:t>1</a:t>
            </a:r>
            <a:r>
              <a:rPr lang="en-US" altLang="zh-CN" sz="2800" b="0" dirty="0"/>
              <a:t>M</a:t>
            </a:r>
            <a:r>
              <a:rPr lang="en-US" altLang="zh-CN" sz="2800" b="0" i="0" baseline="-25000" dirty="0"/>
              <a:t>2</a:t>
            </a:r>
            <a:r>
              <a:rPr lang="zh-CN" altLang="en-US" sz="2800" i="0" dirty="0">
                <a:latin typeface="+mn-lt"/>
                <a:ea typeface="微软雅黑" panose="020B0503020204020204" pitchFamily="34" charset="-122"/>
              </a:rPr>
              <a:t>积分</a:t>
            </a:r>
          </a:p>
        </p:txBody>
      </p:sp>
      <p:sp>
        <p:nvSpPr>
          <p:cNvPr id="10" name="Text Box 1032">
            <a:extLst>
              <a:ext uri="{FF2B5EF4-FFF2-40B4-BE49-F238E27FC236}">
                <a16:creationId xmlns:a16="http://schemas.microsoft.com/office/drawing/2014/main" id="{4DDD196C-3C70-8ABD-9825-9C1E588DF660}"/>
              </a:ext>
            </a:extLst>
          </p:cNvPr>
          <p:cNvSpPr txBox="1">
            <a:spLocks noChangeArrowheads="1"/>
          </p:cNvSpPr>
          <p:nvPr/>
        </p:nvSpPr>
        <p:spPr bwMode="auto">
          <a:xfrm>
            <a:off x="570416" y="4087741"/>
            <a:ext cx="10494136" cy="1594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20000"/>
              </a:lnSpc>
            </a:pPr>
            <a:r>
              <a:rPr lang="zh-CN" altLang="en-US" sz="2800" i="0" dirty="0">
                <a:latin typeface="+mn-lt"/>
                <a:ea typeface="微软雅黑" panose="020B0503020204020204" pitchFamily="34" charset="-122"/>
              </a:rPr>
              <a:t>在动能定理中，包含质点的速度、运动的路程和力，可用来求解与质点速度、路程有关的问题，也可用来求解加速度的问题。它是标量方程，求解动力学问题时可回避矢量运算，故比较方便。 </a:t>
            </a:r>
          </a:p>
        </p:txBody>
      </p:sp>
      <p:graphicFrame>
        <p:nvGraphicFramePr>
          <p:cNvPr id="14" name="Object 7">
            <a:extLst>
              <a:ext uri="{FF2B5EF4-FFF2-40B4-BE49-F238E27FC236}">
                <a16:creationId xmlns:a16="http://schemas.microsoft.com/office/drawing/2014/main" id="{83107685-83EE-165F-1FC1-8B4252D110A2}"/>
              </a:ext>
            </a:extLst>
          </p:cNvPr>
          <p:cNvGraphicFramePr>
            <a:graphicFrameLocks noChangeAspect="1"/>
          </p:cNvGraphicFramePr>
          <p:nvPr>
            <p:extLst>
              <p:ext uri="{D42A27DB-BD31-4B8C-83A1-F6EECF244321}">
                <p14:modId xmlns:p14="http://schemas.microsoft.com/office/powerpoint/2010/main" val="1418430344"/>
              </p:ext>
            </p:extLst>
          </p:nvPr>
        </p:nvGraphicFramePr>
        <p:xfrm>
          <a:off x="1144794" y="974710"/>
          <a:ext cx="2171700" cy="998537"/>
        </p:xfrm>
        <a:graphic>
          <a:graphicData uri="http://schemas.openxmlformats.org/presentationml/2006/ole">
            <mc:AlternateContent xmlns:mc="http://schemas.openxmlformats.org/markup-compatibility/2006">
              <mc:Choice xmlns:v="urn:schemas-microsoft-com:vml" Requires="v">
                <p:oleObj spid="_x0000_s27689" name="Equation" r:id="rId4" imgW="901440" imgH="419040" progId="Equation.DSMT4">
                  <p:embed/>
                </p:oleObj>
              </mc:Choice>
              <mc:Fallback>
                <p:oleObj name="Equation" r:id="rId4" imgW="901440" imgH="419040" progId="Equation.DSMT4">
                  <p:embed/>
                  <p:pic>
                    <p:nvPicPr>
                      <p:cNvPr id="14" name="Object 7">
                        <a:extLst>
                          <a:ext uri="{FF2B5EF4-FFF2-40B4-BE49-F238E27FC236}">
                            <a16:creationId xmlns:a16="http://schemas.microsoft.com/office/drawing/2014/main" id="{83107685-83EE-165F-1FC1-8B4252D110A2}"/>
                          </a:ext>
                        </a:extLst>
                      </p:cNvPr>
                      <p:cNvPicPr>
                        <a:picLocks noChangeAspect="1" noChangeArrowheads="1"/>
                      </p:cNvPicPr>
                      <p:nvPr/>
                    </p:nvPicPr>
                    <p:blipFill>
                      <a:blip r:embed="rId5"/>
                      <a:srcRect/>
                      <a:stretch>
                        <a:fillRect/>
                      </a:stretch>
                    </p:blipFill>
                    <p:spPr bwMode="auto">
                      <a:xfrm>
                        <a:off x="1144794" y="974710"/>
                        <a:ext cx="2171700" cy="998537"/>
                      </a:xfrm>
                      <a:prstGeom prst="rect">
                        <a:avLst/>
                      </a:prstGeom>
                      <a:noFill/>
                    </p:spPr>
                  </p:pic>
                </p:oleObj>
              </mc:Fallback>
            </mc:AlternateContent>
          </a:graphicData>
        </a:graphic>
      </p:graphicFrame>
      <p:sp>
        <p:nvSpPr>
          <p:cNvPr id="15" name="Text Box 1032">
            <a:extLst>
              <a:ext uri="{FF2B5EF4-FFF2-40B4-BE49-F238E27FC236}">
                <a16:creationId xmlns:a16="http://schemas.microsoft.com/office/drawing/2014/main" id="{22D2D28B-FCA1-AF31-F51F-9B152FC16203}"/>
              </a:ext>
            </a:extLst>
          </p:cNvPr>
          <p:cNvSpPr txBox="1">
            <a:spLocks noChangeArrowheads="1"/>
          </p:cNvSpPr>
          <p:nvPr/>
        </p:nvSpPr>
        <p:spPr bwMode="auto">
          <a:xfrm>
            <a:off x="5735960" y="3084020"/>
            <a:ext cx="4975547" cy="565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20000"/>
              </a:lnSpc>
            </a:pPr>
            <a:r>
              <a:rPr lang="zh-CN" altLang="en-US" sz="2800" i="0" dirty="0">
                <a:solidFill>
                  <a:srgbClr val="FF00FF"/>
                </a:solidFill>
                <a:latin typeface="+mn-lt"/>
                <a:ea typeface="微软雅黑" panose="020B0503020204020204" pitchFamily="34" charset="-122"/>
              </a:rPr>
              <a:t>质点动能定理的积分形式</a:t>
            </a:r>
          </a:p>
        </p:txBody>
      </p:sp>
      <p:graphicFrame>
        <p:nvGraphicFramePr>
          <p:cNvPr id="9" name="Object 10">
            <a:extLst>
              <a:ext uri="{FF2B5EF4-FFF2-40B4-BE49-F238E27FC236}">
                <a16:creationId xmlns:a16="http://schemas.microsoft.com/office/drawing/2014/main" id="{1662F1CA-DDC2-6D61-5D41-5F528FF93686}"/>
              </a:ext>
            </a:extLst>
          </p:cNvPr>
          <p:cNvGraphicFramePr>
            <a:graphicFrameLocks noChangeAspect="1"/>
          </p:cNvGraphicFramePr>
          <p:nvPr>
            <p:extLst>
              <p:ext uri="{D42A27DB-BD31-4B8C-83A1-F6EECF244321}">
                <p14:modId xmlns:p14="http://schemas.microsoft.com/office/powerpoint/2010/main" val="1768455607"/>
              </p:ext>
            </p:extLst>
          </p:nvPr>
        </p:nvGraphicFramePr>
        <p:xfrm>
          <a:off x="2347879" y="1807273"/>
          <a:ext cx="3465512" cy="1028700"/>
        </p:xfrm>
        <a:graphic>
          <a:graphicData uri="http://schemas.openxmlformats.org/presentationml/2006/ole">
            <mc:AlternateContent xmlns:mc="http://schemas.openxmlformats.org/markup-compatibility/2006">
              <mc:Choice xmlns:v="urn:schemas-microsoft-com:vml" Requires="v">
                <p:oleObj spid="_x0000_s27690" name="Equation" r:id="rId6" imgW="1447560" imgH="431640" progId="Equation.DSMT4">
                  <p:embed/>
                </p:oleObj>
              </mc:Choice>
              <mc:Fallback>
                <p:oleObj name="Equation" r:id="rId6" imgW="1447560" imgH="431640" progId="Equation.DSMT4">
                  <p:embed/>
                  <p:pic>
                    <p:nvPicPr>
                      <p:cNvPr id="1127434" name="Object 10">
                        <a:extLst>
                          <a:ext uri="{FF2B5EF4-FFF2-40B4-BE49-F238E27FC236}">
                            <a16:creationId xmlns:a16="http://schemas.microsoft.com/office/drawing/2014/main" id="{1B779E9B-5310-417B-DC91-FCEC27E0DC22}"/>
                          </a:ext>
                        </a:extLst>
                      </p:cNvPr>
                      <p:cNvPicPr>
                        <a:picLocks noChangeAspect="1" noChangeArrowheads="1"/>
                      </p:cNvPicPr>
                      <p:nvPr/>
                    </p:nvPicPr>
                    <p:blipFill>
                      <a:blip r:embed="rId7"/>
                      <a:srcRect/>
                      <a:stretch>
                        <a:fillRect/>
                      </a:stretch>
                    </p:blipFill>
                    <p:spPr bwMode="auto">
                      <a:xfrm>
                        <a:off x="2347879" y="1807273"/>
                        <a:ext cx="3465512" cy="1028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 name="Object 12">
            <a:extLst>
              <a:ext uri="{FF2B5EF4-FFF2-40B4-BE49-F238E27FC236}">
                <a16:creationId xmlns:a16="http://schemas.microsoft.com/office/drawing/2014/main" id="{607276B3-F6A5-18D6-1865-B5A497BC975C}"/>
              </a:ext>
            </a:extLst>
          </p:cNvPr>
          <p:cNvGraphicFramePr>
            <a:graphicFrameLocks noChangeAspect="1"/>
          </p:cNvGraphicFramePr>
          <p:nvPr>
            <p:extLst>
              <p:ext uri="{D42A27DB-BD31-4B8C-83A1-F6EECF244321}">
                <p14:modId xmlns:p14="http://schemas.microsoft.com/office/powerpoint/2010/main" val="4008401329"/>
              </p:ext>
            </p:extLst>
          </p:nvPr>
        </p:nvGraphicFramePr>
        <p:xfrm>
          <a:off x="2341563" y="2898382"/>
          <a:ext cx="3022600" cy="936625"/>
        </p:xfrm>
        <a:graphic>
          <a:graphicData uri="http://schemas.openxmlformats.org/presentationml/2006/ole">
            <mc:AlternateContent xmlns:mc="http://schemas.openxmlformats.org/markup-compatibility/2006">
              <mc:Choice xmlns:v="urn:schemas-microsoft-com:vml" Requires="v">
                <p:oleObj spid="_x0000_s27691" name="Equation" r:id="rId8" imgW="1257120" imgH="393480" progId="Equation.DSMT4">
                  <p:embed/>
                </p:oleObj>
              </mc:Choice>
              <mc:Fallback>
                <p:oleObj name="Equation" r:id="rId8" imgW="1257120" imgH="393480" progId="Equation.DSMT4">
                  <p:embed/>
                  <p:pic>
                    <p:nvPicPr>
                      <p:cNvPr id="1127436" name="Object 12">
                        <a:extLst>
                          <a:ext uri="{FF2B5EF4-FFF2-40B4-BE49-F238E27FC236}">
                            <a16:creationId xmlns:a16="http://schemas.microsoft.com/office/drawing/2014/main" id="{D6CFBFD4-4FD0-B4CF-29C3-15C0B68628D1}"/>
                          </a:ext>
                        </a:extLst>
                      </p:cNvPr>
                      <p:cNvPicPr>
                        <a:picLocks noChangeAspect="1" noChangeArrowheads="1"/>
                      </p:cNvPicPr>
                      <p:nvPr/>
                    </p:nvPicPr>
                    <p:blipFill>
                      <a:blip r:embed="rId9"/>
                      <a:srcRect/>
                      <a:stretch>
                        <a:fillRect/>
                      </a:stretch>
                    </p:blipFill>
                    <p:spPr bwMode="auto">
                      <a:xfrm>
                        <a:off x="2341563" y="2898382"/>
                        <a:ext cx="3022600" cy="936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561507496"/>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wipe(left)">
                                      <p:cBhvr>
                                        <p:cTn id="11" dur="3000"/>
                                        <p:tgtEl>
                                          <p:spTgt spid="14"/>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wipe(left)">
                                      <p:cBhvr>
                                        <p:cTn id="16" dur="3000"/>
                                        <p:tgtEl>
                                          <p:spTgt spid="9"/>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499"/>
                                          </p:stCondLst>
                                        </p:cTn>
                                        <p:tgtEl>
                                          <p:spTgt spid="1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499"/>
                                          </p:stCondLst>
                                        </p:cTn>
                                        <p:tgtEl>
                                          <p:spTgt spid="10"/>
                                        </p:tgtEl>
                                        <p:attrNameLst>
                                          <p:attrName>style.visibility</p:attrName>
                                        </p:attrNameLst>
                                      </p:cBhvr>
                                      <p:to>
                                        <p:strVal val="visible"/>
                                      </p:to>
                                    </p:set>
                                  </p:childTnLst>
                                </p:cTn>
                              </p:par>
                            </p:childTnLst>
                          </p:cTn>
                        </p:par>
                        <p:par>
                          <p:cTn id="25" fill="hold">
                            <p:stCondLst>
                              <p:cond delay="500"/>
                            </p:stCondLst>
                            <p:childTnLst>
                              <p:par>
                                <p:cTn id="26" presetID="22" presetClass="entr" presetSubtype="8" fill="hold" nodeType="after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wipe(left)">
                                      <p:cBhvr>
                                        <p:cTn id="28" dur="3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utoUpdateAnimBg="0"/>
      <p:bldP spid="10" grpId="0" autoUpdateAnimBg="0"/>
      <p:bldP spid="15" grpId="0" autoUpdateAnimBg="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4653838"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第七章   动力学普遍定理</a:t>
            </a:r>
          </a:p>
        </p:txBody>
      </p:sp>
      <p:sp>
        <p:nvSpPr>
          <p:cNvPr id="9" name="Rectangle 61">
            <a:extLst>
              <a:ext uri="{FF2B5EF4-FFF2-40B4-BE49-F238E27FC236}">
                <a16:creationId xmlns:a16="http://schemas.microsoft.com/office/drawing/2014/main" id="{0C4CF67B-8CA2-F648-B364-D8C44A49A572}"/>
              </a:ext>
            </a:extLst>
          </p:cNvPr>
          <p:cNvSpPr>
            <a:spLocks noChangeArrowheads="1"/>
          </p:cNvSpPr>
          <p:nvPr/>
        </p:nvSpPr>
        <p:spPr bwMode="auto">
          <a:xfrm>
            <a:off x="1127448" y="2665724"/>
            <a:ext cx="9577064" cy="3490344"/>
          </a:xfrm>
          <a:prstGeom prst="rect">
            <a:avLst/>
          </a:prstGeom>
          <a:solidFill>
            <a:srgbClr val="B9CDE5"/>
          </a:solidFill>
          <a:ln>
            <a:noFill/>
          </a:ln>
          <a:effectLst/>
        </p:spPr>
        <p:txBody>
          <a:bodyPr wrap="none" anchor="ctr"/>
          <a:lstStyle/>
          <a:p>
            <a:endParaRPr lang="zh-CN" altLang="en-US" dirty="0"/>
          </a:p>
        </p:txBody>
      </p:sp>
      <p:sp>
        <p:nvSpPr>
          <p:cNvPr id="64" name="矩形 63"/>
          <p:cNvSpPr/>
          <p:nvPr/>
        </p:nvSpPr>
        <p:spPr>
          <a:xfrm>
            <a:off x="191342" y="842981"/>
            <a:ext cx="11377265" cy="1822743"/>
          </a:xfrm>
          <a:prstGeom prst="rect">
            <a:avLst/>
          </a:prstGeom>
        </p:spPr>
        <p:txBody>
          <a:bodyPr wrap="square">
            <a:spAutoFit/>
          </a:bodyPr>
          <a:lstStyle/>
          <a:p>
            <a:pPr>
              <a:lnSpc>
                <a:spcPct val="120000"/>
              </a:lnSpc>
            </a:pPr>
            <a:r>
              <a:rPr lang="zh-CN" altLang="en-US" i="0" dirty="0">
                <a:solidFill>
                  <a:srgbClr val="0033CC"/>
                </a:solidFill>
                <a:ea typeface="黑体" panose="02010609060101010101" pitchFamily="49" charset="-122"/>
              </a:rPr>
              <a:t>例   </a:t>
            </a:r>
            <a:r>
              <a:rPr kumimoji="1" lang="zh-CN" altLang="en-US" i="0" dirty="0">
                <a:solidFill>
                  <a:schemeClr val="tx1"/>
                </a:solidFill>
                <a:latin typeface="+mn-lt"/>
                <a:ea typeface="黑体" panose="02010609060101010101" pitchFamily="49" charset="-122"/>
              </a:rPr>
              <a:t>为测定车辆运动阻力系数</a:t>
            </a:r>
            <a:r>
              <a:rPr kumimoji="1" lang="en-US" altLang="zh-CN" b="0" dirty="0">
                <a:solidFill>
                  <a:schemeClr val="tx1"/>
                </a:solidFill>
                <a:latin typeface="+mn-lt"/>
                <a:ea typeface="黑体" panose="02010609060101010101" pitchFamily="49" charset="-122"/>
              </a:rPr>
              <a:t>K</a:t>
            </a:r>
            <a:r>
              <a:rPr kumimoji="1" lang="zh-CN" altLang="en-US" i="0" dirty="0">
                <a:solidFill>
                  <a:schemeClr val="tx1"/>
                </a:solidFill>
                <a:latin typeface="+mn-lt"/>
                <a:ea typeface="黑体" panose="02010609060101010101" pitchFamily="49" charset="-122"/>
              </a:rPr>
              <a:t>（</a:t>
            </a:r>
            <a:r>
              <a:rPr kumimoji="1" lang="en-US" altLang="zh-CN" b="0" dirty="0">
                <a:solidFill>
                  <a:schemeClr val="tx1"/>
                </a:solidFill>
                <a:latin typeface="+mn-lt"/>
                <a:ea typeface="黑体" panose="02010609060101010101" pitchFamily="49" charset="-122"/>
              </a:rPr>
              <a:t>K</a:t>
            </a:r>
            <a:r>
              <a:rPr kumimoji="1" lang="zh-CN" altLang="en-US" i="0" dirty="0">
                <a:solidFill>
                  <a:schemeClr val="tx1"/>
                </a:solidFill>
                <a:latin typeface="+mn-lt"/>
                <a:ea typeface="黑体" panose="02010609060101010101" pitchFamily="49" charset="-122"/>
              </a:rPr>
              <a:t>为运动阻力</a:t>
            </a:r>
            <a:r>
              <a:rPr kumimoji="1" lang="en-US" altLang="zh-CN" dirty="0">
                <a:solidFill>
                  <a:schemeClr val="tx1"/>
                </a:solidFill>
                <a:latin typeface="+mn-lt"/>
                <a:ea typeface="黑体" panose="02010609060101010101" pitchFamily="49" charset="-122"/>
              </a:rPr>
              <a:t>F</a:t>
            </a:r>
            <a:r>
              <a:rPr kumimoji="1" lang="zh-CN" altLang="en-US" i="0" dirty="0">
                <a:solidFill>
                  <a:schemeClr val="tx1"/>
                </a:solidFill>
                <a:latin typeface="+mn-lt"/>
                <a:ea typeface="黑体" panose="02010609060101010101" pitchFamily="49" charset="-122"/>
              </a:rPr>
              <a:t>与正压力之比），将车辆从斜面</a:t>
            </a:r>
            <a:r>
              <a:rPr kumimoji="1" lang="en-US" altLang="zh-CN" b="0" dirty="0">
                <a:solidFill>
                  <a:schemeClr val="tx1"/>
                </a:solidFill>
                <a:latin typeface="+mn-lt"/>
                <a:ea typeface="黑体" panose="02010609060101010101" pitchFamily="49" charset="-122"/>
              </a:rPr>
              <a:t>A</a:t>
            </a:r>
            <a:r>
              <a:rPr kumimoji="1" lang="zh-CN" altLang="en-US" i="0" dirty="0">
                <a:solidFill>
                  <a:schemeClr val="tx1"/>
                </a:solidFill>
                <a:latin typeface="+mn-lt"/>
                <a:ea typeface="黑体" panose="02010609060101010101" pitchFamily="49" charset="-122"/>
              </a:rPr>
              <a:t>处无初速度地任其自滑。车辆滑到水平面后继续运行到</a:t>
            </a:r>
            <a:r>
              <a:rPr kumimoji="1" lang="en-US" altLang="zh-CN" b="0" dirty="0">
                <a:solidFill>
                  <a:schemeClr val="tx1"/>
                </a:solidFill>
                <a:latin typeface="+mn-lt"/>
                <a:ea typeface="黑体" panose="02010609060101010101" pitchFamily="49" charset="-122"/>
              </a:rPr>
              <a:t>C</a:t>
            </a:r>
            <a:r>
              <a:rPr kumimoji="1" lang="zh-CN" altLang="en-US" i="0" dirty="0">
                <a:solidFill>
                  <a:schemeClr val="tx1"/>
                </a:solidFill>
                <a:latin typeface="+mn-lt"/>
                <a:ea typeface="黑体" panose="02010609060101010101" pitchFamily="49" charset="-122"/>
              </a:rPr>
              <a:t>处停止。如已知斜面长度为</a:t>
            </a:r>
            <a:r>
              <a:rPr kumimoji="1" lang="en-US" altLang="zh-CN" b="0" dirty="0">
                <a:solidFill>
                  <a:schemeClr val="tx1"/>
                </a:solidFill>
                <a:latin typeface="+mn-lt"/>
                <a:ea typeface="黑体" panose="02010609060101010101" pitchFamily="49" charset="-122"/>
              </a:rPr>
              <a:t>l</a:t>
            </a:r>
            <a:r>
              <a:rPr kumimoji="1" lang="zh-CN" altLang="en-US" i="0" dirty="0">
                <a:solidFill>
                  <a:schemeClr val="tx1"/>
                </a:solidFill>
                <a:latin typeface="+mn-lt"/>
                <a:ea typeface="黑体" panose="02010609060101010101" pitchFamily="49" charset="-122"/>
              </a:rPr>
              <a:t>，高度为</a:t>
            </a:r>
            <a:r>
              <a:rPr kumimoji="1" lang="en-US" altLang="zh-CN" b="0" dirty="0">
                <a:solidFill>
                  <a:schemeClr val="tx1"/>
                </a:solidFill>
                <a:latin typeface="+mn-lt"/>
                <a:ea typeface="黑体" panose="02010609060101010101" pitchFamily="49" charset="-122"/>
              </a:rPr>
              <a:t>h</a:t>
            </a:r>
            <a:r>
              <a:rPr kumimoji="1" lang="zh-CN" altLang="en-US" i="0" dirty="0">
                <a:solidFill>
                  <a:schemeClr val="tx1"/>
                </a:solidFill>
                <a:latin typeface="+mn-lt"/>
                <a:ea typeface="黑体" panose="02010609060101010101" pitchFamily="49" charset="-122"/>
              </a:rPr>
              <a:t>，斜面（在水平面上）的投影长度为</a:t>
            </a:r>
            <a:r>
              <a:rPr kumimoji="1" lang="en-US" altLang="zh-CN" b="0" dirty="0">
                <a:solidFill>
                  <a:schemeClr val="tx1"/>
                </a:solidFill>
                <a:latin typeface="+mn-lt"/>
                <a:ea typeface="黑体" panose="02010609060101010101" pitchFamily="49" charset="-122"/>
              </a:rPr>
              <a:t>s</a:t>
            </a:r>
            <a:r>
              <a:rPr kumimoji="1" lang="en-US" altLang="zh-CN" b="0" dirty="0">
                <a:solidFill>
                  <a:schemeClr val="tx1"/>
                </a:solidFill>
                <a:latin typeface="+mn-lt"/>
                <a:ea typeface="黑体" panose="02010609060101010101" pitchFamily="49" charset="-122"/>
                <a:cs typeface="Times New Roman" panose="02020603050405020304" pitchFamily="18" charset="0"/>
              </a:rPr>
              <a:t>'</a:t>
            </a:r>
            <a:r>
              <a:rPr kumimoji="1" lang="zh-CN" altLang="en-US" i="0" dirty="0">
                <a:solidFill>
                  <a:schemeClr val="tx1"/>
                </a:solidFill>
                <a:latin typeface="+mn-lt"/>
                <a:ea typeface="黑体" panose="02010609060101010101" pitchFamily="49" charset="-122"/>
              </a:rPr>
              <a:t>，水平面上车辆的运行距离为</a:t>
            </a:r>
            <a:r>
              <a:rPr kumimoji="1" lang="en-US" altLang="zh-CN" b="0" dirty="0">
                <a:solidFill>
                  <a:schemeClr val="tx1"/>
                </a:solidFill>
                <a:latin typeface="+mn-lt"/>
                <a:ea typeface="黑体" panose="02010609060101010101" pitchFamily="49" charset="-122"/>
              </a:rPr>
              <a:t>s</a:t>
            </a:r>
            <a:r>
              <a:rPr kumimoji="1" lang="zh-CN" altLang="en-US" i="0" dirty="0">
                <a:solidFill>
                  <a:schemeClr val="tx1"/>
                </a:solidFill>
                <a:latin typeface="+mn-lt"/>
                <a:ea typeface="黑体" panose="02010609060101010101" pitchFamily="49" charset="-122"/>
              </a:rPr>
              <a:t>，如图。求车辆运动时的阻力系数</a:t>
            </a:r>
            <a:r>
              <a:rPr kumimoji="1" lang="en-US" altLang="zh-CN" b="0" dirty="0">
                <a:solidFill>
                  <a:schemeClr val="tx1"/>
                </a:solidFill>
                <a:latin typeface="+mn-lt"/>
                <a:ea typeface="黑体" panose="02010609060101010101" pitchFamily="49" charset="-122"/>
              </a:rPr>
              <a:t>K</a:t>
            </a:r>
            <a:r>
              <a:rPr kumimoji="1" lang="zh-CN" altLang="en-US" i="0" dirty="0">
                <a:solidFill>
                  <a:schemeClr val="tx1"/>
                </a:solidFill>
                <a:latin typeface="+mn-lt"/>
                <a:ea typeface="黑体" panose="02010609060101010101" pitchFamily="49" charset="-122"/>
              </a:rPr>
              <a:t>值。 </a:t>
            </a:r>
            <a:endParaRPr lang="zh-CN" altLang="en-US" i="0" dirty="0">
              <a:solidFill>
                <a:schemeClr val="tx1"/>
              </a:solidFill>
              <a:latin typeface="+mn-lt"/>
              <a:ea typeface="黑体" panose="02010609060101010101" pitchFamily="49" charset="-122"/>
            </a:endParaRPr>
          </a:p>
        </p:txBody>
      </p:sp>
      <p:grpSp>
        <p:nvGrpSpPr>
          <p:cNvPr id="166" name="Group 2">
            <a:extLst>
              <a:ext uri="{FF2B5EF4-FFF2-40B4-BE49-F238E27FC236}">
                <a16:creationId xmlns:a16="http://schemas.microsoft.com/office/drawing/2014/main" id="{A9B16012-77A5-3F66-E1C2-74078F5B0B24}"/>
              </a:ext>
            </a:extLst>
          </p:cNvPr>
          <p:cNvGrpSpPr>
            <a:grpSpLocks/>
          </p:cNvGrpSpPr>
          <p:nvPr/>
        </p:nvGrpSpPr>
        <p:grpSpPr bwMode="auto">
          <a:xfrm>
            <a:off x="8414644" y="3583186"/>
            <a:ext cx="757237" cy="458788"/>
            <a:chOff x="4537" y="2752"/>
            <a:chExt cx="477" cy="289"/>
          </a:xfrm>
        </p:grpSpPr>
        <p:grpSp>
          <p:nvGrpSpPr>
            <p:cNvPr id="167" name="Group 3">
              <a:extLst>
                <a:ext uri="{FF2B5EF4-FFF2-40B4-BE49-F238E27FC236}">
                  <a16:creationId xmlns:a16="http://schemas.microsoft.com/office/drawing/2014/main" id="{F5E248D9-7BD5-2E77-3C8E-E754C6354754}"/>
                </a:ext>
              </a:extLst>
            </p:cNvPr>
            <p:cNvGrpSpPr>
              <a:grpSpLocks/>
            </p:cNvGrpSpPr>
            <p:nvPr/>
          </p:nvGrpSpPr>
          <p:grpSpPr bwMode="auto">
            <a:xfrm rot="19800000">
              <a:off x="4537" y="2752"/>
              <a:ext cx="477" cy="207"/>
              <a:chOff x="2456" y="3902"/>
              <a:chExt cx="477" cy="207"/>
            </a:xfrm>
          </p:grpSpPr>
          <p:sp>
            <p:nvSpPr>
              <p:cNvPr id="170" name="Freeform 4">
                <a:extLst>
                  <a:ext uri="{FF2B5EF4-FFF2-40B4-BE49-F238E27FC236}">
                    <a16:creationId xmlns:a16="http://schemas.microsoft.com/office/drawing/2014/main" id="{912C14A8-EE9C-44E9-B0AF-0791997B791D}"/>
                  </a:ext>
                </a:extLst>
              </p:cNvPr>
              <p:cNvSpPr>
                <a:spLocks/>
              </p:cNvSpPr>
              <p:nvPr/>
            </p:nvSpPr>
            <p:spPr bwMode="auto">
              <a:xfrm>
                <a:off x="2456" y="3926"/>
                <a:ext cx="477" cy="183"/>
              </a:xfrm>
              <a:custGeom>
                <a:avLst/>
                <a:gdLst>
                  <a:gd name="T0" fmla="*/ 0 w 477"/>
                  <a:gd name="T1" fmla="*/ 0 h 183"/>
                  <a:gd name="T2" fmla="*/ 66 w 477"/>
                  <a:gd name="T3" fmla="*/ 0 h 183"/>
                  <a:gd name="T4" fmla="*/ 66 w 477"/>
                  <a:gd name="T5" fmla="*/ 129 h 183"/>
                  <a:gd name="T6" fmla="*/ 411 w 477"/>
                  <a:gd name="T7" fmla="*/ 129 h 183"/>
                  <a:gd name="T8" fmla="*/ 411 w 477"/>
                  <a:gd name="T9" fmla="*/ 3 h 183"/>
                  <a:gd name="T10" fmla="*/ 477 w 477"/>
                  <a:gd name="T11" fmla="*/ 3 h 183"/>
                  <a:gd name="T12" fmla="*/ 477 w 477"/>
                  <a:gd name="T13" fmla="*/ 183 h 183"/>
                  <a:gd name="T14" fmla="*/ 0 w 477"/>
                  <a:gd name="T15" fmla="*/ 183 h 183"/>
                  <a:gd name="T16" fmla="*/ 0 w 477"/>
                  <a:gd name="T17" fmla="*/ 132 h 183"/>
                  <a:gd name="T18" fmla="*/ 0 w 477"/>
                  <a:gd name="T19" fmla="*/ 0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77" h="183">
                    <a:moveTo>
                      <a:pt x="0" y="0"/>
                    </a:moveTo>
                    <a:lnTo>
                      <a:pt x="66" y="0"/>
                    </a:lnTo>
                    <a:lnTo>
                      <a:pt x="66" y="129"/>
                    </a:lnTo>
                    <a:lnTo>
                      <a:pt x="411" y="129"/>
                    </a:lnTo>
                    <a:lnTo>
                      <a:pt x="411" y="3"/>
                    </a:lnTo>
                    <a:lnTo>
                      <a:pt x="477" y="3"/>
                    </a:lnTo>
                    <a:lnTo>
                      <a:pt x="477" y="183"/>
                    </a:lnTo>
                    <a:lnTo>
                      <a:pt x="0" y="183"/>
                    </a:lnTo>
                    <a:lnTo>
                      <a:pt x="0" y="132"/>
                    </a:lnTo>
                    <a:lnTo>
                      <a:pt x="0" y="0"/>
                    </a:lnTo>
                    <a:close/>
                  </a:path>
                </a:pathLst>
              </a:custGeom>
              <a:gradFill rotWithShape="1">
                <a:gsLst>
                  <a:gs pos="0">
                    <a:schemeClr val="bg1">
                      <a:gamma/>
                      <a:shade val="46275"/>
                      <a:invGamma/>
                    </a:schemeClr>
                  </a:gs>
                  <a:gs pos="50000">
                    <a:schemeClr val="bg1"/>
                  </a:gs>
                  <a:gs pos="100000">
                    <a:schemeClr val="bg1">
                      <a:gamma/>
                      <a:shade val="46275"/>
                      <a:invGamma/>
                    </a:schemeClr>
                  </a:gs>
                </a:gsLst>
                <a:lin ang="0" scaled="1"/>
              </a:gradFill>
              <a:ln w="28575" cap="flat" cmpd="sng">
                <a:solidFill>
                  <a:schemeClr val="bg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1" name="Rectangle 5">
                <a:extLst>
                  <a:ext uri="{FF2B5EF4-FFF2-40B4-BE49-F238E27FC236}">
                    <a16:creationId xmlns:a16="http://schemas.microsoft.com/office/drawing/2014/main" id="{16778118-6D51-E81D-AC86-0160CF1E94DE}"/>
                  </a:ext>
                </a:extLst>
              </p:cNvPr>
              <p:cNvSpPr>
                <a:spLocks noChangeArrowheads="1"/>
              </p:cNvSpPr>
              <p:nvPr/>
            </p:nvSpPr>
            <p:spPr bwMode="auto">
              <a:xfrm rot="21600000">
                <a:off x="2597" y="3902"/>
                <a:ext cx="201" cy="144"/>
              </a:xfrm>
              <a:prstGeom prst="rect">
                <a:avLst/>
              </a:prstGeom>
              <a:gradFill rotWithShape="1">
                <a:gsLst>
                  <a:gs pos="0">
                    <a:srgbClr val="FF9933"/>
                  </a:gs>
                  <a:gs pos="50000">
                    <a:srgbClr val="FF9933">
                      <a:gamma/>
                      <a:tint val="36863"/>
                      <a:invGamma/>
                    </a:srgbClr>
                  </a:gs>
                  <a:gs pos="100000">
                    <a:srgbClr val="FF9933"/>
                  </a:gs>
                </a:gsLst>
                <a:lin ang="0" scaled="1"/>
              </a:gradFill>
              <a:ln w="28575">
                <a:solidFill>
                  <a:srgbClr val="FFCC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68" name="Oval 6">
              <a:extLst>
                <a:ext uri="{FF2B5EF4-FFF2-40B4-BE49-F238E27FC236}">
                  <a16:creationId xmlns:a16="http://schemas.microsoft.com/office/drawing/2014/main" id="{F8C07F5B-3F84-AC2C-08C8-4597045E97DD}"/>
                </a:ext>
              </a:extLst>
            </p:cNvPr>
            <p:cNvSpPr>
              <a:spLocks noChangeArrowheads="1"/>
            </p:cNvSpPr>
            <p:nvPr/>
          </p:nvSpPr>
          <p:spPr bwMode="auto">
            <a:xfrm>
              <a:off x="4682" y="2949"/>
              <a:ext cx="92" cy="92"/>
            </a:xfrm>
            <a:prstGeom prst="ellipse">
              <a:avLst/>
            </a:prstGeom>
            <a:gradFill rotWithShape="0">
              <a:gsLst>
                <a:gs pos="0">
                  <a:schemeClr val="bg1"/>
                </a:gs>
                <a:gs pos="100000">
                  <a:schemeClr val="bg1">
                    <a:gamma/>
                    <a:shade val="41176"/>
                    <a:invGamma/>
                  </a:schemeClr>
                </a:gs>
              </a:gsLst>
              <a:path path="rect">
                <a:fillToRect r="100000" b="100000"/>
              </a:path>
            </a:gradFill>
            <a:ln w="19050" algn="ctr">
              <a:pattFill prst="solidDmnd">
                <a:fgClr>
                  <a:schemeClr val="tx1"/>
                </a:fgClr>
                <a:bgClr>
                  <a:srgbClr val="FFFFFF"/>
                </a:bgClr>
              </a:patt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9" name="Oval 7">
              <a:extLst>
                <a:ext uri="{FF2B5EF4-FFF2-40B4-BE49-F238E27FC236}">
                  <a16:creationId xmlns:a16="http://schemas.microsoft.com/office/drawing/2014/main" id="{4D1E3361-BEFC-7695-E283-A42491EB17EE}"/>
                </a:ext>
              </a:extLst>
            </p:cNvPr>
            <p:cNvSpPr>
              <a:spLocks noChangeArrowheads="1"/>
            </p:cNvSpPr>
            <p:nvPr/>
          </p:nvSpPr>
          <p:spPr bwMode="auto">
            <a:xfrm>
              <a:off x="4906" y="2816"/>
              <a:ext cx="92" cy="92"/>
            </a:xfrm>
            <a:prstGeom prst="ellipse">
              <a:avLst/>
            </a:prstGeom>
            <a:gradFill rotWithShape="0">
              <a:gsLst>
                <a:gs pos="0">
                  <a:schemeClr val="bg1"/>
                </a:gs>
                <a:gs pos="100000">
                  <a:schemeClr val="bg1">
                    <a:gamma/>
                    <a:shade val="41176"/>
                    <a:invGamma/>
                  </a:schemeClr>
                </a:gs>
              </a:gsLst>
              <a:path path="rect">
                <a:fillToRect r="100000" b="100000"/>
              </a:path>
            </a:gradFill>
            <a:ln w="19050" algn="ctr">
              <a:pattFill prst="solidDmnd">
                <a:fgClr>
                  <a:schemeClr val="tx1"/>
                </a:fgClr>
                <a:bgClr>
                  <a:srgbClr val="FFFFFF"/>
                </a:bgClr>
              </a:patt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72" name="Group 8">
            <a:extLst>
              <a:ext uri="{FF2B5EF4-FFF2-40B4-BE49-F238E27FC236}">
                <a16:creationId xmlns:a16="http://schemas.microsoft.com/office/drawing/2014/main" id="{8E3A91C0-5545-F127-D3CC-603ADE6A9DC3}"/>
              </a:ext>
            </a:extLst>
          </p:cNvPr>
          <p:cNvGrpSpPr>
            <a:grpSpLocks/>
          </p:cNvGrpSpPr>
          <p:nvPr/>
        </p:nvGrpSpPr>
        <p:grpSpPr bwMode="auto">
          <a:xfrm rot="19800000">
            <a:off x="8409881" y="3586361"/>
            <a:ext cx="757238" cy="328613"/>
            <a:chOff x="2456" y="3902"/>
            <a:chExt cx="477" cy="207"/>
          </a:xfrm>
        </p:grpSpPr>
        <p:sp>
          <p:nvSpPr>
            <p:cNvPr id="173" name="Freeform 9">
              <a:extLst>
                <a:ext uri="{FF2B5EF4-FFF2-40B4-BE49-F238E27FC236}">
                  <a16:creationId xmlns:a16="http://schemas.microsoft.com/office/drawing/2014/main" id="{14493720-99D7-DA79-FFF4-FB43FBE1A3DC}"/>
                </a:ext>
              </a:extLst>
            </p:cNvPr>
            <p:cNvSpPr>
              <a:spLocks/>
            </p:cNvSpPr>
            <p:nvPr/>
          </p:nvSpPr>
          <p:spPr bwMode="auto">
            <a:xfrm>
              <a:off x="2456" y="3926"/>
              <a:ext cx="477" cy="183"/>
            </a:xfrm>
            <a:custGeom>
              <a:avLst/>
              <a:gdLst>
                <a:gd name="T0" fmla="*/ 0 w 477"/>
                <a:gd name="T1" fmla="*/ 0 h 183"/>
                <a:gd name="T2" fmla="*/ 66 w 477"/>
                <a:gd name="T3" fmla="*/ 0 h 183"/>
                <a:gd name="T4" fmla="*/ 66 w 477"/>
                <a:gd name="T5" fmla="*/ 129 h 183"/>
                <a:gd name="T6" fmla="*/ 411 w 477"/>
                <a:gd name="T7" fmla="*/ 129 h 183"/>
                <a:gd name="T8" fmla="*/ 411 w 477"/>
                <a:gd name="T9" fmla="*/ 3 h 183"/>
                <a:gd name="T10" fmla="*/ 477 w 477"/>
                <a:gd name="T11" fmla="*/ 3 h 183"/>
                <a:gd name="T12" fmla="*/ 477 w 477"/>
                <a:gd name="T13" fmla="*/ 183 h 183"/>
                <a:gd name="T14" fmla="*/ 0 w 477"/>
                <a:gd name="T15" fmla="*/ 183 h 183"/>
                <a:gd name="T16" fmla="*/ 0 w 477"/>
                <a:gd name="T17" fmla="*/ 132 h 183"/>
                <a:gd name="T18" fmla="*/ 0 w 477"/>
                <a:gd name="T19" fmla="*/ 0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77" h="183">
                  <a:moveTo>
                    <a:pt x="0" y="0"/>
                  </a:moveTo>
                  <a:lnTo>
                    <a:pt x="66" y="0"/>
                  </a:lnTo>
                  <a:lnTo>
                    <a:pt x="66" y="129"/>
                  </a:lnTo>
                  <a:lnTo>
                    <a:pt x="411" y="129"/>
                  </a:lnTo>
                  <a:lnTo>
                    <a:pt x="411" y="3"/>
                  </a:lnTo>
                  <a:lnTo>
                    <a:pt x="477" y="3"/>
                  </a:lnTo>
                  <a:lnTo>
                    <a:pt x="477" y="183"/>
                  </a:lnTo>
                  <a:lnTo>
                    <a:pt x="0" y="183"/>
                  </a:lnTo>
                  <a:lnTo>
                    <a:pt x="0" y="132"/>
                  </a:lnTo>
                  <a:lnTo>
                    <a:pt x="0" y="0"/>
                  </a:lnTo>
                  <a:close/>
                </a:path>
              </a:pathLst>
            </a:custGeom>
            <a:gradFill rotWithShape="1">
              <a:gsLst>
                <a:gs pos="0">
                  <a:schemeClr val="bg1">
                    <a:gamma/>
                    <a:shade val="46275"/>
                    <a:invGamma/>
                  </a:schemeClr>
                </a:gs>
                <a:gs pos="50000">
                  <a:schemeClr val="bg1"/>
                </a:gs>
                <a:gs pos="100000">
                  <a:schemeClr val="bg1">
                    <a:gamma/>
                    <a:shade val="46275"/>
                    <a:invGamma/>
                  </a:schemeClr>
                </a:gs>
              </a:gsLst>
              <a:lin ang="0" scaled="1"/>
            </a:gradFill>
            <a:ln w="28575" cap="flat"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4" name="Rectangle 10">
              <a:extLst>
                <a:ext uri="{FF2B5EF4-FFF2-40B4-BE49-F238E27FC236}">
                  <a16:creationId xmlns:a16="http://schemas.microsoft.com/office/drawing/2014/main" id="{FAE9521F-808B-1556-B905-317E30F3E03C}"/>
                </a:ext>
              </a:extLst>
            </p:cNvPr>
            <p:cNvSpPr>
              <a:spLocks noChangeArrowheads="1"/>
            </p:cNvSpPr>
            <p:nvPr/>
          </p:nvSpPr>
          <p:spPr bwMode="auto">
            <a:xfrm rot="21600000">
              <a:off x="2597" y="3902"/>
              <a:ext cx="201" cy="144"/>
            </a:xfrm>
            <a:prstGeom prst="rect">
              <a:avLst/>
            </a:prstGeom>
            <a:gradFill rotWithShape="1">
              <a:gsLst>
                <a:gs pos="0">
                  <a:srgbClr val="FF9933"/>
                </a:gs>
                <a:gs pos="50000">
                  <a:srgbClr val="FF9933">
                    <a:gamma/>
                    <a:tint val="36863"/>
                    <a:invGamma/>
                  </a:srgbClr>
                </a:gs>
                <a:gs pos="100000">
                  <a:srgbClr val="FF9933"/>
                </a:gs>
              </a:gsLst>
              <a:lin ang="0" scaled="1"/>
            </a:gradFill>
            <a:ln w="28575">
              <a:solidFill>
                <a:srgbClr val="FFCC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75" name="Group 14">
            <a:extLst>
              <a:ext uri="{FF2B5EF4-FFF2-40B4-BE49-F238E27FC236}">
                <a16:creationId xmlns:a16="http://schemas.microsoft.com/office/drawing/2014/main" id="{6FC6A191-1505-B07C-79A2-08C0EEB8F3D9}"/>
              </a:ext>
            </a:extLst>
          </p:cNvPr>
          <p:cNvGrpSpPr>
            <a:grpSpLocks/>
          </p:cNvGrpSpPr>
          <p:nvPr/>
        </p:nvGrpSpPr>
        <p:grpSpPr bwMode="auto">
          <a:xfrm>
            <a:off x="1199456" y="3095824"/>
            <a:ext cx="9209088" cy="2690812"/>
            <a:chOff x="-8" y="2445"/>
            <a:chExt cx="5801" cy="1695"/>
          </a:xfrm>
        </p:grpSpPr>
        <p:sp>
          <p:nvSpPr>
            <p:cNvPr id="176" name="Freeform 15">
              <a:extLst>
                <a:ext uri="{FF2B5EF4-FFF2-40B4-BE49-F238E27FC236}">
                  <a16:creationId xmlns:a16="http://schemas.microsoft.com/office/drawing/2014/main" id="{D57AD850-CDF3-A3E5-DD5A-440CCD9F941F}"/>
                </a:ext>
              </a:extLst>
            </p:cNvPr>
            <p:cNvSpPr>
              <a:spLocks/>
            </p:cNvSpPr>
            <p:nvPr/>
          </p:nvSpPr>
          <p:spPr bwMode="auto">
            <a:xfrm>
              <a:off x="-8" y="2445"/>
              <a:ext cx="5801" cy="1695"/>
            </a:xfrm>
            <a:custGeom>
              <a:avLst/>
              <a:gdLst>
                <a:gd name="T0" fmla="*/ 0 w 5801"/>
                <a:gd name="T1" fmla="*/ 1570 h 1695"/>
                <a:gd name="T2" fmla="*/ 3097 w 5801"/>
                <a:gd name="T3" fmla="*/ 1570 h 1695"/>
                <a:gd name="T4" fmla="*/ 5801 w 5801"/>
                <a:gd name="T5" fmla="*/ 0 h 1695"/>
                <a:gd name="T6" fmla="*/ 5785 w 5801"/>
                <a:gd name="T7" fmla="*/ 150 h 1695"/>
                <a:gd name="T8" fmla="*/ 3130 w 5801"/>
                <a:gd name="T9" fmla="*/ 1695 h 1695"/>
                <a:gd name="T10" fmla="*/ 0 w 5801"/>
                <a:gd name="T11" fmla="*/ 1695 h 1695"/>
                <a:gd name="T12" fmla="*/ 0 w 5801"/>
                <a:gd name="T13" fmla="*/ 1570 h 1695"/>
              </a:gdLst>
              <a:ahLst/>
              <a:cxnLst>
                <a:cxn ang="0">
                  <a:pos x="T0" y="T1"/>
                </a:cxn>
                <a:cxn ang="0">
                  <a:pos x="T2" y="T3"/>
                </a:cxn>
                <a:cxn ang="0">
                  <a:pos x="T4" y="T5"/>
                </a:cxn>
                <a:cxn ang="0">
                  <a:pos x="T6" y="T7"/>
                </a:cxn>
                <a:cxn ang="0">
                  <a:pos x="T8" y="T9"/>
                </a:cxn>
                <a:cxn ang="0">
                  <a:pos x="T10" y="T11"/>
                </a:cxn>
                <a:cxn ang="0">
                  <a:pos x="T12" y="T13"/>
                </a:cxn>
              </a:cxnLst>
              <a:rect l="0" t="0" r="r" b="b"/>
              <a:pathLst>
                <a:path w="5801" h="1695">
                  <a:moveTo>
                    <a:pt x="0" y="1570"/>
                  </a:moveTo>
                  <a:lnTo>
                    <a:pt x="3097" y="1570"/>
                  </a:lnTo>
                  <a:lnTo>
                    <a:pt x="5801" y="0"/>
                  </a:lnTo>
                  <a:lnTo>
                    <a:pt x="5785" y="150"/>
                  </a:lnTo>
                  <a:lnTo>
                    <a:pt x="3130" y="1695"/>
                  </a:lnTo>
                  <a:lnTo>
                    <a:pt x="0" y="1695"/>
                  </a:lnTo>
                  <a:lnTo>
                    <a:pt x="0" y="1570"/>
                  </a:lnTo>
                  <a:close/>
                </a:path>
              </a:pathLst>
            </a:custGeom>
            <a:pattFill prst="wdUpDiag">
              <a:fgClr>
                <a:schemeClr val="tx1"/>
              </a:fgClr>
              <a:bgClr>
                <a:srgbClr val="FFFF66"/>
              </a:bgClr>
            </a:patt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7" name="Freeform 16">
              <a:extLst>
                <a:ext uri="{FF2B5EF4-FFF2-40B4-BE49-F238E27FC236}">
                  <a16:creationId xmlns:a16="http://schemas.microsoft.com/office/drawing/2014/main" id="{DFB2C35E-78B8-B7FA-99EE-B54A091F0BD0}"/>
                </a:ext>
              </a:extLst>
            </p:cNvPr>
            <p:cNvSpPr>
              <a:spLocks/>
            </p:cNvSpPr>
            <p:nvPr/>
          </p:nvSpPr>
          <p:spPr bwMode="auto">
            <a:xfrm>
              <a:off x="-8" y="2454"/>
              <a:ext cx="5793" cy="1561"/>
            </a:xfrm>
            <a:custGeom>
              <a:avLst/>
              <a:gdLst>
                <a:gd name="T0" fmla="*/ 0 w 5793"/>
                <a:gd name="T1" fmla="*/ 1561 h 1561"/>
                <a:gd name="T2" fmla="*/ 3097 w 5793"/>
                <a:gd name="T3" fmla="*/ 1552 h 1561"/>
                <a:gd name="T4" fmla="*/ 5793 w 5793"/>
                <a:gd name="T5" fmla="*/ 0 h 1561"/>
              </a:gdLst>
              <a:ahLst/>
              <a:cxnLst>
                <a:cxn ang="0">
                  <a:pos x="T0" y="T1"/>
                </a:cxn>
                <a:cxn ang="0">
                  <a:pos x="T2" y="T3"/>
                </a:cxn>
                <a:cxn ang="0">
                  <a:pos x="T4" y="T5"/>
                </a:cxn>
              </a:cxnLst>
              <a:rect l="0" t="0" r="r" b="b"/>
              <a:pathLst>
                <a:path w="5793" h="1561">
                  <a:moveTo>
                    <a:pt x="0" y="1561"/>
                  </a:moveTo>
                  <a:lnTo>
                    <a:pt x="3097" y="1552"/>
                  </a:lnTo>
                  <a:lnTo>
                    <a:pt x="5793" y="0"/>
                  </a:lnTo>
                </a:path>
              </a:pathLst>
            </a:custGeom>
            <a:noFill/>
            <a:ln w="38100" cap="flat" cmpd="sng">
              <a:solidFill>
                <a:schemeClr val="bg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p>
          </p:txBody>
        </p:sp>
      </p:grpSp>
      <p:sp>
        <p:nvSpPr>
          <p:cNvPr id="178" name="Text Box 17">
            <a:extLst>
              <a:ext uri="{FF2B5EF4-FFF2-40B4-BE49-F238E27FC236}">
                <a16:creationId xmlns:a16="http://schemas.microsoft.com/office/drawing/2014/main" id="{5DBF8A39-13A4-52EE-9762-36B517740411}"/>
              </a:ext>
            </a:extLst>
          </p:cNvPr>
          <p:cNvSpPr txBox="1">
            <a:spLocks noChangeAspect="1" noChangeArrowheads="1"/>
          </p:cNvSpPr>
          <p:nvPr/>
        </p:nvSpPr>
        <p:spPr bwMode="auto">
          <a:xfrm>
            <a:off x="4021410" y="4611886"/>
            <a:ext cx="706438" cy="488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n-US" altLang="zh-CN" b="0" i="1" dirty="0">
                <a:ea typeface="宋体" panose="02010600030101010101" pitchFamily="2" charset="-122"/>
              </a:rPr>
              <a:t>s</a:t>
            </a:r>
            <a:endParaRPr lang="en-US" altLang="zh-CN" b="0" i="1" baseline="-25000" dirty="0">
              <a:ea typeface="宋体" panose="02010600030101010101" pitchFamily="2" charset="-122"/>
            </a:endParaRPr>
          </a:p>
        </p:txBody>
      </p:sp>
      <p:grpSp>
        <p:nvGrpSpPr>
          <p:cNvPr id="179" name="Group 18">
            <a:extLst>
              <a:ext uri="{FF2B5EF4-FFF2-40B4-BE49-F238E27FC236}">
                <a16:creationId xmlns:a16="http://schemas.microsoft.com/office/drawing/2014/main" id="{8F734488-6D17-1FFE-CF12-13659DF0F2D2}"/>
              </a:ext>
            </a:extLst>
          </p:cNvPr>
          <p:cNvGrpSpPr>
            <a:grpSpLocks/>
          </p:cNvGrpSpPr>
          <p:nvPr/>
        </p:nvGrpSpPr>
        <p:grpSpPr bwMode="auto">
          <a:xfrm>
            <a:off x="1678881" y="5156399"/>
            <a:ext cx="757238" cy="422275"/>
            <a:chOff x="294" y="3743"/>
            <a:chExt cx="477" cy="266"/>
          </a:xfrm>
        </p:grpSpPr>
        <p:grpSp>
          <p:nvGrpSpPr>
            <p:cNvPr id="180" name="Group 19">
              <a:extLst>
                <a:ext uri="{FF2B5EF4-FFF2-40B4-BE49-F238E27FC236}">
                  <a16:creationId xmlns:a16="http://schemas.microsoft.com/office/drawing/2014/main" id="{2055A1B2-8A0B-B16C-3FA2-818E3F370E0F}"/>
                </a:ext>
              </a:extLst>
            </p:cNvPr>
            <p:cNvGrpSpPr>
              <a:grpSpLocks/>
            </p:cNvGrpSpPr>
            <p:nvPr/>
          </p:nvGrpSpPr>
          <p:grpSpPr bwMode="auto">
            <a:xfrm>
              <a:off x="294" y="3743"/>
              <a:ext cx="477" cy="207"/>
              <a:chOff x="2456" y="3902"/>
              <a:chExt cx="477" cy="207"/>
            </a:xfrm>
          </p:grpSpPr>
          <p:sp>
            <p:nvSpPr>
              <p:cNvPr id="183" name="Freeform 20">
                <a:extLst>
                  <a:ext uri="{FF2B5EF4-FFF2-40B4-BE49-F238E27FC236}">
                    <a16:creationId xmlns:a16="http://schemas.microsoft.com/office/drawing/2014/main" id="{04FDE3B8-5F61-875F-5DE1-22ED91566E3F}"/>
                  </a:ext>
                </a:extLst>
              </p:cNvPr>
              <p:cNvSpPr>
                <a:spLocks/>
              </p:cNvSpPr>
              <p:nvPr/>
            </p:nvSpPr>
            <p:spPr bwMode="auto">
              <a:xfrm>
                <a:off x="2456" y="3926"/>
                <a:ext cx="477" cy="183"/>
              </a:xfrm>
              <a:custGeom>
                <a:avLst/>
                <a:gdLst>
                  <a:gd name="T0" fmla="*/ 0 w 477"/>
                  <a:gd name="T1" fmla="*/ 0 h 183"/>
                  <a:gd name="T2" fmla="*/ 66 w 477"/>
                  <a:gd name="T3" fmla="*/ 0 h 183"/>
                  <a:gd name="T4" fmla="*/ 66 w 477"/>
                  <a:gd name="T5" fmla="*/ 129 h 183"/>
                  <a:gd name="T6" fmla="*/ 411 w 477"/>
                  <a:gd name="T7" fmla="*/ 129 h 183"/>
                  <a:gd name="T8" fmla="*/ 411 w 477"/>
                  <a:gd name="T9" fmla="*/ 3 h 183"/>
                  <a:gd name="T10" fmla="*/ 477 w 477"/>
                  <a:gd name="T11" fmla="*/ 3 h 183"/>
                  <a:gd name="T12" fmla="*/ 477 w 477"/>
                  <a:gd name="T13" fmla="*/ 183 h 183"/>
                  <a:gd name="T14" fmla="*/ 0 w 477"/>
                  <a:gd name="T15" fmla="*/ 183 h 183"/>
                  <a:gd name="T16" fmla="*/ 0 w 477"/>
                  <a:gd name="T17" fmla="*/ 132 h 183"/>
                  <a:gd name="T18" fmla="*/ 0 w 477"/>
                  <a:gd name="T19" fmla="*/ 0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77" h="183">
                    <a:moveTo>
                      <a:pt x="0" y="0"/>
                    </a:moveTo>
                    <a:lnTo>
                      <a:pt x="66" y="0"/>
                    </a:lnTo>
                    <a:lnTo>
                      <a:pt x="66" y="129"/>
                    </a:lnTo>
                    <a:lnTo>
                      <a:pt x="411" y="129"/>
                    </a:lnTo>
                    <a:lnTo>
                      <a:pt x="411" y="3"/>
                    </a:lnTo>
                    <a:lnTo>
                      <a:pt x="477" y="3"/>
                    </a:lnTo>
                    <a:lnTo>
                      <a:pt x="477" y="183"/>
                    </a:lnTo>
                    <a:lnTo>
                      <a:pt x="0" y="183"/>
                    </a:lnTo>
                    <a:lnTo>
                      <a:pt x="0" y="132"/>
                    </a:lnTo>
                    <a:lnTo>
                      <a:pt x="0" y="0"/>
                    </a:lnTo>
                    <a:close/>
                  </a:path>
                </a:pathLst>
              </a:custGeom>
              <a:gradFill rotWithShape="1">
                <a:gsLst>
                  <a:gs pos="0">
                    <a:schemeClr val="bg1">
                      <a:gamma/>
                      <a:shade val="46275"/>
                      <a:invGamma/>
                    </a:schemeClr>
                  </a:gs>
                  <a:gs pos="50000">
                    <a:schemeClr val="bg1"/>
                  </a:gs>
                  <a:gs pos="100000">
                    <a:schemeClr val="bg1">
                      <a:gamma/>
                      <a:shade val="46275"/>
                      <a:invGamma/>
                    </a:schemeClr>
                  </a:gs>
                </a:gsLst>
                <a:lin ang="0" scaled="1"/>
              </a:gradFill>
              <a:ln w="28575" cap="flat"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4" name="Rectangle 21">
                <a:extLst>
                  <a:ext uri="{FF2B5EF4-FFF2-40B4-BE49-F238E27FC236}">
                    <a16:creationId xmlns:a16="http://schemas.microsoft.com/office/drawing/2014/main" id="{AAEF738E-945B-DD1A-2558-4440AA0BF185}"/>
                  </a:ext>
                </a:extLst>
              </p:cNvPr>
              <p:cNvSpPr>
                <a:spLocks noChangeArrowheads="1"/>
              </p:cNvSpPr>
              <p:nvPr/>
            </p:nvSpPr>
            <p:spPr bwMode="auto">
              <a:xfrm rot="21600000">
                <a:off x="2597" y="3902"/>
                <a:ext cx="201" cy="144"/>
              </a:xfrm>
              <a:prstGeom prst="rect">
                <a:avLst/>
              </a:prstGeom>
              <a:gradFill rotWithShape="1">
                <a:gsLst>
                  <a:gs pos="0">
                    <a:srgbClr val="FF9933"/>
                  </a:gs>
                  <a:gs pos="50000">
                    <a:srgbClr val="FF9933">
                      <a:gamma/>
                      <a:tint val="36863"/>
                      <a:invGamma/>
                    </a:srgbClr>
                  </a:gs>
                  <a:gs pos="100000">
                    <a:srgbClr val="FF9933"/>
                  </a:gs>
                </a:gsLst>
                <a:lin ang="0" scaled="1"/>
              </a:gradFill>
              <a:ln w="28575">
                <a:solidFill>
                  <a:srgbClr val="FFCC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81" name="Oval 22">
              <a:extLst>
                <a:ext uri="{FF2B5EF4-FFF2-40B4-BE49-F238E27FC236}">
                  <a16:creationId xmlns:a16="http://schemas.microsoft.com/office/drawing/2014/main" id="{EA6F8D1D-4DE5-1D0F-DC57-7BA33D3A4E98}"/>
                </a:ext>
              </a:extLst>
            </p:cNvPr>
            <p:cNvSpPr>
              <a:spLocks noChangeArrowheads="1"/>
            </p:cNvSpPr>
            <p:nvPr/>
          </p:nvSpPr>
          <p:spPr bwMode="auto">
            <a:xfrm>
              <a:off x="360" y="3911"/>
              <a:ext cx="92" cy="92"/>
            </a:xfrm>
            <a:prstGeom prst="ellipse">
              <a:avLst/>
            </a:prstGeom>
            <a:gradFill rotWithShape="0">
              <a:gsLst>
                <a:gs pos="0">
                  <a:schemeClr val="bg1"/>
                </a:gs>
                <a:gs pos="100000">
                  <a:schemeClr val="bg1">
                    <a:gamma/>
                    <a:shade val="41176"/>
                    <a:invGamma/>
                  </a:schemeClr>
                </a:gs>
              </a:gsLst>
              <a:path path="rect">
                <a:fillToRect r="100000" b="100000"/>
              </a:path>
            </a:gradFill>
            <a:ln w="19050"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2" name="Oval 23">
              <a:extLst>
                <a:ext uri="{FF2B5EF4-FFF2-40B4-BE49-F238E27FC236}">
                  <a16:creationId xmlns:a16="http://schemas.microsoft.com/office/drawing/2014/main" id="{B7135AB7-F281-3D94-B895-5328991920E1}"/>
                </a:ext>
              </a:extLst>
            </p:cNvPr>
            <p:cNvSpPr>
              <a:spLocks noChangeArrowheads="1"/>
            </p:cNvSpPr>
            <p:nvPr/>
          </p:nvSpPr>
          <p:spPr bwMode="auto">
            <a:xfrm>
              <a:off x="645" y="3917"/>
              <a:ext cx="92" cy="92"/>
            </a:xfrm>
            <a:prstGeom prst="ellipse">
              <a:avLst/>
            </a:prstGeom>
            <a:gradFill rotWithShape="0">
              <a:gsLst>
                <a:gs pos="0">
                  <a:schemeClr val="bg1"/>
                </a:gs>
                <a:gs pos="100000">
                  <a:schemeClr val="bg1">
                    <a:gamma/>
                    <a:shade val="41176"/>
                    <a:invGamma/>
                  </a:schemeClr>
                </a:gs>
              </a:gsLst>
              <a:path path="rect">
                <a:fillToRect r="100000" b="100000"/>
              </a:path>
            </a:gradFill>
            <a:ln w="19050"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85" name="Text Box 24">
            <a:extLst>
              <a:ext uri="{FF2B5EF4-FFF2-40B4-BE49-F238E27FC236}">
                <a16:creationId xmlns:a16="http://schemas.microsoft.com/office/drawing/2014/main" id="{A1E9BC9A-7CEA-6214-CDB2-A8ED9430CCBD}"/>
              </a:ext>
            </a:extLst>
          </p:cNvPr>
          <p:cNvSpPr txBox="1">
            <a:spLocks noChangeAspect="1" noChangeArrowheads="1"/>
          </p:cNvSpPr>
          <p:nvPr/>
        </p:nvSpPr>
        <p:spPr bwMode="auto">
          <a:xfrm>
            <a:off x="1720156" y="4780161"/>
            <a:ext cx="339725" cy="4556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b="0" i="1" dirty="0">
                <a:ea typeface="宋体" panose="02010600030101010101" pitchFamily="2" charset="-122"/>
              </a:rPr>
              <a:t>C</a:t>
            </a:r>
            <a:endParaRPr lang="en-US" altLang="zh-CN" b="0" baseline="-25000" dirty="0">
              <a:ea typeface="宋体" panose="02010600030101010101" pitchFamily="2" charset="-122"/>
            </a:endParaRPr>
          </a:p>
        </p:txBody>
      </p:sp>
      <p:sp>
        <p:nvSpPr>
          <p:cNvPr id="186" name="Line 25">
            <a:extLst>
              <a:ext uri="{FF2B5EF4-FFF2-40B4-BE49-F238E27FC236}">
                <a16:creationId xmlns:a16="http://schemas.microsoft.com/office/drawing/2014/main" id="{B4101531-565F-F639-4AF0-1BFFE72D5F1E}"/>
              </a:ext>
            </a:extLst>
          </p:cNvPr>
          <p:cNvSpPr>
            <a:spLocks noChangeShapeType="1"/>
          </p:cNvSpPr>
          <p:nvPr/>
        </p:nvSpPr>
        <p:spPr bwMode="auto">
          <a:xfrm flipV="1">
            <a:off x="2047181" y="4738886"/>
            <a:ext cx="0" cy="849313"/>
          </a:xfrm>
          <a:prstGeom prst="line">
            <a:avLst/>
          </a:prstGeom>
          <a:noFill/>
          <a:ln w="952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7" name="Line 26">
            <a:extLst>
              <a:ext uri="{FF2B5EF4-FFF2-40B4-BE49-F238E27FC236}">
                <a16:creationId xmlns:a16="http://schemas.microsoft.com/office/drawing/2014/main" id="{454BDE45-B0AD-4743-CA18-070F694408E4}"/>
              </a:ext>
            </a:extLst>
          </p:cNvPr>
          <p:cNvSpPr>
            <a:spLocks noChangeShapeType="1"/>
          </p:cNvSpPr>
          <p:nvPr/>
        </p:nvSpPr>
        <p:spPr bwMode="auto">
          <a:xfrm>
            <a:off x="2047181" y="5018286"/>
            <a:ext cx="4081463" cy="0"/>
          </a:xfrm>
          <a:prstGeom prst="line">
            <a:avLst/>
          </a:prstGeom>
          <a:noFill/>
          <a:ln w="9525">
            <a:solidFill>
              <a:schemeClr val="tx1"/>
            </a:solidFill>
            <a:round/>
            <a:headEnd type="stealth" w="sm" len="lg"/>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88" name="Group 27">
            <a:extLst>
              <a:ext uri="{FF2B5EF4-FFF2-40B4-BE49-F238E27FC236}">
                <a16:creationId xmlns:a16="http://schemas.microsoft.com/office/drawing/2014/main" id="{BDF77DB0-B8FF-FA3B-35E9-CFBF8EF5CACD}"/>
              </a:ext>
            </a:extLst>
          </p:cNvPr>
          <p:cNvGrpSpPr>
            <a:grpSpLocks/>
          </p:cNvGrpSpPr>
          <p:nvPr/>
        </p:nvGrpSpPr>
        <p:grpSpPr bwMode="auto">
          <a:xfrm>
            <a:off x="5534919" y="2852936"/>
            <a:ext cx="4821237" cy="2787650"/>
            <a:chOff x="2723" y="2292"/>
            <a:chExt cx="3037" cy="1756"/>
          </a:xfrm>
        </p:grpSpPr>
        <p:sp>
          <p:nvSpPr>
            <p:cNvPr id="189" name="Text Box 28">
              <a:extLst>
                <a:ext uri="{FF2B5EF4-FFF2-40B4-BE49-F238E27FC236}">
                  <a16:creationId xmlns:a16="http://schemas.microsoft.com/office/drawing/2014/main" id="{F79801FB-C252-3D5B-84EC-F6370FF13AD0}"/>
                </a:ext>
              </a:extLst>
            </p:cNvPr>
            <p:cNvSpPr txBox="1">
              <a:spLocks noChangeAspect="1" noChangeArrowheads="1"/>
            </p:cNvSpPr>
            <p:nvPr/>
          </p:nvSpPr>
          <p:spPr bwMode="auto">
            <a:xfrm>
              <a:off x="2850" y="3761"/>
              <a:ext cx="214" cy="2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b="0" i="1" dirty="0">
                  <a:ea typeface="宋体" panose="02010600030101010101" pitchFamily="2" charset="-122"/>
                </a:rPr>
                <a:t>B</a:t>
              </a:r>
              <a:endParaRPr lang="en-US" altLang="zh-CN" b="0" baseline="-25000" dirty="0">
                <a:ea typeface="宋体" panose="02010600030101010101" pitchFamily="2" charset="-122"/>
              </a:endParaRPr>
            </a:p>
          </p:txBody>
        </p:sp>
        <p:sp>
          <p:nvSpPr>
            <p:cNvPr id="190" name="Text Box 29">
              <a:extLst>
                <a:ext uri="{FF2B5EF4-FFF2-40B4-BE49-F238E27FC236}">
                  <a16:creationId xmlns:a16="http://schemas.microsoft.com/office/drawing/2014/main" id="{0B2CADC7-4DE9-FB90-6EB7-51BC53D20078}"/>
                </a:ext>
              </a:extLst>
            </p:cNvPr>
            <p:cNvSpPr txBox="1">
              <a:spLocks noChangeAspect="1" noChangeArrowheads="1"/>
            </p:cNvSpPr>
            <p:nvPr/>
          </p:nvSpPr>
          <p:spPr bwMode="auto">
            <a:xfrm>
              <a:off x="4460" y="2578"/>
              <a:ext cx="214" cy="2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b="0" i="1" dirty="0">
                  <a:ea typeface="宋体" panose="02010600030101010101" pitchFamily="2" charset="-122"/>
                </a:rPr>
                <a:t>A</a:t>
              </a:r>
              <a:endParaRPr lang="en-US" altLang="zh-CN" b="0" baseline="-25000" dirty="0">
                <a:ea typeface="宋体" panose="02010600030101010101" pitchFamily="2" charset="-122"/>
              </a:endParaRPr>
            </a:p>
          </p:txBody>
        </p:sp>
        <p:sp>
          <p:nvSpPr>
            <p:cNvPr id="191" name="Line 30">
              <a:extLst>
                <a:ext uri="{FF2B5EF4-FFF2-40B4-BE49-F238E27FC236}">
                  <a16:creationId xmlns:a16="http://schemas.microsoft.com/office/drawing/2014/main" id="{9666870C-4E0A-03D9-30EA-7C69468302A1}"/>
                </a:ext>
              </a:extLst>
            </p:cNvPr>
            <p:cNvSpPr>
              <a:spLocks noChangeShapeType="1"/>
            </p:cNvSpPr>
            <p:nvPr/>
          </p:nvSpPr>
          <p:spPr bwMode="auto">
            <a:xfrm flipV="1">
              <a:off x="4770" y="2455"/>
              <a:ext cx="0" cy="443"/>
            </a:xfrm>
            <a:prstGeom prst="line">
              <a:avLst/>
            </a:prstGeom>
            <a:noFill/>
            <a:ln w="952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92" name="Group 31">
              <a:extLst>
                <a:ext uri="{FF2B5EF4-FFF2-40B4-BE49-F238E27FC236}">
                  <a16:creationId xmlns:a16="http://schemas.microsoft.com/office/drawing/2014/main" id="{1F836CC3-D8CF-FD62-0676-258FBD5FCB74}"/>
                </a:ext>
              </a:extLst>
            </p:cNvPr>
            <p:cNvGrpSpPr>
              <a:grpSpLocks/>
            </p:cNvGrpSpPr>
            <p:nvPr/>
          </p:nvGrpSpPr>
          <p:grpSpPr bwMode="auto">
            <a:xfrm>
              <a:off x="2723" y="2292"/>
              <a:ext cx="3037" cy="1708"/>
              <a:chOff x="2723" y="2292"/>
              <a:chExt cx="3037" cy="1708"/>
            </a:xfrm>
          </p:grpSpPr>
          <p:sp>
            <p:nvSpPr>
              <p:cNvPr id="193" name="Line 32">
                <a:extLst>
                  <a:ext uri="{FF2B5EF4-FFF2-40B4-BE49-F238E27FC236}">
                    <a16:creationId xmlns:a16="http://schemas.microsoft.com/office/drawing/2014/main" id="{2F9CEB8D-2D96-8012-2A3D-67652F1D1F49}"/>
                  </a:ext>
                </a:extLst>
              </p:cNvPr>
              <p:cNvSpPr>
                <a:spLocks noChangeShapeType="1"/>
              </p:cNvSpPr>
              <p:nvPr/>
            </p:nvSpPr>
            <p:spPr bwMode="auto">
              <a:xfrm rot="19800000">
                <a:off x="2723" y="3080"/>
                <a:ext cx="2029" cy="0"/>
              </a:xfrm>
              <a:prstGeom prst="line">
                <a:avLst/>
              </a:prstGeom>
              <a:noFill/>
              <a:ln w="9525">
                <a:solidFill>
                  <a:schemeClr val="tx1"/>
                </a:solidFill>
                <a:round/>
                <a:headEnd type="stealth" w="sm" len="lg"/>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4" name="Line 33">
                <a:extLst>
                  <a:ext uri="{FF2B5EF4-FFF2-40B4-BE49-F238E27FC236}">
                    <a16:creationId xmlns:a16="http://schemas.microsoft.com/office/drawing/2014/main" id="{1CE8C79B-B4DD-4A9B-2279-A1FB0F98339F}"/>
                  </a:ext>
                </a:extLst>
              </p:cNvPr>
              <p:cNvSpPr>
                <a:spLocks noChangeShapeType="1"/>
              </p:cNvSpPr>
              <p:nvPr/>
            </p:nvSpPr>
            <p:spPr bwMode="auto">
              <a:xfrm flipV="1">
                <a:off x="3091" y="2514"/>
                <a:ext cx="0" cy="148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5" name="Line 34">
                <a:extLst>
                  <a:ext uri="{FF2B5EF4-FFF2-40B4-BE49-F238E27FC236}">
                    <a16:creationId xmlns:a16="http://schemas.microsoft.com/office/drawing/2014/main" id="{60EBBCC6-503C-3E11-A7DF-870172E6FEB6}"/>
                  </a:ext>
                </a:extLst>
              </p:cNvPr>
              <p:cNvSpPr>
                <a:spLocks noChangeShapeType="1"/>
              </p:cNvSpPr>
              <p:nvPr/>
            </p:nvSpPr>
            <p:spPr bwMode="auto">
              <a:xfrm>
                <a:off x="2731" y="3372"/>
                <a:ext cx="154" cy="26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6" name="Line 35">
                <a:extLst>
                  <a:ext uri="{FF2B5EF4-FFF2-40B4-BE49-F238E27FC236}">
                    <a16:creationId xmlns:a16="http://schemas.microsoft.com/office/drawing/2014/main" id="{9DD3E2EA-BAD9-B504-18F3-31B82B98AE6E}"/>
                  </a:ext>
                </a:extLst>
              </p:cNvPr>
              <p:cNvSpPr>
                <a:spLocks noChangeShapeType="1"/>
              </p:cNvSpPr>
              <p:nvPr/>
            </p:nvSpPr>
            <p:spPr bwMode="auto">
              <a:xfrm>
                <a:off x="4577" y="2497"/>
                <a:ext cx="154" cy="26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7" name="Line 36">
                <a:extLst>
                  <a:ext uri="{FF2B5EF4-FFF2-40B4-BE49-F238E27FC236}">
                    <a16:creationId xmlns:a16="http://schemas.microsoft.com/office/drawing/2014/main" id="{882E3F26-A1F5-15F8-872A-87A140041B5C}"/>
                  </a:ext>
                </a:extLst>
              </p:cNvPr>
              <p:cNvSpPr>
                <a:spLocks noChangeShapeType="1"/>
              </p:cNvSpPr>
              <p:nvPr/>
            </p:nvSpPr>
            <p:spPr bwMode="auto">
              <a:xfrm>
                <a:off x="3090" y="2549"/>
                <a:ext cx="1686" cy="0"/>
              </a:xfrm>
              <a:prstGeom prst="line">
                <a:avLst/>
              </a:prstGeom>
              <a:noFill/>
              <a:ln w="9525">
                <a:solidFill>
                  <a:schemeClr val="tx1"/>
                </a:solidFill>
                <a:round/>
                <a:headEnd type="stealth" w="sm" len="lg"/>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8" name="Text Box 37">
                <a:extLst>
                  <a:ext uri="{FF2B5EF4-FFF2-40B4-BE49-F238E27FC236}">
                    <a16:creationId xmlns:a16="http://schemas.microsoft.com/office/drawing/2014/main" id="{A1BC28C3-DB56-8455-239E-5B6C18C6127C}"/>
                  </a:ext>
                </a:extLst>
              </p:cNvPr>
              <p:cNvSpPr txBox="1">
                <a:spLocks noChangeAspect="1" noChangeArrowheads="1"/>
              </p:cNvSpPr>
              <p:nvPr/>
            </p:nvSpPr>
            <p:spPr bwMode="auto">
              <a:xfrm rot="21600000">
                <a:off x="3821" y="2292"/>
                <a:ext cx="445" cy="3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n-US" altLang="zh-CN" b="0" i="1" dirty="0">
                    <a:ea typeface="宋体" panose="02010600030101010101" pitchFamily="2" charset="-122"/>
                  </a:rPr>
                  <a:t>s</a:t>
                </a:r>
                <a:r>
                  <a:rPr lang="en-US" altLang="zh-CN" b="0" i="1" dirty="0">
                    <a:ea typeface="宋体" panose="02010600030101010101" pitchFamily="2" charset="-122"/>
                    <a:cs typeface="Times New Roman" panose="02020603050405020304" pitchFamily="18" charset="0"/>
                  </a:rPr>
                  <a:t>'</a:t>
                </a:r>
                <a:endParaRPr lang="en-US" altLang="zh-CN" b="0" i="1" baseline="-25000" dirty="0">
                  <a:ea typeface="宋体" panose="02010600030101010101" pitchFamily="2" charset="-122"/>
                  <a:cs typeface="Times New Roman" panose="02020603050405020304" pitchFamily="18" charset="0"/>
                </a:endParaRPr>
              </a:p>
            </p:txBody>
          </p:sp>
          <p:sp>
            <p:nvSpPr>
              <p:cNvPr id="199" name="Text Box 38">
                <a:extLst>
                  <a:ext uri="{FF2B5EF4-FFF2-40B4-BE49-F238E27FC236}">
                    <a16:creationId xmlns:a16="http://schemas.microsoft.com/office/drawing/2014/main" id="{4F633521-2044-ADD3-D7DB-D93E4BEF7FA5}"/>
                  </a:ext>
                </a:extLst>
              </p:cNvPr>
              <p:cNvSpPr txBox="1">
                <a:spLocks noChangeAspect="1" noChangeArrowheads="1"/>
              </p:cNvSpPr>
              <p:nvPr/>
            </p:nvSpPr>
            <p:spPr bwMode="auto">
              <a:xfrm rot="16200000">
                <a:off x="5298" y="3193"/>
                <a:ext cx="445" cy="3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n-US" altLang="zh-CN" b="0" i="1" dirty="0">
                    <a:ea typeface="宋体" panose="02010600030101010101" pitchFamily="2" charset="-122"/>
                  </a:rPr>
                  <a:t>h</a:t>
                </a:r>
                <a:endParaRPr lang="en-US" altLang="zh-CN" b="0" i="1" baseline="-25000" dirty="0">
                  <a:ea typeface="宋体" panose="02010600030101010101" pitchFamily="2" charset="-122"/>
                </a:endParaRPr>
              </a:p>
            </p:txBody>
          </p:sp>
          <p:sp>
            <p:nvSpPr>
              <p:cNvPr id="200" name="Text Box 39">
                <a:extLst>
                  <a:ext uri="{FF2B5EF4-FFF2-40B4-BE49-F238E27FC236}">
                    <a16:creationId xmlns:a16="http://schemas.microsoft.com/office/drawing/2014/main" id="{52995A6F-3C4D-6DC1-22F9-2E4A9FE4DABC}"/>
                  </a:ext>
                </a:extLst>
              </p:cNvPr>
              <p:cNvSpPr txBox="1">
                <a:spLocks noChangeAspect="1" noChangeArrowheads="1"/>
              </p:cNvSpPr>
              <p:nvPr/>
            </p:nvSpPr>
            <p:spPr bwMode="auto">
              <a:xfrm rot="19749218">
                <a:off x="3603" y="2752"/>
                <a:ext cx="445" cy="3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n-US" altLang="zh-CN" b="0" i="1" dirty="0">
                    <a:ea typeface="宋体" panose="02010600030101010101" pitchFamily="2" charset="-122"/>
                  </a:rPr>
                  <a:t>l</a:t>
                </a:r>
                <a:endParaRPr lang="en-US" altLang="zh-CN" b="0" i="1" baseline="-25000" dirty="0">
                  <a:ea typeface="宋体" panose="02010600030101010101" pitchFamily="2" charset="-122"/>
                </a:endParaRPr>
              </a:p>
            </p:txBody>
          </p:sp>
          <p:sp>
            <p:nvSpPr>
              <p:cNvPr id="201" name="Line 40">
                <a:extLst>
                  <a:ext uri="{FF2B5EF4-FFF2-40B4-BE49-F238E27FC236}">
                    <a16:creationId xmlns:a16="http://schemas.microsoft.com/office/drawing/2014/main" id="{FE77F899-470E-6A61-2D06-CD8C224D28E4}"/>
                  </a:ext>
                </a:extLst>
              </p:cNvPr>
              <p:cNvSpPr>
                <a:spLocks noChangeShapeType="1"/>
              </p:cNvSpPr>
              <p:nvPr/>
            </p:nvSpPr>
            <p:spPr bwMode="auto">
              <a:xfrm>
                <a:off x="5259" y="3798"/>
                <a:ext cx="501"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2" name="Line 41">
                <a:extLst>
                  <a:ext uri="{FF2B5EF4-FFF2-40B4-BE49-F238E27FC236}">
                    <a16:creationId xmlns:a16="http://schemas.microsoft.com/office/drawing/2014/main" id="{726EC3F2-1361-1F67-036C-4001C67279B6}"/>
                  </a:ext>
                </a:extLst>
              </p:cNvPr>
              <p:cNvSpPr>
                <a:spLocks noChangeShapeType="1"/>
              </p:cNvSpPr>
              <p:nvPr/>
            </p:nvSpPr>
            <p:spPr bwMode="auto">
              <a:xfrm>
                <a:off x="5259" y="2814"/>
                <a:ext cx="501"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3" name="Line 42">
                <a:extLst>
                  <a:ext uri="{FF2B5EF4-FFF2-40B4-BE49-F238E27FC236}">
                    <a16:creationId xmlns:a16="http://schemas.microsoft.com/office/drawing/2014/main" id="{D385A0B9-4552-D5F1-7C1E-AEC28874A2F2}"/>
                  </a:ext>
                </a:extLst>
              </p:cNvPr>
              <p:cNvSpPr>
                <a:spLocks noChangeShapeType="1"/>
              </p:cNvSpPr>
              <p:nvPr/>
            </p:nvSpPr>
            <p:spPr bwMode="auto">
              <a:xfrm flipV="1">
                <a:off x="5626" y="2805"/>
                <a:ext cx="0" cy="1010"/>
              </a:xfrm>
              <a:prstGeom prst="line">
                <a:avLst/>
              </a:prstGeom>
              <a:noFill/>
              <a:ln w="9525">
                <a:solidFill>
                  <a:schemeClr val="tx1"/>
                </a:solidFill>
                <a:round/>
                <a:headEnd type="stealth" w="sm" len="lg"/>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sp>
        <p:nvSpPr>
          <p:cNvPr id="204" name="Line 43">
            <a:extLst>
              <a:ext uri="{FF2B5EF4-FFF2-40B4-BE49-F238E27FC236}">
                <a16:creationId xmlns:a16="http://schemas.microsoft.com/office/drawing/2014/main" id="{40C539BC-CC81-31C1-10A4-22D6BECB8C28}"/>
              </a:ext>
            </a:extLst>
          </p:cNvPr>
          <p:cNvSpPr>
            <a:spLocks noChangeShapeType="1"/>
          </p:cNvSpPr>
          <p:nvPr/>
        </p:nvSpPr>
        <p:spPr bwMode="auto">
          <a:xfrm>
            <a:off x="8782944" y="3110111"/>
            <a:ext cx="0" cy="582613"/>
          </a:xfrm>
          <a:prstGeom prst="line">
            <a:avLst/>
          </a:prstGeom>
          <a:noFill/>
          <a:ln w="28575">
            <a:solidFill>
              <a:srgbClr val="FF0000"/>
            </a:solidFill>
            <a:round/>
            <a:headEnd type="none" w="sm"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05" name="Text Box 44">
            <a:extLst>
              <a:ext uri="{FF2B5EF4-FFF2-40B4-BE49-F238E27FC236}">
                <a16:creationId xmlns:a16="http://schemas.microsoft.com/office/drawing/2014/main" id="{D57BC523-8027-BF98-9512-9ED083E0607C}"/>
              </a:ext>
            </a:extLst>
          </p:cNvPr>
          <p:cNvSpPr txBox="1">
            <a:spLocks noChangeAspect="1" noChangeArrowheads="1"/>
          </p:cNvSpPr>
          <p:nvPr/>
        </p:nvSpPr>
        <p:spPr bwMode="auto">
          <a:xfrm>
            <a:off x="8701930" y="2906911"/>
            <a:ext cx="706438" cy="488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n-US" altLang="zh-CN" b="1" i="1" dirty="0">
                <a:solidFill>
                  <a:srgbClr val="FF0000"/>
                </a:solidFill>
                <a:ea typeface="宋体" panose="02010600030101010101" pitchFamily="2" charset="-122"/>
              </a:rPr>
              <a:t>W</a:t>
            </a:r>
            <a:endParaRPr lang="en-US" altLang="zh-CN" b="1" i="1" baseline="-25000" dirty="0">
              <a:solidFill>
                <a:srgbClr val="FF0000"/>
              </a:solidFill>
              <a:ea typeface="宋体" panose="02010600030101010101" pitchFamily="2" charset="-122"/>
            </a:endParaRPr>
          </a:p>
        </p:txBody>
      </p:sp>
      <p:sp>
        <p:nvSpPr>
          <p:cNvPr id="206" name="Line 45">
            <a:extLst>
              <a:ext uri="{FF2B5EF4-FFF2-40B4-BE49-F238E27FC236}">
                <a16:creationId xmlns:a16="http://schemas.microsoft.com/office/drawing/2014/main" id="{91F33FDB-BAD8-8F18-0C6C-E36B788E23A7}"/>
              </a:ext>
            </a:extLst>
          </p:cNvPr>
          <p:cNvSpPr>
            <a:spLocks noChangeShapeType="1"/>
          </p:cNvSpPr>
          <p:nvPr/>
        </p:nvSpPr>
        <p:spPr bwMode="auto">
          <a:xfrm rot="19800000" flipV="1">
            <a:off x="9063931" y="3911799"/>
            <a:ext cx="0" cy="582612"/>
          </a:xfrm>
          <a:prstGeom prst="line">
            <a:avLst/>
          </a:prstGeom>
          <a:noFill/>
          <a:ln w="28575">
            <a:solidFill>
              <a:srgbClr val="FF0000"/>
            </a:solidFill>
            <a:round/>
            <a:headEnd type="none" w="sm"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07" name="Text Box 46">
            <a:extLst>
              <a:ext uri="{FF2B5EF4-FFF2-40B4-BE49-F238E27FC236}">
                <a16:creationId xmlns:a16="http://schemas.microsoft.com/office/drawing/2014/main" id="{8B704F22-89FD-5001-23F6-DE7060F26AD7}"/>
              </a:ext>
            </a:extLst>
          </p:cNvPr>
          <p:cNvSpPr txBox="1">
            <a:spLocks noChangeAspect="1" noChangeArrowheads="1"/>
          </p:cNvSpPr>
          <p:nvPr/>
        </p:nvSpPr>
        <p:spPr bwMode="auto">
          <a:xfrm>
            <a:off x="9133979" y="4084836"/>
            <a:ext cx="706437" cy="488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n-US" altLang="zh-CN" b="1" i="1" dirty="0">
                <a:solidFill>
                  <a:srgbClr val="FF0000"/>
                </a:solidFill>
                <a:ea typeface="宋体" panose="02010600030101010101" pitchFamily="2" charset="-122"/>
              </a:rPr>
              <a:t>F</a:t>
            </a:r>
            <a:r>
              <a:rPr lang="en-US" altLang="zh-CN" b="0" i="0" baseline="-25000" dirty="0">
                <a:solidFill>
                  <a:srgbClr val="FF0000"/>
                </a:solidFill>
                <a:ea typeface="宋体" panose="02010600030101010101" pitchFamily="2" charset="-122"/>
              </a:rPr>
              <a:t>N</a:t>
            </a:r>
          </a:p>
        </p:txBody>
      </p:sp>
      <p:sp>
        <p:nvSpPr>
          <p:cNvPr id="208" name="Oval 47">
            <a:extLst>
              <a:ext uri="{FF2B5EF4-FFF2-40B4-BE49-F238E27FC236}">
                <a16:creationId xmlns:a16="http://schemas.microsoft.com/office/drawing/2014/main" id="{025D58D0-7DD8-55BC-6E90-9DD07391E3FB}"/>
              </a:ext>
            </a:extLst>
          </p:cNvPr>
          <p:cNvSpPr>
            <a:spLocks noChangeArrowheads="1"/>
          </p:cNvSpPr>
          <p:nvPr/>
        </p:nvSpPr>
        <p:spPr bwMode="auto">
          <a:xfrm>
            <a:off x="8995669" y="3687961"/>
            <a:ext cx="146050" cy="146050"/>
          </a:xfrm>
          <a:prstGeom prst="ellipse">
            <a:avLst/>
          </a:prstGeom>
          <a:gradFill rotWithShape="0">
            <a:gsLst>
              <a:gs pos="0">
                <a:schemeClr val="bg1"/>
              </a:gs>
              <a:gs pos="100000">
                <a:schemeClr val="bg1">
                  <a:gamma/>
                  <a:shade val="41176"/>
                  <a:invGamma/>
                </a:schemeClr>
              </a:gs>
            </a:gsLst>
            <a:path path="rect">
              <a:fillToRect r="100000" b="100000"/>
            </a:path>
          </a:gradFill>
          <a:ln w="19050"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9" name="Oval 48">
            <a:extLst>
              <a:ext uri="{FF2B5EF4-FFF2-40B4-BE49-F238E27FC236}">
                <a16:creationId xmlns:a16="http://schemas.microsoft.com/office/drawing/2014/main" id="{BEBF44B4-CC12-6EC2-2C5A-9D6308F232E8}"/>
              </a:ext>
            </a:extLst>
          </p:cNvPr>
          <p:cNvSpPr>
            <a:spLocks noChangeArrowheads="1"/>
          </p:cNvSpPr>
          <p:nvPr/>
        </p:nvSpPr>
        <p:spPr bwMode="auto">
          <a:xfrm>
            <a:off x="8640069" y="3899099"/>
            <a:ext cx="146050" cy="146050"/>
          </a:xfrm>
          <a:prstGeom prst="ellipse">
            <a:avLst/>
          </a:prstGeom>
          <a:gradFill rotWithShape="0">
            <a:gsLst>
              <a:gs pos="0">
                <a:schemeClr val="bg1"/>
              </a:gs>
              <a:gs pos="100000">
                <a:schemeClr val="bg1">
                  <a:gamma/>
                  <a:shade val="41176"/>
                  <a:invGamma/>
                </a:schemeClr>
              </a:gs>
            </a:gsLst>
            <a:path path="rect">
              <a:fillToRect r="100000" b="100000"/>
            </a:path>
          </a:gradFill>
          <a:ln w="19050"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0" name="Line 49">
            <a:extLst>
              <a:ext uri="{FF2B5EF4-FFF2-40B4-BE49-F238E27FC236}">
                <a16:creationId xmlns:a16="http://schemas.microsoft.com/office/drawing/2014/main" id="{42925F3F-9753-8A8B-BC98-B2AECFF679C9}"/>
              </a:ext>
            </a:extLst>
          </p:cNvPr>
          <p:cNvSpPr>
            <a:spLocks noChangeAspect="1" noChangeShapeType="1"/>
          </p:cNvSpPr>
          <p:nvPr/>
        </p:nvSpPr>
        <p:spPr bwMode="auto">
          <a:xfrm rot="19800000">
            <a:off x="8136831" y="4188024"/>
            <a:ext cx="609600" cy="1587"/>
          </a:xfrm>
          <a:prstGeom prst="line">
            <a:avLst/>
          </a:prstGeom>
          <a:noFill/>
          <a:ln w="28575">
            <a:solidFill>
              <a:srgbClr val="FF0000"/>
            </a:solidFill>
            <a:round/>
            <a:headEnd type="none" w="sm"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11" name="Text Box 50">
            <a:extLst>
              <a:ext uri="{FF2B5EF4-FFF2-40B4-BE49-F238E27FC236}">
                <a16:creationId xmlns:a16="http://schemas.microsoft.com/office/drawing/2014/main" id="{8148289D-0F16-96A7-0A01-5D00188FB044}"/>
              </a:ext>
            </a:extLst>
          </p:cNvPr>
          <p:cNvSpPr txBox="1">
            <a:spLocks noChangeAspect="1" noChangeArrowheads="1"/>
          </p:cNvSpPr>
          <p:nvPr/>
        </p:nvSpPr>
        <p:spPr bwMode="auto">
          <a:xfrm>
            <a:off x="7900294" y="3832424"/>
            <a:ext cx="585787" cy="488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n-US" altLang="zh-CN" b="1" i="1">
                <a:solidFill>
                  <a:srgbClr val="FF0000"/>
                </a:solidFill>
                <a:ea typeface="宋体" panose="02010600030101010101" pitchFamily="2" charset="-122"/>
              </a:rPr>
              <a:t>F</a:t>
            </a:r>
            <a:endParaRPr lang="en-US" altLang="zh-CN" baseline="-25000">
              <a:solidFill>
                <a:srgbClr val="FF0000"/>
              </a:solidFill>
              <a:ea typeface="宋体" panose="02010600030101010101" pitchFamily="2" charset="-122"/>
            </a:endParaRPr>
          </a:p>
        </p:txBody>
      </p:sp>
      <p:grpSp>
        <p:nvGrpSpPr>
          <p:cNvPr id="212" name="Group 51">
            <a:extLst>
              <a:ext uri="{FF2B5EF4-FFF2-40B4-BE49-F238E27FC236}">
                <a16:creationId xmlns:a16="http://schemas.microsoft.com/office/drawing/2014/main" id="{C791C018-3C51-7AA1-D2E1-76294B63B9F8}"/>
              </a:ext>
            </a:extLst>
          </p:cNvPr>
          <p:cNvGrpSpPr>
            <a:grpSpLocks/>
          </p:cNvGrpSpPr>
          <p:nvPr/>
        </p:nvGrpSpPr>
        <p:grpSpPr bwMode="auto">
          <a:xfrm>
            <a:off x="3187006" y="5143699"/>
            <a:ext cx="757238" cy="422275"/>
            <a:chOff x="1244" y="3735"/>
            <a:chExt cx="477" cy="266"/>
          </a:xfrm>
        </p:grpSpPr>
        <p:grpSp>
          <p:nvGrpSpPr>
            <p:cNvPr id="213" name="Group 52">
              <a:extLst>
                <a:ext uri="{FF2B5EF4-FFF2-40B4-BE49-F238E27FC236}">
                  <a16:creationId xmlns:a16="http://schemas.microsoft.com/office/drawing/2014/main" id="{5730FA69-74FC-276D-B20E-E90C4BE72F79}"/>
                </a:ext>
              </a:extLst>
            </p:cNvPr>
            <p:cNvGrpSpPr>
              <a:grpSpLocks/>
            </p:cNvGrpSpPr>
            <p:nvPr/>
          </p:nvGrpSpPr>
          <p:grpSpPr bwMode="auto">
            <a:xfrm>
              <a:off x="1244" y="3735"/>
              <a:ext cx="477" cy="207"/>
              <a:chOff x="2456" y="3902"/>
              <a:chExt cx="477" cy="207"/>
            </a:xfrm>
          </p:grpSpPr>
          <p:sp>
            <p:nvSpPr>
              <p:cNvPr id="216" name="Freeform 53">
                <a:extLst>
                  <a:ext uri="{FF2B5EF4-FFF2-40B4-BE49-F238E27FC236}">
                    <a16:creationId xmlns:a16="http://schemas.microsoft.com/office/drawing/2014/main" id="{4DA68AEB-1C44-ECAF-6E05-8E89B717F525}"/>
                  </a:ext>
                </a:extLst>
              </p:cNvPr>
              <p:cNvSpPr>
                <a:spLocks/>
              </p:cNvSpPr>
              <p:nvPr/>
            </p:nvSpPr>
            <p:spPr bwMode="auto">
              <a:xfrm>
                <a:off x="2456" y="3926"/>
                <a:ext cx="477" cy="183"/>
              </a:xfrm>
              <a:custGeom>
                <a:avLst/>
                <a:gdLst>
                  <a:gd name="T0" fmla="*/ 0 w 477"/>
                  <a:gd name="T1" fmla="*/ 0 h 183"/>
                  <a:gd name="T2" fmla="*/ 66 w 477"/>
                  <a:gd name="T3" fmla="*/ 0 h 183"/>
                  <a:gd name="T4" fmla="*/ 66 w 477"/>
                  <a:gd name="T5" fmla="*/ 129 h 183"/>
                  <a:gd name="T6" fmla="*/ 411 w 477"/>
                  <a:gd name="T7" fmla="*/ 129 h 183"/>
                  <a:gd name="T8" fmla="*/ 411 w 477"/>
                  <a:gd name="T9" fmla="*/ 3 h 183"/>
                  <a:gd name="T10" fmla="*/ 477 w 477"/>
                  <a:gd name="T11" fmla="*/ 3 h 183"/>
                  <a:gd name="T12" fmla="*/ 477 w 477"/>
                  <a:gd name="T13" fmla="*/ 183 h 183"/>
                  <a:gd name="T14" fmla="*/ 0 w 477"/>
                  <a:gd name="T15" fmla="*/ 183 h 183"/>
                  <a:gd name="T16" fmla="*/ 0 w 477"/>
                  <a:gd name="T17" fmla="*/ 132 h 183"/>
                  <a:gd name="T18" fmla="*/ 0 w 477"/>
                  <a:gd name="T19" fmla="*/ 0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77" h="183">
                    <a:moveTo>
                      <a:pt x="0" y="0"/>
                    </a:moveTo>
                    <a:lnTo>
                      <a:pt x="66" y="0"/>
                    </a:lnTo>
                    <a:lnTo>
                      <a:pt x="66" y="129"/>
                    </a:lnTo>
                    <a:lnTo>
                      <a:pt x="411" y="129"/>
                    </a:lnTo>
                    <a:lnTo>
                      <a:pt x="411" y="3"/>
                    </a:lnTo>
                    <a:lnTo>
                      <a:pt x="477" y="3"/>
                    </a:lnTo>
                    <a:lnTo>
                      <a:pt x="477" y="183"/>
                    </a:lnTo>
                    <a:lnTo>
                      <a:pt x="0" y="183"/>
                    </a:lnTo>
                    <a:lnTo>
                      <a:pt x="0" y="132"/>
                    </a:lnTo>
                    <a:lnTo>
                      <a:pt x="0" y="0"/>
                    </a:lnTo>
                    <a:close/>
                  </a:path>
                </a:pathLst>
              </a:custGeom>
              <a:gradFill rotWithShape="1">
                <a:gsLst>
                  <a:gs pos="0">
                    <a:schemeClr val="bg1">
                      <a:gamma/>
                      <a:shade val="46275"/>
                      <a:invGamma/>
                    </a:schemeClr>
                  </a:gs>
                  <a:gs pos="50000">
                    <a:schemeClr val="bg1"/>
                  </a:gs>
                  <a:gs pos="100000">
                    <a:schemeClr val="bg1">
                      <a:gamma/>
                      <a:shade val="46275"/>
                      <a:invGamma/>
                    </a:schemeClr>
                  </a:gs>
                </a:gsLst>
                <a:lin ang="0" scaled="1"/>
              </a:gradFill>
              <a:ln w="28575" cap="flat"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7" name="Rectangle 54">
                <a:extLst>
                  <a:ext uri="{FF2B5EF4-FFF2-40B4-BE49-F238E27FC236}">
                    <a16:creationId xmlns:a16="http://schemas.microsoft.com/office/drawing/2014/main" id="{F01944A2-DFB2-2A95-F1B7-B807BB3EDEA0}"/>
                  </a:ext>
                </a:extLst>
              </p:cNvPr>
              <p:cNvSpPr>
                <a:spLocks noChangeArrowheads="1"/>
              </p:cNvSpPr>
              <p:nvPr/>
            </p:nvSpPr>
            <p:spPr bwMode="auto">
              <a:xfrm rot="21600000">
                <a:off x="2597" y="3902"/>
                <a:ext cx="201" cy="144"/>
              </a:xfrm>
              <a:prstGeom prst="rect">
                <a:avLst/>
              </a:prstGeom>
              <a:gradFill rotWithShape="1">
                <a:gsLst>
                  <a:gs pos="0">
                    <a:srgbClr val="FF9933"/>
                  </a:gs>
                  <a:gs pos="50000">
                    <a:srgbClr val="FF9933">
                      <a:gamma/>
                      <a:tint val="36863"/>
                      <a:invGamma/>
                    </a:srgbClr>
                  </a:gs>
                  <a:gs pos="100000">
                    <a:srgbClr val="FF9933"/>
                  </a:gs>
                </a:gsLst>
                <a:lin ang="0" scaled="1"/>
              </a:gradFill>
              <a:ln w="28575">
                <a:solidFill>
                  <a:srgbClr val="FFCC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14" name="Oval 55">
              <a:extLst>
                <a:ext uri="{FF2B5EF4-FFF2-40B4-BE49-F238E27FC236}">
                  <a16:creationId xmlns:a16="http://schemas.microsoft.com/office/drawing/2014/main" id="{D67E3B4F-5D83-9AAB-1E8D-F8691C3ECE5F}"/>
                </a:ext>
              </a:extLst>
            </p:cNvPr>
            <p:cNvSpPr>
              <a:spLocks noChangeArrowheads="1"/>
            </p:cNvSpPr>
            <p:nvPr/>
          </p:nvSpPr>
          <p:spPr bwMode="auto">
            <a:xfrm>
              <a:off x="1310" y="3903"/>
              <a:ext cx="92" cy="92"/>
            </a:xfrm>
            <a:prstGeom prst="ellipse">
              <a:avLst/>
            </a:prstGeom>
            <a:gradFill rotWithShape="0">
              <a:gsLst>
                <a:gs pos="0">
                  <a:schemeClr val="bg1"/>
                </a:gs>
                <a:gs pos="100000">
                  <a:schemeClr val="bg1">
                    <a:gamma/>
                    <a:shade val="41176"/>
                    <a:invGamma/>
                  </a:schemeClr>
                </a:gs>
              </a:gsLst>
              <a:path path="rect">
                <a:fillToRect r="100000" b="100000"/>
              </a:path>
            </a:gradFill>
            <a:ln w="19050"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 name="Oval 56">
              <a:extLst>
                <a:ext uri="{FF2B5EF4-FFF2-40B4-BE49-F238E27FC236}">
                  <a16:creationId xmlns:a16="http://schemas.microsoft.com/office/drawing/2014/main" id="{2E4C32BB-671B-3A30-2FC4-236F5D7BE83D}"/>
                </a:ext>
              </a:extLst>
            </p:cNvPr>
            <p:cNvSpPr>
              <a:spLocks noChangeArrowheads="1"/>
            </p:cNvSpPr>
            <p:nvPr/>
          </p:nvSpPr>
          <p:spPr bwMode="auto">
            <a:xfrm>
              <a:off x="1595" y="3909"/>
              <a:ext cx="92" cy="92"/>
            </a:xfrm>
            <a:prstGeom prst="ellipse">
              <a:avLst/>
            </a:prstGeom>
            <a:gradFill rotWithShape="0">
              <a:gsLst>
                <a:gs pos="0">
                  <a:schemeClr val="bg1"/>
                </a:gs>
                <a:gs pos="100000">
                  <a:schemeClr val="bg1">
                    <a:gamma/>
                    <a:shade val="41176"/>
                    <a:invGamma/>
                  </a:schemeClr>
                </a:gs>
              </a:gsLst>
              <a:path path="rect">
                <a:fillToRect r="100000" b="100000"/>
              </a:path>
            </a:gradFill>
            <a:ln w="19050"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18" name="Line 57">
            <a:extLst>
              <a:ext uri="{FF2B5EF4-FFF2-40B4-BE49-F238E27FC236}">
                <a16:creationId xmlns:a16="http://schemas.microsoft.com/office/drawing/2014/main" id="{6E0EF5C8-3F34-6620-DEB3-E1C58B9CFBC3}"/>
              </a:ext>
            </a:extLst>
          </p:cNvPr>
          <p:cNvSpPr>
            <a:spLocks noChangeShapeType="1"/>
          </p:cNvSpPr>
          <p:nvPr/>
        </p:nvSpPr>
        <p:spPr bwMode="auto">
          <a:xfrm>
            <a:off x="3560069" y="4665861"/>
            <a:ext cx="0" cy="582613"/>
          </a:xfrm>
          <a:prstGeom prst="line">
            <a:avLst/>
          </a:prstGeom>
          <a:noFill/>
          <a:ln w="28575">
            <a:solidFill>
              <a:srgbClr val="FF0000"/>
            </a:solidFill>
            <a:round/>
            <a:headEnd type="none" w="sm"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19" name="Text Box 58">
            <a:extLst>
              <a:ext uri="{FF2B5EF4-FFF2-40B4-BE49-F238E27FC236}">
                <a16:creationId xmlns:a16="http://schemas.microsoft.com/office/drawing/2014/main" id="{5EC8A9B0-01BA-ED4B-B43B-D6F1094FAFD6}"/>
              </a:ext>
            </a:extLst>
          </p:cNvPr>
          <p:cNvSpPr txBox="1">
            <a:spLocks noChangeAspect="1" noChangeArrowheads="1"/>
          </p:cNvSpPr>
          <p:nvPr/>
        </p:nvSpPr>
        <p:spPr bwMode="auto">
          <a:xfrm>
            <a:off x="3488655" y="4481711"/>
            <a:ext cx="519113"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n-US" altLang="zh-CN" b="1" i="1" dirty="0">
                <a:solidFill>
                  <a:srgbClr val="FF0000"/>
                </a:solidFill>
                <a:ea typeface="宋体" panose="02010600030101010101" pitchFamily="2" charset="-122"/>
              </a:rPr>
              <a:t>W</a:t>
            </a:r>
            <a:endParaRPr lang="en-US" altLang="zh-CN" b="1" i="1" baseline="-25000" dirty="0">
              <a:solidFill>
                <a:srgbClr val="FF0000"/>
              </a:solidFill>
              <a:ea typeface="宋体" panose="02010600030101010101" pitchFamily="2" charset="-122"/>
            </a:endParaRPr>
          </a:p>
        </p:txBody>
      </p:sp>
      <p:sp>
        <p:nvSpPr>
          <p:cNvPr id="220" name="Line 59">
            <a:extLst>
              <a:ext uri="{FF2B5EF4-FFF2-40B4-BE49-F238E27FC236}">
                <a16:creationId xmlns:a16="http://schemas.microsoft.com/office/drawing/2014/main" id="{737AA539-D71F-1669-FCAD-682288ADC2A9}"/>
              </a:ext>
            </a:extLst>
          </p:cNvPr>
          <p:cNvSpPr>
            <a:spLocks noChangeShapeType="1"/>
          </p:cNvSpPr>
          <p:nvPr/>
        </p:nvSpPr>
        <p:spPr bwMode="auto">
          <a:xfrm flipV="1">
            <a:off x="3521969" y="5553274"/>
            <a:ext cx="0" cy="582612"/>
          </a:xfrm>
          <a:prstGeom prst="line">
            <a:avLst/>
          </a:prstGeom>
          <a:noFill/>
          <a:ln w="28575">
            <a:solidFill>
              <a:srgbClr val="FF0000"/>
            </a:solidFill>
            <a:round/>
            <a:headEnd type="none" w="sm"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21" name="Text Box 60">
            <a:extLst>
              <a:ext uri="{FF2B5EF4-FFF2-40B4-BE49-F238E27FC236}">
                <a16:creationId xmlns:a16="http://schemas.microsoft.com/office/drawing/2014/main" id="{E582B5F9-D38F-8917-67C0-A49DDA1A83A9}"/>
              </a:ext>
            </a:extLst>
          </p:cNvPr>
          <p:cNvSpPr txBox="1">
            <a:spLocks noChangeAspect="1" noChangeArrowheads="1"/>
          </p:cNvSpPr>
          <p:nvPr/>
        </p:nvSpPr>
        <p:spPr bwMode="auto">
          <a:xfrm>
            <a:off x="3517354" y="5676354"/>
            <a:ext cx="706438" cy="488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n-US" altLang="zh-CN" b="1" i="1" dirty="0">
                <a:solidFill>
                  <a:srgbClr val="FF0000"/>
                </a:solidFill>
                <a:ea typeface="宋体" panose="02010600030101010101" pitchFamily="2" charset="-122"/>
              </a:rPr>
              <a:t>F</a:t>
            </a:r>
            <a:r>
              <a:rPr lang="en-US" altLang="zh-CN" b="0" i="0" baseline="-25000" dirty="0">
                <a:solidFill>
                  <a:srgbClr val="FF0000"/>
                </a:solidFill>
                <a:ea typeface="宋体" panose="02010600030101010101" pitchFamily="2" charset="-122"/>
              </a:rPr>
              <a:t>N</a:t>
            </a:r>
          </a:p>
        </p:txBody>
      </p:sp>
      <p:sp>
        <p:nvSpPr>
          <p:cNvPr id="222" name="Line 61">
            <a:extLst>
              <a:ext uri="{FF2B5EF4-FFF2-40B4-BE49-F238E27FC236}">
                <a16:creationId xmlns:a16="http://schemas.microsoft.com/office/drawing/2014/main" id="{9A1CF0A6-135A-BEA8-E812-4E1FA8E4DF0C}"/>
              </a:ext>
            </a:extLst>
          </p:cNvPr>
          <p:cNvSpPr>
            <a:spLocks noChangeAspect="1" noChangeShapeType="1"/>
          </p:cNvSpPr>
          <p:nvPr/>
        </p:nvSpPr>
        <p:spPr bwMode="auto">
          <a:xfrm>
            <a:off x="3574356" y="5573911"/>
            <a:ext cx="609600" cy="1588"/>
          </a:xfrm>
          <a:prstGeom prst="line">
            <a:avLst/>
          </a:prstGeom>
          <a:noFill/>
          <a:ln w="28575">
            <a:solidFill>
              <a:srgbClr val="FF0000"/>
            </a:solidFill>
            <a:round/>
            <a:headEnd type="none" w="sm"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23" name="Text Box 62">
            <a:extLst>
              <a:ext uri="{FF2B5EF4-FFF2-40B4-BE49-F238E27FC236}">
                <a16:creationId xmlns:a16="http://schemas.microsoft.com/office/drawing/2014/main" id="{11BE8E6E-8D0D-0592-6CB7-8ECFA38B8246}"/>
              </a:ext>
            </a:extLst>
          </p:cNvPr>
          <p:cNvSpPr txBox="1">
            <a:spLocks noChangeAspect="1" noChangeArrowheads="1"/>
          </p:cNvSpPr>
          <p:nvPr/>
        </p:nvSpPr>
        <p:spPr bwMode="auto">
          <a:xfrm>
            <a:off x="3906144" y="5110361"/>
            <a:ext cx="585787" cy="488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n-US" altLang="zh-CN" b="1" i="1" dirty="0">
                <a:solidFill>
                  <a:srgbClr val="FF0000"/>
                </a:solidFill>
                <a:ea typeface="宋体" panose="02010600030101010101" pitchFamily="2" charset="-122"/>
              </a:rPr>
              <a:t>F</a:t>
            </a:r>
            <a:endParaRPr lang="en-US" altLang="zh-CN" baseline="-25000" dirty="0">
              <a:solidFill>
                <a:srgbClr val="FF0000"/>
              </a:solidFill>
              <a:ea typeface="宋体" panose="02010600030101010101" pitchFamily="2" charset="-122"/>
            </a:endParaRPr>
          </a:p>
        </p:txBody>
      </p:sp>
      <p:sp>
        <p:nvSpPr>
          <p:cNvPr id="224" name="Line 63">
            <a:extLst>
              <a:ext uri="{FF2B5EF4-FFF2-40B4-BE49-F238E27FC236}">
                <a16:creationId xmlns:a16="http://schemas.microsoft.com/office/drawing/2014/main" id="{A77A8073-2CC7-B42C-DC03-43A06CE91363}"/>
              </a:ext>
            </a:extLst>
          </p:cNvPr>
          <p:cNvSpPr>
            <a:spLocks noChangeShapeType="1"/>
          </p:cNvSpPr>
          <p:nvPr/>
        </p:nvSpPr>
        <p:spPr bwMode="auto">
          <a:xfrm>
            <a:off x="2045594" y="4686499"/>
            <a:ext cx="0" cy="582612"/>
          </a:xfrm>
          <a:prstGeom prst="line">
            <a:avLst/>
          </a:prstGeom>
          <a:noFill/>
          <a:ln w="28575">
            <a:solidFill>
              <a:srgbClr val="FF0000"/>
            </a:solidFill>
            <a:round/>
            <a:headEnd type="none" w="sm"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25" name="Text Box 64">
            <a:extLst>
              <a:ext uri="{FF2B5EF4-FFF2-40B4-BE49-F238E27FC236}">
                <a16:creationId xmlns:a16="http://schemas.microsoft.com/office/drawing/2014/main" id="{2E7A1FBB-32D0-F89B-6B63-137292E91018}"/>
              </a:ext>
            </a:extLst>
          </p:cNvPr>
          <p:cNvSpPr txBox="1">
            <a:spLocks noChangeAspect="1" noChangeArrowheads="1"/>
          </p:cNvSpPr>
          <p:nvPr/>
        </p:nvSpPr>
        <p:spPr bwMode="auto">
          <a:xfrm>
            <a:off x="2120503" y="4502349"/>
            <a:ext cx="519113"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n-US" altLang="zh-CN" b="1" i="1" dirty="0">
                <a:solidFill>
                  <a:srgbClr val="FF0000"/>
                </a:solidFill>
                <a:ea typeface="宋体" panose="02010600030101010101" pitchFamily="2" charset="-122"/>
              </a:rPr>
              <a:t>W</a:t>
            </a:r>
            <a:endParaRPr lang="en-US" altLang="zh-CN" b="1" i="1" baseline="-25000" dirty="0">
              <a:solidFill>
                <a:srgbClr val="FF0000"/>
              </a:solidFill>
              <a:ea typeface="宋体" panose="02010600030101010101" pitchFamily="2" charset="-122"/>
            </a:endParaRPr>
          </a:p>
        </p:txBody>
      </p:sp>
      <p:sp>
        <p:nvSpPr>
          <p:cNvPr id="226" name="Text Box 66">
            <a:extLst>
              <a:ext uri="{FF2B5EF4-FFF2-40B4-BE49-F238E27FC236}">
                <a16:creationId xmlns:a16="http://schemas.microsoft.com/office/drawing/2014/main" id="{9AEC1F4E-EF2E-0F01-8A10-CD6C3D2365A8}"/>
              </a:ext>
            </a:extLst>
          </p:cNvPr>
          <p:cNvSpPr txBox="1">
            <a:spLocks noChangeAspect="1" noChangeArrowheads="1"/>
          </p:cNvSpPr>
          <p:nvPr/>
        </p:nvSpPr>
        <p:spPr bwMode="auto">
          <a:xfrm>
            <a:off x="1890019" y="5676354"/>
            <a:ext cx="706437" cy="488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n-US" altLang="zh-CN" b="1" i="1" dirty="0">
                <a:solidFill>
                  <a:srgbClr val="FF0000"/>
                </a:solidFill>
                <a:ea typeface="宋体" panose="02010600030101010101" pitchFamily="2" charset="-122"/>
              </a:rPr>
              <a:t>F</a:t>
            </a:r>
            <a:r>
              <a:rPr lang="en-US" altLang="zh-CN" b="0" i="0" baseline="-25000" dirty="0">
                <a:solidFill>
                  <a:srgbClr val="FF0000"/>
                </a:solidFill>
                <a:ea typeface="宋体" panose="02010600030101010101" pitchFamily="2" charset="-122"/>
              </a:rPr>
              <a:t>N</a:t>
            </a:r>
          </a:p>
        </p:txBody>
      </p:sp>
    </p:spTree>
    <p:extLst>
      <p:ext uri="{BB962C8B-B14F-4D97-AF65-F5344CB8AC3E}">
        <p14:creationId xmlns:p14="http://schemas.microsoft.com/office/powerpoint/2010/main" val="1566197229"/>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4"/>
                                        </p:tgtEl>
                                        <p:attrNameLst>
                                          <p:attrName>style.visibility</p:attrName>
                                        </p:attrNameLst>
                                      </p:cBhvr>
                                      <p:to>
                                        <p:strVal val="visible"/>
                                      </p:to>
                                    </p:set>
                                  </p:childTnLst>
                                </p:cTn>
                              </p:par>
                              <p:par>
                                <p:cTn id="7" presetID="10" presetClass="entr" presetSubtype="0" fill="hold" nodeType="withEffect">
                                  <p:stCondLst>
                                    <p:cond delay="0"/>
                                  </p:stCondLst>
                                  <p:childTnLst>
                                    <p:set>
                                      <p:cBhvr>
                                        <p:cTn id="8" dur="1" fill="hold">
                                          <p:stCondLst>
                                            <p:cond delay="0"/>
                                          </p:stCondLst>
                                        </p:cTn>
                                        <p:tgtEl>
                                          <p:spTgt spid="166"/>
                                        </p:tgtEl>
                                        <p:attrNameLst>
                                          <p:attrName>style.visibility</p:attrName>
                                        </p:attrNameLst>
                                      </p:cBhvr>
                                      <p:to>
                                        <p:strVal val="visible"/>
                                      </p:to>
                                    </p:set>
                                    <p:animEffect transition="in" filter="fade">
                                      <p:cBhvr>
                                        <p:cTn id="9" dur="2000"/>
                                        <p:tgtEl>
                                          <p:spTgt spid="166"/>
                                        </p:tgtEl>
                                      </p:cBhvr>
                                    </p:animEffect>
                                  </p:childTnLst>
                                </p:cTn>
                              </p:par>
                              <p:par>
                                <p:cTn id="10" presetID="10" presetClass="entr" presetSubtype="0" fill="hold" nodeType="withEffect">
                                  <p:stCondLst>
                                    <p:cond delay="0"/>
                                  </p:stCondLst>
                                  <p:childTnLst>
                                    <p:set>
                                      <p:cBhvr>
                                        <p:cTn id="11" dur="1" fill="hold">
                                          <p:stCondLst>
                                            <p:cond delay="0"/>
                                          </p:stCondLst>
                                        </p:cTn>
                                        <p:tgtEl>
                                          <p:spTgt spid="175"/>
                                        </p:tgtEl>
                                        <p:attrNameLst>
                                          <p:attrName>style.visibility</p:attrName>
                                        </p:attrNameLst>
                                      </p:cBhvr>
                                      <p:to>
                                        <p:strVal val="visible"/>
                                      </p:to>
                                    </p:set>
                                    <p:animEffect transition="in" filter="fade">
                                      <p:cBhvr>
                                        <p:cTn id="12" dur="2000"/>
                                        <p:tgtEl>
                                          <p:spTgt spid="175"/>
                                        </p:tgtEl>
                                      </p:cBhvr>
                                    </p:animEffect>
                                  </p:childTnLst>
                                </p:cTn>
                              </p:par>
                              <p:par>
                                <p:cTn id="13" presetID="10" presetClass="entr" presetSubtype="0" fill="hold" nodeType="withEffect">
                                  <p:stCondLst>
                                    <p:cond delay="0"/>
                                  </p:stCondLst>
                                  <p:childTnLst>
                                    <p:set>
                                      <p:cBhvr>
                                        <p:cTn id="14" dur="1" fill="hold">
                                          <p:stCondLst>
                                            <p:cond delay="0"/>
                                          </p:stCondLst>
                                        </p:cTn>
                                        <p:tgtEl>
                                          <p:spTgt spid="188"/>
                                        </p:tgtEl>
                                        <p:attrNameLst>
                                          <p:attrName>style.visibility</p:attrName>
                                        </p:attrNameLst>
                                      </p:cBhvr>
                                      <p:to>
                                        <p:strVal val="visible"/>
                                      </p:to>
                                    </p:set>
                                    <p:animEffect transition="in" filter="fade">
                                      <p:cBhvr>
                                        <p:cTn id="15" dur="2000"/>
                                        <p:tgtEl>
                                          <p:spTgt spid="188"/>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172"/>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209"/>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208"/>
                                        </p:tgtEl>
                                        <p:attrNameLst>
                                          <p:attrName>style.visibility</p:attrName>
                                        </p:attrNameLst>
                                      </p:cBhvr>
                                      <p:to>
                                        <p:strVal val="visible"/>
                                      </p:to>
                                    </p:set>
                                  </p:childTnLst>
                                </p:cTn>
                              </p:par>
                              <p:par>
                                <p:cTn id="24" presetID="0" presetClass="path" presetSubtype="0" accel="50000" decel="50000" fill="hold" nodeType="withEffect">
                                  <p:stCondLst>
                                    <p:cond delay="0"/>
                                  </p:stCondLst>
                                  <p:childTnLst>
                                    <p:animMotion origin="layout" path="M -3.33333E-6 7.40741E-7 L -0.23034 0.22454 L -0.58307 0.22662 " pathEditMode="relative" rAng="0" ptsTypes="AAA">
                                      <p:cBhvr>
                                        <p:cTn id="25" dur="8000" fill="hold"/>
                                        <p:tgtEl>
                                          <p:spTgt spid="172"/>
                                        </p:tgtEl>
                                        <p:attrNameLst>
                                          <p:attrName>ppt_x</p:attrName>
                                          <p:attrName>ppt_y</p:attrName>
                                        </p:attrNameLst>
                                      </p:cBhvr>
                                      <p:rCtr x="-29154" y="11319"/>
                                    </p:animMotion>
                                  </p:childTnLst>
                                </p:cTn>
                              </p:par>
                              <p:par>
                                <p:cTn id="26" presetID="8" presetClass="emph" presetSubtype="0" fill="hold" nodeType="withEffect">
                                  <p:stCondLst>
                                    <p:cond delay="3500"/>
                                  </p:stCondLst>
                                  <p:childTnLst>
                                    <p:animRot by="1800000">
                                      <p:cBhvr>
                                        <p:cTn id="27" dur="500" fill="hold"/>
                                        <p:tgtEl>
                                          <p:spTgt spid="172"/>
                                        </p:tgtEl>
                                        <p:attrNameLst>
                                          <p:attrName>r</p:attrName>
                                        </p:attrNameLst>
                                      </p:cBhvr>
                                    </p:animRot>
                                  </p:childTnLst>
                                </p:cTn>
                              </p:par>
                              <p:par>
                                <p:cTn id="28" presetID="0" presetClass="path" presetSubtype="0" accel="50000" decel="50000" fill="hold" nodeType="withEffect">
                                  <p:stCondLst>
                                    <p:cond delay="0"/>
                                  </p:stCondLst>
                                  <p:childTnLst>
                                    <p:animMotion origin="layout" path="M -0.00013 3.33333E-6 L -0.22513 0.21828 L -0.5927 0.22245 " pathEditMode="relative" rAng="0" ptsTypes="AAA">
                                      <p:cBhvr>
                                        <p:cTn id="29" dur="8000" fill="hold"/>
                                        <p:tgtEl>
                                          <p:spTgt spid="209"/>
                                        </p:tgtEl>
                                        <p:attrNameLst>
                                          <p:attrName>ppt_x</p:attrName>
                                          <p:attrName>ppt_y</p:attrName>
                                        </p:attrNameLst>
                                      </p:cBhvr>
                                      <p:rCtr x="-29635" y="11111"/>
                                    </p:animMotion>
                                  </p:childTnLst>
                                </p:cTn>
                              </p:par>
                              <p:par>
                                <p:cTn id="30" presetID="0" presetClass="path" presetSubtype="0" accel="50000" decel="50000" fill="hold" nodeType="withEffect">
                                  <p:stCondLst>
                                    <p:cond delay="0"/>
                                  </p:stCondLst>
                                  <p:childTnLst>
                                    <p:animMotion origin="layout" path="M -2.08333E-7 0.00093 L -0.25677 0.24792 L -0.58555 0.25301 " pathEditMode="relative" rAng="0" ptsTypes="AAA">
                                      <p:cBhvr>
                                        <p:cTn id="31" dur="8000" fill="hold"/>
                                        <p:tgtEl>
                                          <p:spTgt spid="208"/>
                                        </p:tgtEl>
                                        <p:attrNameLst>
                                          <p:attrName>ppt_x</p:attrName>
                                          <p:attrName>ppt_y</p:attrName>
                                        </p:attrNameLst>
                                      </p:cBhvr>
                                      <p:rCtr x="-29284" y="12593"/>
                                    </p:animMotion>
                                  </p:childTnLst>
                                </p:cTn>
                              </p:par>
                              <p:par>
                                <p:cTn id="32" presetID="8" presetClass="emph" presetSubtype="0" accel="50000" fill="hold" nodeType="withEffect">
                                  <p:stCondLst>
                                    <p:cond delay="0"/>
                                  </p:stCondLst>
                                  <p:childTnLst>
                                    <p:animRot by="-21600000">
                                      <p:cBhvr>
                                        <p:cTn id="33" dur="1000" fill="hold"/>
                                        <p:tgtEl>
                                          <p:spTgt spid="209"/>
                                        </p:tgtEl>
                                        <p:attrNameLst>
                                          <p:attrName>r</p:attrName>
                                        </p:attrNameLst>
                                      </p:cBhvr>
                                    </p:animRot>
                                  </p:childTnLst>
                                </p:cTn>
                              </p:par>
                              <p:par>
                                <p:cTn id="34" presetID="8" presetClass="emph" presetSubtype="0" accel="50000" fill="hold" nodeType="withEffect">
                                  <p:stCondLst>
                                    <p:cond delay="0"/>
                                  </p:stCondLst>
                                  <p:childTnLst>
                                    <p:animRot by="-21600000">
                                      <p:cBhvr>
                                        <p:cTn id="35" dur="1000" fill="hold"/>
                                        <p:tgtEl>
                                          <p:spTgt spid="208"/>
                                        </p:tgtEl>
                                        <p:attrNameLst>
                                          <p:attrName>r</p:attrName>
                                        </p:attrNameLst>
                                      </p:cBhvr>
                                    </p:animRot>
                                  </p:childTnLst>
                                </p:cTn>
                              </p:par>
                              <p:par>
                                <p:cTn id="36" presetID="8" presetClass="emph" presetSubtype="0" repeatCount="10000" fill="hold" nodeType="withEffect">
                                  <p:stCondLst>
                                    <p:cond delay="1000"/>
                                  </p:stCondLst>
                                  <p:childTnLst>
                                    <p:animRot by="-21600000">
                                      <p:cBhvr>
                                        <p:cTn id="37" dur="500" fill="hold"/>
                                        <p:tgtEl>
                                          <p:spTgt spid="209"/>
                                        </p:tgtEl>
                                        <p:attrNameLst>
                                          <p:attrName>r</p:attrName>
                                        </p:attrNameLst>
                                      </p:cBhvr>
                                    </p:animRot>
                                  </p:childTnLst>
                                </p:cTn>
                              </p:par>
                              <p:par>
                                <p:cTn id="38" presetID="8" presetClass="emph" presetSubtype="0" repeatCount="10000" fill="hold" nodeType="withEffect">
                                  <p:stCondLst>
                                    <p:cond delay="1000"/>
                                  </p:stCondLst>
                                  <p:childTnLst>
                                    <p:animRot by="-21600000">
                                      <p:cBhvr>
                                        <p:cTn id="39" dur="500" fill="hold"/>
                                        <p:tgtEl>
                                          <p:spTgt spid="208"/>
                                        </p:tgtEl>
                                        <p:attrNameLst>
                                          <p:attrName>r</p:attrName>
                                        </p:attrNameLst>
                                      </p:cBhvr>
                                    </p:animRot>
                                  </p:childTnLst>
                                </p:cTn>
                              </p:par>
                              <p:par>
                                <p:cTn id="40" presetID="8" presetClass="emph" presetSubtype="0" decel="50000" fill="hold" nodeType="withEffect">
                                  <p:stCondLst>
                                    <p:cond delay="6000"/>
                                  </p:stCondLst>
                                  <p:childTnLst>
                                    <p:animRot by="-21600000">
                                      <p:cBhvr>
                                        <p:cTn id="41" dur="2000" fill="hold"/>
                                        <p:tgtEl>
                                          <p:spTgt spid="209"/>
                                        </p:tgtEl>
                                        <p:attrNameLst>
                                          <p:attrName>r</p:attrName>
                                        </p:attrNameLst>
                                      </p:cBhvr>
                                    </p:animRot>
                                  </p:childTnLst>
                                </p:cTn>
                              </p:par>
                              <p:par>
                                <p:cTn id="42" presetID="8" presetClass="emph" presetSubtype="0" decel="50000" fill="hold" nodeType="withEffect">
                                  <p:stCondLst>
                                    <p:cond delay="6000"/>
                                  </p:stCondLst>
                                  <p:childTnLst>
                                    <p:animRot by="-21600000">
                                      <p:cBhvr>
                                        <p:cTn id="43" dur="2000" fill="hold"/>
                                        <p:tgtEl>
                                          <p:spTgt spid="208"/>
                                        </p:tgtEl>
                                        <p:attrNameLst>
                                          <p:attrName>r</p:attrName>
                                        </p:attrNameLst>
                                      </p:cBhvr>
                                    </p:animRot>
                                  </p:childTnLst>
                                </p:cTn>
                              </p:par>
                              <p:par>
                                <p:cTn id="44" presetID="10" presetClass="entr" presetSubtype="0" fill="hold" nodeType="withEffect">
                                  <p:stCondLst>
                                    <p:cond delay="5000"/>
                                  </p:stCondLst>
                                  <p:childTnLst>
                                    <p:set>
                                      <p:cBhvr>
                                        <p:cTn id="45" dur="1" fill="hold">
                                          <p:stCondLst>
                                            <p:cond delay="0"/>
                                          </p:stCondLst>
                                        </p:cTn>
                                        <p:tgtEl>
                                          <p:spTgt spid="212"/>
                                        </p:tgtEl>
                                        <p:attrNameLst>
                                          <p:attrName>style.visibility</p:attrName>
                                        </p:attrNameLst>
                                      </p:cBhvr>
                                      <p:to>
                                        <p:strVal val="visible"/>
                                      </p:to>
                                    </p:set>
                                    <p:animEffect transition="in" filter="fade">
                                      <p:cBhvr>
                                        <p:cTn id="46" dur="2000"/>
                                        <p:tgtEl>
                                          <p:spTgt spid="212"/>
                                        </p:tgtEl>
                                      </p:cBhvr>
                                    </p:animEffect>
                                  </p:childTnLst>
                                </p:cTn>
                              </p:par>
                            </p:childTnLst>
                          </p:cTn>
                        </p:par>
                        <p:par>
                          <p:cTn id="47" fill="hold">
                            <p:stCondLst>
                              <p:cond delay="8000"/>
                            </p:stCondLst>
                            <p:childTnLst>
                              <p:par>
                                <p:cTn id="48" presetID="1" presetClass="exit" presetSubtype="0" fill="hold" nodeType="afterEffect">
                                  <p:stCondLst>
                                    <p:cond delay="0"/>
                                  </p:stCondLst>
                                  <p:childTnLst>
                                    <p:set>
                                      <p:cBhvr>
                                        <p:cTn id="49" dur="1" fill="hold">
                                          <p:stCondLst>
                                            <p:cond delay="0"/>
                                          </p:stCondLst>
                                        </p:cTn>
                                        <p:tgtEl>
                                          <p:spTgt spid="209"/>
                                        </p:tgtEl>
                                        <p:attrNameLst>
                                          <p:attrName>style.visibility</p:attrName>
                                        </p:attrNameLst>
                                      </p:cBhvr>
                                      <p:to>
                                        <p:strVal val="hidden"/>
                                      </p:to>
                                    </p:set>
                                  </p:childTnLst>
                                </p:cTn>
                              </p:par>
                              <p:par>
                                <p:cTn id="50" presetID="1" presetClass="exit" presetSubtype="0" fill="hold" nodeType="withEffect">
                                  <p:stCondLst>
                                    <p:cond delay="0"/>
                                  </p:stCondLst>
                                  <p:childTnLst>
                                    <p:set>
                                      <p:cBhvr>
                                        <p:cTn id="51" dur="1" fill="hold">
                                          <p:stCondLst>
                                            <p:cond delay="0"/>
                                          </p:stCondLst>
                                        </p:cTn>
                                        <p:tgtEl>
                                          <p:spTgt spid="208"/>
                                        </p:tgtEl>
                                        <p:attrNameLst>
                                          <p:attrName>style.visibility</p:attrName>
                                        </p:attrNameLst>
                                      </p:cBhvr>
                                      <p:to>
                                        <p:strVal val="hidden"/>
                                      </p:to>
                                    </p:set>
                                  </p:childTnLst>
                                </p:cTn>
                              </p:par>
                              <p:par>
                                <p:cTn id="52" presetID="1" presetClass="exit" presetSubtype="0" fill="hold" nodeType="withEffect">
                                  <p:stCondLst>
                                    <p:cond delay="0"/>
                                  </p:stCondLst>
                                  <p:childTnLst>
                                    <p:set>
                                      <p:cBhvr>
                                        <p:cTn id="53" dur="1" fill="hold">
                                          <p:stCondLst>
                                            <p:cond delay="0"/>
                                          </p:stCondLst>
                                        </p:cTn>
                                        <p:tgtEl>
                                          <p:spTgt spid="172"/>
                                        </p:tgtEl>
                                        <p:attrNameLst>
                                          <p:attrName>style.visibility</p:attrName>
                                        </p:attrNameLst>
                                      </p:cBhvr>
                                      <p:to>
                                        <p:strVal val="hidden"/>
                                      </p:to>
                                    </p:set>
                                  </p:childTnLst>
                                </p:cTn>
                              </p:par>
                              <p:par>
                                <p:cTn id="54" presetID="1" presetClass="entr" presetSubtype="0" fill="hold" nodeType="withEffect">
                                  <p:stCondLst>
                                    <p:cond delay="0"/>
                                  </p:stCondLst>
                                  <p:childTnLst>
                                    <p:set>
                                      <p:cBhvr>
                                        <p:cTn id="55" dur="1" fill="hold">
                                          <p:stCondLst>
                                            <p:cond delay="0"/>
                                          </p:stCondLst>
                                        </p:cTn>
                                        <p:tgtEl>
                                          <p:spTgt spid="179"/>
                                        </p:tgtEl>
                                        <p:attrNameLst>
                                          <p:attrName>style.visibility</p:attrName>
                                        </p:attrNameLst>
                                      </p:cBhvr>
                                      <p:to>
                                        <p:strVal val="visible"/>
                                      </p:to>
                                    </p:set>
                                  </p:childTnLst>
                                </p:cTn>
                              </p:par>
                            </p:childTnLst>
                          </p:cTn>
                        </p:par>
                        <p:par>
                          <p:cTn id="56" fill="hold">
                            <p:stCondLst>
                              <p:cond delay="8000"/>
                            </p:stCondLst>
                            <p:childTnLst>
                              <p:par>
                                <p:cTn id="57" presetID="22" presetClass="entr" presetSubtype="4" fill="hold" nodeType="afterEffect">
                                  <p:stCondLst>
                                    <p:cond delay="0"/>
                                  </p:stCondLst>
                                  <p:childTnLst>
                                    <p:set>
                                      <p:cBhvr>
                                        <p:cTn id="58" dur="1" fill="hold">
                                          <p:stCondLst>
                                            <p:cond delay="0"/>
                                          </p:stCondLst>
                                        </p:cTn>
                                        <p:tgtEl>
                                          <p:spTgt spid="186"/>
                                        </p:tgtEl>
                                        <p:attrNameLst>
                                          <p:attrName>style.visibility</p:attrName>
                                        </p:attrNameLst>
                                      </p:cBhvr>
                                      <p:to>
                                        <p:strVal val="visible"/>
                                      </p:to>
                                    </p:set>
                                    <p:animEffect transition="in" filter="wipe(down)">
                                      <p:cBhvr>
                                        <p:cTn id="59" dur="3000"/>
                                        <p:tgtEl>
                                          <p:spTgt spid="186"/>
                                        </p:tgtEl>
                                      </p:cBhvr>
                                    </p:animEffect>
                                  </p:childTnLst>
                                </p:cTn>
                              </p:par>
                              <p:par>
                                <p:cTn id="60" presetID="19" presetClass="entr" presetSubtype="10" fill="hold" grpId="0" nodeType="withEffect">
                                  <p:stCondLst>
                                    <p:cond delay="0"/>
                                  </p:stCondLst>
                                  <p:childTnLst>
                                    <p:set>
                                      <p:cBhvr>
                                        <p:cTn id="61" dur="1" fill="hold">
                                          <p:stCondLst>
                                            <p:cond delay="0"/>
                                          </p:stCondLst>
                                        </p:cTn>
                                        <p:tgtEl>
                                          <p:spTgt spid="185"/>
                                        </p:tgtEl>
                                        <p:attrNameLst>
                                          <p:attrName>style.visibility</p:attrName>
                                        </p:attrNameLst>
                                      </p:cBhvr>
                                      <p:to>
                                        <p:strVal val="visible"/>
                                      </p:to>
                                    </p:set>
                                    <p:anim calcmode="lin" valueType="num">
                                      <p:cBhvr>
                                        <p:cTn id="62" dur="5000" fill="hold"/>
                                        <p:tgtEl>
                                          <p:spTgt spid="185"/>
                                        </p:tgtEl>
                                        <p:attrNameLst>
                                          <p:attrName>ppt_w</p:attrName>
                                        </p:attrNameLst>
                                      </p:cBhvr>
                                      <p:tavLst>
                                        <p:tav tm="0" fmla="#ppt_w*sin(2.5*pi*$)">
                                          <p:val>
                                            <p:fltVal val="0"/>
                                          </p:val>
                                        </p:tav>
                                        <p:tav tm="100000">
                                          <p:val>
                                            <p:fltVal val="1"/>
                                          </p:val>
                                        </p:tav>
                                      </p:tavLst>
                                    </p:anim>
                                    <p:anim calcmode="lin" valueType="num">
                                      <p:cBhvr>
                                        <p:cTn id="63" dur="5000" fill="hold"/>
                                        <p:tgtEl>
                                          <p:spTgt spid="185"/>
                                        </p:tgtEl>
                                        <p:attrNameLst>
                                          <p:attrName>ppt_h</p:attrName>
                                        </p:attrNameLst>
                                      </p:cBhvr>
                                      <p:tavLst>
                                        <p:tav tm="0">
                                          <p:val>
                                            <p:strVal val="#ppt_h"/>
                                          </p:val>
                                        </p:tav>
                                        <p:tav tm="100000">
                                          <p:val>
                                            <p:strVal val="#ppt_h"/>
                                          </p:val>
                                        </p:tav>
                                      </p:tavLst>
                                    </p:anim>
                                  </p:childTnLst>
                                </p:cTn>
                              </p:par>
                            </p:childTnLst>
                          </p:cTn>
                        </p:par>
                        <p:par>
                          <p:cTn id="64" fill="hold">
                            <p:stCondLst>
                              <p:cond delay="13000"/>
                            </p:stCondLst>
                            <p:childTnLst>
                              <p:par>
                                <p:cTn id="65" presetID="16" presetClass="entr" presetSubtype="37" fill="hold" nodeType="afterEffect">
                                  <p:stCondLst>
                                    <p:cond delay="0"/>
                                  </p:stCondLst>
                                  <p:childTnLst>
                                    <p:set>
                                      <p:cBhvr>
                                        <p:cTn id="66" dur="1" fill="hold">
                                          <p:stCondLst>
                                            <p:cond delay="0"/>
                                          </p:stCondLst>
                                        </p:cTn>
                                        <p:tgtEl>
                                          <p:spTgt spid="187"/>
                                        </p:tgtEl>
                                        <p:attrNameLst>
                                          <p:attrName>style.visibility</p:attrName>
                                        </p:attrNameLst>
                                      </p:cBhvr>
                                      <p:to>
                                        <p:strVal val="visible"/>
                                      </p:to>
                                    </p:set>
                                    <p:animEffect transition="in" filter="barn(outVertical)">
                                      <p:cBhvr>
                                        <p:cTn id="67" dur="3000"/>
                                        <p:tgtEl>
                                          <p:spTgt spid="187"/>
                                        </p:tgtEl>
                                      </p:cBhvr>
                                    </p:animEffect>
                                  </p:childTnLst>
                                </p:cTn>
                              </p:par>
                              <p:par>
                                <p:cTn id="68" presetID="19" presetClass="entr" presetSubtype="10" fill="hold" grpId="0" nodeType="withEffect">
                                  <p:stCondLst>
                                    <p:cond delay="0"/>
                                  </p:stCondLst>
                                  <p:childTnLst>
                                    <p:set>
                                      <p:cBhvr>
                                        <p:cTn id="69" dur="1" fill="hold">
                                          <p:stCondLst>
                                            <p:cond delay="0"/>
                                          </p:stCondLst>
                                        </p:cTn>
                                        <p:tgtEl>
                                          <p:spTgt spid="178"/>
                                        </p:tgtEl>
                                        <p:attrNameLst>
                                          <p:attrName>style.visibility</p:attrName>
                                        </p:attrNameLst>
                                      </p:cBhvr>
                                      <p:to>
                                        <p:strVal val="visible"/>
                                      </p:to>
                                    </p:set>
                                    <p:anim calcmode="lin" valueType="num">
                                      <p:cBhvr>
                                        <p:cTn id="70" dur="5000" fill="hold"/>
                                        <p:tgtEl>
                                          <p:spTgt spid="178"/>
                                        </p:tgtEl>
                                        <p:attrNameLst>
                                          <p:attrName>ppt_w</p:attrName>
                                        </p:attrNameLst>
                                      </p:cBhvr>
                                      <p:tavLst>
                                        <p:tav tm="0" fmla="#ppt_w*sin(2.5*pi*$)">
                                          <p:val>
                                            <p:fltVal val="0"/>
                                          </p:val>
                                        </p:tav>
                                        <p:tav tm="100000">
                                          <p:val>
                                            <p:fltVal val="1"/>
                                          </p:val>
                                        </p:tav>
                                      </p:tavLst>
                                    </p:anim>
                                    <p:anim calcmode="lin" valueType="num">
                                      <p:cBhvr>
                                        <p:cTn id="71" dur="5000" fill="hold"/>
                                        <p:tgtEl>
                                          <p:spTgt spid="178"/>
                                        </p:tgtEl>
                                        <p:attrNameLst>
                                          <p:attrName>ppt_h</p:attrName>
                                        </p:attrNameLst>
                                      </p:cBhvr>
                                      <p:tavLst>
                                        <p:tav tm="0">
                                          <p:val>
                                            <p:strVal val="#ppt_h"/>
                                          </p:val>
                                        </p:tav>
                                        <p:tav tm="100000">
                                          <p:val>
                                            <p:strVal val="#ppt_h"/>
                                          </p:val>
                                        </p:tav>
                                      </p:tavLst>
                                    </p:anim>
                                  </p:childTnLst>
                                </p:cTn>
                              </p:par>
                            </p:childTnLst>
                          </p:cTn>
                        </p:par>
                      </p:childTnLst>
                    </p:cTn>
                  </p:par>
                  <p:par>
                    <p:cTn id="72" fill="hold">
                      <p:stCondLst>
                        <p:cond delay="indefinite"/>
                      </p:stCondLst>
                      <p:childTnLst>
                        <p:par>
                          <p:cTn id="73" fill="hold">
                            <p:stCondLst>
                              <p:cond delay="0"/>
                            </p:stCondLst>
                            <p:childTnLst>
                              <p:par>
                                <p:cTn id="74" presetID="12" presetClass="entr" presetSubtype="1" fill="hold" nodeType="clickEffect">
                                  <p:stCondLst>
                                    <p:cond delay="0"/>
                                  </p:stCondLst>
                                  <p:childTnLst>
                                    <p:set>
                                      <p:cBhvr>
                                        <p:cTn id="75" dur="1" fill="hold">
                                          <p:stCondLst>
                                            <p:cond delay="0"/>
                                          </p:stCondLst>
                                        </p:cTn>
                                        <p:tgtEl>
                                          <p:spTgt spid="204"/>
                                        </p:tgtEl>
                                        <p:attrNameLst>
                                          <p:attrName>style.visibility</p:attrName>
                                        </p:attrNameLst>
                                      </p:cBhvr>
                                      <p:to>
                                        <p:strVal val="visible"/>
                                      </p:to>
                                    </p:set>
                                    <p:animEffect transition="in" filter="slide(fromTop)">
                                      <p:cBhvr>
                                        <p:cTn id="76" dur="3000"/>
                                        <p:tgtEl>
                                          <p:spTgt spid="204"/>
                                        </p:tgtEl>
                                      </p:cBhvr>
                                    </p:animEffect>
                                  </p:childTnLst>
                                </p:cTn>
                              </p:par>
                              <p:par>
                                <p:cTn id="77" presetID="19" presetClass="entr" presetSubtype="10" fill="hold" grpId="0" nodeType="withEffect">
                                  <p:stCondLst>
                                    <p:cond delay="0"/>
                                  </p:stCondLst>
                                  <p:childTnLst>
                                    <p:set>
                                      <p:cBhvr>
                                        <p:cTn id="78" dur="1" fill="hold">
                                          <p:stCondLst>
                                            <p:cond delay="0"/>
                                          </p:stCondLst>
                                        </p:cTn>
                                        <p:tgtEl>
                                          <p:spTgt spid="205"/>
                                        </p:tgtEl>
                                        <p:attrNameLst>
                                          <p:attrName>style.visibility</p:attrName>
                                        </p:attrNameLst>
                                      </p:cBhvr>
                                      <p:to>
                                        <p:strVal val="visible"/>
                                      </p:to>
                                    </p:set>
                                    <p:anim calcmode="lin" valueType="num">
                                      <p:cBhvr>
                                        <p:cTn id="79" dur="5000" fill="hold"/>
                                        <p:tgtEl>
                                          <p:spTgt spid="205"/>
                                        </p:tgtEl>
                                        <p:attrNameLst>
                                          <p:attrName>ppt_w</p:attrName>
                                        </p:attrNameLst>
                                      </p:cBhvr>
                                      <p:tavLst>
                                        <p:tav tm="0" fmla="#ppt_w*sin(2.5*pi*$)">
                                          <p:val>
                                            <p:fltVal val="0"/>
                                          </p:val>
                                        </p:tav>
                                        <p:tav tm="100000">
                                          <p:val>
                                            <p:fltVal val="1"/>
                                          </p:val>
                                        </p:tav>
                                      </p:tavLst>
                                    </p:anim>
                                    <p:anim calcmode="lin" valueType="num">
                                      <p:cBhvr>
                                        <p:cTn id="80" dur="5000" fill="hold"/>
                                        <p:tgtEl>
                                          <p:spTgt spid="205"/>
                                        </p:tgtEl>
                                        <p:attrNameLst>
                                          <p:attrName>ppt_h</p:attrName>
                                        </p:attrNameLst>
                                      </p:cBhvr>
                                      <p:tavLst>
                                        <p:tav tm="0">
                                          <p:val>
                                            <p:strVal val="#ppt_h"/>
                                          </p:val>
                                        </p:tav>
                                        <p:tav tm="100000">
                                          <p:val>
                                            <p:strVal val="#ppt_h"/>
                                          </p:val>
                                        </p:tav>
                                      </p:tavLst>
                                    </p:anim>
                                  </p:childTnLst>
                                </p:cTn>
                              </p:par>
                            </p:childTnLst>
                          </p:cTn>
                        </p:par>
                        <p:par>
                          <p:cTn id="81" fill="hold">
                            <p:stCondLst>
                              <p:cond delay="5000"/>
                            </p:stCondLst>
                            <p:childTnLst>
                              <p:par>
                                <p:cTn id="82" presetID="18" presetClass="entr" presetSubtype="9" fill="hold" nodeType="afterEffect">
                                  <p:stCondLst>
                                    <p:cond delay="0"/>
                                  </p:stCondLst>
                                  <p:childTnLst>
                                    <p:set>
                                      <p:cBhvr>
                                        <p:cTn id="83" dur="1" fill="hold">
                                          <p:stCondLst>
                                            <p:cond delay="0"/>
                                          </p:stCondLst>
                                        </p:cTn>
                                        <p:tgtEl>
                                          <p:spTgt spid="206"/>
                                        </p:tgtEl>
                                        <p:attrNameLst>
                                          <p:attrName>style.visibility</p:attrName>
                                        </p:attrNameLst>
                                      </p:cBhvr>
                                      <p:to>
                                        <p:strVal val="visible"/>
                                      </p:to>
                                    </p:set>
                                    <p:animEffect transition="in" filter="strips(upLeft)">
                                      <p:cBhvr>
                                        <p:cTn id="84" dur="3000"/>
                                        <p:tgtEl>
                                          <p:spTgt spid="206"/>
                                        </p:tgtEl>
                                      </p:cBhvr>
                                    </p:animEffect>
                                  </p:childTnLst>
                                </p:cTn>
                              </p:par>
                              <p:par>
                                <p:cTn id="85" presetID="19" presetClass="entr" presetSubtype="10" fill="hold" grpId="0" nodeType="withEffect">
                                  <p:stCondLst>
                                    <p:cond delay="0"/>
                                  </p:stCondLst>
                                  <p:childTnLst>
                                    <p:set>
                                      <p:cBhvr>
                                        <p:cTn id="86" dur="1" fill="hold">
                                          <p:stCondLst>
                                            <p:cond delay="0"/>
                                          </p:stCondLst>
                                        </p:cTn>
                                        <p:tgtEl>
                                          <p:spTgt spid="207"/>
                                        </p:tgtEl>
                                        <p:attrNameLst>
                                          <p:attrName>style.visibility</p:attrName>
                                        </p:attrNameLst>
                                      </p:cBhvr>
                                      <p:to>
                                        <p:strVal val="visible"/>
                                      </p:to>
                                    </p:set>
                                    <p:anim calcmode="lin" valueType="num">
                                      <p:cBhvr>
                                        <p:cTn id="87" dur="5000" fill="hold"/>
                                        <p:tgtEl>
                                          <p:spTgt spid="207"/>
                                        </p:tgtEl>
                                        <p:attrNameLst>
                                          <p:attrName>ppt_w</p:attrName>
                                        </p:attrNameLst>
                                      </p:cBhvr>
                                      <p:tavLst>
                                        <p:tav tm="0" fmla="#ppt_w*sin(2.5*pi*$)">
                                          <p:val>
                                            <p:fltVal val="0"/>
                                          </p:val>
                                        </p:tav>
                                        <p:tav tm="100000">
                                          <p:val>
                                            <p:fltVal val="1"/>
                                          </p:val>
                                        </p:tav>
                                      </p:tavLst>
                                    </p:anim>
                                    <p:anim calcmode="lin" valueType="num">
                                      <p:cBhvr>
                                        <p:cTn id="88" dur="5000" fill="hold"/>
                                        <p:tgtEl>
                                          <p:spTgt spid="207"/>
                                        </p:tgtEl>
                                        <p:attrNameLst>
                                          <p:attrName>ppt_h</p:attrName>
                                        </p:attrNameLst>
                                      </p:cBhvr>
                                      <p:tavLst>
                                        <p:tav tm="0">
                                          <p:val>
                                            <p:strVal val="#ppt_h"/>
                                          </p:val>
                                        </p:tav>
                                        <p:tav tm="100000">
                                          <p:val>
                                            <p:strVal val="#ppt_h"/>
                                          </p:val>
                                        </p:tav>
                                      </p:tavLst>
                                    </p:anim>
                                  </p:childTnLst>
                                </p:cTn>
                              </p:par>
                            </p:childTnLst>
                          </p:cTn>
                        </p:par>
                        <p:par>
                          <p:cTn id="89" fill="hold">
                            <p:stCondLst>
                              <p:cond delay="10000"/>
                            </p:stCondLst>
                            <p:childTnLst>
                              <p:par>
                                <p:cTn id="90" presetID="18" presetClass="entr" presetSubtype="3" fill="hold" nodeType="afterEffect">
                                  <p:stCondLst>
                                    <p:cond delay="0"/>
                                  </p:stCondLst>
                                  <p:childTnLst>
                                    <p:set>
                                      <p:cBhvr>
                                        <p:cTn id="91" dur="1" fill="hold">
                                          <p:stCondLst>
                                            <p:cond delay="0"/>
                                          </p:stCondLst>
                                        </p:cTn>
                                        <p:tgtEl>
                                          <p:spTgt spid="210"/>
                                        </p:tgtEl>
                                        <p:attrNameLst>
                                          <p:attrName>style.visibility</p:attrName>
                                        </p:attrNameLst>
                                      </p:cBhvr>
                                      <p:to>
                                        <p:strVal val="visible"/>
                                      </p:to>
                                    </p:set>
                                    <p:animEffect transition="in" filter="strips(upRight)">
                                      <p:cBhvr>
                                        <p:cTn id="92" dur="3000"/>
                                        <p:tgtEl>
                                          <p:spTgt spid="210"/>
                                        </p:tgtEl>
                                      </p:cBhvr>
                                    </p:animEffect>
                                  </p:childTnLst>
                                </p:cTn>
                              </p:par>
                              <p:par>
                                <p:cTn id="93" presetID="19" presetClass="entr" presetSubtype="10" fill="hold" grpId="0" nodeType="withEffect">
                                  <p:stCondLst>
                                    <p:cond delay="0"/>
                                  </p:stCondLst>
                                  <p:childTnLst>
                                    <p:set>
                                      <p:cBhvr>
                                        <p:cTn id="94" dur="1" fill="hold">
                                          <p:stCondLst>
                                            <p:cond delay="0"/>
                                          </p:stCondLst>
                                        </p:cTn>
                                        <p:tgtEl>
                                          <p:spTgt spid="211"/>
                                        </p:tgtEl>
                                        <p:attrNameLst>
                                          <p:attrName>style.visibility</p:attrName>
                                        </p:attrNameLst>
                                      </p:cBhvr>
                                      <p:to>
                                        <p:strVal val="visible"/>
                                      </p:to>
                                    </p:set>
                                    <p:anim calcmode="lin" valueType="num">
                                      <p:cBhvr>
                                        <p:cTn id="95" dur="5000" fill="hold"/>
                                        <p:tgtEl>
                                          <p:spTgt spid="211"/>
                                        </p:tgtEl>
                                        <p:attrNameLst>
                                          <p:attrName>ppt_w</p:attrName>
                                        </p:attrNameLst>
                                      </p:cBhvr>
                                      <p:tavLst>
                                        <p:tav tm="0" fmla="#ppt_w*sin(2.5*pi*$)">
                                          <p:val>
                                            <p:fltVal val="0"/>
                                          </p:val>
                                        </p:tav>
                                        <p:tav tm="100000">
                                          <p:val>
                                            <p:fltVal val="1"/>
                                          </p:val>
                                        </p:tav>
                                      </p:tavLst>
                                    </p:anim>
                                    <p:anim calcmode="lin" valueType="num">
                                      <p:cBhvr>
                                        <p:cTn id="96" dur="5000" fill="hold"/>
                                        <p:tgtEl>
                                          <p:spTgt spid="211"/>
                                        </p:tgtEl>
                                        <p:attrNameLst>
                                          <p:attrName>ppt_h</p:attrName>
                                        </p:attrNameLst>
                                      </p:cBhvr>
                                      <p:tavLst>
                                        <p:tav tm="0">
                                          <p:val>
                                            <p:strVal val="#ppt_h"/>
                                          </p:val>
                                        </p:tav>
                                        <p:tav tm="100000">
                                          <p:val>
                                            <p:strVal val="#ppt_h"/>
                                          </p:val>
                                        </p:tav>
                                      </p:tavLst>
                                    </p:anim>
                                  </p:childTnLst>
                                </p:cTn>
                              </p:par>
                            </p:childTnLst>
                          </p:cTn>
                        </p:par>
                      </p:childTnLst>
                    </p:cTn>
                  </p:par>
                  <p:par>
                    <p:cTn id="97" fill="hold">
                      <p:stCondLst>
                        <p:cond delay="indefinite"/>
                      </p:stCondLst>
                      <p:childTnLst>
                        <p:par>
                          <p:cTn id="98" fill="hold">
                            <p:stCondLst>
                              <p:cond delay="0"/>
                            </p:stCondLst>
                            <p:childTnLst>
                              <p:par>
                                <p:cTn id="99" presetID="12" presetClass="entr" presetSubtype="1" fill="hold" nodeType="clickEffect">
                                  <p:stCondLst>
                                    <p:cond delay="0"/>
                                  </p:stCondLst>
                                  <p:childTnLst>
                                    <p:set>
                                      <p:cBhvr>
                                        <p:cTn id="100" dur="1" fill="hold">
                                          <p:stCondLst>
                                            <p:cond delay="0"/>
                                          </p:stCondLst>
                                        </p:cTn>
                                        <p:tgtEl>
                                          <p:spTgt spid="218"/>
                                        </p:tgtEl>
                                        <p:attrNameLst>
                                          <p:attrName>style.visibility</p:attrName>
                                        </p:attrNameLst>
                                      </p:cBhvr>
                                      <p:to>
                                        <p:strVal val="visible"/>
                                      </p:to>
                                    </p:set>
                                    <p:animEffect transition="in" filter="slide(fromTop)">
                                      <p:cBhvr>
                                        <p:cTn id="101" dur="3000"/>
                                        <p:tgtEl>
                                          <p:spTgt spid="218"/>
                                        </p:tgtEl>
                                      </p:cBhvr>
                                    </p:animEffect>
                                  </p:childTnLst>
                                </p:cTn>
                              </p:par>
                              <p:par>
                                <p:cTn id="102" presetID="19" presetClass="entr" presetSubtype="10" fill="hold" grpId="0" nodeType="withEffect">
                                  <p:stCondLst>
                                    <p:cond delay="0"/>
                                  </p:stCondLst>
                                  <p:childTnLst>
                                    <p:set>
                                      <p:cBhvr>
                                        <p:cTn id="103" dur="1" fill="hold">
                                          <p:stCondLst>
                                            <p:cond delay="0"/>
                                          </p:stCondLst>
                                        </p:cTn>
                                        <p:tgtEl>
                                          <p:spTgt spid="219"/>
                                        </p:tgtEl>
                                        <p:attrNameLst>
                                          <p:attrName>style.visibility</p:attrName>
                                        </p:attrNameLst>
                                      </p:cBhvr>
                                      <p:to>
                                        <p:strVal val="visible"/>
                                      </p:to>
                                    </p:set>
                                    <p:anim calcmode="lin" valueType="num">
                                      <p:cBhvr>
                                        <p:cTn id="104" dur="5000" fill="hold"/>
                                        <p:tgtEl>
                                          <p:spTgt spid="219"/>
                                        </p:tgtEl>
                                        <p:attrNameLst>
                                          <p:attrName>ppt_w</p:attrName>
                                        </p:attrNameLst>
                                      </p:cBhvr>
                                      <p:tavLst>
                                        <p:tav tm="0" fmla="#ppt_w*sin(2.5*pi*$)">
                                          <p:val>
                                            <p:fltVal val="0"/>
                                          </p:val>
                                        </p:tav>
                                        <p:tav tm="100000">
                                          <p:val>
                                            <p:fltVal val="1"/>
                                          </p:val>
                                        </p:tav>
                                      </p:tavLst>
                                    </p:anim>
                                    <p:anim calcmode="lin" valueType="num">
                                      <p:cBhvr>
                                        <p:cTn id="105" dur="5000" fill="hold"/>
                                        <p:tgtEl>
                                          <p:spTgt spid="219"/>
                                        </p:tgtEl>
                                        <p:attrNameLst>
                                          <p:attrName>ppt_h</p:attrName>
                                        </p:attrNameLst>
                                      </p:cBhvr>
                                      <p:tavLst>
                                        <p:tav tm="0">
                                          <p:val>
                                            <p:strVal val="#ppt_h"/>
                                          </p:val>
                                        </p:tav>
                                        <p:tav tm="100000">
                                          <p:val>
                                            <p:strVal val="#ppt_h"/>
                                          </p:val>
                                        </p:tav>
                                      </p:tavLst>
                                    </p:anim>
                                  </p:childTnLst>
                                </p:cTn>
                              </p:par>
                            </p:childTnLst>
                          </p:cTn>
                        </p:par>
                        <p:par>
                          <p:cTn id="106" fill="hold">
                            <p:stCondLst>
                              <p:cond delay="5000"/>
                            </p:stCondLst>
                            <p:childTnLst>
                              <p:par>
                                <p:cTn id="107" presetID="12" presetClass="entr" presetSubtype="4" fill="hold" nodeType="afterEffect">
                                  <p:stCondLst>
                                    <p:cond delay="0"/>
                                  </p:stCondLst>
                                  <p:childTnLst>
                                    <p:set>
                                      <p:cBhvr>
                                        <p:cTn id="108" dur="1" fill="hold">
                                          <p:stCondLst>
                                            <p:cond delay="0"/>
                                          </p:stCondLst>
                                        </p:cTn>
                                        <p:tgtEl>
                                          <p:spTgt spid="220"/>
                                        </p:tgtEl>
                                        <p:attrNameLst>
                                          <p:attrName>style.visibility</p:attrName>
                                        </p:attrNameLst>
                                      </p:cBhvr>
                                      <p:to>
                                        <p:strVal val="visible"/>
                                      </p:to>
                                    </p:set>
                                    <p:animEffect transition="in" filter="slide(fromBottom)">
                                      <p:cBhvr>
                                        <p:cTn id="109" dur="3000"/>
                                        <p:tgtEl>
                                          <p:spTgt spid="220"/>
                                        </p:tgtEl>
                                      </p:cBhvr>
                                    </p:animEffect>
                                  </p:childTnLst>
                                </p:cTn>
                              </p:par>
                              <p:par>
                                <p:cTn id="110" presetID="19" presetClass="entr" presetSubtype="10" fill="hold" grpId="0" nodeType="withEffect">
                                  <p:stCondLst>
                                    <p:cond delay="0"/>
                                  </p:stCondLst>
                                  <p:childTnLst>
                                    <p:set>
                                      <p:cBhvr>
                                        <p:cTn id="111" dur="1" fill="hold">
                                          <p:stCondLst>
                                            <p:cond delay="0"/>
                                          </p:stCondLst>
                                        </p:cTn>
                                        <p:tgtEl>
                                          <p:spTgt spid="221"/>
                                        </p:tgtEl>
                                        <p:attrNameLst>
                                          <p:attrName>style.visibility</p:attrName>
                                        </p:attrNameLst>
                                      </p:cBhvr>
                                      <p:to>
                                        <p:strVal val="visible"/>
                                      </p:to>
                                    </p:set>
                                    <p:anim calcmode="lin" valueType="num">
                                      <p:cBhvr>
                                        <p:cTn id="112" dur="5000" fill="hold"/>
                                        <p:tgtEl>
                                          <p:spTgt spid="221"/>
                                        </p:tgtEl>
                                        <p:attrNameLst>
                                          <p:attrName>ppt_w</p:attrName>
                                        </p:attrNameLst>
                                      </p:cBhvr>
                                      <p:tavLst>
                                        <p:tav tm="0" fmla="#ppt_w*sin(2.5*pi*$)">
                                          <p:val>
                                            <p:fltVal val="0"/>
                                          </p:val>
                                        </p:tav>
                                        <p:tav tm="100000">
                                          <p:val>
                                            <p:fltVal val="1"/>
                                          </p:val>
                                        </p:tav>
                                      </p:tavLst>
                                    </p:anim>
                                    <p:anim calcmode="lin" valueType="num">
                                      <p:cBhvr>
                                        <p:cTn id="113" dur="5000" fill="hold"/>
                                        <p:tgtEl>
                                          <p:spTgt spid="221"/>
                                        </p:tgtEl>
                                        <p:attrNameLst>
                                          <p:attrName>ppt_h</p:attrName>
                                        </p:attrNameLst>
                                      </p:cBhvr>
                                      <p:tavLst>
                                        <p:tav tm="0">
                                          <p:val>
                                            <p:strVal val="#ppt_h"/>
                                          </p:val>
                                        </p:tav>
                                        <p:tav tm="100000">
                                          <p:val>
                                            <p:strVal val="#ppt_h"/>
                                          </p:val>
                                        </p:tav>
                                      </p:tavLst>
                                    </p:anim>
                                  </p:childTnLst>
                                </p:cTn>
                              </p:par>
                            </p:childTnLst>
                          </p:cTn>
                        </p:par>
                        <p:par>
                          <p:cTn id="114" fill="hold">
                            <p:stCondLst>
                              <p:cond delay="10000"/>
                            </p:stCondLst>
                            <p:childTnLst>
                              <p:par>
                                <p:cTn id="115" presetID="12" presetClass="entr" presetSubtype="8" fill="hold" nodeType="afterEffect">
                                  <p:stCondLst>
                                    <p:cond delay="0"/>
                                  </p:stCondLst>
                                  <p:childTnLst>
                                    <p:set>
                                      <p:cBhvr>
                                        <p:cTn id="116" dur="1" fill="hold">
                                          <p:stCondLst>
                                            <p:cond delay="0"/>
                                          </p:stCondLst>
                                        </p:cTn>
                                        <p:tgtEl>
                                          <p:spTgt spid="222"/>
                                        </p:tgtEl>
                                        <p:attrNameLst>
                                          <p:attrName>style.visibility</p:attrName>
                                        </p:attrNameLst>
                                      </p:cBhvr>
                                      <p:to>
                                        <p:strVal val="visible"/>
                                      </p:to>
                                    </p:set>
                                    <p:animEffect transition="in" filter="slide(fromLeft)">
                                      <p:cBhvr>
                                        <p:cTn id="117" dur="3000"/>
                                        <p:tgtEl>
                                          <p:spTgt spid="222"/>
                                        </p:tgtEl>
                                      </p:cBhvr>
                                    </p:animEffect>
                                  </p:childTnLst>
                                </p:cTn>
                              </p:par>
                              <p:par>
                                <p:cTn id="118" presetID="19" presetClass="entr" presetSubtype="10" fill="hold" grpId="0" nodeType="withEffect">
                                  <p:stCondLst>
                                    <p:cond delay="0"/>
                                  </p:stCondLst>
                                  <p:childTnLst>
                                    <p:set>
                                      <p:cBhvr>
                                        <p:cTn id="119" dur="1" fill="hold">
                                          <p:stCondLst>
                                            <p:cond delay="0"/>
                                          </p:stCondLst>
                                        </p:cTn>
                                        <p:tgtEl>
                                          <p:spTgt spid="223"/>
                                        </p:tgtEl>
                                        <p:attrNameLst>
                                          <p:attrName>style.visibility</p:attrName>
                                        </p:attrNameLst>
                                      </p:cBhvr>
                                      <p:to>
                                        <p:strVal val="visible"/>
                                      </p:to>
                                    </p:set>
                                    <p:anim calcmode="lin" valueType="num">
                                      <p:cBhvr>
                                        <p:cTn id="120" dur="5000" fill="hold"/>
                                        <p:tgtEl>
                                          <p:spTgt spid="223"/>
                                        </p:tgtEl>
                                        <p:attrNameLst>
                                          <p:attrName>ppt_w</p:attrName>
                                        </p:attrNameLst>
                                      </p:cBhvr>
                                      <p:tavLst>
                                        <p:tav tm="0" fmla="#ppt_w*sin(2.5*pi*$)">
                                          <p:val>
                                            <p:fltVal val="0"/>
                                          </p:val>
                                        </p:tav>
                                        <p:tav tm="100000">
                                          <p:val>
                                            <p:fltVal val="1"/>
                                          </p:val>
                                        </p:tav>
                                      </p:tavLst>
                                    </p:anim>
                                    <p:anim calcmode="lin" valueType="num">
                                      <p:cBhvr>
                                        <p:cTn id="121" dur="5000" fill="hold"/>
                                        <p:tgtEl>
                                          <p:spTgt spid="223"/>
                                        </p:tgtEl>
                                        <p:attrNameLst>
                                          <p:attrName>ppt_h</p:attrName>
                                        </p:attrNameLst>
                                      </p:cBhvr>
                                      <p:tavLst>
                                        <p:tav tm="0">
                                          <p:val>
                                            <p:strVal val="#ppt_h"/>
                                          </p:val>
                                        </p:tav>
                                        <p:tav tm="100000">
                                          <p:val>
                                            <p:strVal val="#ppt_h"/>
                                          </p:val>
                                        </p:tav>
                                      </p:tavLst>
                                    </p:anim>
                                  </p:childTnLst>
                                </p:cTn>
                              </p:par>
                            </p:childTnLst>
                          </p:cTn>
                        </p:par>
                      </p:childTnLst>
                    </p:cTn>
                  </p:par>
                  <p:par>
                    <p:cTn id="122" fill="hold">
                      <p:stCondLst>
                        <p:cond delay="indefinite"/>
                      </p:stCondLst>
                      <p:childTnLst>
                        <p:par>
                          <p:cTn id="123" fill="hold">
                            <p:stCondLst>
                              <p:cond delay="0"/>
                            </p:stCondLst>
                            <p:childTnLst>
                              <p:par>
                                <p:cTn id="124" presetID="12" presetClass="entr" presetSubtype="1" fill="hold" nodeType="clickEffect">
                                  <p:stCondLst>
                                    <p:cond delay="0"/>
                                  </p:stCondLst>
                                  <p:childTnLst>
                                    <p:set>
                                      <p:cBhvr>
                                        <p:cTn id="125" dur="1" fill="hold">
                                          <p:stCondLst>
                                            <p:cond delay="0"/>
                                          </p:stCondLst>
                                        </p:cTn>
                                        <p:tgtEl>
                                          <p:spTgt spid="224"/>
                                        </p:tgtEl>
                                        <p:attrNameLst>
                                          <p:attrName>style.visibility</p:attrName>
                                        </p:attrNameLst>
                                      </p:cBhvr>
                                      <p:to>
                                        <p:strVal val="visible"/>
                                      </p:to>
                                    </p:set>
                                    <p:animEffect transition="in" filter="slide(fromTop)">
                                      <p:cBhvr>
                                        <p:cTn id="126" dur="3000"/>
                                        <p:tgtEl>
                                          <p:spTgt spid="224"/>
                                        </p:tgtEl>
                                      </p:cBhvr>
                                    </p:animEffect>
                                  </p:childTnLst>
                                </p:cTn>
                              </p:par>
                              <p:par>
                                <p:cTn id="127" presetID="19" presetClass="entr" presetSubtype="10" fill="hold" grpId="0" nodeType="withEffect">
                                  <p:stCondLst>
                                    <p:cond delay="0"/>
                                  </p:stCondLst>
                                  <p:childTnLst>
                                    <p:set>
                                      <p:cBhvr>
                                        <p:cTn id="128" dur="1" fill="hold">
                                          <p:stCondLst>
                                            <p:cond delay="0"/>
                                          </p:stCondLst>
                                        </p:cTn>
                                        <p:tgtEl>
                                          <p:spTgt spid="225"/>
                                        </p:tgtEl>
                                        <p:attrNameLst>
                                          <p:attrName>style.visibility</p:attrName>
                                        </p:attrNameLst>
                                      </p:cBhvr>
                                      <p:to>
                                        <p:strVal val="visible"/>
                                      </p:to>
                                    </p:set>
                                    <p:anim calcmode="lin" valueType="num">
                                      <p:cBhvr>
                                        <p:cTn id="129" dur="5000" fill="hold"/>
                                        <p:tgtEl>
                                          <p:spTgt spid="225"/>
                                        </p:tgtEl>
                                        <p:attrNameLst>
                                          <p:attrName>ppt_w</p:attrName>
                                        </p:attrNameLst>
                                      </p:cBhvr>
                                      <p:tavLst>
                                        <p:tav tm="0" fmla="#ppt_w*sin(2.5*pi*$)">
                                          <p:val>
                                            <p:fltVal val="0"/>
                                          </p:val>
                                        </p:tav>
                                        <p:tav tm="100000">
                                          <p:val>
                                            <p:fltVal val="1"/>
                                          </p:val>
                                        </p:tav>
                                      </p:tavLst>
                                    </p:anim>
                                    <p:anim calcmode="lin" valueType="num">
                                      <p:cBhvr>
                                        <p:cTn id="130" dur="5000" fill="hold"/>
                                        <p:tgtEl>
                                          <p:spTgt spid="225"/>
                                        </p:tgtEl>
                                        <p:attrNameLst>
                                          <p:attrName>ppt_h</p:attrName>
                                        </p:attrNameLst>
                                      </p:cBhvr>
                                      <p:tavLst>
                                        <p:tav tm="0">
                                          <p:val>
                                            <p:strVal val="#ppt_h"/>
                                          </p:val>
                                        </p:tav>
                                        <p:tav tm="100000">
                                          <p:val>
                                            <p:strVal val="#ppt_h"/>
                                          </p:val>
                                        </p:tav>
                                      </p:tavLst>
                                    </p:anim>
                                  </p:childTnLst>
                                </p:cTn>
                              </p:par>
                              <p:par>
                                <p:cTn id="131" presetID="19" presetClass="entr" presetSubtype="10" fill="hold" grpId="0" nodeType="withEffect">
                                  <p:stCondLst>
                                    <p:cond delay="0"/>
                                  </p:stCondLst>
                                  <p:childTnLst>
                                    <p:set>
                                      <p:cBhvr>
                                        <p:cTn id="132" dur="1" fill="hold">
                                          <p:stCondLst>
                                            <p:cond delay="0"/>
                                          </p:stCondLst>
                                        </p:cTn>
                                        <p:tgtEl>
                                          <p:spTgt spid="226"/>
                                        </p:tgtEl>
                                        <p:attrNameLst>
                                          <p:attrName>style.visibility</p:attrName>
                                        </p:attrNameLst>
                                      </p:cBhvr>
                                      <p:to>
                                        <p:strVal val="visible"/>
                                      </p:to>
                                    </p:set>
                                    <p:anim calcmode="lin" valueType="num">
                                      <p:cBhvr>
                                        <p:cTn id="133" dur="5000" fill="hold"/>
                                        <p:tgtEl>
                                          <p:spTgt spid="226"/>
                                        </p:tgtEl>
                                        <p:attrNameLst>
                                          <p:attrName>ppt_w</p:attrName>
                                        </p:attrNameLst>
                                      </p:cBhvr>
                                      <p:tavLst>
                                        <p:tav tm="0" fmla="#ppt_w*sin(2.5*pi*$)">
                                          <p:val>
                                            <p:fltVal val="0"/>
                                          </p:val>
                                        </p:tav>
                                        <p:tav tm="100000">
                                          <p:val>
                                            <p:fltVal val="1"/>
                                          </p:val>
                                        </p:tav>
                                      </p:tavLst>
                                    </p:anim>
                                    <p:anim calcmode="lin" valueType="num">
                                      <p:cBhvr>
                                        <p:cTn id="134" dur="5000" fill="hold"/>
                                        <p:tgtEl>
                                          <p:spTgt spid="22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p:bldP spid="178" grpId="0"/>
      <p:bldP spid="185" grpId="0"/>
      <p:bldP spid="205" grpId="0"/>
      <p:bldP spid="207" grpId="0"/>
      <p:bldP spid="211" grpId="0"/>
      <p:bldP spid="219" grpId="0"/>
      <p:bldP spid="221" grpId="0"/>
      <p:bldP spid="223" grpId="0"/>
      <p:bldP spid="225" grpId="0"/>
      <p:bldP spid="226"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4653838"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第七章   动力学普遍定理</a:t>
            </a:r>
          </a:p>
        </p:txBody>
      </p:sp>
      <p:sp>
        <p:nvSpPr>
          <p:cNvPr id="93" name="矩形 92">
            <a:extLst>
              <a:ext uri="{FF2B5EF4-FFF2-40B4-BE49-F238E27FC236}">
                <a16:creationId xmlns:a16="http://schemas.microsoft.com/office/drawing/2014/main" id="{77CF9808-61EB-D4BA-10C7-C85E98A9BD3D}"/>
              </a:ext>
            </a:extLst>
          </p:cNvPr>
          <p:cNvSpPr/>
          <p:nvPr/>
        </p:nvSpPr>
        <p:spPr>
          <a:xfrm>
            <a:off x="551384" y="980728"/>
            <a:ext cx="9577064" cy="936347"/>
          </a:xfrm>
          <a:prstGeom prst="rect">
            <a:avLst/>
          </a:prstGeom>
        </p:spPr>
        <p:txBody>
          <a:bodyPr wrap="square">
            <a:spAutoFit/>
          </a:bodyPr>
          <a:lstStyle/>
          <a:p>
            <a:pPr>
              <a:lnSpc>
                <a:spcPct val="120000"/>
              </a:lnSpc>
            </a:pPr>
            <a:r>
              <a:rPr lang="zh-CN" altLang="en-US" i="0" dirty="0">
                <a:solidFill>
                  <a:srgbClr val="0033CC"/>
                </a:solidFill>
                <a:ea typeface="黑体" panose="02010609060101010101" pitchFamily="49" charset="-122"/>
              </a:rPr>
              <a:t>解  </a:t>
            </a:r>
            <a:r>
              <a:rPr kumimoji="1" lang="zh-CN" altLang="en-US" i="0" dirty="0">
                <a:solidFill>
                  <a:schemeClr val="tx1"/>
                </a:solidFill>
                <a:ea typeface="黑体" panose="02010609060101010101" pitchFamily="49" charset="-122"/>
              </a:rPr>
              <a:t>由车辆由静止开始，</a:t>
            </a:r>
            <a:r>
              <a:rPr kumimoji="1" lang="en-US" altLang="zh-CN" b="0" dirty="0">
                <a:solidFill>
                  <a:schemeClr val="tx1"/>
                </a:solidFill>
                <a:ea typeface="黑体" panose="02010609060101010101" pitchFamily="49" charset="-122"/>
              </a:rPr>
              <a:t>E</a:t>
            </a:r>
            <a:r>
              <a:rPr kumimoji="1" lang="en-US" altLang="zh-CN" b="0" i="0" baseline="-25000" dirty="0">
                <a:solidFill>
                  <a:schemeClr val="tx1"/>
                </a:solidFill>
                <a:ea typeface="黑体" panose="02010609060101010101" pitchFamily="49" charset="-122"/>
              </a:rPr>
              <a:t>k1</a:t>
            </a:r>
            <a:r>
              <a:rPr kumimoji="1" lang="zh-CN" altLang="en-US" b="0" i="0" dirty="0">
                <a:solidFill>
                  <a:schemeClr val="tx1"/>
                </a:solidFill>
                <a:ea typeface="黑体" panose="02010609060101010101" pitchFamily="49" charset="-122"/>
              </a:rPr>
              <a:t>＝</a:t>
            </a:r>
            <a:r>
              <a:rPr kumimoji="1" lang="en-US" altLang="zh-CN" b="0" i="0" dirty="0">
                <a:solidFill>
                  <a:schemeClr val="tx1"/>
                </a:solidFill>
                <a:ea typeface="黑体" panose="02010609060101010101" pitchFamily="49" charset="-122"/>
              </a:rPr>
              <a:t>0</a:t>
            </a:r>
            <a:r>
              <a:rPr kumimoji="1" lang="zh-CN" altLang="en-US" i="0" dirty="0">
                <a:solidFill>
                  <a:schemeClr val="tx1"/>
                </a:solidFill>
                <a:ea typeface="黑体" panose="02010609060101010101" pitchFamily="49" charset="-122"/>
              </a:rPr>
              <a:t>，运行到</a:t>
            </a:r>
            <a:r>
              <a:rPr kumimoji="1" lang="en-US" altLang="zh-CN" b="0" dirty="0">
                <a:solidFill>
                  <a:schemeClr val="tx1"/>
                </a:solidFill>
                <a:ea typeface="黑体" panose="02010609060101010101" pitchFamily="49" charset="-122"/>
              </a:rPr>
              <a:t>C</a:t>
            </a:r>
            <a:r>
              <a:rPr kumimoji="1" lang="zh-CN" altLang="en-US" i="0" dirty="0">
                <a:solidFill>
                  <a:schemeClr val="tx1"/>
                </a:solidFill>
                <a:ea typeface="黑体" panose="02010609060101010101" pitchFamily="49" charset="-122"/>
              </a:rPr>
              <a:t>处停止，末动能</a:t>
            </a:r>
            <a:r>
              <a:rPr kumimoji="1" lang="en-US" altLang="zh-CN" b="0" dirty="0">
                <a:solidFill>
                  <a:schemeClr val="tx1"/>
                </a:solidFill>
                <a:ea typeface="黑体" panose="02010609060101010101" pitchFamily="49" charset="-122"/>
              </a:rPr>
              <a:t>E</a:t>
            </a:r>
            <a:r>
              <a:rPr kumimoji="1" lang="en-US" altLang="zh-CN" b="0" i="0" baseline="-25000" dirty="0">
                <a:solidFill>
                  <a:schemeClr val="tx1"/>
                </a:solidFill>
                <a:ea typeface="黑体" panose="02010609060101010101" pitchFamily="49" charset="-122"/>
              </a:rPr>
              <a:t>k2</a:t>
            </a:r>
            <a:r>
              <a:rPr kumimoji="1" lang="zh-CN" altLang="en-US" b="0" i="0" dirty="0">
                <a:solidFill>
                  <a:schemeClr val="tx1"/>
                </a:solidFill>
                <a:ea typeface="黑体" panose="02010609060101010101" pitchFamily="49" charset="-122"/>
              </a:rPr>
              <a:t>＝</a:t>
            </a:r>
            <a:r>
              <a:rPr kumimoji="1" lang="en-US" altLang="zh-CN" b="0" i="0" dirty="0">
                <a:solidFill>
                  <a:schemeClr val="tx1"/>
                </a:solidFill>
                <a:ea typeface="黑体" panose="02010609060101010101" pitchFamily="49" charset="-122"/>
              </a:rPr>
              <a:t>0</a:t>
            </a:r>
            <a:r>
              <a:rPr kumimoji="1" lang="zh-CN" altLang="en-US" i="0" dirty="0">
                <a:solidFill>
                  <a:schemeClr val="tx1"/>
                </a:solidFill>
                <a:ea typeface="黑体" panose="02010609060101010101" pitchFamily="49" charset="-122"/>
              </a:rPr>
              <a:t>。运行中受到重力</a:t>
            </a:r>
            <a:r>
              <a:rPr kumimoji="1" lang="en-US" altLang="zh-CN" dirty="0">
                <a:solidFill>
                  <a:schemeClr val="tx1"/>
                </a:solidFill>
                <a:ea typeface="黑体" panose="02010609060101010101" pitchFamily="49" charset="-122"/>
              </a:rPr>
              <a:t>W</a:t>
            </a:r>
            <a:r>
              <a:rPr kumimoji="1" lang="zh-CN" altLang="en-US" dirty="0">
                <a:solidFill>
                  <a:schemeClr val="tx1"/>
                </a:solidFill>
                <a:ea typeface="黑体" panose="02010609060101010101" pitchFamily="49" charset="-122"/>
              </a:rPr>
              <a:t>、</a:t>
            </a:r>
            <a:r>
              <a:rPr kumimoji="1" lang="zh-CN" altLang="en-US" i="0" dirty="0">
                <a:solidFill>
                  <a:schemeClr val="tx1"/>
                </a:solidFill>
                <a:ea typeface="黑体" panose="02010609060101010101" pitchFamily="49" charset="-122"/>
              </a:rPr>
              <a:t>法向反力</a:t>
            </a:r>
            <a:r>
              <a:rPr kumimoji="1" lang="en-US" altLang="zh-CN" dirty="0">
                <a:solidFill>
                  <a:schemeClr val="tx1"/>
                </a:solidFill>
                <a:ea typeface="黑体" panose="02010609060101010101" pitchFamily="49" charset="-122"/>
              </a:rPr>
              <a:t>F</a:t>
            </a:r>
            <a:r>
              <a:rPr kumimoji="1" lang="en-US" altLang="zh-CN" i="0" baseline="-25000" dirty="0">
                <a:solidFill>
                  <a:schemeClr val="tx1"/>
                </a:solidFill>
                <a:ea typeface="黑体" panose="02010609060101010101" pitchFamily="49" charset="-122"/>
              </a:rPr>
              <a:t>N</a:t>
            </a:r>
            <a:r>
              <a:rPr kumimoji="1" lang="zh-CN" altLang="en-US" i="0" dirty="0">
                <a:solidFill>
                  <a:schemeClr val="tx1"/>
                </a:solidFill>
                <a:ea typeface="黑体" panose="02010609060101010101" pitchFamily="49" charset="-122"/>
              </a:rPr>
              <a:t>和摩擦力</a:t>
            </a:r>
            <a:r>
              <a:rPr kumimoji="1" lang="en-US" altLang="zh-CN" i="0" dirty="0">
                <a:solidFill>
                  <a:schemeClr val="tx1"/>
                </a:solidFill>
                <a:ea typeface="黑体" panose="02010609060101010101" pitchFamily="49" charset="-122"/>
              </a:rPr>
              <a:t>(</a:t>
            </a:r>
            <a:r>
              <a:rPr kumimoji="1" lang="zh-CN" altLang="en-US" i="0" dirty="0">
                <a:solidFill>
                  <a:schemeClr val="tx1"/>
                </a:solidFill>
                <a:ea typeface="黑体" panose="02010609060101010101" pitchFamily="49" charset="-122"/>
              </a:rPr>
              <a:t>运行阻力</a:t>
            </a:r>
            <a:r>
              <a:rPr kumimoji="1" lang="en-US" altLang="zh-CN" i="0" dirty="0">
                <a:solidFill>
                  <a:schemeClr val="tx1"/>
                </a:solidFill>
                <a:ea typeface="黑体" panose="02010609060101010101" pitchFamily="49" charset="-122"/>
              </a:rPr>
              <a:t>)</a:t>
            </a:r>
            <a:r>
              <a:rPr kumimoji="1" lang="en-US" altLang="zh-CN" dirty="0">
                <a:solidFill>
                  <a:schemeClr val="tx1"/>
                </a:solidFill>
                <a:ea typeface="黑体" panose="02010609060101010101" pitchFamily="49" charset="-122"/>
              </a:rPr>
              <a:t>F</a:t>
            </a:r>
            <a:r>
              <a:rPr kumimoji="1" lang="zh-CN" altLang="en-US" i="0" dirty="0">
                <a:solidFill>
                  <a:schemeClr val="tx1"/>
                </a:solidFill>
                <a:ea typeface="黑体" panose="02010609060101010101" pitchFamily="49" charset="-122"/>
              </a:rPr>
              <a:t>的作用。</a:t>
            </a:r>
            <a:endParaRPr lang="zh-CN" altLang="en-US" i="0" dirty="0">
              <a:solidFill>
                <a:schemeClr val="tx1"/>
              </a:solidFill>
              <a:latin typeface="+mn-lt"/>
              <a:ea typeface="黑体" panose="02010609060101010101" pitchFamily="49" charset="-122"/>
            </a:endParaRPr>
          </a:p>
        </p:txBody>
      </p:sp>
      <p:sp>
        <p:nvSpPr>
          <p:cNvPr id="3" name="矩形 2">
            <a:extLst>
              <a:ext uri="{FF2B5EF4-FFF2-40B4-BE49-F238E27FC236}">
                <a16:creationId xmlns:a16="http://schemas.microsoft.com/office/drawing/2014/main" id="{53D38733-3450-4447-7AED-F8EE3B2B65DA}"/>
              </a:ext>
            </a:extLst>
          </p:cNvPr>
          <p:cNvSpPr/>
          <p:nvPr/>
        </p:nvSpPr>
        <p:spPr>
          <a:xfrm>
            <a:off x="551384" y="1916728"/>
            <a:ext cx="9577064" cy="1003095"/>
          </a:xfrm>
          <a:prstGeom prst="rect">
            <a:avLst/>
          </a:prstGeom>
        </p:spPr>
        <p:txBody>
          <a:bodyPr wrap="square">
            <a:spAutoFit/>
          </a:bodyPr>
          <a:lstStyle/>
          <a:p>
            <a:pPr>
              <a:lnSpc>
                <a:spcPct val="120000"/>
              </a:lnSpc>
            </a:pPr>
            <a:r>
              <a:rPr kumimoji="1" lang="zh-CN" altLang="en-US" i="0" dirty="0">
                <a:solidFill>
                  <a:schemeClr val="tx1"/>
                </a:solidFill>
                <a:ea typeface="黑体" panose="02010609060101010101" pitchFamily="49" charset="-122"/>
              </a:rPr>
              <a:t>根据动能定理，有</a:t>
            </a:r>
            <a:endParaRPr kumimoji="1" lang="en-US" altLang="zh-CN" i="0" dirty="0">
              <a:solidFill>
                <a:schemeClr val="tx1"/>
              </a:solidFill>
              <a:ea typeface="黑体" panose="02010609060101010101" pitchFamily="49" charset="-122"/>
            </a:endParaRPr>
          </a:p>
          <a:p>
            <a:pPr>
              <a:lnSpc>
                <a:spcPct val="120000"/>
              </a:lnSpc>
            </a:pPr>
            <a:r>
              <a:rPr lang="en-US" altLang="zh-CN" b="0" i="0" dirty="0">
                <a:solidFill>
                  <a:schemeClr val="tx1"/>
                </a:solidFill>
              </a:rPr>
              <a:t>                       </a:t>
            </a:r>
            <a:r>
              <a:rPr lang="en-US" altLang="zh-CN" sz="2800" b="0" i="0" dirty="0">
                <a:solidFill>
                  <a:schemeClr val="tx1"/>
                </a:solidFill>
              </a:rPr>
              <a:t>0</a:t>
            </a:r>
            <a:r>
              <a:rPr lang="en-US" altLang="zh-CN" sz="2800" b="0" i="0" dirty="0">
                <a:solidFill>
                  <a:schemeClr val="tx1"/>
                </a:solidFill>
                <a:latin typeface="宋体" panose="02010600030101010101" pitchFamily="2" charset="-122"/>
              </a:rPr>
              <a:t>-</a:t>
            </a:r>
            <a:r>
              <a:rPr lang="en-US" altLang="zh-CN" sz="2800" b="0" i="0" dirty="0">
                <a:solidFill>
                  <a:schemeClr val="tx1"/>
                </a:solidFill>
              </a:rPr>
              <a:t>0</a:t>
            </a:r>
            <a:r>
              <a:rPr lang="zh-CN" altLang="en-US" sz="2800" b="0" i="0" dirty="0">
                <a:solidFill>
                  <a:schemeClr val="tx1"/>
                </a:solidFill>
              </a:rPr>
              <a:t>＝</a:t>
            </a:r>
            <a:r>
              <a:rPr lang="en-US" altLang="zh-CN" sz="2800" b="0" dirty="0" err="1">
                <a:solidFill>
                  <a:schemeClr val="tx1"/>
                </a:solidFill>
              </a:rPr>
              <a:t>Wh</a:t>
            </a:r>
            <a:r>
              <a:rPr lang="en-US" altLang="zh-CN" sz="2800" b="0" i="0" dirty="0" err="1">
                <a:solidFill>
                  <a:schemeClr val="tx1"/>
                </a:solidFill>
                <a:latin typeface="宋体" panose="02010600030101010101" pitchFamily="2" charset="-122"/>
              </a:rPr>
              <a:t>-</a:t>
            </a:r>
            <a:r>
              <a:rPr lang="en-US" altLang="zh-CN" sz="2800" b="0" dirty="0" err="1">
                <a:solidFill>
                  <a:schemeClr val="tx1"/>
                </a:solidFill>
              </a:rPr>
              <a:t>KW</a:t>
            </a:r>
            <a:r>
              <a:rPr lang="en-US" altLang="zh-CN" sz="2800" b="0" i="0" dirty="0" err="1">
                <a:solidFill>
                  <a:schemeClr val="tx1"/>
                </a:solidFill>
              </a:rPr>
              <a:t>cos</a:t>
            </a:r>
            <a:r>
              <a:rPr lang="en-US" altLang="zh-CN" sz="2800" b="0" dirty="0" err="1">
                <a:solidFill>
                  <a:schemeClr val="tx1"/>
                </a:solidFill>
                <a:sym typeface="Symbol" panose="05050102010706020507" pitchFamily="18" charset="2"/>
              </a:rPr>
              <a:t></a:t>
            </a:r>
            <a:r>
              <a:rPr lang="en-US" altLang="zh-CN" sz="2800" b="0" dirty="0" err="1">
                <a:solidFill>
                  <a:schemeClr val="tx1"/>
                </a:solidFill>
              </a:rPr>
              <a:t>l</a:t>
            </a:r>
            <a:r>
              <a:rPr lang="en-US" altLang="zh-CN" sz="2800" b="0" i="0" dirty="0" err="1">
                <a:solidFill>
                  <a:schemeClr val="tx1"/>
                </a:solidFill>
                <a:latin typeface="宋体" panose="02010600030101010101" pitchFamily="2" charset="-122"/>
              </a:rPr>
              <a:t>-</a:t>
            </a:r>
            <a:r>
              <a:rPr lang="en-US" altLang="zh-CN" sz="2800" b="0" dirty="0" err="1">
                <a:solidFill>
                  <a:schemeClr val="tx1"/>
                </a:solidFill>
              </a:rPr>
              <a:t>KWs</a:t>
            </a:r>
            <a:endParaRPr lang="zh-CN" altLang="en-US" sz="2800" i="0" dirty="0">
              <a:solidFill>
                <a:schemeClr val="tx1"/>
              </a:solidFill>
              <a:latin typeface="+mn-lt"/>
              <a:ea typeface="黑体" panose="02010609060101010101" pitchFamily="49" charset="-122"/>
            </a:endParaRPr>
          </a:p>
        </p:txBody>
      </p:sp>
      <p:graphicFrame>
        <p:nvGraphicFramePr>
          <p:cNvPr id="8" name="Object 63">
            <a:extLst>
              <a:ext uri="{FF2B5EF4-FFF2-40B4-BE49-F238E27FC236}">
                <a16:creationId xmlns:a16="http://schemas.microsoft.com/office/drawing/2014/main" id="{5F722316-C0E6-D7B6-B3E3-56CB83B92D16}"/>
              </a:ext>
            </a:extLst>
          </p:cNvPr>
          <p:cNvGraphicFramePr>
            <a:graphicFrameLocks noChangeAspect="1"/>
          </p:cNvGraphicFramePr>
          <p:nvPr>
            <p:extLst>
              <p:ext uri="{D42A27DB-BD31-4B8C-83A1-F6EECF244321}">
                <p14:modId xmlns:p14="http://schemas.microsoft.com/office/powerpoint/2010/main" val="795433294"/>
              </p:ext>
            </p:extLst>
          </p:nvPr>
        </p:nvGraphicFramePr>
        <p:xfrm>
          <a:off x="2855640" y="3645024"/>
          <a:ext cx="1430690" cy="864096"/>
        </p:xfrm>
        <a:graphic>
          <a:graphicData uri="http://schemas.openxmlformats.org/presentationml/2006/ole">
            <mc:AlternateContent xmlns:mc="http://schemas.openxmlformats.org/markup-compatibility/2006">
              <mc:Choice xmlns:v="urn:schemas-microsoft-com:vml" Requires="v">
                <p:oleObj spid="_x0000_s28687" name="Equation" r:id="rId4" imgW="647640" imgH="393480" progId="Equation.DSMT4">
                  <p:embed/>
                </p:oleObj>
              </mc:Choice>
              <mc:Fallback>
                <p:oleObj name="Equation" r:id="rId4" imgW="647640" imgH="393480" progId="Equation.DSMT4">
                  <p:embed/>
                  <p:pic>
                    <p:nvPicPr>
                      <p:cNvPr id="1132607" name="Object 63">
                        <a:extLst>
                          <a:ext uri="{FF2B5EF4-FFF2-40B4-BE49-F238E27FC236}">
                            <a16:creationId xmlns:a16="http://schemas.microsoft.com/office/drawing/2014/main" id="{36CB67D7-DC68-2BC7-5405-49AF4553663A}"/>
                          </a:ext>
                        </a:extLst>
                      </p:cNvPr>
                      <p:cNvPicPr>
                        <a:picLocks noChangeAspect="1" noChangeArrowheads="1"/>
                      </p:cNvPicPr>
                      <p:nvPr/>
                    </p:nvPicPr>
                    <p:blipFill>
                      <a:blip r:embed="rId5"/>
                      <a:srcRect/>
                      <a:stretch>
                        <a:fillRect/>
                      </a:stretch>
                    </p:blipFill>
                    <p:spPr bwMode="auto">
                      <a:xfrm>
                        <a:off x="2855640" y="3645024"/>
                        <a:ext cx="1430690" cy="864096"/>
                      </a:xfrm>
                      <a:prstGeom prst="rect">
                        <a:avLst/>
                      </a:prstGeom>
                      <a:noFill/>
                    </p:spPr>
                  </p:pic>
                </p:oleObj>
              </mc:Fallback>
            </mc:AlternateContent>
          </a:graphicData>
        </a:graphic>
      </p:graphicFrame>
      <p:sp>
        <p:nvSpPr>
          <p:cNvPr id="27" name="矩形 26">
            <a:extLst>
              <a:ext uri="{FF2B5EF4-FFF2-40B4-BE49-F238E27FC236}">
                <a16:creationId xmlns:a16="http://schemas.microsoft.com/office/drawing/2014/main" id="{13A95F52-DDFF-B730-78D9-D0696EA987DA}"/>
              </a:ext>
            </a:extLst>
          </p:cNvPr>
          <p:cNvSpPr/>
          <p:nvPr/>
        </p:nvSpPr>
        <p:spPr>
          <a:xfrm>
            <a:off x="2711624" y="3002475"/>
            <a:ext cx="4608512" cy="559897"/>
          </a:xfrm>
          <a:prstGeom prst="rect">
            <a:avLst/>
          </a:prstGeom>
        </p:spPr>
        <p:txBody>
          <a:bodyPr wrap="square">
            <a:spAutoFit/>
          </a:bodyPr>
          <a:lstStyle/>
          <a:p>
            <a:pPr>
              <a:lnSpc>
                <a:spcPct val="120000"/>
              </a:lnSpc>
            </a:pPr>
            <a:r>
              <a:rPr lang="en-US" altLang="zh-CN" sz="2800" b="0" dirty="0" err="1">
                <a:solidFill>
                  <a:schemeClr val="tx1"/>
                </a:solidFill>
              </a:rPr>
              <a:t>Wh</a:t>
            </a:r>
            <a:r>
              <a:rPr lang="en-US" altLang="zh-CN" sz="2800" b="0" i="0" dirty="0">
                <a:solidFill>
                  <a:schemeClr val="tx1"/>
                </a:solidFill>
                <a:latin typeface="宋体" panose="02010600030101010101" pitchFamily="2" charset="-122"/>
              </a:rPr>
              <a:t>-</a:t>
            </a:r>
            <a:r>
              <a:rPr lang="en-US" altLang="zh-CN" sz="2800" b="0" dirty="0">
                <a:solidFill>
                  <a:schemeClr val="tx1"/>
                </a:solidFill>
              </a:rPr>
              <a:t>KWs</a:t>
            </a:r>
            <a:r>
              <a:rPr lang="en-US" altLang="zh-CN" sz="2800" b="0" dirty="0">
                <a:solidFill>
                  <a:schemeClr val="tx1"/>
                </a:solidFill>
                <a:cs typeface="Times New Roman" panose="02020603050405020304" pitchFamily="18" charset="0"/>
              </a:rPr>
              <a:t>'</a:t>
            </a:r>
            <a:r>
              <a:rPr lang="en-US" altLang="zh-CN" sz="2800" b="0" i="0" dirty="0">
                <a:solidFill>
                  <a:schemeClr val="tx1"/>
                </a:solidFill>
                <a:latin typeface="宋体" panose="02010600030101010101" pitchFamily="2" charset="-122"/>
              </a:rPr>
              <a:t>-</a:t>
            </a:r>
            <a:r>
              <a:rPr lang="en-US" altLang="zh-CN" sz="2800" b="0" dirty="0">
                <a:solidFill>
                  <a:schemeClr val="tx1"/>
                </a:solidFill>
              </a:rPr>
              <a:t>KWs</a:t>
            </a:r>
            <a:r>
              <a:rPr lang="zh-CN" altLang="en-US" sz="2800" b="0" i="0" dirty="0">
                <a:solidFill>
                  <a:schemeClr val="tx1"/>
                </a:solidFill>
              </a:rPr>
              <a:t>＝</a:t>
            </a:r>
            <a:r>
              <a:rPr lang="en-US" altLang="zh-CN" sz="2800" b="0" i="0" dirty="0">
                <a:solidFill>
                  <a:schemeClr val="tx1"/>
                </a:solidFill>
              </a:rPr>
              <a:t>0</a:t>
            </a:r>
            <a:endParaRPr lang="zh-CN" altLang="en-US" sz="2800" i="0" dirty="0">
              <a:solidFill>
                <a:schemeClr val="tx1"/>
              </a:solidFill>
              <a:latin typeface="+mn-lt"/>
              <a:ea typeface="黑体" panose="02010609060101010101" pitchFamily="49" charset="-122"/>
            </a:endParaRPr>
          </a:p>
        </p:txBody>
      </p:sp>
    </p:spTree>
    <p:extLst>
      <p:ext uri="{BB962C8B-B14F-4D97-AF65-F5344CB8AC3E}">
        <p14:creationId xmlns:p14="http://schemas.microsoft.com/office/powerpoint/2010/main" val="1230398253"/>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par>
                          <p:cTn id="11" fill="hold">
                            <p:stCondLst>
                              <p:cond delay="0"/>
                            </p:stCondLst>
                            <p:childTnLst>
                              <p:par>
                                <p:cTn id="12" presetID="22" presetClass="entr" presetSubtype="8" fill="hold" nodeType="after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wipe(left)">
                                      <p:cBhvr>
                                        <p:cTn id="14" dur="3000"/>
                                        <p:tgtEl>
                                          <p:spTgt spid="8"/>
                                        </p:tgtEl>
                                      </p:cBhvr>
                                    </p:animEffec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 grpId="0"/>
      <p:bldP spid="3" grpId="0"/>
      <p:bldP spid="27"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4653838"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第七章   动力学普遍定理</a:t>
            </a:r>
          </a:p>
        </p:txBody>
      </p:sp>
      <p:sp>
        <p:nvSpPr>
          <p:cNvPr id="9" name="Rectangle 61">
            <a:extLst>
              <a:ext uri="{FF2B5EF4-FFF2-40B4-BE49-F238E27FC236}">
                <a16:creationId xmlns:a16="http://schemas.microsoft.com/office/drawing/2014/main" id="{0C4CF67B-8CA2-F648-B364-D8C44A49A572}"/>
              </a:ext>
            </a:extLst>
          </p:cNvPr>
          <p:cNvSpPr>
            <a:spLocks noChangeArrowheads="1"/>
          </p:cNvSpPr>
          <p:nvPr/>
        </p:nvSpPr>
        <p:spPr bwMode="auto">
          <a:xfrm>
            <a:off x="8616280" y="842980"/>
            <a:ext cx="3367187" cy="5394331"/>
          </a:xfrm>
          <a:prstGeom prst="rect">
            <a:avLst/>
          </a:prstGeom>
          <a:solidFill>
            <a:srgbClr val="B9CDE5"/>
          </a:solidFill>
          <a:ln>
            <a:noFill/>
          </a:ln>
          <a:effectLst/>
        </p:spPr>
        <p:txBody>
          <a:bodyPr wrap="none" anchor="ctr"/>
          <a:lstStyle/>
          <a:p>
            <a:endParaRPr lang="zh-CN" altLang="en-US" dirty="0"/>
          </a:p>
        </p:txBody>
      </p:sp>
      <p:sp>
        <p:nvSpPr>
          <p:cNvPr id="64" name="矩形 63"/>
          <p:cNvSpPr/>
          <p:nvPr/>
        </p:nvSpPr>
        <p:spPr>
          <a:xfrm>
            <a:off x="191343" y="842981"/>
            <a:ext cx="8280922" cy="1379545"/>
          </a:xfrm>
          <a:prstGeom prst="rect">
            <a:avLst/>
          </a:prstGeom>
        </p:spPr>
        <p:txBody>
          <a:bodyPr wrap="square">
            <a:spAutoFit/>
          </a:bodyPr>
          <a:lstStyle/>
          <a:p>
            <a:pPr>
              <a:lnSpc>
                <a:spcPct val="120000"/>
              </a:lnSpc>
            </a:pPr>
            <a:r>
              <a:rPr lang="zh-CN" altLang="en-US" i="0" dirty="0">
                <a:solidFill>
                  <a:srgbClr val="0033CC"/>
                </a:solidFill>
                <a:ea typeface="黑体" panose="02010609060101010101" pitchFamily="49" charset="-122"/>
              </a:rPr>
              <a:t>例   </a:t>
            </a:r>
            <a:r>
              <a:rPr lang="zh-CN" altLang="en-US" i="0" dirty="0">
                <a:solidFill>
                  <a:schemeClr val="tx1"/>
                </a:solidFill>
                <a:ea typeface="黑体" panose="02010609060101010101" pitchFamily="49" charset="-122"/>
              </a:rPr>
              <a:t>已知质量块质量为</a:t>
            </a:r>
            <a:r>
              <a:rPr lang="en-US" altLang="zh-CN" b="0" dirty="0">
                <a:solidFill>
                  <a:schemeClr val="tx1"/>
                </a:solidFill>
                <a:ea typeface="黑体" panose="02010609060101010101" pitchFamily="49" charset="-122"/>
              </a:rPr>
              <a:t>m</a:t>
            </a:r>
            <a:r>
              <a:rPr lang="zh-CN" altLang="en-US" i="0" dirty="0">
                <a:solidFill>
                  <a:schemeClr val="tx1"/>
                </a:solidFill>
                <a:ea typeface="黑体" panose="02010609060101010101" pitchFamily="49" charset="-122"/>
              </a:rPr>
              <a:t>，从距离平台搞</a:t>
            </a:r>
            <a:r>
              <a:rPr lang="en-US" altLang="zh-CN" b="0" dirty="0">
                <a:solidFill>
                  <a:schemeClr val="tx1"/>
                </a:solidFill>
                <a:ea typeface="黑体" panose="02010609060101010101" pitchFamily="49" charset="-122"/>
              </a:rPr>
              <a:t>h</a:t>
            </a:r>
            <a:r>
              <a:rPr lang="zh-CN" altLang="en-US" i="0" dirty="0">
                <a:solidFill>
                  <a:schemeClr val="tx1"/>
                </a:solidFill>
                <a:ea typeface="黑体" panose="02010609060101010101" pitchFamily="49" charset="-122"/>
              </a:rPr>
              <a:t>的位置静止释放，平台固结在刚度系数为</a:t>
            </a:r>
            <a:r>
              <a:rPr lang="en-US" altLang="zh-CN" b="0" dirty="0">
                <a:solidFill>
                  <a:schemeClr val="tx1"/>
                </a:solidFill>
                <a:ea typeface="黑体" panose="02010609060101010101" pitchFamily="49" charset="-122"/>
              </a:rPr>
              <a:t>k</a:t>
            </a:r>
            <a:r>
              <a:rPr lang="zh-CN" altLang="en-US" i="0" dirty="0">
                <a:solidFill>
                  <a:schemeClr val="tx1"/>
                </a:solidFill>
                <a:ea typeface="黑体" panose="02010609060101010101" pitchFamily="49" charset="-122"/>
              </a:rPr>
              <a:t>的弹簧上，平台质量忽略不计，求平台由初始位置下沉的最大距离</a:t>
            </a:r>
            <a:r>
              <a:rPr lang="el-GR" altLang="zh-CN" b="0" dirty="0">
                <a:solidFill>
                  <a:schemeClr val="tx1"/>
                </a:solidFill>
                <a:ea typeface="黑体" panose="02010609060101010101" pitchFamily="49" charset="-122"/>
              </a:rPr>
              <a:t>δ</a:t>
            </a:r>
            <a:r>
              <a:rPr lang="en-US" altLang="zh-CN" b="0" i="0" baseline="-25000" dirty="0">
                <a:solidFill>
                  <a:schemeClr val="tx1"/>
                </a:solidFill>
                <a:ea typeface="黑体" panose="02010609060101010101" pitchFamily="49" charset="-122"/>
              </a:rPr>
              <a:t>max</a:t>
            </a:r>
            <a:r>
              <a:rPr lang="zh-CN" altLang="en-US" i="0" dirty="0">
                <a:solidFill>
                  <a:schemeClr val="tx1"/>
                </a:solidFill>
                <a:ea typeface="黑体" panose="02010609060101010101" pitchFamily="49" charset="-122"/>
              </a:rPr>
              <a:t>。</a:t>
            </a:r>
            <a:endParaRPr lang="zh-CN" altLang="en-US" b="0" i="0" baseline="-25000" dirty="0">
              <a:solidFill>
                <a:schemeClr val="tx1"/>
              </a:solidFill>
              <a:latin typeface="+mn-lt"/>
              <a:ea typeface="黑体" panose="02010609060101010101" pitchFamily="49" charset="-122"/>
            </a:endParaRPr>
          </a:p>
        </p:txBody>
      </p:sp>
      <p:pic>
        <p:nvPicPr>
          <p:cNvPr id="2" name="13-12new">
            <a:hlinkClick r:id="" action="ppaction://media"/>
            <a:extLst>
              <a:ext uri="{FF2B5EF4-FFF2-40B4-BE49-F238E27FC236}">
                <a16:creationId xmlns:a16="http://schemas.microsoft.com/office/drawing/2014/main" id="{0C664D0D-044B-B787-FB02-495F2BDEB536}"/>
              </a:ext>
            </a:extLst>
          </p:cNvPr>
          <p:cNvPicPr>
            <a:picLocks noChangeAspect="1"/>
          </p:cNvPicPr>
          <p:nvPr>
            <a:videoFile r:link="rId3"/>
            <p:extLst>
              <p:ext uri="{DAA4B4D4-6D71-4841-9C94-3DE7FCFB9230}">
                <p14:media xmlns:p14="http://schemas.microsoft.com/office/powerpoint/2010/main" r:embed="rId2"/>
              </p:ext>
            </p:extLst>
          </p:nvPr>
        </p:nvPicPr>
        <p:blipFill rotWithShape="1">
          <a:blip r:embed="rId6"/>
          <a:srcRect b="16667"/>
          <a:stretch/>
        </p:blipFill>
        <p:spPr>
          <a:xfrm>
            <a:off x="8708246" y="980728"/>
            <a:ext cx="3183254" cy="2520280"/>
          </a:xfrm>
          <a:prstGeom prst="rect">
            <a:avLst/>
          </a:prstGeom>
        </p:spPr>
      </p:pic>
      <p:pic>
        <p:nvPicPr>
          <p:cNvPr id="3" name="Picture 9" descr="13-12">
            <a:extLst>
              <a:ext uri="{FF2B5EF4-FFF2-40B4-BE49-F238E27FC236}">
                <a16:creationId xmlns:a16="http://schemas.microsoft.com/office/drawing/2014/main" id="{FAD0E921-71DA-9636-8C8D-92E6431BFB5B}"/>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t="4805" b="16114"/>
          <a:stretch/>
        </p:blipFill>
        <p:spPr bwMode="auto">
          <a:xfrm>
            <a:off x="8708246" y="3696713"/>
            <a:ext cx="3155251" cy="2369995"/>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矩形 3">
            <a:extLst>
              <a:ext uri="{FF2B5EF4-FFF2-40B4-BE49-F238E27FC236}">
                <a16:creationId xmlns:a16="http://schemas.microsoft.com/office/drawing/2014/main" id="{145E0D96-38AB-548A-4EEC-5AFCBA3E7271}"/>
              </a:ext>
            </a:extLst>
          </p:cNvPr>
          <p:cNvSpPr/>
          <p:nvPr/>
        </p:nvSpPr>
        <p:spPr>
          <a:xfrm>
            <a:off x="191343" y="2171581"/>
            <a:ext cx="8280922" cy="936347"/>
          </a:xfrm>
          <a:prstGeom prst="rect">
            <a:avLst/>
          </a:prstGeom>
        </p:spPr>
        <p:txBody>
          <a:bodyPr wrap="square">
            <a:spAutoFit/>
          </a:bodyPr>
          <a:lstStyle/>
          <a:p>
            <a:pPr>
              <a:lnSpc>
                <a:spcPct val="120000"/>
              </a:lnSpc>
            </a:pPr>
            <a:r>
              <a:rPr lang="zh-CN" altLang="en-US" i="0" dirty="0">
                <a:solidFill>
                  <a:srgbClr val="0033CC"/>
                </a:solidFill>
                <a:ea typeface="黑体" panose="02010609060101010101" pitchFamily="49" charset="-122"/>
              </a:rPr>
              <a:t>解   </a:t>
            </a:r>
            <a:r>
              <a:rPr lang="zh-CN" altLang="en-US" i="0" dirty="0">
                <a:solidFill>
                  <a:schemeClr val="tx1"/>
                </a:solidFill>
                <a:ea typeface="黑体" panose="02010609060101010101" pitchFamily="49" charset="-122"/>
              </a:rPr>
              <a:t>质量块初始动能</a:t>
            </a:r>
            <a:r>
              <a:rPr kumimoji="1" lang="en-US" altLang="zh-CN" b="0" dirty="0">
                <a:solidFill>
                  <a:schemeClr val="tx1"/>
                </a:solidFill>
                <a:ea typeface="黑体" panose="02010609060101010101" pitchFamily="49" charset="-122"/>
              </a:rPr>
              <a:t>E</a:t>
            </a:r>
            <a:r>
              <a:rPr kumimoji="1" lang="en-US" altLang="zh-CN" b="0" i="0" baseline="-25000" dirty="0">
                <a:solidFill>
                  <a:schemeClr val="tx1"/>
                </a:solidFill>
                <a:ea typeface="黑体" panose="02010609060101010101" pitchFamily="49" charset="-122"/>
              </a:rPr>
              <a:t>k1</a:t>
            </a:r>
            <a:r>
              <a:rPr kumimoji="1" lang="zh-CN" altLang="en-US" b="0" i="0" dirty="0">
                <a:solidFill>
                  <a:schemeClr val="tx1"/>
                </a:solidFill>
                <a:ea typeface="黑体" panose="02010609060101010101" pitchFamily="49" charset="-122"/>
              </a:rPr>
              <a:t>＝</a:t>
            </a:r>
            <a:r>
              <a:rPr kumimoji="1" lang="en-US" altLang="zh-CN" b="0" i="0" dirty="0">
                <a:solidFill>
                  <a:schemeClr val="tx1"/>
                </a:solidFill>
                <a:ea typeface="黑体" panose="02010609060101010101" pitchFamily="49" charset="-122"/>
              </a:rPr>
              <a:t>0</a:t>
            </a:r>
            <a:r>
              <a:rPr kumimoji="1" lang="zh-CN" altLang="en-US" i="0" dirty="0">
                <a:solidFill>
                  <a:schemeClr val="tx1"/>
                </a:solidFill>
                <a:ea typeface="黑体" panose="02010609060101010101" pitchFamily="49" charset="-122"/>
              </a:rPr>
              <a:t>，弹簧变形最大时质量块静止，末动能</a:t>
            </a:r>
            <a:r>
              <a:rPr kumimoji="1" lang="en-US" altLang="zh-CN" b="0" dirty="0">
                <a:solidFill>
                  <a:schemeClr val="tx1"/>
                </a:solidFill>
                <a:ea typeface="黑体" panose="02010609060101010101" pitchFamily="49" charset="-122"/>
              </a:rPr>
              <a:t>E</a:t>
            </a:r>
            <a:r>
              <a:rPr kumimoji="1" lang="en-US" altLang="zh-CN" b="0" i="0" baseline="-25000" dirty="0">
                <a:solidFill>
                  <a:schemeClr val="tx1"/>
                </a:solidFill>
                <a:ea typeface="黑体" panose="02010609060101010101" pitchFamily="49" charset="-122"/>
              </a:rPr>
              <a:t>k2</a:t>
            </a:r>
            <a:r>
              <a:rPr kumimoji="1" lang="zh-CN" altLang="en-US" b="0" i="0" dirty="0">
                <a:solidFill>
                  <a:schemeClr val="tx1"/>
                </a:solidFill>
                <a:ea typeface="黑体" panose="02010609060101010101" pitchFamily="49" charset="-122"/>
              </a:rPr>
              <a:t>＝</a:t>
            </a:r>
            <a:r>
              <a:rPr kumimoji="1" lang="en-US" altLang="zh-CN" b="0" i="0" dirty="0">
                <a:solidFill>
                  <a:schemeClr val="tx1"/>
                </a:solidFill>
                <a:ea typeface="黑体" panose="02010609060101010101" pitchFamily="49" charset="-122"/>
              </a:rPr>
              <a:t>0</a:t>
            </a:r>
            <a:r>
              <a:rPr kumimoji="1" lang="zh-CN" altLang="en-US" i="0" dirty="0">
                <a:solidFill>
                  <a:schemeClr val="tx1"/>
                </a:solidFill>
                <a:ea typeface="黑体" panose="02010609060101010101" pitchFamily="49" charset="-122"/>
              </a:rPr>
              <a:t>。运行中受到重力</a:t>
            </a:r>
            <a:r>
              <a:rPr kumimoji="1" lang="en-US" altLang="zh-CN" dirty="0">
                <a:solidFill>
                  <a:schemeClr val="tx1"/>
                </a:solidFill>
                <a:ea typeface="黑体" panose="02010609060101010101" pitchFamily="49" charset="-122"/>
              </a:rPr>
              <a:t>W</a:t>
            </a:r>
            <a:r>
              <a:rPr kumimoji="1" lang="zh-CN" altLang="en-US" dirty="0">
                <a:solidFill>
                  <a:schemeClr val="tx1"/>
                </a:solidFill>
                <a:ea typeface="黑体" panose="02010609060101010101" pitchFamily="49" charset="-122"/>
              </a:rPr>
              <a:t>、</a:t>
            </a:r>
            <a:r>
              <a:rPr kumimoji="1" lang="zh-CN" altLang="en-US" i="0" dirty="0">
                <a:solidFill>
                  <a:schemeClr val="tx1"/>
                </a:solidFill>
                <a:ea typeface="黑体" panose="02010609060101010101" pitchFamily="49" charset="-122"/>
              </a:rPr>
              <a:t>弹簧弹性力作用</a:t>
            </a:r>
            <a:endParaRPr lang="zh-CN" altLang="en-US" b="0" i="0" baseline="-25000" dirty="0">
              <a:solidFill>
                <a:schemeClr val="tx1"/>
              </a:solidFill>
              <a:latin typeface="+mn-lt"/>
              <a:ea typeface="黑体" panose="02010609060101010101" pitchFamily="49" charset="-122"/>
            </a:endParaRPr>
          </a:p>
        </p:txBody>
      </p:sp>
      <p:graphicFrame>
        <p:nvGraphicFramePr>
          <p:cNvPr id="5" name="Object 5">
            <a:extLst>
              <a:ext uri="{FF2B5EF4-FFF2-40B4-BE49-F238E27FC236}">
                <a16:creationId xmlns:a16="http://schemas.microsoft.com/office/drawing/2014/main" id="{7B07E8AC-F0C6-0061-6374-9F5CB55F957D}"/>
              </a:ext>
            </a:extLst>
          </p:cNvPr>
          <p:cNvGraphicFramePr>
            <a:graphicFrameLocks noChangeAspect="1"/>
          </p:cNvGraphicFramePr>
          <p:nvPr>
            <p:extLst>
              <p:ext uri="{D42A27DB-BD31-4B8C-83A1-F6EECF244321}">
                <p14:modId xmlns:p14="http://schemas.microsoft.com/office/powerpoint/2010/main" val="1535496163"/>
              </p:ext>
            </p:extLst>
          </p:nvPr>
        </p:nvGraphicFramePr>
        <p:xfrm>
          <a:off x="1559496" y="3216795"/>
          <a:ext cx="3672408" cy="853709"/>
        </p:xfrm>
        <a:graphic>
          <a:graphicData uri="http://schemas.openxmlformats.org/presentationml/2006/ole">
            <mc:AlternateContent xmlns:mc="http://schemas.openxmlformats.org/markup-compatibility/2006">
              <mc:Choice xmlns:v="urn:schemas-microsoft-com:vml" Requires="v">
                <p:oleObj spid="_x0000_s29724" name="Equation" r:id="rId8" imgW="1739880" imgH="393480" progId="Equation.DSMT4">
                  <p:embed/>
                </p:oleObj>
              </mc:Choice>
              <mc:Fallback>
                <p:oleObj name="Equation" r:id="rId8" imgW="1739880" imgH="393480" progId="Equation.DSMT4">
                  <p:embed/>
                  <p:pic>
                    <p:nvPicPr>
                      <p:cNvPr id="14" name="Object 5"/>
                      <p:cNvPicPr>
                        <a:picLocks noChangeAspect="1" noChangeArrowheads="1"/>
                      </p:cNvPicPr>
                      <p:nvPr/>
                    </p:nvPicPr>
                    <p:blipFill>
                      <a:blip r:embed="rId9"/>
                      <a:srcRect/>
                      <a:stretch>
                        <a:fillRect/>
                      </a:stretch>
                    </p:blipFill>
                    <p:spPr bwMode="auto">
                      <a:xfrm>
                        <a:off x="1559496" y="3216795"/>
                        <a:ext cx="3672408" cy="853709"/>
                      </a:xfrm>
                      <a:prstGeom prst="rect">
                        <a:avLst/>
                      </a:prstGeom>
                      <a:noFill/>
                      <a:ln>
                        <a:noFill/>
                      </a:ln>
                      <a:effectLst/>
                    </p:spPr>
                  </p:pic>
                </p:oleObj>
              </mc:Fallback>
            </mc:AlternateContent>
          </a:graphicData>
        </a:graphic>
      </p:graphicFrame>
      <p:graphicFrame>
        <p:nvGraphicFramePr>
          <p:cNvPr id="6" name="Object 6">
            <a:extLst>
              <a:ext uri="{FF2B5EF4-FFF2-40B4-BE49-F238E27FC236}">
                <a16:creationId xmlns:a16="http://schemas.microsoft.com/office/drawing/2014/main" id="{73618693-2263-C768-7373-FBD3658539D7}"/>
              </a:ext>
            </a:extLst>
          </p:cNvPr>
          <p:cNvGraphicFramePr>
            <a:graphicFrameLocks noChangeAspect="1"/>
          </p:cNvGraphicFramePr>
          <p:nvPr>
            <p:extLst>
              <p:ext uri="{D42A27DB-BD31-4B8C-83A1-F6EECF244321}">
                <p14:modId xmlns:p14="http://schemas.microsoft.com/office/powerpoint/2010/main" val="1254079209"/>
              </p:ext>
            </p:extLst>
          </p:nvPr>
        </p:nvGraphicFramePr>
        <p:xfrm>
          <a:off x="1559496" y="4156076"/>
          <a:ext cx="4392488" cy="895192"/>
        </p:xfrm>
        <a:graphic>
          <a:graphicData uri="http://schemas.openxmlformats.org/presentationml/2006/ole">
            <mc:AlternateContent xmlns:mc="http://schemas.openxmlformats.org/markup-compatibility/2006">
              <mc:Choice xmlns:v="urn:schemas-microsoft-com:vml" Requires="v">
                <p:oleObj spid="_x0000_s29725" name="Equation" r:id="rId10" imgW="1924157" imgH="381000" progId="Equation.DSMT4">
                  <p:embed/>
                </p:oleObj>
              </mc:Choice>
              <mc:Fallback>
                <p:oleObj name="Equation" r:id="rId10" imgW="1924157" imgH="381000" progId="Equation.DSMT4">
                  <p:embed/>
                  <p:pic>
                    <p:nvPicPr>
                      <p:cNvPr id="15" name="Object 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559496" y="4156076"/>
                        <a:ext cx="4392488" cy="895192"/>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893452788"/>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499"/>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499"/>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9" fill="hold" display="0">
                  <p:stCondLst>
                    <p:cond delay="indefinite"/>
                  </p:stCondLst>
                </p:cTn>
                <p:tgtEl>
                  <p:spTgt spid="2"/>
                </p:tgtEl>
              </p:cMediaNode>
            </p:video>
          </p:childTnLst>
        </p:cTn>
      </p:par>
    </p:tnLst>
    <p:bldLst>
      <p:bldP spid="64" grpId="0"/>
      <p:bldP spid="4"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4653838"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第七章   动力学普遍定理</a:t>
            </a:r>
          </a:p>
        </p:txBody>
      </p:sp>
      <p:sp>
        <p:nvSpPr>
          <p:cNvPr id="52" name="Text Box 1032"/>
          <p:cNvSpPr txBox="1">
            <a:spLocks noChangeArrowheads="1"/>
          </p:cNvSpPr>
          <p:nvPr/>
        </p:nvSpPr>
        <p:spPr bwMode="auto">
          <a:xfrm>
            <a:off x="570416" y="981503"/>
            <a:ext cx="10422128" cy="15994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20000"/>
              </a:lnSpc>
            </a:pPr>
            <a:r>
              <a:rPr lang="zh-CN" altLang="en-US" sz="2800" i="0" dirty="0">
                <a:solidFill>
                  <a:srgbClr val="FF0000"/>
                </a:solidFill>
                <a:latin typeface="微软雅黑" panose="020B0503020204020204" pitchFamily="34" charset="-122"/>
                <a:ea typeface="微软雅黑" panose="020B0503020204020204" pitchFamily="34" charset="-122"/>
              </a:rPr>
              <a:t>质点系的动能定理 </a:t>
            </a:r>
            <a:endParaRPr lang="en-US" altLang="zh-CN" sz="2800" i="0" dirty="0">
              <a:solidFill>
                <a:srgbClr val="FF0000"/>
              </a:solidFill>
              <a:latin typeface="微软雅黑" panose="020B0503020204020204" pitchFamily="34" charset="-122"/>
              <a:ea typeface="微软雅黑" panose="020B0503020204020204" pitchFamily="34" charset="-122"/>
            </a:endParaRPr>
          </a:p>
          <a:p>
            <a:pPr algn="just">
              <a:lnSpc>
                <a:spcPct val="120000"/>
              </a:lnSpc>
            </a:pPr>
            <a:r>
              <a:rPr lang="zh-CN" altLang="en-US" sz="2800" i="0" dirty="0">
                <a:latin typeface="微软雅黑" panose="020B0503020204020204" pitchFamily="34" charset="-122"/>
                <a:ea typeface="微软雅黑" panose="020B0503020204020204" pitchFamily="34" charset="-122"/>
              </a:rPr>
              <a:t>将质点动能定理推广到质点系。</a:t>
            </a:r>
            <a:r>
              <a:rPr lang="zh-CN" altLang="en-US" sz="2800" i="0" dirty="0">
                <a:ea typeface="微软雅黑" panose="020B0503020204020204" pitchFamily="34" charset="-122"/>
              </a:rPr>
              <a:t>设质点系由</a:t>
            </a:r>
            <a:r>
              <a:rPr lang="en-US" altLang="zh-CN" sz="2800" dirty="0"/>
              <a:t>n</a:t>
            </a:r>
            <a:r>
              <a:rPr lang="zh-CN" altLang="en-US" sz="2800" i="0" dirty="0">
                <a:ea typeface="微软雅黑" panose="020B0503020204020204" pitchFamily="34" charset="-122"/>
              </a:rPr>
              <a:t>个质点组成，其中第</a:t>
            </a:r>
            <a:r>
              <a:rPr lang="en-US" altLang="zh-CN" sz="2800" b="0" dirty="0" err="1">
                <a:ea typeface="微软雅黑" panose="020B0503020204020204" pitchFamily="34" charset="-122"/>
              </a:rPr>
              <a:t>i</a:t>
            </a:r>
            <a:r>
              <a:rPr lang="zh-CN" altLang="en-US" sz="2800" i="0" dirty="0">
                <a:ea typeface="微软雅黑" panose="020B0503020204020204" pitchFamily="34" charset="-122"/>
              </a:rPr>
              <a:t>个质点的质量为</a:t>
            </a:r>
            <a:r>
              <a:rPr lang="en-US" altLang="zh-CN" sz="2800" b="0" dirty="0"/>
              <a:t>m</a:t>
            </a:r>
            <a:r>
              <a:rPr lang="en-US" altLang="zh-CN" sz="2800" b="0" baseline="-25000" dirty="0"/>
              <a:t>i</a:t>
            </a:r>
            <a:r>
              <a:rPr lang="zh-CN" altLang="en-US" sz="2800" i="0" dirty="0">
                <a:ea typeface="微软雅黑" panose="020B0503020204020204" pitchFamily="34" charset="-122"/>
              </a:rPr>
              <a:t>，瞬时速度为</a:t>
            </a:r>
            <a:r>
              <a:rPr lang="en-US" altLang="zh-CN" sz="2800" dirty="0"/>
              <a:t>v</a:t>
            </a:r>
            <a:r>
              <a:rPr lang="en-US" altLang="zh-CN" sz="2800" baseline="-25000" dirty="0"/>
              <a:t>i</a:t>
            </a:r>
            <a:r>
              <a:rPr lang="zh-CN" altLang="en-US" sz="2800" i="0" dirty="0">
                <a:ea typeface="微软雅黑" panose="020B0503020204020204" pitchFamily="34" charset="-122"/>
              </a:rPr>
              <a:t>，</a:t>
            </a:r>
            <a:endParaRPr lang="zh-CN" altLang="en-US" sz="2800" i="0" dirty="0">
              <a:latin typeface="+mn-lt"/>
              <a:ea typeface="微软雅黑" panose="020B0503020204020204" pitchFamily="34" charset="-122"/>
            </a:endParaRPr>
          </a:p>
        </p:txBody>
      </p:sp>
      <p:sp>
        <p:nvSpPr>
          <p:cNvPr id="4" name="Text Box 1032">
            <a:extLst>
              <a:ext uri="{FF2B5EF4-FFF2-40B4-BE49-F238E27FC236}">
                <a16:creationId xmlns:a16="http://schemas.microsoft.com/office/drawing/2014/main" id="{07EC096B-D1B6-2C63-4DAB-4124F0258EBA}"/>
              </a:ext>
            </a:extLst>
          </p:cNvPr>
          <p:cNvSpPr txBox="1">
            <a:spLocks noChangeArrowheads="1"/>
          </p:cNvSpPr>
          <p:nvPr/>
        </p:nvSpPr>
        <p:spPr bwMode="auto">
          <a:xfrm>
            <a:off x="570416" y="3653891"/>
            <a:ext cx="1277112" cy="565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20000"/>
              </a:lnSpc>
            </a:pPr>
            <a:r>
              <a:rPr lang="zh-CN" altLang="en-US" sz="2800" i="0" dirty="0">
                <a:latin typeface="+mn-lt"/>
                <a:ea typeface="微软雅黑" panose="020B0503020204020204" pitchFamily="34" charset="-122"/>
              </a:rPr>
              <a:t>求和</a:t>
            </a:r>
          </a:p>
        </p:txBody>
      </p:sp>
      <p:graphicFrame>
        <p:nvGraphicFramePr>
          <p:cNvPr id="14" name="Object 7">
            <a:extLst>
              <a:ext uri="{FF2B5EF4-FFF2-40B4-BE49-F238E27FC236}">
                <a16:creationId xmlns:a16="http://schemas.microsoft.com/office/drawing/2014/main" id="{83107685-83EE-165F-1FC1-8B4252D110A2}"/>
              </a:ext>
            </a:extLst>
          </p:cNvPr>
          <p:cNvGraphicFramePr>
            <a:graphicFrameLocks noChangeAspect="1"/>
          </p:cNvGraphicFramePr>
          <p:nvPr>
            <p:extLst>
              <p:ext uri="{D42A27DB-BD31-4B8C-83A1-F6EECF244321}">
                <p14:modId xmlns:p14="http://schemas.microsoft.com/office/powerpoint/2010/main" val="2564840505"/>
              </p:ext>
            </p:extLst>
          </p:nvPr>
        </p:nvGraphicFramePr>
        <p:xfrm>
          <a:off x="2135560" y="2508933"/>
          <a:ext cx="2171700" cy="998537"/>
        </p:xfrm>
        <a:graphic>
          <a:graphicData uri="http://schemas.openxmlformats.org/presentationml/2006/ole">
            <mc:AlternateContent xmlns:mc="http://schemas.openxmlformats.org/markup-compatibility/2006">
              <mc:Choice xmlns:v="urn:schemas-microsoft-com:vml" Requires="v">
                <p:oleObj spid="_x0000_s30774" name="Equation" r:id="rId4" imgW="901440" imgH="419040" progId="Equation.DSMT4">
                  <p:embed/>
                </p:oleObj>
              </mc:Choice>
              <mc:Fallback>
                <p:oleObj name="Equation" r:id="rId4" imgW="901440" imgH="419040" progId="Equation.DSMT4">
                  <p:embed/>
                  <p:pic>
                    <p:nvPicPr>
                      <p:cNvPr id="14" name="Object 7">
                        <a:extLst>
                          <a:ext uri="{FF2B5EF4-FFF2-40B4-BE49-F238E27FC236}">
                            <a16:creationId xmlns:a16="http://schemas.microsoft.com/office/drawing/2014/main" id="{83107685-83EE-165F-1FC1-8B4252D110A2}"/>
                          </a:ext>
                        </a:extLst>
                      </p:cNvPr>
                      <p:cNvPicPr>
                        <a:picLocks noChangeAspect="1" noChangeArrowheads="1"/>
                      </p:cNvPicPr>
                      <p:nvPr/>
                    </p:nvPicPr>
                    <p:blipFill>
                      <a:blip r:embed="rId5"/>
                      <a:srcRect/>
                      <a:stretch>
                        <a:fillRect/>
                      </a:stretch>
                    </p:blipFill>
                    <p:spPr bwMode="auto">
                      <a:xfrm>
                        <a:off x="2135560" y="2508933"/>
                        <a:ext cx="2171700" cy="9985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 name="Text Box 1032">
            <a:extLst>
              <a:ext uri="{FF2B5EF4-FFF2-40B4-BE49-F238E27FC236}">
                <a16:creationId xmlns:a16="http://schemas.microsoft.com/office/drawing/2014/main" id="{22D2D28B-FCA1-AF31-F51F-9B152FC16203}"/>
              </a:ext>
            </a:extLst>
          </p:cNvPr>
          <p:cNvSpPr txBox="1">
            <a:spLocks noChangeArrowheads="1"/>
          </p:cNvSpPr>
          <p:nvPr/>
        </p:nvSpPr>
        <p:spPr bwMode="auto">
          <a:xfrm>
            <a:off x="570416" y="4260316"/>
            <a:ext cx="5371596" cy="565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20000"/>
              </a:lnSpc>
            </a:pPr>
            <a:r>
              <a:rPr lang="zh-CN" altLang="en-US" sz="2800" i="0" dirty="0">
                <a:solidFill>
                  <a:srgbClr val="FF00FF"/>
                </a:solidFill>
                <a:latin typeface="+mn-lt"/>
                <a:ea typeface="微软雅黑" panose="020B0503020204020204" pitchFamily="34" charset="-122"/>
              </a:rPr>
              <a:t>质点系动能定理的微分形式</a:t>
            </a:r>
            <a:endParaRPr lang="zh-CN" altLang="en-US" sz="2800" i="0" dirty="0">
              <a:latin typeface="+mn-lt"/>
              <a:ea typeface="微软雅黑" panose="020B0503020204020204" pitchFamily="34" charset="-122"/>
            </a:endParaRPr>
          </a:p>
        </p:txBody>
      </p:sp>
      <p:graphicFrame>
        <p:nvGraphicFramePr>
          <p:cNvPr id="9" name="Object 7">
            <a:extLst>
              <a:ext uri="{FF2B5EF4-FFF2-40B4-BE49-F238E27FC236}">
                <a16:creationId xmlns:a16="http://schemas.microsoft.com/office/drawing/2014/main" id="{E4463E00-756D-CD79-19A7-FAC56F3AF776}"/>
              </a:ext>
            </a:extLst>
          </p:cNvPr>
          <p:cNvGraphicFramePr>
            <a:graphicFrameLocks noChangeAspect="1"/>
          </p:cNvGraphicFramePr>
          <p:nvPr>
            <p:extLst>
              <p:ext uri="{D42A27DB-BD31-4B8C-83A1-F6EECF244321}">
                <p14:modId xmlns:p14="http://schemas.microsoft.com/office/powerpoint/2010/main" val="1564327417"/>
              </p:ext>
            </p:extLst>
          </p:nvPr>
        </p:nvGraphicFramePr>
        <p:xfrm>
          <a:off x="1676400" y="3437386"/>
          <a:ext cx="3089275" cy="998537"/>
        </p:xfrm>
        <a:graphic>
          <a:graphicData uri="http://schemas.openxmlformats.org/presentationml/2006/ole">
            <mc:AlternateContent xmlns:mc="http://schemas.openxmlformats.org/markup-compatibility/2006">
              <mc:Choice xmlns:v="urn:schemas-microsoft-com:vml" Requires="v">
                <p:oleObj spid="_x0000_s30775" name="Equation" r:id="rId6" imgW="1282680" imgH="419040" progId="Equation.DSMT4">
                  <p:embed/>
                </p:oleObj>
              </mc:Choice>
              <mc:Fallback>
                <p:oleObj name="Equation" r:id="rId6" imgW="1282680" imgH="419040" progId="Equation.DSMT4">
                  <p:embed/>
                  <p:pic>
                    <p:nvPicPr>
                      <p:cNvPr id="14" name="Object 7">
                        <a:extLst>
                          <a:ext uri="{FF2B5EF4-FFF2-40B4-BE49-F238E27FC236}">
                            <a16:creationId xmlns:a16="http://schemas.microsoft.com/office/drawing/2014/main" id="{83107685-83EE-165F-1FC1-8B4252D110A2}"/>
                          </a:ext>
                        </a:extLst>
                      </p:cNvPr>
                      <p:cNvPicPr>
                        <a:picLocks noChangeAspect="1" noChangeArrowheads="1"/>
                      </p:cNvPicPr>
                      <p:nvPr/>
                    </p:nvPicPr>
                    <p:blipFill>
                      <a:blip r:embed="rId7"/>
                      <a:srcRect/>
                      <a:stretch>
                        <a:fillRect/>
                      </a:stretch>
                    </p:blipFill>
                    <p:spPr bwMode="auto">
                      <a:xfrm>
                        <a:off x="1676400" y="3437386"/>
                        <a:ext cx="3089275" cy="9985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 name="Object 7">
            <a:extLst>
              <a:ext uri="{FF2B5EF4-FFF2-40B4-BE49-F238E27FC236}">
                <a16:creationId xmlns:a16="http://schemas.microsoft.com/office/drawing/2014/main" id="{2F2F237D-F899-96EE-1942-6592CE09640B}"/>
              </a:ext>
            </a:extLst>
          </p:cNvPr>
          <p:cNvGraphicFramePr>
            <a:graphicFrameLocks noChangeAspect="1"/>
          </p:cNvGraphicFramePr>
          <p:nvPr>
            <p:extLst>
              <p:ext uri="{D42A27DB-BD31-4B8C-83A1-F6EECF244321}">
                <p14:modId xmlns:p14="http://schemas.microsoft.com/office/powerpoint/2010/main" val="258836399"/>
              </p:ext>
            </p:extLst>
          </p:nvPr>
        </p:nvGraphicFramePr>
        <p:xfrm>
          <a:off x="5969000" y="3632648"/>
          <a:ext cx="2049463" cy="606425"/>
        </p:xfrm>
        <a:graphic>
          <a:graphicData uri="http://schemas.openxmlformats.org/presentationml/2006/ole">
            <mc:AlternateContent xmlns:mc="http://schemas.openxmlformats.org/markup-compatibility/2006">
              <mc:Choice xmlns:v="urn:schemas-microsoft-com:vml" Requires="v">
                <p:oleObj spid="_x0000_s30776" name="Equation" r:id="rId8" imgW="850680" imgH="253800" progId="Equation.DSMT4">
                  <p:embed/>
                </p:oleObj>
              </mc:Choice>
              <mc:Fallback>
                <p:oleObj name="Equation" r:id="rId8" imgW="850680" imgH="253800" progId="Equation.DSMT4">
                  <p:embed/>
                  <p:pic>
                    <p:nvPicPr>
                      <p:cNvPr id="9" name="Object 7">
                        <a:extLst>
                          <a:ext uri="{FF2B5EF4-FFF2-40B4-BE49-F238E27FC236}">
                            <a16:creationId xmlns:a16="http://schemas.microsoft.com/office/drawing/2014/main" id="{E4463E00-756D-CD79-19A7-FAC56F3AF776}"/>
                          </a:ext>
                        </a:extLst>
                      </p:cNvPr>
                      <p:cNvPicPr>
                        <a:picLocks noChangeAspect="1" noChangeArrowheads="1"/>
                      </p:cNvPicPr>
                      <p:nvPr/>
                    </p:nvPicPr>
                    <p:blipFill>
                      <a:blip r:embed="rId9"/>
                      <a:srcRect/>
                      <a:stretch>
                        <a:fillRect/>
                      </a:stretch>
                    </p:blipFill>
                    <p:spPr bwMode="auto">
                      <a:xfrm>
                        <a:off x="5969000" y="3632648"/>
                        <a:ext cx="2049463" cy="6064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 name="Text Box 1032">
            <a:extLst>
              <a:ext uri="{FF2B5EF4-FFF2-40B4-BE49-F238E27FC236}">
                <a16:creationId xmlns:a16="http://schemas.microsoft.com/office/drawing/2014/main" id="{325062F7-C42C-34EF-6293-E669E35AD714}"/>
              </a:ext>
            </a:extLst>
          </p:cNvPr>
          <p:cNvSpPr txBox="1">
            <a:spLocks noChangeArrowheads="1"/>
          </p:cNvSpPr>
          <p:nvPr/>
        </p:nvSpPr>
        <p:spPr bwMode="auto">
          <a:xfrm>
            <a:off x="5142924" y="3653891"/>
            <a:ext cx="1277112" cy="565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20000"/>
              </a:lnSpc>
            </a:pPr>
            <a:r>
              <a:rPr lang="zh-CN" altLang="en-US" sz="2800" i="0" dirty="0">
                <a:latin typeface="+mn-lt"/>
                <a:ea typeface="微软雅黑" panose="020B0503020204020204" pitchFamily="34" charset="-122"/>
              </a:rPr>
              <a:t>或</a:t>
            </a:r>
          </a:p>
        </p:txBody>
      </p:sp>
      <p:sp>
        <p:nvSpPr>
          <p:cNvPr id="17" name="Text Box 1032">
            <a:extLst>
              <a:ext uri="{FF2B5EF4-FFF2-40B4-BE49-F238E27FC236}">
                <a16:creationId xmlns:a16="http://schemas.microsoft.com/office/drawing/2014/main" id="{359F93E8-A591-3A41-0B53-FA00156E5F24}"/>
              </a:ext>
            </a:extLst>
          </p:cNvPr>
          <p:cNvSpPr txBox="1">
            <a:spLocks noChangeArrowheads="1"/>
          </p:cNvSpPr>
          <p:nvPr/>
        </p:nvSpPr>
        <p:spPr bwMode="auto">
          <a:xfrm>
            <a:off x="570416" y="5032353"/>
            <a:ext cx="1277112" cy="565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20000"/>
              </a:lnSpc>
            </a:pPr>
            <a:r>
              <a:rPr lang="zh-CN" altLang="en-US" sz="2800" i="0" dirty="0">
                <a:latin typeface="+mn-lt"/>
                <a:ea typeface="微软雅黑" panose="020B0503020204020204" pitchFamily="34" charset="-122"/>
              </a:rPr>
              <a:t>积分</a:t>
            </a:r>
          </a:p>
        </p:txBody>
      </p:sp>
      <p:graphicFrame>
        <p:nvGraphicFramePr>
          <p:cNvPr id="18" name="Object 7">
            <a:extLst>
              <a:ext uri="{FF2B5EF4-FFF2-40B4-BE49-F238E27FC236}">
                <a16:creationId xmlns:a16="http://schemas.microsoft.com/office/drawing/2014/main" id="{D57A0325-1E0F-76AB-4909-5ADB52301DEA}"/>
              </a:ext>
            </a:extLst>
          </p:cNvPr>
          <p:cNvGraphicFramePr>
            <a:graphicFrameLocks noChangeAspect="1"/>
          </p:cNvGraphicFramePr>
          <p:nvPr>
            <p:extLst>
              <p:ext uri="{D42A27DB-BD31-4B8C-83A1-F6EECF244321}">
                <p14:modId xmlns:p14="http://schemas.microsoft.com/office/powerpoint/2010/main" val="3749017859"/>
              </p:ext>
            </p:extLst>
          </p:nvPr>
        </p:nvGraphicFramePr>
        <p:xfrm>
          <a:off x="1416050" y="4991100"/>
          <a:ext cx="2570163" cy="606425"/>
        </p:xfrm>
        <a:graphic>
          <a:graphicData uri="http://schemas.openxmlformats.org/presentationml/2006/ole">
            <mc:AlternateContent xmlns:mc="http://schemas.openxmlformats.org/markup-compatibility/2006">
              <mc:Choice xmlns:v="urn:schemas-microsoft-com:vml" Requires="v">
                <p:oleObj spid="_x0000_s30777" name="Equation" r:id="rId10" imgW="1066680" imgH="253800" progId="Equation.DSMT4">
                  <p:embed/>
                </p:oleObj>
              </mc:Choice>
              <mc:Fallback>
                <p:oleObj name="Equation" r:id="rId10" imgW="1066680" imgH="253800" progId="Equation.DSMT4">
                  <p:embed/>
                  <p:pic>
                    <p:nvPicPr>
                      <p:cNvPr id="12" name="Object 7">
                        <a:extLst>
                          <a:ext uri="{FF2B5EF4-FFF2-40B4-BE49-F238E27FC236}">
                            <a16:creationId xmlns:a16="http://schemas.microsoft.com/office/drawing/2014/main" id="{2F2F237D-F899-96EE-1942-6592CE09640B}"/>
                          </a:ext>
                        </a:extLst>
                      </p:cNvPr>
                      <p:cNvPicPr>
                        <a:picLocks noChangeAspect="1" noChangeArrowheads="1"/>
                      </p:cNvPicPr>
                      <p:nvPr/>
                    </p:nvPicPr>
                    <p:blipFill>
                      <a:blip r:embed="rId11"/>
                      <a:srcRect/>
                      <a:stretch>
                        <a:fillRect/>
                      </a:stretch>
                    </p:blipFill>
                    <p:spPr bwMode="auto">
                      <a:xfrm>
                        <a:off x="1416050" y="4991100"/>
                        <a:ext cx="2570163" cy="6064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 name="Text Box 1032">
            <a:extLst>
              <a:ext uri="{FF2B5EF4-FFF2-40B4-BE49-F238E27FC236}">
                <a16:creationId xmlns:a16="http://schemas.microsoft.com/office/drawing/2014/main" id="{95FB3D2F-7B48-A6A9-2403-AEAA3AC284BD}"/>
              </a:ext>
            </a:extLst>
          </p:cNvPr>
          <p:cNvSpPr txBox="1">
            <a:spLocks noChangeArrowheads="1"/>
          </p:cNvSpPr>
          <p:nvPr/>
        </p:nvSpPr>
        <p:spPr bwMode="auto">
          <a:xfrm>
            <a:off x="570416" y="5684034"/>
            <a:ext cx="4661488" cy="565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20000"/>
              </a:lnSpc>
            </a:pPr>
            <a:r>
              <a:rPr lang="zh-CN" altLang="en-US" sz="2800" i="0" dirty="0">
                <a:solidFill>
                  <a:srgbClr val="FF00FF"/>
                </a:solidFill>
                <a:latin typeface="+mn-lt"/>
                <a:ea typeface="微软雅黑" panose="020B0503020204020204" pitchFamily="34" charset="-122"/>
              </a:rPr>
              <a:t>质点系动能定理的积分形式</a:t>
            </a:r>
            <a:endParaRPr lang="zh-CN" altLang="en-US" sz="2800" i="0" dirty="0">
              <a:latin typeface="+mn-lt"/>
              <a:ea typeface="微软雅黑" panose="020B0503020204020204" pitchFamily="34" charset="-122"/>
            </a:endParaRPr>
          </a:p>
        </p:txBody>
      </p:sp>
      <p:sp>
        <p:nvSpPr>
          <p:cNvPr id="20" name="Text Box 1032">
            <a:extLst>
              <a:ext uri="{FF2B5EF4-FFF2-40B4-BE49-F238E27FC236}">
                <a16:creationId xmlns:a16="http://schemas.microsoft.com/office/drawing/2014/main" id="{4A2DE1B4-0293-46CC-6FBB-796C2AF6621D}"/>
              </a:ext>
            </a:extLst>
          </p:cNvPr>
          <p:cNvSpPr txBox="1">
            <a:spLocks noChangeArrowheads="1"/>
          </p:cNvSpPr>
          <p:nvPr/>
        </p:nvSpPr>
        <p:spPr bwMode="auto">
          <a:xfrm>
            <a:off x="5591944" y="4491002"/>
            <a:ext cx="6391696" cy="1599477"/>
          </a:xfrm>
          <a:prstGeom prst="rect">
            <a:avLst/>
          </a:prstGeom>
          <a:noFill/>
          <a:ln w="38100">
            <a:solidFill>
              <a:srgbClr val="996633"/>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20000"/>
              </a:lnSpc>
            </a:pPr>
            <a:r>
              <a:rPr lang="zh-CN" altLang="en-US" sz="2800" i="0" dirty="0">
                <a:latin typeface="微软雅黑" panose="020B0503020204020204" pitchFamily="34" charset="-122"/>
                <a:ea typeface="微软雅黑" panose="020B0503020204020204" pitchFamily="34" charset="-122"/>
              </a:rPr>
              <a:t>在</a:t>
            </a:r>
            <a:r>
              <a:rPr lang="zh-CN" altLang="en-US" sz="2800" i="0" dirty="0">
                <a:solidFill>
                  <a:srgbClr val="FF0000"/>
                </a:solidFill>
                <a:latin typeface="微软雅黑" panose="020B0503020204020204" pitchFamily="34" charset="-122"/>
                <a:ea typeface="微软雅黑" panose="020B0503020204020204" pitchFamily="34" charset="-122"/>
              </a:rPr>
              <a:t>理想约束</a:t>
            </a:r>
            <a:r>
              <a:rPr lang="zh-CN" altLang="en-US" sz="2800" i="0" dirty="0">
                <a:latin typeface="微软雅黑" panose="020B0503020204020204" pitchFamily="34" charset="-122"/>
                <a:ea typeface="微软雅黑" panose="020B0503020204020204" pitchFamily="34" charset="-122"/>
              </a:rPr>
              <a:t>情况下，质点系的动能在任一路程的变化，等于作用在质点系上所有主动力在同一路程中所做功的代数和。</a:t>
            </a:r>
            <a:endParaRPr lang="zh-CN" altLang="en-US" sz="2800" i="0" dirty="0">
              <a:latin typeface="+mn-lt"/>
              <a:ea typeface="微软雅黑" panose="020B0503020204020204" pitchFamily="34" charset="-122"/>
            </a:endParaRPr>
          </a:p>
        </p:txBody>
      </p:sp>
    </p:spTree>
    <p:extLst>
      <p:ext uri="{BB962C8B-B14F-4D97-AF65-F5344CB8AC3E}">
        <p14:creationId xmlns:p14="http://schemas.microsoft.com/office/powerpoint/2010/main" val="2744065613"/>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wipe(left)">
                                      <p:cBhvr>
                                        <p:cTn id="11" dur="3000"/>
                                        <p:tgtEl>
                                          <p:spTgt spid="14"/>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499"/>
                                          </p:stCondLst>
                                        </p:cTn>
                                        <p:tgtEl>
                                          <p:spTgt spid="4"/>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wipe(left)">
                                      <p:cBhvr>
                                        <p:cTn id="20" dur="3000"/>
                                        <p:tgtEl>
                                          <p:spTgt spid="9"/>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499"/>
                                          </p:stCondLst>
                                        </p:cTn>
                                        <p:tgtEl>
                                          <p:spTgt spid="1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wipe(left)">
                                      <p:cBhvr>
                                        <p:cTn id="29" dur="3000"/>
                                        <p:tgtEl>
                                          <p:spTgt spid="12"/>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499"/>
                                          </p:stCondLst>
                                        </p:cTn>
                                        <p:tgtEl>
                                          <p:spTgt spid="15"/>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499"/>
                                          </p:stCondLst>
                                        </p:cTn>
                                        <p:tgtEl>
                                          <p:spTgt spid="17"/>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18"/>
                                        </p:tgtEl>
                                        <p:attrNameLst>
                                          <p:attrName>style.visibility</p:attrName>
                                        </p:attrNameLst>
                                      </p:cBhvr>
                                      <p:to>
                                        <p:strVal val="visible"/>
                                      </p:to>
                                    </p:set>
                                    <p:animEffect transition="in" filter="wipe(left)">
                                      <p:cBhvr>
                                        <p:cTn id="42" dur="3000"/>
                                        <p:tgtEl>
                                          <p:spTgt spid="18"/>
                                        </p:tgtEl>
                                      </p:cBhvr>
                                    </p:animEffec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499"/>
                                          </p:stCondLst>
                                        </p:cTn>
                                        <p:tgtEl>
                                          <p:spTgt spid="19"/>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499"/>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utoUpdateAnimBg="0"/>
      <p:bldP spid="4" grpId="0" autoUpdateAnimBg="0"/>
      <p:bldP spid="15" grpId="0" autoUpdateAnimBg="0"/>
      <p:bldP spid="16" grpId="0" autoUpdateAnimBg="0"/>
      <p:bldP spid="17" grpId="0" autoUpdateAnimBg="0"/>
      <p:bldP spid="19" grpId="0" autoUpdateAnimBg="0"/>
      <p:bldP spid="20" grpId="0" animBg="1" autoUpdateAnimBg="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4653838"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第七章   动力学普遍定理</a:t>
            </a:r>
          </a:p>
        </p:txBody>
      </p:sp>
      <p:sp>
        <p:nvSpPr>
          <p:cNvPr id="9" name="Rectangle 61">
            <a:extLst>
              <a:ext uri="{FF2B5EF4-FFF2-40B4-BE49-F238E27FC236}">
                <a16:creationId xmlns:a16="http://schemas.microsoft.com/office/drawing/2014/main" id="{0C4CF67B-8CA2-F648-B364-D8C44A49A572}"/>
              </a:ext>
            </a:extLst>
          </p:cNvPr>
          <p:cNvSpPr>
            <a:spLocks noChangeArrowheads="1"/>
          </p:cNvSpPr>
          <p:nvPr/>
        </p:nvSpPr>
        <p:spPr bwMode="auto">
          <a:xfrm>
            <a:off x="8040216" y="1124744"/>
            <a:ext cx="3888432" cy="3378107"/>
          </a:xfrm>
          <a:prstGeom prst="rect">
            <a:avLst/>
          </a:prstGeom>
          <a:solidFill>
            <a:srgbClr val="B9CDE5"/>
          </a:solidFill>
          <a:ln>
            <a:noFill/>
          </a:ln>
          <a:effectLst/>
        </p:spPr>
        <p:txBody>
          <a:bodyPr wrap="none" anchor="ctr"/>
          <a:lstStyle/>
          <a:p>
            <a:endParaRPr lang="zh-CN" altLang="en-US"/>
          </a:p>
        </p:txBody>
      </p:sp>
      <p:sp>
        <p:nvSpPr>
          <p:cNvPr id="64" name="矩形 63"/>
          <p:cNvSpPr/>
          <p:nvPr/>
        </p:nvSpPr>
        <p:spPr>
          <a:xfrm>
            <a:off x="191343" y="842981"/>
            <a:ext cx="7700900" cy="1865126"/>
          </a:xfrm>
          <a:prstGeom prst="rect">
            <a:avLst/>
          </a:prstGeom>
        </p:spPr>
        <p:txBody>
          <a:bodyPr wrap="square">
            <a:spAutoFit/>
          </a:bodyPr>
          <a:lstStyle/>
          <a:p>
            <a:pPr algn="just">
              <a:lnSpc>
                <a:spcPct val="120000"/>
              </a:lnSpc>
            </a:pPr>
            <a:r>
              <a:rPr lang="zh-CN" altLang="en-US" i="0" dirty="0">
                <a:solidFill>
                  <a:srgbClr val="0033CC"/>
                </a:solidFill>
                <a:ea typeface="黑体" panose="02010609060101010101" pitchFamily="49" charset="-122"/>
              </a:rPr>
              <a:t>例 </a:t>
            </a:r>
            <a:r>
              <a:rPr lang="zh-CN" altLang="en-US" i="0" dirty="0">
                <a:solidFill>
                  <a:schemeClr val="tx1"/>
                </a:solidFill>
                <a:latin typeface="+mn-lt"/>
                <a:ea typeface="黑体" panose="02010609060101010101" pitchFamily="49" charset="-122"/>
              </a:rPr>
              <a:t>质量为</a:t>
            </a:r>
            <a:r>
              <a:rPr lang="en-US" altLang="zh-CN" b="0" dirty="0">
                <a:solidFill>
                  <a:schemeClr val="tx1"/>
                </a:solidFill>
                <a:latin typeface="+mn-lt"/>
                <a:ea typeface="黑体" panose="02010609060101010101" pitchFamily="49" charset="-122"/>
              </a:rPr>
              <a:t>m</a:t>
            </a:r>
            <a:r>
              <a:rPr lang="zh-CN" altLang="en-US" i="0" dirty="0">
                <a:solidFill>
                  <a:schemeClr val="tx1"/>
                </a:solidFill>
                <a:latin typeface="+mn-lt"/>
                <a:ea typeface="黑体" panose="02010609060101010101" pitchFamily="49" charset="-122"/>
              </a:rPr>
              <a:t>的滚子</a:t>
            </a:r>
            <a:r>
              <a:rPr lang="en-US" altLang="zh-CN" b="0" dirty="0">
                <a:solidFill>
                  <a:schemeClr val="tx1"/>
                </a:solidFill>
                <a:latin typeface="+mn-lt"/>
                <a:ea typeface="黑体" panose="02010609060101010101" pitchFamily="49" charset="-122"/>
              </a:rPr>
              <a:t>A</a:t>
            </a:r>
            <a:r>
              <a:rPr lang="zh-CN" altLang="en-US" i="0" dirty="0">
                <a:solidFill>
                  <a:schemeClr val="tx1"/>
                </a:solidFill>
                <a:latin typeface="+mn-lt"/>
                <a:ea typeface="黑体" panose="02010609060101010101" pitchFamily="49" charset="-122"/>
              </a:rPr>
              <a:t>在倾角为</a:t>
            </a:r>
            <a:r>
              <a:rPr lang="zh-CN" altLang="en-US" b="0" dirty="0">
                <a:solidFill>
                  <a:schemeClr val="tx1"/>
                </a:solidFill>
                <a:latin typeface="+mn-lt"/>
                <a:ea typeface="黑体" panose="02010609060101010101" pitchFamily="49" charset="-122"/>
                <a:sym typeface="Symbol" panose="05050102010706020507" pitchFamily="18" charset="2"/>
              </a:rPr>
              <a:t></a:t>
            </a:r>
            <a:r>
              <a:rPr lang="zh-CN" altLang="en-US" i="0" dirty="0">
                <a:solidFill>
                  <a:schemeClr val="tx1"/>
                </a:solidFill>
                <a:latin typeface="+mn-lt"/>
                <a:ea typeface="黑体" panose="02010609060101010101" pitchFamily="49" charset="-122"/>
              </a:rPr>
              <a:t>的斜面作纯滚动，滚子借绳子跨过滑轮</a:t>
            </a:r>
            <a:r>
              <a:rPr lang="en-US" altLang="zh-CN" b="0" dirty="0">
                <a:solidFill>
                  <a:schemeClr val="tx1"/>
                </a:solidFill>
                <a:latin typeface="+mn-lt"/>
                <a:ea typeface="黑体" panose="02010609060101010101" pitchFamily="49" charset="-122"/>
              </a:rPr>
              <a:t>B</a:t>
            </a:r>
            <a:r>
              <a:rPr lang="zh-CN" altLang="en-US" i="0" dirty="0">
                <a:solidFill>
                  <a:schemeClr val="tx1"/>
                </a:solidFill>
                <a:latin typeface="+mn-lt"/>
                <a:ea typeface="黑体" panose="02010609060101010101" pitchFamily="49" charset="-122"/>
              </a:rPr>
              <a:t>连接质量为</a:t>
            </a:r>
            <a:r>
              <a:rPr lang="en-US" altLang="zh-CN" b="0" dirty="0">
                <a:solidFill>
                  <a:schemeClr val="tx1"/>
                </a:solidFill>
                <a:latin typeface="+mn-lt"/>
                <a:ea typeface="黑体" panose="02010609060101010101" pitchFamily="49" charset="-122"/>
              </a:rPr>
              <a:t>m</a:t>
            </a:r>
            <a:r>
              <a:rPr lang="en-US" altLang="zh-CN" b="0" i="0" baseline="-25000" dirty="0">
                <a:solidFill>
                  <a:schemeClr val="tx1"/>
                </a:solidFill>
                <a:latin typeface="+mn-lt"/>
                <a:ea typeface="黑体" panose="02010609060101010101" pitchFamily="49" charset="-122"/>
              </a:rPr>
              <a:t>1</a:t>
            </a:r>
            <a:r>
              <a:rPr lang="zh-CN" altLang="en-US" i="0" dirty="0">
                <a:solidFill>
                  <a:schemeClr val="tx1"/>
                </a:solidFill>
                <a:latin typeface="+mn-lt"/>
                <a:ea typeface="黑体" panose="02010609060101010101" pitchFamily="49" charset="-122"/>
              </a:rPr>
              <a:t>的物体，如图。滚子与滑轮质量相等，</a:t>
            </a:r>
            <a:r>
              <a:rPr lang="zh-CN" altLang="en-US" i="0" dirty="0">
                <a:solidFill>
                  <a:schemeClr val="tx1"/>
                </a:solidFill>
                <a:ea typeface="黑体" panose="02010609060101010101" pitchFamily="49" charset="-122"/>
              </a:rPr>
              <a:t>半径相同为</a:t>
            </a:r>
            <a:r>
              <a:rPr lang="en-US" altLang="zh-CN" b="0" dirty="0">
                <a:solidFill>
                  <a:schemeClr val="tx1"/>
                </a:solidFill>
                <a:ea typeface="黑体" panose="02010609060101010101" pitchFamily="49" charset="-122"/>
              </a:rPr>
              <a:t>r</a:t>
            </a:r>
            <a:r>
              <a:rPr lang="zh-CN" altLang="en-US" i="0" dirty="0">
                <a:solidFill>
                  <a:schemeClr val="tx1"/>
                </a:solidFill>
                <a:latin typeface="+mn-lt"/>
                <a:ea typeface="黑体" panose="02010609060101010101" pitchFamily="49" charset="-122"/>
              </a:rPr>
              <a:t>，皆为均质圆盘。求系统由静止开始到重物下降</a:t>
            </a:r>
            <a:r>
              <a:rPr lang="en-US" altLang="zh-CN" b="0" dirty="0">
                <a:solidFill>
                  <a:schemeClr val="tx1"/>
                </a:solidFill>
                <a:latin typeface="+mn-lt"/>
                <a:ea typeface="黑体" panose="02010609060101010101" pitchFamily="49" charset="-122"/>
              </a:rPr>
              <a:t>h</a:t>
            </a:r>
            <a:r>
              <a:rPr lang="zh-CN" altLang="en-US" i="0" dirty="0">
                <a:solidFill>
                  <a:schemeClr val="tx1"/>
                </a:solidFill>
                <a:latin typeface="+mn-lt"/>
                <a:ea typeface="黑体" panose="02010609060101010101" pitchFamily="49" charset="-122"/>
              </a:rPr>
              <a:t>高度时的速度和加速度。</a:t>
            </a:r>
          </a:p>
        </p:txBody>
      </p:sp>
      <p:sp>
        <p:nvSpPr>
          <p:cNvPr id="93" name="矩形 92">
            <a:extLst>
              <a:ext uri="{FF2B5EF4-FFF2-40B4-BE49-F238E27FC236}">
                <a16:creationId xmlns:a16="http://schemas.microsoft.com/office/drawing/2014/main" id="{77CF9808-61EB-D4BA-10C7-C85E98A9BD3D}"/>
              </a:ext>
            </a:extLst>
          </p:cNvPr>
          <p:cNvSpPr/>
          <p:nvPr/>
        </p:nvSpPr>
        <p:spPr>
          <a:xfrm>
            <a:off x="191343" y="2696016"/>
            <a:ext cx="7700900" cy="2308324"/>
          </a:xfrm>
          <a:prstGeom prst="rect">
            <a:avLst/>
          </a:prstGeom>
        </p:spPr>
        <p:txBody>
          <a:bodyPr wrap="square">
            <a:spAutoFit/>
          </a:bodyPr>
          <a:lstStyle/>
          <a:p>
            <a:pPr algn="just">
              <a:lnSpc>
                <a:spcPct val="120000"/>
              </a:lnSpc>
            </a:pPr>
            <a:r>
              <a:rPr lang="zh-CN" altLang="en-US" i="0" dirty="0">
                <a:solidFill>
                  <a:srgbClr val="0033CC"/>
                </a:solidFill>
                <a:ea typeface="黑体" panose="02010609060101010101" pitchFamily="49" charset="-122"/>
              </a:rPr>
              <a:t>解  </a:t>
            </a:r>
            <a:r>
              <a:rPr lang="zh-CN" altLang="en-US" i="0" dirty="0">
                <a:solidFill>
                  <a:schemeClr val="tx1"/>
                </a:solidFill>
                <a:latin typeface="+mn-lt"/>
                <a:ea typeface="黑体" panose="02010609060101010101" pitchFamily="49" charset="-122"/>
              </a:rPr>
              <a:t>系统受力包括各物体的重力、轴承的约束力以及斜面对滚子的法向反力及摩擦力。在理想约束情况下，约束反力的功为零，系统只有重物及滚子的重力作功，总功为                            </a:t>
            </a:r>
          </a:p>
          <a:p>
            <a:pPr>
              <a:lnSpc>
                <a:spcPct val="120000"/>
              </a:lnSpc>
            </a:pPr>
            <a:endParaRPr lang="zh-CN" altLang="en-US" i="0" dirty="0">
              <a:solidFill>
                <a:schemeClr val="tx1"/>
              </a:solidFill>
              <a:latin typeface="+mn-lt"/>
              <a:ea typeface="黑体" panose="02010609060101010101" pitchFamily="49" charset="-122"/>
            </a:endParaRPr>
          </a:p>
        </p:txBody>
      </p:sp>
      <p:graphicFrame>
        <p:nvGraphicFramePr>
          <p:cNvPr id="96" name="Object 35">
            <a:extLst>
              <a:ext uri="{FF2B5EF4-FFF2-40B4-BE49-F238E27FC236}">
                <a16:creationId xmlns:a16="http://schemas.microsoft.com/office/drawing/2014/main" id="{C56CAF84-9EA2-9886-9299-57D438A4CDFB}"/>
              </a:ext>
            </a:extLst>
          </p:cNvPr>
          <p:cNvGraphicFramePr>
            <a:graphicFrameLocks noChangeAspect="1"/>
          </p:cNvGraphicFramePr>
          <p:nvPr>
            <p:extLst>
              <p:ext uri="{D42A27DB-BD31-4B8C-83A1-F6EECF244321}">
                <p14:modId xmlns:p14="http://schemas.microsoft.com/office/powerpoint/2010/main" val="4191639279"/>
              </p:ext>
            </p:extLst>
          </p:nvPr>
        </p:nvGraphicFramePr>
        <p:xfrm>
          <a:off x="1271464" y="5445224"/>
          <a:ext cx="4162425" cy="822325"/>
        </p:xfrm>
        <a:graphic>
          <a:graphicData uri="http://schemas.openxmlformats.org/presentationml/2006/ole">
            <mc:AlternateContent xmlns:mc="http://schemas.openxmlformats.org/markup-compatibility/2006">
              <mc:Choice xmlns:v="urn:schemas-microsoft-com:vml" Requires="v">
                <p:oleObj spid="_x0000_s31772" name="Equation" r:id="rId4" imgW="1981080" imgH="393480" progId="Equation.DSMT4">
                  <p:embed/>
                </p:oleObj>
              </mc:Choice>
              <mc:Fallback>
                <p:oleObj name="Equation" r:id="rId4" imgW="1981080" imgH="393480" progId="Equation.DSMT4">
                  <p:embed/>
                  <p:pic>
                    <p:nvPicPr>
                      <p:cNvPr id="0" name=""/>
                      <p:cNvPicPr>
                        <a:picLocks noChangeAspect="1" noChangeArrowheads="1"/>
                      </p:cNvPicPr>
                      <p:nvPr/>
                    </p:nvPicPr>
                    <p:blipFill>
                      <a:blip r:embed="rId5"/>
                      <a:srcRect/>
                      <a:stretch>
                        <a:fillRect/>
                      </a:stretch>
                    </p:blipFill>
                    <p:spPr bwMode="auto">
                      <a:xfrm>
                        <a:off x="1271464" y="5445224"/>
                        <a:ext cx="4162425" cy="8223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07" name="Group 2"/>
          <p:cNvGrpSpPr>
            <a:grpSpLocks/>
          </p:cNvGrpSpPr>
          <p:nvPr/>
        </p:nvGrpSpPr>
        <p:grpSpPr bwMode="auto">
          <a:xfrm>
            <a:off x="8225953" y="2040296"/>
            <a:ext cx="2384425" cy="1571625"/>
            <a:chOff x="3359" y="547"/>
            <a:chExt cx="1502" cy="990"/>
          </a:xfrm>
        </p:grpSpPr>
        <p:grpSp>
          <p:nvGrpSpPr>
            <p:cNvPr id="108" name="Group 3"/>
            <p:cNvGrpSpPr>
              <a:grpSpLocks/>
            </p:cNvGrpSpPr>
            <p:nvPr/>
          </p:nvGrpSpPr>
          <p:grpSpPr bwMode="auto">
            <a:xfrm>
              <a:off x="3359" y="547"/>
              <a:ext cx="1502" cy="990"/>
              <a:chOff x="3359" y="547"/>
              <a:chExt cx="1502" cy="990"/>
            </a:xfrm>
          </p:grpSpPr>
          <p:sp>
            <p:nvSpPr>
              <p:cNvPr id="113" name="Rectangle 6" descr="宽上对角线"/>
              <p:cNvSpPr>
                <a:spLocks noChangeArrowheads="1"/>
              </p:cNvSpPr>
              <p:nvPr/>
            </p:nvSpPr>
            <p:spPr bwMode="auto">
              <a:xfrm>
                <a:off x="3359" y="1414"/>
                <a:ext cx="1502" cy="123"/>
              </a:xfrm>
              <a:prstGeom prst="rect">
                <a:avLst/>
              </a:prstGeom>
              <a:pattFill prst="wdUpDiag">
                <a:fgClr>
                  <a:schemeClr val="tx2"/>
                </a:fgClr>
                <a:bgClr>
                  <a:srgbClr val="66CCFF"/>
                </a:bgClr>
              </a:patt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4" name="AutoShape 7"/>
              <p:cNvSpPr>
                <a:spLocks noChangeArrowheads="1"/>
              </p:cNvSpPr>
              <p:nvPr/>
            </p:nvSpPr>
            <p:spPr bwMode="auto">
              <a:xfrm flipH="1">
                <a:off x="3371" y="547"/>
                <a:ext cx="1490" cy="865"/>
              </a:xfrm>
              <a:prstGeom prst="rtTriangle">
                <a:avLst/>
              </a:prstGeom>
              <a:gradFill rotWithShape="1">
                <a:gsLst>
                  <a:gs pos="0">
                    <a:schemeClr val="accent1"/>
                  </a:gs>
                  <a:gs pos="100000">
                    <a:schemeClr val="accent1">
                      <a:gamma/>
                      <a:shade val="46275"/>
                      <a:invGamma/>
                    </a:schemeClr>
                  </a:gs>
                </a:gsLst>
                <a:path path="rect">
                  <a:fillToRect t="100000" r="100000"/>
                </a:path>
              </a:gra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09" name="Text Box 8"/>
            <p:cNvSpPr txBox="1">
              <a:spLocks noChangeAspect="1" noChangeArrowheads="1"/>
            </p:cNvSpPr>
            <p:nvPr/>
          </p:nvSpPr>
          <p:spPr bwMode="auto">
            <a:xfrm>
              <a:off x="3647" y="1190"/>
              <a:ext cx="258" cy="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b="0" i="1" dirty="0">
                  <a:sym typeface="Symbol" panose="05050102010706020507" pitchFamily="18" charset="2"/>
                </a:rPr>
                <a:t></a:t>
              </a:r>
            </a:p>
          </p:txBody>
        </p:sp>
        <p:sp>
          <p:nvSpPr>
            <p:cNvPr id="110" name="Arc 9"/>
            <p:cNvSpPr>
              <a:spLocks/>
            </p:cNvSpPr>
            <p:nvPr/>
          </p:nvSpPr>
          <p:spPr bwMode="auto">
            <a:xfrm>
              <a:off x="3656" y="1248"/>
              <a:ext cx="56" cy="174"/>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9525">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15" name="Line 10"/>
          <p:cNvSpPr>
            <a:spLocks noChangeShapeType="1"/>
          </p:cNvSpPr>
          <p:nvPr/>
        </p:nvSpPr>
        <p:spPr bwMode="auto">
          <a:xfrm>
            <a:off x="11002491" y="2821346"/>
            <a:ext cx="0" cy="129381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6" name="Oval 17"/>
          <p:cNvSpPr>
            <a:spLocks noChangeArrowheads="1"/>
          </p:cNvSpPr>
          <p:nvPr/>
        </p:nvSpPr>
        <p:spPr bwMode="auto">
          <a:xfrm>
            <a:off x="10202391" y="1643421"/>
            <a:ext cx="796925" cy="796925"/>
          </a:xfrm>
          <a:prstGeom prst="ellipse">
            <a:avLst/>
          </a:prstGeom>
          <a:gradFill rotWithShape="1">
            <a:gsLst>
              <a:gs pos="0">
                <a:schemeClr val="bg1"/>
              </a:gs>
              <a:gs pos="100000">
                <a:schemeClr val="bg1">
                  <a:gamma/>
                  <a:shade val="62353"/>
                  <a:invGamma/>
                </a:schemeClr>
              </a:gs>
            </a:gsLst>
            <a:path path="rect">
              <a:fillToRect r="100000" b="100000"/>
            </a:path>
          </a:gra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17" name="Group 18"/>
          <p:cNvGrpSpPr>
            <a:grpSpLocks/>
          </p:cNvGrpSpPr>
          <p:nvPr/>
        </p:nvGrpSpPr>
        <p:grpSpPr bwMode="auto">
          <a:xfrm>
            <a:off x="8267229" y="2289533"/>
            <a:ext cx="796925" cy="796925"/>
            <a:chOff x="5072" y="1384"/>
            <a:chExt cx="502" cy="502"/>
          </a:xfrm>
        </p:grpSpPr>
        <p:sp>
          <p:nvSpPr>
            <p:cNvPr id="118" name="Oval 19"/>
            <p:cNvSpPr>
              <a:spLocks noChangeArrowheads="1"/>
            </p:cNvSpPr>
            <p:nvPr/>
          </p:nvSpPr>
          <p:spPr bwMode="auto">
            <a:xfrm>
              <a:off x="5072" y="1384"/>
              <a:ext cx="502" cy="502"/>
            </a:xfrm>
            <a:prstGeom prst="ellipse">
              <a:avLst/>
            </a:prstGeom>
            <a:gradFill rotWithShape="1">
              <a:gsLst>
                <a:gs pos="0">
                  <a:schemeClr val="bg1"/>
                </a:gs>
                <a:gs pos="100000">
                  <a:schemeClr val="bg1">
                    <a:gamma/>
                    <a:shade val="62353"/>
                    <a:invGamma/>
                  </a:schemeClr>
                </a:gs>
              </a:gsLst>
              <a:path path="rect">
                <a:fillToRect r="100000" b="100000"/>
              </a:path>
            </a:gra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9" name="Oval 20"/>
            <p:cNvSpPr>
              <a:spLocks noChangeArrowheads="1"/>
            </p:cNvSpPr>
            <p:nvPr/>
          </p:nvSpPr>
          <p:spPr bwMode="auto">
            <a:xfrm>
              <a:off x="5295" y="1607"/>
              <a:ext cx="56" cy="56"/>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20" name="Line 21"/>
          <p:cNvSpPr>
            <a:spLocks noChangeShapeType="1"/>
          </p:cNvSpPr>
          <p:nvPr/>
        </p:nvSpPr>
        <p:spPr bwMode="auto">
          <a:xfrm rot="19800000">
            <a:off x="9430866" y="1951396"/>
            <a:ext cx="104775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1" name="Line 22"/>
          <p:cNvSpPr>
            <a:spLocks noChangeShapeType="1"/>
          </p:cNvSpPr>
          <p:nvPr/>
        </p:nvSpPr>
        <p:spPr bwMode="auto">
          <a:xfrm>
            <a:off x="11000904" y="2041883"/>
            <a:ext cx="0" cy="79375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2" name="Text Box 23"/>
          <p:cNvSpPr txBox="1">
            <a:spLocks noChangeAspect="1" noChangeArrowheads="1"/>
          </p:cNvSpPr>
          <p:nvPr/>
        </p:nvSpPr>
        <p:spPr bwMode="auto">
          <a:xfrm>
            <a:off x="10292879" y="1643421"/>
            <a:ext cx="533400" cy="49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b="0" i="1" dirty="0">
                <a:solidFill>
                  <a:schemeClr val="tx1"/>
                </a:solidFill>
                <a:sym typeface="Symbol" panose="05050102010706020507" pitchFamily="18" charset="2"/>
              </a:rPr>
              <a:t>B</a:t>
            </a:r>
            <a:endParaRPr lang="en-US" altLang="zh-CN" b="0" dirty="0">
              <a:solidFill>
                <a:schemeClr val="tx1"/>
              </a:solidFill>
              <a:sym typeface="Symbol" panose="05050102010706020507" pitchFamily="18" charset="2"/>
            </a:endParaRPr>
          </a:p>
        </p:txBody>
      </p:sp>
      <p:grpSp>
        <p:nvGrpSpPr>
          <p:cNvPr id="123" name="Group 24"/>
          <p:cNvGrpSpPr>
            <a:grpSpLocks/>
          </p:cNvGrpSpPr>
          <p:nvPr/>
        </p:nvGrpSpPr>
        <p:grpSpPr bwMode="auto">
          <a:xfrm>
            <a:off x="10865966" y="2378433"/>
            <a:ext cx="644525" cy="1277938"/>
            <a:chOff x="5354" y="611"/>
            <a:chExt cx="406" cy="805"/>
          </a:xfrm>
        </p:grpSpPr>
        <p:sp>
          <p:nvSpPr>
            <p:cNvPr id="124" name="Text Box 25"/>
            <p:cNvSpPr txBox="1">
              <a:spLocks noChangeArrowheads="1"/>
            </p:cNvSpPr>
            <p:nvPr/>
          </p:nvSpPr>
          <p:spPr bwMode="auto">
            <a:xfrm>
              <a:off x="5427" y="1186"/>
              <a:ext cx="231" cy="230"/>
            </a:xfrm>
            <a:prstGeom prst="rect">
              <a:avLst/>
            </a:prstGeom>
            <a:noFill/>
            <a:ln>
              <a:noFill/>
            </a:ln>
            <a:effectLst/>
            <a:extLst>
              <a:ext uri="{909E8E84-426E-40DD-AFC4-6F175D3DCCD1}">
                <a14:hiddenFill xmlns:a14="http://schemas.microsoft.com/office/drawing/2010/main">
                  <a:solidFill>
                    <a:srgbClr val="00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spcBef>
                  <a:spcPct val="50000"/>
                </a:spcBef>
              </a:pPr>
              <a:r>
                <a:rPr lang="en-US" altLang="zh-CN" b="1" i="1">
                  <a:solidFill>
                    <a:srgbClr val="FF0000"/>
                  </a:solidFill>
                </a:rPr>
                <a:t>W</a:t>
              </a:r>
            </a:p>
          </p:txBody>
        </p:sp>
        <p:sp>
          <p:nvSpPr>
            <p:cNvPr id="125" name="Rectangle 26"/>
            <p:cNvSpPr>
              <a:spLocks noChangeArrowheads="1"/>
            </p:cNvSpPr>
            <p:nvPr/>
          </p:nvSpPr>
          <p:spPr bwMode="auto">
            <a:xfrm>
              <a:off x="5354" y="899"/>
              <a:ext cx="170" cy="169"/>
            </a:xfrm>
            <a:prstGeom prst="rect">
              <a:avLst/>
            </a:prstGeom>
            <a:gradFill rotWithShape="1">
              <a:gsLst>
                <a:gs pos="0">
                  <a:schemeClr val="bg1"/>
                </a:gs>
                <a:gs pos="100000">
                  <a:schemeClr val="bg1">
                    <a:gamma/>
                    <a:shade val="46275"/>
                    <a:invGamma/>
                  </a:schemeClr>
                </a:gs>
              </a:gsLst>
              <a:path path="rect">
                <a:fillToRect r="100000" b="100000"/>
              </a:path>
            </a:gradFill>
            <a:ln w="2857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6" name="Line 27"/>
            <p:cNvSpPr>
              <a:spLocks noChangeShapeType="1"/>
            </p:cNvSpPr>
            <p:nvPr/>
          </p:nvSpPr>
          <p:spPr bwMode="auto">
            <a:xfrm>
              <a:off x="5440" y="983"/>
              <a:ext cx="0" cy="357"/>
            </a:xfrm>
            <a:prstGeom prst="line">
              <a:avLst/>
            </a:prstGeom>
            <a:noFill/>
            <a:ln w="28575">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7" name="Text Box 28"/>
            <p:cNvSpPr txBox="1">
              <a:spLocks noChangeArrowheads="1"/>
            </p:cNvSpPr>
            <p:nvPr/>
          </p:nvSpPr>
          <p:spPr bwMode="auto">
            <a:xfrm>
              <a:off x="5529" y="611"/>
              <a:ext cx="231" cy="233"/>
            </a:xfrm>
            <a:prstGeom prst="rect">
              <a:avLst/>
            </a:prstGeom>
            <a:noFill/>
            <a:ln>
              <a:noFill/>
            </a:ln>
            <a:effectLst/>
            <a:extLst>
              <a:ext uri="{909E8E84-426E-40DD-AFC4-6F175D3DCCD1}">
                <a14:hiddenFill xmlns:a14="http://schemas.microsoft.com/office/drawing/2010/main">
                  <a:solidFill>
                    <a:srgbClr val="00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spcBef>
                  <a:spcPct val="50000"/>
                </a:spcBef>
              </a:pPr>
              <a:r>
                <a:rPr lang="en-US" altLang="zh-CN" b="1" i="1" dirty="0">
                  <a:solidFill>
                    <a:srgbClr val="FF3399"/>
                  </a:solidFill>
                  <a:latin typeface="+mn-lt"/>
                </a:rPr>
                <a:t>v</a:t>
              </a:r>
            </a:p>
          </p:txBody>
        </p:sp>
        <p:sp>
          <p:nvSpPr>
            <p:cNvPr id="128" name="Line 29"/>
            <p:cNvSpPr>
              <a:spLocks noChangeShapeType="1"/>
            </p:cNvSpPr>
            <p:nvPr/>
          </p:nvSpPr>
          <p:spPr bwMode="auto">
            <a:xfrm>
              <a:off x="5582" y="780"/>
              <a:ext cx="0" cy="357"/>
            </a:xfrm>
            <a:prstGeom prst="line">
              <a:avLst/>
            </a:prstGeom>
            <a:noFill/>
            <a:ln w="28575">
              <a:solidFill>
                <a:srgbClr val="FF3399"/>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29" name="Line 30"/>
          <p:cNvSpPr>
            <a:spLocks noChangeShapeType="1"/>
          </p:cNvSpPr>
          <p:nvPr/>
        </p:nvSpPr>
        <p:spPr bwMode="auto">
          <a:xfrm rot="19800000">
            <a:off x="8618066" y="2454633"/>
            <a:ext cx="942975"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30" name="Group 31"/>
          <p:cNvGrpSpPr>
            <a:grpSpLocks noChangeAspect="1"/>
          </p:cNvGrpSpPr>
          <p:nvPr/>
        </p:nvGrpSpPr>
        <p:grpSpPr bwMode="auto">
          <a:xfrm>
            <a:off x="10405591" y="2014896"/>
            <a:ext cx="374650" cy="307975"/>
            <a:chOff x="3284" y="3881"/>
            <a:chExt cx="294" cy="241"/>
          </a:xfrm>
        </p:grpSpPr>
        <p:sp>
          <p:nvSpPr>
            <p:cNvPr id="131" name="AutoShape 32"/>
            <p:cNvSpPr>
              <a:spLocks noChangeAspect="1" noChangeArrowheads="1"/>
            </p:cNvSpPr>
            <p:nvPr/>
          </p:nvSpPr>
          <p:spPr bwMode="auto">
            <a:xfrm>
              <a:off x="3345" y="3888"/>
              <a:ext cx="172" cy="164"/>
            </a:xfrm>
            <a:prstGeom prst="triangle">
              <a:avLst>
                <a:gd name="adj" fmla="val 50000"/>
              </a:avLst>
            </a:prstGeom>
            <a:gradFill rotWithShape="1">
              <a:gsLst>
                <a:gs pos="0">
                  <a:srgbClr val="66FF33">
                    <a:gamma/>
                    <a:shade val="46275"/>
                    <a:invGamma/>
                  </a:srgbClr>
                </a:gs>
                <a:gs pos="50000">
                  <a:srgbClr val="66FF33"/>
                </a:gs>
                <a:gs pos="100000">
                  <a:srgbClr val="66FF33">
                    <a:gamma/>
                    <a:shade val="46275"/>
                    <a:invGamma/>
                  </a:srgbClr>
                </a:gs>
              </a:gsLst>
              <a:lin ang="0" scaled="1"/>
            </a:gradFill>
            <a:ln w="381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32" name="Oval 33"/>
            <p:cNvSpPr>
              <a:spLocks noChangeAspect="1" noChangeArrowheads="1"/>
            </p:cNvSpPr>
            <p:nvPr/>
          </p:nvSpPr>
          <p:spPr bwMode="auto">
            <a:xfrm>
              <a:off x="3404" y="3881"/>
              <a:ext cx="54" cy="54"/>
            </a:xfrm>
            <a:prstGeom prst="ellipse">
              <a:avLst/>
            </a:prstGeom>
            <a:solidFill>
              <a:srgbClr val="FF0000"/>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33" name="Rectangle 34" descr="宽上对角线"/>
            <p:cNvSpPr>
              <a:spLocks noChangeAspect="1" noChangeArrowheads="1"/>
            </p:cNvSpPr>
            <p:nvPr/>
          </p:nvSpPr>
          <p:spPr bwMode="auto">
            <a:xfrm>
              <a:off x="3285" y="4041"/>
              <a:ext cx="292" cy="81"/>
            </a:xfrm>
            <a:prstGeom prst="rect">
              <a:avLst/>
            </a:prstGeom>
            <a:pattFill prst="wdUpDiag">
              <a:fgClr>
                <a:srgbClr val="000000"/>
              </a:fgClr>
              <a:bgClr>
                <a:srgbClr val="FFFFCC"/>
              </a:bgClr>
            </a:patt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34" name="Line 35"/>
            <p:cNvSpPr>
              <a:spLocks noChangeAspect="1" noChangeShapeType="1"/>
            </p:cNvSpPr>
            <p:nvPr/>
          </p:nvSpPr>
          <p:spPr bwMode="auto">
            <a:xfrm>
              <a:off x="3284" y="4035"/>
              <a:ext cx="294" cy="1"/>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35" name="Line 36"/>
          <p:cNvSpPr>
            <a:spLocks noChangeShapeType="1"/>
          </p:cNvSpPr>
          <p:nvPr/>
        </p:nvSpPr>
        <p:spPr bwMode="auto">
          <a:xfrm>
            <a:off x="11393016" y="2832458"/>
            <a:ext cx="33655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6" name="Line 37"/>
          <p:cNvSpPr>
            <a:spLocks noChangeShapeType="1"/>
          </p:cNvSpPr>
          <p:nvPr/>
        </p:nvSpPr>
        <p:spPr bwMode="auto">
          <a:xfrm>
            <a:off x="11404129" y="3652360"/>
            <a:ext cx="33655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7" name="Line 38"/>
          <p:cNvSpPr>
            <a:spLocks noChangeShapeType="1"/>
          </p:cNvSpPr>
          <p:nvPr/>
        </p:nvSpPr>
        <p:spPr bwMode="auto">
          <a:xfrm>
            <a:off x="11632729" y="2821346"/>
            <a:ext cx="0" cy="831013"/>
          </a:xfrm>
          <a:prstGeom prst="line">
            <a:avLst/>
          </a:prstGeom>
          <a:noFill/>
          <a:ln w="9525">
            <a:solidFill>
              <a:schemeClr val="tx1"/>
            </a:solidFill>
            <a:round/>
            <a:headEnd type="stealth" w="sm" len="lg"/>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8" name="Text Box 39"/>
          <p:cNvSpPr txBox="1">
            <a:spLocks noChangeAspect="1" noChangeArrowheads="1"/>
          </p:cNvSpPr>
          <p:nvPr/>
        </p:nvSpPr>
        <p:spPr bwMode="auto">
          <a:xfrm rot="16200000">
            <a:off x="11284272" y="3036452"/>
            <a:ext cx="409575"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b="0" i="1" dirty="0">
                <a:solidFill>
                  <a:schemeClr val="tx1"/>
                </a:solidFill>
                <a:sym typeface="Symbol" panose="05050102010706020507" pitchFamily="18" charset="2"/>
              </a:rPr>
              <a:t>h</a:t>
            </a:r>
            <a:endParaRPr lang="en-US" altLang="zh-CN" b="0" dirty="0">
              <a:solidFill>
                <a:schemeClr val="tx1"/>
              </a:solidFill>
              <a:sym typeface="Symbol" panose="05050102010706020507" pitchFamily="18" charset="2"/>
            </a:endParaRPr>
          </a:p>
        </p:txBody>
      </p:sp>
      <p:grpSp>
        <p:nvGrpSpPr>
          <p:cNvPr id="139" name="Group 40"/>
          <p:cNvGrpSpPr>
            <a:grpSpLocks/>
          </p:cNvGrpSpPr>
          <p:nvPr/>
        </p:nvGrpSpPr>
        <p:grpSpPr bwMode="auto">
          <a:xfrm>
            <a:off x="10865975" y="2816583"/>
            <a:ext cx="484188" cy="839788"/>
            <a:chOff x="5354" y="2335"/>
            <a:chExt cx="305" cy="529"/>
          </a:xfrm>
        </p:grpSpPr>
        <p:sp>
          <p:nvSpPr>
            <p:cNvPr id="140" name="Text Box 41"/>
            <p:cNvSpPr txBox="1">
              <a:spLocks noChangeArrowheads="1"/>
            </p:cNvSpPr>
            <p:nvPr/>
          </p:nvSpPr>
          <p:spPr bwMode="auto">
            <a:xfrm>
              <a:off x="5428" y="2634"/>
              <a:ext cx="231" cy="230"/>
            </a:xfrm>
            <a:prstGeom prst="rect">
              <a:avLst/>
            </a:prstGeom>
            <a:noFill/>
            <a:ln>
              <a:noFill/>
            </a:ln>
            <a:effectLst/>
            <a:extLst>
              <a:ext uri="{909E8E84-426E-40DD-AFC4-6F175D3DCCD1}">
                <a14:hiddenFill xmlns:a14="http://schemas.microsoft.com/office/drawing/2010/main">
                  <a:solidFill>
                    <a:srgbClr val="00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spcBef>
                  <a:spcPct val="50000"/>
                </a:spcBef>
              </a:pPr>
              <a:r>
                <a:rPr lang="en-US" altLang="zh-CN" b="1" i="1" dirty="0">
                  <a:solidFill>
                    <a:srgbClr val="FF0000"/>
                  </a:solidFill>
                </a:rPr>
                <a:t>W</a:t>
              </a:r>
            </a:p>
          </p:txBody>
        </p:sp>
        <p:sp>
          <p:nvSpPr>
            <p:cNvPr id="141" name="Rectangle 42"/>
            <p:cNvSpPr>
              <a:spLocks noChangeArrowheads="1"/>
            </p:cNvSpPr>
            <p:nvPr/>
          </p:nvSpPr>
          <p:spPr bwMode="auto">
            <a:xfrm>
              <a:off x="5354" y="2335"/>
              <a:ext cx="170" cy="169"/>
            </a:xfrm>
            <a:prstGeom prst="rect">
              <a:avLst/>
            </a:prstGeom>
            <a:gradFill rotWithShape="1">
              <a:gsLst>
                <a:gs pos="0">
                  <a:schemeClr val="bg1"/>
                </a:gs>
                <a:gs pos="100000">
                  <a:schemeClr val="bg1">
                    <a:gamma/>
                    <a:shade val="46275"/>
                    <a:invGamma/>
                  </a:schemeClr>
                </a:gs>
              </a:gsLst>
              <a:path path="rect">
                <a:fillToRect r="100000" b="100000"/>
              </a:path>
            </a:gradFill>
            <a:ln w="2857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2" name="Line 43"/>
            <p:cNvSpPr>
              <a:spLocks noChangeShapeType="1"/>
            </p:cNvSpPr>
            <p:nvPr/>
          </p:nvSpPr>
          <p:spPr bwMode="auto">
            <a:xfrm>
              <a:off x="5440" y="2419"/>
              <a:ext cx="0" cy="357"/>
            </a:xfrm>
            <a:prstGeom prst="line">
              <a:avLst/>
            </a:prstGeom>
            <a:noFill/>
            <a:ln w="28575">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43" name="Group 44"/>
          <p:cNvGrpSpPr>
            <a:grpSpLocks/>
          </p:cNvGrpSpPr>
          <p:nvPr/>
        </p:nvGrpSpPr>
        <p:grpSpPr bwMode="auto">
          <a:xfrm>
            <a:off x="8045775" y="2685413"/>
            <a:ext cx="1709738" cy="871538"/>
            <a:chOff x="3242" y="828"/>
            <a:chExt cx="1077" cy="549"/>
          </a:xfrm>
        </p:grpSpPr>
        <p:sp>
          <p:nvSpPr>
            <p:cNvPr id="144" name="Text Box 45"/>
            <p:cNvSpPr txBox="1">
              <a:spLocks noChangeAspect="1" noChangeArrowheads="1"/>
            </p:cNvSpPr>
            <p:nvPr/>
          </p:nvSpPr>
          <p:spPr bwMode="auto">
            <a:xfrm>
              <a:off x="3242" y="862"/>
              <a:ext cx="433" cy="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b="0" i="1" dirty="0">
                  <a:solidFill>
                    <a:srgbClr val="FF0000"/>
                  </a:solidFill>
                  <a:ea typeface="宋体" panose="02010600030101010101" pitchFamily="2" charset="-122"/>
                  <a:sym typeface="Symbol" panose="05050102010706020507" pitchFamily="18" charset="2"/>
                </a:rPr>
                <a:t>m</a:t>
              </a:r>
              <a:r>
                <a:rPr lang="en-US" altLang="zh-CN" i="1" dirty="0">
                  <a:solidFill>
                    <a:srgbClr val="FF0000"/>
                  </a:solidFill>
                  <a:ea typeface="宋体" panose="02010600030101010101" pitchFamily="2" charset="-122"/>
                  <a:sym typeface="Symbol" panose="05050102010706020507" pitchFamily="18" charset="2"/>
                </a:rPr>
                <a:t>g</a:t>
              </a:r>
              <a:endParaRPr lang="en-US" altLang="zh-CN" dirty="0">
                <a:solidFill>
                  <a:srgbClr val="FF0000"/>
                </a:solidFill>
                <a:sym typeface="Symbol" panose="05050102010706020507" pitchFamily="18" charset="2"/>
              </a:endParaRPr>
            </a:p>
          </p:txBody>
        </p:sp>
        <p:sp>
          <p:nvSpPr>
            <p:cNvPr id="145" name="Line 46"/>
            <p:cNvSpPr>
              <a:spLocks noChangeShapeType="1"/>
            </p:cNvSpPr>
            <p:nvPr/>
          </p:nvSpPr>
          <p:spPr bwMode="auto">
            <a:xfrm>
              <a:off x="3647" y="828"/>
              <a:ext cx="0" cy="357"/>
            </a:xfrm>
            <a:prstGeom prst="line">
              <a:avLst/>
            </a:prstGeom>
            <a:noFill/>
            <a:ln w="28575">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6" name="Line 47"/>
            <p:cNvSpPr>
              <a:spLocks noChangeShapeType="1"/>
            </p:cNvSpPr>
            <p:nvPr/>
          </p:nvSpPr>
          <p:spPr bwMode="auto">
            <a:xfrm flipH="1" flipV="1">
              <a:off x="3771" y="1027"/>
              <a:ext cx="157" cy="272"/>
            </a:xfrm>
            <a:prstGeom prst="line">
              <a:avLst/>
            </a:prstGeom>
            <a:noFill/>
            <a:ln w="28575">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7" name="Line 48"/>
            <p:cNvSpPr>
              <a:spLocks noChangeShapeType="1"/>
            </p:cNvSpPr>
            <p:nvPr/>
          </p:nvSpPr>
          <p:spPr bwMode="auto">
            <a:xfrm rot="-5400000" flipH="1" flipV="1">
              <a:off x="3828" y="813"/>
              <a:ext cx="157" cy="272"/>
            </a:xfrm>
            <a:prstGeom prst="line">
              <a:avLst/>
            </a:prstGeom>
            <a:noFill/>
            <a:ln w="28575">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8" name="Text Box 49"/>
            <p:cNvSpPr txBox="1">
              <a:spLocks noChangeAspect="1" noChangeArrowheads="1"/>
            </p:cNvSpPr>
            <p:nvPr/>
          </p:nvSpPr>
          <p:spPr bwMode="auto">
            <a:xfrm>
              <a:off x="3874" y="1069"/>
              <a:ext cx="445" cy="3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n-US" altLang="zh-CN" b="1" i="1" dirty="0">
                  <a:solidFill>
                    <a:srgbClr val="FF0000"/>
                  </a:solidFill>
                  <a:ea typeface="宋体" panose="02010600030101010101" pitchFamily="2" charset="-122"/>
                </a:rPr>
                <a:t>F</a:t>
              </a:r>
              <a:r>
                <a:rPr lang="en-US" altLang="zh-CN" b="0" i="0" baseline="-25000" dirty="0">
                  <a:solidFill>
                    <a:srgbClr val="FF0000"/>
                  </a:solidFill>
                  <a:ea typeface="宋体" panose="02010600030101010101" pitchFamily="2" charset="-122"/>
                </a:rPr>
                <a:t>N</a:t>
              </a:r>
            </a:p>
          </p:txBody>
        </p:sp>
        <p:sp>
          <p:nvSpPr>
            <p:cNvPr id="149" name="Text Box 50"/>
            <p:cNvSpPr txBox="1">
              <a:spLocks noChangeAspect="1" noChangeArrowheads="1"/>
            </p:cNvSpPr>
            <p:nvPr/>
          </p:nvSpPr>
          <p:spPr bwMode="auto">
            <a:xfrm rot="21600000">
              <a:off x="3864" y="849"/>
              <a:ext cx="369" cy="3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n-US" altLang="zh-CN" b="1" i="1" dirty="0">
                  <a:solidFill>
                    <a:srgbClr val="FF0000"/>
                  </a:solidFill>
                  <a:ea typeface="宋体" panose="02010600030101010101" pitchFamily="2" charset="-122"/>
                </a:rPr>
                <a:t>F</a:t>
              </a:r>
              <a:endParaRPr lang="en-US" altLang="zh-CN" baseline="-25000" dirty="0">
                <a:solidFill>
                  <a:srgbClr val="FF0000"/>
                </a:solidFill>
                <a:ea typeface="宋体" panose="02010600030101010101" pitchFamily="2" charset="-122"/>
              </a:endParaRPr>
            </a:p>
          </p:txBody>
        </p:sp>
      </p:grpSp>
      <p:sp>
        <p:nvSpPr>
          <p:cNvPr id="150" name="Text Box 51"/>
          <p:cNvSpPr txBox="1">
            <a:spLocks noChangeAspect="1" noChangeArrowheads="1"/>
          </p:cNvSpPr>
          <p:nvPr/>
        </p:nvSpPr>
        <p:spPr bwMode="auto">
          <a:xfrm>
            <a:off x="10188104" y="2476858"/>
            <a:ext cx="687387"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b="0" i="1" dirty="0">
                <a:solidFill>
                  <a:srgbClr val="FF0000"/>
                </a:solidFill>
                <a:ea typeface="宋体" panose="02010600030101010101" pitchFamily="2" charset="-122"/>
                <a:sym typeface="Symbol" panose="05050102010706020507" pitchFamily="18" charset="2"/>
              </a:rPr>
              <a:t>m</a:t>
            </a:r>
            <a:r>
              <a:rPr lang="en-US" altLang="zh-CN" b="1" i="1" dirty="0">
                <a:solidFill>
                  <a:srgbClr val="FF0000"/>
                </a:solidFill>
                <a:ea typeface="宋体" panose="02010600030101010101" pitchFamily="2" charset="-122"/>
                <a:sym typeface="Symbol" panose="05050102010706020507" pitchFamily="18" charset="2"/>
              </a:rPr>
              <a:t>g</a:t>
            </a:r>
            <a:endParaRPr lang="en-US" altLang="zh-CN" b="1" dirty="0">
              <a:solidFill>
                <a:srgbClr val="FF0000"/>
              </a:solidFill>
              <a:sym typeface="Symbol" panose="05050102010706020507" pitchFamily="18" charset="2"/>
            </a:endParaRPr>
          </a:p>
        </p:txBody>
      </p:sp>
      <p:sp>
        <p:nvSpPr>
          <p:cNvPr id="151" name="Line 52"/>
          <p:cNvSpPr>
            <a:spLocks noChangeShapeType="1"/>
          </p:cNvSpPr>
          <p:nvPr/>
        </p:nvSpPr>
        <p:spPr bwMode="auto">
          <a:xfrm>
            <a:off x="10590063" y="2067283"/>
            <a:ext cx="0" cy="566738"/>
          </a:xfrm>
          <a:prstGeom prst="line">
            <a:avLst/>
          </a:prstGeom>
          <a:noFill/>
          <a:ln w="28575">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2" name="Line 53"/>
          <p:cNvSpPr>
            <a:spLocks noChangeShapeType="1"/>
          </p:cNvSpPr>
          <p:nvPr/>
        </p:nvSpPr>
        <p:spPr bwMode="auto">
          <a:xfrm rot="1800000" flipH="1" flipV="1">
            <a:off x="10467504" y="1581508"/>
            <a:ext cx="249237" cy="431800"/>
          </a:xfrm>
          <a:prstGeom prst="line">
            <a:avLst/>
          </a:prstGeom>
          <a:noFill/>
          <a:ln w="28575">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 name="Line 54"/>
          <p:cNvSpPr>
            <a:spLocks noChangeShapeType="1"/>
          </p:cNvSpPr>
          <p:nvPr/>
        </p:nvSpPr>
        <p:spPr bwMode="auto">
          <a:xfrm rot="7200000" flipH="1" flipV="1">
            <a:off x="10719122" y="1818840"/>
            <a:ext cx="249237" cy="431800"/>
          </a:xfrm>
          <a:prstGeom prst="line">
            <a:avLst/>
          </a:prstGeom>
          <a:noFill/>
          <a:ln w="28575">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4" name="Text Box 55"/>
          <p:cNvSpPr txBox="1">
            <a:spLocks noChangeAspect="1" noChangeArrowheads="1"/>
          </p:cNvSpPr>
          <p:nvPr/>
        </p:nvSpPr>
        <p:spPr bwMode="auto">
          <a:xfrm>
            <a:off x="10489729" y="1171933"/>
            <a:ext cx="644525" cy="542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n-US" altLang="zh-CN" b="1" i="1" dirty="0" err="1">
                <a:solidFill>
                  <a:srgbClr val="FF0000"/>
                </a:solidFill>
                <a:ea typeface="宋体" panose="02010600030101010101" pitchFamily="2" charset="-122"/>
              </a:rPr>
              <a:t>F</a:t>
            </a:r>
            <a:r>
              <a:rPr lang="en-US" altLang="zh-CN" b="0" baseline="-25000" dirty="0" err="1">
                <a:solidFill>
                  <a:srgbClr val="FF0000"/>
                </a:solidFill>
                <a:ea typeface="宋体" panose="02010600030101010101" pitchFamily="2" charset="-122"/>
              </a:rPr>
              <a:t>y</a:t>
            </a:r>
            <a:endParaRPr lang="en-US" altLang="zh-CN" b="0" baseline="-25000" dirty="0">
              <a:solidFill>
                <a:srgbClr val="FF0000"/>
              </a:solidFill>
              <a:ea typeface="宋体" panose="02010600030101010101" pitchFamily="2" charset="-122"/>
            </a:endParaRPr>
          </a:p>
        </p:txBody>
      </p:sp>
      <p:sp>
        <p:nvSpPr>
          <p:cNvPr id="155" name="Text Box 56"/>
          <p:cNvSpPr txBox="1">
            <a:spLocks noChangeAspect="1" noChangeArrowheads="1"/>
          </p:cNvSpPr>
          <p:nvPr/>
        </p:nvSpPr>
        <p:spPr bwMode="auto">
          <a:xfrm>
            <a:off x="11018824" y="1697396"/>
            <a:ext cx="585788" cy="488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n-US" altLang="zh-CN" b="1" i="1" dirty="0" err="1">
                <a:solidFill>
                  <a:srgbClr val="FF0000"/>
                </a:solidFill>
                <a:ea typeface="宋体" panose="02010600030101010101" pitchFamily="2" charset="-122"/>
              </a:rPr>
              <a:t>F</a:t>
            </a:r>
            <a:r>
              <a:rPr lang="en-US" altLang="zh-CN" b="0" i="1" baseline="-25000" dirty="0" err="1">
                <a:solidFill>
                  <a:srgbClr val="FF0000"/>
                </a:solidFill>
                <a:ea typeface="宋体" panose="02010600030101010101" pitchFamily="2" charset="-122"/>
              </a:rPr>
              <a:t>x</a:t>
            </a:r>
            <a:endParaRPr lang="en-US" altLang="zh-CN" b="0" baseline="-25000" dirty="0">
              <a:solidFill>
                <a:srgbClr val="FF0000"/>
              </a:solidFill>
              <a:ea typeface="宋体" panose="02010600030101010101" pitchFamily="2" charset="-122"/>
            </a:endParaRPr>
          </a:p>
        </p:txBody>
      </p:sp>
      <p:graphicFrame>
        <p:nvGraphicFramePr>
          <p:cNvPr id="157" name="Object 7">
            <a:extLst>
              <a:ext uri="{FF2B5EF4-FFF2-40B4-BE49-F238E27FC236}">
                <a16:creationId xmlns:a16="http://schemas.microsoft.com/office/drawing/2014/main" id="{2F2F237D-F899-96EE-1942-6592CE09640B}"/>
              </a:ext>
            </a:extLst>
          </p:cNvPr>
          <p:cNvGraphicFramePr>
            <a:graphicFrameLocks noChangeAspect="1"/>
          </p:cNvGraphicFramePr>
          <p:nvPr>
            <p:extLst>
              <p:ext uri="{D42A27DB-BD31-4B8C-83A1-F6EECF244321}">
                <p14:modId xmlns:p14="http://schemas.microsoft.com/office/powerpoint/2010/main" val="3390187291"/>
              </p:ext>
            </p:extLst>
          </p:nvPr>
        </p:nvGraphicFramePr>
        <p:xfrm>
          <a:off x="1271464" y="4361842"/>
          <a:ext cx="3794125" cy="606425"/>
        </p:xfrm>
        <a:graphic>
          <a:graphicData uri="http://schemas.openxmlformats.org/presentationml/2006/ole">
            <mc:AlternateContent xmlns:mc="http://schemas.openxmlformats.org/markup-compatibility/2006">
              <mc:Choice xmlns:v="urn:schemas-microsoft-com:vml" Requires="v">
                <p:oleObj spid="_x0000_s31773" name="Equation" r:id="rId6" imgW="1574640" imgH="253800" progId="Equation.DSMT4">
                  <p:embed/>
                </p:oleObj>
              </mc:Choice>
              <mc:Fallback>
                <p:oleObj name="Equation" r:id="rId6" imgW="1574640" imgH="253800" progId="Equation.DSMT4">
                  <p:embed/>
                  <p:pic>
                    <p:nvPicPr>
                      <p:cNvPr id="0" name=""/>
                      <p:cNvPicPr>
                        <a:picLocks noChangeAspect="1" noChangeArrowheads="1"/>
                      </p:cNvPicPr>
                      <p:nvPr/>
                    </p:nvPicPr>
                    <p:blipFill>
                      <a:blip r:embed="rId7"/>
                      <a:srcRect/>
                      <a:stretch>
                        <a:fillRect/>
                      </a:stretch>
                    </p:blipFill>
                    <p:spPr bwMode="auto">
                      <a:xfrm>
                        <a:off x="1271464" y="4361842"/>
                        <a:ext cx="3794125" cy="6064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8" name="矩形 157">
            <a:extLst>
              <a:ext uri="{FF2B5EF4-FFF2-40B4-BE49-F238E27FC236}">
                <a16:creationId xmlns:a16="http://schemas.microsoft.com/office/drawing/2014/main" id="{77CF9808-61EB-D4BA-10C7-C85E98A9BD3D}"/>
              </a:ext>
            </a:extLst>
          </p:cNvPr>
          <p:cNvSpPr/>
          <p:nvPr/>
        </p:nvSpPr>
        <p:spPr>
          <a:xfrm>
            <a:off x="191343" y="5004340"/>
            <a:ext cx="2448273" cy="535531"/>
          </a:xfrm>
          <a:prstGeom prst="rect">
            <a:avLst/>
          </a:prstGeom>
        </p:spPr>
        <p:txBody>
          <a:bodyPr wrap="square">
            <a:spAutoFit/>
          </a:bodyPr>
          <a:lstStyle/>
          <a:p>
            <a:pPr>
              <a:lnSpc>
                <a:spcPct val="120000"/>
              </a:lnSpc>
            </a:pPr>
            <a:r>
              <a:rPr lang="zh-CN" altLang="en-US" i="0" dirty="0">
                <a:solidFill>
                  <a:schemeClr val="tx1"/>
                </a:solidFill>
                <a:latin typeface="+mn-lt"/>
                <a:ea typeface="黑体" panose="02010609060101010101" pitchFamily="49" charset="-122"/>
              </a:rPr>
              <a:t>质点系动能定理</a:t>
            </a:r>
          </a:p>
        </p:txBody>
      </p:sp>
    </p:spTree>
    <p:extLst>
      <p:ext uri="{BB962C8B-B14F-4D97-AF65-F5344CB8AC3E}">
        <p14:creationId xmlns:p14="http://schemas.microsoft.com/office/powerpoint/2010/main" val="4251910224"/>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4"/>
                                        </p:tgtEl>
                                        <p:attrNameLst>
                                          <p:attrName>style.visibility</p:attrName>
                                        </p:attrNameLst>
                                      </p:cBhvr>
                                      <p:to>
                                        <p:strVal val="visible"/>
                                      </p:to>
                                    </p:set>
                                  </p:childTnLst>
                                </p:cTn>
                              </p:par>
                              <p:par>
                                <p:cTn id="11" presetID="10" presetClass="entr" presetSubtype="0" fill="hold" grpId="0" nodeType="withEffect">
                                  <p:stCondLst>
                                    <p:cond delay="0"/>
                                  </p:stCondLst>
                                  <p:childTnLst>
                                    <p:set>
                                      <p:cBhvr>
                                        <p:cTn id="12" dur="1" fill="hold">
                                          <p:stCondLst>
                                            <p:cond delay="0"/>
                                          </p:stCondLst>
                                        </p:cTn>
                                        <p:tgtEl>
                                          <p:spTgt spid="116"/>
                                        </p:tgtEl>
                                        <p:attrNameLst>
                                          <p:attrName>style.visibility</p:attrName>
                                        </p:attrNameLst>
                                      </p:cBhvr>
                                      <p:to>
                                        <p:strVal val="visible"/>
                                      </p:to>
                                    </p:set>
                                    <p:animEffect transition="in" filter="fade">
                                      <p:cBhvr>
                                        <p:cTn id="13" dur="2000"/>
                                        <p:tgtEl>
                                          <p:spTgt spid="116"/>
                                        </p:tgtEl>
                                      </p:cBhvr>
                                    </p:animEffect>
                                  </p:childTnLst>
                                </p:cTn>
                              </p:par>
                              <p:par>
                                <p:cTn id="14" presetID="10" presetClass="entr" presetSubtype="0" fill="hold" nodeType="withEffect">
                                  <p:stCondLst>
                                    <p:cond delay="0"/>
                                  </p:stCondLst>
                                  <p:childTnLst>
                                    <p:set>
                                      <p:cBhvr>
                                        <p:cTn id="15" dur="1" fill="hold">
                                          <p:stCondLst>
                                            <p:cond delay="0"/>
                                          </p:stCondLst>
                                        </p:cTn>
                                        <p:tgtEl>
                                          <p:spTgt spid="107"/>
                                        </p:tgtEl>
                                        <p:attrNameLst>
                                          <p:attrName>style.visibility</p:attrName>
                                        </p:attrNameLst>
                                      </p:cBhvr>
                                      <p:to>
                                        <p:strVal val="visible"/>
                                      </p:to>
                                    </p:set>
                                    <p:animEffect transition="in" filter="fade">
                                      <p:cBhvr>
                                        <p:cTn id="16" dur="2000"/>
                                        <p:tgtEl>
                                          <p:spTgt spid="107"/>
                                        </p:tgtEl>
                                      </p:cBhvr>
                                    </p:animEffect>
                                  </p:childTnLst>
                                </p:cTn>
                              </p:par>
                              <p:par>
                                <p:cTn id="17" presetID="10" presetClass="entr" presetSubtype="0" fill="hold" nodeType="withEffect">
                                  <p:stCondLst>
                                    <p:cond delay="0"/>
                                  </p:stCondLst>
                                  <p:childTnLst>
                                    <p:set>
                                      <p:cBhvr>
                                        <p:cTn id="18" dur="1" fill="hold">
                                          <p:stCondLst>
                                            <p:cond delay="0"/>
                                          </p:stCondLst>
                                        </p:cTn>
                                        <p:tgtEl>
                                          <p:spTgt spid="117"/>
                                        </p:tgtEl>
                                        <p:attrNameLst>
                                          <p:attrName>style.visibility</p:attrName>
                                        </p:attrNameLst>
                                      </p:cBhvr>
                                      <p:to>
                                        <p:strVal val="visible"/>
                                      </p:to>
                                    </p:set>
                                    <p:animEffect transition="in" filter="fade">
                                      <p:cBhvr>
                                        <p:cTn id="19" dur="2000"/>
                                        <p:tgtEl>
                                          <p:spTgt spid="117"/>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0"/>
                                        </p:tgtEl>
                                        <p:attrNameLst>
                                          <p:attrName>style.visibility</p:attrName>
                                        </p:attrNameLst>
                                      </p:cBhvr>
                                      <p:to>
                                        <p:strVal val="visible"/>
                                      </p:to>
                                    </p:set>
                                    <p:animEffect transition="in" filter="fade">
                                      <p:cBhvr>
                                        <p:cTn id="22" dur="2000"/>
                                        <p:tgtEl>
                                          <p:spTgt spid="120"/>
                                        </p:tgtEl>
                                      </p:cBhvr>
                                    </p:animEffect>
                                  </p:childTnLst>
                                </p:cTn>
                              </p:par>
                              <p:par>
                                <p:cTn id="23" presetID="10" presetClass="entr" presetSubtype="0" fill="hold" nodeType="withEffect">
                                  <p:stCondLst>
                                    <p:cond delay="0"/>
                                  </p:stCondLst>
                                  <p:childTnLst>
                                    <p:set>
                                      <p:cBhvr>
                                        <p:cTn id="24" dur="1" fill="hold">
                                          <p:stCondLst>
                                            <p:cond delay="0"/>
                                          </p:stCondLst>
                                        </p:cTn>
                                        <p:tgtEl>
                                          <p:spTgt spid="130"/>
                                        </p:tgtEl>
                                        <p:attrNameLst>
                                          <p:attrName>style.visibility</p:attrName>
                                        </p:attrNameLst>
                                      </p:cBhvr>
                                      <p:to>
                                        <p:strVal val="visible"/>
                                      </p:to>
                                    </p:set>
                                    <p:animEffect transition="in" filter="fade">
                                      <p:cBhvr>
                                        <p:cTn id="25" dur="2000"/>
                                        <p:tgtEl>
                                          <p:spTgt spid="130"/>
                                        </p:tgtEl>
                                      </p:cBhvr>
                                    </p:animEffect>
                                  </p:childTnLst>
                                </p:cTn>
                              </p:par>
                              <p:par>
                                <p:cTn id="26" presetID="9" presetClass="emph" presetSubtype="0" nodeType="withEffect">
                                  <p:stCondLst>
                                    <p:cond delay="0"/>
                                  </p:stCondLst>
                                  <p:childTnLst>
                                    <p:set>
                                      <p:cBhvr rctx="PPT">
                                        <p:cTn id="27" dur="indefinite"/>
                                        <p:tgtEl>
                                          <p:spTgt spid="130"/>
                                        </p:tgtEl>
                                        <p:attrNameLst>
                                          <p:attrName>style.opacity</p:attrName>
                                        </p:attrNameLst>
                                      </p:cBhvr>
                                      <p:to>
                                        <p:strVal val="0.5"/>
                                      </p:to>
                                    </p:set>
                                    <p:animEffect filter="image" prLst="opacity: 0.5">
                                      <p:cBhvr rctx="IE">
                                        <p:cTn id="28" dur="indefinite"/>
                                        <p:tgtEl>
                                          <p:spTgt spid="13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21"/>
                                        </p:tgtEl>
                                        <p:attrNameLst>
                                          <p:attrName>style.visibility</p:attrName>
                                        </p:attrNameLst>
                                      </p:cBhvr>
                                      <p:to>
                                        <p:strVal val="visible"/>
                                      </p:to>
                                    </p:set>
                                    <p:animEffect transition="in" filter="fade">
                                      <p:cBhvr>
                                        <p:cTn id="31" dur="2000"/>
                                        <p:tgtEl>
                                          <p:spTgt spid="12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22"/>
                                        </p:tgtEl>
                                        <p:attrNameLst>
                                          <p:attrName>style.visibility</p:attrName>
                                        </p:attrNameLst>
                                      </p:cBhvr>
                                      <p:to>
                                        <p:strVal val="visible"/>
                                      </p:to>
                                    </p:set>
                                    <p:animEffect transition="in" filter="fade">
                                      <p:cBhvr>
                                        <p:cTn id="34" dur="2000"/>
                                        <p:tgtEl>
                                          <p:spTgt spid="122"/>
                                        </p:tgtEl>
                                      </p:cBhvr>
                                    </p:animEffect>
                                  </p:childTnLst>
                                </p:cTn>
                              </p:par>
                              <p:par>
                                <p:cTn id="35" presetID="10" presetClass="entr" presetSubtype="0" fill="hold" nodeType="withEffect">
                                  <p:stCondLst>
                                    <p:cond delay="0"/>
                                  </p:stCondLst>
                                  <p:childTnLst>
                                    <p:set>
                                      <p:cBhvr>
                                        <p:cTn id="36" dur="1" fill="hold">
                                          <p:stCondLst>
                                            <p:cond delay="0"/>
                                          </p:stCondLst>
                                        </p:cTn>
                                        <p:tgtEl>
                                          <p:spTgt spid="123"/>
                                        </p:tgtEl>
                                        <p:attrNameLst>
                                          <p:attrName>style.visibility</p:attrName>
                                        </p:attrNameLst>
                                      </p:cBhvr>
                                      <p:to>
                                        <p:strVal val="visible"/>
                                      </p:to>
                                    </p:set>
                                    <p:animEffect transition="in" filter="fade">
                                      <p:cBhvr>
                                        <p:cTn id="37" dur="2000"/>
                                        <p:tgtEl>
                                          <p:spTgt spid="123"/>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29"/>
                                        </p:tgtEl>
                                        <p:attrNameLst>
                                          <p:attrName>style.visibility</p:attrName>
                                        </p:attrNameLst>
                                      </p:cBhvr>
                                      <p:to>
                                        <p:strVal val="visible"/>
                                      </p:to>
                                    </p:set>
                                    <p:animEffect transition="in" filter="fade">
                                      <p:cBhvr>
                                        <p:cTn id="40" dur="2000"/>
                                        <p:tgtEl>
                                          <p:spTgt spid="129"/>
                                        </p:tgtEl>
                                      </p:cBhvr>
                                    </p:animEffect>
                                  </p:childTnLst>
                                </p:cTn>
                              </p:par>
                            </p:childTnLst>
                          </p:cTn>
                        </p:par>
                      </p:childTnLst>
                    </p:cTn>
                  </p:par>
                  <p:par>
                    <p:cTn id="41" fill="hold">
                      <p:stCondLst>
                        <p:cond delay="indefinite"/>
                      </p:stCondLst>
                      <p:childTnLst>
                        <p:par>
                          <p:cTn id="42" fill="hold">
                            <p:stCondLst>
                              <p:cond delay="0"/>
                            </p:stCondLst>
                            <p:childTnLst>
                              <p:par>
                                <p:cTn id="43" presetID="8" presetClass="emph" presetSubtype="0" accel="50000" decel="50000" fill="hold" grpId="1" nodeType="clickEffect">
                                  <p:stCondLst>
                                    <p:cond delay="0"/>
                                  </p:stCondLst>
                                  <p:childTnLst>
                                    <p:animRot by="10800000">
                                      <p:cBhvr>
                                        <p:cTn id="44" dur="5000" fill="hold"/>
                                        <p:tgtEl>
                                          <p:spTgt spid="116"/>
                                        </p:tgtEl>
                                        <p:attrNameLst>
                                          <p:attrName>r</p:attrName>
                                        </p:attrNameLst>
                                      </p:cBhvr>
                                    </p:animRot>
                                  </p:childTnLst>
                                </p:cTn>
                              </p:par>
                              <p:par>
                                <p:cTn id="45" presetID="1" presetClass="entr" presetSubtype="0" fill="hold" nodeType="withEffect">
                                  <p:stCondLst>
                                    <p:cond delay="0"/>
                                  </p:stCondLst>
                                  <p:childTnLst>
                                    <p:set>
                                      <p:cBhvr>
                                        <p:cTn id="46" dur="1" fill="hold">
                                          <p:stCondLst>
                                            <p:cond delay="0"/>
                                          </p:stCondLst>
                                        </p:cTn>
                                        <p:tgtEl>
                                          <p:spTgt spid="143"/>
                                        </p:tgtEl>
                                        <p:attrNameLst>
                                          <p:attrName>style.visibility</p:attrName>
                                        </p:attrNameLst>
                                      </p:cBhvr>
                                      <p:to>
                                        <p:strVal val="visible"/>
                                      </p:to>
                                    </p:set>
                                  </p:childTnLst>
                                </p:cTn>
                              </p:par>
                              <p:par>
                                <p:cTn id="47" presetID="8" presetClass="emph" presetSubtype="0" accel="50000" decel="50000" fill="hold" nodeType="withEffect">
                                  <p:stCondLst>
                                    <p:cond delay="0"/>
                                  </p:stCondLst>
                                  <p:childTnLst>
                                    <p:animRot by="10800000">
                                      <p:cBhvr>
                                        <p:cTn id="48" dur="5000" fill="hold"/>
                                        <p:tgtEl>
                                          <p:spTgt spid="117"/>
                                        </p:tgtEl>
                                        <p:attrNameLst>
                                          <p:attrName>r</p:attrName>
                                        </p:attrNameLst>
                                      </p:cBhvr>
                                    </p:animRot>
                                  </p:childTnLst>
                                </p:cTn>
                              </p:par>
                              <p:par>
                                <p:cTn id="49" presetID="0" presetClass="path" presetSubtype="0" accel="50000" decel="50000" fill="hold" nodeType="withEffect">
                                  <p:stCondLst>
                                    <p:cond delay="0"/>
                                  </p:stCondLst>
                                  <p:childTnLst>
                                    <p:animMotion origin="layout" path="M 2.70833E-6 1.85185E-6 L 0.06172 -0.06389 " pathEditMode="relative" rAng="0" ptsTypes="AA">
                                      <p:cBhvr>
                                        <p:cTn id="50" dur="5000" fill="hold"/>
                                        <p:tgtEl>
                                          <p:spTgt spid="117"/>
                                        </p:tgtEl>
                                        <p:attrNameLst>
                                          <p:attrName>ppt_x</p:attrName>
                                          <p:attrName>ppt_y</p:attrName>
                                        </p:attrNameLst>
                                      </p:cBhvr>
                                      <p:rCtr x="3086" y="-3194"/>
                                    </p:animMotion>
                                  </p:childTnLst>
                                </p:cTn>
                              </p:par>
                              <p:par>
                                <p:cTn id="51" presetID="0" presetClass="path" presetSubtype="0" accel="50000" decel="50000" fill="hold" nodeType="withEffect">
                                  <p:stCondLst>
                                    <p:cond delay="0"/>
                                  </p:stCondLst>
                                  <p:childTnLst>
                                    <p:animMotion origin="layout" path="M 1.66667E-6 -4.81481E-6 L 1.66667E-6 0.12223 " pathEditMode="relative" rAng="0" ptsTypes="AA">
                                      <p:cBhvr>
                                        <p:cTn id="52" dur="5000" fill="hold"/>
                                        <p:tgtEl>
                                          <p:spTgt spid="123"/>
                                        </p:tgtEl>
                                        <p:attrNameLst>
                                          <p:attrName>ppt_x</p:attrName>
                                          <p:attrName>ppt_y</p:attrName>
                                        </p:attrNameLst>
                                      </p:cBhvr>
                                      <p:rCtr x="0" y="6111"/>
                                    </p:animMotion>
                                  </p:childTnLst>
                                </p:cTn>
                              </p:par>
                              <p:par>
                                <p:cTn id="53" presetID="0" presetClass="path" presetSubtype="0" accel="50000" decel="50000" fill="hold" grpId="1" nodeType="withEffect">
                                  <p:stCondLst>
                                    <p:cond delay="0"/>
                                  </p:stCondLst>
                                  <p:childTnLst>
                                    <p:animMotion origin="layout" path="M -0.00247 0.00278 L 0.06407 -0.06574 " pathEditMode="relative" rAng="0" ptsTypes="AA">
                                      <p:cBhvr>
                                        <p:cTn id="54" dur="5000" fill="hold"/>
                                        <p:tgtEl>
                                          <p:spTgt spid="129"/>
                                        </p:tgtEl>
                                        <p:attrNameLst>
                                          <p:attrName>ppt_x</p:attrName>
                                          <p:attrName>ppt_y</p:attrName>
                                        </p:attrNameLst>
                                      </p:cBhvr>
                                      <p:rCtr x="3320" y="-3426"/>
                                    </p:animMotion>
                                  </p:childTnLst>
                                </p:cTn>
                              </p:par>
                              <p:par>
                                <p:cTn id="55" presetID="0" presetClass="path" presetSubtype="0" accel="50000" decel="50000" fill="hold" nodeType="withEffect">
                                  <p:stCondLst>
                                    <p:cond delay="0"/>
                                  </p:stCondLst>
                                  <p:childTnLst>
                                    <p:animMotion origin="layout" path="M 2.08333E-6 -2.59259E-6 L 0.05872 -0.05949 " pathEditMode="relative" rAng="0" ptsTypes="AA">
                                      <p:cBhvr>
                                        <p:cTn id="56" dur="5000" fill="hold"/>
                                        <p:tgtEl>
                                          <p:spTgt spid="143"/>
                                        </p:tgtEl>
                                        <p:attrNameLst>
                                          <p:attrName>ppt_x</p:attrName>
                                          <p:attrName>ppt_y</p:attrName>
                                        </p:attrNameLst>
                                      </p:cBhvr>
                                      <p:rCtr x="2930" y="-2986"/>
                                    </p:animMotion>
                                  </p:childTnLst>
                                </p:cTn>
                              </p:par>
                              <p:par>
                                <p:cTn id="57" presetID="22" presetClass="entr" presetSubtype="1" fill="hold" grpId="0" nodeType="withEffect">
                                  <p:stCondLst>
                                    <p:cond delay="0"/>
                                  </p:stCondLst>
                                  <p:childTnLst>
                                    <p:set>
                                      <p:cBhvr>
                                        <p:cTn id="58" dur="1" fill="hold">
                                          <p:stCondLst>
                                            <p:cond delay="0"/>
                                          </p:stCondLst>
                                        </p:cTn>
                                        <p:tgtEl>
                                          <p:spTgt spid="115"/>
                                        </p:tgtEl>
                                        <p:attrNameLst>
                                          <p:attrName>style.visibility</p:attrName>
                                        </p:attrNameLst>
                                      </p:cBhvr>
                                      <p:to>
                                        <p:strVal val="visible"/>
                                      </p:to>
                                    </p:set>
                                    <p:animEffect transition="in" filter="wipe(up)">
                                      <p:cBhvr>
                                        <p:cTn id="59" dur="5000"/>
                                        <p:tgtEl>
                                          <p:spTgt spid="115"/>
                                        </p:tgtEl>
                                      </p:cBhvr>
                                    </p:animEffect>
                                  </p:childTnLst>
                                </p:cTn>
                              </p:par>
                              <p:par>
                                <p:cTn id="60" presetID="10" presetClass="entr" presetSubtype="0" fill="hold" nodeType="withEffect">
                                  <p:stCondLst>
                                    <p:cond delay="1000"/>
                                  </p:stCondLst>
                                  <p:childTnLst>
                                    <p:set>
                                      <p:cBhvr>
                                        <p:cTn id="61" dur="1" fill="hold">
                                          <p:stCondLst>
                                            <p:cond delay="0"/>
                                          </p:stCondLst>
                                        </p:cTn>
                                        <p:tgtEl>
                                          <p:spTgt spid="139"/>
                                        </p:tgtEl>
                                        <p:attrNameLst>
                                          <p:attrName>style.visibility</p:attrName>
                                        </p:attrNameLst>
                                      </p:cBhvr>
                                      <p:to>
                                        <p:strVal val="visible"/>
                                      </p:to>
                                    </p:set>
                                    <p:animEffect transition="in" filter="fade">
                                      <p:cBhvr>
                                        <p:cTn id="62" dur="2000"/>
                                        <p:tgtEl>
                                          <p:spTgt spid="139"/>
                                        </p:tgtEl>
                                      </p:cBhvr>
                                    </p:animEffect>
                                  </p:childTnLst>
                                </p:cTn>
                              </p:par>
                            </p:childTnLst>
                          </p:cTn>
                        </p:par>
                        <p:par>
                          <p:cTn id="63" fill="hold">
                            <p:stCondLst>
                              <p:cond delay="5000"/>
                            </p:stCondLst>
                            <p:childTnLst>
                              <p:par>
                                <p:cTn id="64" presetID="9" presetClass="emph" presetSubtype="0" nodeType="afterEffect">
                                  <p:stCondLst>
                                    <p:cond delay="0"/>
                                  </p:stCondLst>
                                  <p:childTnLst>
                                    <p:set>
                                      <p:cBhvr rctx="PPT">
                                        <p:cTn id="65" dur="indefinite"/>
                                        <p:tgtEl>
                                          <p:spTgt spid="139"/>
                                        </p:tgtEl>
                                        <p:attrNameLst>
                                          <p:attrName>style.opacity</p:attrName>
                                        </p:attrNameLst>
                                      </p:cBhvr>
                                      <p:to>
                                        <p:strVal val="0.5"/>
                                      </p:to>
                                    </p:set>
                                    <p:animEffect filter="image" prLst="opacity: 0.5">
                                      <p:cBhvr rctx="IE">
                                        <p:cTn id="66" dur="indefinite"/>
                                        <p:tgtEl>
                                          <p:spTgt spid="139"/>
                                        </p:tgtEl>
                                      </p:cBhvr>
                                    </p:animEffect>
                                  </p:childTnLst>
                                </p:cTn>
                              </p:par>
                              <p:par>
                                <p:cTn id="67" presetID="22" presetClass="entr" presetSubtype="8" fill="hold" grpId="0" nodeType="withEffect">
                                  <p:stCondLst>
                                    <p:cond delay="0"/>
                                  </p:stCondLst>
                                  <p:childTnLst>
                                    <p:set>
                                      <p:cBhvr>
                                        <p:cTn id="68" dur="1" fill="hold">
                                          <p:stCondLst>
                                            <p:cond delay="0"/>
                                          </p:stCondLst>
                                        </p:cTn>
                                        <p:tgtEl>
                                          <p:spTgt spid="135"/>
                                        </p:tgtEl>
                                        <p:attrNameLst>
                                          <p:attrName>style.visibility</p:attrName>
                                        </p:attrNameLst>
                                      </p:cBhvr>
                                      <p:to>
                                        <p:strVal val="visible"/>
                                      </p:to>
                                    </p:set>
                                    <p:animEffect transition="in" filter="wipe(left)">
                                      <p:cBhvr>
                                        <p:cTn id="69" dur="2000"/>
                                        <p:tgtEl>
                                          <p:spTgt spid="135"/>
                                        </p:tgtEl>
                                      </p:cBhvr>
                                    </p:animEffect>
                                  </p:childTnLst>
                                </p:cTn>
                              </p:par>
                              <p:par>
                                <p:cTn id="70" presetID="22" presetClass="entr" presetSubtype="8" fill="hold" grpId="0" nodeType="withEffect">
                                  <p:stCondLst>
                                    <p:cond delay="0"/>
                                  </p:stCondLst>
                                  <p:childTnLst>
                                    <p:set>
                                      <p:cBhvr>
                                        <p:cTn id="71" dur="1" fill="hold">
                                          <p:stCondLst>
                                            <p:cond delay="0"/>
                                          </p:stCondLst>
                                        </p:cTn>
                                        <p:tgtEl>
                                          <p:spTgt spid="136"/>
                                        </p:tgtEl>
                                        <p:attrNameLst>
                                          <p:attrName>style.visibility</p:attrName>
                                        </p:attrNameLst>
                                      </p:cBhvr>
                                      <p:to>
                                        <p:strVal val="visible"/>
                                      </p:to>
                                    </p:set>
                                    <p:animEffect transition="in" filter="wipe(left)">
                                      <p:cBhvr>
                                        <p:cTn id="72" dur="2000"/>
                                        <p:tgtEl>
                                          <p:spTgt spid="136"/>
                                        </p:tgtEl>
                                      </p:cBhvr>
                                    </p:animEffect>
                                  </p:childTnLst>
                                </p:cTn>
                              </p:par>
                            </p:childTnLst>
                          </p:cTn>
                        </p:par>
                        <p:par>
                          <p:cTn id="73" fill="hold">
                            <p:stCondLst>
                              <p:cond delay="7000"/>
                            </p:stCondLst>
                            <p:childTnLst>
                              <p:par>
                                <p:cTn id="74" presetID="16" presetClass="entr" presetSubtype="42" fill="hold" grpId="0" nodeType="afterEffect">
                                  <p:stCondLst>
                                    <p:cond delay="0"/>
                                  </p:stCondLst>
                                  <p:childTnLst>
                                    <p:set>
                                      <p:cBhvr>
                                        <p:cTn id="75" dur="1" fill="hold">
                                          <p:stCondLst>
                                            <p:cond delay="0"/>
                                          </p:stCondLst>
                                        </p:cTn>
                                        <p:tgtEl>
                                          <p:spTgt spid="137"/>
                                        </p:tgtEl>
                                        <p:attrNameLst>
                                          <p:attrName>style.visibility</p:attrName>
                                        </p:attrNameLst>
                                      </p:cBhvr>
                                      <p:to>
                                        <p:strVal val="visible"/>
                                      </p:to>
                                    </p:set>
                                    <p:animEffect transition="in" filter="barn(outHorizontal)">
                                      <p:cBhvr>
                                        <p:cTn id="76" dur="5000"/>
                                        <p:tgtEl>
                                          <p:spTgt spid="137"/>
                                        </p:tgtEl>
                                      </p:cBhvr>
                                    </p:animEffect>
                                  </p:childTnLst>
                                </p:cTn>
                              </p:par>
                              <p:par>
                                <p:cTn id="77" presetID="19" presetClass="entr" presetSubtype="5" fill="hold" grpId="0" nodeType="withEffect">
                                  <p:stCondLst>
                                    <p:cond delay="0"/>
                                  </p:stCondLst>
                                  <p:childTnLst>
                                    <p:set>
                                      <p:cBhvr>
                                        <p:cTn id="78" dur="1" fill="hold">
                                          <p:stCondLst>
                                            <p:cond delay="0"/>
                                          </p:stCondLst>
                                        </p:cTn>
                                        <p:tgtEl>
                                          <p:spTgt spid="138"/>
                                        </p:tgtEl>
                                        <p:attrNameLst>
                                          <p:attrName>style.visibility</p:attrName>
                                        </p:attrNameLst>
                                      </p:cBhvr>
                                      <p:to>
                                        <p:strVal val="visible"/>
                                      </p:to>
                                    </p:set>
                                    <p:anim calcmode="lin" valueType="num">
                                      <p:cBhvr>
                                        <p:cTn id="79" dur="5000" fill="hold"/>
                                        <p:tgtEl>
                                          <p:spTgt spid="138"/>
                                        </p:tgtEl>
                                        <p:attrNameLst>
                                          <p:attrName>ppt_w</p:attrName>
                                        </p:attrNameLst>
                                      </p:cBhvr>
                                      <p:tavLst>
                                        <p:tav tm="0">
                                          <p:val>
                                            <p:strVal val="#ppt_w"/>
                                          </p:val>
                                        </p:tav>
                                        <p:tav tm="100000">
                                          <p:val>
                                            <p:strVal val="#ppt_w"/>
                                          </p:val>
                                        </p:tav>
                                      </p:tavLst>
                                    </p:anim>
                                    <p:anim calcmode="lin" valueType="num">
                                      <p:cBhvr>
                                        <p:cTn id="80" dur="5000" fill="hold"/>
                                        <p:tgtEl>
                                          <p:spTgt spid="138"/>
                                        </p:tgtEl>
                                        <p:attrNameLst>
                                          <p:attrName>ppt_h</p:attrName>
                                        </p:attrNameLst>
                                      </p:cBhvr>
                                      <p:tavLst>
                                        <p:tav tm="0" fmla="#ppt_h*sin(2.5*pi*$)">
                                          <p:val>
                                            <p:fltVal val="0"/>
                                          </p:val>
                                        </p:tav>
                                        <p:tav tm="100000">
                                          <p:val>
                                            <p:fltVal val="1"/>
                                          </p:val>
                                        </p:tav>
                                      </p:tavLst>
                                    </p:anim>
                                  </p:childTnLst>
                                </p:cTn>
                              </p:par>
                              <p:par>
                                <p:cTn id="81" presetID="18" presetClass="exit" presetSubtype="3" fill="hold" grpId="2" nodeType="withEffect">
                                  <p:stCondLst>
                                    <p:cond delay="0"/>
                                  </p:stCondLst>
                                  <p:childTnLst>
                                    <p:animEffect transition="out" filter="strips(upRight)">
                                      <p:cBhvr>
                                        <p:cTn id="82" dur="5000"/>
                                        <p:tgtEl>
                                          <p:spTgt spid="129"/>
                                        </p:tgtEl>
                                      </p:cBhvr>
                                    </p:animEffect>
                                    <p:set>
                                      <p:cBhvr>
                                        <p:cTn id="83" dur="1" fill="hold">
                                          <p:stCondLst>
                                            <p:cond delay="4999"/>
                                          </p:stCondLst>
                                        </p:cTn>
                                        <p:tgtEl>
                                          <p:spTgt spid="129"/>
                                        </p:tgtEl>
                                        <p:attrNameLst>
                                          <p:attrName>style.visibility</p:attrName>
                                        </p:attrNameLst>
                                      </p:cBhvr>
                                      <p:to>
                                        <p:strVal val="hidden"/>
                                      </p:to>
                                    </p:set>
                                  </p:childTnLst>
                                </p:cTn>
                              </p:par>
                            </p:childTnLst>
                          </p:cTn>
                        </p:par>
                        <p:par>
                          <p:cTn id="84" fill="hold">
                            <p:stCondLst>
                              <p:cond delay="12000"/>
                            </p:stCondLst>
                            <p:childTnLst>
                              <p:par>
                                <p:cTn id="85" presetID="12" presetClass="entr" presetSubtype="1" fill="hold" grpId="0" nodeType="afterEffect">
                                  <p:stCondLst>
                                    <p:cond delay="0"/>
                                  </p:stCondLst>
                                  <p:childTnLst>
                                    <p:set>
                                      <p:cBhvr>
                                        <p:cTn id="86" dur="1" fill="hold">
                                          <p:stCondLst>
                                            <p:cond delay="0"/>
                                          </p:stCondLst>
                                        </p:cTn>
                                        <p:tgtEl>
                                          <p:spTgt spid="151"/>
                                        </p:tgtEl>
                                        <p:attrNameLst>
                                          <p:attrName>style.visibility</p:attrName>
                                        </p:attrNameLst>
                                      </p:cBhvr>
                                      <p:to>
                                        <p:strVal val="visible"/>
                                      </p:to>
                                    </p:set>
                                    <p:animEffect transition="in" filter="slide(fromTop)">
                                      <p:cBhvr>
                                        <p:cTn id="87" dur="3000"/>
                                        <p:tgtEl>
                                          <p:spTgt spid="151"/>
                                        </p:tgtEl>
                                      </p:cBhvr>
                                    </p:animEffect>
                                  </p:childTnLst>
                                </p:cTn>
                              </p:par>
                              <p:par>
                                <p:cTn id="88" presetID="19" presetClass="entr" presetSubtype="10" fill="hold" grpId="0" nodeType="withEffect">
                                  <p:stCondLst>
                                    <p:cond delay="0"/>
                                  </p:stCondLst>
                                  <p:childTnLst>
                                    <p:set>
                                      <p:cBhvr>
                                        <p:cTn id="89" dur="1" fill="hold">
                                          <p:stCondLst>
                                            <p:cond delay="0"/>
                                          </p:stCondLst>
                                        </p:cTn>
                                        <p:tgtEl>
                                          <p:spTgt spid="150"/>
                                        </p:tgtEl>
                                        <p:attrNameLst>
                                          <p:attrName>style.visibility</p:attrName>
                                        </p:attrNameLst>
                                      </p:cBhvr>
                                      <p:to>
                                        <p:strVal val="visible"/>
                                      </p:to>
                                    </p:set>
                                    <p:anim calcmode="lin" valueType="num">
                                      <p:cBhvr>
                                        <p:cTn id="90" dur="5000" fill="hold"/>
                                        <p:tgtEl>
                                          <p:spTgt spid="150"/>
                                        </p:tgtEl>
                                        <p:attrNameLst>
                                          <p:attrName>ppt_w</p:attrName>
                                        </p:attrNameLst>
                                      </p:cBhvr>
                                      <p:tavLst>
                                        <p:tav tm="0" fmla="#ppt_w*sin(2.5*pi*$)">
                                          <p:val>
                                            <p:fltVal val="0"/>
                                          </p:val>
                                        </p:tav>
                                        <p:tav tm="100000">
                                          <p:val>
                                            <p:fltVal val="1"/>
                                          </p:val>
                                        </p:tav>
                                      </p:tavLst>
                                    </p:anim>
                                    <p:anim calcmode="lin" valueType="num">
                                      <p:cBhvr>
                                        <p:cTn id="91" dur="5000" fill="hold"/>
                                        <p:tgtEl>
                                          <p:spTgt spid="150"/>
                                        </p:tgtEl>
                                        <p:attrNameLst>
                                          <p:attrName>ppt_h</p:attrName>
                                        </p:attrNameLst>
                                      </p:cBhvr>
                                      <p:tavLst>
                                        <p:tav tm="0">
                                          <p:val>
                                            <p:strVal val="#ppt_h"/>
                                          </p:val>
                                        </p:tav>
                                        <p:tav tm="100000">
                                          <p:val>
                                            <p:strVal val="#ppt_h"/>
                                          </p:val>
                                        </p:tav>
                                      </p:tavLst>
                                    </p:anim>
                                  </p:childTnLst>
                                </p:cTn>
                              </p:par>
                            </p:childTnLst>
                          </p:cTn>
                        </p:par>
                        <p:par>
                          <p:cTn id="92" fill="hold">
                            <p:stCondLst>
                              <p:cond delay="17000"/>
                            </p:stCondLst>
                            <p:childTnLst>
                              <p:par>
                                <p:cTn id="93" presetID="12" presetClass="entr" presetSubtype="4" fill="hold" grpId="0" nodeType="afterEffect">
                                  <p:stCondLst>
                                    <p:cond delay="0"/>
                                  </p:stCondLst>
                                  <p:childTnLst>
                                    <p:set>
                                      <p:cBhvr>
                                        <p:cTn id="94" dur="1" fill="hold">
                                          <p:stCondLst>
                                            <p:cond delay="0"/>
                                          </p:stCondLst>
                                        </p:cTn>
                                        <p:tgtEl>
                                          <p:spTgt spid="152"/>
                                        </p:tgtEl>
                                        <p:attrNameLst>
                                          <p:attrName>style.visibility</p:attrName>
                                        </p:attrNameLst>
                                      </p:cBhvr>
                                      <p:to>
                                        <p:strVal val="visible"/>
                                      </p:to>
                                    </p:set>
                                    <p:animEffect transition="in" filter="slide(fromBottom)">
                                      <p:cBhvr>
                                        <p:cTn id="95" dur="3000"/>
                                        <p:tgtEl>
                                          <p:spTgt spid="152"/>
                                        </p:tgtEl>
                                      </p:cBhvr>
                                    </p:animEffect>
                                  </p:childTnLst>
                                </p:cTn>
                              </p:par>
                              <p:par>
                                <p:cTn id="96" presetID="19" presetClass="entr" presetSubtype="10" fill="hold" nodeType="withEffect">
                                  <p:stCondLst>
                                    <p:cond delay="0"/>
                                  </p:stCondLst>
                                  <p:childTnLst>
                                    <p:set>
                                      <p:cBhvr>
                                        <p:cTn id="97" dur="1" fill="hold">
                                          <p:stCondLst>
                                            <p:cond delay="0"/>
                                          </p:stCondLst>
                                        </p:cTn>
                                        <p:tgtEl>
                                          <p:spTgt spid="154"/>
                                        </p:tgtEl>
                                        <p:attrNameLst>
                                          <p:attrName>style.visibility</p:attrName>
                                        </p:attrNameLst>
                                      </p:cBhvr>
                                      <p:to>
                                        <p:strVal val="visible"/>
                                      </p:to>
                                    </p:set>
                                    <p:anim calcmode="lin" valueType="num">
                                      <p:cBhvr>
                                        <p:cTn id="98" dur="5000" fill="hold"/>
                                        <p:tgtEl>
                                          <p:spTgt spid="154"/>
                                        </p:tgtEl>
                                        <p:attrNameLst>
                                          <p:attrName>ppt_w</p:attrName>
                                        </p:attrNameLst>
                                      </p:cBhvr>
                                      <p:tavLst>
                                        <p:tav tm="0" fmla="#ppt_w*sin(2.5*pi*$)">
                                          <p:val>
                                            <p:fltVal val="0"/>
                                          </p:val>
                                        </p:tav>
                                        <p:tav tm="100000">
                                          <p:val>
                                            <p:fltVal val="1"/>
                                          </p:val>
                                        </p:tav>
                                      </p:tavLst>
                                    </p:anim>
                                    <p:anim calcmode="lin" valueType="num">
                                      <p:cBhvr>
                                        <p:cTn id="99" dur="5000" fill="hold"/>
                                        <p:tgtEl>
                                          <p:spTgt spid="154"/>
                                        </p:tgtEl>
                                        <p:attrNameLst>
                                          <p:attrName>ppt_h</p:attrName>
                                        </p:attrNameLst>
                                      </p:cBhvr>
                                      <p:tavLst>
                                        <p:tav tm="0">
                                          <p:val>
                                            <p:strVal val="#ppt_h"/>
                                          </p:val>
                                        </p:tav>
                                        <p:tav tm="100000">
                                          <p:val>
                                            <p:strVal val="#ppt_h"/>
                                          </p:val>
                                        </p:tav>
                                      </p:tavLst>
                                    </p:anim>
                                  </p:childTnLst>
                                </p:cTn>
                              </p:par>
                            </p:childTnLst>
                          </p:cTn>
                        </p:par>
                        <p:par>
                          <p:cTn id="100" fill="hold">
                            <p:stCondLst>
                              <p:cond delay="22000"/>
                            </p:stCondLst>
                            <p:childTnLst>
                              <p:par>
                                <p:cTn id="101" presetID="12" presetClass="entr" presetSubtype="8" fill="hold" grpId="0" nodeType="afterEffect">
                                  <p:stCondLst>
                                    <p:cond delay="0"/>
                                  </p:stCondLst>
                                  <p:childTnLst>
                                    <p:set>
                                      <p:cBhvr>
                                        <p:cTn id="102" dur="1" fill="hold">
                                          <p:stCondLst>
                                            <p:cond delay="0"/>
                                          </p:stCondLst>
                                        </p:cTn>
                                        <p:tgtEl>
                                          <p:spTgt spid="153"/>
                                        </p:tgtEl>
                                        <p:attrNameLst>
                                          <p:attrName>style.visibility</p:attrName>
                                        </p:attrNameLst>
                                      </p:cBhvr>
                                      <p:to>
                                        <p:strVal val="visible"/>
                                      </p:to>
                                    </p:set>
                                    <p:animEffect transition="in" filter="slide(fromLeft)">
                                      <p:cBhvr>
                                        <p:cTn id="103" dur="3000"/>
                                        <p:tgtEl>
                                          <p:spTgt spid="153"/>
                                        </p:tgtEl>
                                      </p:cBhvr>
                                    </p:animEffect>
                                  </p:childTnLst>
                                </p:cTn>
                              </p:par>
                              <p:par>
                                <p:cTn id="104" presetID="19" presetClass="entr" presetSubtype="10" fill="hold" nodeType="withEffect">
                                  <p:stCondLst>
                                    <p:cond delay="0"/>
                                  </p:stCondLst>
                                  <p:childTnLst>
                                    <p:set>
                                      <p:cBhvr>
                                        <p:cTn id="105" dur="1" fill="hold">
                                          <p:stCondLst>
                                            <p:cond delay="0"/>
                                          </p:stCondLst>
                                        </p:cTn>
                                        <p:tgtEl>
                                          <p:spTgt spid="155"/>
                                        </p:tgtEl>
                                        <p:attrNameLst>
                                          <p:attrName>style.visibility</p:attrName>
                                        </p:attrNameLst>
                                      </p:cBhvr>
                                      <p:to>
                                        <p:strVal val="visible"/>
                                      </p:to>
                                    </p:set>
                                    <p:anim calcmode="lin" valueType="num">
                                      <p:cBhvr>
                                        <p:cTn id="106" dur="5000" fill="hold"/>
                                        <p:tgtEl>
                                          <p:spTgt spid="155"/>
                                        </p:tgtEl>
                                        <p:attrNameLst>
                                          <p:attrName>ppt_w</p:attrName>
                                        </p:attrNameLst>
                                      </p:cBhvr>
                                      <p:tavLst>
                                        <p:tav tm="0" fmla="#ppt_w*sin(2.5*pi*$)">
                                          <p:val>
                                            <p:fltVal val="0"/>
                                          </p:val>
                                        </p:tav>
                                        <p:tav tm="100000">
                                          <p:val>
                                            <p:fltVal val="1"/>
                                          </p:val>
                                        </p:tav>
                                      </p:tavLst>
                                    </p:anim>
                                    <p:anim calcmode="lin" valueType="num">
                                      <p:cBhvr>
                                        <p:cTn id="107" dur="5000" fill="hold"/>
                                        <p:tgtEl>
                                          <p:spTgt spid="155"/>
                                        </p:tgtEl>
                                        <p:attrNameLst>
                                          <p:attrName>ppt_h</p:attrName>
                                        </p:attrNameLst>
                                      </p:cBhvr>
                                      <p:tavLst>
                                        <p:tav tm="0">
                                          <p:val>
                                            <p:strVal val="#ppt_h"/>
                                          </p:val>
                                        </p:tav>
                                        <p:tav tm="100000">
                                          <p:val>
                                            <p:strVal val="#ppt_h"/>
                                          </p:val>
                                        </p:tav>
                                      </p:tavLst>
                                    </p:anim>
                                  </p:childTnLst>
                                </p:cTn>
                              </p:par>
                            </p:childTnLst>
                          </p:cTn>
                        </p:par>
                      </p:childTnLst>
                    </p:cTn>
                  </p:par>
                  <p:par>
                    <p:cTn id="108" fill="hold">
                      <p:stCondLst>
                        <p:cond delay="indefinite"/>
                      </p:stCondLst>
                      <p:childTnLst>
                        <p:par>
                          <p:cTn id="109" fill="hold">
                            <p:stCondLst>
                              <p:cond delay="0"/>
                            </p:stCondLst>
                            <p:childTnLst>
                              <p:par>
                                <p:cTn id="110" presetID="1" presetClass="entr" presetSubtype="0" fill="hold" grpId="0" nodeType="clickEffect">
                                  <p:stCondLst>
                                    <p:cond delay="0"/>
                                  </p:stCondLst>
                                  <p:childTnLst>
                                    <p:set>
                                      <p:cBhvr>
                                        <p:cTn id="111" dur="1" fill="hold">
                                          <p:stCondLst>
                                            <p:cond delay="0"/>
                                          </p:stCondLst>
                                        </p:cTn>
                                        <p:tgtEl>
                                          <p:spTgt spid="93"/>
                                        </p:tgtEl>
                                        <p:attrNameLst>
                                          <p:attrName>style.visibility</p:attrName>
                                        </p:attrNameLst>
                                      </p:cBhvr>
                                      <p:to>
                                        <p:strVal val="visible"/>
                                      </p:to>
                                    </p:set>
                                  </p:childTnLst>
                                </p:cTn>
                              </p:par>
                            </p:childTnLst>
                          </p:cTn>
                        </p:par>
                      </p:childTnLst>
                    </p:cTn>
                  </p:par>
                  <p:par>
                    <p:cTn id="112" fill="hold">
                      <p:stCondLst>
                        <p:cond delay="indefinite"/>
                      </p:stCondLst>
                      <p:childTnLst>
                        <p:par>
                          <p:cTn id="113" fill="hold">
                            <p:stCondLst>
                              <p:cond delay="0"/>
                            </p:stCondLst>
                            <p:childTnLst>
                              <p:par>
                                <p:cTn id="114" presetID="22" presetClass="entr" presetSubtype="8" fill="hold" nodeType="clickEffect">
                                  <p:stCondLst>
                                    <p:cond delay="0"/>
                                  </p:stCondLst>
                                  <p:childTnLst>
                                    <p:set>
                                      <p:cBhvr>
                                        <p:cTn id="115" dur="1" fill="hold">
                                          <p:stCondLst>
                                            <p:cond delay="0"/>
                                          </p:stCondLst>
                                        </p:cTn>
                                        <p:tgtEl>
                                          <p:spTgt spid="157"/>
                                        </p:tgtEl>
                                        <p:attrNameLst>
                                          <p:attrName>style.visibility</p:attrName>
                                        </p:attrNameLst>
                                      </p:cBhvr>
                                      <p:to>
                                        <p:strVal val="visible"/>
                                      </p:to>
                                    </p:set>
                                    <p:animEffect transition="in" filter="wipe(left)">
                                      <p:cBhvr>
                                        <p:cTn id="116" dur="3000"/>
                                        <p:tgtEl>
                                          <p:spTgt spid="157"/>
                                        </p:tgtEl>
                                      </p:cBhvr>
                                    </p:animEffect>
                                  </p:childTnLst>
                                </p:cTn>
                              </p:par>
                            </p:childTnLst>
                          </p:cTn>
                        </p:par>
                      </p:childTnLst>
                    </p:cTn>
                  </p:par>
                  <p:par>
                    <p:cTn id="117" fill="hold">
                      <p:stCondLst>
                        <p:cond delay="indefinite"/>
                      </p:stCondLst>
                      <p:childTnLst>
                        <p:par>
                          <p:cTn id="118" fill="hold">
                            <p:stCondLst>
                              <p:cond delay="0"/>
                            </p:stCondLst>
                            <p:childTnLst>
                              <p:par>
                                <p:cTn id="119" presetID="1" presetClass="entr" presetSubtype="0" fill="hold" grpId="0" nodeType="clickEffect">
                                  <p:stCondLst>
                                    <p:cond delay="0"/>
                                  </p:stCondLst>
                                  <p:childTnLst>
                                    <p:set>
                                      <p:cBhvr>
                                        <p:cTn id="120" dur="1" fill="hold">
                                          <p:stCondLst>
                                            <p:cond delay="0"/>
                                          </p:stCondLst>
                                        </p:cTn>
                                        <p:tgtEl>
                                          <p:spTgt spid="158"/>
                                        </p:tgtEl>
                                        <p:attrNameLst>
                                          <p:attrName>style.visibility</p:attrName>
                                        </p:attrNameLst>
                                      </p:cBhvr>
                                      <p:to>
                                        <p:strVal val="visible"/>
                                      </p:to>
                                    </p:set>
                                  </p:childTnLst>
                                </p:cTn>
                              </p:par>
                            </p:childTnLst>
                          </p:cTn>
                        </p:par>
                      </p:childTnLst>
                    </p:cTn>
                  </p:par>
                  <p:par>
                    <p:cTn id="121" fill="hold">
                      <p:stCondLst>
                        <p:cond delay="indefinite"/>
                      </p:stCondLst>
                      <p:childTnLst>
                        <p:par>
                          <p:cTn id="122" fill="hold">
                            <p:stCondLst>
                              <p:cond delay="0"/>
                            </p:stCondLst>
                            <p:childTnLst>
                              <p:par>
                                <p:cTn id="123" presetID="22" presetClass="entr" presetSubtype="8" fill="hold" nodeType="clickEffect">
                                  <p:stCondLst>
                                    <p:cond delay="0"/>
                                  </p:stCondLst>
                                  <p:childTnLst>
                                    <p:set>
                                      <p:cBhvr>
                                        <p:cTn id="124" dur="1" fill="hold">
                                          <p:stCondLst>
                                            <p:cond delay="0"/>
                                          </p:stCondLst>
                                        </p:cTn>
                                        <p:tgtEl>
                                          <p:spTgt spid="96"/>
                                        </p:tgtEl>
                                        <p:attrNameLst>
                                          <p:attrName>style.visibility</p:attrName>
                                        </p:attrNameLst>
                                      </p:cBhvr>
                                      <p:to>
                                        <p:strVal val="visible"/>
                                      </p:to>
                                    </p:set>
                                    <p:animEffect transition="in" filter="wipe(left)">
                                      <p:cBhvr>
                                        <p:cTn id="125" dur="3000"/>
                                        <p:tgtEl>
                                          <p:spTgt spid="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64" grpId="0"/>
      <p:bldP spid="93" grpId="0"/>
      <p:bldP spid="115" grpId="0" animBg="1"/>
      <p:bldP spid="116" grpId="0" animBg="1"/>
      <p:bldP spid="116" grpId="1" animBg="1"/>
      <p:bldP spid="120" grpId="0" animBg="1"/>
      <p:bldP spid="121" grpId="0" animBg="1"/>
      <p:bldP spid="122" grpId="0"/>
      <p:bldP spid="129" grpId="0" animBg="1"/>
      <p:bldP spid="129" grpId="1" animBg="1"/>
      <p:bldP spid="129" grpId="2" animBg="1"/>
      <p:bldP spid="135" grpId="0" animBg="1"/>
      <p:bldP spid="136" grpId="0" animBg="1"/>
      <p:bldP spid="137" grpId="0" animBg="1"/>
      <p:bldP spid="138" grpId="0"/>
      <p:bldP spid="150" grpId="0"/>
      <p:bldP spid="151" grpId="0" animBg="1"/>
      <p:bldP spid="152" grpId="0" animBg="1"/>
      <p:bldP spid="153" grpId="0" animBg="1"/>
      <p:bldP spid="158"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4653838"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第七章   动力学普遍定理</a:t>
            </a:r>
          </a:p>
        </p:txBody>
      </p:sp>
      <p:sp>
        <p:nvSpPr>
          <p:cNvPr id="56" name="矩形 55">
            <a:extLst>
              <a:ext uri="{FF2B5EF4-FFF2-40B4-BE49-F238E27FC236}">
                <a16:creationId xmlns:a16="http://schemas.microsoft.com/office/drawing/2014/main" id="{77CF9808-61EB-D4BA-10C7-C85E98A9BD3D}"/>
              </a:ext>
            </a:extLst>
          </p:cNvPr>
          <p:cNvSpPr/>
          <p:nvPr/>
        </p:nvSpPr>
        <p:spPr>
          <a:xfrm>
            <a:off x="911424" y="1664434"/>
            <a:ext cx="2448273" cy="493148"/>
          </a:xfrm>
          <a:prstGeom prst="rect">
            <a:avLst/>
          </a:prstGeom>
        </p:spPr>
        <p:txBody>
          <a:bodyPr wrap="square">
            <a:spAutoFit/>
          </a:bodyPr>
          <a:lstStyle/>
          <a:p>
            <a:pPr>
              <a:lnSpc>
                <a:spcPct val="120000"/>
              </a:lnSpc>
            </a:pPr>
            <a:r>
              <a:rPr lang="zh-CN" altLang="en-US" i="0" dirty="0">
                <a:solidFill>
                  <a:schemeClr val="tx1"/>
                </a:solidFill>
                <a:latin typeface="+mn-lt"/>
                <a:ea typeface="黑体" panose="02010609060101010101" pitchFamily="49" charset="-122"/>
              </a:rPr>
              <a:t>求得速度</a:t>
            </a:r>
          </a:p>
        </p:txBody>
      </p:sp>
      <p:graphicFrame>
        <p:nvGraphicFramePr>
          <p:cNvPr id="57" name="Object 59"/>
          <p:cNvGraphicFramePr>
            <a:graphicFrameLocks noChangeAspect="1"/>
          </p:cNvGraphicFramePr>
          <p:nvPr>
            <p:extLst>
              <p:ext uri="{D42A27DB-BD31-4B8C-83A1-F6EECF244321}">
                <p14:modId xmlns:p14="http://schemas.microsoft.com/office/powerpoint/2010/main" val="2693000999"/>
              </p:ext>
            </p:extLst>
          </p:nvPr>
        </p:nvGraphicFramePr>
        <p:xfrm>
          <a:off x="3791744" y="1435072"/>
          <a:ext cx="3095625" cy="1006475"/>
        </p:xfrm>
        <a:graphic>
          <a:graphicData uri="http://schemas.openxmlformats.org/presentationml/2006/ole">
            <mc:AlternateContent xmlns:mc="http://schemas.openxmlformats.org/markup-compatibility/2006">
              <mc:Choice xmlns:v="urn:schemas-microsoft-com:vml" Requires="v">
                <p:oleObj spid="_x0000_s32809" name="Equation" r:id="rId4" imgW="1473120" imgH="482400" progId="Equation.DSMT4">
                  <p:embed/>
                </p:oleObj>
              </mc:Choice>
              <mc:Fallback>
                <p:oleObj name="Equation" r:id="rId4" imgW="1473120" imgH="482400" progId="Equation.DSMT4">
                  <p:embed/>
                  <p:pic>
                    <p:nvPicPr>
                      <p:cNvPr id="0" name=""/>
                      <p:cNvPicPr>
                        <a:picLocks noChangeAspect="1" noChangeArrowheads="1"/>
                      </p:cNvPicPr>
                      <p:nvPr/>
                    </p:nvPicPr>
                    <p:blipFill>
                      <a:blip r:embed="rId5"/>
                      <a:srcRect/>
                      <a:stretch>
                        <a:fillRect/>
                      </a:stretch>
                    </p:blipFill>
                    <p:spPr bwMode="auto">
                      <a:xfrm>
                        <a:off x="3791744" y="1435072"/>
                        <a:ext cx="3095625" cy="1006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8" name="矩形 57">
            <a:extLst>
              <a:ext uri="{FF2B5EF4-FFF2-40B4-BE49-F238E27FC236}">
                <a16:creationId xmlns:a16="http://schemas.microsoft.com/office/drawing/2014/main" id="{77CF9808-61EB-D4BA-10C7-C85E98A9BD3D}"/>
              </a:ext>
            </a:extLst>
          </p:cNvPr>
          <p:cNvSpPr/>
          <p:nvPr/>
        </p:nvSpPr>
        <p:spPr>
          <a:xfrm>
            <a:off x="911424" y="2786571"/>
            <a:ext cx="5544617" cy="535531"/>
          </a:xfrm>
          <a:prstGeom prst="rect">
            <a:avLst/>
          </a:prstGeom>
        </p:spPr>
        <p:txBody>
          <a:bodyPr wrap="square">
            <a:spAutoFit/>
          </a:bodyPr>
          <a:lstStyle/>
          <a:p>
            <a:pPr>
              <a:lnSpc>
                <a:spcPct val="120000"/>
              </a:lnSpc>
            </a:pPr>
            <a:r>
              <a:rPr lang="zh-CN" altLang="en-US" i="0" dirty="0">
                <a:solidFill>
                  <a:schemeClr val="tx1"/>
                </a:solidFill>
                <a:latin typeface="+mn-lt"/>
                <a:ea typeface="黑体" panose="02010609060101010101" pitchFamily="49" charset="-122"/>
              </a:rPr>
              <a:t>将动能定理两边对时间</a:t>
            </a:r>
            <a:r>
              <a:rPr lang="en-US" altLang="zh-CN" b="0" dirty="0">
                <a:solidFill>
                  <a:schemeClr val="tx1"/>
                </a:solidFill>
                <a:latin typeface="+mn-lt"/>
                <a:ea typeface="黑体" panose="02010609060101010101" pitchFamily="49" charset="-122"/>
              </a:rPr>
              <a:t>t</a:t>
            </a:r>
            <a:r>
              <a:rPr lang="zh-CN" altLang="en-US" i="0" dirty="0">
                <a:solidFill>
                  <a:schemeClr val="tx1"/>
                </a:solidFill>
                <a:latin typeface="+mn-lt"/>
                <a:ea typeface="黑体" panose="02010609060101010101" pitchFamily="49" charset="-122"/>
              </a:rPr>
              <a:t>求一阶导数，得</a:t>
            </a:r>
          </a:p>
        </p:txBody>
      </p:sp>
      <p:graphicFrame>
        <p:nvGraphicFramePr>
          <p:cNvPr id="59" name="Object 7">
            <a:extLst>
              <a:ext uri="{FF2B5EF4-FFF2-40B4-BE49-F238E27FC236}">
                <a16:creationId xmlns:a16="http://schemas.microsoft.com/office/drawing/2014/main" id="{2F2F237D-F899-96EE-1942-6592CE09640B}"/>
              </a:ext>
            </a:extLst>
          </p:cNvPr>
          <p:cNvGraphicFramePr>
            <a:graphicFrameLocks noChangeAspect="1"/>
          </p:cNvGraphicFramePr>
          <p:nvPr>
            <p:extLst>
              <p:ext uri="{D42A27DB-BD31-4B8C-83A1-F6EECF244321}">
                <p14:modId xmlns:p14="http://schemas.microsoft.com/office/powerpoint/2010/main" val="1180832232"/>
              </p:ext>
            </p:extLst>
          </p:nvPr>
        </p:nvGraphicFramePr>
        <p:xfrm>
          <a:off x="3791744" y="3387661"/>
          <a:ext cx="5018088" cy="941388"/>
        </p:xfrm>
        <a:graphic>
          <a:graphicData uri="http://schemas.openxmlformats.org/presentationml/2006/ole">
            <mc:AlternateContent xmlns:mc="http://schemas.openxmlformats.org/markup-compatibility/2006">
              <mc:Choice xmlns:v="urn:schemas-microsoft-com:vml" Requires="v">
                <p:oleObj spid="_x0000_s32810" name="Equation" r:id="rId6" imgW="2082600" imgH="393480" progId="Equation.DSMT4">
                  <p:embed/>
                </p:oleObj>
              </mc:Choice>
              <mc:Fallback>
                <p:oleObj name="Equation" r:id="rId6" imgW="2082600" imgH="393480" progId="Equation.DSMT4">
                  <p:embed/>
                  <p:pic>
                    <p:nvPicPr>
                      <p:cNvPr id="0" name=""/>
                      <p:cNvPicPr>
                        <a:picLocks noChangeAspect="1" noChangeArrowheads="1"/>
                      </p:cNvPicPr>
                      <p:nvPr/>
                    </p:nvPicPr>
                    <p:blipFill>
                      <a:blip r:embed="rId7"/>
                      <a:srcRect/>
                      <a:stretch>
                        <a:fillRect/>
                      </a:stretch>
                    </p:blipFill>
                    <p:spPr bwMode="auto">
                      <a:xfrm>
                        <a:off x="3791744" y="3387661"/>
                        <a:ext cx="5018088" cy="9413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0" name="矩形 59">
            <a:extLst>
              <a:ext uri="{FF2B5EF4-FFF2-40B4-BE49-F238E27FC236}">
                <a16:creationId xmlns:a16="http://schemas.microsoft.com/office/drawing/2014/main" id="{77CF9808-61EB-D4BA-10C7-C85E98A9BD3D}"/>
              </a:ext>
            </a:extLst>
          </p:cNvPr>
          <p:cNvSpPr/>
          <p:nvPr/>
        </p:nvSpPr>
        <p:spPr>
          <a:xfrm>
            <a:off x="915869" y="4688620"/>
            <a:ext cx="2448273" cy="493148"/>
          </a:xfrm>
          <a:prstGeom prst="rect">
            <a:avLst/>
          </a:prstGeom>
        </p:spPr>
        <p:txBody>
          <a:bodyPr wrap="square">
            <a:spAutoFit/>
          </a:bodyPr>
          <a:lstStyle/>
          <a:p>
            <a:pPr>
              <a:lnSpc>
                <a:spcPct val="120000"/>
              </a:lnSpc>
            </a:pPr>
            <a:r>
              <a:rPr lang="zh-CN" altLang="en-US" i="0" dirty="0">
                <a:solidFill>
                  <a:schemeClr val="tx1"/>
                </a:solidFill>
                <a:latin typeface="+mn-lt"/>
                <a:ea typeface="黑体" panose="02010609060101010101" pitchFamily="49" charset="-122"/>
              </a:rPr>
              <a:t>求得加速度</a:t>
            </a:r>
          </a:p>
        </p:txBody>
      </p:sp>
      <p:graphicFrame>
        <p:nvGraphicFramePr>
          <p:cNvPr id="61" name="Object 61"/>
          <p:cNvGraphicFramePr>
            <a:graphicFrameLocks noChangeAspect="1"/>
          </p:cNvGraphicFramePr>
          <p:nvPr>
            <p:extLst>
              <p:ext uri="{D42A27DB-BD31-4B8C-83A1-F6EECF244321}">
                <p14:modId xmlns:p14="http://schemas.microsoft.com/office/powerpoint/2010/main" val="2287581346"/>
              </p:ext>
            </p:extLst>
          </p:nvPr>
        </p:nvGraphicFramePr>
        <p:xfrm>
          <a:off x="3791744" y="4545111"/>
          <a:ext cx="2508250" cy="900113"/>
        </p:xfrm>
        <a:graphic>
          <a:graphicData uri="http://schemas.openxmlformats.org/presentationml/2006/ole">
            <mc:AlternateContent xmlns:mc="http://schemas.openxmlformats.org/markup-compatibility/2006">
              <mc:Choice xmlns:v="urn:schemas-microsoft-com:vml" Requires="v">
                <p:oleObj spid="_x0000_s32811" name="Equation" r:id="rId8" imgW="1193760" imgH="431640" progId="Equation.DSMT4">
                  <p:embed/>
                </p:oleObj>
              </mc:Choice>
              <mc:Fallback>
                <p:oleObj name="Equation" r:id="rId8" imgW="1193760" imgH="431640" progId="Equation.DSMT4">
                  <p:embed/>
                  <p:pic>
                    <p:nvPicPr>
                      <p:cNvPr id="0" name=""/>
                      <p:cNvPicPr>
                        <a:picLocks noChangeAspect="1" noChangeArrowheads="1"/>
                      </p:cNvPicPr>
                      <p:nvPr/>
                    </p:nvPicPr>
                    <p:blipFill>
                      <a:blip r:embed="rId9"/>
                      <a:srcRect/>
                      <a:stretch>
                        <a:fillRect/>
                      </a:stretch>
                    </p:blipFill>
                    <p:spPr bwMode="auto">
                      <a:xfrm>
                        <a:off x="3791744" y="4545111"/>
                        <a:ext cx="2508250" cy="9001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324880428"/>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6"/>
                                        </p:tgtEl>
                                        <p:attrNameLst>
                                          <p:attrName>style.visibility</p:attrName>
                                        </p:attrNameLst>
                                      </p:cBhvr>
                                      <p:to>
                                        <p:strVal val="visible"/>
                                      </p:to>
                                    </p:set>
                                  </p:childTnLst>
                                </p:cTn>
                              </p:par>
                            </p:childTnLst>
                          </p:cTn>
                        </p:par>
                        <p:par>
                          <p:cTn id="7" fill="hold">
                            <p:stCondLst>
                              <p:cond delay="0"/>
                            </p:stCondLst>
                            <p:childTnLst>
                              <p:par>
                                <p:cTn id="8" presetID="22" presetClass="entr" presetSubtype="8" fill="hold" nodeType="afterEffect">
                                  <p:stCondLst>
                                    <p:cond delay="0"/>
                                  </p:stCondLst>
                                  <p:childTnLst>
                                    <p:set>
                                      <p:cBhvr>
                                        <p:cTn id="9" dur="1" fill="hold">
                                          <p:stCondLst>
                                            <p:cond delay="0"/>
                                          </p:stCondLst>
                                        </p:cTn>
                                        <p:tgtEl>
                                          <p:spTgt spid="57"/>
                                        </p:tgtEl>
                                        <p:attrNameLst>
                                          <p:attrName>style.visibility</p:attrName>
                                        </p:attrNameLst>
                                      </p:cBhvr>
                                      <p:to>
                                        <p:strVal val="visible"/>
                                      </p:to>
                                    </p:set>
                                    <p:animEffect transition="in" filter="wipe(left)">
                                      <p:cBhvr>
                                        <p:cTn id="10" dur="3000"/>
                                        <p:tgtEl>
                                          <p:spTgt spid="57"/>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nodeType="clickEffect">
                                  <p:stCondLst>
                                    <p:cond delay="0"/>
                                  </p:stCondLst>
                                  <p:childTnLst>
                                    <p:set>
                                      <p:cBhvr>
                                        <p:cTn id="18" dur="1" fill="hold">
                                          <p:stCondLst>
                                            <p:cond delay="0"/>
                                          </p:stCondLst>
                                        </p:cTn>
                                        <p:tgtEl>
                                          <p:spTgt spid="59"/>
                                        </p:tgtEl>
                                        <p:attrNameLst>
                                          <p:attrName>style.visibility</p:attrName>
                                        </p:attrNameLst>
                                      </p:cBhvr>
                                      <p:to>
                                        <p:strVal val="visible"/>
                                      </p:to>
                                    </p:set>
                                    <p:animEffect transition="in" filter="wipe(left)">
                                      <p:cBhvr>
                                        <p:cTn id="19" dur="3000"/>
                                        <p:tgtEl>
                                          <p:spTgt spid="59"/>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60"/>
                                        </p:tgtEl>
                                        <p:attrNameLst>
                                          <p:attrName>style.visibility</p:attrName>
                                        </p:attrNameLst>
                                      </p:cBhvr>
                                      <p:to>
                                        <p:strVal val="visible"/>
                                      </p:to>
                                    </p:set>
                                  </p:childTnLst>
                                </p:cTn>
                              </p:par>
                            </p:childTnLst>
                          </p:cTn>
                        </p:par>
                        <p:par>
                          <p:cTn id="24" fill="hold">
                            <p:stCondLst>
                              <p:cond delay="0"/>
                            </p:stCondLst>
                            <p:childTnLst>
                              <p:par>
                                <p:cTn id="25" presetID="22" presetClass="entr" presetSubtype="8" fill="hold" nodeType="afterEffect">
                                  <p:stCondLst>
                                    <p:cond delay="0"/>
                                  </p:stCondLst>
                                  <p:childTnLst>
                                    <p:set>
                                      <p:cBhvr>
                                        <p:cTn id="26" dur="1" fill="hold">
                                          <p:stCondLst>
                                            <p:cond delay="0"/>
                                          </p:stCondLst>
                                        </p:cTn>
                                        <p:tgtEl>
                                          <p:spTgt spid="61"/>
                                        </p:tgtEl>
                                        <p:attrNameLst>
                                          <p:attrName>style.visibility</p:attrName>
                                        </p:attrNameLst>
                                      </p:cBhvr>
                                      <p:to>
                                        <p:strVal val="visible"/>
                                      </p:to>
                                    </p:set>
                                    <p:animEffect transition="in" filter="wipe(left)">
                                      <p:cBhvr>
                                        <p:cTn id="27" dur="30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p:bldP spid="58" grpId="0"/>
      <p:bldP spid="60"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4653838"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第七章   动力学普遍定理</a:t>
            </a:r>
          </a:p>
        </p:txBody>
      </p:sp>
      <p:sp>
        <p:nvSpPr>
          <p:cNvPr id="9" name="Rectangle 61">
            <a:extLst>
              <a:ext uri="{FF2B5EF4-FFF2-40B4-BE49-F238E27FC236}">
                <a16:creationId xmlns:a16="http://schemas.microsoft.com/office/drawing/2014/main" id="{0C4CF67B-8CA2-F648-B364-D8C44A49A572}"/>
              </a:ext>
            </a:extLst>
          </p:cNvPr>
          <p:cNvSpPr>
            <a:spLocks noChangeArrowheads="1"/>
          </p:cNvSpPr>
          <p:nvPr/>
        </p:nvSpPr>
        <p:spPr bwMode="auto">
          <a:xfrm>
            <a:off x="6528048" y="2420888"/>
            <a:ext cx="5184576" cy="3378107"/>
          </a:xfrm>
          <a:prstGeom prst="rect">
            <a:avLst/>
          </a:prstGeom>
          <a:solidFill>
            <a:srgbClr val="B9CDE5"/>
          </a:solidFill>
          <a:ln>
            <a:noFill/>
          </a:ln>
          <a:effectLst/>
        </p:spPr>
        <p:txBody>
          <a:bodyPr wrap="none" anchor="ctr"/>
          <a:lstStyle/>
          <a:p>
            <a:endParaRPr lang="zh-CN" altLang="en-US"/>
          </a:p>
        </p:txBody>
      </p:sp>
      <p:sp>
        <p:nvSpPr>
          <p:cNvPr id="64" name="矩形 63"/>
          <p:cNvSpPr/>
          <p:nvPr/>
        </p:nvSpPr>
        <p:spPr>
          <a:xfrm>
            <a:off x="191342" y="842981"/>
            <a:ext cx="11513672" cy="1379545"/>
          </a:xfrm>
          <a:prstGeom prst="rect">
            <a:avLst/>
          </a:prstGeom>
        </p:spPr>
        <p:txBody>
          <a:bodyPr wrap="square">
            <a:spAutoFit/>
          </a:bodyPr>
          <a:lstStyle/>
          <a:p>
            <a:pPr algn="just">
              <a:lnSpc>
                <a:spcPct val="120000"/>
              </a:lnSpc>
            </a:pPr>
            <a:r>
              <a:rPr lang="zh-CN" altLang="en-US" i="0" dirty="0">
                <a:solidFill>
                  <a:srgbClr val="0033CC"/>
                </a:solidFill>
                <a:ea typeface="黑体" panose="02010609060101010101" pitchFamily="49" charset="-122"/>
              </a:rPr>
              <a:t>例   </a:t>
            </a:r>
            <a:r>
              <a:rPr lang="zh-CN" altLang="en-US" i="0" dirty="0">
                <a:solidFill>
                  <a:schemeClr val="tx1"/>
                </a:solidFill>
                <a:latin typeface="+mn-lt"/>
                <a:ea typeface="黑体" panose="02010609060101010101" pitchFamily="49" charset="-122"/>
              </a:rPr>
              <a:t>曲柄连杆机构如图。已知曲柄</a:t>
            </a:r>
            <a:r>
              <a:rPr lang="en-US" altLang="zh-CN" b="0" dirty="0">
                <a:solidFill>
                  <a:schemeClr val="tx1"/>
                </a:solidFill>
                <a:latin typeface="+mn-lt"/>
                <a:ea typeface="黑体" panose="02010609060101010101" pitchFamily="49" charset="-122"/>
              </a:rPr>
              <a:t>OA</a:t>
            </a:r>
            <a:r>
              <a:rPr lang="en-US" altLang="zh-CN" b="0" i="0" dirty="0">
                <a:solidFill>
                  <a:schemeClr val="tx1"/>
                </a:solidFill>
                <a:latin typeface="+mn-lt"/>
                <a:ea typeface="黑体" panose="02010609060101010101" pitchFamily="49" charset="-122"/>
              </a:rPr>
              <a:t>=</a:t>
            </a:r>
            <a:r>
              <a:rPr lang="en-US" altLang="zh-CN" b="0" dirty="0">
                <a:solidFill>
                  <a:schemeClr val="tx1"/>
                </a:solidFill>
                <a:latin typeface="+mn-lt"/>
                <a:ea typeface="黑体" panose="02010609060101010101" pitchFamily="49" charset="-122"/>
              </a:rPr>
              <a:t>r</a:t>
            </a:r>
            <a:r>
              <a:rPr lang="zh-CN" altLang="en-US" i="0" dirty="0">
                <a:solidFill>
                  <a:schemeClr val="tx1"/>
                </a:solidFill>
                <a:latin typeface="+mn-lt"/>
                <a:ea typeface="黑体" panose="02010609060101010101" pitchFamily="49" charset="-122"/>
              </a:rPr>
              <a:t>，连杆</a:t>
            </a:r>
            <a:r>
              <a:rPr lang="en-US" altLang="zh-CN" b="0" dirty="0">
                <a:solidFill>
                  <a:schemeClr val="tx1"/>
                </a:solidFill>
                <a:latin typeface="+mn-lt"/>
                <a:ea typeface="黑体" panose="02010609060101010101" pitchFamily="49" charset="-122"/>
              </a:rPr>
              <a:t>AB</a:t>
            </a:r>
            <a:r>
              <a:rPr lang="en-US" altLang="zh-CN" b="0" i="0" dirty="0">
                <a:solidFill>
                  <a:schemeClr val="tx1"/>
                </a:solidFill>
                <a:latin typeface="+mn-lt"/>
                <a:ea typeface="黑体" panose="02010609060101010101" pitchFamily="49" charset="-122"/>
              </a:rPr>
              <a:t>=4</a:t>
            </a:r>
            <a:r>
              <a:rPr lang="en-US" altLang="zh-CN" b="0" dirty="0">
                <a:solidFill>
                  <a:schemeClr val="tx1"/>
                </a:solidFill>
                <a:latin typeface="+mn-lt"/>
                <a:ea typeface="黑体" panose="02010609060101010101" pitchFamily="49" charset="-122"/>
              </a:rPr>
              <a:t>r</a:t>
            </a:r>
            <a:r>
              <a:rPr lang="zh-CN" altLang="en-US" i="0" dirty="0">
                <a:solidFill>
                  <a:schemeClr val="tx1"/>
                </a:solidFill>
                <a:latin typeface="+mn-lt"/>
                <a:ea typeface="黑体" panose="02010609060101010101" pitchFamily="49" charset="-122"/>
              </a:rPr>
              <a:t>，</a:t>
            </a:r>
            <a:r>
              <a:rPr lang="en-US" altLang="zh-CN" b="0" dirty="0">
                <a:solidFill>
                  <a:schemeClr val="tx1"/>
                </a:solidFill>
                <a:latin typeface="+mn-lt"/>
                <a:ea typeface="黑体" panose="02010609060101010101" pitchFamily="49" charset="-122"/>
              </a:rPr>
              <a:t>C</a:t>
            </a:r>
            <a:r>
              <a:rPr lang="zh-CN" altLang="en-US" i="0" dirty="0">
                <a:solidFill>
                  <a:schemeClr val="tx1"/>
                </a:solidFill>
                <a:latin typeface="+mn-lt"/>
                <a:ea typeface="黑体" panose="02010609060101010101" pitchFamily="49" charset="-122"/>
              </a:rPr>
              <a:t>为连杆之质心，在曲柄上作用一不变转矩</a:t>
            </a:r>
            <a:r>
              <a:rPr lang="en-US" altLang="zh-CN" b="0" dirty="0">
                <a:solidFill>
                  <a:schemeClr val="tx1"/>
                </a:solidFill>
                <a:latin typeface="+mn-lt"/>
                <a:ea typeface="黑体" panose="02010609060101010101" pitchFamily="49" charset="-122"/>
              </a:rPr>
              <a:t>T</a:t>
            </a:r>
            <a:r>
              <a:rPr lang="zh-CN" altLang="en-US" i="0" dirty="0">
                <a:solidFill>
                  <a:schemeClr val="tx1"/>
                </a:solidFill>
                <a:latin typeface="+mn-lt"/>
                <a:ea typeface="黑体" panose="02010609060101010101" pitchFamily="49" charset="-122"/>
              </a:rPr>
              <a:t>。曲柄和连杆皆为均质杆，质量分别为</a:t>
            </a:r>
            <a:r>
              <a:rPr lang="en-US" altLang="zh-CN" b="0" dirty="0">
                <a:solidFill>
                  <a:schemeClr val="tx1"/>
                </a:solidFill>
                <a:latin typeface="+mn-lt"/>
                <a:ea typeface="黑体" panose="02010609060101010101" pitchFamily="49" charset="-122"/>
              </a:rPr>
              <a:t>m</a:t>
            </a:r>
            <a:r>
              <a:rPr lang="en-US" altLang="zh-CN" b="0" i="0" baseline="-25000" dirty="0">
                <a:solidFill>
                  <a:schemeClr val="tx1"/>
                </a:solidFill>
                <a:latin typeface="+mn-lt"/>
                <a:ea typeface="黑体" panose="02010609060101010101" pitchFamily="49" charset="-122"/>
              </a:rPr>
              <a:t>1</a:t>
            </a:r>
            <a:r>
              <a:rPr lang="zh-CN" altLang="en-US" i="0" dirty="0">
                <a:solidFill>
                  <a:schemeClr val="tx1"/>
                </a:solidFill>
                <a:latin typeface="+mn-lt"/>
                <a:ea typeface="黑体" panose="02010609060101010101" pitchFamily="49" charset="-122"/>
              </a:rPr>
              <a:t>和</a:t>
            </a:r>
            <a:r>
              <a:rPr lang="en-US" altLang="zh-CN" b="0" dirty="0">
                <a:solidFill>
                  <a:schemeClr val="tx1"/>
                </a:solidFill>
                <a:latin typeface="+mn-lt"/>
                <a:ea typeface="黑体" panose="02010609060101010101" pitchFamily="49" charset="-122"/>
              </a:rPr>
              <a:t>m</a:t>
            </a:r>
            <a:r>
              <a:rPr lang="en-US" altLang="zh-CN" b="0" i="0" baseline="-25000" dirty="0">
                <a:solidFill>
                  <a:schemeClr val="tx1"/>
                </a:solidFill>
                <a:latin typeface="+mn-lt"/>
                <a:ea typeface="黑体" panose="02010609060101010101" pitchFamily="49" charset="-122"/>
              </a:rPr>
              <a:t>2</a:t>
            </a:r>
            <a:r>
              <a:rPr lang="zh-CN" altLang="en-US" i="0" dirty="0">
                <a:solidFill>
                  <a:schemeClr val="tx1"/>
                </a:solidFill>
                <a:latin typeface="+mn-lt"/>
                <a:ea typeface="黑体" panose="02010609060101010101" pitchFamily="49" charset="-122"/>
              </a:rPr>
              <a:t>。曲柄开始时静止且在水平向右的位置。不计滑块的质量和各处的摩擦，求曲柄转过一周时的角速度。</a:t>
            </a:r>
          </a:p>
        </p:txBody>
      </p:sp>
      <p:sp>
        <p:nvSpPr>
          <p:cNvPr id="56" name="Text Box 3"/>
          <p:cNvSpPr txBox="1">
            <a:spLocks noChangeAspect="1" noChangeArrowheads="1"/>
          </p:cNvSpPr>
          <p:nvPr/>
        </p:nvSpPr>
        <p:spPr bwMode="auto">
          <a:xfrm>
            <a:off x="9272170" y="4119637"/>
            <a:ext cx="652462" cy="463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b="0" i="1" dirty="0" err="1">
                <a:latin typeface="+mn-lt"/>
              </a:rPr>
              <a:t>v</a:t>
            </a:r>
            <a:r>
              <a:rPr lang="en-US" altLang="zh-CN" b="0" i="1" baseline="-25000" dirty="0" err="1">
                <a:latin typeface="+mn-lt"/>
              </a:rPr>
              <a:t>C</a:t>
            </a:r>
            <a:endParaRPr lang="en-US" altLang="zh-CN" b="0" i="1" baseline="-25000" dirty="0">
              <a:latin typeface="+mn-lt"/>
            </a:endParaRPr>
          </a:p>
        </p:txBody>
      </p:sp>
      <p:sp>
        <p:nvSpPr>
          <p:cNvPr id="57" name="Line 4"/>
          <p:cNvSpPr>
            <a:spLocks noChangeShapeType="1"/>
          </p:cNvSpPr>
          <p:nvPr/>
        </p:nvSpPr>
        <p:spPr bwMode="auto">
          <a:xfrm flipV="1">
            <a:off x="9446795" y="4572074"/>
            <a:ext cx="0" cy="334963"/>
          </a:xfrm>
          <a:prstGeom prst="line">
            <a:avLst/>
          </a:prstGeom>
          <a:noFill/>
          <a:ln w="28575">
            <a:solidFill>
              <a:srgbClr val="CC0099"/>
            </a:solidFill>
            <a:round/>
            <a:headEnd type="none" w="sm"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nvGrpSpPr>
          <p:cNvPr id="58" name="Group 7"/>
          <p:cNvGrpSpPr>
            <a:grpSpLocks/>
          </p:cNvGrpSpPr>
          <p:nvPr/>
        </p:nvGrpSpPr>
        <p:grpSpPr bwMode="auto">
          <a:xfrm>
            <a:off x="6773445" y="2636912"/>
            <a:ext cx="4694237" cy="1697037"/>
            <a:chOff x="1352" y="1757"/>
            <a:chExt cx="2957" cy="1069"/>
          </a:xfrm>
        </p:grpSpPr>
        <p:sp>
          <p:nvSpPr>
            <p:cNvPr id="59" name="AutoShape 8"/>
            <p:cNvSpPr>
              <a:spLocks noChangeAspect="1" noChangeArrowheads="1"/>
            </p:cNvSpPr>
            <p:nvPr/>
          </p:nvSpPr>
          <p:spPr bwMode="auto">
            <a:xfrm>
              <a:off x="1520" y="2507"/>
              <a:ext cx="202" cy="196"/>
            </a:xfrm>
            <a:prstGeom prst="triangle">
              <a:avLst>
                <a:gd name="adj" fmla="val 50000"/>
              </a:avLst>
            </a:prstGeom>
            <a:solidFill>
              <a:srgbClr val="66FF33"/>
            </a:solidFill>
            <a:ln w="381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0" name="Rectangle 9" descr="宽上对角线"/>
            <p:cNvSpPr>
              <a:spLocks noChangeAspect="1" noChangeArrowheads="1"/>
            </p:cNvSpPr>
            <p:nvPr/>
          </p:nvSpPr>
          <p:spPr bwMode="auto">
            <a:xfrm>
              <a:off x="1450" y="2691"/>
              <a:ext cx="342" cy="96"/>
            </a:xfrm>
            <a:prstGeom prst="rect">
              <a:avLst/>
            </a:prstGeom>
            <a:pattFill prst="wdUpDiag">
              <a:fgClr>
                <a:srgbClr val="000000"/>
              </a:fgClr>
              <a:bgClr>
                <a:srgbClr val="FFFFCC"/>
              </a:bgClr>
            </a:patt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1" name="Line 10"/>
            <p:cNvSpPr>
              <a:spLocks noChangeAspect="1" noChangeShapeType="1"/>
            </p:cNvSpPr>
            <p:nvPr/>
          </p:nvSpPr>
          <p:spPr bwMode="auto">
            <a:xfrm>
              <a:off x="1449" y="2683"/>
              <a:ext cx="344" cy="1"/>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2" name="Freeform 11" descr="宽上对角线"/>
            <p:cNvSpPr>
              <a:spLocks/>
            </p:cNvSpPr>
            <p:nvPr/>
          </p:nvSpPr>
          <p:spPr bwMode="auto">
            <a:xfrm rot="5400000">
              <a:off x="3376" y="2155"/>
              <a:ext cx="600" cy="741"/>
            </a:xfrm>
            <a:custGeom>
              <a:avLst/>
              <a:gdLst>
                <a:gd name="T0" fmla="*/ 6 w 600"/>
                <a:gd name="T1" fmla="*/ 741 h 741"/>
                <a:gd name="T2" fmla="*/ 123 w 600"/>
                <a:gd name="T3" fmla="*/ 741 h 741"/>
                <a:gd name="T4" fmla="*/ 123 w 600"/>
                <a:gd name="T5" fmla="*/ 90 h 741"/>
                <a:gd name="T6" fmla="*/ 480 w 600"/>
                <a:gd name="T7" fmla="*/ 90 h 741"/>
                <a:gd name="T8" fmla="*/ 480 w 600"/>
                <a:gd name="T9" fmla="*/ 738 h 741"/>
                <a:gd name="T10" fmla="*/ 600 w 600"/>
                <a:gd name="T11" fmla="*/ 738 h 741"/>
                <a:gd name="T12" fmla="*/ 600 w 600"/>
                <a:gd name="T13" fmla="*/ 0 h 741"/>
                <a:gd name="T14" fmla="*/ 0 w 600"/>
                <a:gd name="T15" fmla="*/ 0 h 741"/>
                <a:gd name="T16" fmla="*/ 6 w 600"/>
                <a:gd name="T17" fmla="*/ 741 h 7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00" h="741">
                  <a:moveTo>
                    <a:pt x="6" y="741"/>
                  </a:moveTo>
                  <a:lnTo>
                    <a:pt x="123" y="741"/>
                  </a:lnTo>
                  <a:lnTo>
                    <a:pt x="123" y="90"/>
                  </a:lnTo>
                  <a:lnTo>
                    <a:pt x="480" y="90"/>
                  </a:lnTo>
                  <a:lnTo>
                    <a:pt x="480" y="738"/>
                  </a:lnTo>
                  <a:lnTo>
                    <a:pt x="600" y="738"/>
                  </a:lnTo>
                  <a:lnTo>
                    <a:pt x="600" y="0"/>
                  </a:lnTo>
                  <a:lnTo>
                    <a:pt x="0" y="0"/>
                  </a:lnTo>
                  <a:lnTo>
                    <a:pt x="6" y="741"/>
                  </a:lnTo>
                  <a:close/>
                </a:path>
              </a:pathLst>
            </a:custGeom>
            <a:pattFill prst="wdUpDiag">
              <a:fgClr>
                <a:schemeClr val="tx2"/>
              </a:fgClr>
              <a:bgClr>
                <a:schemeClr val="bg1"/>
              </a:bgClr>
            </a:pattFill>
            <a:ln>
              <a:noFill/>
            </a:ln>
            <a:effectLst/>
            <a:extLst>
              <a:ext uri="{91240B29-F687-4F45-9708-019B960494DF}">
                <a14:hiddenLine xmlns:a14="http://schemas.microsoft.com/office/drawing/2010/main" w="9525" cap="flat" cmpd="sng">
                  <a:solidFill>
                    <a:srgbClr val="000000"/>
                  </a:solidFill>
                  <a:prstDash val="solid"/>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3" name="AutoShape 12"/>
            <p:cNvSpPr>
              <a:spLocks noChangeArrowheads="1"/>
            </p:cNvSpPr>
            <p:nvPr/>
          </p:nvSpPr>
          <p:spPr bwMode="auto">
            <a:xfrm rot="11760000">
              <a:off x="1739" y="2256"/>
              <a:ext cx="1908" cy="67"/>
            </a:xfrm>
            <a:prstGeom prst="roundRect">
              <a:avLst>
                <a:gd name="adj" fmla="val 50000"/>
              </a:avLst>
            </a:prstGeom>
            <a:gradFill rotWithShape="1">
              <a:gsLst>
                <a:gs pos="0">
                  <a:schemeClr val="accent1"/>
                </a:gs>
                <a:gs pos="50000">
                  <a:schemeClr val="accent1">
                    <a:gamma/>
                    <a:tint val="23529"/>
                    <a:invGamma/>
                  </a:schemeClr>
                </a:gs>
                <a:gs pos="100000">
                  <a:schemeClr val="accent1"/>
                </a:gs>
              </a:gsLst>
              <a:lin ang="5400000" scaled="1"/>
            </a:gra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65" name="Text Box 13"/>
            <p:cNvSpPr txBox="1">
              <a:spLocks noChangeAspect="1" noChangeArrowheads="1"/>
            </p:cNvSpPr>
            <p:nvPr/>
          </p:nvSpPr>
          <p:spPr bwMode="auto">
            <a:xfrm>
              <a:off x="1352" y="2427"/>
              <a:ext cx="336" cy="2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b="0" i="1" dirty="0">
                  <a:ea typeface="宋体" panose="02010600030101010101" pitchFamily="2" charset="-122"/>
                </a:rPr>
                <a:t>O</a:t>
              </a:r>
            </a:p>
          </p:txBody>
        </p:sp>
        <p:sp>
          <p:nvSpPr>
            <p:cNvPr id="66" name="Text Box 14"/>
            <p:cNvSpPr txBox="1">
              <a:spLocks noChangeAspect="1" noChangeArrowheads="1"/>
            </p:cNvSpPr>
            <p:nvPr/>
          </p:nvSpPr>
          <p:spPr bwMode="auto">
            <a:xfrm>
              <a:off x="1679" y="1757"/>
              <a:ext cx="256" cy="34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b="0" i="1" dirty="0">
                  <a:ea typeface="宋体" panose="02010600030101010101" pitchFamily="2" charset="-122"/>
                </a:rPr>
                <a:t>A</a:t>
              </a:r>
            </a:p>
          </p:txBody>
        </p:sp>
        <p:sp>
          <p:nvSpPr>
            <p:cNvPr id="67" name="Text Box 15"/>
            <p:cNvSpPr txBox="1">
              <a:spLocks noChangeAspect="1" noChangeArrowheads="1"/>
            </p:cNvSpPr>
            <p:nvPr/>
          </p:nvSpPr>
          <p:spPr bwMode="auto">
            <a:xfrm>
              <a:off x="3736" y="2374"/>
              <a:ext cx="261" cy="2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b="0" i="1" dirty="0">
                  <a:ea typeface="宋体" panose="02010600030101010101" pitchFamily="2" charset="-122"/>
                </a:rPr>
                <a:t>B</a:t>
              </a:r>
            </a:p>
          </p:txBody>
        </p:sp>
        <p:grpSp>
          <p:nvGrpSpPr>
            <p:cNvPr id="68" name="Group 16"/>
            <p:cNvGrpSpPr>
              <a:grpSpLocks/>
            </p:cNvGrpSpPr>
            <p:nvPr/>
          </p:nvGrpSpPr>
          <p:grpSpPr bwMode="auto">
            <a:xfrm rot="5400000">
              <a:off x="3443" y="2231"/>
              <a:ext cx="310" cy="585"/>
              <a:chOff x="4427" y="1389"/>
              <a:chExt cx="310" cy="585"/>
            </a:xfrm>
          </p:grpSpPr>
          <p:sp>
            <p:nvSpPr>
              <p:cNvPr id="83" name="Rectangle 17"/>
              <p:cNvSpPr>
                <a:spLocks noChangeArrowheads="1"/>
              </p:cNvSpPr>
              <p:nvPr/>
            </p:nvSpPr>
            <p:spPr bwMode="auto">
              <a:xfrm>
                <a:off x="4446" y="1516"/>
                <a:ext cx="271" cy="348"/>
              </a:xfrm>
              <a:prstGeom prst="rect">
                <a:avLst/>
              </a:prstGeom>
              <a:gradFill rotWithShape="0">
                <a:gsLst>
                  <a:gs pos="0">
                    <a:srgbClr val="FFFFFF">
                      <a:gamma/>
                      <a:shade val="65490"/>
                      <a:invGamma/>
                    </a:srgbClr>
                  </a:gs>
                  <a:gs pos="50000">
                    <a:srgbClr val="FFFFFF"/>
                  </a:gs>
                  <a:gs pos="100000">
                    <a:srgbClr val="FFFFFF">
                      <a:gamma/>
                      <a:shade val="65490"/>
                      <a:invGamma/>
                    </a:srgbClr>
                  </a:gs>
                </a:gsLst>
                <a:lin ang="0" scaled="1"/>
              </a:gradFill>
              <a:ln w="38100" algn="ctr">
                <a:solidFill>
                  <a:srgbClr val="000000"/>
                </a:solidFill>
                <a:miter lim="800000"/>
                <a:headEnd/>
                <a:tailEnd/>
              </a:ln>
              <a:effectLst>
                <a:outerShdw dist="35921" dir="2700000" algn="ctr" rotWithShape="0">
                  <a:srgbClr val="808080"/>
                </a:outerShdw>
              </a:effectLst>
            </p:spPr>
            <p:txBody>
              <a:bodyPr/>
              <a:lstStyle/>
              <a:p>
                <a:endParaRPr lang="zh-CN" altLang="en-US"/>
              </a:p>
            </p:txBody>
          </p:sp>
          <p:sp>
            <p:nvSpPr>
              <p:cNvPr id="84" name="Oval 18"/>
              <p:cNvSpPr>
                <a:spLocks noChangeArrowheads="1"/>
              </p:cNvSpPr>
              <p:nvPr/>
            </p:nvSpPr>
            <p:spPr bwMode="auto">
              <a:xfrm>
                <a:off x="4557" y="1711"/>
                <a:ext cx="50" cy="50"/>
              </a:xfrm>
              <a:prstGeom prst="ellipse">
                <a:avLst/>
              </a:prstGeom>
              <a:solidFill>
                <a:srgbClr val="FF000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5" name="Rectangle 19"/>
              <p:cNvSpPr>
                <a:spLocks noChangeArrowheads="1"/>
              </p:cNvSpPr>
              <p:nvPr/>
            </p:nvSpPr>
            <p:spPr bwMode="auto">
              <a:xfrm>
                <a:off x="4427" y="1542"/>
                <a:ext cx="309" cy="27"/>
              </a:xfrm>
              <a:prstGeom prst="rect">
                <a:avLst/>
              </a:prstGeom>
              <a:gradFill rotWithShape="1">
                <a:gsLst>
                  <a:gs pos="0">
                    <a:schemeClr val="bg2">
                      <a:gamma/>
                      <a:shade val="46275"/>
                      <a:invGamma/>
                    </a:schemeClr>
                  </a:gs>
                  <a:gs pos="50000">
                    <a:schemeClr val="bg2"/>
                  </a:gs>
                  <a:gs pos="100000">
                    <a:schemeClr val="bg2">
                      <a:gamma/>
                      <a:shade val="46275"/>
                      <a:invGamma/>
                    </a:schemeClr>
                  </a:gs>
                </a:gsLst>
                <a:lin ang="0" scaled="1"/>
              </a:gradFill>
              <a:ln w="1905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6" name="Rectangle 20"/>
              <p:cNvSpPr>
                <a:spLocks noChangeArrowheads="1"/>
              </p:cNvSpPr>
              <p:nvPr/>
            </p:nvSpPr>
            <p:spPr bwMode="auto">
              <a:xfrm>
                <a:off x="4428" y="1585"/>
                <a:ext cx="309" cy="27"/>
              </a:xfrm>
              <a:prstGeom prst="rect">
                <a:avLst/>
              </a:prstGeom>
              <a:gradFill rotWithShape="1">
                <a:gsLst>
                  <a:gs pos="0">
                    <a:schemeClr val="bg2">
                      <a:gamma/>
                      <a:shade val="46275"/>
                      <a:invGamma/>
                    </a:schemeClr>
                  </a:gs>
                  <a:gs pos="50000">
                    <a:schemeClr val="bg2"/>
                  </a:gs>
                  <a:gs pos="100000">
                    <a:schemeClr val="bg2">
                      <a:gamma/>
                      <a:shade val="46275"/>
                      <a:invGamma/>
                    </a:schemeClr>
                  </a:gs>
                </a:gsLst>
                <a:lin ang="0" scaled="1"/>
              </a:gradFill>
              <a:ln w="1905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7" name="Line 21"/>
              <p:cNvSpPr>
                <a:spLocks noChangeShapeType="1"/>
              </p:cNvSpPr>
              <p:nvPr/>
            </p:nvSpPr>
            <p:spPr bwMode="auto">
              <a:xfrm>
                <a:off x="4582" y="1389"/>
                <a:ext cx="0" cy="585"/>
              </a:xfrm>
              <a:prstGeom prst="line">
                <a:avLst/>
              </a:prstGeom>
              <a:noFill/>
              <a:ln w="31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nvGrpSpPr>
            <p:cNvPr id="69" name="Group 22"/>
            <p:cNvGrpSpPr>
              <a:grpSpLocks/>
            </p:cNvGrpSpPr>
            <p:nvPr/>
          </p:nvGrpSpPr>
          <p:grpSpPr bwMode="auto">
            <a:xfrm rot="5400000">
              <a:off x="3332" y="2194"/>
              <a:ext cx="586" cy="668"/>
              <a:chOff x="4293" y="1381"/>
              <a:chExt cx="586" cy="536"/>
            </a:xfrm>
          </p:grpSpPr>
          <p:sp>
            <p:nvSpPr>
              <p:cNvPr id="78" name="Line 23"/>
              <p:cNvSpPr>
                <a:spLocks noChangeShapeType="1"/>
              </p:cNvSpPr>
              <p:nvPr/>
            </p:nvSpPr>
            <p:spPr bwMode="auto">
              <a:xfrm>
                <a:off x="4293" y="1908"/>
                <a:ext cx="105" cy="0"/>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9" name="Line 24"/>
              <p:cNvSpPr>
                <a:spLocks noChangeShapeType="1"/>
              </p:cNvSpPr>
              <p:nvPr/>
            </p:nvSpPr>
            <p:spPr bwMode="auto">
              <a:xfrm flipV="1">
                <a:off x="4407" y="1383"/>
                <a:ext cx="0" cy="534"/>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80" name="Line 25"/>
              <p:cNvSpPr>
                <a:spLocks noChangeShapeType="1"/>
              </p:cNvSpPr>
              <p:nvPr/>
            </p:nvSpPr>
            <p:spPr bwMode="auto">
              <a:xfrm>
                <a:off x="4753" y="1909"/>
                <a:ext cx="126" cy="0"/>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81" name="Line 26"/>
              <p:cNvSpPr>
                <a:spLocks noChangeShapeType="1"/>
              </p:cNvSpPr>
              <p:nvPr/>
            </p:nvSpPr>
            <p:spPr bwMode="auto">
              <a:xfrm flipV="1">
                <a:off x="4759" y="1381"/>
                <a:ext cx="0" cy="534"/>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82" name="Line 27"/>
              <p:cNvSpPr>
                <a:spLocks noChangeShapeType="1"/>
              </p:cNvSpPr>
              <p:nvPr/>
            </p:nvSpPr>
            <p:spPr bwMode="auto">
              <a:xfrm>
                <a:off x="4401" y="1386"/>
                <a:ext cx="363" cy="0"/>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70" name="AutoShape 28"/>
            <p:cNvSpPr>
              <a:spLocks noChangeArrowheads="1"/>
            </p:cNvSpPr>
            <p:nvPr/>
          </p:nvSpPr>
          <p:spPr bwMode="auto">
            <a:xfrm rot="6616997">
              <a:off x="1414" y="2235"/>
              <a:ext cx="603" cy="82"/>
            </a:xfrm>
            <a:prstGeom prst="roundRect">
              <a:avLst>
                <a:gd name="adj" fmla="val 50000"/>
              </a:avLst>
            </a:prstGeom>
            <a:gradFill rotWithShape="1">
              <a:gsLst>
                <a:gs pos="0">
                  <a:srgbClr val="FFFF00">
                    <a:gamma/>
                    <a:shade val="46275"/>
                    <a:invGamma/>
                  </a:srgbClr>
                </a:gs>
                <a:gs pos="50000">
                  <a:srgbClr val="FFFF00"/>
                </a:gs>
                <a:gs pos="100000">
                  <a:srgbClr val="FFFF00">
                    <a:gamma/>
                    <a:shade val="46275"/>
                    <a:invGamma/>
                  </a:srgbClr>
                </a:gs>
              </a:gsLst>
              <a:lin ang="5400000" scaled="1"/>
            </a:gra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1" name="Oval 29"/>
            <p:cNvSpPr>
              <a:spLocks noChangeAspect="1" noChangeArrowheads="1"/>
            </p:cNvSpPr>
            <p:nvPr/>
          </p:nvSpPr>
          <p:spPr bwMode="auto">
            <a:xfrm>
              <a:off x="1589" y="2499"/>
              <a:ext cx="64" cy="64"/>
            </a:xfrm>
            <a:prstGeom prst="ellipse">
              <a:avLst/>
            </a:prstGeom>
            <a:solidFill>
              <a:srgbClr val="FF0000"/>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2" name="Oval 30"/>
            <p:cNvSpPr>
              <a:spLocks noChangeAspect="1" noChangeArrowheads="1"/>
            </p:cNvSpPr>
            <p:nvPr/>
          </p:nvSpPr>
          <p:spPr bwMode="auto">
            <a:xfrm rot="5400000">
              <a:off x="1766" y="2002"/>
              <a:ext cx="64" cy="64"/>
            </a:xfrm>
            <a:prstGeom prst="ellipse">
              <a:avLst/>
            </a:prstGeom>
            <a:solidFill>
              <a:srgbClr val="FF0000"/>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3" name="Line 31"/>
            <p:cNvSpPr>
              <a:spLocks noChangeShapeType="1"/>
            </p:cNvSpPr>
            <p:nvPr/>
          </p:nvSpPr>
          <p:spPr bwMode="auto">
            <a:xfrm rot="16200000" flipH="1">
              <a:off x="2950" y="1172"/>
              <a:ext cx="0" cy="2719"/>
            </a:xfrm>
            <a:prstGeom prst="line">
              <a:avLst/>
            </a:prstGeom>
            <a:noFill/>
            <a:ln w="3175">
              <a:solidFill>
                <a:srgbClr val="000000"/>
              </a:solidFill>
              <a:prstDash val="lgDashDot"/>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4" name="Arc 32"/>
            <p:cNvSpPr>
              <a:spLocks noChangeAspect="1"/>
            </p:cNvSpPr>
            <p:nvPr/>
          </p:nvSpPr>
          <p:spPr bwMode="auto">
            <a:xfrm rot="3694406" flipH="1">
              <a:off x="1507" y="2321"/>
              <a:ext cx="237" cy="281"/>
            </a:xfrm>
            <a:custGeom>
              <a:avLst/>
              <a:gdLst>
                <a:gd name="G0" fmla="+- 0 0 0"/>
                <a:gd name="G1" fmla="+- 21600 0 0"/>
                <a:gd name="G2" fmla="+- 21600 0 0"/>
                <a:gd name="T0" fmla="*/ 0 w 21600"/>
                <a:gd name="T1" fmla="*/ 0 h 30906"/>
                <a:gd name="T2" fmla="*/ 19493 w 21600"/>
                <a:gd name="T3" fmla="*/ 30906 h 30906"/>
                <a:gd name="T4" fmla="*/ 0 w 21600"/>
                <a:gd name="T5" fmla="*/ 21600 h 30906"/>
              </a:gdLst>
              <a:ahLst/>
              <a:cxnLst>
                <a:cxn ang="0">
                  <a:pos x="T0" y="T1"/>
                </a:cxn>
                <a:cxn ang="0">
                  <a:pos x="T2" y="T3"/>
                </a:cxn>
                <a:cxn ang="0">
                  <a:pos x="T4" y="T5"/>
                </a:cxn>
              </a:cxnLst>
              <a:rect l="0" t="0" r="r" b="b"/>
              <a:pathLst>
                <a:path w="21600" h="30906" fill="none" extrusionOk="0">
                  <a:moveTo>
                    <a:pt x="0" y="0"/>
                  </a:moveTo>
                  <a:cubicBezTo>
                    <a:pt x="11929" y="0"/>
                    <a:pt x="21600" y="9670"/>
                    <a:pt x="21600" y="21600"/>
                  </a:cubicBezTo>
                  <a:cubicBezTo>
                    <a:pt x="21600" y="24820"/>
                    <a:pt x="20879" y="27999"/>
                    <a:pt x="19492" y="30905"/>
                  </a:cubicBezTo>
                </a:path>
                <a:path w="21600" h="30906" stroke="0" extrusionOk="0">
                  <a:moveTo>
                    <a:pt x="0" y="0"/>
                  </a:moveTo>
                  <a:cubicBezTo>
                    <a:pt x="11929" y="0"/>
                    <a:pt x="21600" y="9670"/>
                    <a:pt x="21600" y="21600"/>
                  </a:cubicBezTo>
                  <a:cubicBezTo>
                    <a:pt x="21600" y="24820"/>
                    <a:pt x="20879" y="27999"/>
                    <a:pt x="19492" y="30905"/>
                  </a:cubicBezTo>
                  <a:lnTo>
                    <a:pt x="0" y="21600"/>
                  </a:lnTo>
                  <a:close/>
                </a:path>
              </a:pathLst>
            </a:custGeom>
            <a:noFill/>
            <a:ln w="28575">
              <a:solidFill>
                <a:srgbClr val="FF0000"/>
              </a:solidFill>
              <a:round/>
              <a:headEnd type="none" w="sm" len="lg"/>
              <a:tailEnd type="stealth" w="med"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5" name="Text Box 33"/>
            <p:cNvSpPr txBox="1">
              <a:spLocks noChangeAspect="1" noChangeArrowheads="1"/>
            </p:cNvSpPr>
            <p:nvPr/>
          </p:nvSpPr>
          <p:spPr bwMode="auto">
            <a:xfrm>
              <a:off x="2660" y="2023"/>
              <a:ext cx="336" cy="2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b="0" i="1" dirty="0">
                  <a:ea typeface="宋体" panose="02010600030101010101" pitchFamily="2" charset="-122"/>
                </a:rPr>
                <a:t>C</a:t>
              </a:r>
            </a:p>
          </p:txBody>
        </p:sp>
        <p:sp>
          <p:nvSpPr>
            <p:cNvPr id="76" name="Oval 34"/>
            <p:cNvSpPr>
              <a:spLocks noChangeArrowheads="1"/>
            </p:cNvSpPr>
            <p:nvPr/>
          </p:nvSpPr>
          <p:spPr bwMode="auto">
            <a:xfrm>
              <a:off x="2674" y="2263"/>
              <a:ext cx="50" cy="50"/>
            </a:xfrm>
            <a:prstGeom prst="ellipse">
              <a:avLst/>
            </a:prstGeom>
            <a:solidFill>
              <a:srgbClr val="FF000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7" name="Text Box 35"/>
            <p:cNvSpPr txBox="1">
              <a:spLocks noChangeAspect="1" noChangeArrowheads="1"/>
            </p:cNvSpPr>
            <p:nvPr/>
          </p:nvSpPr>
          <p:spPr bwMode="auto">
            <a:xfrm>
              <a:off x="1363" y="2140"/>
              <a:ext cx="366" cy="2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b="0" i="1" dirty="0">
                  <a:ea typeface="宋体" panose="02010600030101010101" pitchFamily="2" charset="-122"/>
                </a:rPr>
                <a:t>T</a:t>
              </a:r>
              <a:endParaRPr lang="en-US" altLang="zh-CN" b="0" baseline="-25000" dirty="0">
                <a:ea typeface="宋体" panose="02010600030101010101" pitchFamily="2" charset="-122"/>
              </a:endParaRPr>
            </a:p>
          </p:txBody>
        </p:sp>
      </p:grpSp>
      <p:sp>
        <p:nvSpPr>
          <p:cNvPr id="88" name="Text Box 37"/>
          <p:cNvSpPr txBox="1">
            <a:spLocks noChangeAspect="1" noChangeArrowheads="1"/>
          </p:cNvSpPr>
          <p:nvPr/>
        </p:nvSpPr>
        <p:spPr bwMode="auto">
          <a:xfrm>
            <a:off x="7129045" y="4262512"/>
            <a:ext cx="581025" cy="425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b="0" i="1" dirty="0">
                <a:ea typeface="宋体" panose="02010600030101010101" pitchFamily="2" charset="-122"/>
                <a:sym typeface="Symbol" panose="05050102010706020507" pitchFamily="18" charset="2"/>
              </a:rPr>
              <a:t></a:t>
            </a:r>
            <a:r>
              <a:rPr lang="en-US" altLang="zh-CN" b="0" i="0" baseline="-25000" dirty="0">
                <a:ea typeface="宋体" panose="02010600030101010101" pitchFamily="2" charset="-122"/>
                <a:sym typeface="Symbol" panose="05050102010706020507" pitchFamily="18" charset="2"/>
              </a:rPr>
              <a:t>1</a:t>
            </a:r>
          </a:p>
        </p:txBody>
      </p:sp>
      <p:grpSp>
        <p:nvGrpSpPr>
          <p:cNvPr id="89" name="Group 38"/>
          <p:cNvGrpSpPr>
            <a:grpSpLocks/>
          </p:cNvGrpSpPr>
          <p:nvPr/>
        </p:nvGrpSpPr>
        <p:grpSpPr bwMode="auto">
          <a:xfrm>
            <a:off x="6708357" y="4303787"/>
            <a:ext cx="4995863" cy="1139825"/>
            <a:chOff x="1400" y="3218"/>
            <a:chExt cx="3147" cy="718"/>
          </a:xfrm>
        </p:grpSpPr>
        <p:grpSp>
          <p:nvGrpSpPr>
            <p:cNvPr id="90" name="Group 39"/>
            <p:cNvGrpSpPr>
              <a:grpSpLocks/>
            </p:cNvGrpSpPr>
            <p:nvPr/>
          </p:nvGrpSpPr>
          <p:grpSpPr bwMode="auto">
            <a:xfrm>
              <a:off x="2162" y="3596"/>
              <a:ext cx="1908" cy="67"/>
              <a:chOff x="2058" y="3369"/>
              <a:chExt cx="1908" cy="67"/>
            </a:xfrm>
          </p:grpSpPr>
          <p:sp>
            <p:nvSpPr>
              <p:cNvPr id="169" name="AutoShape 40"/>
              <p:cNvSpPr>
                <a:spLocks noChangeArrowheads="1"/>
              </p:cNvSpPr>
              <p:nvPr/>
            </p:nvSpPr>
            <p:spPr bwMode="auto">
              <a:xfrm>
                <a:off x="2058" y="3369"/>
                <a:ext cx="1908" cy="67"/>
              </a:xfrm>
              <a:prstGeom prst="roundRect">
                <a:avLst>
                  <a:gd name="adj" fmla="val 50000"/>
                </a:avLst>
              </a:prstGeom>
              <a:gradFill rotWithShape="1">
                <a:gsLst>
                  <a:gs pos="0">
                    <a:schemeClr val="accent1"/>
                  </a:gs>
                  <a:gs pos="50000">
                    <a:schemeClr val="accent1">
                      <a:gamma/>
                      <a:tint val="23529"/>
                      <a:invGamma/>
                    </a:schemeClr>
                  </a:gs>
                  <a:gs pos="100000">
                    <a:schemeClr val="accent1"/>
                  </a:gs>
                </a:gsLst>
                <a:lin ang="5400000" scaled="1"/>
              </a:gra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70" name="Oval 41"/>
              <p:cNvSpPr>
                <a:spLocks noChangeArrowheads="1"/>
              </p:cNvSpPr>
              <p:nvPr/>
            </p:nvSpPr>
            <p:spPr bwMode="auto">
              <a:xfrm>
                <a:off x="2993" y="3376"/>
                <a:ext cx="50" cy="50"/>
              </a:xfrm>
              <a:prstGeom prst="ellipse">
                <a:avLst/>
              </a:prstGeom>
              <a:solidFill>
                <a:srgbClr val="FF000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sp>
          <p:nvSpPr>
            <p:cNvPr id="91" name="AutoShape 42"/>
            <p:cNvSpPr>
              <a:spLocks noChangeAspect="1" noChangeArrowheads="1"/>
            </p:cNvSpPr>
            <p:nvPr/>
          </p:nvSpPr>
          <p:spPr bwMode="auto">
            <a:xfrm>
              <a:off x="1568" y="3611"/>
              <a:ext cx="202" cy="196"/>
            </a:xfrm>
            <a:prstGeom prst="triangle">
              <a:avLst>
                <a:gd name="adj" fmla="val 50000"/>
              </a:avLst>
            </a:prstGeom>
            <a:solidFill>
              <a:srgbClr val="66FF33"/>
            </a:solidFill>
            <a:ln w="381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92" name="Rectangle 43" descr="宽上对角线"/>
            <p:cNvSpPr>
              <a:spLocks noChangeAspect="1" noChangeArrowheads="1"/>
            </p:cNvSpPr>
            <p:nvPr/>
          </p:nvSpPr>
          <p:spPr bwMode="auto">
            <a:xfrm>
              <a:off x="1498" y="3795"/>
              <a:ext cx="342" cy="96"/>
            </a:xfrm>
            <a:prstGeom prst="rect">
              <a:avLst/>
            </a:prstGeom>
            <a:pattFill prst="wdUpDiag">
              <a:fgClr>
                <a:srgbClr val="000000"/>
              </a:fgClr>
              <a:bgClr>
                <a:srgbClr val="FFFFCC"/>
              </a:bgClr>
            </a:patt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94" name="Line 44"/>
            <p:cNvSpPr>
              <a:spLocks noChangeAspect="1" noChangeShapeType="1"/>
            </p:cNvSpPr>
            <p:nvPr/>
          </p:nvSpPr>
          <p:spPr bwMode="auto">
            <a:xfrm>
              <a:off x="1497" y="3787"/>
              <a:ext cx="344" cy="1"/>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5" name="Text Box 45"/>
            <p:cNvSpPr txBox="1">
              <a:spLocks noChangeAspect="1" noChangeArrowheads="1"/>
            </p:cNvSpPr>
            <p:nvPr/>
          </p:nvSpPr>
          <p:spPr bwMode="auto">
            <a:xfrm>
              <a:off x="1400" y="3531"/>
              <a:ext cx="336" cy="2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b="0" i="1" dirty="0">
                  <a:ea typeface="宋体" panose="02010600030101010101" pitchFamily="2" charset="-122"/>
                </a:rPr>
                <a:t>O</a:t>
              </a:r>
            </a:p>
          </p:txBody>
        </p:sp>
        <p:grpSp>
          <p:nvGrpSpPr>
            <p:cNvPr id="97" name="Group 46"/>
            <p:cNvGrpSpPr>
              <a:grpSpLocks/>
            </p:cNvGrpSpPr>
            <p:nvPr/>
          </p:nvGrpSpPr>
          <p:grpSpPr bwMode="auto">
            <a:xfrm>
              <a:off x="3792" y="3331"/>
              <a:ext cx="755" cy="600"/>
              <a:chOff x="4108" y="3339"/>
              <a:chExt cx="755" cy="600"/>
            </a:xfrm>
          </p:grpSpPr>
          <p:sp>
            <p:nvSpPr>
              <p:cNvPr id="106" name="Freeform 47" descr="宽上对角线"/>
              <p:cNvSpPr>
                <a:spLocks/>
              </p:cNvSpPr>
              <p:nvPr/>
            </p:nvSpPr>
            <p:spPr bwMode="auto">
              <a:xfrm rot="5400000">
                <a:off x="4193" y="3268"/>
                <a:ext cx="600" cy="741"/>
              </a:xfrm>
              <a:custGeom>
                <a:avLst/>
                <a:gdLst>
                  <a:gd name="T0" fmla="*/ 6 w 600"/>
                  <a:gd name="T1" fmla="*/ 741 h 741"/>
                  <a:gd name="T2" fmla="*/ 123 w 600"/>
                  <a:gd name="T3" fmla="*/ 741 h 741"/>
                  <a:gd name="T4" fmla="*/ 123 w 600"/>
                  <a:gd name="T5" fmla="*/ 90 h 741"/>
                  <a:gd name="T6" fmla="*/ 480 w 600"/>
                  <a:gd name="T7" fmla="*/ 90 h 741"/>
                  <a:gd name="T8" fmla="*/ 480 w 600"/>
                  <a:gd name="T9" fmla="*/ 738 h 741"/>
                  <a:gd name="T10" fmla="*/ 600 w 600"/>
                  <a:gd name="T11" fmla="*/ 738 h 741"/>
                  <a:gd name="T12" fmla="*/ 600 w 600"/>
                  <a:gd name="T13" fmla="*/ 0 h 741"/>
                  <a:gd name="T14" fmla="*/ 0 w 600"/>
                  <a:gd name="T15" fmla="*/ 0 h 741"/>
                  <a:gd name="T16" fmla="*/ 6 w 600"/>
                  <a:gd name="T17" fmla="*/ 741 h 7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00" h="741">
                    <a:moveTo>
                      <a:pt x="6" y="741"/>
                    </a:moveTo>
                    <a:lnTo>
                      <a:pt x="123" y="741"/>
                    </a:lnTo>
                    <a:lnTo>
                      <a:pt x="123" y="90"/>
                    </a:lnTo>
                    <a:lnTo>
                      <a:pt x="480" y="90"/>
                    </a:lnTo>
                    <a:lnTo>
                      <a:pt x="480" y="738"/>
                    </a:lnTo>
                    <a:lnTo>
                      <a:pt x="600" y="738"/>
                    </a:lnTo>
                    <a:lnTo>
                      <a:pt x="600" y="0"/>
                    </a:lnTo>
                    <a:lnTo>
                      <a:pt x="0" y="0"/>
                    </a:lnTo>
                    <a:lnTo>
                      <a:pt x="6" y="741"/>
                    </a:lnTo>
                    <a:close/>
                  </a:path>
                </a:pathLst>
              </a:custGeom>
              <a:pattFill prst="wdUpDiag">
                <a:fgClr>
                  <a:schemeClr val="tx2"/>
                </a:fgClr>
                <a:bgClr>
                  <a:schemeClr val="bg1"/>
                </a:bgClr>
              </a:pattFill>
              <a:ln>
                <a:noFill/>
              </a:ln>
              <a:effectLst/>
              <a:extLst>
                <a:ext uri="{91240B29-F687-4F45-9708-019B960494DF}">
                  <a14:hiddenLine xmlns:a14="http://schemas.microsoft.com/office/drawing/2010/main" w="9525" cap="flat" cmpd="sng">
                    <a:solidFill>
                      <a:srgbClr val="000000"/>
                    </a:solidFill>
                    <a:prstDash val="solid"/>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11" name="Text Box 48"/>
              <p:cNvSpPr txBox="1">
                <a:spLocks noChangeAspect="1" noChangeArrowheads="1"/>
              </p:cNvSpPr>
              <p:nvPr/>
            </p:nvSpPr>
            <p:spPr bwMode="auto">
              <a:xfrm>
                <a:off x="4553" y="3487"/>
                <a:ext cx="261" cy="2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b="0" i="1" dirty="0">
                    <a:ea typeface="宋体" panose="02010600030101010101" pitchFamily="2" charset="-122"/>
                  </a:rPr>
                  <a:t>B</a:t>
                </a:r>
              </a:p>
            </p:txBody>
          </p:sp>
          <p:grpSp>
            <p:nvGrpSpPr>
              <p:cNvPr id="112" name="Group 49"/>
              <p:cNvGrpSpPr>
                <a:grpSpLocks/>
              </p:cNvGrpSpPr>
              <p:nvPr/>
            </p:nvGrpSpPr>
            <p:grpSpPr bwMode="auto">
              <a:xfrm rot="5400000">
                <a:off x="4260" y="3344"/>
                <a:ext cx="310" cy="585"/>
                <a:chOff x="4427" y="1389"/>
                <a:chExt cx="310" cy="585"/>
              </a:xfrm>
            </p:grpSpPr>
            <p:sp>
              <p:nvSpPr>
                <p:cNvPr id="164" name="Rectangle 50"/>
                <p:cNvSpPr>
                  <a:spLocks noChangeArrowheads="1"/>
                </p:cNvSpPr>
                <p:nvPr/>
              </p:nvSpPr>
              <p:spPr bwMode="auto">
                <a:xfrm>
                  <a:off x="4446" y="1516"/>
                  <a:ext cx="271" cy="348"/>
                </a:xfrm>
                <a:prstGeom prst="rect">
                  <a:avLst/>
                </a:prstGeom>
                <a:gradFill rotWithShape="0">
                  <a:gsLst>
                    <a:gs pos="0">
                      <a:srgbClr val="FFFFFF">
                        <a:gamma/>
                        <a:shade val="65490"/>
                        <a:invGamma/>
                      </a:srgbClr>
                    </a:gs>
                    <a:gs pos="50000">
                      <a:srgbClr val="FFFFFF"/>
                    </a:gs>
                    <a:gs pos="100000">
                      <a:srgbClr val="FFFFFF">
                        <a:gamma/>
                        <a:shade val="65490"/>
                        <a:invGamma/>
                      </a:srgbClr>
                    </a:gs>
                  </a:gsLst>
                  <a:lin ang="0" scaled="1"/>
                </a:gradFill>
                <a:ln w="38100" algn="ctr">
                  <a:solidFill>
                    <a:srgbClr val="000000"/>
                  </a:solidFill>
                  <a:miter lim="800000"/>
                  <a:headEnd/>
                  <a:tailEnd/>
                </a:ln>
                <a:effectLst>
                  <a:outerShdw dist="35921" dir="2700000" algn="ctr" rotWithShape="0">
                    <a:srgbClr val="808080"/>
                  </a:outerShdw>
                </a:effectLst>
              </p:spPr>
              <p:txBody>
                <a:bodyPr/>
                <a:lstStyle/>
                <a:p>
                  <a:endParaRPr lang="zh-CN" altLang="en-US"/>
                </a:p>
              </p:txBody>
            </p:sp>
            <p:sp>
              <p:nvSpPr>
                <p:cNvPr id="165" name="Oval 51"/>
                <p:cNvSpPr>
                  <a:spLocks noChangeArrowheads="1"/>
                </p:cNvSpPr>
                <p:nvPr/>
              </p:nvSpPr>
              <p:spPr bwMode="auto">
                <a:xfrm>
                  <a:off x="4557" y="1711"/>
                  <a:ext cx="50" cy="50"/>
                </a:xfrm>
                <a:prstGeom prst="ellipse">
                  <a:avLst/>
                </a:prstGeom>
                <a:solidFill>
                  <a:srgbClr val="FF000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66" name="Rectangle 52"/>
                <p:cNvSpPr>
                  <a:spLocks noChangeArrowheads="1"/>
                </p:cNvSpPr>
                <p:nvPr/>
              </p:nvSpPr>
              <p:spPr bwMode="auto">
                <a:xfrm>
                  <a:off x="4427" y="1542"/>
                  <a:ext cx="309" cy="27"/>
                </a:xfrm>
                <a:prstGeom prst="rect">
                  <a:avLst/>
                </a:prstGeom>
                <a:gradFill rotWithShape="1">
                  <a:gsLst>
                    <a:gs pos="0">
                      <a:schemeClr val="bg2">
                        <a:gamma/>
                        <a:shade val="46275"/>
                        <a:invGamma/>
                      </a:schemeClr>
                    </a:gs>
                    <a:gs pos="50000">
                      <a:schemeClr val="bg2"/>
                    </a:gs>
                    <a:gs pos="100000">
                      <a:schemeClr val="bg2">
                        <a:gamma/>
                        <a:shade val="46275"/>
                        <a:invGamma/>
                      </a:schemeClr>
                    </a:gs>
                  </a:gsLst>
                  <a:lin ang="0" scaled="1"/>
                </a:gradFill>
                <a:ln w="1905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67" name="Rectangle 53"/>
                <p:cNvSpPr>
                  <a:spLocks noChangeArrowheads="1"/>
                </p:cNvSpPr>
                <p:nvPr/>
              </p:nvSpPr>
              <p:spPr bwMode="auto">
                <a:xfrm>
                  <a:off x="4428" y="1585"/>
                  <a:ext cx="309" cy="27"/>
                </a:xfrm>
                <a:prstGeom prst="rect">
                  <a:avLst/>
                </a:prstGeom>
                <a:gradFill rotWithShape="1">
                  <a:gsLst>
                    <a:gs pos="0">
                      <a:schemeClr val="bg2">
                        <a:gamma/>
                        <a:shade val="46275"/>
                        <a:invGamma/>
                      </a:schemeClr>
                    </a:gs>
                    <a:gs pos="50000">
                      <a:schemeClr val="bg2"/>
                    </a:gs>
                    <a:gs pos="100000">
                      <a:schemeClr val="bg2">
                        <a:gamma/>
                        <a:shade val="46275"/>
                        <a:invGamma/>
                      </a:schemeClr>
                    </a:gs>
                  </a:gsLst>
                  <a:lin ang="0" scaled="1"/>
                </a:gradFill>
                <a:ln w="1905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68" name="Line 54"/>
                <p:cNvSpPr>
                  <a:spLocks noChangeShapeType="1"/>
                </p:cNvSpPr>
                <p:nvPr/>
              </p:nvSpPr>
              <p:spPr bwMode="auto">
                <a:xfrm>
                  <a:off x="4582" y="1389"/>
                  <a:ext cx="0" cy="585"/>
                </a:xfrm>
                <a:prstGeom prst="line">
                  <a:avLst/>
                </a:prstGeom>
                <a:noFill/>
                <a:ln w="31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nvGrpSpPr>
              <p:cNvPr id="156" name="Group 55"/>
              <p:cNvGrpSpPr>
                <a:grpSpLocks/>
              </p:cNvGrpSpPr>
              <p:nvPr/>
            </p:nvGrpSpPr>
            <p:grpSpPr bwMode="auto">
              <a:xfrm rot="5400000">
                <a:off x="4149" y="3307"/>
                <a:ext cx="586" cy="668"/>
                <a:chOff x="4293" y="1381"/>
                <a:chExt cx="586" cy="536"/>
              </a:xfrm>
            </p:grpSpPr>
            <p:sp>
              <p:nvSpPr>
                <p:cNvPr id="159" name="Line 56"/>
                <p:cNvSpPr>
                  <a:spLocks noChangeShapeType="1"/>
                </p:cNvSpPr>
                <p:nvPr/>
              </p:nvSpPr>
              <p:spPr bwMode="auto">
                <a:xfrm>
                  <a:off x="4293" y="1908"/>
                  <a:ext cx="105" cy="0"/>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60" name="Line 57"/>
                <p:cNvSpPr>
                  <a:spLocks noChangeShapeType="1"/>
                </p:cNvSpPr>
                <p:nvPr/>
              </p:nvSpPr>
              <p:spPr bwMode="auto">
                <a:xfrm flipV="1">
                  <a:off x="4407" y="1383"/>
                  <a:ext cx="0" cy="534"/>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61" name="Line 58"/>
                <p:cNvSpPr>
                  <a:spLocks noChangeShapeType="1"/>
                </p:cNvSpPr>
                <p:nvPr/>
              </p:nvSpPr>
              <p:spPr bwMode="auto">
                <a:xfrm>
                  <a:off x="4753" y="1909"/>
                  <a:ext cx="126" cy="0"/>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62" name="Line 59"/>
                <p:cNvSpPr>
                  <a:spLocks noChangeShapeType="1"/>
                </p:cNvSpPr>
                <p:nvPr/>
              </p:nvSpPr>
              <p:spPr bwMode="auto">
                <a:xfrm flipV="1">
                  <a:off x="4759" y="1381"/>
                  <a:ext cx="0" cy="534"/>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63" name="Line 60"/>
                <p:cNvSpPr>
                  <a:spLocks noChangeShapeType="1"/>
                </p:cNvSpPr>
                <p:nvPr/>
              </p:nvSpPr>
              <p:spPr bwMode="auto">
                <a:xfrm>
                  <a:off x="4401" y="1386"/>
                  <a:ext cx="363" cy="0"/>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sp>
          <p:nvSpPr>
            <p:cNvPr id="98" name="AutoShape 61"/>
            <p:cNvSpPr>
              <a:spLocks noChangeArrowheads="1"/>
            </p:cNvSpPr>
            <p:nvPr/>
          </p:nvSpPr>
          <p:spPr bwMode="auto">
            <a:xfrm rot="10800000">
              <a:off x="1637" y="3592"/>
              <a:ext cx="603" cy="82"/>
            </a:xfrm>
            <a:prstGeom prst="roundRect">
              <a:avLst>
                <a:gd name="adj" fmla="val 50000"/>
              </a:avLst>
            </a:prstGeom>
            <a:gradFill rotWithShape="1">
              <a:gsLst>
                <a:gs pos="0">
                  <a:srgbClr val="FFFF00">
                    <a:gamma/>
                    <a:shade val="46275"/>
                    <a:invGamma/>
                  </a:srgbClr>
                </a:gs>
                <a:gs pos="50000">
                  <a:srgbClr val="FFFF00"/>
                </a:gs>
                <a:gs pos="100000">
                  <a:srgbClr val="FFFF00">
                    <a:gamma/>
                    <a:shade val="46275"/>
                    <a:invGamma/>
                  </a:srgbClr>
                </a:gs>
              </a:gsLst>
              <a:lin ang="5400000" scaled="1"/>
            </a:gra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99" name="Oval 62"/>
            <p:cNvSpPr>
              <a:spLocks noChangeAspect="1" noChangeArrowheads="1"/>
            </p:cNvSpPr>
            <p:nvPr/>
          </p:nvSpPr>
          <p:spPr bwMode="auto">
            <a:xfrm>
              <a:off x="1637" y="3603"/>
              <a:ext cx="64" cy="64"/>
            </a:xfrm>
            <a:prstGeom prst="ellipse">
              <a:avLst/>
            </a:prstGeom>
            <a:solidFill>
              <a:srgbClr val="FF0000"/>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00" name="Oval 63"/>
            <p:cNvSpPr>
              <a:spLocks noChangeAspect="1" noChangeArrowheads="1"/>
            </p:cNvSpPr>
            <p:nvPr/>
          </p:nvSpPr>
          <p:spPr bwMode="auto">
            <a:xfrm rot="5400000">
              <a:off x="2165" y="3603"/>
              <a:ext cx="64" cy="64"/>
            </a:xfrm>
            <a:prstGeom prst="ellipse">
              <a:avLst/>
            </a:prstGeom>
            <a:solidFill>
              <a:srgbClr val="FF0000"/>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01" name="Line 64"/>
            <p:cNvSpPr>
              <a:spLocks noChangeShapeType="1"/>
            </p:cNvSpPr>
            <p:nvPr/>
          </p:nvSpPr>
          <p:spPr bwMode="auto">
            <a:xfrm rot="16200000" flipH="1">
              <a:off x="3016" y="2276"/>
              <a:ext cx="0" cy="2719"/>
            </a:xfrm>
            <a:prstGeom prst="line">
              <a:avLst/>
            </a:prstGeom>
            <a:noFill/>
            <a:ln w="3175">
              <a:solidFill>
                <a:srgbClr val="000000"/>
              </a:solidFill>
              <a:prstDash val="lgDashDot"/>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02" name="Text Box 65"/>
            <p:cNvSpPr txBox="1">
              <a:spLocks noChangeAspect="1" noChangeArrowheads="1"/>
            </p:cNvSpPr>
            <p:nvPr/>
          </p:nvSpPr>
          <p:spPr bwMode="auto">
            <a:xfrm>
              <a:off x="2996" y="3608"/>
              <a:ext cx="336" cy="2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b="0" i="1" dirty="0">
                  <a:ea typeface="宋体" panose="02010600030101010101" pitchFamily="2" charset="-122"/>
                </a:rPr>
                <a:t>C</a:t>
              </a:r>
            </a:p>
          </p:txBody>
        </p:sp>
        <p:sp>
          <p:nvSpPr>
            <p:cNvPr id="103" name="Text Box 66"/>
            <p:cNvSpPr txBox="1">
              <a:spLocks noChangeAspect="1" noChangeArrowheads="1"/>
            </p:cNvSpPr>
            <p:nvPr/>
          </p:nvSpPr>
          <p:spPr bwMode="auto">
            <a:xfrm>
              <a:off x="1952" y="3218"/>
              <a:ext cx="366" cy="2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b="0" i="1" dirty="0">
                  <a:ea typeface="宋体" panose="02010600030101010101" pitchFamily="2" charset="-122"/>
                </a:rPr>
                <a:t>T</a:t>
              </a:r>
              <a:endParaRPr lang="en-US" altLang="zh-CN" b="0" baseline="-25000" dirty="0">
                <a:ea typeface="宋体" panose="02010600030101010101" pitchFamily="2" charset="-122"/>
              </a:endParaRPr>
            </a:p>
          </p:txBody>
        </p:sp>
        <p:sp>
          <p:nvSpPr>
            <p:cNvPr id="104" name="Arc 67"/>
            <p:cNvSpPr>
              <a:spLocks noChangeAspect="1"/>
            </p:cNvSpPr>
            <p:nvPr/>
          </p:nvSpPr>
          <p:spPr bwMode="auto">
            <a:xfrm rot="19558055" flipV="1">
              <a:off x="1822" y="3440"/>
              <a:ext cx="237" cy="281"/>
            </a:xfrm>
            <a:custGeom>
              <a:avLst/>
              <a:gdLst>
                <a:gd name="G0" fmla="+- 0 0 0"/>
                <a:gd name="G1" fmla="+- 21600 0 0"/>
                <a:gd name="G2" fmla="+- 21600 0 0"/>
                <a:gd name="T0" fmla="*/ 0 w 21600"/>
                <a:gd name="T1" fmla="*/ 0 h 30906"/>
                <a:gd name="T2" fmla="*/ 19493 w 21600"/>
                <a:gd name="T3" fmla="*/ 30906 h 30906"/>
                <a:gd name="T4" fmla="*/ 0 w 21600"/>
                <a:gd name="T5" fmla="*/ 21600 h 30906"/>
              </a:gdLst>
              <a:ahLst/>
              <a:cxnLst>
                <a:cxn ang="0">
                  <a:pos x="T0" y="T1"/>
                </a:cxn>
                <a:cxn ang="0">
                  <a:pos x="T2" y="T3"/>
                </a:cxn>
                <a:cxn ang="0">
                  <a:pos x="T4" y="T5"/>
                </a:cxn>
              </a:cxnLst>
              <a:rect l="0" t="0" r="r" b="b"/>
              <a:pathLst>
                <a:path w="21600" h="30906" fill="none" extrusionOk="0">
                  <a:moveTo>
                    <a:pt x="0" y="0"/>
                  </a:moveTo>
                  <a:cubicBezTo>
                    <a:pt x="11929" y="0"/>
                    <a:pt x="21600" y="9670"/>
                    <a:pt x="21600" y="21600"/>
                  </a:cubicBezTo>
                  <a:cubicBezTo>
                    <a:pt x="21600" y="24820"/>
                    <a:pt x="20879" y="27999"/>
                    <a:pt x="19492" y="30905"/>
                  </a:cubicBezTo>
                </a:path>
                <a:path w="21600" h="30906" stroke="0" extrusionOk="0">
                  <a:moveTo>
                    <a:pt x="0" y="0"/>
                  </a:moveTo>
                  <a:cubicBezTo>
                    <a:pt x="11929" y="0"/>
                    <a:pt x="21600" y="9670"/>
                    <a:pt x="21600" y="21600"/>
                  </a:cubicBezTo>
                  <a:cubicBezTo>
                    <a:pt x="21600" y="24820"/>
                    <a:pt x="20879" y="27999"/>
                    <a:pt x="19492" y="30905"/>
                  </a:cubicBezTo>
                  <a:lnTo>
                    <a:pt x="0" y="21600"/>
                  </a:lnTo>
                  <a:close/>
                </a:path>
              </a:pathLst>
            </a:custGeom>
            <a:noFill/>
            <a:ln w="28575">
              <a:solidFill>
                <a:srgbClr val="FF0000"/>
              </a:solidFill>
              <a:round/>
              <a:headEnd type="none" w="sm" len="lg"/>
              <a:tailEnd type="stealth" w="med"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05" name="Text Box 68"/>
            <p:cNvSpPr txBox="1">
              <a:spLocks noChangeAspect="1" noChangeArrowheads="1"/>
            </p:cNvSpPr>
            <p:nvPr/>
          </p:nvSpPr>
          <p:spPr bwMode="auto">
            <a:xfrm>
              <a:off x="2085" y="3595"/>
              <a:ext cx="256" cy="34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b="0" i="1" dirty="0">
                  <a:ea typeface="宋体" panose="02010600030101010101" pitchFamily="2" charset="-122"/>
                </a:rPr>
                <a:t>A</a:t>
              </a:r>
            </a:p>
          </p:txBody>
        </p:sp>
      </p:grpSp>
      <p:grpSp>
        <p:nvGrpSpPr>
          <p:cNvPr id="171" name="Group 69"/>
          <p:cNvGrpSpPr>
            <a:grpSpLocks/>
          </p:cNvGrpSpPr>
          <p:nvPr/>
        </p:nvGrpSpPr>
        <p:grpSpPr bwMode="auto">
          <a:xfrm>
            <a:off x="6782970" y="4659387"/>
            <a:ext cx="658812" cy="592137"/>
            <a:chOff x="2399" y="2447"/>
            <a:chExt cx="415" cy="373"/>
          </a:xfrm>
        </p:grpSpPr>
        <p:sp>
          <p:nvSpPr>
            <p:cNvPr id="172" name="Arc 70"/>
            <p:cNvSpPr>
              <a:spLocks noChangeAspect="1"/>
            </p:cNvSpPr>
            <p:nvPr/>
          </p:nvSpPr>
          <p:spPr bwMode="auto">
            <a:xfrm rot="9165826" flipH="1">
              <a:off x="2577" y="2447"/>
              <a:ext cx="237" cy="281"/>
            </a:xfrm>
            <a:custGeom>
              <a:avLst/>
              <a:gdLst>
                <a:gd name="G0" fmla="+- 0 0 0"/>
                <a:gd name="G1" fmla="+- 21600 0 0"/>
                <a:gd name="G2" fmla="+- 21600 0 0"/>
                <a:gd name="T0" fmla="*/ 0 w 21600"/>
                <a:gd name="T1" fmla="*/ 0 h 30906"/>
                <a:gd name="T2" fmla="*/ 19493 w 21600"/>
                <a:gd name="T3" fmla="*/ 30906 h 30906"/>
                <a:gd name="T4" fmla="*/ 0 w 21600"/>
                <a:gd name="T5" fmla="*/ 21600 h 30906"/>
              </a:gdLst>
              <a:ahLst/>
              <a:cxnLst>
                <a:cxn ang="0">
                  <a:pos x="T0" y="T1"/>
                </a:cxn>
                <a:cxn ang="0">
                  <a:pos x="T2" y="T3"/>
                </a:cxn>
                <a:cxn ang="0">
                  <a:pos x="T4" y="T5"/>
                </a:cxn>
              </a:cxnLst>
              <a:rect l="0" t="0" r="r" b="b"/>
              <a:pathLst>
                <a:path w="21600" h="30906" fill="none" extrusionOk="0">
                  <a:moveTo>
                    <a:pt x="0" y="0"/>
                  </a:moveTo>
                  <a:cubicBezTo>
                    <a:pt x="11929" y="0"/>
                    <a:pt x="21600" y="9670"/>
                    <a:pt x="21600" y="21600"/>
                  </a:cubicBezTo>
                  <a:cubicBezTo>
                    <a:pt x="21600" y="24820"/>
                    <a:pt x="20879" y="27999"/>
                    <a:pt x="19492" y="30905"/>
                  </a:cubicBezTo>
                </a:path>
                <a:path w="21600" h="30906" stroke="0" extrusionOk="0">
                  <a:moveTo>
                    <a:pt x="0" y="0"/>
                  </a:moveTo>
                  <a:cubicBezTo>
                    <a:pt x="11929" y="0"/>
                    <a:pt x="21600" y="9670"/>
                    <a:pt x="21600" y="21600"/>
                  </a:cubicBezTo>
                  <a:cubicBezTo>
                    <a:pt x="21600" y="24820"/>
                    <a:pt x="20879" y="27999"/>
                    <a:pt x="19492" y="30905"/>
                  </a:cubicBezTo>
                  <a:lnTo>
                    <a:pt x="0" y="21600"/>
                  </a:lnTo>
                  <a:close/>
                </a:path>
              </a:pathLst>
            </a:custGeom>
            <a:noFill/>
            <a:ln w="28575">
              <a:solidFill>
                <a:srgbClr val="FF00FF"/>
              </a:solidFill>
              <a:round/>
              <a:headEnd type="none" w="sm" len="lg"/>
              <a:tailEnd type="stealth" w="med"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73" name="Arc 71"/>
            <p:cNvSpPr>
              <a:spLocks noChangeAspect="1"/>
            </p:cNvSpPr>
            <p:nvPr/>
          </p:nvSpPr>
          <p:spPr bwMode="auto">
            <a:xfrm rot="9165826" flipH="1">
              <a:off x="2399" y="2539"/>
              <a:ext cx="237" cy="281"/>
            </a:xfrm>
            <a:custGeom>
              <a:avLst/>
              <a:gdLst>
                <a:gd name="G0" fmla="+- 0 0 0"/>
                <a:gd name="G1" fmla="+- 21600 0 0"/>
                <a:gd name="G2" fmla="+- 21600 0 0"/>
                <a:gd name="T0" fmla="*/ 0 w 21600"/>
                <a:gd name="T1" fmla="*/ 0 h 30906"/>
                <a:gd name="T2" fmla="*/ 19493 w 21600"/>
                <a:gd name="T3" fmla="*/ 30906 h 30906"/>
                <a:gd name="T4" fmla="*/ 0 w 21600"/>
                <a:gd name="T5" fmla="*/ 21600 h 30906"/>
              </a:gdLst>
              <a:ahLst/>
              <a:cxnLst>
                <a:cxn ang="0">
                  <a:pos x="T0" y="T1"/>
                </a:cxn>
                <a:cxn ang="0">
                  <a:pos x="T2" y="T3"/>
                </a:cxn>
                <a:cxn ang="0">
                  <a:pos x="T4" y="T5"/>
                </a:cxn>
              </a:cxnLst>
              <a:rect l="0" t="0" r="r" b="b"/>
              <a:pathLst>
                <a:path w="21600" h="30906" fill="none" extrusionOk="0">
                  <a:moveTo>
                    <a:pt x="0" y="0"/>
                  </a:moveTo>
                  <a:cubicBezTo>
                    <a:pt x="11929" y="0"/>
                    <a:pt x="21600" y="9670"/>
                    <a:pt x="21600" y="21600"/>
                  </a:cubicBezTo>
                  <a:cubicBezTo>
                    <a:pt x="21600" y="24820"/>
                    <a:pt x="20879" y="27999"/>
                    <a:pt x="19492" y="30905"/>
                  </a:cubicBezTo>
                </a:path>
                <a:path w="21600" h="30906" stroke="0" extrusionOk="0">
                  <a:moveTo>
                    <a:pt x="0" y="0"/>
                  </a:moveTo>
                  <a:cubicBezTo>
                    <a:pt x="11929" y="0"/>
                    <a:pt x="21600" y="9670"/>
                    <a:pt x="21600" y="21600"/>
                  </a:cubicBezTo>
                  <a:cubicBezTo>
                    <a:pt x="21600" y="24820"/>
                    <a:pt x="20879" y="27999"/>
                    <a:pt x="19492" y="30905"/>
                  </a:cubicBezTo>
                  <a:lnTo>
                    <a:pt x="0" y="2160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00FF"/>
                  </a:solidFill>
                  <a:round/>
                  <a:headEnd type="none" w="sm" len="lg"/>
                  <a:tailEnd type="stealth" w="med"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174" name="Line 72"/>
          <p:cNvSpPr>
            <a:spLocks noChangeShapeType="1"/>
          </p:cNvSpPr>
          <p:nvPr/>
        </p:nvSpPr>
        <p:spPr bwMode="auto">
          <a:xfrm flipV="1">
            <a:off x="7981532" y="4197424"/>
            <a:ext cx="0" cy="681038"/>
          </a:xfrm>
          <a:prstGeom prst="line">
            <a:avLst/>
          </a:prstGeom>
          <a:noFill/>
          <a:ln w="28575">
            <a:solidFill>
              <a:srgbClr val="CC0099"/>
            </a:solidFill>
            <a:round/>
            <a:headEnd type="none" w="sm"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75" name="Line 73"/>
          <p:cNvSpPr>
            <a:spLocks noChangeShapeType="1"/>
          </p:cNvSpPr>
          <p:nvPr/>
        </p:nvSpPr>
        <p:spPr bwMode="auto">
          <a:xfrm flipH="1" flipV="1">
            <a:off x="7962482" y="4197424"/>
            <a:ext cx="2951163"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6" name="Text Box 74"/>
          <p:cNvSpPr txBox="1">
            <a:spLocks noChangeAspect="1" noChangeArrowheads="1"/>
          </p:cNvSpPr>
          <p:nvPr/>
        </p:nvSpPr>
        <p:spPr bwMode="auto">
          <a:xfrm>
            <a:off x="7854532" y="3781499"/>
            <a:ext cx="652463" cy="463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b="0" i="1" dirty="0" err="1">
                <a:latin typeface="+mn-lt"/>
              </a:rPr>
              <a:t>v</a:t>
            </a:r>
            <a:r>
              <a:rPr lang="en-US" altLang="zh-CN" b="0" i="1" baseline="-25000" dirty="0" err="1"/>
              <a:t>A</a:t>
            </a:r>
            <a:endParaRPr lang="en-US" altLang="zh-CN" b="0" i="1" baseline="-25000" dirty="0"/>
          </a:p>
        </p:txBody>
      </p:sp>
      <p:sp>
        <p:nvSpPr>
          <p:cNvPr id="177" name="矩形 176"/>
          <p:cNvSpPr/>
          <p:nvPr/>
        </p:nvSpPr>
        <p:spPr>
          <a:xfrm>
            <a:off x="191342" y="2366242"/>
            <a:ext cx="6108234" cy="1865126"/>
          </a:xfrm>
          <a:prstGeom prst="rect">
            <a:avLst/>
          </a:prstGeom>
        </p:spPr>
        <p:txBody>
          <a:bodyPr wrap="square">
            <a:spAutoFit/>
          </a:bodyPr>
          <a:lstStyle/>
          <a:p>
            <a:pPr algn="just">
              <a:lnSpc>
                <a:spcPct val="120000"/>
              </a:lnSpc>
            </a:pPr>
            <a:r>
              <a:rPr lang="zh-CN" altLang="en-US" i="0" dirty="0">
                <a:solidFill>
                  <a:srgbClr val="0033CC"/>
                </a:solidFill>
                <a:ea typeface="黑体" panose="02010609060101010101" pitchFamily="49" charset="-122"/>
              </a:rPr>
              <a:t>解   </a:t>
            </a:r>
            <a:r>
              <a:rPr lang="zh-CN" altLang="en-US" i="0" dirty="0">
                <a:solidFill>
                  <a:schemeClr val="tx1"/>
                </a:solidFill>
                <a:latin typeface="黑体" panose="02010609060101010101" pitchFamily="49" charset="-122"/>
                <a:ea typeface="黑体" panose="02010609060101010101" pitchFamily="49" charset="-122"/>
              </a:rPr>
              <a:t>取曲柄连杆机构为研究对象，初瞬时系统静止，</a:t>
            </a:r>
            <a:r>
              <a:rPr lang="en-US" altLang="zh-CN" b="0" dirty="0">
                <a:solidFill>
                  <a:schemeClr val="tx1"/>
                </a:solidFill>
                <a:latin typeface="+mj-lt"/>
                <a:ea typeface="黑体" panose="02010609060101010101" pitchFamily="49" charset="-122"/>
              </a:rPr>
              <a:t>E</a:t>
            </a:r>
            <a:r>
              <a:rPr lang="en-US" altLang="zh-CN" b="0" i="0" baseline="-25000" dirty="0">
                <a:solidFill>
                  <a:schemeClr val="tx1"/>
                </a:solidFill>
                <a:latin typeface="+mj-lt"/>
                <a:ea typeface="黑体" panose="02010609060101010101" pitchFamily="49" charset="-122"/>
              </a:rPr>
              <a:t>k1</a:t>
            </a:r>
            <a:r>
              <a:rPr lang="en-US" altLang="zh-CN" b="0" i="0" dirty="0">
                <a:solidFill>
                  <a:schemeClr val="tx1"/>
                </a:solidFill>
                <a:latin typeface="+mj-lt"/>
                <a:ea typeface="黑体" panose="02010609060101010101" pitchFamily="49" charset="-122"/>
              </a:rPr>
              <a:t>=0</a:t>
            </a:r>
            <a:r>
              <a:rPr lang="zh-CN" altLang="en-US" i="0" dirty="0">
                <a:solidFill>
                  <a:schemeClr val="tx1"/>
                </a:solidFill>
                <a:latin typeface="+mj-lt"/>
                <a:ea typeface="黑体" panose="02010609060101010101" pitchFamily="49" charset="-122"/>
              </a:rPr>
              <a:t>。当曲柄转过一周后，连杆的速度瞬心在</a:t>
            </a:r>
            <a:r>
              <a:rPr lang="en-US" altLang="zh-CN" b="0" dirty="0">
                <a:solidFill>
                  <a:schemeClr val="tx1"/>
                </a:solidFill>
                <a:latin typeface="+mj-lt"/>
                <a:ea typeface="黑体" panose="02010609060101010101" pitchFamily="49" charset="-122"/>
              </a:rPr>
              <a:t>B</a:t>
            </a:r>
            <a:r>
              <a:rPr lang="zh-CN" altLang="en-US" i="0" dirty="0">
                <a:solidFill>
                  <a:schemeClr val="tx1"/>
                </a:solidFill>
                <a:latin typeface="+mj-lt"/>
                <a:ea typeface="黑体" panose="02010609060101010101" pitchFamily="49" charset="-122"/>
              </a:rPr>
              <a:t>点，其速度分布如图。此时系统动能为</a:t>
            </a:r>
          </a:p>
        </p:txBody>
      </p:sp>
      <p:graphicFrame>
        <p:nvGraphicFramePr>
          <p:cNvPr id="178" name="Object 75"/>
          <p:cNvGraphicFramePr>
            <a:graphicFrameLocks noChangeAspect="1"/>
          </p:cNvGraphicFramePr>
          <p:nvPr>
            <p:extLst>
              <p:ext uri="{D42A27DB-BD31-4B8C-83A1-F6EECF244321}">
                <p14:modId xmlns:p14="http://schemas.microsoft.com/office/powerpoint/2010/main" val="635627125"/>
              </p:ext>
            </p:extLst>
          </p:nvPr>
        </p:nvGraphicFramePr>
        <p:xfrm>
          <a:off x="874713" y="4030663"/>
          <a:ext cx="4135437" cy="820737"/>
        </p:xfrm>
        <a:graphic>
          <a:graphicData uri="http://schemas.openxmlformats.org/presentationml/2006/ole">
            <mc:AlternateContent xmlns:mc="http://schemas.openxmlformats.org/markup-compatibility/2006">
              <mc:Choice xmlns:v="urn:schemas-microsoft-com:vml" Requires="v">
                <p:oleObj spid="_x0000_s33807" name="Equation" r:id="rId4" imgW="1968480" imgH="393480" progId="Equation.DSMT4">
                  <p:embed/>
                </p:oleObj>
              </mc:Choice>
              <mc:Fallback>
                <p:oleObj name="Equation" r:id="rId4" imgW="1968480" imgH="393480" progId="Equation.DSMT4">
                  <p:embed/>
                  <p:pic>
                    <p:nvPicPr>
                      <p:cNvPr id="0" name=""/>
                      <p:cNvPicPr>
                        <a:picLocks noChangeAspect="1" noChangeArrowheads="1"/>
                      </p:cNvPicPr>
                      <p:nvPr/>
                    </p:nvPicPr>
                    <p:blipFill>
                      <a:blip r:embed="rId5"/>
                      <a:srcRect/>
                      <a:stretch>
                        <a:fillRect/>
                      </a:stretch>
                    </p:blipFill>
                    <p:spPr bwMode="auto">
                      <a:xfrm>
                        <a:off x="874713" y="4030663"/>
                        <a:ext cx="4135437" cy="8207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矩形 1"/>
          <p:cNvSpPr/>
          <p:nvPr/>
        </p:nvSpPr>
        <p:spPr>
          <a:xfrm>
            <a:off x="404135" y="4997156"/>
            <a:ext cx="6155423" cy="1052596"/>
          </a:xfrm>
          <a:prstGeom prst="rect">
            <a:avLst/>
          </a:prstGeom>
        </p:spPr>
        <p:txBody>
          <a:bodyPr wrap="square">
            <a:spAutoFit/>
          </a:bodyPr>
          <a:lstStyle/>
          <a:p>
            <a:pPr>
              <a:lnSpc>
                <a:spcPct val="130000"/>
              </a:lnSpc>
            </a:pPr>
            <a:r>
              <a:rPr lang="zh-CN" altLang="en-US" i="0" dirty="0">
                <a:solidFill>
                  <a:schemeClr val="tx1"/>
                </a:solidFill>
                <a:latin typeface="黑体" panose="02010609060101010101" pitchFamily="49" charset="-122"/>
                <a:ea typeface="黑体" panose="02010609060101010101" pitchFamily="49" charset="-122"/>
              </a:rPr>
              <a:t>式中 </a:t>
            </a:r>
            <a:r>
              <a:rPr lang="en-US" altLang="zh-CN" b="0" dirty="0">
                <a:solidFill>
                  <a:schemeClr val="tx1"/>
                </a:solidFill>
                <a:latin typeface="+mj-lt"/>
              </a:rPr>
              <a:t>J</a:t>
            </a:r>
            <a:r>
              <a:rPr lang="en-US" altLang="zh-CN" b="0" baseline="-25000" dirty="0">
                <a:solidFill>
                  <a:schemeClr val="tx1"/>
                </a:solidFill>
                <a:latin typeface="+mj-lt"/>
              </a:rPr>
              <a:t>O</a:t>
            </a:r>
            <a:r>
              <a:rPr lang="zh-CN" altLang="en-US" b="0" i="0" dirty="0">
                <a:solidFill>
                  <a:schemeClr val="tx1"/>
                </a:solidFill>
                <a:latin typeface="+mj-lt"/>
              </a:rPr>
              <a:t>＝</a:t>
            </a:r>
            <a:r>
              <a:rPr lang="en-US" altLang="zh-CN" b="0" dirty="0">
                <a:solidFill>
                  <a:schemeClr val="tx1"/>
                </a:solidFill>
                <a:latin typeface="+mj-lt"/>
              </a:rPr>
              <a:t>m</a:t>
            </a:r>
            <a:r>
              <a:rPr lang="en-US" altLang="zh-CN" b="0" i="0" baseline="-25000" dirty="0">
                <a:solidFill>
                  <a:schemeClr val="tx1"/>
                </a:solidFill>
                <a:latin typeface="+mj-lt"/>
              </a:rPr>
              <a:t>1</a:t>
            </a:r>
            <a:r>
              <a:rPr lang="en-US" altLang="zh-CN" b="0" dirty="0">
                <a:solidFill>
                  <a:schemeClr val="tx1"/>
                </a:solidFill>
                <a:latin typeface="+mj-lt"/>
              </a:rPr>
              <a:t>r</a:t>
            </a:r>
            <a:r>
              <a:rPr lang="en-US" altLang="zh-CN" b="0" i="0" baseline="30000" dirty="0">
                <a:solidFill>
                  <a:schemeClr val="tx1"/>
                </a:solidFill>
                <a:latin typeface="+mj-lt"/>
              </a:rPr>
              <a:t>2</a:t>
            </a:r>
            <a:r>
              <a:rPr lang="en-US" altLang="zh-CN" b="0" i="0" dirty="0">
                <a:solidFill>
                  <a:schemeClr val="tx1"/>
                </a:solidFill>
                <a:latin typeface="+mj-lt"/>
              </a:rPr>
              <a:t>/3</a:t>
            </a:r>
            <a:r>
              <a:rPr lang="en-US" altLang="zh-CN" i="0" dirty="0">
                <a:solidFill>
                  <a:schemeClr val="tx1"/>
                </a:solidFill>
                <a:latin typeface="黑体" panose="02010609060101010101" pitchFamily="49" charset="-122"/>
                <a:ea typeface="黑体" panose="02010609060101010101" pitchFamily="49" charset="-122"/>
              </a:rPr>
              <a:t>;</a:t>
            </a:r>
            <a:r>
              <a:rPr lang="zh-CN" altLang="en-US" i="0" dirty="0">
                <a:solidFill>
                  <a:schemeClr val="tx1"/>
                </a:solidFill>
                <a:latin typeface="黑体" panose="02010609060101010101" pitchFamily="49" charset="-122"/>
                <a:ea typeface="黑体" panose="02010609060101010101" pitchFamily="49" charset="-122"/>
              </a:rPr>
              <a:t> </a:t>
            </a:r>
            <a:r>
              <a:rPr lang="en-US" altLang="zh-CN" b="0" dirty="0">
                <a:solidFill>
                  <a:schemeClr val="tx1"/>
                </a:solidFill>
                <a:latin typeface="+mj-lt"/>
              </a:rPr>
              <a:t>J</a:t>
            </a:r>
            <a:r>
              <a:rPr lang="en-US" altLang="zh-CN" b="0" baseline="-25000" dirty="0">
                <a:solidFill>
                  <a:schemeClr val="tx1"/>
                </a:solidFill>
                <a:latin typeface="+mj-lt"/>
              </a:rPr>
              <a:t>C</a:t>
            </a:r>
            <a:r>
              <a:rPr lang="zh-CN" altLang="en-US" b="0" i="0" dirty="0">
                <a:solidFill>
                  <a:schemeClr val="tx1"/>
                </a:solidFill>
                <a:latin typeface="+mj-lt"/>
              </a:rPr>
              <a:t>＝</a:t>
            </a:r>
            <a:r>
              <a:rPr lang="en-US" altLang="zh-CN" b="0" dirty="0">
                <a:solidFill>
                  <a:schemeClr val="tx1"/>
                </a:solidFill>
                <a:latin typeface="+mj-lt"/>
              </a:rPr>
              <a:t>m</a:t>
            </a:r>
            <a:r>
              <a:rPr lang="en-US" altLang="zh-CN" b="0" i="0" baseline="-25000" dirty="0">
                <a:solidFill>
                  <a:schemeClr val="tx1"/>
                </a:solidFill>
                <a:latin typeface="+mj-lt"/>
              </a:rPr>
              <a:t>2</a:t>
            </a:r>
            <a:r>
              <a:rPr lang="en-US" altLang="zh-CN" b="0" i="0" dirty="0">
                <a:solidFill>
                  <a:schemeClr val="tx1"/>
                </a:solidFill>
                <a:latin typeface="+mj-lt"/>
              </a:rPr>
              <a:t>(4</a:t>
            </a:r>
            <a:r>
              <a:rPr lang="en-US" altLang="zh-CN" b="0" dirty="0">
                <a:solidFill>
                  <a:schemeClr val="tx1"/>
                </a:solidFill>
                <a:latin typeface="+mj-lt"/>
              </a:rPr>
              <a:t>r</a:t>
            </a:r>
            <a:r>
              <a:rPr lang="en-US" altLang="zh-CN" b="0" i="0" dirty="0">
                <a:solidFill>
                  <a:schemeClr val="tx1"/>
                </a:solidFill>
                <a:latin typeface="+mj-lt"/>
              </a:rPr>
              <a:t>)</a:t>
            </a:r>
            <a:r>
              <a:rPr lang="en-US" altLang="zh-CN" b="0" i="0" baseline="30000" dirty="0">
                <a:solidFill>
                  <a:schemeClr val="tx1"/>
                </a:solidFill>
                <a:latin typeface="+mj-lt"/>
              </a:rPr>
              <a:t>2</a:t>
            </a:r>
            <a:r>
              <a:rPr lang="en-US" altLang="zh-CN" b="0" i="0" dirty="0">
                <a:solidFill>
                  <a:schemeClr val="tx1"/>
                </a:solidFill>
                <a:latin typeface="+mj-lt"/>
              </a:rPr>
              <a:t>/12</a:t>
            </a:r>
            <a:r>
              <a:rPr lang="zh-CN" altLang="en-US" b="0" dirty="0">
                <a:solidFill>
                  <a:schemeClr val="tx1"/>
                </a:solidFill>
                <a:latin typeface="+mj-lt"/>
              </a:rPr>
              <a:t>＝</a:t>
            </a:r>
            <a:r>
              <a:rPr lang="en-US" altLang="zh-CN" b="0" i="0" dirty="0">
                <a:solidFill>
                  <a:schemeClr val="tx1"/>
                </a:solidFill>
                <a:latin typeface="+mj-lt"/>
              </a:rPr>
              <a:t>4m</a:t>
            </a:r>
            <a:r>
              <a:rPr lang="en-US" altLang="zh-CN" b="0" i="0" baseline="-25000" dirty="0">
                <a:solidFill>
                  <a:schemeClr val="tx1"/>
                </a:solidFill>
                <a:latin typeface="+mj-lt"/>
              </a:rPr>
              <a:t>2</a:t>
            </a:r>
            <a:r>
              <a:rPr lang="en-US" altLang="zh-CN" b="0" dirty="0">
                <a:solidFill>
                  <a:schemeClr val="tx1"/>
                </a:solidFill>
                <a:latin typeface="+mj-lt"/>
              </a:rPr>
              <a:t>r</a:t>
            </a:r>
            <a:r>
              <a:rPr lang="en-US" altLang="zh-CN" b="0" i="0" baseline="30000" dirty="0">
                <a:solidFill>
                  <a:schemeClr val="tx1"/>
                </a:solidFill>
                <a:latin typeface="+mj-lt"/>
              </a:rPr>
              <a:t>2</a:t>
            </a:r>
            <a:r>
              <a:rPr lang="en-US" altLang="zh-CN" b="0" i="0" dirty="0">
                <a:solidFill>
                  <a:schemeClr val="tx1"/>
                </a:solidFill>
                <a:latin typeface="+mj-lt"/>
              </a:rPr>
              <a:t>/3</a:t>
            </a:r>
            <a:r>
              <a:rPr lang="en-US" altLang="zh-CN" b="0" dirty="0">
                <a:solidFill>
                  <a:schemeClr val="tx1"/>
                </a:solidFill>
                <a:latin typeface="+mj-lt"/>
              </a:rPr>
              <a:t> </a:t>
            </a:r>
          </a:p>
          <a:p>
            <a:pPr>
              <a:lnSpc>
                <a:spcPct val="130000"/>
              </a:lnSpc>
            </a:pPr>
            <a:r>
              <a:rPr lang="en-US" altLang="zh-CN" b="0" dirty="0">
                <a:solidFill>
                  <a:schemeClr val="tx1"/>
                </a:solidFill>
                <a:latin typeface="+mj-lt"/>
              </a:rPr>
              <a:t>         </a:t>
            </a:r>
            <a:r>
              <a:rPr lang="en-US" altLang="zh-CN" b="0" dirty="0" err="1">
                <a:solidFill>
                  <a:schemeClr val="tx1"/>
                </a:solidFill>
                <a:latin typeface="+mj-lt"/>
              </a:rPr>
              <a:t>v</a:t>
            </a:r>
            <a:r>
              <a:rPr lang="en-US" altLang="zh-CN" b="0" baseline="-25000" dirty="0" err="1">
                <a:solidFill>
                  <a:schemeClr val="tx1"/>
                </a:solidFill>
                <a:latin typeface="+mj-lt"/>
              </a:rPr>
              <a:t>C</a:t>
            </a:r>
            <a:r>
              <a:rPr lang="en-US" altLang="zh-CN" b="0" dirty="0">
                <a:solidFill>
                  <a:schemeClr val="tx1"/>
                </a:solidFill>
                <a:latin typeface="+mj-lt"/>
              </a:rPr>
              <a:t>=</a:t>
            </a:r>
            <a:r>
              <a:rPr lang="en-US" altLang="zh-CN" b="0" dirty="0" err="1">
                <a:solidFill>
                  <a:schemeClr val="tx1"/>
                </a:solidFill>
                <a:latin typeface="+mj-lt"/>
              </a:rPr>
              <a:t>v</a:t>
            </a:r>
            <a:r>
              <a:rPr lang="en-US" altLang="zh-CN" b="0" baseline="-25000" dirty="0" err="1">
                <a:solidFill>
                  <a:schemeClr val="tx1"/>
                </a:solidFill>
                <a:latin typeface="+mj-lt"/>
              </a:rPr>
              <a:t>A</a:t>
            </a:r>
            <a:r>
              <a:rPr lang="en-US" altLang="zh-CN" b="0" i="0" dirty="0">
                <a:solidFill>
                  <a:schemeClr val="tx1"/>
                </a:solidFill>
                <a:latin typeface="+mj-lt"/>
              </a:rPr>
              <a:t>/2</a:t>
            </a:r>
            <a:r>
              <a:rPr lang="en-US" altLang="zh-CN" b="0" dirty="0">
                <a:solidFill>
                  <a:schemeClr val="tx1"/>
                </a:solidFill>
                <a:latin typeface="+mj-lt"/>
              </a:rPr>
              <a:t>=r</a:t>
            </a:r>
            <a:r>
              <a:rPr lang="en-US" altLang="zh-CN" b="0" dirty="0">
                <a:solidFill>
                  <a:schemeClr val="tx1"/>
                </a:solidFill>
                <a:latin typeface="+mj-lt"/>
                <a:sym typeface="Symbol" panose="05050102010706020507" pitchFamily="18" charset="2"/>
              </a:rPr>
              <a:t></a:t>
            </a:r>
            <a:r>
              <a:rPr lang="en-US" altLang="zh-CN" b="0" i="0" baseline="-25000" dirty="0">
                <a:solidFill>
                  <a:schemeClr val="tx1"/>
                </a:solidFill>
                <a:latin typeface="+mj-lt"/>
              </a:rPr>
              <a:t>1</a:t>
            </a:r>
            <a:r>
              <a:rPr lang="en-US" altLang="zh-CN" b="0" i="0" dirty="0">
                <a:solidFill>
                  <a:schemeClr val="tx1"/>
                </a:solidFill>
                <a:latin typeface="+mj-lt"/>
                <a:sym typeface="Symbol" panose="05050102010706020507" pitchFamily="18" charset="2"/>
              </a:rPr>
              <a:t>/2</a:t>
            </a:r>
            <a:r>
              <a:rPr lang="en-US" altLang="zh-CN" i="0" dirty="0">
                <a:solidFill>
                  <a:schemeClr val="tx1"/>
                </a:solidFill>
                <a:latin typeface="黑体" panose="02010609060101010101" pitchFamily="49" charset="-122"/>
                <a:ea typeface="黑体" panose="02010609060101010101" pitchFamily="49" charset="-122"/>
              </a:rPr>
              <a:t>;</a:t>
            </a:r>
            <a:r>
              <a:rPr lang="zh-CN" altLang="en-US" b="0" dirty="0">
                <a:solidFill>
                  <a:schemeClr val="tx1"/>
                </a:solidFill>
                <a:latin typeface="+mj-lt"/>
                <a:sym typeface="Symbol" panose="05050102010706020507" pitchFamily="18" charset="2"/>
              </a:rPr>
              <a:t></a:t>
            </a:r>
            <a:r>
              <a:rPr lang="en-US" altLang="zh-CN" b="0" i="0" baseline="-25000" dirty="0">
                <a:solidFill>
                  <a:schemeClr val="tx1"/>
                </a:solidFill>
                <a:latin typeface="+mj-lt"/>
              </a:rPr>
              <a:t>2</a:t>
            </a:r>
            <a:r>
              <a:rPr lang="en-US" altLang="zh-CN" b="0" dirty="0">
                <a:solidFill>
                  <a:schemeClr val="tx1"/>
                </a:solidFill>
                <a:latin typeface="+mj-lt"/>
              </a:rPr>
              <a:t>=</a:t>
            </a:r>
            <a:r>
              <a:rPr lang="en-US" altLang="zh-CN" b="0" dirty="0" err="1">
                <a:solidFill>
                  <a:schemeClr val="tx1"/>
                </a:solidFill>
                <a:latin typeface="+mj-lt"/>
              </a:rPr>
              <a:t>v</a:t>
            </a:r>
            <a:r>
              <a:rPr lang="en-US" altLang="zh-CN" b="0" baseline="-25000" dirty="0" err="1">
                <a:solidFill>
                  <a:schemeClr val="tx1"/>
                </a:solidFill>
                <a:latin typeface="+mj-lt"/>
              </a:rPr>
              <a:t>A</a:t>
            </a:r>
            <a:r>
              <a:rPr lang="en-US" altLang="zh-CN" b="0" i="0" dirty="0">
                <a:solidFill>
                  <a:schemeClr val="tx1"/>
                </a:solidFill>
                <a:latin typeface="+mj-lt"/>
              </a:rPr>
              <a:t>/(4</a:t>
            </a:r>
            <a:r>
              <a:rPr lang="en-US" altLang="zh-CN" b="0" dirty="0">
                <a:solidFill>
                  <a:schemeClr val="tx1"/>
                </a:solidFill>
                <a:latin typeface="+mj-lt"/>
              </a:rPr>
              <a:t>r</a:t>
            </a:r>
            <a:r>
              <a:rPr lang="en-US" altLang="zh-CN" b="0" i="0" dirty="0">
                <a:solidFill>
                  <a:schemeClr val="tx1"/>
                </a:solidFill>
                <a:latin typeface="+mj-lt"/>
              </a:rPr>
              <a:t>)=</a:t>
            </a:r>
            <a:r>
              <a:rPr lang="en-US" altLang="zh-CN" b="0" dirty="0">
                <a:solidFill>
                  <a:schemeClr val="tx1"/>
                </a:solidFill>
                <a:latin typeface="+mj-lt"/>
              </a:rPr>
              <a:t>r</a:t>
            </a:r>
            <a:r>
              <a:rPr lang="en-US" altLang="zh-CN" b="0" dirty="0">
                <a:solidFill>
                  <a:schemeClr val="tx1"/>
                </a:solidFill>
                <a:latin typeface="+mj-lt"/>
                <a:sym typeface="Symbol" panose="05050102010706020507" pitchFamily="18" charset="2"/>
              </a:rPr>
              <a:t></a:t>
            </a:r>
            <a:r>
              <a:rPr lang="en-US" altLang="zh-CN" b="0" i="0" baseline="-25000" dirty="0">
                <a:solidFill>
                  <a:schemeClr val="tx1"/>
                </a:solidFill>
                <a:latin typeface="+mj-lt"/>
              </a:rPr>
              <a:t>1</a:t>
            </a:r>
            <a:r>
              <a:rPr lang="en-US" altLang="zh-CN" b="0" i="0" dirty="0">
                <a:solidFill>
                  <a:schemeClr val="tx1"/>
                </a:solidFill>
                <a:latin typeface="+mj-lt"/>
              </a:rPr>
              <a:t>/(4</a:t>
            </a:r>
            <a:r>
              <a:rPr lang="en-US" altLang="zh-CN" b="0" dirty="0">
                <a:solidFill>
                  <a:schemeClr val="tx1"/>
                </a:solidFill>
                <a:latin typeface="+mj-lt"/>
              </a:rPr>
              <a:t>r</a:t>
            </a:r>
            <a:r>
              <a:rPr lang="en-US" altLang="zh-CN" b="0" i="0" dirty="0">
                <a:solidFill>
                  <a:schemeClr val="tx1"/>
                </a:solidFill>
                <a:latin typeface="+mj-lt"/>
              </a:rPr>
              <a:t>)=</a:t>
            </a:r>
            <a:r>
              <a:rPr lang="en-US" altLang="zh-CN" b="0" dirty="0">
                <a:solidFill>
                  <a:schemeClr val="tx1"/>
                </a:solidFill>
                <a:latin typeface="+mj-lt"/>
                <a:sym typeface="Symbol" panose="05050102010706020507" pitchFamily="18" charset="2"/>
              </a:rPr>
              <a:t></a:t>
            </a:r>
            <a:r>
              <a:rPr lang="en-US" altLang="zh-CN" b="0" i="0" baseline="-25000" dirty="0">
                <a:solidFill>
                  <a:schemeClr val="tx1"/>
                </a:solidFill>
                <a:latin typeface="+mj-lt"/>
              </a:rPr>
              <a:t>1</a:t>
            </a:r>
            <a:r>
              <a:rPr lang="en-US" altLang="zh-CN" b="0" i="0" dirty="0">
                <a:solidFill>
                  <a:schemeClr val="tx1"/>
                </a:solidFill>
                <a:latin typeface="+mj-lt"/>
              </a:rPr>
              <a:t>/4</a:t>
            </a:r>
          </a:p>
        </p:txBody>
      </p:sp>
    </p:spTree>
    <p:extLst>
      <p:ext uri="{BB962C8B-B14F-4D97-AF65-F5344CB8AC3E}">
        <p14:creationId xmlns:p14="http://schemas.microsoft.com/office/powerpoint/2010/main" val="3089118015"/>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withEffect">
                                  <p:stCondLst>
                                    <p:cond delay="0"/>
                                  </p:stCondLst>
                                  <p:childTnLst>
                                    <p:set>
                                      <p:cBhvr>
                                        <p:cTn id="6" dur="1" fill="hold">
                                          <p:stCondLst>
                                            <p:cond delay="0"/>
                                          </p:stCondLst>
                                        </p:cTn>
                                        <p:tgtEl>
                                          <p:spTgt spid="89"/>
                                        </p:tgtEl>
                                        <p:attrNameLst>
                                          <p:attrName>style.visibility</p:attrName>
                                        </p:attrNameLst>
                                      </p:cBhvr>
                                      <p:to>
                                        <p:strVal val="visible"/>
                                      </p:to>
                                    </p:set>
                                    <p:animEffect transition="in" filter="slide(fromLeft)">
                                      <p:cBhvr>
                                        <p:cTn id="7" dur="5000"/>
                                        <p:tgtEl>
                                          <p:spTgt spid="89"/>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77"/>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22" presetClass="entr" presetSubtype="4" fill="hold" nodeType="clickEffect">
                                  <p:stCondLst>
                                    <p:cond delay="0"/>
                                  </p:stCondLst>
                                  <p:childTnLst>
                                    <p:set>
                                      <p:cBhvr>
                                        <p:cTn id="15" dur="1" fill="hold">
                                          <p:stCondLst>
                                            <p:cond delay="0"/>
                                          </p:stCondLst>
                                        </p:cTn>
                                        <p:tgtEl>
                                          <p:spTgt spid="171"/>
                                        </p:tgtEl>
                                        <p:attrNameLst>
                                          <p:attrName>style.visibility</p:attrName>
                                        </p:attrNameLst>
                                      </p:cBhvr>
                                      <p:to>
                                        <p:strVal val="visible"/>
                                      </p:to>
                                    </p:set>
                                    <p:animEffect transition="in" filter="wipe(down)">
                                      <p:cBhvr>
                                        <p:cTn id="16" dur="3000"/>
                                        <p:tgtEl>
                                          <p:spTgt spid="171"/>
                                        </p:tgtEl>
                                      </p:cBhvr>
                                    </p:animEffect>
                                  </p:childTnLst>
                                </p:cTn>
                              </p:par>
                              <p:par>
                                <p:cTn id="17" presetID="19" presetClass="entr" presetSubtype="10" fill="hold" grpId="0" nodeType="withEffect">
                                  <p:stCondLst>
                                    <p:cond delay="0"/>
                                  </p:stCondLst>
                                  <p:childTnLst>
                                    <p:set>
                                      <p:cBhvr>
                                        <p:cTn id="18" dur="1" fill="hold">
                                          <p:stCondLst>
                                            <p:cond delay="0"/>
                                          </p:stCondLst>
                                        </p:cTn>
                                        <p:tgtEl>
                                          <p:spTgt spid="88"/>
                                        </p:tgtEl>
                                        <p:attrNameLst>
                                          <p:attrName>style.visibility</p:attrName>
                                        </p:attrNameLst>
                                      </p:cBhvr>
                                      <p:to>
                                        <p:strVal val="visible"/>
                                      </p:to>
                                    </p:set>
                                    <p:anim calcmode="lin" valueType="num">
                                      <p:cBhvr>
                                        <p:cTn id="19" dur="5000" fill="hold"/>
                                        <p:tgtEl>
                                          <p:spTgt spid="88"/>
                                        </p:tgtEl>
                                        <p:attrNameLst>
                                          <p:attrName>ppt_w</p:attrName>
                                        </p:attrNameLst>
                                      </p:cBhvr>
                                      <p:tavLst>
                                        <p:tav tm="0" fmla="#ppt_w*sin(2.5*pi*$)">
                                          <p:val>
                                            <p:fltVal val="0"/>
                                          </p:val>
                                        </p:tav>
                                        <p:tav tm="100000">
                                          <p:val>
                                            <p:fltVal val="1"/>
                                          </p:val>
                                        </p:tav>
                                      </p:tavLst>
                                    </p:anim>
                                    <p:anim calcmode="lin" valueType="num">
                                      <p:cBhvr>
                                        <p:cTn id="20" dur="5000" fill="hold"/>
                                        <p:tgtEl>
                                          <p:spTgt spid="88"/>
                                        </p:tgtEl>
                                        <p:attrNameLst>
                                          <p:attrName>ppt_h</p:attrName>
                                        </p:attrNameLst>
                                      </p:cBhvr>
                                      <p:tavLst>
                                        <p:tav tm="0">
                                          <p:val>
                                            <p:strVal val="#ppt_h"/>
                                          </p:val>
                                        </p:tav>
                                        <p:tav tm="100000">
                                          <p:val>
                                            <p:strVal val="#ppt_h"/>
                                          </p:val>
                                        </p:tav>
                                      </p:tavLst>
                                    </p:anim>
                                  </p:childTnLst>
                                </p:cTn>
                              </p:par>
                            </p:childTnLst>
                          </p:cTn>
                        </p:par>
                        <p:par>
                          <p:cTn id="21" fill="hold">
                            <p:stCondLst>
                              <p:cond delay="5000"/>
                            </p:stCondLst>
                            <p:childTnLst>
                              <p:par>
                                <p:cTn id="22" presetID="8" presetClass="emph" presetSubtype="0" fill="hold" nodeType="afterEffect">
                                  <p:stCondLst>
                                    <p:cond delay="0"/>
                                  </p:stCondLst>
                                  <p:childTnLst>
                                    <p:animRot by="-21600000">
                                      <p:cBhvr>
                                        <p:cTn id="23" dur="3000" fill="hold"/>
                                        <p:tgtEl>
                                          <p:spTgt spid="171"/>
                                        </p:tgtEl>
                                        <p:attrNameLst>
                                          <p:attrName>r</p:attrName>
                                        </p:attrNameLst>
                                      </p:cBhvr>
                                    </p:animRot>
                                  </p:childTnLst>
                                </p:cTn>
                              </p:par>
                              <p:par>
                                <p:cTn id="24" presetID="12" presetClass="entr" presetSubtype="4" fill="hold" grpId="0" nodeType="withEffect">
                                  <p:stCondLst>
                                    <p:cond delay="0"/>
                                  </p:stCondLst>
                                  <p:childTnLst>
                                    <p:set>
                                      <p:cBhvr>
                                        <p:cTn id="25" dur="1" fill="hold">
                                          <p:stCondLst>
                                            <p:cond delay="0"/>
                                          </p:stCondLst>
                                        </p:cTn>
                                        <p:tgtEl>
                                          <p:spTgt spid="57"/>
                                        </p:tgtEl>
                                        <p:attrNameLst>
                                          <p:attrName>style.visibility</p:attrName>
                                        </p:attrNameLst>
                                      </p:cBhvr>
                                      <p:to>
                                        <p:strVal val="visible"/>
                                      </p:to>
                                    </p:set>
                                    <p:animEffect transition="in" filter="slide(fromBottom)">
                                      <p:cBhvr>
                                        <p:cTn id="26" dur="3000"/>
                                        <p:tgtEl>
                                          <p:spTgt spid="57"/>
                                        </p:tgtEl>
                                      </p:cBhvr>
                                    </p:animEffect>
                                  </p:childTnLst>
                                </p:cTn>
                              </p:par>
                              <p:par>
                                <p:cTn id="27" presetID="12" presetClass="entr" presetSubtype="4" fill="hold" grpId="0" nodeType="withEffect">
                                  <p:stCondLst>
                                    <p:cond delay="0"/>
                                  </p:stCondLst>
                                  <p:childTnLst>
                                    <p:set>
                                      <p:cBhvr>
                                        <p:cTn id="28" dur="1" fill="hold">
                                          <p:stCondLst>
                                            <p:cond delay="0"/>
                                          </p:stCondLst>
                                        </p:cTn>
                                        <p:tgtEl>
                                          <p:spTgt spid="174"/>
                                        </p:tgtEl>
                                        <p:attrNameLst>
                                          <p:attrName>style.visibility</p:attrName>
                                        </p:attrNameLst>
                                      </p:cBhvr>
                                      <p:to>
                                        <p:strVal val="visible"/>
                                      </p:to>
                                    </p:set>
                                    <p:animEffect transition="in" filter="slide(fromBottom)">
                                      <p:cBhvr>
                                        <p:cTn id="29" dur="3000"/>
                                        <p:tgtEl>
                                          <p:spTgt spid="174"/>
                                        </p:tgtEl>
                                      </p:cBhvr>
                                    </p:animEffect>
                                  </p:childTnLst>
                                </p:cTn>
                              </p:par>
                              <p:par>
                                <p:cTn id="30" presetID="19" presetClass="entr" presetSubtype="10" fill="hold" grpId="0" nodeType="withEffect">
                                  <p:stCondLst>
                                    <p:cond delay="0"/>
                                  </p:stCondLst>
                                  <p:childTnLst>
                                    <p:set>
                                      <p:cBhvr>
                                        <p:cTn id="31" dur="1" fill="hold">
                                          <p:stCondLst>
                                            <p:cond delay="0"/>
                                          </p:stCondLst>
                                        </p:cTn>
                                        <p:tgtEl>
                                          <p:spTgt spid="176"/>
                                        </p:tgtEl>
                                        <p:attrNameLst>
                                          <p:attrName>style.visibility</p:attrName>
                                        </p:attrNameLst>
                                      </p:cBhvr>
                                      <p:to>
                                        <p:strVal val="visible"/>
                                      </p:to>
                                    </p:set>
                                    <p:anim calcmode="lin" valueType="num">
                                      <p:cBhvr>
                                        <p:cTn id="32" dur="5000" fill="hold"/>
                                        <p:tgtEl>
                                          <p:spTgt spid="176"/>
                                        </p:tgtEl>
                                        <p:attrNameLst>
                                          <p:attrName>ppt_w</p:attrName>
                                        </p:attrNameLst>
                                      </p:cBhvr>
                                      <p:tavLst>
                                        <p:tav tm="0" fmla="#ppt_w*sin(2.5*pi*$)">
                                          <p:val>
                                            <p:fltVal val="0"/>
                                          </p:val>
                                        </p:tav>
                                        <p:tav tm="100000">
                                          <p:val>
                                            <p:fltVal val="1"/>
                                          </p:val>
                                        </p:tav>
                                      </p:tavLst>
                                    </p:anim>
                                    <p:anim calcmode="lin" valueType="num">
                                      <p:cBhvr>
                                        <p:cTn id="33" dur="5000" fill="hold"/>
                                        <p:tgtEl>
                                          <p:spTgt spid="176"/>
                                        </p:tgtEl>
                                        <p:attrNameLst>
                                          <p:attrName>ppt_h</p:attrName>
                                        </p:attrNameLst>
                                      </p:cBhvr>
                                      <p:tavLst>
                                        <p:tav tm="0">
                                          <p:val>
                                            <p:strVal val="#ppt_h"/>
                                          </p:val>
                                        </p:tav>
                                        <p:tav tm="100000">
                                          <p:val>
                                            <p:strVal val="#ppt_h"/>
                                          </p:val>
                                        </p:tav>
                                      </p:tavLst>
                                    </p:anim>
                                  </p:childTnLst>
                                </p:cTn>
                              </p:par>
                              <p:par>
                                <p:cTn id="34" presetID="19" presetClass="entr" presetSubtype="10" fill="hold" grpId="0" nodeType="withEffect">
                                  <p:stCondLst>
                                    <p:cond delay="0"/>
                                  </p:stCondLst>
                                  <p:childTnLst>
                                    <p:set>
                                      <p:cBhvr>
                                        <p:cTn id="35" dur="1" fill="hold">
                                          <p:stCondLst>
                                            <p:cond delay="0"/>
                                          </p:stCondLst>
                                        </p:cTn>
                                        <p:tgtEl>
                                          <p:spTgt spid="56"/>
                                        </p:tgtEl>
                                        <p:attrNameLst>
                                          <p:attrName>style.visibility</p:attrName>
                                        </p:attrNameLst>
                                      </p:cBhvr>
                                      <p:to>
                                        <p:strVal val="visible"/>
                                      </p:to>
                                    </p:set>
                                    <p:anim calcmode="lin" valueType="num">
                                      <p:cBhvr>
                                        <p:cTn id="36" dur="5000" fill="hold"/>
                                        <p:tgtEl>
                                          <p:spTgt spid="56"/>
                                        </p:tgtEl>
                                        <p:attrNameLst>
                                          <p:attrName>ppt_w</p:attrName>
                                        </p:attrNameLst>
                                      </p:cBhvr>
                                      <p:tavLst>
                                        <p:tav tm="0" fmla="#ppt_w*sin(2.5*pi*$)">
                                          <p:val>
                                            <p:fltVal val="0"/>
                                          </p:val>
                                        </p:tav>
                                        <p:tav tm="100000">
                                          <p:val>
                                            <p:fltVal val="1"/>
                                          </p:val>
                                        </p:tav>
                                      </p:tavLst>
                                    </p:anim>
                                    <p:anim calcmode="lin" valueType="num">
                                      <p:cBhvr>
                                        <p:cTn id="37" dur="5000" fill="hold"/>
                                        <p:tgtEl>
                                          <p:spTgt spid="56"/>
                                        </p:tgtEl>
                                        <p:attrNameLst>
                                          <p:attrName>ppt_h</p:attrName>
                                        </p:attrNameLst>
                                      </p:cBhvr>
                                      <p:tavLst>
                                        <p:tav tm="0">
                                          <p:val>
                                            <p:strVal val="#ppt_h"/>
                                          </p:val>
                                        </p:tav>
                                        <p:tav tm="100000">
                                          <p:val>
                                            <p:strVal val="#ppt_h"/>
                                          </p:val>
                                        </p:tav>
                                      </p:tavLst>
                                    </p:anim>
                                  </p:childTnLst>
                                </p:cTn>
                              </p:par>
                            </p:childTnLst>
                          </p:cTn>
                        </p:par>
                        <p:par>
                          <p:cTn id="38" fill="hold">
                            <p:stCondLst>
                              <p:cond delay="10000"/>
                            </p:stCondLst>
                            <p:childTnLst>
                              <p:par>
                                <p:cTn id="39" presetID="18" presetClass="entr" presetSubtype="9" fill="hold" grpId="0" nodeType="afterEffect">
                                  <p:stCondLst>
                                    <p:cond delay="0"/>
                                  </p:stCondLst>
                                  <p:childTnLst>
                                    <p:set>
                                      <p:cBhvr>
                                        <p:cTn id="40" dur="1" fill="hold">
                                          <p:stCondLst>
                                            <p:cond delay="0"/>
                                          </p:stCondLst>
                                        </p:cTn>
                                        <p:tgtEl>
                                          <p:spTgt spid="175"/>
                                        </p:tgtEl>
                                        <p:attrNameLst>
                                          <p:attrName>style.visibility</p:attrName>
                                        </p:attrNameLst>
                                      </p:cBhvr>
                                      <p:to>
                                        <p:strVal val="visible"/>
                                      </p:to>
                                    </p:set>
                                    <p:animEffect transition="in" filter="strips(upLeft)">
                                      <p:cBhvr>
                                        <p:cTn id="41" dur="3000"/>
                                        <p:tgtEl>
                                          <p:spTgt spid="175"/>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nodeType="clickEffect">
                                  <p:stCondLst>
                                    <p:cond delay="0"/>
                                  </p:stCondLst>
                                  <p:childTnLst>
                                    <p:set>
                                      <p:cBhvr>
                                        <p:cTn id="45" dur="1" fill="hold">
                                          <p:stCondLst>
                                            <p:cond delay="0"/>
                                          </p:stCondLst>
                                        </p:cTn>
                                        <p:tgtEl>
                                          <p:spTgt spid="178"/>
                                        </p:tgtEl>
                                        <p:attrNameLst>
                                          <p:attrName>style.visibility</p:attrName>
                                        </p:attrNameLst>
                                      </p:cBhvr>
                                      <p:to>
                                        <p:strVal val="visible"/>
                                      </p:to>
                                    </p:set>
                                    <p:animEffect transition="in" filter="wipe(left)">
                                      <p:cBhvr>
                                        <p:cTn id="46" dur="3000"/>
                                        <p:tgtEl>
                                          <p:spTgt spid="178"/>
                                        </p:tgtEl>
                                      </p:cBhvr>
                                    </p:animEffec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p:bldP spid="57" grpId="0" animBg="1"/>
      <p:bldP spid="88" grpId="0"/>
      <p:bldP spid="174" grpId="0" animBg="1"/>
      <p:bldP spid="175" grpId="0" animBg="1"/>
      <p:bldP spid="176" grpId="0"/>
      <p:bldP spid="177" grpId="0"/>
      <p:bldP spid="2"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4653838"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第七章   动力学普遍定理</a:t>
            </a:r>
          </a:p>
        </p:txBody>
      </p:sp>
      <p:sp>
        <p:nvSpPr>
          <p:cNvPr id="9" name="Rectangle 61">
            <a:extLst>
              <a:ext uri="{FF2B5EF4-FFF2-40B4-BE49-F238E27FC236}">
                <a16:creationId xmlns:a16="http://schemas.microsoft.com/office/drawing/2014/main" id="{0C4CF67B-8CA2-F648-B364-D8C44A49A572}"/>
              </a:ext>
            </a:extLst>
          </p:cNvPr>
          <p:cNvSpPr>
            <a:spLocks noChangeArrowheads="1"/>
          </p:cNvSpPr>
          <p:nvPr/>
        </p:nvSpPr>
        <p:spPr bwMode="auto">
          <a:xfrm>
            <a:off x="6528048" y="1896716"/>
            <a:ext cx="5184576" cy="3378107"/>
          </a:xfrm>
          <a:prstGeom prst="rect">
            <a:avLst/>
          </a:prstGeom>
          <a:solidFill>
            <a:srgbClr val="B9CDE5"/>
          </a:solidFill>
          <a:ln>
            <a:noFill/>
          </a:ln>
          <a:effectLst/>
        </p:spPr>
        <p:txBody>
          <a:bodyPr wrap="none" anchor="ctr"/>
          <a:lstStyle/>
          <a:p>
            <a:endParaRPr lang="zh-CN" altLang="en-US"/>
          </a:p>
        </p:txBody>
      </p:sp>
      <p:sp>
        <p:nvSpPr>
          <p:cNvPr id="56" name="Text Box 3"/>
          <p:cNvSpPr txBox="1">
            <a:spLocks noChangeAspect="1" noChangeArrowheads="1"/>
          </p:cNvSpPr>
          <p:nvPr/>
        </p:nvSpPr>
        <p:spPr bwMode="auto">
          <a:xfrm>
            <a:off x="9272170" y="3595465"/>
            <a:ext cx="652462" cy="463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b="0" i="1" dirty="0" err="1">
                <a:latin typeface="+mn-lt"/>
              </a:rPr>
              <a:t>v</a:t>
            </a:r>
            <a:r>
              <a:rPr lang="en-US" altLang="zh-CN" b="0" i="1" baseline="-25000" dirty="0" err="1">
                <a:latin typeface="+mn-lt"/>
              </a:rPr>
              <a:t>C</a:t>
            </a:r>
            <a:endParaRPr lang="en-US" altLang="zh-CN" b="0" i="1" baseline="-25000" dirty="0">
              <a:latin typeface="+mn-lt"/>
            </a:endParaRPr>
          </a:p>
        </p:txBody>
      </p:sp>
      <p:sp>
        <p:nvSpPr>
          <p:cNvPr id="57" name="Line 4"/>
          <p:cNvSpPr>
            <a:spLocks noChangeShapeType="1"/>
          </p:cNvSpPr>
          <p:nvPr/>
        </p:nvSpPr>
        <p:spPr bwMode="auto">
          <a:xfrm flipV="1">
            <a:off x="9446795" y="4047902"/>
            <a:ext cx="0" cy="334963"/>
          </a:xfrm>
          <a:prstGeom prst="line">
            <a:avLst/>
          </a:prstGeom>
          <a:noFill/>
          <a:ln w="28575">
            <a:solidFill>
              <a:srgbClr val="CC0099"/>
            </a:solidFill>
            <a:round/>
            <a:headEnd type="none" w="sm"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nvGrpSpPr>
          <p:cNvPr id="58" name="Group 7"/>
          <p:cNvGrpSpPr>
            <a:grpSpLocks/>
          </p:cNvGrpSpPr>
          <p:nvPr/>
        </p:nvGrpSpPr>
        <p:grpSpPr bwMode="auto">
          <a:xfrm>
            <a:off x="6773445" y="2112740"/>
            <a:ext cx="4694237" cy="1697037"/>
            <a:chOff x="1352" y="1757"/>
            <a:chExt cx="2957" cy="1069"/>
          </a:xfrm>
        </p:grpSpPr>
        <p:sp>
          <p:nvSpPr>
            <p:cNvPr id="59" name="AutoShape 8"/>
            <p:cNvSpPr>
              <a:spLocks noChangeAspect="1" noChangeArrowheads="1"/>
            </p:cNvSpPr>
            <p:nvPr/>
          </p:nvSpPr>
          <p:spPr bwMode="auto">
            <a:xfrm>
              <a:off x="1520" y="2507"/>
              <a:ext cx="202" cy="196"/>
            </a:xfrm>
            <a:prstGeom prst="triangle">
              <a:avLst>
                <a:gd name="adj" fmla="val 50000"/>
              </a:avLst>
            </a:prstGeom>
            <a:solidFill>
              <a:srgbClr val="66FF33"/>
            </a:solidFill>
            <a:ln w="381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0" name="Rectangle 9" descr="宽上对角线"/>
            <p:cNvSpPr>
              <a:spLocks noChangeAspect="1" noChangeArrowheads="1"/>
            </p:cNvSpPr>
            <p:nvPr/>
          </p:nvSpPr>
          <p:spPr bwMode="auto">
            <a:xfrm>
              <a:off x="1450" y="2691"/>
              <a:ext cx="342" cy="96"/>
            </a:xfrm>
            <a:prstGeom prst="rect">
              <a:avLst/>
            </a:prstGeom>
            <a:pattFill prst="wdUpDiag">
              <a:fgClr>
                <a:srgbClr val="000000"/>
              </a:fgClr>
              <a:bgClr>
                <a:srgbClr val="FFFFCC"/>
              </a:bgClr>
            </a:patt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1" name="Line 10"/>
            <p:cNvSpPr>
              <a:spLocks noChangeAspect="1" noChangeShapeType="1"/>
            </p:cNvSpPr>
            <p:nvPr/>
          </p:nvSpPr>
          <p:spPr bwMode="auto">
            <a:xfrm>
              <a:off x="1449" y="2683"/>
              <a:ext cx="344" cy="1"/>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2" name="Freeform 11" descr="宽上对角线"/>
            <p:cNvSpPr>
              <a:spLocks/>
            </p:cNvSpPr>
            <p:nvPr/>
          </p:nvSpPr>
          <p:spPr bwMode="auto">
            <a:xfrm rot="5400000">
              <a:off x="3376" y="2155"/>
              <a:ext cx="600" cy="741"/>
            </a:xfrm>
            <a:custGeom>
              <a:avLst/>
              <a:gdLst>
                <a:gd name="T0" fmla="*/ 6 w 600"/>
                <a:gd name="T1" fmla="*/ 741 h 741"/>
                <a:gd name="T2" fmla="*/ 123 w 600"/>
                <a:gd name="T3" fmla="*/ 741 h 741"/>
                <a:gd name="T4" fmla="*/ 123 w 600"/>
                <a:gd name="T5" fmla="*/ 90 h 741"/>
                <a:gd name="T6" fmla="*/ 480 w 600"/>
                <a:gd name="T7" fmla="*/ 90 h 741"/>
                <a:gd name="T8" fmla="*/ 480 w 600"/>
                <a:gd name="T9" fmla="*/ 738 h 741"/>
                <a:gd name="T10" fmla="*/ 600 w 600"/>
                <a:gd name="T11" fmla="*/ 738 h 741"/>
                <a:gd name="T12" fmla="*/ 600 w 600"/>
                <a:gd name="T13" fmla="*/ 0 h 741"/>
                <a:gd name="T14" fmla="*/ 0 w 600"/>
                <a:gd name="T15" fmla="*/ 0 h 741"/>
                <a:gd name="T16" fmla="*/ 6 w 600"/>
                <a:gd name="T17" fmla="*/ 741 h 7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00" h="741">
                  <a:moveTo>
                    <a:pt x="6" y="741"/>
                  </a:moveTo>
                  <a:lnTo>
                    <a:pt x="123" y="741"/>
                  </a:lnTo>
                  <a:lnTo>
                    <a:pt x="123" y="90"/>
                  </a:lnTo>
                  <a:lnTo>
                    <a:pt x="480" y="90"/>
                  </a:lnTo>
                  <a:lnTo>
                    <a:pt x="480" y="738"/>
                  </a:lnTo>
                  <a:lnTo>
                    <a:pt x="600" y="738"/>
                  </a:lnTo>
                  <a:lnTo>
                    <a:pt x="600" y="0"/>
                  </a:lnTo>
                  <a:lnTo>
                    <a:pt x="0" y="0"/>
                  </a:lnTo>
                  <a:lnTo>
                    <a:pt x="6" y="741"/>
                  </a:lnTo>
                  <a:close/>
                </a:path>
              </a:pathLst>
            </a:custGeom>
            <a:pattFill prst="wdUpDiag">
              <a:fgClr>
                <a:schemeClr val="tx2"/>
              </a:fgClr>
              <a:bgClr>
                <a:schemeClr val="bg1"/>
              </a:bgClr>
            </a:pattFill>
            <a:ln>
              <a:noFill/>
            </a:ln>
            <a:effectLst/>
            <a:extLst>
              <a:ext uri="{91240B29-F687-4F45-9708-019B960494DF}">
                <a14:hiddenLine xmlns:a14="http://schemas.microsoft.com/office/drawing/2010/main" w="9525" cap="flat" cmpd="sng">
                  <a:solidFill>
                    <a:srgbClr val="000000"/>
                  </a:solidFill>
                  <a:prstDash val="solid"/>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3" name="AutoShape 12"/>
            <p:cNvSpPr>
              <a:spLocks noChangeArrowheads="1"/>
            </p:cNvSpPr>
            <p:nvPr/>
          </p:nvSpPr>
          <p:spPr bwMode="auto">
            <a:xfrm rot="11760000">
              <a:off x="1739" y="2256"/>
              <a:ext cx="1908" cy="67"/>
            </a:xfrm>
            <a:prstGeom prst="roundRect">
              <a:avLst>
                <a:gd name="adj" fmla="val 50000"/>
              </a:avLst>
            </a:prstGeom>
            <a:gradFill rotWithShape="1">
              <a:gsLst>
                <a:gs pos="0">
                  <a:schemeClr val="accent1"/>
                </a:gs>
                <a:gs pos="50000">
                  <a:schemeClr val="accent1">
                    <a:gamma/>
                    <a:tint val="23529"/>
                    <a:invGamma/>
                  </a:schemeClr>
                </a:gs>
                <a:gs pos="100000">
                  <a:schemeClr val="accent1"/>
                </a:gs>
              </a:gsLst>
              <a:lin ang="5400000" scaled="1"/>
            </a:gra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65" name="Text Box 13"/>
            <p:cNvSpPr txBox="1">
              <a:spLocks noChangeAspect="1" noChangeArrowheads="1"/>
            </p:cNvSpPr>
            <p:nvPr/>
          </p:nvSpPr>
          <p:spPr bwMode="auto">
            <a:xfrm>
              <a:off x="1352" y="2427"/>
              <a:ext cx="336" cy="2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b="0" i="1" dirty="0">
                  <a:ea typeface="宋体" panose="02010600030101010101" pitchFamily="2" charset="-122"/>
                </a:rPr>
                <a:t>O</a:t>
              </a:r>
            </a:p>
          </p:txBody>
        </p:sp>
        <p:sp>
          <p:nvSpPr>
            <p:cNvPr id="66" name="Text Box 14"/>
            <p:cNvSpPr txBox="1">
              <a:spLocks noChangeAspect="1" noChangeArrowheads="1"/>
            </p:cNvSpPr>
            <p:nvPr/>
          </p:nvSpPr>
          <p:spPr bwMode="auto">
            <a:xfrm>
              <a:off x="1679" y="1757"/>
              <a:ext cx="256" cy="34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b="0" i="1" dirty="0">
                  <a:ea typeface="宋体" panose="02010600030101010101" pitchFamily="2" charset="-122"/>
                </a:rPr>
                <a:t>A</a:t>
              </a:r>
            </a:p>
          </p:txBody>
        </p:sp>
        <p:sp>
          <p:nvSpPr>
            <p:cNvPr id="67" name="Text Box 15"/>
            <p:cNvSpPr txBox="1">
              <a:spLocks noChangeAspect="1" noChangeArrowheads="1"/>
            </p:cNvSpPr>
            <p:nvPr/>
          </p:nvSpPr>
          <p:spPr bwMode="auto">
            <a:xfrm>
              <a:off x="3736" y="2374"/>
              <a:ext cx="261" cy="2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b="0" i="1" dirty="0">
                  <a:ea typeface="宋体" panose="02010600030101010101" pitchFamily="2" charset="-122"/>
                </a:rPr>
                <a:t>B</a:t>
              </a:r>
            </a:p>
          </p:txBody>
        </p:sp>
        <p:grpSp>
          <p:nvGrpSpPr>
            <p:cNvPr id="68" name="Group 16"/>
            <p:cNvGrpSpPr>
              <a:grpSpLocks/>
            </p:cNvGrpSpPr>
            <p:nvPr/>
          </p:nvGrpSpPr>
          <p:grpSpPr bwMode="auto">
            <a:xfrm rot="5400000">
              <a:off x="3443" y="2231"/>
              <a:ext cx="310" cy="585"/>
              <a:chOff x="4427" y="1389"/>
              <a:chExt cx="310" cy="585"/>
            </a:xfrm>
          </p:grpSpPr>
          <p:sp>
            <p:nvSpPr>
              <p:cNvPr id="83" name="Rectangle 17"/>
              <p:cNvSpPr>
                <a:spLocks noChangeArrowheads="1"/>
              </p:cNvSpPr>
              <p:nvPr/>
            </p:nvSpPr>
            <p:spPr bwMode="auto">
              <a:xfrm>
                <a:off x="4446" y="1516"/>
                <a:ext cx="271" cy="348"/>
              </a:xfrm>
              <a:prstGeom prst="rect">
                <a:avLst/>
              </a:prstGeom>
              <a:gradFill rotWithShape="0">
                <a:gsLst>
                  <a:gs pos="0">
                    <a:srgbClr val="FFFFFF">
                      <a:gamma/>
                      <a:shade val="65490"/>
                      <a:invGamma/>
                    </a:srgbClr>
                  </a:gs>
                  <a:gs pos="50000">
                    <a:srgbClr val="FFFFFF"/>
                  </a:gs>
                  <a:gs pos="100000">
                    <a:srgbClr val="FFFFFF">
                      <a:gamma/>
                      <a:shade val="65490"/>
                      <a:invGamma/>
                    </a:srgbClr>
                  </a:gs>
                </a:gsLst>
                <a:lin ang="0" scaled="1"/>
              </a:gradFill>
              <a:ln w="38100" algn="ctr">
                <a:solidFill>
                  <a:srgbClr val="000000"/>
                </a:solidFill>
                <a:miter lim="800000"/>
                <a:headEnd/>
                <a:tailEnd/>
              </a:ln>
              <a:effectLst>
                <a:outerShdw dist="35921" dir="2700000" algn="ctr" rotWithShape="0">
                  <a:srgbClr val="808080"/>
                </a:outerShdw>
              </a:effectLst>
            </p:spPr>
            <p:txBody>
              <a:bodyPr/>
              <a:lstStyle/>
              <a:p>
                <a:endParaRPr lang="zh-CN" altLang="en-US"/>
              </a:p>
            </p:txBody>
          </p:sp>
          <p:sp>
            <p:nvSpPr>
              <p:cNvPr id="84" name="Oval 18"/>
              <p:cNvSpPr>
                <a:spLocks noChangeArrowheads="1"/>
              </p:cNvSpPr>
              <p:nvPr/>
            </p:nvSpPr>
            <p:spPr bwMode="auto">
              <a:xfrm>
                <a:off x="4557" y="1711"/>
                <a:ext cx="50" cy="50"/>
              </a:xfrm>
              <a:prstGeom prst="ellipse">
                <a:avLst/>
              </a:prstGeom>
              <a:solidFill>
                <a:srgbClr val="FF000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5" name="Rectangle 19"/>
              <p:cNvSpPr>
                <a:spLocks noChangeArrowheads="1"/>
              </p:cNvSpPr>
              <p:nvPr/>
            </p:nvSpPr>
            <p:spPr bwMode="auto">
              <a:xfrm>
                <a:off x="4427" y="1542"/>
                <a:ext cx="309" cy="27"/>
              </a:xfrm>
              <a:prstGeom prst="rect">
                <a:avLst/>
              </a:prstGeom>
              <a:gradFill rotWithShape="1">
                <a:gsLst>
                  <a:gs pos="0">
                    <a:schemeClr val="bg2">
                      <a:gamma/>
                      <a:shade val="46275"/>
                      <a:invGamma/>
                    </a:schemeClr>
                  </a:gs>
                  <a:gs pos="50000">
                    <a:schemeClr val="bg2"/>
                  </a:gs>
                  <a:gs pos="100000">
                    <a:schemeClr val="bg2">
                      <a:gamma/>
                      <a:shade val="46275"/>
                      <a:invGamma/>
                    </a:schemeClr>
                  </a:gs>
                </a:gsLst>
                <a:lin ang="0" scaled="1"/>
              </a:gradFill>
              <a:ln w="1905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6" name="Rectangle 20"/>
              <p:cNvSpPr>
                <a:spLocks noChangeArrowheads="1"/>
              </p:cNvSpPr>
              <p:nvPr/>
            </p:nvSpPr>
            <p:spPr bwMode="auto">
              <a:xfrm>
                <a:off x="4428" y="1585"/>
                <a:ext cx="309" cy="27"/>
              </a:xfrm>
              <a:prstGeom prst="rect">
                <a:avLst/>
              </a:prstGeom>
              <a:gradFill rotWithShape="1">
                <a:gsLst>
                  <a:gs pos="0">
                    <a:schemeClr val="bg2">
                      <a:gamma/>
                      <a:shade val="46275"/>
                      <a:invGamma/>
                    </a:schemeClr>
                  </a:gs>
                  <a:gs pos="50000">
                    <a:schemeClr val="bg2"/>
                  </a:gs>
                  <a:gs pos="100000">
                    <a:schemeClr val="bg2">
                      <a:gamma/>
                      <a:shade val="46275"/>
                      <a:invGamma/>
                    </a:schemeClr>
                  </a:gs>
                </a:gsLst>
                <a:lin ang="0" scaled="1"/>
              </a:gradFill>
              <a:ln w="1905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7" name="Line 21"/>
              <p:cNvSpPr>
                <a:spLocks noChangeShapeType="1"/>
              </p:cNvSpPr>
              <p:nvPr/>
            </p:nvSpPr>
            <p:spPr bwMode="auto">
              <a:xfrm>
                <a:off x="4582" y="1389"/>
                <a:ext cx="0" cy="585"/>
              </a:xfrm>
              <a:prstGeom prst="line">
                <a:avLst/>
              </a:prstGeom>
              <a:noFill/>
              <a:ln w="31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nvGrpSpPr>
            <p:cNvPr id="69" name="Group 22"/>
            <p:cNvGrpSpPr>
              <a:grpSpLocks/>
            </p:cNvGrpSpPr>
            <p:nvPr/>
          </p:nvGrpSpPr>
          <p:grpSpPr bwMode="auto">
            <a:xfrm rot="5400000">
              <a:off x="3332" y="2194"/>
              <a:ext cx="586" cy="668"/>
              <a:chOff x="4293" y="1381"/>
              <a:chExt cx="586" cy="536"/>
            </a:xfrm>
          </p:grpSpPr>
          <p:sp>
            <p:nvSpPr>
              <p:cNvPr id="78" name="Line 23"/>
              <p:cNvSpPr>
                <a:spLocks noChangeShapeType="1"/>
              </p:cNvSpPr>
              <p:nvPr/>
            </p:nvSpPr>
            <p:spPr bwMode="auto">
              <a:xfrm>
                <a:off x="4293" y="1908"/>
                <a:ext cx="105" cy="0"/>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9" name="Line 24"/>
              <p:cNvSpPr>
                <a:spLocks noChangeShapeType="1"/>
              </p:cNvSpPr>
              <p:nvPr/>
            </p:nvSpPr>
            <p:spPr bwMode="auto">
              <a:xfrm flipV="1">
                <a:off x="4407" y="1383"/>
                <a:ext cx="0" cy="534"/>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80" name="Line 25"/>
              <p:cNvSpPr>
                <a:spLocks noChangeShapeType="1"/>
              </p:cNvSpPr>
              <p:nvPr/>
            </p:nvSpPr>
            <p:spPr bwMode="auto">
              <a:xfrm>
                <a:off x="4753" y="1909"/>
                <a:ext cx="126" cy="0"/>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81" name="Line 26"/>
              <p:cNvSpPr>
                <a:spLocks noChangeShapeType="1"/>
              </p:cNvSpPr>
              <p:nvPr/>
            </p:nvSpPr>
            <p:spPr bwMode="auto">
              <a:xfrm flipV="1">
                <a:off x="4759" y="1381"/>
                <a:ext cx="0" cy="534"/>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82" name="Line 27"/>
              <p:cNvSpPr>
                <a:spLocks noChangeShapeType="1"/>
              </p:cNvSpPr>
              <p:nvPr/>
            </p:nvSpPr>
            <p:spPr bwMode="auto">
              <a:xfrm>
                <a:off x="4401" y="1386"/>
                <a:ext cx="363" cy="0"/>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70" name="AutoShape 28"/>
            <p:cNvSpPr>
              <a:spLocks noChangeArrowheads="1"/>
            </p:cNvSpPr>
            <p:nvPr/>
          </p:nvSpPr>
          <p:spPr bwMode="auto">
            <a:xfrm rot="6616997">
              <a:off x="1414" y="2235"/>
              <a:ext cx="603" cy="82"/>
            </a:xfrm>
            <a:prstGeom prst="roundRect">
              <a:avLst>
                <a:gd name="adj" fmla="val 50000"/>
              </a:avLst>
            </a:prstGeom>
            <a:gradFill rotWithShape="1">
              <a:gsLst>
                <a:gs pos="0">
                  <a:srgbClr val="FFFF00">
                    <a:gamma/>
                    <a:shade val="46275"/>
                    <a:invGamma/>
                  </a:srgbClr>
                </a:gs>
                <a:gs pos="50000">
                  <a:srgbClr val="FFFF00"/>
                </a:gs>
                <a:gs pos="100000">
                  <a:srgbClr val="FFFF00">
                    <a:gamma/>
                    <a:shade val="46275"/>
                    <a:invGamma/>
                  </a:srgbClr>
                </a:gs>
              </a:gsLst>
              <a:lin ang="5400000" scaled="1"/>
            </a:gra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1" name="Oval 29"/>
            <p:cNvSpPr>
              <a:spLocks noChangeAspect="1" noChangeArrowheads="1"/>
            </p:cNvSpPr>
            <p:nvPr/>
          </p:nvSpPr>
          <p:spPr bwMode="auto">
            <a:xfrm>
              <a:off x="1589" y="2499"/>
              <a:ext cx="64" cy="64"/>
            </a:xfrm>
            <a:prstGeom prst="ellipse">
              <a:avLst/>
            </a:prstGeom>
            <a:solidFill>
              <a:srgbClr val="FF0000"/>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2" name="Oval 30"/>
            <p:cNvSpPr>
              <a:spLocks noChangeAspect="1" noChangeArrowheads="1"/>
            </p:cNvSpPr>
            <p:nvPr/>
          </p:nvSpPr>
          <p:spPr bwMode="auto">
            <a:xfrm rot="5400000">
              <a:off x="1766" y="2002"/>
              <a:ext cx="64" cy="64"/>
            </a:xfrm>
            <a:prstGeom prst="ellipse">
              <a:avLst/>
            </a:prstGeom>
            <a:solidFill>
              <a:srgbClr val="FF0000"/>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3" name="Line 31"/>
            <p:cNvSpPr>
              <a:spLocks noChangeShapeType="1"/>
            </p:cNvSpPr>
            <p:nvPr/>
          </p:nvSpPr>
          <p:spPr bwMode="auto">
            <a:xfrm rot="16200000" flipH="1">
              <a:off x="2950" y="1172"/>
              <a:ext cx="0" cy="2719"/>
            </a:xfrm>
            <a:prstGeom prst="line">
              <a:avLst/>
            </a:prstGeom>
            <a:noFill/>
            <a:ln w="3175">
              <a:solidFill>
                <a:srgbClr val="000000"/>
              </a:solidFill>
              <a:prstDash val="lgDashDot"/>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4" name="Arc 32"/>
            <p:cNvSpPr>
              <a:spLocks noChangeAspect="1"/>
            </p:cNvSpPr>
            <p:nvPr/>
          </p:nvSpPr>
          <p:spPr bwMode="auto">
            <a:xfrm rot="3694406" flipH="1">
              <a:off x="1507" y="2321"/>
              <a:ext cx="237" cy="281"/>
            </a:xfrm>
            <a:custGeom>
              <a:avLst/>
              <a:gdLst>
                <a:gd name="G0" fmla="+- 0 0 0"/>
                <a:gd name="G1" fmla="+- 21600 0 0"/>
                <a:gd name="G2" fmla="+- 21600 0 0"/>
                <a:gd name="T0" fmla="*/ 0 w 21600"/>
                <a:gd name="T1" fmla="*/ 0 h 30906"/>
                <a:gd name="T2" fmla="*/ 19493 w 21600"/>
                <a:gd name="T3" fmla="*/ 30906 h 30906"/>
                <a:gd name="T4" fmla="*/ 0 w 21600"/>
                <a:gd name="T5" fmla="*/ 21600 h 30906"/>
              </a:gdLst>
              <a:ahLst/>
              <a:cxnLst>
                <a:cxn ang="0">
                  <a:pos x="T0" y="T1"/>
                </a:cxn>
                <a:cxn ang="0">
                  <a:pos x="T2" y="T3"/>
                </a:cxn>
                <a:cxn ang="0">
                  <a:pos x="T4" y="T5"/>
                </a:cxn>
              </a:cxnLst>
              <a:rect l="0" t="0" r="r" b="b"/>
              <a:pathLst>
                <a:path w="21600" h="30906" fill="none" extrusionOk="0">
                  <a:moveTo>
                    <a:pt x="0" y="0"/>
                  </a:moveTo>
                  <a:cubicBezTo>
                    <a:pt x="11929" y="0"/>
                    <a:pt x="21600" y="9670"/>
                    <a:pt x="21600" y="21600"/>
                  </a:cubicBezTo>
                  <a:cubicBezTo>
                    <a:pt x="21600" y="24820"/>
                    <a:pt x="20879" y="27999"/>
                    <a:pt x="19492" y="30905"/>
                  </a:cubicBezTo>
                </a:path>
                <a:path w="21600" h="30906" stroke="0" extrusionOk="0">
                  <a:moveTo>
                    <a:pt x="0" y="0"/>
                  </a:moveTo>
                  <a:cubicBezTo>
                    <a:pt x="11929" y="0"/>
                    <a:pt x="21600" y="9670"/>
                    <a:pt x="21600" y="21600"/>
                  </a:cubicBezTo>
                  <a:cubicBezTo>
                    <a:pt x="21600" y="24820"/>
                    <a:pt x="20879" y="27999"/>
                    <a:pt x="19492" y="30905"/>
                  </a:cubicBezTo>
                  <a:lnTo>
                    <a:pt x="0" y="21600"/>
                  </a:lnTo>
                  <a:close/>
                </a:path>
              </a:pathLst>
            </a:custGeom>
            <a:noFill/>
            <a:ln w="28575">
              <a:solidFill>
                <a:srgbClr val="FF0000"/>
              </a:solidFill>
              <a:round/>
              <a:headEnd type="none" w="sm" len="lg"/>
              <a:tailEnd type="stealth" w="med"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5" name="Text Box 33"/>
            <p:cNvSpPr txBox="1">
              <a:spLocks noChangeAspect="1" noChangeArrowheads="1"/>
            </p:cNvSpPr>
            <p:nvPr/>
          </p:nvSpPr>
          <p:spPr bwMode="auto">
            <a:xfrm>
              <a:off x="2660" y="2023"/>
              <a:ext cx="336" cy="2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b="0" i="1" dirty="0">
                  <a:ea typeface="宋体" panose="02010600030101010101" pitchFamily="2" charset="-122"/>
                </a:rPr>
                <a:t>C</a:t>
              </a:r>
            </a:p>
          </p:txBody>
        </p:sp>
        <p:sp>
          <p:nvSpPr>
            <p:cNvPr id="76" name="Oval 34"/>
            <p:cNvSpPr>
              <a:spLocks noChangeArrowheads="1"/>
            </p:cNvSpPr>
            <p:nvPr/>
          </p:nvSpPr>
          <p:spPr bwMode="auto">
            <a:xfrm>
              <a:off x="2674" y="2263"/>
              <a:ext cx="50" cy="50"/>
            </a:xfrm>
            <a:prstGeom prst="ellipse">
              <a:avLst/>
            </a:prstGeom>
            <a:solidFill>
              <a:srgbClr val="FF000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7" name="Text Box 35"/>
            <p:cNvSpPr txBox="1">
              <a:spLocks noChangeAspect="1" noChangeArrowheads="1"/>
            </p:cNvSpPr>
            <p:nvPr/>
          </p:nvSpPr>
          <p:spPr bwMode="auto">
            <a:xfrm>
              <a:off x="1363" y="2140"/>
              <a:ext cx="366" cy="2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b="0" i="1" dirty="0">
                  <a:ea typeface="宋体" panose="02010600030101010101" pitchFamily="2" charset="-122"/>
                </a:rPr>
                <a:t>T</a:t>
              </a:r>
              <a:endParaRPr lang="en-US" altLang="zh-CN" b="0" baseline="-25000" dirty="0">
                <a:ea typeface="宋体" panose="02010600030101010101" pitchFamily="2" charset="-122"/>
              </a:endParaRPr>
            </a:p>
          </p:txBody>
        </p:sp>
      </p:grpSp>
      <p:sp>
        <p:nvSpPr>
          <p:cNvPr id="88" name="Text Box 37"/>
          <p:cNvSpPr txBox="1">
            <a:spLocks noChangeAspect="1" noChangeArrowheads="1"/>
          </p:cNvSpPr>
          <p:nvPr/>
        </p:nvSpPr>
        <p:spPr bwMode="auto">
          <a:xfrm>
            <a:off x="7129045" y="3738340"/>
            <a:ext cx="581025" cy="425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b="0" i="1" dirty="0">
                <a:ea typeface="宋体" panose="02010600030101010101" pitchFamily="2" charset="-122"/>
                <a:sym typeface="Symbol" panose="05050102010706020507" pitchFamily="18" charset="2"/>
              </a:rPr>
              <a:t></a:t>
            </a:r>
            <a:r>
              <a:rPr lang="en-US" altLang="zh-CN" b="0" i="0" baseline="-25000" dirty="0">
                <a:ea typeface="宋体" panose="02010600030101010101" pitchFamily="2" charset="-122"/>
                <a:sym typeface="Symbol" panose="05050102010706020507" pitchFamily="18" charset="2"/>
              </a:rPr>
              <a:t>1</a:t>
            </a:r>
          </a:p>
        </p:txBody>
      </p:sp>
      <p:grpSp>
        <p:nvGrpSpPr>
          <p:cNvPr id="89" name="Group 38"/>
          <p:cNvGrpSpPr>
            <a:grpSpLocks/>
          </p:cNvGrpSpPr>
          <p:nvPr/>
        </p:nvGrpSpPr>
        <p:grpSpPr bwMode="auto">
          <a:xfrm>
            <a:off x="6708357" y="3779615"/>
            <a:ext cx="4995863" cy="1139825"/>
            <a:chOff x="1400" y="3218"/>
            <a:chExt cx="3147" cy="718"/>
          </a:xfrm>
        </p:grpSpPr>
        <p:grpSp>
          <p:nvGrpSpPr>
            <p:cNvPr id="90" name="Group 39"/>
            <p:cNvGrpSpPr>
              <a:grpSpLocks/>
            </p:cNvGrpSpPr>
            <p:nvPr/>
          </p:nvGrpSpPr>
          <p:grpSpPr bwMode="auto">
            <a:xfrm>
              <a:off x="2162" y="3596"/>
              <a:ext cx="1908" cy="67"/>
              <a:chOff x="2058" y="3369"/>
              <a:chExt cx="1908" cy="67"/>
            </a:xfrm>
          </p:grpSpPr>
          <p:sp>
            <p:nvSpPr>
              <p:cNvPr id="169" name="AutoShape 40"/>
              <p:cNvSpPr>
                <a:spLocks noChangeArrowheads="1"/>
              </p:cNvSpPr>
              <p:nvPr/>
            </p:nvSpPr>
            <p:spPr bwMode="auto">
              <a:xfrm>
                <a:off x="2058" y="3369"/>
                <a:ext cx="1908" cy="67"/>
              </a:xfrm>
              <a:prstGeom prst="roundRect">
                <a:avLst>
                  <a:gd name="adj" fmla="val 50000"/>
                </a:avLst>
              </a:prstGeom>
              <a:gradFill rotWithShape="1">
                <a:gsLst>
                  <a:gs pos="0">
                    <a:schemeClr val="accent1"/>
                  </a:gs>
                  <a:gs pos="50000">
                    <a:schemeClr val="accent1">
                      <a:gamma/>
                      <a:tint val="23529"/>
                      <a:invGamma/>
                    </a:schemeClr>
                  </a:gs>
                  <a:gs pos="100000">
                    <a:schemeClr val="accent1"/>
                  </a:gs>
                </a:gsLst>
                <a:lin ang="5400000" scaled="1"/>
              </a:gra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70" name="Oval 41"/>
              <p:cNvSpPr>
                <a:spLocks noChangeArrowheads="1"/>
              </p:cNvSpPr>
              <p:nvPr/>
            </p:nvSpPr>
            <p:spPr bwMode="auto">
              <a:xfrm>
                <a:off x="2993" y="3376"/>
                <a:ext cx="50" cy="50"/>
              </a:xfrm>
              <a:prstGeom prst="ellipse">
                <a:avLst/>
              </a:prstGeom>
              <a:solidFill>
                <a:srgbClr val="FF000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sp>
          <p:nvSpPr>
            <p:cNvPr id="91" name="AutoShape 42"/>
            <p:cNvSpPr>
              <a:spLocks noChangeAspect="1" noChangeArrowheads="1"/>
            </p:cNvSpPr>
            <p:nvPr/>
          </p:nvSpPr>
          <p:spPr bwMode="auto">
            <a:xfrm>
              <a:off x="1568" y="3611"/>
              <a:ext cx="202" cy="196"/>
            </a:xfrm>
            <a:prstGeom prst="triangle">
              <a:avLst>
                <a:gd name="adj" fmla="val 50000"/>
              </a:avLst>
            </a:prstGeom>
            <a:solidFill>
              <a:srgbClr val="66FF33"/>
            </a:solidFill>
            <a:ln w="381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92" name="Rectangle 43" descr="宽上对角线"/>
            <p:cNvSpPr>
              <a:spLocks noChangeAspect="1" noChangeArrowheads="1"/>
            </p:cNvSpPr>
            <p:nvPr/>
          </p:nvSpPr>
          <p:spPr bwMode="auto">
            <a:xfrm>
              <a:off x="1498" y="3795"/>
              <a:ext cx="342" cy="96"/>
            </a:xfrm>
            <a:prstGeom prst="rect">
              <a:avLst/>
            </a:prstGeom>
            <a:pattFill prst="wdUpDiag">
              <a:fgClr>
                <a:srgbClr val="000000"/>
              </a:fgClr>
              <a:bgClr>
                <a:srgbClr val="FFFFCC"/>
              </a:bgClr>
            </a:patt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94" name="Line 44"/>
            <p:cNvSpPr>
              <a:spLocks noChangeAspect="1" noChangeShapeType="1"/>
            </p:cNvSpPr>
            <p:nvPr/>
          </p:nvSpPr>
          <p:spPr bwMode="auto">
            <a:xfrm>
              <a:off x="1497" y="3787"/>
              <a:ext cx="344" cy="1"/>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5" name="Text Box 45"/>
            <p:cNvSpPr txBox="1">
              <a:spLocks noChangeAspect="1" noChangeArrowheads="1"/>
            </p:cNvSpPr>
            <p:nvPr/>
          </p:nvSpPr>
          <p:spPr bwMode="auto">
            <a:xfrm>
              <a:off x="1400" y="3531"/>
              <a:ext cx="336" cy="2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b="0" i="1" dirty="0">
                  <a:ea typeface="宋体" panose="02010600030101010101" pitchFamily="2" charset="-122"/>
                </a:rPr>
                <a:t>O</a:t>
              </a:r>
            </a:p>
          </p:txBody>
        </p:sp>
        <p:grpSp>
          <p:nvGrpSpPr>
            <p:cNvPr id="97" name="Group 46"/>
            <p:cNvGrpSpPr>
              <a:grpSpLocks/>
            </p:cNvGrpSpPr>
            <p:nvPr/>
          </p:nvGrpSpPr>
          <p:grpSpPr bwMode="auto">
            <a:xfrm>
              <a:off x="3792" y="3331"/>
              <a:ext cx="755" cy="600"/>
              <a:chOff x="4108" y="3339"/>
              <a:chExt cx="755" cy="600"/>
            </a:xfrm>
          </p:grpSpPr>
          <p:sp>
            <p:nvSpPr>
              <p:cNvPr id="106" name="Freeform 47" descr="宽上对角线"/>
              <p:cNvSpPr>
                <a:spLocks/>
              </p:cNvSpPr>
              <p:nvPr/>
            </p:nvSpPr>
            <p:spPr bwMode="auto">
              <a:xfrm rot="5400000">
                <a:off x="4193" y="3268"/>
                <a:ext cx="600" cy="741"/>
              </a:xfrm>
              <a:custGeom>
                <a:avLst/>
                <a:gdLst>
                  <a:gd name="T0" fmla="*/ 6 w 600"/>
                  <a:gd name="T1" fmla="*/ 741 h 741"/>
                  <a:gd name="T2" fmla="*/ 123 w 600"/>
                  <a:gd name="T3" fmla="*/ 741 h 741"/>
                  <a:gd name="T4" fmla="*/ 123 w 600"/>
                  <a:gd name="T5" fmla="*/ 90 h 741"/>
                  <a:gd name="T6" fmla="*/ 480 w 600"/>
                  <a:gd name="T7" fmla="*/ 90 h 741"/>
                  <a:gd name="T8" fmla="*/ 480 w 600"/>
                  <a:gd name="T9" fmla="*/ 738 h 741"/>
                  <a:gd name="T10" fmla="*/ 600 w 600"/>
                  <a:gd name="T11" fmla="*/ 738 h 741"/>
                  <a:gd name="T12" fmla="*/ 600 w 600"/>
                  <a:gd name="T13" fmla="*/ 0 h 741"/>
                  <a:gd name="T14" fmla="*/ 0 w 600"/>
                  <a:gd name="T15" fmla="*/ 0 h 741"/>
                  <a:gd name="T16" fmla="*/ 6 w 600"/>
                  <a:gd name="T17" fmla="*/ 741 h 7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00" h="741">
                    <a:moveTo>
                      <a:pt x="6" y="741"/>
                    </a:moveTo>
                    <a:lnTo>
                      <a:pt x="123" y="741"/>
                    </a:lnTo>
                    <a:lnTo>
                      <a:pt x="123" y="90"/>
                    </a:lnTo>
                    <a:lnTo>
                      <a:pt x="480" y="90"/>
                    </a:lnTo>
                    <a:lnTo>
                      <a:pt x="480" y="738"/>
                    </a:lnTo>
                    <a:lnTo>
                      <a:pt x="600" y="738"/>
                    </a:lnTo>
                    <a:lnTo>
                      <a:pt x="600" y="0"/>
                    </a:lnTo>
                    <a:lnTo>
                      <a:pt x="0" y="0"/>
                    </a:lnTo>
                    <a:lnTo>
                      <a:pt x="6" y="741"/>
                    </a:lnTo>
                    <a:close/>
                  </a:path>
                </a:pathLst>
              </a:custGeom>
              <a:pattFill prst="wdUpDiag">
                <a:fgClr>
                  <a:schemeClr val="tx2"/>
                </a:fgClr>
                <a:bgClr>
                  <a:schemeClr val="bg1"/>
                </a:bgClr>
              </a:pattFill>
              <a:ln>
                <a:noFill/>
              </a:ln>
              <a:effectLst/>
              <a:extLst>
                <a:ext uri="{91240B29-F687-4F45-9708-019B960494DF}">
                  <a14:hiddenLine xmlns:a14="http://schemas.microsoft.com/office/drawing/2010/main" w="9525" cap="flat" cmpd="sng">
                    <a:solidFill>
                      <a:srgbClr val="000000"/>
                    </a:solidFill>
                    <a:prstDash val="solid"/>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11" name="Text Box 48"/>
              <p:cNvSpPr txBox="1">
                <a:spLocks noChangeAspect="1" noChangeArrowheads="1"/>
              </p:cNvSpPr>
              <p:nvPr/>
            </p:nvSpPr>
            <p:spPr bwMode="auto">
              <a:xfrm>
                <a:off x="4553" y="3487"/>
                <a:ext cx="261" cy="2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b="0" i="1" dirty="0">
                    <a:ea typeface="宋体" panose="02010600030101010101" pitchFamily="2" charset="-122"/>
                  </a:rPr>
                  <a:t>B</a:t>
                </a:r>
              </a:p>
            </p:txBody>
          </p:sp>
          <p:grpSp>
            <p:nvGrpSpPr>
              <p:cNvPr id="112" name="Group 49"/>
              <p:cNvGrpSpPr>
                <a:grpSpLocks/>
              </p:cNvGrpSpPr>
              <p:nvPr/>
            </p:nvGrpSpPr>
            <p:grpSpPr bwMode="auto">
              <a:xfrm rot="5400000">
                <a:off x="4260" y="3344"/>
                <a:ext cx="310" cy="585"/>
                <a:chOff x="4427" y="1389"/>
                <a:chExt cx="310" cy="585"/>
              </a:xfrm>
            </p:grpSpPr>
            <p:sp>
              <p:nvSpPr>
                <p:cNvPr id="164" name="Rectangle 50"/>
                <p:cNvSpPr>
                  <a:spLocks noChangeArrowheads="1"/>
                </p:cNvSpPr>
                <p:nvPr/>
              </p:nvSpPr>
              <p:spPr bwMode="auto">
                <a:xfrm>
                  <a:off x="4446" y="1516"/>
                  <a:ext cx="271" cy="348"/>
                </a:xfrm>
                <a:prstGeom prst="rect">
                  <a:avLst/>
                </a:prstGeom>
                <a:gradFill rotWithShape="0">
                  <a:gsLst>
                    <a:gs pos="0">
                      <a:srgbClr val="FFFFFF">
                        <a:gamma/>
                        <a:shade val="65490"/>
                        <a:invGamma/>
                      </a:srgbClr>
                    </a:gs>
                    <a:gs pos="50000">
                      <a:srgbClr val="FFFFFF"/>
                    </a:gs>
                    <a:gs pos="100000">
                      <a:srgbClr val="FFFFFF">
                        <a:gamma/>
                        <a:shade val="65490"/>
                        <a:invGamma/>
                      </a:srgbClr>
                    </a:gs>
                  </a:gsLst>
                  <a:lin ang="0" scaled="1"/>
                </a:gradFill>
                <a:ln w="38100" algn="ctr">
                  <a:solidFill>
                    <a:srgbClr val="000000"/>
                  </a:solidFill>
                  <a:miter lim="800000"/>
                  <a:headEnd/>
                  <a:tailEnd/>
                </a:ln>
                <a:effectLst>
                  <a:outerShdw dist="35921" dir="2700000" algn="ctr" rotWithShape="0">
                    <a:srgbClr val="808080"/>
                  </a:outerShdw>
                </a:effectLst>
              </p:spPr>
              <p:txBody>
                <a:bodyPr/>
                <a:lstStyle/>
                <a:p>
                  <a:endParaRPr lang="zh-CN" altLang="en-US"/>
                </a:p>
              </p:txBody>
            </p:sp>
            <p:sp>
              <p:nvSpPr>
                <p:cNvPr id="165" name="Oval 51"/>
                <p:cNvSpPr>
                  <a:spLocks noChangeArrowheads="1"/>
                </p:cNvSpPr>
                <p:nvPr/>
              </p:nvSpPr>
              <p:spPr bwMode="auto">
                <a:xfrm>
                  <a:off x="4557" y="1711"/>
                  <a:ext cx="50" cy="50"/>
                </a:xfrm>
                <a:prstGeom prst="ellipse">
                  <a:avLst/>
                </a:prstGeom>
                <a:solidFill>
                  <a:srgbClr val="FF000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66" name="Rectangle 52"/>
                <p:cNvSpPr>
                  <a:spLocks noChangeArrowheads="1"/>
                </p:cNvSpPr>
                <p:nvPr/>
              </p:nvSpPr>
              <p:spPr bwMode="auto">
                <a:xfrm>
                  <a:off x="4427" y="1542"/>
                  <a:ext cx="309" cy="27"/>
                </a:xfrm>
                <a:prstGeom prst="rect">
                  <a:avLst/>
                </a:prstGeom>
                <a:gradFill rotWithShape="1">
                  <a:gsLst>
                    <a:gs pos="0">
                      <a:schemeClr val="bg2">
                        <a:gamma/>
                        <a:shade val="46275"/>
                        <a:invGamma/>
                      </a:schemeClr>
                    </a:gs>
                    <a:gs pos="50000">
                      <a:schemeClr val="bg2"/>
                    </a:gs>
                    <a:gs pos="100000">
                      <a:schemeClr val="bg2">
                        <a:gamma/>
                        <a:shade val="46275"/>
                        <a:invGamma/>
                      </a:schemeClr>
                    </a:gs>
                  </a:gsLst>
                  <a:lin ang="0" scaled="1"/>
                </a:gradFill>
                <a:ln w="1905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67" name="Rectangle 53"/>
                <p:cNvSpPr>
                  <a:spLocks noChangeArrowheads="1"/>
                </p:cNvSpPr>
                <p:nvPr/>
              </p:nvSpPr>
              <p:spPr bwMode="auto">
                <a:xfrm>
                  <a:off x="4428" y="1585"/>
                  <a:ext cx="309" cy="27"/>
                </a:xfrm>
                <a:prstGeom prst="rect">
                  <a:avLst/>
                </a:prstGeom>
                <a:gradFill rotWithShape="1">
                  <a:gsLst>
                    <a:gs pos="0">
                      <a:schemeClr val="bg2">
                        <a:gamma/>
                        <a:shade val="46275"/>
                        <a:invGamma/>
                      </a:schemeClr>
                    </a:gs>
                    <a:gs pos="50000">
                      <a:schemeClr val="bg2"/>
                    </a:gs>
                    <a:gs pos="100000">
                      <a:schemeClr val="bg2">
                        <a:gamma/>
                        <a:shade val="46275"/>
                        <a:invGamma/>
                      </a:schemeClr>
                    </a:gs>
                  </a:gsLst>
                  <a:lin ang="0" scaled="1"/>
                </a:gradFill>
                <a:ln w="1905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68" name="Line 54"/>
                <p:cNvSpPr>
                  <a:spLocks noChangeShapeType="1"/>
                </p:cNvSpPr>
                <p:nvPr/>
              </p:nvSpPr>
              <p:spPr bwMode="auto">
                <a:xfrm>
                  <a:off x="4582" y="1389"/>
                  <a:ext cx="0" cy="585"/>
                </a:xfrm>
                <a:prstGeom prst="line">
                  <a:avLst/>
                </a:prstGeom>
                <a:noFill/>
                <a:ln w="31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nvGrpSpPr>
              <p:cNvPr id="156" name="Group 55"/>
              <p:cNvGrpSpPr>
                <a:grpSpLocks/>
              </p:cNvGrpSpPr>
              <p:nvPr/>
            </p:nvGrpSpPr>
            <p:grpSpPr bwMode="auto">
              <a:xfrm rot="5400000">
                <a:off x="4149" y="3307"/>
                <a:ext cx="586" cy="668"/>
                <a:chOff x="4293" y="1381"/>
                <a:chExt cx="586" cy="536"/>
              </a:xfrm>
            </p:grpSpPr>
            <p:sp>
              <p:nvSpPr>
                <p:cNvPr id="159" name="Line 56"/>
                <p:cNvSpPr>
                  <a:spLocks noChangeShapeType="1"/>
                </p:cNvSpPr>
                <p:nvPr/>
              </p:nvSpPr>
              <p:spPr bwMode="auto">
                <a:xfrm>
                  <a:off x="4293" y="1908"/>
                  <a:ext cx="105" cy="0"/>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60" name="Line 57"/>
                <p:cNvSpPr>
                  <a:spLocks noChangeShapeType="1"/>
                </p:cNvSpPr>
                <p:nvPr/>
              </p:nvSpPr>
              <p:spPr bwMode="auto">
                <a:xfrm flipV="1">
                  <a:off x="4407" y="1383"/>
                  <a:ext cx="0" cy="534"/>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61" name="Line 58"/>
                <p:cNvSpPr>
                  <a:spLocks noChangeShapeType="1"/>
                </p:cNvSpPr>
                <p:nvPr/>
              </p:nvSpPr>
              <p:spPr bwMode="auto">
                <a:xfrm>
                  <a:off x="4753" y="1909"/>
                  <a:ext cx="126" cy="0"/>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62" name="Line 59"/>
                <p:cNvSpPr>
                  <a:spLocks noChangeShapeType="1"/>
                </p:cNvSpPr>
                <p:nvPr/>
              </p:nvSpPr>
              <p:spPr bwMode="auto">
                <a:xfrm flipV="1">
                  <a:off x="4759" y="1381"/>
                  <a:ext cx="0" cy="534"/>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63" name="Line 60"/>
                <p:cNvSpPr>
                  <a:spLocks noChangeShapeType="1"/>
                </p:cNvSpPr>
                <p:nvPr/>
              </p:nvSpPr>
              <p:spPr bwMode="auto">
                <a:xfrm>
                  <a:off x="4401" y="1386"/>
                  <a:ext cx="363" cy="0"/>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sp>
          <p:nvSpPr>
            <p:cNvPr id="98" name="AutoShape 61"/>
            <p:cNvSpPr>
              <a:spLocks noChangeArrowheads="1"/>
            </p:cNvSpPr>
            <p:nvPr/>
          </p:nvSpPr>
          <p:spPr bwMode="auto">
            <a:xfrm rot="10800000">
              <a:off x="1637" y="3592"/>
              <a:ext cx="603" cy="82"/>
            </a:xfrm>
            <a:prstGeom prst="roundRect">
              <a:avLst>
                <a:gd name="adj" fmla="val 50000"/>
              </a:avLst>
            </a:prstGeom>
            <a:gradFill rotWithShape="1">
              <a:gsLst>
                <a:gs pos="0">
                  <a:srgbClr val="FFFF00">
                    <a:gamma/>
                    <a:shade val="46275"/>
                    <a:invGamma/>
                  </a:srgbClr>
                </a:gs>
                <a:gs pos="50000">
                  <a:srgbClr val="FFFF00"/>
                </a:gs>
                <a:gs pos="100000">
                  <a:srgbClr val="FFFF00">
                    <a:gamma/>
                    <a:shade val="46275"/>
                    <a:invGamma/>
                  </a:srgbClr>
                </a:gs>
              </a:gsLst>
              <a:lin ang="5400000" scaled="1"/>
            </a:gra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99" name="Oval 62"/>
            <p:cNvSpPr>
              <a:spLocks noChangeAspect="1" noChangeArrowheads="1"/>
            </p:cNvSpPr>
            <p:nvPr/>
          </p:nvSpPr>
          <p:spPr bwMode="auto">
            <a:xfrm>
              <a:off x="1637" y="3603"/>
              <a:ext cx="64" cy="64"/>
            </a:xfrm>
            <a:prstGeom prst="ellipse">
              <a:avLst/>
            </a:prstGeom>
            <a:solidFill>
              <a:srgbClr val="FF0000"/>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00" name="Oval 63"/>
            <p:cNvSpPr>
              <a:spLocks noChangeAspect="1" noChangeArrowheads="1"/>
            </p:cNvSpPr>
            <p:nvPr/>
          </p:nvSpPr>
          <p:spPr bwMode="auto">
            <a:xfrm rot="5400000">
              <a:off x="2165" y="3603"/>
              <a:ext cx="64" cy="64"/>
            </a:xfrm>
            <a:prstGeom prst="ellipse">
              <a:avLst/>
            </a:prstGeom>
            <a:solidFill>
              <a:srgbClr val="FF0000"/>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01" name="Line 64"/>
            <p:cNvSpPr>
              <a:spLocks noChangeShapeType="1"/>
            </p:cNvSpPr>
            <p:nvPr/>
          </p:nvSpPr>
          <p:spPr bwMode="auto">
            <a:xfrm rot="16200000" flipH="1">
              <a:off x="3016" y="2276"/>
              <a:ext cx="0" cy="2719"/>
            </a:xfrm>
            <a:prstGeom prst="line">
              <a:avLst/>
            </a:prstGeom>
            <a:noFill/>
            <a:ln w="3175">
              <a:solidFill>
                <a:srgbClr val="000000"/>
              </a:solidFill>
              <a:prstDash val="lgDashDot"/>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02" name="Text Box 65"/>
            <p:cNvSpPr txBox="1">
              <a:spLocks noChangeAspect="1" noChangeArrowheads="1"/>
            </p:cNvSpPr>
            <p:nvPr/>
          </p:nvSpPr>
          <p:spPr bwMode="auto">
            <a:xfrm>
              <a:off x="2996" y="3608"/>
              <a:ext cx="336" cy="2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b="0" i="1" dirty="0">
                  <a:ea typeface="宋体" panose="02010600030101010101" pitchFamily="2" charset="-122"/>
                </a:rPr>
                <a:t>C</a:t>
              </a:r>
            </a:p>
          </p:txBody>
        </p:sp>
        <p:sp>
          <p:nvSpPr>
            <p:cNvPr id="103" name="Text Box 66"/>
            <p:cNvSpPr txBox="1">
              <a:spLocks noChangeAspect="1" noChangeArrowheads="1"/>
            </p:cNvSpPr>
            <p:nvPr/>
          </p:nvSpPr>
          <p:spPr bwMode="auto">
            <a:xfrm>
              <a:off x="1952" y="3218"/>
              <a:ext cx="366" cy="2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b="0" i="1" dirty="0">
                  <a:ea typeface="宋体" panose="02010600030101010101" pitchFamily="2" charset="-122"/>
                </a:rPr>
                <a:t>T</a:t>
              </a:r>
              <a:endParaRPr lang="en-US" altLang="zh-CN" b="0" baseline="-25000" dirty="0">
                <a:ea typeface="宋体" panose="02010600030101010101" pitchFamily="2" charset="-122"/>
              </a:endParaRPr>
            </a:p>
          </p:txBody>
        </p:sp>
        <p:sp>
          <p:nvSpPr>
            <p:cNvPr id="104" name="Arc 67"/>
            <p:cNvSpPr>
              <a:spLocks noChangeAspect="1"/>
            </p:cNvSpPr>
            <p:nvPr/>
          </p:nvSpPr>
          <p:spPr bwMode="auto">
            <a:xfrm rot="19558055" flipV="1">
              <a:off x="1822" y="3440"/>
              <a:ext cx="237" cy="281"/>
            </a:xfrm>
            <a:custGeom>
              <a:avLst/>
              <a:gdLst>
                <a:gd name="G0" fmla="+- 0 0 0"/>
                <a:gd name="G1" fmla="+- 21600 0 0"/>
                <a:gd name="G2" fmla="+- 21600 0 0"/>
                <a:gd name="T0" fmla="*/ 0 w 21600"/>
                <a:gd name="T1" fmla="*/ 0 h 30906"/>
                <a:gd name="T2" fmla="*/ 19493 w 21600"/>
                <a:gd name="T3" fmla="*/ 30906 h 30906"/>
                <a:gd name="T4" fmla="*/ 0 w 21600"/>
                <a:gd name="T5" fmla="*/ 21600 h 30906"/>
              </a:gdLst>
              <a:ahLst/>
              <a:cxnLst>
                <a:cxn ang="0">
                  <a:pos x="T0" y="T1"/>
                </a:cxn>
                <a:cxn ang="0">
                  <a:pos x="T2" y="T3"/>
                </a:cxn>
                <a:cxn ang="0">
                  <a:pos x="T4" y="T5"/>
                </a:cxn>
              </a:cxnLst>
              <a:rect l="0" t="0" r="r" b="b"/>
              <a:pathLst>
                <a:path w="21600" h="30906" fill="none" extrusionOk="0">
                  <a:moveTo>
                    <a:pt x="0" y="0"/>
                  </a:moveTo>
                  <a:cubicBezTo>
                    <a:pt x="11929" y="0"/>
                    <a:pt x="21600" y="9670"/>
                    <a:pt x="21600" y="21600"/>
                  </a:cubicBezTo>
                  <a:cubicBezTo>
                    <a:pt x="21600" y="24820"/>
                    <a:pt x="20879" y="27999"/>
                    <a:pt x="19492" y="30905"/>
                  </a:cubicBezTo>
                </a:path>
                <a:path w="21600" h="30906" stroke="0" extrusionOk="0">
                  <a:moveTo>
                    <a:pt x="0" y="0"/>
                  </a:moveTo>
                  <a:cubicBezTo>
                    <a:pt x="11929" y="0"/>
                    <a:pt x="21600" y="9670"/>
                    <a:pt x="21600" y="21600"/>
                  </a:cubicBezTo>
                  <a:cubicBezTo>
                    <a:pt x="21600" y="24820"/>
                    <a:pt x="20879" y="27999"/>
                    <a:pt x="19492" y="30905"/>
                  </a:cubicBezTo>
                  <a:lnTo>
                    <a:pt x="0" y="21600"/>
                  </a:lnTo>
                  <a:close/>
                </a:path>
              </a:pathLst>
            </a:custGeom>
            <a:noFill/>
            <a:ln w="28575">
              <a:solidFill>
                <a:srgbClr val="FF0000"/>
              </a:solidFill>
              <a:round/>
              <a:headEnd type="none" w="sm" len="lg"/>
              <a:tailEnd type="stealth" w="med"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05" name="Text Box 68"/>
            <p:cNvSpPr txBox="1">
              <a:spLocks noChangeAspect="1" noChangeArrowheads="1"/>
            </p:cNvSpPr>
            <p:nvPr/>
          </p:nvSpPr>
          <p:spPr bwMode="auto">
            <a:xfrm>
              <a:off x="2085" y="3595"/>
              <a:ext cx="256" cy="34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b="0" i="1" dirty="0">
                  <a:ea typeface="宋体" panose="02010600030101010101" pitchFamily="2" charset="-122"/>
                </a:rPr>
                <a:t>A</a:t>
              </a:r>
            </a:p>
          </p:txBody>
        </p:sp>
      </p:grpSp>
      <p:grpSp>
        <p:nvGrpSpPr>
          <p:cNvPr id="171" name="Group 69"/>
          <p:cNvGrpSpPr>
            <a:grpSpLocks/>
          </p:cNvGrpSpPr>
          <p:nvPr/>
        </p:nvGrpSpPr>
        <p:grpSpPr bwMode="auto">
          <a:xfrm>
            <a:off x="6782970" y="4135215"/>
            <a:ext cx="658812" cy="592137"/>
            <a:chOff x="2399" y="2447"/>
            <a:chExt cx="415" cy="373"/>
          </a:xfrm>
        </p:grpSpPr>
        <p:sp>
          <p:nvSpPr>
            <p:cNvPr id="172" name="Arc 70"/>
            <p:cNvSpPr>
              <a:spLocks noChangeAspect="1"/>
            </p:cNvSpPr>
            <p:nvPr/>
          </p:nvSpPr>
          <p:spPr bwMode="auto">
            <a:xfrm rot="9165826" flipH="1">
              <a:off x="2577" y="2447"/>
              <a:ext cx="237" cy="281"/>
            </a:xfrm>
            <a:custGeom>
              <a:avLst/>
              <a:gdLst>
                <a:gd name="G0" fmla="+- 0 0 0"/>
                <a:gd name="G1" fmla="+- 21600 0 0"/>
                <a:gd name="G2" fmla="+- 21600 0 0"/>
                <a:gd name="T0" fmla="*/ 0 w 21600"/>
                <a:gd name="T1" fmla="*/ 0 h 30906"/>
                <a:gd name="T2" fmla="*/ 19493 w 21600"/>
                <a:gd name="T3" fmla="*/ 30906 h 30906"/>
                <a:gd name="T4" fmla="*/ 0 w 21600"/>
                <a:gd name="T5" fmla="*/ 21600 h 30906"/>
              </a:gdLst>
              <a:ahLst/>
              <a:cxnLst>
                <a:cxn ang="0">
                  <a:pos x="T0" y="T1"/>
                </a:cxn>
                <a:cxn ang="0">
                  <a:pos x="T2" y="T3"/>
                </a:cxn>
                <a:cxn ang="0">
                  <a:pos x="T4" y="T5"/>
                </a:cxn>
              </a:cxnLst>
              <a:rect l="0" t="0" r="r" b="b"/>
              <a:pathLst>
                <a:path w="21600" h="30906" fill="none" extrusionOk="0">
                  <a:moveTo>
                    <a:pt x="0" y="0"/>
                  </a:moveTo>
                  <a:cubicBezTo>
                    <a:pt x="11929" y="0"/>
                    <a:pt x="21600" y="9670"/>
                    <a:pt x="21600" y="21600"/>
                  </a:cubicBezTo>
                  <a:cubicBezTo>
                    <a:pt x="21600" y="24820"/>
                    <a:pt x="20879" y="27999"/>
                    <a:pt x="19492" y="30905"/>
                  </a:cubicBezTo>
                </a:path>
                <a:path w="21600" h="30906" stroke="0" extrusionOk="0">
                  <a:moveTo>
                    <a:pt x="0" y="0"/>
                  </a:moveTo>
                  <a:cubicBezTo>
                    <a:pt x="11929" y="0"/>
                    <a:pt x="21600" y="9670"/>
                    <a:pt x="21600" y="21600"/>
                  </a:cubicBezTo>
                  <a:cubicBezTo>
                    <a:pt x="21600" y="24820"/>
                    <a:pt x="20879" y="27999"/>
                    <a:pt x="19492" y="30905"/>
                  </a:cubicBezTo>
                  <a:lnTo>
                    <a:pt x="0" y="21600"/>
                  </a:lnTo>
                  <a:close/>
                </a:path>
              </a:pathLst>
            </a:custGeom>
            <a:noFill/>
            <a:ln w="28575">
              <a:solidFill>
                <a:srgbClr val="FF00FF"/>
              </a:solidFill>
              <a:round/>
              <a:headEnd type="none" w="sm" len="lg"/>
              <a:tailEnd type="stealth" w="med"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73" name="Arc 71"/>
            <p:cNvSpPr>
              <a:spLocks noChangeAspect="1"/>
            </p:cNvSpPr>
            <p:nvPr/>
          </p:nvSpPr>
          <p:spPr bwMode="auto">
            <a:xfrm rot="9165826" flipH="1">
              <a:off x="2399" y="2539"/>
              <a:ext cx="237" cy="281"/>
            </a:xfrm>
            <a:custGeom>
              <a:avLst/>
              <a:gdLst>
                <a:gd name="G0" fmla="+- 0 0 0"/>
                <a:gd name="G1" fmla="+- 21600 0 0"/>
                <a:gd name="G2" fmla="+- 21600 0 0"/>
                <a:gd name="T0" fmla="*/ 0 w 21600"/>
                <a:gd name="T1" fmla="*/ 0 h 30906"/>
                <a:gd name="T2" fmla="*/ 19493 w 21600"/>
                <a:gd name="T3" fmla="*/ 30906 h 30906"/>
                <a:gd name="T4" fmla="*/ 0 w 21600"/>
                <a:gd name="T5" fmla="*/ 21600 h 30906"/>
              </a:gdLst>
              <a:ahLst/>
              <a:cxnLst>
                <a:cxn ang="0">
                  <a:pos x="T0" y="T1"/>
                </a:cxn>
                <a:cxn ang="0">
                  <a:pos x="T2" y="T3"/>
                </a:cxn>
                <a:cxn ang="0">
                  <a:pos x="T4" y="T5"/>
                </a:cxn>
              </a:cxnLst>
              <a:rect l="0" t="0" r="r" b="b"/>
              <a:pathLst>
                <a:path w="21600" h="30906" fill="none" extrusionOk="0">
                  <a:moveTo>
                    <a:pt x="0" y="0"/>
                  </a:moveTo>
                  <a:cubicBezTo>
                    <a:pt x="11929" y="0"/>
                    <a:pt x="21600" y="9670"/>
                    <a:pt x="21600" y="21600"/>
                  </a:cubicBezTo>
                  <a:cubicBezTo>
                    <a:pt x="21600" y="24820"/>
                    <a:pt x="20879" y="27999"/>
                    <a:pt x="19492" y="30905"/>
                  </a:cubicBezTo>
                </a:path>
                <a:path w="21600" h="30906" stroke="0" extrusionOk="0">
                  <a:moveTo>
                    <a:pt x="0" y="0"/>
                  </a:moveTo>
                  <a:cubicBezTo>
                    <a:pt x="11929" y="0"/>
                    <a:pt x="21600" y="9670"/>
                    <a:pt x="21600" y="21600"/>
                  </a:cubicBezTo>
                  <a:cubicBezTo>
                    <a:pt x="21600" y="24820"/>
                    <a:pt x="20879" y="27999"/>
                    <a:pt x="19492" y="30905"/>
                  </a:cubicBezTo>
                  <a:lnTo>
                    <a:pt x="0" y="2160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00FF"/>
                  </a:solidFill>
                  <a:round/>
                  <a:headEnd type="none" w="sm" len="lg"/>
                  <a:tailEnd type="stealth" w="med"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174" name="Line 72"/>
          <p:cNvSpPr>
            <a:spLocks noChangeShapeType="1"/>
          </p:cNvSpPr>
          <p:nvPr/>
        </p:nvSpPr>
        <p:spPr bwMode="auto">
          <a:xfrm flipV="1">
            <a:off x="7981532" y="3673252"/>
            <a:ext cx="0" cy="681038"/>
          </a:xfrm>
          <a:prstGeom prst="line">
            <a:avLst/>
          </a:prstGeom>
          <a:noFill/>
          <a:ln w="28575">
            <a:solidFill>
              <a:srgbClr val="CC0099"/>
            </a:solidFill>
            <a:round/>
            <a:headEnd type="none" w="sm"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75" name="Line 73"/>
          <p:cNvSpPr>
            <a:spLocks noChangeShapeType="1"/>
          </p:cNvSpPr>
          <p:nvPr/>
        </p:nvSpPr>
        <p:spPr bwMode="auto">
          <a:xfrm flipH="1" flipV="1">
            <a:off x="7962482" y="3673252"/>
            <a:ext cx="2951163"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6" name="Text Box 74"/>
          <p:cNvSpPr txBox="1">
            <a:spLocks noChangeAspect="1" noChangeArrowheads="1"/>
          </p:cNvSpPr>
          <p:nvPr/>
        </p:nvSpPr>
        <p:spPr bwMode="auto">
          <a:xfrm>
            <a:off x="7854532" y="3257327"/>
            <a:ext cx="652463" cy="463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b="0" i="1" dirty="0" err="1">
                <a:latin typeface="+mn-lt"/>
              </a:rPr>
              <a:t>v</a:t>
            </a:r>
            <a:r>
              <a:rPr lang="en-US" altLang="zh-CN" b="0" i="1" baseline="-25000" dirty="0" err="1"/>
              <a:t>A</a:t>
            </a:r>
            <a:endParaRPr lang="en-US" altLang="zh-CN" b="0" i="1" baseline="-25000" dirty="0"/>
          </a:p>
        </p:txBody>
      </p:sp>
      <p:graphicFrame>
        <p:nvGraphicFramePr>
          <p:cNvPr id="178" name="Object 75"/>
          <p:cNvGraphicFramePr>
            <a:graphicFrameLocks noChangeAspect="1"/>
          </p:cNvGraphicFramePr>
          <p:nvPr>
            <p:extLst>
              <p:ext uri="{D42A27DB-BD31-4B8C-83A1-F6EECF244321}">
                <p14:modId xmlns:p14="http://schemas.microsoft.com/office/powerpoint/2010/main" val="2706552745"/>
              </p:ext>
            </p:extLst>
          </p:nvPr>
        </p:nvGraphicFramePr>
        <p:xfrm>
          <a:off x="1501775" y="1125538"/>
          <a:ext cx="2881313" cy="819150"/>
        </p:xfrm>
        <a:graphic>
          <a:graphicData uri="http://schemas.openxmlformats.org/presentationml/2006/ole">
            <mc:AlternateContent xmlns:mc="http://schemas.openxmlformats.org/markup-compatibility/2006">
              <mc:Choice xmlns:v="urn:schemas-microsoft-com:vml" Requires="v">
                <p:oleObj spid="_x0000_s34857" name="Equation" r:id="rId4" imgW="1371600" imgH="393480" progId="Equation.DSMT4">
                  <p:embed/>
                </p:oleObj>
              </mc:Choice>
              <mc:Fallback>
                <p:oleObj name="Equation" r:id="rId4" imgW="1371600" imgH="393480" progId="Equation.DSMT4">
                  <p:embed/>
                  <p:pic>
                    <p:nvPicPr>
                      <p:cNvPr id="0" name=""/>
                      <p:cNvPicPr>
                        <a:picLocks noChangeAspect="1" noChangeArrowheads="1"/>
                      </p:cNvPicPr>
                      <p:nvPr/>
                    </p:nvPicPr>
                    <p:blipFill>
                      <a:blip r:embed="rId5"/>
                      <a:srcRect/>
                      <a:stretch>
                        <a:fillRect/>
                      </a:stretch>
                    </p:blipFill>
                    <p:spPr bwMode="auto">
                      <a:xfrm>
                        <a:off x="1501775" y="1125538"/>
                        <a:ext cx="2881313" cy="819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矩形 1"/>
          <p:cNvSpPr/>
          <p:nvPr/>
        </p:nvSpPr>
        <p:spPr>
          <a:xfrm>
            <a:off x="404135" y="2000415"/>
            <a:ext cx="6155423" cy="1052596"/>
          </a:xfrm>
          <a:prstGeom prst="rect">
            <a:avLst/>
          </a:prstGeom>
        </p:spPr>
        <p:txBody>
          <a:bodyPr wrap="square">
            <a:spAutoFit/>
          </a:bodyPr>
          <a:lstStyle/>
          <a:p>
            <a:pPr>
              <a:lnSpc>
                <a:spcPct val="130000"/>
              </a:lnSpc>
            </a:pPr>
            <a:r>
              <a:rPr lang="zh-CN" altLang="en-US" i="0" dirty="0">
                <a:solidFill>
                  <a:schemeClr val="tx1"/>
                </a:solidFill>
                <a:latin typeface="黑体" panose="02010609060101010101" pitchFamily="49" charset="-122"/>
                <a:ea typeface="黑体" panose="02010609060101010101" pitchFamily="49" charset="-122"/>
              </a:rPr>
              <a:t>曲柄转过一周，重力的功为零，转矩的功为</a:t>
            </a:r>
            <a:r>
              <a:rPr lang="en-US" altLang="zh-CN" b="0" i="0" dirty="0">
                <a:solidFill>
                  <a:schemeClr val="tx1"/>
                </a:solidFill>
                <a:latin typeface="+mn-lt"/>
                <a:ea typeface="黑体" panose="02010609060101010101" pitchFamily="49" charset="-122"/>
              </a:rPr>
              <a:t>2</a:t>
            </a:r>
            <a:r>
              <a:rPr lang="en-US" altLang="zh-CN" b="0" i="0" dirty="0">
                <a:solidFill>
                  <a:schemeClr val="tx1"/>
                </a:solidFill>
                <a:latin typeface="+mn-lt"/>
                <a:ea typeface="黑体" panose="02010609060101010101" pitchFamily="49" charset="-122"/>
                <a:sym typeface="Symbol" panose="05050102010706020507" pitchFamily="18" charset="2"/>
              </a:rPr>
              <a:t></a:t>
            </a:r>
            <a:r>
              <a:rPr lang="en-US" altLang="zh-CN" b="0" dirty="0">
                <a:solidFill>
                  <a:schemeClr val="tx1"/>
                </a:solidFill>
                <a:latin typeface="+mn-lt"/>
                <a:ea typeface="黑体" panose="02010609060101010101" pitchFamily="49" charset="-122"/>
              </a:rPr>
              <a:t>T</a:t>
            </a:r>
            <a:r>
              <a:rPr lang="zh-CN" altLang="en-US" i="0" dirty="0">
                <a:solidFill>
                  <a:schemeClr val="tx1"/>
                </a:solidFill>
                <a:latin typeface="黑体" panose="02010609060101010101" pitchFamily="49" charset="-122"/>
                <a:ea typeface="黑体" panose="02010609060101010101" pitchFamily="49" charset="-122"/>
              </a:rPr>
              <a:t>，代入动能定理，有</a:t>
            </a:r>
            <a:endParaRPr lang="en-US" altLang="zh-CN" b="0" i="0" dirty="0">
              <a:solidFill>
                <a:schemeClr val="tx1"/>
              </a:solidFill>
              <a:latin typeface="+mj-lt"/>
            </a:endParaRPr>
          </a:p>
        </p:txBody>
      </p:sp>
      <p:graphicFrame>
        <p:nvGraphicFramePr>
          <p:cNvPr id="93" name="Object 75"/>
          <p:cNvGraphicFramePr>
            <a:graphicFrameLocks noChangeAspect="1"/>
          </p:cNvGraphicFramePr>
          <p:nvPr>
            <p:extLst>
              <p:ext uri="{D42A27DB-BD31-4B8C-83A1-F6EECF244321}">
                <p14:modId xmlns:p14="http://schemas.microsoft.com/office/powerpoint/2010/main" val="1886556128"/>
              </p:ext>
            </p:extLst>
          </p:nvPr>
        </p:nvGraphicFramePr>
        <p:xfrm>
          <a:off x="1476375" y="3157538"/>
          <a:ext cx="1841500" cy="476250"/>
        </p:xfrm>
        <a:graphic>
          <a:graphicData uri="http://schemas.openxmlformats.org/presentationml/2006/ole">
            <mc:AlternateContent xmlns:mc="http://schemas.openxmlformats.org/markup-compatibility/2006">
              <mc:Choice xmlns:v="urn:schemas-microsoft-com:vml" Requires="v">
                <p:oleObj spid="_x0000_s34858" name="Equation" r:id="rId6" imgW="876240" imgH="228600" progId="Equation.DSMT4">
                  <p:embed/>
                </p:oleObj>
              </mc:Choice>
              <mc:Fallback>
                <p:oleObj name="Equation" r:id="rId6" imgW="876240" imgH="228600" progId="Equation.DSMT4">
                  <p:embed/>
                  <p:pic>
                    <p:nvPicPr>
                      <p:cNvPr id="0" name=""/>
                      <p:cNvPicPr>
                        <a:picLocks noChangeAspect="1" noChangeArrowheads="1"/>
                      </p:cNvPicPr>
                      <p:nvPr/>
                    </p:nvPicPr>
                    <p:blipFill>
                      <a:blip r:embed="rId7"/>
                      <a:srcRect/>
                      <a:stretch>
                        <a:fillRect/>
                      </a:stretch>
                    </p:blipFill>
                    <p:spPr bwMode="auto">
                      <a:xfrm>
                        <a:off x="1476375" y="3157538"/>
                        <a:ext cx="1841500" cy="476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6" name="矩形 95"/>
          <p:cNvSpPr/>
          <p:nvPr/>
        </p:nvSpPr>
        <p:spPr>
          <a:xfrm>
            <a:off x="404135" y="3869954"/>
            <a:ext cx="6155423" cy="520848"/>
          </a:xfrm>
          <a:prstGeom prst="rect">
            <a:avLst/>
          </a:prstGeom>
        </p:spPr>
        <p:txBody>
          <a:bodyPr wrap="square">
            <a:spAutoFit/>
          </a:bodyPr>
          <a:lstStyle/>
          <a:p>
            <a:pPr>
              <a:lnSpc>
                <a:spcPct val="130000"/>
              </a:lnSpc>
            </a:pPr>
            <a:r>
              <a:rPr lang="zh-CN" altLang="en-US" i="0" dirty="0">
                <a:solidFill>
                  <a:schemeClr val="tx1"/>
                </a:solidFill>
                <a:ea typeface="黑体" panose="02010609060101010101" pitchFamily="49" charset="-122"/>
              </a:rPr>
              <a:t>求得角速度</a:t>
            </a:r>
            <a:endParaRPr lang="en-US" altLang="zh-CN" b="0" i="0" dirty="0">
              <a:solidFill>
                <a:schemeClr val="tx1"/>
              </a:solidFill>
              <a:latin typeface="+mj-lt"/>
            </a:endParaRPr>
          </a:p>
        </p:txBody>
      </p:sp>
      <p:graphicFrame>
        <p:nvGraphicFramePr>
          <p:cNvPr id="107" name="Object 75"/>
          <p:cNvGraphicFramePr>
            <a:graphicFrameLocks noChangeAspect="1"/>
          </p:cNvGraphicFramePr>
          <p:nvPr>
            <p:extLst>
              <p:ext uri="{D42A27DB-BD31-4B8C-83A1-F6EECF244321}">
                <p14:modId xmlns:p14="http://schemas.microsoft.com/office/powerpoint/2010/main" val="1516808496"/>
              </p:ext>
            </p:extLst>
          </p:nvPr>
        </p:nvGraphicFramePr>
        <p:xfrm>
          <a:off x="1835150" y="4311650"/>
          <a:ext cx="2214563" cy="1004888"/>
        </p:xfrm>
        <a:graphic>
          <a:graphicData uri="http://schemas.openxmlformats.org/presentationml/2006/ole">
            <mc:AlternateContent xmlns:mc="http://schemas.openxmlformats.org/markup-compatibility/2006">
              <mc:Choice xmlns:v="urn:schemas-microsoft-com:vml" Requires="v">
                <p:oleObj spid="_x0000_s34859" name="Equation" r:id="rId8" imgW="1054080" imgH="482400" progId="Equation.DSMT4">
                  <p:embed/>
                </p:oleObj>
              </mc:Choice>
              <mc:Fallback>
                <p:oleObj name="Equation" r:id="rId8" imgW="1054080" imgH="482400" progId="Equation.DSMT4">
                  <p:embed/>
                  <p:pic>
                    <p:nvPicPr>
                      <p:cNvPr id="0" name=""/>
                      <p:cNvPicPr>
                        <a:picLocks noChangeAspect="1" noChangeArrowheads="1"/>
                      </p:cNvPicPr>
                      <p:nvPr/>
                    </p:nvPicPr>
                    <p:blipFill>
                      <a:blip r:embed="rId9"/>
                      <a:srcRect/>
                      <a:stretch>
                        <a:fillRect/>
                      </a:stretch>
                    </p:blipFill>
                    <p:spPr bwMode="auto">
                      <a:xfrm>
                        <a:off x="1835150" y="4311650"/>
                        <a:ext cx="2214563" cy="10048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358519309"/>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78"/>
                                        </p:tgtEl>
                                        <p:attrNameLst>
                                          <p:attrName>style.visibility</p:attrName>
                                        </p:attrNameLst>
                                      </p:cBhvr>
                                      <p:to>
                                        <p:strVal val="visible"/>
                                      </p:to>
                                    </p:set>
                                    <p:animEffect transition="in" filter="wipe(left)">
                                      <p:cBhvr>
                                        <p:cTn id="7" dur="3000"/>
                                        <p:tgtEl>
                                          <p:spTgt spid="178"/>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93"/>
                                        </p:tgtEl>
                                        <p:attrNameLst>
                                          <p:attrName>style.visibility</p:attrName>
                                        </p:attrNameLst>
                                      </p:cBhvr>
                                      <p:to>
                                        <p:strVal val="visible"/>
                                      </p:to>
                                    </p:set>
                                    <p:animEffect transition="in" filter="wipe(left)">
                                      <p:cBhvr>
                                        <p:cTn id="16" dur="3000"/>
                                        <p:tgtEl>
                                          <p:spTgt spid="93"/>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107"/>
                                        </p:tgtEl>
                                        <p:attrNameLst>
                                          <p:attrName>style.visibility</p:attrName>
                                        </p:attrNameLst>
                                      </p:cBhvr>
                                      <p:to>
                                        <p:strVal val="visible"/>
                                      </p:to>
                                    </p:set>
                                    <p:animEffect transition="in" filter="wipe(left)">
                                      <p:cBhvr>
                                        <p:cTn id="25" dur="3000"/>
                                        <p:tgtEl>
                                          <p:spTgt spid="1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96"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4653838"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第七章   动力学普遍定理</a:t>
            </a:r>
          </a:p>
        </p:txBody>
      </p:sp>
      <p:sp>
        <p:nvSpPr>
          <p:cNvPr id="108" name="Rectangle 5">
            <a:extLst>
              <a:ext uri="{FF2B5EF4-FFF2-40B4-BE49-F238E27FC236}">
                <a16:creationId xmlns:a16="http://schemas.microsoft.com/office/drawing/2014/main" id="{FE05158D-C563-8DED-66EB-5F15E2ED5DD1}"/>
              </a:ext>
            </a:extLst>
          </p:cNvPr>
          <p:cNvSpPr>
            <a:spLocks noChangeArrowheads="1"/>
          </p:cNvSpPr>
          <p:nvPr/>
        </p:nvSpPr>
        <p:spPr bwMode="auto">
          <a:xfrm>
            <a:off x="263352" y="1022350"/>
            <a:ext cx="9073008" cy="496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spcBef>
                <a:spcPct val="20000"/>
              </a:spcBef>
              <a:buClr>
                <a:schemeClr val="accent1"/>
              </a:buClr>
              <a:buSzPct val="75000"/>
              <a:buFont typeface="Monotype Sorts" pitchFamily="2" charset="2"/>
              <a:buChar char="•"/>
              <a:defRPr kumimoji="1" sz="2400">
                <a:solidFill>
                  <a:schemeClr val="tx1"/>
                </a:solidFill>
                <a:latin typeface="Impact" panose="020B0806030902050204" pitchFamily="34" charset="0"/>
                <a:ea typeface="宋体" panose="02010600030101010101" pitchFamily="2" charset="-122"/>
              </a:defRPr>
            </a:lvl1pPr>
            <a:lvl2pPr marL="742950" indent="-285750">
              <a:spcBef>
                <a:spcPct val="20000"/>
              </a:spcBef>
              <a:buClr>
                <a:schemeClr val="accent2"/>
              </a:buClr>
              <a:buChar char="•"/>
              <a:defRPr kumimoji="1" sz="2000">
                <a:solidFill>
                  <a:schemeClr val="tx1"/>
                </a:solidFill>
                <a:latin typeface="Impact" panose="020B0806030902050204" pitchFamily="34" charset="0"/>
                <a:ea typeface="宋体" panose="02010600030101010101" pitchFamily="2" charset="-122"/>
              </a:defRPr>
            </a:lvl2pPr>
            <a:lvl3pPr marL="1143000" indent="-228600">
              <a:spcBef>
                <a:spcPct val="20000"/>
              </a:spcBef>
              <a:buChar char="–"/>
              <a:defRPr kumimoji="1" sz="2400">
                <a:solidFill>
                  <a:schemeClr val="tx1"/>
                </a:solidFill>
                <a:latin typeface="Impact" panose="020B0806030902050204" pitchFamily="34" charset="0"/>
                <a:ea typeface="宋体" panose="02010600030101010101" pitchFamily="2" charset="-122"/>
              </a:defRPr>
            </a:lvl3pPr>
            <a:lvl4pPr marL="16002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4pPr>
            <a:lvl5pPr marL="20574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9pPr>
          </a:lstStyle>
          <a:p>
            <a:pPr algn="l">
              <a:lnSpc>
                <a:spcPct val="120000"/>
              </a:lnSpc>
              <a:spcBef>
                <a:spcPct val="0"/>
              </a:spcBef>
              <a:buClrTx/>
              <a:buSzTx/>
              <a:buNone/>
            </a:pPr>
            <a:r>
              <a:rPr lang="zh-CN" altLang="en-US" i="0" dirty="0">
                <a:solidFill>
                  <a:srgbClr val="FF0000"/>
                </a:solidFill>
                <a:latin typeface="微软雅黑" panose="020B0503020204020204" pitchFamily="34" charset="-122"/>
                <a:ea typeface="微软雅黑" panose="020B0503020204020204" pitchFamily="34" charset="-122"/>
              </a:rPr>
              <a:t>课后作业：</a:t>
            </a:r>
            <a:r>
              <a:rPr lang="en-US" altLang="zh-CN" i="0" dirty="0">
                <a:latin typeface="+mn-lt"/>
                <a:ea typeface="微软雅黑" panose="020B0503020204020204" pitchFamily="34" charset="-122"/>
              </a:rPr>
              <a:t>7-6</a:t>
            </a:r>
            <a:r>
              <a:rPr lang="zh-CN" altLang="en-US" i="0" dirty="0">
                <a:ea typeface="微软雅黑" panose="020B0503020204020204" pitchFamily="34" charset="-122"/>
              </a:rPr>
              <a:t> </a:t>
            </a:r>
            <a:r>
              <a:rPr lang="zh-CN" altLang="en-US" i="0" dirty="0">
                <a:latin typeface="+mn-lt"/>
                <a:ea typeface="微软雅黑" panose="020B0503020204020204" pitchFamily="34" charset="-122"/>
              </a:rPr>
              <a:t>、</a:t>
            </a:r>
            <a:r>
              <a:rPr lang="en-US" altLang="zh-CN" i="0" dirty="0">
                <a:latin typeface="+mn-lt"/>
                <a:ea typeface="微软雅黑" panose="020B0503020204020204" pitchFamily="34" charset="-122"/>
              </a:rPr>
              <a:t>7-8(2) </a:t>
            </a:r>
            <a:r>
              <a:rPr lang="zh-CN" altLang="en-US" i="0" dirty="0">
                <a:latin typeface="+mn-lt"/>
                <a:ea typeface="微软雅黑" panose="020B0503020204020204" pitchFamily="34" charset="-122"/>
              </a:rPr>
              <a:t>、</a:t>
            </a:r>
            <a:r>
              <a:rPr lang="en-US" altLang="zh-CN" i="0" dirty="0">
                <a:latin typeface="+mn-lt"/>
                <a:ea typeface="微软雅黑" panose="020B0503020204020204" pitchFamily="34" charset="-122"/>
              </a:rPr>
              <a:t>7-10</a:t>
            </a:r>
            <a:r>
              <a:rPr lang="zh-CN" altLang="en-US" i="0" dirty="0">
                <a:latin typeface="+mn-lt"/>
                <a:ea typeface="微软雅黑" panose="020B0503020204020204" pitchFamily="34" charset="-122"/>
              </a:rPr>
              <a:t> 、</a:t>
            </a:r>
            <a:r>
              <a:rPr lang="en-US" altLang="zh-CN" i="0" dirty="0">
                <a:latin typeface="+mn-lt"/>
                <a:ea typeface="微软雅黑" panose="020B0503020204020204" pitchFamily="34" charset="-122"/>
              </a:rPr>
              <a:t>7-13</a:t>
            </a:r>
            <a:r>
              <a:rPr lang="zh-CN" altLang="en-US" i="0" dirty="0">
                <a:latin typeface="+mn-lt"/>
                <a:ea typeface="微软雅黑" panose="020B0503020204020204" pitchFamily="34" charset="-122"/>
              </a:rPr>
              <a:t> 、</a:t>
            </a:r>
            <a:r>
              <a:rPr lang="en-US" altLang="zh-CN" i="0" dirty="0">
                <a:latin typeface="+mn-lt"/>
                <a:ea typeface="微软雅黑" panose="020B0503020204020204" pitchFamily="34" charset="-122"/>
              </a:rPr>
              <a:t>7-24</a:t>
            </a:r>
            <a:r>
              <a:rPr lang="zh-CN" altLang="en-US" i="0" dirty="0">
                <a:ea typeface="微软雅黑" panose="020B0503020204020204" pitchFamily="34" charset="-122"/>
              </a:rPr>
              <a:t> </a:t>
            </a:r>
            <a:r>
              <a:rPr lang="zh-CN" altLang="en-US" i="0" dirty="0">
                <a:latin typeface="+mn-lt"/>
                <a:ea typeface="微软雅黑" panose="020B0503020204020204" pitchFamily="34" charset="-122"/>
              </a:rPr>
              <a:t>、</a:t>
            </a:r>
            <a:r>
              <a:rPr lang="en-US" altLang="zh-CN" i="0" dirty="0">
                <a:latin typeface="+mn-lt"/>
                <a:ea typeface="微软雅黑" panose="020B0503020204020204" pitchFamily="34" charset="-122"/>
              </a:rPr>
              <a:t>7-27</a:t>
            </a:r>
            <a:endParaRPr lang="zh-CN" altLang="en-US" i="0" dirty="0">
              <a:latin typeface="+mn-lt"/>
              <a:ea typeface="黑体" panose="02010609060101010101" pitchFamily="49" charset="-122"/>
            </a:endParaRPr>
          </a:p>
        </p:txBody>
      </p:sp>
    </p:spTree>
    <p:extLst>
      <p:ext uri="{BB962C8B-B14F-4D97-AF65-F5344CB8AC3E}">
        <p14:creationId xmlns:p14="http://schemas.microsoft.com/office/powerpoint/2010/main" val="4122296457"/>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32" fill="hold" grpId="0" nodeType="clickEffect">
                                  <p:stCondLst>
                                    <p:cond delay="0"/>
                                  </p:stCondLst>
                                  <p:childTnLst>
                                    <p:set>
                                      <p:cBhvr>
                                        <p:cTn id="6" dur="1" fill="hold">
                                          <p:stCondLst>
                                            <p:cond delay="0"/>
                                          </p:stCondLst>
                                        </p:cTn>
                                        <p:tgtEl>
                                          <p:spTgt spid="108"/>
                                        </p:tgtEl>
                                        <p:attrNameLst>
                                          <p:attrName>style.visibility</p:attrName>
                                        </p:attrNameLst>
                                      </p:cBhvr>
                                      <p:to>
                                        <p:strVal val="visible"/>
                                      </p:to>
                                    </p:set>
                                    <p:anim calcmode="lin" valueType="num">
                                      <p:cBhvr>
                                        <p:cTn id="7" dur="500" fill="hold"/>
                                        <p:tgtEl>
                                          <p:spTgt spid="108"/>
                                        </p:tgtEl>
                                        <p:attrNameLst>
                                          <p:attrName>ppt_w</p:attrName>
                                        </p:attrNameLst>
                                      </p:cBhvr>
                                      <p:tavLst>
                                        <p:tav tm="0">
                                          <p:val>
                                            <p:strVal val="4*#ppt_w"/>
                                          </p:val>
                                        </p:tav>
                                        <p:tav tm="100000">
                                          <p:val>
                                            <p:strVal val="#ppt_w"/>
                                          </p:val>
                                        </p:tav>
                                      </p:tavLst>
                                    </p:anim>
                                    <p:anim calcmode="lin" valueType="num">
                                      <p:cBhvr>
                                        <p:cTn id="8" dur="500" fill="hold"/>
                                        <p:tgtEl>
                                          <p:spTgt spid="108"/>
                                        </p:tgtEl>
                                        <p:attrNameLst>
                                          <p:attrName>ppt_h</p:attrName>
                                        </p:attrNameLst>
                                      </p:cBhvr>
                                      <p:tavLst>
                                        <p:tav tm="0">
                                          <p:val>
                                            <p:strVal val="4*#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 grpId="0" autoUpdateAnimBg="0"/>
    </p:bldLst>
  </p:timing>
</p:sld>
</file>

<file path=ppt/theme/theme1.xml><?xml version="1.0" encoding="utf-8"?>
<a:theme xmlns:a="http://schemas.openxmlformats.org/drawingml/2006/main" name="1_Update 10-8-02">
  <a:themeElements>
    <a:clrScheme name="Update 10-8-02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Update 10-8-02">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285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spAutoFit/>
      </a:bodyPr>
      <a:lstStyle>
        <a:defPPr marL="0" marR="0" indent="0" algn="ctr" defTabSz="914400" rtl="0" eaLnBrk="1" fontAlgn="base" latinLnBrk="0" hangingPunct="1">
          <a:lnSpc>
            <a:spcPct val="100000"/>
          </a:lnSpc>
          <a:spcBef>
            <a:spcPct val="0"/>
          </a:spcBef>
          <a:spcAft>
            <a:spcPct val="0"/>
          </a:spcAft>
          <a:buClrTx/>
          <a:buSzTx/>
          <a:buFontTx/>
          <a:buChar char="•"/>
          <a:tabLst/>
          <a:defRPr kumimoji="0" lang="zh-CN" altLang="en-US" sz="18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285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spAutoFit/>
      </a:bodyPr>
      <a:lstStyle>
        <a:defPPr marL="0" marR="0" indent="0" algn="ctr" defTabSz="914400" rtl="0" eaLnBrk="1" fontAlgn="base" latinLnBrk="0" hangingPunct="1">
          <a:lnSpc>
            <a:spcPct val="100000"/>
          </a:lnSpc>
          <a:spcBef>
            <a:spcPct val="0"/>
          </a:spcBef>
          <a:spcAft>
            <a:spcPct val="0"/>
          </a:spcAft>
          <a:buClrTx/>
          <a:buSzTx/>
          <a:buFontTx/>
          <a:buChar char="•"/>
          <a:tabLst/>
          <a:defRPr kumimoji="0" lang="zh-CN" altLang="en-US" sz="18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Update 10-8-02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Update 10-8-02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Update 10-8-02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Update 10-8-02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Update 10-8-02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Update 10-8-02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Update 10-8-02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13364</TotalTime>
  <Words>4594</Words>
  <Application>Microsoft Office PowerPoint</Application>
  <PresentationFormat>宽屏</PresentationFormat>
  <Paragraphs>583</Paragraphs>
  <Slides>52</Slides>
  <Notes>52</Notes>
  <HiddenSlides>0</HiddenSlides>
  <MMClips>5</MMClips>
  <ScaleCrop>false</ScaleCrop>
  <HeadingPairs>
    <vt:vector size="8" baseType="variant">
      <vt:variant>
        <vt:lpstr>已用的字体</vt:lpstr>
      </vt:variant>
      <vt:variant>
        <vt:i4>16</vt:i4>
      </vt:variant>
      <vt:variant>
        <vt:lpstr>主题</vt:lpstr>
      </vt:variant>
      <vt:variant>
        <vt:i4>3</vt:i4>
      </vt:variant>
      <vt:variant>
        <vt:lpstr>嵌入 OLE 服务器</vt:lpstr>
      </vt:variant>
      <vt:variant>
        <vt:i4>3</vt:i4>
      </vt:variant>
      <vt:variant>
        <vt:lpstr>幻灯片标题</vt:lpstr>
      </vt:variant>
      <vt:variant>
        <vt:i4>52</vt:i4>
      </vt:variant>
    </vt:vector>
  </HeadingPairs>
  <TitlesOfParts>
    <vt:vector size="74" baseType="lpstr">
      <vt:lpstr>Monotype Sorts</vt:lpstr>
      <vt:lpstr>仿宋_GB2312</vt:lpstr>
      <vt:lpstr>黑体</vt:lpstr>
      <vt:lpstr>华文彩云</vt:lpstr>
      <vt:lpstr>华文琥珀</vt:lpstr>
      <vt:lpstr>宋体</vt:lpstr>
      <vt:lpstr>微软雅黑</vt:lpstr>
      <vt:lpstr>Arial</vt:lpstr>
      <vt:lpstr>Bookman Old Style</vt:lpstr>
      <vt:lpstr>Calibri</vt:lpstr>
      <vt:lpstr>Impact</vt:lpstr>
      <vt:lpstr>Monotype Corsiva</vt:lpstr>
      <vt:lpstr>Symbol</vt:lpstr>
      <vt:lpstr>Times</vt:lpstr>
      <vt:lpstr>Times New Roman</vt:lpstr>
      <vt:lpstr>Wingdings</vt:lpstr>
      <vt:lpstr>1_Update 10-8-02</vt:lpstr>
      <vt:lpstr>自定义设计方案</vt:lpstr>
      <vt:lpstr>1_自定义设计方案</vt:lpstr>
      <vt:lpstr>Equation</vt:lpstr>
      <vt:lpstr>MathType 6.0 Equation</vt:lpstr>
      <vt:lpstr>位图图像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zjut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wsn</dc:creator>
  <cp:lastModifiedBy>ZJ</cp:lastModifiedBy>
  <cp:revision>632</cp:revision>
  <dcterms:created xsi:type="dcterms:W3CDTF">2006-04-13T12:56:12Z</dcterms:created>
  <dcterms:modified xsi:type="dcterms:W3CDTF">2025-11-05T06:36:58Z</dcterms:modified>
</cp:coreProperties>
</file>