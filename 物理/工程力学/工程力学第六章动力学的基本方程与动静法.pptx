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  <p:sldMasterId id="2147483676" r:id="rId2"/>
    <p:sldMasterId id="2147483678" r:id="rId3"/>
  </p:sldMasterIdLst>
  <p:notesMasterIdLst>
    <p:notesMasterId r:id="rId37"/>
  </p:notesMasterIdLst>
  <p:sldIdLst>
    <p:sldId id="602" r:id="rId4"/>
    <p:sldId id="722" r:id="rId5"/>
    <p:sldId id="723" r:id="rId6"/>
    <p:sldId id="724" r:id="rId7"/>
    <p:sldId id="725" r:id="rId8"/>
    <p:sldId id="726" r:id="rId9"/>
    <p:sldId id="727" r:id="rId10"/>
    <p:sldId id="728" r:id="rId11"/>
    <p:sldId id="729" r:id="rId12"/>
    <p:sldId id="730" r:id="rId13"/>
    <p:sldId id="731" r:id="rId14"/>
    <p:sldId id="732" r:id="rId15"/>
    <p:sldId id="733" r:id="rId16"/>
    <p:sldId id="734" r:id="rId17"/>
    <p:sldId id="735" r:id="rId18"/>
    <p:sldId id="736" r:id="rId19"/>
    <p:sldId id="737" r:id="rId20"/>
    <p:sldId id="738" r:id="rId21"/>
    <p:sldId id="739" r:id="rId22"/>
    <p:sldId id="740" r:id="rId23"/>
    <p:sldId id="741" r:id="rId24"/>
    <p:sldId id="742" r:id="rId25"/>
    <p:sldId id="743" r:id="rId26"/>
    <p:sldId id="744" r:id="rId27"/>
    <p:sldId id="745" r:id="rId28"/>
    <p:sldId id="746" r:id="rId29"/>
    <p:sldId id="747" r:id="rId30"/>
    <p:sldId id="748" r:id="rId31"/>
    <p:sldId id="750" r:id="rId32"/>
    <p:sldId id="749" r:id="rId33"/>
    <p:sldId id="751" r:id="rId34"/>
    <p:sldId id="752" r:id="rId35"/>
    <p:sldId id="753" r:id="rId36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400" b="1" i="1" kern="1200">
        <a:solidFill>
          <a:srgbClr val="FF00FF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i="1" kern="1200">
        <a:solidFill>
          <a:srgbClr val="FF00FF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i="1" kern="1200">
        <a:solidFill>
          <a:srgbClr val="FF00FF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i="1" kern="1200">
        <a:solidFill>
          <a:srgbClr val="FF00FF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i="1" kern="1200">
        <a:solidFill>
          <a:srgbClr val="FF00FF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2400" b="1" i="1" kern="1200">
        <a:solidFill>
          <a:srgbClr val="FF00FF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2400" b="1" i="1" kern="1200">
        <a:solidFill>
          <a:srgbClr val="FF00FF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2400" b="1" i="1" kern="1200">
        <a:solidFill>
          <a:srgbClr val="FF00FF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2400" b="1" i="1" kern="1200">
        <a:solidFill>
          <a:srgbClr val="FF00FF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993300"/>
    <a:srgbClr val="0000FF"/>
    <a:srgbClr val="B9CDE5"/>
    <a:srgbClr val="4F81BD"/>
    <a:srgbClr val="E9EDF4"/>
    <a:srgbClr val="CC0066"/>
    <a:srgbClr val="339933"/>
    <a:srgbClr val="336600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07" autoAdjust="0"/>
    <p:restoredTop sz="87237" autoAdjust="0"/>
  </p:normalViewPr>
  <p:slideViewPr>
    <p:cSldViewPr>
      <p:cViewPr varScale="1">
        <p:scale>
          <a:sx n="88" d="100"/>
          <a:sy n="88" d="100"/>
        </p:scale>
        <p:origin x="10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3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viewProps" Target="view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i="0" smtClean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i="0" smtClean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39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239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i="0" smtClean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39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i="0" smtClean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0DFEE44B-64F7-4F5D-B160-0DBA82F94B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0237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61684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428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3256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68669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94749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83783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69718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9730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86185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注意质心与重心的区别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41040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85558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把质心运动定理和动力学基本方程相比较，可以看出，它们在形式上完全相似。因此，质心运动定理也可用另一种方式来表述：质点系质心的运动与下述质点运动相同，这个质点的质量等于质点系的总质量，同时把所有外力都平移到该点上。</a:t>
            </a:r>
            <a:endParaRPr lang="en-US" altLang="zh-CN" sz="1200" dirty="0"/>
          </a:p>
          <a:p>
            <a:r>
              <a:rPr lang="zh-CN" altLang="en-US" sz="1200" i="0" dirty="0">
                <a:ea typeface="微软雅黑" panose="020B0503020204020204" pitchFamily="34" charset="-122"/>
              </a:rPr>
              <a:t>内力不影响质心的运动，只有外力才能改变质心的运动。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89935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63192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86658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84003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21854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20688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37580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27595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68227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61467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89965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07435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60402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51152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50786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1335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90710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9480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30726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389350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23084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5054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927003882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0000" y="1080000"/>
            <a:ext cx="10560000" cy="1080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60000" y="2160000"/>
            <a:ext cx="10560000" cy="4140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46798571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28925802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0000" y="1080000"/>
            <a:ext cx="10560000" cy="1080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60000" y="2213865"/>
            <a:ext cx="5280000" cy="408613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14120" y="2213866"/>
            <a:ext cx="5220581" cy="409545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702511005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0000" y="1080000"/>
            <a:ext cx="10560000" cy="1080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95434" y="2213325"/>
            <a:ext cx="522058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95434" y="2933946"/>
            <a:ext cx="5220580" cy="333037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370635" y="2213325"/>
            <a:ext cx="516057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396034" y="2933945"/>
            <a:ext cx="5160573" cy="333037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99860088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0000" y="1080000"/>
            <a:ext cx="10560000" cy="1080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23023355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993251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0000" y="1080000"/>
            <a:ext cx="3840000" cy="108000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95867" y="1088740"/>
            <a:ext cx="6686533" cy="52205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82733" y="2213865"/>
            <a:ext cx="3840427" cy="409545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18620146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6916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1043735"/>
            <a:ext cx="7315200" cy="377595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459453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30399069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0000" y="1080000"/>
            <a:ext cx="10560000" cy="1080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60000" y="2258871"/>
            <a:ext cx="10560000" cy="404112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40425338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256240" y="1072310"/>
            <a:ext cx="3360373" cy="523701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60000" y="1080000"/>
            <a:ext cx="7200000" cy="5220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682278293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960000" y="1080000"/>
            <a:ext cx="10560000" cy="10800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960826" y="2213866"/>
            <a:ext cx="5315193" cy="193521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456040" y="2213865"/>
            <a:ext cx="5100568" cy="1957802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978790" y="4265046"/>
            <a:ext cx="5297231" cy="20442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456041" y="4284095"/>
            <a:ext cx="5100567" cy="19802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22978828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960000" y="1080001"/>
            <a:ext cx="10560000" cy="518431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194604936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2"/>
          <p:cNvSpPr txBox="1">
            <a:spLocks noChangeArrowheads="1"/>
          </p:cNvSpPr>
          <p:nvPr userDrawn="1"/>
        </p:nvSpPr>
        <p:spPr bwMode="auto">
          <a:xfrm>
            <a:off x="2855640" y="1916832"/>
            <a:ext cx="6732748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1" lang="zh-CN" altLang="en-US" sz="6600" i="0" kern="2000" spc="600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彩云" pitchFamily="2" charset="-122"/>
                <a:ea typeface="黑体" pitchFamily="2" charset="-122"/>
              </a:rPr>
              <a:t>工   程   力   学</a:t>
            </a:r>
            <a:endParaRPr kumimoji="1" lang="zh-CN" altLang="en-US" sz="6600" i="0" kern="2000" spc="600" baseline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黑体" pitchFamily="2" charset="-122"/>
            </a:endParaRPr>
          </a:p>
        </p:txBody>
      </p:sp>
      <p:sp>
        <p:nvSpPr>
          <p:cNvPr id="3" name="Text Box 12"/>
          <p:cNvSpPr txBox="1">
            <a:spLocks noChangeArrowheads="1"/>
          </p:cNvSpPr>
          <p:nvPr userDrawn="1"/>
        </p:nvSpPr>
        <p:spPr bwMode="auto">
          <a:xfrm>
            <a:off x="3071664" y="3356992"/>
            <a:ext cx="586865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5400" dirty="0">
                <a:solidFill>
                  <a:srgbClr val="0000FF"/>
                </a:solidFill>
                <a:latin typeface="Monotype Corsiva" pitchFamily="66" charset="0"/>
                <a:ea typeface="华文琥珀" pitchFamily="2" charset="-122"/>
              </a:rPr>
              <a:t>Engineering</a:t>
            </a:r>
            <a:r>
              <a:rPr kumimoji="1" lang="en-US" altLang="zh-CN" sz="5400" baseline="0" dirty="0">
                <a:solidFill>
                  <a:srgbClr val="0000FF"/>
                </a:solidFill>
                <a:latin typeface="Monotype Corsiva" pitchFamily="66" charset="0"/>
                <a:ea typeface="华文琥珀" pitchFamily="2" charset="-122"/>
              </a:rPr>
              <a:t> </a:t>
            </a:r>
            <a:r>
              <a:rPr kumimoji="1" lang="en-US" altLang="zh-CN" sz="5400" dirty="0">
                <a:solidFill>
                  <a:srgbClr val="0000FF"/>
                </a:solidFill>
                <a:latin typeface="Monotype Corsiva" pitchFamily="66" charset="0"/>
                <a:ea typeface="华文琥珀" pitchFamily="2" charset="-122"/>
              </a:rPr>
              <a:t>Mechanics</a:t>
            </a:r>
          </a:p>
        </p:txBody>
      </p:sp>
    </p:spTree>
    <p:extLst>
      <p:ext uri="{BB962C8B-B14F-4D97-AF65-F5344CB8AC3E}">
        <p14:creationId xmlns:p14="http://schemas.microsoft.com/office/powerpoint/2010/main" val="35296533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3542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ext Box 12"/>
          <p:cNvSpPr txBox="1">
            <a:spLocks noChangeArrowheads="1"/>
          </p:cNvSpPr>
          <p:nvPr/>
        </p:nvSpPr>
        <p:spPr bwMode="auto">
          <a:xfrm>
            <a:off x="1390651" y="1125538"/>
            <a:ext cx="10081683" cy="467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defRPr/>
            </a:pPr>
            <a:endParaRPr lang="zh-CN" altLang="zh-CN" sz="2400">
              <a:latin typeface="Times" pitchFamily="18" charset="0"/>
            </a:endParaRPr>
          </a:p>
        </p:txBody>
      </p:sp>
      <p:sp>
        <p:nvSpPr>
          <p:cNvPr id="1027" name="Rectangle 16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0967" y="1079500"/>
            <a:ext cx="10560051" cy="5221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6" name="矩形 15"/>
          <p:cNvSpPr/>
          <p:nvPr userDrawn="1"/>
        </p:nvSpPr>
        <p:spPr bwMode="auto">
          <a:xfrm>
            <a:off x="-2117" y="6308726"/>
            <a:ext cx="12194117" cy="549275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21349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/>
          </a:p>
        </p:txBody>
      </p:sp>
      <p:sp>
        <p:nvSpPr>
          <p:cNvPr id="24" name="矩形 23"/>
          <p:cNvSpPr/>
          <p:nvPr userDrawn="1"/>
        </p:nvSpPr>
        <p:spPr bwMode="auto">
          <a:xfrm>
            <a:off x="1" y="-11113"/>
            <a:ext cx="8909550" cy="796907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21349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/>
          </a:p>
        </p:txBody>
      </p:sp>
      <p:sp>
        <p:nvSpPr>
          <p:cNvPr id="27" name="Text Box 12"/>
          <p:cNvSpPr txBox="1">
            <a:spLocks noChangeArrowheads="1"/>
          </p:cNvSpPr>
          <p:nvPr userDrawn="1"/>
        </p:nvSpPr>
        <p:spPr bwMode="auto">
          <a:xfrm>
            <a:off x="20520" y="50348"/>
            <a:ext cx="7011616" cy="714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defRPr/>
            </a:pPr>
            <a:r>
              <a:rPr kumimoji="1" lang="zh-CN" altLang="en-US" sz="3200" i="0" dirty="0">
                <a:solidFill>
                  <a:srgbClr val="FFFFFF"/>
                </a:solidFill>
                <a:ea typeface="黑体" pitchFamily="49" charset="-122"/>
              </a:rPr>
              <a:t>      </a:t>
            </a:r>
            <a:endParaRPr kumimoji="1" lang="zh-CN" altLang="en-US" sz="3200" i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连接符 14"/>
          <p:cNvCxnSpPr/>
          <p:nvPr userDrawn="1"/>
        </p:nvCxnSpPr>
        <p:spPr bwMode="auto">
          <a:xfrm>
            <a:off x="-2117" y="785794"/>
            <a:ext cx="12194117" cy="0"/>
          </a:xfrm>
          <a:prstGeom prst="line">
            <a:avLst/>
          </a:prstGeom>
          <a:solidFill>
            <a:srgbClr val="3366CC"/>
          </a:solidFill>
          <a:ln w="38100">
            <a:solidFill>
              <a:srgbClr val="4F81B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2" descr="http://www.jdxy.zjut.edu.cn/images/img_02.jpg"/>
          <p:cNvPicPr/>
          <p:nvPr userDrawn="1"/>
        </p:nvPicPr>
        <p:blipFill rotWithShape="1">
          <a:blip r:embed="rId15" cstate="print"/>
          <a:srcRect l="3571" r="6619"/>
          <a:stretch/>
        </p:blipFill>
        <p:spPr bwMode="auto">
          <a:xfrm>
            <a:off x="7183971" y="-16198"/>
            <a:ext cx="5000625" cy="78549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transition spd="slow"/>
  <p:txStyles>
    <p:titleStyle>
      <a:lvl1pPr marL="442913" indent="-442913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3333FF"/>
          </a:solidFill>
          <a:latin typeface="+mj-lt"/>
          <a:ea typeface="+mj-ea"/>
          <a:cs typeface="+mj-cs"/>
        </a:defRPr>
      </a:lvl1pPr>
      <a:lvl2pPr marL="442913" indent="-442913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3333FF"/>
          </a:solidFill>
          <a:latin typeface="Times New Roman" pitchFamily="18" charset="0"/>
          <a:ea typeface="宋体" pitchFamily="2" charset="-122"/>
        </a:defRPr>
      </a:lvl2pPr>
      <a:lvl3pPr marL="442913" indent="-442913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3333FF"/>
          </a:solidFill>
          <a:latin typeface="Times New Roman" pitchFamily="18" charset="0"/>
          <a:ea typeface="宋体" pitchFamily="2" charset="-122"/>
        </a:defRPr>
      </a:lvl3pPr>
      <a:lvl4pPr marL="442913" indent="-442913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3333FF"/>
          </a:solidFill>
          <a:latin typeface="Times New Roman" pitchFamily="18" charset="0"/>
          <a:ea typeface="宋体" pitchFamily="2" charset="-122"/>
        </a:defRPr>
      </a:lvl4pPr>
      <a:lvl5pPr marL="442913" indent="-442913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3333FF"/>
          </a:solidFill>
          <a:latin typeface="Times New Roman" pitchFamily="18" charset="0"/>
          <a:ea typeface="宋体" pitchFamily="2" charset="-122"/>
        </a:defRPr>
      </a:lvl5pPr>
      <a:lvl6pPr marL="900113" algn="l" rtl="0" fontAlgn="base">
        <a:spcBef>
          <a:spcPct val="0"/>
        </a:spcBef>
        <a:spcAft>
          <a:spcPct val="0"/>
        </a:spcAft>
        <a:defRPr sz="3200" b="1">
          <a:solidFill>
            <a:srgbClr val="3333FF"/>
          </a:solidFill>
          <a:latin typeface="Times New Roman" pitchFamily="18" charset="0"/>
          <a:ea typeface="宋体" pitchFamily="2" charset="-122"/>
        </a:defRPr>
      </a:lvl6pPr>
      <a:lvl7pPr marL="1357313" algn="l" rtl="0" fontAlgn="base">
        <a:spcBef>
          <a:spcPct val="0"/>
        </a:spcBef>
        <a:spcAft>
          <a:spcPct val="0"/>
        </a:spcAft>
        <a:defRPr sz="3200" b="1">
          <a:solidFill>
            <a:srgbClr val="3333FF"/>
          </a:solidFill>
          <a:latin typeface="Times New Roman" pitchFamily="18" charset="0"/>
          <a:ea typeface="宋体" pitchFamily="2" charset="-122"/>
        </a:defRPr>
      </a:lvl7pPr>
      <a:lvl8pPr marL="1814513" algn="l" rtl="0" fontAlgn="base">
        <a:spcBef>
          <a:spcPct val="0"/>
        </a:spcBef>
        <a:spcAft>
          <a:spcPct val="0"/>
        </a:spcAft>
        <a:defRPr sz="3200" b="1">
          <a:solidFill>
            <a:srgbClr val="3333FF"/>
          </a:solidFill>
          <a:latin typeface="Times New Roman" pitchFamily="18" charset="0"/>
          <a:ea typeface="宋体" pitchFamily="2" charset="-122"/>
        </a:defRPr>
      </a:lvl8pPr>
      <a:lvl9pPr marL="2271713" algn="l" rtl="0" fontAlgn="base">
        <a:spcBef>
          <a:spcPct val="0"/>
        </a:spcBef>
        <a:spcAft>
          <a:spcPct val="0"/>
        </a:spcAft>
        <a:defRPr sz="3200" b="1">
          <a:solidFill>
            <a:srgbClr val="3333FF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30000"/>
        </a:spcBef>
        <a:spcAft>
          <a:spcPct val="0"/>
        </a:spcAft>
        <a:buClr>
          <a:schemeClr val="hlink"/>
        </a:buClr>
        <a:buSzPct val="62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0000"/>
        </a:spcBef>
        <a:spcAft>
          <a:spcPct val="0"/>
        </a:spcAft>
        <a:buClr>
          <a:schemeClr val="hlink"/>
        </a:buClr>
        <a:buSzPct val="62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à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10000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10000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10000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10000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5FE3E41-3E3A-4598-854A-0ADDC3E3F895}" type="datetimeFigureOut">
              <a:rPr lang="zh-CN" altLang="en-US"/>
              <a:pPr>
                <a:defRPr/>
              </a:pPr>
              <a:t>2022-10-19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7D69B51-3C8E-4B0D-9184-6356F897FB9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2053" name="Picture 63" descr="图片1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037" b="11566"/>
          <a:stretch>
            <a:fillRect/>
          </a:stretch>
        </p:blipFill>
        <p:spPr bwMode="auto">
          <a:xfrm>
            <a:off x="-8467" y="4579938"/>
            <a:ext cx="12200467" cy="227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reeform 29"/>
          <p:cNvSpPr>
            <a:spLocks/>
          </p:cNvSpPr>
          <p:nvPr userDrawn="1"/>
        </p:nvSpPr>
        <p:spPr bwMode="gray">
          <a:xfrm>
            <a:off x="-2117" y="-1588"/>
            <a:ext cx="12206817" cy="4641851"/>
          </a:xfrm>
          <a:custGeom>
            <a:avLst/>
            <a:gdLst>
              <a:gd name="T0" fmla="*/ 2147483647 w 5767"/>
              <a:gd name="T1" fmla="*/ 2147483647 h 3128"/>
              <a:gd name="T2" fmla="*/ 2147483647 w 5767"/>
              <a:gd name="T3" fmla="*/ 2147483647 h 3128"/>
              <a:gd name="T4" fmla="*/ 2147483647 w 5767"/>
              <a:gd name="T5" fmla="*/ 2147483647 h 3128"/>
              <a:gd name="T6" fmla="*/ 2147483647 w 5767"/>
              <a:gd name="T7" fmla="*/ 2147483647 h 3128"/>
              <a:gd name="T8" fmla="*/ 2147483647 w 5767"/>
              <a:gd name="T9" fmla="*/ 2147483647 h 3128"/>
              <a:gd name="T10" fmla="*/ 2147483647 w 5767"/>
              <a:gd name="T11" fmla="*/ 2147483647 h 3128"/>
              <a:gd name="T12" fmla="*/ 2147483647 w 5767"/>
              <a:gd name="T13" fmla="*/ 0 h 3128"/>
              <a:gd name="T14" fmla="*/ 0 w 5767"/>
              <a:gd name="T15" fmla="*/ 2147483647 h 3128"/>
              <a:gd name="T16" fmla="*/ 2147483647 w 5767"/>
              <a:gd name="T17" fmla="*/ 2147483647 h 312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7" h="3128">
                <a:moveTo>
                  <a:pt x="8" y="3103"/>
                </a:moveTo>
                <a:lnTo>
                  <a:pt x="2913" y="3102"/>
                </a:lnTo>
                <a:cubicBezTo>
                  <a:pt x="3054" y="3102"/>
                  <a:pt x="3012" y="3128"/>
                  <a:pt x="3143" y="3022"/>
                </a:cubicBezTo>
                <a:lnTo>
                  <a:pt x="3668" y="2460"/>
                </a:lnTo>
                <a:cubicBezTo>
                  <a:pt x="3832" y="2329"/>
                  <a:pt x="3809" y="2215"/>
                  <a:pt x="4129" y="2235"/>
                </a:cubicBezTo>
                <a:lnTo>
                  <a:pt x="5761" y="2235"/>
                </a:lnTo>
                <a:lnTo>
                  <a:pt x="5767" y="0"/>
                </a:lnTo>
                <a:lnTo>
                  <a:pt x="0" y="1"/>
                </a:lnTo>
                <a:lnTo>
                  <a:pt x="8" y="3103"/>
                </a:lnTo>
                <a:close/>
              </a:path>
            </a:pathLst>
          </a:custGeom>
          <a:solidFill>
            <a:schemeClr val="bg2">
              <a:alpha val="898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12" name="Freeform 28"/>
          <p:cNvSpPr>
            <a:spLocks/>
          </p:cNvSpPr>
          <p:nvPr userDrawn="1"/>
        </p:nvSpPr>
        <p:spPr bwMode="gray">
          <a:xfrm>
            <a:off x="1" y="-1588"/>
            <a:ext cx="12206817" cy="4581526"/>
          </a:xfrm>
          <a:custGeom>
            <a:avLst/>
            <a:gdLst/>
            <a:ahLst/>
            <a:cxnLst>
              <a:cxn ang="0">
                <a:pos x="8" y="2730"/>
              </a:cxn>
              <a:cxn ang="0">
                <a:pos x="3040" y="2726"/>
              </a:cxn>
              <a:cxn ang="0">
                <a:pos x="3347" y="2630"/>
              </a:cxn>
              <a:cxn ang="0">
                <a:pos x="3795" y="2170"/>
              </a:cxn>
              <a:cxn ang="0">
                <a:pos x="4115" y="2080"/>
              </a:cxn>
              <a:cxn ang="0">
                <a:pos x="5760" y="2093"/>
              </a:cxn>
              <a:cxn ang="0">
                <a:pos x="5767" y="0"/>
              </a:cxn>
              <a:cxn ang="0">
                <a:pos x="0" y="1"/>
              </a:cxn>
              <a:cxn ang="0">
                <a:pos x="8" y="2730"/>
              </a:cxn>
            </a:cxnLst>
            <a:rect l="0" t="0" r="r" b="b"/>
            <a:pathLst>
              <a:path w="5767" h="2730">
                <a:moveTo>
                  <a:pt x="8" y="2730"/>
                </a:moveTo>
                <a:lnTo>
                  <a:pt x="3040" y="2726"/>
                </a:lnTo>
                <a:cubicBezTo>
                  <a:pt x="3181" y="2726"/>
                  <a:pt x="3224" y="2728"/>
                  <a:pt x="3347" y="2630"/>
                </a:cubicBezTo>
                <a:lnTo>
                  <a:pt x="3795" y="2170"/>
                </a:lnTo>
                <a:cubicBezTo>
                  <a:pt x="3923" y="2078"/>
                  <a:pt x="3942" y="2074"/>
                  <a:pt x="4115" y="2080"/>
                </a:cubicBezTo>
                <a:lnTo>
                  <a:pt x="5760" y="2093"/>
                </a:lnTo>
                <a:lnTo>
                  <a:pt x="5767" y="0"/>
                </a:lnTo>
                <a:lnTo>
                  <a:pt x="0" y="1"/>
                </a:lnTo>
                <a:lnTo>
                  <a:pt x="8" y="2730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gamma/>
                  <a:tint val="0"/>
                  <a:invGamma/>
                </a:schemeClr>
              </a:gs>
              <a:gs pos="100000">
                <a:schemeClr val="bg1">
                  <a:alpha val="89999"/>
                </a:schemeClr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 sz="2400">
              <a:latin typeface="Arial" charset="0"/>
              <a:ea typeface="宋体" charset="-122"/>
            </a:endParaRPr>
          </a:p>
        </p:txBody>
      </p:sp>
      <p:sp>
        <p:nvSpPr>
          <p:cNvPr id="2056" name="Freeform 30"/>
          <p:cNvSpPr>
            <a:spLocks/>
          </p:cNvSpPr>
          <p:nvPr userDrawn="1"/>
        </p:nvSpPr>
        <p:spPr bwMode="gray">
          <a:xfrm>
            <a:off x="1" y="0"/>
            <a:ext cx="12204700" cy="1600200"/>
          </a:xfrm>
          <a:custGeom>
            <a:avLst/>
            <a:gdLst>
              <a:gd name="T0" fmla="*/ 0 w 5766"/>
              <a:gd name="T1" fmla="*/ 2147483647 h 1008"/>
              <a:gd name="T2" fmla="*/ 2147483647 w 5766"/>
              <a:gd name="T3" fmla="*/ 2147483647 h 1008"/>
              <a:gd name="T4" fmla="*/ 2147483647 w 5766"/>
              <a:gd name="T5" fmla="*/ 2147483647 h 1008"/>
              <a:gd name="T6" fmla="*/ 2147483647 w 5766"/>
              <a:gd name="T7" fmla="*/ 2147483647 h 1008"/>
              <a:gd name="T8" fmla="*/ 2147483647 w 5766"/>
              <a:gd name="T9" fmla="*/ 2147483647 h 1008"/>
              <a:gd name="T10" fmla="*/ 2147483647 w 5766"/>
              <a:gd name="T11" fmla="*/ 2147483647 h 1008"/>
              <a:gd name="T12" fmla="*/ 2147483647 w 5766"/>
              <a:gd name="T13" fmla="*/ 0 h 1008"/>
              <a:gd name="T14" fmla="*/ 0 w 5766"/>
              <a:gd name="T15" fmla="*/ 2147483647 h 1008"/>
              <a:gd name="T16" fmla="*/ 0 w 5766"/>
              <a:gd name="T17" fmla="*/ 2147483647 h 100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6" h="1008">
                <a:moveTo>
                  <a:pt x="0" y="1008"/>
                </a:moveTo>
                <a:lnTo>
                  <a:pt x="1884" y="1008"/>
                </a:lnTo>
                <a:cubicBezTo>
                  <a:pt x="2088" y="990"/>
                  <a:pt x="2034" y="1005"/>
                  <a:pt x="2152" y="921"/>
                </a:cubicBezTo>
                <a:lnTo>
                  <a:pt x="2560" y="531"/>
                </a:lnTo>
                <a:cubicBezTo>
                  <a:pt x="2683" y="452"/>
                  <a:pt x="2611" y="454"/>
                  <a:pt x="2892" y="448"/>
                </a:cubicBezTo>
                <a:lnTo>
                  <a:pt x="5766" y="461"/>
                </a:lnTo>
                <a:lnTo>
                  <a:pt x="5758" y="0"/>
                </a:lnTo>
                <a:lnTo>
                  <a:pt x="0" y="2"/>
                </a:lnTo>
                <a:lnTo>
                  <a:pt x="0" y="1008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chemeClr val="bg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10" name="Picture 2" descr="C:\Users\LibeR\Desktop\学院设计\部分素材\标志.png">
            <a:extLst>
              <a:ext uri="{FF2B5EF4-FFF2-40B4-BE49-F238E27FC236}">
                <a16:creationId xmlns:a16="http://schemas.microsoft.com/office/drawing/2014/main" id="{0FD5FD62-6A64-4DAD-8F38-E1AD4CEA33B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956" t="26667" r="5834" b="39999"/>
          <a:stretch/>
        </p:blipFill>
        <p:spPr bwMode="auto">
          <a:xfrm>
            <a:off x="4170622" y="-19186"/>
            <a:ext cx="7920880" cy="1042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图片1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30" b="14191"/>
          <a:stretch>
            <a:fillRect/>
          </a:stretch>
        </p:blipFill>
        <p:spPr bwMode="auto">
          <a:xfrm>
            <a:off x="-16933" y="-98425"/>
            <a:ext cx="12247033" cy="208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wmf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0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9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1.emf"/><Relationship Id="rId5" Type="http://schemas.openxmlformats.org/officeDocument/2006/relationships/oleObject" Target="../embeddings/oleObject8.bin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18.wmf"/><Relationship Id="rId3" Type="http://schemas.openxmlformats.org/officeDocument/2006/relationships/image" Target="../media/image13.jpeg"/><Relationship Id="rId7" Type="http://schemas.openxmlformats.org/officeDocument/2006/relationships/image" Target="../media/image15.emf"/><Relationship Id="rId12" Type="http://schemas.openxmlformats.org/officeDocument/2006/relationships/oleObject" Target="../embeddings/oleObject13.bin"/><Relationship Id="rId17" Type="http://schemas.openxmlformats.org/officeDocument/2006/relationships/image" Target="../media/image20.wmf"/><Relationship Id="rId2" Type="http://schemas.openxmlformats.org/officeDocument/2006/relationships/notesSlide" Target="../notesSlides/notesSlide5.xml"/><Relationship Id="rId16" Type="http://schemas.openxmlformats.org/officeDocument/2006/relationships/oleObject" Target="../embeddings/oleObject1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7.wmf"/><Relationship Id="rId5" Type="http://schemas.openxmlformats.org/officeDocument/2006/relationships/image" Target="../media/image14.emf"/><Relationship Id="rId15" Type="http://schemas.openxmlformats.org/officeDocument/2006/relationships/image" Target="../media/image19.wmf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16.wmf"/><Relationship Id="rId14" Type="http://schemas.openxmlformats.org/officeDocument/2006/relationships/oleObject" Target="../embeddings/oleObject14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21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27.emf"/><Relationship Id="rId18" Type="http://schemas.openxmlformats.org/officeDocument/2006/relationships/oleObject" Target="../embeddings/oleObject23.bin"/><Relationship Id="rId3" Type="http://schemas.openxmlformats.org/officeDocument/2006/relationships/oleObject" Target="../embeddings/oleObject16.bin"/><Relationship Id="rId21" Type="http://schemas.openxmlformats.org/officeDocument/2006/relationships/image" Target="../media/image31.emf"/><Relationship Id="rId7" Type="http://schemas.openxmlformats.org/officeDocument/2006/relationships/image" Target="../media/image24.wmf"/><Relationship Id="rId12" Type="http://schemas.openxmlformats.org/officeDocument/2006/relationships/oleObject" Target="../embeddings/oleObject20.bin"/><Relationship Id="rId17" Type="http://schemas.openxmlformats.org/officeDocument/2006/relationships/image" Target="../media/image29.wmf"/><Relationship Id="rId2" Type="http://schemas.openxmlformats.org/officeDocument/2006/relationships/notesSlide" Target="../notesSlides/notesSlide7.xml"/><Relationship Id="rId16" Type="http://schemas.openxmlformats.org/officeDocument/2006/relationships/oleObject" Target="../embeddings/oleObject22.bin"/><Relationship Id="rId20" Type="http://schemas.openxmlformats.org/officeDocument/2006/relationships/oleObject" Target="../embeddings/oleObject2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26.emf"/><Relationship Id="rId5" Type="http://schemas.openxmlformats.org/officeDocument/2006/relationships/image" Target="../media/image23.jpeg"/><Relationship Id="rId15" Type="http://schemas.openxmlformats.org/officeDocument/2006/relationships/image" Target="../media/image28.wmf"/><Relationship Id="rId10" Type="http://schemas.openxmlformats.org/officeDocument/2006/relationships/oleObject" Target="../embeddings/oleObject19.bin"/><Relationship Id="rId19" Type="http://schemas.openxmlformats.org/officeDocument/2006/relationships/image" Target="../media/image30.emf"/><Relationship Id="rId4" Type="http://schemas.openxmlformats.org/officeDocument/2006/relationships/image" Target="../media/image22.wmf"/><Relationship Id="rId9" Type="http://schemas.openxmlformats.org/officeDocument/2006/relationships/image" Target="../media/image25.wmf"/><Relationship Id="rId14" Type="http://schemas.openxmlformats.org/officeDocument/2006/relationships/oleObject" Target="../embeddings/oleObject2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32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emf"/><Relationship Id="rId11" Type="http://schemas.openxmlformats.org/officeDocument/2006/relationships/image" Target="../media/image37.jpeg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36.emf"/><Relationship Id="rId4" Type="http://schemas.openxmlformats.org/officeDocument/2006/relationships/image" Target="../media/image33.emf"/><Relationship Id="rId9" Type="http://schemas.openxmlformats.org/officeDocument/2006/relationships/oleObject" Target="../embeddings/oleObject28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image" Target="../media/image38.png"/><Relationship Id="rId7" Type="http://schemas.openxmlformats.org/officeDocument/2006/relationships/image" Target="../media/image40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42.wmf"/><Relationship Id="rId5" Type="http://schemas.openxmlformats.org/officeDocument/2006/relationships/image" Target="../media/image39.wmf"/><Relationship Id="rId10" Type="http://schemas.openxmlformats.org/officeDocument/2006/relationships/oleObject" Target="../embeddings/oleObject32.bin"/><Relationship Id="rId4" Type="http://schemas.openxmlformats.org/officeDocument/2006/relationships/oleObject" Target="../embeddings/oleObject29.bin"/><Relationship Id="rId9" Type="http://schemas.openxmlformats.org/officeDocument/2006/relationships/image" Target="../media/image41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13" Type="http://schemas.openxmlformats.org/officeDocument/2006/relationships/oleObject" Target="../embeddings/oleObject38.bin"/><Relationship Id="rId18" Type="http://schemas.openxmlformats.org/officeDocument/2006/relationships/image" Target="../media/image50.wmf"/><Relationship Id="rId3" Type="http://schemas.openxmlformats.org/officeDocument/2006/relationships/oleObject" Target="../embeddings/oleObject33.bin"/><Relationship Id="rId21" Type="http://schemas.openxmlformats.org/officeDocument/2006/relationships/oleObject" Target="../embeddings/oleObject42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47.wmf"/><Relationship Id="rId17" Type="http://schemas.openxmlformats.org/officeDocument/2006/relationships/oleObject" Target="../embeddings/oleObject40.bin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49.wmf"/><Relationship Id="rId20" Type="http://schemas.openxmlformats.org/officeDocument/2006/relationships/image" Target="../media/image51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w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4.bin"/><Relationship Id="rId15" Type="http://schemas.openxmlformats.org/officeDocument/2006/relationships/oleObject" Target="../embeddings/oleObject39.bin"/><Relationship Id="rId10" Type="http://schemas.openxmlformats.org/officeDocument/2006/relationships/image" Target="../media/image46.wmf"/><Relationship Id="rId19" Type="http://schemas.openxmlformats.org/officeDocument/2006/relationships/oleObject" Target="../embeddings/oleObject41.bin"/><Relationship Id="rId4" Type="http://schemas.openxmlformats.org/officeDocument/2006/relationships/image" Target="../media/image43.w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48.wmf"/><Relationship Id="rId22" Type="http://schemas.openxmlformats.org/officeDocument/2006/relationships/image" Target="../media/image52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13" Type="http://schemas.openxmlformats.org/officeDocument/2006/relationships/oleObject" Target="../embeddings/oleObject48.bin"/><Relationship Id="rId18" Type="http://schemas.openxmlformats.org/officeDocument/2006/relationships/image" Target="../media/image60.wmf"/><Relationship Id="rId3" Type="http://schemas.openxmlformats.org/officeDocument/2006/relationships/oleObject" Target="../embeddings/oleObject43.bin"/><Relationship Id="rId21" Type="http://schemas.openxmlformats.org/officeDocument/2006/relationships/oleObject" Target="../embeddings/oleObject52.bin"/><Relationship Id="rId7" Type="http://schemas.openxmlformats.org/officeDocument/2006/relationships/oleObject" Target="../embeddings/oleObject45.bin"/><Relationship Id="rId12" Type="http://schemas.openxmlformats.org/officeDocument/2006/relationships/image" Target="../media/image57.wmf"/><Relationship Id="rId17" Type="http://schemas.openxmlformats.org/officeDocument/2006/relationships/oleObject" Target="../embeddings/oleObject50.bin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59.wmf"/><Relationship Id="rId20" Type="http://schemas.openxmlformats.org/officeDocument/2006/relationships/image" Target="../media/image61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wmf"/><Relationship Id="rId11" Type="http://schemas.openxmlformats.org/officeDocument/2006/relationships/oleObject" Target="../embeddings/oleObject47.bin"/><Relationship Id="rId5" Type="http://schemas.openxmlformats.org/officeDocument/2006/relationships/oleObject" Target="../embeddings/oleObject44.bin"/><Relationship Id="rId15" Type="http://schemas.openxmlformats.org/officeDocument/2006/relationships/oleObject" Target="../embeddings/oleObject49.bin"/><Relationship Id="rId10" Type="http://schemas.openxmlformats.org/officeDocument/2006/relationships/image" Target="../media/image56.wmf"/><Relationship Id="rId19" Type="http://schemas.openxmlformats.org/officeDocument/2006/relationships/oleObject" Target="../embeddings/oleObject51.bin"/><Relationship Id="rId4" Type="http://schemas.openxmlformats.org/officeDocument/2006/relationships/image" Target="../media/image53.wmf"/><Relationship Id="rId9" Type="http://schemas.openxmlformats.org/officeDocument/2006/relationships/oleObject" Target="../embeddings/oleObject46.bin"/><Relationship Id="rId14" Type="http://schemas.openxmlformats.org/officeDocument/2006/relationships/image" Target="../media/image58.wmf"/><Relationship Id="rId22" Type="http://schemas.openxmlformats.org/officeDocument/2006/relationships/image" Target="../media/image62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image" Target="../media/image63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7" Type="http://schemas.openxmlformats.org/officeDocument/2006/relationships/image" Target="../media/image66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4.bin"/><Relationship Id="rId5" Type="http://schemas.openxmlformats.org/officeDocument/2006/relationships/image" Target="../media/image65.wmf"/><Relationship Id="rId4" Type="http://schemas.openxmlformats.org/officeDocument/2006/relationships/oleObject" Target="../embeddings/oleObject53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13" Type="http://schemas.openxmlformats.org/officeDocument/2006/relationships/oleObject" Target="../embeddings/oleObject60.bin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71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wmf"/><Relationship Id="rId11" Type="http://schemas.openxmlformats.org/officeDocument/2006/relationships/oleObject" Target="../embeddings/oleObject59.bin"/><Relationship Id="rId5" Type="http://schemas.openxmlformats.org/officeDocument/2006/relationships/oleObject" Target="../embeddings/oleObject56.bin"/><Relationship Id="rId10" Type="http://schemas.openxmlformats.org/officeDocument/2006/relationships/image" Target="../media/image70.wmf"/><Relationship Id="rId4" Type="http://schemas.openxmlformats.org/officeDocument/2006/relationships/image" Target="../media/image67.wmf"/><Relationship Id="rId9" Type="http://schemas.openxmlformats.org/officeDocument/2006/relationships/oleObject" Target="../embeddings/oleObject58.bin"/><Relationship Id="rId14" Type="http://schemas.openxmlformats.org/officeDocument/2006/relationships/image" Target="../media/image72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5" Type="http://schemas.openxmlformats.org/officeDocument/2006/relationships/image" Target="../media/image73.png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.bin"/><Relationship Id="rId3" Type="http://schemas.openxmlformats.org/officeDocument/2006/relationships/oleObject" Target="../embeddings/oleObject61.bin"/><Relationship Id="rId7" Type="http://schemas.openxmlformats.org/officeDocument/2006/relationships/image" Target="../media/image76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2.bin"/><Relationship Id="rId11" Type="http://schemas.openxmlformats.org/officeDocument/2006/relationships/image" Target="../media/image78.wmf"/><Relationship Id="rId5" Type="http://schemas.openxmlformats.org/officeDocument/2006/relationships/image" Target="../media/image75.png"/><Relationship Id="rId10" Type="http://schemas.openxmlformats.org/officeDocument/2006/relationships/oleObject" Target="../embeddings/oleObject64.bin"/><Relationship Id="rId4" Type="http://schemas.openxmlformats.org/officeDocument/2006/relationships/image" Target="../media/image74.wmf"/><Relationship Id="rId9" Type="http://schemas.openxmlformats.org/officeDocument/2006/relationships/image" Target="../media/image77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5" Type="http://schemas.openxmlformats.org/officeDocument/2006/relationships/image" Target="../media/image79.png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1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w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82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wmf"/><Relationship Id="rId5" Type="http://schemas.openxmlformats.org/officeDocument/2006/relationships/oleObject" Target="../embeddings/oleObject70.bin"/><Relationship Id="rId4" Type="http://schemas.openxmlformats.org/officeDocument/2006/relationships/image" Target="../media/image84.w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1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6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2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7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3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8.w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0960" y="91693"/>
            <a:ext cx="67056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2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   动力学的基本方程与动静法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64442" y="928670"/>
            <a:ext cx="9747982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000" i="0" dirty="0">
                <a:solidFill>
                  <a:schemeClr val="accent6">
                    <a:lumMod val="75000"/>
                  </a:schemeClr>
                </a:solidFill>
                <a:latin typeface="+mn-lt"/>
                <a:ea typeface="微软雅黑" panose="020B0503020204020204" pitchFamily="34" charset="-122"/>
              </a:rPr>
              <a:t>§6-1  </a:t>
            </a:r>
            <a:r>
              <a:rPr lang="zh-CN" altLang="en-US" sz="3000" i="0" dirty="0">
                <a:solidFill>
                  <a:schemeClr val="accent6">
                    <a:lumMod val="75000"/>
                  </a:schemeClr>
                </a:solidFill>
                <a:latin typeface="+mn-lt"/>
                <a:ea typeface="微软雅黑" panose="020B0503020204020204" pitchFamily="34" charset="-122"/>
              </a:rPr>
              <a:t>质点动力学基本方程</a:t>
            </a:r>
          </a:p>
        </p:txBody>
      </p:sp>
      <p:sp>
        <p:nvSpPr>
          <p:cNvPr id="52" name="Text Box 1032"/>
          <p:cNvSpPr txBox="1">
            <a:spLocks noChangeArrowheads="1"/>
          </p:cNvSpPr>
          <p:nvPr/>
        </p:nvSpPr>
        <p:spPr bwMode="auto">
          <a:xfrm>
            <a:off x="939805" y="1988840"/>
            <a:ext cx="8972619" cy="112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第一定律（惯性定律）</a:t>
            </a:r>
            <a:endParaRPr lang="en-US" altLang="zh-CN" sz="2800" i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不受力作用的质点，将保持静止或作匀速直线运动。</a:t>
            </a:r>
          </a:p>
        </p:txBody>
      </p:sp>
      <p:sp>
        <p:nvSpPr>
          <p:cNvPr id="6" name="矩形 5"/>
          <p:cNvSpPr/>
          <p:nvPr/>
        </p:nvSpPr>
        <p:spPr>
          <a:xfrm>
            <a:off x="3877201" y="1389509"/>
            <a:ext cx="2877711" cy="599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000" i="0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动力学基本定律</a:t>
            </a:r>
          </a:p>
        </p:txBody>
      </p:sp>
      <p:sp>
        <p:nvSpPr>
          <p:cNvPr id="8" name="Text Box 1032"/>
          <p:cNvSpPr txBox="1">
            <a:spLocks noChangeArrowheads="1"/>
          </p:cNvSpPr>
          <p:nvPr/>
        </p:nvSpPr>
        <p:spPr bwMode="auto">
          <a:xfrm>
            <a:off x="939805" y="3212976"/>
            <a:ext cx="8972619" cy="565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第二定律（力与加速度之间关系定律）</a:t>
            </a:r>
            <a:endParaRPr lang="zh-CN" altLang="en-US" sz="280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1032"/>
          <p:cNvSpPr txBox="1">
            <a:spLocks noChangeArrowheads="1"/>
          </p:cNvSpPr>
          <p:nvPr/>
        </p:nvSpPr>
        <p:spPr bwMode="auto">
          <a:xfrm>
            <a:off x="2639616" y="3719405"/>
            <a:ext cx="1237585" cy="683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dirty="0"/>
              <a:t>F=</a:t>
            </a:r>
            <a:r>
              <a:rPr lang="en-US" altLang="zh-CN" sz="3200" b="0" dirty="0"/>
              <a:t>m</a:t>
            </a:r>
            <a:r>
              <a:rPr lang="en-US" altLang="zh-CN" sz="3200" dirty="0"/>
              <a:t>a </a:t>
            </a:r>
            <a:endParaRPr lang="zh-CN" altLang="en-US" sz="320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1032"/>
          <p:cNvSpPr txBox="1">
            <a:spLocks noChangeArrowheads="1"/>
          </p:cNvSpPr>
          <p:nvPr/>
        </p:nvSpPr>
        <p:spPr bwMode="auto">
          <a:xfrm>
            <a:off x="5724986" y="3719405"/>
            <a:ext cx="2059851" cy="632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dirty="0"/>
              <a:t>F</a:t>
            </a:r>
            <a:r>
              <a:rPr lang="en-US" altLang="zh-CN" sz="3200" b="0" i="0" baseline="-25000" dirty="0"/>
              <a:t>Z</a:t>
            </a:r>
            <a:r>
              <a:rPr lang="en-US" altLang="zh-CN" sz="3200" dirty="0"/>
              <a:t>+F</a:t>
            </a:r>
            <a:r>
              <a:rPr lang="en-US" altLang="zh-CN" sz="3200" b="0" i="0" baseline="-25000" dirty="0"/>
              <a:t>N</a:t>
            </a:r>
            <a:r>
              <a:rPr lang="en-US" altLang="zh-CN" sz="3200" dirty="0"/>
              <a:t>=</a:t>
            </a:r>
            <a:r>
              <a:rPr lang="en-US" altLang="zh-CN" sz="3200" b="0" dirty="0"/>
              <a:t>m</a:t>
            </a:r>
            <a:r>
              <a:rPr lang="en-US" altLang="zh-CN" sz="3200" dirty="0"/>
              <a:t>a </a:t>
            </a:r>
            <a:endParaRPr lang="zh-CN" altLang="en-US" sz="320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Box 1032"/>
          <p:cNvSpPr txBox="1">
            <a:spLocks noChangeArrowheads="1"/>
          </p:cNvSpPr>
          <p:nvPr/>
        </p:nvSpPr>
        <p:spPr bwMode="auto">
          <a:xfrm>
            <a:off x="939805" y="4438943"/>
            <a:ext cx="8972619" cy="1643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第三定律（作用与反作用定律）</a:t>
            </a:r>
            <a:endParaRPr lang="en-US" altLang="zh-CN" sz="2800" i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两个物体间的作用力与反作用力总是大小相等</a:t>
            </a:r>
            <a:r>
              <a:rPr lang="en-US" altLang="zh-CN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方向相反</a:t>
            </a:r>
            <a:r>
              <a:rPr lang="en-US" altLang="zh-CN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沿着同一直线</a:t>
            </a:r>
            <a:r>
              <a:rPr lang="en-US" altLang="zh-CN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且同时分别作用在这两个物体上。</a:t>
            </a:r>
          </a:p>
        </p:txBody>
      </p:sp>
      <p:sp>
        <p:nvSpPr>
          <p:cNvPr id="13" name="矩形 12"/>
          <p:cNvSpPr/>
          <p:nvPr/>
        </p:nvSpPr>
        <p:spPr>
          <a:xfrm>
            <a:off x="4366701" y="3778264"/>
            <a:ext cx="6832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i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3000" i="0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0431910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utoUpdateAnimBg="0"/>
      <p:bldP spid="8" grpId="0" autoUpdateAnimBg="0"/>
      <p:bldP spid="10" grpId="0" autoUpdateAnimBg="0"/>
      <p:bldP spid="11" grpId="0" autoUpdateAnimBg="0"/>
      <p:bldP spid="12" grpId="0" autoUpdateAnimBg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0960" y="91693"/>
            <a:ext cx="67056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2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   动力学的基本方程与动静法</a:t>
            </a:r>
          </a:p>
        </p:txBody>
      </p:sp>
      <p:sp>
        <p:nvSpPr>
          <p:cNvPr id="6" name="矩形 5"/>
          <p:cNvSpPr/>
          <p:nvPr/>
        </p:nvSpPr>
        <p:spPr>
          <a:xfrm>
            <a:off x="3877201" y="1033411"/>
            <a:ext cx="44165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000" i="0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质点运动微分方程及应用</a:t>
            </a:r>
          </a:p>
        </p:txBody>
      </p:sp>
      <p:sp>
        <p:nvSpPr>
          <p:cNvPr id="12" name="Text Box 1032"/>
          <p:cNvSpPr txBox="1">
            <a:spLocks noChangeArrowheads="1"/>
          </p:cNvSpPr>
          <p:nvPr/>
        </p:nvSpPr>
        <p:spPr bwMode="auto">
          <a:xfrm>
            <a:off x="939805" y="2539203"/>
            <a:ext cx="8972619" cy="565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直角坐标轴上投影</a:t>
            </a:r>
          </a:p>
        </p:txBody>
      </p:sp>
      <p:graphicFrame>
        <p:nvGraphicFramePr>
          <p:cNvPr id="1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2567116"/>
              </p:ext>
            </p:extLst>
          </p:nvPr>
        </p:nvGraphicFramePr>
        <p:xfrm>
          <a:off x="1690688" y="3303588"/>
          <a:ext cx="2163762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01440" imgH="419040" progId="Equation.DSMT4">
                  <p:embed/>
                </p:oleObj>
              </mc:Choice>
              <mc:Fallback>
                <p:oleObj name="Equation" r:id="rId3" imgW="9014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0688" y="3303588"/>
                        <a:ext cx="2163762" cy="1004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7905632"/>
              </p:ext>
            </p:extLst>
          </p:nvPr>
        </p:nvGraphicFramePr>
        <p:xfrm>
          <a:off x="5405710" y="1521610"/>
          <a:ext cx="2103438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76240" imgH="419040" progId="Equation.DSMT4">
                  <p:embed/>
                </p:oleObj>
              </mc:Choice>
              <mc:Fallback>
                <p:oleObj name="Equation" r:id="rId5" imgW="8762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5710" y="1521610"/>
                        <a:ext cx="2103438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0495108"/>
              </p:ext>
            </p:extLst>
          </p:nvPr>
        </p:nvGraphicFramePr>
        <p:xfrm>
          <a:off x="2137273" y="1751013"/>
          <a:ext cx="1706563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11000" imgH="253800" progId="Equation.DSMT4">
                  <p:embed/>
                </p:oleObj>
              </mc:Choice>
              <mc:Fallback>
                <p:oleObj name="Equation" r:id="rId7" imgW="7110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7273" y="1751013"/>
                        <a:ext cx="1706563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/>
          <p:cNvSpPr/>
          <p:nvPr/>
        </p:nvSpPr>
        <p:spPr>
          <a:xfrm>
            <a:off x="4366701" y="1751013"/>
            <a:ext cx="6832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i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3000" i="0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graphicFrame>
        <p:nvGraphicFramePr>
          <p:cNvPr id="2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3464280"/>
              </p:ext>
            </p:extLst>
          </p:nvPr>
        </p:nvGraphicFramePr>
        <p:xfrm>
          <a:off x="4561545" y="3303588"/>
          <a:ext cx="2195512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14400" imgH="419040" progId="Equation.DSMT4">
                  <p:embed/>
                </p:oleObj>
              </mc:Choice>
              <mc:Fallback>
                <p:oleObj name="Equation" r:id="rId9" imgW="9144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1545" y="3303588"/>
                        <a:ext cx="2195512" cy="1004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0509632"/>
              </p:ext>
            </p:extLst>
          </p:nvPr>
        </p:nvGraphicFramePr>
        <p:xfrm>
          <a:off x="7494588" y="3303588"/>
          <a:ext cx="2135187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88840" imgH="419040" progId="Equation.DSMT4">
                  <p:embed/>
                </p:oleObj>
              </mc:Choice>
              <mc:Fallback>
                <p:oleObj name="Equation" r:id="rId11" imgW="8888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4588" y="3303588"/>
                        <a:ext cx="2135187" cy="1004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1032"/>
          <p:cNvSpPr txBox="1">
            <a:spLocks noChangeArrowheads="1"/>
          </p:cNvSpPr>
          <p:nvPr/>
        </p:nvSpPr>
        <p:spPr bwMode="auto">
          <a:xfrm>
            <a:off x="939805" y="4507256"/>
            <a:ext cx="8972619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自然轴上投影</a:t>
            </a:r>
          </a:p>
        </p:txBody>
      </p:sp>
      <p:graphicFrame>
        <p:nvGraphicFramePr>
          <p:cNvPr id="2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8622632"/>
              </p:ext>
            </p:extLst>
          </p:nvPr>
        </p:nvGraphicFramePr>
        <p:xfrm>
          <a:off x="1720850" y="5208588"/>
          <a:ext cx="2103438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876240" imgH="419040" progId="Equation.DSMT4">
                  <p:embed/>
                </p:oleObj>
              </mc:Choice>
              <mc:Fallback>
                <p:oleObj name="Equation" r:id="rId13" imgW="8762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0850" y="5208588"/>
                        <a:ext cx="2103438" cy="1004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1368083"/>
              </p:ext>
            </p:extLst>
          </p:nvPr>
        </p:nvGraphicFramePr>
        <p:xfrm>
          <a:off x="4667250" y="5178425"/>
          <a:ext cx="1981200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25480" imgH="444240" progId="Equation.DSMT4">
                  <p:embed/>
                </p:oleObj>
              </mc:Choice>
              <mc:Fallback>
                <p:oleObj name="Equation" r:id="rId15" imgW="8254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250" y="5178425"/>
                        <a:ext cx="1981200" cy="106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347941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19" grpId="0"/>
      <p:bldP spid="24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0960" y="91693"/>
            <a:ext cx="67056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2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   动力学的基本方程与动静法</a:t>
            </a:r>
          </a:p>
        </p:txBody>
      </p:sp>
      <p:sp>
        <p:nvSpPr>
          <p:cNvPr id="12" name="Text Box 1032"/>
          <p:cNvSpPr txBox="1">
            <a:spLocks noChangeArrowheads="1"/>
          </p:cNvSpPr>
          <p:nvPr/>
        </p:nvSpPr>
        <p:spPr bwMode="auto">
          <a:xfrm>
            <a:off x="939805" y="925121"/>
            <a:ext cx="8972619" cy="565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质点动力学的两类基本问题</a:t>
            </a:r>
          </a:p>
        </p:txBody>
      </p:sp>
      <p:sp>
        <p:nvSpPr>
          <p:cNvPr id="14" name="Text Box 1032"/>
          <p:cNvSpPr txBox="1">
            <a:spLocks noChangeArrowheads="1"/>
          </p:cNvSpPr>
          <p:nvPr/>
        </p:nvSpPr>
        <p:spPr bwMode="auto">
          <a:xfrm>
            <a:off x="939805" y="1689506"/>
            <a:ext cx="8972619" cy="565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第一类问题：已知运动求力</a:t>
            </a:r>
          </a:p>
        </p:txBody>
      </p:sp>
      <p:sp>
        <p:nvSpPr>
          <p:cNvPr id="15" name="Text Box 1032"/>
          <p:cNvSpPr txBox="1">
            <a:spLocks noChangeArrowheads="1"/>
          </p:cNvSpPr>
          <p:nvPr/>
        </p:nvSpPr>
        <p:spPr bwMode="auto">
          <a:xfrm>
            <a:off x="939805" y="2256401"/>
            <a:ext cx="8972619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第二类问题：已知力求运动</a:t>
            </a:r>
          </a:p>
        </p:txBody>
      </p:sp>
      <p:sp>
        <p:nvSpPr>
          <p:cNvPr id="17" name="Text Box 1032"/>
          <p:cNvSpPr txBox="1">
            <a:spLocks noChangeArrowheads="1"/>
          </p:cNvSpPr>
          <p:nvPr/>
        </p:nvSpPr>
        <p:spPr bwMode="auto">
          <a:xfrm>
            <a:off x="939805" y="2865799"/>
            <a:ext cx="8972619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混合问题：第一类问题与第二类问题的混合</a:t>
            </a:r>
          </a:p>
        </p:txBody>
      </p:sp>
    </p:spTree>
    <p:extLst>
      <p:ext uri="{BB962C8B-B14F-4D97-AF65-F5344CB8AC3E}">
        <p14:creationId xmlns:p14="http://schemas.microsoft.com/office/powerpoint/2010/main" val="169310235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14" grpId="0" autoUpdateAnimBg="0"/>
      <p:bldP spid="15" grpId="0" autoUpdateAnimBg="0"/>
      <p:bldP spid="17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0960" y="91693"/>
            <a:ext cx="67056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2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   动力学的基本方程与动静法</a:t>
            </a:r>
          </a:p>
        </p:txBody>
      </p:sp>
      <p:sp>
        <p:nvSpPr>
          <p:cNvPr id="4" name="矩形 3"/>
          <p:cNvSpPr/>
          <p:nvPr/>
        </p:nvSpPr>
        <p:spPr>
          <a:xfrm>
            <a:off x="551384" y="908720"/>
            <a:ext cx="10081120" cy="90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</a:pPr>
            <a:r>
              <a:rPr lang="zh-CN" altLang="en-US" i="0" dirty="0">
                <a:solidFill>
                  <a:srgbClr val="0033CC"/>
                </a:solidFill>
                <a:ea typeface="黑体" panose="02010609060101010101" pitchFamily="49" charset="-122"/>
              </a:rPr>
              <a:t>例  </a:t>
            </a:r>
            <a:r>
              <a:rPr lang="zh-CN" altLang="en-US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曲柄连杆机构如图所示</a:t>
            </a:r>
            <a:r>
              <a:rPr lang="en-US" altLang="zh-CN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曲柄</a:t>
            </a:r>
            <a:r>
              <a:rPr lang="en-US" altLang="zh-CN" b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OA</a:t>
            </a:r>
            <a:r>
              <a:rPr lang="zh-CN" altLang="en-US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以匀角速度</a:t>
            </a:r>
            <a:r>
              <a:rPr lang="el-GR" altLang="zh-CN" b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ω</a:t>
            </a:r>
            <a:r>
              <a:rPr lang="zh-CN" altLang="en-US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转动</a:t>
            </a:r>
            <a:r>
              <a:rPr lang="en-US" altLang="zh-CN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OA</a:t>
            </a:r>
            <a:r>
              <a:rPr lang="en-US" altLang="zh-CN" b="0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b="0" dirty="0" err="1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b="0" i="0" dirty="0" err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b="0" dirty="0" err="1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AB</a:t>
            </a:r>
            <a:r>
              <a:rPr lang="en-US" altLang="zh-CN" b="0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b="0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zh-CN" altLang="en-US" b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b="0" i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b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b="0" i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en-US" altLang="zh-CN" b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b="0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        </a:t>
            </a:r>
            <a:r>
              <a:rPr lang="zh-CN" altLang="en-US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比较小时</a:t>
            </a:r>
            <a:r>
              <a:rPr lang="en-US" altLang="zh-CN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以</a:t>
            </a:r>
            <a:r>
              <a:rPr lang="en-US" altLang="zh-CN" b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lang="zh-CN" altLang="en-US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为坐标原点</a:t>
            </a:r>
            <a:r>
              <a:rPr lang="en-US" altLang="zh-CN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滑块</a:t>
            </a:r>
            <a:r>
              <a:rPr lang="en-US" altLang="zh-CN" b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B </a:t>
            </a:r>
            <a:r>
              <a:rPr lang="zh-CN" altLang="en-US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的运动方程可近似写为</a:t>
            </a:r>
            <a:r>
              <a:rPr lang="zh-CN" altLang="en-US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graphicFrame>
        <p:nvGraphicFramePr>
          <p:cNvPr id="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6010648"/>
              </p:ext>
            </p:extLst>
          </p:nvPr>
        </p:nvGraphicFramePr>
        <p:xfrm>
          <a:off x="2351584" y="1844824"/>
          <a:ext cx="4500563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111500" imgH="647700" progId="Equation.3">
                  <p:embed/>
                </p:oleObj>
              </mc:Choice>
              <mc:Fallback>
                <p:oleObj name="Equation" r:id="rId5" imgW="3111500" imgH="647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584" y="1844824"/>
                        <a:ext cx="4500563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551384" y="2708920"/>
            <a:ext cx="10081120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如滑块的质量为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忽略摩擦及连杆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AB</a:t>
            </a:r>
            <a:r>
              <a:rPr lang="zh-CN" altLang="en-US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的质量</a:t>
            </a:r>
            <a:r>
              <a:rPr lang="en-US" altLang="zh-CN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试求当</a:t>
            </a:r>
            <a:r>
              <a:rPr lang="el-GR" altLang="zh-CN" b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l-GR" altLang="zh-CN" b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ω</a:t>
            </a:r>
            <a:r>
              <a:rPr lang="en-US" altLang="zh-CN" b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t=</a:t>
            </a:r>
            <a:r>
              <a:rPr lang="en-US" altLang="zh-CN" b="0" i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l-GR" altLang="zh-CN" b="0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π</a:t>
            </a:r>
            <a:r>
              <a:rPr lang="en-US" altLang="zh-CN" b="0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/2</a:t>
            </a:r>
            <a:r>
              <a:rPr lang="zh-CN" altLang="en-US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连杆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AB</a:t>
            </a:r>
            <a:r>
              <a:rPr lang="zh-CN" altLang="en-US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所受的力。</a:t>
            </a:r>
            <a:endParaRPr lang="zh-CN" altLang="en-US" i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Rectangle 61"/>
          <p:cNvSpPr>
            <a:spLocks noChangeArrowheads="1"/>
          </p:cNvSpPr>
          <p:nvPr/>
        </p:nvSpPr>
        <p:spPr bwMode="auto">
          <a:xfrm>
            <a:off x="3287688" y="3212976"/>
            <a:ext cx="5112568" cy="3024336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6" name="10-2new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937914" y="3295600"/>
            <a:ext cx="3812116" cy="2859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83814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  <p:bldLst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0960" y="91693"/>
            <a:ext cx="67056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2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   动力学的基本方程与动静法</a:t>
            </a:r>
          </a:p>
        </p:txBody>
      </p:sp>
      <p:sp>
        <p:nvSpPr>
          <p:cNvPr id="4" name="矩形 3"/>
          <p:cNvSpPr/>
          <p:nvPr/>
        </p:nvSpPr>
        <p:spPr>
          <a:xfrm>
            <a:off x="191344" y="977347"/>
            <a:ext cx="2304256" cy="49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</a:pPr>
            <a:r>
              <a:rPr lang="zh-CN" altLang="en-US" i="0" dirty="0">
                <a:solidFill>
                  <a:srgbClr val="0033CC"/>
                </a:solidFill>
                <a:ea typeface="黑体" panose="02010609060101010101" pitchFamily="49" charset="-122"/>
              </a:rPr>
              <a:t>解  </a:t>
            </a:r>
            <a:r>
              <a:rPr lang="zh-CN" altLang="en-US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研究滑块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endParaRPr lang="zh-CN" altLang="en-US" i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Rectangle 61"/>
          <p:cNvSpPr>
            <a:spLocks noChangeArrowheads="1"/>
          </p:cNvSpPr>
          <p:nvPr/>
        </p:nvSpPr>
        <p:spPr bwMode="auto">
          <a:xfrm>
            <a:off x="5735960" y="1340768"/>
            <a:ext cx="6336704" cy="3024336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8" name="Picture 34" descr="10-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187" y="1633736"/>
            <a:ext cx="606425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/>
        </p:nvSpPr>
        <p:spPr>
          <a:xfrm>
            <a:off x="587388" y="1924342"/>
            <a:ext cx="3816424" cy="504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其中</a:t>
            </a:r>
            <a:endParaRPr lang="zh-CN" altLang="en-US" i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7439202"/>
              </p:ext>
            </p:extLst>
          </p:nvPr>
        </p:nvGraphicFramePr>
        <p:xfrm>
          <a:off x="702470" y="1452625"/>
          <a:ext cx="2204467" cy="502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33500" imgH="304800" progId="Equation.3">
                  <p:embed/>
                </p:oleObj>
              </mc:Choice>
              <mc:Fallback>
                <p:oleObj name="Equation" r:id="rId4" imgW="1333500" imgH="304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470" y="1452625"/>
                        <a:ext cx="2204467" cy="5022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1659580"/>
              </p:ext>
            </p:extLst>
          </p:nvPr>
        </p:nvGraphicFramePr>
        <p:xfrm>
          <a:off x="696410" y="2381958"/>
          <a:ext cx="4828430" cy="554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06700" imgH="317500" progId="Equation.DSMT4">
                  <p:embed/>
                </p:oleObj>
              </mc:Choice>
              <mc:Fallback>
                <p:oleObj name="Equation" r:id="rId6" imgW="2806700" imgH="317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410" y="2381958"/>
                        <a:ext cx="4828430" cy="5544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/>
          <p:cNvSpPr/>
          <p:nvPr/>
        </p:nvSpPr>
        <p:spPr>
          <a:xfrm>
            <a:off x="587388" y="2902887"/>
            <a:ext cx="3816424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l-GR" altLang="zh-CN" b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b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b="0" i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l-GR" altLang="zh-CN" b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β</a:t>
            </a:r>
            <a:r>
              <a:rPr lang="en-US" altLang="zh-CN" b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b="0" i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endParaRPr lang="zh-CN" altLang="en-US" i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4113045"/>
              </p:ext>
            </p:extLst>
          </p:nvPr>
        </p:nvGraphicFramePr>
        <p:xfrm>
          <a:off x="708024" y="3417887"/>
          <a:ext cx="2291632" cy="548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79280" imgH="253800" progId="Equation.DSMT4">
                  <p:embed/>
                </p:oleObj>
              </mc:Choice>
              <mc:Fallback>
                <p:oleObj name="Equation" r:id="rId8" imgW="10792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024" y="3417887"/>
                        <a:ext cx="2291632" cy="5488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8574928"/>
              </p:ext>
            </p:extLst>
          </p:nvPr>
        </p:nvGraphicFramePr>
        <p:xfrm>
          <a:off x="3308101" y="3424049"/>
          <a:ext cx="2291632" cy="548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79280" imgH="253800" progId="Equation.DSMT4">
                  <p:embed/>
                </p:oleObj>
              </mc:Choice>
              <mc:Fallback>
                <p:oleObj name="Equation" r:id="rId10" imgW="10792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8101" y="3424049"/>
                        <a:ext cx="2291632" cy="5488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/>
          <p:cNvSpPr/>
          <p:nvPr/>
        </p:nvSpPr>
        <p:spPr>
          <a:xfrm>
            <a:off x="587388" y="3937294"/>
            <a:ext cx="3816424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l-GR" altLang="zh-CN" b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b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l-GR" altLang="zh-CN" b="0" i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π</a:t>
            </a:r>
            <a:r>
              <a:rPr lang="en-US" altLang="zh-CN" b="0" i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/2</a:t>
            </a:r>
            <a:r>
              <a:rPr lang="zh-CN" altLang="en-US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l-GR" altLang="zh-CN" b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i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5898075"/>
              </p:ext>
            </p:extLst>
          </p:nvPr>
        </p:nvGraphicFramePr>
        <p:xfrm>
          <a:off x="708024" y="4465638"/>
          <a:ext cx="15906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49160" imgH="241200" progId="Equation.DSMT4">
                  <p:embed/>
                </p:oleObj>
              </mc:Choice>
              <mc:Fallback>
                <p:oleObj name="Equation" r:id="rId12" imgW="7491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024" y="4465638"/>
                        <a:ext cx="159067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4282930"/>
              </p:ext>
            </p:extLst>
          </p:nvPr>
        </p:nvGraphicFramePr>
        <p:xfrm>
          <a:off x="2747110" y="4443413"/>
          <a:ext cx="2532063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93760" imgH="266400" progId="Equation.DSMT4">
                  <p:embed/>
                </p:oleObj>
              </mc:Choice>
              <mc:Fallback>
                <p:oleObj name="Equation" r:id="rId14" imgW="119376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7110" y="4443413"/>
                        <a:ext cx="2532063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4614526"/>
              </p:ext>
            </p:extLst>
          </p:nvPr>
        </p:nvGraphicFramePr>
        <p:xfrm>
          <a:off x="696410" y="5092035"/>
          <a:ext cx="299402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409400" imgH="253800" progId="Equation.DSMT4">
                  <p:embed/>
                </p:oleObj>
              </mc:Choice>
              <mc:Fallback>
                <p:oleObj name="Equation" r:id="rId16" imgW="14094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410" y="5092035"/>
                        <a:ext cx="2994025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矩形 24"/>
          <p:cNvSpPr/>
          <p:nvPr/>
        </p:nvSpPr>
        <p:spPr>
          <a:xfrm>
            <a:off x="656751" y="5693081"/>
            <a:ext cx="4622421" cy="56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</a:pPr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这属于动力学第一类问题</a:t>
            </a:r>
          </a:p>
        </p:txBody>
      </p:sp>
    </p:spTree>
    <p:extLst>
      <p:ext uri="{BB962C8B-B14F-4D97-AF65-F5344CB8AC3E}">
        <p14:creationId xmlns:p14="http://schemas.microsoft.com/office/powerpoint/2010/main" val="42383662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 animBg="1"/>
      <p:bldP spid="9" grpId="0"/>
      <p:bldP spid="18" grpId="0"/>
      <p:bldP spid="21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0960" y="91693"/>
            <a:ext cx="67056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2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   动力学的基本方程与动静法</a:t>
            </a:r>
          </a:p>
        </p:txBody>
      </p:sp>
      <p:sp>
        <p:nvSpPr>
          <p:cNvPr id="4" name="矩形 3"/>
          <p:cNvSpPr/>
          <p:nvPr/>
        </p:nvSpPr>
        <p:spPr>
          <a:xfrm>
            <a:off x="551384" y="908720"/>
            <a:ext cx="1008112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30000"/>
              </a:lnSpc>
            </a:pPr>
            <a:r>
              <a:rPr lang="zh-CN" altLang="en-US" i="0" dirty="0">
                <a:solidFill>
                  <a:srgbClr val="0033CC"/>
                </a:solidFill>
                <a:ea typeface="黑体" panose="02010609060101010101" pitchFamily="49" charset="-122"/>
              </a:rPr>
              <a:t>例  </a:t>
            </a:r>
            <a:r>
              <a:rPr lang="zh-CN" altLang="en-US" i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质量为</a:t>
            </a:r>
            <a:r>
              <a:rPr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i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的质点带有电荷</a:t>
            </a:r>
            <a:r>
              <a:rPr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zh-CN" altLang="en-US" i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，以速度</a:t>
            </a:r>
            <a:r>
              <a:rPr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0" i="0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i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进入强度按</a:t>
            </a:r>
            <a:r>
              <a:rPr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0" i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b="0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="0" i="0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b="0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kt</a:t>
            </a:r>
            <a:r>
              <a:rPr lang="zh-CN" altLang="en-US" i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变化的均匀电场中，初速度方向与电场强度垂直，如图所示。质点在电场中受力</a:t>
            </a:r>
            <a:r>
              <a:rPr lang="en-US" altLang="zh-CN" i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F=−</a:t>
            </a:r>
            <a:r>
              <a:rPr lang="en-US" altLang="zh-CN" b="0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i="0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zh-CN" altLang="en-US" i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的作用。已知常数</a:t>
            </a:r>
            <a:r>
              <a:rPr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i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 i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，忽略质点的重力，试求质点的运动轨迹。</a:t>
            </a:r>
          </a:p>
          <a:p>
            <a:pPr lvl="0">
              <a:lnSpc>
                <a:spcPct val="110000"/>
              </a:lnSpc>
            </a:pPr>
            <a:r>
              <a:rPr lang="zh-CN" altLang="en-US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13" name="Rectangle 61"/>
          <p:cNvSpPr>
            <a:spLocks noChangeArrowheads="1"/>
          </p:cNvSpPr>
          <p:nvPr/>
        </p:nvSpPr>
        <p:spPr bwMode="auto">
          <a:xfrm>
            <a:off x="2855640" y="2492896"/>
            <a:ext cx="5760640" cy="3600400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8" name="10-3new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575720" y="2636912"/>
            <a:ext cx="4425280" cy="331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3424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  <p:bldLst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0960" y="91693"/>
            <a:ext cx="67056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2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   动力学的基本方程与动静法</a:t>
            </a:r>
          </a:p>
        </p:txBody>
      </p:sp>
      <p:sp>
        <p:nvSpPr>
          <p:cNvPr id="4" name="矩形 3"/>
          <p:cNvSpPr/>
          <p:nvPr/>
        </p:nvSpPr>
        <p:spPr>
          <a:xfrm>
            <a:off x="191343" y="977347"/>
            <a:ext cx="3116757" cy="49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</a:pPr>
            <a:r>
              <a:rPr lang="zh-CN" altLang="en-US" i="0" dirty="0">
                <a:solidFill>
                  <a:srgbClr val="0033CC"/>
                </a:solidFill>
                <a:ea typeface="黑体" panose="02010609060101010101" pitchFamily="49" charset="-122"/>
              </a:rPr>
              <a:t>解  </a:t>
            </a:r>
            <a:r>
              <a:rPr lang="zh-CN" altLang="en-US" i="0" dirty="0">
                <a:solidFill>
                  <a:schemeClr val="tx1"/>
                </a:solidFill>
                <a:ea typeface="黑体" panose="02010609060101010101" pitchFamily="49" charset="-122"/>
              </a:rPr>
              <a:t>以质子为研究对象</a:t>
            </a:r>
            <a:endParaRPr lang="zh-CN" altLang="en-US" i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Rectangle 61"/>
          <p:cNvSpPr>
            <a:spLocks noChangeArrowheads="1"/>
          </p:cNvSpPr>
          <p:nvPr/>
        </p:nvSpPr>
        <p:spPr bwMode="auto">
          <a:xfrm>
            <a:off x="7206559" y="977347"/>
            <a:ext cx="4752528" cy="3645570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587388" y="2161658"/>
            <a:ext cx="4788532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b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t=</a:t>
            </a:r>
            <a:r>
              <a:rPr lang="en-US" altLang="zh-CN" b="0" i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时，</a:t>
            </a:r>
            <a:r>
              <a:rPr lang="en-US" altLang="zh-CN" b="0" dirty="0" err="1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0" baseline="-25000" dirty="0" err="1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b="0" i="0" baseline="-25000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b="0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0" i="0" baseline="-25000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0 </a:t>
            </a:r>
            <a:r>
              <a:rPr lang="zh-CN" altLang="en-US" b="0" i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b="0" dirty="0" err="1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0" baseline="-25000" dirty="0" err="1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b="0" i="0" baseline="-25000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b="0" i="0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b="0" i="0" baseline="-25000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积分</a:t>
            </a:r>
            <a:endParaRPr lang="zh-CN" altLang="en-US" i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30000"/>
              </a:lnSpc>
            </a:pPr>
            <a:endParaRPr lang="zh-CN" altLang="en-US" i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0032991"/>
              </p:ext>
            </p:extLst>
          </p:nvPr>
        </p:nvGraphicFramePr>
        <p:xfrm>
          <a:off x="708024" y="1401677"/>
          <a:ext cx="5681770" cy="801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71800" imgH="419040" progId="Equation.DSMT4">
                  <p:embed/>
                </p:oleObj>
              </mc:Choice>
              <mc:Fallback>
                <p:oleObj name="Equation" r:id="rId3" imgW="29718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024" y="1401677"/>
                        <a:ext cx="5681770" cy="8011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" name="Picture 1042" descr="10-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1880" y="1145350"/>
            <a:ext cx="3877167" cy="3321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2658351"/>
              </p:ext>
            </p:extLst>
          </p:nvPr>
        </p:nvGraphicFramePr>
        <p:xfrm>
          <a:off x="719587" y="2747874"/>
          <a:ext cx="1563917" cy="7073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60240" imgH="355320" progId="Equation.DSMT4">
                  <p:embed/>
                </p:oleObj>
              </mc:Choice>
              <mc:Fallback>
                <p:oleObj name="Equation" r:id="rId6" imgW="66024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587" y="2747874"/>
                        <a:ext cx="1563917" cy="7073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8240302"/>
              </p:ext>
            </p:extLst>
          </p:nvPr>
        </p:nvGraphicFramePr>
        <p:xfrm>
          <a:off x="2612328" y="2646272"/>
          <a:ext cx="3265593" cy="80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73120" imgH="393480" progId="Equation.DSMT4">
                  <p:embed/>
                </p:oleObj>
              </mc:Choice>
              <mc:Fallback>
                <p:oleObj name="Equation" r:id="rId8" imgW="14731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2328" y="2646272"/>
                        <a:ext cx="3265593" cy="80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Group 1061"/>
          <p:cNvGrpSpPr/>
          <p:nvPr/>
        </p:nvGrpSpPr>
        <p:grpSpPr bwMode="auto">
          <a:xfrm>
            <a:off x="708024" y="3438606"/>
            <a:ext cx="4473595" cy="740814"/>
            <a:chOff x="781" y="3583"/>
            <a:chExt cx="3349" cy="614"/>
          </a:xfrm>
        </p:grpSpPr>
        <p:graphicFrame>
          <p:nvGraphicFramePr>
            <p:cNvPr id="34" name="Object 7"/>
            <p:cNvGraphicFramePr>
              <a:graphicFrameLocks noChangeAspect="1"/>
            </p:cNvGraphicFramePr>
            <p:nvPr/>
          </p:nvGraphicFramePr>
          <p:xfrm>
            <a:off x="781" y="3583"/>
            <a:ext cx="1199" cy="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028700" imgH="520700" progId="Equation.DSMT4">
                    <p:embed/>
                  </p:oleObj>
                </mc:Choice>
                <mc:Fallback>
                  <p:oleObj name="Equation" r:id="rId10" imgW="1028700" imgH="5207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1" y="3583"/>
                          <a:ext cx="1199" cy="6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tx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9043872"/>
                </p:ext>
              </p:extLst>
            </p:nvPr>
          </p:nvGraphicFramePr>
          <p:xfrm>
            <a:off x="2115" y="3596"/>
            <a:ext cx="2015" cy="6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765300" imgH="520700" progId="Equation.DSMT4">
                    <p:embed/>
                  </p:oleObj>
                </mc:Choice>
                <mc:Fallback>
                  <p:oleObj name="Equation" r:id="rId12" imgW="1765300" imgH="5207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5" y="3596"/>
                          <a:ext cx="2015" cy="6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tx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6" name="矩形 35"/>
          <p:cNvSpPr/>
          <p:nvPr/>
        </p:nvSpPr>
        <p:spPr>
          <a:xfrm>
            <a:off x="587388" y="4163815"/>
            <a:ext cx="3816424" cy="5208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b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t=</a:t>
            </a:r>
            <a:r>
              <a:rPr lang="en-US" altLang="zh-CN" b="0" i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时，</a:t>
            </a:r>
            <a:r>
              <a:rPr lang="en-US" altLang="zh-CN" b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x=y=</a:t>
            </a:r>
            <a:r>
              <a:rPr lang="en-US" altLang="zh-CN" b="0" i="0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b="0" i="0" baseline="-25000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积分</a:t>
            </a:r>
          </a:p>
        </p:txBody>
      </p:sp>
      <p:graphicFrame>
        <p:nvGraphicFramePr>
          <p:cNvPr id="3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0018764"/>
              </p:ext>
            </p:extLst>
          </p:nvPr>
        </p:nvGraphicFramePr>
        <p:xfrm>
          <a:off x="708024" y="4763649"/>
          <a:ext cx="1890399" cy="6659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27000" imgH="330120" progId="Equation.DSMT4">
                  <p:embed/>
                </p:oleObj>
              </mc:Choice>
              <mc:Fallback>
                <p:oleObj name="Equation" r:id="rId14" imgW="9270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024" y="4763649"/>
                        <a:ext cx="1890399" cy="6659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8438055"/>
              </p:ext>
            </p:extLst>
          </p:nvPr>
        </p:nvGraphicFramePr>
        <p:xfrm>
          <a:off x="2719058" y="4743804"/>
          <a:ext cx="3016902" cy="7388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71600" imgH="393480" progId="Equation.DSMT4">
                  <p:embed/>
                </p:oleObj>
              </mc:Choice>
              <mc:Fallback>
                <p:oleObj name="Equation" r:id="rId16" imgW="13716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9058" y="4743804"/>
                        <a:ext cx="3016902" cy="7388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矩形 38"/>
          <p:cNvSpPr/>
          <p:nvPr/>
        </p:nvSpPr>
        <p:spPr>
          <a:xfrm>
            <a:off x="587388" y="5578455"/>
            <a:ext cx="1764196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得运动方程</a:t>
            </a:r>
          </a:p>
        </p:txBody>
      </p:sp>
      <p:graphicFrame>
        <p:nvGraphicFramePr>
          <p:cNvPr id="4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7647413"/>
              </p:ext>
            </p:extLst>
          </p:nvPr>
        </p:nvGraphicFramePr>
        <p:xfrm>
          <a:off x="2309648" y="5489876"/>
          <a:ext cx="3382409" cy="749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374900" imgH="520700" progId="Equation.DSMT4">
                  <p:embed/>
                </p:oleObj>
              </mc:Choice>
              <mc:Fallback>
                <p:oleObj name="Equation" r:id="rId18" imgW="2374900" imgH="520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9648" y="5489876"/>
                        <a:ext cx="3382409" cy="7496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矩形 40"/>
          <p:cNvSpPr/>
          <p:nvPr/>
        </p:nvSpPr>
        <p:spPr>
          <a:xfrm>
            <a:off x="6320141" y="4828685"/>
            <a:ext cx="2998900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消去</a:t>
            </a:r>
            <a:r>
              <a:rPr lang="en-US" altLang="zh-CN" b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，得轨迹方程</a:t>
            </a:r>
          </a:p>
        </p:txBody>
      </p:sp>
      <p:graphicFrame>
        <p:nvGraphicFramePr>
          <p:cNvPr id="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1747694"/>
              </p:ext>
            </p:extLst>
          </p:nvPr>
        </p:nvGraphicFramePr>
        <p:xfrm>
          <a:off x="9319041" y="4645991"/>
          <a:ext cx="2662969" cy="9012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993900" imgH="673100" progId="Equation.3">
                  <p:embed/>
                </p:oleObj>
              </mc:Choice>
              <mc:Fallback>
                <p:oleObj name="Equation" r:id="rId20" imgW="1993900" imgH="673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19041" y="4645991"/>
                        <a:ext cx="2662969" cy="9012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矩形 42"/>
          <p:cNvSpPr/>
          <p:nvPr/>
        </p:nvSpPr>
        <p:spPr>
          <a:xfrm>
            <a:off x="6740117" y="5693081"/>
            <a:ext cx="4622421" cy="56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</a:pPr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这属于动力学第二类问题</a:t>
            </a:r>
          </a:p>
        </p:txBody>
      </p:sp>
    </p:spTree>
    <p:extLst>
      <p:ext uri="{BB962C8B-B14F-4D97-AF65-F5344CB8AC3E}">
        <p14:creationId xmlns:p14="http://schemas.microsoft.com/office/powerpoint/2010/main" val="189928471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 animBg="1"/>
      <p:bldP spid="18" grpId="0"/>
      <p:bldP spid="36" grpId="0"/>
      <p:bldP spid="39" grpId="0"/>
      <p:bldP spid="41" grpId="0"/>
      <p:bldP spid="4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0960" y="91693"/>
            <a:ext cx="67056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2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   动力学的基本方程与动静法</a:t>
            </a:r>
          </a:p>
        </p:txBody>
      </p:sp>
      <p:sp>
        <p:nvSpPr>
          <p:cNvPr id="4" name="矩形 3"/>
          <p:cNvSpPr/>
          <p:nvPr/>
        </p:nvSpPr>
        <p:spPr>
          <a:xfrm>
            <a:off x="551384" y="908720"/>
            <a:ext cx="10081120" cy="2086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i="0" dirty="0">
                <a:solidFill>
                  <a:srgbClr val="0033CC"/>
                </a:solidFill>
                <a:ea typeface="黑体" panose="02010609060101010101" pitchFamily="49" charset="-122"/>
              </a:rPr>
              <a:t>例  </a:t>
            </a:r>
            <a:r>
              <a:rPr lang="zh-CN" altLang="en-US" i="0" dirty="0">
                <a:solidFill>
                  <a:schemeClr val="tx1"/>
                </a:solidFill>
                <a:ea typeface="黑体" panose="02010609060101010101" pitchFamily="49" charset="-122"/>
              </a:rPr>
              <a:t>一圆锥摆</a:t>
            </a:r>
            <a:r>
              <a:rPr lang="en-US" altLang="zh-CN" i="0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zh-CN" altLang="en-US" i="0" dirty="0">
                <a:solidFill>
                  <a:schemeClr val="tx1"/>
                </a:solidFill>
                <a:ea typeface="黑体" panose="02010609060101010101" pitchFamily="49" charset="-122"/>
              </a:rPr>
              <a:t>如图所示。质量</a:t>
            </a:r>
            <a:r>
              <a:rPr lang="en-US" altLang="zh-CN" b="0" dirty="0">
                <a:solidFill>
                  <a:schemeClr val="tx1"/>
                </a:solidFill>
                <a:ea typeface="黑体" panose="02010609060101010101" pitchFamily="49" charset="-122"/>
              </a:rPr>
              <a:t>m</a:t>
            </a:r>
            <a:r>
              <a:rPr lang="en-US" altLang="zh-CN" i="0" dirty="0">
                <a:solidFill>
                  <a:schemeClr val="tx1"/>
                </a:solidFill>
                <a:ea typeface="黑体" panose="02010609060101010101" pitchFamily="49" charset="-122"/>
              </a:rPr>
              <a:t>=</a:t>
            </a:r>
            <a:r>
              <a:rPr lang="en-US" altLang="zh-CN" b="0" i="0" dirty="0">
                <a:solidFill>
                  <a:schemeClr val="tx1"/>
                </a:solidFill>
                <a:ea typeface="黑体" panose="02010609060101010101" pitchFamily="49" charset="-122"/>
              </a:rPr>
              <a:t>0.1kg</a:t>
            </a:r>
            <a:r>
              <a:rPr lang="zh-CN" altLang="en-US" i="0" dirty="0">
                <a:solidFill>
                  <a:schemeClr val="tx1"/>
                </a:solidFill>
                <a:ea typeface="黑体" panose="02010609060101010101" pitchFamily="49" charset="-122"/>
              </a:rPr>
              <a:t>的小球系于长</a:t>
            </a:r>
            <a:r>
              <a:rPr lang="en-US" altLang="zh-CN" b="0" dirty="0">
                <a:solidFill>
                  <a:schemeClr val="tx1"/>
                </a:solidFill>
                <a:ea typeface="黑体" panose="02010609060101010101" pitchFamily="49" charset="-122"/>
              </a:rPr>
              <a:t>l</a:t>
            </a:r>
            <a:r>
              <a:rPr lang="en-US" altLang="zh-CN" b="0" i="0" dirty="0">
                <a:solidFill>
                  <a:schemeClr val="tx1"/>
                </a:solidFill>
                <a:ea typeface="黑体" panose="02010609060101010101" pitchFamily="49" charset="-122"/>
              </a:rPr>
              <a:t>=0.3m</a:t>
            </a:r>
            <a:r>
              <a:rPr lang="en-US" altLang="zh-CN" i="0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i="0" dirty="0">
                <a:solidFill>
                  <a:schemeClr val="tx1"/>
                </a:solidFill>
                <a:ea typeface="黑体" panose="02010609060101010101" pitchFamily="49" charset="-122"/>
              </a:rPr>
              <a:t>的绳上，绳的另一端系在固定点</a:t>
            </a:r>
            <a:r>
              <a:rPr lang="en-US" altLang="zh-CN" i="0" dirty="0">
                <a:solidFill>
                  <a:schemeClr val="tx1"/>
                </a:solidFill>
                <a:ea typeface="黑体" panose="02010609060101010101" pitchFamily="49" charset="-122"/>
              </a:rPr>
              <a:t>O</a:t>
            </a:r>
            <a:r>
              <a:rPr lang="zh-CN" altLang="en-US" i="0" dirty="0">
                <a:solidFill>
                  <a:schemeClr val="tx1"/>
                </a:solidFill>
                <a:ea typeface="黑体" panose="02010609060101010101" pitchFamily="49" charset="-122"/>
              </a:rPr>
              <a:t>，并与铅直线成</a:t>
            </a:r>
            <a:r>
              <a:rPr lang="el-GR" altLang="zh-CN" b="0" dirty="0">
                <a:solidFill>
                  <a:schemeClr val="tx1"/>
                </a:solidFill>
                <a:ea typeface="黑体" panose="02010609060101010101" pitchFamily="49" charset="-122"/>
              </a:rPr>
              <a:t>θ</a:t>
            </a:r>
            <a:r>
              <a:rPr lang="en-US" altLang="zh-CN" b="0" i="0" dirty="0">
                <a:solidFill>
                  <a:schemeClr val="tx1"/>
                </a:solidFill>
                <a:ea typeface="黑体" panose="02010609060101010101" pitchFamily="49" charset="-122"/>
              </a:rPr>
              <a:t>=60º</a:t>
            </a:r>
            <a:r>
              <a:rPr lang="zh-CN" altLang="en-US" b="0" i="0" dirty="0">
                <a:solidFill>
                  <a:schemeClr val="tx1"/>
                </a:solidFill>
                <a:ea typeface="黑体" panose="02010609060101010101" pitchFamily="49" charset="-122"/>
              </a:rPr>
              <a:t>角。</a:t>
            </a:r>
            <a:r>
              <a:rPr lang="zh-CN" altLang="en-US" i="0" dirty="0">
                <a:solidFill>
                  <a:schemeClr val="tx1"/>
                </a:solidFill>
                <a:ea typeface="黑体" panose="02010609060101010101" pitchFamily="49" charset="-122"/>
              </a:rPr>
              <a:t>如小球在水平面内作匀速圆周运动，求小球的速度</a:t>
            </a:r>
            <a:r>
              <a:rPr lang="en-US" altLang="zh-CN" b="0" dirty="0">
                <a:solidFill>
                  <a:schemeClr val="tx1"/>
                </a:solidFill>
                <a:ea typeface="黑体" panose="02010609060101010101" pitchFamily="49" charset="-122"/>
              </a:rPr>
              <a:t>v</a:t>
            </a:r>
            <a:r>
              <a:rPr lang="zh-CN" altLang="en-US" i="0" dirty="0">
                <a:solidFill>
                  <a:schemeClr val="tx1"/>
                </a:solidFill>
                <a:ea typeface="黑体" panose="02010609060101010101" pitchFamily="49" charset="-122"/>
              </a:rPr>
              <a:t>与绳的张力。</a:t>
            </a:r>
          </a:p>
          <a:p>
            <a:pPr lvl="0" eaLnBrk="0" hangingPunct="0">
              <a:lnSpc>
                <a:spcPct val="130000"/>
              </a:lnSpc>
            </a:pPr>
            <a:endParaRPr lang="zh-CN" altLang="en-US" i="0" dirty="0">
              <a:solidFill>
                <a:srgbClr val="000000"/>
              </a:solidFill>
              <a:latin typeface="+mn-lt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0">
              <a:lnSpc>
                <a:spcPct val="110000"/>
              </a:lnSpc>
            </a:pPr>
            <a:r>
              <a:rPr lang="zh-CN" altLang="en-US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13" name="Rectangle 61"/>
          <p:cNvSpPr>
            <a:spLocks noChangeArrowheads="1"/>
          </p:cNvSpPr>
          <p:nvPr/>
        </p:nvSpPr>
        <p:spPr bwMode="auto">
          <a:xfrm>
            <a:off x="2855640" y="2492896"/>
            <a:ext cx="5760640" cy="3600400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6" name="10-4new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506924" y="2621319"/>
            <a:ext cx="4458072" cy="3343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02068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  <p:bldLst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0960" y="91693"/>
            <a:ext cx="67056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2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   动力学的基本方程与动静法</a:t>
            </a:r>
          </a:p>
        </p:txBody>
      </p:sp>
      <p:sp>
        <p:nvSpPr>
          <p:cNvPr id="4" name="矩形 3"/>
          <p:cNvSpPr/>
          <p:nvPr/>
        </p:nvSpPr>
        <p:spPr>
          <a:xfrm>
            <a:off x="191343" y="977347"/>
            <a:ext cx="3116757" cy="49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</a:pPr>
            <a:r>
              <a:rPr lang="zh-CN" altLang="en-US" i="0" dirty="0">
                <a:solidFill>
                  <a:srgbClr val="0033CC"/>
                </a:solidFill>
                <a:ea typeface="黑体" panose="02010609060101010101" pitchFamily="49" charset="-122"/>
              </a:rPr>
              <a:t>解  </a:t>
            </a:r>
            <a:r>
              <a:rPr lang="zh-CN" altLang="en-US" i="0" dirty="0">
                <a:solidFill>
                  <a:schemeClr val="tx1"/>
                </a:solidFill>
                <a:ea typeface="黑体" panose="02010609060101010101" pitchFamily="49" charset="-122"/>
              </a:rPr>
              <a:t>以小球为研究对象</a:t>
            </a:r>
            <a:endParaRPr lang="zh-CN" altLang="en-US" i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Rectangle 61"/>
          <p:cNvSpPr>
            <a:spLocks noChangeArrowheads="1"/>
          </p:cNvSpPr>
          <p:nvPr/>
        </p:nvSpPr>
        <p:spPr bwMode="auto">
          <a:xfrm>
            <a:off x="6384184" y="1356624"/>
            <a:ext cx="4968552" cy="4145486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762212" y="2509556"/>
            <a:ext cx="4788532" cy="5208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i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其中</a:t>
            </a:r>
            <a:r>
              <a:rPr lang="en-US" altLang="zh-CN" b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b=</a:t>
            </a:r>
            <a:r>
              <a:rPr lang="en-US" altLang="zh-CN" b="0" dirty="0" err="1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b="0" i="0" dirty="0" err="1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sin</a:t>
            </a:r>
            <a:r>
              <a:rPr lang="el-GR" altLang="zh-CN" b="0" dirty="0">
                <a:solidFill>
                  <a:schemeClr val="tx1"/>
                </a:solidFill>
                <a:ea typeface="黑体" panose="02010609060101010101" pitchFamily="49" charset="-122"/>
              </a:rPr>
              <a:t>θ</a:t>
            </a:r>
            <a:r>
              <a:rPr lang="zh-CN" altLang="en-US" i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，可得</a:t>
            </a:r>
            <a:endParaRPr lang="zh-CN" altLang="en-US" i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762212" y="4894688"/>
            <a:ext cx="4622421" cy="5332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</a:pPr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这是混合问题</a:t>
            </a:r>
          </a:p>
        </p:txBody>
      </p:sp>
      <p:grpSp>
        <p:nvGrpSpPr>
          <p:cNvPr id="21" name="Group 37"/>
          <p:cNvGrpSpPr/>
          <p:nvPr/>
        </p:nvGrpSpPr>
        <p:grpSpPr bwMode="auto">
          <a:xfrm>
            <a:off x="911424" y="1511128"/>
            <a:ext cx="4608514" cy="885826"/>
            <a:chOff x="498" y="566"/>
            <a:chExt cx="2903" cy="558"/>
          </a:xfrm>
        </p:grpSpPr>
        <p:graphicFrame>
          <p:nvGraphicFramePr>
            <p:cNvPr id="22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70766659"/>
                </p:ext>
              </p:extLst>
            </p:nvPr>
          </p:nvGraphicFramePr>
          <p:xfrm>
            <a:off x="1977" y="726"/>
            <a:ext cx="1424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384300" imgH="266700" progId="Equation.DSMT4">
                    <p:embed/>
                  </p:oleObj>
                </mc:Choice>
                <mc:Fallback>
                  <p:oleObj name="Equation" r:id="rId3" imgW="1384300" imgH="2667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7" y="726"/>
                          <a:ext cx="1424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761085"/>
                </p:ext>
              </p:extLst>
            </p:nvPr>
          </p:nvGraphicFramePr>
          <p:xfrm>
            <a:off x="498" y="566"/>
            <a:ext cx="1197" cy="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206500" imgH="558800" progId="Equation.DSMT4">
                    <p:embed/>
                  </p:oleObj>
                </mc:Choice>
                <mc:Fallback>
                  <p:oleObj name="Equation" r:id="rId5" imgW="1206500" imgH="558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" y="566"/>
                          <a:ext cx="1197" cy="5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7169020"/>
              </p:ext>
            </p:extLst>
          </p:nvPr>
        </p:nvGraphicFramePr>
        <p:xfrm>
          <a:off x="869340" y="3022967"/>
          <a:ext cx="24130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62100" imgH="520700" progId="Equation.3">
                  <p:embed/>
                </p:oleObj>
              </mc:Choice>
              <mc:Fallback>
                <p:oleObj name="Equation" r:id="rId7" imgW="1562100" imgH="520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9340" y="3022967"/>
                        <a:ext cx="24130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8274709"/>
              </p:ext>
            </p:extLst>
          </p:nvPr>
        </p:nvGraphicFramePr>
        <p:xfrm>
          <a:off x="911424" y="3769327"/>
          <a:ext cx="2916238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019300" imgH="609600" progId="Equation.3">
                  <p:embed/>
                </p:oleObj>
              </mc:Choice>
              <mc:Fallback>
                <p:oleObj name="Equation" r:id="rId9" imgW="2019300" imgH="60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424" y="3769327"/>
                        <a:ext cx="2916238" cy="881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" name="Picture 23" descr="10-4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054" y="1625967"/>
            <a:ext cx="3960812" cy="360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012607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 animBg="1"/>
      <p:bldP spid="18" grpId="0"/>
      <p:bldP spid="4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0960" y="91693"/>
            <a:ext cx="67056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2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   动力学的基本方程与动静法</a:t>
            </a:r>
          </a:p>
        </p:txBody>
      </p:sp>
      <p:sp>
        <p:nvSpPr>
          <p:cNvPr id="6" name="矩形 5"/>
          <p:cNvSpPr/>
          <p:nvPr/>
        </p:nvSpPr>
        <p:spPr>
          <a:xfrm>
            <a:off x="3877201" y="851599"/>
            <a:ext cx="24929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000" i="0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质心运动定理</a:t>
            </a:r>
          </a:p>
        </p:txBody>
      </p:sp>
      <p:sp>
        <p:nvSpPr>
          <p:cNvPr id="12" name="Text Box 1032"/>
          <p:cNvSpPr txBox="1">
            <a:spLocks noChangeArrowheads="1"/>
          </p:cNvSpPr>
          <p:nvPr/>
        </p:nvSpPr>
        <p:spPr bwMode="auto">
          <a:xfrm>
            <a:off x="939805" y="1359820"/>
            <a:ext cx="7100411" cy="2160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kumimoji="1" lang="zh-CN" altLang="en-US" sz="2800" i="0" dirty="0">
                <a:solidFill>
                  <a:srgbClr val="FF00FF"/>
                </a:solidFill>
                <a:latin typeface="+mn-lt"/>
                <a:ea typeface="微软雅黑" panose="020B0503020204020204" pitchFamily="34" charset="-122"/>
              </a:rPr>
              <a:t>质心的概念</a:t>
            </a:r>
            <a:endParaRPr kumimoji="1" lang="en-US" altLang="zh-CN" sz="2800" i="0" dirty="0">
              <a:solidFill>
                <a:srgbClr val="FF00FF"/>
              </a:solidFill>
              <a:latin typeface="+mn-lt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直角坐标轴上投影在由</a:t>
            </a:r>
            <a:r>
              <a:rPr lang="en-US" altLang="zh-CN" sz="2800" i="0" dirty="0">
                <a:latin typeface="+mn-lt"/>
                <a:ea typeface="微软雅黑" panose="020B0503020204020204" pitchFamily="34" charset="-122"/>
              </a:rPr>
              <a:t>n</a:t>
            </a: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个质点组成的质点系中，设任一质点</a:t>
            </a:r>
            <a:r>
              <a:rPr lang="en-US" altLang="zh-CN" sz="2800" b="0" dirty="0" err="1">
                <a:latin typeface="+mn-lt"/>
                <a:ea typeface="微软雅黑" panose="020B0503020204020204" pitchFamily="34" charset="-122"/>
              </a:rPr>
              <a:t>M</a:t>
            </a:r>
            <a:r>
              <a:rPr lang="en-US" altLang="zh-CN" sz="2800" b="0" baseline="-25000" dirty="0" err="1">
                <a:latin typeface="+mn-lt"/>
                <a:ea typeface="微软雅黑" panose="020B0503020204020204" pitchFamily="34" charset="-122"/>
              </a:rPr>
              <a:t>i</a:t>
            </a:r>
            <a:r>
              <a:rPr lang="en-US" altLang="zh-CN" sz="2800" b="0" baseline="-25000" dirty="0">
                <a:latin typeface="+mn-lt"/>
                <a:ea typeface="微软雅黑" panose="020B0503020204020204" pitchFamily="34" charset="-122"/>
              </a:rPr>
              <a:t> </a:t>
            </a: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的质量为</a:t>
            </a:r>
            <a:r>
              <a:rPr lang="en-US" altLang="zh-CN" sz="2800" b="0" dirty="0">
                <a:latin typeface="+mn-lt"/>
                <a:ea typeface="微软雅黑" panose="020B0503020204020204" pitchFamily="34" charset="-122"/>
              </a:rPr>
              <a:t>m</a:t>
            </a:r>
            <a:r>
              <a:rPr lang="en-US" altLang="zh-CN" sz="2800" b="0" baseline="-25000" dirty="0">
                <a:latin typeface="+mn-lt"/>
                <a:ea typeface="微软雅黑" panose="020B0503020204020204" pitchFamily="34" charset="-122"/>
              </a:rPr>
              <a:t>i</a:t>
            </a: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，它在空间的位置以矢径</a:t>
            </a:r>
            <a:r>
              <a:rPr lang="en-US" altLang="zh-CN" sz="2800" dirty="0" err="1">
                <a:latin typeface="+mn-lt"/>
                <a:ea typeface="微软雅黑" panose="020B0503020204020204" pitchFamily="34" charset="-122"/>
              </a:rPr>
              <a:t>r</a:t>
            </a:r>
            <a:r>
              <a:rPr lang="en-US" altLang="zh-CN" sz="2800" b="0" baseline="-25000" dirty="0" err="1">
                <a:latin typeface="+mn-lt"/>
                <a:ea typeface="微软雅黑" panose="020B0503020204020204" pitchFamily="34" charset="-122"/>
              </a:rPr>
              <a:t>i</a:t>
            </a:r>
            <a:r>
              <a:rPr lang="en-US" altLang="zh-CN" sz="2800" b="0" baseline="-25000" dirty="0">
                <a:latin typeface="+mn-lt"/>
                <a:ea typeface="微软雅黑" panose="020B0503020204020204" pitchFamily="34" charset="-122"/>
              </a:rPr>
              <a:t> </a:t>
            </a: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表示，则由式</a:t>
            </a:r>
          </a:p>
        </p:txBody>
      </p:sp>
      <p:sp>
        <p:nvSpPr>
          <p:cNvPr id="14" name="Rectangle 61">
            <a:extLst>
              <a:ext uri="{FF2B5EF4-FFF2-40B4-BE49-F238E27FC236}">
                <a16:creationId xmlns:a16="http://schemas.microsoft.com/office/drawing/2014/main" id="{A087FACB-094E-0168-BC17-D516343CD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2224" y="994955"/>
            <a:ext cx="3960440" cy="394621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15" name="AutoShape 2">
            <a:extLst>
              <a:ext uri="{FF2B5EF4-FFF2-40B4-BE49-F238E27FC236}">
                <a16:creationId xmlns:a16="http://schemas.microsoft.com/office/drawing/2014/main" id="{39DFB29A-4B31-90B8-1728-17930076A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2264" y="3509298"/>
            <a:ext cx="3195638" cy="1003300"/>
          </a:xfrm>
          <a:prstGeom prst="parallelogram">
            <a:avLst>
              <a:gd name="adj" fmla="val 96365"/>
            </a:avLst>
          </a:prstGeom>
          <a:gradFill rotWithShape="1">
            <a:gsLst>
              <a:gs pos="0">
                <a:srgbClr val="0099CC"/>
              </a:gs>
              <a:gs pos="100000">
                <a:srgbClr val="0099FF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3ABDCA97-AE44-70E5-777F-01DF40D2B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2039" y="2277398"/>
            <a:ext cx="736600" cy="1473200"/>
          </a:xfrm>
          <a:prstGeom prst="rect">
            <a:avLst/>
          </a:prstGeom>
          <a:noFill/>
          <a:ln w="19050">
            <a:solidFill>
              <a:srgbClr val="FF0000"/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E8E01146-41D2-49BA-7087-2FDF48A10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3589" y="2709198"/>
            <a:ext cx="1377950" cy="1358900"/>
          </a:xfrm>
          <a:prstGeom prst="rect">
            <a:avLst/>
          </a:prstGeom>
          <a:noFill/>
          <a:ln w="19050">
            <a:solidFill>
              <a:srgbClr val="FF0000"/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DF779DBB-C9E9-BD9F-B8E1-B71E0B3BA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2289" y="3210848"/>
            <a:ext cx="1797050" cy="1079500"/>
          </a:xfrm>
          <a:prstGeom prst="rect">
            <a:avLst/>
          </a:prstGeom>
          <a:noFill/>
          <a:ln w="19050">
            <a:solidFill>
              <a:srgbClr val="FF0000"/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Text Box 6">
            <a:extLst>
              <a:ext uri="{FF2B5EF4-FFF2-40B4-BE49-F238E27FC236}">
                <a16:creationId xmlns:a16="http://schemas.microsoft.com/office/drawing/2014/main" id="{33C46613-D711-5825-09B2-2B8EC54CE89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154764" y="4218911"/>
            <a:ext cx="522288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just"/>
            <a:r>
              <a:rPr lang="en-US" altLang="zh-CN" i="1">
                <a:solidFill>
                  <a:srgbClr val="FFFF00"/>
                </a:solidFill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28" name="Text Box 7">
            <a:extLst>
              <a:ext uri="{FF2B5EF4-FFF2-40B4-BE49-F238E27FC236}">
                <a16:creationId xmlns:a16="http://schemas.microsoft.com/office/drawing/2014/main" id="{D391876F-16CF-0C22-6EB3-7341C306D4D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1510739" y="3364836"/>
            <a:ext cx="40005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just"/>
            <a:r>
              <a:rPr lang="en-US" altLang="zh-CN" i="1">
                <a:solidFill>
                  <a:srgbClr val="FFFF00"/>
                </a:solidFill>
                <a:ea typeface="宋体" panose="02010600030101010101" pitchFamily="2" charset="-122"/>
              </a:rPr>
              <a:t>y</a:t>
            </a:r>
          </a:p>
        </p:txBody>
      </p:sp>
      <p:sp>
        <p:nvSpPr>
          <p:cNvPr id="29" name="Text Box 8">
            <a:extLst>
              <a:ext uri="{FF2B5EF4-FFF2-40B4-BE49-F238E27FC236}">
                <a16:creationId xmlns:a16="http://schemas.microsoft.com/office/drawing/2014/main" id="{E94C8899-BA7C-1FB5-7186-2CD8762B03E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102502" y="991523"/>
            <a:ext cx="685800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just"/>
            <a:r>
              <a:rPr lang="en-US" altLang="zh-CN" i="1">
                <a:solidFill>
                  <a:srgbClr val="FFFF00"/>
                </a:solidFill>
                <a:ea typeface="宋体" panose="02010600030101010101" pitchFamily="2" charset="-122"/>
              </a:rPr>
              <a:t>z</a:t>
            </a:r>
          </a:p>
        </p:txBody>
      </p:sp>
      <p:sp>
        <p:nvSpPr>
          <p:cNvPr id="30" name="Line 9">
            <a:extLst>
              <a:ext uri="{FF2B5EF4-FFF2-40B4-BE49-F238E27FC236}">
                <a16:creationId xmlns:a16="http://schemas.microsoft.com/office/drawing/2014/main" id="{EA2FEB0C-EEA7-FBC9-45E7-4DC404C8BED1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9446989" y="1151861"/>
            <a:ext cx="0" cy="236855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Line 10">
            <a:extLst>
              <a:ext uri="{FF2B5EF4-FFF2-40B4-BE49-F238E27FC236}">
                <a16:creationId xmlns:a16="http://schemas.microsoft.com/office/drawing/2014/main" id="{30742B54-A158-5323-51E3-EDEE35F45109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9446989" y="3506123"/>
            <a:ext cx="2339975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Line 11">
            <a:extLst>
              <a:ext uri="{FF2B5EF4-FFF2-40B4-BE49-F238E27FC236}">
                <a16:creationId xmlns:a16="http://schemas.microsoft.com/office/drawing/2014/main" id="{EB3047B1-E8D4-1980-F71F-0829026C669F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8402414" y="3506123"/>
            <a:ext cx="1042988" cy="1081088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Line 12">
            <a:extLst>
              <a:ext uri="{FF2B5EF4-FFF2-40B4-BE49-F238E27FC236}">
                <a16:creationId xmlns:a16="http://schemas.microsoft.com/office/drawing/2014/main" id="{F671D610-F079-5961-2B05-B67555E68BA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69339" y="3210848"/>
            <a:ext cx="0" cy="6096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Line 13">
            <a:extLst>
              <a:ext uri="{FF2B5EF4-FFF2-40B4-BE49-F238E27FC236}">
                <a16:creationId xmlns:a16="http://schemas.microsoft.com/office/drawing/2014/main" id="{AB20BA45-61CC-0764-FFB9-02569A0BA3F4}"/>
              </a:ext>
            </a:extLst>
          </p:cNvPr>
          <p:cNvSpPr>
            <a:spLocks noChangeShapeType="1"/>
          </p:cNvSpPr>
          <p:nvPr/>
        </p:nvSpPr>
        <p:spPr bwMode="auto">
          <a:xfrm>
            <a:off x="9948639" y="1628111"/>
            <a:ext cx="0" cy="6096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Text Box 14">
            <a:extLst>
              <a:ext uri="{FF2B5EF4-FFF2-40B4-BE49-F238E27FC236}">
                <a16:creationId xmlns:a16="http://schemas.microsoft.com/office/drawing/2014/main" id="{2D83F84F-1A9A-4A40-B484-4AB58020E51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072339" y="3114010"/>
            <a:ext cx="5334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r>
              <a:rPr lang="en-US" altLang="zh-CN" i="1">
                <a:solidFill>
                  <a:srgbClr val="FFFF00"/>
                </a:solidFill>
                <a:ea typeface="宋体" panose="02010600030101010101" pitchFamily="2" charset="-122"/>
              </a:rPr>
              <a:t>O</a:t>
            </a:r>
            <a:endParaRPr lang="en-US" altLang="zh-CN">
              <a:solidFill>
                <a:srgbClr val="FFFF00"/>
              </a:solidFill>
            </a:endParaRPr>
          </a:p>
        </p:txBody>
      </p:sp>
      <p:sp>
        <p:nvSpPr>
          <p:cNvPr id="36" name="Line 15">
            <a:extLst>
              <a:ext uri="{FF2B5EF4-FFF2-40B4-BE49-F238E27FC236}">
                <a16:creationId xmlns:a16="http://schemas.microsoft.com/office/drawing/2014/main" id="{B3AC445C-7290-5261-7649-B6B10F0FD8D9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10496327" y="3495011"/>
            <a:ext cx="766762" cy="795337"/>
          </a:xfrm>
          <a:prstGeom prst="line">
            <a:avLst/>
          </a:prstGeom>
          <a:noFill/>
          <a:ln w="19050">
            <a:solidFill>
              <a:srgbClr val="FF0000"/>
            </a:solidFill>
            <a:prstDash val="lgDash"/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Line 16">
            <a:extLst>
              <a:ext uri="{FF2B5EF4-FFF2-40B4-BE49-F238E27FC236}">
                <a16:creationId xmlns:a16="http://schemas.microsoft.com/office/drawing/2014/main" id="{B0E4E742-341B-E32F-20C9-2AA2A99B6CAC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9956577" y="3514061"/>
            <a:ext cx="214312" cy="222250"/>
          </a:xfrm>
          <a:prstGeom prst="line">
            <a:avLst/>
          </a:prstGeom>
          <a:noFill/>
          <a:ln w="19050">
            <a:solidFill>
              <a:srgbClr val="FF0000"/>
            </a:solidFill>
            <a:prstDash val="lgDash"/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" name="Line 17">
            <a:extLst>
              <a:ext uri="{FF2B5EF4-FFF2-40B4-BE49-F238E27FC236}">
                <a16:creationId xmlns:a16="http://schemas.microsoft.com/office/drawing/2014/main" id="{B16D0291-49B3-A7C0-5FCA-D566B627C9B0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10312177" y="3514061"/>
            <a:ext cx="519112" cy="538162"/>
          </a:xfrm>
          <a:prstGeom prst="line">
            <a:avLst/>
          </a:prstGeom>
          <a:noFill/>
          <a:ln w="19050">
            <a:solidFill>
              <a:srgbClr val="FF0000"/>
            </a:solidFill>
            <a:prstDash val="lgDash"/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BCFE0C42-FDC1-971F-AF1F-44B9CE6E7BE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0447114" y="3510886"/>
            <a:ext cx="5461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just"/>
            <a:r>
              <a:rPr lang="en-US" altLang="zh-CN" i="1">
                <a:ea typeface="宋体" panose="02010600030101010101" pitchFamily="2" charset="-122"/>
              </a:rPr>
              <a:t>x</a:t>
            </a:r>
            <a:r>
              <a:rPr lang="en-US" altLang="zh-CN" i="1" baseline="-25000"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40" name="Text Box 19">
            <a:extLst>
              <a:ext uri="{FF2B5EF4-FFF2-40B4-BE49-F238E27FC236}">
                <a16:creationId xmlns:a16="http://schemas.microsoft.com/office/drawing/2014/main" id="{2B26DA7C-769E-39F6-43AE-37D4E003ADD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0927879" y="3583779"/>
            <a:ext cx="522287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just"/>
            <a:r>
              <a:rPr lang="en-US" altLang="zh-CN" i="1" dirty="0" err="1">
                <a:ea typeface="宋体" panose="02010600030101010101" pitchFamily="2" charset="-122"/>
              </a:rPr>
              <a:t>x</a:t>
            </a:r>
            <a:r>
              <a:rPr lang="en-US" altLang="zh-CN" i="1" baseline="-25000" dirty="0" err="1">
                <a:ea typeface="宋体" panose="02010600030101010101" pitchFamily="2" charset="-122"/>
              </a:rPr>
              <a:t>k</a:t>
            </a:r>
            <a:endParaRPr lang="en-US" altLang="zh-CN" i="1" baseline="-25000" dirty="0">
              <a:ea typeface="宋体" panose="02010600030101010101" pitchFamily="2" charset="-122"/>
            </a:endParaRPr>
          </a:p>
        </p:txBody>
      </p:sp>
      <p:sp>
        <p:nvSpPr>
          <p:cNvPr id="41" name="Text Box 20">
            <a:extLst>
              <a:ext uri="{FF2B5EF4-FFF2-40B4-BE49-F238E27FC236}">
                <a16:creationId xmlns:a16="http://schemas.microsoft.com/office/drawing/2014/main" id="{62EC99DB-912C-1E75-4197-C7532EDCE2C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935939" y="3475961"/>
            <a:ext cx="522288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just"/>
            <a:r>
              <a:rPr lang="en-US" altLang="zh-CN" i="1">
                <a:ea typeface="宋体" panose="02010600030101010101" pitchFamily="2" charset="-122"/>
              </a:rPr>
              <a:t>x</a:t>
            </a:r>
            <a:r>
              <a:rPr lang="en-US" altLang="zh-CN" i="1" baseline="-25000"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42" name="Text Box 21">
            <a:extLst>
              <a:ext uri="{FF2B5EF4-FFF2-40B4-BE49-F238E27FC236}">
                <a16:creationId xmlns:a16="http://schemas.microsoft.com/office/drawing/2014/main" id="{0ABB980F-573E-864C-E54E-E8AC6CC490B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253314" y="3625186"/>
            <a:ext cx="5603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just"/>
            <a:r>
              <a:rPr lang="en-US" altLang="zh-CN" i="1" dirty="0" err="1">
                <a:ea typeface="宋体" panose="02010600030101010101" pitchFamily="2" charset="-122"/>
              </a:rPr>
              <a:t>y</a:t>
            </a:r>
            <a:r>
              <a:rPr lang="en-US" altLang="zh-CN" i="1" baseline="-25000" dirty="0" err="1">
                <a:ea typeface="宋体" panose="02010600030101010101" pitchFamily="2" charset="-122"/>
              </a:rPr>
              <a:t>C</a:t>
            </a:r>
            <a:endParaRPr lang="en-US" altLang="zh-CN" i="1" baseline="-25000" dirty="0">
              <a:ea typeface="宋体" panose="02010600030101010101" pitchFamily="2" charset="-122"/>
            </a:endParaRPr>
          </a:p>
        </p:txBody>
      </p:sp>
      <p:sp>
        <p:nvSpPr>
          <p:cNvPr id="43" name="Text Box 22">
            <a:extLst>
              <a:ext uri="{FF2B5EF4-FFF2-40B4-BE49-F238E27FC236}">
                <a16:creationId xmlns:a16="http://schemas.microsoft.com/office/drawing/2014/main" id="{0D4526ED-4B98-B394-B21C-54964A01C90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446927" y="4127410"/>
            <a:ext cx="522288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just"/>
            <a:r>
              <a:rPr lang="en-US" altLang="zh-CN" i="1" dirty="0" err="1">
                <a:ea typeface="宋体" panose="02010600030101010101" pitchFamily="2" charset="-122"/>
              </a:rPr>
              <a:t>y</a:t>
            </a:r>
            <a:r>
              <a:rPr lang="en-US" altLang="zh-CN" i="1" baseline="-25000" dirty="0" err="1">
                <a:ea typeface="宋体" panose="02010600030101010101" pitchFamily="2" charset="-122"/>
              </a:rPr>
              <a:t>k</a:t>
            </a:r>
            <a:endParaRPr lang="en-US" altLang="zh-CN" i="1" baseline="-25000" dirty="0">
              <a:ea typeface="宋体" panose="02010600030101010101" pitchFamily="2" charset="-122"/>
            </a:endParaRPr>
          </a:p>
        </p:txBody>
      </p:sp>
      <p:sp>
        <p:nvSpPr>
          <p:cNvPr id="44" name="Text Box 23">
            <a:extLst>
              <a:ext uri="{FF2B5EF4-FFF2-40B4-BE49-F238E27FC236}">
                <a16:creationId xmlns:a16="http://schemas.microsoft.com/office/drawing/2014/main" id="{1AF478F2-F51B-EFFC-9B34-5670EB2506F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370789" y="3301335"/>
            <a:ext cx="522288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just"/>
            <a:r>
              <a:rPr lang="en-US" altLang="zh-CN" i="1">
                <a:ea typeface="宋体" panose="02010600030101010101" pitchFamily="2" charset="-122"/>
              </a:rPr>
              <a:t>y</a:t>
            </a:r>
            <a:r>
              <a:rPr lang="en-US" altLang="zh-CN" i="1" baseline="-25000"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45" name="Text Box 24">
            <a:extLst>
              <a:ext uri="{FF2B5EF4-FFF2-40B4-BE49-F238E27FC236}">
                <a16:creationId xmlns:a16="http://schemas.microsoft.com/office/drawing/2014/main" id="{BF26D2EC-57E9-33FB-E80E-D822AE523DF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502426" y="2726661"/>
            <a:ext cx="5603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just"/>
            <a:r>
              <a:rPr lang="en-US" altLang="zh-CN" i="1" dirty="0" err="1">
                <a:ea typeface="宋体" panose="02010600030101010101" pitchFamily="2" charset="-122"/>
              </a:rPr>
              <a:t>z</a:t>
            </a:r>
            <a:r>
              <a:rPr lang="en-US" altLang="zh-CN" i="1" baseline="-25000" dirty="0" err="1">
                <a:ea typeface="宋体" panose="02010600030101010101" pitchFamily="2" charset="-122"/>
              </a:rPr>
              <a:t>C</a:t>
            </a:r>
            <a:endParaRPr lang="en-US" altLang="zh-CN" i="1" baseline="-25000" dirty="0">
              <a:ea typeface="宋体" panose="02010600030101010101" pitchFamily="2" charset="-122"/>
            </a:endParaRPr>
          </a:p>
        </p:txBody>
      </p:sp>
      <p:sp>
        <p:nvSpPr>
          <p:cNvPr id="46" name="Text Box 25">
            <a:extLst>
              <a:ext uri="{FF2B5EF4-FFF2-40B4-BE49-F238E27FC236}">
                <a16:creationId xmlns:a16="http://schemas.microsoft.com/office/drawing/2014/main" id="{59A60025-F281-2C32-F38E-F89A5FD2067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307325" y="3475961"/>
            <a:ext cx="522288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just"/>
            <a:r>
              <a:rPr lang="en-US" altLang="zh-CN" i="1" dirty="0" err="1">
                <a:ea typeface="宋体" panose="02010600030101010101" pitchFamily="2" charset="-122"/>
              </a:rPr>
              <a:t>z</a:t>
            </a:r>
            <a:r>
              <a:rPr lang="en-US" altLang="zh-CN" i="1" baseline="-25000" dirty="0" err="1">
                <a:ea typeface="宋体" panose="02010600030101010101" pitchFamily="2" charset="-122"/>
              </a:rPr>
              <a:t>k</a:t>
            </a:r>
            <a:endParaRPr lang="en-US" altLang="zh-CN" i="1" baseline="-25000" dirty="0">
              <a:ea typeface="宋体" panose="02010600030101010101" pitchFamily="2" charset="-122"/>
            </a:endParaRPr>
          </a:p>
        </p:txBody>
      </p:sp>
      <p:sp>
        <p:nvSpPr>
          <p:cNvPr id="47" name="Text Box 26">
            <a:extLst>
              <a:ext uri="{FF2B5EF4-FFF2-40B4-BE49-F238E27FC236}">
                <a16:creationId xmlns:a16="http://schemas.microsoft.com/office/drawing/2014/main" id="{372EEB50-5EAD-C07B-F05B-1DE1FE082B5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875490" y="2205961"/>
            <a:ext cx="522288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just"/>
            <a:r>
              <a:rPr lang="en-US" altLang="zh-CN" i="1">
                <a:ea typeface="宋体" panose="02010600030101010101" pitchFamily="2" charset="-122"/>
              </a:rPr>
              <a:t>z</a:t>
            </a:r>
            <a:r>
              <a:rPr lang="en-US" altLang="zh-CN" i="1" baseline="-25000"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48" name="Rectangle 27">
            <a:extLst>
              <a:ext uri="{FF2B5EF4-FFF2-40B4-BE49-F238E27FC236}">
                <a16:creationId xmlns:a16="http://schemas.microsoft.com/office/drawing/2014/main" id="{8C30BFA1-D210-08C2-D73B-6C5FB4DD1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3564" y="3737898"/>
            <a:ext cx="742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b="1" i="1" dirty="0" err="1">
                <a:solidFill>
                  <a:srgbClr val="FFFF00"/>
                </a:solidFill>
              </a:rPr>
              <a:t>m</a:t>
            </a:r>
            <a:r>
              <a:rPr lang="en-US" altLang="zh-CN" i="1" baseline="-25000" dirty="0" err="1">
                <a:solidFill>
                  <a:srgbClr val="FFFF00"/>
                </a:solidFill>
              </a:rPr>
              <a:t>k</a:t>
            </a:r>
            <a:endParaRPr lang="en-US" altLang="zh-CN" i="1" baseline="-25000" dirty="0">
              <a:solidFill>
                <a:srgbClr val="FFFF00"/>
              </a:solidFill>
            </a:endParaRPr>
          </a:p>
        </p:txBody>
      </p:sp>
      <p:sp>
        <p:nvSpPr>
          <p:cNvPr id="49" name="Rectangle 30">
            <a:extLst>
              <a:ext uri="{FF2B5EF4-FFF2-40B4-BE49-F238E27FC236}">
                <a16:creationId xmlns:a16="http://schemas.microsoft.com/office/drawing/2014/main" id="{202CAE1D-153F-966D-C1BB-8B5BAC370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1839" y="1345536"/>
            <a:ext cx="6873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b="1" i="1" dirty="0">
                <a:solidFill>
                  <a:srgbClr val="FFFF00"/>
                </a:solidFill>
              </a:rPr>
              <a:t>m</a:t>
            </a:r>
            <a:endParaRPr lang="en-US" altLang="zh-CN" i="1" baseline="-25000" dirty="0">
              <a:solidFill>
                <a:srgbClr val="FFFF00"/>
              </a:solidFill>
            </a:endParaRPr>
          </a:p>
        </p:txBody>
      </p:sp>
      <p:sp>
        <p:nvSpPr>
          <p:cNvPr id="50" name="Rectangle 31">
            <a:extLst>
              <a:ext uri="{FF2B5EF4-FFF2-40B4-BE49-F238E27FC236}">
                <a16:creationId xmlns:a16="http://schemas.microsoft.com/office/drawing/2014/main" id="{DEE4C6E1-3144-E540-4819-B765755F6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4477" y="1215361"/>
            <a:ext cx="561975" cy="477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b="1" i="1" dirty="0">
                <a:solidFill>
                  <a:srgbClr val="FFFF00"/>
                </a:solidFill>
              </a:rPr>
              <a:t>m</a:t>
            </a:r>
            <a:r>
              <a:rPr lang="en-US" altLang="zh-CN" i="1" baseline="-25000" dirty="0">
                <a:solidFill>
                  <a:srgbClr val="FFFF00"/>
                </a:solidFill>
              </a:rPr>
              <a:t>i</a:t>
            </a:r>
          </a:p>
        </p:txBody>
      </p:sp>
      <p:sp>
        <p:nvSpPr>
          <p:cNvPr id="51" name="Line 32">
            <a:extLst>
              <a:ext uri="{FF2B5EF4-FFF2-40B4-BE49-F238E27FC236}">
                <a16:creationId xmlns:a16="http://schemas.microsoft.com/office/drawing/2014/main" id="{589B1758-BB54-A2C2-CA31-BF2E9969B63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67727" y="1620173"/>
            <a:ext cx="0" cy="1103313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2" name="Picture 33">
            <a:extLst>
              <a:ext uri="{FF2B5EF4-FFF2-40B4-BE49-F238E27FC236}">
                <a16:creationId xmlns:a16="http://schemas.microsoft.com/office/drawing/2014/main" id="{08C9B493-50F2-DF5E-275C-76DC01CEC9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5639" y="1631286"/>
            <a:ext cx="3048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Rectangle 34">
            <a:extLst>
              <a:ext uri="{FF2B5EF4-FFF2-40B4-BE49-F238E27FC236}">
                <a16:creationId xmlns:a16="http://schemas.microsoft.com/office/drawing/2014/main" id="{84C280C8-76FA-FBAF-12B2-1DD3AA758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0439" y="2553623"/>
            <a:ext cx="257175" cy="2381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r>
              <a:rPr lang="en-US" altLang="zh-CN" i="1" dirty="0"/>
              <a:t>C</a:t>
            </a:r>
          </a:p>
        </p:txBody>
      </p:sp>
      <p:graphicFrame>
        <p:nvGraphicFramePr>
          <p:cNvPr id="54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4991896"/>
              </p:ext>
            </p:extLst>
          </p:nvPr>
        </p:nvGraphicFramePr>
        <p:xfrm>
          <a:off x="2332038" y="3465083"/>
          <a:ext cx="2984500" cy="104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44520" imgH="431640" progId="Equation.DSMT4">
                  <p:embed/>
                </p:oleObj>
              </mc:Choice>
              <mc:Fallback>
                <p:oleObj name="Equation" r:id="rId4" imgW="12445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2038" y="3465083"/>
                        <a:ext cx="2984500" cy="1049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Text Box 1032"/>
          <p:cNvSpPr txBox="1">
            <a:spLocks noChangeArrowheads="1"/>
          </p:cNvSpPr>
          <p:nvPr/>
        </p:nvSpPr>
        <p:spPr bwMode="auto">
          <a:xfrm>
            <a:off x="939805" y="4371885"/>
            <a:ext cx="7100411" cy="1643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所确定的点</a:t>
            </a:r>
            <a:r>
              <a:rPr lang="en-US" altLang="zh-CN" sz="2800" b="0" dirty="0">
                <a:latin typeface="+mn-lt"/>
                <a:ea typeface="微软雅黑" panose="020B0503020204020204" pitchFamily="34" charset="-122"/>
              </a:rPr>
              <a:t>C </a:t>
            </a: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称为质点系的质量中心，简称质心。式中，</a:t>
            </a:r>
            <a:r>
              <a:rPr lang="en-US" altLang="zh-CN" sz="2800" b="0" dirty="0">
                <a:latin typeface="+mn-lt"/>
                <a:ea typeface="微软雅黑" panose="020B0503020204020204" pitchFamily="34" charset="-122"/>
              </a:rPr>
              <a:t>m</a:t>
            </a:r>
            <a:r>
              <a:rPr lang="en-US" altLang="zh-CN" sz="2800" b="0" i="0" dirty="0">
                <a:latin typeface="+mn-lt"/>
                <a:ea typeface="微软雅黑" panose="020B0503020204020204" pitchFamily="34" charset="-122"/>
              </a:rPr>
              <a:t>=</a:t>
            </a:r>
            <a:r>
              <a:rPr lang="en-US" altLang="zh-CN" sz="2800" b="0" i="0" dirty="0" err="1">
                <a:latin typeface="+mn-lt"/>
                <a:ea typeface="微软雅黑" panose="020B0503020204020204" pitchFamily="34" charset="-122"/>
              </a:rPr>
              <a:t>Σ</a:t>
            </a:r>
            <a:r>
              <a:rPr lang="en-US" altLang="zh-CN" sz="2800" b="0" dirty="0" err="1">
                <a:ea typeface="微软雅黑" panose="020B0503020204020204" pitchFamily="34" charset="-122"/>
              </a:rPr>
              <a:t>m</a:t>
            </a:r>
            <a:r>
              <a:rPr lang="en-US" altLang="zh-CN" sz="2800" b="0" baseline="-25000" dirty="0" err="1">
                <a:ea typeface="微软雅黑" panose="020B0503020204020204" pitchFamily="34" charset="-122"/>
              </a:rPr>
              <a:t>i</a:t>
            </a:r>
            <a:r>
              <a:rPr lang="en-US" altLang="zh-CN" sz="2800" b="0" baseline="-25000" dirty="0">
                <a:ea typeface="微软雅黑" panose="020B0503020204020204" pitchFamily="34" charset="-122"/>
              </a:rPr>
              <a:t> </a:t>
            </a: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为质点系的总质量。</a:t>
            </a:r>
          </a:p>
          <a:p>
            <a:pPr>
              <a:lnSpc>
                <a:spcPct val="120000"/>
              </a:lnSpc>
            </a:pPr>
            <a:endParaRPr lang="zh-CN" altLang="en-US" sz="2800" i="0" dirty="0">
              <a:latin typeface="+mn-lt"/>
              <a:ea typeface="微软雅黑" panose="020B0503020204020204" pitchFamily="34" charset="-122"/>
            </a:endParaRPr>
          </a:p>
        </p:txBody>
      </p:sp>
      <p:sp>
        <p:nvSpPr>
          <p:cNvPr id="56" name="Text Box 1032"/>
          <p:cNvSpPr txBox="1">
            <a:spLocks noChangeArrowheads="1"/>
          </p:cNvSpPr>
          <p:nvPr/>
        </p:nvSpPr>
        <p:spPr bwMode="auto">
          <a:xfrm>
            <a:off x="939805" y="5589240"/>
            <a:ext cx="4580131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i="0" dirty="0">
                <a:ea typeface="微软雅黑" panose="020B0503020204020204" pitchFamily="34" charset="-122"/>
              </a:rPr>
              <a:t>质心位置的直角坐标形式为</a:t>
            </a:r>
            <a:endParaRPr lang="zh-CN" altLang="en-US" sz="2800" i="0" dirty="0">
              <a:latin typeface="+mn-lt"/>
              <a:ea typeface="微软雅黑" panose="020B0503020204020204" pitchFamily="34" charset="-122"/>
            </a:endParaRPr>
          </a:p>
        </p:txBody>
      </p:sp>
      <p:graphicFrame>
        <p:nvGraphicFramePr>
          <p:cNvPr id="57" name="Object 29">
            <a:extLst>
              <a:ext uri="{FF2B5EF4-FFF2-40B4-BE49-F238E27FC236}">
                <a16:creationId xmlns:a16="http://schemas.microsoft.com/office/drawing/2014/main" id="{CEEDD249-37B0-3997-EB88-BA711CA459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5494507"/>
              </p:ext>
            </p:extLst>
          </p:nvPr>
        </p:nvGraphicFramePr>
        <p:xfrm>
          <a:off x="5626100" y="5440363"/>
          <a:ext cx="1730375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61760" imgH="393480" progId="Equation.DSMT4">
                  <p:embed/>
                </p:oleObj>
              </mc:Choice>
              <mc:Fallback>
                <p:oleObj name="Equation" r:id="rId6" imgW="7617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6100" y="5440363"/>
                        <a:ext cx="1730375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29">
            <a:extLst>
              <a:ext uri="{FF2B5EF4-FFF2-40B4-BE49-F238E27FC236}">
                <a16:creationId xmlns:a16="http://schemas.microsoft.com/office/drawing/2014/main" id="{CEEDD249-37B0-3997-EB88-BA711CA459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8511342"/>
              </p:ext>
            </p:extLst>
          </p:nvPr>
        </p:nvGraphicFramePr>
        <p:xfrm>
          <a:off x="7473950" y="5440363"/>
          <a:ext cx="1758950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74360" imgH="393480" progId="Equation.DSMT4">
                  <p:embed/>
                </p:oleObj>
              </mc:Choice>
              <mc:Fallback>
                <p:oleObj name="Equation" r:id="rId8" imgW="7743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3950" y="5440363"/>
                        <a:ext cx="1758950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29">
            <a:extLst>
              <a:ext uri="{FF2B5EF4-FFF2-40B4-BE49-F238E27FC236}">
                <a16:creationId xmlns:a16="http://schemas.microsoft.com/office/drawing/2014/main" id="{CEEDD249-37B0-3997-EB88-BA711CA459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9695174"/>
              </p:ext>
            </p:extLst>
          </p:nvPr>
        </p:nvGraphicFramePr>
        <p:xfrm>
          <a:off x="9366250" y="5440363"/>
          <a:ext cx="1701800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49160" imgH="393480" progId="Equation.DSMT4">
                  <p:embed/>
                </p:oleObj>
              </mc:Choice>
              <mc:Fallback>
                <p:oleObj name="Equation" r:id="rId10" imgW="7491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6250" y="5440363"/>
                        <a:ext cx="1701800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2924927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9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9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9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9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0"/>
                            </p:stCondLst>
                            <p:childTnLst>
                              <p:par>
                                <p:cTn id="4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8" dur="5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0"/>
                            </p:stCondLst>
                            <p:childTnLst>
                              <p:par>
                                <p:cTn id="55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0"/>
                            </p:stCondLst>
                            <p:childTnLst>
                              <p:par>
                                <p:cTn id="60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2" dur="3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8000"/>
                            </p:stCondLst>
                            <p:childTnLst>
                              <p:par>
                                <p:cTn id="64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2" dur="5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0"/>
                            </p:stCondLst>
                            <p:childTnLst>
                              <p:par>
                                <p:cTn id="74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0"/>
                            </p:stCondLst>
                            <p:childTnLst>
                              <p:par>
                                <p:cTn id="79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0"/>
                            </p:stCondLst>
                            <p:childTnLst>
                              <p:par>
                                <p:cTn id="84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6" dur="3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8000"/>
                            </p:stCondLst>
                            <p:childTnLst>
                              <p:par>
                                <p:cTn id="88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6" dur="5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0"/>
                            </p:stCondLst>
                            <p:childTnLst>
                              <p:par>
                                <p:cTn id="98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3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4" dur="3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16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3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3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6500"/>
                            </p:stCondLst>
                            <p:childTnLst>
                              <p:par>
                                <p:cTn id="1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3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27" grpId="0"/>
      <p:bldP spid="28" grpId="0"/>
      <p:bldP spid="29" grpId="0"/>
      <p:bldP spid="35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55" grpId="0" autoUpdateAnimBg="0"/>
      <p:bldP spid="56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0960" y="91693"/>
            <a:ext cx="67056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2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   动力学的基本方程与动静法</a:t>
            </a:r>
          </a:p>
        </p:txBody>
      </p:sp>
      <p:sp>
        <p:nvSpPr>
          <p:cNvPr id="12" name="Text Box 1032"/>
          <p:cNvSpPr txBox="1">
            <a:spLocks noChangeArrowheads="1"/>
          </p:cNvSpPr>
          <p:nvPr/>
        </p:nvSpPr>
        <p:spPr bwMode="auto">
          <a:xfrm>
            <a:off x="695400" y="934315"/>
            <a:ext cx="7344817" cy="112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kumimoji="1" lang="zh-CN" altLang="en-US" sz="2800" i="0" dirty="0">
                <a:solidFill>
                  <a:srgbClr val="FF00FF"/>
                </a:solidFill>
                <a:latin typeface="+mn-lt"/>
                <a:ea typeface="微软雅黑" panose="020B0503020204020204" pitchFamily="34" charset="-122"/>
              </a:rPr>
              <a:t>质心运动定理</a:t>
            </a:r>
            <a:endParaRPr kumimoji="1" lang="en-US" altLang="zh-CN" sz="2800" i="0" dirty="0">
              <a:solidFill>
                <a:srgbClr val="FF00FF"/>
              </a:solidFill>
              <a:latin typeface="+mn-lt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将矢径表示的质心表达式对时间 </a:t>
            </a:r>
            <a:r>
              <a:rPr lang="en-US" altLang="zh-CN" sz="2800" b="0" dirty="0">
                <a:latin typeface="+mn-lt"/>
                <a:ea typeface="微软雅黑" panose="020B0503020204020204" pitchFamily="34" charset="-122"/>
              </a:rPr>
              <a:t>t </a:t>
            </a: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求一阶导数</a:t>
            </a:r>
          </a:p>
        </p:txBody>
      </p:sp>
      <p:graphicFrame>
        <p:nvGraphicFramePr>
          <p:cNvPr id="54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9147065"/>
              </p:ext>
            </p:extLst>
          </p:nvPr>
        </p:nvGraphicFramePr>
        <p:xfrm>
          <a:off x="1427140" y="2119313"/>
          <a:ext cx="1797050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49160" imgH="393480" progId="Equation.DSMT4">
                  <p:embed/>
                </p:oleObj>
              </mc:Choice>
              <mc:Fallback>
                <p:oleObj name="Equation" r:id="rId3" imgW="7491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7140" y="2119313"/>
                        <a:ext cx="1797050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Text Box 1032"/>
          <p:cNvSpPr txBox="1">
            <a:spLocks noChangeArrowheads="1"/>
          </p:cNvSpPr>
          <p:nvPr/>
        </p:nvSpPr>
        <p:spPr bwMode="auto">
          <a:xfrm>
            <a:off x="3373415" y="2277398"/>
            <a:ext cx="720079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或</a:t>
            </a:r>
          </a:p>
        </p:txBody>
      </p:sp>
      <p:sp>
        <p:nvSpPr>
          <p:cNvPr id="56" name="Text Box 1032"/>
          <p:cNvSpPr txBox="1">
            <a:spLocks noChangeArrowheads="1"/>
          </p:cNvSpPr>
          <p:nvPr/>
        </p:nvSpPr>
        <p:spPr bwMode="auto">
          <a:xfrm>
            <a:off x="695401" y="5158581"/>
            <a:ext cx="2528790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i="0" dirty="0">
                <a:ea typeface="微软雅黑" panose="020B0503020204020204" pitchFamily="34" charset="-122"/>
              </a:rPr>
              <a:t>质点系内力：</a:t>
            </a:r>
            <a:endParaRPr lang="zh-CN" altLang="en-US" sz="2800" i="0" dirty="0">
              <a:latin typeface="+mn-lt"/>
              <a:ea typeface="微软雅黑" panose="020B0503020204020204" pitchFamily="34" charset="-122"/>
            </a:endParaRPr>
          </a:p>
        </p:txBody>
      </p:sp>
      <p:graphicFrame>
        <p:nvGraphicFramePr>
          <p:cNvPr id="60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0774285"/>
              </p:ext>
            </p:extLst>
          </p:nvPr>
        </p:nvGraphicFramePr>
        <p:xfrm>
          <a:off x="4235450" y="2319338"/>
          <a:ext cx="197961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25480" imgH="228600" progId="Equation.DSMT4">
                  <p:embed/>
                </p:oleObj>
              </mc:Choice>
              <mc:Fallback>
                <p:oleObj name="Equation" r:id="rId5" imgW="825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5450" y="2319338"/>
                        <a:ext cx="1979613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Text Box 1032"/>
          <p:cNvSpPr txBox="1">
            <a:spLocks noChangeArrowheads="1"/>
          </p:cNvSpPr>
          <p:nvPr/>
        </p:nvSpPr>
        <p:spPr bwMode="auto">
          <a:xfrm>
            <a:off x="695400" y="2988598"/>
            <a:ext cx="7344817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将上式对时间 </a:t>
            </a:r>
            <a:r>
              <a:rPr lang="en-US" altLang="zh-CN" sz="2800" b="0" dirty="0">
                <a:latin typeface="+mn-lt"/>
                <a:ea typeface="微软雅黑" panose="020B0503020204020204" pitchFamily="34" charset="-122"/>
              </a:rPr>
              <a:t>t </a:t>
            </a: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再求一阶导数</a:t>
            </a:r>
          </a:p>
        </p:txBody>
      </p:sp>
      <p:graphicFrame>
        <p:nvGraphicFramePr>
          <p:cNvPr id="62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8334676"/>
              </p:ext>
            </p:extLst>
          </p:nvPr>
        </p:nvGraphicFramePr>
        <p:xfrm>
          <a:off x="1412875" y="3532188"/>
          <a:ext cx="1827213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61760" imgH="393480" progId="Equation.DSMT4">
                  <p:embed/>
                </p:oleObj>
              </mc:Choice>
              <mc:Fallback>
                <p:oleObj name="Equation" r:id="rId7" imgW="7617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875" y="3532188"/>
                        <a:ext cx="1827213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Text Box 1032"/>
          <p:cNvSpPr txBox="1">
            <a:spLocks noChangeArrowheads="1"/>
          </p:cNvSpPr>
          <p:nvPr/>
        </p:nvSpPr>
        <p:spPr bwMode="auto">
          <a:xfrm>
            <a:off x="3373415" y="3689615"/>
            <a:ext cx="720079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或</a:t>
            </a:r>
          </a:p>
        </p:txBody>
      </p:sp>
      <p:graphicFrame>
        <p:nvGraphicFramePr>
          <p:cNvPr id="64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4609552"/>
              </p:ext>
            </p:extLst>
          </p:nvPr>
        </p:nvGraphicFramePr>
        <p:xfrm>
          <a:off x="4221163" y="3732213"/>
          <a:ext cx="20097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38080" imgH="228600" progId="Equation.DSMT4">
                  <p:embed/>
                </p:oleObj>
              </mc:Choice>
              <mc:Fallback>
                <p:oleObj name="Equation" r:id="rId9" imgW="838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1163" y="3732213"/>
                        <a:ext cx="2009775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0811514"/>
              </p:ext>
            </p:extLst>
          </p:nvPr>
        </p:nvGraphicFramePr>
        <p:xfrm>
          <a:off x="1171575" y="4468739"/>
          <a:ext cx="2557463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66680" imgH="241200" progId="Equation.DSMT4">
                  <p:embed/>
                </p:oleObj>
              </mc:Choice>
              <mc:Fallback>
                <p:oleObj name="Equation" r:id="rId11" imgW="10666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1575" y="4468739"/>
                        <a:ext cx="2557463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9664831"/>
              </p:ext>
            </p:extLst>
          </p:nvPr>
        </p:nvGraphicFramePr>
        <p:xfrm>
          <a:off x="3927222" y="4457627"/>
          <a:ext cx="3167062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20480" imgH="241200" progId="Equation.DSMT4">
                  <p:embed/>
                </p:oleObj>
              </mc:Choice>
              <mc:Fallback>
                <p:oleObj name="Equation" r:id="rId13" imgW="13204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7222" y="4457627"/>
                        <a:ext cx="3167062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6559972"/>
              </p:ext>
            </p:extLst>
          </p:nvPr>
        </p:nvGraphicFramePr>
        <p:xfrm>
          <a:off x="3224190" y="5146675"/>
          <a:ext cx="639762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400" imgH="241200" progId="Equation.DSMT4">
                  <p:embed/>
                </p:oleObj>
              </mc:Choice>
              <mc:Fallback>
                <p:oleObj name="Equation" r:id="rId15" imgW="2664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4190" y="5146675"/>
                        <a:ext cx="639762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Text Box 1032"/>
          <p:cNvSpPr txBox="1">
            <a:spLocks noChangeArrowheads="1"/>
          </p:cNvSpPr>
          <p:nvPr/>
        </p:nvSpPr>
        <p:spPr bwMode="auto">
          <a:xfrm>
            <a:off x="6528048" y="5158581"/>
            <a:ext cx="2528790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i="0" dirty="0">
                <a:ea typeface="微软雅黑" panose="020B0503020204020204" pitchFamily="34" charset="-122"/>
              </a:rPr>
              <a:t>质点系外力：</a:t>
            </a:r>
            <a:endParaRPr lang="zh-CN" altLang="en-US" sz="2800" i="0" dirty="0">
              <a:latin typeface="+mn-lt"/>
              <a:ea typeface="微软雅黑" panose="020B0503020204020204" pitchFamily="34" charset="-122"/>
            </a:endParaRPr>
          </a:p>
        </p:txBody>
      </p:sp>
      <p:graphicFrame>
        <p:nvGraphicFramePr>
          <p:cNvPr id="69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1951855"/>
              </p:ext>
            </p:extLst>
          </p:nvPr>
        </p:nvGraphicFramePr>
        <p:xfrm>
          <a:off x="9026929" y="5146675"/>
          <a:ext cx="700088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91960" imgH="241200" progId="Equation.DSMT4">
                  <p:embed/>
                </p:oleObj>
              </mc:Choice>
              <mc:Fallback>
                <p:oleObj name="Equation" r:id="rId17" imgW="2919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26929" y="5146675"/>
                        <a:ext cx="700088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2226106"/>
              </p:ext>
            </p:extLst>
          </p:nvPr>
        </p:nvGraphicFramePr>
        <p:xfrm>
          <a:off x="3193854" y="5756519"/>
          <a:ext cx="1552575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647640" imgH="241200" progId="Equation.DSMT4">
                  <p:embed/>
                </p:oleObj>
              </mc:Choice>
              <mc:Fallback>
                <p:oleObj name="Equation" r:id="rId19" imgW="6476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3854" y="5756519"/>
                        <a:ext cx="1552575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3170636"/>
              </p:ext>
            </p:extLst>
          </p:nvPr>
        </p:nvGraphicFramePr>
        <p:xfrm>
          <a:off x="8905875" y="5756275"/>
          <a:ext cx="1795463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749160" imgH="241200" progId="Equation.DSMT4">
                  <p:embed/>
                </p:oleObj>
              </mc:Choice>
              <mc:Fallback>
                <p:oleObj name="Equation" r:id="rId21" imgW="7491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5875" y="5756275"/>
                        <a:ext cx="1795463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9455263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55" grpId="0"/>
      <p:bldP spid="56" grpId="0"/>
      <p:bldP spid="61" grpId="0" autoUpdateAnimBg="0"/>
      <p:bldP spid="63" grpId="0"/>
      <p:bldP spid="6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0960" y="91693"/>
            <a:ext cx="67056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2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   动力学的基本方程与动静法</a:t>
            </a:r>
          </a:p>
        </p:txBody>
      </p:sp>
      <p:sp>
        <p:nvSpPr>
          <p:cNvPr id="56" name="Text Box 1032"/>
          <p:cNvSpPr txBox="1">
            <a:spLocks noChangeArrowheads="1"/>
          </p:cNvSpPr>
          <p:nvPr/>
        </p:nvSpPr>
        <p:spPr bwMode="auto">
          <a:xfrm>
            <a:off x="1171574" y="1538950"/>
            <a:ext cx="10253017" cy="112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kumimoji="1" lang="zh-CN" altLang="en-US" sz="2800" i="0" dirty="0">
                <a:solidFill>
                  <a:srgbClr val="FF00FF"/>
                </a:solidFill>
                <a:ea typeface="微软雅黑" panose="020B0503020204020204" pitchFamily="34" charset="-122"/>
              </a:rPr>
              <a:t>质心运动定理 </a:t>
            </a:r>
            <a:r>
              <a:rPr kumimoji="1" lang="en-US" altLang="zh-CN" sz="2800" i="0" dirty="0">
                <a:solidFill>
                  <a:srgbClr val="FF00FF"/>
                </a:solidFill>
                <a:ea typeface="微软雅黑" panose="020B0503020204020204" pitchFamily="34" charset="-122"/>
              </a:rPr>
              <a:t>— </a:t>
            </a:r>
            <a:r>
              <a:rPr lang="zh-CN" altLang="en-US" sz="2800" i="0" dirty="0">
                <a:ea typeface="微软雅黑" panose="020B0503020204020204" pitchFamily="34" charset="-122"/>
              </a:rPr>
              <a:t>质点系的质量与质心加速度的乘积，等于作用于质点系上外力的矢量和（或外力系的主矢）。</a:t>
            </a:r>
          </a:p>
        </p:txBody>
      </p:sp>
      <p:graphicFrame>
        <p:nvGraphicFramePr>
          <p:cNvPr id="64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1253358"/>
              </p:ext>
            </p:extLst>
          </p:nvPr>
        </p:nvGraphicFramePr>
        <p:xfrm>
          <a:off x="3824288" y="979282"/>
          <a:ext cx="2801937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68200" imgH="241200" progId="Equation.DSMT4">
                  <p:embed/>
                </p:oleObj>
              </mc:Choice>
              <mc:Fallback>
                <p:oleObj name="Equation" r:id="rId3" imgW="1168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4288" y="979282"/>
                        <a:ext cx="2801937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032"/>
          <p:cNvSpPr txBox="1">
            <a:spLocks noChangeArrowheads="1"/>
          </p:cNvSpPr>
          <p:nvPr/>
        </p:nvSpPr>
        <p:spPr bwMode="auto">
          <a:xfrm>
            <a:off x="1171574" y="2627901"/>
            <a:ext cx="3930651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i="0" dirty="0">
                <a:ea typeface="微软雅黑" panose="020B0503020204020204" pitchFamily="34" charset="-122"/>
              </a:rPr>
              <a:t>直角坐标轴上投影式</a:t>
            </a:r>
          </a:p>
        </p:txBody>
      </p:sp>
      <p:graphicFrame>
        <p:nvGraphicFramePr>
          <p:cNvPr id="20" name="Object 29">
            <a:extLst>
              <a:ext uri="{FF2B5EF4-FFF2-40B4-BE49-F238E27FC236}">
                <a16:creationId xmlns:a16="http://schemas.microsoft.com/office/drawing/2014/main" id="{CEEDD249-37B0-3997-EB88-BA711CA459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317755"/>
              </p:ext>
            </p:extLst>
          </p:nvPr>
        </p:nvGraphicFramePr>
        <p:xfrm>
          <a:off x="1964690" y="3212524"/>
          <a:ext cx="1962150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63280" imgH="241200" progId="Equation.DSMT4">
                  <p:embed/>
                </p:oleObj>
              </mc:Choice>
              <mc:Fallback>
                <p:oleObj name="Equation" r:id="rId5" imgW="8632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4690" y="3212524"/>
                        <a:ext cx="1962150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9">
            <a:extLst>
              <a:ext uri="{FF2B5EF4-FFF2-40B4-BE49-F238E27FC236}">
                <a16:creationId xmlns:a16="http://schemas.microsoft.com/office/drawing/2014/main" id="{CEEDD249-37B0-3997-EB88-BA711CA459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1207782"/>
              </p:ext>
            </p:extLst>
          </p:nvPr>
        </p:nvGraphicFramePr>
        <p:xfrm>
          <a:off x="4251325" y="3198673"/>
          <a:ext cx="196215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63280" imgH="253800" progId="Equation.DSMT4">
                  <p:embed/>
                </p:oleObj>
              </mc:Choice>
              <mc:Fallback>
                <p:oleObj name="Equation" r:id="rId7" imgW="8632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1325" y="3198673"/>
                        <a:ext cx="196215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9">
            <a:extLst>
              <a:ext uri="{FF2B5EF4-FFF2-40B4-BE49-F238E27FC236}">
                <a16:creationId xmlns:a16="http://schemas.microsoft.com/office/drawing/2014/main" id="{CEEDD249-37B0-3997-EB88-BA711CA459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7646284"/>
              </p:ext>
            </p:extLst>
          </p:nvPr>
        </p:nvGraphicFramePr>
        <p:xfrm>
          <a:off x="6726642" y="3212524"/>
          <a:ext cx="1962150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63280" imgH="241200" progId="Equation.DSMT4">
                  <p:embed/>
                </p:oleObj>
              </mc:Choice>
              <mc:Fallback>
                <p:oleObj name="Equation" r:id="rId9" imgW="8632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6642" y="3212524"/>
                        <a:ext cx="1962150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1032"/>
          <p:cNvSpPr txBox="1">
            <a:spLocks noChangeArrowheads="1"/>
          </p:cNvSpPr>
          <p:nvPr/>
        </p:nvSpPr>
        <p:spPr bwMode="auto">
          <a:xfrm>
            <a:off x="1171575" y="3851202"/>
            <a:ext cx="4492378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i="0" dirty="0">
                <a:ea typeface="微软雅黑" panose="020B0503020204020204" pitchFamily="34" charset="-122"/>
              </a:rPr>
              <a:t>自然轴上投影式</a:t>
            </a:r>
          </a:p>
        </p:txBody>
      </p:sp>
      <p:graphicFrame>
        <p:nvGraphicFramePr>
          <p:cNvPr id="24" name="Object 29">
            <a:extLst>
              <a:ext uri="{FF2B5EF4-FFF2-40B4-BE49-F238E27FC236}">
                <a16:creationId xmlns:a16="http://schemas.microsoft.com/office/drawing/2014/main" id="{CEEDD249-37B0-3997-EB88-BA711CA459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2871939"/>
              </p:ext>
            </p:extLst>
          </p:nvPr>
        </p:nvGraphicFramePr>
        <p:xfrm>
          <a:off x="1879600" y="4338671"/>
          <a:ext cx="2135188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39600" imgH="393480" progId="Equation.DSMT4">
                  <p:embed/>
                </p:oleObj>
              </mc:Choice>
              <mc:Fallback>
                <p:oleObj name="Equation" r:id="rId11" imgW="9396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600" y="4338671"/>
                        <a:ext cx="2135188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9">
            <a:extLst>
              <a:ext uri="{FF2B5EF4-FFF2-40B4-BE49-F238E27FC236}">
                <a16:creationId xmlns:a16="http://schemas.microsoft.com/office/drawing/2014/main" id="{CEEDD249-37B0-3997-EB88-BA711CA459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4863223"/>
              </p:ext>
            </p:extLst>
          </p:nvPr>
        </p:nvGraphicFramePr>
        <p:xfrm>
          <a:off x="5102225" y="4279934"/>
          <a:ext cx="1962150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863280" imgH="444240" progId="Equation.DSMT4">
                  <p:embed/>
                </p:oleObj>
              </mc:Choice>
              <mc:Fallback>
                <p:oleObj name="Equation" r:id="rId13" imgW="8632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2225" y="4279934"/>
                        <a:ext cx="1962150" cy="1020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1032"/>
          <p:cNvSpPr txBox="1">
            <a:spLocks noChangeArrowheads="1"/>
          </p:cNvSpPr>
          <p:nvPr/>
        </p:nvSpPr>
        <p:spPr bwMode="auto">
          <a:xfrm>
            <a:off x="1171575" y="5300696"/>
            <a:ext cx="3268242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kumimoji="1" lang="zh-CN" altLang="en-US" sz="2800" i="0" dirty="0">
                <a:solidFill>
                  <a:srgbClr val="FF00FF"/>
                </a:solidFill>
                <a:ea typeface="微软雅黑" panose="020B0503020204020204" pitchFamily="34" charset="-122"/>
              </a:rPr>
              <a:t>质心运动守恒定律</a:t>
            </a:r>
            <a:endParaRPr lang="zh-CN" altLang="en-US" sz="2800" i="0" dirty="0">
              <a:ea typeface="微软雅黑" panose="020B0503020204020204" pitchFamily="34" charset="-122"/>
            </a:endParaRPr>
          </a:p>
        </p:txBody>
      </p:sp>
      <p:graphicFrame>
        <p:nvGraphicFramePr>
          <p:cNvPr id="29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3350024"/>
              </p:ext>
            </p:extLst>
          </p:nvPr>
        </p:nvGraphicFramePr>
        <p:xfrm>
          <a:off x="4475709" y="5300663"/>
          <a:ext cx="2376487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990360" imgH="241200" progId="Equation.DSMT4">
                  <p:embed/>
                </p:oleObj>
              </mc:Choice>
              <mc:Fallback>
                <p:oleObj name="Equation" r:id="rId15" imgW="9903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5709" y="5300663"/>
                        <a:ext cx="2376487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1032"/>
          <p:cNvSpPr txBox="1">
            <a:spLocks noChangeArrowheads="1"/>
          </p:cNvSpPr>
          <p:nvPr/>
        </p:nvSpPr>
        <p:spPr bwMode="auto">
          <a:xfrm>
            <a:off x="7176120" y="5300663"/>
            <a:ext cx="4492378" cy="565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i="0" dirty="0">
                <a:ea typeface="微软雅黑" panose="020B0503020204020204" pitchFamily="34" charset="-122"/>
              </a:rPr>
              <a:t>则</a:t>
            </a:r>
          </a:p>
        </p:txBody>
      </p:sp>
      <p:graphicFrame>
        <p:nvGraphicFramePr>
          <p:cNvPr id="34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2314027"/>
              </p:ext>
            </p:extLst>
          </p:nvPr>
        </p:nvGraphicFramePr>
        <p:xfrm>
          <a:off x="8096250" y="5300663"/>
          <a:ext cx="1644650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685800" imgH="241200" progId="Equation.DSMT4">
                  <p:embed/>
                </p:oleObj>
              </mc:Choice>
              <mc:Fallback>
                <p:oleObj name="Equation" r:id="rId17" imgW="6858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6250" y="5300663"/>
                        <a:ext cx="1644650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7489276"/>
              </p:ext>
            </p:extLst>
          </p:nvPr>
        </p:nvGraphicFramePr>
        <p:xfrm>
          <a:off x="4870450" y="5792788"/>
          <a:ext cx="1584325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660240" imgH="241200" progId="Equation.DSMT4">
                  <p:embed/>
                </p:oleObj>
              </mc:Choice>
              <mc:Fallback>
                <p:oleObj name="Equation" r:id="rId19" imgW="6602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0450" y="5792788"/>
                        <a:ext cx="1584325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1032"/>
          <p:cNvSpPr txBox="1">
            <a:spLocks noChangeArrowheads="1"/>
          </p:cNvSpPr>
          <p:nvPr/>
        </p:nvSpPr>
        <p:spPr bwMode="auto">
          <a:xfrm>
            <a:off x="7176120" y="5792448"/>
            <a:ext cx="4492378" cy="565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i="0" dirty="0">
                <a:ea typeface="微软雅黑" panose="020B0503020204020204" pitchFamily="34" charset="-122"/>
              </a:rPr>
              <a:t>则</a:t>
            </a:r>
          </a:p>
        </p:txBody>
      </p:sp>
      <p:graphicFrame>
        <p:nvGraphicFramePr>
          <p:cNvPr id="37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5409451"/>
              </p:ext>
            </p:extLst>
          </p:nvPr>
        </p:nvGraphicFramePr>
        <p:xfrm>
          <a:off x="8066088" y="5792788"/>
          <a:ext cx="1706562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711000" imgH="241200" progId="Equation.DSMT4">
                  <p:embed/>
                </p:oleObj>
              </mc:Choice>
              <mc:Fallback>
                <p:oleObj name="Equation" r:id="rId21" imgW="7110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6088" y="5792788"/>
                        <a:ext cx="1706562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5146581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3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utoUpdateAnimBg="0"/>
      <p:bldP spid="19" grpId="0" autoUpdateAnimBg="0"/>
      <p:bldP spid="23" grpId="0" autoUpdateAnimBg="0"/>
      <p:bldP spid="28" grpId="0" autoUpdateAnimBg="0"/>
      <p:bldP spid="30" grpId="0"/>
      <p:bldP spid="3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0960" y="91693"/>
            <a:ext cx="67056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2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   动力学的基本方程与动静法</a:t>
            </a:r>
          </a:p>
        </p:txBody>
      </p:sp>
      <p:sp>
        <p:nvSpPr>
          <p:cNvPr id="4" name="矩形 3"/>
          <p:cNvSpPr/>
          <p:nvPr/>
        </p:nvSpPr>
        <p:spPr>
          <a:xfrm>
            <a:off x="191343" y="842981"/>
            <a:ext cx="11737305" cy="13111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i="0" dirty="0">
                <a:solidFill>
                  <a:srgbClr val="0033CC"/>
                </a:solidFill>
                <a:ea typeface="黑体" panose="02010609060101010101" pitchFamily="49" charset="-122"/>
              </a:rPr>
              <a:t>例   </a:t>
            </a:r>
            <a:r>
              <a:rPr lang="zh-CN" altLang="en-US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设电动机外壳和定子质量为</a:t>
            </a:r>
            <a:r>
              <a:rPr lang="en-US" altLang="zh-CN" b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m</a:t>
            </a:r>
            <a:r>
              <a:rPr lang="en-US" altLang="zh-CN" b="0" i="0" baseline="-250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1</a:t>
            </a:r>
            <a:r>
              <a:rPr lang="zh-CN" altLang="en-US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，转子质量为 </a:t>
            </a:r>
            <a:r>
              <a:rPr lang="en-US" altLang="zh-CN" b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m</a:t>
            </a:r>
            <a:r>
              <a:rPr lang="en-US" altLang="zh-CN" b="0" i="0" baseline="-250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2</a:t>
            </a:r>
            <a:r>
              <a:rPr lang="zh-CN" altLang="en-US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。转子的质心位于</a:t>
            </a:r>
            <a:r>
              <a:rPr lang="en-US" altLang="zh-CN" b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O</a:t>
            </a:r>
            <a:r>
              <a:rPr lang="en-US" altLang="zh-CN" i="0" baseline="-250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2 </a:t>
            </a:r>
            <a:r>
              <a:rPr lang="en-US" altLang="zh-CN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(</a:t>
            </a:r>
            <a:r>
              <a:rPr lang="zh-CN" altLang="en-US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由于制图电动机造和安装上的误差不在轴线上</a:t>
            </a:r>
            <a:r>
              <a:rPr lang="en-US" altLang="zh-CN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)</a:t>
            </a:r>
            <a:r>
              <a:rPr lang="zh-CN" altLang="en-US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，如图所示。设偏心距</a:t>
            </a:r>
            <a:r>
              <a:rPr lang="en-US" altLang="zh-CN" b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O</a:t>
            </a:r>
            <a:r>
              <a:rPr lang="en-US" altLang="zh-CN" b="0" i="0" baseline="-250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1</a:t>
            </a:r>
            <a:r>
              <a:rPr lang="en-US" altLang="zh-CN" b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O</a:t>
            </a:r>
            <a:r>
              <a:rPr lang="en-US" altLang="zh-CN" b="0" i="0" baseline="-250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2</a:t>
            </a:r>
            <a:r>
              <a:rPr lang="zh-CN" altLang="en-US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＝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e</a:t>
            </a:r>
            <a:r>
              <a:rPr lang="zh-CN" altLang="en-US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，转子以匀角速度</a:t>
            </a:r>
            <a:r>
              <a:rPr lang="en-US" altLang="zh-CN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ω</a:t>
            </a:r>
            <a:r>
              <a:rPr lang="zh-CN" altLang="en-US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转动。如电动机固定在机座上，求机座对电动机的约束力。</a:t>
            </a:r>
            <a:endParaRPr lang="zh-CN" altLang="en-US" i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Rectangle 61"/>
          <p:cNvSpPr>
            <a:spLocks noChangeArrowheads="1"/>
          </p:cNvSpPr>
          <p:nvPr/>
        </p:nvSpPr>
        <p:spPr bwMode="auto">
          <a:xfrm>
            <a:off x="3332406" y="2270992"/>
            <a:ext cx="5455178" cy="4007349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9" name="11-2new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719736" y="2492896"/>
            <a:ext cx="4752528" cy="3564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13985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  <p:bldLst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0960" y="91693"/>
            <a:ext cx="67056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2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   动力学的基本方程与动静法</a:t>
            </a:r>
          </a:p>
        </p:txBody>
      </p:sp>
      <p:sp>
        <p:nvSpPr>
          <p:cNvPr id="4" name="矩形 3"/>
          <p:cNvSpPr/>
          <p:nvPr/>
        </p:nvSpPr>
        <p:spPr>
          <a:xfrm>
            <a:off x="191344" y="842981"/>
            <a:ext cx="6535298" cy="25299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i="0" dirty="0">
                <a:solidFill>
                  <a:srgbClr val="0033CC"/>
                </a:solidFill>
                <a:ea typeface="黑体" panose="02010609060101010101" pitchFamily="49" charset="-122"/>
              </a:rPr>
              <a:t>解  </a:t>
            </a:r>
            <a:r>
              <a:rPr lang="zh-CN" altLang="en-US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选取外壳、定子及转子为质点系。</a:t>
            </a:r>
            <a:r>
              <a:rPr lang="zh-CN" altLang="en-US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作用在质点系上的外力有外壳、定子的重力</a:t>
            </a:r>
            <a:r>
              <a:rPr lang="en-US" altLang="zh-CN" b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0" i="0" baseline="-250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b="0" i="0" baseline="-250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，转子的重力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0" i="0" baseline="-2500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 b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b="0" i="0" baseline="-2500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b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，约束力</a:t>
            </a:r>
            <a:r>
              <a:rPr lang="en-US" altLang="zh-CN" b="0" dirty="0" err="1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b="0" baseline="-25000" dirty="0" err="1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b="0" baseline="-250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及 </a:t>
            </a:r>
            <a:r>
              <a:rPr lang="en-US" altLang="zh-CN" b="0" dirty="0" err="1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b="0" baseline="-25000" dirty="0" err="1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。取坐标系如图所示。外壳与定子的质心在坐标原点</a:t>
            </a:r>
            <a:r>
              <a:rPr lang="en-US" altLang="zh-CN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O</a:t>
            </a:r>
            <a:r>
              <a:rPr lang="en-US" altLang="zh-CN" i="0" baseline="-250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1</a:t>
            </a:r>
            <a:r>
              <a:rPr lang="zh-CN" altLang="en-US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处，转子质心</a:t>
            </a:r>
            <a:r>
              <a:rPr lang="en-US" altLang="zh-CN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O</a:t>
            </a:r>
            <a:r>
              <a:rPr lang="en-US" altLang="zh-CN" i="0" baseline="-250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2</a:t>
            </a:r>
            <a:r>
              <a:rPr lang="zh-CN" altLang="en-US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的坐标为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b="0" i="0" baseline="-250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i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 b="0" dirty="0" err="1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0" i="0" dirty="0" err="1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sin</a:t>
            </a:r>
            <a:r>
              <a:rPr lang="en-US" altLang="zh-CN" b="0" dirty="0" err="1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ωt</a:t>
            </a:r>
            <a:r>
              <a:rPr lang="zh-CN" altLang="en-US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b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b="0" i="0" baseline="-2500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i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 i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−</a:t>
            </a:r>
            <a:r>
              <a:rPr lang="en-US" altLang="zh-CN" b="0" dirty="0" err="1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0" i="0" dirty="0" err="1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b="0" dirty="0" err="1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ωt</a:t>
            </a:r>
            <a:r>
              <a:rPr lang="zh-CN" altLang="en-US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。质点系的质心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C </a:t>
            </a:r>
            <a:r>
              <a:rPr lang="zh-CN" altLang="en-US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的坐标为</a:t>
            </a:r>
            <a:endParaRPr lang="zh-CN" altLang="en-US" i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Rectangle 61"/>
          <p:cNvSpPr>
            <a:spLocks noChangeArrowheads="1"/>
          </p:cNvSpPr>
          <p:nvPr/>
        </p:nvSpPr>
        <p:spPr bwMode="auto">
          <a:xfrm>
            <a:off x="7104112" y="1196752"/>
            <a:ext cx="4951122" cy="4007349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6" name="Picture 15" descr="11-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0176" y="1516896"/>
            <a:ext cx="3929422" cy="3367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Object 29">
            <a:extLst>
              <a:ext uri="{FF2B5EF4-FFF2-40B4-BE49-F238E27FC236}">
                <a16:creationId xmlns:a16="http://schemas.microsoft.com/office/drawing/2014/main" id="{CEEDD249-37B0-3997-EB88-BA711CA459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2048711"/>
              </p:ext>
            </p:extLst>
          </p:nvPr>
        </p:nvGraphicFramePr>
        <p:xfrm>
          <a:off x="767408" y="3373438"/>
          <a:ext cx="4872038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45960" imgH="431640" progId="Equation.DSMT4">
                  <p:embed/>
                </p:oleObj>
              </mc:Choice>
              <mc:Fallback>
                <p:oleObj name="Equation" r:id="rId4" imgW="21459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408" y="3373438"/>
                        <a:ext cx="4872038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9">
            <a:extLst>
              <a:ext uri="{FF2B5EF4-FFF2-40B4-BE49-F238E27FC236}">
                <a16:creationId xmlns:a16="http://schemas.microsoft.com/office/drawing/2014/main" id="{CEEDD249-37B0-3997-EB88-BA711CA459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2654480"/>
              </p:ext>
            </p:extLst>
          </p:nvPr>
        </p:nvGraphicFramePr>
        <p:xfrm>
          <a:off x="579438" y="4706938"/>
          <a:ext cx="5246687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11200" imgH="431640" progId="Equation.DSMT4">
                  <p:embed/>
                </p:oleObj>
              </mc:Choice>
              <mc:Fallback>
                <p:oleObj name="Equation" r:id="rId6" imgW="23112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438" y="4706938"/>
                        <a:ext cx="5246687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9100080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0960" y="91693"/>
            <a:ext cx="67056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2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   动力学的基本方程与动静法</a:t>
            </a:r>
          </a:p>
        </p:txBody>
      </p:sp>
      <p:sp>
        <p:nvSpPr>
          <p:cNvPr id="4" name="矩形 3"/>
          <p:cNvSpPr/>
          <p:nvPr/>
        </p:nvSpPr>
        <p:spPr>
          <a:xfrm>
            <a:off x="191344" y="1048861"/>
            <a:ext cx="6535298" cy="49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质心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C </a:t>
            </a:r>
            <a:r>
              <a:rPr lang="zh-CN" altLang="en-US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的加速度为</a:t>
            </a:r>
            <a:endParaRPr lang="zh-CN" altLang="en-US" i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8" name="Object 29">
            <a:extLst>
              <a:ext uri="{FF2B5EF4-FFF2-40B4-BE49-F238E27FC236}">
                <a16:creationId xmlns:a16="http://schemas.microsoft.com/office/drawing/2014/main" id="{CEEDD249-37B0-3997-EB88-BA711CA459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7897992"/>
              </p:ext>
            </p:extLst>
          </p:nvPr>
        </p:nvGraphicFramePr>
        <p:xfrm>
          <a:off x="868363" y="1608138"/>
          <a:ext cx="4670425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57400" imgH="457200" progId="Equation.DSMT4">
                  <p:embed/>
                </p:oleObj>
              </mc:Choice>
              <mc:Fallback>
                <p:oleObj name="Equation" r:id="rId3" imgW="20574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363" y="1608138"/>
                        <a:ext cx="4670425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9">
            <a:extLst>
              <a:ext uri="{FF2B5EF4-FFF2-40B4-BE49-F238E27FC236}">
                <a16:creationId xmlns:a16="http://schemas.microsoft.com/office/drawing/2014/main" id="{CEEDD249-37B0-3997-EB88-BA711CA459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095479"/>
              </p:ext>
            </p:extLst>
          </p:nvPr>
        </p:nvGraphicFramePr>
        <p:xfrm>
          <a:off x="6211888" y="1608138"/>
          <a:ext cx="4497387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81080" imgH="457200" progId="Equation.DSMT4">
                  <p:embed/>
                </p:oleObj>
              </mc:Choice>
              <mc:Fallback>
                <p:oleObj name="Equation" r:id="rId5" imgW="19810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1888" y="1608138"/>
                        <a:ext cx="4497387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191344" y="2693988"/>
            <a:ext cx="6535298" cy="49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根据质心运动定理</a:t>
            </a:r>
            <a:endParaRPr lang="zh-CN" altLang="en-US" i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9" name="Object 29">
            <a:extLst>
              <a:ext uri="{FF2B5EF4-FFF2-40B4-BE49-F238E27FC236}">
                <a16:creationId xmlns:a16="http://schemas.microsoft.com/office/drawing/2014/main" id="{CEEDD249-37B0-3997-EB88-BA711CA459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6389929"/>
              </p:ext>
            </p:extLst>
          </p:nvPr>
        </p:nvGraphicFramePr>
        <p:xfrm>
          <a:off x="959099" y="3201894"/>
          <a:ext cx="2478087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91880" imgH="228600" progId="Equation.DSMT4">
                  <p:embed/>
                </p:oleObj>
              </mc:Choice>
              <mc:Fallback>
                <p:oleObj name="Equation" r:id="rId7" imgW="1091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9099" y="3201894"/>
                        <a:ext cx="2478087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9">
            <a:extLst>
              <a:ext uri="{FF2B5EF4-FFF2-40B4-BE49-F238E27FC236}">
                <a16:creationId xmlns:a16="http://schemas.microsoft.com/office/drawing/2014/main" id="{CEEDD249-37B0-3997-EB88-BA711CA459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1332811"/>
              </p:ext>
            </p:extLst>
          </p:nvPr>
        </p:nvGraphicFramePr>
        <p:xfrm>
          <a:off x="5538788" y="3187607"/>
          <a:ext cx="2711450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93760" imgH="241200" progId="Equation.DSMT4">
                  <p:embed/>
                </p:oleObj>
              </mc:Choice>
              <mc:Fallback>
                <p:oleObj name="Equation" r:id="rId9" imgW="11937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8788" y="3187607"/>
                        <a:ext cx="2711450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9">
            <a:extLst>
              <a:ext uri="{FF2B5EF4-FFF2-40B4-BE49-F238E27FC236}">
                <a16:creationId xmlns:a16="http://schemas.microsoft.com/office/drawing/2014/main" id="{CEEDD249-37B0-3997-EB88-BA711CA459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3229753"/>
              </p:ext>
            </p:extLst>
          </p:nvPr>
        </p:nvGraphicFramePr>
        <p:xfrm>
          <a:off x="946523" y="3762282"/>
          <a:ext cx="380365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676160" imgH="241200" progId="Equation.DSMT4">
                  <p:embed/>
                </p:oleObj>
              </mc:Choice>
              <mc:Fallback>
                <p:oleObj name="Equation" r:id="rId11" imgW="16761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6523" y="3762282"/>
                        <a:ext cx="380365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9">
            <a:extLst>
              <a:ext uri="{FF2B5EF4-FFF2-40B4-BE49-F238E27FC236}">
                <a16:creationId xmlns:a16="http://schemas.microsoft.com/office/drawing/2014/main" id="{CEEDD249-37B0-3997-EB88-BA711CA459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5968488"/>
              </p:ext>
            </p:extLst>
          </p:nvPr>
        </p:nvGraphicFramePr>
        <p:xfrm>
          <a:off x="5527576" y="3747994"/>
          <a:ext cx="3865562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701720" imgH="253800" progId="Equation.DSMT4">
                  <p:embed/>
                </p:oleObj>
              </mc:Choice>
              <mc:Fallback>
                <p:oleObj name="Equation" r:id="rId13" imgW="170172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7576" y="3747994"/>
                        <a:ext cx="3865562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矩形 23"/>
          <p:cNvSpPr/>
          <p:nvPr/>
        </p:nvSpPr>
        <p:spPr>
          <a:xfrm>
            <a:off x="191344" y="4401705"/>
            <a:ext cx="11377264" cy="49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电机不转时，</a:t>
            </a:r>
            <a:r>
              <a:rPr lang="en-US" altLang="zh-CN" b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0" dirty="0" err="1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b="0" baseline="-25000" dirty="0" err="1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b="0" i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=0</a:t>
            </a:r>
            <a:r>
              <a:rPr lang="zh-CN" altLang="en-US" i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b="0" dirty="0" err="1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b="0" baseline="-25000" dirty="0" err="1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b="0" i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b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0" i="0" baseline="-2500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b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+G</a:t>
            </a:r>
            <a:r>
              <a:rPr lang="en-US" altLang="zh-CN" b="0" i="0" baseline="-2500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i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称为</a:t>
            </a:r>
            <a:r>
              <a:rPr lang="zh-CN" altLang="en-US" i="0" dirty="0">
                <a:ea typeface="黑体" panose="02010609060101010101" pitchFamily="49" charset="-122"/>
                <a:cs typeface="Times New Roman" panose="02020603050405020304" pitchFamily="18" charset="0"/>
              </a:rPr>
              <a:t>静约束力</a:t>
            </a:r>
            <a:r>
              <a:rPr lang="zh-CN" altLang="en-US" i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；电机转动时的约束力称</a:t>
            </a:r>
            <a:r>
              <a:rPr lang="zh-CN" altLang="en-US" i="0" dirty="0">
                <a:ea typeface="黑体" panose="02010609060101010101" pitchFamily="49" charset="-122"/>
                <a:cs typeface="Times New Roman" panose="02020603050405020304" pitchFamily="18" charset="0"/>
              </a:rPr>
              <a:t>动约束力。</a:t>
            </a:r>
            <a:endParaRPr lang="zh-CN" altLang="en-US" i="0" dirty="0">
              <a:solidFill>
                <a:schemeClr val="tx1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91344" y="4935228"/>
            <a:ext cx="11377264" cy="9363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动约束力中，</a:t>
            </a:r>
            <a:r>
              <a:rPr lang="en-US" altLang="zh-CN" b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− </a:t>
            </a:r>
            <a:r>
              <a:rPr lang="en-US" altLang="zh-CN" b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b="0" i="0" baseline="-2500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b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eω</a:t>
            </a:r>
            <a:r>
              <a:rPr lang="en-US" altLang="zh-CN" b="0" i="0" baseline="3000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b="0" i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sin</a:t>
            </a:r>
            <a:r>
              <a:rPr lang="en-US" altLang="zh-CN" b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ωt </a:t>
            </a:r>
            <a:r>
              <a:rPr lang="zh-CN" altLang="en-US" i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和 </a:t>
            </a:r>
            <a:r>
              <a:rPr lang="en-US" altLang="zh-CN" b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b="0" i="0" baseline="-2500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b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eω</a:t>
            </a:r>
            <a:r>
              <a:rPr lang="en-US" altLang="zh-CN" b="0" i="0" baseline="3000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b="0" i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b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ωt</a:t>
            </a:r>
            <a:r>
              <a:rPr lang="zh-CN" altLang="en-US" i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称为</a:t>
            </a:r>
            <a:r>
              <a:rPr lang="zh-CN" altLang="en-US" i="0" dirty="0">
                <a:ea typeface="黑体" panose="02010609060101010101" pitchFamily="49" charset="-122"/>
                <a:cs typeface="Times New Roman" panose="02020603050405020304" pitchFamily="18" charset="0"/>
              </a:rPr>
              <a:t>附加动约束力，</a:t>
            </a:r>
            <a:r>
              <a:rPr lang="zh-CN" altLang="en-US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附加动约束力将会导致机座的振动及使电动机及机座受到损坏。</a:t>
            </a:r>
            <a:endParaRPr lang="zh-CN" altLang="en-US" i="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88064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24" grpId="0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0960" y="91693"/>
            <a:ext cx="67056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2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   动力学的基本方程与动静法</a:t>
            </a:r>
          </a:p>
        </p:txBody>
      </p:sp>
      <p:sp>
        <p:nvSpPr>
          <p:cNvPr id="4" name="矩形 3"/>
          <p:cNvSpPr/>
          <p:nvPr/>
        </p:nvSpPr>
        <p:spPr>
          <a:xfrm>
            <a:off x="191343" y="842981"/>
            <a:ext cx="11737305" cy="13111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i="0" dirty="0">
                <a:solidFill>
                  <a:srgbClr val="0033CC"/>
                </a:solidFill>
                <a:ea typeface="黑体" panose="02010609060101010101" pitchFamily="49" charset="-122"/>
              </a:rPr>
              <a:t>例   </a:t>
            </a:r>
            <a:r>
              <a:rPr lang="zh-CN" altLang="en-US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设电动机外壳和定子质量为</a:t>
            </a:r>
            <a:r>
              <a:rPr lang="en-US" altLang="zh-CN" b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m</a:t>
            </a:r>
            <a:r>
              <a:rPr lang="en-US" altLang="zh-CN" b="0" i="0" baseline="-250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1</a:t>
            </a:r>
            <a:r>
              <a:rPr lang="zh-CN" altLang="en-US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，转子质量为 </a:t>
            </a:r>
            <a:r>
              <a:rPr lang="en-US" altLang="zh-CN" b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m</a:t>
            </a:r>
            <a:r>
              <a:rPr lang="en-US" altLang="zh-CN" b="0" i="0" baseline="-250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2</a:t>
            </a:r>
            <a:r>
              <a:rPr lang="zh-CN" altLang="en-US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。转子的质心位于</a:t>
            </a:r>
            <a:r>
              <a:rPr lang="en-US" altLang="zh-CN" b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O</a:t>
            </a:r>
            <a:r>
              <a:rPr lang="en-US" altLang="zh-CN" i="0" baseline="-250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2 </a:t>
            </a:r>
            <a:r>
              <a:rPr lang="en-US" altLang="zh-CN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(</a:t>
            </a:r>
            <a:r>
              <a:rPr lang="zh-CN" altLang="en-US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由于制图电动机造和安装上的误差不在轴线上</a:t>
            </a:r>
            <a:r>
              <a:rPr lang="en-US" altLang="zh-CN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)</a:t>
            </a:r>
            <a:r>
              <a:rPr lang="zh-CN" altLang="en-US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，如图所示。设偏心距</a:t>
            </a:r>
            <a:r>
              <a:rPr lang="en-US" altLang="zh-CN" b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O</a:t>
            </a:r>
            <a:r>
              <a:rPr lang="en-US" altLang="zh-CN" b="0" i="0" baseline="-250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1</a:t>
            </a:r>
            <a:r>
              <a:rPr lang="en-US" altLang="zh-CN" b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O</a:t>
            </a:r>
            <a:r>
              <a:rPr lang="en-US" altLang="zh-CN" b="0" i="0" baseline="-250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2</a:t>
            </a:r>
            <a:r>
              <a:rPr lang="zh-CN" altLang="en-US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＝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e</a:t>
            </a:r>
            <a:r>
              <a:rPr lang="zh-CN" altLang="en-US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，转子以匀角速度</a:t>
            </a:r>
            <a:r>
              <a:rPr lang="en-US" altLang="zh-CN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ω</a:t>
            </a:r>
            <a:r>
              <a:rPr lang="zh-CN" altLang="en-US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转动。如电动机放置在机座平面上，平面光滑，初始静置，求电机外壳的运动。</a:t>
            </a:r>
            <a:endParaRPr lang="zh-CN" altLang="en-US" i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Rectangle 61"/>
          <p:cNvSpPr>
            <a:spLocks noChangeArrowheads="1"/>
          </p:cNvSpPr>
          <p:nvPr/>
        </p:nvSpPr>
        <p:spPr bwMode="auto">
          <a:xfrm>
            <a:off x="3332406" y="2270992"/>
            <a:ext cx="5455178" cy="4007349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6" name="11-10new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719736" y="2564904"/>
            <a:ext cx="4608512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40061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  <p:bldLst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0960" y="91693"/>
            <a:ext cx="67056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2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   动力学的基本方程与动静法</a:t>
            </a:r>
          </a:p>
        </p:txBody>
      </p:sp>
      <p:sp>
        <p:nvSpPr>
          <p:cNvPr id="4" name="矩形 3"/>
          <p:cNvSpPr/>
          <p:nvPr/>
        </p:nvSpPr>
        <p:spPr>
          <a:xfrm>
            <a:off x="191344" y="842981"/>
            <a:ext cx="6535298" cy="3342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i="0" dirty="0">
                <a:solidFill>
                  <a:srgbClr val="0033CC"/>
                </a:solidFill>
                <a:ea typeface="黑体" panose="02010609060101010101" pitchFamily="49" charset="-122"/>
              </a:rPr>
              <a:t>解  </a:t>
            </a:r>
            <a:r>
              <a:rPr lang="zh-CN" altLang="en-US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选取外壳、定子及转子为质点系。</a:t>
            </a:r>
            <a:r>
              <a:rPr lang="zh-CN" altLang="en-US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作用在质点系上的外力有外壳、定子的重力</a:t>
            </a:r>
            <a:r>
              <a:rPr lang="en-US" altLang="zh-CN" b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0" i="0" baseline="-250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b="0" i="0" baseline="-250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，转子的重力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0" i="0" baseline="-2500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 b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b="0" i="0" baseline="-2500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b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，约束力</a:t>
            </a:r>
            <a:r>
              <a:rPr lang="en-US" altLang="zh-CN" b="0" dirty="0" err="1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b="0" baseline="-25000" dirty="0" err="1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b="0" baseline="-250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及 </a:t>
            </a:r>
            <a:r>
              <a:rPr lang="en-US" altLang="zh-CN" b="0" dirty="0" err="1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b="0" baseline="-25000" dirty="0" err="1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。取坐标系如图所示。外壳与定子的质心距坐标原点</a:t>
            </a:r>
            <a:r>
              <a:rPr lang="en-US" altLang="zh-CN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O</a:t>
            </a:r>
            <a:r>
              <a:rPr lang="zh-CN" altLang="en-US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为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lang="zh-CN" altLang="en-US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。因为基座平面光滑，因此系统水平方向没有外力，根据质心运动定理，</a:t>
            </a:r>
            <a:r>
              <a:rPr lang="en-US" altLang="zh-CN" b="0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0" dirty="0" err="1">
                <a:solidFill>
                  <a:schemeClr val="tx1"/>
                </a:solidFill>
                <a:ea typeface="黑体" panose="02010609060101010101" pitchFamily="49" charset="-122"/>
              </a:rPr>
              <a:t>a</a:t>
            </a:r>
            <a:r>
              <a:rPr lang="en-US" altLang="zh-CN" b="0" baseline="-25000" dirty="0" err="1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Cx</a:t>
            </a:r>
            <a:r>
              <a:rPr lang="en-US" altLang="zh-CN" b="0" i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=0</a:t>
            </a:r>
            <a:r>
              <a:rPr lang="zh-CN" altLang="en-US" i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；同时由于初始是静止的，即 </a:t>
            </a:r>
            <a:r>
              <a:rPr lang="en-US" altLang="zh-CN" b="0" dirty="0" err="1">
                <a:solidFill>
                  <a:schemeClr val="tx1"/>
                </a:solidFill>
                <a:ea typeface="黑体" panose="02010609060101010101" pitchFamily="49" charset="-122"/>
              </a:rPr>
              <a:t>v</a:t>
            </a:r>
            <a:r>
              <a:rPr lang="en-US" altLang="zh-CN" b="0" baseline="-25000" dirty="0" err="1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Cx</a:t>
            </a:r>
            <a:r>
              <a:rPr lang="en-US" altLang="zh-CN" b="0" i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=0</a:t>
            </a:r>
            <a:r>
              <a:rPr lang="zh-CN" altLang="en-US" i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。所以质点系质心位置在水平方向的坐标 </a:t>
            </a:r>
            <a:r>
              <a:rPr lang="en-US" altLang="zh-CN" b="0" dirty="0" err="1">
                <a:solidFill>
                  <a:schemeClr val="tx1"/>
                </a:solidFill>
                <a:ea typeface="黑体" panose="02010609060101010101" pitchFamily="49" charset="-122"/>
              </a:rPr>
              <a:t>x</a:t>
            </a:r>
            <a:r>
              <a:rPr lang="en-US" altLang="zh-CN" b="0" baseline="-25000" dirty="0" err="1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b="0" i="0" baseline="-2500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i="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始终保持不变。</a:t>
            </a:r>
          </a:p>
        </p:txBody>
      </p:sp>
      <p:sp>
        <p:nvSpPr>
          <p:cNvPr id="13" name="Rectangle 61"/>
          <p:cNvSpPr>
            <a:spLocks noChangeArrowheads="1"/>
          </p:cNvSpPr>
          <p:nvPr/>
        </p:nvSpPr>
        <p:spPr bwMode="auto">
          <a:xfrm>
            <a:off x="7104112" y="1196752"/>
            <a:ext cx="4951122" cy="4007349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" name="Object 29">
            <a:extLst>
              <a:ext uri="{FF2B5EF4-FFF2-40B4-BE49-F238E27FC236}">
                <a16:creationId xmlns:a16="http://schemas.microsoft.com/office/drawing/2014/main" id="{CEEDD249-37B0-3997-EB88-BA711CA459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9304072"/>
              </p:ext>
            </p:extLst>
          </p:nvPr>
        </p:nvGraphicFramePr>
        <p:xfrm>
          <a:off x="616583" y="4570228"/>
          <a:ext cx="1036638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57200" imgH="241200" progId="Equation.DSMT4">
                  <p:embed/>
                </p:oleObj>
              </mc:Choice>
              <mc:Fallback>
                <p:oleObj name="Equation" r:id="rId3" imgW="457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583" y="4570228"/>
                        <a:ext cx="1036638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14" descr="11-03-0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2878" y="1759211"/>
            <a:ext cx="4393589" cy="2882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Object 29">
            <a:extLst>
              <a:ext uri="{FF2B5EF4-FFF2-40B4-BE49-F238E27FC236}">
                <a16:creationId xmlns:a16="http://schemas.microsoft.com/office/drawing/2014/main" id="{CEEDD249-37B0-3997-EB88-BA711CA459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2421182"/>
              </p:ext>
            </p:extLst>
          </p:nvPr>
        </p:nvGraphicFramePr>
        <p:xfrm>
          <a:off x="1931988" y="4379441"/>
          <a:ext cx="5016500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09680" imgH="431640" progId="Equation.DSMT4">
                  <p:embed/>
                </p:oleObj>
              </mc:Choice>
              <mc:Fallback>
                <p:oleObj name="Equation" r:id="rId6" imgW="22096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1988" y="4379441"/>
                        <a:ext cx="5016500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9">
            <a:extLst>
              <a:ext uri="{FF2B5EF4-FFF2-40B4-BE49-F238E27FC236}">
                <a16:creationId xmlns:a16="http://schemas.microsoft.com/office/drawing/2014/main" id="{CEEDD249-37B0-3997-EB88-BA711CA459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938322"/>
              </p:ext>
            </p:extLst>
          </p:nvPr>
        </p:nvGraphicFramePr>
        <p:xfrm>
          <a:off x="644204" y="5512234"/>
          <a:ext cx="123825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45760" imgH="241200" progId="Equation.DSMT4">
                  <p:embed/>
                </p:oleObj>
              </mc:Choice>
              <mc:Fallback>
                <p:oleObj name="Equation" r:id="rId8" imgW="5457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204" y="5512234"/>
                        <a:ext cx="1238250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9">
            <a:extLst>
              <a:ext uri="{FF2B5EF4-FFF2-40B4-BE49-F238E27FC236}">
                <a16:creationId xmlns:a16="http://schemas.microsoft.com/office/drawing/2014/main" id="{CEEDD249-37B0-3997-EB88-BA711CA459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1820935"/>
              </p:ext>
            </p:extLst>
          </p:nvPr>
        </p:nvGraphicFramePr>
        <p:xfrm>
          <a:off x="2711624" y="5293952"/>
          <a:ext cx="2738438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06360" imgH="431640" progId="Equation.DSMT4">
                  <p:embed/>
                </p:oleObj>
              </mc:Choice>
              <mc:Fallback>
                <p:oleObj name="Equation" r:id="rId10" imgW="12063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624" y="5293952"/>
                        <a:ext cx="2738438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2784546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0960" y="91693"/>
            <a:ext cx="67056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2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   动力学的基本方程与动静法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64442" y="928670"/>
            <a:ext cx="9747982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000" i="0" dirty="0">
                <a:solidFill>
                  <a:schemeClr val="accent6">
                    <a:lumMod val="75000"/>
                  </a:schemeClr>
                </a:solidFill>
                <a:latin typeface="+mn-lt"/>
                <a:ea typeface="微软雅黑" panose="020B0503020204020204" pitchFamily="34" charset="-122"/>
              </a:rPr>
              <a:t>§6-2  </a:t>
            </a:r>
            <a:r>
              <a:rPr lang="zh-CN" altLang="en-US" sz="3000" i="0" dirty="0">
                <a:solidFill>
                  <a:schemeClr val="accent6">
                    <a:lumMod val="75000"/>
                  </a:schemeClr>
                </a:solidFill>
                <a:latin typeface="+mn-lt"/>
                <a:ea typeface="微软雅黑" panose="020B0503020204020204" pitchFamily="34" charset="-122"/>
              </a:rPr>
              <a:t>质点动力学问题的动静法</a:t>
            </a:r>
          </a:p>
        </p:txBody>
      </p:sp>
      <p:sp>
        <p:nvSpPr>
          <p:cNvPr id="52" name="Text Box 1032"/>
          <p:cNvSpPr txBox="1">
            <a:spLocks noChangeArrowheads="1"/>
          </p:cNvSpPr>
          <p:nvPr/>
        </p:nvSpPr>
        <p:spPr bwMode="auto">
          <a:xfrm>
            <a:off x="939805" y="1988840"/>
            <a:ext cx="10196755" cy="1643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当物体受到其他物体的作用而引起其运动状态发生改变时，由于它具有惯性，力图保持其原有的运动状态，因此对于施力物体有反作用力。这种反作用力称为</a:t>
            </a:r>
            <a:r>
              <a:rPr lang="zh-CN" altLang="en-US" sz="280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惯性力。</a:t>
            </a:r>
          </a:p>
        </p:txBody>
      </p:sp>
      <p:sp>
        <p:nvSpPr>
          <p:cNvPr id="6" name="矩形 5"/>
          <p:cNvSpPr/>
          <p:nvPr/>
        </p:nvSpPr>
        <p:spPr>
          <a:xfrm>
            <a:off x="3877201" y="1389509"/>
            <a:ext cx="249299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000" i="0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惯性力的概念</a:t>
            </a:r>
          </a:p>
          <a:p>
            <a:pPr>
              <a:lnSpc>
                <a:spcPct val="120000"/>
              </a:lnSpc>
            </a:pPr>
            <a:endParaRPr lang="zh-CN" altLang="en-US" sz="3000" i="0" dirty="0">
              <a:solidFill>
                <a:srgbClr val="4F81B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Rectangle 61"/>
          <p:cNvSpPr>
            <a:spLocks noChangeArrowheads="1"/>
          </p:cNvSpPr>
          <p:nvPr/>
        </p:nvSpPr>
        <p:spPr bwMode="auto">
          <a:xfrm>
            <a:off x="7282488" y="3284984"/>
            <a:ext cx="4567424" cy="2956640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3" name="Group 27"/>
          <p:cNvGrpSpPr>
            <a:grpSpLocks/>
          </p:cNvGrpSpPr>
          <p:nvPr/>
        </p:nvGrpSpPr>
        <p:grpSpPr bwMode="auto">
          <a:xfrm>
            <a:off x="7350051" y="3792548"/>
            <a:ext cx="4430713" cy="1941512"/>
            <a:chOff x="1618" y="2940"/>
            <a:chExt cx="2791" cy="1223"/>
          </a:xfrm>
        </p:grpSpPr>
        <p:sp>
          <p:nvSpPr>
            <p:cNvPr id="44" name="Arc 11"/>
            <p:cNvSpPr>
              <a:spLocks/>
            </p:cNvSpPr>
            <p:nvPr/>
          </p:nvSpPr>
          <p:spPr bwMode="auto">
            <a:xfrm rot="10988196" flipV="1">
              <a:off x="2643" y="3208"/>
              <a:ext cx="514" cy="157"/>
            </a:xfrm>
            <a:custGeom>
              <a:avLst/>
              <a:gdLst>
                <a:gd name="T0" fmla="*/ 0 w 29139"/>
                <a:gd name="T1" fmla="*/ 0 h 21600"/>
                <a:gd name="T2" fmla="*/ 0 w 29139"/>
                <a:gd name="T3" fmla="*/ 0 h 21600"/>
                <a:gd name="T4" fmla="*/ 0 w 29139"/>
                <a:gd name="T5" fmla="*/ 0 h 21600"/>
                <a:gd name="T6" fmla="*/ 0 60000 65536"/>
                <a:gd name="T7" fmla="*/ 0 60000 65536"/>
                <a:gd name="T8" fmla="*/ 0 60000 65536"/>
                <a:gd name="T9" fmla="*/ 0 w 29139"/>
                <a:gd name="T10" fmla="*/ 0 h 21600"/>
                <a:gd name="T11" fmla="*/ 29139 w 2913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139" h="21600" fill="none" extrusionOk="0">
                  <a:moveTo>
                    <a:pt x="-1" y="2870"/>
                  </a:moveTo>
                  <a:cubicBezTo>
                    <a:pt x="3274" y="989"/>
                    <a:pt x="6984" y="-1"/>
                    <a:pt x="10760" y="0"/>
                  </a:cubicBezTo>
                  <a:cubicBezTo>
                    <a:pt x="18249" y="0"/>
                    <a:pt x="25204" y="3879"/>
                    <a:pt x="29138" y="10252"/>
                  </a:cubicBezTo>
                </a:path>
                <a:path w="29139" h="21600" stroke="0" extrusionOk="0">
                  <a:moveTo>
                    <a:pt x="-1" y="2870"/>
                  </a:moveTo>
                  <a:cubicBezTo>
                    <a:pt x="3274" y="989"/>
                    <a:pt x="6984" y="-1"/>
                    <a:pt x="10760" y="0"/>
                  </a:cubicBezTo>
                  <a:cubicBezTo>
                    <a:pt x="18249" y="0"/>
                    <a:pt x="25204" y="3879"/>
                    <a:pt x="29138" y="10252"/>
                  </a:cubicBezTo>
                  <a:lnTo>
                    <a:pt x="10760" y="21600"/>
                  </a:lnTo>
                  <a:close/>
                </a:path>
              </a:pathLst>
            </a:custGeom>
            <a:noFill/>
            <a:ln w="38100">
              <a:solidFill>
                <a:srgbClr val="FFC000"/>
              </a:solidFill>
              <a:round/>
              <a:headEnd type="stealth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Text Box 12"/>
            <p:cNvSpPr txBox="1">
              <a:spLocks noChangeArrowheads="1"/>
            </p:cNvSpPr>
            <p:nvPr/>
          </p:nvSpPr>
          <p:spPr bwMode="auto">
            <a:xfrm>
              <a:off x="2674" y="3600"/>
              <a:ext cx="2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 dirty="0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46" name="Text Box 13"/>
            <p:cNvSpPr txBox="1">
              <a:spLocks noChangeArrowheads="1"/>
            </p:cNvSpPr>
            <p:nvPr/>
          </p:nvSpPr>
          <p:spPr bwMode="auto">
            <a:xfrm>
              <a:off x="2869" y="2940"/>
              <a:ext cx="4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i="1" dirty="0">
                  <a:solidFill>
                    <a:srgbClr val="FFFF66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</a:p>
          </p:txBody>
        </p:sp>
        <p:sp>
          <p:nvSpPr>
            <p:cNvPr id="47" name="Text Box 16"/>
            <p:cNvSpPr txBox="1">
              <a:spLocks noChangeArrowheads="1"/>
            </p:cNvSpPr>
            <p:nvPr/>
          </p:nvSpPr>
          <p:spPr bwMode="auto">
            <a:xfrm>
              <a:off x="2964" y="3255"/>
              <a:ext cx="4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 dirty="0">
                  <a:solidFill>
                    <a:srgbClr val="FFFF66"/>
                  </a:solidFill>
                  <a:cs typeface="Times New Roman" panose="02020603050405020304" pitchFamily="18" charset="0"/>
                </a:rPr>
                <a:t>F</a:t>
              </a:r>
              <a:r>
                <a:rPr lang="en-US" altLang="zh-CN" i="0" baseline="-25000" dirty="0">
                  <a:solidFill>
                    <a:srgbClr val="FFFF66"/>
                  </a:solidFill>
                  <a:cs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48" name="Oval 19"/>
            <p:cNvSpPr>
              <a:spLocks noChangeArrowheads="1"/>
            </p:cNvSpPr>
            <p:nvPr/>
          </p:nvSpPr>
          <p:spPr bwMode="auto">
            <a:xfrm>
              <a:off x="1833" y="3281"/>
              <a:ext cx="2164" cy="714"/>
            </a:xfrm>
            <a:prstGeom prst="ellipse">
              <a:avLst/>
            </a:prstGeom>
            <a:noFill/>
            <a:ln w="38100">
              <a:solidFill>
                <a:srgbClr val="7030A0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9" name="Line 20"/>
            <p:cNvSpPr>
              <a:spLocks noChangeShapeType="1"/>
            </p:cNvSpPr>
            <p:nvPr/>
          </p:nvSpPr>
          <p:spPr bwMode="auto">
            <a:xfrm>
              <a:off x="1618" y="3648"/>
              <a:ext cx="2791" cy="0"/>
            </a:xfrm>
            <a:prstGeom prst="line">
              <a:avLst/>
            </a:prstGeom>
            <a:noFill/>
            <a:ln w="19050">
              <a:solidFill>
                <a:srgbClr val="7030A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Line 21"/>
            <p:cNvSpPr>
              <a:spLocks noChangeShapeType="1"/>
            </p:cNvSpPr>
            <p:nvPr/>
          </p:nvSpPr>
          <p:spPr bwMode="auto">
            <a:xfrm>
              <a:off x="2915" y="3089"/>
              <a:ext cx="0" cy="1074"/>
            </a:xfrm>
            <a:prstGeom prst="line">
              <a:avLst/>
            </a:prstGeom>
            <a:noFill/>
            <a:ln w="19050">
              <a:solidFill>
                <a:srgbClr val="7030A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Oval 18"/>
            <p:cNvSpPr>
              <a:spLocks noChangeArrowheads="1"/>
            </p:cNvSpPr>
            <p:nvPr/>
          </p:nvSpPr>
          <p:spPr bwMode="auto">
            <a:xfrm>
              <a:off x="2886" y="3614"/>
              <a:ext cx="61" cy="6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3" name="Oval 22"/>
            <p:cNvSpPr>
              <a:spLocks noChangeArrowheads="1"/>
            </p:cNvSpPr>
            <p:nvPr/>
          </p:nvSpPr>
          <p:spPr bwMode="auto">
            <a:xfrm>
              <a:off x="3667" y="3337"/>
              <a:ext cx="123" cy="12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28627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黑体" pitchFamily="2" charset="-122"/>
              </a:endParaRPr>
            </a:p>
          </p:txBody>
        </p:sp>
        <p:sp>
          <p:nvSpPr>
            <p:cNvPr id="54" name="Line 23"/>
            <p:cNvSpPr>
              <a:spLocks noChangeShapeType="1"/>
            </p:cNvSpPr>
            <p:nvPr/>
          </p:nvSpPr>
          <p:spPr bwMode="auto">
            <a:xfrm flipV="1">
              <a:off x="2924" y="3430"/>
              <a:ext cx="698" cy="2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24"/>
            <p:cNvSpPr>
              <a:spLocks noChangeShapeType="1"/>
            </p:cNvSpPr>
            <p:nvPr/>
          </p:nvSpPr>
          <p:spPr bwMode="auto">
            <a:xfrm flipV="1">
              <a:off x="3736" y="3282"/>
              <a:ext cx="378" cy="113"/>
            </a:xfrm>
            <a:prstGeom prst="line">
              <a:avLst/>
            </a:prstGeom>
            <a:noFill/>
            <a:ln w="38100">
              <a:solidFill>
                <a:srgbClr val="FFC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25"/>
            <p:cNvSpPr>
              <a:spLocks noChangeShapeType="1"/>
            </p:cNvSpPr>
            <p:nvPr/>
          </p:nvSpPr>
          <p:spPr bwMode="auto">
            <a:xfrm rot="10800000" flipV="1">
              <a:off x="3332" y="3402"/>
              <a:ext cx="378" cy="113"/>
            </a:xfrm>
            <a:prstGeom prst="line">
              <a:avLst/>
            </a:prstGeom>
            <a:noFill/>
            <a:ln w="38100">
              <a:solidFill>
                <a:srgbClr val="FFC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Text Box 26"/>
            <p:cNvSpPr txBox="1">
              <a:spLocks noChangeArrowheads="1"/>
            </p:cNvSpPr>
            <p:nvPr/>
          </p:nvSpPr>
          <p:spPr bwMode="auto">
            <a:xfrm>
              <a:off x="3836" y="3003"/>
              <a:ext cx="4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 dirty="0">
                  <a:solidFill>
                    <a:srgbClr val="FFFF66"/>
                  </a:solidFill>
                  <a:cs typeface="Times New Roman" panose="02020603050405020304" pitchFamily="18" charset="0"/>
                </a:rPr>
                <a:t>F</a:t>
              </a:r>
              <a:r>
                <a:rPr lang="en-US" altLang="zh-CN" i="1" dirty="0">
                  <a:solidFill>
                    <a:srgbClr val="FFFF66"/>
                  </a:solidFill>
                  <a:cs typeface="Times New Roman" panose="02020603050405020304" pitchFamily="18" charset="0"/>
                </a:rPr>
                <a:t>'</a:t>
              </a:r>
              <a:r>
                <a:rPr lang="en-US" altLang="zh-CN" i="0" baseline="-25000" dirty="0">
                  <a:solidFill>
                    <a:srgbClr val="FFFF66"/>
                  </a:solidFill>
                  <a:cs typeface="Times New Roman" panose="02020603050405020304" pitchFamily="18" charset="0"/>
                </a:rPr>
                <a:t>T</a:t>
              </a:r>
            </a:p>
          </p:txBody>
        </p:sp>
      </p:grpSp>
      <p:sp>
        <p:nvSpPr>
          <p:cNvPr id="58" name="Text Box 1032"/>
          <p:cNvSpPr txBox="1">
            <a:spLocks noChangeArrowheads="1"/>
          </p:cNvSpPr>
          <p:nvPr/>
        </p:nvSpPr>
        <p:spPr bwMode="auto">
          <a:xfrm>
            <a:off x="939804" y="3775941"/>
            <a:ext cx="6384647" cy="2529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质量为</a:t>
            </a:r>
            <a:r>
              <a:rPr lang="en-US" altLang="zh-CN" sz="2800" b="0" dirty="0">
                <a:latin typeface="+mn-lt"/>
                <a:ea typeface="微软雅黑" panose="020B0503020204020204" pitchFamily="34" charset="-122"/>
              </a:rPr>
              <a:t>m</a:t>
            </a: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的小球，用绳子系住在水平面内作匀速圆周运动 </a:t>
            </a:r>
            <a:r>
              <a:rPr lang="en-US" altLang="zh-CN" sz="2800" dirty="0">
                <a:latin typeface="+mn-lt"/>
                <a:ea typeface="微软雅黑" panose="020B0503020204020204" pitchFamily="34" charset="-122"/>
              </a:rPr>
              <a:t>F</a:t>
            </a:r>
            <a:r>
              <a:rPr lang="en-US" altLang="zh-CN" sz="2800" b="0" i="0" baseline="-25000" dirty="0">
                <a:latin typeface="+mn-lt"/>
                <a:ea typeface="微软雅黑" panose="020B0503020204020204" pitchFamily="34" charset="-122"/>
              </a:rPr>
              <a:t>T</a:t>
            </a:r>
            <a:r>
              <a:rPr lang="zh-CN" altLang="en-US" sz="2800" b="0" i="0" dirty="0">
                <a:latin typeface="+mn-lt"/>
                <a:ea typeface="微软雅黑" panose="020B0503020204020204" pitchFamily="34" charset="-122"/>
              </a:rPr>
              <a:t>＝</a:t>
            </a:r>
            <a:r>
              <a:rPr lang="en-US" altLang="zh-CN" sz="2800" b="0" dirty="0">
                <a:latin typeface="+mn-lt"/>
                <a:ea typeface="微软雅黑" panose="020B0503020204020204" pitchFamily="34" charset="-122"/>
              </a:rPr>
              <a:t>m</a:t>
            </a:r>
            <a:r>
              <a:rPr lang="en-US" altLang="zh-CN" sz="2800" dirty="0">
                <a:latin typeface="+mn-lt"/>
                <a:ea typeface="微软雅黑" panose="020B0503020204020204" pitchFamily="34" charset="-122"/>
              </a:rPr>
              <a:t>a</a:t>
            </a:r>
            <a:r>
              <a:rPr lang="en-US" altLang="zh-CN" sz="2800" b="0" i="0" baseline="-25000" dirty="0">
                <a:latin typeface="+mn-lt"/>
                <a:ea typeface="微软雅黑" panose="020B0503020204020204" pitchFamily="34" charset="-122"/>
              </a:rPr>
              <a:t>n</a:t>
            </a: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，称为向心力。小球由于惯性而给绳的反作用力，即为小球的惯性力或离心力，故  </a:t>
            </a:r>
          </a:p>
          <a:p>
            <a:pPr>
              <a:lnSpc>
                <a:spcPct val="110000"/>
              </a:lnSpc>
            </a:pPr>
            <a:r>
              <a:rPr lang="zh-CN" altLang="en-US" sz="2800" dirty="0">
                <a:latin typeface="+mn-lt"/>
              </a:rPr>
              <a:t>      </a:t>
            </a:r>
            <a:r>
              <a:rPr lang="en-US" altLang="zh-CN" sz="2800" dirty="0">
                <a:latin typeface="+mn-lt"/>
              </a:rPr>
              <a:t>F</a:t>
            </a:r>
            <a:r>
              <a:rPr lang="en-US" altLang="zh-CN" sz="2800" b="0" dirty="0">
                <a:latin typeface="+mn-lt"/>
              </a:rPr>
              <a:t>'</a:t>
            </a:r>
            <a:r>
              <a:rPr lang="en-US" altLang="zh-CN" sz="2800" b="0" i="0" baseline="-25000" dirty="0">
                <a:latin typeface="+mn-lt"/>
              </a:rPr>
              <a:t>T</a:t>
            </a:r>
            <a:r>
              <a:rPr lang="en-US" altLang="zh-CN" sz="2800" b="0" dirty="0">
                <a:latin typeface="+mn-lt"/>
              </a:rPr>
              <a:t> </a:t>
            </a:r>
            <a:r>
              <a:rPr lang="zh-CN" altLang="en-US" sz="2800" b="0" i="0" dirty="0">
                <a:latin typeface="+mn-lt"/>
              </a:rPr>
              <a:t>＝</a:t>
            </a:r>
            <a:r>
              <a:rPr lang="en-US" altLang="zh-CN" sz="2800" b="0" i="0" dirty="0">
                <a:latin typeface="+mn-lt"/>
              </a:rPr>
              <a:t>−</a:t>
            </a:r>
            <a:r>
              <a:rPr lang="en-US" altLang="zh-CN" sz="2800" dirty="0">
                <a:latin typeface="+mn-lt"/>
              </a:rPr>
              <a:t>F</a:t>
            </a:r>
            <a:r>
              <a:rPr lang="en-US" altLang="zh-CN" sz="2800" b="0" i="0" baseline="-25000" dirty="0">
                <a:latin typeface="+mn-lt"/>
              </a:rPr>
              <a:t>T</a:t>
            </a:r>
            <a:r>
              <a:rPr lang="en-US" altLang="zh-CN" sz="2800" b="0" i="0" dirty="0"/>
              <a:t> = −</a:t>
            </a:r>
            <a:r>
              <a:rPr lang="en-US" altLang="zh-CN" sz="2800" b="0" dirty="0">
                <a:latin typeface="+mn-lt"/>
              </a:rPr>
              <a:t>m</a:t>
            </a:r>
            <a:r>
              <a:rPr lang="en-US" altLang="zh-CN" sz="2800" dirty="0">
                <a:latin typeface="+mn-lt"/>
              </a:rPr>
              <a:t>a</a:t>
            </a:r>
            <a:r>
              <a:rPr lang="en-US" altLang="zh-CN" sz="2800" b="0" i="0" baseline="-25000" dirty="0">
                <a:latin typeface="+mn-lt"/>
              </a:rPr>
              <a:t>n</a:t>
            </a:r>
            <a:r>
              <a:rPr lang="en-US" altLang="zh-CN" sz="2800" b="0" baseline="-25000" dirty="0">
                <a:latin typeface="+mn-lt"/>
              </a:rPr>
              <a:t> </a:t>
            </a:r>
            <a:endParaRPr lang="zh-CN" altLang="en-US" sz="2800" b="0" i="0" dirty="0">
              <a:solidFill>
                <a:srgbClr val="FF0000"/>
              </a:solidFill>
              <a:latin typeface="+mn-lt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7197589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1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1" dur="3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utoUpdateAnimBg="0"/>
      <p:bldP spid="14" grpId="0" animBg="1"/>
      <p:bldP spid="58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0960" y="91693"/>
            <a:ext cx="67056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2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   动力学的基本方程与动静法</a:t>
            </a:r>
          </a:p>
        </p:txBody>
      </p:sp>
      <p:sp>
        <p:nvSpPr>
          <p:cNvPr id="52" name="Text Box 1032"/>
          <p:cNvSpPr txBox="1">
            <a:spLocks noChangeArrowheads="1"/>
          </p:cNvSpPr>
          <p:nvPr/>
        </p:nvSpPr>
        <p:spPr bwMode="auto">
          <a:xfrm>
            <a:off x="939805" y="920559"/>
            <a:ext cx="10196755" cy="326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质点受到力的作用而产生加速度，质点由于惯性必然给施力物体以反作用力，该力即被称为质点的惯性力。故质点惯性力的大小等于质点的质量与其加速度的乘积，方向与加速度的方向相反，它不作用于运动质点本身，而作用于周围施力物体上。如用</a:t>
            </a:r>
            <a:r>
              <a:rPr lang="en-US" altLang="zh-CN" sz="2800" dirty="0">
                <a:latin typeface="+mn-lt"/>
                <a:ea typeface="微软雅黑" panose="020B0503020204020204" pitchFamily="34" charset="-122"/>
              </a:rPr>
              <a:t>F</a:t>
            </a:r>
            <a:r>
              <a:rPr lang="en-US" altLang="zh-CN" sz="2800" b="0" i="0" baseline="-25000" dirty="0">
                <a:latin typeface="+mn-lt"/>
                <a:ea typeface="微软雅黑" panose="020B0503020204020204" pitchFamily="34" charset="-122"/>
              </a:rPr>
              <a:t>Q</a:t>
            </a:r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表示惯性力，则 </a:t>
            </a:r>
            <a:endParaRPr lang="en-US" altLang="zh-CN" sz="280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dirty="0">
                <a:latin typeface="+mn-lt"/>
              </a:rPr>
              <a:t>                                    </a:t>
            </a:r>
            <a:r>
              <a:rPr lang="en-US" altLang="zh-CN" sz="3200" dirty="0">
                <a:latin typeface="+mn-lt"/>
              </a:rPr>
              <a:t>F</a:t>
            </a:r>
            <a:r>
              <a:rPr lang="en-US" altLang="zh-CN" sz="3200" b="0" i="0" baseline="-25000" dirty="0">
                <a:latin typeface="+mn-lt"/>
              </a:rPr>
              <a:t>Q</a:t>
            </a:r>
            <a:r>
              <a:rPr lang="zh-CN" altLang="en-US" sz="3200" i="0" dirty="0">
                <a:latin typeface="+mn-lt"/>
              </a:rPr>
              <a:t>＝</a:t>
            </a:r>
            <a:r>
              <a:rPr lang="en-US" altLang="zh-CN" sz="3200" b="0" i="0" dirty="0">
                <a:latin typeface="+mn-lt"/>
              </a:rPr>
              <a:t>−</a:t>
            </a:r>
            <a:r>
              <a:rPr lang="en-US" altLang="zh-CN" sz="3200" b="0" dirty="0">
                <a:latin typeface="+mn-lt"/>
              </a:rPr>
              <a:t>m</a:t>
            </a:r>
            <a:r>
              <a:rPr lang="en-US" altLang="zh-CN" sz="3200" dirty="0">
                <a:latin typeface="+mn-lt"/>
              </a:rPr>
              <a:t>a</a:t>
            </a:r>
            <a:r>
              <a:rPr lang="en-US" altLang="zh-CN" sz="3200" baseline="-25000" dirty="0">
                <a:latin typeface="+mn-lt"/>
              </a:rPr>
              <a:t> </a:t>
            </a:r>
            <a:r>
              <a:rPr lang="zh-CN" altLang="en-US" sz="3200" i="0" dirty="0">
                <a:latin typeface="+mn-lt"/>
                <a:ea typeface="微软雅黑" panose="020B0503020204020204" pitchFamily="34" charset="-122"/>
              </a:rPr>
              <a:t> </a:t>
            </a:r>
            <a:endParaRPr lang="zh-CN" altLang="en-US" sz="3200" i="0" dirty="0">
              <a:solidFill>
                <a:srgbClr val="FF0000"/>
              </a:solidFill>
              <a:latin typeface="+mn-lt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313392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0960" y="91693"/>
            <a:ext cx="67056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2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   动力学的基本方程与动静法</a:t>
            </a:r>
          </a:p>
        </p:txBody>
      </p:sp>
      <p:sp>
        <p:nvSpPr>
          <p:cNvPr id="52" name="Text Box 1032"/>
          <p:cNvSpPr txBox="1">
            <a:spLocks noChangeArrowheads="1"/>
          </p:cNvSpPr>
          <p:nvPr/>
        </p:nvSpPr>
        <p:spPr bwMode="auto">
          <a:xfrm>
            <a:off x="939805" y="1692565"/>
            <a:ext cx="10196755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质量为</a:t>
            </a:r>
            <a:r>
              <a:rPr lang="en-US" altLang="zh-CN" sz="2800" b="0" dirty="0">
                <a:latin typeface="+mn-lt"/>
                <a:ea typeface="微软雅黑" panose="020B0503020204020204" pitchFamily="34" charset="-122"/>
              </a:rPr>
              <a:t>m</a:t>
            </a: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的质点</a:t>
            </a:r>
            <a:r>
              <a:rPr lang="en-US" altLang="zh-CN" sz="2800" dirty="0">
                <a:latin typeface="+mn-lt"/>
                <a:ea typeface="微软雅黑" panose="020B0503020204020204" pitchFamily="34" charset="-122"/>
              </a:rPr>
              <a:t>M</a:t>
            </a: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，在主动力</a:t>
            </a:r>
            <a:r>
              <a:rPr lang="en-US" altLang="zh-CN" sz="2800" dirty="0">
                <a:latin typeface="+mn-lt"/>
                <a:ea typeface="微软雅黑" panose="020B0503020204020204" pitchFamily="34" charset="-122"/>
              </a:rPr>
              <a:t>F</a:t>
            </a:r>
            <a:r>
              <a:rPr lang="en-US" altLang="zh-CN" sz="2800" b="0" i="0" baseline="-25000" dirty="0">
                <a:ea typeface="微软雅黑" panose="020B0503020204020204" pitchFamily="34" charset="-122"/>
              </a:rPr>
              <a:t>Z </a:t>
            </a: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和约束反力</a:t>
            </a:r>
            <a:r>
              <a:rPr lang="en-US" altLang="zh-CN" sz="2800" dirty="0">
                <a:latin typeface="+mn-lt"/>
                <a:ea typeface="微软雅黑" panose="020B0503020204020204" pitchFamily="34" charset="-122"/>
              </a:rPr>
              <a:t>F</a:t>
            </a:r>
            <a:r>
              <a:rPr lang="en-US" altLang="zh-CN" sz="2800" b="0" i="0" baseline="-25000" dirty="0">
                <a:latin typeface="+mn-lt"/>
                <a:ea typeface="微软雅黑" panose="020B0503020204020204" pitchFamily="34" charset="-122"/>
              </a:rPr>
              <a:t>N</a:t>
            </a: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的作用下沿轨迹</a:t>
            </a:r>
            <a:r>
              <a:rPr lang="en-US" altLang="zh-CN" sz="2800" dirty="0">
                <a:latin typeface="+mn-lt"/>
                <a:ea typeface="微软雅黑" panose="020B0503020204020204" pitchFamily="34" charset="-122"/>
              </a:rPr>
              <a:t>AB</a:t>
            </a: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运动，其加速度</a:t>
            </a:r>
            <a:r>
              <a:rPr lang="en-US" altLang="zh-CN" sz="2800" dirty="0">
                <a:latin typeface="+mn-lt"/>
                <a:ea typeface="微软雅黑" panose="020B0503020204020204" pitchFamily="34" charset="-122"/>
              </a:rPr>
              <a:t>a</a:t>
            </a: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。根据动力学基本方程有 </a:t>
            </a:r>
            <a:endParaRPr lang="en-US" altLang="zh-CN" sz="2800" i="0" dirty="0">
              <a:latin typeface="+mn-lt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dirty="0"/>
              <a:t>                   F</a:t>
            </a:r>
            <a:r>
              <a:rPr lang="en-US" altLang="zh-CN" sz="2800" b="0" i="0" baseline="-25000" dirty="0"/>
              <a:t>Z</a:t>
            </a:r>
            <a:r>
              <a:rPr lang="en-US" altLang="zh-CN" sz="2800" dirty="0"/>
              <a:t> </a:t>
            </a:r>
            <a:r>
              <a:rPr lang="en-US" altLang="zh-CN" sz="2800" b="0" dirty="0"/>
              <a:t>+</a:t>
            </a:r>
            <a:r>
              <a:rPr lang="en-US" altLang="zh-CN" sz="2800" dirty="0"/>
              <a:t>F</a:t>
            </a:r>
            <a:r>
              <a:rPr lang="en-US" altLang="zh-CN" sz="2800" b="0" i="0" baseline="-25000" dirty="0"/>
              <a:t>N</a:t>
            </a:r>
            <a:r>
              <a:rPr lang="en-US" altLang="zh-CN" sz="2800" b="0" dirty="0"/>
              <a:t>=m</a:t>
            </a:r>
            <a:r>
              <a:rPr lang="en-US" altLang="zh-CN" sz="2800" dirty="0"/>
              <a:t>a</a:t>
            </a:r>
          </a:p>
          <a:p>
            <a:pPr>
              <a:lnSpc>
                <a:spcPct val="130000"/>
              </a:lnSpc>
            </a:pPr>
            <a:r>
              <a:rPr lang="en-US" altLang="zh-CN" sz="2800" dirty="0"/>
              <a:t>                   F</a:t>
            </a:r>
            <a:r>
              <a:rPr lang="en-US" altLang="zh-CN" sz="2800" b="0" i="0" baseline="-25000" dirty="0"/>
              <a:t>Z</a:t>
            </a:r>
            <a:r>
              <a:rPr lang="en-US" altLang="zh-CN" sz="2800" dirty="0"/>
              <a:t> </a:t>
            </a:r>
            <a:r>
              <a:rPr lang="en-US" altLang="zh-CN" sz="2800" b="0" dirty="0"/>
              <a:t>+</a:t>
            </a:r>
            <a:r>
              <a:rPr lang="en-US" altLang="zh-CN" sz="2800" dirty="0"/>
              <a:t>F</a:t>
            </a:r>
            <a:r>
              <a:rPr lang="en-US" altLang="zh-CN" sz="2800" b="0" i="0" baseline="-25000" dirty="0"/>
              <a:t>N</a:t>
            </a:r>
            <a:r>
              <a:rPr lang="en-US" altLang="zh-CN" sz="2800" b="0" dirty="0"/>
              <a:t> +</a:t>
            </a:r>
            <a:r>
              <a:rPr lang="en-US" altLang="zh-CN" sz="2800" dirty="0"/>
              <a:t> F</a:t>
            </a:r>
            <a:r>
              <a:rPr lang="en-US" altLang="zh-CN" sz="2800" b="0" i="0" baseline="-25000" dirty="0"/>
              <a:t>Q</a:t>
            </a:r>
            <a:r>
              <a:rPr lang="en-US" altLang="zh-CN" sz="2800" b="0" dirty="0"/>
              <a:t>=</a:t>
            </a:r>
            <a:r>
              <a:rPr lang="en-US" altLang="zh-CN" sz="2800" i="0" dirty="0"/>
              <a:t>0</a:t>
            </a:r>
            <a:endParaRPr lang="zh-CN" altLang="en-US" sz="2800" i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502055" y="968770"/>
            <a:ext cx="7494359" cy="599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000" i="0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质点动力学问题的动静法（达朗贝尔原理）</a:t>
            </a:r>
          </a:p>
        </p:txBody>
      </p:sp>
      <p:sp>
        <p:nvSpPr>
          <p:cNvPr id="14" name="Rectangle 61"/>
          <p:cNvSpPr>
            <a:spLocks noChangeArrowheads="1"/>
          </p:cNvSpPr>
          <p:nvPr/>
        </p:nvSpPr>
        <p:spPr bwMode="auto">
          <a:xfrm>
            <a:off x="7824192" y="2996952"/>
            <a:ext cx="4025720" cy="2956640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10201945" y="3112404"/>
            <a:ext cx="66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rgbClr val="FFFF66"/>
                </a:solidFill>
                <a:cs typeface="Times New Roman" panose="02020603050405020304" pitchFamily="18" charset="0"/>
              </a:rPr>
              <a:t>F</a:t>
            </a:r>
            <a:r>
              <a:rPr lang="en-US" altLang="zh-CN" b="0" i="0" baseline="-25000" dirty="0">
                <a:solidFill>
                  <a:srgbClr val="FFFF66"/>
                </a:solidFill>
                <a:cs typeface="Times New Roman" panose="02020603050405020304" pitchFamily="18" charset="0"/>
              </a:rPr>
              <a:t>Q</a:t>
            </a:r>
          </a:p>
        </p:txBody>
      </p:sp>
      <p:sp>
        <p:nvSpPr>
          <p:cNvPr id="24" name="Line 19"/>
          <p:cNvSpPr>
            <a:spLocks noChangeShapeType="1"/>
          </p:cNvSpPr>
          <p:nvPr/>
        </p:nvSpPr>
        <p:spPr bwMode="auto">
          <a:xfrm rot="10800000" flipV="1">
            <a:off x="9066882" y="4167064"/>
            <a:ext cx="863600" cy="258763"/>
          </a:xfrm>
          <a:prstGeom prst="line">
            <a:avLst/>
          </a:prstGeom>
          <a:noFill/>
          <a:ln w="38100">
            <a:solidFill>
              <a:srgbClr val="FFC0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Text Box 20"/>
          <p:cNvSpPr txBox="1">
            <a:spLocks noChangeArrowheads="1"/>
          </p:cNvSpPr>
          <p:nvPr/>
        </p:nvSpPr>
        <p:spPr bwMode="auto">
          <a:xfrm>
            <a:off x="10173370" y="4614739"/>
            <a:ext cx="66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rgbClr val="FFFF66"/>
                </a:solidFill>
                <a:cs typeface="Times New Roman" panose="02020603050405020304" pitchFamily="18" charset="0"/>
              </a:rPr>
              <a:t>F</a:t>
            </a:r>
            <a:r>
              <a:rPr lang="en-US" altLang="zh-CN" b="0" i="0" baseline="-25000" dirty="0">
                <a:solidFill>
                  <a:srgbClr val="FFFF66"/>
                </a:solidFill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 rot="16200000" flipH="1">
            <a:off x="9793957" y="4341689"/>
            <a:ext cx="615950" cy="265113"/>
          </a:xfrm>
          <a:prstGeom prst="line">
            <a:avLst/>
          </a:prstGeom>
          <a:noFill/>
          <a:ln w="38100">
            <a:solidFill>
              <a:srgbClr val="FFC0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Text Box 29"/>
          <p:cNvSpPr txBox="1">
            <a:spLocks noChangeArrowheads="1"/>
          </p:cNvSpPr>
          <p:nvPr/>
        </p:nvSpPr>
        <p:spPr bwMode="auto">
          <a:xfrm>
            <a:off x="8598570" y="4348039"/>
            <a:ext cx="660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 dirty="0">
                <a:solidFill>
                  <a:srgbClr val="FFFF66"/>
                </a:solidFill>
                <a:cs typeface="Times New Roman" panose="02020603050405020304" pitchFamily="18" charset="0"/>
              </a:rPr>
              <a:t>F</a:t>
            </a:r>
            <a:r>
              <a:rPr lang="en-US" altLang="zh-CN" b="0" i="0" baseline="-25000" dirty="0">
                <a:solidFill>
                  <a:srgbClr val="FFFF66"/>
                </a:solidFill>
                <a:cs typeface="Times New Roman" panose="02020603050405020304" pitchFamily="18" charset="0"/>
              </a:rPr>
              <a:t>Z</a:t>
            </a:r>
            <a:endParaRPr lang="en-US" altLang="zh-CN" baseline="-25000" dirty="0">
              <a:solidFill>
                <a:srgbClr val="FFFF66"/>
              </a:solidFill>
              <a:cs typeface="Times New Roman" panose="02020603050405020304" pitchFamily="18" charset="0"/>
            </a:endParaRPr>
          </a:p>
        </p:txBody>
      </p:sp>
      <p:sp>
        <p:nvSpPr>
          <p:cNvPr id="28" name="Text Box 34"/>
          <p:cNvSpPr txBox="1">
            <a:spLocks noChangeArrowheads="1"/>
          </p:cNvSpPr>
          <p:nvPr/>
        </p:nvSpPr>
        <p:spPr bwMode="auto">
          <a:xfrm>
            <a:off x="9614570" y="3625726"/>
            <a:ext cx="444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1" dirty="0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29" name="Arc 35"/>
          <p:cNvSpPr>
            <a:spLocks/>
          </p:cNvSpPr>
          <p:nvPr/>
        </p:nvSpPr>
        <p:spPr bwMode="auto">
          <a:xfrm>
            <a:off x="8331870" y="3965451"/>
            <a:ext cx="2814638" cy="1720850"/>
          </a:xfrm>
          <a:custGeom>
            <a:avLst/>
            <a:gdLst>
              <a:gd name="T0" fmla="*/ 0 w 23718"/>
              <a:gd name="T1" fmla="*/ 0 h 21600"/>
              <a:gd name="T2" fmla="*/ 10 w 23718"/>
              <a:gd name="T3" fmla="*/ 2 h 21600"/>
              <a:gd name="T4" fmla="*/ 1 w 23718"/>
              <a:gd name="T5" fmla="*/ 3 h 21600"/>
              <a:gd name="T6" fmla="*/ 0 60000 65536"/>
              <a:gd name="T7" fmla="*/ 0 60000 65536"/>
              <a:gd name="T8" fmla="*/ 0 60000 65536"/>
              <a:gd name="T9" fmla="*/ 0 w 23718"/>
              <a:gd name="T10" fmla="*/ 0 h 21600"/>
              <a:gd name="T11" fmla="*/ 23718 w 2371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718" h="21600" fill="none" extrusionOk="0">
                <a:moveTo>
                  <a:pt x="-1" y="287"/>
                </a:moveTo>
                <a:cubicBezTo>
                  <a:pt x="1161" y="96"/>
                  <a:pt x="2336" y="-1"/>
                  <a:pt x="3513" y="0"/>
                </a:cubicBezTo>
                <a:cubicBezTo>
                  <a:pt x="12496" y="0"/>
                  <a:pt x="20541" y="5560"/>
                  <a:pt x="23717" y="13963"/>
                </a:cubicBezTo>
              </a:path>
              <a:path w="23718" h="21600" stroke="0" extrusionOk="0">
                <a:moveTo>
                  <a:pt x="-1" y="287"/>
                </a:moveTo>
                <a:cubicBezTo>
                  <a:pt x="1161" y="96"/>
                  <a:pt x="2336" y="-1"/>
                  <a:pt x="3513" y="0"/>
                </a:cubicBezTo>
                <a:cubicBezTo>
                  <a:pt x="12496" y="0"/>
                  <a:pt x="20541" y="5560"/>
                  <a:pt x="23717" y="13963"/>
                </a:cubicBezTo>
                <a:lnTo>
                  <a:pt x="3513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Line 39"/>
          <p:cNvSpPr>
            <a:spLocks noChangeShapeType="1"/>
          </p:cNvSpPr>
          <p:nvPr/>
        </p:nvSpPr>
        <p:spPr bwMode="auto">
          <a:xfrm rot="16200000">
            <a:off x="9738395" y="3555876"/>
            <a:ext cx="779463" cy="309563"/>
          </a:xfrm>
          <a:prstGeom prst="line">
            <a:avLst/>
          </a:prstGeom>
          <a:noFill/>
          <a:ln w="38100">
            <a:solidFill>
              <a:srgbClr val="FFC000"/>
            </a:solidFill>
            <a:round/>
            <a:headE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Line 41"/>
          <p:cNvSpPr>
            <a:spLocks noChangeShapeType="1"/>
          </p:cNvSpPr>
          <p:nvPr/>
        </p:nvSpPr>
        <p:spPr bwMode="auto">
          <a:xfrm rot="5400000">
            <a:off x="9395495" y="4435351"/>
            <a:ext cx="779463" cy="309563"/>
          </a:xfrm>
          <a:prstGeom prst="line">
            <a:avLst/>
          </a:prstGeom>
          <a:noFill/>
          <a:ln w="38100">
            <a:solidFill>
              <a:srgbClr val="FFC000"/>
            </a:solidFill>
            <a:round/>
            <a:headE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Text Box 47"/>
          <p:cNvSpPr txBox="1">
            <a:spLocks noChangeArrowheads="1"/>
          </p:cNvSpPr>
          <p:nvPr/>
        </p:nvSpPr>
        <p:spPr bwMode="auto">
          <a:xfrm>
            <a:off x="9652670" y="4689351"/>
            <a:ext cx="444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rgbClr val="FFFF66"/>
                </a:solidFill>
              </a:rPr>
              <a:t>a</a:t>
            </a:r>
          </a:p>
        </p:txBody>
      </p:sp>
      <p:sp>
        <p:nvSpPr>
          <p:cNvPr id="34" name="Text Box 53"/>
          <p:cNvSpPr txBox="1">
            <a:spLocks noChangeArrowheads="1"/>
          </p:cNvSpPr>
          <p:nvPr/>
        </p:nvSpPr>
        <p:spPr bwMode="auto">
          <a:xfrm>
            <a:off x="10835357" y="5038601"/>
            <a:ext cx="444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35" name="Text Box 54"/>
          <p:cNvSpPr txBox="1">
            <a:spLocks noChangeArrowheads="1"/>
          </p:cNvSpPr>
          <p:nvPr/>
        </p:nvSpPr>
        <p:spPr bwMode="auto">
          <a:xfrm>
            <a:off x="8184232" y="3908301"/>
            <a:ext cx="444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6" name="Oval 36"/>
          <p:cNvSpPr>
            <a:spLocks noChangeArrowheads="1"/>
          </p:cNvSpPr>
          <p:nvPr/>
        </p:nvSpPr>
        <p:spPr bwMode="auto">
          <a:xfrm>
            <a:off x="9917782" y="4109914"/>
            <a:ext cx="88900" cy="889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8" name="Text Box 1032"/>
          <p:cNvSpPr txBox="1">
            <a:spLocks noChangeArrowheads="1"/>
          </p:cNvSpPr>
          <p:nvPr/>
        </p:nvSpPr>
        <p:spPr bwMode="auto">
          <a:xfrm>
            <a:off x="939806" y="3926935"/>
            <a:ext cx="6882800" cy="2160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作用于指质点上的主动力、约束反力与虚加在质点上的惯性力，在形式上组成一平衡力系。这种处理动力学问题的方法，称为</a:t>
            </a:r>
            <a:r>
              <a:rPr lang="zh-CN" altLang="en-US" sz="2800" i="0" dirty="0">
                <a:solidFill>
                  <a:srgbClr val="FF0000"/>
                </a:solidFill>
                <a:latin typeface="+mn-lt"/>
                <a:ea typeface="微软雅黑" panose="020B0503020204020204" pitchFamily="34" charset="-122"/>
              </a:rPr>
              <a:t>动静法（质点的达朗贝尔原理）。</a:t>
            </a:r>
            <a:endParaRPr lang="zh-CN" altLang="en-US" sz="2800" i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5094084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utoUpdateAnimBg="0"/>
      <p:bldP spid="38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0960" y="91693"/>
            <a:ext cx="67056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2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   动力学的基本方程与动静法</a:t>
            </a:r>
          </a:p>
        </p:txBody>
      </p:sp>
      <p:sp>
        <p:nvSpPr>
          <p:cNvPr id="52" name="Text Box 1032"/>
          <p:cNvSpPr txBox="1">
            <a:spLocks noChangeArrowheads="1"/>
          </p:cNvSpPr>
          <p:nvPr/>
        </p:nvSpPr>
        <p:spPr bwMode="auto">
          <a:xfrm>
            <a:off x="939805" y="1064632"/>
            <a:ext cx="10196755" cy="2160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向直角坐标轴投影可得</a:t>
            </a:r>
            <a:endParaRPr lang="en-US" altLang="zh-CN" sz="2800" i="0" dirty="0">
              <a:latin typeface="+mn-lt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800" dirty="0"/>
              <a:t>                   </a:t>
            </a:r>
            <a:r>
              <a:rPr lang="en-US" altLang="zh-CN" sz="2800" dirty="0" err="1"/>
              <a:t>F</a:t>
            </a:r>
            <a:r>
              <a:rPr lang="en-US" altLang="zh-CN" sz="2800" b="0" i="0" baseline="-25000" dirty="0" err="1"/>
              <a:t>Z</a:t>
            </a:r>
            <a:r>
              <a:rPr lang="en-US" altLang="zh-CN" sz="2800" b="0" baseline="-25000" dirty="0" err="1"/>
              <a:t>x</a:t>
            </a:r>
            <a:r>
              <a:rPr lang="en-US" altLang="zh-CN" sz="2800" dirty="0"/>
              <a:t> </a:t>
            </a:r>
            <a:r>
              <a:rPr lang="en-US" altLang="zh-CN" sz="2800" b="0" dirty="0"/>
              <a:t>+</a:t>
            </a:r>
            <a:r>
              <a:rPr lang="en-US" altLang="zh-CN" sz="2800" dirty="0" err="1"/>
              <a:t>F</a:t>
            </a:r>
            <a:r>
              <a:rPr lang="en-US" altLang="zh-CN" sz="2800" b="0" i="0" baseline="-25000" dirty="0" err="1"/>
              <a:t>N</a:t>
            </a:r>
            <a:r>
              <a:rPr lang="en-US" altLang="zh-CN" sz="2800" b="0" baseline="-25000" dirty="0" err="1"/>
              <a:t>x</a:t>
            </a:r>
            <a:r>
              <a:rPr lang="en-US" altLang="zh-CN" sz="2800" b="0" dirty="0"/>
              <a:t> +</a:t>
            </a:r>
            <a:r>
              <a:rPr lang="en-US" altLang="zh-CN" sz="2800" dirty="0"/>
              <a:t> </a:t>
            </a:r>
            <a:r>
              <a:rPr lang="en-US" altLang="zh-CN" sz="2800" dirty="0" err="1"/>
              <a:t>F</a:t>
            </a:r>
            <a:r>
              <a:rPr lang="en-US" altLang="zh-CN" sz="2800" b="0" i="0" baseline="-25000" dirty="0" err="1"/>
              <a:t>Q</a:t>
            </a:r>
            <a:r>
              <a:rPr lang="en-US" altLang="zh-CN" sz="2800" b="0" baseline="-25000" dirty="0" err="1"/>
              <a:t>x</a:t>
            </a:r>
            <a:r>
              <a:rPr lang="en-US" altLang="zh-CN" sz="2800" b="0" dirty="0"/>
              <a:t>=</a:t>
            </a:r>
            <a:r>
              <a:rPr lang="en-US" altLang="zh-CN" sz="2800" b="0" i="0" dirty="0"/>
              <a:t>0        </a:t>
            </a:r>
            <a:r>
              <a:rPr lang="en-US" altLang="zh-CN" sz="2800" dirty="0" err="1"/>
              <a:t>F</a:t>
            </a:r>
            <a:r>
              <a:rPr lang="en-US" altLang="zh-CN" sz="2800" b="0" i="0" baseline="-25000" dirty="0" err="1"/>
              <a:t>Q</a:t>
            </a:r>
            <a:r>
              <a:rPr lang="en-US" altLang="zh-CN" sz="2800" b="0" baseline="-25000" dirty="0" err="1"/>
              <a:t>x</a:t>
            </a:r>
            <a:r>
              <a:rPr lang="en-US" altLang="zh-CN" sz="2800" b="0" dirty="0"/>
              <a:t>=</a:t>
            </a:r>
            <a:r>
              <a:rPr lang="en-US" altLang="zh-CN" sz="2800" dirty="0"/>
              <a:t> </a:t>
            </a:r>
            <a:r>
              <a:rPr lang="en-US" altLang="zh-CN" sz="2800" b="0" dirty="0"/>
              <a:t>−ma</a:t>
            </a:r>
            <a:r>
              <a:rPr lang="en-US" altLang="zh-CN" sz="2800" b="0" baseline="-25000" dirty="0"/>
              <a:t>x</a:t>
            </a:r>
            <a:r>
              <a:rPr lang="en-US" altLang="zh-CN" sz="2800" b="0" i="0" dirty="0"/>
              <a:t> </a:t>
            </a:r>
          </a:p>
          <a:p>
            <a:pPr>
              <a:lnSpc>
                <a:spcPct val="120000"/>
              </a:lnSpc>
            </a:pPr>
            <a:r>
              <a:rPr lang="en-US" altLang="zh-CN" sz="2800" dirty="0"/>
              <a:t>                   </a:t>
            </a:r>
            <a:r>
              <a:rPr lang="en-US" altLang="zh-CN" sz="2800" dirty="0" err="1"/>
              <a:t>F</a:t>
            </a:r>
            <a:r>
              <a:rPr lang="en-US" altLang="zh-CN" sz="2800" b="0" i="0" baseline="-25000" dirty="0" err="1"/>
              <a:t>Z</a:t>
            </a:r>
            <a:r>
              <a:rPr lang="en-US" altLang="zh-CN" sz="2800" b="0" baseline="-25000" dirty="0" err="1"/>
              <a:t>y</a:t>
            </a:r>
            <a:r>
              <a:rPr lang="en-US" altLang="zh-CN" sz="2800" dirty="0"/>
              <a:t> </a:t>
            </a:r>
            <a:r>
              <a:rPr lang="en-US" altLang="zh-CN" sz="2800" b="0" dirty="0"/>
              <a:t>+</a:t>
            </a:r>
            <a:r>
              <a:rPr lang="en-US" altLang="zh-CN" sz="2800" dirty="0" err="1"/>
              <a:t>F</a:t>
            </a:r>
            <a:r>
              <a:rPr lang="en-US" altLang="zh-CN" sz="2800" b="0" i="0" baseline="-25000" dirty="0" err="1"/>
              <a:t>N</a:t>
            </a:r>
            <a:r>
              <a:rPr lang="en-US" altLang="zh-CN" sz="2800" b="0" baseline="-25000" dirty="0" err="1"/>
              <a:t>y</a:t>
            </a:r>
            <a:r>
              <a:rPr lang="en-US" altLang="zh-CN" sz="2800" b="0" dirty="0"/>
              <a:t> +</a:t>
            </a:r>
            <a:r>
              <a:rPr lang="en-US" altLang="zh-CN" sz="2800" dirty="0"/>
              <a:t> </a:t>
            </a:r>
            <a:r>
              <a:rPr lang="en-US" altLang="zh-CN" sz="2800" dirty="0" err="1"/>
              <a:t>F</a:t>
            </a:r>
            <a:r>
              <a:rPr lang="en-US" altLang="zh-CN" sz="2800" b="0" i="0" baseline="-25000" dirty="0" err="1"/>
              <a:t>Q</a:t>
            </a:r>
            <a:r>
              <a:rPr lang="en-US" altLang="zh-CN" sz="2800" b="0" baseline="-25000" dirty="0" err="1"/>
              <a:t>y</a:t>
            </a:r>
            <a:r>
              <a:rPr lang="en-US" altLang="zh-CN" sz="2800" b="0" dirty="0"/>
              <a:t>=</a:t>
            </a:r>
            <a:r>
              <a:rPr lang="en-US" altLang="zh-CN" sz="2800" b="0" i="0" dirty="0"/>
              <a:t>0        </a:t>
            </a:r>
            <a:r>
              <a:rPr lang="en-US" altLang="zh-CN" sz="2800" dirty="0" err="1"/>
              <a:t>F</a:t>
            </a:r>
            <a:r>
              <a:rPr lang="en-US" altLang="zh-CN" sz="2800" b="0" i="0" baseline="-25000" dirty="0" err="1"/>
              <a:t>Q</a:t>
            </a:r>
            <a:r>
              <a:rPr lang="en-US" altLang="zh-CN" sz="2800" b="0" baseline="-25000" dirty="0" err="1"/>
              <a:t>y</a:t>
            </a:r>
            <a:r>
              <a:rPr lang="en-US" altLang="zh-CN" sz="2800" b="0" dirty="0"/>
              <a:t>=</a:t>
            </a:r>
            <a:r>
              <a:rPr lang="en-US" altLang="zh-CN" sz="2800" dirty="0"/>
              <a:t> </a:t>
            </a:r>
            <a:r>
              <a:rPr lang="en-US" altLang="zh-CN" sz="2800" b="0" dirty="0"/>
              <a:t>−ma</a:t>
            </a:r>
            <a:r>
              <a:rPr lang="en-US" altLang="zh-CN" sz="2800" b="0" baseline="-25000" dirty="0"/>
              <a:t>y</a:t>
            </a:r>
            <a:r>
              <a:rPr lang="en-US" altLang="zh-CN" sz="2800" b="0" i="0" dirty="0"/>
              <a:t> </a:t>
            </a:r>
          </a:p>
          <a:p>
            <a:pPr>
              <a:lnSpc>
                <a:spcPct val="120000"/>
              </a:lnSpc>
            </a:pPr>
            <a:endParaRPr lang="zh-CN" altLang="en-US" sz="2800" i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 Box 1032"/>
          <p:cNvSpPr txBox="1">
            <a:spLocks noChangeArrowheads="1"/>
          </p:cNvSpPr>
          <p:nvPr/>
        </p:nvSpPr>
        <p:spPr bwMode="auto">
          <a:xfrm>
            <a:off x="939805" y="2852936"/>
            <a:ext cx="10196755" cy="2160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向自然坐标轴投影可得</a:t>
            </a:r>
            <a:endParaRPr lang="en-US" altLang="zh-CN" sz="2800" i="0" dirty="0">
              <a:latin typeface="+mn-lt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800" dirty="0"/>
              <a:t>                   F</a:t>
            </a:r>
            <a:r>
              <a:rPr lang="en-US" altLang="zh-CN" sz="2800" b="0" i="0" baseline="-25000" dirty="0"/>
              <a:t>Z</a:t>
            </a:r>
            <a:r>
              <a:rPr lang="en-US" altLang="zh-CN" sz="2800" b="0" i="0" baseline="-25000" dirty="0">
                <a:sym typeface="Symbol" panose="05050102010706020507" pitchFamily="18" charset="2"/>
              </a:rPr>
              <a:t></a:t>
            </a:r>
            <a:r>
              <a:rPr lang="en-US" altLang="zh-CN" sz="2800" dirty="0"/>
              <a:t> </a:t>
            </a:r>
            <a:r>
              <a:rPr lang="en-US" altLang="zh-CN" sz="2800" b="0" dirty="0"/>
              <a:t>+</a:t>
            </a:r>
            <a:r>
              <a:rPr lang="en-US" altLang="zh-CN" sz="2800" dirty="0"/>
              <a:t>F</a:t>
            </a:r>
            <a:r>
              <a:rPr lang="en-US" altLang="zh-CN" sz="2800" b="0" i="0" baseline="-25000" dirty="0"/>
              <a:t>N</a:t>
            </a:r>
            <a:r>
              <a:rPr lang="en-US" altLang="zh-CN" sz="2800" b="0" i="0" baseline="-25000" dirty="0">
                <a:sym typeface="Symbol" panose="05050102010706020507" pitchFamily="18" charset="2"/>
              </a:rPr>
              <a:t></a:t>
            </a:r>
            <a:r>
              <a:rPr lang="en-US" altLang="zh-CN" sz="2800" b="0" dirty="0"/>
              <a:t> +</a:t>
            </a:r>
            <a:r>
              <a:rPr lang="en-US" altLang="zh-CN" sz="2800" dirty="0"/>
              <a:t> F</a:t>
            </a:r>
            <a:r>
              <a:rPr lang="en-US" altLang="zh-CN" sz="2800" b="0" i="0" baseline="-25000" dirty="0"/>
              <a:t>Q</a:t>
            </a:r>
            <a:r>
              <a:rPr lang="en-US" altLang="zh-CN" sz="2800" b="0" i="0" baseline="-25000" dirty="0">
                <a:sym typeface="Symbol" panose="05050102010706020507" pitchFamily="18" charset="2"/>
              </a:rPr>
              <a:t> </a:t>
            </a:r>
            <a:r>
              <a:rPr lang="en-US" altLang="zh-CN" sz="2800" b="0" dirty="0"/>
              <a:t>=</a:t>
            </a:r>
            <a:r>
              <a:rPr lang="en-US" altLang="zh-CN" sz="2800" b="0" i="0" dirty="0"/>
              <a:t>0        </a:t>
            </a:r>
            <a:r>
              <a:rPr lang="en-US" altLang="zh-CN" sz="2800" dirty="0"/>
              <a:t>F</a:t>
            </a:r>
            <a:r>
              <a:rPr lang="en-US" altLang="zh-CN" sz="2800" b="0" i="0" baseline="-25000" dirty="0"/>
              <a:t>Q</a:t>
            </a:r>
            <a:r>
              <a:rPr lang="en-US" altLang="zh-CN" sz="2800" b="0" i="0" baseline="-25000" dirty="0">
                <a:sym typeface="Symbol" panose="05050102010706020507" pitchFamily="18" charset="2"/>
              </a:rPr>
              <a:t></a:t>
            </a:r>
            <a:r>
              <a:rPr lang="en-US" altLang="zh-CN" sz="2800" b="0" dirty="0"/>
              <a:t>=</a:t>
            </a:r>
            <a:r>
              <a:rPr lang="en-US" altLang="zh-CN" sz="2800" dirty="0"/>
              <a:t> </a:t>
            </a:r>
            <a:r>
              <a:rPr lang="en-US" altLang="zh-CN" sz="2800" b="0" dirty="0"/>
              <a:t>−ma</a:t>
            </a:r>
            <a:r>
              <a:rPr lang="en-US" altLang="zh-CN" sz="2800" b="0" i="0" baseline="-25000" dirty="0">
                <a:sym typeface="Symbol" panose="05050102010706020507" pitchFamily="18" charset="2"/>
              </a:rPr>
              <a:t> </a:t>
            </a:r>
            <a:r>
              <a:rPr lang="en-US" altLang="zh-CN" sz="2800" b="0" i="0" dirty="0"/>
              <a:t> </a:t>
            </a:r>
          </a:p>
          <a:p>
            <a:pPr>
              <a:lnSpc>
                <a:spcPct val="120000"/>
              </a:lnSpc>
            </a:pPr>
            <a:r>
              <a:rPr lang="en-US" altLang="zh-CN" sz="2800" dirty="0"/>
              <a:t>                   </a:t>
            </a:r>
            <a:r>
              <a:rPr lang="en-US" altLang="zh-CN" sz="2800" dirty="0" err="1"/>
              <a:t>F</a:t>
            </a:r>
            <a:r>
              <a:rPr lang="en-US" altLang="zh-CN" sz="2800" b="0" i="0" baseline="-25000" dirty="0" err="1"/>
              <a:t>Zn</a:t>
            </a:r>
            <a:r>
              <a:rPr lang="en-US" altLang="zh-CN" sz="2800" dirty="0"/>
              <a:t> </a:t>
            </a:r>
            <a:r>
              <a:rPr lang="en-US" altLang="zh-CN" sz="2800" b="0" dirty="0"/>
              <a:t>+</a:t>
            </a:r>
            <a:r>
              <a:rPr lang="en-US" altLang="zh-CN" sz="2800" dirty="0" err="1"/>
              <a:t>F</a:t>
            </a:r>
            <a:r>
              <a:rPr lang="en-US" altLang="zh-CN" sz="2800" b="0" i="0" baseline="-25000" dirty="0" err="1"/>
              <a:t>Nn</a:t>
            </a:r>
            <a:r>
              <a:rPr lang="en-US" altLang="zh-CN" sz="2800" b="0" dirty="0"/>
              <a:t> +</a:t>
            </a:r>
            <a:r>
              <a:rPr lang="en-US" altLang="zh-CN" sz="2800" dirty="0"/>
              <a:t> </a:t>
            </a:r>
            <a:r>
              <a:rPr lang="en-US" altLang="zh-CN" sz="2800" dirty="0" err="1"/>
              <a:t>F</a:t>
            </a:r>
            <a:r>
              <a:rPr lang="en-US" altLang="zh-CN" sz="2800" b="0" i="0" baseline="-25000" dirty="0" err="1"/>
              <a:t>Qn</a:t>
            </a:r>
            <a:r>
              <a:rPr lang="en-US" altLang="zh-CN" sz="2800" b="0" dirty="0"/>
              <a:t>=</a:t>
            </a:r>
            <a:r>
              <a:rPr lang="en-US" altLang="zh-CN" sz="2800" b="0" i="0" dirty="0"/>
              <a:t>0        </a:t>
            </a:r>
            <a:r>
              <a:rPr lang="en-US" altLang="zh-CN" sz="2800" dirty="0" err="1"/>
              <a:t>F</a:t>
            </a:r>
            <a:r>
              <a:rPr lang="en-US" altLang="zh-CN" sz="2800" b="0" i="0" baseline="-25000" dirty="0" err="1"/>
              <a:t>Qn</a:t>
            </a:r>
            <a:r>
              <a:rPr lang="en-US" altLang="zh-CN" sz="2800" b="0" dirty="0"/>
              <a:t>=</a:t>
            </a:r>
            <a:r>
              <a:rPr lang="en-US" altLang="zh-CN" sz="2800" dirty="0"/>
              <a:t> </a:t>
            </a:r>
            <a:r>
              <a:rPr lang="en-US" altLang="zh-CN" sz="2800" b="0" dirty="0"/>
              <a:t>−ma</a:t>
            </a:r>
            <a:r>
              <a:rPr lang="en-US" altLang="zh-CN" sz="2800" b="0" i="0" baseline="-25000" dirty="0"/>
              <a:t>n</a:t>
            </a:r>
            <a:r>
              <a:rPr lang="en-US" altLang="zh-CN" sz="2800" b="0" i="0" dirty="0"/>
              <a:t> </a:t>
            </a:r>
          </a:p>
          <a:p>
            <a:pPr>
              <a:lnSpc>
                <a:spcPct val="120000"/>
              </a:lnSpc>
            </a:pPr>
            <a:endParaRPr lang="zh-CN" altLang="en-US" sz="2800" i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 Box 1032"/>
          <p:cNvSpPr txBox="1">
            <a:spLocks noChangeArrowheads="1"/>
          </p:cNvSpPr>
          <p:nvPr/>
        </p:nvSpPr>
        <p:spPr bwMode="auto">
          <a:xfrm>
            <a:off x="939805" y="4621580"/>
            <a:ext cx="10196755" cy="1599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得利用动静法解题时，首先要明确研究对象，分析它所受的力，画出受力图；其次分析它的运动，确定惯性力，并虚加在质点上；最后利用静力学平衡方法求解这个动力学问题。</a:t>
            </a:r>
            <a:endParaRPr lang="zh-CN" altLang="en-US" sz="2800" i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619343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utoUpdateAnimBg="0"/>
      <p:bldP spid="20" grpId="0" autoUpdateAnimBg="0"/>
      <p:bldP spid="21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0960" y="91693"/>
            <a:ext cx="67056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2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   动力学的基本方程与动静法</a:t>
            </a:r>
          </a:p>
        </p:txBody>
      </p:sp>
      <p:sp>
        <p:nvSpPr>
          <p:cNvPr id="4" name="矩形 3"/>
          <p:cNvSpPr/>
          <p:nvPr/>
        </p:nvSpPr>
        <p:spPr>
          <a:xfrm>
            <a:off x="191343" y="842981"/>
            <a:ext cx="11737305" cy="17173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i="0" dirty="0">
                <a:solidFill>
                  <a:srgbClr val="0033CC"/>
                </a:solidFill>
                <a:ea typeface="黑体" panose="02010609060101010101" pitchFamily="49" charset="-122"/>
              </a:rPr>
              <a:t>例   </a:t>
            </a:r>
            <a:r>
              <a:rPr lang="zh-CN" altLang="en-US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球磨机的转筒以等角速度</a:t>
            </a:r>
            <a:r>
              <a:rPr lang="zh-CN" altLang="en-US" b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r>
              <a:rPr lang="zh-CN" altLang="en-US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绕水平轴</a:t>
            </a:r>
            <a:r>
              <a:rPr lang="en-US" altLang="zh-CN" b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O</a:t>
            </a:r>
            <a:r>
              <a:rPr lang="zh-CN" altLang="en-US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转动，内装钢球和需要研磨的物料。钢球被筒壁带到一定高度后脱离筒壁，然后沿抛物线轨迹自由落下。设滚筒的半径为</a:t>
            </a:r>
            <a:r>
              <a:rPr lang="en-US" altLang="zh-CN" b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r</a:t>
            </a:r>
            <a:r>
              <a:rPr lang="zh-CN" altLang="en-US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，试求脱离处半径</a:t>
            </a:r>
            <a:r>
              <a:rPr lang="en-US" altLang="zh-CN" b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OA</a:t>
            </a:r>
            <a:r>
              <a:rPr lang="zh-CN" altLang="en-US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与铅垂线的夹角</a:t>
            </a:r>
            <a:r>
              <a:rPr lang="el-GR" altLang="zh-CN" b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θ</a:t>
            </a:r>
            <a:r>
              <a:rPr lang="zh-CN" altLang="en-US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。</a:t>
            </a:r>
          </a:p>
          <a:p>
            <a:pPr>
              <a:lnSpc>
                <a:spcPct val="110000"/>
              </a:lnSpc>
            </a:pPr>
            <a:endParaRPr lang="zh-CN" altLang="en-US" i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Rectangle 61"/>
          <p:cNvSpPr>
            <a:spLocks noChangeArrowheads="1"/>
          </p:cNvSpPr>
          <p:nvPr/>
        </p:nvSpPr>
        <p:spPr bwMode="auto">
          <a:xfrm>
            <a:off x="3332406" y="2270992"/>
            <a:ext cx="5455178" cy="4007349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8" name="10-5cnew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647728" y="2510745"/>
            <a:ext cx="4752528" cy="3564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01988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  <p:bldLst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0960" y="91693"/>
            <a:ext cx="67056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2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   动力学的基本方程与动静法</a:t>
            </a:r>
          </a:p>
        </p:txBody>
      </p:sp>
      <p:sp>
        <p:nvSpPr>
          <p:cNvPr id="4" name="矩形 3"/>
          <p:cNvSpPr/>
          <p:nvPr/>
        </p:nvSpPr>
        <p:spPr>
          <a:xfrm>
            <a:off x="191343" y="842981"/>
            <a:ext cx="11665297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i="0" dirty="0">
                <a:solidFill>
                  <a:srgbClr val="0033CC"/>
                </a:solidFill>
                <a:ea typeface="黑体" panose="02010609060101010101" pitchFamily="49" charset="-122"/>
              </a:rPr>
              <a:t>解   </a:t>
            </a:r>
            <a:r>
              <a:rPr lang="zh-CN" altLang="zh-CN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以最外层的一个钢球为研究对象，不考虑钢球间的相互作用力，则钢球所受的力有重力</a:t>
            </a:r>
            <a:r>
              <a:rPr lang="en-US" altLang="zh-CN" dirty="0">
                <a:solidFill>
                  <a:schemeClr val="tx1"/>
                </a:solidFill>
              </a:rPr>
              <a:t>G</a:t>
            </a:r>
            <a:r>
              <a:rPr lang="zh-CN" altLang="en-US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，筒壁对钢球的约束反力</a:t>
            </a:r>
            <a:r>
              <a:rPr lang="en-US" altLang="zh-CN" dirty="0">
                <a:solidFill>
                  <a:schemeClr val="tx1"/>
                </a:solidFill>
              </a:rPr>
              <a:t>F</a:t>
            </a:r>
            <a:r>
              <a:rPr lang="en-US" altLang="zh-CN" b="0" i="0" baseline="-25000" dirty="0">
                <a:solidFill>
                  <a:schemeClr val="tx1"/>
                </a:solidFill>
              </a:rPr>
              <a:t>N</a:t>
            </a:r>
            <a:r>
              <a:rPr lang="zh-CN" altLang="en-US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和摩擦力</a:t>
            </a:r>
            <a:r>
              <a:rPr lang="en-US" altLang="zh-CN" dirty="0" err="1">
                <a:solidFill>
                  <a:schemeClr val="tx1"/>
                </a:solidFill>
              </a:rPr>
              <a:t>F</a:t>
            </a:r>
            <a:r>
              <a:rPr lang="en-US" altLang="zh-CN" b="0" i="0" baseline="-25000" dirty="0" err="1">
                <a:solidFill>
                  <a:schemeClr val="tx1"/>
                </a:solidFill>
              </a:rPr>
              <a:t>f</a:t>
            </a:r>
            <a:r>
              <a:rPr lang="zh-CN" altLang="en-US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。</a:t>
            </a:r>
            <a:endParaRPr lang="zh-CN" altLang="en-US" i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Rectangle 61"/>
          <p:cNvSpPr>
            <a:spLocks noChangeArrowheads="1"/>
          </p:cNvSpPr>
          <p:nvPr/>
        </p:nvSpPr>
        <p:spPr bwMode="auto">
          <a:xfrm>
            <a:off x="8688288" y="1484784"/>
            <a:ext cx="2933978" cy="2721125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Text Box 19"/>
          <p:cNvSpPr txBox="1">
            <a:spLocks noChangeAspect="1" noChangeArrowheads="1"/>
          </p:cNvSpPr>
          <p:nvPr/>
        </p:nvSpPr>
        <p:spPr bwMode="auto">
          <a:xfrm>
            <a:off x="10155277" y="2531902"/>
            <a:ext cx="6445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F</a:t>
            </a:r>
            <a:r>
              <a:rPr lang="en-US" altLang="zh-CN" b="0" i="0" baseline="-25000">
                <a:solidFill>
                  <a:srgbClr val="FF0000"/>
                </a:solidFill>
                <a:ea typeface="宋体" panose="02010600030101010101" pitchFamily="2" charset="-122"/>
              </a:rPr>
              <a:t>Q</a:t>
            </a:r>
            <a:endParaRPr lang="en-US" altLang="zh-CN" b="0" i="0" baseline="-25000">
              <a:solidFill>
                <a:srgbClr val="FF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9" name="Text Box 20"/>
          <p:cNvSpPr txBox="1">
            <a:spLocks noChangeAspect="1" noChangeArrowheads="1"/>
          </p:cNvSpPr>
          <p:nvPr/>
        </p:nvSpPr>
        <p:spPr bwMode="auto">
          <a:xfrm>
            <a:off x="9685377" y="1524556"/>
            <a:ext cx="6905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 eaLnBrk="1" hangingPunct="1"/>
            <a:r>
              <a:rPr lang="en-US" altLang="zh-CN" dirty="0" err="1">
                <a:solidFill>
                  <a:srgbClr val="FF0000"/>
                </a:solidFill>
                <a:ea typeface="宋体" panose="02010600030101010101" pitchFamily="2" charset="-122"/>
              </a:rPr>
              <a:t>F</a:t>
            </a:r>
            <a:r>
              <a:rPr lang="en-US" altLang="zh-CN" b="0" i="0" baseline="-25000" dirty="0" err="1">
                <a:solidFill>
                  <a:srgbClr val="FF0000"/>
                </a:solidFill>
                <a:ea typeface="宋体" panose="02010600030101010101" pitchFamily="2" charset="-122"/>
              </a:rPr>
              <a:t>f</a:t>
            </a:r>
            <a:endParaRPr lang="en-US" altLang="zh-CN" b="0" i="0" baseline="-25000" dirty="0">
              <a:solidFill>
                <a:srgbClr val="FF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just" eaLnBrk="1" hangingPunct="1"/>
            <a:endParaRPr lang="en-US" altLang="zh-CN" b="0" i="0" baseline="-250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0" name="Text Box 22"/>
          <p:cNvSpPr txBox="1">
            <a:spLocks noChangeAspect="1" noChangeArrowheads="1"/>
          </p:cNvSpPr>
          <p:nvPr/>
        </p:nvSpPr>
        <p:spPr bwMode="auto">
          <a:xfrm>
            <a:off x="9698077" y="3004977"/>
            <a:ext cx="5048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G</a:t>
            </a:r>
            <a:endParaRPr lang="en-US" altLang="zh-CN" b="0" i="0" baseline="-250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1" name="Line 23"/>
          <p:cNvSpPr>
            <a:spLocks noChangeShapeType="1"/>
          </p:cNvSpPr>
          <p:nvPr/>
        </p:nvSpPr>
        <p:spPr bwMode="auto">
          <a:xfrm rot="14400000" flipH="1" flipV="1">
            <a:off x="10080664" y="3203415"/>
            <a:ext cx="684213" cy="11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黑体" panose="02010609060101010101" pitchFamily="49" charset="-122"/>
            </a:endParaRPr>
          </a:p>
        </p:txBody>
      </p:sp>
      <p:sp>
        <p:nvSpPr>
          <p:cNvPr id="12" name="Text Box 25"/>
          <p:cNvSpPr txBox="1">
            <a:spLocks noChangeAspect="1" noChangeArrowheads="1"/>
          </p:cNvSpPr>
          <p:nvPr/>
        </p:nvSpPr>
        <p:spPr bwMode="auto">
          <a:xfrm>
            <a:off x="9161502" y="1731802"/>
            <a:ext cx="6445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 eaLnBrk="1" hangingPunct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F</a:t>
            </a:r>
            <a:r>
              <a:rPr lang="en-US" altLang="zh-CN" b="0" i="0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endParaRPr lang="en-US" altLang="zh-CN" b="0" i="0" baseline="-25000" dirty="0">
              <a:solidFill>
                <a:srgbClr val="FF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4" name="Text Box 27"/>
          <p:cNvSpPr txBox="1">
            <a:spLocks noChangeAspect="1" noChangeArrowheads="1"/>
          </p:cNvSpPr>
          <p:nvPr/>
        </p:nvSpPr>
        <p:spPr bwMode="auto">
          <a:xfrm>
            <a:off x="10375940" y="2904964"/>
            <a:ext cx="465137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 eaLnBrk="1" hangingPunct="1"/>
            <a:r>
              <a:rPr lang="en-US" altLang="zh-CN" b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endParaRPr lang="en-US" altLang="zh-CN" b="0" i="0" baseline="-2500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5" name="Line 36"/>
          <p:cNvSpPr>
            <a:spLocks noChangeShapeType="1"/>
          </p:cNvSpPr>
          <p:nvPr/>
        </p:nvSpPr>
        <p:spPr bwMode="auto">
          <a:xfrm>
            <a:off x="9734590" y="2474752"/>
            <a:ext cx="0" cy="80803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kumimoji="1" lang="zh-CN" altLang="en-US" b="0" i="0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sp>
        <p:nvSpPr>
          <p:cNvPr id="16" name="Text Box 41"/>
          <p:cNvSpPr txBox="1">
            <a:spLocks noChangeAspect="1" noChangeArrowheads="1"/>
          </p:cNvSpPr>
          <p:nvPr/>
        </p:nvSpPr>
        <p:spPr bwMode="auto">
          <a:xfrm>
            <a:off x="9709190" y="2547777"/>
            <a:ext cx="382587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 eaLnBrk="1" hangingPunct="1"/>
            <a:r>
              <a:rPr lang="en-US" altLang="zh-CN" b="0">
                <a:solidFill>
                  <a:srgbClr val="FF66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endParaRPr lang="en-US" altLang="zh-CN" b="0" i="0" baseline="-25000">
              <a:solidFill>
                <a:srgbClr val="FF66FF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17" name="Group 73"/>
          <p:cNvGrpSpPr>
            <a:grpSpLocks/>
          </p:cNvGrpSpPr>
          <p:nvPr/>
        </p:nvGrpSpPr>
        <p:grpSpPr bwMode="auto">
          <a:xfrm>
            <a:off x="9269452" y="1979452"/>
            <a:ext cx="1981200" cy="2078037"/>
            <a:chOff x="4372" y="2312"/>
            <a:chExt cx="1248" cy="1309"/>
          </a:xfrm>
        </p:grpSpPr>
        <p:sp>
          <p:nvSpPr>
            <p:cNvPr id="18" name="Oval 48"/>
            <p:cNvSpPr>
              <a:spLocks noChangeArrowheads="1"/>
            </p:cNvSpPr>
            <p:nvPr/>
          </p:nvSpPr>
          <p:spPr bwMode="auto">
            <a:xfrm>
              <a:off x="4537" y="2442"/>
              <a:ext cx="900" cy="90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9" name="Line 49"/>
            <p:cNvSpPr>
              <a:spLocks noChangeShapeType="1"/>
            </p:cNvSpPr>
            <p:nvPr/>
          </p:nvSpPr>
          <p:spPr bwMode="auto">
            <a:xfrm>
              <a:off x="4372" y="2897"/>
              <a:ext cx="12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黑体" panose="02010609060101010101" pitchFamily="49" charset="-122"/>
              </a:endParaRPr>
            </a:p>
          </p:txBody>
        </p:sp>
        <p:sp>
          <p:nvSpPr>
            <p:cNvPr id="20" name="Line 50"/>
            <p:cNvSpPr>
              <a:spLocks noChangeShapeType="1"/>
            </p:cNvSpPr>
            <p:nvPr/>
          </p:nvSpPr>
          <p:spPr bwMode="auto">
            <a:xfrm>
              <a:off x="4992" y="2312"/>
              <a:ext cx="0" cy="130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黑体" panose="02010609060101010101" pitchFamily="49" charset="-122"/>
              </a:endParaRPr>
            </a:p>
          </p:txBody>
        </p:sp>
        <p:sp>
          <p:nvSpPr>
            <p:cNvPr id="21" name="Text Box 63"/>
            <p:cNvSpPr txBox="1">
              <a:spLocks noChangeAspect="1" noChangeArrowheads="1"/>
            </p:cNvSpPr>
            <p:nvPr/>
          </p:nvSpPr>
          <p:spPr bwMode="auto">
            <a:xfrm>
              <a:off x="4791" y="2493"/>
              <a:ext cx="263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l-GR" altLang="zh-CN" b="0" dirty="0">
                  <a:solidFill>
                    <a:schemeClr val="tx1"/>
                  </a:solidFill>
                </a:rPr>
                <a:t>θ</a:t>
              </a:r>
              <a:endParaRPr kumimoji="1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22" name="Text Box 64"/>
            <p:cNvSpPr txBox="1">
              <a:spLocks noChangeAspect="1" noChangeArrowheads="1"/>
            </p:cNvSpPr>
            <p:nvPr/>
          </p:nvSpPr>
          <p:spPr bwMode="auto">
            <a:xfrm>
              <a:off x="4791" y="2823"/>
              <a:ext cx="293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O</a:t>
              </a:r>
              <a:endParaRPr kumimoji="1" lang="en-US" altLang="zh-CN" sz="24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23" name="Line 65"/>
            <p:cNvSpPr>
              <a:spLocks noChangeShapeType="1"/>
            </p:cNvSpPr>
            <p:nvPr/>
          </p:nvSpPr>
          <p:spPr bwMode="auto">
            <a:xfrm rot="-1800000" flipH="1" flipV="1">
              <a:off x="4744" y="2547"/>
              <a:ext cx="166" cy="4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黑体" panose="02010609060101010101" pitchFamily="49" charset="-122"/>
              </a:endParaRPr>
            </a:p>
          </p:txBody>
        </p:sp>
        <p:sp>
          <p:nvSpPr>
            <p:cNvPr id="24" name="Arc 66"/>
            <p:cNvSpPr>
              <a:spLocks/>
            </p:cNvSpPr>
            <p:nvPr/>
          </p:nvSpPr>
          <p:spPr bwMode="auto">
            <a:xfrm rot="-3571447">
              <a:off x="4879" y="2697"/>
              <a:ext cx="131" cy="138"/>
            </a:xfrm>
            <a:custGeom>
              <a:avLst/>
              <a:gdLst>
                <a:gd name="T0" fmla="*/ 0 w 20481"/>
                <a:gd name="T1" fmla="*/ 0 h 21421"/>
                <a:gd name="T2" fmla="*/ 0 w 20481"/>
                <a:gd name="T3" fmla="*/ 0 h 21421"/>
                <a:gd name="T4" fmla="*/ 0 w 20481"/>
                <a:gd name="T5" fmla="*/ 0 h 21421"/>
                <a:gd name="T6" fmla="*/ 0 60000 65536"/>
                <a:gd name="T7" fmla="*/ 0 60000 65536"/>
                <a:gd name="T8" fmla="*/ 0 60000 65536"/>
                <a:gd name="T9" fmla="*/ 0 w 20481"/>
                <a:gd name="T10" fmla="*/ 0 h 21421"/>
                <a:gd name="T11" fmla="*/ 20481 w 20481"/>
                <a:gd name="T12" fmla="*/ 21421 h 214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81" h="21421" fill="none" extrusionOk="0">
                  <a:moveTo>
                    <a:pt x="2775" y="0"/>
                  </a:moveTo>
                  <a:cubicBezTo>
                    <a:pt x="10977" y="1063"/>
                    <a:pt x="17852" y="6716"/>
                    <a:pt x="20480" y="14558"/>
                  </a:cubicBezTo>
                </a:path>
                <a:path w="20481" h="21421" stroke="0" extrusionOk="0">
                  <a:moveTo>
                    <a:pt x="2775" y="0"/>
                  </a:moveTo>
                  <a:cubicBezTo>
                    <a:pt x="10977" y="1063"/>
                    <a:pt x="17852" y="6716"/>
                    <a:pt x="20480" y="14558"/>
                  </a:cubicBezTo>
                  <a:lnTo>
                    <a:pt x="0" y="21421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黑体" panose="02010609060101010101" pitchFamily="49" charset="-122"/>
              </a:endParaRPr>
            </a:p>
          </p:txBody>
        </p:sp>
        <p:sp>
          <p:nvSpPr>
            <p:cNvPr id="25" name="Oval 68"/>
            <p:cNvSpPr>
              <a:spLocks noChangeArrowheads="1"/>
            </p:cNvSpPr>
            <p:nvPr/>
          </p:nvSpPr>
          <p:spPr bwMode="auto">
            <a:xfrm>
              <a:off x="4640" y="2594"/>
              <a:ext cx="56" cy="56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sp>
        <p:nvSpPr>
          <p:cNvPr id="26" name="Text Box 74"/>
          <p:cNvSpPr txBox="1">
            <a:spLocks noChangeAspect="1" noChangeArrowheads="1"/>
          </p:cNvSpPr>
          <p:nvPr/>
        </p:nvSpPr>
        <p:spPr bwMode="auto">
          <a:xfrm>
            <a:off x="9299615" y="2290602"/>
            <a:ext cx="465137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 eaLnBrk="1" hangingPunct="1"/>
            <a:r>
              <a:rPr lang="en-US" altLang="zh-CN" b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endParaRPr lang="en-US" altLang="zh-CN" b="0" i="0" baseline="-2500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7" name="Line 32"/>
          <p:cNvSpPr>
            <a:spLocks noChangeShapeType="1"/>
          </p:cNvSpPr>
          <p:nvPr/>
        </p:nvSpPr>
        <p:spPr bwMode="auto">
          <a:xfrm rot="19800000" flipH="1" flipV="1">
            <a:off x="9888577" y="2414427"/>
            <a:ext cx="214313" cy="5365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kumimoji="1" lang="zh-CN" altLang="en-US" b="0" i="0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sp>
        <p:nvSpPr>
          <p:cNvPr id="28" name="Line 75"/>
          <p:cNvSpPr>
            <a:spLocks noChangeShapeType="1"/>
          </p:cNvSpPr>
          <p:nvPr/>
        </p:nvSpPr>
        <p:spPr bwMode="auto">
          <a:xfrm rot="3600000" flipH="1" flipV="1">
            <a:off x="9776658" y="1943733"/>
            <a:ext cx="214313" cy="5365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kumimoji="1" lang="zh-CN" altLang="en-US" b="0" i="0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sp>
        <p:nvSpPr>
          <p:cNvPr id="29" name="Line 76"/>
          <p:cNvSpPr>
            <a:spLocks noChangeShapeType="1"/>
          </p:cNvSpPr>
          <p:nvPr/>
        </p:nvSpPr>
        <p:spPr bwMode="auto">
          <a:xfrm rot="9000000" flipH="1" flipV="1">
            <a:off x="9361527" y="1992152"/>
            <a:ext cx="214313" cy="5365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kumimoji="1" lang="zh-CN" altLang="en-US" b="0" i="0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sp>
        <p:nvSpPr>
          <p:cNvPr id="30" name="Line 77"/>
          <p:cNvSpPr>
            <a:spLocks noChangeShapeType="1"/>
          </p:cNvSpPr>
          <p:nvPr/>
        </p:nvSpPr>
        <p:spPr bwMode="auto">
          <a:xfrm rot="9000000" flipH="1" flipV="1">
            <a:off x="9877465" y="2460464"/>
            <a:ext cx="214312" cy="536575"/>
          </a:xfrm>
          <a:prstGeom prst="line">
            <a:avLst/>
          </a:prstGeom>
          <a:noFill/>
          <a:ln w="28575">
            <a:solidFill>
              <a:srgbClr val="FF66FF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kumimoji="1" lang="zh-CN" altLang="en-US" b="0" i="0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sp>
        <p:nvSpPr>
          <p:cNvPr id="31" name="Text Box 78"/>
          <p:cNvSpPr txBox="1">
            <a:spLocks noChangeAspect="1" noChangeArrowheads="1"/>
          </p:cNvSpPr>
          <p:nvPr/>
        </p:nvSpPr>
        <p:spPr bwMode="auto">
          <a:xfrm>
            <a:off x="8994815" y="3009739"/>
            <a:ext cx="5048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rgbClr val="FF66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endParaRPr lang="en-US" altLang="zh-CN" b="0" i="0" baseline="-25000">
              <a:solidFill>
                <a:srgbClr val="FF66FF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2" name="Arc 79"/>
          <p:cNvSpPr>
            <a:spLocks/>
          </p:cNvSpPr>
          <p:nvPr/>
        </p:nvSpPr>
        <p:spPr bwMode="auto">
          <a:xfrm rot="450425" flipH="1" flipV="1">
            <a:off x="9320252" y="2601752"/>
            <a:ext cx="401638" cy="706437"/>
          </a:xfrm>
          <a:custGeom>
            <a:avLst/>
            <a:gdLst>
              <a:gd name="T0" fmla="*/ 67671534 w 21600"/>
              <a:gd name="T1" fmla="*/ 0 h 34514"/>
              <a:gd name="T2" fmla="*/ 95689066 w 21600"/>
              <a:gd name="T3" fmla="*/ 295957629 h 34514"/>
              <a:gd name="T4" fmla="*/ 0 w 21600"/>
              <a:gd name="T5" fmla="*/ 161732982 h 34514"/>
              <a:gd name="T6" fmla="*/ 0 60000 65536"/>
              <a:gd name="T7" fmla="*/ 0 60000 65536"/>
              <a:gd name="T8" fmla="*/ 0 60000 65536"/>
              <a:gd name="T9" fmla="*/ 0 w 21600"/>
              <a:gd name="T10" fmla="*/ 0 h 34514"/>
              <a:gd name="T11" fmla="*/ 21600 w 21600"/>
              <a:gd name="T12" fmla="*/ 34514 h 3451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4514" fill="none" extrusionOk="0">
                <a:moveTo>
                  <a:pt x="10526" y="-1"/>
                </a:moveTo>
                <a:cubicBezTo>
                  <a:pt x="17363" y="3815"/>
                  <a:pt x="21600" y="11031"/>
                  <a:pt x="21600" y="18861"/>
                </a:cubicBezTo>
                <a:cubicBezTo>
                  <a:pt x="21600" y="24778"/>
                  <a:pt x="19172" y="30436"/>
                  <a:pt x="14884" y="34514"/>
                </a:cubicBezTo>
              </a:path>
              <a:path w="21600" h="34514" stroke="0" extrusionOk="0">
                <a:moveTo>
                  <a:pt x="10526" y="-1"/>
                </a:moveTo>
                <a:cubicBezTo>
                  <a:pt x="17363" y="3815"/>
                  <a:pt x="21600" y="11031"/>
                  <a:pt x="21600" y="18861"/>
                </a:cubicBezTo>
                <a:cubicBezTo>
                  <a:pt x="21600" y="24778"/>
                  <a:pt x="19172" y="30436"/>
                  <a:pt x="14884" y="34514"/>
                </a:cubicBezTo>
                <a:lnTo>
                  <a:pt x="0" y="18861"/>
                </a:lnTo>
                <a:close/>
              </a:path>
            </a:pathLst>
          </a:custGeom>
          <a:noFill/>
          <a:ln w="28575">
            <a:solidFill>
              <a:srgbClr val="FF66FF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endParaRPr kumimoji="1" lang="zh-CN" altLang="en-US" b="0" i="0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91343" y="1757867"/>
            <a:ext cx="835579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钢球作匀速圆周运动，只有法向加速度因此惯性力的大小</a:t>
            </a:r>
            <a:r>
              <a:rPr lang="en-US" altLang="zh-CN" b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F</a:t>
            </a:r>
            <a:r>
              <a:rPr lang="en-US" altLang="zh-CN" b="0" i="0" baseline="-250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Q</a:t>
            </a:r>
            <a:r>
              <a:rPr lang="en-US" altLang="zh-CN" b="0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=</a:t>
            </a:r>
            <a:r>
              <a:rPr lang="en-US" altLang="zh-CN" b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ma</a:t>
            </a:r>
            <a:r>
              <a:rPr lang="en-US" altLang="zh-CN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 </a:t>
            </a:r>
            <a:r>
              <a:rPr lang="en-US" altLang="zh-CN" b="0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= (</a:t>
            </a:r>
            <a:r>
              <a:rPr lang="en-US" altLang="zh-CN" b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G</a:t>
            </a:r>
            <a:r>
              <a:rPr lang="en-US" altLang="zh-CN" b="0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/</a:t>
            </a:r>
            <a:r>
              <a:rPr lang="en-US" altLang="zh-CN" b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g</a:t>
            </a:r>
            <a:r>
              <a:rPr lang="en-US" altLang="zh-CN" b="0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)</a:t>
            </a:r>
            <a:r>
              <a:rPr lang="en-US" altLang="zh-CN" b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r</a:t>
            </a:r>
            <a:r>
              <a:rPr lang="en-US" altLang="zh-CN" b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r>
              <a:rPr lang="en-US" altLang="zh-CN" b="0" i="0" baseline="300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lang="zh-CN" altLang="en-US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，其方向通过 </a:t>
            </a:r>
            <a:r>
              <a:rPr lang="en-US" altLang="zh-CN" b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A</a:t>
            </a:r>
            <a:r>
              <a:rPr lang="zh-CN" altLang="en-US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点背向转筒中心</a:t>
            </a:r>
            <a:r>
              <a:rPr lang="en-US" altLang="zh-CN" b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O</a:t>
            </a:r>
            <a:r>
              <a:rPr lang="zh-CN" altLang="en-US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。</a:t>
            </a:r>
          </a:p>
          <a:p>
            <a:pPr>
              <a:lnSpc>
                <a:spcPct val="120000"/>
              </a:lnSpc>
            </a:pPr>
            <a:r>
              <a:rPr lang="zh-CN" altLang="en-US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取自然坐标系，列平衡方程</a:t>
            </a:r>
          </a:p>
          <a:p>
            <a:pPr>
              <a:lnSpc>
                <a:spcPct val="120000"/>
              </a:lnSpc>
            </a:pPr>
            <a:r>
              <a:rPr lang="zh-CN" altLang="en-US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        ∑</a:t>
            </a:r>
            <a:r>
              <a:rPr lang="en-US" altLang="zh-CN" b="0" dirty="0" err="1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F</a:t>
            </a:r>
            <a:r>
              <a:rPr lang="en-US" altLang="zh-CN" b="0" i="0" baseline="-25000" dirty="0" err="1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n</a:t>
            </a:r>
            <a:r>
              <a:rPr lang="en-US" altLang="zh-CN" b="0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=0</a:t>
            </a:r>
            <a:r>
              <a:rPr lang="en-US" altLang="zh-CN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        </a:t>
            </a:r>
            <a:r>
              <a:rPr lang="en-US" altLang="zh-CN" b="0" dirty="0" err="1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F</a:t>
            </a:r>
            <a:r>
              <a:rPr lang="en-US" altLang="zh-CN" b="0" i="0" baseline="-25000" dirty="0" err="1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N</a:t>
            </a:r>
            <a:r>
              <a:rPr lang="en-US" altLang="zh-CN" b="0" i="0" dirty="0" err="1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+</a:t>
            </a:r>
            <a:r>
              <a:rPr lang="en-US" altLang="zh-CN" b="0" dirty="0" err="1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G</a:t>
            </a:r>
            <a:r>
              <a:rPr lang="en-US" altLang="zh-CN" b="0" i="0" dirty="0" err="1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cos</a:t>
            </a:r>
            <a:r>
              <a:rPr lang="el-GR" altLang="zh-CN" b="0" dirty="0">
                <a:solidFill>
                  <a:schemeClr val="tx1"/>
                </a:solidFill>
                <a:ea typeface="黑体" panose="02010609060101010101" pitchFamily="49" charset="-122"/>
              </a:rPr>
              <a:t>θ </a:t>
            </a:r>
            <a:r>
              <a:rPr lang="en-US" altLang="zh-CN" b="0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−</a:t>
            </a:r>
            <a:r>
              <a:rPr lang="en-US" altLang="zh-CN" b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F</a:t>
            </a:r>
            <a:r>
              <a:rPr lang="en-US" altLang="zh-CN" b="0" i="0" baseline="-250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Q</a:t>
            </a:r>
            <a:r>
              <a:rPr lang="en-US" altLang="zh-CN" b="0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=0   </a:t>
            </a:r>
          </a:p>
          <a:p>
            <a:pPr>
              <a:lnSpc>
                <a:spcPct val="120000"/>
              </a:lnSpc>
            </a:pPr>
            <a:r>
              <a:rPr lang="en-US" altLang="zh-CN" b="0" dirty="0">
                <a:solidFill>
                  <a:schemeClr val="tx1"/>
                </a:solidFill>
              </a:rPr>
              <a:t>        </a:t>
            </a:r>
            <a:r>
              <a:rPr lang="en-US" altLang="zh-CN" b="0" dirty="0">
                <a:solidFill>
                  <a:schemeClr val="tx1"/>
                </a:solidFill>
                <a:ea typeface="黑体" panose="02010609060101010101" pitchFamily="49" charset="-122"/>
              </a:rPr>
              <a:t>F</a:t>
            </a:r>
            <a:r>
              <a:rPr lang="en-US" altLang="zh-CN" b="0" i="0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N</a:t>
            </a:r>
            <a:r>
              <a:rPr lang="en-US" altLang="zh-CN" b="0" i="0" dirty="0">
                <a:solidFill>
                  <a:schemeClr val="tx1"/>
                </a:solidFill>
                <a:ea typeface="黑体" panose="02010609060101010101" pitchFamily="49" charset="-122"/>
              </a:rPr>
              <a:t>=</a:t>
            </a:r>
            <a:r>
              <a:rPr lang="en-US" altLang="zh-CN" b="0" i="0" dirty="0">
                <a:solidFill>
                  <a:schemeClr val="tx1"/>
                </a:solidFill>
              </a:rPr>
              <a:t>(</a:t>
            </a:r>
            <a:r>
              <a:rPr lang="en-US" altLang="zh-CN" b="0" dirty="0">
                <a:solidFill>
                  <a:schemeClr val="tx1"/>
                </a:solidFill>
              </a:rPr>
              <a:t>G/g</a:t>
            </a:r>
            <a:r>
              <a:rPr lang="en-US" altLang="zh-CN" b="0" i="0" dirty="0">
                <a:solidFill>
                  <a:schemeClr val="tx1"/>
                </a:solidFill>
              </a:rPr>
              <a:t>)</a:t>
            </a:r>
            <a:r>
              <a:rPr lang="en-US" altLang="zh-CN" b="0" dirty="0">
                <a:solidFill>
                  <a:schemeClr val="tx1"/>
                </a:solidFill>
              </a:rPr>
              <a:t>r</a:t>
            </a:r>
            <a:r>
              <a:rPr lang="en-US" altLang="zh-CN" b="0" dirty="0">
                <a:solidFill>
                  <a:schemeClr val="tx1"/>
                </a:solidFill>
                <a:sym typeface="Symbol" panose="05050102010706020507" pitchFamily="18" charset="2"/>
              </a:rPr>
              <a:t></a:t>
            </a:r>
            <a:r>
              <a:rPr lang="en-US" altLang="zh-CN" b="0" i="0" baseline="30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2 </a:t>
            </a:r>
            <a:r>
              <a:rPr lang="en-US" altLang="zh-CN" b="0" i="0" dirty="0">
                <a:solidFill>
                  <a:schemeClr val="tx1"/>
                </a:solidFill>
                <a:ea typeface="黑体" panose="02010609060101010101" pitchFamily="49" charset="-122"/>
              </a:rPr>
              <a:t>−</a:t>
            </a:r>
            <a:r>
              <a:rPr lang="en-US" altLang="zh-CN" b="0" dirty="0">
                <a:solidFill>
                  <a:schemeClr val="tx1"/>
                </a:solidFill>
                <a:ea typeface="黑体" panose="02010609060101010101" pitchFamily="49" charset="-122"/>
              </a:rPr>
              <a:t>G</a:t>
            </a:r>
            <a:r>
              <a:rPr lang="en-US" altLang="zh-CN" b="0" i="0" dirty="0">
                <a:solidFill>
                  <a:schemeClr val="tx1"/>
                </a:solidFill>
                <a:ea typeface="黑体" panose="02010609060101010101" pitchFamily="49" charset="-122"/>
              </a:rPr>
              <a:t>cos</a:t>
            </a:r>
            <a:r>
              <a:rPr lang="el-GR" altLang="zh-CN" b="0" dirty="0">
                <a:solidFill>
                  <a:schemeClr val="tx1"/>
                </a:solidFill>
                <a:ea typeface="黑体" panose="02010609060101010101" pitchFamily="49" charset="-122"/>
              </a:rPr>
              <a:t>θ </a:t>
            </a:r>
            <a:endParaRPr lang="zh-CN" altLang="en-US" i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91343" y="4036319"/>
            <a:ext cx="8355797" cy="4931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钢球脱离筒壁的条件为</a:t>
            </a:r>
            <a:r>
              <a:rPr lang="en-US" altLang="zh-CN" b="0" dirty="0">
                <a:solidFill>
                  <a:schemeClr val="tx1"/>
                </a:solidFill>
              </a:rPr>
              <a:t>F</a:t>
            </a:r>
            <a:r>
              <a:rPr lang="en-US" altLang="zh-CN" b="0" i="0" baseline="-25000" dirty="0">
                <a:solidFill>
                  <a:schemeClr val="tx1"/>
                </a:solidFill>
              </a:rPr>
              <a:t>N</a:t>
            </a:r>
            <a:r>
              <a:rPr lang="en-US" altLang="zh-CN" b="0" i="0" dirty="0">
                <a:solidFill>
                  <a:schemeClr val="tx1"/>
                </a:solidFill>
              </a:rPr>
              <a:t>=0</a:t>
            </a:r>
            <a:r>
              <a:rPr lang="zh-CN" altLang="en-US" i="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，代入上式后，可求得脱离角 </a:t>
            </a:r>
          </a:p>
        </p:txBody>
      </p:sp>
      <p:graphicFrame>
        <p:nvGraphicFramePr>
          <p:cNvPr id="35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0656633"/>
              </p:ext>
            </p:extLst>
          </p:nvPr>
        </p:nvGraphicFramePr>
        <p:xfrm>
          <a:off x="839416" y="4471420"/>
          <a:ext cx="2181225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41120" imgH="444240" progId="Equation.DSMT4">
                  <p:embed/>
                </p:oleObj>
              </mc:Choice>
              <mc:Fallback>
                <p:oleObj name="Equation" r:id="rId3" imgW="10411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416" y="4471420"/>
                        <a:ext cx="2181225" cy="93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矩形 35"/>
          <p:cNvSpPr/>
          <p:nvPr/>
        </p:nvSpPr>
        <p:spPr>
          <a:xfrm>
            <a:off x="213256" y="5254220"/>
            <a:ext cx="11787400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当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r>
              <a:rPr lang="en-US" altLang="zh-CN" i="0" baseline="300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2</a:t>
            </a:r>
            <a:r>
              <a:rPr lang="en-US" altLang="zh-CN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/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g</a:t>
            </a:r>
            <a:r>
              <a:rPr lang="en-US" altLang="zh-CN" b="0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=l</a:t>
            </a:r>
            <a:r>
              <a:rPr lang="zh-CN" altLang="en-US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时，有</a:t>
            </a:r>
            <a:r>
              <a:rPr lang="el-GR" altLang="zh-CN" b="0" dirty="0">
                <a:solidFill>
                  <a:schemeClr val="tx1"/>
                </a:solidFill>
              </a:rPr>
              <a:t>θ</a:t>
            </a:r>
            <a:r>
              <a:rPr lang="en-US" altLang="zh-CN" b="0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=0</a:t>
            </a:r>
            <a:r>
              <a:rPr lang="zh-CN" altLang="en-US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，钢球始终不脱离筒壁。此时转筒转速</a:t>
            </a:r>
            <a:r>
              <a:rPr lang="zh-CN" altLang="en-US" b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r>
              <a:rPr lang="en-US" altLang="zh-CN" b="0" i="0" baseline="-250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sym typeface="Symbol" panose="05050102010706020507" pitchFamily="18" charset="2"/>
              </a:rPr>
              <a:t>L</a:t>
            </a:r>
            <a:r>
              <a:rPr lang="en-US" altLang="zh-CN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sym typeface="Symbol" panose="05050102010706020507" pitchFamily="18" charset="2"/>
              </a:rPr>
              <a:t>=</a:t>
            </a:r>
            <a:r>
              <a:rPr lang="en-US" altLang="zh-CN" b="0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sym typeface="Symbol" panose="05050102010706020507" pitchFamily="18" charset="2"/>
              </a:rPr>
              <a:t>(</a:t>
            </a:r>
            <a:r>
              <a:rPr lang="en-US" altLang="zh-CN" b="0" dirty="0">
                <a:solidFill>
                  <a:schemeClr val="tx1"/>
                </a:solidFill>
                <a:ea typeface="黑体" panose="02010609060101010101" pitchFamily="49" charset="-122"/>
              </a:rPr>
              <a:t>g/r</a:t>
            </a:r>
            <a:r>
              <a:rPr lang="en-US" altLang="zh-CN" b="0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lang="en-US" altLang="zh-CN" b="0" i="0" baseline="300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0.5</a:t>
            </a:r>
            <a:r>
              <a:rPr lang="zh-CN" altLang="en-US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，称为</a:t>
            </a:r>
            <a:r>
              <a:rPr lang="zh-CN" altLang="en-US" i="0" dirty="0">
                <a:latin typeface="+mn-lt"/>
                <a:ea typeface="黑体" panose="02010609060101010101" pitchFamily="49" charset="-122"/>
              </a:rPr>
              <a:t>临界转速</a:t>
            </a:r>
            <a:r>
              <a:rPr lang="zh-CN" altLang="en-US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。对球磨机而言，应</a:t>
            </a:r>
            <a:r>
              <a:rPr lang="zh-CN" altLang="en-US" b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r>
              <a:rPr lang="zh-CN" altLang="en-US" b="0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＜</a:t>
            </a:r>
            <a:r>
              <a:rPr lang="zh-CN" altLang="en-US" b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r>
              <a:rPr lang="en-US" altLang="zh-CN" b="0" i="0" baseline="-250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L</a:t>
            </a:r>
            <a:r>
              <a:rPr lang="zh-CN" altLang="en-US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；对离心浇铸机而言，为了使熔液紧贴内壁成型，则</a:t>
            </a:r>
            <a:r>
              <a:rPr lang="zh-CN" altLang="en-US" b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r>
              <a:rPr lang="zh-CN" altLang="en-US" b="0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＞</a:t>
            </a:r>
            <a:r>
              <a:rPr lang="zh-CN" altLang="en-US" b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r>
              <a:rPr lang="en-US" altLang="zh-CN" b="0" i="0" baseline="-250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L</a:t>
            </a:r>
            <a:r>
              <a:rPr lang="zh-CN" altLang="en-US" b="0" i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。 </a:t>
            </a:r>
          </a:p>
          <a:p>
            <a:pPr>
              <a:lnSpc>
                <a:spcPct val="120000"/>
              </a:lnSpc>
            </a:pPr>
            <a:endParaRPr lang="zh-CN" altLang="en-US" i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151729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3" grpId="0"/>
      <p:bldP spid="34" grpId="0"/>
      <p:bldP spid="3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0960" y="91693"/>
            <a:ext cx="67056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2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   动力学的基本方程与动静法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64442" y="928670"/>
            <a:ext cx="9747982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000" i="0" dirty="0">
                <a:solidFill>
                  <a:schemeClr val="accent6">
                    <a:lumMod val="75000"/>
                  </a:schemeClr>
                </a:solidFill>
                <a:latin typeface="+mn-lt"/>
                <a:ea typeface="微软雅黑" panose="020B0503020204020204" pitchFamily="34" charset="-122"/>
              </a:rPr>
              <a:t>§6-3  </a:t>
            </a:r>
            <a:r>
              <a:rPr lang="zh-CN" altLang="en-US" sz="3000" i="0" dirty="0">
                <a:solidFill>
                  <a:schemeClr val="accent6">
                    <a:lumMod val="75000"/>
                  </a:schemeClr>
                </a:solidFill>
                <a:latin typeface="+mn-lt"/>
                <a:ea typeface="微软雅黑" panose="020B0503020204020204" pitchFamily="34" charset="-122"/>
              </a:rPr>
              <a:t>刚体绕定轴转动动力学方程</a:t>
            </a:r>
          </a:p>
        </p:txBody>
      </p:sp>
      <p:sp>
        <p:nvSpPr>
          <p:cNvPr id="52" name="Text Box 1032"/>
          <p:cNvSpPr txBox="1">
            <a:spLocks noChangeArrowheads="1"/>
          </p:cNvSpPr>
          <p:nvPr/>
        </p:nvSpPr>
        <p:spPr bwMode="auto">
          <a:xfrm>
            <a:off x="939805" y="1943507"/>
            <a:ext cx="10772819" cy="2855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i="0" dirty="0">
                <a:latin typeface="+mj-lt"/>
                <a:ea typeface="微软雅黑" panose="020B0503020204020204" pitchFamily="34" charset="-122"/>
              </a:rPr>
              <a:t>一刚体在一力系作用下绕固定轴</a:t>
            </a:r>
            <a:r>
              <a:rPr lang="en-US" altLang="zh-CN" sz="2800" b="0" dirty="0">
                <a:latin typeface="+mj-lt"/>
                <a:ea typeface="微软雅黑" panose="020B0503020204020204" pitchFamily="34" charset="-122"/>
              </a:rPr>
              <a:t>O</a:t>
            </a:r>
            <a:r>
              <a:rPr lang="zh-CN" altLang="en-US" sz="2800" i="0" dirty="0">
                <a:latin typeface="+mj-lt"/>
                <a:ea typeface="微软雅黑" panose="020B0503020204020204" pitchFamily="34" charset="-122"/>
              </a:rPr>
              <a:t>以角加速度</a:t>
            </a:r>
            <a:r>
              <a:rPr lang="zh-CN" altLang="en-US" sz="2800" b="0" dirty="0">
                <a:latin typeface="+mj-lt"/>
                <a:ea typeface="微软雅黑" panose="020B0503020204020204" pitchFamily="34" charset="-122"/>
                <a:sym typeface="Symbol" panose="05050102010706020507" pitchFamily="18" charset="2"/>
              </a:rPr>
              <a:t></a:t>
            </a:r>
            <a:r>
              <a:rPr lang="zh-CN" altLang="en-US" sz="2800" i="0" dirty="0">
                <a:latin typeface="+mj-lt"/>
                <a:ea typeface="微软雅黑" panose="020B0503020204020204" pitchFamily="34" charset="-122"/>
                <a:sym typeface="Symbol" panose="05050102010706020507" pitchFamily="18" charset="2"/>
              </a:rPr>
              <a:t> </a:t>
            </a:r>
            <a:r>
              <a:rPr lang="zh-CN" altLang="en-US" sz="2800" i="0" dirty="0">
                <a:latin typeface="+mj-lt"/>
                <a:ea typeface="微软雅黑" panose="020B0503020204020204" pitchFamily="34" charset="-122"/>
              </a:rPr>
              <a:t>加速转动。取刚体上任一点 </a:t>
            </a:r>
            <a:r>
              <a:rPr lang="en-US" altLang="zh-CN" sz="2800" b="0" dirty="0" err="1">
                <a:latin typeface="+mj-lt"/>
                <a:ea typeface="微软雅黑" panose="020B0503020204020204" pitchFamily="34" charset="-122"/>
              </a:rPr>
              <a:t>i</a:t>
            </a:r>
            <a:r>
              <a:rPr lang="zh-CN" altLang="en-US" sz="2800" i="0" dirty="0">
                <a:latin typeface="+mj-lt"/>
                <a:ea typeface="微软雅黑" panose="020B0503020204020204" pitchFamily="34" charset="-122"/>
              </a:rPr>
              <a:t>，其质量为</a:t>
            </a:r>
            <a:r>
              <a:rPr lang="en-US" altLang="zh-CN" sz="2800" b="0" dirty="0">
                <a:latin typeface="+mj-lt"/>
                <a:ea typeface="微软雅黑" panose="020B0503020204020204" pitchFamily="34" charset="-122"/>
              </a:rPr>
              <a:t>m</a:t>
            </a:r>
            <a:r>
              <a:rPr lang="en-US" altLang="zh-CN" sz="2800" b="0" baseline="-25000" dirty="0">
                <a:latin typeface="+mj-lt"/>
                <a:ea typeface="微软雅黑" panose="020B0503020204020204" pitchFamily="34" charset="-122"/>
              </a:rPr>
              <a:t>i</a:t>
            </a:r>
            <a:r>
              <a:rPr lang="zh-CN" altLang="en-US" sz="2800" i="0" dirty="0">
                <a:latin typeface="+mj-lt"/>
                <a:ea typeface="微软雅黑" panose="020B0503020204020204" pitchFamily="34" charset="-122"/>
              </a:rPr>
              <a:t>作用有外力</a:t>
            </a:r>
            <a:r>
              <a:rPr lang="en-US" altLang="zh-CN" sz="2800" dirty="0">
                <a:latin typeface="+mj-lt"/>
                <a:ea typeface="微软雅黑" panose="020B0503020204020204" pitchFamily="34" charset="-122"/>
              </a:rPr>
              <a:t>F</a:t>
            </a:r>
            <a:r>
              <a:rPr lang="en-US" altLang="zh-CN" sz="2800" b="0" baseline="-25000" dirty="0">
                <a:latin typeface="+mj-lt"/>
                <a:ea typeface="微软雅黑" panose="020B0503020204020204" pitchFamily="34" charset="-122"/>
              </a:rPr>
              <a:t>i</a:t>
            </a:r>
            <a:r>
              <a:rPr lang="zh-CN" altLang="en-US" sz="2800" i="0" dirty="0">
                <a:latin typeface="+mj-lt"/>
                <a:ea typeface="微软雅黑" panose="020B0503020204020204" pitchFamily="34" charset="-122"/>
              </a:rPr>
              <a:t>，在它上面虚加切向惯性力</a:t>
            </a:r>
            <a:r>
              <a:rPr lang="en-US" altLang="zh-CN" sz="2800" dirty="0" err="1">
                <a:latin typeface="+mj-lt"/>
                <a:ea typeface="微软雅黑" panose="020B0503020204020204" pitchFamily="34" charset="-122"/>
              </a:rPr>
              <a:t>F</a:t>
            </a:r>
            <a:r>
              <a:rPr lang="en-US" altLang="zh-CN" sz="2800" b="0" i="0" baseline="-25000" dirty="0" err="1">
                <a:latin typeface="+mj-lt"/>
                <a:ea typeface="微软雅黑" panose="020B0503020204020204" pitchFamily="34" charset="-122"/>
              </a:rPr>
              <a:t>Q</a:t>
            </a:r>
            <a:r>
              <a:rPr lang="en-US" altLang="zh-CN" sz="2800" b="0" baseline="-25000" dirty="0" err="1">
                <a:latin typeface="+mj-lt"/>
                <a:ea typeface="微软雅黑" panose="020B0503020204020204" pitchFamily="34" charset="-122"/>
              </a:rPr>
              <a:t>i</a:t>
            </a:r>
            <a:r>
              <a:rPr lang="en-US" altLang="zh-CN" sz="2800" b="0" i="0" baseline="-25000" dirty="0">
                <a:latin typeface="+mj-lt"/>
                <a:ea typeface="微软雅黑" panose="020B0503020204020204" pitchFamily="34" charset="-122"/>
                <a:sym typeface="Symbol" panose="05050102010706020507" pitchFamily="18" charset="2"/>
              </a:rPr>
              <a:t></a:t>
            </a:r>
            <a:r>
              <a:rPr lang="zh-CN" altLang="en-US" sz="2800" i="0" dirty="0">
                <a:latin typeface="+mj-lt"/>
                <a:ea typeface="微软雅黑" panose="020B0503020204020204" pitchFamily="34" charset="-122"/>
              </a:rPr>
              <a:t>和法向惯性力</a:t>
            </a:r>
            <a:r>
              <a:rPr lang="en-US" altLang="zh-CN" sz="2800" dirty="0" err="1">
                <a:latin typeface="+mj-lt"/>
                <a:ea typeface="微软雅黑" panose="020B0503020204020204" pitchFamily="34" charset="-122"/>
              </a:rPr>
              <a:t>F</a:t>
            </a:r>
            <a:r>
              <a:rPr lang="en-US" altLang="zh-CN" sz="2800" b="0" i="0" baseline="-25000" dirty="0" err="1">
                <a:latin typeface="+mj-lt"/>
                <a:ea typeface="微软雅黑" panose="020B0503020204020204" pitchFamily="34" charset="-122"/>
              </a:rPr>
              <a:t>Q</a:t>
            </a:r>
            <a:r>
              <a:rPr lang="en-US" altLang="zh-CN" sz="2800" b="0" baseline="-25000" dirty="0" err="1">
                <a:latin typeface="+mj-lt"/>
                <a:ea typeface="微软雅黑" panose="020B0503020204020204" pitchFamily="34" charset="-122"/>
              </a:rPr>
              <a:t>i</a:t>
            </a:r>
            <a:r>
              <a:rPr lang="en-US" altLang="zh-CN" sz="2800" b="0" i="0" baseline="-25000" dirty="0" err="1">
                <a:latin typeface="+mj-lt"/>
                <a:ea typeface="微软雅黑" panose="020B0503020204020204" pitchFamily="34" charset="-122"/>
              </a:rPr>
              <a:t>n</a:t>
            </a:r>
            <a:r>
              <a:rPr lang="zh-CN" altLang="en-US" sz="2800" i="0" dirty="0">
                <a:latin typeface="+mj-lt"/>
                <a:ea typeface="微软雅黑" panose="020B0503020204020204" pitchFamily="34" charset="-122"/>
              </a:rPr>
              <a:t>后，形成一个形式上的平衡力系，故有 </a:t>
            </a:r>
            <a:endParaRPr lang="en-US" altLang="zh-CN" sz="2800" i="0" dirty="0">
              <a:latin typeface="+mj-lt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 err="1"/>
              <a:t>F</a:t>
            </a:r>
            <a:r>
              <a:rPr lang="en-US" altLang="zh-CN" sz="2800" b="0" i="0" baseline="-25000" dirty="0" err="1"/>
              <a:t>Q</a:t>
            </a:r>
            <a:r>
              <a:rPr lang="en-US" altLang="zh-CN" sz="2800" b="0" baseline="-25000" dirty="0" err="1"/>
              <a:t>i</a:t>
            </a:r>
            <a:r>
              <a:rPr lang="en-US" altLang="zh-CN" sz="2800" b="0" i="0" baseline="-25000" dirty="0">
                <a:sym typeface="Symbol" panose="05050102010706020507" pitchFamily="18" charset="2"/>
              </a:rPr>
              <a:t></a:t>
            </a:r>
            <a:r>
              <a:rPr lang="en-US" altLang="zh-CN" sz="2800" b="0" dirty="0"/>
              <a:t>=−</a:t>
            </a:r>
            <a:r>
              <a:rPr lang="en-US" altLang="zh-CN" sz="2800" b="0" dirty="0" err="1"/>
              <a:t>m</a:t>
            </a:r>
            <a:r>
              <a:rPr lang="en-US" altLang="zh-CN" sz="2800" b="0" baseline="-25000" dirty="0" err="1"/>
              <a:t>i</a:t>
            </a:r>
            <a:r>
              <a:rPr lang="en-US" altLang="zh-CN" sz="2800" b="0" dirty="0" err="1"/>
              <a:t>a</a:t>
            </a:r>
            <a:r>
              <a:rPr lang="en-US" altLang="zh-CN" sz="2800" b="0" baseline="-25000" dirty="0" err="1"/>
              <a:t>i</a:t>
            </a:r>
            <a:r>
              <a:rPr lang="en-US" altLang="zh-CN" sz="2800" b="0" i="0" baseline="-25000" dirty="0">
                <a:sym typeface="Symbol" panose="05050102010706020507" pitchFamily="18" charset="2"/>
              </a:rPr>
              <a:t> </a:t>
            </a:r>
            <a:r>
              <a:rPr lang="en-US" altLang="zh-CN" sz="2800" b="0" dirty="0"/>
              <a:t>=−</a:t>
            </a:r>
            <a:r>
              <a:rPr lang="en-US" altLang="zh-CN" sz="2800" b="0" dirty="0" err="1"/>
              <a:t>m</a:t>
            </a:r>
            <a:r>
              <a:rPr lang="en-US" altLang="zh-CN" sz="2800" b="0" baseline="-25000" dirty="0" err="1"/>
              <a:t>i</a:t>
            </a:r>
            <a:r>
              <a:rPr lang="en-US" altLang="zh-CN" sz="2800" b="0" dirty="0" err="1">
                <a:ea typeface="黑体" panose="02010609060101010101" pitchFamily="49" charset="-122"/>
                <a:sym typeface="Symbol" panose="05050102010706020507" pitchFamily="18" charset="2"/>
              </a:rPr>
              <a:t>r</a:t>
            </a:r>
            <a:r>
              <a:rPr lang="en-US" altLang="zh-CN" sz="2800" b="0" baseline="-25000" dirty="0" err="1"/>
              <a:t>i</a:t>
            </a:r>
            <a:r>
              <a:rPr lang="en-US" altLang="zh-CN" sz="2800" b="0" i="0" dirty="0"/>
              <a:t>       </a:t>
            </a:r>
            <a:r>
              <a:rPr lang="en-US" altLang="zh-CN" sz="2800" dirty="0" err="1"/>
              <a:t>F</a:t>
            </a:r>
            <a:r>
              <a:rPr lang="en-US" altLang="zh-CN" sz="2800" b="0" i="0" baseline="-25000" dirty="0" err="1"/>
              <a:t>Q</a:t>
            </a:r>
            <a:r>
              <a:rPr lang="en-US" altLang="zh-CN" sz="2800" b="0" baseline="-25000" dirty="0" err="1"/>
              <a:t>i</a:t>
            </a:r>
            <a:r>
              <a:rPr lang="en-US" altLang="zh-CN" sz="2800" b="0" i="0" baseline="-25000" dirty="0" err="1"/>
              <a:t>n</a:t>
            </a:r>
            <a:r>
              <a:rPr lang="en-US" altLang="zh-CN" sz="2800" b="0" dirty="0"/>
              <a:t>=−</a:t>
            </a:r>
            <a:r>
              <a:rPr lang="en-US" altLang="zh-CN" sz="2800" b="0" dirty="0" err="1"/>
              <a:t>m</a:t>
            </a:r>
            <a:r>
              <a:rPr lang="en-US" altLang="zh-CN" sz="2800" b="0" baseline="-25000" dirty="0" err="1"/>
              <a:t>i</a:t>
            </a:r>
            <a:r>
              <a:rPr lang="en-US" altLang="zh-CN" sz="2800" b="0" dirty="0" err="1"/>
              <a:t>a</a:t>
            </a:r>
            <a:r>
              <a:rPr lang="en-US" altLang="zh-CN" sz="2800" b="0" baseline="-25000" dirty="0" err="1"/>
              <a:t>i</a:t>
            </a:r>
            <a:r>
              <a:rPr lang="en-US" altLang="zh-CN" sz="2800" b="0" i="0" baseline="-25000" dirty="0" err="1"/>
              <a:t>n</a:t>
            </a:r>
            <a:r>
              <a:rPr lang="en-US" altLang="zh-CN" sz="2800" b="0" dirty="0"/>
              <a:t>=−m</a:t>
            </a:r>
            <a:r>
              <a:rPr lang="en-US" altLang="zh-CN" sz="2800" b="0" baseline="-25000" dirty="0"/>
              <a:t>i</a:t>
            </a:r>
            <a:r>
              <a:rPr kumimoji="1" lang="en-US" altLang="zh-CN" sz="2800" b="0" kern="0" dirty="0">
                <a:sym typeface="Symbol" panose="05050102010706020507" pitchFamily="18" charset="2"/>
              </a:rPr>
              <a:t></a:t>
            </a:r>
            <a:r>
              <a:rPr kumimoji="1" lang="en-US" altLang="zh-CN" sz="2800" b="0" i="0" kern="0" baseline="30000" dirty="0">
                <a:sym typeface="Symbol" panose="05050102010706020507" pitchFamily="18" charset="2"/>
              </a:rPr>
              <a:t>2</a:t>
            </a:r>
            <a:r>
              <a:rPr lang="en-US" altLang="zh-CN" sz="2800" b="0" dirty="0">
                <a:ea typeface="黑体" panose="02010609060101010101" pitchFamily="49" charset="-122"/>
                <a:sym typeface="Symbol" panose="05050102010706020507" pitchFamily="18" charset="2"/>
              </a:rPr>
              <a:t>r</a:t>
            </a:r>
            <a:r>
              <a:rPr lang="en-US" altLang="zh-CN" sz="2800" b="0" baseline="-25000" dirty="0"/>
              <a:t>i</a:t>
            </a:r>
          </a:p>
          <a:p>
            <a:pPr lvl="0">
              <a:lnSpc>
                <a:spcPct val="150000"/>
              </a:lnSpc>
            </a:pPr>
            <a:r>
              <a:rPr kumimoji="1" lang="en-US" altLang="zh-CN" sz="2800" b="0" i="0" dirty="0">
                <a:ea typeface="黑体" panose="02010609060101010101" pitchFamily="49" charset="-122"/>
              </a:rPr>
              <a:t>∑</a:t>
            </a:r>
            <a:r>
              <a:rPr kumimoji="1" lang="en-US" altLang="zh-CN" sz="2800" b="0" dirty="0">
                <a:ea typeface="黑体" panose="02010609060101010101" pitchFamily="49" charset="-122"/>
              </a:rPr>
              <a:t>M</a:t>
            </a:r>
            <a:r>
              <a:rPr kumimoji="1" lang="en-US" altLang="zh-CN" sz="2800" b="0" baseline="-25000" dirty="0">
                <a:ea typeface="黑体" panose="02010609060101010101" pitchFamily="49" charset="-122"/>
              </a:rPr>
              <a:t>O</a:t>
            </a:r>
            <a:r>
              <a:rPr kumimoji="1" lang="en-US" altLang="zh-CN" sz="2800" b="0" i="0" dirty="0">
                <a:ea typeface="黑体" panose="02010609060101010101" pitchFamily="49" charset="-122"/>
              </a:rPr>
              <a:t>=0    </a:t>
            </a:r>
            <a:r>
              <a:rPr kumimoji="1" lang="en-US" altLang="zh-CN" sz="2800" b="0" dirty="0">
                <a:ea typeface="黑体" panose="02010609060101010101" pitchFamily="49" charset="-122"/>
              </a:rPr>
              <a:t>M</a:t>
            </a:r>
            <a:r>
              <a:rPr kumimoji="1" lang="en-US" altLang="zh-CN" sz="2800" b="0" baseline="-25000" dirty="0">
                <a:ea typeface="黑体" panose="02010609060101010101" pitchFamily="49" charset="-122"/>
              </a:rPr>
              <a:t>O</a:t>
            </a:r>
            <a:r>
              <a:rPr kumimoji="1" lang="en-US" altLang="zh-CN" sz="2800" b="0" i="0" dirty="0">
                <a:latin typeface="宋体" panose="02010600030101010101" pitchFamily="2" charset="-122"/>
                <a:ea typeface="黑体" panose="02010609060101010101" pitchFamily="49" charset="-122"/>
              </a:rPr>
              <a:t>(</a:t>
            </a:r>
            <a:r>
              <a:rPr kumimoji="1" lang="en-US" altLang="zh-CN" sz="2800" dirty="0">
                <a:ea typeface="黑体" panose="02010609060101010101" pitchFamily="49" charset="-122"/>
              </a:rPr>
              <a:t>F</a:t>
            </a:r>
            <a:r>
              <a:rPr kumimoji="1" lang="en-US" altLang="zh-CN" sz="2800" b="0" baseline="-25000" dirty="0">
                <a:ea typeface="黑体" panose="02010609060101010101" pitchFamily="49" charset="-122"/>
              </a:rPr>
              <a:t>i</a:t>
            </a:r>
            <a:r>
              <a:rPr kumimoji="1" lang="en-US" altLang="zh-CN" sz="2800" b="0" i="0" dirty="0">
                <a:latin typeface="宋体" panose="02010600030101010101" pitchFamily="2" charset="-122"/>
                <a:ea typeface="黑体" panose="02010609060101010101" pitchFamily="49" charset="-122"/>
              </a:rPr>
              <a:t>)</a:t>
            </a:r>
            <a:r>
              <a:rPr kumimoji="1" lang="en-US" altLang="zh-CN" sz="2800" b="0" dirty="0">
                <a:ea typeface="黑体" panose="02010609060101010101" pitchFamily="49" charset="-122"/>
              </a:rPr>
              <a:t> </a:t>
            </a:r>
            <a:r>
              <a:rPr kumimoji="1" lang="en-US" altLang="zh-CN" sz="2800" b="0" i="0" dirty="0">
                <a:ea typeface="黑体" panose="02010609060101010101" pitchFamily="49" charset="-122"/>
              </a:rPr>
              <a:t>=</a:t>
            </a:r>
            <a:r>
              <a:rPr kumimoji="1" lang="en-US" altLang="zh-CN" sz="2800" b="0" dirty="0">
                <a:ea typeface="黑体" panose="02010609060101010101" pitchFamily="49" charset="-122"/>
              </a:rPr>
              <a:t> m</a:t>
            </a:r>
            <a:r>
              <a:rPr kumimoji="1" lang="en-US" altLang="zh-CN" sz="2800" b="0" baseline="-25000" dirty="0">
                <a:ea typeface="黑体" panose="02010609060101010101" pitchFamily="49" charset="-122"/>
              </a:rPr>
              <a:t>i</a:t>
            </a:r>
            <a:r>
              <a:rPr kumimoji="1" lang="en-US" altLang="zh-CN" sz="2800" b="0" dirty="0">
                <a:ea typeface="黑体" panose="02010609060101010101" pitchFamily="49" charset="-122"/>
              </a:rPr>
              <a:t>r</a:t>
            </a:r>
            <a:r>
              <a:rPr kumimoji="1" lang="en-US" altLang="zh-CN" sz="2800" b="0" baseline="-25000" dirty="0">
                <a:ea typeface="黑体" panose="02010609060101010101" pitchFamily="49" charset="-122"/>
              </a:rPr>
              <a:t>i</a:t>
            </a:r>
            <a:r>
              <a:rPr kumimoji="1" lang="en-US" altLang="zh-CN" sz="2800" b="0" i="0" baseline="30000" dirty="0">
                <a:ea typeface="黑体" panose="02010609060101010101" pitchFamily="49" charset="-122"/>
              </a:rPr>
              <a:t>2</a:t>
            </a:r>
            <a:r>
              <a:rPr kumimoji="1" lang="en-US" altLang="zh-CN" sz="2800" b="0" dirty="0">
                <a:ea typeface="黑体" panose="02010609060101010101" pitchFamily="49" charset="-122"/>
                <a:sym typeface="Symbol" panose="05050102010706020507" pitchFamily="18" charset="2"/>
              </a:rPr>
              <a:t></a:t>
            </a:r>
            <a:endParaRPr lang="zh-CN" altLang="en-US" sz="2800" i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268859" y="1389509"/>
            <a:ext cx="5570756" cy="599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000" i="0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定轴转动刚体的动力学基本方程</a:t>
            </a:r>
          </a:p>
        </p:txBody>
      </p:sp>
      <p:sp>
        <p:nvSpPr>
          <p:cNvPr id="14" name="Rectangle 61"/>
          <p:cNvSpPr>
            <a:spLocks noChangeArrowheads="1"/>
          </p:cNvSpPr>
          <p:nvPr/>
        </p:nvSpPr>
        <p:spPr bwMode="auto">
          <a:xfrm>
            <a:off x="8400256" y="3546051"/>
            <a:ext cx="3454029" cy="2694328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" name="Text Box 1032"/>
          <p:cNvSpPr txBox="1">
            <a:spLocks noChangeArrowheads="1"/>
          </p:cNvSpPr>
          <p:nvPr/>
        </p:nvSpPr>
        <p:spPr bwMode="auto">
          <a:xfrm>
            <a:off x="939804" y="4922239"/>
            <a:ext cx="6384647" cy="1303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将全部质点累计加在一起，即可得</a:t>
            </a:r>
            <a:endParaRPr lang="en-US" altLang="zh-CN" sz="2800" i="0" dirty="0">
              <a:latin typeface="+mn-lt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800" b="0" i="0" dirty="0">
                <a:ea typeface="黑体" panose="02010609060101010101" pitchFamily="49" charset="-122"/>
              </a:rPr>
              <a:t>∑</a:t>
            </a:r>
            <a:r>
              <a:rPr kumimoji="1" lang="en-US" altLang="zh-CN" sz="2800" b="0" dirty="0">
                <a:ea typeface="黑体" panose="02010609060101010101" pitchFamily="49" charset="-122"/>
              </a:rPr>
              <a:t>M</a:t>
            </a:r>
            <a:r>
              <a:rPr kumimoji="1" lang="en-US" altLang="zh-CN" sz="2800" b="0" baseline="-25000" dirty="0">
                <a:ea typeface="黑体" panose="02010609060101010101" pitchFamily="49" charset="-122"/>
              </a:rPr>
              <a:t>O</a:t>
            </a:r>
            <a:r>
              <a:rPr kumimoji="1" lang="en-US" altLang="zh-CN" sz="2800" b="0" i="0" dirty="0">
                <a:latin typeface="宋体" panose="02010600030101010101" pitchFamily="2" charset="-122"/>
                <a:ea typeface="黑体" panose="02010609060101010101" pitchFamily="49" charset="-122"/>
              </a:rPr>
              <a:t>(</a:t>
            </a:r>
            <a:r>
              <a:rPr kumimoji="1" lang="en-US" altLang="zh-CN" sz="2800" dirty="0">
                <a:ea typeface="黑体" panose="02010609060101010101" pitchFamily="49" charset="-122"/>
              </a:rPr>
              <a:t>F</a:t>
            </a:r>
            <a:r>
              <a:rPr kumimoji="1" lang="en-US" altLang="zh-CN" sz="2800" b="0" baseline="-25000" dirty="0">
                <a:ea typeface="黑体" panose="02010609060101010101" pitchFamily="49" charset="-122"/>
              </a:rPr>
              <a:t>i</a:t>
            </a:r>
            <a:r>
              <a:rPr kumimoji="1" lang="en-US" altLang="zh-CN" sz="2800" b="0" i="0" dirty="0">
                <a:latin typeface="宋体" panose="02010600030101010101" pitchFamily="2" charset="-122"/>
                <a:ea typeface="黑体" panose="02010609060101010101" pitchFamily="49" charset="-122"/>
              </a:rPr>
              <a:t>)</a:t>
            </a:r>
            <a:r>
              <a:rPr kumimoji="1" lang="en-US" altLang="zh-CN" sz="2800" b="0" i="0" dirty="0">
                <a:ea typeface="黑体" panose="02010609060101010101" pitchFamily="49" charset="-122"/>
              </a:rPr>
              <a:t>= ∑</a:t>
            </a:r>
            <a:r>
              <a:rPr kumimoji="1" lang="en-US" altLang="zh-CN" sz="2800" b="0" dirty="0">
                <a:ea typeface="黑体" panose="02010609060101010101" pitchFamily="49" charset="-122"/>
              </a:rPr>
              <a:t>m</a:t>
            </a:r>
            <a:r>
              <a:rPr kumimoji="1" lang="en-US" altLang="zh-CN" sz="2800" b="0" baseline="-25000" dirty="0">
                <a:ea typeface="黑体" panose="02010609060101010101" pitchFamily="49" charset="-122"/>
              </a:rPr>
              <a:t>i</a:t>
            </a:r>
            <a:r>
              <a:rPr kumimoji="1" lang="en-US" altLang="zh-CN" sz="2800" b="0" dirty="0">
                <a:ea typeface="黑体" panose="02010609060101010101" pitchFamily="49" charset="-122"/>
              </a:rPr>
              <a:t>r</a:t>
            </a:r>
            <a:r>
              <a:rPr kumimoji="1" lang="en-US" altLang="zh-CN" sz="2800" b="0" baseline="-25000" dirty="0">
                <a:ea typeface="黑体" panose="02010609060101010101" pitchFamily="49" charset="-122"/>
              </a:rPr>
              <a:t>i</a:t>
            </a:r>
            <a:r>
              <a:rPr kumimoji="1" lang="en-US" altLang="zh-CN" sz="2800" b="0" i="0" baseline="30000" dirty="0">
                <a:ea typeface="黑体" panose="02010609060101010101" pitchFamily="49" charset="-122"/>
              </a:rPr>
              <a:t>2</a:t>
            </a:r>
            <a:r>
              <a:rPr kumimoji="1" lang="en-US" altLang="zh-CN" sz="2800" b="0" dirty="0">
                <a:ea typeface="黑体" panose="02010609060101010101" pitchFamily="49" charset="-122"/>
                <a:sym typeface="Symbol" panose="05050102010706020507" pitchFamily="18" charset="2"/>
              </a:rPr>
              <a:t></a:t>
            </a:r>
            <a:endParaRPr lang="zh-CN" altLang="en-US" sz="2800" b="0" i="0" dirty="0">
              <a:solidFill>
                <a:srgbClr val="FF0000"/>
              </a:solidFill>
              <a:latin typeface="+mn-lt"/>
              <a:ea typeface="微软雅黑" panose="020B0503020204020204" pitchFamily="34" charset="-122"/>
            </a:endParaRPr>
          </a:p>
        </p:txBody>
      </p:sp>
      <p:grpSp>
        <p:nvGrpSpPr>
          <p:cNvPr id="2" name="Group 36">
            <a:extLst>
              <a:ext uri="{FF2B5EF4-FFF2-40B4-BE49-F238E27FC236}">
                <a16:creationId xmlns:a16="http://schemas.microsoft.com/office/drawing/2014/main" id="{F85B0BA6-09D9-142D-FB35-D5409B332BB0}"/>
              </a:ext>
            </a:extLst>
          </p:cNvPr>
          <p:cNvGrpSpPr>
            <a:grpSpLocks/>
          </p:cNvGrpSpPr>
          <p:nvPr/>
        </p:nvGrpSpPr>
        <p:grpSpPr bwMode="auto">
          <a:xfrm>
            <a:off x="9120335" y="3671462"/>
            <a:ext cx="2038350" cy="2606675"/>
            <a:chOff x="3016" y="2282"/>
            <a:chExt cx="1284" cy="1642"/>
          </a:xfrm>
        </p:grpSpPr>
        <p:sp>
          <p:nvSpPr>
            <p:cNvPr id="3" name="Oval 15">
              <a:extLst>
                <a:ext uri="{FF2B5EF4-FFF2-40B4-BE49-F238E27FC236}">
                  <a16:creationId xmlns:a16="http://schemas.microsoft.com/office/drawing/2014/main" id="{E1A74B9B-5931-92EB-C5CD-544CA64CFD9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54812">
              <a:off x="3140" y="2282"/>
              <a:ext cx="1022" cy="1642"/>
            </a:xfrm>
            <a:prstGeom prst="ellipse">
              <a:avLst/>
            </a:prstGeom>
            <a:gradFill rotWithShape="1">
              <a:gsLst>
                <a:gs pos="0">
                  <a:srgbClr val="CBF2FF"/>
                </a:gs>
                <a:gs pos="100000">
                  <a:srgbClr val="33CCFF"/>
                </a:gs>
              </a:gsLst>
              <a:lin ang="189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pSp>
          <p:nvGrpSpPr>
            <p:cNvPr id="4" name="Group 8">
              <a:extLst>
                <a:ext uri="{FF2B5EF4-FFF2-40B4-BE49-F238E27FC236}">
                  <a16:creationId xmlns:a16="http://schemas.microsoft.com/office/drawing/2014/main" id="{A575DF05-1D8B-472C-3760-B2680AB1E6B7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3195" y="3327"/>
              <a:ext cx="357" cy="455"/>
              <a:chOff x="3681" y="807"/>
              <a:chExt cx="425" cy="532"/>
            </a:xfrm>
          </p:grpSpPr>
          <p:sp>
            <p:nvSpPr>
              <p:cNvPr id="25" name="AutoShape 9">
                <a:extLst>
                  <a:ext uri="{FF2B5EF4-FFF2-40B4-BE49-F238E27FC236}">
                    <a16:creationId xmlns:a16="http://schemas.microsoft.com/office/drawing/2014/main" id="{75B14AB1-281C-27CE-9474-B8FB396E8F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3762" y="881"/>
                <a:ext cx="202" cy="196"/>
              </a:xfrm>
              <a:prstGeom prst="triangle">
                <a:avLst>
                  <a:gd name="adj" fmla="val 50000"/>
                </a:avLst>
              </a:prstGeom>
              <a:gradFill rotWithShape="1">
                <a:gsLst>
                  <a:gs pos="0">
                    <a:srgbClr val="2F7618"/>
                  </a:gs>
                  <a:gs pos="50000">
                    <a:srgbClr val="66FF33"/>
                  </a:gs>
                  <a:gs pos="100000">
                    <a:srgbClr val="2F7618"/>
                  </a:gs>
                </a:gsLst>
                <a:lin ang="0" scaled="1"/>
              </a:gradFill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26" name="Text Box 10">
                <a:extLst>
                  <a:ext uri="{FF2B5EF4-FFF2-40B4-BE49-F238E27FC236}">
                    <a16:creationId xmlns:a16="http://schemas.microsoft.com/office/drawing/2014/main" id="{CB0D9BA0-4683-8743-5392-92BFB1E00BC9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 rot="5400000">
                <a:off x="3798" y="1031"/>
                <a:ext cx="336" cy="2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O</a:t>
                </a:r>
                <a:endParaRPr kumimoji="1" lang="en-US" altLang="zh-CN" sz="2400" b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" name="Oval 11">
                <a:extLst>
                  <a:ext uri="{FF2B5EF4-FFF2-40B4-BE49-F238E27FC236}">
                    <a16:creationId xmlns:a16="http://schemas.microsoft.com/office/drawing/2014/main" id="{407E84D8-DDCE-BD62-5711-EAC905BE75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3905" y="947"/>
                <a:ext cx="64" cy="64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28" name="Rectangle 12" descr="宽上对角线">
                <a:extLst>
                  <a:ext uri="{FF2B5EF4-FFF2-40B4-BE49-F238E27FC236}">
                    <a16:creationId xmlns:a16="http://schemas.microsoft.com/office/drawing/2014/main" id="{FB1FB1E4-EE1B-D772-2E6E-ADE4BA9D48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3558" y="931"/>
                <a:ext cx="342" cy="96"/>
              </a:xfrm>
              <a:prstGeom prst="rect">
                <a:avLst/>
              </a:prstGeom>
              <a:pattFill prst="wdUpDiag">
                <a:fgClr>
                  <a:srgbClr val="000000"/>
                </a:fgClr>
                <a:bgClr>
                  <a:srgbClr val="FFFFCC"/>
                </a:bgClr>
              </a:patt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29" name="Line 13">
                <a:extLst>
                  <a:ext uri="{FF2B5EF4-FFF2-40B4-BE49-F238E27FC236}">
                    <a16:creationId xmlns:a16="http://schemas.microsoft.com/office/drawing/2014/main" id="{F27603E6-360D-6FA9-EB01-C15BF265CF2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rot="5400000">
                <a:off x="3612" y="978"/>
                <a:ext cx="344" cy="1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8" name="Text Box 16">
              <a:extLst>
                <a:ext uri="{FF2B5EF4-FFF2-40B4-BE49-F238E27FC236}">
                  <a16:creationId xmlns:a16="http://schemas.microsoft.com/office/drawing/2014/main" id="{BC2A06D3-8C5E-CEEB-EDFE-7C8978567EF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608" y="2923"/>
              <a:ext cx="533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kumimoji="1" lang="en-US" altLang="zh-CN" sz="2400" b="0" i="0" u="none" strike="noStrike" kern="0" cap="none" spc="0" normalizeH="0" baseline="-2500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r>
                <a:rPr kumimoji="1" lang="en-US" altLang="zh-CN" sz="2400" b="0" u="none" strike="noStrike" kern="0" cap="none" spc="0" normalizeH="0" baseline="-2500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i</a:t>
              </a:r>
              <a:r>
                <a:rPr kumimoji="1" lang="en-US" altLang="zh-CN" sz="2400" b="0" i="0" u="none" strike="noStrike" kern="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</a:t>
              </a:r>
            </a:p>
          </p:txBody>
        </p:sp>
        <p:sp>
          <p:nvSpPr>
            <p:cNvPr id="9" name="Text Box 17">
              <a:extLst>
                <a:ext uri="{FF2B5EF4-FFF2-40B4-BE49-F238E27FC236}">
                  <a16:creationId xmlns:a16="http://schemas.microsoft.com/office/drawing/2014/main" id="{D607AE01-127C-F44D-A42F-A76349966BA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585" y="2344"/>
              <a:ext cx="580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kumimoji="1" lang="en-US" altLang="zh-CN" sz="2400" b="0" i="0" u="none" strike="noStrike" kern="0" cap="none" spc="0" normalizeH="0" baseline="-2500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Q</a:t>
              </a:r>
              <a:r>
                <a:rPr kumimoji="1" lang="en-US" altLang="zh-CN" sz="2400" b="0" u="none" strike="noStrike" kern="0" cap="none" spc="0" normalizeH="0" baseline="-2500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i</a:t>
              </a:r>
              <a:r>
                <a:rPr kumimoji="1" lang="en-US" altLang="zh-CN" sz="2400" b="0" i="0" u="none" strike="noStrike" kern="0" cap="none" spc="0" normalizeH="0" baseline="-2500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n</a:t>
              </a:r>
              <a:endParaRPr kumimoji="1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0" name="Text Box 19">
              <a:extLst>
                <a:ext uri="{FF2B5EF4-FFF2-40B4-BE49-F238E27FC236}">
                  <a16:creationId xmlns:a16="http://schemas.microsoft.com/office/drawing/2014/main" id="{56AAD47C-78C6-D813-9C38-701C99260E9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165" y="2825"/>
              <a:ext cx="40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kumimoji="1" lang="en-US" altLang="zh-CN" sz="2400" b="0" i="0" u="none" strike="noStrike" kern="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kumimoji="1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1" name="Text Box 20">
              <a:extLst>
                <a:ext uri="{FF2B5EF4-FFF2-40B4-BE49-F238E27FC236}">
                  <a16:creationId xmlns:a16="http://schemas.microsoft.com/office/drawing/2014/main" id="{6A345D0A-F974-54A6-EC8F-CEAF6E71162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 rot="-2882510">
              <a:off x="3559" y="3193"/>
              <a:ext cx="242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r</a:t>
              </a:r>
              <a:r>
                <a:rPr kumimoji="1" lang="en-US" altLang="zh-CN" sz="2400" b="0" u="none" strike="noStrike" kern="0" cap="none" spc="0" normalizeH="0" baseline="-2500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endParaRPr kumimoji="1" lang="en-US" altLang="zh-CN" sz="2400" b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2" name="Line 21">
              <a:extLst>
                <a:ext uri="{FF2B5EF4-FFF2-40B4-BE49-F238E27FC236}">
                  <a16:creationId xmlns:a16="http://schemas.microsoft.com/office/drawing/2014/main" id="{58FB8397-6814-7BF6-8804-C40C95250F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04" y="2886"/>
              <a:ext cx="379" cy="9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黑体" panose="02010609060101010101" pitchFamily="49" charset="-122"/>
              </a:endParaRPr>
            </a:p>
          </p:txBody>
        </p:sp>
        <p:sp>
          <p:nvSpPr>
            <p:cNvPr id="13" name="Text Box 23">
              <a:extLst>
                <a:ext uri="{FF2B5EF4-FFF2-40B4-BE49-F238E27FC236}">
                  <a16:creationId xmlns:a16="http://schemas.microsoft.com/office/drawing/2014/main" id="{8401EA14-2AAC-1DB8-8CCC-73281BCED42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007" y="2759"/>
              <a:ext cx="293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m</a:t>
              </a:r>
              <a:r>
                <a:rPr kumimoji="1" lang="en-US" altLang="zh-CN" sz="24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</a:p>
          </p:txBody>
        </p:sp>
        <p:sp>
          <p:nvSpPr>
            <p:cNvPr id="15" name="Line 25">
              <a:extLst>
                <a:ext uri="{FF2B5EF4-FFF2-40B4-BE49-F238E27FC236}">
                  <a16:creationId xmlns:a16="http://schemas.microsoft.com/office/drawing/2014/main" id="{58D67529-5937-DDE4-8BC6-77DDBEA2EF3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3600000" flipH="1" flipV="1">
              <a:off x="3848" y="2559"/>
              <a:ext cx="134" cy="33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黑体" panose="02010609060101010101" pitchFamily="49" charset="-122"/>
              </a:endParaRPr>
            </a:p>
          </p:txBody>
        </p:sp>
        <p:sp>
          <p:nvSpPr>
            <p:cNvPr id="16" name="Line 27">
              <a:extLst>
                <a:ext uri="{FF2B5EF4-FFF2-40B4-BE49-F238E27FC236}">
                  <a16:creationId xmlns:a16="http://schemas.microsoft.com/office/drawing/2014/main" id="{479DB539-7C44-1FC6-3E9F-6464CA71020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9000000" flipH="1" flipV="1">
              <a:off x="3893" y="2856"/>
              <a:ext cx="135" cy="3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黑体" panose="02010609060101010101" pitchFamily="49" charset="-122"/>
              </a:endParaRPr>
            </a:p>
          </p:txBody>
        </p:sp>
        <p:sp>
          <p:nvSpPr>
            <p:cNvPr id="17" name="Text Box 28">
              <a:extLst>
                <a:ext uri="{FF2B5EF4-FFF2-40B4-BE49-F238E27FC236}">
                  <a16:creationId xmlns:a16="http://schemas.microsoft.com/office/drawing/2014/main" id="{BF8E9F6F-D0A3-BCDE-A994-A1A2AA4BDE9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016" y="3172"/>
              <a:ext cx="318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u="none" strike="noStrike" kern="0" cap="none" spc="0" normalizeH="0" baseline="0" noProof="0" dirty="0">
                  <a:ln>
                    <a:noFill/>
                  </a:ln>
                  <a:solidFill>
                    <a:srgbClr val="FF66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kumimoji="1" lang="en-US" altLang="zh-CN" sz="2400" b="0" u="none" strike="noStrike" kern="0" cap="none" spc="0" normalizeH="0" baseline="-25000" noProof="0" dirty="0">
                <a:ln>
                  <a:noFill/>
                </a:ln>
                <a:solidFill>
                  <a:srgbClr val="FF66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8" name="Arc 29">
              <a:extLst>
                <a:ext uri="{FF2B5EF4-FFF2-40B4-BE49-F238E27FC236}">
                  <a16:creationId xmlns:a16="http://schemas.microsoft.com/office/drawing/2014/main" id="{2CCE59A9-0C75-B3D6-119A-E75571988875}"/>
                </a:ext>
              </a:extLst>
            </p:cNvPr>
            <p:cNvSpPr>
              <a:spLocks/>
            </p:cNvSpPr>
            <p:nvPr/>
          </p:nvSpPr>
          <p:spPr bwMode="auto">
            <a:xfrm rot="13286251" flipV="1">
              <a:off x="3143" y="3350"/>
              <a:ext cx="200" cy="294"/>
            </a:xfrm>
            <a:custGeom>
              <a:avLst/>
              <a:gdLst>
                <a:gd name="T0" fmla="*/ 0 w 21600"/>
                <a:gd name="T1" fmla="*/ 0 h 34514"/>
                <a:gd name="T2" fmla="*/ 0 w 21600"/>
                <a:gd name="T3" fmla="*/ 0 h 34514"/>
                <a:gd name="T4" fmla="*/ 0 w 21600"/>
                <a:gd name="T5" fmla="*/ 0 h 345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514"/>
                <a:gd name="T11" fmla="*/ 21600 w 21600"/>
                <a:gd name="T12" fmla="*/ 34514 h 345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514" fill="none" extrusionOk="0">
                  <a:moveTo>
                    <a:pt x="10526" y="-1"/>
                  </a:moveTo>
                  <a:cubicBezTo>
                    <a:pt x="17363" y="3815"/>
                    <a:pt x="21600" y="11031"/>
                    <a:pt x="21600" y="18861"/>
                  </a:cubicBezTo>
                  <a:cubicBezTo>
                    <a:pt x="21600" y="24778"/>
                    <a:pt x="19172" y="30436"/>
                    <a:pt x="14884" y="34514"/>
                  </a:cubicBezTo>
                </a:path>
                <a:path w="21600" h="34514" stroke="0" extrusionOk="0">
                  <a:moveTo>
                    <a:pt x="10526" y="-1"/>
                  </a:moveTo>
                  <a:cubicBezTo>
                    <a:pt x="17363" y="3815"/>
                    <a:pt x="21600" y="11031"/>
                    <a:pt x="21600" y="18861"/>
                  </a:cubicBezTo>
                  <a:cubicBezTo>
                    <a:pt x="21600" y="24778"/>
                    <a:pt x="19172" y="30436"/>
                    <a:pt x="14884" y="34514"/>
                  </a:cubicBezTo>
                  <a:lnTo>
                    <a:pt x="0" y="18861"/>
                  </a:lnTo>
                  <a:lnTo>
                    <a:pt x="10526" y="-1"/>
                  </a:lnTo>
                  <a:close/>
                </a:path>
              </a:pathLst>
            </a:custGeom>
            <a:noFill/>
            <a:ln w="28575">
              <a:solidFill>
                <a:srgbClr val="FF66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黑体" panose="02010609060101010101" pitchFamily="49" charset="-122"/>
              </a:endParaRPr>
            </a:p>
          </p:txBody>
        </p:sp>
        <p:sp>
          <p:nvSpPr>
            <p:cNvPr id="19" name="Oval 30">
              <a:extLst>
                <a:ext uri="{FF2B5EF4-FFF2-40B4-BE49-F238E27FC236}">
                  <a16:creationId xmlns:a16="http://schemas.microsoft.com/office/drawing/2014/main" id="{9EFAC83B-9DFE-769F-002F-034156E8F4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2" y="2864"/>
              <a:ext cx="56" cy="5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0" name="Line 31">
              <a:extLst>
                <a:ext uri="{FF2B5EF4-FFF2-40B4-BE49-F238E27FC236}">
                  <a16:creationId xmlns:a16="http://schemas.microsoft.com/office/drawing/2014/main" id="{43AD01EC-C146-9604-DEC8-8684EEEB30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60" y="3098"/>
              <a:ext cx="497" cy="6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黑体" panose="02010609060101010101" pitchFamily="49" charset="-122"/>
              </a:endParaRPr>
            </a:p>
          </p:txBody>
        </p:sp>
        <p:sp>
          <p:nvSpPr>
            <p:cNvPr id="21" name="Line 33">
              <a:extLst>
                <a:ext uri="{FF2B5EF4-FFF2-40B4-BE49-F238E27FC236}">
                  <a16:creationId xmlns:a16="http://schemas.microsoft.com/office/drawing/2014/main" id="{237A9FB6-9313-B253-A2B6-257E53752E8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9000000" flipH="1" flipV="1">
              <a:off x="3354" y="3451"/>
              <a:ext cx="135" cy="3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黑体" panose="02010609060101010101" pitchFamily="49" charset="-122"/>
              </a:endParaRPr>
            </a:p>
          </p:txBody>
        </p:sp>
        <p:sp>
          <p:nvSpPr>
            <p:cNvPr id="22" name="Text Box 34">
              <a:extLst>
                <a:ext uri="{FF2B5EF4-FFF2-40B4-BE49-F238E27FC236}">
                  <a16:creationId xmlns:a16="http://schemas.microsoft.com/office/drawing/2014/main" id="{FABFB9C0-9C22-58AC-20F1-293E5621FE2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 rot="10779641" flipV="1">
              <a:off x="3309" y="3217"/>
              <a:ext cx="318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u="none" strike="noStrike" kern="0" cap="none" spc="0" normalizeH="0" baseline="0" noProof="0" dirty="0">
                  <a:ln>
                    <a:noFill/>
                  </a:ln>
                  <a:solidFill>
                    <a:srgbClr val="FF66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</a:t>
              </a:r>
              <a:endParaRPr kumimoji="1" lang="en-US" altLang="zh-CN" sz="2400" b="0" u="none" strike="noStrike" kern="0" cap="none" spc="0" normalizeH="0" baseline="-25000" noProof="0" dirty="0">
                <a:ln>
                  <a:noFill/>
                </a:ln>
                <a:solidFill>
                  <a:srgbClr val="FF66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23" name="Arc 35">
              <a:extLst>
                <a:ext uri="{FF2B5EF4-FFF2-40B4-BE49-F238E27FC236}">
                  <a16:creationId xmlns:a16="http://schemas.microsoft.com/office/drawing/2014/main" id="{C338A777-0056-32C3-EBBA-7E7EB9720E73}"/>
                </a:ext>
              </a:extLst>
            </p:cNvPr>
            <p:cNvSpPr>
              <a:spLocks/>
            </p:cNvSpPr>
            <p:nvPr/>
          </p:nvSpPr>
          <p:spPr bwMode="auto">
            <a:xfrm rot="3086605" flipH="1">
              <a:off x="3175" y="3415"/>
              <a:ext cx="206" cy="252"/>
            </a:xfrm>
            <a:custGeom>
              <a:avLst/>
              <a:gdLst>
                <a:gd name="T0" fmla="*/ 0 w 21600"/>
                <a:gd name="T1" fmla="*/ 0 h 34514"/>
                <a:gd name="T2" fmla="*/ 0 w 21600"/>
                <a:gd name="T3" fmla="*/ 0 h 34514"/>
                <a:gd name="T4" fmla="*/ 0 w 21600"/>
                <a:gd name="T5" fmla="*/ 0 h 345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514"/>
                <a:gd name="T11" fmla="*/ 21600 w 21600"/>
                <a:gd name="T12" fmla="*/ 34514 h 345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514" fill="none" extrusionOk="0">
                  <a:moveTo>
                    <a:pt x="10526" y="-1"/>
                  </a:moveTo>
                  <a:cubicBezTo>
                    <a:pt x="17363" y="3815"/>
                    <a:pt x="21600" y="11031"/>
                    <a:pt x="21600" y="18861"/>
                  </a:cubicBezTo>
                  <a:cubicBezTo>
                    <a:pt x="21600" y="24778"/>
                    <a:pt x="19172" y="30436"/>
                    <a:pt x="14884" y="34514"/>
                  </a:cubicBezTo>
                </a:path>
                <a:path w="21600" h="34514" stroke="0" extrusionOk="0">
                  <a:moveTo>
                    <a:pt x="10526" y="-1"/>
                  </a:moveTo>
                  <a:cubicBezTo>
                    <a:pt x="17363" y="3815"/>
                    <a:pt x="21600" y="11031"/>
                    <a:pt x="21600" y="18861"/>
                  </a:cubicBezTo>
                  <a:cubicBezTo>
                    <a:pt x="21600" y="24778"/>
                    <a:pt x="19172" y="30436"/>
                    <a:pt x="14884" y="34514"/>
                  </a:cubicBezTo>
                  <a:lnTo>
                    <a:pt x="0" y="18861"/>
                  </a:lnTo>
                  <a:lnTo>
                    <a:pt x="10526" y="-1"/>
                  </a:lnTo>
                  <a:close/>
                </a:path>
              </a:pathLst>
            </a:custGeom>
            <a:noFill/>
            <a:ln w="28575">
              <a:solidFill>
                <a:srgbClr val="FF66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黑体" panose="02010609060101010101" pitchFamily="49" charset="-122"/>
              </a:endParaRPr>
            </a:p>
          </p:txBody>
        </p:sp>
        <p:sp>
          <p:nvSpPr>
            <p:cNvPr id="24" name="Line 26">
              <a:extLst>
                <a:ext uri="{FF2B5EF4-FFF2-40B4-BE49-F238E27FC236}">
                  <a16:creationId xmlns:a16="http://schemas.microsoft.com/office/drawing/2014/main" id="{FC1D14BB-2B16-745B-93B4-54C89B6FDCB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9000000" flipH="1" flipV="1">
              <a:off x="3852" y="2862"/>
              <a:ext cx="96" cy="24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黑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556061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utoUpdateAnimBg="0"/>
      <p:bldP spid="58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0960" y="91693"/>
            <a:ext cx="67056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2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   动力学的基本方程与动静法</a:t>
            </a:r>
          </a:p>
        </p:txBody>
      </p:sp>
      <p:sp>
        <p:nvSpPr>
          <p:cNvPr id="14" name="Rectangle 61"/>
          <p:cNvSpPr>
            <a:spLocks noChangeArrowheads="1"/>
          </p:cNvSpPr>
          <p:nvPr/>
        </p:nvSpPr>
        <p:spPr bwMode="auto">
          <a:xfrm>
            <a:off x="8400256" y="1196752"/>
            <a:ext cx="3454029" cy="2694328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" name="Text Box 1032"/>
          <p:cNvSpPr txBox="1">
            <a:spLocks noChangeArrowheads="1"/>
          </p:cNvSpPr>
          <p:nvPr/>
        </p:nvSpPr>
        <p:spPr bwMode="auto">
          <a:xfrm>
            <a:off x="939804" y="995918"/>
            <a:ext cx="6384647" cy="656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zh-CN" sz="2800" b="0" i="0" dirty="0">
                <a:ea typeface="黑体" panose="02010609060101010101" pitchFamily="49" charset="-122"/>
              </a:rPr>
              <a:t>∑</a:t>
            </a:r>
            <a:r>
              <a:rPr kumimoji="1" lang="en-US" altLang="zh-CN" sz="2800" b="0" dirty="0">
                <a:ea typeface="黑体" panose="02010609060101010101" pitchFamily="49" charset="-122"/>
              </a:rPr>
              <a:t>M</a:t>
            </a:r>
            <a:r>
              <a:rPr kumimoji="1" lang="en-US" altLang="zh-CN" sz="2800" b="0" baseline="-25000" dirty="0">
                <a:ea typeface="黑体" panose="02010609060101010101" pitchFamily="49" charset="-122"/>
              </a:rPr>
              <a:t>O</a:t>
            </a:r>
            <a:r>
              <a:rPr kumimoji="1" lang="en-US" altLang="zh-CN" sz="2800" b="0" i="0" dirty="0">
                <a:latin typeface="宋体" panose="02010600030101010101" pitchFamily="2" charset="-122"/>
                <a:ea typeface="黑体" panose="02010609060101010101" pitchFamily="49" charset="-122"/>
              </a:rPr>
              <a:t>(</a:t>
            </a:r>
            <a:r>
              <a:rPr kumimoji="1" lang="en-US" altLang="zh-CN" sz="2800" dirty="0">
                <a:ea typeface="黑体" panose="02010609060101010101" pitchFamily="49" charset="-122"/>
              </a:rPr>
              <a:t>F</a:t>
            </a:r>
            <a:r>
              <a:rPr kumimoji="1" lang="en-US" altLang="zh-CN" sz="2800" b="0" baseline="-25000" dirty="0">
                <a:ea typeface="黑体" panose="02010609060101010101" pitchFamily="49" charset="-122"/>
              </a:rPr>
              <a:t>i</a:t>
            </a:r>
            <a:r>
              <a:rPr kumimoji="1" lang="en-US" altLang="zh-CN" sz="2800" b="0" i="0" dirty="0">
                <a:latin typeface="宋体" panose="02010600030101010101" pitchFamily="2" charset="-122"/>
                <a:ea typeface="黑体" panose="02010609060101010101" pitchFamily="49" charset="-122"/>
              </a:rPr>
              <a:t>)</a:t>
            </a:r>
            <a:r>
              <a:rPr kumimoji="1" lang="en-US" altLang="zh-CN" sz="2800" b="0" i="0" dirty="0">
                <a:ea typeface="黑体" panose="02010609060101010101" pitchFamily="49" charset="-122"/>
              </a:rPr>
              <a:t>= ∑</a:t>
            </a:r>
            <a:r>
              <a:rPr kumimoji="1" lang="en-US" altLang="zh-CN" sz="2800" b="0" dirty="0">
                <a:ea typeface="黑体" panose="02010609060101010101" pitchFamily="49" charset="-122"/>
              </a:rPr>
              <a:t>m</a:t>
            </a:r>
            <a:r>
              <a:rPr kumimoji="1" lang="en-US" altLang="zh-CN" sz="2800" b="0" baseline="-25000" dirty="0">
                <a:ea typeface="黑体" panose="02010609060101010101" pitchFamily="49" charset="-122"/>
              </a:rPr>
              <a:t>i</a:t>
            </a:r>
            <a:r>
              <a:rPr kumimoji="1" lang="en-US" altLang="zh-CN" sz="2800" b="0" dirty="0">
                <a:ea typeface="黑体" panose="02010609060101010101" pitchFamily="49" charset="-122"/>
              </a:rPr>
              <a:t>r</a:t>
            </a:r>
            <a:r>
              <a:rPr kumimoji="1" lang="en-US" altLang="zh-CN" sz="2800" b="0" baseline="-25000" dirty="0">
                <a:ea typeface="黑体" panose="02010609060101010101" pitchFamily="49" charset="-122"/>
              </a:rPr>
              <a:t>i</a:t>
            </a:r>
            <a:r>
              <a:rPr kumimoji="1" lang="en-US" altLang="zh-CN" sz="2800" b="0" i="0" baseline="30000" dirty="0">
                <a:ea typeface="黑体" panose="02010609060101010101" pitchFamily="49" charset="-122"/>
              </a:rPr>
              <a:t>2</a:t>
            </a:r>
            <a:r>
              <a:rPr kumimoji="1" lang="en-US" altLang="zh-CN" sz="2800" b="0" dirty="0">
                <a:ea typeface="黑体" panose="02010609060101010101" pitchFamily="49" charset="-122"/>
                <a:sym typeface="Symbol" panose="05050102010706020507" pitchFamily="18" charset="2"/>
              </a:rPr>
              <a:t>   </a:t>
            </a:r>
            <a:endParaRPr lang="zh-CN" altLang="en-US" sz="2800" b="0" i="0" dirty="0">
              <a:solidFill>
                <a:srgbClr val="FF0000"/>
              </a:solidFill>
              <a:latin typeface="+mn-lt"/>
              <a:ea typeface="微软雅黑" panose="020B0503020204020204" pitchFamily="34" charset="-122"/>
            </a:endParaRPr>
          </a:p>
        </p:txBody>
      </p:sp>
      <p:grpSp>
        <p:nvGrpSpPr>
          <p:cNvPr id="2" name="Group 36">
            <a:extLst>
              <a:ext uri="{FF2B5EF4-FFF2-40B4-BE49-F238E27FC236}">
                <a16:creationId xmlns:a16="http://schemas.microsoft.com/office/drawing/2014/main" id="{F85B0BA6-09D9-142D-FB35-D5409B332BB0}"/>
              </a:ext>
            </a:extLst>
          </p:cNvPr>
          <p:cNvGrpSpPr>
            <a:grpSpLocks/>
          </p:cNvGrpSpPr>
          <p:nvPr/>
        </p:nvGrpSpPr>
        <p:grpSpPr bwMode="auto">
          <a:xfrm>
            <a:off x="9120335" y="1322163"/>
            <a:ext cx="2038350" cy="2606675"/>
            <a:chOff x="3016" y="2282"/>
            <a:chExt cx="1284" cy="1642"/>
          </a:xfrm>
        </p:grpSpPr>
        <p:sp>
          <p:nvSpPr>
            <p:cNvPr id="3" name="Oval 15">
              <a:extLst>
                <a:ext uri="{FF2B5EF4-FFF2-40B4-BE49-F238E27FC236}">
                  <a16:creationId xmlns:a16="http://schemas.microsoft.com/office/drawing/2014/main" id="{E1A74B9B-5931-92EB-C5CD-544CA64CFD9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54812">
              <a:off x="3140" y="2282"/>
              <a:ext cx="1022" cy="1642"/>
            </a:xfrm>
            <a:prstGeom prst="ellipse">
              <a:avLst/>
            </a:prstGeom>
            <a:gradFill rotWithShape="1">
              <a:gsLst>
                <a:gs pos="0">
                  <a:srgbClr val="CBF2FF"/>
                </a:gs>
                <a:gs pos="100000">
                  <a:srgbClr val="33CCFF"/>
                </a:gs>
              </a:gsLst>
              <a:lin ang="189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pSp>
          <p:nvGrpSpPr>
            <p:cNvPr id="4" name="Group 8">
              <a:extLst>
                <a:ext uri="{FF2B5EF4-FFF2-40B4-BE49-F238E27FC236}">
                  <a16:creationId xmlns:a16="http://schemas.microsoft.com/office/drawing/2014/main" id="{A575DF05-1D8B-472C-3760-B2680AB1E6B7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3195" y="3327"/>
              <a:ext cx="357" cy="455"/>
              <a:chOff x="3681" y="807"/>
              <a:chExt cx="425" cy="532"/>
            </a:xfrm>
          </p:grpSpPr>
          <p:sp>
            <p:nvSpPr>
              <p:cNvPr id="25" name="AutoShape 9">
                <a:extLst>
                  <a:ext uri="{FF2B5EF4-FFF2-40B4-BE49-F238E27FC236}">
                    <a16:creationId xmlns:a16="http://schemas.microsoft.com/office/drawing/2014/main" id="{75B14AB1-281C-27CE-9474-B8FB396E8F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3762" y="881"/>
                <a:ext cx="202" cy="196"/>
              </a:xfrm>
              <a:prstGeom prst="triangle">
                <a:avLst>
                  <a:gd name="adj" fmla="val 50000"/>
                </a:avLst>
              </a:prstGeom>
              <a:gradFill rotWithShape="1">
                <a:gsLst>
                  <a:gs pos="0">
                    <a:srgbClr val="2F7618"/>
                  </a:gs>
                  <a:gs pos="50000">
                    <a:srgbClr val="66FF33"/>
                  </a:gs>
                  <a:gs pos="100000">
                    <a:srgbClr val="2F7618"/>
                  </a:gs>
                </a:gsLst>
                <a:lin ang="0" scaled="1"/>
              </a:gradFill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26" name="Text Box 10">
                <a:extLst>
                  <a:ext uri="{FF2B5EF4-FFF2-40B4-BE49-F238E27FC236}">
                    <a16:creationId xmlns:a16="http://schemas.microsoft.com/office/drawing/2014/main" id="{CB0D9BA0-4683-8743-5392-92BFB1E00BC9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 rot="5400000">
                <a:off x="3798" y="1031"/>
                <a:ext cx="336" cy="2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O</a:t>
                </a:r>
                <a:endParaRPr kumimoji="1" lang="en-US" altLang="zh-CN" sz="2400" b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" name="Oval 11">
                <a:extLst>
                  <a:ext uri="{FF2B5EF4-FFF2-40B4-BE49-F238E27FC236}">
                    <a16:creationId xmlns:a16="http://schemas.microsoft.com/office/drawing/2014/main" id="{407E84D8-DDCE-BD62-5711-EAC905BE75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3905" y="947"/>
                <a:ext cx="64" cy="64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28" name="Rectangle 12" descr="宽上对角线">
                <a:extLst>
                  <a:ext uri="{FF2B5EF4-FFF2-40B4-BE49-F238E27FC236}">
                    <a16:creationId xmlns:a16="http://schemas.microsoft.com/office/drawing/2014/main" id="{FB1FB1E4-EE1B-D772-2E6E-ADE4BA9D48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3558" y="931"/>
                <a:ext cx="342" cy="96"/>
              </a:xfrm>
              <a:prstGeom prst="rect">
                <a:avLst/>
              </a:prstGeom>
              <a:pattFill prst="wdUpDiag">
                <a:fgClr>
                  <a:srgbClr val="000000"/>
                </a:fgClr>
                <a:bgClr>
                  <a:srgbClr val="FFFFCC"/>
                </a:bgClr>
              </a:patt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29" name="Line 13">
                <a:extLst>
                  <a:ext uri="{FF2B5EF4-FFF2-40B4-BE49-F238E27FC236}">
                    <a16:creationId xmlns:a16="http://schemas.microsoft.com/office/drawing/2014/main" id="{F27603E6-360D-6FA9-EB01-C15BF265CF2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rot="5400000">
                <a:off x="3612" y="978"/>
                <a:ext cx="344" cy="1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8" name="Text Box 16">
              <a:extLst>
                <a:ext uri="{FF2B5EF4-FFF2-40B4-BE49-F238E27FC236}">
                  <a16:creationId xmlns:a16="http://schemas.microsoft.com/office/drawing/2014/main" id="{BC2A06D3-8C5E-CEEB-EDFE-7C8978567EF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608" y="2923"/>
              <a:ext cx="533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kumimoji="1" lang="en-US" altLang="zh-CN" sz="2400" b="0" i="0" u="none" strike="noStrike" kern="0" cap="none" spc="0" normalizeH="0" baseline="-2500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r>
                <a:rPr kumimoji="1" lang="en-US" altLang="zh-CN" sz="2400" b="0" u="none" strike="noStrike" kern="0" cap="none" spc="0" normalizeH="0" baseline="-2500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i</a:t>
              </a:r>
              <a:r>
                <a:rPr kumimoji="1" lang="en-US" altLang="zh-CN" sz="2400" b="0" i="0" u="none" strike="noStrike" kern="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</a:t>
              </a:r>
            </a:p>
          </p:txBody>
        </p:sp>
        <p:sp>
          <p:nvSpPr>
            <p:cNvPr id="9" name="Text Box 17">
              <a:extLst>
                <a:ext uri="{FF2B5EF4-FFF2-40B4-BE49-F238E27FC236}">
                  <a16:creationId xmlns:a16="http://schemas.microsoft.com/office/drawing/2014/main" id="{D607AE01-127C-F44D-A42F-A76349966BA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585" y="2344"/>
              <a:ext cx="580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kumimoji="1" lang="en-US" altLang="zh-CN" sz="2400" b="0" i="0" u="none" strike="noStrike" kern="0" cap="none" spc="0" normalizeH="0" baseline="-2500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Q</a:t>
              </a:r>
              <a:r>
                <a:rPr kumimoji="1" lang="en-US" altLang="zh-CN" sz="2400" b="0" u="none" strike="noStrike" kern="0" cap="none" spc="0" normalizeH="0" baseline="-2500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i</a:t>
              </a:r>
              <a:r>
                <a:rPr kumimoji="1" lang="en-US" altLang="zh-CN" sz="2400" b="0" i="0" u="none" strike="noStrike" kern="0" cap="none" spc="0" normalizeH="0" baseline="-2500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n</a:t>
              </a:r>
              <a:endParaRPr kumimoji="1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0" name="Text Box 19">
              <a:extLst>
                <a:ext uri="{FF2B5EF4-FFF2-40B4-BE49-F238E27FC236}">
                  <a16:creationId xmlns:a16="http://schemas.microsoft.com/office/drawing/2014/main" id="{56AAD47C-78C6-D813-9C38-701C99260E9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165" y="2825"/>
              <a:ext cx="40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kumimoji="1" lang="en-US" altLang="zh-CN" sz="2400" b="0" i="0" u="none" strike="noStrike" kern="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kumimoji="1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1" name="Text Box 20">
              <a:extLst>
                <a:ext uri="{FF2B5EF4-FFF2-40B4-BE49-F238E27FC236}">
                  <a16:creationId xmlns:a16="http://schemas.microsoft.com/office/drawing/2014/main" id="{6A345D0A-F974-54A6-EC8F-CEAF6E71162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 rot="-2882510">
              <a:off x="3559" y="3193"/>
              <a:ext cx="242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r</a:t>
              </a:r>
              <a:r>
                <a:rPr kumimoji="1" lang="en-US" altLang="zh-CN" sz="2400" b="0" u="none" strike="noStrike" kern="0" cap="none" spc="0" normalizeH="0" baseline="-2500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endParaRPr kumimoji="1" lang="en-US" altLang="zh-CN" sz="2400" b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2" name="Line 21">
              <a:extLst>
                <a:ext uri="{FF2B5EF4-FFF2-40B4-BE49-F238E27FC236}">
                  <a16:creationId xmlns:a16="http://schemas.microsoft.com/office/drawing/2014/main" id="{58FB8397-6814-7BF6-8804-C40C95250F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04" y="2886"/>
              <a:ext cx="379" cy="9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黑体" panose="02010609060101010101" pitchFamily="49" charset="-122"/>
              </a:endParaRPr>
            </a:p>
          </p:txBody>
        </p:sp>
        <p:sp>
          <p:nvSpPr>
            <p:cNvPr id="13" name="Text Box 23">
              <a:extLst>
                <a:ext uri="{FF2B5EF4-FFF2-40B4-BE49-F238E27FC236}">
                  <a16:creationId xmlns:a16="http://schemas.microsoft.com/office/drawing/2014/main" id="{8401EA14-2AAC-1DB8-8CCC-73281BCED42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007" y="2759"/>
              <a:ext cx="293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m</a:t>
              </a:r>
              <a:r>
                <a:rPr kumimoji="1" lang="en-US" altLang="zh-CN" sz="24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</a:p>
          </p:txBody>
        </p:sp>
        <p:sp>
          <p:nvSpPr>
            <p:cNvPr id="15" name="Line 25">
              <a:extLst>
                <a:ext uri="{FF2B5EF4-FFF2-40B4-BE49-F238E27FC236}">
                  <a16:creationId xmlns:a16="http://schemas.microsoft.com/office/drawing/2014/main" id="{58D67529-5937-DDE4-8BC6-77DDBEA2EF3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3600000" flipH="1" flipV="1">
              <a:off x="3848" y="2559"/>
              <a:ext cx="134" cy="33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黑体" panose="02010609060101010101" pitchFamily="49" charset="-122"/>
              </a:endParaRPr>
            </a:p>
          </p:txBody>
        </p:sp>
        <p:sp>
          <p:nvSpPr>
            <p:cNvPr id="16" name="Line 27">
              <a:extLst>
                <a:ext uri="{FF2B5EF4-FFF2-40B4-BE49-F238E27FC236}">
                  <a16:creationId xmlns:a16="http://schemas.microsoft.com/office/drawing/2014/main" id="{479DB539-7C44-1FC6-3E9F-6464CA71020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9000000" flipH="1" flipV="1">
              <a:off x="3893" y="2856"/>
              <a:ext cx="135" cy="3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黑体" panose="02010609060101010101" pitchFamily="49" charset="-122"/>
              </a:endParaRPr>
            </a:p>
          </p:txBody>
        </p:sp>
        <p:sp>
          <p:nvSpPr>
            <p:cNvPr id="17" name="Text Box 28">
              <a:extLst>
                <a:ext uri="{FF2B5EF4-FFF2-40B4-BE49-F238E27FC236}">
                  <a16:creationId xmlns:a16="http://schemas.microsoft.com/office/drawing/2014/main" id="{BF8E9F6F-D0A3-BCDE-A994-A1A2AA4BDE9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016" y="3172"/>
              <a:ext cx="318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u="none" strike="noStrike" kern="0" cap="none" spc="0" normalizeH="0" baseline="0" noProof="0" dirty="0">
                  <a:ln>
                    <a:noFill/>
                  </a:ln>
                  <a:solidFill>
                    <a:srgbClr val="FF66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kumimoji="1" lang="en-US" altLang="zh-CN" sz="2400" b="0" u="none" strike="noStrike" kern="0" cap="none" spc="0" normalizeH="0" baseline="-25000" noProof="0" dirty="0">
                <a:ln>
                  <a:noFill/>
                </a:ln>
                <a:solidFill>
                  <a:srgbClr val="FF66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8" name="Arc 29">
              <a:extLst>
                <a:ext uri="{FF2B5EF4-FFF2-40B4-BE49-F238E27FC236}">
                  <a16:creationId xmlns:a16="http://schemas.microsoft.com/office/drawing/2014/main" id="{2CCE59A9-0C75-B3D6-119A-E75571988875}"/>
                </a:ext>
              </a:extLst>
            </p:cNvPr>
            <p:cNvSpPr>
              <a:spLocks/>
            </p:cNvSpPr>
            <p:nvPr/>
          </p:nvSpPr>
          <p:spPr bwMode="auto">
            <a:xfrm rot="13286251" flipV="1">
              <a:off x="3143" y="3350"/>
              <a:ext cx="200" cy="294"/>
            </a:xfrm>
            <a:custGeom>
              <a:avLst/>
              <a:gdLst>
                <a:gd name="T0" fmla="*/ 0 w 21600"/>
                <a:gd name="T1" fmla="*/ 0 h 34514"/>
                <a:gd name="T2" fmla="*/ 0 w 21600"/>
                <a:gd name="T3" fmla="*/ 0 h 34514"/>
                <a:gd name="T4" fmla="*/ 0 w 21600"/>
                <a:gd name="T5" fmla="*/ 0 h 345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514"/>
                <a:gd name="T11" fmla="*/ 21600 w 21600"/>
                <a:gd name="T12" fmla="*/ 34514 h 345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514" fill="none" extrusionOk="0">
                  <a:moveTo>
                    <a:pt x="10526" y="-1"/>
                  </a:moveTo>
                  <a:cubicBezTo>
                    <a:pt x="17363" y="3815"/>
                    <a:pt x="21600" y="11031"/>
                    <a:pt x="21600" y="18861"/>
                  </a:cubicBezTo>
                  <a:cubicBezTo>
                    <a:pt x="21600" y="24778"/>
                    <a:pt x="19172" y="30436"/>
                    <a:pt x="14884" y="34514"/>
                  </a:cubicBezTo>
                </a:path>
                <a:path w="21600" h="34514" stroke="0" extrusionOk="0">
                  <a:moveTo>
                    <a:pt x="10526" y="-1"/>
                  </a:moveTo>
                  <a:cubicBezTo>
                    <a:pt x="17363" y="3815"/>
                    <a:pt x="21600" y="11031"/>
                    <a:pt x="21600" y="18861"/>
                  </a:cubicBezTo>
                  <a:cubicBezTo>
                    <a:pt x="21600" y="24778"/>
                    <a:pt x="19172" y="30436"/>
                    <a:pt x="14884" y="34514"/>
                  </a:cubicBezTo>
                  <a:lnTo>
                    <a:pt x="0" y="18861"/>
                  </a:lnTo>
                  <a:lnTo>
                    <a:pt x="10526" y="-1"/>
                  </a:lnTo>
                  <a:close/>
                </a:path>
              </a:pathLst>
            </a:custGeom>
            <a:noFill/>
            <a:ln w="28575">
              <a:solidFill>
                <a:srgbClr val="FF66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黑体" panose="02010609060101010101" pitchFamily="49" charset="-122"/>
              </a:endParaRPr>
            </a:p>
          </p:txBody>
        </p:sp>
        <p:sp>
          <p:nvSpPr>
            <p:cNvPr id="19" name="Oval 30">
              <a:extLst>
                <a:ext uri="{FF2B5EF4-FFF2-40B4-BE49-F238E27FC236}">
                  <a16:creationId xmlns:a16="http://schemas.microsoft.com/office/drawing/2014/main" id="{9EFAC83B-9DFE-769F-002F-034156E8F4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2" y="2864"/>
              <a:ext cx="56" cy="5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0" name="Line 31">
              <a:extLst>
                <a:ext uri="{FF2B5EF4-FFF2-40B4-BE49-F238E27FC236}">
                  <a16:creationId xmlns:a16="http://schemas.microsoft.com/office/drawing/2014/main" id="{43AD01EC-C146-9604-DEC8-8684EEEB30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60" y="3098"/>
              <a:ext cx="497" cy="6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黑体" panose="02010609060101010101" pitchFamily="49" charset="-122"/>
              </a:endParaRPr>
            </a:p>
          </p:txBody>
        </p:sp>
        <p:sp>
          <p:nvSpPr>
            <p:cNvPr id="21" name="Line 33">
              <a:extLst>
                <a:ext uri="{FF2B5EF4-FFF2-40B4-BE49-F238E27FC236}">
                  <a16:creationId xmlns:a16="http://schemas.microsoft.com/office/drawing/2014/main" id="{237A9FB6-9313-B253-A2B6-257E53752E8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9000000" flipH="1" flipV="1">
              <a:off x="3354" y="3451"/>
              <a:ext cx="135" cy="3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黑体" panose="02010609060101010101" pitchFamily="49" charset="-122"/>
              </a:endParaRPr>
            </a:p>
          </p:txBody>
        </p:sp>
        <p:sp>
          <p:nvSpPr>
            <p:cNvPr id="22" name="Text Box 34">
              <a:extLst>
                <a:ext uri="{FF2B5EF4-FFF2-40B4-BE49-F238E27FC236}">
                  <a16:creationId xmlns:a16="http://schemas.microsoft.com/office/drawing/2014/main" id="{FABFB9C0-9C22-58AC-20F1-293E5621FE2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 rot="10779641" flipV="1">
              <a:off x="3309" y="3217"/>
              <a:ext cx="318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u="none" strike="noStrike" kern="0" cap="none" spc="0" normalizeH="0" baseline="0" noProof="0" dirty="0">
                  <a:ln>
                    <a:noFill/>
                  </a:ln>
                  <a:solidFill>
                    <a:srgbClr val="FF66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</a:t>
              </a:r>
              <a:endParaRPr kumimoji="1" lang="en-US" altLang="zh-CN" sz="2400" b="0" u="none" strike="noStrike" kern="0" cap="none" spc="0" normalizeH="0" baseline="-25000" noProof="0" dirty="0">
                <a:ln>
                  <a:noFill/>
                </a:ln>
                <a:solidFill>
                  <a:srgbClr val="FF66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23" name="Arc 35">
              <a:extLst>
                <a:ext uri="{FF2B5EF4-FFF2-40B4-BE49-F238E27FC236}">
                  <a16:creationId xmlns:a16="http://schemas.microsoft.com/office/drawing/2014/main" id="{C338A777-0056-32C3-EBBA-7E7EB9720E73}"/>
                </a:ext>
              </a:extLst>
            </p:cNvPr>
            <p:cNvSpPr>
              <a:spLocks/>
            </p:cNvSpPr>
            <p:nvPr/>
          </p:nvSpPr>
          <p:spPr bwMode="auto">
            <a:xfrm rot="3086605" flipH="1">
              <a:off x="3175" y="3415"/>
              <a:ext cx="206" cy="252"/>
            </a:xfrm>
            <a:custGeom>
              <a:avLst/>
              <a:gdLst>
                <a:gd name="T0" fmla="*/ 0 w 21600"/>
                <a:gd name="T1" fmla="*/ 0 h 34514"/>
                <a:gd name="T2" fmla="*/ 0 w 21600"/>
                <a:gd name="T3" fmla="*/ 0 h 34514"/>
                <a:gd name="T4" fmla="*/ 0 w 21600"/>
                <a:gd name="T5" fmla="*/ 0 h 345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514"/>
                <a:gd name="T11" fmla="*/ 21600 w 21600"/>
                <a:gd name="T12" fmla="*/ 34514 h 345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514" fill="none" extrusionOk="0">
                  <a:moveTo>
                    <a:pt x="10526" y="-1"/>
                  </a:moveTo>
                  <a:cubicBezTo>
                    <a:pt x="17363" y="3815"/>
                    <a:pt x="21600" y="11031"/>
                    <a:pt x="21600" y="18861"/>
                  </a:cubicBezTo>
                  <a:cubicBezTo>
                    <a:pt x="21600" y="24778"/>
                    <a:pt x="19172" y="30436"/>
                    <a:pt x="14884" y="34514"/>
                  </a:cubicBezTo>
                </a:path>
                <a:path w="21600" h="34514" stroke="0" extrusionOk="0">
                  <a:moveTo>
                    <a:pt x="10526" y="-1"/>
                  </a:moveTo>
                  <a:cubicBezTo>
                    <a:pt x="17363" y="3815"/>
                    <a:pt x="21600" y="11031"/>
                    <a:pt x="21600" y="18861"/>
                  </a:cubicBezTo>
                  <a:cubicBezTo>
                    <a:pt x="21600" y="24778"/>
                    <a:pt x="19172" y="30436"/>
                    <a:pt x="14884" y="34514"/>
                  </a:cubicBezTo>
                  <a:lnTo>
                    <a:pt x="0" y="18861"/>
                  </a:lnTo>
                  <a:lnTo>
                    <a:pt x="10526" y="-1"/>
                  </a:lnTo>
                  <a:close/>
                </a:path>
              </a:pathLst>
            </a:custGeom>
            <a:noFill/>
            <a:ln w="28575">
              <a:solidFill>
                <a:srgbClr val="FF66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黑体" panose="02010609060101010101" pitchFamily="49" charset="-122"/>
              </a:endParaRPr>
            </a:p>
          </p:txBody>
        </p:sp>
        <p:sp>
          <p:nvSpPr>
            <p:cNvPr id="24" name="Line 26">
              <a:extLst>
                <a:ext uri="{FF2B5EF4-FFF2-40B4-BE49-F238E27FC236}">
                  <a16:creationId xmlns:a16="http://schemas.microsoft.com/office/drawing/2014/main" id="{FC1D14BB-2B16-745B-93B4-54C89B6FDCB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9000000" flipH="1" flipV="1">
              <a:off x="3852" y="2862"/>
              <a:ext cx="96" cy="24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黑体" panose="02010609060101010101" pitchFamily="49" charset="-122"/>
              </a:endParaRPr>
            </a:p>
          </p:txBody>
        </p:sp>
      </p:grpSp>
      <p:sp>
        <p:nvSpPr>
          <p:cNvPr id="30" name="Text Box 1032">
            <a:extLst>
              <a:ext uri="{FF2B5EF4-FFF2-40B4-BE49-F238E27FC236}">
                <a16:creationId xmlns:a16="http://schemas.microsoft.com/office/drawing/2014/main" id="{EA8177BA-D033-CB85-F206-EE1A07758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804" y="1748252"/>
            <a:ext cx="6384647" cy="662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800" b="0" dirty="0">
                <a:latin typeface="+mn-lt"/>
                <a:ea typeface="微软雅黑" panose="020B0503020204020204" pitchFamily="34" charset="-122"/>
              </a:rPr>
              <a:t>J</a:t>
            </a:r>
            <a:r>
              <a:rPr lang="en-US" altLang="zh-CN" sz="2800" b="0" baseline="-25000" dirty="0">
                <a:latin typeface="+mn-lt"/>
                <a:ea typeface="微软雅黑" panose="020B0503020204020204" pitchFamily="34" charset="-122"/>
              </a:rPr>
              <a:t>O</a:t>
            </a:r>
            <a:r>
              <a:rPr lang="en-US" altLang="zh-CN" sz="2800" b="0" dirty="0">
                <a:latin typeface="+mn-lt"/>
                <a:ea typeface="微软雅黑" panose="020B0503020204020204" pitchFamily="34" charset="-122"/>
              </a:rPr>
              <a:t>= ∑m</a:t>
            </a:r>
            <a:r>
              <a:rPr lang="en-US" altLang="zh-CN" sz="2800" b="0" baseline="-25000" dirty="0">
                <a:latin typeface="+mn-lt"/>
                <a:ea typeface="微软雅黑" panose="020B0503020204020204" pitchFamily="34" charset="-122"/>
              </a:rPr>
              <a:t>i</a:t>
            </a:r>
            <a:r>
              <a:rPr lang="en-US" altLang="zh-CN" sz="2800" b="0" dirty="0">
                <a:latin typeface="+mn-lt"/>
                <a:ea typeface="微软雅黑" panose="020B0503020204020204" pitchFamily="34" charset="-122"/>
              </a:rPr>
              <a:t>r</a:t>
            </a:r>
            <a:r>
              <a:rPr lang="en-US" altLang="zh-CN" sz="2800" b="0" baseline="-25000" dirty="0">
                <a:ea typeface="微软雅黑" panose="020B0503020204020204" pitchFamily="34" charset="-122"/>
              </a:rPr>
              <a:t>i</a:t>
            </a:r>
            <a:r>
              <a:rPr lang="en-US" altLang="zh-CN" sz="2800" b="0" i="0" baseline="30000" dirty="0">
                <a:latin typeface="+mn-lt"/>
                <a:ea typeface="微软雅黑" panose="020B0503020204020204" pitchFamily="34" charset="-122"/>
              </a:rPr>
              <a:t>2</a:t>
            </a:r>
            <a:r>
              <a:rPr lang="en-US" altLang="zh-CN" sz="2800" b="0" dirty="0">
                <a:latin typeface="+mn-lt"/>
                <a:ea typeface="微软雅黑" panose="020B0503020204020204" pitchFamily="34" charset="-122"/>
              </a:rPr>
              <a:t>   </a:t>
            </a: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刚体对轴</a:t>
            </a:r>
            <a:r>
              <a:rPr lang="en-US" altLang="zh-CN" sz="2800" b="0" dirty="0">
                <a:latin typeface="+mn-lt"/>
                <a:ea typeface="微软雅黑" panose="020B0503020204020204" pitchFamily="34" charset="-122"/>
              </a:rPr>
              <a:t>O</a:t>
            </a: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的</a:t>
            </a:r>
            <a:r>
              <a:rPr lang="zh-CN" altLang="en-US" sz="2800" i="0" dirty="0">
                <a:solidFill>
                  <a:srgbClr val="FF0000"/>
                </a:solidFill>
                <a:latin typeface="+mn-lt"/>
                <a:ea typeface="微软雅黑" panose="020B0503020204020204" pitchFamily="34" charset="-122"/>
              </a:rPr>
              <a:t>转动惯量</a:t>
            </a:r>
            <a:endParaRPr lang="zh-CN" altLang="en-US" sz="2800" b="0" i="0" dirty="0">
              <a:solidFill>
                <a:srgbClr val="FF0000"/>
              </a:solidFill>
              <a:latin typeface="+mn-lt"/>
              <a:ea typeface="微软雅黑" panose="020B0503020204020204" pitchFamily="34" charset="-122"/>
            </a:endParaRPr>
          </a:p>
        </p:txBody>
      </p:sp>
      <p:sp>
        <p:nvSpPr>
          <p:cNvPr id="33" name="Text Box 1032">
            <a:extLst>
              <a:ext uri="{FF2B5EF4-FFF2-40B4-BE49-F238E27FC236}">
                <a16:creationId xmlns:a16="http://schemas.microsoft.com/office/drawing/2014/main" id="{D610A013-1727-9B4B-772E-82F478D01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804" y="2625500"/>
            <a:ext cx="6384647" cy="1307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外力矩之总和用</a:t>
            </a:r>
            <a:r>
              <a:rPr lang="en-US" altLang="zh-CN" sz="2800" b="0" dirty="0">
                <a:latin typeface="+mn-lt"/>
                <a:ea typeface="微软雅黑" panose="020B0503020204020204" pitchFamily="34" charset="-122"/>
              </a:rPr>
              <a:t>M </a:t>
            </a: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替代，得</a:t>
            </a:r>
          </a:p>
          <a:p>
            <a:pPr>
              <a:lnSpc>
                <a:spcPct val="150000"/>
              </a:lnSpc>
            </a:pPr>
            <a:r>
              <a:rPr lang="en-US" altLang="zh-CN" sz="2800" b="0" dirty="0">
                <a:ea typeface="黑体" panose="02010609060101010101" pitchFamily="49" charset="-122"/>
              </a:rPr>
              <a:t>                     M = J</a:t>
            </a:r>
            <a:r>
              <a:rPr lang="en-US" altLang="zh-CN" sz="2800" b="0" baseline="-25000" dirty="0">
                <a:ea typeface="黑体" panose="02010609060101010101" pitchFamily="49" charset="-122"/>
              </a:rPr>
              <a:t>O</a:t>
            </a:r>
            <a:r>
              <a:rPr lang="en-US" altLang="zh-CN" sz="2800" b="0" dirty="0">
                <a:ea typeface="黑体" panose="02010609060101010101" pitchFamily="49" charset="-122"/>
                <a:sym typeface="Symbol" panose="05050102010706020507" pitchFamily="18" charset="2"/>
              </a:rPr>
              <a:t></a:t>
            </a:r>
            <a:endParaRPr lang="en-US" altLang="zh-CN" sz="2800" i="0" dirty="0">
              <a:latin typeface="+mn-lt"/>
              <a:ea typeface="微软雅黑" panose="020B0503020204020204" pitchFamily="34" charset="-122"/>
            </a:endParaRPr>
          </a:p>
        </p:txBody>
      </p:sp>
      <p:sp>
        <p:nvSpPr>
          <p:cNvPr id="34" name="Text Box 1032">
            <a:extLst>
              <a:ext uri="{FF2B5EF4-FFF2-40B4-BE49-F238E27FC236}">
                <a16:creationId xmlns:a16="http://schemas.microsoft.com/office/drawing/2014/main" id="{601B0AF4-E94B-6B86-256C-BDA731B8AC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804" y="3932781"/>
            <a:ext cx="9891157" cy="15994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 i="0" dirty="0">
                <a:solidFill>
                  <a:srgbClr val="FF0000"/>
                </a:solidFill>
                <a:latin typeface="+mn-lt"/>
                <a:ea typeface="微软雅黑" panose="020B0503020204020204" pitchFamily="34" charset="-122"/>
              </a:rPr>
              <a:t>                     </a:t>
            </a:r>
            <a:r>
              <a:rPr lang="en-US" altLang="zh-CN" sz="2800" i="0" dirty="0">
                <a:solidFill>
                  <a:srgbClr val="FF0000"/>
                </a:solidFill>
                <a:ea typeface="微软雅黑" panose="020B0503020204020204" pitchFamily="34" charset="-122"/>
              </a:rPr>
              <a:t>—</a:t>
            </a:r>
            <a:r>
              <a:rPr lang="en-US" altLang="zh-CN" sz="2800" i="0" dirty="0">
                <a:solidFill>
                  <a:srgbClr val="FF0000"/>
                </a:solidFill>
                <a:latin typeface="+mn-lt"/>
                <a:ea typeface="微软雅黑" panose="020B0503020204020204" pitchFamily="34" charset="-122"/>
              </a:rPr>
              <a:t>— </a:t>
            </a:r>
            <a:r>
              <a:rPr lang="zh-CN" altLang="en-US" sz="2800" i="0" dirty="0">
                <a:solidFill>
                  <a:srgbClr val="FF0000"/>
                </a:solidFill>
                <a:latin typeface="+mn-lt"/>
                <a:ea typeface="微软雅黑" panose="020B0503020204020204" pitchFamily="34" charset="-122"/>
              </a:rPr>
              <a:t>刚体绕定轴转动动力学方程</a:t>
            </a: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，它表明刚体绕定轴转动时，刚体对转轴的转动惯量与其角加速度的乘积，等于作用在刚体上有外力对转轴力矩的代数和。</a:t>
            </a:r>
            <a:endParaRPr lang="en-US" altLang="zh-CN" sz="2800" i="0" dirty="0">
              <a:latin typeface="+mn-lt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507099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utoUpdateAnimBg="0"/>
      <p:bldP spid="30" grpId="0" autoUpdateAnimBg="0"/>
      <p:bldP spid="33" grpId="0" autoUpdateAnimBg="0"/>
      <p:bldP spid="34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0960" y="91693"/>
            <a:ext cx="67056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2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   动力学的基本方程与动静法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64442" y="928670"/>
            <a:ext cx="9747982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000" i="0" dirty="0">
                <a:solidFill>
                  <a:schemeClr val="accent6">
                    <a:lumMod val="75000"/>
                  </a:schemeClr>
                </a:solidFill>
                <a:latin typeface="+mn-lt"/>
                <a:ea typeface="微软雅黑" panose="020B0503020204020204" pitchFamily="34" charset="-122"/>
              </a:rPr>
              <a:t>§6-3  </a:t>
            </a:r>
            <a:r>
              <a:rPr lang="zh-CN" altLang="en-US" sz="3000" i="0" dirty="0">
                <a:solidFill>
                  <a:schemeClr val="accent6">
                    <a:lumMod val="75000"/>
                  </a:schemeClr>
                </a:solidFill>
                <a:latin typeface="+mn-lt"/>
                <a:ea typeface="微软雅黑" panose="020B0503020204020204" pitchFamily="34" charset="-122"/>
              </a:rPr>
              <a:t>刚体绕定轴转动动力学方程</a:t>
            </a:r>
          </a:p>
        </p:txBody>
      </p:sp>
      <p:sp>
        <p:nvSpPr>
          <p:cNvPr id="52" name="Text Box 1032"/>
          <p:cNvSpPr txBox="1">
            <a:spLocks noChangeArrowheads="1"/>
          </p:cNvSpPr>
          <p:nvPr/>
        </p:nvSpPr>
        <p:spPr bwMode="auto">
          <a:xfrm>
            <a:off x="939805" y="1943507"/>
            <a:ext cx="10772819" cy="2116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i="0" dirty="0">
                <a:latin typeface="+mj-lt"/>
                <a:ea typeface="微软雅黑" panose="020B0503020204020204" pitchFamily="34" charset="-122"/>
              </a:rPr>
              <a:t>刚体绕定轴</a:t>
            </a:r>
            <a:r>
              <a:rPr lang="en-US" altLang="zh-CN" sz="2800" i="0" dirty="0">
                <a:latin typeface="+mj-lt"/>
                <a:ea typeface="微软雅黑" panose="020B0503020204020204" pitchFamily="34" charset="-122"/>
              </a:rPr>
              <a:t>z</a:t>
            </a:r>
            <a:r>
              <a:rPr lang="zh-CN" altLang="en-US" sz="2800" i="0" dirty="0">
                <a:latin typeface="+mj-lt"/>
                <a:ea typeface="微软雅黑" panose="020B0503020204020204" pitchFamily="34" charset="-122"/>
              </a:rPr>
              <a:t>的转动惯量为 </a:t>
            </a:r>
            <a:r>
              <a:rPr lang="en-US" altLang="zh-CN" sz="2800" b="0" dirty="0" err="1">
                <a:latin typeface="+mj-lt"/>
                <a:ea typeface="微软雅黑" panose="020B0503020204020204" pitchFamily="34" charset="-122"/>
              </a:rPr>
              <a:t>J</a:t>
            </a:r>
            <a:r>
              <a:rPr lang="en-US" altLang="zh-CN" sz="2800" b="0" baseline="-25000" dirty="0" err="1">
                <a:latin typeface="+mj-lt"/>
                <a:ea typeface="微软雅黑" panose="020B0503020204020204" pitchFamily="34" charset="-122"/>
              </a:rPr>
              <a:t>z</a:t>
            </a:r>
            <a:r>
              <a:rPr lang="en-US" altLang="zh-CN" sz="2800" b="0" dirty="0">
                <a:latin typeface="+mj-lt"/>
                <a:ea typeface="微软雅黑" panose="020B0503020204020204" pitchFamily="34" charset="-122"/>
              </a:rPr>
              <a:t>= ∑m</a:t>
            </a:r>
            <a:r>
              <a:rPr lang="en-US" altLang="zh-CN" sz="2800" b="0" baseline="-25000" dirty="0">
                <a:latin typeface="+mj-lt"/>
                <a:ea typeface="微软雅黑" panose="020B0503020204020204" pitchFamily="34" charset="-122"/>
              </a:rPr>
              <a:t>i</a:t>
            </a:r>
            <a:r>
              <a:rPr lang="en-US" altLang="zh-CN" sz="2800" b="0" dirty="0">
                <a:latin typeface="+mj-lt"/>
                <a:ea typeface="微软雅黑" panose="020B0503020204020204" pitchFamily="34" charset="-122"/>
              </a:rPr>
              <a:t>r</a:t>
            </a:r>
            <a:r>
              <a:rPr lang="en-US" altLang="zh-CN" sz="2800" b="0" baseline="-25000" dirty="0">
                <a:latin typeface="+mj-lt"/>
                <a:ea typeface="微软雅黑" panose="020B0503020204020204" pitchFamily="34" charset="-122"/>
              </a:rPr>
              <a:t>i</a:t>
            </a:r>
            <a:r>
              <a:rPr lang="en-US" altLang="zh-CN" sz="2800" b="0" i="0" baseline="30000" dirty="0">
                <a:latin typeface="+mj-lt"/>
                <a:ea typeface="微软雅黑" panose="020B0503020204020204" pitchFamily="34" charset="-122"/>
              </a:rPr>
              <a:t>2</a:t>
            </a:r>
            <a:r>
              <a:rPr lang="zh-CN" altLang="en-US" sz="2800" i="0" dirty="0">
                <a:latin typeface="+mj-lt"/>
                <a:ea typeface="微软雅黑" panose="020B0503020204020204" pitchFamily="34" charset="-122"/>
              </a:rPr>
              <a:t>，它表明了刚体绕定轴</a:t>
            </a:r>
            <a:r>
              <a:rPr lang="en-US" altLang="zh-CN" sz="2800" b="0" dirty="0">
                <a:latin typeface="+mj-lt"/>
                <a:ea typeface="微软雅黑" panose="020B0503020204020204" pitchFamily="34" charset="-122"/>
              </a:rPr>
              <a:t>z</a:t>
            </a:r>
            <a:r>
              <a:rPr lang="zh-CN" altLang="en-US" sz="2800" i="0" dirty="0">
                <a:latin typeface="+mj-lt"/>
                <a:ea typeface="微软雅黑" panose="020B0503020204020204" pitchFamily="34" charset="-122"/>
              </a:rPr>
              <a:t>的转动时的惯性大小。从转动惯量的公式可见，影响其大小的有两个因素，一个是它的质量大小，另一个是这些质量对转轴的分布状况，后一个因素具体反映在刚体的形状及其与转轴的相对位置上</a:t>
            </a:r>
            <a:r>
              <a:rPr lang="zh-CN" altLang="en-US" sz="2800" i="0" dirty="0">
                <a:ea typeface="微软雅黑" panose="020B0503020204020204" pitchFamily="34" charset="-122"/>
              </a:rPr>
              <a:t>。</a:t>
            </a:r>
            <a:endParaRPr lang="zh-CN" altLang="en-US" sz="2800" i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570254" y="1389509"/>
            <a:ext cx="1723549" cy="599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000" i="0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转动惯量</a:t>
            </a:r>
          </a:p>
        </p:txBody>
      </p:sp>
      <p:graphicFrame>
        <p:nvGraphicFramePr>
          <p:cNvPr id="30" name="Object 36">
            <a:extLst>
              <a:ext uri="{FF2B5EF4-FFF2-40B4-BE49-F238E27FC236}">
                <a16:creationId xmlns:a16="http://schemas.microsoft.com/office/drawing/2014/main" id="{074B72CF-A2DD-B9ED-9934-93AFB602E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2434887"/>
              </p:ext>
            </p:extLst>
          </p:nvPr>
        </p:nvGraphicFramePr>
        <p:xfrm>
          <a:off x="4502157" y="4060305"/>
          <a:ext cx="2170113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25480" imgH="330120" progId="Equation.DSMT4">
                  <p:embed/>
                </p:oleObj>
              </mc:Choice>
              <mc:Fallback>
                <p:oleObj name="Equation" r:id="rId3" imgW="825480" imgH="330120" progId="Equation.DSMT4">
                  <p:embed/>
                  <p:pic>
                    <p:nvPicPr>
                      <p:cNvPr id="927780" name="Object 36">
                        <a:extLst>
                          <a:ext uri="{FF2B5EF4-FFF2-40B4-BE49-F238E27FC236}">
                            <a16:creationId xmlns:a16="http://schemas.microsoft.com/office/drawing/2014/main" id="{453C73F4-417C-4CE4-A2E4-93B49DAFE8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2157" y="4060305"/>
                        <a:ext cx="2170113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8330680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0960" y="91693"/>
            <a:ext cx="67056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2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   动力学的基本方程与动静法</a:t>
            </a:r>
          </a:p>
        </p:txBody>
      </p:sp>
      <p:sp>
        <p:nvSpPr>
          <p:cNvPr id="52" name="Text Box 1032"/>
          <p:cNvSpPr txBox="1">
            <a:spLocks noChangeArrowheads="1"/>
          </p:cNvSpPr>
          <p:nvPr/>
        </p:nvSpPr>
        <p:spPr bwMode="auto">
          <a:xfrm>
            <a:off x="839416" y="1943506"/>
            <a:ext cx="10772819" cy="107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kumimoji="1" lang="zh-CN" altLang="en-US" sz="2800" i="0" dirty="0">
                <a:latin typeface="+mn-lt"/>
                <a:ea typeface="微软雅黑" panose="020B0503020204020204" pitchFamily="34" charset="-122"/>
              </a:rPr>
              <a:t>设有等截面细直杆，如图。其质量为</a:t>
            </a:r>
            <a:r>
              <a:rPr kumimoji="1" lang="en-US" altLang="zh-CN" sz="2800" b="0" dirty="0">
                <a:latin typeface="+mn-lt"/>
                <a:ea typeface="微软雅黑" panose="020B0503020204020204" pitchFamily="34" charset="-122"/>
              </a:rPr>
              <a:t>m</a:t>
            </a:r>
            <a:r>
              <a:rPr kumimoji="1" lang="zh-CN" altLang="en-US" sz="2800" i="0" dirty="0">
                <a:latin typeface="+mn-lt"/>
                <a:ea typeface="微软雅黑" panose="020B0503020204020204" pitchFamily="34" charset="-122"/>
              </a:rPr>
              <a:t>，长为</a:t>
            </a:r>
            <a:r>
              <a:rPr kumimoji="1" lang="en-US" altLang="zh-CN" sz="2800" b="0" dirty="0">
                <a:latin typeface="+mn-lt"/>
                <a:ea typeface="微软雅黑" panose="020B0503020204020204" pitchFamily="34" charset="-122"/>
              </a:rPr>
              <a:t>l</a:t>
            </a:r>
            <a:r>
              <a:rPr kumimoji="1" lang="zh-CN" altLang="en-US" sz="2800" i="0" dirty="0">
                <a:latin typeface="+mn-lt"/>
                <a:ea typeface="微软雅黑" panose="020B0503020204020204" pitchFamily="34" charset="-122"/>
              </a:rPr>
              <a:t>。求它对过形心之轴的转动惯量。</a:t>
            </a:r>
            <a:endParaRPr lang="zh-CN" altLang="en-US" sz="2800" i="0" dirty="0">
              <a:latin typeface="+mn-lt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39416" y="1027313"/>
            <a:ext cx="6647974" cy="5653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i="0" dirty="0">
                <a:latin typeface="+mj-lt"/>
                <a:ea typeface="微软雅黑" panose="020B0503020204020204" pitchFamily="34" charset="-122"/>
              </a:rPr>
              <a:t>均质等截面细直杆绕其形心轴的转动惯量</a:t>
            </a:r>
          </a:p>
        </p:txBody>
      </p:sp>
      <p:graphicFrame>
        <p:nvGraphicFramePr>
          <p:cNvPr id="30" name="Object 36">
            <a:extLst>
              <a:ext uri="{FF2B5EF4-FFF2-40B4-BE49-F238E27FC236}">
                <a16:creationId xmlns:a16="http://schemas.microsoft.com/office/drawing/2014/main" id="{074B72CF-A2DD-B9ED-9934-93AFB602E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2695047"/>
              </p:ext>
            </p:extLst>
          </p:nvPr>
        </p:nvGraphicFramePr>
        <p:xfrm>
          <a:off x="1559216" y="3914003"/>
          <a:ext cx="4381202" cy="1017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06280" imgH="457200" progId="Equation.DSMT4">
                  <p:embed/>
                </p:oleObj>
              </mc:Choice>
              <mc:Fallback>
                <p:oleObj name="Equation" r:id="rId3" imgW="2006280" imgH="457200" progId="Equation.DSMT4">
                  <p:embed/>
                  <p:pic>
                    <p:nvPicPr>
                      <p:cNvPr id="30" name="Object 36">
                        <a:extLst>
                          <a:ext uri="{FF2B5EF4-FFF2-40B4-BE49-F238E27FC236}">
                            <a16:creationId xmlns:a16="http://schemas.microsoft.com/office/drawing/2014/main" id="{074B72CF-A2DD-B9ED-9934-93AFB602E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216" y="3914003"/>
                        <a:ext cx="4381202" cy="10172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61">
            <a:extLst>
              <a:ext uri="{FF2B5EF4-FFF2-40B4-BE49-F238E27FC236}">
                <a16:creationId xmlns:a16="http://schemas.microsoft.com/office/drawing/2014/main" id="{9D4911C9-6482-230E-A8C6-0975606E3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0216" y="2622113"/>
            <a:ext cx="3672408" cy="2734778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Group 35">
            <a:extLst>
              <a:ext uri="{FF2B5EF4-FFF2-40B4-BE49-F238E27FC236}">
                <a16:creationId xmlns:a16="http://schemas.microsoft.com/office/drawing/2014/main" id="{0F88D860-111E-5C3B-79A0-E45B0ED5578B}"/>
              </a:ext>
            </a:extLst>
          </p:cNvPr>
          <p:cNvGrpSpPr>
            <a:grpSpLocks/>
          </p:cNvGrpSpPr>
          <p:nvPr/>
        </p:nvGrpSpPr>
        <p:grpSpPr bwMode="auto">
          <a:xfrm>
            <a:off x="7922885" y="2790326"/>
            <a:ext cx="3689350" cy="2055813"/>
            <a:chOff x="3436" y="1318"/>
            <a:chExt cx="2324" cy="1295"/>
          </a:xfrm>
        </p:grpSpPr>
        <p:sp>
          <p:nvSpPr>
            <p:cNvPr id="4" name="Rectangle 15">
              <a:extLst>
                <a:ext uri="{FF2B5EF4-FFF2-40B4-BE49-F238E27FC236}">
                  <a16:creationId xmlns:a16="http://schemas.microsoft.com/office/drawing/2014/main" id="{8C4D2240-A02B-1C98-0819-2504053A02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5" y="1789"/>
              <a:ext cx="1885" cy="140"/>
            </a:xfrm>
            <a:prstGeom prst="rect">
              <a:avLst/>
            </a:prstGeom>
            <a:gradFill rotWithShape="1">
              <a:gsLst>
                <a:gs pos="0">
                  <a:srgbClr val="5F5F5F"/>
                </a:gs>
                <a:gs pos="50000">
                  <a:srgbClr val="DBDBDB"/>
                </a:gs>
                <a:gs pos="100000">
                  <a:srgbClr val="5F5F5F"/>
                </a:gs>
              </a:gsLst>
              <a:lin ang="5400000" scaled="1"/>
            </a:gra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chemeClr val="bg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" name="Line 16">
              <a:extLst>
                <a:ext uri="{FF2B5EF4-FFF2-40B4-BE49-F238E27FC236}">
                  <a16:creationId xmlns:a16="http://schemas.microsoft.com/office/drawing/2014/main" id="{32312779-EA73-7461-A946-CF98FD5C32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3" y="1937"/>
              <a:ext cx="0" cy="6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17">
              <a:extLst>
                <a:ext uri="{FF2B5EF4-FFF2-40B4-BE49-F238E27FC236}">
                  <a16:creationId xmlns:a16="http://schemas.microsoft.com/office/drawing/2014/main" id="{A3F58B83-6A59-B1AF-7E62-C2332A51B8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0" y="1947"/>
              <a:ext cx="0" cy="6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8">
              <a:extLst>
                <a:ext uri="{FF2B5EF4-FFF2-40B4-BE49-F238E27FC236}">
                  <a16:creationId xmlns:a16="http://schemas.microsoft.com/office/drawing/2014/main" id="{12A164E2-9847-0246-55DE-21E05346C3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0" y="1454"/>
              <a:ext cx="0" cy="8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stealth" w="sm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 Box 19">
              <a:extLst>
                <a:ext uri="{FF2B5EF4-FFF2-40B4-BE49-F238E27FC236}">
                  <a16:creationId xmlns:a16="http://schemas.microsoft.com/office/drawing/2014/main" id="{4002555A-76E5-D55F-3A95-DD3572AB8D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2" y="1318"/>
              <a:ext cx="3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 i="1" dirty="0">
                  <a:ea typeface="黑体" panose="02010609060101010101" pitchFamily="49" charset="-122"/>
                </a:rPr>
                <a:t>z</a:t>
              </a:r>
            </a:p>
          </p:txBody>
        </p:sp>
        <p:sp>
          <p:nvSpPr>
            <p:cNvPr id="12" name="Text Box 20">
              <a:extLst>
                <a:ext uri="{FF2B5EF4-FFF2-40B4-BE49-F238E27FC236}">
                  <a16:creationId xmlns:a16="http://schemas.microsoft.com/office/drawing/2014/main" id="{908CBD61-19AD-5F91-44C6-3D6034BCB9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0" y="1873"/>
              <a:ext cx="3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None/>
              </a:pPr>
              <a:r>
                <a:rPr lang="en-US" altLang="zh-CN" sz="2400" b="0" dirty="0">
                  <a:ea typeface="黑体" panose="02010609060101010101" pitchFamily="49" charset="-122"/>
                </a:rPr>
                <a:t>C</a:t>
              </a:r>
            </a:p>
          </p:txBody>
        </p:sp>
        <p:sp>
          <p:nvSpPr>
            <p:cNvPr id="13" name="Rectangle 21" descr="宽上对角线">
              <a:extLst>
                <a:ext uri="{FF2B5EF4-FFF2-40B4-BE49-F238E27FC236}">
                  <a16:creationId xmlns:a16="http://schemas.microsoft.com/office/drawing/2014/main" id="{084EA231-E09F-AAEC-61DE-432362A6D7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0" y="1789"/>
              <a:ext cx="96" cy="137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chemeClr val="bg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14" name="Text Box 22">
              <a:extLst>
                <a:ext uri="{FF2B5EF4-FFF2-40B4-BE49-F238E27FC236}">
                  <a16:creationId xmlns:a16="http://schemas.microsoft.com/office/drawing/2014/main" id="{70DAECE2-C899-CFAB-1AE9-A8D46F801B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0" y="1982"/>
              <a:ext cx="3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 dirty="0">
                  <a:ea typeface="黑体" panose="02010609060101010101" pitchFamily="49" charset="-122"/>
                </a:rPr>
                <a:t>l/</a:t>
              </a:r>
              <a:r>
                <a:rPr lang="en-US" altLang="zh-CN" sz="2400" b="0" i="0" dirty="0"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15" name="Text Box 23">
              <a:extLst>
                <a:ext uri="{FF2B5EF4-FFF2-40B4-BE49-F238E27FC236}">
                  <a16:creationId xmlns:a16="http://schemas.microsoft.com/office/drawing/2014/main" id="{B66D0571-43A0-C323-CD6A-9B9BF56582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0" y="2325"/>
              <a:ext cx="3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 i="1" dirty="0">
                  <a:ea typeface="黑体" panose="02010609060101010101" pitchFamily="49" charset="-122"/>
                </a:rPr>
                <a:t>l</a:t>
              </a:r>
            </a:p>
          </p:txBody>
        </p:sp>
        <p:sp>
          <p:nvSpPr>
            <p:cNvPr id="16" name="Text Box 24">
              <a:extLst>
                <a:ext uri="{FF2B5EF4-FFF2-40B4-BE49-F238E27FC236}">
                  <a16:creationId xmlns:a16="http://schemas.microsoft.com/office/drawing/2014/main" id="{CE08FA87-7837-99D7-EA70-50061B2409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0" y="1981"/>
              <a:ext cx="3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None/>
              </a:pPr>
              <a:r>
                <a:rPr lang="en-US" altLang="zh-CN" sz="2400" b="0" i="0" dirty="0">
                  <a:ea typeface="黑体" panose="02010609060101010101" pitchFamily="49" charset="-122"/>
                </a:rPr>
                <a:t>d</a:t>
              </a:r>
              <a:r>
                <a:rPr lang="en-US" altLang="zh-CN" sz="2400" b="0" dirty="0">
                  <a:ea typeface="黑体" panose="02010609060101010101" pitchFamily="49" charset="-122"/>
                </a:rPr>
                <a:t>x</a:t>
              </a:r>
            </a:p>
          </p:txBody>
        </p:sp>
        <p:sp>
          <p:nvSpPr>
            <p:cNvPr id="17" name="Text Box 25">
              <a:extLst>
                <a:ext uri="{FF2B5EF4-FFF2-40B4-BE49-F238E27FC236}">
                  <a16:creationId xmlns:a16="http://schemas.microsoft.com/office/drawing/2014/main" id="{737910BD-D645-A671-109D-20676C8BD2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7" y="1976"/>
              <a:ext cx="3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None/>
              </a:pPr>
              <a:r>
                <a:rPr lang="en-US" altLang="zh-CN" sz="2400" b="0" dirty="0">
                  <a:ea typeface="黑体" panose="02010609060101010101" pitchFamily="49" charset="-122"/>
                </a:rPr>
                <a:t>x</a:t>
              </a:r>
            </a:p>
          </p:txBody>
        </p:sp>
        <p:sp>
          <p:nvSpPr>
            <p:cNvPr id="18" name="Text Box 26">
              <a:extLst>
                <a:ext uri="{FF2B5EF4-FFF2-40B4-BE49-F238E27FC236}">
                  <a16:creationId xmlns:a16="http://schemas.microsoft.com/office/drawing/2014/main" id="{952DF350-01E1-F79C-C502-D73F4A9660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0" y="1554"/>
              <a:ext cx="3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None/>
              </a:pPr>
              <a:r>
                <a:rPr lang="en-US" altLang="zh-CN" sz="2400" b="0" dirty="0"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19" name="Text Box 27">
              <a:extLst>
                <a:ext uri="{FF2B5EF4-FFF2-40B4-BE49-F238E27FC236}">
                  <a16:creationId xmlns:a16="http://schemas.microsoft.com/office/drawing/2014/main" id="{39E1F0B3-1D35-F900-34DE-2E2E5653D9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6" y="1594"/>
              <a:ext cx="3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 i="1" dirty="0"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20" name="Line 28">
              <a:extLst>
                <a:ext uri="{FF2B5EF4-FFF2-40B4-BE49-F238E27FC236}">
                  <a16:creationId xmlns:a16="http://schemas.microsoft.com/office/drawing/2014/main" id="{C2C6E82A-5EAD-4538-D79B-72E6D45928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5" y="1936"/>
              <a:ext cx="0" cy="3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9">
              <a:extLst>
                <a:ext uri="{FF2B5EF4-FFF2-40B4-BE49-F238E27FC236}">
                  <a16:creationId xmlns:a16="http://schemas.microsoft.com/office/drawing/2014/main" id="{E950D54A-BF8A-B829-C6D8-F74E575B73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1" y="1939"/>
              <a:ext cx="0" cy="3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30">
              <a:extLst>
                <a:ext uri="{FF2B5EF4-FFF2-40B4-BE49-F238E27FC236}">
                  <a16:creationId xmlns:a16="http://schemas.microsoft.com/office/drawing/2014/main" id="{99D331FD-149C-280C-1BD0-95297D669B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7" y="2217"/>
              <a:ext cx="95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31">
              <a:extLst>
                <a:ext uri="{FF2B5EF4-FFF2-40B4-BE49-F238E27FC236}">
                  <a16:creationId xmlns:a16="http://schemas.microsoft.com/office/drawing/2014/main" id="{F550A2D9-9E89-13D6-48E6-2FD95FA812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9" y="2218"/>
              <a:ext cx="5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32">
              <a:extLst>
                <a:ext uri="{FF2B5EF4-FFF2-40B4-BE49-F238E27FC236}">
                  <a16:creationId xmlns:a16="http://schemas.microsoft.com/office/drawing/2014/main" id="{E045F8A9-76B5-7C8D-1379-CAD9D96D3B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8" y="2216"/>
              <a:ext cx="2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stealth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33">
              <a:extLst>
                <a:ext uri="{FF2B5EF4-FFF2-40B4-BE49-F238E27FC236}">
                  <a16:creationId xmlns:a16="http://schemas.microsoft.com/office/drawing/2014/main" id="{F9F38632-E1FF-2CE7-459A-9CD188BFF4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6" y="2217"/>
              <a:ext cx="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34">
              <a:extLst>
                <a:ext uri="{FF2B5EF4-FFF2-40B4-BE49-F238E27FC236}">
                  <a16:creationId xmlns:a16="http://schemas.microsoft.com/office/drawing/2014/main" id="{ECFB4117-14FA-372B-6A27-959A2D01E3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9" y="2570"/>
              <a:ext cx="189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7" name="Object 11">
            <a:extLst>
              <a:ext uri="{FF2B5EF4-FFF2-40B4-BE49-F238E27FC236}">
                <a16:creationId xmlns:a16="http://schemas.microsoft.com/office/drawing/2014/main" id="{D65FD303-1340-1E64-E3D6-B72340A1E5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5947400"/>
              </p:ext>
            </p:extLst>
          </p:nvPr>
        </p:nvGraphicFramePr>
        <p:xfrm>
          <a:off x="1606550" y="3062288"/>
          <a:ext cx="1598613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85800" imgH="393480" progId="Equation.DSMT4">
                  <p:embed/>
                </p:oleObj>
              </mc:Choice>
              <mc:Fallback>
                <p:oleObj name="Equation" r:id="rId5" imgW="685800" imgH="393480" progId="Equation.DSMT4">
                  <p:embed/>
                  <p:pic>
                    <p:nvPicPr>
                      <p:cNvPr id="929803" name="Object 11">
                        <a:extLst>
                          <a:ext uri="{FF2B5EF4-FFF2-40B4-BE49-F238E27FC236}">
                            <a16:creationId xmlns:a16="http://schemas.microsoft.com/office/drawing/2014/main" id="{BF8B133D-1956-CC8F-9A65-757AB3C923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6550" y="3062288"/>
                        <a:ext cx="1598613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8364128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9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3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utoUpdateAnimBg="0"/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0960" y="91693"/>
            <a:ext cx="67056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2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   动力学的基本方程与动静法</a:t>
            </a:r>
          </a:p>
        </p:txBody>
      </p:sp>
      <p:sp>
        <p:nvSpPr>
          <p:cNvPr id="52" name="Text Box 1032"/>
          <p:cNvSpPr txBox="1">
            <a:spLocks noChangeArrowheads="1"/>
          </p:cNvSpPr>
          <p:nvPr/>
        </p:nvSpPr>
        <p:spPr bwMode="auto">
          <a:xfrm>
            <a:off x="839416" y="1701126"/>
            <a:ext cx="10772819" cy="1594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kumimoji="1" lang="zh-CN" altLang="en-US" sz="2800" i="0" dirty="0">
                <a:latin typeface="+mn-lt"/>
                <a:ea typeface="微软雅黑" panose="020B0503020204020204" pitchFamily="34" charset="-122"/>
              </a:rPr>
              <a:t>设有均质圆板，如图。其质量为</a:t>
            </a:r>
            <a:r>
              <a:rPr kumimoji="1" lang="en-US" altLang="zh-CN" sz="2800" b="0" dirty="0">
                <a:latin typeface="+mn-lt"/>
                <a:ea typeface="微软雅黑" panose="020B0503020204020204" pitchFamily="34" charset="-122"/>
              </a:rPr>
              <a:t>m</a:t>
            </a:r>
            <a:r>
              <a:rPr kumimoji="1" lang="zh-CN" altLang="en-US" sz="2800" i="0" dirty="0">
                <a:latin typeface="+mn-lt"/>
                <a:ea typeface="微软雅黑" panose="020B0503020204020204" pitchFamily="34" charset="-122"/>
              </a:rPr>
              <a:t>，半径为</a:t>
            </a:r>
            <a:r>
              <a:rPr kumimoji="1" lang="en-US" altLang="zh-CN" sz="2800" b="0" dirty="0">
                <a:latin typeface="+mn-lt"/>
                <a:ea typeface="微软雅黑" panose="020B0503020204020204" pitchFamily="34" charset="-122"/>
              </a:rPr>
              <a:t>R</a:t>
            </a:r>
            <a:r>
              <a:rPr kumimoji="1" lang="zh-CN" altLang="en-US" sz="2800" i="0" dirty="0">
                <a:latin typeface="+mn-lt"/>
                <a:ea typeface="微软雅黑" panose="020B0503020204020204" pitchFamily="34" charset="-122"/>
              </a:rPr>
              <a:t>。求它对圆心轴之转动惯量。在圆板上取任意半径</a:t>
            </a:r>
            <a:r>
              <a:rPr kumimoji="1" lang="zh-CN" altLang="en-US" sz="2800" b="0" dirty="0">
                <a:latin typeface="+mn-lt"/>
                <a:ea typeface="微软雅黑" panose="020B0503020204020204" pitchFamily="34" charset="-122"/>
                <a:sym typeface="Symbol" panose="05050102010706020507" pitchFamily="18" charset="2"/>
              </a:rPr>
              <a:t></a:t>
            </a:r>
            <a:r>
              <a:rPr kumimoji="1" lang="zh-CN" altLang="en-US" sz="2800" dirty="0">
                <a:latin typeface="+mn-lt"/>
                <a:ea typeface="微软雅黑" panose="020B0503020204020204" pitchFamily="34" charset="-122"/>
                <a:sym typeface="Symbol" panose="05050102010706020507" pitchFamily="18" charset="2"/>
              </a:rPr>
              <a:t> </a:t>
            </a:r>
            <a:r>
              <a:rPr kumimoji="1" lang="zh-CN" altLang="en-US" sz="2800" i="0" dirty="0">
                <a:latin typeface="+mn-lt"/>
                <a:ea typeface="微软雅黑" panose="020B0503020204020204" pitchFamily="34" charset="-122"/>
              </a:rPr>
              <a:t>处厚为</a:t>
            </a:r>
            <a:r>
              <a:rPr kumimoji="1" lang="en-US" altLang="zh-CN" sz="2800" b="0" i="0" dirty="0">
                <a:latin typeface="+mn-lt"/>
                <a:ea typeface="微软雅黑" panose="020B0503020204020204" pitchFamily="34" charset="-122"/>
              </a:rPr>
              <a:t>d</a:t>
            </a:r>
            <a:r>
              <a:rPr kumimoji="1" lang="en-US" altLang="zh-CN" sz="2800" b="0" dirty="0">
                <a:latin typeface="+mn-lt"/>
                <a:ea typeface="微软雅黑" panose="020B0503020204020204" pitchFamily="34" charset="-122"/>
                <a:sym typeface="Symbol" panose="05050102010706020507" pitchFamily="18" charset="2"/>
              </a:rPr>
              <a:t></a:t>
            </a:r>
            <a:r>
              <a:rPr kumimoji="1" lang="zh-CN" altLang="en-US" sz="2800" i="0" dirty="0">
                <a:latin typeface="+mn-lt"/>
                <a:ea typeface="微软雅黑" panose="020B0503020204020204" pitchFamily="34" charset="-122"/>
              </a:rPr>
              <a:t>之圆环为微元。由于圆板为匀质，故有 </a:t>
            </a:r>
            <a:endParaRPr lang="zh-CN" altLang="en-US" sz="2800" i="0" dirty="0">
              <a:latin typeface="+mn-lt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39416" y="1027313"/>
            <a:ext cx="4852610" cy="5653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i="0" dirty="0">
                <a:latin typeface="+mj-lt"/>
                <a:ea typeface="微软雅黑" panose="020B0503020204020204" pitchFamily="34" charset="-122"/>
              </a:rPr>
              <a:t>均质圆板绕圆心轴的转动惯量</a:t>
            </a:r>
          </a:p>
        </p:txBody>
      </p:sp>
      <p:graphicFrame>
        <p:nvGraphicFramePr>
          <p:cNvPr id="30" name="Object 36">
            <a:extLst>
              <a:ext uri="{FF2B5EF4-FFF2-40B4-BE49-F238E27FC236}">
                <a16:creationId xmlns:a16="http://schemas.microsoft.com/office/drawing/2014/main" id="{074B72CF-A2DD-B9ED-9934-93AFB602E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6139512"/>
              </p:ext>
            </p:extLst>
          </p:nvPr>
        </p:nvGraphicFramePr>
        <p:xfrm>
          <a:off x="961627" y="4252843"/>
          <a:ext cx="5407025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76440" imgH="419040" progId="Equation.DSMT4">
                  <p:embed/>
                </p:oleObj>
              </mc:Choice>
              <mc:Fallback>
                <p:oleObj name="Equation" r:id="rId3" imgW="2476440" imgH="419040" progId="Equation.DSMT4">
                  <p:embed/>
                  <p:pic>
                    <p:nvPicPr>
                      <p:cNvPr id="30" name="Object 36">
                        <a:extLst>
                          <a:ext uri="{FF2B5EF4-FFF2-40B4-BE49-F238E27FC236}">
                            <a16:creationId xmlns:a16="http://schemas.microsoft.com/office/drawing/2014/main" id="{074B72CF-A2DD-B9ED-9934-93AFB602E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1627" y="4252843"/>
                        <a:ext cx="5407025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61">
            <a:extLst>
              <a:ext uri="{FF2B5EF4-FFF2-40B4-BE49-F238E27FC236}">
                <a16:creationId xmlns:a16="http://schemas.microsoft.com/office/drawing/2014/main" id="{9D4911C9-6482-230E-A8C6-0975606E3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0857" y="2848808"/>
            <a:ext cx="3818083" cy="3316496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7" name="Object 11">
            <a:extLst>
              <a:ext uri="{FF2B5EF4-FFF2-40B4-BE49-F238E27FC236}">
                <a16:creationId xmlns:a16="http://schemas.microsoft.com/office/drawing/2014/main" id="{D65FD303-1340-1E64-E3D6-B72340A1E5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1612227"/>
              </p:ext>
            </p:extLst>
          </p:nvPr>
        </p:nvGraphicFramePr>
        <p:xfrm>
          <a:off x="941388" y="3260075"/>
          <a:ext cx="2930525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57120" imgH="393480" progId="Equation.DSMT4">
                  <p:embed/>
                </p:oleObj>
              </mc:Choice>
              <mc:Fallback>
                <p:oleObj name="Equation" r:id="rId5" imgW="1257120" imgH="393480" progId="Equation.DSMT4">
                  <p:embed/>
                  <p:pic>
                    <p:nvPicPr>
                      <p:cNvPr id="27" name="Object 11">
                        <a:extLst>
                          <a:ext uri="{FF2B5EF4-FFF2-40B4-BE49-F238E27FC236}">
                            <a16:creationId xmlns:a16="http://schemas.microsoft.com/office/drawing/2014/main" id="{D65FD303-1340-1E64-E3D6-B72340A1E5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1388" y="3260075"/>
                        <a:ext cx="2930525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9">
            <a:extLst>
              <a:ext uri="{FF2B5EF4-FFF2-40B4-BE49-F238E27FC236}">
                <a16:creationId xmlns:a16="http://schemas.microsoft.com/office/drawing/2014/main" id="{B20942C8-C491-CDE2-1DBA-B37413D5EA8A}"/>
              </a:ext>
            </a:extLst>
          </p:cNvPr>
          <p:cNvGrpSpPr>
            <a:grpSpLocks/>
          </p:cNvGrpSpPr>
          <p:nvPr/>
        </p:nvGrpSpPr>
        <p:grpSpPr bwMode="auto">
          <a:xfrm>
            <a:off x="8709423" y="3246581"/>
            <a:ext cx="2520950" cy="2520950"/>
            <a:chOff x="3910" y="1572"/>
            <a:chExt cx="1588" cy="1588"/>
          </a:xfrm>
        </p:grpSpPr>
        <p:sp>
          <p:nvSpPr>
            <p:cNvPr id="28" name="Oval 35">
              <a:extLst>
                <a:ext uri="{FF2B5EF4-FFF2-40B4-BE49-F238E27FC236}">
                  <a16:creationId xmlns:a16="http://schemas.microsoft.com/office/drawing/2014/main" id="{423D88B1-B675-9E6B-7111-E4F507D94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" y="1572"/>
              <a:ext cx="1588" cy="1588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C0C0C0"/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29" name="Text Box 16">
              <a:extLst>
                <a:ext uri="{FF2B5EF4-FFF2-40B4-BE49-F238E27FC236}">
                  <a16:creationId xmlns:a16="http://schemas.microsoft.com/office/drawing/2014/main" id="{5D6A5B26-FC35-C936-815B-C6F7E63EB6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0" y="2193"/>
              <a:ext cx="3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 i="1" dirty="0">
                  <a:ea typeface="黑体" panose="02010609060101010101" pitchFamily="49" charset="-122"/>
                </a:rPr>
                <a:t>O</a:t>
              </a:r>
            </a:p>
          </p:txBody>
        </p:sp>
        <p:sp>
          <p:nvSpPr>
            <p:cNvPr id="31" name="Text Box 18">
              <a:extLst>
                <a:ext uri="{FF2B5EF4-FFF2-40B4-BE49-F238E27FC236}">
                  <a16:creationId xmlns:a16="http://schemas.microsoft.com/office/drawing/2014/main" id="{C83A5185-CD0F-CD82-9BBE-5CFFF0B50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9" y="1979"/>
              <a:ext cx="3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 i="1" dirty="0">
                  <a:ea typeface="黑体" panose="02010609060101010101" pitchFamily="49" charset="-122"/>
                  <a:sym typeface="Symbol" panose="05050102010706020507" pitchFamily="18" charset="2"/>
                </a:rPr>
                <a:t></a:t>
              </a:r>
            </a:p>
          </p:txBody>
        </p:sp>
        <p:sp>
          <p:nvSpPr>
            <p:cNvPr id="32" name="Text Box 20">
              <a:extLst>
                <a:ext uri="{FF2B5EF4-FFF2-40B4-BE49-F238E27FC236}">
                  <a16:creationId xmlns:a16="http://schemas.microsoft.com/office/drawing/2014/main" id="{FE97B6B0-49B6-3045-8DB9-9A6B572DDF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7" y="1760"/>
              <a:ext cx="3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 i="0" dirty="0">
                  <a:ea typeface="黑体" panose="02010609060101010101" pitchFamily="49" charset="-122"/>
                </a:rPr>
                <a:t>d</a:t>
              </a:r>
              <a:r>
                <a:rPr lang="en-US" altLang="zh-CN" sz="2400" b="0" dirty="0">
                  <a:ea typeface="黑体" panose="02010609060101010101" pitchFamily="49" charset="-122"/>
                  <a:sym typeface="Symbol" panose="05050102010706020507" pitchFamily="18" charset="2"/>
                </a:rPr>
                <a:t></a:t>
              </a:r>
              <a:endParaRPr lang="en-US" altLang="zh-CN" sz="2400" b="0" dirty="0">
                <a:ea typeface="黑体" panose="02010609060101010101" pitchFamily="49" charset="-122"/>
              </a:endParaRPr>
            </a:p>
          </p:txBody>
        </p:sp>
        <p:sp>
          <p:nvSpPr>
            <p:cNvPr id="33" name="Line 24">
              <a:extLst>
                <a:ext uri="{FF2B5EF4-FFF2-40B4-BE49-F238E27FC236}">
                  <a16:creationId xmlns:a16="http://schemas.microsoft.com/office/drawing/2014/main" id="{B6690CAB-4F2C-6A9B-89DB-2086428352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3" y="2124"/>
              <a:ext cx="0" cy="361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25">
              <a:extLst>
                <a:ext uri="{FF2B5EF4-FFF2-40B4-BE49-F238E27FC236}">
                  <a16:creationId xmlns:a16="http://schemas.microsoft.com/office/drawing/2014/main" id="{5B591A47-6258-50B5-0D38-D4318F2E90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8" y="2128"/>
              <a:ext cx="0" cy="358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27">
              <a:extLst>
                <a:ext uri="{FF2B5EF4-FFF2-40B4-BE49-F238E27FC236}">
                  <a16:creationId xmlns:a16="http://schemas.microsoft.com/office/drawing/2014/main" id="{2AEE6D58-D5F0-B6D2-4007-1EE2AF744C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12" y="2129"/>
              <a:ext cx="324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AutoShape 36" descr="深色上对角线">
              <a:extLst>
                <a:ext uri="{FF2B5EF4-FFF2-40B4-BE49-F238E27FC236}">
                  <a16:creationId xmlns:a16="http://schemas.microsoft.com/office/drawing/2014/main" id="{0BC17084-E915-0B0B-627D-29F7BE922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1873"/>
              <a:ext cx="986" cy="98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5 w 21600"/>
                <a:gd name="T25" fmla="*/ 3155 h 21600"/>
                <a:gd name="T26" fmla="*/ 18445 w 21600"/>
                <a:gd name="T27" fmla="*/ 1844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72" y="10800"/>
                  </a:moveTo>
                  <a:cubicBezTo>
                    <a:pt x="1972" y="15676"/>
                    <a:pt x="5924" y="19628"/>
                    <a:pt x="10800" y="19628"/>
                  </a:cubicBezTo>
                  <a:cubicBezTo>
                    <a:pt x="15676" y="19628"/>
                    <a:pt x="19628" y="15676"/>
                    <a:pt x="19628" y="10800"/>
                  </a:cubicBezTo>
                  <a:cubicBezTo>
                    <a:pt x="19628" y="5924"/>
                    <a:pt x="15676" y="1972"/>
                    <a:pt x="10800" y="1972"/>
                  </a:cubicBezTo>
                  <a:cubicBezTo>
                    <a:pt x="5924" y="1972"/>
                    <a:pt x="1972" y="5924"/>
                    <a:pt x="1972" y="10800"/>
                  </a:cubicBezTo>
                  <a:close/>
                </a:path>
              </a:pathLst>
            </a:custGeom>
            <a:pattFill prst="dkUpDiag">
              <a:fgClr>
                <a:schemeClr val="tx1"/>
              </a:fgClr>
              <a:bgClr>
                <a:schemeClr val="bg1"/>
              </a:bgClr>
            </a:pattFill>
            <a:ln w="1905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Line 14">
              <a:extLst>
                <a:ext uri="{FF2B5EF4-FFF2-40B4-BE49-F238E27FC236}">
                  <a16:creationId xmlns:a16="http://schemas.microsoft.com/office/drawing/2014/main" id="{72009AF5-EE57-B627-D267-1175DBADE9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05" y="2358"/>
              <a:ext cx="541" cy="5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stealth" w="sm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Text Box 19">
              <a:extLst>
                <a:ext uri="{FF2B5EF4-FFF2-40B4-BE49-F238E27FC236}">
                  <a16:creationId xmlns:a16="http://schemas.microsoft.com/office/drawing/2014/main" id="{846A771E-DB64-9577-DF6C-2A66C4193F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847741">
              <a:off x="4770" y="2322"/>
              <a:ext cx="3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 i="1" dirty="0">
                  <a:ea typeface="黑体" panose="02010609060101010101" pitchFamily="49" charset="-122"/>
                </a:rPr>
                <a:t>R</a:t>
              </a:r>
            </a:p>
          </p:txBody>
        </p:sp>
        <p:sp>
          <p:nvSpPr>
            <p:cNvPr id="39" name="Line 29">
              <a:extLst>
                <a:ext uri="{FF2B5EF4-FFF2-40B4-BE49-F238E27FC236}">
                  <a16:creationId xmlns:a16="http://schemas.microsoft.com/office/drawing/2014/main" id="{8333BA7A-A843-D39B-9C0A-9871A62A16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3" y="2406"/>
              <a:ext cx="99" cy="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37">
              <a:extLst>
                <a:ext uri="{FF2B5EF4-FFF2-40B4-BE49-F238E27FC236}">
                  <a16:creationId xmlns:a16="http://schemas.microsoft.com/office/drawing/2014/main" id="{3160BD28-1C8E-BF0F-09B7-950D9605CC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14" y="2069"/>
              <a:ext cx="92" cy="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38">
              <a:extLst>
                <a:ext uri="{FF2B5EF4-FFF2-40B4-BE49-F238E27FC236}">
                  <a16:creationId xmlns:a16="http://schemas.microsoft.com/office/drawing/2014/main" id="{9E7BCF51-3056-217B-A3D2-62CC326E46D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5101" y="1955"/>
              <a:ext cx="193" cy="1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6833774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utoUpdateAnimBg="0"/>
      <p:bldP spid="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0960" y="91693"/>
            <a:ext cx="67056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2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   动力学的基本方程与动静法</a:t>
            </a:r>
          </a:p>
        </p:txBody>
      </p:sp>
      <p:sp>
        <p:nvSpPr>
          <p:cNvPr id="52" name="Text Box 1032"/>
          <p:cNvSpPr txBox="1">
            <a:spLocks noChangeArrowheads="1"/>
          </p:cNvSpPr>
          <p:nvPr/>
        </p:nvSpPr>
        <p:spPr bwMode="auto">
          <a:xfrm>
            <a:off x="839416" y="1701126"/>
            <a:ext cx="10772819" cy="3489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工程中有时也把转动惯量写成刚体的总质量</a:t>
            </a:r>
            <a:r>
              <a:rPr lang="en-US" altLang="zh-CN" sz="2800" b="0" dirty="0">
                <a:latin typeface="+mn-lt"/>
                <a:ea typeface="微软雅黑" panose="020B0503020204020204" pitchFamily="34" charset="-122"/>
              </a:rPr>
              <a:t>m</a:t>
            </a: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与当量长度</a:t>
            </a:r>
            <a:r>
              <a:rPr lang="zh-CN" altLang="en-US" sz="2800" b="0" dirty="0">
                <a:latin typeface="+mn-lt"/>
                <a:ea typeface="微软雅黑" panose="020B0503020204020204" pitchFamily="34" charset="-122"/>
                <a:sym typeface="Symbol" panose="05050102010706020507" pitchFamily="18" charset="2"/>
              </a:rPr>
              <a:t></a:t>
            </a:r>
            <a:r>
              <a:rPr lang="en-US" altLang="zh-CN" sz="2800" b="0" baseline="-25000" dirty="0">
                <a:latin typeface="+mn-lt"/>
                <a:ea typeface="微软雅黑" panose="020B0503020204020204" pitchFamily="34" charset="-122"/>
              </a:rPr>
              <a:t>z</a:t>
            </a: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的平方乘积形式，即</a:t>
            </a:r>
            <a:endParaRPr lang="en-US" altLang="zh-CN" sz="2800" i="0" dirty="0">
              <a:latin typeface="+mn-lt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800" b="0" dirty="0">
                <a:ea typeface="黑体" panose="02010609060101010101" pitchFamily="49" charset="-122"/>
              </a:rPr>
              <a:t>                          </a:t>
            </a:r>
            <a:r>
              <a:rPr lang="en-US" altLang="zh-CN" sz="2800" b="0" dirty="0" err="1">
                <a:ea typeface="黑体" panose="02010609060101010101" pitchFamily="49" charset="-122"/>
              </a:rPr>
              <a:t>J</a:t>
            </a:r>
            <a:r>
              <a:rPr lang="en-US" altLang="zh-CN" sz="2800" b="0" baseline="-25000" dirty="0" err="1">
                <a:ea typeface="黑体" panose="02010609060101010101" pitchFamily="49" charset="-122"/>
              </a:rPr>
              <a:t>z</a:t>
            </a:r>
            <a:r>
              <a:rPr lang="en-US" altLang="zh-CN" sz="2800" b="0" dirty="0">
                <a:ea typeface="黑体" panose="02010609060101010101" pitchFamily="49" charset="-122"/>
              </a:rPr>
              <a:t>=m</a:t>
            </a:r>
            <a:r>
              <a:rPr lang="en-US" altLang="zh-CN" sz="2800" b="0" dirty="0">
                <a:ea typeface="黑体" panose="02010609060101010101" pitchFamily="49" charset="-122"/>
                <a:sym typeface="Symbol" panose="05050102010706020507" pitchFamily="18" charset="2"/>
              </a:rPr>
              <a:t></a:t>
            </a:r>
            <a:r>
              <a:rPr lang="en-US" altLang="zh-CN" sz="2800" b="0" baseline="-25000" dirty="0">
                <a:ea typeface="黑体" panose="02010609060101010101" pitchFamily="49" charset="-122"/>
              </a:rPr>
              <a:t>z</a:t>
            </a:r>
            <a:r>
              <a:rPr lang="en-US" altLang="zh-CN" sz="2800" b="0" i="0" baseline="30000" dirty="0">
                <a:ea typeface="黑体" panose="02010609060101010101" pitchFamily="49" charset="-122"/>
              </a:rPr>
              <a:t>2</a:t>
            </a:r>
          </a:p>
          <a:p>
            <a:pPr>
              <a:lnSpc>
                <a:spcPct val="120000"/>
              </a:lnSpc>
            </a:pPr>
            <a:endParaRPr lang="en-US" altLang="zh-CN" sz="2800" i="0" baseline="30000" dirty="0">
              <a:latin typeface="+mn-lt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b="0" dirty="0">
                <a:latin typeface="+mj-lt"/>
                <a:ea typeface="微软雅黑" panose="020B0503020204020204" pitchFamily="34" charset="-122"/>
                <a:sym typeface="Symbol" panose="05050102010706020507" pitchFamily="18" charset="2"/>
              </a:rPr>
              <a:t></a:t>
            </a:r>
            <a:r>
              <a:rPr lang="en-US" altLang="zh-CN" sz="2800" b="0" baseline="-25000" dirty="0">
                <a:latin typeface="+mj-lt"/>
                <a:ea typeface="微软雅黑" panose="020B0503020204020204" pitchFamily="34" charset="-122"/>
              </a:rPr>
              <a:t>z </a:t>
            </a: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称为刚体对于轴的回转半径。它是假想把刚体的质量集中于距转轴为</a:t>
            </a:r>
            <a:r>
              <a:rPr lang="zh-CN" altLang="en-US" sz="2800" b="0" dirty="0">
                <a:latin typeface="+mn-lt"/>
                <a:ea typeface="微软雅黑" panose="020B0503020204020204" pitchFamily="34" charset="-122"/>
                <a:sym typeface="Symbol" panose="05050102010706020507" pitchFamily="18" charset="2"/>
              </a:rPr>
              <a:t></a:t>
            </a:r>
            <a:r>
              <a:rPr lang="en-US" altLang="zh-CN" sz="2800" b="0" baseline="-25000" dirty="0">
                <a:latin typeface="+mn-lt"/>
                <a:ea typeface="微软雅黑" panose="020B0503020204020204" pitchFamily="34" charset="-122"/>
              </a:rPr>
              <a:t>z </a:t>
            </a: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的质点上，则此质点对于</a:t>
            </a:r>
            <a:r>
              <a:rPr lang="en-US" altLang="zh-CN" sz="2800" b="0" dirty="0">
                <a:latin typeface="+mn-lt"/>
                <a:ea typeface="微软雅黑" panose="020B0503020204020204" pitchFamily="34" charset="-122"/>
              </a:rPr>
              <a:t>z </a:t>
            </a: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轴的转动惯量等于原来刚体对于</a:t>
            </a:r>
            <a:r>
              <a:rPr lang="en-US" altLang="zh-CN" sz="2800" b="0" dirty="0">
                <a:latin typeface="+mn-lt"/>
                <a:ea typeface="微软雅黑" panose="020B0503020204020204" pitchFamily="34" charset="-122"/>
              </a:rPr>
              <a:t>z</a:t>
            </a: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轴的转动惯量。</a:t>
            </a:r>
          </a:p>
        </p:txBody>
      </p:sp>
      <p:sp>
        <p:nvSpPr>
          <p:cNvPr id="6" name="矩形 5"/>
          <p:cNvSpPr/>
          <p:nvPr/>
        </p:nvSpPr>
        <p:spPr>
          <a:xfrm>
            <a:off x="839416" y="1027313"/>
            <a:ext cx="3775393" cy="5653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i="0" dirty="0">
                <a:latin typeface="+mj-lt"/>
                <a:ea typeface="微软雅黑" panose="020B0503020204020204" pitchFamily="34" charset="-122"/>
              </a:rPr>
              <a:t>回转半径（惯性半径）</a:t>
            </a:r>
          </a:p>
        </p:txBody>
      </p:sp>
    </p:spTree>
    <p:extLst>
      <p:ext uri="{BB962C8B-B14F-4D97-AF65-F5344CB8AC3E}">
        <p14:creationId xmlns:p14="http://schemas.microsoft.com/office/powerpoint/2010/main" val="209685136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0960" y="91693"/>
            <a:ext cx="67056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2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   动力学的基本方程与动静法</a:t>
            </a:r>
          </a:p>
        </p:txBody>
      </p:sp>
      <p:sp>
        <p:nvSpPr>
          <p:cNvPr id="52" name="Text Box 1032"/>
          <p:cNvSpPr txBox="1">
            <a:spLocks noChangeArrowheads="1"/>
          </p:cNvSpPr>
          <p:nvPr/>
        </p:nvSpPr>
        <p:spPr bwMode="auto">
          <a:xfrm>
            <a:off x="839416" y="1701126"/>
            <a:ext cx="10772819" cy="3150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工程手册一般给出刚体对通过质心轴的转动惯量。在工程中，有时需要确定刚体对不通过质心轴的转动惯量，例如求等截面直杆</a:t>
            </a:r>
            <a:r>
              <a:rPr lang="en-US" altLang="zh-CN" sz="2800" b="0" dirty="0">
                <a:latin typeface="+mn-lt"/>
                <a:ea typeface="微软雅黑" panose="020B0503020204020204" pitchFamily="34" charset="-122"/>
              </a:rPr>
              <a:t>AB</a:t>
            </a: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对通过杆端</a:t>
            </a:r>
            <a:r>
              <a:rPr lang="en-US" altLang="zh-CN" sz="2800" b="0" dirty="0">
                <a:latin typeface="+mn-lt"/>
                <a:ea typeface="微软雅黑" panose="020B0503020204020204" pitchFamily="34" charset="-122"/>
              </a:rPr>
              <a:t>A</a:t>
            </a: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点上的横轴 </a:t>
            </a:r>
            <a:r>
              <a:rPr lang="en-US" altLang="zh-CN" sz="2800" b="0" dirty="0">
                <a:latin typeface="+mn-lt"/>
                <a:ea typeface="微软雅黑" panose="020B0503020204020204" pitchFamily="34" charset="-122"/>
              </a:rPr>
              <a:t>z</a:t>
            </a:r>
            <a:r>
              <a:rPr lang="en-US" altLang="zh-CN" sz="2800" b="0" dirty="0">
                <a:ea typeface="微软雅黑" panose="020B0503020204020204" pitchFamily="34" charset="-122"/>
              </a:rPr>
              <a:t>' </a:t>
            </a: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的转动惯量（表</a:t>
            </a:r>
            <a:r>
              <a:rPr lang="en-US" altLang="zh-CN" sz="2800" i="0" dirty="0">
                <a:latin typeface="+mn-lt"/>
                <a:ea typeface="微软雅黑" panose="020B0503020204020204" pitchFamily="34" charset="-122"/>
              </a:rPr>
              <a:t>6-1</a:t>
            </a: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），这就需要利用如下转动惯量的</a:t>
            </a:r>
            <a:r>
              <a:rPr lang="zh-CN" altLang="en-US" sz="2800" i="0" dirty="0">
                <a:solidFill>
                  <a:srgbClr val="FF0000"/>
                </a:solidFill>
                <a:latin typeface="+mn-lt"/>
                <a:ea typeface="微软雅黑" panose="020B0503020204020204" pitchFamily="34" charset="-122"/>
              </a:rPr>
              <a:t>平行轴定理</a:t>
            </a: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：</a:t>
            </a:r>
            <a:endParaRPr lang="en-US" altLang="zh-CN" sz="2800" i="0" dirty="0">
              <a:latin typeface="+mn-lt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刚体对于任一轴 </a:t>
            </a:r>
            <a:r>
              <a:rPr lang="en-US" altLang="zh-CN" sz="2800" b="0" dirty="0">
                <a:ea typeface="微软雅黑" panose="020B0503020204020204" pitchFamily="34" charset="-122"/>
              </a:rPr>
              <a:t>z' </a:t>
            </a: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的转动惯量，等于与此轴平行的质心轴的转动惯量</a:t>
            </a:r>
            <a:r>
              <a:rPr lang="en-US" altLang="zh-CN" sz="2800" b="0" dirty="0" err="1">
                <a:latin typeface="+mn-lt"/>
                <a:ea typeface="微软雅黑" panose="020B0503020204020204" pitchFamily="34" charset="-122"/>
              </a:rPr>
              <a:t>J</a:t>
            </a:r>
            <a:r>
              <a:rPr lang="en-US" altLang="zh-CN" sz="2800" b="0" baseline="-25000" dirty="0" err="1">
                <a:latin typeface="+mn-lt"/>
                <a:ea typeface="微软雅黑" panose="020B0503020204020204" pitchFamily="34" charset="-122"/>
              </a:rPr>
              <a:t>z</a:t>
            </a: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，加上刚体的质量与</a:t>
            </a:r>
            <a:r>
              <a:rPr lang="en-US" altLang="zh-CN" sz="2800" b="0" dirty="0">
                <a:ea typeface="微软雅黑" panose="020B0503020204020204" pitchFamily="34" charset="-122"/>
              </a:rPr>
              <a:t>z' </a:t>
            </a: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轴到质心轴 </a:t>
            </a:r>
            <a:r>
              <a:rPr lang="en-US" altLang="zh-CN" sz="2800" b="0" dirty="0">
                <a:latin typeface="+mn-lt"/>
                <a:ea typeface="微软雅黑" panose="020B0503020204020204" pitchFamily="34" charset="-122"/>
              </a:rPr>
              <a:t>z </a:t>
            </a: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的距离</a:t>
            </a:r>
            <a:r>
              <a:rPr lang="en-US" altLang="zh-CN" sz="2800" b="0" dirty="0">
                <a:latin typeface="+mn-lt"/>
                <a:ea typeface="微软雅黑" panose="020B0503020204020204" pitchFamily="34" charset="-122"/>
              </a:rPr>
              <a:t>d </a:t>
            </a:r>
            <a:r>
              <a:rPr lang="zh-CN" altLang="en-US" sz="2800" i="0" dirty="0">
                <a:latin typeface="+mn-lt"/>
                <a:ea typeface="微软雅黑" panose="020B0503020204020204" pitchFamily="34" charset="-122"/>
              </a:rPr>
              <a:t>平方的乘积，即</a:t>
            </a:r>
          </a:p>
        </p:txBody>
      </p:sp>
      <p:sp>
        <p:nvSpPr>
          <p:cNvPr id="6" name="矩形 5"/>
          <p:cNvSpPr/>
          <p:nvPr/>
        </p:nvSpPr>
        <p:spPr>
          <a:xfrm>
            <a:off x="839416" y="1027313"/>
            <a:ext cx="1980029" cy="5653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i="0" dirty="0">
                <a:latin typeface="+mj-lt"/>
                <a:ea typeface="微软雅黑" panose="020B0503020204020204" pitchFamily="34" charset="-122"/>
              </a:rPr>
              <a:t>平行轴定理</a:t>
            </a:r>
          </a:p>
        </p:txBody>
      </p:sp>
      <p:graphicFrame>
        <p:nvGraphicFramePr>
          <p:cNvPr id="4" name="Object 36">
            <a:extLst>
              <a:ext uri="{FF2B5EF4-FFF2-40B4-BE49-F238E27FC236}">
                <a16:creationId xmlns:a16="http://schemas.microsoft.com/office/drawing/2014/main" id="{B038F9C1-FA0E-DC99-F39E-091E321CD8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5555327"/>
              </p:ext>
            </p:extLst>
          </p:nvPr>
        </p:nvGraphicFramePr>
        <p:xfrm>
          <a:off x="4295800" y="5013176"/>
          <a:ext cx="2295929" cy="625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01440" imgH="241200" progId="Equation.DSMT4">
                  <p:embed/>
                </p:oleObj>
              </mc:Choice>
              <mc:Fallback>
                <p:oleObj name="Equation" r:id="rId3" imgW="901440" imgH="241200" progId="Equation.DSMT4">
                  <p:embed/>
                  <p:pic>
                    <p:nvPicPr>
                      <p:cNvPr id="30" name="Object 36">
                        <a:extLst>
                          <a:ext uri="{FF2B5EF4-FFF2-40B4-BE49-F238E27FC236}">
                            <a16:creationId xmlns:a16="http://schemas.microsoft.com/office/drawing/2014/main" id="{074B72CF-A2DD-B9ED-9934-93AFB602E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800" y="5013176"/>
                        <a:ext cx="2295929" cy="6258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7176140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0960" y="91693"/>
            <a:ext cx="67056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2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   动力学的基本方程与动静法</a:t>
            </a:r>
          </a:p>
        </p:txBody>
      </p:sp>
      <p:sp>
        <p:nvSpPr>
          <p:cNvPr id="4" name="矩形 3"/>
          <p:cNvSpPr/>
          <p:nvPr/>
        </p:nvSpPr>
        <p:spPr>
          <a:xfrm>
            <a:off x="191343" y="842981"/>
            <a:ext cx="11665297" cy="4931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i="0" dirty="0">
                <a:solidFill>
                  <a:srgbClr val="0033CC"/>
                </a:solidFill>
                <a:ea typeface="黑体" panose="02010609060101010101" pitchFamily="49" charset="-122"/>
              </a:rPr>
              <a:t>例   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求图中等截面直杆</a:t>
            </a:r>
            <a:r>
              <a:rPr kumimoji="1" lang="en-US" altLang="zh-CN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AB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对轴</a:t>
            </a:r>
            <a:r>
              <a:rPr kumimoji="1" lang="en-US" altLang="zh-CN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z'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的转动惯量及对</a:t>
            </a:r>
            <a:r>
              <a:rPr kumimoji="1" lang="en-US" altLang="zh-CN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z' 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轴之回转半径</a:t>
            </a:r>
            <a:r>
              <a:rPr kumimoji="1" lang="zh-CN" altLang="en-US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</a:t>
            </a:r>
            <a:r>
              <a:rPr kumimoji="1" lang="en-US" altLang="zh-CN" b="0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z'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。</a:t>
            </a:r>
            <a:endParaRPr lang="zh-CN" altLang="en-US" i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Rectangle 61">
            <a:extLst>
              <a:ext uri="{FF2B5EF4-FFF2-40B4-BE49-F238E27FC236}">
                <a16:creationId xmlns:a16="http://schemas.microsoft.com/office/drawing/2014/main" id="{0C4CF67B-8CA2-F648-B364-D8C44A49A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4232" y="1701781"/>
            <a:ext cx="3672408" cy="2734778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Group 35">
            <a:extLst>
              <a:ext uri="{FF2B5EF4-FFF2-40B4-BE49-F238E27FC236}">
                <a16:creationId xmlns:a16="http://schemas.microsoft.com/office/drawing/2014/main" id="{0463863E-E374-F80E-1FB3-83BC68889A92}"/>
              </a:ext>
            </a:extLst>
          </p:cNvPr>
          <p:cNvGrpSpPr>
            <a:grpSpLocks/>
          </p:cNvGrpSpPr>
          <p:nvPr/>
        </p:nvGrpSpPr>
        <p:grpSpPr bwMode="auto">
          <a:xfrm>
            <a:off x="8066901" y="1869994"/>
            <a:ext cx="3689350" cy="2055813"/>
            <a:chOff x="3436" y="1318"/>
            <a:chExt cx="2324" cy="1295"/>
          </a:xfrm>
        </p:grpSpPr>
        <p:sp>
          <p:nvSpPr>
            <p:cNvPr id="5" name="Rectangle 15">
              <a:extLst>
                <a:ext uri="{FF2B5EF4-FFF2-40B4-BE49-F238E27FC236}">
                  <a16:creationId xmlns:a16="http://schemas.microsoft.com/office/drawing/2014/main" id="{B7D9A353-C3B3-9CD4-7431-577FBB411A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5" y="1789"/>
              <a:ext cx="1885" cy="140"/>
            </a:xfrm>
            <a:prstGeom prst="rect">
              <a:avLst/>
            </a:prstGeom>
            <a:gradFill rotWithShape="1">
              <a:gsLst>
                <a:gs pos="0">
                  <a:srgbClr val="5F5F5F"/>
                </a:gs>
                <a:gs pos="50000">
                  <a:srgbClr val="DBDBDB"/>
                </a:gs>
                <a:gs pos="100000">
                  <a:srgbClr val="5F5F5F"/>
                </a:gs>
              </a:gsLst>
              <a:lin ang="5400000" scaled="1"/>
            </a:gra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chemeClr val="bg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" name="Line 16">
              <a:extLst>
                <a:ext uri="{FF2B5EF4-FFF2-40B4-BE49-F238E27FC236}">
                  <a16:creationId xmlns:a16="http://schemas.microsoft.com/office/drawing/2014/main" id="{8CA3557A-EB5B-DE64-80F4-464ADF5268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3" y="1937"/>
              <a:ext cx="0" cy="6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17">
              <a:extLst>
                <a:ext uri="{FF2B5EF4-FFF2-40B4-BE49-F238E27FC236}">
                  <a16:creationId xmlns:a16="http://schemas.microsoft.com/office/drawing/2014/main" id="{F998593A-3B46-E1FB-AED1-CFACA6F742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0" y="1947"/>
              <a:ext cx="0" cy="6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18">
              <a:extLst>
                <a:ext uri="{FF2B5EF4-FFF2-40B4-BE49-F238E27FC236}">
                  <a16:creationId xmlns:a16="http://schemas.microsoft.com/office/drawing/2014/main" id="{9675FBAC-47A7-A3C3-270F-2D99CBA5A2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0" y="1454"/>
              <a:ext cx="0" cy="8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stealth" w="sm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 Box 19">
              <a:extLst>
                <a:ext uri="{FF2B5EF4-FFF2-40B4-BE49-F238E27FC236}">
                  <a16:creationId xmlns:a16="http://schemas.microsoft.com/office/drawing/2014/main" id="{00F31E9F-E115-7167-9C84-031CA8EBD8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2" y="1318"/>
              <a:ext cx="3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 i="1" dirty="0">
                  <a:ea typeface="黑体" panose="02010609060101010101" pitchFamily="49" charset="-122"/>
                </a:rPr>
                <a:t>z</a:t>
              </a:r>
            </a:p>
          </p:txBody>
        </p:sp>
        <p:sp>
          <p:nvSpPr>
            <p:cNvPr id="40" name="Text Box 20">
              <a:extLst>
                <a:ext uri="{FF2B5EF4-FFF2-40B4-BE49-F238E27FC236}">
                  <a16:creationId xmlns:a16="http://schemas.microsoft.com/office/drawing/2014/main" id="{03152EFE-A2F9-A48C-FD2F-DC1E695939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0" y="1873"/>
              <a:ext cx="3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None/>
              </a:pPr>
              <a:r>
                <a:rPr lang="en-US" altLang="zh-CN" sz="2400" b="0" dirty="0">
                  <a:ea typeface="黑体" panose="02010609060101010101" pitchFamily="49" charset="-122"/>
                </a:rPr>
                <a:t>C</a:t>
              </a:r>
            </a:p>
          </p:txBody>
        </p:sp>
        <p:sp>
          <p:nvSpPr>
            <p:cNvPr id="42" name="Text Box 22">
              <a:extLst>
                <a:ext uri="{FF2B5EF4-FFF2-40B4-BE49-F238E27FC236}">
                  <a16:creationId xmlns:a16="http://schemas.microsoft.com/office/drawing/2014/main" id="{E0E35099-66B7-B059-1F94-C2F3746C60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0" y="1982"/>
              <a:ext cx="3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 dirty="0">
                  <a:ea typeface="黑体" panose="02010609060101010101" pitchFamily="49" charset="-122"/>
                </a:rPr>
                <a:t>l/</a:t>
              </a:r>
              <a:r>
                <a:rPr lang="en-US" altLang="zh-CN" sz="2400" b="0" i="0" dirty="0"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43" name="Text Box 23">
              <a:extLst>
                <a:ext uri="{FF2B5EF4-FFF2-40B4-BE49-F238E27FC236}">
                  <a16:creationId xmlns:a16="http://schemas.microsoft.com/office/drawing/2014/main" id="{980FAAFA-6EA2-AE15-6D6B-568B3537F2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0" y="2325"/>
              <a:ext cx="3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 i="1" dirty="0">
                  <a:ea typeface="黑体" panose="02010609060101010101" pitchFamily="49" charset="-122"/>
                </a:rPr>
                <a:t>l</a:t>
              </a:r>
            </a:p>
          </p:txBody>
        </p:sp>
        <p:sp>
          <p:nvSpPr>
            <p:cNvPr id="46" name="Text Box 26">
              <a:extLst>
                <a:ext uri="{FF2B5EF4-FFF2-40B4-BE49-F238E27FC236}">
                  <a16:creationId xmlns:a16="http://schemas.microsoft.com/office/drawing/2014/main" id="{1906CF7F-AA64-504E-EB73-18FBB79C23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0" y="1554"/>
              <a:ext cx="3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None/>
              </a:pPr>
              <a:r>
                <a:rPr lang="en-US" altLang="zh-CN" sz="2400" b="0" dirty="0"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47" name="Text Box 27">
              <a:extLst>
                <a:ext uri="{FF2B5EF4-FFF2-40B4-BE49-F238E27FC236}">
                  <a16:creationId xmlns:a16="http://schemas.microsoft.com/office/drawing/2014/main" id="{6FBA5E79-2134-5573-323B-25FDDEE030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6" y="1594"/>
              <a:ext cx="3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 i="1" dirty="0"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50" name="Line 30">
              <a:extLst>
                <a:ext uri="{FF2B5EF4-FFF2-40B4-BE49-F238E27FC236}">
                  <a16:creationId xmlns:a16="http://schemas.microsoft.com/office/drawing/2014/main" id="{5D365F4D-AB50-F035-DFAC-EAF88E1780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7" y="2217"/>
              <a:ext cx="95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34">
              <a:extLst>
                <a:ext uri="{FF2B5EF4-FFF2-40B4-BE49-F238E27FC236}">
                  <a16:creationId xmlns:a16="http://schemas.microsoft.com/office/drawing/2014/main" id="{1679171F-8A5F-50AD-4160-C332846870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9" y="2570"/>
              <a:ext cx="189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18">
              <a:extLst>
                <a:ext uri="{FF2B5EF4-FFF2-40B4-BE49-F238E27FC236}">
                  <a16:creationId xmlns:a16="http://schemas.microsoft.com/office/drawing/2014/main" id="{C78F1A3F-1809-9EE9-0352-89F0116C07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2" y="1454"/>
              <a:ext cx="0" cy="8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stealth" w="sm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Text Box 19">
              <a:extLst>
                <a:ext uri="{FF2B5EF4-FFF2-40B4-BE49-F238E27FC236}">
                  <a16:creationId xmlns:a16="http://schemas.microsoft.com/office/drawing/2014/main" id="{2387D595-95F4-3EEB-7E2B-A134B8C825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4" y="1318"/>
              <a:ext cx="34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z'</a:t>
              </a:r>
              <a:endParaRPr lang="en-US" altLang="zh-CN" sz="2400" b="0" i="1" dirty="0">
                <a:ea typeface="黑体" panose="02010609060101010101" pitchFamily="49" charset="-122"/>
              </a:endParaRPr>
            </a:p>
          </p:txBody>
        </p:sp>
      </p:grpSp>
      <p:sp>
        <p:nvSpPr>
          <p:cNvPr id="57" name="矩形 56">
            <a:extLst>
              <a:ext uri="{FF2B5EF4-FFF2-40B4-BE49-F238E27FC236}">
                <a16:creationId xmlns:a16="http://schemas.microsoft.com/office/drawing/2014/main" id="{D3CDC4E8-6131-C61F-BBEF-CD6E3A776FFC}"/>
              </a:ext>
            </a:extLst>
          </p:cNvPr>
          <p:cNvSpPr/>
          <p:nvPr/>
        </p:nvSpPr>
        <p:spPr>
          <a:xfrm>
            <a:off x="191343" y="1354429"/>
            <a:ext cx="7659515" cy="2521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i="0" dirty="0">
                <a:solidFill>
                  <a:srgbClr val="0033CC"/>
                </a:solidFill>
                <a:ea typeface="黑体" panose="02010609060101010101" pitchFamily="49" charset="-122"/>
              </a:rPr>
              <a:t>解   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以设等截面直杆的质量为</a:t>
            </a:r>
            <a:r>
              <a:rPr kumimoji="1" lang="en-US" altLang="zh-CN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m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，直杆对质心轴的转动惯量</a:t>
            </a:r>
            <a:r>
              <a:rPr kumimoji="1" lang="en-US" altLang="zh-CN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J</a:t>
            </a:r>
            <a:r>
              <a:rPr kumimoji="1" lang="en-US" altLang="zh-CN" b="0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z</a:t>
            </a:r>
            <a: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=</a:t>
            </a:r>
            <a:r>
              <a:rPr kumimoji="1" lang="en-US" altLang="zh-CN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ml</a:t>
            </a:r>
            <a:r>
              <a:rPr kumimoji="1" lang="en-US" altLang="zh-CN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2</a:t>
            </a:r>
            <a: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/12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。根据转动惯量的平行移轴定理，直杆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AB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对</a:t>
            </a:r>
            <a:r>
              <a:rPr kumimoji="1" lang="en-US" altLang="zh-CN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z' 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轴的转动惯量为</a:t>
            </a:r>
            <a:endParaRPr kumimoji="1" lang="en-US" altLang="zh-CN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           </a:t>
            </a:r>
            <a:r>
              <a:rPr kumimoji="1" lang="en-US" altLang="zh-CN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J</a:t>
            </a:r>
            <a:r>
              <a:rPr kumimoji="1" lang="en-US" altLang="zh-CN" b="0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z</a:t>
            </a:r>
            <a:r>
              <a:rPr kumimoji="1" lang="en-US" altLang="zh-CN" b="0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'</a:t>
            </a:r>
            <a: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=</a:t>
            </a:r>
            <a:r>
              <a:rPr kumimoji="1" lang="en-US" altLang="zh-CN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J</a:t>
            </a:r>
            <a:r>
              <a:rPr kumimoji="1" lang="en-US" altLang="zh-CN" b="0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z</a:t>
            </a:r>
            <a: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+</a:t>
            </a:r>
            <a:r>
              <a:rPr kumimoji="1" lang="en-US" altLang="zh-CN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md</a:t>
            </a:r>
            <a:r>
              <a:rPr kumimoji="1" lang="en-US" altLang="zh-CN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2</a:t>
            </a: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                         </a:t>
            </a:r>
            <a: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=</a:t>
            </a:r>
            <a:r>
              <a:rPr kumimoji="1" lang="en-US" altLang="zh-CN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ml</a:t>
            </a:r>
            <a:r>
              <a:rPr kumimoji="1" lang="en-US" altLang="zh-CN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2</a:t>
            </a:r>
            <a: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/12+</a:t>
            </a:r>
            <a:r>
              <a:rPr kumimoji="1" lang="en-US" altLang="zh-CN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m</a:t>
            </a:r>
            <a: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(</a:t>
            </a:r>
            <a:r>
              <a:rPr kumimoji="1" lang="en-US" altLang="zh-CN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l</a:t>
            </a:r>
            <a: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/2)</a:t>
            </a:r>
            <a:r>
              <a:rPr kumimoji="1" lang="en-US" altLang="zh-CN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2</a:t>
            </a:r>
            <a: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=</a:t>
            </a:r>
            <a:r>
              <a:rPr kumimoji="1" lang="en-US" altLang="zh-CN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ml</a:t>
            </a:r>
            <a:r>
              <a:rPr kumimoji="1" lang="en-US" altLang="zh-CN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2</a:t>
            </a:r>
            <a: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/3</a:t>
            </a:r>
            <a:endParaRPr kumimoji="1" lang="zh-CN" altLang="en-US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graphicFrame>
        <p:nvGraphicFramePr>
          <p:cNvPr id="60" name="Object 70">
            <a:extLst>
              <a:ext uri="{FF2B5EF4-FFF2-40B4-BE49-F238E27FC236}">
                <a16:creationId xmlns:a16="http://schemas.microsoft.com/office/drawing/2014/main" id="{265B39B0-5CD0-4A81-05C7-A45B8F178D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5865228"/>
              </p:ext>
            </p:extLst>
          </p:nvPr>
        </p:nvGraphicFramePr>
        <p:xfrm>
          <a:off x="1343472" y="3717032"/>
          <a:ext cx="2520280" cy="8511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95280" imgH="431640" progId="Equation.DSMT4">
                  <p:embed/>
                </p:oleObj>
              </mc:Choice>
              <mc:Fallback>
                <p:oleObj name="Equation" r:id="rId3" imgW="1295280" imgH="431640" progId="Equation.DSMT4">
                  <p:embed/>
                  <p:pic>
                    <p:nvPicPr>
                      <p:cNvPr id="942150" name="Object 70">
                        <a:extLst>
                          <a:ext uri="{FF2B5EF4-FFF2-40B4-BE49-F238E27FC236}">
                            <a16:creationId xmlns:a16="http://schemas.microsoft.com/office/drawing/2014/main" id="{134DE993-6622-6C18-A76F-FDC5B1F47B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472" y="3717032"/>
                        <a:ext cx="2520280" cy="8511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矩形 60">
            <a:extLst>
              <a:ext uri="{FF2B5EF4-FFF2-40B4-BE49-F238E27FC236}">
                <a16:creationId xmlns:a16="http://schemas.microsoft.com/office/drawing/2014/main" id="{C0F573EB-E911-A648-0348-F3A06C405423}"/>
              </a:ext>
            </a:extLst>
          </p:cNvPr>
          <p:cNvSpPr/>
          <p:nvPr/>
        </p:nvSpPr>
        <p:spPr>
          <a:xfrm>
            <a:off x="191343" y="4520097"/>
            <a:ext cx="11665297" cy="4931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i="0" dirty="0">
                <a:ea typeface="黑体" panose="02010609060101010101" pitchFamily="49" charset="-122"/>
              </a:rPr>
              <a:t>   要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求记住三个转动惯量</a:t>
            </a:r>
            <a:endParaRPr lang="zh-CN" altLang="en-US" i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FB0E4822-8AC4-1F2C-45EA-8CF0CD437AE5}"/>
              </a:ext>
            </a:extLst>
          </p:cNvPr>
          <p:cNvSpPr/>
          <p:nvPr/>
        </p:nvSpPr>
        <p:spPr>
          <a:xfrm>
            <a:off x="191343" y="4958963"/>
            <a:ext cx="11665297" cy="1379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（</a:t>
            </a:r>
            <a:r>
              <a:rPr kumimoji="1" lang="en-US" altLang="zh-CN" i="0" dirty="0">
                <a:solidFill>
                  <a:schemeClr val="tx1"/>
                </a:solidFill>
                <a:ea typeface="黑体" panose="02010609060101010101" pitchFamily="49" charset="-122"/>
              </a:rPr>
              <a:t>1</a:t>
            </a:r>
            <a:r>
              <a:rPr kumimoji="1" lang="zh-CN" altLang="en-US" i="0" dirty="0">
                <a:solidFill>
                  <a:schemeClr val="tx1"/>
                </a:solidFill>
                <a:ea typeface="黑体" panose="02010609060101010101" pitchFamily="49" charset="-122"/>
              </a:rPr>
              <a:t>）均质圆盘对盘心轴的转动惯量  </a:t>
            </a:r>
            <a:r>
              <a:rPr kumimoji="1" lang="en-US" altLang="zh-CN" b="0" dirty="0">
                <a:solidFill>
                  <a:schemeClr val="tx1"/>
                </a:solidFill>
                <a:ea typeface="黑体" panose="02010609060101010101" pitchFamily="49" charset="-122"/>
              </a:rPr>
              <a:t>mR</a:t>
            </a:r>
            <a:r>
              <a:rPr kumimoji="1" lang="en-US" altLang="zh-CN" b="0" i="0" baseline="30000" dirty="0">
                <a:solidFill>
                  <a:schemeClr val="tx1"/>
                </a:solidFill>
                <a:ea typeface="黑体" panose="02010609060101010101" pitchFamily="49" charset="-122"/>
              </a:rPr>
              <a:t>2</a:t>
            </a:r>
            <a:r>
              <a:rPr kumimoji="1" lang="en-US" altLang="zh-CN" b="0" i="0" dirty="0">
                <a:solidFill>
                  <a:schemeClr val="tx1"/>
                </a:solidFill>
                <a:ea typeface="黑体" panose="02010609060101010101" pitchFamily="49" charset="-122"/>
              </a:rPr>
              <a:t>/2</a:t>
            </a:r>
            <a:r>
              <a:rPr kumimoji="1" lang="zh-CN" altLang="en-US" i="0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endParaRPr kumimoji="1" lang="en-US" altLang="zh-CN" i="0" dirty="0">
              <a:solidFill>
                <a:schemeClr val="tx1"/>
              </a:solidFill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（</a:t>
            </a:r>
            <a:r>
              <a:rPr kumimoji="1" lang="en-US" altLang="zh-CN" i="0" dirty="0">
                <a:solidFill>
                  <a:schemeClr val="tx1"/>
                </a:solidFill>
                <a:ea typeface="黑体" panose="02010609060101010101" pitchFamily="49" charset="-122"/>
              </a:rPr>
              <a:t>2</a:t>
            </a:r>
            <a:r>
              <a:rPr kumimoji="1" lang="zh-CN" altLang="en-US" i="0" dirty="0">
                <a:solidFill>
                  <a:schemeClr val="tx1"/>
                </a:solidFill>
                <a:ea typeface="黑体" panose="02010609060101010101" pitchFamily="49" charset="-122"/>
              </a:rPr>
              <a:t>）均质均质细直杆对一端的转动惯量 </a:t>
            </a:r>
            <a:r>
              <a:rPr kumimoji="1" lang="en-US" altLang="zh-CN" b="0" dirty="0">
                <a:solidFill>
                  <a:schemeClr val="tx1"/>
                </a:solidFill>
                <a:ea typeface="黑体" panose="02010609060101010101" pitchFamily="49" charset="-122"/>
              </a:rPr>
              <a:t>ml</a:t>
            </a:r>
            <a:r>
              <a:rPr kumimoji="1" lang="en-US" altLang="zh-CN" b="0" i="0" baseline="30000" dirty="0">
                <a:solidFill>
                  <a:schemeClr val="tx1"/>
                </a:solidFill>
                <a:ea typeface="黑体" panose="02010609060101010101" pitchFamily="49" charset="-122"/>
              </a:rPr>
              <a:t>2</a:t>
            </a:r>
            <a:r>
              <a:rPr kumimoji="1" lang="en-US" altLang="zh-CN" b="0" i="0" dirty="0">
                <a:solidFill>
                  <a:schemeClr val="tx1"/>
                </a:solidFill>
                <a:ea typeface="黑体" panose="02010609060101010101" pitchFamily="49" charset="-122"/>
              </a:rPr>
              <a:t>/3</a:t>
            </a:r>
            <a:r>
              <a:rPr kumimoji="1" lang="zh-CN" altLang="en-US" i="0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</a:p>
          <a:p>
            <a:pPr>
              <a:lnSpc>
                <a:spcPct val="120000"/>
              </a:lnSpc>
            </a:pP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（</a:t>
            </a:r>
            <a:r>
              <a:rPr kumimoji="1" lang="en-US" altLang="zh-CN" i="0" dirty="0">
                <a:solidFill>
                  <a:schemeClr val="tx1"/>
                </a:solidFill>
                <a:ea typeface="黑体" panose="02010609060101010101" pitchFamily="49" charset="-122"/>
              </a:rPr>
              <a:t>3</a:t>
            </a:r>
            <a:r>
              <a:rPr kumimoji="1" lang="zh-CN" altLang="en-US" i="0" dirty="0">
                <a:solidFill>
                  <a:schemeClr val="tx1"/>
                </a:solidFill>
                <a:ea typeface="黑体" panose="02010609060101010101" pitchFamily="49" charset="-122"/>
              </a:rPr>
              <a:t>）均质细直杆对中心轴的转动惯量  </a:t>
            </a:r>
            <a:r>
              <a:rPr kumimoji="1" lang="en-US" altLang="zh-CN" b="0" dirty="0">
                <a:solidFill>
                  <a:schemeClr val="tx1"/>
                </a:solidFill>
                <a:ea typeface="黑体" panose="02010609060101010101" pitchFamily="49" charset="-122"/>
              </a:rPr>
              <a:t>ml</a:t>
            </a:r>
            <a:r>
              <a:rPr kumimoji="1" lang="en-US" altLang="zh-CN" b="0" i="0" baseline="30000" dirty="0">
                <a:solidFill>
                  <a:schemeClr val="tx1"/>
                </a:solidFill>
                <a:ea typeface="黑体" panose="02010609060101010101" pitchFamily="49" charset="-122"/>
              </a:rPr>
              <a:t>2</a:t>
            </a:r>
            <a:r>
              <a:rPr kumimoji="1" lang="en-US" altLang="zh-CN" b="0" i="0" dirty="0">
                <a:solidFill>
                  <a:schemeClr val="tx1"/>
                </a:solidFill>
                <a:ea typeface="黑体" panose="02010609060101010101" pitchFamily="49" charset="-122"/>
              </a:rPr>
              <a:t>/12</a:t>
            </a:r>
            <a:endParaRPr lang="zh-CN" altLang="en-US" i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164964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9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 animBg="1"/>
      <p:bldP spid="57" grpId="0"/>
      <p:bldP spid="61" grpId="0"/>
      <p:bldP spid="6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0960" y="91693"/>
            <a:ext cx="67056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2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   动力学的基本方程与动静法</a:t>
            </a:r>
          </a:p>
        </p:txBody>
      </p:sp>
      <p:sp>
        <p:nvSpPr>
          <p:cNvPr id="4" name="矩形 3"/>
          <p:cNvSpPr/>
          <p:nvPr/>
        </p:nvSpPr>
        <p:spPr>
          <a:xfrm>
            <a:off x="191343" y="842981"/>
            <a:ext cx="8608318" cy="1379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i="0" dirty="0">
                <a:solidFill>
                  <a:srgbClr val="0033CC"/>
                </a:solidFill>
                <a:ea typeface="黑体" panose="02010609060101010101" pitchFamily="49" charset="-122"/>
              </a:rPr>
              <a:t>例   </a:t>
            </a:r>
            <a:r>
              <a:rPr kumimoji="1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图示提升装置中，已知滚筒直径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d</a:t>
            </a:r>
            <a:r>
              <a:rPr kumimoji="1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，它对转轴的转动惯量为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J</a:t>
            </a:r>
            <a:r>
              <a:rPr kumimoji="1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，作用于滚筒上的主动转矩为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T</a:t>
            </a:r>
            <a:r>
              <a:rPr kumimoji="1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，被提升重物的质量为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m</a:t>
            </a:r>
            <a:r>
              <a:rPr kumimoji="1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。求重物上升的加速度。 </a:t>
            </a:r>
            <a:endParaRPr lang="zh-CN" altLang="en-US" i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Rectangle 61">
            <a:extLst>
              <a:ext uri="{FF2B5EF4-FFF2-40B4-BE49-F238E27FC236}">
                <a16:creationId xmlns:a16="http://schemas.microsoft.com/office/drawing/2014/main" id="{0C4CF67B-8CA2-F648-B364-D8C44A49A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0336" y="842981"/>
            <a:ext cx="2880320" cy="5393935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3CDC4E8-6131-C61F-BBEF-CD6E3A776FFC}"/>
              </a:ext>
            </a:extLst>
          </p:cNvPr>
          <p:cNvSpPr/>
          <p:nvPr/>
        </p:nvSpPr>
        <p:spPr>
          <a:xfrm>
            <a:off x="191343" y="2111993"/>
            <a:ext cx="8467874" cy="14811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i="0" dirty="0">
                <a:solidFill>
                  <a:srgbClr val="0033CC"/>
                </a:solidFill>
                <a:ea typeface="黑体" panose="02010609060101010101" pitchFamily="49" charset="-122"/>
              </a:rPr>
              <a:t>解   </a:t>
            </a:r>
            <a:r>
              <a:rPr kumimoji="1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分别取滚筒与重物为研究对象。</a:t>
            </a: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作用于滚筒上的外力有转矩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T</a:t>
            </a:r>
            <a:r>
              <a:rPr kumimoji="1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、绳拉力</a:t>
            </a:r>
            <a:r>
              <a:rPr kumimoji="1" lang="en-US" altLang="zh-CN" sz="240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F</a:t>
            </a:r>
            <a:r>
              <a:rPr kumimoji="1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T</a:t>
            </a:r>
            <a:r>
              <a:rPr kumimoji="1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，滚筒重力</a:t>
            </a:r>
            <a:r>
              <a:rPr kumimoji="1" lang="en-US" altLang="zh-CN" sz="240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G</a:t>
            </a:r>
            <a:r>
              <a:rPr kumimoji="1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，轴承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O</a:t>
            </a:r>
            <a:r>
              <a:rPr kumimoji="1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处的约束反力</a:t>
            </a:r>
            <a:r>
              <a:rPr kumimoji="1" lang="en-US" altLang="zh-CN" sz="240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F</a:t>
            </a:r>
            <a:r>
              <a:rPr kumimoji="1" lang="en-US" altLang="zh-CN" sz="2400" b="0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x</a:t>
            </a:r>
            <a:r>
              <a:rPr kumimoji="1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、</a:t>
            </a:r>
            <a:r>
              <a:rPr kumimoji="1" lang="en-US" altLang="zh-CN" sz="240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F</a:t>
            </a:r>
            <a:r>
              <a:rPr kumimoji="1" lang="en-US" altLang="zh-CN" sz="2400" b="0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y</a:t>
            </a:r>
            <a:r>
              <a:rPr kumimoji="1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。</a:t>
            </a:r>
            <a:endParaRPr kumimoji="1" lang="zh-CN" altLang="en-US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Oval 3">
            <a:extLst>
              <a:ext uri="{FF2B5EF4-FFF2-40B4-BE49-F238E27FC236}">
                <a16:creationId xmlns:a16="http://schemas.microsoft.com/office/drawing/2014/main" id="{65CADABD-75A5-DECA-ED01-73F93262C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0112" y="970285"/>
            <a:ext cx="1165225" cy="11652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41176"/>
                  <a:invGamma/>
                </a:schemeClr>
              </a:gs>
            </a:gsLst>
            <a:path path="rect">
              <a:fillToRect r="100000" b="100000"/>
            </a:path>
          </a:gradFill>
          <a:ln w="3810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ea typeface="黑体" pitchFamily="2" charset="-122"/>
            </a:endParaRP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58F7C19-B963-CB1F-F626-F60C5A6F25D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969625" y="1541785"/>
            <a:ext cx="0" cy="1527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" name="Group 11">
            <a:extLst>
              <a:ext uri="{FF2B5EF4-FFF2-40B4-BE49-F238E27FC236}">
                <a16:creationId xmlns:a16="http://schemas.microsoft.com/office/drawing/2014/main" id="{5658911A-6312-CCA8-8E55-5F9EFF6C56C7}"/>
              </a:ext>
            </a:extLst>
          </p:cNvPr>
          <p:cNvGrpSpPr>
            <a:grpSpLocks/>
          </p:cNvGrpSpPr>
          <p:nvPr/>
        </p:nvGrpSpPr>
        <p:grpSpPr bwMode="auto">
          <a:xfrm>
            <a:off x="9982200" y="1244922"/>
            <a:ext cx="887412" cy="654050"/>
            <a:chOff x="4605" y="278"/>
            <a:chExt cx="559" cy="412"/>
          </a:xfrm>
        </p:grpSpPr>
        <p:grpSp>
          <p:nvGrpSpPr>
            <p:cNvPr id="11" name="Group 12">
              <a:extLst>
                <a:ext uri="{FF2B5EF4-FFF2-40B4-BE49-F238E27FC236}">
                  <a16:creationId xmlns:a16="http://schemas.microsoft.com/office/drawing/2014/main" id="{628E1264-92F3-15A6-F0DC-E4DA12045FAB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4758" y="284"/>
              <a:ext cx="357" cy="455"/>
              <a:chOff x="3681" y="807"/>
              <a:chExt cx="425" cy="532"/>
            </a:xfrm>
          </p:grpSpPr>
          <p:sp>
            <p:nvSpPr>
              <p:cNvPr id="13" name="AutoShape 13">
                <a:extLst>
                  <a:ext uri="{FF2B5EF4-FFF2-40B4-BE49-F238E27FC236}">
                    <a16:creationId xmlns:a16="http://schemas.microsoft.com/office/drawing/2014/main" id="{CC32E5A7-5858-AC27-6550-293DCEC3CE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3762" y="881"/>
                <a:ext cx="202" cy="196"/>
              </a:xfrm>
              <a:prstGeom prst="triangle">
                <a:avLst>
                  <a:gd name="adj" fmla="val 50000"/>
                </a:avLst>
              </a:prstGeom>
              <a:gradFill rotWithShape="1">
                <a:gsLst>
                  <a:gs pos="0">
                    <a:srgbClr val="2F7618"/>
                  </a:gs>
                  <a:gs pos="50000">
                    <a:srgbClr val="66FF33"/>
                  </a:gs>
                  <a:gs pos="100000">
                    <a:srgbClr val="2F7618"/>
                  </a:gs>
                </a:gsLst>
                <a:lin ang="0" scaled="1"/>
              </a:gradFill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chemeClr val="bg1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14" name="Text Box 14">
                <a:extLst>
                  <a:ext uri="{FF2B5EF4-FFF2-40B4-BE49-F238E27FC236}">
                    <a16:creationId xmlns:a16="http://schemas.microsoft.com/office/drawing/2014/main" id="{331537BE-F8BC-A458-44BA-D962BC17795D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 rot="5400000">
                <a:off x="3798" y="1031"/>
                <a:ext cx="336" cy="2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 baseline="-25000"/>
              </a:p>
            </p:txBody>
          </p:sp>
          <p:sp>
            <p:nvSpPr>
              <p:cNvPr id="15" name="Oval 15">
                <a:extLst>
                  <a:ext uri="{FF2B5EF4-FFF2-40B4-BE49-F238E27FC236}">
                    <a16:creationId xmlns:a16="http://schemas.microsoft.com/office/drawing/2014/main" id="{29454B98-56B7-49C7-5F1D-7F169012069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3905" y="947"/>
                <a:ext cx="64" cy="64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chemeClr val="bg1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16" name="Rectangle 16" descr="宽上对角线">
                <a:extLst>
                  <a:ext uri="{FF2B5EF4-FFF2-40B4-BE49-F238E27FC236}">
                    <a16:creationId xmlns:a16="http://schemas.microsoft.com/office/drawing/2014/main" id="{0C79C4A3-984B-B503-73DC-1E576339BE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3558" y="931"/>
                <a:ext cx="342" cy="96"/>
              </a:xfrm>
              <a:prstGeom prst="rect">
                <a:avLst/>
              </a:prstGeom>
              <a:pattFill prst="wdUpDiag">
                <a:fgClr>
                  <a:srgbClr val="000000"/>
                </a:fgClr>
                <a:bgClr>
                  <a:srgbClr val="FFFFCC"/>
                </a:bgClr>
              </a:patt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chemeClr val="bg1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17" name="Line 17">
                <a:extLst>
                  <a:ext uri="{FF2B5EF4-FFF2-40B4-BE49-F238E27FC236}">
                    <a16:creationId xmlns:a16="http://schemas.microsoft.com/office/drawing/2014/main" id="{DD4CDF96-F570-CB66-3CD3-B3D5F71DFF1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rot="5400000">
                <a:off x="3612" y="978"/>
                <a:ext cx="344" cy="1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" name="Text Box 18">
              <a:extLst>
                <a:ext uri="{FF2B5EF4-FFF2-40B4-BE49-F238E27FC236}">
                  <a16:creationId xmlns:a16="http://schemas.microsoft.com/office/drawing/2014/main" id="{0714B333-1EC6-1F3C-7546-A1F2C9027F8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605" y="278"/>
              <a:ext cx="357" cy="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0" i="1" dirty="0"/>
                <a:t>O</a:t>
              </a:r>
              <a:endParaRPr lang="en-US" altLang="zh-CN" sz="2400" b="0" baseline="-25000" dirty="0"/>
            </a:p>
          </p:txBody>
        </p:sp>
      </p:grpSp>
      <p:sp>
        <p:nvSpPr>
          <p:cNvPr id="18" name="Line 19">
            <a:extLst>
              <a:ext uri="{FF2B5EF4-FFF2-40B4-BE49-F238E27FC236}">
                <a16:creationId xmlns:a16="http://schemas.microsoft.com/office/drawing/2014/main" id="{913B445D-CA1B-F3EA-CABF-728A47C2A0F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969625" y="2954276"/>
            <a:ext cx="0" cy="264128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Box 22">
            <a:extLst>
              <a:ext uri="{FF2B5EF4-FFF2-40B4-BE49-F238E27FC236}">
                <a16:creationId xmlns:a16="http://schemas.microsoft.com/office/drawing/2014/main" id="{A8708523-1991-F4C9-C34A-72790E85F05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0895012" y="4227140"/>
            <a:ext cx="6445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 dirty="0">
                <a:solidFill>
                  <a:srgbClr val="FF0000"/>
                </a:solidFill>
              </a:rPr>
              <a:t>F</a:t>
            </a:r>
            <a:r>
              <a:rPr lang="en-US" altLang="zh-CN" sz="2400" b="0" i="0" baseline="-25000" dirty="0">
                <a:solidFill>
                  <a:srgbClr val="FF0000"/>
                </a:solidFill>
              </a:rPr>
              <a:t>T</a:t>
            </a:r>
            <a:endParaRPr lang="en-US" altLang="zh-CN" sz="2400" b="0" i="0" baseline="-25000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20" name="Text Box 23">
            <a:extLst>
              <a:ext uri="{FF2B5EF4-FFF2-40B4-BE49-F238E27FC236}">
                <a16:creationId xmlns:a16="http://schemas.microsoft.com/office/drawing/2014/main" id="{A76C95B4-ED00-3F54-CB8C-A4C2E5ACA6F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0802937" y="803597"/>
            <a:ext cx="5048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 b="0" i="1" dirty="0">
                <a:solidFill>
                  <a:srgbClr val="FF66FF"/>
                </a:solidFill>
                <a:sym typeface="Symbol" panose="05050102010706020507" pitchFamily="18" charset="2"/>
              </a:rPr>
              <a:t></a:t>
            </a:r>
            <a:endParaRPr lang="en-US" altLang="zh-CN" sz="2400" b="0" baseline="-25000" dirty="0">
              <a:solidFill>
                <a:srgbClr val="FF66FF"/>
              </a:solidFill>
              <a:sym typeface="Symbol" panose="05050102010706020507" pitchFamily="18" charset="2"/>
            </a:endParaRPr>
          </a:p>
        </p:txBody>
      </p:sp>
      <p:sp>
        <p:nvSpPr>
          <p:cNvPr id="21" name="Arc 24">
            <a:extLst>
              <a:ext uri="{FF2B5EF4-FFF2-40B4-BE49-F238E27FC236}">
                <a16:creationId xmlns:a16="http://schemas.microsoft.com/office/drawing/2014/main" id="{E72A6E9F-B234-23E1-A07C-C1E11C2CA726}"/>
              </a:ext>
            </a:extLst>
          </p:cNvPr>
          <p:cNvSpPr>
            <a:spLocks/>
          </p:cNvSpPr>
          <p:nvPr/>
        </p:nvSpPr>
        <p:spPr bwMode="auto">
          <a:xfrm rot="12699306" flipV="1">
            <a:off x="9944100" y="1127447"/>
            <a:ext cx="231775" cy="466725"/>
          </a:xfrm>
          <a:custGeom>
            <a:avLst/>
            <a:gdLst>
              <a:gd name="T0" fmla="*/ 139544678 w 21600"/>
              <a:gd name="T1" fmla="*/ 0 h 34514"/>
              <a:gd name="T2" fmla="*/ 197319758 w 21600"/>
              <a:gd name="T3" fmla="*/ 1154138727 h 34514"/>
              <a:gd name="T4" fmla="*/ 0 w 21600"/>
              <a:gd name="T5" fmla="*/ 630706680 h 34514"/>
              <a:gd name="T6" fmla="*/ 0 60000 65536"/>
              <a:gd name="T7" fmla="*/ 0 60000 65536"/>
              <a:gd name="T8" fmla="*/ 0 60000 65536"/>
              <a:gd name="T9" fmla="*/ 0 w 21600"/>
              <a:gd name="T10" fmla="*/ 0 h 34514"/>
              <a:gd name="T11" fmla="*/ 21600 w 21600"/>
              <a:gd name="T12" fmla="*/ 34514 h 3451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4514" fill="none" extrusionOk="0">
                <a:moveTo>
                  <a:pt x="10526" y="-1"/>
                </a:moveTo>
                <a:cubicBezTo>
                  <a:pt x="17363" y="3815"/>
                  <a:pt x="21600" y="11031"/>
                  <a:pt x="21600" y="18861"/>
                </a:cubicBezTo>
                <a:cubicBezTo>
                  <a:pt x="21600" y="24778"/>
                  <a:pt x="19172" y="30436"/>
                  <a:pt x="14884" y="34514"/>
                </a:cubicBezTo>
              </a:path>
              <a:path w="21600" h="34514" stroke="0" extrusionOk="0">
                <a:moveTo>
                  <a:pt x="10526" y="-1"/>
                </a:moveTo>
                <a:cubicBezTo>
                  <a:pt x="17363" y="3815"/>
                  <a:pt x="21600" y="11031"/>
                  <a:pt x="21600" y="18861"/>
                </a:cubicBezTo>
                <a:cubicBezTo>
                  <a:pt x="21600" y="24778"/>
                  <a:pt x="19172" y="30436"/>
                  <a:pt x="14884" y="34514"/>
                </a:cubicBezTo>
                <a:lnTo>
                  <a:pt x="0" y="18861"/>
                </a:lnTo>
                <a:lnTo>
                  <a:pt x="10526" y="-1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Arc 25">
            <a:extLst>
              <a:ext uri="{FF2B5EF4-FFF2-40B4-BE49-F238E27FC236}">
                <a16:creationId xmlns:a16="http://schemas.microsoft.com/office/drawing/2014/main" id="{519AC905-3354-06D4-56CF-42B5F27FB3E0}"/>
              </a:ext>
            </a:extLst>
          </p:cNvPr>
          <p:cNvSpPr>
            <a:spLocks/>
          </p:cNvSpPr>
          <p:nvPr/>
        </p:nvSpPr>
        <p:spPr bwMode="auto">
          <a:xfrm rot="7058104" flipH="1">
            <a:off x="10528300" y="859160"/>
            <a:ext cx="327025" cy="555625"/>
          </a:xfrm>
          <a:custGeom>
            <a:avLst/>
            <a:gdLst>
              <a:gd name="T0" fmla="*/ 553059426 w 21600"/>
              <a:gd name="T1" fmla="*/ 0 h 34514"/>
              <a:gd name="T2" fmla="*/ 782037365 w 21600"/>
              <a:gd name="T3" fmla="*/ 2147483646 h 34514"/>
              <a:gd name="T4" fmla="*/ 0 w 21600"/>
              <a:gd name="T5" fmla="*/ 1266809336 h 34514"/>
              <a:gd name="T6" fmla="*/ 0 60000 65536"/>
              <a:gd name="T7" fmla="*/ 0 60000 65536"/>
              <a:gd name="T8" fmla="*/ 0 60000 65536"/>
              <a:gd name="T9" fmla="*/ 0 w 21600"/>
              <a:gd name="T10" fmla="*/ 0 h 34514"/>
              <a:gd name="T11" fmla="*/ 21600 w 21600"/>
              <a:gd name="T12" fmla="*/ 34514 h 3451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4514" fill="none" extrusionOk="0">
                <a:moveTo>
                  <a:pt x="10526" y="-1"/>
                </a:moveTo>
                <a:cubicBezTo>
                  <a:pt x="17363" y="3815"/>
                  <a:pt x="21600" y="11031"/>
                  <a:pt x="21600" y="18861"/>
                </a:cubicBezTo>
                <a:cubicBezTo>
                  <a:pt x="21600" y="24778"/>
                  <a:pt x="19172" y="30436"/>
                  <a:pt x="14884" y="34514"/>
                </a:cubicBezTo>
              </a:path>
              <a:path w="21600" h="34514" stroke="0" extrusionOk="0">
                <a:moveTo>
                  <a:pt x="10526" y="-1"/>
                </a:moveTo>
                <a:cubicBezTo>
                  <a:pt x="17363" y="3815"/>
                  <a:pt x="21600" y="11031"/>
                  <a:pt x="21600" y="18861"/>
                </a:cubicBezTo>
                <a:cubicBezTo>
                  <a:pt x="21600" y="24778"/>
                  <a:pt x="19172" y="30436"/>
                  <a:pt x="14884" y="34514"/>
                </a:cubicBezTo>
                <a:lnTo>
                  <a:pt x="0" y="18861"/>
                </a:lnTo>
                <a:lnTo>
                  <a:pt x="10526" y="-1"/>
                </a:lnTo>
                <a:close/>
              </a:path>
            </a:pathLst>
          </a:custGeom>
          <a:noFill/>
          <a:ln w="28575">
            <a:solidFill>
              <a:srgbClr val="FF66FF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Text Box 26">
            <a:extLst>
              <a:ext uri="{FF2B5EF4-FFF2-40B4-BE49-F238E27FC236}">
                <a16:creationId xmlns:a16="http://schemas.microsoft.com/office/drawing/2014/main" id="{44BF8E21-D421-DA14-2172-F416F7DF5BE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526587" y="1114747"/>
            <a:ext cx="490538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 b="0" i="1" dirty="0">
                <a:solidFill>
                  <a:srgbClr val="FF0000"/>
                </a:solidFill>
              </a:rPr>
              <a:t>T</a:t>
            </a:r>
            <a:endParaRPr lang="en-US" altLang="zh-CN" sz="2400" b="0" baseline="-25000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grpSp>
        <p:nvGrpSpPr>
          <p:cNvPr id="24" name="Group 27">
            <a:extLst>
              <a:ext uri="{FF2B5EF4-FFF2-40B4-BE49-F238E27FC236}">
                <a16:creationId xmlns:a16="http://schemas.microsoft.com/office/drawing/2014/main" id="{0D4C93F0-A719-A131-D4AC-91591E63A215}"/>
              </a:ext>
            </a:extLst>
          </p:cNvPr>
          <p:cNvGrpSpPr>
            <a:grpSpLocks/>
          </p:cNvGrpSpPr>
          <p:nvPr/>
        </p:nvGrpSpPr>
        <p:grpSpPr bwMode="auto">
          <a:xfrm>
            <a:off x="10729854" y="2112311"/>
            <a:ext cx="855663" cy="946150"/>
            <a:chOff x="5060" y="1220"/>
            <a:chExt cx="539" cy="596"/>
          </a:xfrm>
        </p:grpSpPr>
        <p:sp>
          <p:nvSpPr>
            <p:cNvPr id="25" name="Rectangle 28">
              <a:extLst>
                <a:ext uri="{FF2B5EF4-FFF2-40B4-BE49-F238E27FC236}">
                  <a16:creationId xmlns:a16="http://schemas.microsoft.com/office/drawing/2014/main" id="{434B199D-6FCC-D8D5-E923-C663FF0F5A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1220"/>
              <a:ext cx="326" cy="226"/>
            </a:xfrm>
            <a:prstGeom prst="rect">
              <a:avLst/>
            </a:prstGeom>
            <a:gradFill rotWithShape="1">
              <a:gsLst>
                <a:gs pos="0">
                  <a:schemeClr val="bg2"/>
                </a:gs>
                <a:gs pos="50000">
                  <a:schemeClr val="bg2">
                    <a:gamma/>
                    <a:tint val="0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>
                <a:ea typeface="黑体" pitchFamily="2" charset="-122"/>
              </a:endParaRPr>
            </a:p>
          </p:txBody>
        </p:sp>
        <p:sp>
          <p:nvSpPr>
            <p:cNvPr id="26" name="Line 29">
              <a:extLst>
                <a:ext uri="{FF2B5EF4-FFF2-40B4-BE49-F238E27FC236}">
                  <a16:creationId xmlns:a16="http://schemas.microsoft.com/office/drawing/2014/main" id="{3361A2B0-E2F8-C57D-69A1-55EC2A2642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9" y="1344"/>
              <a:ext cx="0" cy="38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 Box 30">
              <a:extLst>
                <a:ext uri="{FF2B5EF4-FFF2-40B4-BE49-F238E27FC236}">
                  <a16:creationId xmlns:a16="http://schemas.microsoft.com/office/drawing/2014/main" id="{B00BA28D-05C0-4C85-4F95-8EE271C712A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193" y="1524"/>
              <a:ext cx="40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0" dirty="0">
                  <a:solidFill>
                    <a:srgbClr val="FF0000"/>
                  </a:solidFill>
                </a:rPr>
                <a:t>mg</a:t>
              </a:r>
              <a:endParaRPr lang="en-US" altLang="zh-CN" sz="2400" b="0" baseline="-25000" dirty="0">
                <a:solidFill>
                  <a:srgbClr val="FF0000"/>
                </a:solidFill>
                <a:sym typeface="Symbol" panose="05050102010706020507" pitchFamily="18" charset="2"/>
              </a:endParaRPr>
            </a:p>
          </p:txBody>
        </p:sp>
      </p:grpSp>
      <p:grpSp>
        <p:nvGrpSpPr>
          <p:cNvPr id="28" name="Group 31">
            <a:extLst>
              <a:ext uri="{FF2B5EF4-FFF2-40B4-BE49-F238E27FC236}">
                <a16:creationId xmlns:a16="http://schemas.microsoft.com/office/drawing/2014/main" id="{862B2633-F919-A448-26A6-5F6511952BCC}"/>
              </a:ext>
            </a:extLst>
          </p:cNvPr>
          <p:cNvGrpSpPr>
            <a:grpSpLocks/>
          </p:cNvGrpSpPr>
          <p:nvPr/>
        </p:nvGrpSpPr>
        <p:grpSpPr bwMode="auto">
          <a:xfrm>
            <a:off x="10714036" y="5595566"/>
            <a:ext cx="1096963" cy="681038"/>
            <a:chOff x="5060" y="1220"/>
            <a:chExt cx="691" cy="429"/>
          </a:xfrm>
        </p:grpSpPr>
        <p:sp>
          <p:nvSpPr>
            <p:cNvPr id="29" name="Rectangle 32">
              <a:extLst>
                <a:ext uri="{FF2B5EF4-FFF2-40B4-BE49-F238E27FC236}">
                  <a16:creationId xmlns:a16="http://schemas.microsoft.com/office/drawing/2014/main" id="{2123450B-02D6-33F9-BD5A-3C208D6E8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1220"/>
              <a:ext cx="326" cy="226"/>
            </a:xfrm>
            <a:prstGeom prst="rect">
              <a:avLst/>
            </a:prstGeom>
            <a:gradFill rotWithShape="1">
              <a:gsLst>
                <a:gs pos="0">
                  <a:schemeClr val="bg2"/>
                </a:gs>
                <a:gs pos="50000">
                  <a:schemeClr val="bg2">
                    <a:gamma/>
                    <a:tint val="0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>
                <a:ea typeface="黑体" pitchFamily="2" charset="-122"/>
              </a:endParaRPr>
            </a:p>
          </p:txBody>
        </p:sp>
        <p:sp>
          <p:nvSpPr>
            <p:cNvPr id="30" name="Line 33">
              <a:extLst>
                <a:ext uri="{FF2B5EF4-FFF2-40B4-BE49-F238E27FC236}">
                  <a16:creationId xmlns:a16="http://schemas.microsoft.com/office/drawing/2014/main" id="{BA6235F9-7123-F474-9318-82EE420A6D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9" y="1344"/>
              <a:ext cx="0" cy="28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 Box 34">
              <a:extLst>
                <a:ext uri="{FF2B5EF4-FFF2-40B4-BE49-F238E27FC236}">
                  <a16:creationId xmlns:a16="http://schemas.microsoft.com/office/drawing/2014/main" id="{6C8C02D6-AEB8-6F66-CF2D-D878C76D75D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345" y="1357"/>
              <a:ext cx="40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0" i="1" dirty="0">
                  <a:solidFill>
                    <a:srgbClr val="FF0000"/>
                  </a:solidFill>
                </a:rPr>
                <a:t>mg</a:t>
              </a:r>
              <a:endParaRPr lang="en-US" altLang="zh-CN" sz="2400" b="0" i="1" baseline="-25000" dirty="0">
                <a:solidFill>
                  <a:srgbClr val="FF0000"/>
                </a:solidFill>
                <a:sym typeface="Symbol" panose="05050102010706020507" pitchFamily="18" charset="2"/>
              </a:endParaRPr>
            </a:p>
          </p:txBody>
        </p:sp>
      </p:grpSp>
      <p:sp>
        <p:nvSpPr>
          <p:cNvPr id="32" name="Oval 35">
            <a:extLst>
              <a:ext uri="{FF2B5EF4-FFF2-40B4-BE49-F238E27FC236}">
                <a16:creationId xmlns:a16="http://schemas.microsoft.com/office/drawing/2014/main" id="{698F1D6C-A13B-F97D-0ED2-22671AC62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2337" y="3300040"/>
            <a:ext cx="1165225" cy="11652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41176"/>
                  <a:invGamma/>
                </a:schemeClr>
              </a:gs>
            </a:gsLst>
            <a:path path="rect">
              <a:fillToRect r="100000" b="100000"/>
            </a:path>
          </a:gradFill>
          <a:ln w="3810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ea typeface="黑体" pitchFamily="2" charset="-122"/>
            </a:endParaRPr>
          </a:p>
        </p:txBody>
      </p:sp>
      <p:grpSp>
        <p:nvGrpSpPr>
          <p:cNvPr id="33" name="Group 36">
            <a:extLst>
              <a:ext uri="{FF2B5EF4-FFF2-40B4-BE49-F238E27FC236}">
                <a16:creationId xmlns:a16="http://schemas.microsoft.com/office/drawing/2014/main" id="{FC056D24-9421-098A-112A-C82545CAE35D}"/>
              </a:ext>
            </a:extLst>
          </p:cNvPr>
          <p:cNvGrpSpPr>
            <a:grpSpLocks/>
          </p:cNvGrpSpPr>
          <p:nvPr/>
        </p:nvGrpSpPr>
        <p:grpSpPr bwMode="auto">
          <a:xfrm>
            <a:off x="10004425" y="3574678"/>
            <a:ext cx="887412" cy="654050"/>
            <a:chOff x="4605" y="278"/>
            <a:chExt cx="559" cy="412"/>
          </a:xfrm>
        </p:grpSpPr>
        <p:grpSp>
          <p:nvGrpSpPr>
            <p:cNvPr id="34" name="Group 37">
              <a:extLst>
                <a:ext uri="{FF2B5EF4-FFF2-40B4-BE49-F238E27FC236}">
                  <a16:creationId xmlns:a16="http://schemas.microsoft.com/office/drawing/2014/main" id="{E99C7B0D-C55F-E212-7AB0-3052D04D733A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4758" y="284"/>
              <a:ext cx="357" cy="455"/>
              <a:chOff x="3681" y="807"/>
              <a:chExt cx="425" cy="532"/>
            </a:xfrm>
          </p:grpSpPr>
          <p:sp>
            <p:nvSpPr>
              <p:cNvPr id="36" name="AutoShape 38">
                <a:extLst>
                  <a:ext uri="{FF2B5EF4-FFF2-40B4-BE49-F238E27FC236}">
                    <a16:creationId xmlns:a16="http://schemas.microsoft.com/office/drawing/2014/main" id="{DE779C60-0DA1-D469-C4A6-BC54466F74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3762" y="881"/>
                <a:ext cx="202" cy="196"/>
              </a:xfrm>
              <a:prstGeom prst="triangle">
                <a:avLst>
                  <a:gd name="adj" fmla="val 50000"/>
                </a:avLst>
              </a:prstGeom>
              <a:gradFill rotWithShape="1">
                <a:gsLst>
                  <a:gs pos="0">
                    <a:srgbClr val="2F7618"/>
                  </a:gs>
                  <a:gs pos="50000">
                    <a:srgbClr val="66FF33"/>
                  </a:gs>
                  <a:gs pos="100000">
                    <a:srgbClr val="2F7618"/>
                  </a:gs>
                </a:gsLst>
                <a:lin ang="0" scaled="1"/>
              </a:gradFill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chemeClr val="bg1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41" name="Text Box 39">
                <a:extLst>
                  <a:ext uri="{FF2B5EF4-FFF2-40B4-BE49-F238E27FC236}">
                    <a16:creationId xmlns:a16="http://schemas.microsoft.com/office/drawing/2014/main" id="{B222C3BC-91EB-4B23-D167-8AF766D91CD5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 rot="5400000">
                <a:off x="3798" y="1031"/>
                <a:ext cx="336" cy="2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 baseline="-25000"/>
              </a:p>
            </p:txBody>
          </p:sp>
          <p:sp>
            <p:nvSpPr>
              <p:cNvPr id="44" name="Oval 40">
                <a:extLst>
                  <a:ext uri="{FF2B5EF4-FFF2-40B4-BE49-F238E27FC236}">
                    <a16:creationId xmlns:a16="http://schemas.microsoft.com/office/drawing/2014/main" id="{6A075336-4CCB-7F5C-92B3-3A9A8718CE6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3905" y="947"/>
                <a:ext cx="64" cy="64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chemeClr val="bg1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45" name="Rectangle 41" descr="宽上对角线">
                <a:extLst>
                  <a:ext uri="{FF2B5EF4-FFF2-40B4-BE49-F238E27FC236}">
                    <a16:creationId xmlns:a16="http://schemas.microsoft.com/office/drawing/2014/main" id="{FE701480-748F-B01B-5D9D-36972CDCB4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3558" y="931"/>
                <a:ext cx="342" cy="96"/>
              </a:xfrm>
              <a:prstGeom prst="rect">
                <a:avLst/>
              </a:prstGeom>
              <a:pattFill prst="wdUpDiag">
                <a:fgClr>
                  <a:srgbClr val="000000"/>
                </a:fgClr>
                <a:bgClr>
                  <a:srgbClr val="FFFFCC"/>
                </a:bgClr>
              </a:patt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chemeClr val="bg1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48" name="Line 42">
                <a:extLst>
                  <a:ext uri="{FF2B5EF4-FFF2-40B4-BE49-F238E27FC236}">
                    <a16:creationId xmlns:a16="http://schemas.microsoft.com/office/drawing/2014/main" id="{F9BCC34A-5BCD-4899-B0CF-29A2B3C4F47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rot="5400000">
                <a:off x="3612" y="978"/>
                <a:ext cx="344" cy="1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5" name="Text Box 43">
              <a:extLst>
                <a:ext uri="{FF2B5EF4-FFF2-40B4-BE49-F238E27FC236}">
                  <a16:creationId xmlns:a16="http://schemas.microsoft.com/office/drawing/2014/main" id="{CB38558A-E97E-4F59-8646-37DDDC8EA8E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605" y="278"/>
              <a:ext cx="357" cy="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0" i="1" dirty="0"/>
                <a:t>O</a:t>
              </a:r>
              <a:endParaRPr lang="en-US" altLang="zh-CN" sz="2400" b="0" baseline="-25000" dirty="0"/>
            </a:p>
          </p:txBody>
        </p:sp>
      </p:grpSp>
      <p:sp>
        <p:nvSpPr>
          <p:cNvPr id="49" name="Arc 44">
            <a:extLst>
              <a:ext uri="{FF2B5EF4-FFF2-40B4-BE49-F238E27FC236}">
                <a16:creationId xmlns:a16="http://schemas.microsoft.com/office/drawing/2014/main" id="{B4328E29-CAF4-A476-073F-60161C14A98D}"/>
              </a:ext>
            </a:extLst>
          </p:cNvPr>
          <p:cNvSpPr>
            <a:spLocks/>
          </p:cNvSpPr>
          <p:nvPr/>
        </p:nvSpPr>
        <p:spPr bwMode="auto">
          <a:xfrm rot="12699306" flipV="1">
            <a:off x="9966325" y="3457203"/>
            <a:ext cx="231775" cy="466725"/>
          </a:xfrm>
          <a:custGeom>
            <a:avLst/>
            <a:gdLst>
              <a:gd name="T0" fmla="*/ 139544678 w 21600"/>
              <a:gd name="T1" fmla="*/ 0 h 34514"/>
              <a:gd name="T2" fmla="*/ 197319758 w 21600"/>
              <a:gd name="T3" fmla="*/ 1154138727 h 34514"/>
              <a:gd name="T4" fmla="*/ 0 w 21600"/>
              <a:gd name="T5" fmla="*/ 630706680 h 34514"/>
              <a:gd name="T6" fmla="*/ 0 60000 65536"/>
              <a:gd name="T7" fmla="*/ 0 60000 65536"/>
              <a:gd name="T8" fmla="*/ 0 60000 65536"/>
              <a:gd name="T9" fmla="*/ 0 w 21600"/>
              <a:gd name="T10" fmla="*/ 0 h 34514"/>
              <a:gd name="T11" fmla="*/ 21600 w 21600"/>
              <a:gd name="T12" fmla="*/ 34514 h 3451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4514" fill="none" extrusionOk="0">
                <a:moveTo>
                  <a:pt x="10526" y="-1"/>
                </a:moveTo>
                <a:cubicBezTo>
                  <a:pt x="17363" y="3815"/>
                  <a:pt x="21600" y="11031"/>
                  <a:pt x="21600" y="18861"/>
                </a:cubicBezTo>
                <a:cubicBezTo>
                  <a:pt x="21600" y="24778"/>
                  <a:pt x="19172" y="30436"/>
                  <a:pt x="14884" y="34514"/>
                </a:cubicBezTo>
              </a:path>
              <a:path w="21600" h="34514" stroke="0" extrusionOk="0">
                <a:moveTo>
                  <a:pt x="10526" y="-1"/>
                </a:moveTo>
                <a:cubicBezTo>
                  <a:pt x="17363" y="3815"/>
                  <a:pt x="21600" y="11031"/>
                  <a:pt x="21600" y="18861"/>
                </a:cubicBezTo>
                <a:cubicBezTo>
                  <a:pt x="21600" y="24778"/>
                  <a:pt x="19172" y="30436"/>
                  <a:pt x="14884" y="34514"/>
                </a:cubicBezTo>
                <a:lnTo>
                  <a:pt x="0" y="18861"/>
                </a:lnTo>
                <a:lnTo>
                  <a:pt x="10526" y="-1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Text Box 46">
            <a:extLst>
              <a:ext uri="{FF2B5EF4-FFF2-40B4-BE49-F238E27FC236}">
                <a16:creationId xmlns:a16="http://schemas.microsoft.com/office/drawing/2014/main" id="{EEA2F3CE-77D5-A74A-FA83-E8967F373DB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548812" y="3444503"/>
            <a:ext cx="490538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 b="0" dirty="0">
                <a:solidFill>
                  <a:srgbClr val="FF0000"/>
                </a:solidFill>
              </a:rPr>
              <a:t>T</a:t>
            </a:r>
            <a:endParaRPr lang="en-US" altLang="zh-CN" sz="2400" b="0" baseline="-25000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53" name="Line 47">
            <a:extLst>
              <a:ext uri="{FF2B5EF4-FFF2-40B4-BE49-F238E27FC236}">
                <a16:creationId xmlns:a16="http://schemas.microsoft.com/office/drawing/2014/main" id="{4A24767A-B84D-4096-A391-85262D0C5CA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982325" y="3890590"/>
            <a:ext cx="0" cy="65881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Text Box 48">
            <a:extLst>
              <a:ext uri="{FF2B5EF4-FFF2-40B4-BE49-F238E27FC236}">
                <a16:creationId xmlns:a16="http://schemas.microsoft.com/office/drawing/2014/main" id="{08E2FEE0-97E8-38BB-6B2B-EC0A3339A59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0185400" y="4476378"/>
            <a:ext cx="6445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 dirty="0">
                <a:solidFill>
                  <a:srgbClr val="FF0000"/>
                </a:solidFill>
              </a:rPr>
              <a:t>G</a:t>
            </a:r>
            <a:endParaRPr lang="en-US" altLang="zh-CN" sz="2400" baseline="-25000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59" name="Line 49">
            <a:extLst>
              <a:ext uri="{FF2B5EF4-FFF2-40B4-BE49-F238E27FC236}">
                <a16:creationId xmlns:a16="http://schemas.microsoft.com/office/drawing/2014/main" id="{A428BFCB-D964-0D1E-16CF-D7ECDC2F5D71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07650" y="3939803"/>
            <a:ext cx="0" cy="65881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Text Box 50">
            <a:extLst>
              <a:ext uri="{FF2B5EF4-FFF2-40B4-BE49-F238E27FC236}">
                <a16:creationId xmlns:a16="http://schemas.microsoft.com/office/drawing/2014/main" id="{8D2C183A-E6E6-1E06-5ECD-327B1844954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942512" y="2708920"/>
            <a:ext cx="6445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 dirty="0" err="1">
                <a:solidFill>
                  <a:srgbClr val="FF0000"/>
                </a:solidFill>
              </a:rPr>
              <a:t>F</a:t>
            </a:r>
            <a:r>
              <a:rPr lang="en-US" altLang="zh-CN" sz="2400" b="0" i="1" baseline="-25000" dirty="0" err="1">
                <a:solidFill>
                  <a:srgbClr val="FF0000"/>
                </a:solidFill>
              </a:rPr>
              <a:t>y</a:t>
            </a:r>
            <a:endParaRPr lang="en-US" altLang="zh-CN" sz="2400" b="0" i="1" baseline="-25000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64" name="Line 51">
            <a:extLst>
              <a:ext uri="{FF2B5EF4-FFF2-40B4-BE49-F238E27FC236}">
                <a16:creationId xmlns:a16="http://schemas.microsoft.com/office/drawing/2014/main" id="{3AEB5695-AE49-A441-EC60-4A02E4920E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402887" y="3177803"/>
            <a:ext cx="0" cy="65881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Text Box 52">
            <a:extLst>
              <a:ext uri="{FF2B5EF4-FFF2-40B4-BE49-F238E27FC236}">
                <a16:creationId xmlns:a16="http://schemas.microsoft.com/office/drawing/2014/main" id="{CEFD5D90-C808-6056-CD65-B0602C56C2E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0972800" y="3596903"/>
            <a:ext cx="6445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 dirty="0" err="1">
                <a:solidFill>
                  <a:srgbClr val="FF0000"/>
                </a:solidFill>
              </a:rPr>
              <a:t>F</a:t>
            </a:r>
            <a:r>
              <a:rPr lang="en-US" altLang="zh-CN" sz="2400" b="0" i="1" baseline="-25000" dirty="0" err="1">
                <a:solidFill>
                  <a:srgbClr val="FF0000"/>
                </a:solidFill>
              </a:rPr>
              <a:t>x</a:t>
            </a:r>
            <a:endParaRPr lang="en-US" altLang="zh-CN" sz="2400" b="0" i="1" baseline="-25000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66" name="Line 53">
            <a:extLst>
              <a:ext uri="{FF2B5EF4-FFF2-40B4-BE49-F238E27FC236}">
                <a16:creationId xmlns:a16="http://schemas.microsoft.com/office/drawing/2014/main" id="{A8A9A38D-3869-8791-1E4B-B71D6094FCA6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10767219" y="3551658"/>
            <a:ext cx="0" cy="65881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Text Box 55">
            <a:extLst>
              <a:ext uri="{FF2B5EF4-FFF2-40B4-BE49-F238E27FC236}">
                <a16:creationId xmlns:a16="http://schemas.microsoft.com/office/drawing/2014/main" id="{71B05B0D-54FE-4C62-55D8-B8A7DF7A1C8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0875962" y="4990728"/>
            <a:ext cx="6445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 dirty="0">
                <a:solidFill>
                  <a:srgbClr val="FF0000"/>
                </a:solidFill>
              </a:rPr>
              <a:t>F</a:t>
            </a:r>
            <a:r>
              <a:rPr lang="en-US" altLang="zh-CN" sz="2400" i="1" dirty="0">
                <a:solidFill>
                  <a:srgbClr val="FF0000"/>
                </a:solidFill>
                <a:cs typeface="Times New Roman" panose="02020603050405020304" pitchFamily="18" charset="0"/>
              </a:rPr>
              <a:t>'</a:t>
            </a:r>
            <a:r>
              <a:rPr lang="en-US" altLang="zh-CN" sz="2400" b="0" i="0" baseline="-25000" dirty="0">
                <a:solidFill>
                  <a:srgbClr val="FF0000"/>
                </a:solidFill>
              </a:rPr>
              <a:t>T</a:t>
            </a:r>
            <a:endParaRPr lang="en-US" altLang="zh-CN" sz="2400" b="0" i="0" baseline="-25000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69" name="Line 56">
            <a:extLst>
              <a:ext uri="{FF2B5EF4-FFF2-40B4-BE49-F238E27FC236}">
                <a16:creationId xmlns:a16="http://schemas.microsoft.com/office/drawing/2014/main" id="{0BB3682F-61BC-7B54-AA4D-F8853C8221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963275" y="4936753"/>
            <a:ext cx="0" cy="65881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Text Box 59">
            <a:extLst>
              <a:ext uri="{FF2B5EF4-FFF2-40B4-BE49-F238E27FC236}">
                <a16:creationId xmlns:a16="http://schemas.microsoft.com/office/drawing/2014/main" id="{8CDD2B05-AAE6-2370-9316-EE8364CA530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0936287" y="4587503"/>
            <a:ext cx="560388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en-US" altLang="zh-CN" sz="2400" b="0" i="0" baseline="-25000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9E53A3AA-3E8D-E01A-C625-CD48BFA4ED17}"/>
              </a:ext>
            </a:extLst>
          </p:cNvPr>
          <p:cNvSpPr/>
          <p:nvPr/>
        </p:nvSpPr>
        <p:spPr>
          <a:xfrm>
            <a:off x="191343" y="3496568"/>
            <a:ext cx="8467874" cy="100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kumimoji="1" lang="zh-CN" altLang="en-US" i="0" dirty="0">
                <a:solidFill>
                  <a:schemeClr val="tx1"/>
                </a:solidFill>
                <a:ea typeface="黑体" panose="02010609060101010101" pitchFamily="49" charset="-122"/>
              </a:rPr>
              <a:t>由滚筒转动动力学微分方程</a:t>
            </a:r>
            <a:endParaRPr kumimoji="1" lang="en-US" altLang="zh-CN" i="0" dirty="0">
              <a:solidFill>
                <a:schemeClr val="tx1"/>
              </a:solidFill>
              <a:ea typeface="黑体" panose="02010609060101010101" pitchFamily="49" charset="-122"/>
            </a:endParaRPr>
          </a:p>
          <a:p>
            <a:pPr lvl="0">
              <a:lnSpc>
                <a:spcPct val="130000"/>
              </a:lnSpc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∑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M</a:t>
            </a:r>
            <a:r>
              <a:rPr kumimoji="1" lang="en-US" altLang="zh-CN" sz="2400" b="0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O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(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F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)=</a:t>
            </a:r>
            <a:r>
              <a:rPr kumimoji="1" lang="en-US" altLang="zh-CN" b="0" dirty="0">
                <a:solidFill>
                  <a:schemeClr val="tx1"/>
                </a:solidFill>
                <a:ea typeface="黑体" panose="02010609060101010101" pitchFamily="49" charset="-122"/>
              </a:rPr>
              <a:t>J</a:t>
            </a:r>
            <a:r>
              <a:rPr kumimoji="1" lang="en-US" altLang="zh-CN" b="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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     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T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-</a:t>
            </a:r>
            <a:r>
              <a:rPr kumimoji="1" lang="en-US" altLang="zh-CN" sz="24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F</a:t>
            </a:r>
            <a:r>
              <a:rPr kumimoji="1" lang="en-US" altLang="zh-CN" sz="2400" b="0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T</a:t>
            </a:r>
            <a:r>
              <a:rPr kumimoji="1" lang="en-US" altLang="zh-CN" sz="24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d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/2=</a:t>
            </a:r>
            <a:r>
              <a:rPr kumimoji="1" lang="en-US" altLang="zh-CN" b="0" dirty="0">
                <a:solidFill>
                  <a:schemeClr val="tx1"/>
                </a:solidFill>
                <a:ea typeface="黑体" panose="02010609060101010101" pitchFamily="49" charset="-122"/>
              </a:rPr>
              <a:t> J</a:t>
            </a:r>
            <a:r>
              <a:rPr kumimoji="1" lang="en-US" altLang="zh-CN" b="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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     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T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-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J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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-</a:t>
            </a:r>
            <a:r>
              <a:rPr kumimoji="1" lang="en-US" altLang="zh-CN" sz="24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F</a:t>
            </a:r>
            <a:r>
              <a:rPr kumimoji="1" lang="en-US" altLang="zh-CN" sz="2400" b="0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T</a:t>
            </a:r>
            <a:r>
              <a:rPr kumimoji="1" lang="en-US" altLang="zh-CN" sz="24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d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/2=0</a:t>
            </a:r>
            <a:endParaRPr kumimoji="1" lang="zh-CN" altLang="en-US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C226D14F-A86C-D7DD-BED2-61A14CA555C6}"/>
              </a:ext>
            </a:extLst>
          </p:cNvPr>
          <p:cNvSpPr/>
          <p:nvPr/>
        </p:nvSpPr>
        <p:spPr>
          <a:xfrm>
            <a:off x="191343" y="4427730"/>
            <a:ext cx="8467874" cy="100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kumimoji="1" lang="zh-CN" altLang="en-US" i="0" dirty="0">
                <a:solidFill>
                  <a:schemeClr val="tx1"/>
                </a:solidFill>
                <a:ea typeface="黑体" panose="02010609060101010101" pitchFamily="49" charset="-122"/>
              </a:rPr>
              <a:t>由重物，列质心运动方程</a:t>
            </a:r>
            <a:endParaRPr kumimoji="1" lang="en-US" altLang="zh-CN" i="0" dirty="0">
              <a:solidFill>
                <a:schemeClr val="tx1"/>
              </a:solidFill>
              <a:ea typeface="黑体" panose="02010609060101010101" pitchFamily="49" charset="-122"/>
            </a:endParaRPr>
          </a:p>
          <a:p>
            <a:pPr lvl="0">
              <a:lnSpc>
                <a:spcPct val="130000"/>
              </a:lnSpc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∑</a:t>
            </a:r>
            <a:r>
              <a:rPr kumimoji="1" lang="en-US" altLang="zh-CN" sz="24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F</a:t>
            </a:r>
            <a:r>
              <a:rPr kumimoji="1" lang="en-US" altLang="zh-CN" sz="2400" b="0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y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=0        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F</a:t>
            </a:r>
            <a:r>
              <a:rPr kumimoji="1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T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-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mg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=</a:t>
            </a:r>
            <a:r>
              <a:rPr kumimoji="1" lang="en-US" altLang="zh-CN" b="0" dirty="0">
                <a:solidFill>
                  <a:schemeClr val="tx1"/>
                </a:solidFill>
                <a:ea typeface="黑体" panose="02010609060101010101" pitchFamily="49" charset="-122"/>
              </a:rPr>
              <a:t>ma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    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F</a:t>
            </a:r>
            <a:r>
              <a:rPr kumimoji="1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T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-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ma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+mn-cs"/>
              </a:rPr>
              <a:t>-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mg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=0 </a:t>
            </a:r>
            <a:endParaRPr kumimoji="1" lang="zh-CN" altLang="en-US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001849FC-9FC7-A09E-FE8B-668342264D65}"/>
              </a:ext>
            </a:extLst>
          </p:cNvPr>
          <p:cNvSpPr/>
          <p:nvPr/>
        </p:nvSpPr>
        <p:spPr>
          <a:xfrm>
            <a:off x="191343" y="5595565"/>
            <a:ext cx="8467874" cy="5208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kumimoji="1" lang="zh-CN" altLang="en-US" i="0" dirty="0">
                <a:solidFill>
                  <a:schemeClr val="tx1"/>
                </a:solidFill>
                <a:ea typeface="黑体" panose="02010609060101010101" pitchFamily="49" charset="-122"/>
              </a:rPr>
              <a:t>又由运动学可知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a 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a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=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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d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/2</a:t>
            </a:r>
            <a:endParaRPr kumimoji="1" lang="zh-CN" altLang="en-US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graphicFrame>
        <p:nvGraphicFramePr>
          <p:cNvPr id="76" name="Object 120">
            <a:extLst>
              <a:ext uri="{FF2B5EF4-FFF2-40B4-BE49-F238E27FC236}">
                <a16:creationId xmlns:a16="http://schemas.microsoft.com/office/drawing/2014/main" id="{4925025D-2B70-2867-D407-4AB147B76F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0918837"/>
              </p:ext>
            </p:extLst>
          </p:nvPr>
        </p:nvGraphicFramePr>
        <p:xfrm>
          <a:off x="4325939" y="5438092"/>
          <a:ext cx="1986086" cy="868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28520" imgH="444240" progId="Equation.DSMT4">
                  <p:embed/>
                </p:oleObj>
              </mc:Choice>
              <mc:Fallback>
                <p:oleObj name="Equation" r:id="rId3" imgW="1028520" imgH="444240" progId="Equation.DSMT4">
                  <p:embed/>
                  <p:pic>
                    <p:nvPicPr>
                      <p:cNvPr id="878712" name="Object 120">
                        <a:extLst>
                          <a:ext uri="{FF2B5EF4-FFF2-40B4-BE49-F238E27FC236}">
                            <a16:creationId xmlns:a16="http://schemas.microsoft.com/office/drawing/2014/main" id="{CCD9DD11-2788-F1D6-5DAE-144A3E7B53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5939" y="5438092"/>
                        <a:ext cx="1986086" cy="8687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0479570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3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9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90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3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9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4000"/>
                            </p:stCondLst>
                            <p:childTnLst>
                              <p:par>
                                <p:cTn id="38" presetID="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6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6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3" dur="6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5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8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4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0" presetClass="path" presetSubtype="0" accel="50000" decel="5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1.04167E-6 -1.48148E-6 L -0.00156 -0.40602 " pathEditMode="relative" rAng="0" ptsTypes="AA">
                                      <p:cBhvr>
                                        <p:cTn id="52" dur="50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" y="-2030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0" presetClass="path" presetSubtype="0" accel="50000" decel="5000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4.16667E-6 -3.7037E-6 L -0.00156 -0.40601 " pathEditMode="relative" rAng="0" ptsTypes="AA">
                                      <p:cBhvr>
                                        <p:cTn id="54" dur="50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" y="-20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7.40741E-7 L 2.08333E-6 -0.48287 " pathEditMode="relative" rAng="0" ptsTypes="AA">
                                      <p:cBhvr>
                                        <p:cTn id="60" dur="50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1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3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9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0"/>
                            </p:stCondLst>
                            <p:childTnLst>
                              <p:par>
                                <p:cTn id="7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3" dur="3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9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0"/>
                            </p:stCondLst>
                            <p:childTnLst>
                              <p:par>
                                <p:cTn id="7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1" dur="3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9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87" dur="indefinite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88" dur="indefinite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0"/>
                            </p:stCondLst>
                            <p:childTnLst>
                              <p:par>
                                <p:cTn id="9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2" dur="3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9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0000"/>
                            </p:stCondLst>
                            <p:childTnLst>
                              <p:par>
                                <p:cTn id="9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0" dur="3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9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5000"/>
                            </p:stCondLst>
                            <p:childTnLst>
                              <p:par>
                                <p:cTn id="10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8" dur="3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9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9" presetClass="entr" presetSubtype="1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3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 animBg="1"/>
      <p:bldP spid="57" grpId="0"/>
      <p:bldP spid="6" grpId="0" animBg="1"/>
      <p:bldP spid="6" grpId="1" animBg="1"/>
      <p:bldP spid="19" grpId="0"/>
      <p:bldP spid="20" grpId="0"/>
      <p:bldP spid="23" grpId="0"/>
      <p:bldP spid="32" grpId="0" animBg="1"/>
      <p:bldP spid="32" grpId="1" animBg="1"/>
      <p:bldP spid="52" grpId="0"/>
      <p:bldP spid="58" grpId="0"/>
      <p:bldP spid="63" grpId="0"/>
      <p:bldP spid="65" grpId="0"/>
      <p:bldP spid="68" grpId="0"/>
      <p:bldP spid="70" grpId="0"/>
      <p:bldP spid="72" grpId="0"/>
      <p:bldP spid="74" grpId="0"/>
      <p:bldP spid="7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0960" y="91693"/>
            <a:ext cx="67056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2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   动力学的基本方程与动静法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E05158D-C563-8DED-66EB-5F15E2ED5D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52" y="1022350"/>
            <a:ext cx="9073008" cy="496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课后作业：</a:t>
            </a:r>
            <a:r>
              <a:rPr lang="en-US" altLang="zh-CN" i="0" dirty="0">
                <a:latin typeface="+mn-lt"/>
                <a:ea typeface="微软雅黑" panose="020B0503020204020204" pitchFamily="34" charset="-122"/>
              </a:rPr>
              <a:t>6-3</a:t>
            </a:r>
            <a:r>
              <a:rPr lang="zh-CN" altLang="en-US" i="0" dirty="0">
                <a:ea typeface="微软雅黑" panose="020B0503020204020204" pitchFamily="34" charset="-122"/>
              </a:rPr>
              <a:t> </a:t>
            </a:r>
            <a:r>
              <a:rPr lang="zh-CN" altLang="en-US" i="0" dirty="0">
                <a:latin typeface="+mn-lt"/>
                <a:ea typeface="微软雅黑" panose="020B0503020204020204" pitchFamily="34" charset="-122"/>
              </a:rPr>
              <a:t>、</a:t>
            </a:r>
            <a:r>
              <a:rPr lang="en-US" altLang="zh-CN" i="0" dirty="0">
                <a:latin typeface="+mn-lt"/>
                <a:ea typeface="微软雅黑" panose="020B0503020204020204" pitchFamily="34" charset="-122"/>
              </a:rPr>
              <a:t>6-6 </a:t>
            </a:r>
            <a:r>
              <a:rPr lang="zh-CN" altLang="en-US" i="0" dirty="0">
                <a:latin typeface="+mn-lt"/>
                <a:ea typeface="微软雅黑" panose="020B0503020204020204" pitchFamily="34" charset="-122"/>
              </a:rPr>
              <a:t>、</a:t>
            </a:r>
            <a:r>
              <a:rPr lang="en-US" altLang="zh-CN" i="0" dirty="0">
                <a:latin typeface="+mn-lt"/>
                <a:ea typeface="微软雅黑" panose="020B0503020204020204" pitchFamily="34" charset="-122"/>
              </a:rPr>
              <a:t>6-8</a:t>
            </a:r>
            <a:r>
              <a:rPr lang="zh-CN" altLang="en-US" i="0" dirty="0">
                <a:latin typeface="+mn-lt"/>
                <a:ea typeface="微软雅黑" panose="020B0503020204020204" pitchFamily="34" charset="-122"/>
              </a:rPr>
              <a:t> 、</a:t>
            </a:r>
            <a:r>
              <a:rPr lang="en-US" altLang="zh-CN" i="0" dirty="0">
                <a:latin typeface="+mn-lt"/>
                <a:ea typeface="微软雅黑" panose="020B0503020204020204" pitchFamily="34" charset="-122"/>
              </a:rPr>
              <a:t>6-11</a:t>
            </a:r>
            <a:endParaRPr lang="zh-CN" altLang="en-US" i="0" dirty="0">
              <a:latin typeface="+mn-lt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529764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theme/theme1.xml><?xml version="1.0" encoding="utf-8"?>
<a:theme xmlns:a="http://schemas.openxmlformats.org/drawingml/2006/main" name="1_Update 10-8-02">
  <a:themeElements>
    <a:clrScheme name="Update 10-8-0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Update 10-8-02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Update 10-8-0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pdate 10-8-0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pdate 10-8-02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pdate 10-8-02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pdate 10-8-02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pdate 10-8-02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pdate 10-8-02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10417</TotalTime>
  <Words>2992</Words>
  <Application>Microsoft Office PowerPoint</Application>
  <PresentationFormat>宽屏</PresentationFormat>
  <Paragraphs>290</Paragraphs>
  <Slides>33</Slides>
  <Notes>33</Notes>
  <HiddenSlides>0</HiddenSlides>
  <MMClips>6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9" baseType="lpstr">
      <vt:lpstr>Monotype Sorts</vt:lpstr>
      <vt:lpstr>黑体</vt:lpstr>
      <vt:lpstr>华文彩云</vt:lpstr>
      <vt:lpstr>宋体</vt:lpstr>
      <vt:lpstr>微软雅黑</vt:lpstr>
      <vt:lpstr>Arial</vt:lpstr>
      <vt:lpstr>Calibri</vt:lpstr>
      <vt:lpstr>Impact</vt:lpstr>
      <vt:lpstr>Monotype Corsiva</vt:lpstr>
      <vt:lpstr>Times</vt:lpstr>
      <vt:lpstr>Times New Roman</vt:lpstr>
      <vt:lpstr>Wingdings</vt:lpstr>
      <vt:lpstr>1_Update 10-8-02</vt:lpstr>
      <vt:lpstr>自定义设计方案</vt:lpstr>
      <vt:lpstr>1_自定义设计方案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zjut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wsn</dc:creator>
  <cp:lastModifiedBy>化平 吴</cp:lastModifiedBy>
  <cp:revision>556</cp:revision>
  <dcterms:created xsi:type="dcterms:W3CDTF">2006-04-13T12:56:12Z</dcterms:created>
  <dcterms:modified xsi:type="dcterms:W3CDTF">2022-10-19T05:44:29Z</dcterms:modified>
</cp:coreProperties>
</file>