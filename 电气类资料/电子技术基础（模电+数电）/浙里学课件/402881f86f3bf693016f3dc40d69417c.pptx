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396" r:id="rId3"/>
    <p:sldId id="414" r:id="rId4"/>
    <p:sldId id="415" r:id="rId5"/>
    <p:sldId id="416" r:id="rId6"/>
    <p:sldId id="417" r:id="rId7"/>
    <p:sldId id="442" r:id="rId8"/>
    <p:sldId id="418" r:id="rId9"/>
    <p:sldId id="419" r:id="rId10"/>
    <p:sldId id="443" r:id="rId11"/>
    <p:sldId id="420" r:id="rId12"/>
    <p:sldId id="421" r:id="rId13"/>
    <p:sldId id="422" r:id="rId14"/>
    <p:sldId id="423" r:id="rId15"/>
    <p:sldId id="444" r:id="rId16"/>
    <p:sldId id="424" r:id="rId17"/>
    <p:sldId id="425" r:id="rId18"/>
    <p:sldId id="426" r:id="rId19"/>
    <p:sldId id="427" r:id="rId20"/>
    <p:sldId id="428" r:id="rId21"/>
    <p:sldId id="429" r:id="rId22"/>
    <p:sldId id="430" r:id="rId23"/>
    <p:sldId id="431" r:id="rId24"/>
    <p:sldId id="432" r:id="rId25"/>
    <p:sldId id="445" r:id="rId26"/>
    <p:sldId id="393" r:id="rId27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296" autoAdjust="0"/>
    <p:restoredTop sz="94660"/>
  </p:normalViewPr>
  <p:slideViewPr>
    <p:cSldViewPr snapToGrid="0">
      <p:cViewPr varScale="1">
        <p:scale>
          <a:sx n="55" d="100"/>
          <a:sy n="55" d="100"/>
        </p:scale>
        <p:origin x="-90" y="-4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1EADA-3D95-48D2-89A7-07C72EA9446A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C89D3-DE2B-4AA4-9868-4C7F014F7BA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47623-ACCE-456A-8C66-43C9A387D908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4F4AB-130B-495A-9AF9-6A07DC9008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62126F-8713-47A1-A13C-7B2F4F7A15DF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5AF231-9D62-40D2-A1D5-0CF9E7FE9EA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B2824-4A57-4DBC-B978-C06B332D1916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09AD2-B321-4804-8A0D-47B8447B857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16BF5-EB64-4B0B-9CAE-AD65C8D7E231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DF820-5E9F-44C2-B5DB-D5F67050761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D9AE7-FE82-44FE-A373-FF6A95FFC760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59BB9-DD9C-4273-9461-0DC941E05E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30197D-47BA-44E5-B844-814C5892609A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19AA4-51DB-47C7-8B7D-995F981660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5B22D-E6AC-4BF4-AD0D-FBB5464C39ED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2168E-CF0A-45EE-9C08-AD977B2F81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91A09-51D1-412B-A45E-EDBA5CF1DEA4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363D9-74C4-4539-B22F-C1B8A9AC22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22FA8-E42C-49BC-8AD4-3B7704EA5E87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9C6C4-6EB4-4256-9C82-5DC44E41057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1D6AC6-C2AA-4616-BB04-0E06F71995C8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0F57A-E9CA-492A-952A-099AE0B37D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4D572CB-A546-489E-9812-17AAFBEE1A45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274A94E-6597-4439-BF7C-72D6837151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055" y="522061"/>
            <a:ext cx="6433230" cy="1709738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 anchor="t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zh-CN" sz="6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汉仪大隶书简" pitchFamily="49" charset="-122"/>
                <a:cs typeface="Times New Roman" panose="02020603050405020304" pitchFamily="18" charset="0"/>
              </a:rPr>
              <a:t>9.2  </a:t>
            </a:r>
            <a:r>
              <a:rPr lang="zh-CN" altLang="en-US" sz="6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汉仪大隶书简" pitchFamily="49" charset="-122"/>
                <a:cs typeface="Times New Roman" panose="02020603050405020304" pitchFamily="18" charset="0"/>
              </a:rPr>
              <a:t>射极输出器和差动放大电路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5886" y="2414202"/>
            <a:ext cx="3581400" cy="539750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buNone/>
              <a:defRPr/>
            </a:pP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、射极输出器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967957" y="3104538"/>
            <a:ext cx="4313100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、差动放大电路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946185" y="3692367"/>
            <a:ext cx="5695586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、互补对称功率放大电路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3"/>
          <p:cNvSpPr txBox="1">
            <a:spLocks noChangeArrowheads="1"/>
          </p:cNvSpPr>
          <p:nvPr/>
        </p:nvSpPr>
        <p:spPr>
          <a:xfrm>
            <a:off x="729344" y="193517"/>
            <a:ext cx="3581400" cy="53975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、射极输出器</a:t>
            </a:r>
          </a:p>
        </p:txBody>
      </p:sp>
      <p:sp>
        <p:nvSpPr>
          <p:cNvPr id="70" name="Text Box 3"/>
          <p:cNvSpPr txBox="1">
            <a:spLocks noChangeArrowheads="1"/>
          </p:cNvSpPr>
          <p:nvPr/>
        </p:nvSpPr>
        <p:spPr bwMode="auto">
          <a:xfrm>
            <a:off x="311150" y="1569584"/>
            <a:ext cx="5562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CC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+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+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(1+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β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</a:p>
        </p:txBody>
      </p:sp>
      <p:grpSp>
        <p:nvGrpSpPr>
          <p:cNvPr id="71" name="Group 4"/>
          <p:cNvGrpSpPr>
            <a:grpSpLocks/>
          </p:cNvGrpSpPr>
          <p:nvPr/>
        </p:nvGrpSpPr>
        <p:grpSpPr bwMode="auto">
          <a:xfrm>
            <a:off x="627063" y="2374446"/>
            <a:ext cx="3979862" cy="995363"/>
            <a:chOff x="304" y="1624"/>
            <a:chExt cx="2507" cy="627"/>
          </a:xfrm>
        </p:grpSpPr>
        <p:sp>
          <p:nvSpPr>
            <p:cNvPr id="72" name="Text Box 5"/>
            <p:cNvSpPr txBox="1">
              <a:spLocks noChangeArrowheads="1"/>
            </p:cNvSpPr>
            <p:nvPr/>
          </p:nvSpPr>
          <p:spPr bwMode="auto">
            <a:xfrm>
              <a:off x="304" y="1753"/>
              <a:ext cx="250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———————</a:t>
              </a:r>
            </a:p>
          </p:txBody>
        </p:sp>
        <p:sp>
          <p:nvSpPr>
            <p:cNvPr id="73" name="Text Box 6"/>
            <p:cNvSpPr txBox="1">
              <a:spLocks noChangeArrowheads="1"/>
            </p:cNvSpPr>
            <p:nvPr/>
          </p:nvSpPr>
          <p:spPr bwMode="auto">
            <a:xfrm>
              <a:off x="950" y="1624"/>
              <a:ext cx="136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 </a:t>
              </a:r>
              <a:r>
                <a:rPr lang="zh-CN" altLang="en-US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</a:p>
          </p:txBody>
        </p:sp>
        <p:sp>
          <p:nvSpPr>
            <p:cNvPr id="74" name="Text Box 7"/>
            <p:cNvSpPr txBox="1">
              <a:spLocks noChangeArrowheads="1"/>
            </p:cNvSpPr>
            <p:nvPr/>
          </p:nvSpPr>
          <p:spPr bwMode="auto">
            <a:xfrm>
              <a:off x="763" y="1924"/>
              <a:ext cx="188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+</a:t>
              </a:r>
              <a:r>
                <a:rPr lang="zh-CN" altLang="en-US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（</a:t>
              </a:r>
              <a:r>
                <a:rPr lang="en-US" altLang="zh-CN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1+</a:t>
              </a:r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β</a:t>
              </a:r>
              <a:r>
                <a:rPr lang="zh-CN" altLang="en-US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）</a:t>
              </a:r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</p:grpSp>
      <p:sp>
        <p:nvSpPr>
          <p:cNvPr id="75" name="AutoShape 8"/>
          <p:cNvSpPr>
            <a:spLocks/>
          </p:cNvSpPr>
          <p:nvPr/>
        </p:nvSpPr>
        <p:spPr bwMode="auto">
          <a:xfrm>
            <a:off x="379413" y="2774496"/>
            <a:ext cx="228600" cy="1828800"/>
          </a:xfrm>
          <a:prstGeom prst="leftBrace">
            <a:avLst>
              <a:gd name="adj1" fmla="val 666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6" name="Text Box 9"/>
          <p:cNvSpPr txBox="1">
            <a:spLocks noChangeArrowheads="1"/>
          </p:cNvSpPr>
          <p:nvPr/>
        </p:nvSpPr>
        <p:spPr bwMode="auto">
          <a:xfrm>
            <a:off x="660400" y="3493634"/>
            <a:ext cx="2895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1+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β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</a:p>
        </p:txBody>
      </p:sp>
      <p:sp>
        <p:nvSpPr>
          <p:cNvPr id="77" name="Text Box 10"/>
          <p:cNvSpPr txBox="1">
            <a:spLocks noChangeArrowheads="1"/>
          </p:cNvSpPr>
          <p:nvPr/>
        </p:nvSpPr>
        <p:spPr bwMode="auto">
          <a:xfrm>
            <a:off x="627063" y="4106409"/>
            <a:ext cx="33131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 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CC</a:t>
            </a:r>
            <a:r>
              <a: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－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 </a:t>
            </a:r>
            <a:r>
              <a:rPr lang="en-US" altLang="zh-CN" sz="28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i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</a:t>
            </a:r>
          </a:p>
        </p:txBody>
      </p:sp>
      <p:grpSp>
        <p:nvGrpSpPr>
          <p:cNvPr id="78" name="Group 11"/>
          <p:cNvGrpSpPr>
            <a:grpSpLocks/>
          </p:cNvGrpSpPr>
          <p:nvPr/>
        </p:nvGrpSpPr>
        <p:grpSpPr bwMode="auto">
          <a:xfrm>
            <a:off x="993775" y="747259"/>
            <a:ext cx="2043113" cy="584200"/>
            <a:chOff x="489" y="745"/>
            <a:chExt cx="1287" cy="368"/>
          </a:xfrm>
        </p:grpSpPr>
        <p:sp>
          <p:nvSpPr>
            <p:cNvPr id="79" name="Rectangle 12"/>
            <p:cNvSpPr>
              <a:spLocks noChangeArrowheads="1"/>
            </p:cNvSpPr>
            <p:nvPr/>
          </p:nvSpPr>
          <p:spPr bwMode="auto">
            <a:xfrm>
              <a:off x="626" y="745"/>
              <a:ext cx="115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静态分析</a:t>
              </a:r>
            </a:p>
          </p:txBody>
        </p:sp>
        <p:sp>
          <p:nvSpPr>
            <p:cNvPr id="80" name="Oval 13"/>
            <p:cNvSpPr>
              <a:spLocks noChangeArrowheads="1"/>
            </p:cNvSpPr>
            <p:nvPr/>
          </p:nvSpPr>
          <p:spPr bwMode="auto">
            <a:xfrm>
              <a:off x="489" y="850"/>
              <a:ext cx="137" cy="168"/>
            </a:xfrm>
            <a:prstGeom prst="ellipse">
              <a:avLst/>
            </a:prstGeom>
            <a:solidFill>
              <a:srgbClr val="E2EC7E"/>
            </a:solidFill>
            <a:ln w="9525">
              <a:noFill/>
              <a:round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35" name="组合 134"/>
          <p:cNvGrpSpPr/>
          <p:nvPr/>
        </p:nvGrpSpPr>
        <p:grpSpPr>
          <a:xfrm>
            <a:off x="4649788" y="1826759"/>
            <a:ext cx="4319735" cy="2870200"/>
            <a:chOff x="4649788" y="1826759"/>
            <a:chExt cx="4319735" cy="2870200"/>
          </a:xfrm>
        </p:grpSpPr>
        <p:sp>
          <p:nvSpPr>
            <p:cNvPr id="81" name="Line 17"/>
            <p:cNvSpPr>
              <a:spLocks noChangeShapeType="1"/>
            </p:cNvSpPr>
            <p:nvPr/>
          </p:nvSpPr>
          <p:spPr bwMode="auto">
            <a:xfrm>
              <a:off x="4840287" y="4520746"/>
              <a:ext cx="360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2" name="Line 18"/>
            <p:cNvSpPr>
              <a:spLocks noChangeShapeType="1"/>
            </p:cNvSpPr>
            <p:nvPr/>
          </p:nvSpPr>
          <p:spPr bwMode="auto">
            <a:xfrm>
              <a:off x="5938838" y="3277734"/>
              <a:ext cx="750887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3" name="Line 19"/>
            <p:cNvSpPr>
              <a:spLocks noChangeShapeType="1"/>
            </p:cNvSpPr>
            <p:nvPr/>
          </p:nvSpPr>
          <p:spPr bwMode="auto">
            <a:xfrm>
              <a:off x="6692900" y="2984046"/>
              <a:ext cx="0" cy="58420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4" name="Line 20"/>
            <p:cNvSpPr>
              <a:spLocks noChangeShapeType="1"/>
            </p:cNvSpPr>
            <p:nvPr/>
          </p:nvSpPr>
          <p:spPr bwMode="auto">
            <a:xfrm flipV="1">
              <a:off x="6692900" y="2915784"/>
              <a:ext cx="300038" cy="24765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5" name="Line 21"/>
            <p:cNvSpPr>
              <a:spLocks noChangeShapeType="1"/>
            </p:cNvSpPr>
            <p:nvPr/>
          </p:nvSpPr>
          <p:spPr bwMode="auto">
            <a:xfrm>
              <a:off x="6688138" y="3355522"/>
              <a:ext cx="301625" cy="242887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6" name="Line 22"/>
            <p:cNvSpPr>
              <a:spLocks noChangeShapeType="1"/>
            </p:cNvSpPr>
            <p:nvPr/>
          </p:nvSpPr>
          <p:spPr bwMode="auto">
            <a:xfrm flipH="1">
              <a:off x="6991350" y="1863271"/>
              <a:ext cx="1588" cy="1050925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7" name="Line 23"/>
            <p:cNvSpPr>
              <a:spLocks noChangeShapeType="1"/>
            </p:cNvSpPr>
            <p:nvPr/>
          </p:nvSpPr>
          <p:spPr bwMode="auto">
            <a:xfrm>
              <a:off x="6978650" y="3568246"/>
              <a:ext cx="0" cy="95885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Line 24"/>
            <p:cNvSpPr>
              <a:spLocks noChangeShapeType="1"/>
            </p:cNvSpPr>
            <p:nvPr/>
          </p:nvSpPr>
          <p:spPr bwMode="auto">
            <a:xfrm>
              <a:off x="6978650" y="1863271"/>
              <a:ext cx="1460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0" name="Line 26"/>
            <p:cNvSpPr>
              <a:spLocks noChangeShapeType="1"/>
            </p:cNvSpPr>
            <p:nvPr/>
          </p:nvSpPr>
          <p:spPr bwMode="auto">
            <a:xfrm>
              <a:off x="5470525" y="3274559"/>
              <a:ext cx="469900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Oval 27"/>
            <p:cNvSpPr>
              <a:spLocks noChangeArrowheads="1"/>
            </p:cNvSpPr>
            <p:nvPr/>
          </p:nvSpPr>
          <p:spPr bwMode="auto">
            <a:xfrm>
              <a:off x="6945313" y="4465184"/>
              <a:ext cx="65087" cy="730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Line 28"/>
            <p:cNvSpPr>
              <a:spLocks noChangeShapeType="1"/>
            </p:cNvSpPr>
            <p:nvPr/>
          </p:nvSpPr>
          <p:spPr bwMode="auto">
            <a:xfrm>
              <a:off x="6978650" y="4446134"/>
              <a:ext cx="0" cy="2508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3" name="Line 29"/>
            <p:cNvSpPr>
              <a:spLocks noChangeShapeType="1"/>
            </p:cNvSpPr>
            <p:nvPr/>
          </p:nvSpPr>
          <p:spPr bwMode="auto">
            <a:xfrm>
              <a:off x="6878638" y="4696959"/>
              <a:ext cx="214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4" name="Rectangle 30"/>
            <p:cNvSpPr>
              <a:spLocks noChangeArrowheads="1"/>
            </p:cNvSpPr>
            <p:nvPr/>
          </p:nvSpPr>
          <p:spPr bwMode="auto">
            <a:xfrm>
              <a:off x="4945063" y="3852409"/>
              <a:ext cx="449162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95" name="Rectangle 31"/>
            <p:cNvSpPr>
              <a:spLocks noChangeArrowheads="1"/>
            </p:cNvSpPr>
            <p:nvPr/>
          </p:nvSpPr>
          <p:spPr bwMode="auto">
            <a:xfrm>
              <a:off x="8445500" y="3614284"/>
              <a:ext cx="32412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6" name="Rectangle 32"/>
            <p:cNvSpPr>
              <a:spLocks noChangeArrowheads="1"/>
            </p:cNvSpPr>
            <p:nvPr/>
          </p:nvSpPr>
          <p:spPr bwMode="auto">
            <a:xfrm>
              <a:off x="8432800" y="4231821"/>
              <a:ext cx="361950" cy="30480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97" name="Rectangle 33"/>
            <p:cNvSpPr>
              <a:spLocks noChangeArrowheads="1"/>
            </p:cNvSpPr>
            <p:nvPr/>
          </p:nvSpPr>
          <p:spPr bwMode="auto">
            <a:xfrm>
              <a:off x="6908800" y="3773034"/>
              <a:ext cx="138113" cy="406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Rectangle 34"/>
            <p:cNvSpPr>
              <a:spLocks noChangeArrowheads="1"/>
            </p:cNvSpPr>
            <p:nvPr/>
          </p:nvSpPr>
          <p:spPr bwMode="auto">
            <a:xfrm>
              <a:off x="7943850" y="3893684"/>
              <a:ext cx="420308" cy="36933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99" name="Rectangle 35"/>
            <p:cNvSpPr>
              <a:spLocks noChangeArrowheads="1"/>
            </p:cNvSpPr>
            <p:nvPr/>
          </p:nvSpPr>
          <p:spPr bwMode="auto">
            <a:xfrm>
              <a:off x="7156450" y="3155496"/>
              <a:ext cx="184731" cy="2769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endParaRPr lang="zh-CN" altLang="zh-CN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Line 36"/>
            <p:cNvSpPr>
              <a:spLocks noChangeShapeType="1"/>
            </p:cNvSpPr>
            <p:nvPr/>
          </p:nvSpPr>
          <p:spPr bwMode="auto">
            <a:xfrm>
              <a:off x="7080250" y="2320471"/>
              <a:ext cx="0" cy="403225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1" name="Rectangle 37"/>
            <p:cNvSpPr>
              <a:spLocks noChangeArrowheads="1"/>
            </p:cNvSpPr>
            <p:nvPr/>
          </p:nvSpPr>
          <p:spPr bwMode="auto">
            <a:xfrm>
              <a:off x="7115175" y="2204584"/>
              <a:ext cx="420308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02" name="Line 38"/>
            <p:cNvSpPr>
              <a:spLocks noChangeShapeType="1"/>
            </p:cNvSpPr>
            <p:nvPr/>
          </p:nvSpPr>
          <p:spPr bwMode="auto">
            <a:xfrm>
              <a:off x="6243638" y="3201534"/>
              <a:ext cx="311150" cy="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3" name="Rectangle 39"/>
            <p:cNvSpPr>
              <a:spLocks noChangeArrowheads="1"/>
            </p:cNvSpPr>
            <p:nvPr/>
          </p:nvSpPr>
          <p:spPr bwMode="auto">
            <a:xfrm>
              <a:off x="6159500" y="2682421"/>
              <a:ext cx="420308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04" name="Line 40"/>
            <p:cNvSpPr>
              <a:spLocks noChangeShapeType="1"/>
            </p:cNvSpPr>
            <p:nvPr/>
          </p:nvSpPr>
          <p:spPr bwMode="auto">
            <a:xfrm flipH="1">
              <a:off x="5940425" y="1863271"/>
              <a:ext cx="0" cy="14366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5" name="Line 41"/>
            <p:cNvSpPr>
              <a:spLocks noChangeShapeType="1"/>
            </p:cNvSpPr>
            <p:nvPr/>
          </p:nvSpPr>
          <p:spPr bwMode="auto">
            <a:xfrm flipV="1">
              <a:off x="5924551" y="1860096"/>
              <a:ext cx="11509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Rectangle 42"/>
            <p:cNvSpPr>
              <a:spLocks noChangeArrowheads="1"/>
            </p:cNvSpPr>
            <p:nvPr/>
          </p:nvSpPr>
          <p:spPr bwMode="auto">
            <a:xfrm>
              <a:off x="5870575" y="2271259"/>
              <a:ext cx="139700" cy="379412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7" name="Line 43"/>
            <p:cNvSpPr>
              <a:spLocks noChangeShapeType="1"/>
            </p:cNvSpPr>
            <p:nvPr/>
          </p:nvSpPr>
          <p:spPr bwMode="auto">
            <a:xfrm>
              <a:off x="7646988" y="3676196"/>
              <a:ext cx="7858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9" name="Line 45"/>
            <p:cNvSpPr>
              <a:spLocks noChangeShapeType="1"/>
            </p:cNvSpPr>
            <p:nvPr/>
          </p:nvSpPr>
          <p:spPr bwMode="auto">
            <a:xfrm>
              <a:off x="7467600" y="3498396"/>
              <a:ext cx="0" cy="3636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0" name="Line 46"/>
            <p:cNvSpPr>
              <a:spLocks noChangeShapeType="1"/>
            </p:cNvSpPr>
            <p:nvPr/>
          </p:nvSpPr>
          <p:spPr bwMode="auto">
            <a:xfrm>
              <a:off x="7634288" y="3501478"/>
              <a:ext cx="0" cy="3636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1" name="Line 47"/>
            <p:cNvSpPr>
              <a:spLocks noChangeShapeType="1"/>
            </p:cNvSpPr>
            <p:nvPr/>
          </p:nvSpPr>
          <p:spPr bwMode="auto">
            <a:xfrm>
              <a:off x="6978650" y="3682546"/>
              <a:ext cx="488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2" name="Line 48"/>
            <p:cNvSpPr>
              <a:spLocks noChangeShapeType="1"/>
            </p:cNvSpPr>
            <p:nvPr/>
          </p:nvSpPr>
          <p:spPr bwMode="auto">
            <a:xfrm>
              <a:off x="8439150" y="3682546"/>
              <a:ext cx="0" cy="838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3" name="Oval 49"/>
            <p:cNvSpPr>
              <a:spLocks noChangeArrowheads="1"/>
            </p:cNvSpPr>
            <p:nvPr/>
          </p:nvSpPr>
          <p:spPr bwMode="auto">
            <a:xfrm>
              <a:off x="8375650" y="1826759"/>
              <a:ext cx="63500" cy="746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4" name="Text Box 50"/>
            <p:cNvSpPr txBox="1">
              <a:spLocks noChangeArrowheads="1"/>
            </p:cNvSpPr>
            <p:nvPr/>
          </p:nvSpPr>
          <p:spPr bwMode="auto">
            <a:xfrm>
              <a:off x="6943725" y="3045959"/>
              <a:ext cx="330540" cy="3795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sp>
          <p:nvSpPr>
            <p:cNvPr id="116" name="Line 52"/>
            <p:cNvSpPr>
              <a:spLocks noChangeShapeType="1"/>
            </p:cNvSpPr>
            <p:nvPr/>
          </p:nvSpPr>
          <p:spPr bwMode="auto">
            <a:xfrm>
              <a:off x="5303838" y="3101521"/>
              <a:ext cx="0" cy="3620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7" name="Line 53"/>
            <p:cNvSpPr>
              <a:spLocks noChangeShapeType="1"/>
            </p:cNvSpPr>
            <p:nvPr/>
          </p:nvSpPr>
          <p:spPr bwMode="auto">
            <a:xfrm>
              <a:off x="5470525" y="3104589"/>
              <a:ext cx="0" cy="3620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8" name="Rectangle 54"/>
            <p:cNvSpPr>
              <a:spLocks noChangeArrowheads="1"/>
            </p:cNvSpPr>
            <p:nvPr/>
          </p:nvSpPr>
          <p:spPr bwMode="auto">
            <a:xfrm>
              <a:off x="7394575" y="3155496"/>
              <a:ext cx="41549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19" name="Rectangle 55"/>
            <p:cNvSpPr>
              <a:spLocks noChangeArrowheads="1"/>
            </p:cNvSpPr>
            <p:nvPr/>
          </p:nvSpPr>
          <p:spPr bwMode="auto">
            <a:xfrm>
              <a:off x="5111750" y="2723696"/>
              <a:ext cx="41549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20" name="Rectangle 56"/>
            <p:cNvSpPr>
              <a:spLocks noChangeArrowheads="1"/>
            </p:cNvSpPr>
            <p:nvPr/>
          </p:nvSpPr>
          <p:spPr bwMode="auto">
            <a:xfrm>
              <a:off x="5467350" y="2884034"/>
              <a:ext cx="32412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21" name="Rectangle 57"/>
            <p:cNvSpPr>
              <a:spLocks noChangeArrowheads="1"/>
            </p:cNvSpPr>
            <p:nvPr/>
          </p:nvSpPr>
          <p:spPr bwMode="auto">
            <a:xfrm>
              <a:off x="7186613" y="3312659"/>
              <a:ext cx="32412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22" name="Rectangle 58"/>
            <p:cNvSpPr>
              <a:spLocks noChangeArrowheads="1"/>
            </p:cNvSpPr>
            <p:nvPr/>
          </p:nvSpPr>
          <p:spPr bwMode="auto">
            <a:xfrm>
              <a:off x="5410200" y="2164896"/>
              <a:ext cx="428322" cy="36933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23" name="Rectangle 59"/>
            <p:cNvSpPr>
              <a:spLocks noChangeArrowheads="1"/>
            </p:cNvSpPr>
            <p:nvPr/>
          </p:nvSpPr>
          <p:spPr bwMode="auto">
            <a:xfrm>
              <a:off x="6477000" y="3812721"/>
              <a:ext cx="420308" cy="36933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24" name="Rectangle 60"/>
            <p:cNvSpPr>
              <a:spLocks noChangeArrowheads="1"/>
            </p:cNvSpPr>
            <p:nvPr/>
          </p:nvSpPr>
          <p:spPr bwMode="auto">
            <a:xfrm>
              <a:off x="7943850" y="1829934"/>
              <a:ext cx="686406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grpSp>
          <p:nvGrpSpPr>
            <p:cNvPr id="125" name="Group 61"/>
            <p:cNvGrpSpPr>
              <a:grpSpLocks/>
            </p:cNvGrpSpPr>
            <p:nvPr/>
          </p:nvGrpSpPr>
          <p:grpSpPr bwMode="auto">
            <a:xfrm>
              <a:off x="4649788" y="3277734"/>
              <a:ext cx="658812" cy="1285875"/>
              <a:chOff x="2929" y="2339"/>
              <a:chExt cx="415" cy="810"/>
            </a:xfrm>
          </p:grpSpPr>
          <p:sp>
            <p:nvSpPr>
              <p:cNvPr id="126" name="Oval 62"/>
              <p:cNvSpPr>
                <a:spLocks noChangeArrowheads="1"/>
              </p:cNvSpPr>
              <p:nvPr/>
            </p:nvSpPr>
            <p:spPr bwMode="auto">
              <a:xfrm>
                <a:off x="2929" y="2777"/>
                <a:ext cx="232" cy="224"/>
              </a:xfrm>
              <a:prstGeom prst="ellipse">
                <a:avLst/>
              </a:prstGeom>
              <a:gradFill rotWithShape="1">
                <a:gsLst>
                  <a:gs pos="0">
                    <a:srgbClr val="CCFFFF"/>
                  </a:gs>
                  <a:gs pos="50000">
                    <a:schemeClr val="accent1"/>
                  </a:gs>
                  <a:gs pos="100000">
                    <a:srgbClr val="CCFFFF"/>
                  </a:gs>
                </a:gsLst>
                <a:lin ang="2700000" scaled="1"/>
              </a:gra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7" name="Line 63"/>
              <p:cNvSpPr>
                <a:spLocks noChangeShapeType="1"/>
              </p:cNvSpPr>
              <p:nvPr/>
            </p:nvSpPr>
            <p:spPr bwMode="auto">
              <a:xfrm>
                <a:off x="3044" y="2343"/>
                <a:ext cx="1" cy="789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8" name="Rectangle 64"/>
              <p:cNvSpPr>
                <a:spLocks noChangeArrowheads="1"/>
              </p:cNvSpPr>
              <p:nvPr/>
            </p:nvSpPr>
            <p:spPr bwMode="auto">
              <a:xfrm>
                <a:off x="3000" y="2437"/>
                <a:ext cx="88" cy="239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9" name="Rectangle 65"/>
              <p:cNvSpPr>
                <a:spLocks noChangeArrowheads="1"/>
              </p:cNvSpPr>
              <p:nvPr/>
            </p:nvSpPr>
            <p:spPr bwMode="auto">
              <a:xfrm>
                <a:off x="3060" y="2426"/>
                <a:ext cx="259" cy="23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</a:p>
            </p:txBody>
          </p:sp>
          <p:sp>
            <p:nvSpPr>
              <p:cNvPr id="130" name="Line 66"/>
              <p:cNvSpPr>
                <a:spLocks noChangeShapeType="1"/>
              </p:cNvSpPr>
              <p:nvPr/>
            </p:nvSpPr>
            <p:spPr bwMode="auto">
              <a:xfrm>
                <a:off x="3032" y="2339"/>
                <a:ext cx="30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31" name="Rectangle 67"/>
              <p:cNvSpPr>
                <a:spLocks noChangeArrowheads="1"/>
              </p:cNvSpPr>
              <p:nvPr/>
            </p:nvSpPr>
            <p:spPr bwMode="auto">
              <a:xfrm>
                <a:off x="3116" y="2611"/>
                <a:ext cx="204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999999"/>
                </a:prst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32" name="Rectangle 68"/>
              <p:cNvSpPr>
                <a:spLocks noChangeArrowheads="1"/>
              </p:cNvSpPr>
              <p:nvPr/>
            </p:nvSpPr>
            <p:spPr bwMode="auto">
              <a:xfrm>
                <a:off x="3116" y="2957"/>
                <a:ext cx="228" cy="192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1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－</a:t>
                </a:r>
              </a:p>
            </p:txBody>
          </p:sp>
        </p:grpSp>
        <p:sp>
          <p:nvSpPr>
            <p:cNvPr id="133" name="Rectangle 69"/>
            <p:cNvSpPr>
              <a:spLocks noChangeArrowheads="1"/>
            </p:cNvSpPr>
            <p:nvPr/>
          </p:nvSpPr>
          <p:spPr bwMode="auto">
            <a:xfrm>
              <a:off x="8494713" y="3828596"/>
              <a:ext cx="474810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</a:p>
          </p:txBody>
        </p:sp>
        <p:sp>
          <p:nvSpPr>
            <p:cNvPr id="89" name="Rectangle 25"/>
            <p:cNvSpPr>
              <a:spLocks noChangeArrowheads="1"/>
            </p:cNvSpPr>
            <p:nvPr/>
          </p:nvSpPr>
          <p:spPr bwMode="auto">
            <a:xfrm>
              <a:off x="8369300" y="3890509"/>
              <a:ext cx="139700" cy="407987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utoUpdateAnimBg="0"/>
      <p:bldP spid="75" grpId="0" animBg="1"/>
      <p:bldP spid="76" grpId="0" autoUpdateAnimBg="0"/>
      <p:bldP spid="7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2"/>
          <p:cNvSpPr txBox="1">
            <a:spLocks noChangeArrowheads="1"/>
          </p:cNvSpPr>
          <p:nvPr/>
        </p:nvSpPr>
        <p:spPr bwMode="auto">
          <a:xfrm>
            <a:off x="5162097" y="3987574"/>
            <a:ext cx="2438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射极输出器</a:t>
            </a:r>
          </a:p>
        </p:txBody>
      </p:sp>
      <p:grpSp>
        <p:nvGrpSpPr>
          <p:cNvPr id="175" name="组合 174"/>
          <p:cNvGrpSpPr/>
          <p:nvPr/>
        </p:nvGrpSpPr>
        <p:grpSpPr>
          <a:xfrm>
            <a:off x="670152" y="219076"/>
            <a:ext cx="2301648" cy="584775"/>
            <a:chOff x="2662237" y="273504"/>
            <a:chExt cx="2301648" cy="584775"/>
          </a:xfrm>
        </p:grpSpPr>
        <p:sp>
          <p:nvSpPr>
            <p:cNvPr id="42" name="Text Box 4"/>
            <p:cNvSpPr txBox="1">
              <a:spLocks noChangeArrowheads="1"/>
            </p:cNvSpPr>
            <p:nvPr/>
          </p:nvSpPr>
          <p:spPr bwMode="auto">
            <a:xfrm>
              <a:off x="3024640" y="273504"/>
              <a:ext cx="1939245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  <a:defRPr/>
              </a:pPr>
              <a:r>
                <a:rPr lang="zh-CN" altLang="en-US" sz="32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动态分析</a:t>
              </a:r>
            </a:p>
          </p:txBody>
        </p:sp>
        <p:sp>
          <p:nvSpPr>
            <p:cNvPr id="43" name="Oval 5"/>
            <p:cNvSpPr>
              <a:spLocks noChangeArrowheads="1"/>
            </p:cNvSpPr>
            <p:nvPr/>
          </p:nvSpPr>
          <p:spPr bwMode="auto">
            <a:xfrm>
              <a:off x="2662237" y="454025"/>
              <a:ext cx="216000" cy="216000"/>
            </a:xfrm>
            <a:prstGeom prst="ellipse">
              <a:avLst/>
            </a:prstGeom>
            <a:solidFill>
              <a:srgbClr val="F9957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sp>
        <p:nvSpPr>
          <p:cNvPr id="44" name="Text Box 7"/>
          <p:cNvSpPr txBox="1">
            <a:spLocks noChangeArrowheads="1"/>
          </p:cNvSpPr>
          <p:nvPr/>
        </p:nvSpPr>
        <p:spPr bwMode="auto">
          <a:xfrm>
            <a:off x="512990" y="1280660"/>
            <a:ext cx="2077811" cy="52322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交流通路</a:t>
            </a:r>
          </a:p>
        </p:txBody>
      </p:sp>
      <p:grpSp>
        <p:nvGrpSpPr>
          <p:cNvPr id="135" name="Group 62"/>
          <p:cNvGrpSpPr>
            <a:grpSpLocks/>
          </p:cNvGrpSpPr>
          <p:nvPr/>
        </p:nvGrpSpPr>
        <p:grpSpPr bwMode="auto">
          <a:xfrm>
            <a:off x="304800" y="1788886"/>
            <a:ext cx="3219450" cy="2984500"/>
            <a:chOff x="3423" y="1450"/>
            <a:chExt cx="2028" cy="1670"/>
          </a:xfrm>
        </p:grpSpPr>
        <p:sp>
          <p:nvSpPr>
            <p:cNvPr id="136" name="Rectangle 63"/>
            <p:cNvSpPr>
              <a:spLocks noChangeArrowheads="1"/>
            </p:cNvSpPr>
            <p:nvPr/>
          </p:nvSpPr>
          <p:spPr bwMode="auto">
            <a:xfrm>
              <a:off x="4581" y="1450"/>
              <a:ext cx="202" cy="258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grpSp>
          <p:nvGrpSpPr>
            <p:cNvPr id="137" name="Group 64"/>
            <p:cNvGrpSpPr>
              <a:grpSpLocks/>
            </p:cNvGrpSpPr>
            <p:nvPr/>
          </p:nvGrpSpPr>
          <p:grpSpPr bwMode="auto">
            <a:xfrm>
              <a:off x="3423" y="1579"/>
              <a:ext cx="2028" cy="1541"/>
              <a:chOff x="3423" y="1579"/>
              <a:chExt cx="2028" cy="1541"/>
            </a:xfrm>
          </p:grpSpPr>
          <p:sp>
            <p:nvSpPr>
              <p:cNvPr id="139" name="Line 66"/>
              <p:cNvSpPr>
                <a:spLocks noChangeShapeType="1"/>
              </p:cNvSpPr>
              <p:nvPr/>
            </p:nvSpPr>
            <p:spPr bwMode="auto">
              <a:xfrm>
                <a:off x="4480" y="1687"/>
                <a:ext cx="0" cy="28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0" name="Line 67"/>
              <p:cNvSpPr>
                <a:spLocks noChangeShapeType="1"/>
              </p:cNvSpPr>
              <p:nvPr/>
            </p:nvSpPr>
            <p:spPr bwMode="auto">
              <a:xfrm flipV="1">
                <a:off x="4473" y="1714"/>
                <a:ext cx="158" cy="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1" name="Line 68"/>
              <p:cNvSpPr>
                <a:spLocks noChangeShapeType="1"/>
              </p:cNvSpPr>
              <p:nvPr/>
            </p:nvSpPr>
            <p:spPr bwMode="auto">
              <a:xfrm>
                <a:off x="4473" y="1901"/>
                <a:ext cx="179" cy="9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2" name="Line 69"/>
              <p:cNvSpPr>
                <a:spLocks noChangeShapeType="1"/>
              </p:cNvSpPr>
              <p:nvPr/>
            </p:nvSpPr>
            <p:spPr bwMode="auto">
              <a:xfrm flipV="1">
                <a:off x="4589" y="2530"/>
                <a:ext cx="0" cy="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3" name="Line 70"/>
              <p:cNvSpPr>
                <a:spLocks noChangeShapeType="1"/>
              </p:cNvSpPr>
              <p:nvPr/>
            </p:nvSpPr>
            <p:spPr bwMode="auto">
              <a:xfrm flipH="1">
                <a:off x="4631" y="1990"/>
                <a:ext cx="4" cy="113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4" name="Line 71"/>
              <p:cNvSpPr>
                <a:spLocks noChangeShapeType="1"/>
              </p:cNvSpPr>
              <p:nvPr/>
            </p:nvSpPr>
            <p:spPr bwMode="auto">
              <a:xfrm>
                <a:off x="4631" y="1713"/>
                <a:ext cx="8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5" name="Line 72"/>
              <p:cNvSpPr>
                <a:spLocks noChangeShapeType="1"/>
              </p:cNvSpPr>
              <p:nvPr/>
            </p:nvSpPr>
            <p:spPr bwMode="auto">
              <a:xfrm flipH="1">
                <a:off x="5302" y="1714"/>
                <a:ext cx="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6" name="Line 73"/>
              <p:cNvSpPr>
                <a:spLocks noChangeShapeType="1"/>
              </p:cNvSpPr>
              <p:nvPr/>
            </p:nvSpPr>
            <p:spPr bwMode="auto">
              <a:xfrm>
                <a:off x="5314" y="2530"/>
                <a:ext cx="0" cy="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7" name="Line 74"/>
              <p:cNvSpPr>
                <a:spLocks noChangeShapeType="1"/>
              </p:cNvSpPr>
              <p:nvPr/>
            </p:nvSpPr>
            <p:spPr bwMode="auto">
              <a:xfrm>
                <a:off x="5314" y="171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8" name="Line 75"/>
              <p:cNvSpPr>
                <a:spLocks noChangeShapeType="1"/>
              </p:cNvSpPr>
              <p:nvPr/>
            </p:nvSpPr>
            <p:spPr bwMode="auto">
              <a:xfrm>
                <a:off x="5314" y="171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9" name="Line 76"/>
              <p:cNvSpPr>
                <a:spLocks noChangeShapeType="1"/>
              </p:cNvSpPr>
              <p:nvPr/>
            </p:nvSpPr>
            <p:spPr bwMode="auto">
              <a:xfrm>
                <a:off x="5314" y="2530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0" name="Line 77"/>
              <p:cNvSpPr>
                <a:spLocks noChangeShapeType="1"/>
              </p:cNvSpPr>
              <p:nvPr/>
            </p:nvSpPr>
            <p:spPr bwMode="auto">
              <a:xfrm>
                <a:off x="5451" y="1714"/>
                <a:ext cx="0" cy="12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1" name="Line 78"/>
              <p:cNvSpPr>
                <a:spLocks noChangeShapeType="1"/>
              </p:cNvSpPr>
              <p:nvPr/>
            </p:nvSpPr>
            <p:spPr bwMode="auto">
              <a:xfrm>
                <a:off x="3808" y="1827"/>
                <a:ext cx="66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2" name="Line 79"/>
              <p:cNvSpPr>
                <a:spLocks noChangeShapeType="1"/>
              </p:cNvSpPr>
              <p:nvPr/>
            </p:nvSpPr>
            <p:spPr bwMode="auto">
              <a:xfrm>
                <a:off x="4253" y="1827"/>
                <a:ext cx="0" cy="115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3" name="Line 80"/>
              <p:cNvSpPr>
                <a:spLocks noChangeShapeType="1"/>
              </p:cNvSpPr>
              <p:nvPr/>
            </p:nvSpPr>
            <p:spPr bwMode="auto">
              <a:xfrm>
                <a:off x="3818" y="2986"/>
                <a:ext cx="163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4" name="Line 81"/>
              <p:cNvSpPr>
                <a:spLocks noChangeShapeType="1"/>
              </p:cNvSpPr>
              <p:nvPr/>
            </p:nvSpPr>
            <p:spPr bwMode="auto">
              <a:xfrm>
                <a:off x="4541" y="3120"/>
                <a:ext cx="20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5" name="Oval 82"/>
              <p:cNvSpPr>
                <a:spLocks noChangeArrowheads="1"/>
              </p:cNvSpPr>
              <p:nvPr/>
            </p:nvSpPr>
            <p:spPr bwMode="auto">
              <a:xfrm>
                <a:off x="3695" y="2523"/>
                <a:ext cx="232" cy="224"/>
              </a:xfrm>
              <a:prstGeom prst="ellipse">
                <a:avLst/>
              </a:prstGeom>
              <a:gradFill rotWithShape="1">
                <a:gsLst>
                  <a:gs pos="0">
                    <a:srgbClr val="CCFFFF"/>
                  </a:gs>
                  <a:gs pos="50000">
                    <a:schemeClr val="accent1"/>
                  </a:gs>
                  <a:gs pos="100000">
                    <a:srgbClr val="CCFFFF"/>
                  </a:gs>
                </a:gsLst>
                <a:lin ang="2700000" scaled="1"/>
              </a:gra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6" name="Line 83"/>
              <p:cNvSpPr>
                <a:spLocks noChangeShapeType="1"/>
              </p:cNvSpPr>
              <p:nvPr/>
            </p:nvSpPr>
            <p:spPr bwMode="auto">
              <a:xfrm>
                <a:off x="3818" y="1827"/>
                <a:ext cx="0" cy="1159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7" name="Rectangle 84"/>
              <p:cNvSpPr>
                <a:spLocks noChangeArrowheads="1"/>
              </p:cNvSpPr>
              <p:nvPr/>
            </p:nvSpPr>
            <p:spPr bwMode="auto">
              <a:xfrm>
                <a:off x="3771" y="2071"/>
                <a:ext cx="88" cy="239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8" name="Rectangle 85"/>
              <p:cNvSpPr>
                <a:spLocks noChangeArrowheads="1"/>
              </p:cNvSpPr>
              <p:nvPr/>
            </p:nvSpPr>
            <p:spPr bwMode="auto">
              <a:xfrm>
                <a:off x="3470" y="2023"/>
                <a:ext cx="259" cy="207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</a:p>
            </p:txBody>
          </p:sp>
          <p:sp>
            <p:nvSpPr>
              <p:cNvPr id="159" name="Rectangle 86"/>
              <p:cNvSpPr>
                <a:spLocks noChangeArrowheads="1"/>
              </p:cNvSpPr>
              <p:nvPr/>
            </p:nvSpPr>
            <p:spPr bwMode="auto">
              <a:xfrm>
                <a:off x="3611" y="2310"/>
                <a:ext cx="204" cy="207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999999"/>
                </a:prst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60" name="Rectangle 87"/>
              <p:cNvSpPr>
                <a:spLocks noChangeArrowheads="1"/>
              </p:cNvSpPr>
              <p:nvPr/>
            </p:nvSpPr>
            <p:spPr bwMode="auto">
              <a:xfrm>
                <a:off x="3605" y="2747"/>
                <a:ext cx="229" cy="172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1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－</a:t>
                </a:r>
              </a:p>
            </p:txBody>
          </p:sp>
          <p:sp>
            <p:nvSpPr>
              <p:cNvPr id="161" name="Rectangle 88"/>
              <p:cNvSpPr>
                <a:spLocks noChangeArrowheads="1"/>
              </p:cNvSpPr>
              <p:nvPr/>
            </p:nvSpPr>
            <p:spPr bwMode="auto">
              <a:xfrm>
                <a:off x="4214" y="2282"/>
                <a:ext cx="88" cy="257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2" name="Rectangle 89"/>
              <p:cNvSpPr>
                <a:spLocks noChangeArrowheads="1"/>
              </p:cNvSpPr>
              <p:nvPr/>
            </p:nvSpPr>
            <p:spPr bwMode="auto">
              <a:xfrm>
                <a:off x="3423" y="2431"/>
                <a:ext cx="283" cy="29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999999"/>
                </a:prst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</a:p>
            </p:txBody>
          </p:sp>
          <p:sp>
            <p:nvSpPr>
              <p:cNvPr id="163" name="Rectangle 90"/>
              <p:cNvSpPr>
                <a:spLocks noChangeArrowheads="1"/>
              </p:cNvSpPr>
              <p:nvPr/>
            </p:nvSpPr>
            <p:spPr bwMode="auto">
              <a:xfrm>
                <a:off x="3971" y="2295"/>
                <a:ext cx="270" cy="207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64" name="Rectangle 91"/>
              <p:cNvSpPr>
                <a:spLocks noChangeArrowheads="1"/>
              </p:cNvSpPr>
              <p:nvPr/>
            </p:nvSpPr>
            <p:spPr bwMode="auto">
              <a:xfrm>
                <a:off x="4355" y="2282"/>
                <a:ext cx="265" cy="207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</a:p>
            </p:txBody>
          </p:sp>
          <p:sp>
            <p:nvSpPr>
              <p:cNvPr id="165" name="Line 92"/>
              <p:cNvSpPr>
                <a:spLocks noChangeShapeType="1"/>
              </p:cNvSpPr>
              <p:nvPr/>
            </p:nvSpPr>
            <p:spPr bwMode="auto">
              <a:xfrm>
                <a:off x="4635" y="2091"/>
                <a:ext cx="36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6" name="Line 93"/>
              <p:cNvSpPr>
                <a:spLocks noChangeShapeType="1"/>
              </p:cNvSpPr>
              <p:nvPr/>
            </p:nvSpPr>
            <p:spPr bwMode="auto">
              <a:xfrm>
                <a:off x="5000" y="2091"/>
                <a:ext cx="0" cy="8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7" name="Rectangle 94"/>
              <p:cNvSpPr>
                <a:spLocks noChangeArrowheads="1"/>
              </p:cNvSpPr>
              <p:nvPr/>
            </p:nvSpPr>
            <p:spPr bwMode="auto">
              <a:xfrm>
                <a:off x="4954" y="2310"/>
                <a:ext cx="88" cy="257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8" name="Rectangle 95"/>
              <p:cNvSpPr>
                <a:spLocks noChangeArrowheads="1"/>
              </p:cNvSpPr>
              <p:nvPr/>
            </p:nvSpPr>
            <p:spPr bwMode="auto">
              <a:xfrm>
                <a:off x="4734" y="2317"/>
                <a:ext cx="259" cy="207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b="1" i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L</a:t>
                </a:r>
              </a:p>
            </p:txBody>
          </p:sp>
          <p:sp>
            <p:nvSpPr>
              <p:cNvPr id="169" name="Rectangle 96"/>
              <p:cNvSpPr>
                <a:spLocks noChangeArrowheads="1"/>
              </p:cNvSpPr>
              <p:nvPr/>
            </p:nvSpPr>
            <p:spPr bwMode="auto">
              <a:xfrm>
                <a:off x="5024" y="2103"/>
                <a:ext cx="204" cy="207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999999"/>
                </a:prst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70" name="Rectangle 97"/>
              <p:cNvSpPr>
                <a:spLocks noChangeArrowheads="1"/>
              </p:cNvSpPr>
              <p:nvPr/>
            </p:nvSpPr>
            <p:spPr bwMode="auto">
              <a:xfrm>
                <a:off x="5024" y="2595"/>
                <a:ext cx="228" cy="171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1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－</a:t>
                </a:r>
              </a:p>
            </p:txBody>
          </p:sp>
          <p:sp>
            <p:nvSpPr>
              <p:cNvPr id="171" name="Rectangle 98"/>
              <p:cNvSpPr>
                <a:spLocks noChangeArrowheads="1"/>
              </p:cNvSpPr>
              <p:nvPr/>
            </p:nvSpPr>
            <p:spPr bwMode="auto">
              <a:xfrm>
                <a:off x="5024" y="2282"/>
                <a:ext cx="299" cy="29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</a:p>
            </p:txBody>
          </p:sp>
          <p:sp>
            <p:nvSpPr>
              <p:cNvPr id="172" name="Text Box 99"/>
              <p:cNvSpPr txBox="1">
                <a:spLocks noChangeArrowheads="1"/>
              </p:cNvSpPr>
              <p:nvPr/>
            </p:nvSpPr>
            <p:spPr bwMode="auto">
              <a:xfrm>
                <a:off x="4200" y="1579"/>
                <a:ext cx="189" cy="207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999999"/>
                </a:prst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73" name="Text Box 100"/>
              <p:cNvSpPr txBox="1">
                <a:spLocks noChangeArrowheads="1"/>
              </p:cNvSpPr>
              <p:nvPr/>
            </p:nvSpPr>
            <p:spPr bwMode="auto">
              <a:xfrm>
                <a:off x="4459" y="1923"/>
                <a:ext cx="202" cy="258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999999"/>
                </a:prst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</a:p>
            </p:txBody>
          </p:sp>
          <p:sp>
            <p:nvSpPr>
              <p:cNvPr id="174" name="Oval 101"/>
              <p:cNvSpPr>
                <a:spLocks noChangeArrowheads="1"/>
              </p:cNvSpPr>
              <p:nvPr/>
            </p:nvSpPr>
            <p:spPr bwMode="auto">
              <a:xfrm>
                <a:off x="4605" y="2959"/>
                <a:ext cx="48" cy="4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38" name="Rectangle 65"/>
              <p:cNvSpPr>
                <a:spLocks noChangeArrowheads="1"/>
              </p:cNvSpPr>
              <p:nvPr/>
            </p:nvSpPr>
            <p:spPr bwMode="auto">
              <a:xfrm>
                <a:off x="4589" y="2310"/>
                <a:ext cx="88" cy="257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230" name="组合 229"/>
          <p:cNvGrpSpPr/>
          <p:nvPr/>
        </p:nvGrpSpPr>
        <p:grpSpPr>
          <a:xfrm>
            <a:off x="4627218" y="844626"/>
            <a:ext cx="4319727" cy="2870200"/>
            <a:chOff x="4649796" y="1826759"/>
            <a:chExt cx="4319727" cy="2870200"/>
          </a:xfrm>
        </p:grpSpPr>
        <p:sp>
          <p:nvSpPr>
            <p:cNvPr id="231" name="Line 17"/>
            <p:cNvSpPr>
              <a:spLocks noChangeShapeType="1"/>
            </p:cNvSpPr>
            <p:nvPr/>
          </p:nvSpPr>
          <p:spPr bwMode="auto">
            <a:xfrm>
              <a:off x="4840287" y="4520746"/>
              <a:ext cx="360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2" name="Line 18"/>
            <p:cNvSpPr>
              <a:spLocks noChangeShapeType="1"/>
            </p:cNvSpPr>
            <p:nvPr/>
          </p:nvSpPr>
          <p:spPr bwMode="auto">
            <a:xfrm>
              <a:off x="5938838" y="3277734"/>
              <a:ext cx="750887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3" name="Line 19"/>
            <p:cNvSpPr>
              <a:spLocks noChangeShapeType="1"/>
            </p:cNvSpPr>
            <p:nvPr/>
          </p:nvSpPr>
          <p:spPr bwMode="auto">
            <a:xfrm>
              <a:off x="6692900" y="2984046"/>
              <a:ext cx="0" cy="58420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4" name="Line 20"/>
            <p:cNvSpPr>
              <a:spLocks noChangeShapeType="1"/>
            </p:cNvSpPr>
            <p:nvPr/>
          </p:nvSpPr>
          <p:spPr bwMode="auto">
            <a:xfrm flipV="1">
              <a:off x="6692900" y="2915784"/>
              <a:ext cx="300038" cy="24765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5" name="Line 21"/>
            <p:cNvSpPr>
              <a:spLocks noChangeShapeType="1"/>
            </p:cNvSpPr>
            <p:nvPr/>
          </p:nvSpPr>
          <p:spPr bwMode="auto">
            <a:xfrm>
              <a:off x="6688138" y="3355522"/>
              <a:ext cx="301625" cy="242887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6" name="Line 22"/>
            <p:cNvSpPr>
              <a:spLocks noChangeShapeType="1"/>
            </p:cNvSpPr>
            <p:nvPr/>
          </p:nvSpPr>
          <p:spPr bwMode="auto">
            <a:xfrm flipH="1">
              <a:off x="6991350" y="1863271"/>
              <a:ext cx="1588" cy="1050925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7" name="Line 23"/>
            <p:cNvSpPr>
              <a:spLocks noChangeShapeType="1"/>
            </p:cNvSpPr>
            <p:nvPr/>
          </p:nvSpPr>
          <p:spPr bwMode="auto">
            <a:xfrm>
              <a:off x="6978650" y="3568246"/>
              <a:ext cx="0" cy="95885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8" name="Line 24"/>
            <p:cNvSpPr>
              <a:spLocks noChangeShapeType="1"/>
            </p:cNvSpPr>
            <p:nvPr/>
          </p:nvSpPr>
          <p:spPr bwMode="auto">
            <a:xfrm>
              <a:off x="6978650" y="1863271"/>
              <a:ext cx="1460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9" name="Line 26"/>
            <p:cNvSpPr>
              <a:spLocks noChangeShapeType="1"/>
            </p:cNvSpPr>
            <p:nvPr/>
          </p:nvSpPr>
          <p:spPr bwMode="auto">
            <a:xfrm>
              <a:off x="5470525" y="3274559"/>
              <a:ext cx="469900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0" name="Oval 27"/>
            <p:cNvSpPr>
              <a:spLocks noChangeArrowheads="1"/>
            </p:cNvSpPr>
            <p:nvPr/>
          </p:nvSpPr>
          <p:spPr bwMode="auto">
            <a:xfrm>
              <a:off x="6945313" y="4465184"/>
              <a:ext cx="65087" cy="730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1" name="Line 28"/>
            <p:cNvSpPr>
              <a:spLocks noChangeShapeType="1"/>
            </p:cNvSpPr>
            <p:nvPr/>
          </p:nvSpPr>
          <p:spPr bwMode="auto">
            <a:xfrm>
              <a:off x="6978650" y="4446134"/>
              <a:ext cx="0" cy="2508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2" name="Line 29"/>
            <p:cNvSpPr>
              <a:spLocks noChangeShapeType="1"/>
            </p:cNvSpPr>
            <p:nvPr/>
          </p:nvSpPr>
          <p:spPr bwMode="auto">
            <a:xfrm>
              <a:off x="6878638" y="4696959"/>
              <a:ext cx="214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3" name="Rectangle 30"/>
            <p:cNvSpPr>
              <a:spLocks noChangeArrowheads="1"/>
            </p:cNvSpPr>
            <p:nvPr/>
          </p:nvSpPr>
          <p:spPr bwMode="auto">
            <a:xfrm>
              <a:off x="4945063" y="3852409"/>
              <a:ext cx="449162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244" name="Rectangle 31"/>
            <p:cNvSpPr>
              <a:spLocks noChangeArrowheads="1"/>
            </p:cNvSpPr>
            <p:nvPr/>
          </p:nvSpPr>
          <p:spPr bwMode="auto">
            <a:xfrm>
              <a:off x="8445500" y="3614284"/>
              <a:ext cx="32412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45" name="Rectangle 32"/>
            <p:cNvSpPr>
              <a:spLocks noChangeArrowheads="1"/>
            </p:cNvSpPr>
            <p:nvPr/>
          </p:nvSpPr>
          <p:spPr bwMode="auto">
            <a:xfrm>
              <a:off x="8432800" y="4231821"/>
              <a:ext cx="361950" cy="30480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246" name="Rectangle 33"/>
            <p:cNvSpPr>
              <a:spLocks noChangeArrowheads="1"/>
            </p:cNvSpPr>
            <p:nvPr/>
          </p:nvSpPr>
          <p:spPr bwMode="auto">
            <a:xfrm>
              <a:off x="6908800" y="3773034"/>
              <a:ext cx="138113" cy="406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7" name="Rectangle 34"/>
            <p:cNvSpPr>
              <a:spLocks noChangeArrowheads="1"/>
            </p:cNvSpPr>
            <p:nvPr/>
          </p:nvSpPr>
          <p:spPr bwMode="auto">
            <a:xfrm>
              <a:off x="7943850" y="3893684"/>
              <a:ext cx="420308" cy="36933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248" name="Rectangle 35"/>
            <p:cNvSpPr>
              <a:spLocks noChangeArrowheads="1"/>
            </p:cNvSpPr>
            <p:nvPr/>
          </p:nvSpPr>
          <p:spPr bwMode="auto">
            <a:xfrm>
              <a:off x="7156450" y="3155496"/>
              <a:ext cx="184731" cy="2769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endParaRPr lang="zh-CN" altLang="zh-CN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9" name="Line 36"/>
            <p:cNvSpPr>
              <a:spLocks noChangeShapeType="1"/>
            </p:cNvSpPr>
            <p:nvPr/>
          </p:nvSpPr>
          <p:spPr bwMode="auto">
            <a:xfrm>
              <a:off x="7080250" y="2320471"/>
              <a:ext cx="0" cy="403225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0" name="Rectangle 37"/>
            <p:cNvSpPr>
              <a:spLocks noChangeArrowheads="1"/>
            </p:cNvSpPr>
            <p:nvPr/>
          </p:nvSpPr>
          <p:spPr bwMode="auto">
            <a:xfrm>
              <a:off x="7115175" y="2204584"/>
              <a:ext cx="420308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251" name="Line 38"/>
            <p:cNvSpPr>
              <a:spLocks noChangeShapeType="1"/>
            </p:cNvSpPr>
            <p:nvPr/>
          </p:nvSpPr>
          <p:spPr bwMode="auto">
            <a:xfrm>
              <a:off x="6243638" y="3201534"/>
              <a:ext cx="311150" cy="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2" name="Rectangle 39"/>
            <p:cNvSpPr>
              <a:spLocks noChangeArrowheads="1"/>
            </p:cNvSpPr>
            <p:nvPr/>
          </p:nvSpPr>
          <p:spPr bwMode="auto">
            <a:xfrm>
              <a:off x="6159500" y="2682421"/>
              <a:ext cx="420308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253" name="Line 40"/>
            <p:cNvSpPr>
              <a:spLocks noChangeShapeType="1"/>
            </p:cNvSpPr>
            <p:nvPr/>
          </p:nvSpPr>
          <p:spPr bwMode="auto">
            <a:xfrm flipH="1">
              <a:off x="5940425" y="1863271"/>
              <a:ext cx="0" cy="14366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4" name="Line 41"/>
            <p:cNvSpPr>
              <a:spLocks noChangeShapeType="1"/>
            </p:cNvSpPr>
            <p:nvPr/>
          </p:nvSpPr>
          <p:spPr bwMode="auto">
            <a:xfrm flipV="1">
              <a:off x="5924551" y="1860096"/>
              <a:ext cx="11509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5" name="Rectangle 42"/>
            <p:cNvSpPr>
              <a:spLocks noChangeArrowheads="1"/>
            </p:cNvSpPr>
            <p:nvPr/>
          </p:nvSpPr>
          <p:spPr bwMode="auto">
            <a:xfrm>
              <a:off x="5870575" y="2271259"/>
              <a:ext cx="139700" cy="379412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6" name="Line 43"/>
            <p:cNvSpPr>
              <a:spLocks noChangeShapeType="1"/>
            </p:cNvSpPr>
            <p:nvPr/>
          </p:nvSpPr>
          <p:spPr bwMode="auto">
            <a:xfrm>
              <a:off x="7646988" y="3676196"/>
              <a:ext cx="7858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257" name="Group 44"/>
            <p:cNvGrpSpPr>
              <a:grpSpLocks/>
            </p:cNvGrpSpPr>
            <p:nvPr/>
          </p:nvGrpSpPr>
          <p:grpSpPr bwMode="auto">
            <a:xfrm>
              <a:off x="5316168" y="3105490"/>
              <a:ext cx="2162823" cy="747294"/>
              <a:chOff x="4725991" y="368"/>
              <a:chExt cx="2162823" cy="485"/>
            </a:xfrm>
          </p:grpSpPr>
          <p:sp>
            <p:nvSpPr>
              <p:cNvPr id="282" name="Line 45"/>
              <p:cNvSpPr>
                <a:spLocks noChangeShapeType="1"/>
              </p:cNvSpPr>
              <p:nvPr/>
            </p:nvSpPr>
            <p:spPr bwMode="auto">
              <a:xfrm>
                <a:off x="6888814" y="617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83" name="Line 46"/>
              <p:cNvSpPr>
                <a:spLocks noChangeShapeType="1"/>
              </p:cNvSpPr>
              <p:nvPr/>
            </p:nvSpPr>
            <p:spPr bwMode="auto">
              <a:xfrm>
                <a:off x="4725991" y="368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258" name="Line 47"/>
            <p:cNvSpPr>
              <a:spLocks noChangeShapeType="1"/>
            </p:cNvSpPr>
            <p:nvPr/>
          </p:nvSpPr>
          <p:spPr bwMode="auto">
            <a:xfrm>
              <a:off x="6978650" y="3682546"/>
              <a:ext cx="488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9" name="Line 48"/>
            <p:cNvSpPr>
              <a:spLocks noChangeShapeType="1"/>
            </p:cNvSpPr>
            <p:nvPr/>
          </p:nvSpPr>
          <p:spPr bwMode="auto">
            <a:xfrm>
              <a:off x="8439150" y="3682546"/>
              <a:ext cx="0" cy="838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0" name="Oval 49"/>
            <p:cNvSpPr>
              <a:spLocks noChangeArrowheads="1"/>
            </p:cNvSpPr>
            <p:nvPr/>
          </p:nvSpPr>
          <p:spPr bwMode="auto">
            <a:xfrm>
              <a:off x="8375650" y="1826759"/>
              <a:ext cx="63500" cy="746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1" name="Text Box 50"/>
            <p:cNvSpPr txBox="1">
              <a:spLocks noChangeArrowheads="1"/>
            </p:cNvSpPr>
            <p:nvPr/>
          </p:nvSpPr>
          <p:spPr bwMode="auto">
            <a:xfrm>
              <a:off x="6943725" y="3045959"/>
              <a:ext cx="330540" cy="3795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grpSp>
          <p:nvGrpSpPr>
            <p:cNvPr id="262" name="Group 51"/>
            <p:cNvGrpSpPr>
              <a:grpSpLocks/>
            </p:cNvGrpSpPr>
            <p:nvPr/>
          </p:nvGrpSpPr>
          <p:grpSpPr bwMode="auto">
            <a:xfrm>
              <a:off x="5461050" y="3106123"/>
              <a:ext cx="2168266" cy="744057"/>
              <a:chOff x="7034594" y="626"/>
              <a:chExt cx="2168266" cy="485"/>
            </a:xfrm>
          </p:grpSpPr>
          <p:sp>
            <p:nvSpPr>
              <p:cNvPr id="280" name="Line 52"/>
              <p:cNvSpPr>
                <a:spLocks noChangeShapeType="1"/>
              </p:cNvSpPr>
              <p:nvPr/>
            </p:nvSpPr>
            <p:spPr bwMode="auto">
              <a:xfrm>
                <a:off x="9202860" y="875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81" name="Line 53"/>
              <p:cNvSpPr>
                <a:spLocks noChangeShapeType="1"/>
              </p:cNvSpPr>
              <p:nvPr/>
            </p:nvSpPr>
            <p:spPr bwMode="auto">
              <a:xfrm>
                <a:off x="7034594" y="626"/>
                <a:ext cx="0" cy="2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263" name="Rectangle 54"/>
            <p:cNvSpPr>
              <a:spLocks noChangeArrowheads="1"/>
            </p:cNvSpPr>
            <p:nvPr/>
          </p:nvSpPr>
          <p:spPr bwMode="auto">
            <a:xfrm>
              <a:off x="7394575" y="3155496"/>
              <a:ext cx="41549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264" name="Rectangle 55"/>
            <p:cNvSpPr>
              <a:spLocks noChangeArrowheads="1"/>
            </p:cNvSpPr>
            <p:nvPr/>
          </p:nvSpPr>
          <p:spPr bwMode="auto">
            <a:xfrm>
              <a:off x="5111750" y="2723696"/>
              <a:ext cx="41549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65" name="Rectangle 56"/>
            <p:cNvSpPr>
              <a:spLocks noChangeArrowheads="1"/>
            </p:cNvSpPr>
            <p:nvPr/>
          </p:nvSpPr>
          <p:spPr bwMode="auto">
            <a:xfrm>
              <a:off x="5467350" y="2884034"/>
              <a:ext cx="32412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66" name="Rectangle 57"/>
            <p:cNvSpPr>
              <a:spLocks noChangeArrowheads="1"/>
            </p:cNvSpPr>
            <p:nvPr/>
          </p:nvSpPr>
          <p:spPr bwMode="auto">
            <a:xfrm>
              <a:off x="7186613" y="3312659"/>
              <a:ext cx="32412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267" name="Rectangle 58"/>
            <p:cNvSpPr>
              <a:spLocks noChangeArrowheads="1"/>
            </p:cNvSpPr>
            <p:nvPr/>
          </p:nvSpPr>
          <p:spPr bwMode="auto">
            <a:xfrm>
              <a:off x="5410200" y="2164896"/>
              <a:ext cx="428322" cy="36933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268" name="Rectangle 59"/>
            <p:cNvSpPr>
              <a:spLocks noChangeArrowheads="1"/>
            </p:cNvSpPr>
            <p:nvPr/>
          </p:nvSpPr>
          <p:spPr bwMode="auto">
            <a:xfrm>
              <a:off x="6477000" y="3812721"/>
              <a:ext cx="420308" cy="36933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269" name="Rectangle 60"/>
            <p:cNvSpPr>
              <a:spLocks noChangeArrowheads="1"/>
            </p:cNvSpPr>
            <p:nvPr/>
          </p:nvSpPr>
          <p:spPr bwMode="auto">
            <a:xfrm>
              <a:off x="7943850" y="1829934"/>
              <a:ext cx="686406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grpSp>
          <p:nvGrpSpPr>
            <p:cNvPr id="270" name="Group 61"/>
            <p:cNvGrpSpPr>
              <a:grpSpLocks/>
            </p:cNvGrpSpPr>
            <p:nvPr/>
          </p:nvGrpSpPr>
          <p:grpSpPr bwMode="auto">
            <a:xfrm>
              <a:off x="4649796" y="3277735"/>
              <a:ext cx="658813" cy="1285876"/>
              <a:chOff x="2929" y="2339"/>
              <a:chExt cx="415" cy="810"/>
            </a:xfrm>
          </p:grpSpPr>
          <p:sp>
            <p:nvSpPr>
              <p:cNvPr id="273" name="Oval 62"/>
              <p:cNvSpPr>
                <a:spLocks noChangeArrowheads="1"/>
              </p:cNvSpPr>
              <p:nvPr/>
            </p:nvSpPr>
            <p:spPr bwMode="auto">
              <a:xfrm>
                <a:off x="2929" y="2777"/>
                <a:ext cx="232" cy="224"/>
              </a:xfrm>
              <a:prstGeom prst="ellipse">
                <a:avLst/>
              </a:prstGeom>
              <a:gradFill rotWithShape="1">
                <a:gsLst>
                  <a:gs pos="0">
                    <a:srgbClr val="CCFFFF"/>
                  </a:gs>
                  <a:gs pos="50000">
                    <a:schemeClr val="accent1"/>
                  </a:gs>
                  <a:gs pos="100000">
                    <a:srgbClr val="CCFFFF"/>
                  </a:gs>
                </a:gsLst>
                <a:lin ang="2700000" scaled="1"/>
              </a:gra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74" name="Line 63"/>
              <p:cNvSpPr>
                <a:spLocks noChangeShapeType="1"/>
              </p:cNvSpPr>
              <p:nvPr/>
            </p:nvSpPr>
            <p:spPr bwMode="auto">
              <a:xfrm>
                <a:off x="3044" y="2343"/>
                <a:ext cx="1" cy="789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75" name="Rectangle 64"/>
              <p:cNvSpPr>
                <a:spLocks noChangeArrowheads="1"/>
              </p:cNvSpPr>
              <p:nvPr/>
            </p:nvSpPr>
            <p:spPr bwMode="auto">
              <a:xfrm>
                <a:off x="3000" y="2437"/>
                <a:ext cx="88" cy="239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76" name="Rectangle 65"/>
              <p:cNvSpPr>
                <a:spLocks noChangeArrowheads="1"/>
              </p:cNvSpPr>
              <p:nvPr/>
            </p:nvSpPr>
            <p:spPr bwMode="auto">
              <a:xfrm>
                <a:off x="3060" y="2426"/>
                <a:ext cx="259" cy="23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</a:p>
            </p:txBody>
          </p:sp>
          <p:sp>
            <p:nvSpPr>
              <p:cNvPr id="277" name="Line 66"/>
              <p:cNvSpPr>
                <a:spLocks noChangeShapeType="1"/>
              </p:cNvSpPr>
              <p:nvPr/>
            </p:nvSpPr>
            <p:spPr bwMode="auto">
              <a:xfrm>
                <a:off x="3032" y="2339"/>
                <a:ext cx="30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78" name="Rectangle 67"/>
              <p:cNvSpPr>
                <a:spLocks noChangeArrowheads="1"/>
              </p:cNvSpPr>
              <p:nvPr/>
            </p:nvSpPr>
            <p:spPr bwMode="auto">
              <a:xfrm>
                <a:off x="3116" y="2611"/>
                <a:ext cx="204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999999"/>
                </a:prst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279" name="Rectangle 68"/>
              <p:cNvSpPr>
                <a:spLocks noChangeArrowheads="1"/>
              </p:cNvSpPr>
              <p:nvPr/>
            </p:nvSpPr>
            <p:spPr bwMode="auto">
              <a:xfrm>
                <a:off x="3116" y="2957"/>
                <a:ext cx="228" cy="192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1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－</a:t>
                </a:r>
              </a:p>
            </p:txBody>
          </p:sp>
        </p:grpSp>
        <p:sp>
          <p:nvSpPr>
            <p:cNvPr id="271" name="Rectangle 69"/>
            <p:cNvSpPr>
              <a:spLocks noChangeArrowheads="1"/>
            </p:cNvSpPr>
            <p:nvPr/>
          </p:nvSpPr>
          <p:spPr bwMode="auto">
            <a:xfrm>
              <a:off x="8494713" y="3828596"/>
              <a:ext cx="474810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</a:p>
          </p:txBody>
        </p:sp>
        <p:sp>
          <p:nvSpPr>
            <p:cNvPr id="272" name="Rectangle 25"/>
            <p:cNvSpPr>
              <a:spLocks noChangeArrowheads="1"/>
            </p:cNvSpPr>
            <p:nvPr/>
          </p:nvSpPr>
          <p:spPr bwMode="auto">
            <a:xfrm>
              <a:off x="8369300" y="3890509"/>
              <a:ext cx="139700" cy="407987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869597" y="575733"/>
            <a:ext cx="2684463" cy="519113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微变等效电路图</a:t>
            </a:r>
          </a:p>
        </p:txBody>
      </p:sp>
      <p:grpSp>
        <p:nvGrpSpPr>
          <p:cNvPr id="133" name="Group 62"/>
          <p:cNvGrpSpPr>
            <a:grpSpLocks/>
          </p:cNvGrpSpPr>
          <p:nvPr/>
        </p:nvGrpSpPr>
        <p:grpSpPr bwMode="auto">
          <a:xfrm>
            <a:off x="5396089" y="180623"/>
            <a:ext cx="3219450" cy="2984500"/>
            <a:chOff x="3423" y="1450"/>
            <a:chExt cx="2028" cy="1670"/>
          </a:xfrm>
        </p:grpSpPr>
        <p:sp>
          <p:nvSpPr>
            <p:cNvPr id="134" name="Rectangle 63"/>
            <p:cNvSpPr>
              <a:spLocks noChangeArrowheads="1"/>
            </p:cNvSpPr>
            <p:nvPr/>
          </p:nvSpPr>
          <p:spPr bwMode="auto">
            <a:xfrm>
              <a:off x="4581" y="1450"/>
              <a:ext cx="202" cy="258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grpSp>
          <p:nvGrpSpPr>
            <p:cNvPr id="135" name="Group 64"/>
            <p:cNvGrpSpPr>
              <a:grpSpLocks/>
            </p:cNvGrpSpPr>
            <p:nvPr/>
          </p:nvGrpSpPr>
          <p:grpSpPr bwMode="auto">
            <a:xfrm>
              <a:off x="3423" y="1579"/>
              <a:ext cx="2028" cy="1541"/>
              <a:chOff x="3423" y="1579"/>
              <a:chExt cx="2028" cy="1541"/>
            </a:xfrm>
          </p:grpSpPr>
          <p:sp>
            <p:nvSpPr>
              <p:cNvPr id="136" name="Line 66"/>
              <p:cNvSpPr>
                <a:spLocks noChangeShapeType="1"/>
              </p:cNvSpPr>
              <p:nvPr/>
            </p:nvSpPr>
            <p:spPr bwMode="auto">
              <a:xfrm>
                <a:off x="4480" y="1687"/>
                <a:ext cx="0" cy="28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37" name="Line 67"/>
              <p:cNvSpPr>
                <a:spLocks noChangeShapeType="1"/>
              </p:cNvSpPr>
              <p:nvPr/>
            </p:nvSpPr>
            <p:spPr bwMode="auto">
              <a:xfrm flipV="1">
                <a:off x="4473" y="1714"/>
                <a:ext cx="158" cy="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38" name="Line 68"/>
              <p:cNvSpPr>
                <a:spLocks noChangeShapeType="1"/>
              </p:cNvSpPr>
              <p:nvPr/>
            </p:nvSpPr>
            <p:spPr bwMode="auto">
              <a:xfrm>
                <a:off x="4473" y="1901"/>
                <a:ext cx="179" cy="9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39" name="Line 69"/>
              <p:cNvSpPr>
                <a:spLocks noChangeShapeType="1"/>
              </p:cNvSpPr>
              <p:nvPr/>
            </p:nvSpPr>
            <p:spPr bwMode="auto">
              <a:xfrm flipV="1">
                <a:off x="4589" y="2530"/>
                <a:ext cx="0" cy="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0" name="Line 70"/>
              <p:cNvSpPr>
                <a:spLocks noChangeShapeType="1"/>
              </p:cNvSpPr>
              <p:nvPr/>
            </p:nvSpPr>
            <p:spPr bwMode="auto">
              <a:xfrm flipH="1">
                <a:off x="4631" y="1990"/>
                <a:ext cx="4" cy="113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1" name="Line 71"/>
              <p:cNvSpPr>
                <a:spLocks noChangeShapeType="1"/>
              </p:cNvSpPr>
              <p:nvPr/>
            </p:nvSpPr>
            <p:spPr bwMode="auto">
              <a:xfrm>
                <a:off x="4631" y="1713"/>
                <a:ext cx="8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2" name="Line 72"/>
              <p:cNvSpPr>
                <a:spLocks noChangeShapeType="1"/>
              </p:cNvSpPr>
              <p:nvPr/>
            </p:nvSpPr>
            <p:spPr bwMode="auto">
              <a:xfrm flipH="1">
                <a:off x="5302" y="1714"/>
                <a:ext cx="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3" name="Line 73"/>
              <p:cNvSpPr>
                <a:spLocks noChangeShapeType="1"/>
              </p:cNvSpPr>
              <p:nvPr/>
            </p:nvSpPr>
            <p:spPr bwMode="auto">
              <a:xfrm>
                <a:off x="5314" y="2530"/>
                <a:ext cx="0" cy="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4" name="Line 74"/>
              <p:cNvSpPr>
                <a:spLocks noChangeShapeType="1"/>
              </p:cNvSpPr>
              <p:nvPr/>
            </p:nvSpPr>
            <p:spPr bwMode="auto">
              <a:xfrm>
                <a:off x="5314" y="171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5" name="Line 75"/>
              <p:cNvSpPr>
                <a:spLocks noChangeShapeType="1"/>
              </p:cNvSpPr>
              <p:nvPr/>
            </p:nvSpPr>
            <p:spPr bwMode="auto">
              <a:xfrm>
                <a:off x="5314" y="171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6" name="Line 76"/>
              <p:cNvSpPr>
                <a:spLocks noChangeShapeType="1"/>
              </p:cNvSpPr>
              <p:nvPr/>
            </p:nvSpPr>
            <p:spPr bwMode="auto">
              <a:xfrm>
                <a:off x="5314" y="2530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7" name="Line 77"/>
              <p:cNvSpPr>
                <a:spLocks noChangeShapeType="1"/>
              </p:cNvSpPr>
              <p:nvPr/>
            </p:nvSpPr>
            <p:spPr bwMode="auto">
              <a:xfrm>
                <a:off x="5451" y="1714"/>
                <a:ext cx="0" cy="12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8" name="Line 78"/>
              <p:cNvSpPr>
                <a:spLocks noChangeShapeType="1"/>
              </p:cNvSpPr>
              <p:nvPr/>
            </p:nvSpPr>
            <p:spPr bwMode="auto">
              <a:xfrm>
                <a:off x="3808" y="1827"/>
                <a:ext cx="66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9" name="Line 79"/>
              <p:cNvSpPr>
                <a:spLocks noChangeShapeType="1"/>
              </p:cNvSpPr>
              <p:nvPr/>
            </p:nvSpPr>
            <p:spPr bwMode="auto">
              <a:xfrm>
                <a:off x="4253" y="1827"/>
                <a:ext cx="0" cy="115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0" name="Line 80"/>
              <p:cNvSpPr>
                <a:spLocks noChangeShapeType="1"/>
              </p:cNvSpPr>
              <p:nvPr/>
            </p:nvSpPr>
            <p:spPr bwMode="auto">
              <a:xfrm>
                <a:off x="3818" y="2986"/>
                <a:ext cx="163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1" name="Line 81"/>
              <p:cNvSpPr>
                <a:spLocks noChangeShapeType="1"/>
              </p:cNvSpPr>
              <p:nvPr/>
            </p:nvSpPr>
            <p:spPr bwMode="auto">
              <a:xfrm>
                <a:off x="4541" y="3120"/>
                <a:ext cx="20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2" name="Oval 82"/>
              <p:cNvSpPr>
                <a:spLocks noChangeArrowheads="1"/>
              </p:cNvSpPr>
              <p:nvPr/>
            </p:nvSpPr>
            <p:spPr bwMode="auto">
              <a:xfrm>
                <a:off x="3695" y="2523"/>
                <a:ext cx="249" cy="222"/>
              </a:xfrm>
              <a:prstGeom prst="ellipse">
                <a:avLst/>
              </a:prstGeom>
              <a:gradFill rotWithShape="1">
                <a:gsLst>
                  <a:gs pos="0">
                    <a:srgbClr val="CCFFFF"/>
                  </a:gs>
                  <a:gs pos="50000">
                    <a:schemeClr val="accent1"/>
                  </a:gs>
                  <a:gs pos="100000">
                    <a:srgbClr val="CCFFFF"/>
                  </a:gs>
                </a:gsLst>
                <a:lin ang="2700000" scaled="1"/>
              </a:gra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3" name="Line 83"/>
              <p:cNvSpPr>
                <a:spLocks noChangeShapeType="1"/>
              </p:cNvSpPr>
              <p:nvPr/>
            </p:nvSpPr>
            <p:spPr bwMode="auto">
              <a:xfrm>
                <a:off x="3818" y="1827"/>
                <a:ext cx="0" cy="1159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4" name="Rectangle 84"/>
              <p:cNvSpPr>
                <a:spLocks noChangeArrowheads="1"/>
              </p:cNvSpPr>
              <p:nvPr/>
            </p:nvSpPr>
            <p:spPr bwMode="auto">
              <a:xfrm>
                <a:off x="3771" y="2071"/>
                <a:ext cx="88" cy="239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5" name="Rectangle 85"/>
              <p:cNvSpPr>
                <a:spLocks noChangeArrowheads="1"/>
              </p:cNvSpPr>
              <p:nvPr/>
            </p:nvSpPr>
            <p:spPr bwMode="auto">
              <a:xfrm>
                <a:off x="3470" y="2023"/>
                <a:ext cx="259" cy="207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</a:p>
            </p:txBody>
          </p:sp>
          <p:sp>
            <p:nvSpPr>
              <p:cNvPr id="156" name="Rectangle 86"/>
              <p:cNvSpPr>
                <a:spLocks noChangeArrowheads="1"/>
              </p:cNvSpPr>
              <p:nvPr/>
            </p:nvSpPr>
            <p:spPr bwMode="auto">
              <a:xfrm>
                <a:off x="3611" y="2310"/>
                <a:ext cx="204" cy="207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999999"/>
                </a:prst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57" name="Rectangle 87"/>
              <p:cNvSpPr>
                <a:spLocks noChangeArrowheads="1"/>
              </p:cNvSpPr>
              <p:nvPr/>
            </p:nvSpPr>
            <p:spPr bwMode="auto">
              <a:xfrm>
                <a:off x="3605" y="2747"/>
                <a:ext cx="229" cy="172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1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－</a:t>
                </a:r>
              </a:p>
            </p:txBody>
          </p:sp>
          <p:sp>
            <p:nvSpPr>
              <p:cNvPr id="158" name="Rectangle 88"/>
              <p:cNvSpPr>
                <a:spLocks noChangeArrowheads="1"/>
              </p:cNvSpPr>
              <p:nvPr/>
            </p:nvSpPr>
            <p:spPr bwMode="auto">
              <a:xfrm>
                <a:off x="4214" y="2282"/>
                <a:ext cx="88" cy="257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9" name="Rectangle 89"/>
              <p:cNvSpPr>
                <a:spLocks noChangeArrowheads="1"/>
              </p:cNvSpPr>
              <p:nvPr/>
            </p:nvSpPr>
            <p:spPr bwMode="auto">
              <a:xfrm>
                <a:off x="3423" y="2431"/>
                <a:ext cx="283" cy="29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999999"/>
                </a:prst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</a:p>
            </p:txBody>
          </p:sp>
          <p:sp>
            <p:nvSpPr>
              <p:cNvPr id="160" name="Rectangle 90"/>
              <p:cNvSpPr>
                <a:spLocks noChangeArrowheads="1"/>
              </p:cNvSpPr>
              <p:nvPr/>
            </p:nvSpPr>
            <p:spPr bwMode="auto">
              <a:xfrm>
                <a:off x="3971" y="2295"/>
                <a:ext cx="270" cy="207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61" name="Rectangle 91"/>
              <p:cNvSpPr>
                <a:spLocks noChangeArrowheads="1"/>
              </p:cNvSpPr>
              <p:nvPr/>
            </p:nvSpPr>
            <p:spPr bwMode="auto">
              <a:xfrm>
                <a:off x="4355" y="2282"/>
                <a:ext cx="265" cy="207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</a:p>
            </p:txBody>
          </p:sp>
          <p:sp>
            <p:nvSpPr>
              <p:cNvPr id="162" name="Line 92"/>
              <p:cNvSpPr>
                <a:spLocks noChangeShapeType="1"/>
              </p:cNvSpPr>
              <p:nvPr/>
            </p:nvSpPr>
            <p:spPr bwMode="auto">
              <a:xfrm>
                <a:off x="4635" y="2091"/>
                <a:ext cx="36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3" name="Line 93"/>
              <p:cNvSpPr>
                <a:spLocks noChangeShapeType="1"/>
              </p:cNvSpPr>
              <p:nvPr/>
            </p:nvSpPr>
            <p:spPr bwMode="auto">
              <a:xfrm>
                <a:off x="5000" y="2091"/>
                <a:ext cx="0" cy="89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4" name="Rectangle 94"/>
              <p:cNvSpPr>
                <a:spLocks noChangeArrowheads="1"/>
              </p:cNvSpPr>
              <p:nvPr/>
            </p:nvSpPr>
            <p:spPr bwMode="auto">
              <a:xfrm>
                <a:off x="4954" y="2310"/>
                <a:ext cx="88" cy="257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5" name="Rectangle 95"/>
              <p:cNvSpPr>
                <a:spLocks noChangeArrowheads="1"/>
              </p:cNvSpPr>
              <p:nvPr/>
            </p:nvSpPr>
            <p:spPr bwMode="auto">
              <a:xfrm>
                <a:off x="4734" y="2317"/>
                <a:ext cx="259" cy="207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b="1" i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L</a:t>
                </a:r>
              </a:p>
            </p:txBody>
          </p:sp>
          <p:sp>
            <p:nvSpPr>
              <p:cNvPr id="166" name="Rectangle 96"/>
              <p:cNvSpPr>
                <a:spLocks noChangeArrowheads="1"/>
              </p:cNvSpPr>
              <p:nvPr/>
            </p:nvSpPr>
            <p:spPr bwMode="auto">
              <a:xfrm>
                <a:off x="5024" y="2103"/>
                <a:ext cx="204" cy="207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999999"/>
                </a:prst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67" name="Rectangle 97"/>
              <p:cNvSpPr>
                <a:spLocks noChangeArrowheads="1"/>
              </p:cNvSpPr>
              <p:nvPr/>
            </p:nvSpPr>
            <p:spPr bwMode="auto">
              <a:xfrm>
                <a:off x="5024" y="2595"/>
                <a:ext cx="228" cy="171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1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－</a:t>
                </a:r>
              </a:p>
            </p:txBody>
          </p:sp>
          <p:sp>
            <p:nvSpPr>
              <p:cNvPr id="168" name="Rectangle 98"/>
              <p:cNvSpPr>
                <a:spLocks noChangeArrowheads="1"/>
              </p:cNvSpPr>
              <p:nvPr/>
            </p:nvSpPr>
            <p:spPr bwMode="auto">
              <a:xfrm>
                <a:off x="5024" y="2282"/>
                <a:ext cx="299" cy="29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</a:p>
            </p:txBody>
          </p:sp>
          <p:sp>
            <p:nvSpPr>
              <p:cNvPr id="169" name="Text Box 99"/>
              <p:cNvSpPr txBox="1">
                <a:spLocks noChangeArrowheads="1"/>
              </p:cNvSpPr>
              <p:nvPr/>
            </p:nvSpPr>
            <p:spPr bwMode="auto">
              <a:xfrm>
                <a:off x="4200" y="1579"/>
                <a:ext cx="189" cy="207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999999"/>
                </a:prst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170" name="Text Box 100"/>
              <p:cNvSpPr txBox="1">
                <a:spLocks noChangeArrowheads="1"/>
              </p:cNvSpPr>
              <p:nvPr/>
            </p:nvSpPr>
            <p:spPr bwMode="auto">
              <a:xfrm>
                <a:off x="4459" y="1923"/>
                <a:ext cx="202" cy="258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999999"/>
                </a:prst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</a:p>
            </p:txBody>
          </p:sp>
          <p:sp>
            <p:nvSpPr>
              <p:cNvPr id="171" name="Oval 101"/>
              <p:cNvSpPr>
                <a:spLocks noChangeArrowheads="1"/>
              </p:cNvSpPr>
              <p:nvPr/>
            </p:nvSpPr>
            <p:spPr bwMode="auto">
              <a:xfrm>
                <a:off x="4605" y="2959"/>
                <a:ext cx="48" cy="4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72" name="Rectangle 65"/>
              <p:cNvSpPr>
                <a:spLocks noChangeArrowheads="1"/>
              </p:cNvSpPr>
              <p:nvPr/>
            </p:nvSpPr>
            <p:spPr bwMode="auto">
              <a:xfrm>
                <a:off x="4589" y="2310"/>
                <a:ext cx="88" cy="257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190" name="组合 189"/>
          <p:cNvGrpSpPr/>
          <p:nvPr/>
        </p:nvGrpSpPr>
        <p:grpSpPr>
          <a:xfrm>
            <a:off x="141514" y="1549350"/>
            <a:ext cx="4121675" cy="2889250"/>
            <a:chOff x="1096439" y="2406903"/>
            <a:chExt cx="4121675" cy="2889250"/>
          </a:xfrm>
        </p:grpSpPr>
        <p:sp>
          <p:nvSpPr>
            <p:cNvPr id="178" name="Oval 82"/>
            <p:cNvSpPr>
              <a:spLocks noChangeArrowheads="1"/>
            </p:cNvSpPr>
            <p:nvPr/>
          </p:nvSpPr>
          <p:spPr bwMode="auto">
            <a:xfrm>
              <a:off x="1566334" y="4192298"/>
              <a:ext cx="396000" cy="360000"/>
            </a:xfrm>
            <a:prstGeom prst="ellipse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2700000" scaled="1"/>
            </a:gra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1" name="Line 20"/>
            <p:cNvSpPr>
              <a:spLocks noChangeShapeType="1"/>
            </p:cNvSpPr>
            <p:nvPr/>
          </p:nvSpPr>
          <p:spPr bwMode="auto">
            <a:xfrm>
              <a:off x="2329744" y="2652083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2" name="Rectangle 21"/>
            <p:cNvSpPr>
              <a:spLocks noChangeArrowheads="1"/>
            </p:cNvSpPr>
            <p:nvPr/>
          </p:nvSpPr>
          <p:spPr bwMode="auto">
            <a:xfrm>
              <a:off x="2239257" y="3507746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3" name="Line 22"/>
            <p:cNvSpPr>
              <a:spLocks noChangeShapeType="1"/>
            </p:cNvSpPr>
            <p:nvPr/>
          </p:nvSpPr>
          <p:spPr bwMode="auto">
            <a:xfrm flipV="1">
              <a:off x="1749778" y="2660902"/>
              <a:ext cx="14156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4" name="Line 23"/>
            <p:cNvSpPr>
              <a:spLocks noChangeShapeType="1"/>
            </p:cNvSpPr>
            <p:nvPr/>
          </p:nvSpPr>
          <p:spPr bwMode="auto">
            <a:xfrm>
              <a:off x="3165476" y="2660903"/>
              <a:ext cx="0" cy="1270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5" name="Line 24"/>
            <p:cNvSpPr>
              <a:spLocks noChangeShapeType="1"/>
            </p:cNvSpPr>
            <p:nvPr/>
          </p:nvSpPr>
          <p:spPr bwMode="auto">
            <a:xfrm flipV="1">
              <a:off x="1761419" y="5116765"/>
              <a:ext cx="3456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6" name="Line 25"/>
            <p:cNvSpPr>
              <a:spLocks noChangeShapeType="1"/>
            </p:cNvSpPr>
            <p:nvPr/>
          </p:nvSpPr>
          <p:spPr bwMode="auto">
            <a:xfrm>
              <a:off x="3768726" y="5116765"/>
              <a:ext cx="0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7" name="Line 26"/>
            <p:cNvSpPr>
              <a:spLocks noChangeShapeType="1"/>
            </p:cNvSpPr>
            <p:nvPr/>
          </p:nvSpPr>
          <p:spPr bwMode="auto">
            <a:xfrm>
              <a:off x="3595689" y="5278690"/>
              <a:ext cx="33655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Text Box 27"/>
            <p:cNvSpPr txBox="1">
              <a:spLocks noChangeArrowheads="1"/>
            </p:cNvSpPr>
            <p:nvPr/>
          </p:nvSpPr>
          <p:spPr bwMode="auto">
            <a:xfrm>
              <a:off x="2551113" y="3000628"/>
              <a:ext cx="757238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9" name="Text Box 28"/>
            <p:cNvSpPr txBox="1">
              <a:spLocks noChangeArrowheads="1"/>
            </p:cNvSpPr>
            <p:nvPr/>
          </p:nvSpPr>
          <p:spPr bwMode="auto">
            <a:xfrm>
              <a:off x="3846514" y="3437190"/>
              <a:ext cx="5588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90" name="Text Box 29"/>
            <p:cNvSpPr txBox="1">
              <a:spLocks noChangeArrowheads="1"/>
            </p:cNvSpPr>
            <p:nvPr/>
          </p:nvSpPr>
          <p:spPr bwMode="auto">
            <a:xfrm>
              <a:off x="2411413" y="2665665"/>
              <a:ext cx="390525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Text Box 30"/>
            <p:cNvSpPr txBox="1">
              <a:spLocks noChangeArrowheads="1"/>
            </p:cNvSpPr>
            <p:nvPr/>
          </p:nvSpPr>
          <p:spPr bwMode="auto">
            <a:xfrm>
              <a:off x="4651377" y="2670427"/>
              <a:ext cx="3937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Oval 31"/>
            <p:cNvSpPr>
              <a:spLocks noChangeArrowheads="1"/>
            </p:cNvSpPr>
            <p:nvPr/>
          </p:nvSpPr>
          <p:spPr bwMode="auto">
            <a:xfrm>
              <a:off x="3722689" y="5067553"/>
              <a:ext cx="84138" cy="762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3" name="Line 32"/>
            <p:cNvSpPr>
              <a:spLocks noChangeShapeType="1"/>
            </p:cNvSpPr>
            <p:nvPr/>
          </p:nvSpPr>
          <p:spPr bwMode="auto">
            <a:xfrm>
              <a:off x="4418014" y="2584703"/>
              <a:ext cx="11113" cy="1346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4" name="AutoShape 33"/>
            <p:cNvSpPr>
              <a:spLocks noChangeArrowheads="1"/>
            </p:cNvSpPr>
            <p:nvPr/>
          </p:nvSpPr>
          <p:spPr bwMode="auto">
            <a:xfrm>
              <a:off x="4210051" y="2945065"/>
              <a:ext cx="438150" cy="622300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5" name="Line 34"/>
            <p:cNvSpPr>
              <a:spLocks noChangeShapeType="1"/>
            </p:cNvSpPr>
            <p:nvPr/>
          </p:nvSpPr>
          <p:spPr bwMode="auto">
            <a:xfrm>
              <a:off x="5218114" y="2616452"/>
              <a:ext cx="0" cy="248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Line 35"/>
            <p:cNvSpPr>
              <a:spLocks noChangeShapeType="1"/>
            </p:cNvSpPr>
            <p:nvPr/>
          </p:nvSpPr>
          <p:spPr bwMode="auto">
            <a:xfrm>
              <a:off x="4429127" y="3619753"/>
              <a:ext cx="0" cy="3111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Rectangle 37"/>
            <p:cNvSpPr>
              <a:spLocks noChangeArrowheads="1"/>
            </p:cNvSpPr>
            <p:nvPr/>
          </p:nvSpPr>
          <p:spPr bwMode="auto">
            <a:xfrm>
              <a:off x="2398007" y="3523620"/>
              <a:ext cx="508473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9" name="Line 38"/>
            <p:cNvSpPr>
              <a:spLocks noChangeShapeType="1"/>
            </p:cNvSpPr>
            <p:nvPr/>
          </p:nvSpPr>
          <p:spPr bwMode="auto">
            <a:xfrm>
              <a:off x="4418014" y="2598990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Line 39"/>
            <p:cNvSpPr>
              <a:spLocks noChangeShapeType="1"/>
            </p:cNvSpPr>
            <p:nvPr/>
          </p:nvSpPr>
          <p:spPr bwMode="auto">
            <a:xfrm rot="16200000">
              <a:off x="2776538" y="2429127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1" name="Line 40"/>
            <p:cNvSpPr>
              <a:spLocks noChangeShapeType="1"/>
            </p:cNvSpPr>
            <p:nvPr/>
          </p:nvSpPr>
          <p:spPr bwMode="auto">
            <a:xfrm rot="5400000">
              <a:off x="4886327" y="2373565"/>
              <a:ext cx="0" cy="461963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2" name="Rectangle 41"/>
            <p:cNvSpPr>
              <a:spLocks noChangeArrowheads="1"/>
            </p:cNvSpPr>
            <p:nvPr/>
          </p:nvSpPr>
          <p:spPr bwMode="auto">
            <a:xfrm>
              <a:off x="3074989" y="3033965"/>
              <a:ext cx="179388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7" name="Rectangle 46"/>
            <p:cNvSpPr>
              <a:spLocks noChangeArrowheads="1"/>
            </p:cNvSpPr>
            <p:nvPr/>
          </p:nvSpPr>
          <p:spPr bwMode="auto">
            <a:xfrm>
              <a:off x="2471738" y="2487865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108" name="Group 47"/>
            <p:cNvGrpSpPr>
              <a:grpSpLocks/>
            </p:cNvGrpSpPr>
            <p:nvPr/>
          </p:nvGrpSpPr>
          <p:grpSpPr bwMode="auto">
            <a:xfrm>
              <a:off x="4471806" y="3984625"/>
              <a:ext cx="514350" cy="1158875"/>
              <a:chOff x="4734" y="609"/>
              <a:chExt cx="324" cy="730"/>
            </a:xfrm>
          </p:grpSpPr>
          <p:sp>
            <p:nvSpPr>
              <p:cNvPr id="127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8" name="Text Box 49"/>
              <p:cNvSpPr txBox="1">
                <a:spLocks noChangeArrowheads="1"/>
              </p:cNvSpPr>
              <p:nvPr/>
            </p:nvSpPr>
            <p:spPr bwMode="auto">
              <a:xfrm>
                <a:off x="4758" y="1048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29" name="Text Box 50"/>
              <p:cNvSpPr txBox="1">
                <a:spLocks noChangeArrowheads="1"/>
              </p:cNvSpPr>
              <p:nvPr/>
            </p:nvSpPr>
            <p:spPr bwMode="auto">
              <a:xfrm>
                <a:off x="4750" y="609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30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110" name="Rectangle 59"/>
            <p:cNvSpPr>
              <a:spLocks noChangeArrowheads="1"/>
            </p:cNvSpPr>
            <p:nvPr/>
          </p:nvSpPr>
          <p:spPr bwMode="auto">
            <a:xfrm>
              <a:off x="4067176" y="3283203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111" name="Rectangle 60"/>
            <p:cNvSpPr>
              <a:spLocks noChangeArrowheads="1"/>
            </p:cNvSpPr>
            <p:nvPr/>
          </p:nvSpPr>
          <p:spPr bwMode="auto">
            <a:xfrm>
              <a:off x="4719640" y="2559302"/>
              <a:ext cx="265113" cy="3698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112" name="Line 61"/>
            <p:cNvSpPr>
              <a:spLocks noChangeShapeType="1"/>
            </p:cNvSpPr>
            <p:nvPr/>
          </p:nvSpPr>
          <p:spPr bwMode="auto">
            <a:xfrm>
              <a:off x="3165476" y="3930903"/>
              <a:ext cx="12938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3" name="Line 62"/>
            <p:cNvSpPr>
              <a:spLocks noChangeShapeType="1"/>
            </p:cNvSpPr>
            <p:nvPr/>
          </p:nvSpPr>
          <p:spPr bwMode="auto">
            <a:xfrm flipV="1">
              <a:off x="3754439" y="3930903"/>
              <a:ext cx="0" cy="1152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9" name="Line 64"/>
            <p:cNvSpPr>
              <a:spLocks noChangeShapeType="1"/>
            </p:cNvSpPr>
            <p:nvPr/>
          </p:nvSpPr>
          <p:spPr bwMode="auto">
            <a:xfrm>
              <a:off x="1748544" y="2678895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0" name="Rectangle 65"/>
            <p:cNvSpPr>
              <a:spLocks noChangeArrowheads="1"/>
            </p:cNvSpPr>
            <p:nvPr/>
          </p:nvSpPr>
          <p:spPr bwMode="auto">
            <a:xfrm>
              <a:off x="1674108" y="3112636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5" name="Rectangle 66"/>
            <p:cNvSpPr>
              <a:spLocks noChangeArrowheads="1"/>
            </p:cNvSpPr>
            <p:nvPr/>
          </p:nvSpPr>
          <p:spPr bwMode="auto">
            <a:xfrm>
              <a:off x="1229784" y="3162554"/>
              <a:ext cx="48603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6" name="Text Box 67"/>
            <p:cNvSpPr txBox="1">
              <a:spLocks noChangeArrowheads="1"/>
            </p:cNvSpPr>
            <p:nvPr/>
          </p:nvSpPr>
          <p:spPr bwMode="auto">
            <a:xfrm>
              <a:off x="3159126" y="2406903"/>
              <a:ext cx="320675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17" name="Text Box 68"/>
            <p:cNvSpPr txBox="1">
              <a:spLocks noChangeArrowheads="1"/>
            </p:cNvSpPr>
            <p:nvPr/>
          </p:nvSpPr>
          <p:spPr bwMode="auto">
            <a:xfrm>
              <a:off x="3586164" y="3446715"/>
              <a:ext cx="306388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18" name="Text Box 69"/>
            <p:cNvSpPr txBox="1">
              <a:spLocks noChangeArrowheads="1"/>
            </p:cNvSpPr>
            <p:nvPr/>
          </p:nvSpPr>
          <p:spPr bwMode="auto">
            <a:xfrm>
              <a:off x="4038601" y="2527553"/>
              <a:ext cx="3206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73" name="Line 61"/>
            <p:cNvSpPr>
              <a:spLocks noChangeShapeType="1"/>
            </p:cNvSpPr>
            <p:nvPr/>
          </p:nvSpPr>
          <p:spPr bwMode="auto">
            <a:xfrm>
              <a:off x="3760789" y="4291265"/>
              <a:ext cx="61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4" name="Line 23"/>
            <p:cNvSpPr>
              <a:spLocks noChangeShapeType="1"/>
            </p:cNvSpPr>
            <p:nvPr/>
          </p:nvSpPr>
          <p:spPr bwMode="auto">
            <a:xfrm>
              <a:off x="4384675" y="4271963"/>
              <a:ext cx="0" cy="828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Rectangle 45"/>
            <p:cNvSpPr>
              <a:spLocks noChangeArrowheads="1"/>
            </p:cNvSpPr>
            <p:nvPr/>
          </p:nvSpPr>
          <p:spPr bwMode="auto">
            <a:xfrm>
              <a:off x="4287839" y="4446840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3" name="Rectangle 42"/>
            <p:cNvSpPr>
              <a:spLocks noChangeArrowheads="1"/>
            </p:cNvSpPr>
            <p:nvPr/>
          </p:nvSpPr>
          <p:spPr bwMode="auto">
            <a:xfrm>
              <a:off x="3665539" y="4435728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5" name="Line 35"/>
            <p:cNvSpPr>
              <a:spLocks noChangeShapeType="1"/>
            </p:cNvSpPr>
            <p:nvPr/>
          </p:nvSpPr>
          <p:spPr bwMode="auto">
            <a:xfrm>
              <a:off x="3748089" y="3934078"/>
              <a:ext cx="0" cy="287338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6" name="Rectangle 46"/>
            <p:cNvSpPr>
              <a:spLocks noChangeArrowheads="1"/>
            </p:cNvSpPr>
            <p:nvPr/>
          </p:nvSpPr>
          <p:spPr bwMode="auto">
            <a:xfrm>
              <a:off x="3352800" y="3807077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177" name="Text Box 29"/>
            <p:cNvSpPr txBox="1">
              <a:spLocks noChangeArrowheads="1"/>
            </p:cNvSpPr>
            <p:nvPr/>
          </p:nvSpPr>
          <p:spPr bwMode="auto">
            <a:xfrm>
              <a:off x="3287713" y="4003927"/>
              <a:ext cx="3786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9" name="Rectangle 44"/>
            <p:cNvSpPr>
              <a:spLocks noChangeArrowheads="1"/>
            </p:cNvSpPr>
            <p:nvPr/>
          </p:nvSpPr>
          <p:spPr bwMode="auto">
            <a:xfrm>
              <a:off x="3838577" y="4500992"/>
              <a:ext cx="4857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80" name="Rectangle 44"/>
            <p:cNvSpPr>
              <a:spLocks noChangeArrowheads="1"/>
            </p:cNvSpPr>
            <p:nvPr/>
          </p:nvSpPr>
          <p:spPr bwMode="auto">
            <a:xfrm>
              <a:off x="3149954" y="4478414"/>
              <a:ext cx="497252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81" name="Group 47"/>
            <p:cNvGrpSpPr>
              <a:grpSpLocks/>
            </p:cNvGrpSpPr>
            <p:nvPr/>
          </p:nvGrpSpPr>
          <p:grpSpPr bwMode="auto">
            <a:xfrm>
              <a:off x="1096439" y="3736093"/>
              <a:ext cx="615951" cy="1136650"/>
              <a:chOff x="4734" y="616"/>
              <a:chExt cx="388" cy="716"/>
            </a:xfrm>
          </p:grpSpPr>
          <p:sp>
            <p:nvSpPr>
              <p:cNvPr id="182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83" name="Text Box 49"/>
              <p:cNvSpPr txBox="1">
                <a:spLocks noChangeArrowheads="1"/>
              </p:cNvSpPr>
              <p:nvPr/>
            </p:nvSpPr>
            <p:spPr bwMode="auto">
              <a:xfrm>
                <a:off x="4886" y="1041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84" name="Text Box 50"/>
              <p:cNvSpPr txBox="1">
                <a:spLocks noChangeArrowheads="1"/>
              </p:cNvSpPr>
              <p:nvPr/>
            </p:nvSpPr>
            <p:spPr bwMode="auto">
              <a:xfrm>
                <a:off x="4814" y="616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85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186" name="Line 39"/>
            <p:cNvSpPr>
              <a:spLocks noChangeShapeType="1"/>
            </p:cNvSpPr>
            <p:nvPr/>
          </p:nvSpPr>
          <p:spPr bwMode="auto">
            <a:xfrm rot="16200000">
              <a:off x="2068867" y="2426128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7" name="Text Box 29"/>
            <p:cNvSpPr txBox="1">
              <a:spLocks noChangeArrowheads="1"/>
            </p:cNvSpPr>
            <p:nvPr/>
          </p:nvSpPr>
          <p:spPr bwMode="auto">
            <a:xfrm>
              <a:off x="1824390" y="2789843"/>
              <a:ext cx="34496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8" name="Rectangle 46"/>
            <p:cNvSpPr>
              <a:spLocks noChangeArrowheads="1"/>
            </p:cNvSpPr>
            <p:nvPr/>
          </p:nvSpPr>
          <p:spPr bwMode="auto">
            <a:xfrm>
              <a:off x="1896005" y="2623332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</p:grpSp>
      <p:sp>
        <p:nvSpPr>
          <p:cNvPr id="191" name="Text Box 7"/>
          <p:cNvSpPr txBox="1">
            <a:spLocks noChangeArrowheads="1"/>
          </p:cNvSpPr>
          <p:nvPr/>
        </p:nvSpPr>
        <p:spPr bwMode="auto">
          <a:xfrm>
            <a:off x="6473523" y="3244926"/>
            <a:ext cx="2077811" cy="52322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交流通路</a:t>
            </a:r>
          </a:p>
        </p:txBody>
      </p:sp>
      <p:sp>
        <p:nvSpPr>
          <p:cNvPr id="192" name="AutoShape 7"/>
          <p:cNvSpPr>
            <a:spLocks noChangeArrowheads="1"/>
          </p:cNvSpPr>
          <p:nvPr/>
        </p:nvSpPr>
        <p:spPr bwMode="auto">
          <a:xfrm rot="3395054">
            <a:off x="5387227" y="3038873"/>
            <a:ext cx="611041" cy="1665787"/>
          </a:xfrm>
          <a:prstGeom prst="curvedLeftArrow">
            <a:avLst>
              <a:gd name="adj1" fmla="val 44372"/>
              <a:gd name="adj2" fmla="val 88745"/>
              <a:gd name="adj3" fmla="val 33333"/>
            </a:avLst>
          </a:prstGeom>
          <a:solidFill>
            <a:srgbClr val="FF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91420" y="619427"/>
            <a:ext cx="453979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华文中宋" pitchFamily="2" charset="-122"/>
                <a:ea typeface="华文中宋" pitchFamily="2" charset="-122"/>
              </a:rPr>
              <a:t>微变等效图的另一种画法</a:t>
            </a:r>
          </a:p>
        </p:txBody>
      </p:sp>
      <p:sp>
        <p:nvSpPr>
          <p:cNvPr id="59" name="AutoShape 7"/>
          <p:cNvSpPr>
            <a:spLocks noChangeArrowheads="1"/>
          </p:cNvSpPr>
          <p:nvPr/>
        </p:nvSpPr>
        <p:spPr bwMode="auto">
          <a:xfrm rot="3395054" flipV="1">
            <a:off x="5233243" y="3395748"/>
            <a:ext cx="611041" cy="1538640"/>
          </a:xfrm>
          <a:prstGeom prst="curvedLeftArrow">
            <a:avLst>
              <a:gd name="adj1" fmla="val 44372"/>
              <a:gd name="adj2" fmla="val 88745"/>
              <a:gd name="adj3" fmla="val 33333"/>
            </a:avLst>
          </a:prstGeom>
          <a:solidFill>
            <a:srgbClr val="FF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6" name="组合 115"/>
          <p:cNvGrpSpPr/>
          <p:nvPr/>
        </p:nvGrpSpPr>
        <p:grpSpPr>
          <a:xfrm>
            <a:off x="141514" y="1549350"/>
            <a:ext cx="4121675" cy="2889250"/>
            <a:chOff x="1096439" y="2406903"/>
            <a:chExt cx="4121675" cy="2889250"/>
          </a:xfrm>
        </p:grpSpPr>
        <p:sp>
          <p:nvSpPr>
            <p:cNvPr id="117" name="Oval 82"/>
            <p:cNvSpPr>
              <a:spLocks noChangeArrowheads="1"/>
            </p:cNvSpPr>
            <p:nvPr/>
          </p:nvSpPr>
          <p:spPr bwMode="auto">
            <a:xfrm>
              <a:off x="1566334" y="4192298"/>
              <a:ext cx="396000" cy="360000"/>
            </a:xfrm>
            <a:prstGeom prst="ellipse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2700000" scaled="1"/>
            </a:gra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8" name="Line 20"/>
            <p:cNvSpPr>
              <a:spLocks noChangeShapeType="1"/>
            </p:cNvSpPr>
            <p:nvPr/>
          </p:nvSpPr>
          <p:spPr bwMode="auto">
            <a:xfrm>
              <a:off x="2329744" y="2652083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9" name="Rectangle 21"/>
            <p:cNvSpPr>
              <a:spLocks noChangeArrowheads="1"/>
            </p:cNvSpPr>
            <p:nvPr/>
          </p:nvSpPr>
          <p:spPr bwMode="auto">
            <a:xfrm>
              <a:off x="2239257" y="3507746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0" name="Line 22"/>
            <p:cNvSpPr>
              <a:spLocks noChangeShapeType="1"/>
            </p:cNvSpPr>
            <p:nvPr/>
          </p:nvSpPr>
          <p:spPr bwMode="auto">
            <a:xfrm flipV="1">
              <a:off x="1749778" y="2660902"/>
              <a:ext cx="14156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1" name="Line 23"/>
            <p:cNvSpPr>
              <a:spLocks noChangeShapeType="1"/>
            </p:cNvSpPr>
            <p:nvPr/>
          </p:nvSpPr>
          <p:spPr bwMode="auto">
            <a:xfrm>
              <a:off x="3165476" y="2660903"/>
              <a:ext cx="0" cy="1270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2" name="Line 24"/>
            <p:cNvSpPr>
              <a:spLocks noChangeShapeType="1"/>
            </p:cNvSpPr>
            <p:nvPr/>
          </p:nvSpPr>
          <p:spPr bwMode="auto">
            <a:xfrm flipV="1">
              <a:off x="1761419" y="5116765"/>
              <a:ext cx="3456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3" name="Line 25"/>
            <p:cNvSpPr>
              <a:spLocks noChangeShapeType="1"/>
            </p:cNvSpPr>
            <p:nvPr/>
          </p:nvSpPr>
          <p:spPr bwMode="auto">
            <a:xfrm>
              <a:off x="3768726" y="5116765"/>
              <a:ext cx="0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4" name="Line 26"/>
            <p:cNvSpPr>
              <a:spLocks noChangeShapeType="1"/>
            </p:cNvSpPr>
            <p:nvPr/>
          </p:nvSpPr>
          <p:spPr bwMode="auto">
            <a:xfrm>
              <a:off x="3595689" y="5278690"/>
              <a:ext cx="33655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5" name="Text Box 27"/>
            <p:cNvSpPr txBox="1">
              <a:spLocks noChangeArrowheads="1"/>
            </p:cNvSpPr>
            <p:nvPr/>
          </p:nvSpPr>
          <p:spPr bwMode="auto">
            <a:xfrm>
              <a:off x="2551113" y="3000628"/>
              <a:ext cx="757238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6" name="Text Box 28"/>
            <p:cNvSpPr txBox="1">
              <a:spLocks noChangeArrowheads="1"/>
            </p:cNvSpPr>
            <p:nvPr/>
          </p:nvSpPr>
          <p:spPr bwMode="auto">
            <a:xfrm>
              <a:off x="3846514" y="3437190"/>
              <a:ext cx="5588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27" name="Text Box 29"/>
            <p:cNvSpPr txBox="1">
              <a:spLocks noChangeArrowheads="1"/>
            </p:cNvSpPr>
            <p:nvPr/>
          </p:nvSpPr>
          <p:spPr bwMode="auto">
            <a:xfrm>
              <a:off x="2411413" y="2665665"/>
              <a:ext cx="390525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8" name="Text Box 30"/>
            <p:cNvSpPr txBox="1">
              <a:spLocks noChangeArrowheads="1"/>
            </p:cNvSpPr>
            <p:nvPr/>
          </p:nvSpPr>
          <p:spPr bwMode="auto">
            <a:xfrm>
              <a:off x="4651377" y="2670427"/>
              <a:ext cx="3937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9" name="Oval 31"/>
            <p:cNvSpPr>
              <a:spLocks noChangeArrowheads="1"/>
            </p:cNvSpPr>
            <p:nvPr/>
          </p:nvSpPr>
          <p:spPr bwMode="auto">
            <a:xfrm>
              <a:off x="3722689" y="5067553"/>
              <a:ext cx="84138" cy="762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0" name="Line 32"/>
            <p:cNvSpPr>
              <a:spLocks noChangeShapeType="1"/>
            </p:cNvSpPr>
            <p:nvPr/>
          </p:nvSpPr>
          <p:spPr bwMode="auto">
            <a:xfrm>
              <a:off x="4418014" y="2584703"/>
              <a:ext cx="11113" cy="1346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1" name="AutoShape 33"/>
            <p:cNvSpPr>
              <a:spLocks noChangeArrowheads="1"/>
            </p:cNvSpPr>
            <p:nvPr/>
          </p:nvSpPr>
          <p:spPr bwMode="auto">
            <a:xfrm>
              <a:off x="4210051" y="2945065"/>
              <a:ext cx="438150" cy="622300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2" name="Line 34"/>
            <p:cNvSpPr>
              <a:spLocks noChangeShapeType="1"/>
            </p:cNvSpPr>
            <p:nvPr/>
          </p:nvSpPr>
          <p:spPr bwMode="auto">
            <a:xfrm>
              <a:off x="5218114" y="2616452"/>
              <a:ext cx="0" cy="248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3" name="Line 35"/>
            <p:cNvSpPr>
              <a:spLocks noChangeShapeType="1"/>
            </p:cNvSpPr>
            <p:nvPr/>
          </p:nvSpPr>
          <p:spPr bwMode="auto">
            <a:xfrm>
              <a:off x="4429127" y="3619753"/>
              <a:ext cx="0" cy="3111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4" name="Rectangle 37"/>
            <p:cNvSpPr>
              <a:spLocks noChangeArrowheads="1"/>
            </p:cNvSpPr>
            <p:nvPr/>
          </p:nvSpPr>
          <p:spPr bwMode="auto">
            <a:xfrm>
              <a:off x="2398007" y="3523620"/>
              <a:ext cx="508473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5" name="Line 38"/>
            <p:cNvSpPr>
              <a:spLocks noChangeShapeType="1"/>
            </p:cNvSpPr>
            <p:nvPr/>
          </p:nvSpPr>
          <p:spPr bwMode="auto">
            <a:xfrm>
              <a:off x="4418014" y="2598990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6" name="Line 39"/>
            <p:cNvSpPr>
              <a:spLocks noChangeShapeType="1"/>
            </p:cNvSpPr>
            <p:nvPr/>
          </p:nvSpPr>
          <p:spPr bwMode="auto">
            <a:xfrm rot="16200000">
              <a:off x="2776538" y="2429127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7" name="Line 40"/>
            <p:cNvSpPr>
              <a:spLocks noChangeShapeType="1"/>
            </p:cNvSpPr>
            <p:nvPr/>
          </p:nvSpPr>
          <p:spPr bwMode="auto">
            <a:xfrm rot="5400000">
              <a:off x="4886327" y="2373565"/>
              <a:ext cx="0" cy="461963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8" name="Rectangle 41"/>
            <p:cNvSpPr>
              <a:spLocks noChangeArrowheads="1"/>
            </p:cNvSpPr>
            <p:nvPr/>
          </p:nvSpPr>
          <p:spPr bwMode="auto">
            <a:xfrm>
              <a:off x="3074989" y="3033965"/>
              <a:ext cx="179388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9" name="Rectangle 46"/>
            <p:cNvSpPr>
              <a:spLocks noChangeArrowheads="1"/>
            </p:cNvSpPr>
            <p:nvPr/>
          </p:nvSpPr>
          <p:spPr bwMode="auto">
            <a:xfrm>
              <a:off x="2471738" y="2487865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140" name="Group 47"/>
            <p:cNvGrpSpPr>
              <a:grpSpLocks/>
            </p:cNvGrpSpPr>
            <p:nvPr/>
          </p:nvGrpSpPr>
          <p:grpSpPr bwMode="auto">
            <a:xfrm>
              <a:off x="4471820" y="3984624"/>
              <a:ext cx="514351" cy="1158876"/>
              <a:chOff x="4734" y="609"/>
              <a:chExt cx="324" cy="730"/>
            </a:xfrm>
          </p:grpSpPr>
          <p:sp>
            <p:nvSpPr>
              <p:cNvPr id="168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9" name="Text Box 49"/>
              <p:cNvSpPr txBox="1">
                <a:spLocks noChangeArrowheads="1"/>
              </p:cNvSpPr>
              <p:nvPr/>
            </p:nvSpPr>
            <p:spPr bwMode="auto">
              <a:xfrm>
                <a:off x="4758" y="1048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70" name="Text Box 50"/>
              <p:cNvSpPr txBox="1">
                <a:spLocks noChangeArrowheads="1"/>
              </p:cNvSpPr>
              <p:nvPr/>
            </p:nvSpPr>
            <p:spPr bwMode="auto">
              <a:xfrm>
                <a:off x="4750" y="609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71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141" name="Rectangle 59"/>
            <p:cNvSpPr>
              <a:spLocks noChangeArrowheads="1"/>
            </p:cNvSpPr>
            <p:nvPr/>
          </p:nvSpPr>
          <p:spPr bwMode="auto">
            <a:xfrm>
              <a:off x="4067176" y="3283203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142" name="Rectangle 60"/>
            <p:cNvSpPr>
              <a:spLocks noChangeArrowheads="1"/>
            </p:cNvSpPr>
            <p:nvPr/>
          </p:nvSpPr>
          <p:spPr bwMode="auto">
            <a:xfrm>
              <a:off x="4719640" y="2559302"/>
              <a:ext cx="265113" cy="3698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143" name="Line 61"/>
            <p:cNvSpPr>
              <a:spLocks noChangeShapeType="1"/>
            </p:cNvSpPr>
            <p:nvPr/>
          </p:nvSpPr>
          <p:spPr bwMode="auto">
            <a:xfrm>
              <a:off x="3165476" y="3930903"/>
              <a:ext cx="12938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4" name="Line 62"/>
            <p:cNvSpPr>
              <a:spLocks noChangeShapeType="1"/>
            </p:cNvSpPr>
            <p:nvPr/>
          </p:nvSpPr>
          <p:spPr bwMode="auto">
            <a:xfrm flipV="1">
              <a:off x="3754439" y="3930903"/>
              <a:ext cx="0" cy="1152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5" name="Line 64"/>
            <p:cNvSpPr>
              <a:spLocks noChangeShapeType="1"/>
            </p:cNvSpPr>
            <p:nvPr/>
          </p:nvSpPr>
          <p:spPr bwMode="auto">
            <a:xfrm>
              <a:off x="1748544" y="2678895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6" name="Rectangle 65"/>
            <p:cNvSpPr>
              <a:spLocks noChangeArrowheads="1"/>
            </p:cNvSpPr>
            <p:nvPr/>
          </p:nvSpPr>
          <p:spPr bwMode="auto">
            <a:xfrm>
              <a:off x="1674108" y="3112636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7" name="Rectangle 66"/>
            <p:cNvSpPr>
              <a:spLocks noChangeArrowheads="1"/>
            </p:cNvSpPr>
            <p:nvPr/>
          </p:nvSpPr>
          <p:spPr bwMode="auto">
            <a:xfrm>
              <a:off x="1229784" y="3162554"/>
              <a:ext cx="48603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8" name="Text Box 67"/>
            <p:cNvSpPr txBox="1">
              <a:spLocks noChangeArrowheads="1"/>
            </p:cNvSpPr>
            <p:nvPr/>
          </p:nvSpPr>
          <p:spPr bwMode="auto">
            <a:xfrm>
              <a:off x="3159126" y="2406903"/>
              <a:ext cx="320675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49" name="Text Box 68"/>
            <p:cNvSpPr txBox="1">
              <a:spLocks noChangeArrowheads="1"/>
            </p:cNvSpPr>
            <p:nvPr/>
          </p:nvSpPr>
          <p:spPr bwMode="auto">
            <a:xfrm>
              <a:off x="3586164" y="3446715"/>
              <a:ext cx="306388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50" name="Text Box 69"/>
            <p:cNvSpPr txBox="1">
              <a:spLocks noChangeArrowheads="1"/>
            </p:cNvSpPr>
            <p:nvPr/>
          </p:nvSpPr>
          <p:spPr bwMode="auto">
            <a:xfrm>
              <a:off x="4038601" y="2527553"/>
              <a:ext cx="3206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51" name="Line 61"/>
            <p:cNvSpPr>
              <a:spLocks noChangeShapeType="1"/>
            </p:cNvSpPr>
            <p:nvPr/>
          </p:nvSpPr>
          <p:spPr bwMode="auto">
            <a:xfrm>
              <a:off x="3760789" y="4291265"/>
              <a:ext cx="61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2" name="Line 23"/>
            <p:cNvSpPr>
              <a:spLocks noChangeShapeType="1"/>
            </p:cNvSpPr>
            <p:nvPr/>
          </p:nvSpPr>
          <p:spPr bwMode="auto">
            <a:xfrm>
              <a:off x="4384675" y="4271963"/>
              <a:ext cx="0" cy="828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3" name="Rectangle 45"/>
            <p:cNvSpPr>
              <a:spLocks noChangeArrowheads="1"/>
            </p:cNvSpPr>
            <p:nvPr/>
          </p:nvSpPr>
          <p:spPr bwMode="auto">
            <a:xfrm>
              <a:off x="4287839" y="4446840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4" name="Rectangle 42"/>
            <p:cNvSpPr>
              <a:spLocks noChangeArrowheads="1"/>
            </p:cNvSpPr>
            <p:nvPr/>
          </p:nvSpPr>
          <p:spPr bwMode="auto">
            <a:xfrm>
              <a:off x="3665539" y="4435728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5" name="Line 35"/>
            <p:cNvSpPr>
              <a:spLocks noChangeShapeType="1"/>
            </p:cNvSpPr>
            <p:nvPr/>
          </p:nvSpPr>
          <p:spPr bwMode="auto">
            <a:xfrm>
              <a:off x="3748089" y="3934078"/>
              <a:ext cx="0" cy="287338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6" name="Rectangle 46"/>
            <p:cNvSpPr>
              <a:spLocks noChangeArrowheads="1"/>
            </p:cNvSpPr>
            <p:nvPr/>
          </p:nvSpPr>
          <p:spPr bwMode="auto">
            <a:xfrm>
              <a:off x="3352800" y="3807077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157" name="Text Box 29"/>
            <p:cNvSpPr txBox="1">
              <a:spLocks noChangeArrowheads="1"/>
            </p:cNvSpPr>
            <p:nvPr/>
          </p:nvSpPr>
          <p:spPr bwMode="auto">
            <a:xfrm>
              <a:off x="3287713" y="4003927"/>
              <a:ext cx="3786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8" name="Rectangle 44"/>
            <p:cNvSpPr>
              <a:spLocks noChangeArrowheads="1"/>
            </p:cNvSpPr>
            <p:nvPr/>
          </p:nvSpPr>
          <p:spPr bwMode="auto">
            <a:xfrm>
              <a:off x="3838577" y="4500992"/>
              <a:ext cx="4857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59" name="Rectangle 44"/>
            <p:cNvSpPr>
              <a:spLocks noChangeArrowheads="1"/>
            </p:cNvSpPr>
            <p:nvPr/>
          </p:nvSpPr>
          <p:spPr bwMode="auto">
            <a:xfrm>
              <a:off x="3149954" y="4478414"/>
              <a:ext cx="497252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60" name="Group 47"/>
            <p:cNvGrpSpPr>
              <a:grpSpLocks/>
            </p:cNvGrpSpPr>
            <p:nvPr/>
          </p:nvGrpSpPr>
          <p:grpSpPr bwMode="auto">
            <a:xfrm>
              <a:off x="1096463" y="3736095"/>
              <a:ext cx="615953" cy="1136652"/>
              <a:chOff x="4734" y="616"/>
              <a:chExt cx="388" cy="716"/>
            </a:xfrm>
          </p:grpSpPr>
          <p:sp>
            <p:nvSpPr>
              <p:cNvPr id="164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5" name="Text Box 49"/>
              <p:cNvSpPr txBox="1">
                <a:spLocks noChangeArrowheads="1"/>
              </p:cNvSpPr>
              <p:nvPr/>
            </p:nvSpPr>
            <p:spPr bwMode="auto">
              <a:xfrm>
                <a:off x="4886" y="1041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66" name="Text Box 50"/>
              <p:cNvSpPr txBox="1">
                <a:spLocks noChangeArrowheads="1"/>
              </p:cNvSpPr>
              <p:nvPr/>
            </p:nvSpPr>
            <p:spPr bwMode="auto">
              <a:xfrm>
                <a:off x="4814" y="616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67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161" name="Line 39"/>
            <p:cNvSpPr>
              <a:spLocks noChangeShapeType="1"/>
            </p:cNvSpPr>
            <p:nvPr/>
          </p:nvSpPr>
          <p:spPr bwMode="auto">
            <a:xfrm rot="16200000">
              <a:off x="2068867" y="2426128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2" name="Text Box 29"/>
            <p:cNvSpPr txBox="1">
              <a:spLocks noChangeArrowheads="1"/>
            </p:cNvSpPr>
            <p:nvPr/>
          </p:nvSpPr>
          <p:spPr bwMode="auto">
            <a:xfrm>
              <a:off x="1824390" y="2789843"/>
              <a:ext cx="34496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3" name="Rectangle 46"/>
            <p:cNvSpPr>
              <a:spLocks noChangeArrowheads="1"/>
            </p:cNvSpPr>
            <p:nvPr/>
          </p:nvSpPr>
          <p:spPr bwMode="auto">
            <a:xfrm>
              <a:off x="1896005" y="2623332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4528493" y="474485"/>
            <a:ext cx="4480040" cy="3115382"/>
            <a:chOff x="4528493" y="474485"/>
            <a:chExt cx="4480040" cy="3115382"/>
          </a:xfrm>
        </p:grpSpPr>
        <p:sp>
          <p:nvSpPr>
            <p:cNvPr id="173" name="Oval 82"/>
            <p:cNvSpPr>
              <a:spLocks noChangeArrowheads="1"/>
            </p:cNvSpPr>
            <p:nvPr/>
          </p:nvSpPr>
          <p:spPr bwMode="auto">
            <a:xfrm>
              <a:off x="4998352" y="2485659"/>
              <a:ext cx="396000" cy="360000"/>
            </a:xfrm>
            <a:prstGeom prst="ellipse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2700000" scaled="1"/>
            </a:gra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4" name="Line 20"/>
            <p:cNvSpPr>
              <a:spLocks noChangeShapeType="1"/>
            </p:cNvSpPr>
            <p:nvPr/>
          </p:nvSpPr>
          <p:spPr bwMode="auto">
            <a:xfrm>
              <a:off x="5761762" y="945444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5" name="Rectangle 21"/>
            <p:cNvSpPr>
              <a:spLocks noChangeArrowheads="1"/>
            </p:cNvSpPr>
            <p:nvPr/>
          </p:nvSpPr>
          <p:spPr bwMode="auto">
            <a:xfrm>
              <a:off x="5671275" y="1801107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6" name="Line 22"/>
            <p:cNvSpPr>
              <a:spLocks noChangeShapeType="1"/>
            </p:cNvSpPr>
            <p:nvPr/>
          </p:nvSpPr>
          <p:spPr bwMode="auto">
            <a:xfrm flipV="1">
              <a:off x="5181796" y="954263"/>
              <a:ext cx="333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7" name="Line 23"/>
            <p:cNvSpPr>
              <a:spLocks noChangeShapeType="1"/>
            </p:cNvSpPr>
            <p:nvPr/>
          </p:nvSpPr>
          <p:spPr bwMode="auto">
            <a:xfrm>
              <a:off x="7140419" y="967670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8" name="Line 24"/>
            <p:cNvSpPr>
              <a:spLocks noChangeShapeType="1"/>
            </p:cNvSpPr>
            <p:nvPr/>
          </p:nvSpPr>
          <p:spPr bwMode="auto">
            <a:xfrm flipV="1">
              <a:off x="5193437" y="3410126"/>
              <a:ext cx="333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9" name="Line 25"/>
            <p:cNvSpPr>
              <a:spLocks noChangeShapeType="1"/>
            </p:cNvSpPr>
            <p:nvPr/>
          </p:nvSpPr>
          <p:spPr bwMode="auto">
            <a:xfrm>
              <a:off x="7138831" y="3405364"/>
              <a:ext cx="0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0" name="Line 26"/>
            <p:cNvSpPr>
              <a:spLocks noChangeShapeType="1"/>
            </p:cNvSpPr>
            <p:nvPr/>
          </p:nvSpPr>
          <p:spPr bwMode="auto">
            <a:xfrm>
              <a:off x="6965794" y="3589867"/>
              <a:ext cx="33655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1" name="Text Box 27"/>
            <p:cNvSpPr txBox="1">
              <a:spLocks noChangeArrowheads="1"/>
            </p:cNvSpPr>
            <p:nvPr/>
          </p:nvSpPr>
          <p:spPr bwMode="auto">
            <a:xfrm>
              <a:off x="6423045" y="930451"/>
              <a:ext cx="757238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2" name="Text Box 28"/>
            <p:cNvSpPr txBox="1">
              <a:spLocks noChangeArrowheads="1"/>
            </p:cNvSpPr>
            <p:nvPr/>
          </p:nvSpPr>
          <p:spPr bwMode="auto">
            <a:xfrm>
              <a:off x="6522176" y="1606372"/>
              <a:ext cx="5588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</a:t>
              </a:r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3" name="Text Box 29"/>
            <p:cNvSpPr txBox="1">
              <a:spLocks noChangeArrowheads="1"/>
            </p:cNvSpPr>
            <p:nvPr/>
          </p:nvSpPr>
          <p:spPr bwMode="auto">
            <a:xfrm>
              <a:off x="5843431" y="959026"/>
              <a:ext cx="390525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5" name="Oval 31"/>
            <p:cNvSpPr>
              <a:spLocks noChangeArrowheads="1"/>
            </p:cNvSpPr>
            <p:nvPr/>
          </p:nvSpPr>
          <p:spPr bwMode="auto">
            <a:xfrm>
              <a:off x="7095793" y="3370791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6" name="Line 32"/>
            <p:cNvSpPr>
              <a:spLocks noChangeShapeType="1"/>
            </p:cNvSpPr>
            <p:nvPr/>
          </p:nvSpPr>
          <p:spPr bwMode="auto">
            <a:xfrm>
              <a:off x="7850032" y="957086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7" name="AutoShape 33"/>
            <p:cNvSpPr>
              <a:spLocks noChangeArrowheads="1"/>
            </p:cNvSpPr>
            <p:nvPr/>
          </p:nvSpPr>
          <p:spPr bwMode="auto">
            <a:xfrm>
              <a:off x="6919580" y="2006070"/>
              <a:ext cx="438150" cy="622300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8" name="Line 34"/>
            <p:cNvSpPr>
              <a:spLocks noChangeShapeType="1"/>
            </p:cNvSpPr>
            <p:nvPr/>
          </p:nvSpPr>
          <p:spPr bwMode="auto">
            <a:xfrm>
              <a:off x="8514665" y="954968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9" name="Line 35"/>
            <p:cNvSpPr>
              <a:spLocks noChangeShapeType="1"/>
            </p:cNvSpPr>
            <p:nvPr/>
          </p:nvSpPr>
          <p:spPr bwMode="auto">
            <a:xfrm flipV="1">
              <a:off x="7135656" y="1474611"/>
              <a:ext cx="0" cy="39600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0" name="Rectangle 37"/>
            <p:cNvSpPr>
              <a:spLocks noChangeArrowheads="1"/>
            </p:cNvSpPr>
            <p:nvPr/>
          </p:nvSpPr>
          <p:spPr bwMode="auto">
            <a:xfrm>
              <a:off x="5830025" y="1816981"/>
              <a:ext cx="508473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2" name="Line 39"/>
            <p:cNvSpPr>
              <a:spLocks noChangeShapeType="1"/>
            </p:cNvSpPr>
            <p:nvPr/>
          </p:nvSpPr>
          <p:spPr bwMode="auto">
            <a:xfrm rot="16200000">
              <a:off x="6208556" y="722488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3" name="Line 40"/>
            <p:cNvSpPr>
              <a:spLocks noChangeShapeType="1"/>
            </p:cNvSpPr>
            <p:nvPr/>
          </p:nvSpPr>
          <p:spPr bwMode="auto">
            <a:xfrm rot="5400000" flipV="1">
              <a:off x="7529883" y="749793"/>
              <a:ext cx="0" cy="39600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4" name="Rectangle 41"/>
            <p:cNvSpPr>
              <a:spLocks noChangeArrowheads="1"/>
            </p:cNvSpPr>
            <p:nvPr/>
          </p:nvSpPr>
          <p:spPr bwMode="auto">
            <a:xfrm rot="16200000">
              <a:off x="6702269" y="689151"/>
              <a:ext cx="179388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5" name="Rectangle 46"/>
            <p:cNvSpPr>
              <a:spLocks noChangeArrowheads="1"/>
            </p:cNvSpPr>
            <p:nvPr/>
          </p:nvSpPr>
          <p:spPr bwMode="auto">
            <a:xfrm>
              <a:off x="5903756" y="781226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196" name="Group 47"/>
            <p:cNvGrpSpPr>
              <a:grpSpLocks/>
            </p:cNvGrpSpPr>
            <p:nvPr/>
          </p:nvGrpSpPr>
          <p:grpSpPr bwMode="auto">
            <a:xfrm>
              <a:off x="8494182" y="1476472"/>
              <a:ext cx="514351" cy="1158876"/>
              <a:chOff x="4734" y="609"/>
              <a:chExt cx="324" cy="730"/>
            </a:xfrm>
          </p:grpSpPr>
          <p:sp>
            <p:nvSpPr>
              <p:cNvPr id="224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5" name="Text Box 49"/>
              <p:cNvSpPr txBox="1">
                <a:spLocks noChangeArrowheads="1"/>
              </p:cNvSpPr>
              <p:nvPr/>
            </p:nvSpPr>
            <p:spPr bwMode="auto">
              <a:xfrm>
                <a:off x="4758" y="1048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226" name="Text Box 50"/>
              <p:cNvSpPr txBox="1">
                <a:spLocks noChangeArrowheads="1"/>
              </p:cNvSpPr>
              <p:nvPr/>
            </p:nvSpPr>
            <p:spPr bwMode="auto">
              <a:xfrm>
                <a:off x="4750" y="609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227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197" name="Rectangle 59"/>
            <p:cNvSpPr>
              <a:spLocks noChangeArrowheads="1"/>
            </p:cNvSpPr>
            <p:nvPr/>
          </p:nvSpPr>
          <p:spPr bwMode="auto">
            <a:xfrm>
              <a:off x="6776705" y="1463675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258" name="组合 257"/>
            <p:cNvGrpSpPr/>
            <p:nvPr/>
          </p:nvGrpSpPr>
          <p:grpSpPr>
            <a:xfrm>
              <a:off x="7293173" y="920396"/>
              <a:ext cx="393700" cy="590903"/>
              <a:chOff x="8083395" y="830085"/>
              <a:chExt cx="393700" cy="590903"/>
            </a:xfrm>
          </p:grpSpPr>
          <p:sp>
            <p:nvSpPr>
              <p:cNvPr id="184" name="Text Box 30"/>
              <p:cNvSpPr txBox="1">
                <a:spLocks noChangeArrowheads="1"/>
              </p:cNvSpPr>
              <p:nvPr/>
            </p:nvSpPr>
            <p:spPr bwMode="auto">
              <a:xfrm>
                <a:off x="8083395" y="963788"/>
                <a:ext cx="39370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 err="1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98" name="Rectangle 60"/>
              <p:cNvSpPr>
                <a:spLocks noChangeArrowheads="1"/>
              </p:cNvSpPr>
              <p:nvPr/>
            </p:nvSpPr>
            <p:spPr bwMode="auto">
              <a:xfrm>
                <a:off x="8129081" y="830085"/>
                <a:ext cx="265113" cy="369888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201" name="Line 64"/>
            <p:cNvSpPr>
              <a:spLocks noChangeShapeType="1"/>
            </p:cNvSpPr>
            <p:nvPr/>
          </p:nvSpPr>
          <p:spPr bwMode="auto">
            <a:xfrm>
              <a:off x="5180562" y="972256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2" name="Rectangle 65"/>
            <p:cNvSpPr>
              <a:spLocks noChangeArrowheads="1"/>
            </p:cNvSpPr>
            <p:nvPr/>
          </p:nvSpPr>
          <p:spPr bwMode="auto">
            <a:xfrm>
              <a:off x="5106126" y="1405997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3" name="Rectangle 66"/>
            <p:cNvSpPr>
              <a:spLocks noChangeArrowheads="1"/>
            </p:cNvSpPr>
            <p:nvPr/>
          </p:nvSpPr>
          <p:spPr bwMode="auto">
            <a:xfrm>
              <a:off x="4661802" y="1455915"/>
              <a:ext cx="48603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4" name="Text Box 67"/>
            <p:cNvSpPr txBox="1">
              <a:spLocks noChangeArrowheads="1"/>
            </p:cNvSpPr>
            <p:nvPr/>
          </p:nvSpPr>
          <p:spPr bwMode="auto">
            <a:xfrm>
              <a:off x="5747476" y="490714"/>
              <a:ext cx="320675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205" name="Text Box 68"/>
            <p:cNvSpPr txBox="1">
              <a:spLocks noChangeArrowheads="1"/>
            </p:cNvSpPr>
            <p:nvPr/>
          </p:nvSpPr>
          <p:spPr bwMode="auto">
            <a:xfrm>
              <a:off x="7144124" y="474485"/>
              <a:ext cx="306388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206" name="Text Box 69"/>
            <p:cNvSpPr txBox="1">
              <a:spLocks noChangeArrowheads="1"/>
            </p:cNvSpPr>
            <p:nvPr/>
          </p:nvSpPr>
          <p:spPr bwMode="auto">
            <a:xfrm>
              <a:off x="7199685" y="2920647"/>
              <a:ext cx="3206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209" name="Rectangle 45"/>
            <p:cNvSpPr>
              <a:spLocks noChangeArrowheads="1"/>
            </p:cNvSpPr>
            <p:nvPr/>
          </p:nvSpPr>
          <p:spPr bwMode="auto">
            <a:xfrm>
              <a:off x="8431057" y="1803223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0" name="Rectangle 42"/>
            <p:cNvSpPr>
              <a:spLocks noChangeArrowheads="1"/>
            </p:cNvSpPr>
            <p:nvPr/>
          </p:nvSpPr>
          <p:spPr bwMode="auto">
            <a:xfrm>
              <a:off x="7752312" y="1837266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4" name="Rectangle 44"/>
            <p:cNvSpPr>
              <a:spLocks noChangeArrowheads="1"/>
            </p:cNvSpPr>
            <p:nvPr/>
          </p:nvSpPr>
          <p:spPr bwMode="auto">
            <a:xfrm>
              <a:off x="7959217" y="1846085"/>
              <a:ext cx="4857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215" name="Rectangle 44"/>
            <p:cNvSpPr>
              <a:spLocks noChangeArrowheads="1"/>
            </p:cNvSpPr>
            <p:nvPr/>
          </p:nvSpPr>
          <p:spPr bwMode="auto">
            <a:xfrm>
              <a:off x="7315750" y="1654175"/>
              <a:ext cx="497252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216" name="Group 47"/>
            <p:cNvGrpSpPr>
              <a:grpSpLocks/>
            </p:cNvGrpSpPr>
            <p:nvPr/>
          </p:nvGrpSpPr>
          <p:grpSpPr bwMode="auto">
            <a:xfrm>
              <a:off x="4528493" y="2029456"/>
              <a:ext cx="615954" cy="1136652"/>
              <a:chOff x="4734" y="616"/>
              <a:chExt cx="388" cy="716"/>
            </a:xfrm>
          </p:grpSpPr>
          <p:sp>
            <p:nvSpPr>
              <p:cNvPr id="220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1" name="Text Box 49"/>
              <p:cNvSpPr txBox="1">
                <a:spLocks noChangeArrowheads="1"/>
              </p:cNvSpPr>
              <p:nvPr/>
            </p:nvSpPr>
            <p:spPr bwMode="auto">
              <a:xfrm>
                <a:off x="4886" y="1041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222" name="Text Box 50"/>
              <p:cNvSpPr txBox="1">
                <a:spLocks noChangeArrowheads="1"/>
              </p:cNvSpPr>
              <p:nvPr/>
            </p:nvSpPr>
            <p:spPr bwMode="auto">
              <a:xfrm>
                <a:off x="4814" y="616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223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217" name="Line 39"/>
            <p:cNvSpPr>
              <a:spLocks noChangeShapeType="1"/>
            </p:cNvSpPr>
            <p:nvPr/>
          </p:nvSpPr>
          <p:spPr bwMode="auto">
            <a:xfrm rot="16200000">
              <a:off x="5500885" y="719489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8" name="Text Box 29"/>
            <p:cNvSpPr txBox="1">
              <a:spLocks noChangeArrowheads="1"/>
            </p:cNvSpPr>
            <p:nvPr/>
          </p:nvSpPr>
          <p:spPr bwMode="auto">
            <a:xfrm>
              <a:off x="5256408" y="1083204"/>
              <a:ext cx="34496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9" name="Rectangle 46"/>
            <p:cNvSpPr>
              <a:spLocks noChangeArrowheads="1"/>
            </p:cNvSpPr>
            <p:nvPr/>
          </p:nvSpPr>
          <p:spPr bwMode="auto">
            <a:xfrm>
              <a:off x="5328023" y="916693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259" name="Oval 31"/>
            <p:cNvSpPr>
              <a:spLocks noChangeArrowheads="1"/>
            </p:cNvSpPr>
            <p:nvPr/>
          </p:nvSpPr>
          <p:spPr bwMode="auto">
            <a:xfrm>
              <a:off x="5728956" y="908578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0" name="Oval 31"/>
            <p:cNvSpPr>
              <a:spLocks noChangeArrowheads="1"/>
            </p:cNvSpPr>
            <p:nvPr/>
          </p:nvSpPr>
          <p:spPr bwMode="auto">
            <a:xfrm>
              <a:off x="5728955" y="3370791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1" name="Oval 31"/>
            <p:cNvSpPr>
              <a:spLocks noChangeArrowheads="1"/>
            </p:cNvSpPr>
            <p:nvPr/>
          </p:nvSpPr>
          <p:spPr bwMode="auto">
            <a:xfrm>
              <a:off x="7810168" y="33565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2" name="Oval 31"/>
            <p:cNvSpPr>
              <a:spLocks noChangeArrowheads="1"/>
            </p:cNvSpPr>
            <p:nvPr/>
          </p:nvSpPr>
          <p:spPr bwMode="auto">
            <a:xfrm>
              <a:off x="7814931" y="9181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3" name="Oval 31"/>
            <p:cNvSpPr>
              <a:spLocks noChangeArrowheads="1"/>
            </p:cNvSpPr>
            <p:nvPr/>
          </p:nvSpPr>
          <p:spPr bwMode="auto">
            <a:xfrm>
              <a:off x="7105318" y="9181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5116513" y="527050"/>
            <a:ext cx="34750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电压放大倍数</a:t>
            </a: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4867275" y="2940052"/>
            <a:ext cx="3886200" cy="919163"/>
            <a:chOff x="2832" y="2592"/>
            <a:chExt cx="2448" cy="579"/>
          </a:xfrm>
        </p:grpSpPr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2832" y="2688"/>
              <a:ext cx="192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————————</a:t>
              </a: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3199" y="2592"/>
              <a:ext cx="102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（</a:t>
              </a:r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1+</a:t>
              </a: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β</a:t>
              </a:r>
              <a:r>
                <a:rPr lang="zh-CN" altLang="en-US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）</a:t>
              </a: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1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'</a:t>
              </a:r>
            </a:p>
          </p:txBody>
        </p: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3120" y="2784"/>
              <a:ext cx="2160" cy="387"/>
              <a:chOff x="1104" y="3024"/>
              <a:chExt cx="2160" cy="387"/>
            </a:xfrm>
          </p:grpSpPr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1104" y="3024"/>
                <a:ext cx="2160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CN" sz="32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1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be  </a:t>
                </a:r>
                <a:r>
                  <a:rPr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+</a:t>
                </a:r>
                <a:r>
                  <a:rPr lang="zh-CN" altLang="en-US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（</a:t>
                </a:r>
                <a:r>
                  <a:rPr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1+</a:t>
                </a:r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β</a:t>
                </a:r>
                <a:r>
                  <a:rPr lang="zh-CN" altLang="en-US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）</a:t>
                </a:r>
                <a:endParaRPr lang="zh-CN" altLang="en-US" sz="1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2208" y="3120"/>
                <a:ext cx="332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1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L</a:t>
                </a:r>
                <a:r>
                  <a:rPr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'</a:t>
                </a:r>
              </a:p>
            </p:txBody>
          </p:sp>
        </p:grpSp>
      </p:grpSp>
      <p:grpSp>
        <p:nvGrpSpPr>
          <p:cNvPr id="20" name="Group 20"/>
          <p:cNvGrpSpPr>
            <a:grpSpLocks/>
          </p:cNvGrpSpPr>
          <p:nvPr/>
        </p:nvGrpSpPr>
        <p:grpSpPr bwMode="auto">
          <a:xfrm>
            <a:off x="4460875" y="1584325"/>
            <a:ext cx="4832350" cy="1182688"/>
            <a:chOff x="2640" y="824"/>
            <a:chExt cx="3044" cy="745"/>
          </a:xfrm>
        </p:grpSpPr>
        <p:grpSp>
          <p:nvGrpSpPr>
            <p:cNvPr id="21" name="Group 21"/>
            <p:cNvGrpSpPr>
              <a:grpSpLocks/>
            </p:cNvGrpSpPr>
            <p:nvPr/>
          </p:nvGrpSpPr>
          <p:grpSpPr bwMode="auto">
            <a:xfrm>
              <a:off x="3116" y="842"/>
              <a:ext cx="518" cy="439"/>
              <a:chOff x="3260" y="1769"/>
              <a:chExt cx="518" cy="439"/>
            </a:xfrm>
          </p:grpSpPr>
          <p:sp>
            <p:nvSpPr>
              <p:cNvPr id="33" name="Text Box 22"/>
              <p:cNvSpPr txBox="1">
                <a:spLocks noChangeArrowheads="1"/>
              </p:cNvSpPr>
              <p:nvPr/>
            </p:nvSpPr>
            <p:spPr bwMode="auto">
              <a:xfrm>
                <a:off x="3346" y="1769"/>
                <a:ext cx="43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.</a:t>
                </a:r>
                <a:endParaRPr lang="en-US" altLang="zh-CN" sz="1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4" name="Text Box 23"/>
              <p:cNvSpPr txBox="1">
                <a:spLocks noChangeArrowheads="1"/>
              </p:cNvSpPr>
              <p:nvPr/>
            </p:nvSpPr>
            <p:spPr bwMode="auto">
              <a:xfrm>
                <a:off x="3260" y="1920"/>
                <a:ext cx="43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1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</a:p>
            </p:txBody>
          </p:sp>
        </p:grp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4711" y="824"/>
              <a:ext cx="4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b="1" dirty="0">
                  <a:latin typeface="Symbol" pitchFamily="18" charset="2"/>
                  <a:ea typeface="华文中宋" pitchFamily="2" charset="-122"/>
                  <a:cs typeface="Times New Roman" pitchFamily="18" charset="0"/>
                </a:rPr>
                <a:t>.</a:t>
              </a:r>
              <a:endParaRPr lang="en-US" altLang="zh-CN" sz="1400" b="1" dirty="0">
                <a:latin typeface="Symbol" pitchFamily="18" charset="2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23" name="Group 25"/>
            <p:cNvGrpSpPr>
              <a:grpSpLocks/>
            </p:cNvGrpSpPr>
            <p:nvPr/>
          </p:nvGrpSpPr>
          <p:grpSpPr bwMode="auto">
            <a:xfrm>
              <a:off x="2640" y="993"/>
              <a:ext cx="3044" cy="576"/>
              <a:chOff x="2640" y="993"/>
              <a:chExt cx="3044" cy="576"/>
            </a:xfrm>
          </p:grpSpPr>
          <p:sp>
            <p:nvSpPr>
              <p:cNvPr id="24" name="Text Box 26"/>
              <p:cNvSpPr txBox="1">
                <a:spLocks noChangeArrowheads="1"/>
              </p:cNvSpPr>
              <p:nvPr/>
            </p:nvSpPr>
            <p:spPr bwMode="auto">
              <a:xfrm>
                <a:off x="2640" y="1089"/>
                <a:ext cx="114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A</a:t>
                </a:r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= —— = </a:t>
                </a:r>
              </a:p>
            </p:txBody>
          </p:sp>
          <p:grpSp>
            <p:nvGrpSpPr>
              <p:cNvPr id="25" name="Group 27"/>
              <p:cNvGrpSpPr>
                <a:grpSpLocks/>
              </p:cNvGrpSpPr>
              <p:nvPr/>
            </p:nvGrpSpPr>
            <p:grpSpPr bwMode="auto">
              <a:xfrm>
                <a:off x="3120" y="1123"/>
                <a:ext cx="511" cy="446"/>
                <a:chOff x="3260" y="1762"/>
                <a:chExt cx="511" cy="446"/>
              </a:xfrm>
            </p:grpSpPr>
            <p:sp>
              <p:nvSpPr>
                <p:cNvPr id="31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339" y="1762"/>
                  <a:ext cx="432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.</a:t>
                  </a:r>
                  <a:endParaRPr lang="en-US" altLang="zh-CN" sz="1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2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3260" y="1920"/>
                  <a:ext cx="432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>
                    <a:spcBef>
                      <a:spcPct val="50000"/>
                    </a:spcBef>
                  </a:pPr>
                  <a:r>
                    <a:rPr lang="en-US" altLang="zh-CN" sz="24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1400" b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i</a:t>
                  </a:r>
                  <a:endParaRPr lang="en-US" altLang="zh-CN" sz="1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6" name="Text Box 30"/>
              <p:cNvSpPr txBox="1">
                <a:spLocks noChangeArrowheads="1"/>
              </p:cNvSpPr>
              <p:nvPr/>
            </p:nvSpPr>
            <p:spPr bwMode="auto">
              <a:xfrm>
                <a:off x="3740" y="993"/>
                <a:ext cx="1732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zh-CN" altLang="en-US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（</a:t>
                </a:r>
                <a:r>
                  <a:rPr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1+</a:t>
                </a:r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β</a:t>
                </a:r>
                <a:r>
                  <a:rPr lang="zh-CN" altLang="en-US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）</a:t>
                </a:r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1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L</a:t>
                </a:r>
                <a:r>
                  <a:rPr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'</a:t>
                </a:r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1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</a:p>
            </p:txBody>
          </p:sp>
          <p:sp>
            <p:nvSpPr>
              <p:cNvPr id="27" name="Text Box 31"/>
              <p:cNvSpPr txBox="1">
                <a:spLocks noChangeArrowheads="1"/>
              </p:cNvSpPr>
              <p:nvPr/>
            </p:nvSpPr>
            <p:spPr bwMode="auto">
              <a:xfrm>
                <a:off x="3647" y="1204"/>
                <a:ext cx="2037" cy="3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32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1400" b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be</a:t>
                </a:r>
                <a:r>
                  <a:rPr lang="en-US" altLang="zh-CN" sz="1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1400" b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  <a:r>
                  <a:rPr lang="en-US" altLang="zh-CN" sz="1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+ </a:t>
                </a:r>
                <a:r>
                  <a:rPr lang="zh-CN" altLang="en-US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（</a:t>
                </a:r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1+</a:t>
                </a: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β</a:t>
                </a:r>
                <a:r>
                  <a:rPr lang="zh-CN" altLang="en-US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）</a:t>
                </a:r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1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L</a:t>
                </a:r>
                <a:r>
                  <a:rPr lang="en-US" altLang="zh-CN" sz="2400" b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'</a:t>
                </a:r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1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</a:t>
                </a:r>
                <a:endParaRPr lang="en-US" altLang="zh-CN" sz="1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8" name="Rectangle 32"/>
              <p:cNvSpPr>
                <a:spLocks noChangeArrowheads="1"/>
              </p:cNvSpPr>
              <p:nvPr/>
            </p:nvSpPr>
            <p:spPr bwMode="auto">
              <a:xfrm>
                <a:off x="3916" y="1104"/>
                <a:ext cx="179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400" b="1" dirty="0">
                    <a:latin typeface="华文中宋" pitchFamily="2" charset="-122"/>
                    <a:ea typeface="华文中宋" pitchFamily="2" charset="-122"/>
                    <a:cs typeface="Times New Roman" pitchFamily="18" charset="0"/>
                  </a:rPr>
                  <a:t>.</a:t>
                </a:r>
              </a:p>
            </p:txBody>
          </p:sp>
          <p:sp>
            <p:nvSpPr>
              <p:cNvPr id="29" name="Rectangle 33"/>
              <p:cNvSpPr>
                <a:spLocks noChangeArrowheads="1"/>
              </p:cNvSpPr>
              <p:nvPr/>
            </p:nvSpPr>
            <p:spPr bwMode="auto">
              <a:xfrm>
                <a:off x="5123" y="1111"/>
                <a:ext cx="179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400" b="1" dirty="0">
                    <a:latin typeface="华文中宋" pitchFamily="2" charset="-122"/>
                    <a:ea typeface="华文中宋" pitchFamily="2" charset="-122"/>
                    <a:cs typeface="Times New Roman" pitchFamily="18" charset="0"/>
                  </a:rPr>
                  <a:t>.</a:t>
                </a:r>
              </a:p>
            </p:txBody>
          </p:sp>
          <p:sp>
            <p:nvSpPr>
              <p:cNvPr id="30" name="Line 34"/>
              <p:cNvSpPr>
                <a:spLocks noChangeShapeType="1"/>
              </p:cNvSpPr>
              <p:nvPr/>
            </p:nvSpPr>
            <p:spPr bwMode="auto">
              <a:xfrm>
                <a:off x="3710" y="1272"/>
                <a:ext cx="14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grpSp>
        <p:nvGrpSpPr>
          <p:cNvPr id="35" name="Group 36"/>
          <p:cNvGrpSpPr>
            <a:grpSpLocks/>
          </p:cNvGrpSpPr>
          <p:nvPr/>
        </p:nvGrpSpPr>
        <p:grpSpPr bwMode="auto">
          <a:xfrm>
            <a:off x="5159376" y="1169988"/>
            <a:ext cx="2089151" cy="682625"/>
            <a:chOff x="2907" y="811"/>
            <a:chExt cx="1316" cy="430"/>
          </a:xfrm>
        </p:grpSpPr>
        <p:sp>
          <p:nvSpPr>
            <p:cNvPr id="36" name="Text Box 37"/>
            <p:cNvSpPr txBox="1">
              <a:spLocks noChangeArrowheads="1"/>
            </p:cNvSpPr>
            <p:nvPr/>
          </p:nvSpPr>
          <p:spPr bwMode="auto">
            <a:xfrm>
              <a:off x="2996" y="849"/>
              <a:ext cx="136" cy="3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32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2907" y="849"/>
              <a:ext cx="332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1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  <a:r>
                <a:rPr lang="en-US" altLang="zh-CN" sz="24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'</a:t>
              </a:r>
              <a:endPara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Text Box 39"/>
            <p:cNvSpPr txBox="1">
              <a:spLocks noChangeArrowheads="1"/>
            </p:cNvSpPr>
            <p:nvPr/>
          </p:nvSpPr>
          <p:spPr bwMode="auto">
            <a:xfrm>
              <a:off x="3163" y="811"/>
              <a:ext cx="272" cy="36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32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</a:t>
              </a: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3451" y="849"/>
              <a:ext cx="303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1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Text Box 41"/>
            <p:cNvSpPr txBox="1">
              <a:spLocks noChangeArrowheads="1"/>
            </p:cNvSpPr>
            <p:nvPr/>
          </p:nvSpPr>
          <p:spPr bwMode="auto">
            <a:xfrm>
              <a:off x="3720" y="876"/>
              <a:ext cx="116" cy="3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32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3725" y="849"/>
              <a:ext cx="223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//</a:t>
              </a: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3926" y="849"/>
              <a:ext cx="297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1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95978" y="0"/>
            <a:ext cx="4121640" cy="3306485"/>
            <a:chOff x="1096474" y="1989668"/>
            <a:chExt cx="4121640" cy="3306485"/>
          </a:xfrm>
        </p:grpSpPr>
        <p:sp>
          <p:nvSpPr>
            <p:cNvPr id="59" name="Oval 82"/>
            <p:cNvSpPr>
              <a:spLocks noChangeArrowheads="1"/>
            </p:cNvSpPr>
            <p:nvPr/>
          </p:nvSpPr>
          <p:spPr bwMode="auto">
            <a:xfrm>
              <a:off x="1566334" y="4192298"/>
              <a:ext cx="396000" cy="360000"/>
            </a:xfrm>
            <a:prstGeom prst="ellipse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2700000" scaled="1"/>
            </a:gra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0" name="Line 20"/>
            <p:cNvSpPr>
              <a:spLocks noChangeShapeType="1"/>
            </p:cNvSpPr>
            <p:nvPr/>
          </p:nvSpPr>
          <p:spPr bwMode="auto">
            <a:xfrm>
              <a:off x="2329744" y="2652083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1" name="Rectangle 21"/>
            <p:cNvSpPr>
              <a:spLocks noChangeArrowheads="1"/>
            </p:cNvSpPr>
            <p:nvPr/>
          </p:nvSpPr>
          <p:spPr bwMode="auto">
            <a:xfrm>
              <a:off x="2239257" y="3507746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2" name="Line 22"/>
            <p:cNvSpPr>
              <a:spLocks noChangeShapeType="1"/>
            </p:cNvSpPr>
            <p:nvPr/>
          </p:nvSpPr>
          <p:spPr bwMode="auto">
            <a:xfrm flipV="1">
              <a:off x="1749778" y="2660902"/>
              <a:ext cx="14156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3" name="Line 23"/>
            <p:cNvSpPr>
              <a:spLocks noChangeShapeType="1"/>
            </p:cNvSpPr>
            <p:nvPr/>
          </p:nvSpPr>
          <p:spPr bwMode="auto">
            <a:xfrm>
              <a:off x="3165476" y="2660903"/>
              <a:ext cx="0" cy="1270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4" name="Line 24"/>
            <p:cNvSpPr>
              <a:spLocks noChangeShapeType="1"/>
            </p:cNvSpPr>
            <p:nvPr/>
          </p:nvSpPr>
          <p:spPr bwMode="auto">
            <a:xfrm flipV="1">
              <a:off x="1761419" y="5116765"/>
              <a:ext cx="3456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5" name="Line 25"/>
            <p:cNvSpPr>
              <a:spLocks noChangeShapeType="1"/>
            </p:cNvSpPr>
            <p:nvPr/>
          </p:nvSpPr>
          <p:spPr bwMode="auto">
            <a:xfrm>
              <a:off x="3768726" y="5116765"/>
              <a:ext cx="0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6" name="Line 26"/>
            <p:cNvSpPr>
              <a:spLocks noChangeShapeType="1"/>
            </p:cNvSpPr>
            <p:nvPr/>
          </p:nvSpPr>
          <p:spPr bwMode="auto">
            <a:xfrm>
              <a:off x="3595689" y="5278690"/>
              <a:ext cx="33655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7" name="Text Box 27"/>
            <p:cNvSpPr txBox="1">
              <a:spLocks noChangeArrowheads="1"/>
            </p:cNvSpPr>
            <p:nvPr/>
          </p:nvSpPr>
          <p:spPr bwMode="auto">
            <a:xfrm>
              <a:off x="2551113" y="3000628"/>
              <a:ext cx="757238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8" name="Text Box 28"/>
            <p:cNvSpPr txBox="1">
              <a:spLocks noChangeArrowheads="1"/>
            </p:cNvSpPr>
            <p:nvPr/>
          </p:nvSpPr>
          <p:spPr bwMode="auto">
            <a:xfrm>
              <a:off x="3846514" y="3437190"/>
              <a:ext cx="5588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69" name="Text Box 29"/>
            <p:cNvSpPr txBox="1">
              <a:spLocks noChangeArrowheads="1"/>
            </p:cNvSpPr>
            <p:nvPr/>
          </p:nvSpPr>
          <p:spPr bwMode="auto">
            <a:xfrm>
              <a:off x="2411413" y="2665665"/>
              <a:ext cx="390525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Text Box 30"/>
            <p:cNvSpPr txBox="1">
              <a:spLocks noChangeArrowheads="1"/>
            </p:cNvSpPr>
            <p:nvPr/>
          </p:nvSpPr>
          <p:spPr bwMode="auto">
            <a:xfrm>
              <a:off x="4651377" y="2670427"/>
              <a:ext cx="3937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Oval 31"/>
            <p:cNvSpPr>
              <a:spLocks noChangeArrowheads="1"/>
            </p:cNvSpPr>
            <p:nvPr/>
          </p:nvSpPr>
          <p:spPr bwMode="auto">
            <a:xfrm>
              <a:off x="3722689" y="5067553"/>
              <a:ext cx="84138" cy="762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2" name="Line 32"/>
            <p:cNvSpPr>
              <a:spLocks noChangeShapeType="1"/>
            </p:cNvSpPr>
            <p:nvPr/>
          </p:nvSpPr>
          <p:spPr bwMode="auto">
            <a:xfrm>
              <a:off x="4418014" y="2584703"/>
              <a:ext cx="11113" cy="1346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AutoShape 33"/>
            <p:cNvSpPr>
              <a:spLocks noChangeArrowheads="1"/>
            </p:cNvSpPr>
            <p:nvPr/>
          </p:nvSpPr>
          <p:spPr bwMode="auto">
            <a:xfrm>
              <a:off x="4210051" y="2945065"/>
              <a:ext cx="438150" cy="622300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4" name="Line 34"/>
            <p:cNvSpPr>
              <a:spLocks noChangeShapeType="1"/>
            </p:cNvSpPr>
            <p:nvPr/>
          </p:nvSpPr>
          <p:spPr bwMode="auto">
            <a:xfrm>
              <a:off x="5218114" y="2616452"/>
              <a:ext cx="0" cy="248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5" name="Line 35"/>
            <p:cNvSpPr>
              <a:spLocks noChangeShapeType="1"/>
            </p:cNvSpPr>
            <p:nvPr/>
          </p:nvSpPr>
          <p:spPr bwMode="auto">
            <a:xfrm>
              <a:off x="4429127" y="3619753"/>
              <a:ext cx="0" cy="3111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Rectangle 37"/>
            <p:cNvSpPr>
              <a:spLocks noChangeArrowheads="1"/>
            </p:cNvSpPr>
            <p:nvPr/>
          </p:nvSpPr>
          <p:spPr bwMode="auto">
            <a:xfrm>
              <a:off x="2398007" y="3523620"/>
              <a:ext cx="508473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Line 38"/>
            <p:cNvSpPr>
              <a:spLocks noChangeShapeType="1"/>
            </p:cNvSpPr>
            <p:nvPr/>
          </p:nvSpPr>
          <p:spPr bwMode="auto">
            <a:xfrm>
              <a:off x="4418014" y="2598990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8" name="Line 39"/>
            <p:cNvSpPr>
              <a:spLocks noChangeShapeType="1"/>
            </p:cNvSpPr>
            <p:nvPr/>
          </p:nvSpPr>
          <p:spPr bwMode="auto">
            <a:xfrm rot="16200000">
              <a:off x="2776538" y="2429127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Line 40"/>
            <p:cNvSpPr>
              <a:spLocks noChangeShapeType="1"/>
            </p:cNvSpPr>
            <p:nvPr/>
          </p:nvSpPr>
          <p:spPr bwMode="auto">
            <a:xfrm rot="5400000">
              <a:off x="4886327" y="2373565"/>
              <a:ext cx="0" cy="461963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0" name="Rectangle 41"/>
            <p:cNvSpPr>
              <a:spLocks noChangeArrowheads="1"/>
            </p:cNvSpPr>
            <p:nvPr/>
          </p:nvSpPr>
          <p:spPr bwMode="auto">
            <a:xfrm>
              <a:off x="3074989" y="3033965"/>
              <a:ext cx="179388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Rectangle 46"/>
            <p:cNvSpPr>
              <a:spLocks noChangeArrowheads="1"/>
            </p:cNvSpPr>
            <p:nvPr/>
          </p:nvSpPr>
          <p:spPr bwMode="auto">
            <a:xfrm>
              <a:off x="2471738" y="2487865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82" name="Group 47"/>
            <p:cNvGrpSpPr>
              <a:grpSpLocks/>
            </p:cNvGrpSpPr>
            <p:nvPr/>
          </p:nvGrpSpPr>
          <p:grpSpPr bwMode="auto">
            <a:xfrm>
              <a:off x="4471820" y="3984622"/>
              <a:ext cx="514351" cy="1158876"/>
              <a:chOff x="4734" y="609"/>
              <a:chExt cx="324" cy="730"/>
            </a:xfrm>
          </p:grpSpPr>
          <p:sp>
            <p:nvSpPr>
              <p:cNvPr id="110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1" name="Text Box 49"/>
              <p:cNvSpPr txBox="1">
                <a:spLocks noChangeArrowheads="1"/>
              </p:cNvSpPr>
              <p:nvPr/>
            </p:nvSpPr>
            <p:spPr bwMode="auto">
              <a:xfrm>
                <a:off x="4758" y="1048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12" name="Text Box 50"/>
              <p:cNvSpPr txBox="1">
                <a:spLocks noChangeArrowheads="1"/>
              </p:cNvSpPr>
              <p:nvPr/>
            </p:nvSpPr>
            <p:spPr bwMode="auto">
              <a:xfrm>
                <a:off x="4750" y="609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13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83" name="Rectangle 59"/>
            <p:cNvSpPr>
              <a:spLocks noChangeArrowheads="1"/>
            </p:cNvSpPr>
            <p:nvPr/>
          </p:nvSpPr>
          <p:spPr bwMode="auto">
            <a:xfrm>
              <a:off x="4067176" y="3283203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84" name="Rectangle 60"/>
            <p:cNvSpPr>
              <a:spLocks noChangeArrowheads="1"/>
            </p:cNvSpPr>
            <p:nvPr/>
          </p:nvSpPr>
          <p:spPr bwMode="auto">
            <a:xfrm>
              <a:off x="4719640" y="2559302"/>
              <a:ext cx="265113" cy="3698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85" name="Line 61"/>
            <p:cNvSpPr>
              <a:spLocks noChangeShapeType="1"/>
            </p:cNvSpPr>
            <p:nvPr/>
          </p:nvSpPr>
          <p:spPr bwMode="auto">
            <a:xfrm>
              <a:off x="3165476" y="3930903"/>
              <a:ext cx="12938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6" name="Line 62"/>
            <p:cNvSpPr>
              <a:spLocks noChangeShapeType="1"/>
            </p:cNvSpPr>
            <p:nvPr/>
          </p:nvSpPr>
          <p:spPr bwMode="auto">
            <a:xfrm flipV="1">
              <a:off x="3754439" y="3930903"/>
              <a:ext cx="0" cy="1152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7" name="Line 64"/>
            <p:cNvSpPr>
              <a:spLocks noChangeShapeType="1"/>
            </p:cNvSpPr>
            <p:nvPr/>
          </p:nvSpPr>
          <p:spPr bwMode="auto">
            <a:xfrm>
              <a:off x="1748544" y="2678895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Rectangle 65"/>
            <p:cNvSpPr>
              <a:spLocks noChangeArrowheads="1"/>
            </p:cNvSpPr>
            <p:nvPr/>
          </p:nvSpPr>
          <p:spPr bwMode="auto">
            <a:xfrm>
              <a:off x="1674108" y="3112636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9" name="Rectangle 66"/>
            <p:cNvSpPr>
              <a:spLocks noChangeArrowheads="1"/>
            </p:cNvSpPr>
            <p:nvPr/>
          </p:nvSpPr>
          <p:spPr bwMode="auto">
            <a:xfrm>
              <a:off x="1229784" y="3162554"/>
              <a:ext cx="48603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0" name="Text Box 67"/>
            <p:cNvSpPr txBox="1">
              <a:spLocks noChangeArrowheads="1"/>
            </p:cNvSpPr>
            <p:nvPr/>
          </p:nvSpPr>
          <p:spPr bwMode="auto">
            <a:xfrm>
              <a:off x="3159126" y="2406903"/>
              <a:ext cx="320675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91" name="Text Box 68"/>
            <p:cNvSpPr txBox="1">
              <a:spLocks noChangeArrowheads="1"/>
            </p:cNvSpPr>
            <p:nvPr/>
          </p:nvSpPr>
          <p:spPr bwMode="auto">
            <a:xfrm>
              <a:off x="3586164" y="3446715"/>
              <a:ext cx="306388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92" name="Text Box 69"/>
            <p:cNvSpPr txBox="1">
              <a:spLocks noChangeArrowheads="1"/>
            </p:cNvSpPr>
            <p:nvPr/>
          </p:nvSpPr>
          <p:spPr bwMode="auto">
            <a:xfrm>
              <a:off x="4038601" y="2527553"/>
              <a:ext cx="3206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93" name="Line 61"/>
            <p:cNvSpPr>
              <a:spLocks noChangeShapeType="1"/>
            </p:cNvSpPr>
            <p:nvPr/>
          </p:nvSpPr>
          <p:spPr bwMode="auto">
            <a:xfrm>
              <a:off x="3760789" y="4291265"/>
              <a:ext cx="61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4" name="Line 23"/>
            <p:cNvSpPr>
              <a:spLocks noChangeShapeType="1"/>
            </p:cNvSpPr>
            <p:nvPr/>
          </p:nvSpPr>
          <p:spPr bwMode="auto">
            <a:xfrm>
              <a:off x="4384675" y="4271963"/>
              <a:ext cx="0" cy="828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5" name="Rectangle 45"/>
            <p:cNvSpPr>
              <a:spLocks noChangeArrowheads="1"/>
            </p:cNvSpPr>
            <p:nvPr/>
          </p:nvSpPr>
          <p:spPr bwMode="auto">
            <a:xfrm>
              <a:off x="4287839" y="4446840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Rectangle 42"/>
            <p:cNvSpPr>
              <a:spLocks noChangeArrowheads="1"/>
            </p:cNvSpPr>
            <p:nvPr/>
          </p:nvSpPr>
          <p:spPr bwMode="auto">
            <a:xfrm>
              <a:off x="3665539" y="4435728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7" name="Line 35"/>
            <p:cNvSpPr>
              <a:spLocks noChangeShapeType="1"/>
            </p:cNvSpPr>
            <p:nvPr/>
          </p:nvSpPr>
          <p:spPr bwMode="auto">
            <a:xfrm>
              <a:off x="3748089" y="3934078"/>
              <a:ext cx="0" cy="287338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Rectangle 46"/>
            <p:cNvSpPr>
              <a:spLocks noChangeArrowheads="1"/>
            </p:cNvSpPr>
            <p:nvPr/>
          </p:nvSpPr>
          <p:spPr bwMode="auto">
            <a:xfrm>
              <a:off x="3352800" y="3807077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99" name="Text Box 29"/>
            <p:cNvSpPr txBox="1">
              <a:spLocks noChangeArrowheads="1"/>
            </p:cNvSpPr>
            <p:nvPr/>
          </p:nvSpPr>
          <p:spPr bwMode="auto">
            <a:xfrm>
              <a:off x="3287713" y="4003927"/>
              <a:ext cx="3786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Rectangle 44"/>
            <p:cNvSpPr>
              <a:spLocks noChangeArrowheads="1"/>
            </p:cNvSpPr>
            <p:nvPr/>
          </p:nvSpPr>
          <p:spPr bwMode="auto">
            <a:xfrm>
              <a:off x="3838577" y="4500992"/>
              <a:ext cx="4857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01" name="Rectangle 44"/>
            <p:cNvSpPr>
              <a:spLocks noChangeArrowheads="1"/>
            </p:cNvSpPr>
            <p:nvPr/>
          </p:nvSpPr>
          <p:spPr bwMode="auto">
            <a:xfrm>
              <a:off x="3149954" y="4478414"/>
              <a:ext cx="497252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02" name="Group 47"/>
            <p:cNvGrpSpPr>
              <a:grpSpLocks/>
            </p:cNvGrpSpPr>
            <p:nvPr/>
          </p:nvGrpSpPr>
          <p:grpSpPr bwMode="auto">
            <a:xfrm>
              <a:off x="1096474" y="3736095"/>
              <a:ext cx="615954" cy="1136652"/>
              <a:chOff x="4734" y="616"/>
              <a:chExt cx="388" cy="716"/>
            </a:xfrm>
          </p:grpSpPr>
          <p:sp>
            <p:nvSpPr>
              <p:cNvPr id="106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7" name="Text Box 49"/>
              <p:cNvSpPr txBox="1">
                <a:spLocks noChangeArrowheads="1"/>
              </p:cNvSpPr>
              <p:nvPr/>
            </p:nvSpPr>
            <p:spPr bwMode="auto">
              <a:xfrm>
                <a:off x="4886" y="1041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08" name="Text Box 50"/>
              <p:cNvSpPr txBox="1">
                <a:spLocks noChangeArrowheads="1"/>
              </p:cNvSpPr>
              <p:nvPr/>
            </p:nvSpPr>
            <p:spPr bwMode="auto">
              <a:xfrm>
                <a:off x="4814" y="616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09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103" name="Line 39"/>
            <p:cNvSpPr>
              <a:spLocks noChangeShapeType="1"/>
            </p:cNvSpPr>
            <p:nvPr/>
          </p:nvSpPr>
          <p:spPr bwMode="auto">
            <a:xfrm rot="16200000">
              <a:off x="2068867" y="2426128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4" name="Text Box 29"/>
            <p:cNvSpPr txBox="1">
              <a:spLocks noChangeArrowheads="1"/>
            </p:cNvSpPr>
            <p:nvPr/>
          </p:nvSpPr>
          <p:spPr bwMode="auto">
            <a:xfrm>
              <a:off x="1914878" y="2151668"/>
              <a:ext cx="34496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1981729" y="1989668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882651" y="758825"/>
            <a:ext cx="479425" cy="2438400"/>
            <a:chOff x="1506538" y="773113"/>
            <a:chExt cx="479425" cy="2438400"/>
          </a:xfrm>
        </p:grpSpPr>
        <p:sp>
          <p:nvSpPr>
            <p:cNvPr id="114" name="Rectangle 102"/>
            <p:cNvSpPr>
              <a:spLocks noChangeArrowheads="1"/>
            </p:cNvSpPr>
            <p:nvPr/>
          </p:nvSpPr>
          <p:spPr bwMode="auto">
            <a:xfrm>
              <a:off x="1590675" y="773113"/>
              <a:ext cx="364202" cy="4616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>
              <a:prstShdw prst="shdw17" dist="17961" dir="2700000">
                <a:srgbClr val="999999"/>
              </a:prstShdw>
            </a:effec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15" name="Rectangle 103"/>
            <p:cNvSpPr>
              <a:spLocks noChangeArrowheads="1"/>
            </p:cNvSpPr>
            <p:nvPr/>
          </p:nvSpPr>
          <p:spPr bwMode="auto">
            <a:xfrm>
              <a:off x="1506538" y="2844800"/>
              <a:ext cx="414337" cy="3667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>
              <a:prstShdw prst="shdw17" dist="17961" dir="2700000">
                <a:srgbClr val="999999"/>
              </a:prst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1800" b="1">
                  <a:latin typeface="Times New Roman" pitchFamily="18" charset="0"/>
                  <a:ea typeface="宋体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116" name="Rectangle 104"/>
            <p:cNvSpPr>
              <a:spLocks noChangeArrowheads="1"/>
            </p:cNvSpPr>
            <p:nvPr/>
          </p:nvSpPr>
          <p:spPr bwMode="auto">
            <a:xfrm>
              <a:off x="1531938" y="1687513"/>
              <a:ext cx="454025" cy="4572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>
              <a:prstShdw prst="shdw17" dist="17961" dir="2700000">
                <a:srgbClr val="999999"/>
              </a:prstShdw>
            </a:effectLst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宋体" charset="-122"/>
                  <a:cs typeface="Times New Roman" pitchFamily="18" charset="0"/>
                </a:rPr>
                <a:t>U</a:t>
              </a:r>
              <a:r>
                <a:rPr lang="en-US" altLang="zh-CN" sz="1400" b="1" dirty="0" err="1">
                  <a:latin typeface="Times New Roman" pitchFamily="18" charset="0"/>
                  <a:ea typeface="宋体" charset="-122"/>
                  <a:cs typeface="Times New Roman" pitchFamily="18" charset="0"/>
                </a:rPr>
                <a:t>i</a:t>
              </a:r>
              <a:endParaRPr lang="en-US" altLang="zh-CN" sz="1400" b="1" dirty="0">
                <a:latin typeface="Times New Roman" pitchFamily="18" charset="0"/>
                <a:ea typeface="宋体" charset="-122"/>
                <a:cs typeface="Times New Roman" pitchFamily="18" charset="0"/>
              </a:endParaRPr>
            </a:p>
          </p:txBody>
        </p:sp>
        <p:sp>
          <p:nvSpPr>
            <p:cNvPr id="117" name="Rectangle 105"/>
            <p:cNvSpPr>
              <a:spLocks noChangeArrowheads="1"/>
            </p:cNvSpPr>
            <p:nvPr/>
          </p:nvSpPr>
          <p:spPr bwMode="auto">
            <a:xfrm>
              <a:off x="1660525" y="1395413"/>
              <a:ext cx="269626" cy="4616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>
              <a:prstShdw prst="shdw17" dist="17961" dir="2700000">
                <a:srgbClr val="999999"/>
              </a:prstShdw>
            </a:effec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>
            <a:grpSpLocks/>
          </p:cNvGrpSpPr>
          <p:nvPr/>
        </p:nvGrpSpPr>
        <p:grpSpPr bwMode="auto">
          <a:xfrm>
            <a:off x="4724400" y="1595439"/>
            <a:ext cx="4224338" cy="1860551"/>
            <a:chOff x="1176" y="2419"/>
            <a:chExt cx="2661" cy="1172"/>
          </a:xfrm>
        </p:grpSpPr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1176" y="2748"/>
              <a:ext cx="2661" cy="8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' = </a:t>
              </a: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— = ———————   </a:t>
              </a:r>
            </a:p>
            <a:p>
              <a:pPr algn="l">
                <a:spcBef>
                  <a:spcPts val="3000"/>
                </a:spcBef>
              </a:pP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</a:t>
              </a: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+(1+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β</a:t>
              </a: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)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'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1612" y="2947"/>
              <a:ext cx="26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i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8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1649" y="2769"/>
              <a:ext cx="55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.</a:t>
              </a: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1601" y="2652"/>
              <a:ext cx="32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2095" y="2596"/>
              <a:ext cx="167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+(1+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β</a:t>
              </a: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)</a:t>
              </a:r>
              <a:r>
                <a:rPr lang="en-US" altLang="zh-CN" sz="28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800" b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i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'</a:t>
              </a: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2390" y="2426"/>
              <a:ext cx="43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.</a:t>
              </a: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3223" y="2419"/>
              <a:ext cx="43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.</a:t>
              </a: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1697" y="2472"/>
              <a:ext cx="17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.</a:t>
              </a: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2712" y="2947"/>
              <a:ext cx="48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i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8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2756" y="2780"/>
              <a:ext cx="17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.</a:t>
              </a:r>
            </a:p>
          </p:txBody>
        </p:sp>
      </p:grpSp>
      <p:grpSp>
        <p:nvGrpSpPr>
          <p:cNvPr id="43" name="Group 44"/>
          <p:cNvGrpSpPr>
            <a:grpSpLocks/>
          </p:cNvGrpSpPr>
          <p:nvPr/>
        </p:nvGrpSpPr>
        <p:grpSpPr bwMode="auto">
          <a:xfrm>
            <a:off x="1449613" y="3472540"/>
            <a:ext cx="7467600" cy="1243011"/>
            <a:chOff x="936" y="3118"/>
            <a:chExt cx="4704" cy="783"/>
          </a:xfrm>
        </p:grpSpPr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936" y="3381"/>
              <a:ext cx="470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i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       = 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//</a:t>
              </a:r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' = </a:t>
              </a: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//[</a:t>
              </a:r>
              <a:r>
                <a:rPr lang="en-US" altLang="zh-CN" sz="28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+(1+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β</a:t>
              </a: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)</a:t>
              </a: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']</a:t>
              </a:r>
              <a:endPara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46" name="Group 47"/>
            <p:cNvGrpSpPr>
              <a:grpSpLocks/>
            </p:cNvGrpSpPr>
            <p:nvPr/>
          </p:nvGrpSpPr>
          <p:grpSpPr bwMode="auto">
            <a:xfrm>
              <a:off x="1410" y="3118"/>
              <a:ext cx="322" cy="783"/>
              <a:chOff x="1410" y="3118"/>
              <a:chExt cx="322" cy="783"/>
            </a:xfrm>
          </p:grpSpPr>
          <p:sp>
            <p:nvSpPr>
              <p:cNvPr id="47" name="Rectangle 48"/>
              <p:cNvSpPr>
                <a:spLocks noChangeArrowheads="1"/>
              </p:cNvSpPr>
              <p:nvPr/>
            </p:nvSpPr>
            <p:spPr bwMode="auto">
              <a:xfrm>
                <a:off x="1456" y="3571"/>
                <a:ext cx="234" cy="330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8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</a:p>
            </p:txBody>
          </p:sp>
          <p:grpSp>
            <p:nvGrpSpPr>
              <p:cNvPr id="48" name="Group 49"/>
              <p:cNvGrpSpPr>
                <a:grpSpLocks/>
              </p:cNvGrpSpPr>
              <p:nvPr/>
            </p:nvGrpSpPr>
            <p:grpSpPr bwMode="auto">
              <a:xfrm>
                <a:off x="1410" y="3118"/>
                <a:ext cx="322" cy="618"/>
                <a:chOff x="1410" y="3118"/>
                <a:chExt cx="322" cy="618"/>
              </a:xfrm>
            </p:grpSpPr>
            <p:sp>
              <p:nvSpPr>
                <p:cNvPr id="49" name="Rectangle 50"/>
                <p:cNvSpPr>
                  <a:spLocks noChangeArrowheads="1"/>
                </p:cNvSpPr>
                <p:nvPr/>
              </p:nvSpPr>
              <p:spPr bwMode="auto">
                <a:xfrm>
                  <a:off x="1410" y="3283"/>
                  <a:ext cx="322" cy="330"/>
                </a:xfrm>
                <a:prstGeom prst="rect">
                  <a:avLst/>
                </a:prstGeom>
                <a:noFill/>
                <a:ln w="38100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i="1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2800" b="1" baseline="-25000" dirty="0" err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i</a:t>
                  </a:r>
                  <a:endParaRPr lang="en-US" altLang="zh-CN" sz="28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0" name="Line 51"/>
                <p:cNvSpPr>
                  <a:spLocks noChangeShapeType="1"/>
                </p:cNvSpPr>
                <p:nvPr/>
              </p:nvSpPr>
              <p:spPr bwMode="auto">
                <a:xfrm>
                  <a:off x="1410" y="3564"/>
                  <a:ext cx="286" cy="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8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51" name="Rectangle 52"/>
                <p:cNvSpPr>
                  <a:spLocks noChangeArrowheads="1"/>
                </p:cNvSpPr>
                <p:nvPr/>
              </p:nvSpPr>
              <p:spPr bwMode="auto">
                <a:xfrm>
                  <a:off x="1500" y="3118"/>
                  <a:ext cx="173" cy="330"/>
                </a:xfrm>
                <a:prstGeom prst="rect">
                  <a:avLst/>
                </a:prstGeom>
                <a:noFill/>
                <a:ln w="38100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.</a:t>
                  </a:r>
                </a:p>
              </p:txBody>
            </p:sp>
            <p:sp>
              <p:nvSpPr>
                <p:cNvPr id="52" name="Rectangle 53"/>
                <p:cNvSpPr>
                  <a:spLocks noChangeArrowheads="1"/>
                </p:cNvSpPr>
                <p:nvPr/>
              </p:nvSpPr>
              <p:spPr bwMode="auto">
                <a:xfrm>
                  <a:off x="1497" y="3406"/>
                  <a:ext cx="173" cy="330"/>
                </a:xfrm>
                <a:prstGeom prst="rect">
                  <a:avLst/>
                </a:prstGeom>
                <a:noFill/>
                <a:ln w="38100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800" b="1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.</a:t>
                  </a:r>
                </a:p>
              </p:txBody>
            </p:sp>
          </p:grpSp>
        </p:grpSp>
      </p:grpSp>
      <p:sp>
        <p:nvSpPr>
          <p:cNvPr id="53" name="Text Box 55"/>
          <p:cNvSpPr txBox="1">
            <a:spLocks noChangeArrowheads="1"/>
          </p:cNvSpPr>
          <p:nvPr/>
        </p:nvSpPr>
        <p:spPr bwMode="auto">
          <a:xfrm>
            <a:off x="5297034" y="1134156"/>
            <a:ext cx="25146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输入电阻</a:t>
            </a:r>
          </a:p>
        </p:txBody>
      </p:sp>
      <p:grpSp>
        <p:nvGrpSpPr>
          <p:cNvPr id="54" name="组合 57"/>
          <p:cNvGrpSpPr/>
          <p:nvPr/>
        </p:nvGrpSpPr>
        <p:grpSpPr>
          <a:xfrm>
            <a:off x="195978" y="0"/>
            <a:ext cx="4121640" cy="3306485"/>
            <a:chOff x="1096474" y="1989668"/>
            <a:chExt cx="4121640" cy="3306485"/>
          </a:xfrm>
        </p:grpSpPr>
        <p:sp>
          <p:nvSpPr>
            <p:cNvPr id="59" name="Oval 82"/>
            <p:cNvSpPr>
              <a:spLocks noChangeArrowheads="1"/>
            </p:cNvSpPr>
            <p:nvPr/>
          </p:nvSpPr>
          <p:spPr bwMode="auto">
            <a:xfrm>
              <a:off x="1566334" y="4192298"/>
              <a:ext cx="396000" cy="360000"/>
            </a:xfrm>
            <a:prstGeom prst="ellipse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2700000" scaled="1"/>
            </a:gra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0" name="Line 20"/>
            <p:cNvSpPr>
              <a:spLocks noChangeShapeType="1"/>
            </p:cNvSpPr>
            <p:nvPr/>
          </p:nvSpPr>
          <p:spPr bwMode="auto">
            <a:xfrm>
              <a:off x="2329744" y="2652083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1" name="Rectangle 21"/>
            <p:cNvSpPr>
              <a:spLocks noChangeArrowheads="1"/>
            </p:cNvSpPr>
            <p:nvPr/>
          </p:nvSpPr>
          <p:spPr bwMode="auto">
            <a:xfrm>
              <a:off x="2239257" y="3507746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2" name="Line 22"/>
            <p:cNvSpPr>
              <a:spLocks noChangeShapeType="1"/>
            </p:cNvSpPr>
            <p:nvPr/>
          </p:nvSpPr>
          <p:spPr bwMode="auto">
            <a:xfrm flipV="1">
              <a:off x="1749778" y="2660902"/>
              <a:ext cx="14156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3" name="Line 23"/>
            <p:cNvSpPr>
              <a:spLocks noChangeShapeType="1"/>
            </p:cNvSpPr>
            <p:nvPr/>
          </p:nvSpPr>
          <p:spPr bwMode="auto">
            <a:xfrm>
              <a:off x="3165476" y="2660903"/>
              <a:ext cx="0" cy="1270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4" name="Line 24"/>
            <p:cNvSpPr>
              <a:spLocks noChangeShapeType="1"/>
            </p:cNvSpPr>
            <p:nvPr/>
          </p:nvSpPr>
          <p:spPr bwMode="auto">
            <a:xfrm flipV="1">
              <a:off x="1761419" y="5116765"/>
              <a:ext cx="3456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5" name="Line 25"/>
            <p:cNvSpPr>
              <a:spLocks noChangeShapeType="1"/>
            </p:cNvSpPr>
            <p:nvPr/>
          </p:nvSpPr>
          <p:spPr bwMode="auto">
            <a:xfrm>
              <a:off x="3768726" y="5116765"/>
              <a:ext cx="0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6" name="Line 26"/>
            <p:cNvSpPr>
              <a:spLocks noChangeShapeType="1"/>
            </p:cNvSpPr>
            <p:nvPr/>
          </p:nvSpPr>
          <p:spPr bwMode="auto">
            <a:xfrm>
              <a:off x="3595689" y="5278690"/>
              <a:ext cx="33655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7" name="Text Box 27"/>
            <p:cNvSpPr txBox="1">
              <a:spLocks noChangeArrowheads="1"/>
            </p:cNvSpPr>
            <p:nvPr/>
          </p:nvSpPr>
          <p:spPr bwMode="auto">
            <a:xfrm>
              <a:off x="2551113" y="3000628"/>
              <a:ext cx="757238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8" name="Text Box 28"/>
            <p:cNvSpPr txBox="1">
              <a:spLocks noChangeArrowheads="1"/>
            </p:cNvSpPr>
            <p:nvPr/>
          </p:nvSpPr>
          <p:spPr bwMode="auto">
            <a:xfrm>
              <a:off x="3846514" y="3437190"/>
              <a:ext cx="5588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69" name="Text Box 29"/>
            <p:cNvSpPr txBox="1">
              <a:spLocks noChangeArrowheads="1"/>
            </p:cNvSpPr>
            <p:nvPr/>
          </p:nvSpPr>
          <p:spPr bwMode="auto">
            <a:xfrm>
              <a:off x="2411413" y="2665665"/>
              <a:ext cx="390525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Text Box 30"/>
            <p:cNvSpPr txBox="1">
              <a:spLocks noChangeArrowheads="1"/>
            </p:cNvSpPr>
            <p:nvPr/>
          </p:nvSpPr>
          <p:spPr bwMode="auto">
            <a:xfrm>
              <a:off x="4651377" y="2670427"/>
              <a:ext cx="3937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Oval 31"/>
            <p:cNvSpPr>
              <a:spLocks noChangeArrowheads="1"/>
            </p:cNvSpPr>
            <p:nvPr/>
          </p:nvSpPr>
          <p:spPr bwMode="auto">
            <a:xfrm>
              <a:off x="3722689" y="5067553"/>
              <a:ext cx="84138" cy="762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2" name="Line 32"/>
            <p:cNvSpPr>
              <a:spLocks noChangeShapeType="1"/>
            </p:cNvSpPr>
            <p:nvPr/>
          </p:nvSpPr>
          <p:spPr bwMode="auto">
            <a:xfrm>
              <a:off x="4418014" y="2584703"/>
              <a:ext cx="11113" cy="1346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AutoShape 33"/>
            <p:cNvSpPr>
              <a:spLocks noChangeArrowheads="1"/>
            </p:cNvSpPr>
            <p:nvPr/>
          </p:nvSpPr>
          <p:spPr bwMode="auto">
            <a:xfrm>
              <a:off x="4210051" y="2945065"/>
              <a:ext cx="438150" cy="622300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4" name="Line 34"/>
            <p:cNvSpPr>
              <a:spLocks noChangeShapeType="1"/>
            </p:cNvSpPr>
            <p:nvPr/>
          </p:nvSpPr>
          <p:spPr bwMode="auto">
            <a:xfrm>
              <a:off x="5218114" y="2616452"/>
              <a:ext cx="0" cy="248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5" name="Line 35"/>
            <p:cNvSpPr>
              <a:spLocks noChangeShapeType="1"/>
            </p:cNvSpPr>
            <p:nvPr/>
          </p:nvSpPr>
          <p:spPr bwMode="auto">
            <a:xfrm>
              <a:off x="4429127" y="3619753"/>
              <a:ext cx="0" cy="3111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Rectangle 37"/>
            <p:cNvSpPr>
              <a:spLocks noChangeArrowheads="1"/>
            </p:cNvSpPr>
            <p:nvPr/>
          </p:nvSpPr>
          <p:spPr bwMode="auto">
            <a:xfrm>
              <a:off x="2398007" y="3523620"/>
              <a:ext cx="508473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Line 38"/>
            <p:cNvSpPr>
              <a:spLocks noChangeShapeType="1"/>
            </p:cNvSpPr>
            <p:nvPr/>
          </p:nvSpPr>
          <p:spPr bwMode="auto">
            <a:xfrm>
              <a:off x="4418014" y="2598990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8" name="Line 39"/>
            <p:cNvSpPr>
              <a:spLocks noChangeShapeType="1"/>
            </p:cNvSpPr>
            <p:nvPr/>
          </p:nvSpPr>
          <p:spPr bwMode="auto">
            <a:xfrm rot="16200000">
              <a:off x="2776538" y="2429127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Line 40"/>
            <p:cNvSpPr>
              <a:spLocks noChangeShapeType="1"/>
            </p:cNvSpPr>
            <p:nvPr/>
          </p:nvSpPr>
          <p:spPr bwMode="auto">
            <a:xfrm rot="5400000">
              <a:off x="4886327" y="2373565"/>
              <a:ext cx="0" cy="461963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0" name="Rectangle 41"/>
            <p:cNvSpPr>
              <a:spLocks noChangeArrowheads="1"/>
            </p:cNvSpPr>
            <p:nvPr/>
          </p:nvSpPr>
          <p:spPr bwMode="auto">
            <a:xfrm>
              <a:off x="3074989" y="3033965"/>
              <a:ext cx="179388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Rectangle 46"/>
            <p:cNvSpPr>
              <a:spLocks noChangeArrowheads="1"/>
            </p:cNvSpPr>
            <p:nvPr/>
          </p:nvSpPr>
          <p:spPr bwMode="auto">
            <a:xfrm>
              <a:off x="2471738" y="2487865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55" name="Group 47"/>
            <p:cNvGrpSpPr>
              <a:grpSpLocks/>
            </p:cNvGrpSpPr>
            <p:nvPr/>
          </p:nvGrpSpPr>
          <p:grpSpPr bwMode="auto">
            <a:xfrm>
              <a:off x="4471820" y="3984622"/>
              <a:ext cx="514351" cy="1158876"/>
              <a:chOff x="4734" y="609"/>
              <a:chExt cx="324" cy="730"/>
            </a:xfrm>
          </p:grpSpPr>
          <p:sp>
            <p:nvSpPr>
              <p:cNvPr id="110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1" name="Text Box 49"/>
              <p:cNvSpPr txBox="1">
                <a:spLocks noChangeArrowheads="1"/>
              </p:cNvSpPr>
              <p:nvPr/>
            </p:nvSpPr>
            <p:spPr bwMode="auto">
              <a:xfrm>
                <a:off x="4758" y="1048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12" name="Text Box 50"/>
              <p:cNvSpPr txBox="1">
                <a:spLocks noChangeArrowheads="1"/>
              </p:cNvSpPr>
              <p:nvPr/>
            </p:nvSpPr>
            <p:spPr bwMode="auto">
              <a:xfrm>
                <a:off x="4750" y="609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13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83" name="Rectangle 59"/>
            <p:cNvSpPr>
              <a:spLocks noChangeArrowheads="1"/>
            </p:cNvSpPr>
            <p:nvPr/>
          </p:nvSpPr>
          <p:spPr bwMode="auto">
            <a:xfrm>
              <a:off x="4067176" y="3283203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84" name="Rectangle 60"/>
            <p:cNvSpPr>
              <a:spLocks noChangeArrowheads="1"/>
            </p:cNvSpPr>
            <p:nvPr/>
          </p:nvSpPr>
          <p:spPr bwMode="auto">
            <a:xfrm>
              <a:off x="4719640" y="2559302"/>
              <a:ext cx="265113" cy="3698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85" name="Line 61"/>
            <p:cNvSpPr>
              <a:spLocks noChangeShapeType="1"/>
            </p:cNvSpPr>
            <p:nvPr/>
          </p:nvSpPr>
          <p:spPr bwMode="auto">
            <a:xfrm>
              <a:off x="3165476" y="3930903"/>
              <a:ext cx="12938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6" name="Line 62"/>
            <p:cNvSpPr>
              <a:spLocks noChangeShapeType="1"/>
            </p:cNvSpPr>
            <p:nvPr/>
          </p:nvSpPr>
          <p:spPr bwMode="auto">
            <a:xfrm flipV="1">
              <a:off x="3754439" y="3930903"/>
              <a:ext cx="0" cy="1152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7" name="Line 64"/>
            <p:cNvSpPr>
              <a:spLocks noChangeShapeType="1"/>
            </p:cNvSpPr>
            <p:nvPr/>
          </p:nvSpPr>
          <p:spPr bwMode="auto">
            <a:xfrm>
              <a:off x="1748544" y="2678895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Rectangle 65"/>
            <p:cNvSpPr>
              <a:spLocks noChangeArrowheads="1"/>
            </p:cNvSpPr>
            <p:nvPr/>
          </p:nvSpPr>
          <p:spPr bwMode="auto">
            <a:xfrm>
              <a:off x="1674108" y="3112636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9" name="Rectangle 66"/>
            <p:cNvSpPr>
              <a:spLocks noChangeArrowheads="1"/>
            </p:cNvSpPr>
            <p:nvPr/>
          </p:nvSpPr>
          <p:spPr bwMode="auto">
            <a:xfrm>
              <a:off x="1229784" y="3162554"/>
              <a:ext cx="48603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0" name="Text Box 67"/>
            <p:cNvSpPr txBox="1">
              <a:spLocks noChangeArrowheads="1"/>
            </p:cNvSpPr>
            <p:nvPr/>
          </p:nvSpPr>
          <p:spPr bwMode="auto">
            <a:xfrm>
              <a:off x="3159126" y="2406903"/>
              <a:ext cx="320675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91" name="Text Box 68"/>
            <p:cNvSpPr txBox="1">
              <a:spLocks noChangeArrowheads="1"/>
            </p:cNvSpPr>
            <p:nvPr/>
          </p:nvSpPr>
          <p:spPr bwMode="auto">
            <a:xfrm>
              <a:off x="3586164" y="3446715"/>
              <a:ext cx="306388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92" name="Text Box 69"/>
            <p:cNvSpPr txBox="1">
              <a:spLocks noChangeArrowheads="1"/>
            </p:cNvSpPr>
            <p:nvPr/>
          </p:nvSpPr>
          <p:spPr bwMode="auto">
            <a:xfrm>
              <a:off x="4038601" y="2527553"/>
              <a:ext cx="3206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93" name="Line 61"/>
            <p:cNvSpPr>
              <a:spLocks noChangeShapeType="1"/>
            </p:cNvSpPr>
            <p:nvPr/>
          </p:nvSpPr>
          <p:spPr bwMode="auto">
            <a:xfrm>
              <a:off x="3760789" y="4291265"/>
              <a:ext cx="61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4" name="Line 23"/>
            <p:cNvSpPr>
              <a:spLocks noChangeShapeType="1"/>
            </p:cNvSpPr>
            <p:nvPr/>
          </p:nvSpPr>
          <p:spPr bwMode="auto">
            <a:xfrm>
              <a:off x="4384675" y="4271963"/>
              <a:ext cx="0" cy="828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5" name="Rectangle 45"/>
            <p:cNvSpPr>
              <a:spLocks noChangeArrowheads="1"/>
            </p:cNvSpPr>
            <p:nvPr/>
          </p:nvSpPr>
          <p:spPr bwMode="auto">
            <a:xfrm>
              <a:off x="4287839" y="4446840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Rectangle 42"/>
            <p:cNvSpPr>
              <a:spLocks noChangeArrowheads="1"/>
            </p:cNvSpPr>
            <p:nvPr/>
          </p:nvSpPr>
          <p:spPr bwMode="auto">
            <a:xfrm>
              <a:off x="3665539" y="4435728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7" name="Line 35"/>
            <p:cNvSpPr>
              <a:spLocks noChangeShapeType="1"/>
            </p:cNvSpPr>
            <p:nvPr/>
          </p:nvSpPr>
          <p:spPr bwMode="auto">
            <a:xfrm>
              <a:off x="3748089" y="3934078"/>
              <a:ext cx="0" cy="287338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Rectangle 46"/>
            <p:cNvSpPr>
              <a:spLocks noChangeArrowheads="1"/>
            </p:cNvSpPr>
            <p:nvPr/>
          </p:nvSpPr>
          <p:spPr bwMode="auto">
            <a:xfrm>
              <a:off x="3352800" y="3807077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99" name="Text Box 29"/>
            <p:cNvSpPr txBox="1">
              <a:spLocks noChangeArrowheads="1"/>
            </p:cNvSpPr>
            <p:nvPr/>
          </p:nvSpPr>
          <p:spPr bwMode="auto">
            <a:xfrm>
              <a:off x="3287713" y="4003927"/>
              <a:ext cx="3786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Rectangle 44"/>
            <p:cNvSpPr>
              <a:spLocks noChangeArrowheads="1"/>
            </p:cNvSpPr>
            <p:nvPr/>
          </p:nvSpPr>
          <p:spPr bwMode="auto">
            <a:xfrm>
              <a:off x="3838577" y="4500992"/>
              <a:ext cx="4857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01" name="Rectangle 44"/>
            <p:cNvSpPr>
              <a:spLocks noChangeArrowheads="1"/>
            </p:cNvSpPr>
            <p:nvPr/>
          </p:nvSpPr>
          <p:spPr bwMode="auto">
            <a:xfrm>
              <a:off x="3149954" y="4478414"/>
              <a:ext cx="497252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56" name="Group 47"/>
            <p:cNvGrpSpPr>
              <a:grpSpLocks/>
            </p:cNvGrpSpPr>
            <p:nvPr/>
          </p:nvGrpSpPr>
          <p:grpSpPr bwMode="auto">
            <a:xfrm>
              <a:off x="1096474" y="3736095"/>
              <a:ext cx="615954" cy="1136652"/>
              <a:chOff x="4734" y="616"/>
              <a:chExt cx="388" cy="716"/>
            </a:xfrm>
          </p:grpSpPr>
          <p:sp>
            <p:nvSpPr>
              <p:cNvPr id="106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7" name="Text Box 49"/>
              <p:cNvSpPr txBox="1">
                <a:spLocks noChangeArrowheads="1"/>
              </p:cNvSpPr>
              <p:nvPr/>
            </p:nvSpPr>
            <p:spPr bwMode="auto">
              <a:xfrm>
                <a:off x="4886" y="1041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08" name="Text Box 50"/>
              <p:cNvSpPr txBox="1">
                <a:spLocks noChangeArrowheads="1"/>
              </p:cNvSpPr>
              <p:nvPr/>
            </p:nvSpPr>
            <p:spPr bwMode="auto">
              <a:xfrm>
                <a:off x="4814" y="616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09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103" name="Line 39"/>
            <p:cNvSpPr>
              <a:spLocks noChangeShapeType="1"/>
            </p:cNvSpPr>
            <p:nvPr/>
          </p:nvSpPr>
          <p:spPr bwMode="auto">
            <a:xfrm rot="16200000">
              <a:off x="2068867" y="2426128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4" name="Text Box 29"/>
            <p:cNvSpPr txBox="1">
              <a:spLocks noChangeArrowheads="1"/>
            </p:cNvSpPr>
            <p:nvPr/>
          </p:nvSpPr>
          <p:spPr bwMode="auto">
            <a:xfrm>
              <a:off x="1914878" y="2151668"/>
              <a:ext cx="34496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1981729" y="1989668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</p:grpSp>
      <p:grpSp>
        <p:nvGrpSpPr>
          <p:cNvPr id="57" name="组合 117"/>
          <p:cNvGrpSpPr/>
          <p:nvPr/>
        </p:nvGrpSpPr>
        <p:grpSpPr>
          <a:xfrm>
            <a:off x="882651" y="758825"/>
            <a:ext cx="479425" cy="2438400"/>
            <a:chOff x="1506538" y="773113"/>
            <a:chExt cx="479425" cy="2438400"/>
          </a:xfrm>
        </p:grpSpPr>
        <p:sp>
          <p:nvSpPr>
            <p:cNvPr id="114" name="Rectangle 102"/>
            <p:cNvSpPr>
              <a:spLocks noChangeArrowheads="1"/>
            </p:cNvSpPr>
            <p:nvPr/>
          </p:nvSpPr>
          <p:spPr bwMode="auto">
            <a:xfrm>
              <a:off x="1590675" y="773113"/>
              <a:ext cx="364202" cy="4616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>
              <a:prstShdw prst="shdw17" dist="17961" dir="2700000">
                <a:srgbClr val="999999"/>
              </a:prstShdw>
            </a:effectLst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Times New Roman" pitchFamily="18" charset="0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15" name="Rectangle 103"/>
            <p:cNvSpPr>
              <a:spLocks noChangeArrowheads="1"/>
            </p:cNvSpPr>
            <p:nvPr/>
          </p:nvSpPr>
          <p:spPr bwMode="auto">
            <a:xfrm>
              <a:off x="1506538" y="2844800"/>
              <a:ext cx="414337" cy="3667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>
              <a:prstShdw prst="shdw17" dist="17961" dir="2700000">
                <a:srgbClr val="999999"/>
              </a:prstShdw>
            </a:effectLst>
          </p:spPr>
          <p:txBody>
            <a:bodyPr wrap="none">
              <a:spAutoFit/>
            </a:bodyPr>
            <a:lstStyle/>
            <a:p>
              <a:r>
                <a:rPr lang="zh-CN" altLang="en-US" sz="1800" b="1">
                  <a:latin typeface="Times New Roman" pitchFamily="18" charset="0"/>
                  <a:ea typeface="宋体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116" name="Rectangle 104"/>
            <p:cNvSpPr>
              <a:spLocks noChangeArrowheads="1"/>
            </p:cNvSpPr>
            <p:nvPr/>
          </p:nvSpPr>
          <p:spPr bwMode="auto">
            <a:xfrm>
              <a:off x="1531938" y="1687513"/>
              <a:ext cx="454025" cy="4572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>
              <a:prstShdw prst="shdw17" dist="17961" dir="2700000">
                <a:srgbClr val="999999"/>
              </a:prstShdw>
            </a:effectLst>
          </p:spPr>
          <p:txBody>
            <a:bodyPr wrap="none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宋体" charset="-122"/>
                  <a:cs typeface="Times New Roman" pitchFamily="18" charset="0"/>
                </a:rPr>
                <a:t>U</a:t>
              </a:r>
              <a:r>
                <a:rPr lang="en-US" altLang="zh-CN" sz="1400" b="1" dirty="0" err="1">
                  <a:latin typeface="Times New Roman" pitchFamily="18" charset="0"/>
                  <a:ea typeface="宋体" charset="-122"/>
                  <a:cs typeface="Times New Roman" pitchFamily="18" charset="0"/>
                </a:rPr>
                <a:t>i</a:t>
              </a:r>
              <a:endParaRPr lang="en-US" altLang="zh-CN" sz="1400" b="1" dirty="0">
                <a:latin typeface="Times New Roman" pitchFamily="18" charset="0"/>
                <a:ea typeface="宋体" charset="-122"/>
                <a:cs typeface="Times New Roman" pitchFamily="18" charset="0"/>
              </a:endParaRPr>
            </a:p>
          </p:txBody>
        </p:sp>
        <p:sp>
          <p:nvSpPr>
            <p:cNvPr id="117" name="Rectangle 105"/>
            <p:cNvSpPr>
              <a:spLocks noChangeArrowheads="1"/>
            </p:cNvSpPr>
            <p:nvPr/>
          </p:nvSpPr>
          <p:spPr bwMode="auto">
            <a:xfrm>
              <a:off x="1660525" y="1395413"/>
              <a:ext cx="269626" cy="4616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  <a:effectLst>
              <a:prstShdw prst="shdw17" dist="17961" dir="2700000">
                <a:srgbClr val="999999"/>
              </a:prstShdw>
            </a:effec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543096" y="162379"/>
            <a:ext cx="18161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输出电阻</a:t>
            </a: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5346248" y="671966"/>
            <a:ext cx="1881188" cy="812799"/>
            <a:chOff x="3707" y="694"/>
            <a:chExt cx="1185" cy="512"/>
          </a:xfrm>
        </p:grpSpPr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3996" y="694"/>
              <a:ext cx="896" cy="512"/>
              <a:chOff x="3762" y="680"/>
              <a:chExt cx="896" cy="512"/>
            </a:xfrm>
          </p:grpSpPr>
          <p:grpSp>
            <p:nvGrpSpPr>
              <p:cNvPr id="6" name="Group 5"/>
              <p:cNvGrpSpPr>
                <a:grpSpLocks/>
              </p:cNvGrpSpPr>
              <p:nvPr/>
            </p:nvGrpSpPr>
            <p:grpSpPr bwMode="auto">
              <a:xfrm>
                <a:off x="3762" y="824"/>
                <a:ext cx="896" cy="368"/>
                <a:chOff x="3762" y="824"/>
                <a:chExt cx="896" cy="368"/>
              </a:xfrm>
            </p:grpSpPr>
            <p:sp>
              <p:nvSpPr>
                <p:cNvPr id="8" name="Rectangle 6"/>
                <p:cNvSpPr>
                  <a:spLocks noChangeArrowheads="1"/>
                </p:cNvSpPr>
                <p:nvPr/>
              </p:nvSpPr>
              <p:spPr bwMode="auto">
                <a:xfrm>
                  <a:off x="3762" y="853"/>
                  <a:ext cx="319" cy="291"/>
                </a:xfrm>
                <a:prstGeom prst="rect">
                  <a:avLst/>
                </a:prstGeom>
                <a:noFill/>
                <a:ln w="38100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i="1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U</a:t>
                  </a:r>
                  <a:r>
                    <a:rPr lang="en-US" altLang="zh-CN" sz="1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S</a:t>
                  </a:r>
                </a:p>
              </p:txBody>
            </p:sp>
            <p:sp>
              <p:nvSpPr>
                <p:cNvPr id="9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105" y="853"/>
                  <a:ext cx="553" cy="291"/>
                </a:xfrm>
                <a:prstGeom prst="rect">
                  <a:avLst/>
                </a:prstGeom>
                <a:noFill/>
                <a:ln w="38100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  0 </a:t>
                  </a:r>
                  <a:r>
                    <a:rPr lang="zh-CN" altLang="en-US" sz="240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，</a:t>
                  </a:r>
                </a:p>
              </p:txBody>
            </p:sp>
            <p:sp>
              <p:nvSpPr>
                <p:cNvPr id="10" name="Rectangle 8"/>
                <p:cNvSpPr>
                  <a:spLocks noChangeArrowheads="1"/>
                </p:cNvSpPr>
                <p:nvPr/>
              </p:nvSpPr>
              <p:spPr bwMode="auto">
                <a:xfrm>
                  <a:off x="4046" y="824"/>
                  <a:ext cx="326" cy="368"/>
                </a:xfrm>
                <a:prstGeom prst="rect">
                  <a:avLst/>
                </a:prstGeom>
                <a:noFill/>
                <a:ln w="38100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3200" dirty="0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rPr>
                    <a:t>= </a:t>
                  </a:r>
                </a:p>
              </p:txBody>
            </p:sp>
          </p:grpSp>
          <p:sp>
            <p:nvSpPr>
              <p:cNvPr id="7" name="Rectangle 9"/>
              <p:cNvSpPr>
                <a:spLocks noChangeArrowheads="1"/>
              </p:cNvSpPr>
              <p:nvPr/>
            </p:nvSpPr>
            <p:spPr bwMode="auto">
              <a:xfrm>
                <a:off x="3795" y="680"/>
                <a:ext cx="165" cy="291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.</a:t>
                </a:r>
              </a:p>
            </p:txBody>
          </p:sp>
        </p:grpSp>
        <p:sp>
          <p:nvSpPr>
            <p:cNvPr id="5" name="Text Box 10"/>
            <p:cNvSpPr txBox="1">
              <a:spLocks noChangeArrowheads="1"/>
            </p:cNvSpPr>
            <p:nvPr/>
          </p:nvSpPr>
          <p:spPr bwMode="auto">
            <a:xfrm>
              <a:off x="3707" y="800"/>
              <a:ext cx="340" cy="32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8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当</a:t>
              </a:r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5038499" y="1216025"/>
            <a:ext cx="3556000" cy="750888"/>
            <a:chOff x="3520" y="1119"/>
            <a:chExt cx="2240" cy="473"/>
          </a:xfrm>
        </p:grpSpPr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3520" y="1265"/>
              <a:ext cx="2240" cy="32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8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输出端外加电压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zh-CN" altLang="en-US" sz="28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时</a:t>
              </a: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5191" y="1119"/>
              <a:ext cx="165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.</a:t>
              </a:r>
            </a:p>
          </p:txBody>
        </p:sp>
      </p:grpSp>
      <p:sp>
        <p:nvSpPr>
          <p:cNvPr id="14" name="AutoShape 14"/>
          <p:cNvSpPr>
            <a:spLocks noChangeArrowheads="1"/>
          </p:cNvSpPr>
          <p:nvPr/>
        </p:nvSpPr>
        <p:spPr bwMode="auto">
          <a:xfrm rot="18808098" flipH="1">
            <a:off x="3333242" y="3119130"/>
            <a:ext cx="733425" cy="2083264"/>
          </a:xfrm>
          <a:prstGeom prst="curvedLeftArrow">
            <a:avLst>
              <a:gd name="adj1" fmla="val 44372"/>
              <a:gd name="adj2" fmla="val 88745"/>
              <a:gd name="adj3" fmla="val 28564"/>
            </a:avLst>
          </a:prstGeom>
          <a:solidFill>
            <a:srgbClr val="F0EC34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444088" y="1864832"/>
            <a:ext cx="4172332" cy="3115382"/>
            <a:chOff x="4672688" y="474485"/>
            <a:chExt cx="4172332" cy="3115382"/>
          </a:xfrm>
        </p:grpSpPr>
        <p:sp>
          <p:nvSpPr>
            <p:cNvPr id="17" name="Line 20"/>
            <p:cNvSpPr>
              <a:spLocks noChangeShapeType="1"/>
            </p:cNvSpPr>
            <p:nvPr/>
          </p:nvSpPr>
          <p:spPr bwMode="auto">
            <a:xfrm>
              <a:off x="5761762" y="945444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" name="Rectangle 21"/>
            <p:cNvSpPr>
              <a:spLocks noChangeArrowheads="1"/>
            </p:cNvSpPr>
            <p:nvPr/>
          </p:nvSpPr>
          <p:spPr bwMode="auto">
            <a:xfrm>
              <a:off x="5671275" y="1801107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 flipV="1">
              <a:off x="5181796" y="954263"/>
              <a:ext cx="333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" name="Line 23"/>
            <p:cNvSpPr>
              <a:spLocks noChangeShapeType="1"/>
            </p:cNvSpPr>
            <p:nvPr/>
          </p:nvSpPr>
          <p:spPr bwMode="auto">
            <a:xfrm>
              <a:off x="7140419" y="967670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 flipV="1">
              <a:off x="5193437" y="3410126"/>
              <a:ext cx="333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2" name="Line 25"/>
            <p:cNvSpPr>
              <a:spLocks noChangeShapeType="1"/>
            </p:cNvSpPr>
            <p:nvPr/>
          </p:nvSpPr>
          <p:spPr bwMode="auto">
            <a:xfrm>
              <a:off x="7138831" y="3405364"/>
              <a:ext cx="0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" name="Line 26"/>
            <p:cNvSpPr>
              <a:spLocks noChangeShapeType="1"/>
            </p:cNvSpPr>
            <p:nvPr/>
          </p:nvSpPr>
          <p:spPr bwMode="auto">
            <a:xfrm>
              <a:off x="6965794" y="3589867"/>
              <a:ext cx="33655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" name="Text Box 27"/>
            <p:cNvSpPr txBox="1">
              <a:spLocks noChangeArrowheads="1"/>
            </p:cNvSpPr>
            <p:nvPr/>
          </p:nvSpPr>
          <p:spPr bwMode="auto">
            <a:xfrm>
              <a:off x="6423045" y="930451"/>
              <a:ext cx="757238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" name="Text Box 28"/>
            <p:cNvSpPr txBox="1">
              <a:spLocks noChangeArrowheads="1"/>
            </p:cNvSpPr>
            <p:nvPr/>
          </p:nvSpPr>
          <p:spPr bwMode="auto">
            <a:xfrm>
              <a:off x="6522176" y="1606372"/>
              <a:ext cx="62388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</a:t>
              </a:r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I'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5843431" y="959026"/>
              <a:ext cx="4555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I'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7" name="Oval 31"/>
            <p:cNvSpPr>
              <a:spLocks noChangeArrowheads="1"/>
            </p:cNvSpPr>
            <p:nvPr/>
          </p:nvSpPr>
          <p:spPr bwMode="auto">
            <a:xfrm>
              <a:off x="7095793" y="3370791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8" name="Line 32"/>
            <p:cNvSpPr>
              <a:spLocks noChangeShapeType="1"/>
            </p:cNvSpPr>
            <p:nvPr/>
          </p:nvSpPr>
          <p:spPr bwMode="auto">
            <a:xfrm>
              <a:off x="7850032" y="957086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>
              <a:off x="6919580" y="2006070"/>
              <a:ext cx="438150" cy="622300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" name="Line 35"/>
            <p:cNvSpPr>
              <a:spLocks noChangeShapeType="1"/>
            </p:cNvSpPr>
            <p:nvPr/>
          </p:nvSpPr>
          <p:spPr bwMode="auto">
            <a:xfrm rot="10800000" flipV="1">
              <a:off x="7135656" y="1474611"/>
              <a:ext cx="0" cy="39600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2" name="Rectangle 37"/>
            <p:cNvSpPr>
              <a:spLocks noChangeArrowheads="1"/>
            </p:cNvSpPr>
            <p:nvPr/>
          </p:nvSpPr>
          <p:spPr bwMode="auto">
            <a:xfrm>
              <a:off x="5830025" y="1816981"/>
              <a:ext cx="508473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Line 39"/>
            <p:cNvSpPr>
              <a:spLocks noChangeShapeType="1"/>
            </p:cNvSpPr>
            <p:nvPr/>
          </p:nvSpPr>
          <p:spPr bwMode="auto">
            <a:xfrm rot="5400000">
              <a:off x="6208556" y="722488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" name="Line 40"/>
            <p:cNvSpPr>
              <a:spLocks noChangeShapeType="1"/>
            </p:cNvSpPr>
            <p:nvPr/>
          </p:nvSpPr>
          <p:spPr bwMode="auto">
            <a:xfrm rot="16200000" flipV="1">
              <a:off x="7529883" y="749793"/>
              <a:ext cx="0" cy="39600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" name="Rectangle 41"/>
            <p:cNvSpPr>
              <a:spLocks noChangeArrowheads="1"/>
            </p:cNvSpPr>
            <p:nvPr/>
          </p:nvSpPr>
          <p:spPr bwMode="auto">
            <a:xfrm rot="16200000">
              <a:off x="6702269" y="689151"/>
              <a:ext cx="179388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" name="Rectangle 46"/>
            <p:cNvSpPr>
              <a:spLocks noChangeArrowheads="1"/>
            </p:cNvSpPr>
            <p:nvPr/>
          </p:nvSpPr>
          <p:spPr bwMode="auto">
            <a:xfrm>
              <a:off x="5903756" y="781226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37" name="Group 47"/>
            <p:cNvGrpSpPr>
              <a:grpSpLocks/>
            </p:cNvGrpSpPr>
            <p:nvPr/>
          </p:nvGrpSpPr>
          <p:grpSpPr bwMode="auto">
            <a:xfrm>
              <a:off x="8330669" y="1095469"/>
              <a:ext cx="514351" cy="2116140"/>
              <a:chOff x="4631" y="369"/>
              <a:chExt cx="324" cy="1333"/>
            </a:xfrm>
          </p:grpSpPr>
          <p:sp>
            <p:nvSpPr>
              <p:cNvPr id="65" name="Text Box 48"/>
              <p:cNvSpPr txBox="1">
                <a:spLocks noChangeArrowheads="1"/>
              </p:cNvSpPr>
              <p:nvPr/>
            </p:nvSpPr>
            <p:spPr bwMode="auto">
              <a:xfrm>
                <a:off x="4631" y="990"/>
                <a:ext cx="25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6" name="Text Box 49"/>
              <p:cNvSpPr txBox="1">
                <a:spLocks noChangeArrowheads="1"/>
              </p:cNvSpPr>
              <p:nvPr/>
            </p:nvSpPr>
            <p:spPr bwMode="auto">
              <a:xfrm>
                <a:off x="4662" y="1411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67" name="Text Box 50"/>
              <p:cNvSpPr txBox="1">
                <a:spLocks noChangeArrowheads="1"/>
              </p:cNvSpPr>
              <p:nvPr/>
            </p:nvSpPr>
            <p:spPr bwMode="auto">
              <a:xfrm>
                <a:off x="4647" y="369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68" name="Rectangle 51"/>
              <p:cNvSpPr>
                <a:spLocks noChangeArrowheads="1"/>
              </p:cNvSpPr>
              <p:nvPr/>
            </p:nvSpPr>
            <p:spPr bwMode="auto">
              <a:xfrm>
                <a:off x="4703" y="86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38" name="Rectangle 59"/>
            <p:cNvSpPr>
              <a:spLocks noChangeArrowheads="1"/>
            </p:cNvSpPr>
            <p:nvPr/>
          </p:nvSpPr>
          <p:spPr bwMode="auto">
            <a:xfrm>
              <a:off x="6776705" y="1463675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39" name="组合 257"/>
            <p:cNvGrpSpPr/>
            <p:nvPr/>
          </p:nvGrpSpPr>
          <p:grpSpPr>
            <a:xfrm>
              <a:off x="7293173" y="887059"/>
              <a:ext cx="1006124" cy="628705"/>
              <a:chOff x="8083395" y="796748"/>
              <a:chExt cx="1006124" cy="628705"/>
            </a:xfrm>
          </p:grpSpPr>
          <p:sp>
            <p:nvSpPr>
              <p:cNvPr id="63" name="Text Box 30"/>
              <p:cNvSpPr txBox="1">
                <a:spLocks noChangeArrowheads="1"/>
              </p:cNvSpPr>
              <p:nvPr/>
            </p:nvSpPr>
            <p:spPr bwMode="auto">
              <a:xfrm>
                <a:off x="8083395" y="963788"/>
                <a:ext cx="44435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I'</a:t>
                </a:r>
                <a:r>
                  <a:rPr lang="en-US" altLang="zh-CN" sz="2400" b="1" baseline="-25000" dirty="0" err="1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64" name="Rectangle 60"/>
              <p:cNvSpPr>
                <a:spLocks noChangeArrowheads="1"/>
              </p:cNvSpPr>
              <p:nvPr/>
            </p:nvSpPr>
            <p:spPr bwMode="auto">
              <a:xfrm>
                <a:off x="8129081" y="830085"/>
                <a:ext cx="265113" cy="369888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  <p:sp>
            <p:nvSpPr>
              <p:cNvPr id="72" name="Rectangle 60"/>
              <p:cNvSpPr>
                <a:spLocks noChangeArrowheads="1"/>
              </p:cNvSpPr>
              <p:nvPr/>
            </p:nvSpPr>
            <p:spPr bwMode="auto">
              <a:xfrm>
                <a:off x="8824406" y="796748"/>
                <a:ext cx="265113" cy="369888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  <p:sp>
            <p:nvSpPr>
              <p:cNvPr id="73" name="Text Box 30"/>
              <p:cNvSpPr txBox="1">
                <a:spLocks noChangeArrowheads="1"/>
              </p:cNvSpPr>
              <p:nvPr/>
            </p:nvSpPr>
            <p:spPr bwMode="auto">
              <a:xfrm>
                <a:off x="8778720" y="925688"/>
                <a:ext cx="28725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40" name="Line 64"/>
            <p:cNvSpPr>
              <a:spLocks noChangeShapeType="1"/>
            </p:cNvSpPr>
            <p:nvPr/>
          </p:nvSpPr>
          <p:spPr bwMode="auto">
            <a:xfrm>
              <a:off x="5180562" y="972256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1" name="Rectangle 65"/>
            <p:cNvSpPr>
              <a:spLocks noChangeArrowheads="1"/>
            </p:cNvSpPr>
            <p:nvPr/>
          </p:nvSpPr>
          <p:spPr bwMode="auto">
            <a:xfrm>
              <a:off x="5106126" y="1808768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Rectangle 66"/>
            <p:cNvSpPr>
              <a:spLocks noChangeArrowheads="1"/>
            </p:cNvSpPr>
            <p:nvPr/>
          </p:nvSpPr>
          <p:spPr bwMode="auto">
            <a:xfrm>
              <a:off x="4672688" y="1728058"/>
              <a:ext cx="48603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3" name="Text Box 67"/>
            <p:cNvSpPr txBox="1">
              <a:spLocks noChangeArrowheads="1"/>
            </p:cNvSpPr>
            <p:nvPr/>
          </p:nvSpPr>
          <p:spPr bwMode="auto">
            <a:xfrm>
              <a:off x="5747476" y="490714"/>
              <a:ext cx="320675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44" name="Text Box 68"/>
            <p:cNvSpPr txBox="1">
              <a:spLocks noChangeArrowheads="1"/>
            </p:cNvSpPr>
            <p:nvPr/>
          </p:nvSpPr>
          <p:spPr bwMode="auto">
            <a:xfrm>
              <a:off x="7144124" y="474485"/>
              <a:ext cx="306388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45" name="Text Box 69"/>
            <p:cNvSpPr txBox="1">
              <a:spLocks noChangeArrowheads="1"/>
            </p:cNvSpPr>
            <p:nvPr/>
          </p:nvSpPr>
          <p:spPr bwMode="auto">
            <a:xfrm>
              <a:off x="7199685" y="2920647"/>
              <a:ext cx="3206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7" name="Rectangle 42"/>
            <p:cNvSpPr>
              <a:spLocks noChangeArrowheads="1"/>
            </p:cNvSpPr>
            <p:nvPr/>
          </p:nvSpPr>
          <p:spPr bwMode="auto">
            <a:xfrm>
              <a:off x="7752312" y="1837266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9" name="Rectangle 44"/>
            <p:cNvSpPr>
              <a:spLocks noChangeArrowheads="1"/>
            </p:cNvSpPr>
            <p:nvPr/>
          </p:nvSpPr>
          <p:spPr bwMode="auto">
            <a:xfrm>
              <a:off x="7315750" y="1654175"/>
              <a:ext cx="497252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4" name="Oval 31"/>
            <p:cNvSpPr>
              <a:spLocks noChangeArrowheads="1"/>
            </p:cNvSpPr>
            <p:nvPr/>
          </p:nvSpPr>
          <p:spPr bwMode="auto">
            <a:xfrm>
              <a:off x="5728956" y="908578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5" name="Oval 31"/>
            <p:cNvSpPr>
              <a:spLocks noChangeArrowheads="1"/>
            </p:cNvSpPr>
            <p:nvPr/>
          </p:nvSpPr>
          <p:spPr bwMode="auto">
            <a:xfrm>
              <a:off x="5728955" y="3370791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6" name="Oval 31"/>
            <p:cNvSpPr>
              <a:spLocks noChangeArrowheads="1"/>
            </p:cNvSpPr>
            <p:nvPr/>
          </p:nvSpPr>
          <p:spPr bwMode="auto">
            <a:xfrm>
              <a:off x="7810168" y="33565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7" name="Oval 31"/>
            <p:cNvSpPr>
              <a:spLocks noChangeArrowheads="1"/>
            </p:cNvSpPr>
            <p:nvPr/>
          </p:nvSpPr>
          <p:spPr bwMode="auto">
            <a:xfrm>
              <a:off x="7814931" y="9181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8" name="Oval 31"/>
            <p:cNvSpPr>
              <a:spLocks noChangeArrowheads="1"/>
            </p:cNvSpPr>
            <p:nvPr/>
          </p:nvSpPr>
          <p:spPr bwMode="auto">
            <a:xfrm>
              <a:off x="7105318" y="9181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9" name="Oval 31"/>
            <p:cNvSpPr>
              <a:spLocks noChangeArrowheads="1"/>
            </p:cNvSpPr>
            <p:nvPr/>
          </p:nvSpPr>
          <p:spPr bwMode="auto">
            <a:xfrm>
              <a:off x="8495968" y="337555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Oval 31"/>
            <p:cNvSpPr>
              <a:spLocks noChangeArrowheads="1"/>
            </p:cNvSpPr>
            <p:nvPr/>
          </p:nvSpPr>
          <p:spPr bwMode="auto">
            <a:xfrm>
              <a:off x="8500731" y="908578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Line 40"/>
            <p:cNvSpPr>
              <a:spLocks noChangeShapeType="1"/>
            </p:cNvSpPr>
            <p:nvPr/>
          </p:nvSpPr>
          <p:spPr bwMode="auto">
            <a:xfrm rot="16200000" flipV="1">
              <a:off x="8220446" y="745030"/>
              <a:ext cx="0" cy="39600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152400" y="185056"/>
            <a:ext cx="4480040" cy="3115382"/>
            <a:chOff x="4528493" y="474485"/>
            <a:chExt cx="4480040" cy="3115382"/>
          </a:xfrm>
        </p:grpSpPr>
        <p:sp>
          <p:nvSpPr>
            <p:cNvPr id="75" name="Oval 82"/>
            <p:cNvSpPr>
              <a:spLocks noChangeArrowheads="1"/>
            </p:cNvSpPr>
            <p:nvPr/>
          </p:nvSpPr>
          <p:spPr bwMode="auto">
            <a:xfrm>
              <a:off x="4998352" y="2485659"/>
              <a:ext cx="396000" cy="360000"/>
            </a:xfrm>
            <a:prstGeom prst="ellipse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2700000" scaled="1"/>
            </a:gra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Line 20"/>
            <p:cNvSpPr>
              <a:spLocks noChangeShapeType="1"/>
            </p:cNvSpPr>
            <p:nvPr/>
          </p:nvSpPr>
          <p:spPr bwMode="auto">
            <a:xfrm>
              <a:off x="5761762" y="945444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Rectangle 21"/>
            <p:cNvSpPr>
              <a:spLocks noChangeArrowheads="1"/>
            </p:cNvSpPr>
            <p:nvPr/>
          </p:nvSpPr>
          <p:spPr bwMode="auto">
            <a:xfrm>
              <a:off x="5671275" y="1801107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8" name="Line 22"/>
            <p:cNvSpPr>
              <a:spLocks noChangeShapeType="1"/>
            </p:cNvSpPr>
            <p:nvPr/>
          </p:nvSpPr>
          <p:spPr bwMode="auto">
            <a:xfrm flipV="1">
              <a:off x="5181796" y="954263"/>
              <a:ext cx="333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Line 23"/>
            <p:cNvSpPr>
              <a:spLocks noChangeShapeType="1"/>
            </p:cNvSpPr>
            <p:nvPr/>
          </p:nvSpPr>
          <p:spPr bwMode="auto">
            <a:xfrm>
              <a:off x="7140419" y="967670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0" name="Line 24"/>
            <p:cNvSpPr>
              <a:spLocks noChangeShapeType="1"/>
            </p:cNvSpPr>
            <p:nvPr/>
          </p:nvSpPr>
          <p:spPr bwMode="auto">
            <a:xfrm flipV="1">
              <a:off x="5193437" y="3410126"/>
              <a:ext cx="333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Line 25"/>
            <p:cNvSpPr>
              <a:spLocks noChangeShapeType="1"/>
            </p:cNvSpPr>
            <p:nvPr/>
          </p:nvSpPr>
          <p:spPr bwMode="auto">
            <a:xfrm>
              <a:off x="7138831" y="3405364"/>
              <a:ext cx="0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2" name="Line 26"/>
            <p:cNvSpPr>
              <a:spLocks noChangeShapeType="1"/>
            </p:cNvSpPr>
            <p:nvPr/>
          </p:nvSpPr>
          <p:spPr bwMode="auto">
            <a:xfrm>
              <a:off x="6965794" y="3589867"/>
              <a:ext cx="33655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3" name="Text Box 27"/>
            <p:cNvSpPr txBox="1">
              <a:spLocks noChangeArrowheads="1"/>
            </p:cNvSpPr>
            <p:nvPr/>
          </p:nvSpPr>
          <p:spPr bwMode="auto">
            <a:xfrm>
              <a:off x="6423045" y="930451"/>
              <a:ext cx="757238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4" name="Text Box 28"/>
            <p:cNvSpPr txBox="1">
              <a:spLocks noChangeArrowheads="1"/>
            </p:cNvSpPr>
            <p:nvPr/>
          </p:nvSpPr>
          <p:spPr bwMode="auto">
            <a:xfrm>
              <a:off x="6522176" y="1606372"/>
              <a:ext cx="5588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</a:t>
              </a:r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5" name="Text Box 29"/>
            <p:cNvSpPr txBox="1">
              <a:spLocks noChangeArrowheads="1"/>
            </p:cNvSpPr>
            <p:nvPr/>
          </p:nvSpPr>
          <p:spPr bwMode="auto">
            <a:xfrm>
              <a:off x="5843431" y="959026"/>
              <a:ext cx="390525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6" name="Oval 31"/>
            <p:cNvSpPr>
              <a:spLocks noChangeArrowheads="1"/>
            </p:cNvSpPr>
            <p:nvPr/>
          </p:nvSpPr>
          <p:spPr bwMode="auto">
            <a:xfrm>
              <a:off x="7095793" y="3370791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7" name="Line 32"/>
            <p:cNvSpPr>
              <a:spLocks noChangeShapeType="1"/>
            </p:cNvSpPr>
            <p:nvPr/>
          </p:nvSpPr>
          <p:spPr bwMode="auto">
            <a:xfrm>
              <a:off x="7850032" y="957086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AutoShape 33"/>
            <p:cNvSpPr>
              <a:spLocks noChangeArrowheads="1"/>
            </p:cNvSpPr>
            <p:nvPr/>
          </p:nvSpPr>
          <p:spPr bwMode="auto">
            <a:xfrm>
              <a:off x="6919580" y="2006070"/>
              <a:ext cx="438150" cy="622300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9" name="Line 34"/>
            <p:cNvSpPr>
              <a:spLocks noChangeShapeType="1"/>
            </p:cNvSpPr>
            <p:nvPr/>
          </p:nvSpPr>
          <p:spPr bwMode="auto">
            <a:xfrm>
              <a:off x="8514665" y="954968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0" name="Line 35"/>
            <p:cNvSpPr>
              <a:spLocks noChangeShapeType="1"/>
            </p:cNvSpPr>
            <p:nvPr/>
          </p:nvSpPr>
          <p:spPr bwMode="auto">
            <a:xfrm flipV="1">
              <a:off x="7135656" y="1474611"/>
              <a:ext cx="0" cy="39600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Rectangle 37"/>
            <p:cNvSpPr>
              <a:spLocks noChangeArrowheads="1"/>
            </p:cNvSpPr>
            <p:nvPr/>
          </p:nvSpPr>
          <p:spPr bwMode="auto">
            <a:xfrm>
              <a:off x="5830025" y="1816981"/>
              <a:ext cx="508473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Line 39"/>
            <p:cNvSpPr>
              <a:spLocks noChangeShapeType="1"/>
            </p:cNvSpPr>
            <p:nvPr/>
          </p:nvSpPr>
          <p:spPr bwMode="auto">
            <a:xfrm rot="16200000">
              <a:off x="6208556" y="722488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3" name="Line 40"/>
            <p:cNvSpPr>
              <a:spLocks noChangeShapeType="1"/>
            </p:cNvSpPr>
            <p:nvPr/>
          </p:nvSpPr>
          <p:spPr bwMode="auto">
            <a:xfrm rot="5400000" flipV="1">
              <a:off x="7529883" y="749793"/>
              <a:ext cx="0" cy="39600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4" name="Rectangle 41"/>
            <p:cNvSpPr>
              <a:spLocks noChangeArrowheads="1"/>
            </p:cNvSpPr>
            <p:nvPr/>
          </p:nvSpPr>
          <p:spPr bwMode="auto">
            <a:xfrm rot="16200000">
              <a:off x="6702269" y="689151"/>
              <a:ext cx="179388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5" name="Rectangle 46"/>
            <p:cNvSpPr>
              <a:spLocks noChangeArrowheads="1"/>
            </p:cNvSpPr>
            <p:nvPr/>
          </p:nvSpPr>
          <p:spPr bwMode="auto">
            <a:xfrm>
              <a:off x="5903756" y="781226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96" name="Group 47"/>
            <p:cNvGrpSpPr>
              <a:grpSpLocks/>
            </p:cNvGrpSpPr>
            <p:nvPr/>
          </p:nvGrpSpPr>
          <p:grpSpPr bwMode="auto">
            <a:xfrm>
              <a:off x="8494182" y="1476470"/>
              <a:ext cx="514351" cy="1158876"/>
              <a:chOff x="4734" y="609"/>
              <a:chExt cx="324" cy="730"/>
            </a:xfrm>
          </p:grpSpPr>
          <p:sp>
            <p:nvSpPr>
              <p:cNvPr id="124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5" name="Text Box 49"/>
              <p:cNvSpPr txBox="1">
                <a:spLocks noChangeArrowheads="1"/>
              </p:cNvSpPr>
              <p:nvPr/>
            </p:nvSpPr>
            <p:spPr bwMode="auto">
              <a:xfrm>
                <a:off x="4758" y="1048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26" name="Text Box 50"/>
              <p:cNvSpPr txBox="1">
                <a:spLocks noChangeArrowheads="1"/>
              </p:cNvSpPr>
              <p:nvPr/>
            </p:nvSpPr>
            <p:spPr bwMode="auto">
              <a:xfrm>
                <a:off x="4750" y="609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27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97" name="Rectangle 59"/>
            <p:cNvSpPr>
              <a:spLocks noChangeArrowheads="1"/>
            </p:cNvSpPr>
            <p:nvPr/>
          </p:nvSpPr>
          <p:spPr bwMode="auto">
            <a:xfrm>
              <a:off x="6776705" y="1463675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98" name="组合 257"/>
            <p:cNvGrpSpPr/>
            <p:nvPr/>
          </p:nvGrpSpPr>
          <p:grpSpPr>
            <a:xfrm>
              <a:off x="7293173" y="920396"/>
              <a:ext cx="393700" cy="590903"/>
              <a:chOff x="8083395" y="830085"/>
              <a:chExt cx="393700" cy="590903"/>
            </a:xfrm>
          </p:grpSpPr>
          <p:sp>
            <p:nvSpPr>
              <p:cNvPr id="122" name="Text Box 30"/>
              <p:cNvSpPr txBox="1">
                <a:spLocks noChangeArrowheads="1"/>
              </p:cNvSpPr>
              <p:nvPr/>
            </p:nvSpPr>
            <p:spPr bwMode="auto">
              <a:xfrm>
                <a:off x="8083395" y="963788"/>
                <a:ext cx="393700" cy="457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lang="en-US" altLang="zh-CN" sz="2400" b="1" baseline="-25000" dirty="0" err="1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3" name="Rectangle 60"/>
              <p:cNvSpPr>
                <a:spLocks noChangeArrowheads="1"/>
              </p:cNvSpPr>
              <p:nvPr/>
            </p:nvSpPr>
            <p:spPr bwMode="auto">
              <a:xfrm>
                <a:off x="8129081" y="830085"/>
                <a:ext cx="265113" cy="369888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99" name="Line 64"/>
            <p:cNvSpPr>
              <a:spLocks noChangeShapeType="1"/>
            </p:cNvSpPr>
            <p:nvPr/>
          </p:nvSpPr>
          <p:spPr bwMode="auto">
            <a:xfrm>
              <a:off x="5180562" y="972256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0" name="Rectangle 65"/>
            <p:cNvSpPr>
              <a:spLocks noChangeArrowheads="1"/>
            </p:cNvSpPr>
            <p:nvPr/>
          </p:nvSpPr>
          <p:spPr bwMode="auto">
            <a:xfrm>
              <a:off x="5106126" y="1405997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1" name="Rectangle 66"/>
            <p:cNvSpPr>
              <a:spLocks noChangeArrowheads="1"/>
            </p:cNvSpPr>
            <p:nvPr/>
          </p:nvSpPr>
          <p:spPr bwMode="auto">
            <a:xfrm>
              <a:off x="4661802" y="1455915"/>
              <a:ext cx="48603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2" name="Text Box 67"/>
            <p:cNvSpPr txBox="1">
              <a:spLocks noChangeArrowheads="1"/>
            </p:cNvSpPr>
            <p:nvPr/>
          </p:nvSpPr>
          <p:spPr bwMode="auto">
            <a:xfrm>
              <a:off x="5747476" y="490714"/>
              <a:ext cx="320675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03" name="Text Box 68"/>
            <p:cNvSpPr txBox="1">
              <a:spLocks noChangeArrowheads="1"/>
            </p:cNvSpPr>
            <p:nvPr/>
          </p:nvSpPr>
          <p:spPr bwMode="auto">
            <a:xfrm>
              <a:off x="7144124" y="474485"/>
              <a:ext cx="306388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04" name="Text Box 69"/>
            <p:cNvSpPr txBox="1">
              <a:spLocks noChangeArrowheads="1"/>
            </p:cNvSpPr>
            <p:nvPr/>
          </p:nvSpPr>
          <p:spPr bwMode="auto">
            <a:xfrm>
              <a:off x="7199685" y="2920647"/>
              <a:ext cx="3206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05" name="Rectangle 45"/>
            <p:cNvSpPr>
              <a:spLocks noChangeArrowheads="1"/>
            </p:cNvSpPr>
            <p:nvPr/>
          </p:nvSpPr>
          <p:spPr bwMode="auto">
            <a:xfrm>
              <a:off x="8431057" y="1803223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6" name="Rectangle 42"/>
            <p:cNvSpPr>
              <a:spLocks noChangeArrowheads="1"/>
            </p:cNvSpPr>
            <p:nvPr/>
          </p:nvSpPr>
          <p:spPr bwMode="auto">
            <a:xfrm>
              <a:off x="7752312" y="1837266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7" name="Rectangle 44"/>
            <p:cNvSpPr>
              <a:spLocks noChangeArrowheads="1"/>
            </p:cNvSpPr>
            <p:nvPr/>
          </p:nvSpPr>
          <p:spPr bwMode="auto">
            <a:xfrm>
              <a:off x="7959217" y="1846085"/>
              <a:ext cx="4857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108" name="Rectangle 44"/>
            <p:cNvSpPr>
              <a:spLocks noChangeArrowheads="1"/>
            </p:cNvSpPr>
            <p:nvPr/>
          </p:nvSpPr>
          <p:spPr bwMode="auto">
            <a:xfrm>
              <a:off x="7315750" y="1654175"/>
              <a:ext cx="497252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109" name="Group 47"/>
            <p:cNvGrpSpPr>
              <a:grpSpLocks/>
            </p:cNvGrpSpPr>
            <p:nvPr/>
          </p:nvGrpSpPr>
          <p:grpSpPr bwMode="auto">
            <a:xfrm>
              <a:off x="4528491" y="2029456"/>
              <a:ext cx="615954" cy="1136652"/>
              <a:chOff x="4734" y="616"/>
              <a:chExt cx="388" cy="716"/>
            </a:xfrm>
          </p:grpSpPr>
          <p:sp>
            <p:nvSpPr>
              <p:cNvPr id="118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9" name="Text Box 49"/>
              <p:cNvSpPr txBox="1">
                <a:spLocks noChangeArrowheads="1"/>
              </p:cNvSpPr>
              <p:nvPr/>
            </p:nvSpPr>
            <p:spPr bwMode="auto">
              <a:xfrm>
                <a:off x="4886" y="1041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20" name="Text Box 50"/>
              <p:cNvSpPr txBox="1">
                <a:spLocks noChangeArrowheads="1"/>
              </p:cNvSpPr>
              <p:nvPr/>
            </p:nvSpPr>
            <p:spPr bwMode="auto">
              <a:xfrm>
                <a:off x="4814" y="616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21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110" name="Line 39"/>
            <p:cNvSpPr>
              <a:spLocks noChangeShapeType="1"/>
            </p:cNvSpPr>
            <p:nvPr/>
          </p:nvSpPr>
          <p:spPr bwMode="auto">
            <a:xfrm rot="16200000">
              <a:off x="5500885" y="719489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1" name="Text Box 29"/>
            <p:cNvSpPr txBox="1">
              <a:spLocks noChangeArrowheads="1"/>
            </p:cNvSpPr>
            <p:nvPr/>
          </p:nvSpPr>
          <p:spPr bwMode="auto">
            <a:xfrm>
              <a:off x="5256408" y="1083204"/>
              <a:ext cx="34496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5328023" y="916693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113" name="Oval 31"/>
            <p:cNvSpPr>
              <a:spLocks noChangeArrowheads="1"/>
            </p:cNvSpPr>
            <p:nvPr/>
          </p:nvSpPr>
          <p:spPr bwMode="auto">
            <a:xfrm>
              <a:off x="5728956" y="908578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4" name="Oval 31"/>
            <p:cNvSpPr>
              <a:spLocks noChangeArrowheads="1"/>
            </p:cNvSpPr>
            <p:nvPr/>
          </p:nvSpPr>
          <p:spPr bwMode="auto">
            <a:xfrm>
              <a:off x="5728955" y="3370791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5" name="Oval 31"/>
            <p:cNvSpPr>
              <a:spLocks noChangeArrowheads="1"/>
            </p:cNvSpPr>
            <p:nvPr/>
          </p:nvSpPr>
          <p:spPr bwMode="auto">
            <a:xfrm>
              <a:off x="7810168" y="33565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6" name="Oval 31"/>
            <p:cNvSpPr>
              <a:spLocks noChangeArrowheads="1"/>
            </p:cNvSpPr>
            <p:nvPr/>
          </p:nvSpPr>
          <p:spPr bwMode="auto">
            <a:xfrm>
              <a:off x="7814931" y="9181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7" name="Oval 31"/>
            <p:cNvSpPr>
              <a:spLocks noChangeArrowheads="1"/>
            </p:cNvSpPr>
            <p:nvPr/>
          </p:nvSpPr>
          <p:spPr bwMode="auto">
            <a:xfrm>
              <a:off x="7105318" y="9181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87375" y="215220"/>
            <a:ext cx="18161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输出电阻</a:t>
            </a:r>
          </a:p>
        </p:txBody>
      </p:sp>
      <p:sp>
        <p:nvSpPr>
          <p:cNvPr id="61" name="Text Box 61"/>
          <p:cNvSpPr txBox="1">
            <a:spLocks noChangeArrowheads="1"/>
          </p:cNvSpPr>
          <p:nvPr/>
        </p:nvSpPr>
        <p:spPr bwMode="auto">
          <a:xfrm>
            <a:off x="4314825" y="427716"/>
            <a:ext cx="29241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计算</a:t>
            </a:r>
            <a:r>
              <a:rPr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O</a:t>
            </a:r>
            <a:r>
              <a: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的等效电路</a:t>
            </a:r>
          </a:p>
        </p:txBody>
      </p:sp>
      <p:grpSp>
        <p:nvGrpSpPr>
          <p:cNvPr id="111" name="组合 110"/>
          <p:cNvGrpSpPr/>
          <p:nvPr/>
        </p:nvGrpSpPr>
        <p:grpSpPr>
          <a:xfrm>
            <a:off x="4433203" y="787145"/>
            <a:ext cx="4172332" cy="3115382"/>
            <a:chOff x="4672688" y="474485"/>
            <a:chExt cx="4172332" cy="3115382"/>
          </a:xfrm>
        </p:grpSpPr>
        <p:sp>
          <p:nvSpPr>
            <p:cNvPr id="112" name="Line 20"/>
            <p:cNvSpPr>
              <a:spLocks noChangeShapeType="1"/>
            </p:cNvSpPr>
            <p:nvPr/>
          </p:nvSpPr>
          <p:spPr bwMode="auto">
            <a:xfrm>
              <a:off x="5761762" y="945444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3" name="Rectangle 21"/>
            <p:cNvSpPr>
              <a:spLocks noChangeArrowheads="1"/>
            </p:cNvSpPr>
            <p:nvPr/>
          </p:nvSpPr>
          <p:spPr bwMode="auto">
            <a:xfrm>
              <a:off x="5671275" y="1801107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4" name="Line 22"/>
            <p:cNvSpPr>
              <a:spLocks noChangeShapeType="1"/>
            </p:cNvSpPr>
            <p:nvPr/>
          </p:nvSpPr>
          <p:spPr bwMode="auto">
            <a:xfrm flipV="1">
              <a:off x="5181796" y="954263"/>
              <a:ext cx="333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5" name="Line 23"/>
            <p:cNvSpPr>
              <a:spLocks noChangeShapeType="1"/>
            </p:cNvSpPr>
            <p:nvPr/>
          </p:nvSpPr>
          <p:spPr bwMode="auto">
            <a:xfrm>
              <a:off x="7140419" y="967670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6" name="Line 24"/>
            <p:cNvSpPr>
              <a:spLocks noChangeShapeType="1"/>
            </p:cNvSpPr>
            <p:nvPr/>
          </p:nvSpPr>
          <p:spPr bwMode="auto">
            <a:xfrm flipV="1">
              <a:off x="5193437" y="3410126"/>
              <a:ext cx="333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7" name="Line 25"/>
            <p:cNvSpPr>
              <a:spLocks noChangeShapeType="1"/>
            </p:cNvSpPr>
            <p:nvPr/>
          </p:nvSpPr>
          <p:spPr bwMode="auto">
            <a:xfrm>
              <a:off x="7138831" y="3405364"/>
              <a:ext cx="0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8" name="Line 26"/>
            <p:cNvSpPr>
              <a:spLocks noChangeShapeType="1"/>
            </p:cNvSpPr>
            <p:nvPr/>
          </p:nvSpPr>
          <p:spPr bwMode="auto">
            <a:xfrm>
              <a:off x="6965794" y="3589867"/>
              <a:ext cx="33655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9" name="Text Box 27"/>
            <p:cNvSpPr txBox="1">
              <a:spLocks noChangeArrowheads="1"/>
            </p:cNvSpPr>
            <p:nvPr/>
          </p:nvSpPr>
          <p:spPr bwMode="auto">
            <a:xfrm>
              <a:off x="6423045" y="930451"/>
              <a:ext cx="757238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0" name="Text Box 28"/>
            <p:cNvSpPr txBox="1">
              <a:spLocks noChangeArrowheads="1"/>
            </p:cNvSpPr>
            <p:nvPr/>
          </p:nvSpPr>
          <p:spPr bwMode="auto">
            <a:xfrm>
              <a:off x="6522176" y="1606372"/>
              <a:ext cx="62388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</a:t>
              </a:r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I'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1" name="Text Box 29"/>
            <p:cNvSpPr txBox="1">
              <a:spLocks noChangeArrowheads="1"/>
            </p:cNvSpPr>
            <p:nvPr/>
          </p:nvSpPr>
          <p:spPr bwMode="auto">
            <a:xfrm>
              <a:off x="5843431" y="959026"/>
              <a:ext cx="4555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I'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2" name="Oval 31"/>
            <p:cNvSpPr>
              <a:spLocks noChangeArrowheads="1"/>
            </p:cNvSpPr>
            <p:nvPr/>
          </p:nvSpPr>
          <p:spPr bwMode="auto">
            <a:xfrm>
              <a:off x="7095793" y="3370791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3" name="Line 32"/>
            <p:cNvSpPr>
              <a:spLocks noChangeShapeType="1"/>
            </p:cNvSpPr>
            <p:nvPr/>
          </p:nvSpPr>
          <p:spPr bwMode="auto">
            <a:xfrm>
              <a:off x="7850032" y="957086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4" name="AutoShape 33"/>
            <p:cNvSpPr>
              <a:spLocks noChangeArrowheads="1"/>
            </p:cNvSpPr>
            <p:nvPr/>
          </p:nvSpPr>
          <p:spPr bwMode="auto">
            <a:xfrm>
              <a:off x="6919580" y="2006070"/>
              <a:ext cx="438150" cy="622300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5" name="Line 35"/>
            <p:cNvSpPr>
              <a:spLocks noChangeShapeType="1"/>
            </p:cNvSpPr>
            <p:nvPr/>
          </p:nvSpPr>
          <p:spPr bwMode="auto">
            <a:xfrm rot="10800000" flipV="1">
              <a:off x="7135656" y="1474611"/>
              <a:ext cx="0" cy="39600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6" name="Rectangle 37"/>
            <p:cNvSpPr>
              <a:spLocks noChangeArrowheads="1"/>
            </p:cNvSpPr>
            <p:nvPr/>
          </p:nvSpPr>
          <p:spPr bwMode="auto">
            <a:xfrm>
              <a:off x="5830025" y="1816981"/>
              <a:ext cx="508473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7" name="Line 39"/>
            <p:cNvSpPr>
              <a:spLocks noChangeShapeType="1"/>
            </p:cNvSpPr>
            <p:nvPr/>
          </p:nvSpPr>
          <p:spPr bwMode="auto">
            <a:xfrm rot="5400000">
              <a:off x="6208556" y="722488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8" name="Line 40"/>
            <p:cNvSpPr>
              <a:spLocks noChangeShapeType="1"/>
            </p:cNvSpPr>
            <p:nvPr/>
          </p:nvSpPr>
          <p:spPr bwMode="auto">
            <a:xfrm rot="16200000" flipV="1">
              <a:off x="7529883" y="749793"/>
              <a:ext cx="0" cy="39600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9" name="Rectangle 41"/>
            <p:cNvSpPr>
              <a:spLocks noChangeArrowheads="1"/>
            </p:cNvSpPr>
            <p:nvPr/>
          </p:nvSpPr>
          <p:spPr bwMode="auto">
            <a:xfrm rot="16200000">
              <a:off x="6702269" y="689151"/>
              <a:ext cx="179388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0" name="Rectangle 46"/>
            <p:cNvSpPr>
              <a:spLocks noChangeArrowheads="1"/>
            </p:cNvSpPr>
            <p:nvPr/>
          </p:nvSpPr>
          <p:spPr bwMode="auto">
            <a:xfrm>
              <a:off x="5903756" y="781226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131" name="Group 47"/>
            <p:cNvGrpSpPr>
              <a:grpSpLocks/>
            </p:cNvGrpSpPr>
            <p:nvPr/>
          </p:nvGrpSpPr>
          <p:grpSpPr bwMode="auto">
            <a:xfrm>
              <a:off x="8330669" y="1095471"/>
              <a:ext cx="514351" cy="2116139"/>
              <a:chOff x="4631" y="369"/>
              <a:chExt cx="324" cy="1333"/>
            </a:xfrm>
          </p:grpSpPr>
          <p:sp>
            <p:nvSpPr>
              <p:cNvPr id="154" name="Text Box 48"/>
              <p:cNvSpPr txBox="1">
                <a:spLocks noChangeArrowheads="1"/>
              </p:cNvSpPr>
              <p:nvPr/>
            </p:nvSpPr>
            <p:spPr bwMode="auto">
              <a:xfrm>
                <a:off x="4631" y="990"/>
                <a:ext cx="25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5" name="Text Box 49"/>
              <p:cNvSpPr txBox="1">
                <a:spLocks noChangeArrowheads="1"/>
              </p:cNvSpPr>
              <p:nvPr/>
            </p:nvSpPr>
            <p:spPr bwMode="auto">
              <a:xfrm>
                <a:off x="4662" y="1411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56" name="Text Box 50"/>
              <p:cNvSpPr txBox="1">
                <a:spLocks noChangeArrowheads="1"/>
              </p:cNvSpPr>
              <p:nvPr/>
            </p:nvSpPr>
            <p:spPr bwMode="auto">
              <a:xfrm>
                <a:off x="4647" y="369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57" name="Rectangle 51"/>
              <p:cNvSpPr>
                <a:spLocks noChangeArrowheads="1"/>
              </p:cNvSpPr>
              <p:nvPr/>
            </p:nvSpPr>
            <p:spPr bwMode="auto">
              <a:xfrm>
                <a:off x="4703" y="86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132" name="Rectangle 59"/>
            <p:cNvSpPr>
              <a:spLocks noChangeArrowheads="1"/>
            </p:cNvSpPr>
            <p:nvPr/>
          </p:nvSpPr>
          <p:spPr bwMode="auto">
            <a:xfrm>
              <a:off x="6776705" y="1463675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133" name="组合 257"/>
            <p:cNvGrpSpPr/>
            <p:nvPr/>
          </p:nvGrpSpPr>
          <p:grpSpPr>
            <a:xfrm>
              <a:off x="7293173" y="887059"/>
              <a:ext cx="1006124" cy="628705"/>
              <a:chOff x="8083395" y="796748"/>
              <a:chExt cx="1006124" cy="628705"/>
            </a:xfrm>
          </p:grpSpPr>
          <p:sp>
            <p:nvSpPr>
              <p:cNvPr id="150" name="Text Box 30"/>
              <p:cNvSpPr txBox="1">
                <a:spLocks noChangeArrowheads="1"/>
              </p:cNvSpPr>
              <p:nvPr/>
            </p:nvSpPr>
            <p:spPr bwMode="auto">
              <a:xfrm>
                <a:off x="8083395" y="963788"/>
                <a:ext cx="44435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I'</a:t>
                </a:r>
                <a:r>
                  <a:rPr lang="en-US" altLang="zh-CN" sz="2400" b="1" baseline="-25000" dirty="0" err="1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1" name="Rectangle 60"/>
              <p:cNvSpPr>
                <a:spLocks noChangeArrowheads="1"/>
              </p:cNvSpPr>
              <p:nvPr/>
            </p:nvSpPr>
            <p:spPr bwMode="auto">
              <a:xfrm>
                <a:off x="8129081" y="830085"/>
                <a:ext cx="265113" cy="369888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  <p:sp>
            <p:nvSpPr>
              <p:cNvPr id="152" name="Rectangle 60"/>
              <p:cNvSpPr>
                <a:spLocks noChangeArrowheads="1"/>
              </p:cNvSpPr>
              <p:nvPr/>
            </p:nvSpPr>
            <p:spPr bwMode="auto">
              <a:xfrm>
                <a:off x="8824406" y="796748"/>
                <a:ext cx="265113" cy="369888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  <p:sp>
            <p:nvSpPr>
              <p:cNvPr id="153" name="Text Box 30"/>
              <p:cNvSpPr txBox="1">
                <a:spLocks noChangeArrowheads="1"/>
              </p:cNvSpPr>
              <p:nvPr/>
            </p:nvSpPr>
            <p:spPr bwMode="auto">
              <a:xfrm>
                <a:off x="8778720" y="925688"/>
                <a:ext cx="28725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34" name="Line 64"/>
            <p:cNvSpPr>
              <a:spLocks noChangeShapeType="1"/>
            </p:cNvSpPr>
            <p:nvPr/>
          </p:nvSpPr>
          <p:spPr bwMode="auto">
            <a:xfrm>
              <a:off x="5180562" y="972256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5" name="Rectangle 65"/>
            <p:cNvSpPr>
              <a:spLocks noChangeArrowheads="1"/>
            </p:cNvSpPr>
            <p:nvPr/>
          </p:nvSpPr>
          <p:spPr bwMode="auto">
            <a:xfrm>
              <a:off x="5106126" y="1808768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6" name="Rectangle 66"/>
            <p:cNvSpPr>
              <a:spLocks noChangeArrowheads="1"/>
            </p:cNvSpPr>
            <p:nvPr/>
          </p:nvSpPr>
          <p:spPr bwMode="auto">
            <a:xfrm>
              <a:off x="4672688" y="1728058"/>
              <a:ext cx="48603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7" name="Text Box 67"/>
            <p:cNvSpPr txBox="1">
              <a:spLocks noChangeArrowheads="1"/>
            </p:cNvSpPr>
            <p:nvPr/>
          </p:nvSpPr>
          <p:spPr bwMode="auto">
            <a:xfrm>
              <a:off x="5747476" y="490714"/>
              <a:ext cx="320675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38" name="Text Box 68"/>
            <p:cNvSpPr txBox="1">
              <a:spLocks noChangeArrowheads="1"/>
            </p:cNvSpPr>
            <p:nvPr/>
          </p:nvSpPr>
          <p:spPr bwMode="auto">
            <a:xfrm>
              <a:off x="7144124" y="474485"/>
              <a:ext cx="306388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39" name="Text Box 69"/>
            <p:cNvSpPr txBox="1">
              <a:spLocks noChangeArrowheads="1"/>
            </p:cNvSpPr>
            <p:nvPr/>
          </p:nvSpPr>
          <p:spPr bwMode="auto">
            <a:xfrm>
              <a:off x="7199685" y="2920647"/>
              <a:ext cx="3206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40" name="Rectangle 42"/>
            <p:cNvSpPr>
              <a:spLocks noChangeArrowheads="1"/>
            </p:cNvSpPr>
            <p:nvPr/>
          </p:nvSpPr>
          <p:spPr bwMode="auto">
            <a:xfrm>
              <a:off x="7752312" y="1837266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1" name="Rectangle 44"/>
            <p:cNvSpPr>
              <a:spLocks noChangeArrowheads="1"/>
            </p:cNvSpPr>
            <p:nvPr/>
          </p:nvSpPr>
          <p:spPr bwMode="auto">
            <a:xfrm>
              <a:off x="7315750" y="1654175"/>
              <a:ext cx="497252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2" name="Oval 31"/>
            <p:cNvSpPr>
              <a:spLocks noChangeArrowheads="1"/>
            </p:cNvSpPr>
            <p:nvPr/>
          </p:nvSpPr>
          <p:spPr bwMode="auto">
            <a:xfrm>
              <a:off x="5728956" y="908578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3" name="Oval 31"/>
            <p:cNvSpPr>
              <a:spLocks noChangeArrowheads="1"/>
            </p:cNvSpPr>
            <p:nvPr/>
          </p:nvSpPr>
          <p:spPr bwMode="auto">
            <a:xfrm>
              <a:off x="5728955" y="3370791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4" name="Oval 31"/>
            <p:cNvSpPr>
              <a:spLocks noChangeArrowheads="1"/>
            </p:cNvSpPr>
            <p:nvPr/>
          </p:nvSpPr>
          <p:spPr bwMode="auto">
            <a:xfrm>
              <a:off x="7810168" y="33565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5" name="Oval 31"/>
            <p:cNvSpPr>
              <a:spLocks noChangeArrowheads="1"/>
            </p:cNvSpPr>
            <p:nvPr/>
          </p:nvSpPr>
          <p:spPr bwMode="auto">
            <a:xfrm>
              <a:off x="7814931" y="9181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6" name="Oval 31"/>
            <p:cNvSpPr>
              <a:spLocks noChangeArrowheads="1"/>
            </p:cNvSpPr>
            <p:nvPr/>
          </p:nvSpPr>
          <p:spPr bwMode="auto">
            <a:xfrm>
              <a:off x="7105318" y="9181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7" name="Oval 31"/>
            <p:cNvSpPr>
              <a:spLocks noChangeArrowheads="1"/>
            </p:cNvSpPr>
            <p:nvPr/>
          </p:nvSpPr>
          <p:spPr bwMode="auto">
            <a:xfrm>
              <a:off x="8495968" y="337555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8" name="Oval 31"/>
            <p:cNvSpPr>
              <a:spLocks noChangeArrowheads="1"/>
            </p:cNvSpPr>
            <p:nvPr/>
          </p:nvSpPr>
          <p:spPr bwMode="auto">
            <a:xfrm>
              <a:off x="8500731" y="908578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9" name="Line 40"/>
            <p:cNvSpPr>
              <a:spLocks noChangeShapeType="1"/>
            </p:cNvSpPr>
            <p:nvPr/>
          </p:nvSpPr>
          <p:spPr bwMode="auto">
            <a:xfrm rot="16200000" flipV="1">
              <a:off x="8220446" y="745030"/>
              <a:ext cx="0" cy="39600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158" name="对象 157"/>
          <p:cNvGraphicFramePr>
            <a:graphicFrameLocks noChangeAspect="1"/>
          </p:cNvGraphicFramePr>
          <p:nvPr/>
        </p:nvGraphicFramePr>
        <p:xfrm>
          <a:off x="918027" y="849086"/>
          <a:ext cx="2140858" cy="1675454"/>
        </p:xfrm>
        <a:graphic>
          <a:graphicData uri="http://schemas.openxmlformats.org/presentationml/2006/ole">
            <p:oleObj spid="_x0000_s38915" name="Equation" r:id="rId3" imgW="1168200" imgH="914400" progId="Equation.DSMT4">
              <p:embed/>
            </p:oleObj>
          </a:graphicData>
        </a:graphic>
      </p:graphicFrame>
      <p:graphicFrame>
        <p:nvGraphicFramePr>
          <p:cNvPr id="159" name="对象 158"/>
          <p:cNvGraphicFramePr>
            <a:graphicFrameLocks noChangeAspect="1"/>
          </p:cNvGraphicFramePr>
          <p:nvPr/>
        </p:nvGraphicFramePr>
        <p:xfrm>
          <a:off x="861786" y="2693081"/>
          <a:ext cx="2233613" cy="838200"/>
        </p:xfrm>
        <a:graphic>
          <a:graphicData uri="http://schemas.openxmlformats.org/presentationml/2006/ole">
            <p:oleObj spid="_x0000_s38916" name="Equation" r:id="rId4" imgW="1218960" imgH="457200" progId="Equation.DSMT4">
              <p:embed/>
            </p:oleObj>
          </a:graphicData>
        </a:graphic>
      </p:graphicFrame>
      <p:graphicFrame>
        <p:nvGraphicFramePr>
          <p:cNvPr id="160" name="对象 159"/>
          <p:cNvGraphicFramePr>
            <a:graphicFrameLocks noChangeAspect="1"/>
          </p:cNvGraphicFramePr>
          <p:nvPr/>
        </p:nvGraphicFramePr>
        <p:xfrm>
          <a:off x="849312" y="3774849"/>
          <a:ext cx="5307013" cy="1165225"/>
        </p:xfrm>
        <a:graphic>
          <a:graphicData uri="http://schemas.openxmlformats.org/presentationml/2006/ole">
            <p:oleObj spid="_x0000_s38917" name="Equation" r:id="rId5" imgW="2895480" imgH="6346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87375" y="215220"/>
            <a:ext cx="18161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输出电阻</a:t>
            </a:r>
          </a:p>
        </p:txBody>
      </p:sp>
      <p:sp>
        <p:nvSpPr>
          <p:cNvPr id="61" name="Text Box 61"/>
          <p:cNvSpPr txBox="1">
            <a:spLocks noChangeArrowheads="1"/>
          </p:cNvSpPr>
          <p:nvPr/>
        </p:nvSpPr>
        <p:spPr bwMode="auto">
          <a:xfrm>
            <a:off x="4314825" y="427716"/>
            <a:ext cx="29241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计算</a:t>
            </a:r>
            <a:r>
              <a:rPr lang="en-US" altLang="zh-CN" sz="24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O</a:t>
            </a:r>
            <a:r>
              <a: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的等效电路</a:t>
            </a:r>
          </a:p>
        </p:txBody>
      </p:sp>
      <p:grpSp>
        <p:nvGrpSpPr>
          <p:cNvPr id="12" name="组合 110"/>
          <p:cNvGrpSpPr/>
          <p:nvPr/>
        </p:nvGrpSpPr>
        <p:grpSpPr>
          <a:xfrm>
            <a:off x="4433203" y="787145"/>
            <a:ext cx="4172332" cy="3115382"/>
            <a:chOff x="4672688" y="474485"/>
            <a:chExt cx="4172332" cy="3115382"/>
          </a:xfrm>
        </p:grpSpPr>
        <p:sp>
          <p:nvSpPr>
            <p:cNvPr id="112" name="Line 20"/>
            <p:cNvSpPr>
              <a:spLocks noChangeShapeType="1"/>
            </p:cNvSpPr>
            <p:nvPr/>
          </p:nvSpPr>
          <p:spPr bwMode="auto">
            <a:xfrm>
              <a:off x="5761762" y="945444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3" name="Rectangle 21"/>
            <p:cNvSpPr>
              <a:spLocks noChangeArrowheads="1"/>
            </p:cNvSpPr>
            <p:nvPr/>
          </p:nvSpPr>
          <p:spPr bwMode="auto">
            <a:xfrm>
              <a:off x="5671275" y="1801107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4" name="Line 22"/>
            <p:cNvSpPr>
              <a:spLocks noChangeShapeType="1"/>
            </p:cNvSpPr>
            <p:nvPr/>
          </p:nvSpPr>
          <p:spPr bwMode="auto">
            <a:xfrm flipV="1">
              <a:off x="5181796" y="954263"/>
              <a:ext cx="333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5" name="Line 23"/>
            <p:cNvSpPr>
              <a:spLocks noChangeShapeType="1"/>
            </p:cNvSpPr>
            <p:nvPr/>
          </p:nvSpPr>
          <p:spPr bwMode="auto">
            <a:xfrm>
              <a:off x="7140419" y="967670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6" name="Line 24"/>
            <p:cNvSpPr>
              <a:spLocks noChangeShapeType="1"/>
            </p:cNvSpPr>
            <p:nvPr/>
          </p:nvSpPr>
          <p:spPr bwMode="auto">
            <a:xfrm flipV="1">
              <a:off x="5193437" y="3410126"/>
              <a:ext cx="333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7" name="Line 25"/>
            <p:cNvSpPr>
              <a:spLocks noChangeShapeType="1"/>
            </p:cNvSpPr>
            <p:nvPr/>
          </p:nvSpPr>
          <p:spPr bwMode="auto">
            <a:xfrm>
              <a:off x="7138831" y="3405364"/>
              <a:ext cx="0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8" name="Line 26"/>
            <p:cNvSpPr>
              <a:spLocks noChangeShapeType="1"/>
            </p:cNvSpPr>
            <p:nvPr/>
          </p:nvSpPr>
          <p:spPr bwMode="auto">
            <a:xfrm>
              <a:off x="6965794" y="3589867"/>
              <a:ext cx="33655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9" name="Text Box 27"/>
            <p:cNvSpPr txBox="1">
              <a:spLocks noChangeArrowheads="1"/>
            </p:cNvSpPr>
            <p:nvPr/>
          </p:nvSpPr>
          <p:spPr bwMode="auto">
            <a:xfrm>
              <a:off x="6423045" y="930451"/>
              <a:ext cx="757238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0" name="Text Box 28"/>
            <p:cNvSpPr txBox="1">
              <a:spLocks noChangeArrowheads="1"/>
            </p:cNvSpPr>
            <p:nvPr/>
          </p:nvSpPr>
          <p:spPr bwMode="auto">
            <a:xfrm>
              <a:off x="6522176" y="1606372"/>
              <a:ext cx="62388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</a:t>
              </a:r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I'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1" name="Text Box 29"/>
            <p:cNvSpPr txBox="1">
              <a:spLocks noChangeArrowheads="1"/>
            </p:cNvSpPr>
            <p:nvPr/>
          </p:nvSpPr>
          <p:spPr bwMode="auto">
            <a:xfrm>
              <a:off x="5843431" y="959026"/>
              <a:ext cx="4555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I'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2" name="Oval 31"/>
            <p:cNvSpPr>
              <a:spLocks noChangeArrowheads="1"/>
            </p:cNvSpPr>
            <p:nvPr/>
          </p:nvSpPr>
          <p:spPr bwMode="auto">
            <a:xfrm>
              <a:off x="7095793" y="3370791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3" name="Line 32"/>
            <p:cNvSpPr>
              <a:spLocks noChangeShapeType="1"/>
            </p:cNvSpPr>
            <p:nvPr/>
          </p:nvSpPr>
          <p:spPr bwMode="auto">
            <a:xfrm>
              <a:off x="7850032" y="957086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4" name="AutoShape 33"/>
            <p:cNvSpPr>
              <a:spLocks noChangeArrowheads="1"/>
            </p:cNvSpPr>
            <p:nvPr/>
          </p:nvSpPr>
          <p:spPr bwMode="auto">
            <a:xfrm>
              <a:off x="6919580" y="2006070"/>
              <a:ext cx="438150" cy="622300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5" name="Line 35"/>
            <p:cNvSpPr>
              <a:spLocks noChangeShapeType="1"/>
            </p:cNvSpPr>
            <p:nvPr/>
          </p:nvSpPr>
          <p:spPr bwMode="auto">
            <a:xfrm rot="10800000" flipV="1">
              <a:off x="7135656" y="1474611"/>
              <a:ext cx="0" cy="39600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6" name="Rectangle 37"/>
            <p:cNvSpPr>
              <a:spLocks noChangeArrowheads="1"/>
            </p:cNvSpPr>
            <p:nvPr/>
          </p:nvSpPr>
          <p:spPr bwMode="auto">
            <a:xfrm>
              <a:off x="5830025" y="1816981"/>
              <a:ext cx="508473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7" name="Line 39"/>
            <p:cNvSpPr>
              <a:spLocks noChangeShapeType="1"/>
            </p:cNvSpPr>
            <p:nvPr/>
          </p:nvSpPr>
          <p:spPr bwMode="auto">
            <a:xfrm rot="5400000">
              <a:off x="6208556" y="722488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8" name="Line 40"/>
            <p:cNvSpPr>
              <a:spLocks noChangeShapeType="1"/>
            </p:cNvSpPr>
            <p:nvPr/>
          </p:nvSpPr>
          <p:spPr bwMode="auto">
            <a:xfrm rot="16200000" flipV="1">
              <a:off x="7529883" y="749793"/>
              <a:ext cx="0" cy="39600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9" name="Rectangle 41"/>
            <p:cNvSpPr>
              <a:spLocks noChangeArrowheads="1"/>
            </p:cNvSpPr>
            <p:nvPr/>
          </p:nvSpPr>
          <p:spPr bwMode="auto">
            <a:xfrm rot="16200000">
              <a:off x="6702269" y="689151"/>
              <a:ext cx="179388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0" name="Rectangle 46"/>
            <p:cNvSpPr>
              <a:spLocks noChangeArrowheads="1"/>
            </p:cNvSpPr>
            <p:nvPr/>
          </p:nvSpPr>
          <p:spPr bwMode="auto">
            <a:xfrm>
              <a:off x="5903756" y="781226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13" name="Group 47"/>
            <p:cNvGrpSpPr>
              <a:grpSpLocks/>
            </p:cNvGrpSpPr>
            <p:nvPr/>
          </p:nvGrpSpPr>
          <p:grpSpPr bwMode="auto">
            <a:xfrm>
              <a:off x="8330669" y="1095471"/>
              <a:ext cx="514351" cy="2116139"/>
              <a:chOff x="4631" y="369"/>
              <a:chExt cx="324" cy="1333"/>
            </a:xfrm>
          </p:grpSpPr>
          <p:sp>
            <p:nvSpPr>
              <p:cNvPr id="154" name="Text Box 48"/>
              <p:cNvSpPr txBox="1">
                <a:spLocks noChangeArrowheads="1"/>
              </p:cNvSpPr>
              <p:nvPr/>
            </p:nvSpPr>
            <p:spPr bwMode="auto">
              <a:xfrm>
                <a:off x="4631" y="990"/>
                <a:ext cx="25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5" name="Text Box 49"/>
              <p:cNvSpPr txBox="1">
                <a:spLocks noChangeArrowheads="1"/>
              </p:cNvSpPr>
              <p:nvPr/>
            </p:nvSpPr>
            <p:spPr bwMode="auto">
              <a:xfrm>
                <a:off x="4662" y="1411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156" name="Text Box 50"/>
              <p:cNvSpPr txBox="1">
                <a:spLocks noChangeArrowheads="1"/>
              </p:cNvSpPr>
              <p:nvPr/>
            </p:nvSpPr>
            <p:spPr bwMode="auto">
              <a:xfrm>
                <a:off x="4647" y="369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157" name="Rectangle 51"/>
              <p:cNvSpPr>
                <a:spLocks noChangeArrowheads="1"/>
              </p:cNvSpPr>
              <p:nvPr/>
            </p:nvSpPr>
            <p:spPr bwMode="auto">
              <a:xfrm>
                <a:off x="4703" y="86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132" name="Rectangle 59"/>
            <p:cNvSpPr>
              <a:spLocks noChangeArrowheads="1"/>
            </p:cNvSpPr>
            <p:nvPr/>
          </p:nvSpPr>
          <p:spPr bwMode="auto">
            <a:xfrm>
              <a:off x="6776705" y="1463675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14" name="组合 257"/>
            <p:cNvGrpSpPr/>
            <p:nvPr/>
          </p:nvGrpSpPr>
          <p:grpSpPr>
            <a:xfrm>
              <a:off x="7293173" y="887059"/>
              <a:ext cx="1006124" cy="628705"/>
              <a:chOff x="8083395" y="796748"/>
              <a:chExt cx="1006124" cy="628705"/>
            </a:xfrm>
          </p:grpSpPr>
          <p:sp>
            <p:nvSpPr>
              <p:cNvPr id="150" name="Text Box 30"/>
              <p:cNvSpPr txBox="1">
                <a:spLocks noChangeArrowheads="1"/>
              </p:cNvSpPr>
              <p:nvPr/>
            </p:nvSpPr>
            <p:spPr bwMode="auto">
              <a:xfrm>
                <a:off x="8083395" y="963788"/>
                <a:ext cx="444352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I'</a:t>
                </a:r>
                <a:r>
                  <a:rPr lang="en-US" altLang="zh-CN" sz="2400" b="1" baseline="-25000" dirty="0" err="1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1" name="Rectangle 60"/>
              <p:cNvSpPr>
                <a:spLocks noChangeArrowheads="1"/>
              </p:cNvSpPr>
              <p:nvPr/>
            </p:nvSpPr>
            <p:spPr bwMode="auto">
              <a:xfrm>
                <a:off x="8129081" y="830085"/>
                <a:ext cx="265113" cy="369888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  <p:sp>
            <p:nvSpPr>
              <p:cNvPr id="152" name="Rectangle 60"/>
              <p:cNvSpPr>
                <a:spLocks noChangeArrowheads="1"/>
              </p:cNvSpPr>
              <p:nvPr/>
            </p:nvSpPr>
            <p:spPr bwMode="auto">
              <a:xfrm>
                <a:off x="8824406" y="796748"/>
                <a:ext cx="265113" cy="369888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  <p:sp>
            <p:nvSpPr>
              <p:cNvPr id="153" name="Text Box 30"/>
              <p:cNvSpPr txBox="1">
                <a:spLocks noChangeArrowheads="1"/>
              </p:cNvSpPr>
              <p:nvPr/>
            </p:nvSpPr>
            <p:spPr bwMode="auto">
              <a:xfrm>
                <a:off x="8778720" y="925688"/>
                <a:ext cx="28725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134" name="Line 64"/>
            <p:cNvSpPr>
              <a:spLocks noChangeShapeType="1"/>
            </p:cNvSpPr>
            <p:nvPr/>
          </p:nvSpPr>
          <p:spPr bwMode="auto">
            <a:xfrm>
              <a:off x="5180562" y="972256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5" name="Rectangle 65"/>
            <p:cNvSpPr>
              <a:spLocks noChangeArrowheads="1"/>
            </p:cNvSpPr>
            <p:nvPr/>
          </p:nvSpPr>
          <p:spPr bwMode="auto">
            <a:xfrm>
              <a:off x="5106126" y="1808768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6" name="Rectangle 66"/>
            <p:cNvSpPr>
              <a:spLocks noChangeArrowheads="1"/>
            </p:cNvSpPr>
            <p:nvPr/>
          </p:nvSpPr>
          <p:spPr bwMode="auto">
            <a:xfrm>
              <a:off x="4672688" y="1728058"/>
              <a:ext cx="48603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7" name="Text Box 67"/>
            <p:cNvSpPr txBox="1">
              <a:spLocks noChangeArrowheads="1"/>
            </p:cNvSpPr>
            <p:nvPr/>
          </p:nvSpPr>
          <p:spPr bwMode="auto">
            <a:xfrm>
              <a:off x="5747476" y="490714"/>
              <a:ext cx="320675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38" name="Text Box 68"/>
            <p:cNvSpPr txBox="1">
              <a:spLocks noChangeArrowheads="1"/>
            </p:cNvSpPr>
            <p:nvPr/>
          </p:nvSpPr>
          <p:spPr bwMode="auto">
            <a:xfrm>
              <a:off x="7144124" y="474485"/>
              <a:ext cx="306388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39" name="Text Box 69"/>
            <p:cNvSpPr txBox="1">
              <a:spLocks noChangeArrowheads="1"/>
            </p:cNvSpPr>
            <p:nvPr/>
          </p:nvSpPr>
          <p:spPr bwMode="auto">
            <a:xfrm>
              <a:off x="7199685" y="2920647"/>
              <a:ext cx="3206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140" name="Rectangle 42"/>
            <p:cNvSpPr>
              <a:spLocks noChangeArrowheads="1"/>
            </p:cNvSpPr>
            <p:nvPr/>
          </p:nvSpPr>
          <p:spPr bwMode="auto">
            <a:xfrm>
              <a:off x="7752312" y="1837266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1" name="Rectangle 44"/>
            <p:cNvSpPr>
              <a:spLocks noChangeArrowheads="1"/>
            </p:cNvSpPr>
            <p:nvPr/>
          </p:nvSpPr>
          <p:spPr bwMode="auto">
            <a:xfrm>
              <a:off x="7315750" y="1654175"/>
              <a:ext cx="497252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2" name="Oval 31"/>
            <p:cNvSpPr>
              <a:spLocks noChangeArrowheads="1"/>
            </p:cNvSpPr>
            <p:nvPr/>
          </p:nvSpPr>
          <p:spPr bwMode="auto">
            <a:xfrm>
              <a:off x="5728956" y="908578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3" name="Oval 31"/>
            <p:cNvSpPr>
              <a:spLocks noChangeArrowheads="1"/>
            </p:cNvSpPr>
            <p:nvPr/>
          </p:nvSpPr>
          <p:spPr bwMode="auto">
            <a:xfrm>
              <a:off x="5728955" y="3370791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4" name="Oval 31"/>
            <p:cNvSpPr>
              <a:spLocks noChangeArrowheads="1"/>
            </p:cNvSpPr>
            <p:nvPr/>
          </p:nvSpPr>
          <p:spPr bwMode="auto">
            <a:xfrm>
              <a:off x="7810168" y="33565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5" name="Oval 31"/>
            <p:cNvSpPr>
              <a:spLocks noChangeArrowheads="1"/>
            </p:cNvSpPr>
            <p:nvPr/>
          </p:nvSpPr>
          <p:spPr bwMode="auto">
            <a:xfrm>
              <a:off x="7814931" y="9181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6" name="Oval 31"/>
            <p:cNvSpPr>
              <a:spLocks noChangeArrowheads="1"/>
            </p:cNvSpPr>
            <p:nvPr/>
          </p:nvSpPr>
          <p:spPr bwMode="auto">
            <a:xfrm>
              <a:off x="7105318" y="91810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7" name="Oval 31"/>
            <p:cNvSpPr>
              <a:spLocks noChangeArrowheads="1"/>
            </p:cNvSpPr>
            <p:nvPr/>
          </p:nvSpPr>
          <p:spPr bwMode="auto">
            <a:xfrm>
              <a:off x="8495968" y="3375553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8" name="Oval 31"/>
            <p:cNvSpPr>
              <a:spLocks noChangeArrowheads="1"/>
            </p:cNvSpPr>
            <p:nvPr/>
          </p:nvSpPr>
          <p:spPr bwMode="auto">
            <a:xfrm>
              <a:off x="8500731" y="908578"/>
              <a:ext cx="72000" cy="720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9" name="Line 40"/>
            <p:cNvSpPr>
              <a:spLocks noChangeShapeType="1"/>
            </p:cNvSpPr>
            <p:nvPr/>
          </p:nvSpPr>
          <p:spPr bwMode="auto">
            <a:xfrm rot="16200000" flipV="1">
              <a:off x="8220446" y="745030"/>
              <a:ext cx="0" cy="39600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160" name="对象 159"/>
          <p:cNvGraphicFramePr>
            <a:graphicFrameLocks noChangeAspect="1"/>
          </p:cNvGraphicFramePr>
          <p:nvPr/>
        </p:nvGraphicFramePr>
        <p:xfrm>
          <a:off x="779690" y="2566988"/>
          <a:ext cx="3421063" cy="1165225"/>
        </p:xfrm>
        <a:graphic>
          <a:graphicData uri="http://schemas.openxmlformats.org/presentationml/2006/ole">
            <p:oleObj spid="_x0000_s40964" name="Equation" r:id="rId3" imgW="1866600" imgH="634680" progId="Equation.DSMT4">
              <p:embed/>
            </p:oleObj>
          </a:graphicData>
        </a:graphic>
      </p:graphicFrame>
      <p:graphicFrame>
        <p:nvGraphicFramePr>
          <p:cNvPr id="80" name="对象 79"/>
          <p:cNvGraphicFramePr>
            <a:graphicFrameLocks noChangeAspect="1"/>
          </p:cNvGraphicFramePr>
          <p:nvPr/>
        </p:nvGraphicFramePr>
        <p:xfrm>
          <a:off x="1059089" y="3929743"/>
          <a:ext cx="2840038" cy="768350"/>
        </p:xfrm>
        <a:graphic>
          <a:graphicData uri="http://schemas.openxmlformats.org/presentationml/2006/ole">
            <p:oleObj spid="_x0000_s40965" name="Equation" r:id="rId4" imgW="1549080" imgH="419040" progId="Equation.DSMT4">
              <p:embed/>
            </p:oleObj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896938" y="1009877"/>
          <a:ext cx="2794000" cy="1165225"/>
        </p:xfrm>
        <a:graphic>
          <a:graphicData uri="http://schemas.openxmlformats.org/presentationml/2006/ole">
            <p:oleObj spid="_x0000_s40966" name="Equation" r:id="rId5" imgW="1523880" imgH="6346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3"/>
          <p:cNvSpPr>
            <a:spLocks noChangeArrowheads="1"/>
          </p:cNvSpPr>
          <p:nvPr/>
        </p:nvSpPr>
        <p:spPr bwMode="auto">
          <a:xfrm>
            <a:off x="836386" y="577850"/>
            <a:ext cx="4698722" cy="5847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00B0F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射极输出器的基本特点：</a:t>
            </a:r>
          </a:p>
        </p:txBody>
      </p:sp>
      <p:grpSp>
        <p:nvGrpSpPr>
          <p:cNvPr id="3" name="Group 130"/>
          <p:cNvGrpSpPr>
            <a:grpSpLocks/>
          </p:cNvGrpSpPr>
          <p:nvPr/>
        </p:nvGrpSpPr>
        <p:grpSpPr bwMode="auto">
          <a:xfrm>
            <a:off x="1693636" y="1632402"/>
            <a:ext cx="3886201" cy="546100"/>
            <a:chOff x="856" y="1378"/>
            <a:chExt cx="2448" cy="344"/>
          </a:xfrm>
        </p:grpSpPr>
        <p:grpSp>
          <p:nvGrpSpPr>
            <p:cNvPr id="4" name="Group 126"/>
            <p:cNvGrpSpPr>
              <a:grpSpLocks/>
            </p:cNvGrpSpPr>
            <p:nvPr/>
          </p:nvGrpSpPr>
          <p:grpSpPr bwMode="auto">
            <a:xfrm>
              <a:off x="1103" y="1378"/>
              <a:ext cx="2201" cy="344"/>
              <a:chOff x="1115" y="1378"/>
              <a:chExt cx="2201" cy="344"/>
            </a:xfrm>
          </p:grpSpPr>
          <p:sp>
            <p:nvSpPr>
              <p:cNvPr id="6" name="Rectangle 114"/>
              <p:cNvSpPr>
                <a:spLocks noChangeArrowheads="1"/>
              </p:cNvSpPr>
              <p:nvPr/>
            </p:nvSpPr>
            <p:spPr bwMode="auto">
              <a:xfrm>
                <a:off x="1115" y="1378"/>
                <a:ext cx="1480" cy="330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zh-CN" altLang="en-US" sz="28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电压放大倍数</a:t>
                </a:r>
              </a:p>
            </p:txBody>
          </p:sp>
          <p:sp>
            <p:nvSpPr>
              <p:cNvPr id="7" name="Rectangle 115"/>
              <p:cNvSpPr>
                <a:spLocks noChangeArrowheads="1"/>
              </p:cNvSpPr>
              <p:nvPr/>
            </p:nvSpPr>
            <p:spPr bwMode="auto">
              <a:xfrm>
                <a:off x="2596" y="1392"/>
                <a:ext cx="720" cy="330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r>
                  <a:rPr lang="en-US" altLang="zh-CN" sz="28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A</a:t>
                </a:r>
                <a:r>
                  <a:rPr lang="en-US" altLang="zh-CN" sz="2800" b="1" i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800" b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&lt;≈1</a:t>
                </a:r>
                <a:endPara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  <p:sp>
          <p:nvSpPr>
            <p:cNvPr id="5" name="Rectangle 127"/>
            <p:cNvSpPr>
              <a:spLocks noChangeArrowheads="1"/>
            </p:cNvSpPr>
            <p:nvPr/>
          </p:nvSpPr>
          <p:spPr bwMode="auto">
            <a:xfrm>
              <a:off x="856" y="1503"/>
              <a:ext cx="144" cy="192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2" dir="t"/>
            </a:scene3d>
            <a:sp3d extrusionH="201600" prstMaterial="legacyPlastic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1" name="Group 131"/>
          <p:cNvGrpSpPr>
            <a:grpSpLocks/>
          </p:cNvGrpSpPr>
          <p:nvPr/>
        </p:nvGrpSpPr>
        <p:grpSpPr bwMode="auto">
          <a:xfrm>
            <a:off x="1704521" y="2410053"/>
            <a:ext cx="3040688" cy="523875"/>
            <a:chOff x="856" y="2005"/>
            <a:chExt cx="1540" cy="330"/>
          </a:xfrm>
        </p:grpSpPr>
        <p:sp>
          <p:nvSpPr>
            <p:cNvPr id="14" name="Rectangle 113"/>
            <p:cNvSpPr>
              <a:spLocks noChangeArrowheads="1"/>
            </p:cNvSpPr>
            <p:nvPr/>
          </p:nvSpPr>
          <p:spPr bwMode="auto">
            <a:xfrm>
              <a:off x="1090" y="2005"/>
              <a:ext cx="1306" cy="33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输入电阻</a:t>
              </a:r>
              <a:r>
                <a:rPr lang="en-US" altLang="zh-CN" sz="28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zh-CN" altLang="en-US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大</a:t>
              </a:r>
              <a:endPara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" name="Rectangle 128"/>
            <p:cNvSpPr>
              <a:spLocks noChangeArrowheads="1"/>
            </p:cNvSpPr>
            <p:nvPr/>
          </p:nvSpPr>
          <p:spPr bwMode="auto">
            <a:xfrm>
              <a:off x="856" y="2139"/>
              <a:ext cx="144" cy="192"/>
            </a:xfrm>
            <a:prstGeom prst="rect">
              <a:avLst/>
            </a:prstGeom>
            <a:solidFill>
              <a:srgbClr val="FFCC00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2" dir="t"/>
            </a:scene3d>
            <a:sp3d extrusionH="201600" prstMaterial="legacyPlastic">
              <a:bevelT w="13500" h="13500" prst="angle"/>
              <a:bevelB w="13500" h="13500" prst="angle"/>
              <a:extrusionClr>
                <a:srgbClr val="FFCC00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17" name="Group 132"/>
          <p:cNvGrpSpPr>
            <a:grpSpLocks/>
          </p:cNvGrpSpPr>
          <p:nvPr/>
        </p:nvGrpSpPr>
        <p:grpSpPr bwMode="auto">
          <a:xfrm>
            <a:off x="1754415" y="3167974"/>
            <a:ext cx="2663826" cy="547688"/>
            <a:chOff x="860" y="2647"/>
            <a:chExt cx="1678" cy="345"/>
          </a:xfrm>
        </p:grpSpPr>
        <p:sp>
          <p:nvSpPr>
            <p:cNvPr id="20" name="Rectangle 2"/>
            <p:cNvSpPr>
              <a:spLocks noChangeArrowheads="1"/>
            </p:cNvSpPr>
            <p:nvPr/>
          </p:nvSpPr>
          <p:spPr bwMode="auto">
            <a:xfrm>
              <a:off x="1102" y="2647"/>
              <a:ext cx="143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800" b="1" kern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输出电阻</a:t>
              </a:r>
              <a:r>
                <a:rPr lang="en-US" altLang="zh-CN" sz="2800" b="1" i="1" kern="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kern="0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r>
                <a:rPr lang="zh-CN" altLang="en-US" sz="2800" b="1" kern="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小</a:t>
              </a:r>
              <a:endParaRPr lang="zh-CN" altLang="en-US" sz="2800" b="1" kern="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" name="Rectangle 129"/>
            <p:cNvSpPr>
              <a:spLocks noChangeArrowheads="1"/>
            </p:cNvSpPr>
            <p:nvPr/>
          </p:nvSpPr>
          <p:spPr bwMode="auto">
            <a:xfrm>
              <a:off x="860" y="2800"/>
              <a:ext cx="144" cy="192"/>
            </a:xfrm>
            <a:prstGeom prst="rect">
              <a:avLst/>
            </a:prstGeom>
            <a:solidFill>
              <a:srgbClr val="00CCFF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2" dir="t"/>
            </a:scene3d>
            <a:sp3d extrusionH="201600" prstMaterial="legacyPlastic">
              <a:bevelT w="13500" h="13500" prst="angle"/>
              <a:bevelB w="13500" h="13500" prst="angle"/>
              <a:extrusionClr>
                <a:srgbClr val="00CCFF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pic>
        <p:nvPicPr>
          <p:cNvPr id="23" name="Picture 133" descr="PE02086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83099" y="3234192"/>
            <a:ext cx="17526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92326" y="249917"/>
            <a:ext cx="4878387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[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例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]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在射极输出器中</a:t>
            </a:r>
          </a:p>
          <a:p>
            <a:pPr algn="l"/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</a:t>
            </a:r>
          </a:p>
          <a:p>
            <a:pPr algn="l"/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已知 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CC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12V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240kΩ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</a:p>
          <a:p>
            <a:pPr algn="l"/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 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3kΩ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L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6kΩ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</a:p>
          <a:p>
            <a:pPr algn="l"/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S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150Ω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β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50 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 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57200" y="3905477"/>
            <a:ext cx="7315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试求（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）静态工作点；（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8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 </a:t>
            </a:r>
            <a:r>
              <a:rPr lang="en-US" altLang="zh-CN" sz="28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O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。</a:t>
            </a:r>
          </a:p>
        </p:txBody>
      </p:sp>
      <p:grpSp>
        <p:nvGrpSpPr>
          <p:cNvPr id="57" name="组合 56"/>
          <p:cNvGrpSpPr/>
          <p:nvPr/>
        </p:nvGrpSpPr>
        <p:grpSpPr>
          <a:xfrm>
            <a:off x="4627615" y="706741"/>
            <a:ext cx="4319735" cy="2870200"/>
            <a:chOff x="4649788" y="1826759"/>
            <a:chExt cx="4319735" cy="2870200"/>
          </a:xfrm>
        </p:grpSpPr>
        <p:sp>
          <p:nvSpPr>
            <p:cNvPr id="58" name="Line 17"/>
            <p:cNvSpPr>
              <a:spLocks noChangeShapeType="1"/>
            </p:cNvSpPr>
            <p:nvPr/>
          </p:nvSpPr>
          <p:spPr bwMode="auto">
            <a:xfrm>
              <a:off x="4840287" y="4520746"/>
              <a:ext cx="360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9" name="Line 18"/>
            <p:cNvSpPr>
              <a:spLocks noChangeShapeType="1"/>
            </p:cNvSpPr>
            <p:nvPr/>
          </p:nvSpPr>
          <p:spPr bwMode="auto">
            <a:xfrm>
              <a:off x="5938838" y="3277734"/>
              <a:ext cx="750887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0" name="Line 19"/>
            <p:cNvSpPr>
              <a:spLocks noChangeShapeType="1"/>
            </p:cNvSpPr>
            <p:nvPr/>
          </p:nvSpPr>
          <p:spPr bwMode="auto">
            <a:xfrm>
              <a:off x="6692900" y="2984046"/>
              <a:ext cx="0" cy="58420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1" name="Line 20"/>
            <p:cNvSpPr>
              <a:spLocks noChangeShapeType="1"/>
            </p:cNvSpPr>
            <p:nvPr/>
          </p:nvSpPr>
          <p:spPr bwMode="auto">
            <a:xfrm flipV="1">
              <a:off x="6692900" y="2915784"/>
              <a:ext cx="300038" cy="24765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2" name="Line 21"/>
            <p:cNvSpPr>
              <a:spLocks noChangeShapeType="1"/>
            </p:cNvSpPr>
            <p:nvPr/>
          </p:nvSpPr>
          <p:spPr bwMode="auto">
            <a:xfrm>
              <a:off x="6688138" y="3355522"/>
              <a:ext cx="301625" cy="242887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3" name="Line 22"/>
            <p:cNvSpPr>
              <a:spLocks noChangeShapeType="1"/>
            </p:cNvSpPr>
            <p:nvPr/>
          </p:nvSpPr>
          <p:spPr bwMode="auto">
            <a:xfrm flipH="1">
              <a:off x="6991350" y="1863271"/>
              <a:ext cx="1588" cy="1050925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4" name="Line 23"/>
            <p:cNvSpPr>
              <a:spLocks noChangeShapeType="1"/>
            </p:cNvSpPr>
            <p:nvPr/>
          </p:nvSpPr>
          <p:spPr bwMode="auto">
            <a:xfrm>
              <a:off x="6978650" y="3568246"/>
              <a:ext cx="0" cy="95885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5" name="Line 24"/>
            <p:cNvSpPr>
              <a:spLocks noChangeShapeType="1"/>
            </p:cNvSpPr>
            <p:nvPr/>
          </p:nvSpPr>
          <p:spPr bwMode="auto">
            <a:xfrm>
              <a:off x="6978650" y="1863271"/>
              <a:ext cx="1460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6" name="Line 26"/>
            <p:cNvSpPr>
              <a:spLocks noChangeShapeType="1"/>
            </p:cNvSpPr>
            <p:nvPr/>
          </p:nvSpPr>
          <p:spPr bwMode="auto">
            <a:xfrm>
              <a:off x="5470525" y="3274559"/>
              <a:ext cx="469900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7" name="Oval 27"/>
            <p:cNvSpPr>
              <a:spLocks noChangeArrowheads="1"/>
            </p:cNvSpPr>
            <p:nvPr/>
          </p:nvSpPr>
          <p:spPr bwMode="auto">
            <a:xfrm>
              <a:off x="6945313" y="4465184"/>
              <a:ext cx="65087" cy="730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8" name="Line 28"/>
            <p:cNvSpPr>
              <a:spLocks noChangeShapeType="1"/>
            </p:cNvSpPr>
            <p:nvPr/>
          </p:nvSpPr>
          <p:spPr bwMode="auto">
            <a:xfrm>
              <a:off x="6978650" y="4446134"/>
              <a:ext cx="0" cy="2508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9" name="Line 29"/>
            <p:cNvSpPr>
              <a:spLocks noChangeShapeType="1"/>
            </p:cNvSpPr>
            <p:nvPr/>
          </p:nvSpPr>
          <p:spPr bwMode="auto">
            <a:xfrm>
              <a:off x="6878638" y="4696959"/>
              <a:ext cx="214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Rectangle 30"/>
            <p:cNvSpPr>
              <a:spLocks noChangeArrowheads="1"/>
            </p:cNvSpPr>
            <p:nvPr/>
          </p:nvSpPr>
          <p:spPr bwMode="auto">
            <a:xfrm>
              <a:off x="4945063" y="3852409"/>
              <a:ext cx="449162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71" name="Rectangle 31"/>
            <p:cNvSpPr>
              <a:spLocks noChangeArrowheads="1"/>
            </p:cNvSpPr>
            <p:nvPr/>
          </p:nvSpPr>
          <p:spPr bwMode="auto">
            <a:xfrm>
              <a:off x="8445500" y="3614284"/>
              <a:ext cx="32412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72" name="Rectangle 32"/>
            <p:cNvSpPr>
              <a:spLocks noChangeArrowheads="1"/>
            </p:cNvSpPr>
            <p:nvPr/>
          </p:nvSpPr>
          <p:spPr bwMode="auto">
            <a:xfrm>
              <a:off x="8432800" y="4231821"/>
              <a:ext cx="361950" cy="30480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73" name="Rectangle 33"/>
            <p:cNvSpPr>
              <a:spLocks noChangeArrowheads="1"/>
            </p:cNvSpPr>
            <p:nvPr/>
          </p:nvSpPr>
          <p:spPr bwMode="auto">
            <a:xfrm>
              <a:off x="6908800" y="3773034"/>
              <a:ext cx="138113" cy="406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4" name="Rectangle 34"/>
            <p:cNvSpPr>
              <a:spLocks noChangeArrowheads="1"/>
            </p:cNvSpPr>
            <p:nvPr/>
          </p:nvSpPr>
          <p:spPr bwMode="auto">
            <a:xfrm>
              <a:off x="7943850" y="3893684"/>
              <a:ext cx="420308" cy="36933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75" name="Rectangle 35"/>
            <p:cNvSpPr>
              <a:spLocks noChangeArrowheads="1"/>
            </p:cNvSpPr>
            <p:nvPr/>
          </p:nvSpPr>
          <p:spPr bwMode="auto">
            <a:xfrm>
              <a:off x="7156450" y="3155496"/>
              <a:ext cx="184731" cy="2769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endParaRPr lang="zh-CN" altLang="zh-CN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Line 36"/>
            <p:cNvSpPr>
              <a:spLocks noChangeShapeType="1"/>
            </p:cNvSpPr>
            <p:nvPr/>
          </p:nvSpPr>
          <p:spPr bwMode="auto">
            <a:xfrm>
              <a:off x="7080250" y="2320471"/>
              <a:ext cx="0" cy="403225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Rectangle 37"/>
            <p:cNvSpPr>
              <a:spLocks noChangeArrowheads="1"/>
            </p:cNvSpPr>
            <p:nvPr/>
          </p:nvSpPr>
          <p:spPr bwMode="auto">
            <a:xfrm>
              <a:off x="7115175" y="2204584"/>
              <a:ext cx="420308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78" name="Line 38"/>
            <p:cNvSpPr>
              <a:spLocks noChangeShapeType="1"/>
            </p:cNvSpPr>
            <p:nvPr/>
          </p:nvSpPr>
          <p:spPr bwMode="auto">
            <a:xfrm>
              <a:off x="6243638" y="3201534"/>
              <a:ext cx="311150" cy="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9" name="Rectangle 39"/>
            <p:cNvSpPr>
              <a:spLocks noChangeArrowheads="1"/>
            </p:cNvSpPr>
            <p:nvPr/>
          </p:nvSpPr>
          <p:spPr bwMode="auto">
            <a:xfrm>
              <a:off x="6159500" y="2682421"/>
              <a:ext cx="420308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80" name="Line 40"/>
            <p:cNvSpPr>
              <a:spLocks noChangeShapeType="1"/>
            </p:cNvSpPr>
            <p:nvPr/>
          </p:nvSpPr>
          <p:spPr bwMode="auto">
            <a:xfrm flipH="1">
              <a:off x="5940425" y="1863271"/>
              <a:ext cx="0" cy="14366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Line 41"/>
            <p:cNvSpPr>
              <a:spLocks noChangeShapeType="1"/>
            </p:cNvSpPr>
            <p:nvPr/>
          </p:nvSpPr>
          <p:spPr bwMode="auto">
            <a:xfrm flipV="1">
              <a:off x="5924551" y="1860096"/>
              <a:ext cx="11509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2" name="Rectangle 42"/>
            <p:cNvSpPr>
              <a:spLocks noChangeArrowheads="1"/>
            </p:cNvSpPr>
            <p:nvPr/>
          </p:nvSpPr>
          <p:spPr bwMode="auto">
            <a:xfrm>
              <a:off x="5870575" y="2271259"/>
              <a:ext cx="139700" cy="379412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3" name="Line 43"/>
            <p:cNvSpPr>
              <a:spLocks noChangeShapeType="1"/>
            </p:cNvSpPr>
            <p:nvPr/>
          </p:nvSpPr>
          <p:spPr bwMode="auto">
            <a:xfrm>
              <a:off x="7646988" y="3676196"/>
              <a:ext cx="7858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4" name="Line 45"/>
            <p:cNvSpPr>
              <a:spLocks noChangeShapeType="1"/>
            </p:cNvSpPr>
            <p:nvPr/>
          </p:nvSpPr>
          <p:spPr bwMode="auto">
            <a:xfrm>
              <a:off x="7467600" y="3498396"/>
              <a:ext cx="0" cy="3636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5" name="Line 46"/>
            <p:cNvSpPr>
              <a:spLocks noChangeShapeType="1"/>
            </p:cNvSpPr>
            <p:nvPr/>
          </p:nvSpPr>
          <p:spPr bwMode="auto">
            <a:xfrm>
              <a:off x="7634288" y="3501478"/>
              <a:ext cx="0" cy="3636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6" name="Line 47"/>
            <p:cNvSpPr>
              <a:spLocks noChangeShapeType="1"/>
            </p:cNvSpPr>
            <p:nvPr/>
          </p:nvSpPr>
          <p:spPr bwMode="auto">
            <a:xfrm>
              <a:off x="6978650" y="3682546"/>
              <a:ext cx="488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7" name="Line 48"/>
            <p:cNvSpPr>
              <a:spLocks noChangeShapeType="1"/>
            </p:cNvSpPr>
            <p:nvPr/>
          </p:nvSpPr>
          <p:spPr bwMode="auto">
            <a:xfrm>
              <a:off x="8439150" y="3682546"/>
              <a:ext cx="0" cy="838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Oval 49"/>
            <p:cNvSpPr>
              <a:spLocks noChangeArrowheads="1"/>
            </p:cNvSpPr>
            <p:nvPr/>
          </p:nvSpPr>
          <p:spPr bwMode="auto">
            <a:xfrm>
              <a:off x="8375650" y="1826759"/>
              <a:ext cx="63500" cy="746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9" name="Text Box 50"/>
            <p:cNvSpPr txBox="1">
              <a:spLocks noChangeArrowheads="1"/>
            </p:cNvSpPr>
            <p:nvPr/>
          </p:nvSpPr>
          <p:spPr bwMode="auto">
            <a:xfrm>
              <a:off x="6943725" y="3045959"/>
              <a:ext cx="330540" cy="3795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sp>
          <p:nvSpPr>
            <p:cNvPr id="90" name="Line 52"/>
            <p:cNvSpPr>
              <a:spLocks noChangeShapeType="1"/>
            </p:cNvSpPr>
            <p:nvPr/>
          </p:nvSpPr>
          <p:spPr bwMode="auto">
            <a:xfrm>
              <a:off x="5303838" y="3101521"/>
              <a:ext cx="0" cy="3620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Line 53"/>
            <p:cNvSpPr>
              <a:spLocks noChangeShapeType="1"/>
            </p:cNvSpPr>
            <p:nvPr/>
          </p:nvSpPr>
          <p:spPr bwMode="auto">
            <a:xfrm>
              <a:off x="5470525" y="3104589"/>
              <a:ext cx="0" cy="3620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Rectangle 54"/>
            <p:cNvSpPr>
              <a:spLocks noChangeArrowheads="1"/>
            </p:cNvSpPr>
            <p:nvPr/>
          </p:nvSpPr>
          <p:spPr bwMode="auto">
            <a:xfrm>
              <a:off x="7394575" y="3155496"/>
              <a:ext cx="41549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93" name="Rectangle 55"/>
            <p:cNvSpPr>
              <a:spLocks noChangeArrowheads="1"/>
            </p:cNvSpPr>
            <p:nvPr/>
          </p:nvSpPr>
          <p:spPr bwMode="auto">
            <a:xfrm>
              <a:off x="5111750" y="2723696"/>
              <a:ext cx="41549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94" name="Rectangle 56"/>
            <p:cNvSpPr>
              <a:spLocks noChangeArrowheads="1"/>
            </p:cNvSpPr>
            <p:nvPr/>
          </p:nvSpPr>
          <p:spPr bwMode="auto">
            <a:xfrm>
              <a:off x="5467350" y="2884034"/>
              <a:ext cx="32412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5" name="Rectangle 57"/>
            <p:cNvSpPr>
              <a:spLocks noChangeArrowheads="1"/>
            </p:cNvSpPr>
            <p:nvPr/>
          </p:nvSpPr>
          <p:spPr bwMode="auto">
            <a:xfrm>
              <a:off x="7186613" y="3312659"/>
              <a:ext cx="32412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96" name="Rectangle 58"/>
            <p:cNvSpPr>
              <a:spLocks noChangeArrowheads="1"/>
            </p:cNvSpPr>
            <p:nvPr/>
          </p:nvSpPr>
          <p:spPr bwMode="auto">
            <a:xfrm>
              <a:off x="5410200" y="2164896"/>
              <a:ext cx="428322" cy="36933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97" name="Rectangle 59"/>
            <p:cNvSpPr>
              <a:spLocks noChangeArrowheads="1"/>
            </p:cNvSpPr>
            <p:nvPr/>
          </p:nvSpPr>
          <p:spPr bwMode="auto">
            <a:xfrm>
              <a:off x="6477000" y="3812721"/>
              <a:ext cx="420308" cy="36933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98" name="Rectangle 60"/>
            <p:cNvSpPr>
              <a:spLocks noChangeArrowheads="1"/>
            </p:cNvSpPr>
            <p:nvPr/>
          </p:nvSpPr>
          <p:spPr bwMode="auto">
            <a:xfrm>
              <a:off x="7943850" y="1829934"/>
              <a:ext cx="686406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grpSp>
          <p:nvGrpSpPr>
            <p:cNvPr id="99" name="Group 61"/>
            <p:cNvGrpSpPr>
              <a:grpSpLocks/>
            </p:cNvGrpSpPr>
            <p:nvPr/>
          </p:nvGrpSpPr>
          <p:grpSpPr bwMode="auto">
            <a:xfrm>
              <a:off x="4649796" y="3277735"/>
              <a:ext cx="658813" cy="1285876"/>
              <a:chOff x="2929" y="2339"/>
              <a:chExt cx="415" cy="810"/>
            </a:xfrm>
          </p:grpSpPr>
          <p:sp>
            <p:nvSpPr>
              <p:cNvPr id="102" name="Oval 62"/>
              <p:cNvSpPr>
                <a:spLocks noChangeArrowheads="1"/>
              </p:cNvSpPr>
              <p:nvPr/>
            </p:nvSpPr>
            <p:spPr bwMode="auto">
              <a:xfrm>
                <a:off x="2929" y="2777"/>
                <a:ext cx="232" cy="224"/>
              </a:xfrm>
              <a:prstGeom prst="ellipse">
                <a:avLst/>
              </a:prstGeom>
              <a:gradFill rotWithShape="1">
                <a:gsLst>
                  <a:gs pos="0">
                    <a:srgbClr val="CCFFFF"/>
                  </a:gs>
                  <a:gs pos="50000">
                    <a:schemeClr val="accent1"/>
                  </a:gs>
                  <a:gs pos="100000">
                    <a:srgbClr val="CCFFFF"/>
                  </a:gs>
                </a:gsLst>
                <a:lin ang="2700000" scaled="1"/>
              </a:gra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3" name="Line 63"/>
              <p:cNvSpPr>
                <a:spLocks noChangeShapeType="1"/>
              </p:cNvSpPr>
              <p:nvPr/>
            </p:nvSpPr>
            <p:spPr bwMode="auto">
              <a:xfrm>
                <a:off x="3044" y="2343"/>
                <a:ext cx="1" cy="789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4" name="Rectangle 64"/>
              <p:cNvSpPr>
                <a:spLocks noChangeArrowheads="1"/>
              </p:cNvSpPr>
              <p:nvPr/>
            </p:nvSpPr>
            <p:spPr bwMode="auto">
              <a:xfrm>
                <a:off x="3000" y="2437"/>
                <a:ext cx="88" cy="239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5" name="Rectangle 65"/>
              <p:cNvSpPr>
                <a:spLocks noChangeArrowheads="1"/>
              </p:cNvSpPr>
              <p:nvPr/>
            </p:nvSpPr>
            <p:spPr bwMode="auto">
              <a:xfrm>
                <a:off x="3060" y="2426"/>
                <a:ext cx="259" cy="23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</a:p>
            </p:txBody>
          </p:sp>
          <p:sp>
            <p:nvSpPr>
              <p:cNvPr id="106" name="Line 66"/>
              <p:cNvSpPr>
                <a:spLocks noChangeShapeType="1"/>
              </p:cNvSpPr>
              <p:nvPr/>
            </p:nvSpPr>
            <p:spPr bwMode="auto">
              <a:xfrm>
                <a:off x="3032" y="2339"/>
                <a:ext cx="30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7" name="Rectangle 67"/>
              <p:cNvSpPr>
                <a:spLocks noChangeArrowheads="1"/>
              </p:cNvSpPr>
              <p:nvPr/>
            </p:nvSpPr>
            <p:spPr bwMode="auto">
              <a:xfrm>
                <a:off x="3116" y="2611"/>
                <a:ext cx="204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999999"/>
                </a:prst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08" name="Rectangle 68"/>
              <p:cNvSpPr>
                <a:spLocks noChangeArrowheads="1"/>
              </p:cNvSpPr>
              <p:nvPr/>
            </p:nvSpPr>
            <p:spPr bwMode="auto">
              <a:xfrm>
                <a:off x="3116" y="2957"/>
                <a:ext cx="228" cy="192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1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－</a:t>
                </a:r>
              </a:p>
            </p:txBody>
          </p:sp>
        </p:grpSp>
        <p:sp>
          <p:nvSpPr>
            <p:cNvPr id="100" name="Rectangle 69"/>
            <p:cNvSpPr>
              <a:spLocks noChangeArrowheads="1"/>
            </p:cNvSpPr>
            <p:nvPr/>
          </p:nvSpPr>
          <p:spPr bwMode="auto">
            <a:xfrm>
              <a:off x="8494713" y="3828596"/>
              <a:ext cx="474810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</a:p>
          </p:txBody>
        </p:sp>
        <p:sp>
          <p:nvSpPr>
            <p:cNvPr id="101" name="Rectangle 25"/>
            <p:cNvSpPr>
              <a:spLocks noChangeArrowheads="1"/>
            </p:cNvSpPr>
            <p:nvPr/>
          </p:nvSpPr>
          <p:spPr bwMode="auto">
            <a:xfrm>
              <a:off x="8369300" y="3890509"/>
              <a:ext cx="139700" cy="407987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41350" y="138567"/>
            <a:ext cx="2909771" cy="52322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）静态工作点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791028" y="2708275"/>
            <a:ext cx="411842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=(1+</a:t>
            </a:r>
            <a:r>
              <a:rPr lang="en-US" altLang="zh-CN" sz="24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β</a:t>
            </a:r>
            <a:r>
              <a:rPr lang="en-US" altLang="zh-CN" sz="2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)</a:t>
            </a:r>
            <a:r>
              <a:rPr lang="en-US" altLang="zh-CN" sz="24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b="1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 </a:t>
            </a:r>
          </a:p>
          <a:p>
            <a:pPr algn="l">
              <a:spcBef>
                <a:spcPct val="50000"/>
              </a:spcBef>
            </a:pPr>
            <a:r>
              <a:rPr lang="en-US" altLang="zh-CN" sz="2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(1 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+ </a:t>
            </a:r>
            <a:r>
              <a:rPr lang="en-US" altLang="zh-CN" sz="2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50)×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0.029 = 1.48mA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758370" y="3954917"/>
            <a:ext cx="5588001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CE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en-US" altLang="zh-CN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CC</a:t>
            </a:r>
            <a:r>
              <a: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－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E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12</a:t>
            </a:r>
            <a:r>
              <a:rPr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－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3×1.48 = 7.56V</a:t>
            </a:r>
          </a:p>
        </p:txBody>
      </p:sp>
      <p:grpSp>
        <p:nvGrpSpPr>
          <p:cNvPr id="64" name="组合 63"/>
          <p:cNvGrpSpPr/>
          <p:nvPr/>
        </p:nvGrpSpPr>
        <p:grpSpPr>
          <a:xfrm>
            <a:off x="4627615" y="706741"/>
            <a:ext cx="4319735" cy="2870200"/>
            <a:chOff x="4649788" y="1826759"/>
            <a:chExt cx="4319735" cy="2870200"/>
          </a:xfrm>
        </p:grpSpPr>
        <p:sp>
          <p:nvSpPr>
            <p:cNvPr id="65" name="Line 17"/>
            <p:cNvSpPr>
              <a:spLocks noChangeShapeType="1"/>
            </p:cNvSpPr>
            <p:nvPr/>
          </p:nvSpPr>
          <p:spPr bwMode="auto">
            <a:xfrm>
              <a:off x="4840287" y="4520746"/>
              <a:ext cx="3600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6" name="Line 18"/>
            <p:cNvSpPr>
              <a:spLocks noChangeShapeType="1"/>
            </p:cNvSpPr>
            <p:nvPr/>
          </p:nvSpPr>
          <p:spPr bwMode="auto">
            <a:xfrm>
              <a:off x="5938838" y="3277734"/>
              <a:ext cx="750887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7" name="Line 19"/>
            <p:cNvSpPr>
              <a:spLocks noChangeShapeType="1"/>
            </p:cNvSpPr>
            <p:nvPr/>
          </p:nvSpPr>
          <p:spPr bwMode="auto">
            <a:xfrm>
              <a:off x="6692900" y="2984046"/>
              <a:ext cx="0" cy="58420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8" name="Line 20"/>
            <p:cNvSpPr>
              <a:spLocks noChangeShapeType="1"/>
            </p:cNvSpPr>
            <p:nvPr/>
          </p:nvSpPr>
          <p:spPr bwMode="auto">
            <a:xfrm flipV="1">
              <a:off x="6692900" y="2915784"/>
              <a:ext cx="300038" cy="24765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9" name="Line 21"/>
            <p:cNvSpPr>
              <a:spLocks noChangeShapeType="1"/>
            </p:cNvSpPr>
            <p:nvPr/>
          </p:nvSpPr>
          <p:spPr bwMode="auto">
            <a:xfrm>
              <a:off x="6688138" y="3355522"/>
              <a:ext cx="301625" cy="242887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Line 22"/>
            <p:cNvSpPr>
              <a:spLocks noChangeShapeType="1"/>
            </p:cNvSpPr>
            <p:nvPr/>
          </p:nvSpPr>
          <p:spPr bwMode="auto">
            <a:xfrm flipH="1">
              <a:off x="6991350" y="1863271"/>
              <a:ext cx="1588" cy="1050925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Line 23"/>
            <p:cNvSpPr>
              <a:spLocks noChangeShapeType="1"/>
            </p:cNvSpPr>
            <p:nvPr/>
          </p:nvSpPr>
          <p:spPr bwMode="auto">
            <a:xfrm>
              <a:off x="6978650" y="3568246"/>
              <a:ext cx="0" cy="95885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2" name="Line 24"/>
            <p:cNvSpPr>
              <a:spLocks noChangeShapeType="1"/>
            </p:cNvSpPr>
            <p:nvPr/>
          </p:nvSpPr>
          <p:spPr bwMode="auto">
            <a:xfrm>
              <a:off x="6978650" y="1863271"/>
              <a:ext cx="1460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Line 26"/>
            <p:cNvSpPr>
              <a:spLocks noChangeShapeType="1"/>
            </p:cNvSpPr>
            <p:nvPr/>
          </p:nvSpPr>
          <p:spPr bwMode="auto">
            <a:xfrm>
              <a:off x="5470525" y="3274559"/>
              <a:ext cx="469900" cy="158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4" name="Oval 27"/>
            <p:cNvSpPr>
              <a:spLocks noChangeArrowheads="1"/>
            </p:cNvSpPr>
            <p:nvPr/>
          </p:nvSpPr>
          <p:spPr bwMode="auto">
            <a:xfrm>
              <a:off x="6945313" y="4465184"/>
              <a:ext cx="65087" cy="7302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5" name="Line 28"/>
            <p:cNvSpPr>
              <a:spLocks noChangeShapeType="1"/>
            </p:cNvSpPr>
            <p:nvPr/>
          </p:nvSpPr>
          <p:spPr bwMode="auto">
            <a:xfrm>
              <a:off x="6978650" y="4446134"/>
              <a:ext cx="0" cy="2508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Line 29"/>
            <p:cNvSpPr>
              <a:spLocks noChangeShapeType="1"/>
            </p:cNvSpPr>
            <p:nvPr/>
          </p:nvSpPr>
          <p:spPr bwMode="auto">
            <a:xfrm>
              <a:off x="6878638" y="4696959"/>
              <a:ext cx="2143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Rectangle 30"/>
            <p:cNvSpPr>
              <a:spLocks noChangeArrowheads="1"/>
            </p:cNvSpPr>
            <p:nvPr/>
          </p:nvSpPr>
          <p:spPr bwMode="auto">
            <a:xfrm>
              <a:off x="4945063" y="3852409"/>
              <a:ext cx="449162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78" name="Rectangle 31"/>
            <p:cNvSpPr>
              <a:spLocks noChangeArrowheads="1"/>
            </p:cNvSpPr>
            <p:nvPr/>
          </p:nvSpPr>
          <p:spPr bwMode="auto">
            <a:xfrm>
              <a:off x="8445500" y="3614284"/>
              <a:ext cx="32412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79" name="Rectangle 32"/>
            <p:cNvSpPr>
              <a:spLocks noChangeArrowheads="1"/>
            </p:cNvSpPr>
            <p:nvPr/>
          </p:nvSpPr>
          <p:spPr bwMode="auto">
            <a:xfrm>
              <a:off x="8432800" y="4231821"/>
              <a:ext cx="361950" cy="304800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1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80" name="Rectangle 33"/>
            <p:cNvSpPr>
              <a:spLocks noChangeArrowheads="1"/>
            </p:cNvSpPr>
            <p:nvPr/>
          </p:nvSpPr>
          <p:spPr bwMode="auto">
            <a:xfrm>
              <a:off x="6908800" y="3773034"/>
              <a:ext cx="138113" cy="406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1" name="Rectangle 34"/>
            <p:cNvSpPr>
              <a:spLocks noChangeArrowheads="1"/>
            </p:cNvSpPr>
            <p:nvPr/>
          </p:nvSpPr>
          <p:spPr bwMode="auto">
            <a:xfrm>
              <a:off x="7943850" y="3893684"/>
              <a:ext cx="420308" cy="36933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82" name="Rectangle 35"/>
            <p:cNvSpPr>
              <a:spLocks noChangeArrowheads="1"/>
            </p:cNvSpPr>
            <p:nvPr/>
          </p:nvSpPr>
          <p:spPr bwMode="auto">
            <a:xfrm>
              <a:off x="7156450" y="3155496"/>
              <a:ext cx="184731" cy="2769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endParaRPr lang="zh-CN" altLang="zh-CN" b="1" baseline="-250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3" name="Line 36"/>
            <p:cNvSpPr>
              <a:spLocks noChangeShapeType="1"/>
            </p:cNvSpPr>
            <p:nvPr/>
          </p:nvSpPr>
          <p:spPr bwMode="auto">
            <a:xfrm>
              <a:off x="7080250" y="2320471"/>
              <a:ext cx="0" cy="403225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4" name="Rectangle 37"/>
            <p:cNvSpPr>
              <a:spLocks noChangeArrowheads="1"/>
            </p:cNvSpPr>
            <p:nvPr/>
          </p:nvSpPr>
          <p:spPr bwMode="auto">
            <a:xfrm>
              <a:off x="7115175" y="2204584"/>
              <a:ext cx="420308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85" name="Line 38"/>
            <p:cNvSpPr>
              <a:spLocks noChangeShapeType="1"/>
            </p:cNvSpPr>
            <p:nvPr/>
          </p:nvSpPr>
          <p:spPr bwMode="auto">
            <a:xfrm>
              <a:off x="6243638" y="3201534"/>
              <a:ext cx="311150" cy="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6" name="Rectangle 39"/>
            <p:cNvSpPr>
              <a:spLocks noChangeArrowheads="1"/>
            </p:cNvSpPr>
            <p:nvPr/>
          </p:nvSpPr>
          <p:spPr bwMode="auto">
            <a:xfrm>
              <a:off x="6159500" y="2682421"/>
              <a:ext cx="420308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87" name="Line 40"/>
            <p:cNvSpPr>
              <a:spLocks noChangeShapeType="1"/>
            </p:cNvSpPr>
            <p:nvPr/>
          </p:nvSpPr>
          <p:spPr bwMode="auto">
            <a:xfrm flipH="1">
              <a:off x="5940425" y="1863271"/>
              <a:ext cx="0" cy="14366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8" name="Line 41"/>
            <p:cNvSpPr>
              <a:spLocks noChangeShapeType="1"/>
            </p:cNvSpPr>
            <p:nvPr/>
          </p:nvSpPr>
          <p:spPr bwMode="auto">
            <a:xfrm flipV="1">
              <a:off x="5924551" y="1860096"/>
              <a:ext cx="11509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9" name="Rectangle 42"/>
            <p:cNvSpPr>
              <a:spLocks noChangeArrowheads="1"/>
            </p:cNvSpPr>
            <p:nvPr/>
          </p:nvSpPr>
          <p:spPr bwMode="auto">
            <a:xfrm>
              <a:off x="5870575" y="2271259"/>
              <a:ext cx="139700" cy="379412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0" name="Line 43"/>
            <p:cNvSpPr>
              <a:spLocks noChangeShapeType="1"/>
            </p:cNvSpPr>
            <p:nvPr/>
          </p:nvSpPr>
          <p:spPr bwMode="auto">
            <a:xfrm>
              <a:off x="7646988" y="3676196"/>
              <a:ext cx="7858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1" name="Line 45"/>
            <p:cNvSpPr>
              <a:spLocks noChangeShapeType="1"/>
            </p:cNvSpPr>
            <p:nvPr/>
          </p:nvSpPr>
          <p:spPr bwMode="auto">
            <a:xfrm>
              <a:off x="7467600" y="3498396"/>
              <a:ext cx="0" cy="3636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2" name="Line 46"/>
            <p:cNvSpPr>
              <a:spLocks noChangeShapeType="1"/>
            </p:cNvSpPr>
            <p:nvPr/>
          </p:nvSpPr>
          <p:spPr bwMode="auto">
            <a:xfrm>
              <a:off x="7634288" y="3501478"/>
              <a:ext cx="0" cy="3636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3" name="Line 47"/>
            <p:cNvSpPr>
              <a:spLocks noChangeShapeType="1"/>
            </p:cNvSpPr>
            <p:nvPr/>
          </p:nvSpPr>
          <p:spPr bwMode="auto">
            <a:xfrm>
              <a:off x="6978650" y="3682546"/>
              <a:ext cx="488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4" name="Line 48"/>
            <p:cNvSpPr>
              <a:spLocks noChangeShapeType="1"/>
            </p:cNvSpPr>
            <p:nvPr/>
          </p:nvSpPr>
          <p:spPr bwMode="auto">
            <a:xfrm>
              <a:off x="8439150" y="3682546"/>
              <a:ext cx="0" cy="838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5" name="Oval 49"/>
            <p:cNvSpPr>
              <a:spLocks noChangeArrowheads="1"/>
            </p:cNvSpPr>
            <p:nvPr/>
          </p:nvSpPr>
          <p:spPr bwMode="auto">
            <a:xfrm>
              <a:off x="8375650" y="1826759"/>
              <a:ext cx="63500" cy="746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6" name="Text Box 50"/>
            <p:cNvSpPr txBox="1">
              <a:spLocks noChangeArrowheads="1"/>
            </p:cNvSpPr>
            <p:nvPr/>
          </p:nvSpPr>
          <p:spPr bwMode="auto">
            <a:xfrm>
              <a:off x="6943725" y="3045959"/>
              <a:ext cx="330540" cy="3795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sp>
          <p:nvSpPr>
            <p:cNvPr id="97" name="Line 52"/>
            <p:cNvSpPr>
              <a:spLocks noChangeShapeType="1"/>
            </p:cNvSpPr>
            <p:nvPr/>
          </p:nvSpPr>
          <p:spPr bwMode="auto">
            <a:xfrm>
              <a:off x="5303838" y="3101521"/>
              <a:ext cx="0" cy="3620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8" name="Line 53"/>
            <p:cNvSpPr>
              <a:spLocks noChangeShapeType="1"/>
            </p:cNvSpPr>
            <p:nvPr/>
          </p:nvSpPr>
          <p:spPr bwMode="auto">
            <a:xfrm>
              <a:off x="5470525" y="3104589"/>
              <a:ext cx="0" cy="36205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9" name="Rectangle 54"/>
            <p:cNvSpPr>
              <a:spLocks noChangeArrowheads="1"/>
            </p:cNvSpPr>
            <p:nvPr/>
          </p:nvSpPr>
          <p:spPr bwMode="auto">
            <a:xfrm>
              <a:off x="7394575" y="3155496"/>
              <a:ext cx="41549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</a:p>
          </p:txBody>
        </p:sp>
        <p:sp>
          <p:nvSpPr>
            <p:cNvPr id="100" name="Rectangle 55"/>
            <p:cNvSpPr>
              <a:spLocks noChangeArrowheads="1"/>
            </p:cNvSpPr>
            <p:nvPr/>
          </p:nvSpPr>
          <p:spPr bwMode="auto">
            <a:xfrm>
              <a:off x="5111750" y="2723696"/>
              <a:ext cx="41549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01" name="Rectangle 56"/>
            <p:cNvSpPr>
              <a:spLocks noChangeArrowheads="1"/>
            </p:cNvSpPr>
            <p:nvPr/>
          </p:nvSpPr>
          <p:spPr bwMode="auto">
            <a:xfrm>
              <a:off x="5467350" y="2884034"/>
              <a:ext cx="32412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02" name="Rectangle 57"/>
            <p:cNvSpPr>
              <a:spLocks noChangeArrowheads="1"/>
            </p:cNvSpPr>
            <p:nvPr/>
          </p:nvSpPr>
          <p:spPr bwMode="auto">
            <a:xfrm>
              <a:off x="7186613" y="3312659"/>
              <a:ext cx="324128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103" name="Rectangle 58"/>
            <p:cNvSpPr>
              <a:spLocks noChangeArrowheads="1"/>
            </p:cNvSpPr>
            <p:nvPr/>
          </p:nvSpPr>
          <p:spPr bwMode="auto">
            <a:xfrm>
              <a:off x="5410200" y="2164896"/>
              <a:ext cx="428322" cy="36933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104" name="Rectangle 59"/>
            <p:cNvSpPr>
              <a:spLocks noChangeArrowheads="1"/>
            </p:cNvSpPr>
            <p:nvPr/>
          </p:nvSpPr>
          <p:spPr bwMode="auto">
            <a:xfrm>
              <a:off x="6477000" y="3812721"/>
              <a:ext cx="420308" cy="36933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105" name="Rectangle 60"/>
            <p:cNvSpPr>
              <a:spLocks noChangeArrowheads="1"/>
            </p:cNvSpPr>
            <p:nvPr/>
          </p:nvSpPr>
          <p:spPr bwMode="auto">
            <a:xfrm>
              <a:off x="7943850" y="1829934"/>
              <a:ext cx="686406" cy="369332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grpSp>
          <p:nvGrpSpPr>
            <p:cNvPr id="106" name="Group 61"/>
            <p:cNvGrpSpPr>
              <a:grpSpLocks/>
            </p:cNvGrpSpPr>
            <p:nvPr/>
          </p:nvGrpSpPr>
          <p:grpSpPr bwMode="auto">
            <a:xfrm>
              <a:off x="4649796" y="3277733"/>
              <a:ext cx="658813" cy="1285876"/>
              <a:chOff x="2929" y="2339"/>
              <a:chExt cx="415" cy="810"/>
            </a:xfrm>
          </p:grpSpPr>
          <p:sp>
            <p:nvSpPr>
              <p:cNvPr id="109" name="Oval 62"/>
              <p:cNvSpPr>
                <a:spLocks noChangeArrowheads="1"/>
              </p:cNvSpPr>
              <p:nvPr/>
            </p:nvSpPr>
            <p:spPr bwMode="auto">
              <a:xfrm>
                <a:off x="2929" y="2777"/>
                <a:ext cx="232" cy="224"/>
              </a:xfrm>
              <a:prstGeom prst="ellipse">
                <a:avLst/>
              </a:prstGeom>
              <a:gradFill rotWithShape="1">
                <a:gsLst>
                  <a:gs pos="0">
                    <a:srgbClr val="CCFFFF"/>
                  </a:gs>
                  <a:gs pos="50000">
                    <a:schemeClr val="accent1"/>
                  </a:gs>
                  <a:gs pos="100000">
                    <a:srgbClr val="CCFFFF"/>
                  </a:gs>
                </a:gsLst>
                <a:lin ang="2700000" scaled="1"/>
              </a:gradFill>
              <a:ln w="38100" algn="ctr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0" name="Line 63"/>
              <p:cNvSpPr>
                <a:spLocks noChangeShapeType="1"/>
              </p:cNvSpPr>
              <p:nvPr/>
            </p:nvSpPr>
            <p:spPr bwMode="auto">
              <a:xfrm>
                <a:off x="3044" y="2343"/>
                <a:ext cx="1" cy="789"/>
              </a:xfrm>
              <a:prstGeom prst="lin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1" name="Rectangle 64"/>
              <p:cNvSpPr>
                <a:spLocks noChangeArrowheads="1"/>
              </p:cNvSpPr>
              <p:nvPr/>
            </p:nvSpPr>
            <p:spPr bwMode="auto">
              <a:xfrm>
                <a:off x="3000" y="2437"/>
                <a:ext cx="88" cy="239"/>
              </a:xfrm>
              <a:prstGeom prst="rect">
                <a:avLst/>
              </a:prstGeom>
              <a:gradFill rotWithShape="1">
                <a:gsLst>
                  <a:gs pos="0">
                    <a:srgbClr val="76664A"/>
                  </a:gs>
                  <a:gs pos="50000">
                    <a:srgbClr val="FFDDA0"/>
                  </a:gs>
                  <a:gs pos="100000">
                    <a:srgbClr val="76664A"/>
                  </a:gs>
                </a:gsLst>
                <a:lin ang="0" scaled="1"/>
              </a:gradFill>
              <a:ln w="44450" algn="ctr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2" name="Rectangle 65"/>
              <p:cNvSpPr>
                <a:spLocks noChangeArrowheads="1"/>
              </p:cNvSpPr>
              <p:nvPr/>
            </p:nvSpPr>
            <p:spPr bwMode="auto">
              <a:xfrm>
                <a:off x="3060" y="2426"/>
                <a:ext cx="259" cy="233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b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</a:p>
            </p:txBody>
          </p:sp>
          <p:sp>
            <p:nvSpPr>
              <p:cNvPr id="113" name="Line 66"/>
              <p:cNvSpPr>
                <a:spLocks noChangeShapeType="1"/>
              </p:cNvSpPr>
              <p:nvPr/>
            </p:nvSpPr>
            <p:spPr bwMode="auto">
              <a:xfrm>
                <a:off x="3032" y="2339"/>
                <a:ext cx="30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4" name="Rectangle 67"/>
              <p:cNvSpPr>
                <a:spLocks noChangeArrowheads="1"/>
              </p:cNvSpPr>
              <p:nvPr/>
            </p:nvSpPr>
            <p:spPr bwMode="auto">
              <a:xfrm>
                <a:off x="3116" y="2611"/>
                <a:ext cx="204" cy="23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rgbClr val="999999"/>
                </a:prstShdw>
              </a:effectLst>
            </p:spPr>
            <p:txBody>
              <a:bodyPr wrap="none">
                <a:spAutoFit/>
              </a:bodyPr>
              <a:lstStyle/>
              <a:p>
                <a:r>
                  <a:rPr lang="en-US" altLang="zh-CN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+</a:t>
                </a:r>
              </a:p>
            </p:txBody>
          </p:sp>
          <p:sp>
            <p:nvSpPr>
              <p:cNvPr id="115" name="Rectangle 68"/>
              <p:cNvSpPr>
                <a:spLocks noChangeArrowheads="1"/>
              </p:cNvSpPr>
              <p:nvPr/>
            </p:nvSpPr>
            <p:spPr bwMode="auto">
              <a:xfrm>
                <a:off x="3116" y="2957"/>
                <a:ext cx="228" cy="192"/>
              </a:xfrm>
              <a:prstGeom prst="rect">
                <a:avLst/>
              </a:prstGeom>
              <a:noFill/>
              <a:ln w="57150" algn="ctr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zh-CN" altLang="en-US" sz="1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－</a:t>
                </a:r>
              </a:p>
            </p:txBody>
          </p:sp>
        </p:grpSp>
        <p:sp>
          <p:nvSpPr>
            <p:cNvPr id="107" name="Rectangle 69"/>
            <p:cNvSpPr>
              <a:spLocks noChangeArrowheads="1"/>
            </p:cNvSpPr>
            <p:nvPr/>
          </p:nvSpPr>
          <p:spPr bwMode="auto">
            <a:xfrm>
              <a:off x="8494713" y="3828596"/>
              <a:ext cx="474810" cy="52322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</a:p>
          </p:txBody>
        </p:sp>
        <p:sp>
          <p:nvSpPr>
            <p:cNvPr id="108" name="Rectangle 25"/>
            <p:cNvSpPr>
              <a:spLocks noChangeArrowheads="1"/>
            </p:cNvSpPr>
            <p:nvPr/>
          </p:nvSpPr>
          <p:spPr bwMode="auto">
            <a:xfrm>
              <a:off x="8369300" y="3890509"/>
              <a:ext cx="139700" cy="407987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1034597" y="867003"/>
          <a:ext cx="2909888" cy="1538287"/>
        </p:xfrm>
        <a:graphic>
          <a:graphicData uri="http://schemas.openxmlformats.org/presentationml/2006/ole">
            <p:oleObj spid="_x0000_s41986" name="Equation" r:id="rId3" imgW="1587240" imgH="8380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631371" y="1193126"/>
            <a:ext cx="2884488" cy="831851"/>
            <a:chOff x="624" y="3086"/>
            <a:chExt cx="1817" cy="524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624" y="3120"/>
              <a:ext cx="1817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32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1400" b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300+ </a:t>
              </a:r>
              <a:r>
                <a:rPr lang="en-US" altLang="zh-CN" sz="24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(1+</a:t>
              </a:r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β</a:t>
              </a:r>
              <a:r>
                <a:rPr lang="en-US" altLang="zh-CN" sz="24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) — </a:t>
              </a:r>
              <a:endParaRPr lang="en-US" altLang="zh-CN" sz="1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002" y="3319"/>
              <a:ext cx="25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1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961" y="3086"/>
              <a:ext cx="31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26</a:t>
              </a:r>
              <a:endParaRPr lang="en-US" altLang="zh-CN" sz="1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9" name="Group 9"/>
          <p:cNvGrpSpPr>
            <a:grpSpLocks/>
          </p:cNvGrpSpPr>
          <p:nvPr/>
        </p:nvGrpSpPr>
        <p:grpSpPr bwMode="auto">
          <a:xfrm>
            <a:off x="637041" y="3570971"/>
            <a:ext cx="8077200" cy="865188"/>
            <a:chOff x="367" y="2366"/>
            <a:chExt cx="5088" cy="545"/>
          </a:xfrm>
        </p:grpSpPr>
        <p:grpSp>
          <p:nvGrpSpPr>
            <p:cNvPr id="10" name="Group 10"/>
            <p:cNvGrpSpPr>
              <a:grpSpLocks/>
            </p:cNvGrpSpPr>
            <p:nvPr/>
          </p:nvGrpSpPr>
          <p:grpSpPr bwMode="auto">
            <a:xfrm>
              <a:off x="367" y="2380"/>
              <a:ext cx="5088" cy="531"/>
              <a:chOff x="384" y="2496"/>
              <a:chExt cx="4588" cy="531"/>
            </a:xfrm>
          </p:grpSpPr>
          <p:sp>
            <p:nvSpPr>
              <p:cNvPr id="15" name="Text Box 11"/>
              <p:cNvSpPr txBox="1">
                <a:spLocks noChangeArrowheads="1"/>
              </p:cNvSpPr>
              <p:nvPr/>
            </p:nvSpPr>
            <p:spPr bwMode="auto">
              <a:xfrm>
                <a:off x="384" y="2592"/>
                <a:ext cx="458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A</a:t>
                </a:r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 </a:t>
                </a:r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= ——————— = ———————————— = 0.99</a:t>
                </a: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883" y="2496"/>
                <a:ext cx="91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（</a:t>
                </a:r>
                <a:r>
                  <a:rPr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1+</a:t>
                </a:r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β</a:t>
                </a:r>
                <a:r>
                  <a:rPr lang="zh-CN" altLang="en-US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）</a:t>
                </a:r>
                <a:r>
                  <a:rPr lang="en-US" altLang="zh-CN" sz="24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'</a:t>
                </a:r>
                <a:r>
                  <a:rPr lang="en-US" altLang="zh-CN" b="1" i="1" baseline="-2500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L</a:t>
                </a:r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1056" y="2736"/>
                <a:ext cx="920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（</a:t>
                </a:r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1+</a:t>
                </a: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β</a:t>
                </a:r>
                <a:r>
                  <a:rPr lang="zh-CN" altLang="en-US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）</a:t>
                </a:r>
                <a:r>
                  <a:rPr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'</a:t>
                </a:r>
                <a:r>
                  <a:rPr lang="en-US" altLang="zh-CN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L</a:t>
                </a:r>
              </a:p>
            </p:txBody>
          </p:sp>
        </p:grpSp>
        <p:grpSp>
          <p:nvGrpSpPr>
            <p:cNvPr id="11" name="Group 14"/>
            <p:cNvGrpSpPr>
              <a:grpSpLocks/>
            </p:cNvGrpSpPr>
            <p:nvPr/>
          </p:nvGrpSpPr>
          <p:grpSpPr bwMode="auto">
            <a:xfrm>
              <a:off x="899" y="2366"/>
              <a:ext cx="3718" cy="545"/>
              <a:chOff x="899" y="2366"/>
              <a:chExt cx="3718" cy="545"/>
            </a:xfrm>
          </p:grpSpPr>
          <p:sp>
            <p:nvSpPr>
              <p:cNvPr id="12" name="Rectangle 15"/>
              <p:cNvSpPr>
                <a:spLocks noChangeArrowheads="1"/>
              </p:cNvSpPr>
              <p:nvPr/>
            </p:nvSpPr>
            <p:spPr bwMode="auto">
              <a:xfrm>
                <a:off x="899" y="2543"/>
                <a:ext cx="324" cy="3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3200" b="1" i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lang="en-US" altLang="zh-CN" sz="1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be</a:t>
                </a:r>
              </a:p>
            </p:txBody>
          </p:sp>
          <p:sp>
            <p:nvSpPr>
              <p:cNvPr id="13" name="Rectangle 16"/>
              <p:cNvSpPr>
                <a:spLocks noChangeArrowheads="1"/>
              </p:cNvSpPr>
              <p:nvPr/>
            </p:nvSpPr>
            <p:spPr bwMode="auto">
              <a:xfrm>
                <a:off x="2488" y="2366"/>
                <a:ext cx="2129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zh-CN" altLang="en-US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（</a:t>
                </a:r>
                <a:r>
                  <a:rPr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1+50</a:t>
                </a:r>
                <a:r>
                  <a:rPr lang="zh-CN" altLang="en-US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）（</a:t>
                </a:r>
                <a:r>
                  <a:rPr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3//6</a:t>
                </a:r>
                <a:r>
                  <a:rPr lang="zh-CN" altLang="en-US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）</a:t>
                </a:r>
              </a:p>
            </p:txBody>
          </p:sp>
          <p:sp>
            <p:nvSpPr>
              <p:cNvPr id="14" name="Rectangle 17"/>
              <p:cNvSpPr>
                <a:spLocks noChangeArrowheads="1"/>
              </p:cNvSpPr>
              <p:nvPr/>
            </p:nvSpPr>
            <p:spPr bwMode="auto">
              <a:xfrm>
                <a:off x="2479" y="2620"/>
                <a:ext cx="2129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1.20+</a:t>
                </a:r>
                <a:r>
                  <a:rPr lang="zh-CN" altLang="en-US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（</a:t>
                </a:r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1+50</a:t>
                </a:r>
                <a:r>
                  <a:rPr lang="zh-CN" altLang="en-US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）（</a:t>
                </a:r>
                <a:r>
                  <a:rPr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3//6</a:t>
                </a:r>
                <a:r>
                  <a:rPr lang="zh-CN" altLang="en-US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）</a:t>
                </a:r>
              </a:p>
            </p:txBody>
          </p:sp>
        </p:grpSp>
      </p:grpSp>
      <p:sp>
        <p:nvSpPr>
          <p:cNvPr id="26" name="Rectangle 74"/>
          <p:cNvSpPr>
            <a:spLocks noChangeArrowheads="1"/>
          </p:cNvSpPr>
          <p:nvPr/>
        </p:nvSpPr>
        <p:spPr bwMode="auto">
          <a:xfrm>
            <a:off x="1053646" y="2591707"/>
            <a:ext cx="1433406" cy="46166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>
            <a:prstShdw prst="shdw17" dist="17961" dir="2700000">
              <a:srgbClr val="999999"/>
            </a:prstShdw>
          </a:effectLst>
        </p:spPr>
        <p:txBody>
          <a:bodyPr wrap="none">
            <a:spAutoFit/>
          </a:bodyPr>
          <a:lstStyle/>
          <a:p>
            <a:r>
              <a:rPr lang="en-US" altLang="zh-CN" sz="2400" b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 1.20kΩ</a:t>
            </a:r>
          </a:p>
        </p:txBody>
      </p:sp>
      <p:grpSp>
        <p:nvGrpSpPr>
          <p:cNvPr id="27" name="Group 75"/>
          <p:cNvGrpSpPr>
            <a:grpSpLocks/>
          </p:cNvGrpSpPr>
          <p:nvPr/>
        </p:nvGrpSpPr>
        <p:grpSpPr bwMode="auto">
          <a:xfrm>
            <a:off x="1036184" y="1867811"/>
            <a:ext cx="2986088" cy="874714"/>
            <a:chOff x="639" y="1389"/>
            <a:chExt cx="1881" cy="551"/>
          </a:xfrm>
        </p:grpSpPr>
        <p:sp>
          <p:nvSpPr>
            <p:cNvPr id="28" name="Rectangle 76"/>
            <p:cNvSpPr>
              <a:spLocks noChangeArrowheads="1"/>
            </p:cNvSpPr>
            <p:nvPr/>
          </p:nvSpPr>
          <p:spPr bwMode="auto">
            <a:xfrm>
              <a:off x="639" y="1499"/>
              <a:ext cx="1881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>
              <a:prstShdw prst="shdw17" dist="17961" dir="2700000">
                <a:srgbClr val="999999"/>
              </a:prstShdw>
            </a:effec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=  300</a:t>
              </a:r>
              <a:r>
                <a:rPr lang="en-US" altLang="zh-CN" sz="24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+(1+50)×—— </a:t>
              </a:r>
              <a:endPara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9" name="Rectangle 77"/>
            <p:cNvSpPr>
              <a:spLocks noChangeArrowheads="1"/>
            </p:cNvSpPr>
            <p:nvPr/>
          </p:nvSpPr>
          <p:spPr bwMode="auto">
            <a:xfrm>
              <a:off x="2104" y="1389"/>
              <a:ext cx="310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>
              <a:prstShdw prst="shdw17" dist="17961" dir="2700000">
                <a:srgbClr val="999999"/>
              </a:prstShdw>
            </a:effec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26</a:t>
              </a:r>
            </a:p>
          </p:txBody>
        </p:sp>
        <p:sp>
          <p:nvSpPr>
            <p:cNvPr id="30" name="Rectangle 78"/>
            <p:cNvSpPr>
              <a:spLocks noChangeArrowheads="1"/>
            </p:cNvSpPr>
            <p:nvPr/>
          </p:nvSpPr>
          <p:spPr bwMode="auto">
            <a:xfrm>
              <a:off x="1990" y="1649"/>
              <a:ext cx="456" cy="291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>
              <a:prstShdw prst="shdw17" dist="17961" dir="2700000">
                <a:srgbClr val="999999"/>
              </a:prstShdw>
            </a:effectLst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1.48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665571" y="153609"/>
            <a:ext cx="4121640" cy="3306485"/>
            <a:chOff x="1096474" y="1989668"/>
            <a:chExt cx="4121640" cy="3306485"/>
          </a:xfrm>
        </p:grpSpPr>
        <p:sp>
          <p:nvSpPr>
            <p:cNvPr id="32" name="Oval 82"/>
            <p:cNvSpPr>
              <a:spLocks noChangeArrowheads="1"/>
            </p:cNvSpPr>
            <p:nvPr/>
          </p:nvSpPr>
          <p:spPr bwMode="auto">
            <a:xfrm>
              <a:off x="1566334" y="4192298"/>
              <a:ext cx="396000" cy="360000"/>
            </a:xfrm>
            <a:prstGeom prst="ellipse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2700000" scaled="1"/>
            </a:gra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Line 20"/>
            <p:cNvSpPr>
              <a:spLocks noChangeShapeType="1"/>
            </p:cNvSpPr>
            <p:nvPr/>
          </p:nvSpPr>
          <p:spPr bwMode="auto">
            <a:xfrm>
              <a:off x="2329744" y="2652083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" name="Rectangle 21"/>
            <p:cNvSpPr>
              <a:spLocks noChangeArrowheads="1"/>
            </p:cNvSpPr>
            <p:nvPr/>
          </p:nvSpPr>
          <p:spPr bwMode="auto">
            <a:xfrm>
              <a:off x="2239257" y="3507746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" name="Line 22"/>
            <p:cNvSpPr>
              <a:spLocks noChangeShapeType="1"/>
            </p:cNvSpPr>
            <p:nvPr/>
          </p:nvSpPr>
          <p:spPr bwMode="auto">
            <a:xfrm flipV="1">
              <a:off x="1749778" y="2660902"/>
              <a:ext cx="14156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" name="Line 23"/>
            <p:cNvSpPr>
              <a:spLocks noChangeShapeType="1"/>
            </p:cNvSpPr>
            <p:nvPr/>
          </p:nvSpPr>
          <p:spPr bwMode="auto">
            <a:xfrm>
              <a:off x="3165476" y="2660903"/>
              <a:ext cx="0" cy="1270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Line 24"/>
            <p:cNvSpPr>
              <a:spLocks noChangeShapeType="1"/>
            </p:cNvSpPr>
            <p:nvPr/>
          </p:nvSpPr>
          <p:spPr bwMode="auto">
            <a:xfrm flipV="1">
              <a:off x="1761419" y="5116765"/>
              <a:ext cx="3456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Line 25"/>
            <p:cNvSpPr>
              <a:spLocks noChangeShapeType="1"/>
            </p:cNvSpPr>
            <p:nvPr/>
          </p:nvSpPr>
          <p:spPr bwMode="auto">
            <a:xfrm>
              <a:off x="3768726" y="5116765"/>
              <a:ext cx="0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Line 26"/>
            <p:cNvSpPr>
              <a:spLocks noChangeShapeType="1"/>
            </p:cNvSpPr>
            <p:nvPr/>
          </p:nvSpPr>
          <p:spPr bwMode="auto">
            <a:xfrm>
              <a:off x="3595689" y="5278690"/>
              <a:ext cx="33655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2551113" y="3000628"/>
              <a:ext cx="757238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1" name="Text Box 28"/>
            <p:cNvSpPr txBox="1">
              <a:spLocks noChangeArrowheads="1"/>
            </p:cNvSpPr>
            <p:nvPr/>
          </p:nvSpPr>
          <p:spPr bwMode="auto">
            <a:xfrm>
              <a:off x="3846514" y="3437190"/>
              <a:ext cx="5588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42" name="Text Box 29"/>
            <p:cNvSpPr txBox="1">
              <a:spLocks noChangeArrowheads="1"/>
            </p:cNvSpPr>
            <p:nvPr/>
          </p:nvSpPr>
          <p:spPr bwMode="auto">
            <a:xfrm>
              <a:off x="2411413" y="2665665"/>
              <a:ext cx="390525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3" name="Text Box 30"/>
            <p:cNvSpPr txBox="1">
              <a:spLocks noChangeArrowheads="1"/>
            </p:cNvSpPr>
            <p:nvPr/>
          </p:nvSpPr>
          <p:spPr bwMode="auto">
            <a:xfrm>
              <a:off x="4651377" y="2670427"/>
              <a:ext cx="3937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4" name="Oval 31"/>
            <p:cNvSpPr>
              <a:spLocks noChangeArrowheads="1"/>
            </p:cNvSpPr>
            <p:nvPr/>
          </p:nvSpPr>
          <p:spPr bwMode="auto">
            <a:xfrm>
              <a:off x="3722689" y="5067553"/>
              <a:ext cx="84138" cy="762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Line 32"/>
            <p:cNvSpPr>
              <a:spLocks noChangeShapeType="1"/>
            </p:cNvSpPr>
            <p:nvPr/>
          </p:nvSpPr>
          <p:spPr bwMode="auto">
            <a:xfrm>
              <a:off x="4418014" y="2584703"/>
              <a:ext cx="11113" cy="1346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AutoShape 33"/>
            <p:cNvSpPr>
              <a:spLocks noChangeArrowheads="1"/>
            </p:cNvSpPr>
            <p:nvPr/>
          </p:nvSpPr>
          <p:spPr bwMode="auto">
            <a:xfrm>
              <a:off x="4210051" y="2945065"/>
              <a:ext cx="438150" cy="622300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7" name="Line 34"/>
            <p:cNvSpPr>
              <a:spLocks noChangeShapeType="1"/>
            </p:cNvSpPr>
            <p:nvPr/>
          </p:nvSpPr>
          <p:spPr bwMode="auto">
            <a:xfrm>
              <a:off x="5218114" y="2616452"/>
              <a:ext cx="0" cy="248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Line 35"/>
            <p:cNvSpPr>
              <a:spLocks noChangeShapeType="1"/>
            </p:cNvSpPr>
            <p:nvPr/>
          </p:nvSpPr>
          <p:spPr bwMode="auto">
            <a:xfrm>
              <a:off x="4429127" y="3619753"/>
              <a:ext cx="0" cy="3111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9" name="Rectangle 37"/>
            <p:cNvSpPr>
              <a:spLocks noChangeArrowheads="1"/>
            </p:cNvSpPr>
            <p:nvPr/>
          </p:nvSpPr>
          <p:spPr bwMode="auto">
            <a:xfrm>
              <a:off x="2398007" y="3523620"/>
              <a:ext cx="508473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0" name="Line 38"/>
            <p:cNvSpPr>
              <a:spLocks noChangeShapeType="1"/>
            </p:cNvSpPr>
            <p:nvPr/>
          </p:nvSpPr>
          <p:spPr bwMode="auto">
            <a:xfrm>
              <a:off x="4418014" y="2598990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1" name="Line 39"/>
            <p:cNvSpPr>
              <a:spLocks noChangeShapeType="1"/>
            </p:cNvSpPr>
            <p:nvPr/>
          </p:nvSpPr>
          <p:spPr bwMode="auto">
            <a:xfrm rot="16200000">
              <a:off x="2776538" y="2429127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2" name="Line 40"/>
            <p:cNvSpPr>
              <a:spLocks noChangeShapeType="1"/>
            </p:cNvSpPr>
            <p:nvPr/>
          </p:nvSpPr>
          <p:spPr bwMode="auto">
            <a:xfrm rot="5400000">
              <a:off x="4886327" y="2373565"/>
              <a:ext cx="0" cy="461963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3" name="Rectangle 41"/>
            <p:cNvSpPr>
              <a:spLocks noChangeArrowheads="1"/>
            </p:cNvSpPr>
            <p:nvPr/>
          </p:nvSpPr>
          <p:spPr bwMode="auto">
            <a:xfrm>
              <a:off x="3074989" y="3033965"/>
              <a:ext cx="179388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471738" y="2487865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55" name="Group 47"/>
            <p:cNvGrpSpPr>
              <a:grpSpLocks/>
            </p:cNvGrpSpPr>
            <p:nvPr/>
          </p:nvGrpSpPr>
          <p:grpSpPr bwMode="auto">
            <a:xfrm>
              <a:off x="4471820" y="3984620"/>
              <a:ext cx="514351" cy="1158876"/>
              <a:chOff x="4734" y="609"/>
              <a:chExt cx="324" cy="730"/>
            </a:xfrm>
          </p:grpSpPr>
          <p:sp>
            <p:nvSpPr>
              <p:cNvPr id="83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4" name="Text Box 49"/>
              <p:cNvSpPr txBox="1">
                <a:spLocks noChangeArrowheads="1"/>
              </p:cNvSpPr>
              <p:nvPr/>
            </p:nvSpPr>
            <p:spPr bwMode="auto">
              <a:xfrm>
                <a:off x="4758" y="1048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85" name="Text Box 50"/>
              <p:cNvSpPr txBox="1">
                <a:spLocks noChangeArrowheads="1"/>
              </p:cNvSpPr>
              <p:nvPr/>
            </p:nvSpPr>
            <p:spPr bwMode="auto">
              <a:xfrm>
                <a:off x="4750" y="609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86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56" name="Rectangle 59"/>
            <p:cNvSpPr>
              <a:spLocks noChangeArrowheads="1"/>
            </p:cNvSpPr>
            <p:nvPr/>
          </p:nvSpPr>
          <p:spPr bwMode="auto">
            <a:xfrm>
              <a:off x="4067176" y="3283203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57" name="Rectangle 60"/>
            <p:cNvSpPr>
              <a:spLocks noChangeArrowheads="1"/>
            </p:cNvSpPr>
            <p:nvPr/>
          </p:nvSpPr>
          <p:spPr bwMode="auto">
            <a:xfrm>
              <a:off x="4719640" y="2559302"/>
              <a:ext cx="265113" cy="3698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58" name="Line 61"/>
            <p:cNvSpPr>
              <a:spLocks noChangeShapeType="1"/>
            </p:cNvSpPr>
            <p:nvPr/>
          </p:nvSpPr>
          <p:spPr bwMode="auto">
            <a:xfrm>
              <a:off x="3165476" y="3930903"/>
              <a:ext cx="12938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9" name="Line 62"/>
            <p:cNvSpPr>
              <a:spLocks noChangeShapeType="1"/>
            </p:cNvSpPr>
            <p:nvPr/>
          </p:nvSpPr>
          <p:spPr bwMode="auto">
            <a:xfrm flipV="1">
              <a:off x="3754439" y="3930903"/>
              <a:ext cx="0" cy="1152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0" name="Line 64"/>
            <p:cNvSpPr>
              <a:spLocks noChangeShapeType="1"/>
            </p:cNvSpPr>
            <p:nvPr/>
          </p:nvSpPr>
          <p:spPr bwMode="auto">
            <a:xfrm>
              <a:off x="1748544" y="2678895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1" name="Rectangle 65"/>
            <p:cNvSpPr>
              <a:spLocks noChangeArrowheads="1"/>
            </p:cNvSpPr>
            <p:nvPr/>
          </p:nvSpPr>
          <p:spPr bwMode="auto">
            <a:xfrm>
              <a:off x="1674108" y="3112636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2" name="Rectangle 66"/>
            <p:cNvSpPr>
              <a:spLocks noChangeArrowheads="1"/>
            </p:cNvSpPr>
            <p:nvPr/>
          </p:nvSpPr>
          <p:spPr bwMode="auto">
            <a:xfrm>
              <a:off x="1229784" y="3162554"/>
              <a:ext cx="48603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3" name="Text Box 67"/>
            <p:cNvSpPr txBox="1">
              <a:spLocks noChangeArrowheads="1"/>
            </p:cNvSpPr>
            <p:nvPr/>
          </p:nvSpPr>
          <p:spPr bwMode="auto">
            <a:xfrm>
              <a:off x="3159126" y="2406903"/>
              <a:ext cx="320675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64" name="Text Box 68"/>
            <p:cNvSpPr txBox="1">
              <a:spLocks noChangeArrowheads="1"/>
            </p:cNvSpPr>
            <p:nvPr/>
          </p:nvSpPr>
          <p:spPr bwMode="auto">
            <a:xfrm>
              <a:off x="3586164" y="3446715"/>
              <a:ext cx="306388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65" name="Text Box 69"/>
            <p:cNvSpPr txBox="1">
              <a:spLocks noChangeArrowheads="1"/>
            </p:cNvSpPr>
            <p:nvPr/>
          </p:nvSpPr>
          <p:spPr bwMode="auto">
            <a:xfrm>
              <a:off x="4038601" y="2527553"/>
              <a:ext cx="3206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>
              <a:off x="3760789" y="4291265"/>
              <a:ext cx="61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7" name="Line 23"/>
            <p:cNvSpPr>
              <a:spLocks noChangeShapeType="1"/>
            </p:cNvSpPr>
            <p:nvPr/>
          </p:nvSpPr>
          <p:spPr bwMode="auto">
            <a:xfrm>
              <a:off x="4384675" y="4271963"/>
              <a:ext cx="0" cy="828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8" name="Rectangle 45"/>
            <p:cNvSpPr>
              <a:spLocks noChangeArrowheads="1"/>
            </p:cNvSpPr>
            <p:nvPr/>
          </p:nvSpPr>
          <p:spPr bwMode="auto">
            <a:xfrm>
              <a:off x="4287839" y="4446840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9" name="Rectangle 42"/>
            <p:cNvSpPr>
              <a:spLocks noChangeArrowheads="1"/>
            </p:cNvSpPr>
            <p:nvPr/>
          </p:nvSpPr>
          <p:spPr bwMode="auto">
            <a:xfrm>
              <a:off x="3665539" y="4435728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Line 35"/>
            <p:cNvSpPr>
              <a:spLocks noChangeShapeType="1"/>
            </p:cNvSpPr>
            <p:nvPr/>
          </p:nvSpPr>
          <p:spPr bwMode="auto">
            <a:xfrm>
              <a:off x="3748089" y="3934078"/>
              <a:ext cx="0" cy="287338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Rectangle 46"/>
            <p:cNvSpPr>
              <a:spLocks noChangeArrowheads="1"/>
            </p:cNvSpPr>
            <p:nvPr/>
          </p:nvSpPr>
          <p:spPr bwMode="auto">
            <a:xfrm>
              <a:off x="3352800" y="3807077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72" name="Text Box 29"/>
            <p:cNvSpPr txBox="1">
              <a:spLocks noChangeArrowheads="1"/>
            </p:cNvSpPr>
            <p:nvPr/>
          </p:nvSpPr>
          <p:spPr bwMode="auto">
            <a:xfrm>
              <a:off x="3287713" y="4003927"/>
              <a:ext cx="3786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Rectangle 44"/>
            <p:cNvSpPr>
              <a:spLocks noChangeArrowheads="1"/>
            </p:cNvSpPr>
            <p:nvPr/>
          </p:nvSpPr>
          <p:spPr bwMode="auto">
            <a:xfrm>
              <a:off x="3838577" y="4500992"/>
              <a:ext cx="4857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74" name="Rectangle 44"/>
            <p:cNvSpPr>
              <a:spLocks noChangeArrowheads="1"/>
            </p:cNvSpPr>
            <p:nvPr/>
          </p:nvSpPr>
          <p:spPr bwMode="auto">
            <a:xfrm>
              <a:off x="3149954" y="4478414"/>
              <a:ext cx="497252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75" name="Group 47"/>
            <p:cNvGrpSpPr>
              <a:grpSpLocks/>
            </p:cNvGrpSpPr>
            <p:nvPr/>
          </p:nvGrpSpPr>
          <p:grpSpPr bwMode="auto">
            <a:xfrm>
              <a:off x="1096472" y="3736095"/>
              <a:ext cx="615954" cy="1136652"/>
              <a:chOff x="4734" y="616"/>
              <a:chExt cx="388" cy="716"/>
            </a:xfrm>
          </p:grpSpPr>
          <p:sp>
            <p:nvSpPr>
              <p:cNvPr id="79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0" name="Text Box 49"/>
              <p:cNvSpPr txBox="1">
                <a:spLocks noChangeArrowheads="1"/>
              </p:cNvSpPr>
              <p:nvPr/>
            </p:nvSpPr>
            <p:spPr bwMode="auto">
              <a:xfrm>
                <a:off x="4886" y="1041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81" name="Text Box 50"/>
              <p:cNvSpPr txBox="1">
                <a:spLocks noChangeArrowheads="1"/>
              </p:cNvSpPr>
              <p:nvPr/>
            </p:nvSpPr>
            <p:spPr bwMode="auto">
              <a:xfrm>
                <a:off x="4814" y="616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82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76" name="Line 39"/>
            <p:cNvSpPr>
              <a:spLocks noChangeShapeType="1"/>
            </p:cNvSpPr>
            <p:nvPr/>
          </p:nvSpPr>
          <p:spPr bwMode="auto">
            <a:xfrm rot="16200000">
              <a:off x="2068867" y="2426128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Text Box 29"/>
            <p:cNvSpPr txBox="1">
              <a:spLocks noChangeArrowheads="1"/>
            </p:cNvSpPr>
            <p:nvPr/>
          </p:nvSpPr>
          <p:spPr bwMode="auto">
            <a:xfrm>
              <a:off x="1914878" y="2151668"/>
              <a:ext cx="34496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8" name="Rectangle 46"/>
            <p:cNvSpPr>
              <a:spLocks noChangeArrowheads="1"/>
            </p:cNvSpPr>
            <p:nvPr/>
          </p:nvSpPr>
          <p:spPr bwMode="auto">
            <a:xfrm>
              <a:off x="1981729" y="1989668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</p:grpSp>
      <p:sp>
        <p:nvSpPr>
          <p:cNvPr id="87" name="Rectangle 2"/>
          <p:cNvSpPr>
            <a:spLocks noChangeArrowheads="1"/>
          </p:cNvSpPr>
          <p:nvPr/>
        </p:nvSpPr>
        <p:spPr bwMode="auto">
          <a:xfrm>
            <a:off x="343353" y="550409"/>
            <a:ext cx="33033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8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endParaRPr lang="en-US" altLang="zh-CN" sz="28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43353" y="550409"/>
            <a:ext cx="33033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lang="en-US" altLang="zh-CN" sz="28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、</a:t>
            </a:r>
            <a:r>
              <a:rPr lang="en-US" altLang="zh-CN" sz="28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 </a:t>
            </a:r>
            <a:r>
              <a: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0</a:t>
            </a:r>
            <a:endParaRPr lang="en-US" altLang="zh-CN" sz="28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626155" y="1666421"/>
            <a:ext cx="3553959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32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=  </a:t>
            </a:r>
            <a:r>
              <a:rPr lang="en-US" altLang="zh-CN" sz="24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// </a:t>
            </a:r>
            <a:r>
              <a:rPr lang="en-US" altLang="zh-CN" sz="24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[</a:t>
            </a:r>
            <a:r>
              <a:rPr lang="en-US" altLang="zh-CN" sz="3200" b="1" i="1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1400" b="1" dirty="0" err="1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be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+ </a:t>
            </a:r>
            <a:r>
              <a:rPr lang="en-US" altLang="zh-CN" sz="2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(1+</a:t>
            </a:r>
            <a:r>
              <a:rPr lang="en-US" altLang="zh-CN" sz="24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β</a:t>
            </a:r>
            <a:r>
              <a:rPr lang="en-US" altLang="zh-CN" sz="2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)</a:t>
            </a:r>
            <a:r>
              <a:rPr lang="en-US" altLang="zh-CN" sz="2400" b="1" i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R</a:t>
            </a:r>
            <a:r>
              <a:rPr lang="en-US" altLang="zh-CN" sz="2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'</a:t>
            </a:r>
            <a:r>
              <a:rPr lang="en-US" altLang="zh-CN" b="1" i="1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L</a:t>
            </a:r>
            <a:r>
              <a:rPr lang="en-US" altLang="zh-CN" b="1" baseline="-250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1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]</a:t>
            </a:r>
            <a:endParaRPr lang="zh-CN" altLang="en-US" sz="24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756784" y="2341336"/>
            <a:ext cx="4163559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 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240</a:t>
            </a: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// </a:t>
            </a:r>
            <a:r>
              <a:rPr lang="en-US" altLang="zh-CN" sz="2400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[</a:t>
            </a:r>
            <a:r>
              <a:rPr lang="en-US" altLang="zh-CN" sz="2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1.2</a:t>
            </a:r>
            <a:r>
              <a:rPr lang="en-US" altLang="zh-CN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+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(1+50)(2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//</a:t>
            </a:r>
            <a:r>
              <a:rPr lang="en-US" altLang="zh-CN" sz="2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6)]</a:t>
            </a:r>
          </a:p>
          <a:p>
            <a:pPr algn="l">
              <a:spcBef>
                <a:spcPct val="50000"/>
              </a:spcBef>
            </a:pPr>
            <a:r>
              <a:rPr lang="en-US" altLang="zh-CN" sz="24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 </a:t>
            </a:r>
            <a:r>
              <a:rPr lang="en-US" altLang="zh-CN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72.17kΩ</a:t>
            </a:r>
            <a:endParaRPr lang="en-US" altLang="zh-CN" sz="24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10" name="Group 20"/>
          <p:cNvGrpSpPr>
            <a:grpSpLocks/>
          </p:cNvGrpSpPr>
          <p:nvPr/>
        </p:nvGrpSpPr>
        <p:grpSpPr bwMode="auto">
          <a:xfrm>
            <a:off x="528184" y="3623130"/>
            <a:ext cx="6191250" cy="965199"/>
            <a:chOff x="384" y="3283"/>
            <a:chExt cx="3900" cy="608"/>
          </a:xfrm>
        </p:grpSpPr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384" y="3394"/>
              <a:ext cx="3900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32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r>
                <a:rPr lang="en-US" altLang="zh-CN" sz="24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=  ———— = ——————  = </a:t>
              </a: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26.47Ω</a:t>
              </a:r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912" y="3283"/>
              <a:ext cx="864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sz="32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1400" b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1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 </a:t>
              </a:r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1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1069" y="3600"/>
              <a:ext cx="41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1+</a:t>
              </a:r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β</a:t>
              </a: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1968" y="3360"/>
              <a:ext cx="104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1200 + 150</a:t>
              </a:r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2269" y="3600"/>
              <a:ext cx="51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4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1+50</a:t>
              </a:r>
            </a:p>
          </p:txBody>
        </p:sp>
      </p:grpSp>
      <p:grpSp>
        <p:nvGrpSpPr>
          <p:cNvPr id="20" name="组合 30"/>
          <p:cNvGrpSpPr/>
          <p:nvPr/>
        </p:nvGrpSpPr>
        <p:grpSpPr>
          <a:xfrm>
            <a:off x="4665571" y="153609"/>
            <a:ext cx="4121640" cy="3306485"/>
            <a:chOff x="1096474" y="1989668"/>
            <a:chExt cx="4121640" cy="3306485"/>
          </a:xfrm>
        </p:grpSpPr>
        <p:sp>
          <p:nvSpPr>
            <p:cNvPr id="32" name="Oval 82"/>
            <p:cNvSpPr>
              <a:spLocks noChangeArrowheads="1"/>
            </p:cNvSpPr>
            <p:nvPr/>
          </p:nvSpPr>
          <p:spPr bwMode="auto">
            <a:xfrm>
              <a:off x="1566334" y="4192298"/>
              <a:ext cx="396000" cy="360000"/>
            </a:xfrm>
            <a:prstGeom prst="ellipse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2700000" scaled="1"/>
            </a:gradFill>
            <a:ln w="38100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Line 20"/>
            <p:cNvSpPr>
              <a:spLocks noChangeShapeType="1"/>
            </p:cNvSpPr>
            <p:nvPr/>
          </p:nvSpPr>
          <p:spPr bwMode="auto">
            <a:xfrm>
              <a:off x="2329744" y="2652083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" name="Rectangle 21"/>
            <p:cNvSpPr>
              <a:spLocks noChangeArrowheads="1"/>
            </p:cNvSpPr>
            <p:nvPr/>
          </p:nvSpPr>
          <p:spPr bwMode="auto">
            <a:xfrm>
              <a:off x="2239257" y="3507746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" name="Line 22"/>
            <p:cNvSpPr>
              <a:spLocks noChangeShapeType="1"/>
            </p:cNvSpPr>
            <p:nvPr/>
          </p:nvSpPr>
          <p:spPr bwMode="auto">
            <a:xfrm flipV="1">
              <a:off x="1749778" y="2660902"/>
              <a:ext cx="141569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" name="Line 23"/>
            <p:cNvSpPr>
              <a:spLocks noChangeShapeType="1"/>
            </p:cNvSpPr>
            <p:nvPr/>
          </p:nvSpPr>
          <p:spPr bwMode="auto">
            <a:xfrm>
              <a:off x="3165476" y="2660903"/>
              <a:ext cx="0" cy="1270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Line 24"/>
            <p:cNvSpPr>
              <a:spLocks noChangeShapeType="1"/>
            </p:cNvSpPr>
            <p:nvPr/>
          </p:nvSpPr>
          <p:spPr bwMode="auto">
            <a:xfrm flipV="1">
              <a:off x="1761419" y="5116765"/>
              <a:ext cx="3456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Line 25"/>
            <p:cNvSpPr>
              <a:spLocks noChangeShapeType="1"/>
            </p:cNvSpPr>
            <p:nvPr/>
          </p:nvSpPr>
          <p:spPr bwMode="auto">
            <a:xfrm>
              <a:off x="3768726" y="5116765"/>
              <a:ext cx="0" cy="1793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Line 26"/>
            <p:cNvSpPr>
              <a:spLocks noChangeShapeType="1"/>
            </p:cNvSpPr>
            <p:nvPr/>
          </p:nvSpPr>
          <p:spPr bwMode="auto">
            <a:xfrm>
              <a:off x="3595689" y="5278690"/>
              <a:ext cx="336550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Text Box 27"/>
            <p:cNvSpPr txBox="1">
              <a:spLocks noChangeArrowheads="1"/>
            </p:cNvSpPr>
            <p:nvPr/>
          </p:nvSpPr>
          <p:spPr bwMode="auto">
            <a:xfrm>
              <a:off x="2551113" y="3000628"/>
              <a:ext cx="757238" cy="519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be</a:t>
              </a: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endParaRPr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1" name="Text Box 28"/>
            <p:cNvSpPr txBox="1">
              <a:spLocks noChangeArrowheads="1"/>
            </p:cNvSpPr>
            <p:nvPr/>
          </p:nvSpPr>
          <p:spPr bwMode="auto">
            <a:xfrm>
              <a:off x="3846514" y="3437190"/>
              <a:ext cx="5588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>
                  <a:latin typeface="Times New Roman" pitchFamily="18" charset="0"/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I</a:t>
              </a:r>
              <a:r>
                <a:rPr lang="en-US" altLang="zh-CN" sz="24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42" name="Text Box 29"/>
            <p:cNvSpPr txBox="1">
              <a:spLocks noChangeArrowheads="1"/>
            </p:cNvSpPr>
            <p:nvPr/>
          </p:nvSpPr>
          <p:spPr bwMode="auto">
            <a:xfrm>
              <a:off x="2411413" y="2665665"/>
              <a:ext cx="390525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3" name="Text Box 30"/>
            <p:cNvSpPr txBox="1">
              <a:spLocks noChangeArrowheads="1"/>
            </p:cNvSpPr>
            <p:nvPr/>
          </p:nvSpPr>
          <p:spPr bwMode="auto">
            <a:xfrm>
              <a:off x="4651377" y="2670427"/>
              <a:ext cx="3937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4" name="Oval 31"/>
            <p:cNvSpPr>
              <a:spLocks noChangeArrowheads="1"/>
            </p:cNvSpPr>
            <p:nvPr/>
          </p:nvSpPr>
          <p:spPr bwMode="auto">
            <a:xfrm>
              <a:off x="3722689" y="5067553"/>
              <a:ext cx="84138" cy="7620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Line 32"/>
            <p:cNvSpPr>
              <a:spLocks noChangeShapeType="1"/>
            </p:cNvSpPr>
            <p:nvPr/>
          </p:nvSpPr>
          <p:spPr bwMode="auto">
            <a:xfrm>
              <a:off x="4418014" y="2584703"/>
              <a:ext cx="11113" cy="1346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AutoShape 33"/>
            <p:cNvSpPr>
              <a:spLocks noChangeArrowheads="1"/>
            </p:cNvSpPr>
            <p:nvPr/>
          </p:nvSpPr>
          <p:spPr bwMode="auto">
            <a:xfrm>
              <a:off x="4210051" y="2945065"/>
              <a:ext cx="438150" cy="622300"/>
            </a:xfrm>
            <a:prstGeom prst="flowChartSort">
              <a:avLst/>
            </a:prstGeom>
            <a:gradFill rotWithShape="1">
              <a:gsLst>
                <a:gs pos="0">
                  <a:srgbClr val="CCFFFF"/>
                </a:gs>
                <a:gs pos="50000">
                  <a:schemeClr val="accent1"/>
                </a:gs>
                <a:gs pos="100000">
                  <a:srgbClr val="CCFFFF"/>
                </a:gs>
              </a:gsLst>
              <a:lin ang="0" scaled="1"/>
            </a:gradFill>
            <a:ln w="38100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7" name="Line 34"/>
            <p:cNvSpPr>
              <a:spLocks noChangeShapeType="1"/>
            </p:cNvSpPr>
            <p:nvPr/>
          </p:nvSpPr>
          <p:spPr bwMode="auto">
            <a:xfrm>
              <a:off x="5218114" y="2616452"/>
              <a:ext cx="0" cy="2484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Line 35"/>
            <p:cNvSpPr>
              <a:spLocks noChangeShapeType="1"/>
            </p:cNvSpPr>
            <p:nvPr/>
          </p:nvSpPr>
          <p:spPr bwMode="auto">
            <a:xfrm>
              <a:off x="4429127" y="3619753"/>
              <a:ext cx="0" cy="3111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9" name="Rectangle 37"/>
            <p:cNvSpPr>
              <a:spLocks noChangeArrowheads="1"/>
            </p:cNvSpPr>
            <p:nvPr/>
          </p:nvSpPr>
          <p:spPr bwMode="auto">
            <a:xfrm>
              <a:off x="2398007" y="3523620"/>
              <a:ext cx="508473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0" name="Line 38"/>
            <p:cNvSpPr>
              <a:spLocks noChangeShapeType="1"/>
            </p:cNvSpPr>
            <p:nvPr/>
          </p:nvSpPr>
          <p:spPr bwMode="auto">
            <a:xfrm>
              <a:off x="4418014" y="2598990"/>
              <a:ext cx="7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1" name="Line 39"/>
            <p:cNvSpPr>
              <a:spLocks noChangeShapeType="1"/>
            </p:cNvSpPr>
            <p:nvPr/>
          </p:nvSpPr>
          <p:spPr bwMode="auto">
            <a:xfrm rot="16200000">
              <a:off x="2776538" y="2429127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2" name="Line 40"/>
            <p:cNvSpPr>
              <a:spLocks noChangeShapeType="1"/>
            </p:cNvSpPr>
            <p:nvPr/>
          </p:nvSpPr>
          <p:spPr bwMode="auto">
            <a:xfrm rot="5400000">
              <a:off x="4886327" y="2373565"/>
              <a:ext cx="0" cy="461963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3" name="Rectangle 41"/>
            <p:cNvSpPr>
              <a:spLocks noChangeArrowheads="1"/>
            </p:cNvSpPr>
            <p:nvPr/>
          </p:nvSpPr>
          <p:spPr bwMode="auto">
            <a:xfrm>
              <a:off x="3074989" y="3033965"/>
              <a:ext cx="179388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471738" y="2487865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grpSp>
          <p:nvGrpSpPr>
            <p:cNvPr id="27" name="Group 47"/>
            <p:cNvGrpSpPr>
              <a:grpSpLocks/>
            </p:cNvGrpSpPr>
            <p:nvPr/>
          </p:nvGrpSpPr>
          <p:grpSpPr bwMode="auto">
            <a:xfrm>
              <a:off x="4471820" y="3984620"/>
              <a:ext cx="514351" cy="1158876"/>
              <a:chOff x="4734" y="609"/>
              <a:chExt cx="324" cy="730"/>
            </a:xfrm>
          </p:grpSpPr>
          <p:sp>
            <p:nvSpPr>
              <p:cNvPr id="83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4" name="Text Box 49"/>
              <p:cNvSpPr txBox="1">
                <a:spLocks noChangeArrowheads="1"/>
              </p:cNvSpPr>
              <p:nvPr/>
            </p:nvSpPr>
            <p:spPr bwMode="auto">
              <a:xfrm>
                <a:off x="4758" y="1048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85" name="Text Box 50"/>
              <p:cNvSpPr txBox="1">
                <a:spLocks noChangeArrowheads="1"/>
              </p:cNvSpPr>
              <p:nvPr/>
            </p:nvSpPr>
            <p:spPr bwMode="auto">
              <a:xfrm>
                <a:off x="4750" y="609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86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56" name="Rectangle 59"/>
            <p:cNvSpPr>
              <a:spLocks noChangeArrowheads="1"/>
            </p:cNvSpPr>
            <p:nvPr/>
          </p:nvSpPr>
          <p:spPr bwMode="auto">
            <a:xfrm>
              <a:off x="4067176" y="3283203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57" name="Rectangle 60"/>
            <p:cNvSpPr>
              <a:spLocks noChangeArrowheads="1"/>
            </p:cNvSpPr>
            <p:nvPr/>
          </p:nvSpPr>
          <p:spPr bwMode="auto">
            <a:xfrm>
              <a:off x="4719640" y="2559302"/>
              <a:ext cx="265113" cy="3698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58" name="Line 61"/>
            <p:cNvSpPr>
              <a:spLocks noChangeShapeType="1"/>
            </p:cNvSpPr>
            <p:nvPr/>
          </p:nvSpPr>
          <p:spPr bwMode="auto">
            <a:xfrm>
              <a:off x="3165476" y="3930903"/>
              <a:ext cx="12938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9" name="Line 62"/>
            <p:cNvSpPr>
              <a:spLocks noChangeShapeType="1"/>
            </p:cNvSpPr>
            <p:nvPr/>
          </p:nvSpPr>
          <p:spPr bwMode="auto">
            <a:xfrm flipV="1">
              <a:off x="3754439" y="3930903"/>
              <a:ext cx="0" cy="1152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0" name="Line 64"/>
            <p:cNvSpPr>
              <a:spLocks noChangeShapeType="1"/>
            </p:cNvSpPr>
            <p:nvPr/>
          </p:nvSpPr>
          <p:spPr bwMode="auto">
            <a:xfrm>
              <a:off x="1748544" y="2678895"/>
              <a:ext cx="0" cy="2448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1" name="Rectangle 65"/>
            <p:cNvSpPr>
              <a:spLocks noChangeArrowheads="1"/>
            </p:cNvSpPr>
            <p:nvPr/>
          </p:nvSpPr>
          <p:spPr bwMode="auto">
            <a:xfrm>
              <a:off x="1674108" y="3112636"/>
              <a:ext cx="163513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2" name="Rectangle 66"/>
            <p:cNvSpPr>
              <a:spLocks noChangeArrowheads="1"/>
            </p:cNvSpPr>
            <p:nvPr/>
          </p:nvSpPr>
          <p:spPr bwMode="auto">
            <a:xfrm>
              <a:off x="1229784" y="3162554"/>
              <a:ext cx="486030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S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3" name="Text Box 67"/>
            <p:cNvSpPr txBox="1">
              <a:spLocks noChangeArrowheads="1"/>
            </p:cNvSpPr>
            <p:nvPr/>
          </p:nvSpPr>
          <p:spPr bwMode="auto">
            <a:xfrm>
              <a:off x="3159126" y="2406903"/>
              <a:ext cx="320675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</a:p>
          </p:txBody>
        </p:sp>
        <p:sp>
          <p:nvSpPr>
            <p:cNvPr id="64" name="Text Box 68"/>
            <p:cNvSpPr txBox="1">
              <a:spLocks noChangeArrowheads="1"/>
            </p:cNvSpPr>
            <p:nvPr/>
          </p:nvSpPr>
          <p:spPr bwMode="auto">
            <a:xfrm>
              <a:off x="3586164" y="3446715"/>
              <a:ext cx="306388" cy="42068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 baseline="-2500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</a:p>
          </p:txBody>
        </p:sp>
        <p:sp>
          <p:nvSpPr>
            <p:cNvPr id="65" name="Text Box 69"/>
            <p:cNvSpPr txBox="1">
              <a:spLocks noChangeArrowheads="1"/>
            </p:cNvSpPr>
            <p:nvPr/>
          </p:nvSpPr>
          <p:spPr bwMode="auto">
            <a:xfrm>
              <a:off x="4038601" y="2527553"/>
              <a:ext cx="3206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</a:p>
          </p:txBody>
        </p:sp>
        <p:sp>
          <p:nvSpPr>
            <p:cNvPr id="66" name="Line 61"/>
            <p:cNvSpPr>
              <a:spLocks noChangeShapeType="1"/>
            </p:cNvSpPr>
            <p:nvPr/>
          </p:nvSpPr>
          <p:spPr bwMode="auto">
            <a:xfrm>
              <a:off x="3760789" y="4291265"/>
              <a:ext cx="61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7" name="Line 23"/>
            <p:cNvSpPr>
              <a:spLocks noChangeShapeType="1"/>
            </p:cNvSpPr>
            <p:nvPr/>
          </p:nvSpPr>
          <p:spPr bwMode="auto">
            <a:xfrm>
              <a:off x="4384675" y="4271963"/>
              <a:ext cx="0" cy="828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8" name="Rectangle 45"/>
            <p:cNvSpPr>
              <a:spLocks noChangeArrowheads="1"/>
            </p:cNvSpPr>
            <p:nvPr/>
          </p:nvSpPr>
          <p:spPr bwMode="auto">
            <a:xfrm>
              <a:off x="4287839" y="4446840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9" name="Rectangle 42"/>
            <p:cNvSpPr>
              <a:spLocks noChangeArrowheads="1"/>
            </p:cNvSpPr>
            <p:nvPr/>
          </p:nvSpPr>
          <p:spPr bwMode="auto">
            <a:xfrm>
              <a:off x="3665539" y="4435728"/>
              <a:ext cx="180975" cy="533400"/>
            </a:xfrm>
            <a:prstGeom prst="rect">
              <a:avLst/>
            </a:prstGeom>
            <a:gradFill rotWithShape="1">
              <a:gsLst>
                <a:gs pos="0">
                  <a:srgbClr val="76664A"/>
                </a:gs>
                <a:gs pos="50000">
                  <a:srgbClr val="FFDDA0"/>
                </a:gs>
                <a:gs pos="100000">
                  <a:srgbClr val="76664A"/>
                </a:gs>
              </a:gsLst>
              <a:lin ang="0" scaled="1"/>
            </a:gradFill>
            <a:ln w="4445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Line 35"/>
            <p:cNvSpPr>
              <a:spLocks noChangeShapeType="1"/>
            </p:cNvSpPr>
            <p:nvPr/>
          </p:nvSpPr>
          <p:spPr bwMode="auto">
            <a:xfrm>
              <a:off x="3748089" y="3934078"/>
              <a:ext cx="0" cy="287338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Rectangle 46"/>
            <p:cNvSpPr>
              <a:spLocks noChangeArrowheads="1"/>
            </p:cNvSpPr>
            <p:nvPr/>
          </p:nvSpPr>
          <p:spPr bwMode="auto">
            <a:xfrm>
              <a:off x="3352800" y="3807077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  <p:sp>
          <p:nvSpPr>
            <p:cNvPr id="72" name="Text Box 29"/>
            <p:cNvSpPr txBox="1">
              <a:spLocks noChangeArrowheads="1"/>
            </p:cNvSpPr>
            <p:nvPr/>
          </p:nvSpPr>
          <p:spPr bwMode="auto">
            <a:xfrm>
              <a:off x="3287713" y="4003927"/>
              <a:ext cx="37863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Rectangle 44"/>
            <p:cNvSpPr>
              <a:spLocks noChangeArrowheads="1"/>
            </p:cNvSpPr>
            <p:nvPr/>
          </p:nvSpPr>
          <p:spPr bwMode="auto">
            <a:xfrm>
              <a:off x="3838577" y="4500992"/>
              <a:ext cx="485775" cy="461963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L</a:t>
              </a:r>
            </a:p>
          </p:txBody>
        </p:sp>
        <p:sp>
          <p:nvSpPr>
            <p:cNvPr id="74" name="Rectangle 44"/>
            <p:cNvSpPr>
              <a:spLocks noChangeArrowheads="1"/>
            </p:cNvSpPr>
            <p:nvPr/>
          </p:nvSpPr>
          <p:spPr bwMode="auto">
            <a:xfrm>
              <a:off x="3149954" y="4478414"/>
              <a:ext cx="497252" cy="461665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400" b="1" i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lang="en-US" altLang="zh-CN" sz="2400" b="1" i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31" name="Group 47"/>
            <p:cNvGrpSpPr>
              <a:grpSpLocks/>
            </p:cNvGrpSpPr>
            <p:nvPr/>
          </p:nvGrpSpPr>
          <p:grpSpPr bwMode="auto">
            <a:xfrm>
              <a:off x="1096472" y="3736095"/>
              <a:ext cx="615954" cy="1136652"/>
              <a:chOff x="4734" y="616"/>
              <a:chExt cx="388" cy="716"/>
            </a:xfrm>
          </p:grpSpPr>
          <p:sp>
            <p:nvSpPr>
              <p:cNvPr id="79" name="Text Box 48"/>
              <p:cNvSpPr txBox="1">
                <a:spLocks noChangeArrowheads="1"/>
              </p:cNvSpPr>
              <p:nvPr/>
            </p:nvSpPr>
            <p:spPr bwMode="auto">
              <a:xfrm>
                <a:off x="4734" y="880"/>
                <a:ext cx="32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b="1" i="1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lang="en-US" altLang="zh-CN" sz="2400" b="1" baseline="-25000" dirty="0" smtClean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S</a:t>
                </a:r>
                <a:endParaRPr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0" name="Text Box 49"/>
              <p:cNvSpPr txBox="1">
                <a:spLocks noChangeArrowheads="1"/>
              </p:cNvSpPr>
              <p:nvPr/>
            </p:nvSpPr>
            <p:spPr bwMode="auto">
              <a:xfrm>
                <a:off x="4886" y="1041"/>
                <a:ext cx="21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_</a:t>
                </a:r>
              </a:p>
            </p:txBody>
          </p:sp>
          <p:sp>
            <p:nvSpPr>
              <p:cNvPr id="81" name="Text Box 50"/>
              <p:cNvSpPr txBox="1">
                <a:spLocks noChangeArrowheads="1"/>
              </p:cNvSpPr>
              <p:nvPr/>
            </p:nvSpPr>
            <p:spPr bwMode="auto">
              <a:xfrm>
                <a:off x="4814" y="616"/>
                <a:ext cx="3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＋</a:t>
                </a:r>
              </a:p>
            </p:txBody>
          </p:sp>
          <p:sp>
            <p:nvSpPr>
              <p:cNvPr id="82" name="Rectangle 51"/>
              <p:cNvSpPr>
                <a:spLocks noChangeArrowheads="1"/>
              </p:cNvSpPr>
              <p:nvPr/>
            </p:nvSpPr>
            <p:spPr bwMode="auto">
              <a:xfrm>
                <a:off x="4806" y="756"/>
                <a:ext cx="162" cy="213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•</a:t>
                </a:r>
              </a:p>
            </p:txBody>
          </p:sp>
        </p:grpSp>
        <p:sp>
          <p:nvSpPr>
            <p:cNvPr id="76" name="Line 39"/>
            <p:cNvSpPr>
              <a:spLocks noChangeShapeType="1"/>
            </p:cNvSpPr>
            <p:nvPr/>
          </p:nvSpPr>
          <p:spPr bwMode="auto">
            <a:xfrm rot="16200000">
              <a:off x="2068867" y="2426128"/>
              <a:ext cx="0" cy="463550"/>
            </a:xfrm>
            <a:prstGeom prst="line">
              <a:avLst/>
            </a:prstGeom>
            <a:noFill/>
            <a:ln w="41275">
              <a:solidFill>
                <a:srgbClr val="C00000"/>
              </a:solidFill>
              <a:round/>
              <a:headEnd/>
              <a:tailEnd type="arrow" w="sm" len="lg"/>
            </a:ln>
          </p:spPr>
          <p:txBody>
            <a:bodyPr wrap="none" anchor="ctr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7" name="Text Box 29"/>
            <p:cNvSpPr txBox="1">
              <a:spLocks noChangeArrowheads="1"/>
            </p:cNvSpPr>
            <p:nvPr/>
          </p:nvSpPr>
          <p:spPr bwMode="auto">
            <a:xfrm>
              <a:off x="1914878" y="2151668"/>
              <a:ext cx="34496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4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r>
                <a:rPr lang="en-US" altLang="zh-CN" sz="24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4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8" name="Rectangle 46"/>
            <p:cNvSpPr>
              <a:spLocks noChangeArrowheads="1"/>
            </p:cNvSpPr>
            <p:nvPr/>
          </p:nvSpPr>
          <p:spPr bwMode="auto">
            <a:xfrm>
              <a:off x="1981729" y="1989668"/>
              <a:ext cx="257175" cy="338138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•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1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356872" y="274252"/>
            <a:ext cx="4313100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、差动放大电路</a:t>
            </a:r>
          </a:p>
        </p:txBody>
      </p:sp>
      <p:sp>
        <p:nvSpPr>
          <p:cNvPr id="3" name="Text Box 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695100" y="911452"/>
            <a:ext cx="46280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 </a:t>
            </a:r>
            <a:r>
              <a:rPr lang="en-US" altLang="zh-CN" sz="2800" b="1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) </a:t>
            </a:r>
            <a:r>
              <a:rPr lang="zh-CN" altLang="en-US" sz="2800" b="1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直接</a:t>
            </a:r>
            <a:r>
              <a:rPr lang="zh-CN" altLang="en-US" sz="2800" b="1" dirty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耦合多级放大电路</a:t>
            </a:r>
          </a:p>
        </p:txBody>
      </p:sp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1148218" y="1494971"/>
            <a:ext cx="4149271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kumimoji="0"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多级放大电路</a:t>
            </a:r>
            <a:endParaRPr kumimoji="0" lang="en-US" altLang="zh-CN" sz="32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kumimoji="0"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直接耦合方式。 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245859" y="2770188"/>
            <a:ext cx="5207455" cy="2120900"/>
            <a:chOff x="2093459" y="3303588"/>
            <a:chExt cx="5207455" cy="2120900"/>
          </a:xfrm>
        </p:grpSpPr>
        <p:sp>
          <p:nvSpPr>
            <p:cNvPr id="7" name="Rectangle 55"/>
            <p:cNvSpPr>
              <a:spLocks noChangeArrowheads="1"/>
            </p:cNvSpPr>
            <p:nvPr/>
          </p:nvSpPr>
          <p:spPr bwMode="auto">
            <a:xfrm>
              <a:off x="5430838" y="3303588"/>
              <a:ext cx="935038" cy="21209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" name="Rectangle 56"/>
            <p:cNvSpPr>
              <a:spLocks noChangeArrowheads="1"/>
            </p:cNvSpPr>
            <p:nvPr/>
          </p:nvSpPr>
          <p:spPr bwMode="auto">
            <a:xfrm>
              <a:off x="2949576" y="3303588"/>
              <a:ext cx="935038" cy="21209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" name="Line 57"/>
            <p:cNvSpPr>
              <a:spLocks noChangeShapeType="1"/>
            </p:cNvSpPr>
            <p:nvPr/>
          </p:nvSpPr>
          <p:spPr bwMode="auto">
            <a:xfrm>
              <a:off x="3884612" y="3521075"/>
              <a:ext cx="154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" name="Line 58"/>
            <p:cNvSpPr>
              <a:spLocks noChangeShapeType="1"/>
            </p:cNvSpPr>
            <p:nvPr/>
          </p:nvSpPr>
          <p:spPr bwMode="auto">
            <a:xfrm>
              <a:off x="3884612" y="5113338"/>
              <a:ext cx="154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" name="Line 59"/>
            <p:cNvSpPr>
              <a:spLocks noChangeShapeType="1"/>
            </p:cNvSpPr>
            <p:nvPr/>
          </p:nvSpPr>
          <p:spPr bwMode="auto">
            <a:xfrm>
              <a:off x="2224088" y="3521075"/>
              <a:ext cx="7223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" name="Line 60"/>
            <p:cNvSpPr>
              <a:spLocks noChangeShapeType="1"/>
            </p:cNvSpPr>
            <p:nvPr/>
          </p:nvSpPr>
          <p:spPr bwMode="auto">
            <a:xfrm>
              <a:off x="2224088" y="5113338"/>
              <a:ext cx="7223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" name="Line 61"/>
            <p:cNvSpPr>
              <a:spLocks noChangeShapeType="1"/>
            </p:cNvSpPr>
            <p:nvPr/>
          </p:nvSpPr>
          <p:spPr bwMode="auto">
            <a:xfrm>
              <a:off x="6365876" y="3521075"/>
              <a:ext cx="7223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" name="Line 62"/>
            <p:cNvSpPr>
              <a:spLocks noChangeShapeType="1"/>
            </p:cNvSpPr>
            <p:nvPr/>
          </p:nvSpPr>
          <p:spPr bwMode="auto">
            <a:xfrm>
              <a:off x="6365876" y="5113338"/>
              <a:ext cx="7223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" name="Text Box 64"/>
            <p:cNvSpPr txBox="1">
              <a:spLocks noChangeArrowheads="1"/>
            </p:cNvSpPr>
            <p:nvPr/>
          </p:nvSpPr>
          <p:spPr bwMode="auto">
            <a:xfrm>
              <a:off x="3124200" y="4051300"/>
              <a:ext cx="612776" cy="5445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A</a:t>
              </a:r>
              <a:r>
                <a:rPr kumimoji="0"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u1</a:t>
              </a:r>
              <a:endPara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" name="Text Box 65"/>
            <p:cNvSpPr txBox="1">
              <a:spLocks noChangeArrowheads="1"/>
            </p:cNvSpPr>
            <p:nvPr/>
          </p:nvSpPr>
          <p:spPr bwMode="auto">
            <a:xfrm>
              <a:off x="5595258" y="4051300"/>
              <a:ext cx="589644" cy="5445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A</a:t>
              </a:r>
              <a:r>
                <a:rPr kumimoji="0"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u2</a:t>
              </a:r>
              <a:endPara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" name="Text Box 66"/>
            <p:cNvSpPr txBox="1">
              <a:spLocks noChangeArrowheads="1"/>
            </p:cNvSpPr>
            <p:nvPr/>
          </p:nvSpPr>
          <p:spPr bwMode="auto">
            <a:xfrm>
              <a:off x="2224088" y="4051300"/>
              <a:ext cx="668338" cy="5318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i1</a:t>
              </a:r>
              <a:endPara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" name="Text Box 67"/>
            <p:cNvSpPr txBox="1">
              <a:spLocks noChangeArrowheads="1"/>
            </p:cNvSpPr>
            <p:nvPr/>
          </p:nvSpPr>
          <p:spPr bwMode="auto">
            <a:xfrm>
              <a:off x="6632576" y="4051300"/>
              <a:ext cx="668338" cy="5318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o2</a:t>
              </a:r>
              <a:endPara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" name="Text Box 68"/>
            <p:cNvSpPr txBox="1">
              <a:spLocks noChangeArrowheads="1"/>
            </p:cNvSpPr>
            <p:nvPr/>
          </p:nvSpPr>
          <p:spPr bwMode="auto">
            <a:xfrm>
              <a:off x="3952876" y="4051300"/>
              <a:ext cx="542925" cy="5318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o1</a:t>
              </a:r>
              <a:endPara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" name="Text Box 69"/>
            <p:cNvSpPr txBox="1">
              <a:spLocks noChangeArrowheads="1"/>
            </p:cNvSpPr>
            <p:nvPr/>
          </p:nvSpPr>
          <p:spPr bwMode="auto">
            <a:xfrm>
              <a:off x="4762501" y="4051300"/>
              <a:ext cx="534988" cy="5318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i2</a:t>
              </a:r>
              <a:endPara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2" name="Text Box 70"/>
            <p:cNvSpPr txBox="1">
              <a:spLocks noChangeArrowheads="1"/>
            </p:cNvSpPr>
            <p:nvPr/>
          </p:nvSpPr>
          <p:spPr bwMode="auto">
            <a:xfrm>
              <a:off x="6632576" y="3521075"/>
              <a:ext cx="268288" cy="159226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" name="Text Box 71"/>
            <p:cNvSpPr txBox="1">
              <a:spLocks noChangeArrowheads="1"/>
            </p:cNvSpPr>
            <p:nvPr/>
          </p:nvSpPr>
          <p:spPr bwMode="auto">
            <a:xfrm>
              <a:off x="2093459" y="3542846"/>
              <a:ext cx="344940" cy="16827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" name="Text Box 72"/>
            <p:cNvSpPr txBox="1">
              <a:spLocks noChangeArrowheads="1"/>
            </p:cNvSpPr>
            <p:nvPr/>
          </p:nvSpPr>
          <p:spPr bwMode="auto">
            <a:xfrm>
              <a:off x="4495801" y="3521075"/>
              <a:ext cx="266700" cy="159226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6286954" y="4080328"/>
            <a:ext cx="23510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二级放大倍数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2104345" y="1333274"/>
            <a:ext cx="5207455" cy="2120900"/>
            <a:chOff x="2093459" y="3303588"/>
            <a:chExt cx="5207455" cy="2120900"/>
          </a:xfrm>
        </p:grpSpPr>
        <p:sp>
          <p:nvSpPr>
            <p:cNvPr id="28" name="Rectangle 55"/>
            <p:cNvSpPr>
              <a:spLocks noChangeArrowheads="1"/>
            </p:cNvSpPr>
            <p:nvPr/>
          </p:nvSpPr>
          <p:spPr bwMode="auto">
            <a:xfrm>
              <a:off x="5430838" y="3303588"/>
              <a:ext cx="935038" cy="21209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9" name="Rectangle 56"/>
            <p:cNvSpPr>
              <a:spLocks noChangeArrowheads="1"/>
            </p:cNvSpPr>
            <p:nvPr/>
          </p:nvSpPr>
          <p:spPr bwMode="auto">
            <a:xfrm>
              <a:off x="2949576" y="3303588"/>
              <a:ext cx="935038" cy="21209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0" name="Line 57"/>
            <p:cNvSpPr>
              <a:spLocks noChangeShapeType="1"/>
            </p:cNvSpPr>
            <p:nvPr/>
          </p:nvSpPr>
          <p:spPr bwMode="auto">
            <a:xfrm>
              <a:off x="3884612" y="3521075"/>
              <a:ext cx="154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" name="Line 58"/>
            <p:cNvSpPr>
              <a:spLocks noChangeShapeType="1"/>
            </p:cNvSpPr>
            <p:nvPr/>
          </p:nvSpPr>
          <p:spPr bwMode="auto">
            <a:xfrm>
              <a:off x="3884612" y="5113338"/>
              <a:ext cx="154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2" name="Line 59"/>
            <p:cNvSpPr>
              <a:spLocks noChangeShapeType="1"/>
            </p:cNvSpPr>
            <p:nvPr/>
          </p:nvSpPr>
          <p:spPr bwMode="auto">
            <a:xfrm>
              <a:off x="2224088" y="3521075"/>
              <a:ext cx="7223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Line 60"/>
            <p:cNvSpPr>
              <a:spLocks noChangeShapeType="1"/>
            </p:cNvSpPr>
            <p:nvPr/>
          </p:nvSpPr>
          <p:spPr bwMode="auto">
            <a:xfrm>
              <a:off x="2224088" y="5113338"/>
              <a:ext cx="7223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" name="Line 61"/>
            <p:cNvSpPr>
              <a:spLocks noChangeShapeType="1"/>
            </p:cNvSpPr>
            <p:nvPr/>
          </p:nvSpPr>
          <p:spPr bwMode="auto">
            <a:xfrm>
              <a:off x="6365876" y="3521075"/>
              <a:ext cx="7223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" name="Line 62"/>
            <p:cNvSpPr>
              <a:spLocks noChangeShapeType="1"/>
            </p:cNvSpPr>
            <p:nvPr/>
          </p:nvSpPr>
          <p:spPr bwMode="auto">
            <a:xfrm>
              <a:off x="6365876" y="5113338"/>
              <a:ext cx="7223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80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" name="Text Box 64"/>
            <p:cNvSpPr txBox="1">
              <a:spLocks noChangeArrowheads="1"/>
            </p:cNvSpPr>
            <p:nvPr/>
          </p:nvSpPr>
          <p:spPr bwMode="auto">
            <a:xfrm>
              <a:off x="3124200" y="4051300"/>
              <a:ext cx="612776" cy="5445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A</a:t>
              </a:r>
              <a:r>
                <a:rPr kumimoji="0"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u1</a:t>
              </a:r>
              <a:endPara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Text Box 65"/>
            <p:cNvSpPr txBox="1">
              <a:spLocks noChangeArrowheads="1"/>
            </p:cNvSpPr>
            <p:nvPr/>
          </p:nvSpPr>
          <p:spPr bwMode="auto">
            <a:xfrm>
              <a:off x="5595258" y="4051300"/>
              <a:ext cx="589644" cy="5445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A</a:t>
              </a:r>
              <a:r>
                <a:rPr kumimoji="0"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u2</a:t>
              </a:r>
              <a:endPara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Text Box 66"/>
            <p:cNvSpPr txBox="1">
              <a:spLocks noChangeArrowheads="1"/>
            </p:cNvSpPr>
            <p:nvPr/>
          </p:nvSpPr>
          <p:spPr bwMode="auto">
            <a:xfrm>
              <a:off x="2224088" y="4051300"/>
              <a:ext cx="668338" cy="5318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i1</a:t>
              </a:r>
              <a:endPara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Text Box 67"/>
            <p:cNvSpPr txBox="1">
              <a:spLocks noChangeArrowheads="1"/>
            </p:cNvSpPr>
            <p:nvPr/>
          </p:nvSpPr>
          <p:spPr bwMode="auto">
            <a:xfrm>
              <a:off x="6632576" y="4051300"/>
              <a:ext cx="668338" cy="5318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o2</a:t>
              </a:r>
              <a:endPara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Text Box 68"/>
            <p:cNvSpPr txBox="1">
              <a:spLocks noChangeArrowheads="1"/>
            </p:cNvSpPr>
            <p:nvPr/>
          </p:nvSpPr>
          <p:spPr bwMode="auto">
            <a:xfrm>
              <a:off x="3952876" y="4051300"/>
              <a:ext cx="542925" cy="5318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o1</a:t>
              </a:r>
              <a:endPara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1" name="Text Box 69"/>
            <p:cNvSpPr txBox="1">
              <a:spLocks noChangeArrowheads="1"/>
            </p:cNvSpPr>
            <p:nvPr/>
          </p:nvSpPr>
          <p:spPr bwMode="auto">
            <a:xfrm>
              <a:off x="4762501" y="4051300"/>
              <a:ext cx="534988" cy="5318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i2</a:t>
              </a:r>
              <a:endParaRPr kumimoji="0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Text Box 70"/>
            <p:cNvSpPr txBox="1">
              <a:spLocks noChangeArrowheads="1"/>
            </p:cNvSpPr>
            <p:nvPr/>
          </p:nvSpPr>
          <p:spPr bwMode="auto">
            <a:xfrm>
              <a:off x="6632576" y="3521075"/>
              <a:ext cx="268288" cy="159226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3" name="Text Box 71"/>
            <p:cNvSpPr txBox="1">
              <a:spLocks noChangeArrowheads="1"/>
            </p:cNvSpPr>
            <p:nvPr/>
          </p:nvSpPr>
          <p:spPr bwMode="auto">
            <a:xfrm>
              <a:off x="2093459" y="3542846"/>
              <a:ext cx="344940" cy="16827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4" name="Text Box 72"/>
            <p:cNvSpPr txBox="1">
              <a:spLocks noChangeArrowheads="1"/>
            </p:cNvSpPr>
            <p:nvPr/>
          </p:nvSpPr>
          <p:spPr bwMode="auto">
            <a:xfrm>
              <a:off x="4495801" y="3521075"/>
              <a:ext cx="266700" cy="159226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1128712" y="430214"/>
          <a:ext cx="2055813" cy="655637"/>
        </p:xfrm>
        <a:graphic>
          <a:graphicData uri="http://schemas.openxmlformats.org/presentationml/2006/ole">
            <p:oleObj spid="_x0000_s43013" name="Equation" r:id="rId3" imgW="876240" imgH="279360" progId="Equation.DSMT4">
              <p:embed/>
            </p:oleObj>
          </a:graphicData>
        </a:graphic>
      </p:graphicFrame>
      <p:graphicFrame>
        <p:nvGraphicFramePr>
          <p:cNvPr id="26" name="Object 5"/>
          <p:cNvGraphicFramePr>
            <a:graphicFrameLocks noChangeAspect="1"/>
          </p:cNvGraphicFramePr>
          <p:nvPr/>
        </p:nvGraphicFramePr>
        <p:xfrm>
          <a:off x="3863295" y="396875"/>
          <a:ext cx="3694112" cy="655638"/>
        </p:xfrm>
        <a:graphic>
          <a:graphicData uri="http://schemas.openxmlformats.org/presentationml/2006/ole">
            <p:oleObj spid="_x0000_s43014" name="Equation" r:id="rId4" imgW="1574640" imgH="279360" progId="Equation.DSMT4">
              <p:embed/>
            </p:oleObj>
          </a:graphicData>
        </a:graphic>
      </p:graphicFrame>
      <p:graphicFrame>
        <p:nvGraphicFramePr>
          <p:cNvPr id="45" name="Object 5"/>
          <p:cNvGraphicFramePr>
            <a:graphicFrameLocks noChangeAspect="1"/>
          </p:cNvGraphicFramePr>
          <p:nvPr/>
        </p:nvGraphicFramePr>
        <p:xfrm>
          <a:off x="1582914" y="3597098"/>
          <a:ext cx="4379913" cy="1311275"/>
        </p:xfrm>
        <a:graphic>
          <a:graphicData uri="http://schemas.openxmlformats.org/presentationml/2006/ole">
            <p:oleObj spid="_x0000_s43015" name="Equation" r:id="rId5" imgW="1866600" imgH="55872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6"/>
          <p:cNvSpPr txBox="1">
            <a:spLocks noChangeArrowheads="1"/>
          </p:cNvSpPr>
          <p:nvPr/>
        </p:nvSpPr>
        <p:spPr bwMode="auto">
          <a:xfrm>
            <a:off x="5078639" y="2304369"/>
            <a:ext cx="21558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推论到</a:t>
            </a:r>
            <a:r>
              <a:rPr kumimoji="0" lang="en-US" altLang="zh-CN" sz="2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n</a:t>
            </a:r>
            <a:r>
              <a:rPr kumimoji="0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级</a:t>
            </a:r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1919061" y="2225221"/>
          <a:ext cx="2740025" cy="655638"/>
        </p:xfrm>
        <a:graphic>
          <a:graphicData uri="http://schemas.openxmlformats.org/presentationml/2006/ole">
            <p:oleObj spid="_x0000_s44035" name="Equation" r:id="rId3" imgW="1168200" imgH="2793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29520" y="195943"/>
            <a:ext cx="4801314" cy="5847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直接耦合方式存在的问题 </a:t>
            </a:r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4581525" y="3368675"/>
            <a:ext cx="0" cy="963613"/>
          </a:xfrm>
          <a:prstGeom prst="line">
            <a:avLst/>
          </a:prstGeom>
          <a:noFill/>
          <a:ln w="38100">
            <a:noFill/>
            <a:round/>
            <a:headEnd/>
            <a:tailEnd type="stealth" w="med" len="lg"/>
          </a:ln>
        </p:spPr>
        <p:txBody>
          <a:bodyPr wrap="none" anchor="ctr"/>
          <a:lstStyle/>
          <a:p>
            <a:endParaRPr lang="zh-CN" altLang="en-US" sz="2800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312081" y="1751240"/>
            <a:ext cx="4495799" cy="3097213"/>
            <a:chOff x="1429" y="1752"/>
            <a:chExt cx="2832" cy="1951"/>
          </a:xfrm>
        </p:grpSpPr>
        <p:sp>
          <p:nvSpPr>
            <p:cNvPr id="5" name="Line 15"/>
            <p:cNvSpPr>
              <a:spLocks noChangeShapeType="1"/>
            </p:cNvSpPr>
            <p:nvPr/>
          </p:nvSpPr>
          <p:spPr bwMode="auto">
            <a:xfrm>
              <a:off x="3278" y="2893"/>
              <a:ext cx="0" cy="8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" name="Line 16"/>
            <p:cNvSpPr>
              <a:spLocks noChangeShapeType="1"/>
            </p:cNvSpPr>
            <p:nvPr/>
          </p:nvSpPr>
          <p:spPr bwMode="auto">
            <a:xfrm>
              <a:off x="3201" y="3703"/>
              <a:ext cx="15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" name="Line 17"/>
            <p:cNvSpPr>
              <a:spLocks noChangeShapeType="1"/>
            </p:cNvSpPr>
            <p:nvPr/>
          </p:nvSpPr>
          <p:spPr bwMode="auto">
            <a:xfrm flipV="1">
              <a:off x="2575" y="1770"/>
              <a:ext cx="0" cy="2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" name="Line 18"/>
            <p:cNvSpPr>
              <a:spLocks noChangeShapeType="1"/>
            </p:cNvSpPr>
            <p:nvPr/>
          </p:nvSpPr>
          <p:spPr bwMode="auto">
            <a:xfrm>
              <a:off x="3274" y="2296"/>
              <a:ext cx="0" cy="1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" name="Line 19"/>
            <p:cNvSpPr>
              <a:spLocks noChangeShapeType="1"/>
            </p:cNvSpPr>
            <p:nvPr/>
          </p:nvSpPr>
          <p:spPr bwMode="auto">
            <a:xfrm>
              <a:off x="1925" y="1770"/>
              <a:ext cx="213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" name="Line 20"/>
            <p:cNvSpPr>
              <a:spLocks noChangeShapeType="1"/>
            </p:cNvSpPr>
            <p:nvPr/>
          </p:nvSpPr>
          <p:spPr bwMode="auto">
            <a:xfrm>
              <a:off x="1915" y="2337"/>
              <a:ext cx="0" cy="5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" name="Line 21"/>
            <p:cNvSpPr>
              <a:spLocks noChangeShapeType="1"/>
            </p:cNvSpPr>
            <p:nvPr/>
          </p:nvSpPr>
          <p:spPr bwMode="auto">
            <a:xfrm>
              <a:off x="1537" y="2876"/>
              <a:ext cx="80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" name="Line 22"/>
            <p:cNvSpPr>
              <a:spLocks noChangeShapeType="1"/>
            </p:cNvSpPr>
            <p:nvPr/>
          </p:nvSpPr>
          <p:spPr bwMode="auto">
            <a:xfrm flipV="1">
              <a:off x="3049" y="2499"/>
              <a:ext cx="0" cy="2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" name="Line 23"/>
            <p:cNvSpPr>
              <a:spLocks noChangeShapeType="1"/>
            </p:cNvSpPr>
            <p:nvPr/>
          </p:nvSpPr>
          <p:spPr bwMode="auto">
            <a:xfrm rot="3235542" flipV="1">
              <a:off x="3153" y="2413"/>
              <a:ext cx="4" cy="2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" name="Line 24"/>
            <p:cNvSpPr>
              <a:spLocks noChangeShapeType="1"/>
            </p:cNvSpPr>
            <p:nvPr/>
          </p:nvSpPr>
          <p:spPr bwMode="auto">
            <a:xfrm>
              <a:off x="3058" y="2701"/>
              <a:ext cx="233" cy="2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" name="Line 25"/>
            <p:cNvSpPr>
              <a:spLocks noChangeShapeType="1"/>
            </p:cNvSpPr>
            <p:nvPr/>
          </p:nvSpPr>
          <p:spPr bwMode="auto">
            <a:xfrm>
              <a:off x="2575" y="2337"/>
              <a:ext cx="0" cy="3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" name="Line 26"/>
            <p:cNvSpPr>
              <a:spLocks noChangeShapeType="1"/>
            </p:cNvSpPr>
            <p:nvPr/>
          </p:nvSpPr>
          <p:spPr bwMode="auto">
            <a:xfrm flipV="1">
              <a:off x="2344" y="2734"/>
              <a:ext cx="0" cy="28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" name="Line 27"/>
            <p:cNvSpPr>
              <a:spLocks noChangeShapeType="1"/>
            </p:cNvSpPr>
            <p:nvPr/>
          </p:nvSpPr>
          <p:spPr bwMode="auto">
            <a:xfrm rot="3235542" flipV="1">
              <a:off x="2447" y="2622"/>
              <a:ext cx="27" cy="26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" name="Line 28"/>
            <p:cNvSpPr>
              <a:spLocks noChangeShapeType="1"/>
            </p:cNvSpPr>
            <p:nvPr/>
          </p:nvSpPr>
          <p:spPr bwMode="auto">
            <a:xfrm>
              <a:off x="2356" y="2944"/>
              <a:ext cx="237" cy="1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" name="Line 29"/>
            <p:cNvSpPr>
              <a:spLocks noChangeShapeType="1"/>
            </p:cNvSpPr>
            <p:nvPr/>
          </p:nvSpPr>
          <p:spPr bwMode="auto">
            <a:xfrm flipH="1">
              <a:off x="2575" y="2660"/>
              <a:ext cx="4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" name="Line 30"/>
            <p:cNvSpPr>
              <a:spLocks noChangeShapeType="1"/>
            </p:cNvSpPr>
            <p:nvPr/>
          </p:nvSpPr>
          <p:spPr bwMode="auto">
            <a:xfrm>
              <a:off x="3272" y="2418"/>
              <a:ext cx="7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" name="Line 31"/>
            <p:cNvSpPr>
              <a:spLocks noChangeShapeType="1"/>
            </p:cNvSpPr>
            <p:nvPr/>
          </p:nvSpPr>
          <p:spPr bwMode="auto">
            <a:xfrm>
              <a:off x="1529" y="3592"/>
              <a:ext cx="251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2" name="Text Box 32"/>
            <p:cNvSpPr txBox="1">
              <a:spLocks noChangeArrowheads="1"/>
            </p:cNvSpPr>
            <p:nvPr/>
          </p:nvSpPr>
          <p:spPr bwMode="auto">
            <a:xfrm>
              <a:off x="1429" y="1972"/>
              <a:ext cx="431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B1</a:t>
              </a:r>
              <a:endPara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" name="Text Box 33"/>
            <p:cNvSpPr txBox="1">
              <a:spLocks noChangeArrowheads="1"/>
            </p:cNvSpPr>
            <p:nvPr/>
          </p:nvSpPr>
          <p:spPr bwMode="auto">
            <a:xfrm>
              <a:off x="2050" y="1892"/>
              <a:ext cx="431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C1</a:t>
              </a:r>
              <a:endPara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" name="Text Box 36"/>
            <p:cNvSpPr txBox="1">
              <a:spLocks noChangeArrowheads="1"/>
            </p:cNvSpPr>
            <p:nvPr/>
          </p:nvSpPr>
          <p:spPr bwMode="auto">
            <a:xfrm>
              <a:off x="1520" y="3044"/>
              <a:ext cx="27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</a:t>
              </a:r>
              <a:endPara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0" name="Text Box 39"/>
            <p:cNvSpPr txBox="1">
              <a:spLocks noChangeArrowheads="1"/>
            </p:cNvSpPr>
            <p:nvPr/>
          </p:nvSpPr>
          <p:spPr bwMode="auto">
            <a:xfrm>
              <a:off x="3833" y="2817"/>
              <a:ext cx="305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8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endPara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9" name="Text Box 41"/>
            <p:cNvSpPr txBox="1">
              <a:spLocks noChangeArrowheads="1"/>
            </p:cNvSpPr>
            <p:nvPr/>
          </p:nvSpPr>
          <p:spPr bwMode="auto">
            <a:xfrm>
              <a:off x="1964" y="2927"/>
              <a:ext cx="419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  <a:r>
                <a:rPr lang="en-US" altLang="zh-CN" sz="28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0" name="Text Box 42"/>
            <p:cNvSpPr txBox="1">
              <a:spLocks noChangeArrowheads="1"/>
            </p:cNvSpPr>
            <p:nvPr/>
          </p:nvSpPr>
          <p:spPr bwMode="auto">
            <a:xfrm>
              <a:off x="3199" y="2539"/>
              <a:ext cx="33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r>
                <a:rPr lang="en-US" altLang="zh-CN" sz="2800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  <a:r>
                <a:rPr lang="en-US" altLang="zh-CN" sz="28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Text Box 45"/>
            <p:cNvSpPr txBox="1">
              <a:spLocks noChangeArrowheads="1"/>
            </p:cNvSpPr>
            <p:nvPr/>
          </p:nvSpPr>
          <p:spPr bwMode="auto">
            <a:xfrm>
              <a:off x="2609" y="2712"/>
              <a:ext cx="549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CE1</a:t>
              </a:r>
              <a:endPara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" name="Line 46"/>
            <p:cNvSpPr>
              <a:spLocks noChangeShapeType="1"/>
            </p:cNvSpPr>
            <p:nvPr/>
          </p:nvSpPr>
          <p:spPr bwMode="auto">
            <a:xfrm>
              <a:off x="2614" y="2782"/>
              <a:ext cx="0" cy="24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" name="Line 48"/>
            <p:cNvSpPr>
              <a:spLocks noChangeShapeType="1"/>
            </p:cNvSpPr>
            <p:nvPr/>
          </p:nvSpPr>
          <p:spPr bwMode="auto">
            <a:xfrm flipV="1">
              <a:off x="3281" y="1770"/>
              <a:ext cx="0" cy="2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Line 49"/>
            <p:cNvSpPr>
              <a:spLocks noChangeShapeType="1"/>
            </p:cNvSpPr>
            <p:nvPr/>
          </p:nvSpPr>
          <p:spPr bwMode="auto">
            <a:xfrm>
              <a:off x="2584" y="3106"/>
              <a:ext cx="0" cy="4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Rectangle 50"/>
            <p:cNvSpPr>
              <a:spLocks noChangeArrowheads="1"/>
            </p:cNvSpPr>
            <p:nvPr/>
          </p:nvSpPr>
          <p:spPr bwMode="auto">
            <a:xfrm>
              <a:off x="3652" y="1774"/>
              <a:ext cx="609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</a:p>
          </p:txBody>
        </p:sp>
        <p:sp>
          <p:nvSpPr>
            <p:cNvPr id="39" name="Line 51"/>
            <p:cNvSpPr>
              <a:spLocks noChangeShapeType="1"/>
            </p:cNvSpPr>
            <p:nvPr/>
          </p:nvSpPr>
          <p:spPr bwMode="auto">
            <a:xfrm flipV="1">
              <a:off x="1925" y="1770"/>
              <a:ext cx="0" cy="2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Oval 52"/>
            <p:cNvSpPr>
              <a:spLocks noChangeArrowheads="1"/>
            </p:cNvSpPr>
            <p:nvPr/>
          </p:nvSpPr>
          <p:spPr bwMode="auto">
            <a:xfrm>
              <a:off x="4015" y="1752"/>
              <a:ext cx="44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1" name="Oval 53"/>
            <p:cNvSpPr>
              <a:spLocks noChangeArrowheads="1"/>
            </p:cNvSpPr>
            <p:nvPr/>
          </p:nvSpPr>
          <p:spPr bwMode="auto">
            <a:xfrm flipV="1">
              <a:off x="3257" y="3564"/>
              <a:ext cx="39" cy="40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9" name="Rectangle 56"/>
            <p:cNvSpPr>
              <a:spLocks noChangeArrowheads="1"/>
            </p:cNvSpPr>
            <p:nvPr/>
          </p:nvSpPr>
          <p:spPr bwMode="auto">
            <a:xfrm>
              <a:off x="3330" y="3124"/>
              <a:ext cx="422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 type="none" w="med" len="lg"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E2</a:t>
              </a:r>
              <a:endPara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3" name="Text Box 57"/>
            <p:cNvSpPr txBox="1">
              <a:spLocks noChangeArrowheads="1"/>
            </p:cNvSpPr>
            <p:nvPr/>
          </p:nvSpPr>
          <p:spPr bwMode="auto">
            <a:xfrm>
              <a:off x="2749" y="1893"/>
              <a:ext cx="431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lang="en-US" altLang="zh-CN" sz="2800" b="1" baseline="-25000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C2</a:t>
              </a:r>
              <a:endPara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Oval 59"/>
            <p:cNvSpPr>
              <a:spLocks noChangeArrowheads="1"/>
            </p:cNvSpPr>
            <p:nvPr/>
          </p:nvSpPr>
          <p:spPr bwMode="auto">
            <a:xfrm>
              <a:off x="4002" y="2394"/>
              <a:ext cx="44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Oval 60"/>
            <p:cNvSpPr>
              <a:spLocks noChangeArrowheads="1"/>
            </p:cNvSpPr>
            <p:nvPr/>
          </p:nvSpPr>
          <p:spPr bwMode="auto">
            <a:xfrm>
              <a:off x="1499" y="2848"/>
              <a:ext cx="44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1520" y="3565"/>
              <a:ext cx="44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Oval 62"/>
            <p:cNvSpPr>
              <a:spLocks noChangeArrowheads="1"/>
            </p:cNvSpPr>
            <p:nvPr/>
          </p:nvSpPr>
          <p:spPr bwMode="auto">
            <a:xfrm>
              <a:off x="1883" y="2840"/>
              <a:ext cx="44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9" name="Oval 63"/>
            <p:cNvSpPr>
              <a:spLocks noChangeArrowheads="1"/>
            </p:cNvSpPr>
            <p:nvPr/>
          </p:nvSpPr>
          <p:spPr bwMode="auto">
            <a:xfrm>
              <a:off x="4015" y="3565"/>
              <a:ext cx="44" cy="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0" name="Rectangle 64"/>
            <p:cNvSpPr>
              <a:spLocks noChangeArrowheads="1"/>
            </p:cNvSpPr>
            <p:nvPr/>
          </p:nvSpPr>
          <p:spPr bwMode="auto">
            <a:xfrm>
              <a:off x="3833" y="3362"/>
              <a:ext cx="344" cy="330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51" name="Rectangle 65"/>
            <p:cNvSpPr>
              <a:spLocks noChangeArrowheads="1"/>
            </p:cNvSpPr>
            <p:nvPr/>
          </p:nvSpPr>
          <p:spPr bwMode="auto">
            <a:xfrm>
              <a:off x="1429" y="3362"/>
              <a:ext cx="344" cy="330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800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</a:p>
          </p:txBody>
        </p:sp>
        <p:sp>
          <p:nvSpPr>
            <p:cNvPr id="52" name="Rectangle 66"/>
            <p:cNvSpPr>
              <a:spLocks noChangeArrowheads="1"/>
            </p:cNvSpPr>
            <p:nvPr/>
          </p:nvSpPr>
          <p:spPr bwMode="auto">
            <a:xfrm>
              <a:off x="3879" y="2455"/>
              <a:ext cx="253" cy="330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53" name="Rectangle 67"/>
            <p:cNvSpPr>
              <a:spLocks noChangeArrowheads="1"/>
            </p:cNvSpPr>
            <p:nvPr/>
          </p:nvSpPr>
          <p:spPr bwMode="auto">
            <a:xfrm>
              <a:off x="1452" y="2863"/>
              <a:ext cx="253" cy="330"/>
            </a:xfrm>
            <a:prstGeom prst="rect">
              <a:avLst/>
            </a:prstGeom>
            <a:noFill/>
            <a:ln w="349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+</a:t>
              </a:r>
            </a:p>
          </p:txBody>
        </p:sp>
        <p:sp>
          <p:nvSpPr>
            <p:cNvPr id="54" name="Rectangle 68"/>
            <p:cNvSpPr>
              <a:spLocks noChangeArrowheads="1"/>
            </p:cNvSpPr>
            <p:nvPr/>
          </p:nvSpPr>
          <p:spPr bwMode="auto">
            <a:xfrm>
              <a:off x="1858" y="2024"/>
              <a:ext cx="136" cy="350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5" name="Rectangle 69"/>
            <p:cNvSpPr>
              <a:spLocks noChangeArrowheads="1"/>
            </p:cNvSpPr>
            <p:nvPr/>
          </p:nvSpPr>
          <p:spPr bwMode="auto">
            <a:xfrm>
              <a:off x="2517" y="1979"/>
              <a:ext cx="136" cy="350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6" name="Rectangle 70"/>
            <p:cNvSpPr>
              <a:spLocks noChangeArrowheads="1"/>
            </p:cNvSpPr>
            <p:nvPr/>
          </p:nvSpPr>
          <p:spPr bwMode="auto">
            <a:xfrm>
              <a:off x="3221" y="1979"/>
              <a:ext cx="136" cy="350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7" name="Rectangle 71"/>
            <p:cNvSpPr>
              <a:spLocks noChangeArrowheads="1"/>
            </p:cNvSpPr>
            <p:nvPr/>
          </p:nvSpPr>
          <p:spPr bwMode="auto">
            <a:xfrm>
              <a:off x="3221" y="3067"/>
              <a:ext cx="136" cy="350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pSp>
        <p:nvGrpSpPr>
          <p:cNvPr id="62" name="Group 72"/>
          <p:cNvGrpSpPr>
            <a:grpSpLocks/>
          </p:cNvGrpSpPr>
          <p:nvPr/>
        </p:nvGrpSpPr>
        <p:grpSpPr bwMode="auto">
          <a:xfrm>
            <a:off x="725488" y="1039813"/>
            <a:ext cx="5562600" cy="523875"/>
            <a:chOff x="793" y="1105"/>
            <a:chExt cx="3504" cy="330"/>
          </a:xfrm>
        </p:grpSpPr>
        <p:sp>
          <p:nvSpPr>
            <p:cNvPr id="63" name="Text Box 73"/>
            <p:cNvSpPr txBox="1">
              <a:spLocks noChangeArrowheads="1"/>
            </p:cNvSpPr>
            <p:nvPr/>
          </p:nvSpPr>
          <p:spPr bwMode="auto">
            <a:xfrm>
              <a:off x="900" y="1105"/>
              <a:ext cx="3397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l"/>
              <a:r>
                <a:rPr lang="en-US" altLang="zh-CN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</a:t>
              </a: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前、后级静态工作点的相互影响</a:t>
              </a:r>
            </a:p>
          </p:txBody>
        </p:sp>
        <p:graphicFrame>
          <p:nvGraphicFramePr>
            <p:cNvPr id="64" name="Object 74"/>
            <p:cNvGraphicFramePr>
              <a:graphicFrameLocks noChangeAspect="1"/>
            </p:cNvGraphicFramePr>
            <p:nvPr/>
          </p:nvGraphicFramePr>
          <p:xfrm>
            <a:off x="793" y="1207"/>
            <a:ext cx="176" cy="181"/>
          </p:xfrm>
          <a:graphic>
            <a:graphicData uri="http://schemas.openxmlformats.org/presentationml/2006/ole">
              <p:oleObj spid="_x0000_s45058" name="CorelDRAW" r:id="rId3" imgW="798120" imgH="824760" progId="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745217" y="1345521"/>
            <a:ext cx="23354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零点漂移</a:t>
            </a:r>
            <a:r>
              <a:rPr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  <a:sym typeface="Symbol" pitchFamily="18" charset="2"/>
              </a:rPr>
              <a:t>。</a:t>
            </a:r>
            <a:endParaRPr lang="en-US" altLang="zh-CN" sz="28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58763" y="4025900"/>
            <a:ext cx="6958466" cy="65248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</a:t>
            </a: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差动放大电路能很好地抑制零点漂移。</a:t>
            </a:r>
          </a:p>
        </p:txBody>
      </p:sp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5108349" y="965428"/>
            <a:ext cx="3831822" cy="3317919"/>
            <a:chOff x="2547" y="1195"/>
            <a:chExt cx="2632" cy="2317"/>
          </a:xfrm>
        </p:grpSpPr>
        <p:sp>
          <p:nvSpPr>
            <p:cNvPr id="5" name="Line 6"/>
            <p:cNvSpPr>
              <a:spLocks noChangeShapeType="1"/>
            </p:cNvSpPr>
            <p:nvPr/>
          </p:nvSpPr>
          <p:spPr bwMode="auto">
            <a:xfrm>
              <a:off x="2971" y="3203"/>
              <a:ext cx="22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" name="Line 7"/>
            <p:cNvSpPr>
              <a:spLocks noChangeShapeType="1"/>
            </p:cNvSpPr>
            <p:nvPr/>
          </p:nvSpPr>
          <p:spPr bwMode="auto">
            <a:xfrm flipV="1">
              <a:off x="2979" y="1483"/>
              <a:ext cx="0" cy="17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2979" y="2203"/>
              <a:ext cx="20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" name="Freeform 9"/>
            <p:cNvSpPr>
              <a:spLocks/>
            </p:cNvSpPr>
            <p:nvPr/>
          </p:nvSpPr>
          <p:spPr bwMode="auto">
            <a:xfrm>
              <a:off x="2979" y="1879"/>
              <a:ext cx="1836" cy="576"/>
            </a:xfrm>
            <a:custGeom>
              <a:avLst/>
              <a:gdLst>
                <a:gd name="T0" fmla="*/ 0 w 1836"/>
                <a:gd name="T1" fmla="*/ 480 h 576"/>
                <a:gd name="T2" fmla="*/ 108 w 1836"/>
                <a:gd name="T3" fmla="*/ 468 h 576"/>
                <a:gd name="T4" fmla="*/ 156 w 1836"/>
                <a:gd name="T5" fmla="*/ 396 h 576"/>
                <a:gd name="T6" fmla="*/ 216 w 1836"/>
                <a:gd name="T7" fmla="*/ 312 h 576"/>
                <a:gd name="T8" fmla="*/ 288 w 1836"/>
                <a:gd name="T9" fmla="*/ 264 h 576"/>
                <a:gd name="T10" fmla="*/ 324 w 1836"/>
                <a:gd name="T11" fmla="*/ 240 h 576"/>
                <a:gd name="T12" fmla="*/ 576 w 1836"/>
                <a:gd name="T13" fmla="*/ 192 h 576"/>
                <a:gd name="T14" fmla="*/ 588 w 1836"/>
                <a:gd name="T15" fmla="*/ 120 h 576"/>
                <a:gd name="T16" fmla="*/ 636 w 1836"/>
                <a:gd name="T17" fmla="*/ 108 h 576"/>
                <a:gd name="T18" fmla="*/ 684 w 1836"/>
                <a:gd name="T19" fmla="*/ 24 h 576"/>
                <a:gd name="T20" fmla="*/ 828 w 1836"/>
                <a:gd name="T21" fmla="*/ 0 h 576"/>
                <a:gd name="T22" fmla="*/ 852 w 1836"/>
                <a:gd name="T23" fmla="*/ 216 h 576"/>
                <a:gd name="T24" fmla="*/ 924 w 1836"/>
                <a:gd name="T25" fmla="*/ 264 h 576"/>
                <a:gd name="T26" fmla="*/ 936 w 1836"/>
                <a:gd name="T27" fmla="*/ 300 h 576"/>
                <a:gd name="T28" fmla="*/ 948 w 1836"/>
                <a:gd name="T29" fmla="*/ 432 h 576"/>
                <a:gd name="T30" fmla="*/ 972 w 1836"/>
                <a:gd name="T31" fmla="*/ 468 h 576"/>
                <a:gd name="T32" fmla="*/ 996 w 1836"/>
                <a:gd name="T33" fmla="*/ 540 h 576"/>
                <a:gd name="T34" fmla="*/ 1080 w 1836"/>
                <a:gd name="T35" fmla="*/ 576 h 576"/>
                <a:gd name="T36" fmla="*/ 1140 w 1836"/>
                <a:gd name="T37" fmla="*/ 564 h 576"/>
                <a:gd name="T38" fmla="*/ 1212 w 1836"/>
                <a:gd name="T39" fmla="*/ 480 h 576"/>
                <a:gd name="T40" fmla="*/ 1296 w 1836"/>
                <a:gd name="T41" fmla="*/ 444 h 576"/>
                <a:gd name="T42" fmla="*/ 1320 w 1836"/>
                <a:gd name="T43" fmla="*/ 336 h 576"/>
                <a:gd name="T44" fmla="*/ 1392 w 1836"/>
                <a:gd name="T45" fmla="*/ 288 h 576"/>
                <a:gd name="T46" fmla="*/ 1524 w 1836"/>
                <a:gd name="T47" fmla="*/ 240 h 576"/>
                <a:gd name="T48" fmla="*/ 1596 w 1836"/>
                <a:gd name="T49" fmla="*/ 204 h 576"/>
                <a:gd name="T50" fmla="*/ 1620 w 1836"/>
                <a:gd name="T51" fmla="*/ 168 h 576"/>
                <a:gd name="T52" fmla="*/ 1656 w 1836"/>
                <a:gd name="T53" fmla="*/ 156 h 576"/>
                <a:gd name="T54" fmla="*/ 1680 w 1836"/>
                <a:gd name="T55" fmla="*/ 60 h 576"/>
                <a:gd name="T56" fmla="*/ 1716 w 1836"/>
                <a:gd name="T57" fmla="*/ 48 h 576"/>
                <a:gd name="T58" fmla="*/ 1752 w 1836"/>
                <a:gd name="T59" fmla="*/ 60 h 576"/>
                <a:gd name="T60" fmla="*/ 1800 w 1836"/>
                <a:gd name="T61" fmla="*/ 204 h 576"/>
                <a:gd name="T62" fmla="*/ 1836 w 1836"/>
                <a:gd name="T63" fmla="*/ 276 h 57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836"/>
                <a:gd name="T97" fmla="*/ 0 h 576"/>
                <a:gd name="T98" fmla="*/ 1836 w 1836"/>
                <a:gd name="T99" fmla="*/ 576 h 57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836" h="576">
                  <a:moveTo>
                    <a:pt x="0" y="480"/>
                  </a:moveTo>
                  <a:cubicBezTo>
                    <a:pt x="36" y="476"/>
                    <a:pt x="73" y="477"/>
                    <a:pt x="108" y="468"/>
                  </a:cubicBezTo>
                  <a:cubicBezTo>
                    <a:pt x="161" y="455"/>
                    <a:pt x="136" y="435"/>
                    <a:pt x="156" y="396"/>
                  </a:cubicBezTo>
                  <a:cubicBezTo>
                    <a:pt x="171" y="365"/>
                    <a:pt x="190" y="335"/>
                    <a:pt x="216" y="312"/>
                  </a:cubicBezTo>
                  <a:cubicBezTo>
                    <a:pt x="238" y="293"/>
                    <a:pt x="264" y="280"/>
                    <a:pt x="288" y="264"/>
                  </a:cubicBezTo>
                  <a:cubicBezTo>
                    <a:pt x="300" y="256"/>
                    <a:pt x="324" y="240"/>
                    <a:pt x="324" y="240"/>
                  </a:cubicBezTo>
                  <a:cubicBezTo>
                    <a:pt x="366" y="115"/>
                    <a:pt x="297" y="285"/>
                    <a:pt x="576" y="192"/>
                  </a:cubicBezTo>
                  <a:cubicBezTo>
                    <a:pt x="599" y="184"/>
                    <a:pt x="574" y="140"/>
                    <a:pt x="588" y="120"/>
                  </a:cubicBezTo>
                  <a:cubicBezTo>
                    <a:pt x="598" y="107"/>
                    <a:pt x="620" y="112"/>
                    <a:pt x="636" y="108"/>
                  </a:cubicBezTo>
                  <a:cubicBezTo>
                    <a:pt x="638" y="105"/>
                    <a:pt x="673" y="28"/>
                    <a:pt x="684" y="24"/>
                  </a:cubicBezTo>
                  <a:cubicBezTo>
                    <a:pt x="729" y="6"/>
                    <a:pt x="781" y="12"/>
                    <a:pt x="828" y="0"/>
                  </a:cubicBezTo>
                  <a:cubicBezTo>
                    <a:pt x="851" y="69"/>
                    <a:pt x="827" y="148"/>
                    <a:pt x="852" y="216"/>
                  </a:cubicBezTo>
                  <a:cubicBezTo>
                    <a:pt x="862" y="243"/>
                    <a:pt x="924" y="264"/>
                    <a:pt x="924" y="264"/>
                  </a:cubicBezTo>
                  <a:cubicBezTo>
                    <a:pt x="928" y="276"/>
                    <a:pt x="934" y="287"/>
                    <a:pt x="936" y="300"/>
                  </a:cubicBezTo>
                  <a:cubicBezTo>
                    <a:pt x="942" y="344"/>
                    <a:pt x="939" y="389"/>
                    <a:pt x="948" y="432"/>
                  </a:cubicBezTo>
                  <a:cubicBezTo>
                    <a:pt x="951" y="446"/>
                    <a:pt x="966" y="455"/>
                    <a:pt x="972" y="468"/>
                  </a:cubicBezTo>
                  <a:cubicBezTo>
                    <a:pt x="982" y="491"/>
                    <a:pt x="973" y="529"/>
                    <a:pt x="996" y="540"/>
                  </a:cubicBezTo>
                  <a:cubicBezTo>
                    <a:pt x="1055" y="570"/>
                    <a:pt x="1027" y="558"/>
                    <a:pt x="1080" y="576"/>
                  </a:cubicBezTo>
                  <a:cubicBezTo>
                    <a:pt x="1100" y="572"/>
                    <a:pt x="1122" y="574"/>
                    <a:pt x="1140" y="564"/>
                  </a:cubicBezTo>
                  <a:cubicBezTo>
                    <a:pt x="1205" y="528"/>
                    <a:pt x="1171" y="521"/>
                    <a:pt x="1212" y="480"/>
                  </a:cubicBezTo>
                  <a:cubicBezTo>
                    <a:pt x="1240" y="452"/>
                    <a:pt x="1259" y="453"/>
                    <a:pt x="1296" y="444"/>
                  </a:cubicBezTo>
                  <a:cubicBezTo>
                    <a:pt x="1308" y="409"/>
                    <a:pt x="1305" y="370"/>
                    <a:pt x="1320" y="336"/>
                  </a:cubicBezTo>
                  <a:cubicBezTo>
                    <a:pt x="1338" y="296"/>
                    <a:pt x="1360" y="302"/>
                    <a:pt x="1392" y="288"/>
                  </a:cubicBezTo>
                  <a:cubicBezTo>
                    <a:pt x="1434" y="270"/>
                    <a:pt x="1483" y="260"/>
                    <a:pt x="1524" y="240"/>
                  </a:cubicBezTo>
                  <a:cubicBezTo>
                    <a:pt x="1617" y="193"/>
                    <a:pt x="1506" y="234"/>
                    <a:pt x="1596" y="204"/>
                  </a:cubicBezTo>
                  <a:cubicBezTo>
                    <a:pt x="1604" y="192"/>
                    <a:pt x="1609" y="177"/>
                    <a:pt x="1620" y="168"/>
                  </a:cubicBezTo>
                  <a:cubicBezTo>
                    <a:pt x="1630" y="160"/>
                    <a:pt x="1647" y="165"/>
                    <a:pt x="1656" y="156"/>
                  </a:cubicBezTo>
                  <a:cubicBezTo>
                    <a:pt x="1679" y="133"/>
                    <a:pt x="1662" y="87"/>
                    <a:pt x="1680" y="60"/>
                  </a:cubicBezTo>
                  <a:cubicBezTo>
                    <a:pt x="1687" y="49"/>
                    <a:pt x="1704" y="52"/>
                    <a:pt x="1716" y="48"/>
                  </a:cubicBezTo>
                  <a:cubicBezTo>
                    <a:pt x="1728" y="52"/>
                    <a:pt x="1748" y="48"/>
                    <a:pt x="1752" y="60"/>
                  </a:cubicBezTo>
                  <a:cubicBezTo>
                    <a:pt x="1805" y="218"/>
                    <a:pt x="1711" y="174"/>
                    <a:pt x="1800" y="204"/>
                  </a:cubicBezTo>
                  <a:cubicBezTo>
                    <a:pt x="1815" y="263"/>
                    <a:pt x="1800" y="240"/>
                    <a:pt x="1836" y="276"/>
                  </a:cubicBezTo>
                </a:path>
              </a:pathLst>
            </a:custGeom>
            <a:noFill/>
            <a:ln w="38100" cap="flat" cmpd="sng">
              <a:solidFill>
                <a:srgbClr val="0070C0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4957" y="3147"/>
              <a:ext cx="195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</a:p>
          </p:txBody>
        </p:sp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2547" y="1195"/>
              <a:ext cx="43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800" b="1" i="1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lang="en-US" altLang="zh-CN" sz="2800" b="1" baseline="-25000" dirty="0" err="1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endParaRPr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2739" y="3033"/>
              <a:ext cx="215" cy="2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595993" y="2003879"/>
            <a:ext cx="4672693" cy="1797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出现零点漂移的原因：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多级直接耦合放大器的放大倍数很高。</a:t>
            </a:r>
          </a:p>
        </p:txBody>
      </p:sp>
      <p:grpSp>
        <p:nvGrpSpPr>
          <p:cNvPr id="14" name="Group 21"/>
          <p:cNvGrpSpPr>
            <a:grpSpLocks/>
          </p:cNvGrpSpPr>
          <p:nvPr/>
        </p:nvGrpSpPr>
        <p:grpSpPr bwMode="auto">
          <a:xfrm>
            <a:off x="1042988" y="496888"/>
            <a:ext cx="4781550" cy="523875"/>
            <a:chOff x="431" y="313"/>
            <a:chExt cx="3012" cy="330"/>
          </a:xfrm>
        </p:grpSpPr>
        <p:sp>
          <p:nvSpPr>
            <p:cNvPr id="15" name="Text Box 22"/>
            <p:cNvSpPr txBox="1">
              <a:spLocks noChangeArrowheads="1"/>
            </p:cNvSpPr>
            <p:nvPr/>
          </p:nvSpPr>
          <p:spPr bwMode="auto">
            <a:xfrm>
              <a:off x="612" y="313"/>
              <a:ext cx="283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直接耦合放大器的零点漂移</a:t>
              </a:r>
              <a:endParaRPr lang="zh-CN" altLang="en-US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16" name="Object 23"/>
            <p:cNvGraphicFramePr>
              <a:graphicFrameLocks noChangeAspect="1"/>
            </p:cNvGraphicFramePr>
            <p:nvPr/>
          </p:nvGraphicFramePr>
          <p:xfrm>
            <a:off x="431" y="400"/>
            <a:ext cx="176" cy="181"/>
          </p:xfrm>
          <a:graphic>
            <a:graphicData uri="http://schemas.openxmlformats.org/presentationml/2006/ole">
              <p:oleObj spid="_x0000_s46082" name="CorelDRAW" r:id="rId3" imgW="798120" imgH="824760" progId="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531814" y="367166"/>
            <a:ext cx="30169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2800" b="1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 </a:t>
            </a:r>
            <a:r>
              <a:rPr lang="en-US" altLang="zh-CN" sz="2800" b="1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) </a:t>
            </a:r>
            <a:r>
              <a:rPr lang="zh-CN" altLang="en-US" sz="2800" b="1" dirty="0" smtClean="0">
                <a:solidFill>
                  <a:srgbClr val="0070C0"/>
                </a:solidFill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差动放大电路</a:t>
            </a:r>
            <a:endParaRPr lang="zh-CN" altLang="en-US" sz="2800" b="1" dirty="0">
              <a:solidFill>
                <a:srgbClr val="0070C0"/>
              </a:solidFill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59228" y="917121"/>
            <a:ext cx="6988629" cy="1439862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常用于多级直接耦合放大电路的输入级。</a:t>
            </a:r>
          </a:p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24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结构特点：</a:t>
            </a:r>
          </a:p>
        </p:txBody>
      </p:sp>
      <p:sp>
        <p:nvSpPr>
          <p:cNvPr id="4" name="Text Box 71"/>
          <p:cNvSpPr txBox="1">
            <a:spLocks noChangeArrowheads="1"/>
          </p:cNvSpPr>
          <p:nvPr/>
        </p:nvSpPr>
        <p:spPr bwMode="auto">
          <a:xfrm>
            <a:off x="421822" y="2250168"/>
            <a:ext cx="2232025" cy="1717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0" lang="en-US" altLang="zh-CN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①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电路</a:t>
            </a: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对称 ②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双端输入</a:t>
            </a:r>
          </a:p>
          <a:p>
            <a:pPr algn="l">
              <a:lnSpc>
                <a:spcPct val="130000"/>
              </a:lnSpc>
            </a:pPr>
            <a:r>
              <a:rPr kumimoji="0" lang="zh-CN" altLang="en-US" sz="28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③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双电源</a:t>
            </a:r>
            <a:endParaRPr kumimoji="0" lang="zh-CN" altLang="en-US" sz="24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3303815" y="1462314"/>
            <a:ext cx="5310187" cy="3517900"/>
            <a:chOff x="3303815" y="1462314"/>
            <a:chExt cx="5310187" cy="3517900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8079015" y="3027589"/>
              <a:ext cx="455612" cy="1854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8083778" y="3673701"/>
              <a:ext cx="368300" cy="476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i2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6369278" y="4383314"/>
              <a:ext cx="411162" cy="43656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5810478" y="3221264"/>
              <a:ext cx="455612" cy="396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P</a:t>
              </a:r>
              <a:endParaRPr kumimoji="0"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5977484" y="3705224"/>
              <a:ext cx="0" cy="7527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lg" len="lg"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5480278" y="3922939"/>
              <a:ext cx="563562" cy="3873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 flipH="1">
              <a:off x="5489803" y="2557689"/>
              <a:ext cx="447675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o1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 flipH="1">
              <a:off x="6443890" y="1838551"/>
              <a:ext cx="531813" cy="52863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3873728" y="2414813"/>
              <a:ext cx="419100" cy="43021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 flipH="1">
              <a:off x="7963127" y="1551214"/>
              <a:ext cx="650875" cy="5143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5789840" y="1970314"/>
              <a:ext cx="365125" cy="4302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5013553" y="1767114"/>
              <a:ext cx="465137" cy="3587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4750027" y="2708501"/>
              <a:ext cx="500063" cy="37941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7544028" y="2402114"/>
              <a:ext cx="360363" cy="5143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3509963" y="2921225"/>
              <a:ext cx="10638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4591278" y="2633889"/>
              <a:ext cx="0" cy="5572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4591278" y="2621189"/>
              <a:ext cx="265112" cy="1984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4591278" y="3049814"/>
              <a:ext cx="327025" cy="1619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>
              <a:off x="4897665" y="3191101"/>
              <a:ext cx="0" cy="4349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4856390" y="2276701"/>
              <a:ext cx="0" cy="3413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4856390" y="2473551"/>
              <a:ext cx="6127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V="1">
              <a:off x="3476624" y="4946875"/>
              <a:ext cx="49255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 rot="157989">
              <a:off x="5975578" y="4602389"/>
              <a:ext cx="22225" cy="3413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>
              <a:off x="4862740" y="1509939"/>
              <a:ext cx="34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V="1">
              <a:off x="4854803" y="1517876"/>
              <a:ext cx="1587" cy="3286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" name="Oval 31"/>
            <p:cNvSpPr>
              <a:spLocks noChangeArrowheads="1"/>
            </p:cNvSpPr>
            <p:nvPr/>
          </p:nvSpPr>
          <p:spPr bwMode="auto">
            <a:xfrm flipH="1">
              <a:off x="8352065" y="1462314"/>
              <a:ext cx="93663" cy="8731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2" name="Oval 32"/>
            <p:cNvSpPr>
              <a:spLocks noChangeArrowheads="1"/>
            </p:cNvSpPr>
            <p:nvPr/>
          </p:nvSpPr>
          <p:spPr bwMode="auto">
            <a:xfrm>
              <a:off x="4823053" y="2427514"/>
              <a:ext cx="74612" cy="682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6870927" y="3208563"/>
              <a:ext cx="0" cy="432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" name="Text Box 36"/>
            <p:cNvSpPr txBox="1">
              <a:spLocks noChangeArrowheads="1"/>
            </p:cNvSpPr>
            <p:nvPr/>
          </p:nvSpPr>
          <p:spPr bwMode="auto">
            <a:xfrm flipH="1">
              <a:off x="5913665" y="2510064"/>
              <a:ext cx="603250" cy="64928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o2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Text Box 37"/>
            <p:cNvSpPr txBox="1">
              <a:spLocks noChangeArrowheads="1"/>
            </p:cNvSpPr>
            <p:nvPr/>
          </p:nvSpPr>
          <p:spPr bwMode="auto">
            <a:xfrm flipH="1">
              <a:off x="6710590" y="2687864"/>
              <a:ext cx="358775" cy="4508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 flipH="1">
              <a:off x="4891315" y="3640364"/>
              <a:ext cx="19875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Line 39"/>
            <p:cNvSpPr>
              <a:spLocks noChangeShapeType="1"/>
            </p:cNvSpPr>
            <p:nvPr/>
          </p:nvSpPr>
          <p:spPr bwMode="auto">
            <a:xfrm flipH="1" flipV="1">
              <a:off x="6913790" y="2714851"/>
              <a:ext cx="288000" cy="216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Line 40"/>
            <p:cNvSpPr>
              <a:spLocks noChangeShapeType="1"/>
            </p:cNvSpPr>
            <p:nvPr/>
          </p:nvSpPr>
          <p:spPr bwMode="auto">
            <a:xfrm flipH="1" flipV="1">
              <a:off x="6918553" y="1516289"/>
              <a:ext cx="0" cy="12112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1" name="Line 41"/>
            <p:cNvSpPr>
              <a:spLocks noChangeShapeType="1"/>
            </p:cNvSpPr>
            <p:nvPr/>
          </p:nvSpPr>
          <p:spPr bwMode="auto">
            <a:xfrm flipH="1">
              <a:off x="6834415" y="3032351"/>
              <a:ext cx="346075" cy="1984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Line 42"/>
            <p:cNvSpPr>
              <a:spLocks noChangeShapeType="1"/>
            </p:cNvSpPr>
            <p:nvPr/>
          </p:nvSpPr>
          <p:spPr bwMode="auto">
            <a:xfrm flipH="1">
              <a:off x="7197953" y="2649764"/>
              <a:ext cx="0" cy="6016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Oval 45"/>
            <p:cNvSpPr>
              <a:spLocks noChangeArrowheads="1"/>
            </p:cNvSpPr>
            <p:nvPr/>
          </p:nvSpPr>
          <p:spPr bwMode="auto">
            <a:xfrm flipH="1">
              <a:off x="5948590" y="4911951"/>
              <a:ext cx="71438" cy="6826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Oval 46"/>
            <p:cNvSpPr>
              <a:spLocks noChangeArrowheads="1"/>
            </p:cNvSpPr>
            <p:nvPr/>
          </p:nvSpPr>
          <p:spPr bwMode="auto">
            <a:xfrm flipH="1">
              <a:off x="6889978" y="1470251"/>
              <a:ext cx="74612" cy="6826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7" name="Line 47"/>
            <p:cNvSpPr>
              <a:spLocks noChangeShapeType="1"/>
            </p:cNvSpPr>
            <p:nvPr/>
          </p:nvSpPr>
          <p:spPr bwMode="auto">
            <a:xfrm flipH="1">
              <a:off x="6431190" y="2456089"/>
              <a:ext cx="5048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Oval 48"/>
            <p:cNvSpPr>
              <a:spLocks noChangeArrowheads="1"/>
            </p:cNvSpPr>
            <p:nvPr/>
          </p:nvSpPr>
          <p:spPr bwMode="auto">
            <a:xfrm flipH="1">
              <a:off x="5380265" y="2421164"/>
              <a:ext cx="93663" cy="873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9" name="Oval 49"/>
            <p:cNvSpPr>
              <a:spLocks noChangeArrowheads="1"/>
            </p:cNvSpPr>
            <p:nvPr/>
          </p:nvSpPr>
          <p:spPr bwMode="auto">
            <a:xfrm flipH="1">
              <a:off x="5359628" y="3003776"/>
              <a:ext cx="93662" cy="8731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0" name="Oval 50"/>
            <p:cNvSpPr>
              <a:spLocks noChangeArrowheads="1"/>
            </p:cNvSpPr>
            <p:nvPr/>
          </p:nvSpPr>
          <p:spPr bwMode="auto">
            <a:xfrm flipH="1">
              <a:off x="6883628" y="2430689"/>
              <a:ext cx="73025" cy="682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1" name="Line 51"/>
            <p:cNvSpPr>
              <a:spLocks noChangeShapeType="1"/>
            </p:cNvSpPr>
            <p:nvPr/>
          </p:nvSpPr>
          <p:spPr bwMode="auto">
            <a:xfrm>
              <a:off x="7207478" y="2992664"/>
              <a:ext cx="118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3" name="Oval 53"/>
            <p:cNvSpPr>
              <a:spLocks noChangeArrowheads="1"/>
            </p:cNvSpPr>
            <p:nvPr/>
          </p:nvSpPr>
          <p:spPr bwMode="auto">
            <a:xfrm flipH="1">
              <a:off x="6353403" y="2417989"/>
              <a:ext cx="93662" cy="873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4" name="Oval 54"/>
            <p:cNvSpPr>
              <a:spLocks noChangeArrowheads="1"/>
            </p:cNvSpPr>
            <p:nvPr/>
          </p:nvSpPr>
          <p:spPr bwMode="auto">
            <a:xfrm flipH="1">
              <a:off x="6353403" y="3005364"/>
              <a:ext cx="93662" cy="8731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8" name="Text Box 59"/>
            <p:cNvSpPr txBox="1">
              <a:spLocks noChangeArrowheads="1"/>
            </p:cNvSpPr>
            <p:nvPr/>
          </p:nvSpPr>
          <p:spPr bwMode="auto">
            <a:xfrm>
              <a:off x="3303815" y="3614964"/>
              <a:ext cx="390525" cy="51593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i1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9" name="Text Box 60"/>
            <p:cNvSpPr txBox="1">
              <a:spLocks noChangeArrowheads="1"/>
            </p:cNvSpPr>
            <p:nvPr/>
          </p:nvSpPr>
          <p:spPr bwMode="auto">
            <a:xfrm>
              <a:off x="3342370" y="2988808"/>
              <a:ext cx="455613" cy="1854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0" name="Text Box 62"/>
            <p:cNvSpPr txBox="1">
              <a:spLocks noChangeArrowheads="1"/>
            </p:cNvSpPr>
            <p:nvPr/>
          </p:nvSpPr>
          <p:spPr bwMode="auto">
            <a:xfrm>
              <a:off x="5281840" y="2471964"/>
              <a:ext cx="273050" cy="6096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1" name="Text Box 63"/>
            <p:cNvSpPr txBox="1">
              <a:spLocks noChangeArrowheads="1"/>
            </p:cNvSpPr>
            <p:nvPr/>
          </p:nvSpPr>
          <p:spPr bwMode="auto">
            <a:xfrm>
              <a:off x="6277203" y="2479584"/>
              <a:ext cx="223837" cy="6223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2" name="Text Box 64"/>
            <p:cNvSpPr txBox="1">
              <a:spLocks noChangeArrowheads="1"/>
            </p:cNvSpPr>
            <p:nvPr/>
          </p:nvSpPr>
          <p:spPr bwMode="auto">
            <a:xfrm>
              <a:off x="5439003" y="2124301"/>
              <a:ext cx="1182688" cy="37306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zh-CN" altLang="en-US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   </a:t>
              </a:r>
              <a:r>
                <a:rPr kumimoji="0" lang="zh-CN" altLang="en-US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kumimoji="0" lang="zh-CN" altLang="en-US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－</a:t>
              </a:r>
              <a:endPara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3" name="Line 65"/>
            <p:cNvSpPr>
              <a:spLocks noChangeShapeType="1"/>
            </p:cNvSpPr>
            <p:nvPr/>
          </p:nvSpPr>
          <p:spPr bwMode="auto">
            <a:xfrm flipH="1">
              <a:off x="5218340" y="3251426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4" name="Line 66"/>
            <p:cNvSpPr>
              <a:spLocks noChangeShapeType="1"/>
            </p:cNvSpPr>
            <p:nvPr/>
          </p:nvSpPr>
          <p:spPr bwMode="auto">
            <a:xfrm rot="328642">
              <a:off x="5396140" y="3081564"/>
              <a:ext cx="22225" cy="193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5" name="Line 67"/>
            <p:cNvSpPr>
              <a:spLocks noChangeShapeType="1"/>
            </p:cNvSpPr>
            <p:nvPr/>
          </p:nvSpPr>
          <p:spPr bwMode="auto">
            <a:xfrm flipH="1">
              <a:off x="6216878" y="3251426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6" name="Line 68"/>
            <p:cNvSpPr>
              <a:spLocks noChangeShapeType="1"/>
            </p:cNvSpPr>
            <p:nvPr/>
          </p:nvSpPr>
          <p:spPr bwMode="auto">
            <a:xfrm rot="328642">
              <a:off x="6394678" y="3081564"/>
              <a:ext cx="22225" cy="193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7" name="Line 69"/>
            <p:cNvSpPr>
              <a:spLocks noChangeShapeType="1"/>
            </p:cNvSpPr>
            <p:nvPr/>
          </p:nvSpPr>
          <p:spPr bwMode="auto">
            <a:xfrm rot="10800000">
              <a:off x="5740628" y="4599214"/>
              <a:ext cx="457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8" name="Line 70"/>
            <p:cNvSpPr>
              <a:spLocks noChangeShapeType="1"/>
            </p:cNvSpPr>
            <p:nvPr/>
          </p:nvSpPr>
          <p:spPr bwMode="auto">
            <a:xfrm rot="10800000">
              <a:off x="5815090" y="4454751"/>
              <a:ext cx="3240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Rectangle 70"/>
            <p:cNvSpPr>
              <a:spLocks noChangeArrowheads="1"/>
            </p:cNvSpPr>
            <p:nvPr/>
          </p:nvSpPr>
          <p:spPr bwMode="auto">
            <a:xfrm>
              <a:off x="4743222" y="1774146"/>
              <a:ext cx="215900" cy="555625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 rot="5400000">
              <a:off x="3974420" y="2646366"/>
              <a:ext cx="215900" cy="555625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2" name="Rectangle 70"/>
            <p:cNvSpPr>
              <a:spLocks noChangeArrowheads="1"/>
            </p:cNvSpPr>
            <p:nvPr/>
          </p:nvSpPr>
          <p:spPr bwMode="auto">
            <a:xfrm>
              <a:off x="6822394" y="1752374"/>
              <a:ext cx="215900" cy="555625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3" name="Rectangle 70"/>
            <p:cNvSpPr>
              <a:spLocks noChangeArrowheads="1"/>
            </p:cNvSpPr>
            <p:nvPr/>
          </p:nvSpPr>
          <p:spPr bwMode="auto">
            <a:xfrm rot="5400000">
              <a:off x="7595283" y="2721203"/>
              <a:ext cx="215900" cy="555625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5895747" y="3966259"/>
              <a:ext cx="166235" cy="337682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5" name="Rectangle 70"/>
            <p:cNvSpPr>
              <a:spLocks noChangeArrowheads="1"/>
            </p:cNvSpPr>
            <p:nvPr/>
          </p:nvSpPr>
          <p:spPr bwMode="auto">
            <a:xfrm rot="5400000">
              <a:off x="5905955" y="3405648"/>
              <a:ext cx="166461" cy="451754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6" name="Text Box 63"/>
            <p:cNvSpPr txBox="1">
              <a:spLocks noChangeArrowheads="1"/>
            </p:cNvSpPr>
            <p:nvPr/>
          </p:nvSpPr>
          <p:spPr bwMode="auto">
            <a:xfrm>
              <a:off x="6153377" y="4183289"/>
              <a:ext cx="223837" cy="68398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spcBef>
                  <a:spcPts val="1200"/>
                </a:spcBef>
                <a:defRPr/>
              </a:pPr>
              <a:r>
                <a:rPr kumimoji="0" lang="zh-CN" altLang="en-US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en-US" altLang="zh-CN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spcBef>
                  <a:spcPts val="1200"/>
                </a:spcBef>
                <a:defRPr/>
              </a:pPr>
              <a:r>
                <a:rPr lang="zh-CN" altLang="en-US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619578" y="895350"/>
            <a:ext cx="2765879" cy="2076450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base" latinLnBrk="0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①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共模输入</a:t>
            </a:r>
          </a:p>
          <a:p>
            <a:pPr marL="228600" marR="0" lvl="0" indent="-228600" algn="l" defTabSz="914400" rtl="0" eaLnBrk="1" fontAlgn="base" latinLnBrk="0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②差模输入</a:t>
            </a:r>
          </a:p>
          <a:p>
            <a:pPr marL="228600" marR="0" lvl="0" indent="-228600" algn="l" defTabSz="914400" rtl="0" eaLnBrk="1" fontAlgn="base" latinLnBrk="0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③比较输入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08693" y="206829"/>
            <a:ext cx="6227536" cy="523220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差动放大电路</a:t>
            </a:r>
            <a:r>
              <a:rPr kumimoji="0"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i1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和</a:t>
            </a:r>
            <a:r>
              <a:rPr kumimoji="0" lang="en-US" altLang="zh-CN" sz="28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28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i2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三种输入方式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510644" y="1048657"/>
            <a:ext cx="5310187" cy="3517900"/>
            <a:chOff x="3303815" y="1462314"/>
            <a:chExt cx="5310187" cy="3517900"/>
          </a:xfrm>
        </p:grpSpPr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>
              <a:off x="8079015" y="3027589"/>
              <a:ext cx="455612" cy="1854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>
              <a:off x="8083778" y="3673701"/>
              <a:ext cx="368300" cy="476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i2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6369278" y="4383314"/>
              <a:ext cx="411162" cy="43656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>
              <a:off x="5810478" y="3221264"/>
              <a:ext cx="455612" cy="3968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P</a:t>
              </a:r>
              <a:endParaRPr kumimoji="0" lang="en-US" altLang="zh-CN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5977484" y="3705224"/>
              <a:ext cx="0" cy="7527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lg" len="lg"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6" name="Text Box 10"/>
            <p:cNvSpPr txBox="1">
              <a:spLocks noChangeArrowheads="1"/>
            </p:cNvSpPr>
            <p:nvPr/>
          </p:nvSpPr>
          <p:spPr bwMode="auto">
            <a:xfrm>
              <a:off x="5480278" y="3922939"/>
              <a:ext cx="563562" cy="3873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E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 flipH="1">
              <a:off x="5489803" y="2557689"/>
              <a:ext cx="447675" cy="457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o1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8" name="Text Box 12"/>
            <p:cNvSpPr txBox="1">
              <a:spLocks noChangeArrowheads="1"/>
            </p:cNvSpPr>
            <p:nvPr/>
          </p:nvSpPr>
          <p:spPr bwMode="auto">
            <a:xfrm flipH="1">
              <a:off x="6443890" y="1838551"/>
              <a:ext cx="531813" cy="52863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19" name="Text Box 13"/>
            <p:cNvSpPr txBox="1">
              <a:spLocks noChangeArrowheads="1"/>
            </p:cNvSpPr>
            <p:nvPr/>
          </p:nvSpPr>
          <p:spPr bwMode="auto">
            <a:xfrm>
              <a:off x="3873728" y="2414813"/>
              <a:ext cx="419100" cy="43021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0" name="Text Box 14"/>
            <p:cNvSpPr txBox="1">
              <a:spLocks noChangeArrowheads="1"/>
            </p:cNvSpPr>
            <p:nvPr/>
          </p:nvSpPr>
          <p:spPr bwMode="auto">
            <a:xfrm flipH="1">
              <a:off x="7963127" y="1551214"/>
              <a:ext cx="650875" cy="5143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CC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1" name="Text Box 15"/>
            <p:cNvSpPr txBox="1">
              <a:spLocks noChangeArrowheads="1"/>
            </p:cNvSpPr>
            <p:nvPr/>
          </p:nvSpPr>
          <p:spPr bwMode="auto">
            <a:xfrm>
              <a:off x="5789840" y="1970314"/>
              <a:ext cx="365125" cy="43021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 err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2" name="Text Box 16"/>
            <p:cNvSpPr txBox="1">
              <a:spLocks noChangeArrowheads="1"/>
            </p:cNvSpPr>
            <p:nvPr/>
          </p:nvSpPr>
          <p:spPr bwMode="auto">
            <a:xfrm>
              <a:off x="5013553" y="1767114"/>
              <a:ext cx="465137" cy="35877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C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3" name="Text Box 17"/>
            <p:cNvSpPr txBox="1">
              <a:spLocks noChangeArrowheads="1"/>
            </p:cNvSpPr>
            <p:nvPr/>
          </p:nvSpPr>
          <p:spPr bwMode="auto">
            <a:xfrm>
              <a:off x="4750027" y="2708501"/>
              <a:ext cx="500063" cy="37941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1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4" name="Text Box 18"/>
            <p:cNvSpPr txBox="1">
              <a:spLocks noChangeArrowheads="1"/>
            </p:cNvSpPr>
            <p:nvPr/>
          </p:nvSpPr>
          <p:spPr bwMode="auto">
            <a:xfrm>
              <a:off x="7544028" y="2402114"/>
              <a:ext cx="360363" cy="5143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R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B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 flipV="1">
              <a:off x="3509963" y="2921225"/>
              <a:ext cx="10638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4591278" y="2633889"/>
              <a:ext cx="0" cy="5572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 flipV="1">
              <a:off x="4591278" y="2621189"/>
              <a:ext cx="265112" cy="1984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>
              <a:off x="4591278" y="3049814"/>
              <a:ext cx="327025" cy="1619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4897665" y="3191101"/>
              <a:ext cx="0" cy="4349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 flipV="1">
              <a:off x="4856390" y="2276701"/>
              <a:ext cx="0" cy="3413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4856390" y="2473551"/>
              <a:ext cx="6127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 flipV="1">
              <a:off x="3476624" y="4946875"/>
              <a:ext cx="49255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rot="157989">
              <a:off x="5975578" y="4602389"/>
              <a:ext cx="22225" cy="3413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4862740" y="1509939"/>
              <a:ext cx="349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 flipV="1">
              <a:off x="4854803" y="1517876"/>
              <a:ext cx="1587" cy="3286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6" name="Oval 31"/>
            <p:cNvSpPr>
              <a:spLocks noChangeArrowheads="1"/>
            </p:cNvSpPr>
            <p:nvPr/>
          </p:nvSpPr>
          <p:spPr bwMode="auto">
            <a:xfrm flipH="1">
              <a:off x="8352065" y="1462314"/>
              <a:ext cx="93663" cy="8731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7" name="Oval 32"/>
            <p:cNvSpPr>
              <a:spLocks noChangeArrowheads="1"/>
            </p:cNvSpPr>
            <p:nvPr/>
          </p:nvSpPr>
          <p:spPr bwMode="auto">
            <a:xfrm>
              <a:off x="4823053" y="2427514"/>
              <a:ext cx="74612" cy="682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8" name="Line 34"/>
            <p:cNvSpPr>
              <a:spLocks noChangeShapeType="1"/>
            </p:cNvSpPr>
            <p:nvPr/>
          </p:nvSpPr>
          <p:spPr bwMode="auto">
            <a:xfrm>
              <a:off x="6870927" y="3208563"/>
              <a:ext cx="0" cy="432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39" name="Text Box 36"/>
            <p:cNvSpPr txBox="1">
              <a:spLocks noChangeArrowheads="1"/>
            </p:cNvSpPr>
            <p:nvPr/>
          </p:nvSpPr>
          <p:spPr bwMode="auto">
            <a:xfrm flipH="1">
              <a:off x="5913665" y="2510064"/>
              <a:ext cx="603250" cy="64928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o2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0" name="Text Box 37"/>
            <p:cNvSpPr txBox="1">
              <a:spLocks noChangeArrowheads="1"/>
            </p:cNvSpPr>
            <p:nvPr/>
          </p:nvSpPr>
          <p:spPr bwMode="auto">
            <a:xfrm flipH="1">
              <a:off x="6710590" y="2687864"/>
              <a:ext cx="358775" cy="4508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T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2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 flipH="1">
              <a:off x="4891315" y="3640364"/>
              <a:ext cx="19875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2" name="Line 39"/>
            <p:cNvSpPr>
              <a:spLocks noChangeShapeType="1"/>
            </p:cNvSpPr>
            <p:nvPr/>
          </p:nvSpPr>
          <p:spPr bwMode="auto">
            <a:xfrm flipH="1" flipV="1">
              <a:off x="6913790" y="2714851"/>
              <a:ext cx="288000" cy="216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3" name="Line 40"/>
            <p:cNvSpPr>
              <a:spLocks noChangeShapeType="1"/>
            </p:cNvSpPr>
            <p:nvPr/>
          </p:nvSpPr>
          <p:spPr bwMode="auto">
            <a:xfrm flipH="1" flipV="1">
              <a:off x="6918553" y="1516289"/>
              <a:ext cx="0" cy="12112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 flipH="1">
              <a:off x="6834415" y="3032351"/>
              <a:ext cx="346075" cy="1984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5" name="Line 42"/>
            <p:cNvSpPr>
              <a:spLocks noChangeShapeType="1"/>
            </p:cNvSpPr>
            <p:nvPr/>
          </p:nvSpPr>
          <p:spPr bwMode="auto">
            <a:xfrm flipH="1">
              <a:off x="7197953" y="2649764"/>
              <a:ext cx="0" cy="6016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6" name="Oval 45"/>
            <p:cNvSpPr>
              <a:spLocks noChangeArrowheads="1"/>
            </p:cNvSpPr>
            <p:nvPr/>
          </p:nvSpPr>
          <p:spPr bwMode="auto">
            <a:xfrm flipH="1">
              <a:off x="5948590" y="4911951"/>
              <a:ext cx="71438" cy="6826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7" name="Oval 46"/>
            <p:cNvSpPr>
              <a:spLocks noChangeArrowheads="1"/>
            </p:cNvSpPr>
            <p:nvPr/>
          </p:nvSpPr>
          <p:spPr bwMode="auto">
            <a:xfrm flipH="1">
              <a:off x="6889978" y="1470251"/>
              <a:ext cx="74612" cy="6826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8" name="Line 47"/>
            <p:cNvSpPr>
              <a:spLocks noChangeShapeType="1"/>
            </p:cNvSpPr>
            <p:nvPr/>
          </p:nvSpPr>
          <p:spPr bwMode="auto">
            <a:xfrm flipH="1">
              <a:off x="6431190" y="2456089"/>
              <a:ext cx="5048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49" name="Oval 48"/>
            <p:cNvSpPr>
              <a:spLocks noChangeArrowheads="1"/>
            </p:cNvSpPr>
            <p:nvPr/>
          </p:nvSpPr>
          <p:spPr bwMode="auto">
            <a:xfrm flipH="1">
              <a:off x="5380265" y="2421164"/>
              <a:ext cx="93663" cy="873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0" name="Oval 49"/>
            <p:cNvSpPr>
              <a:spLocks noChangeArrowheads="1"/>
            </p:cNvSpPr>
            <p:nvPr/>
          </p:nvSpPr>
          <p:spPr bwMode="auto">
            <a:xfrm flipH="1">
              <a:off x="5359628" y="3003776"/>
              <a:ext cx="93662" cy="8731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1" name="Oval 50"/>
            <p:cNvSpPr>
              <a:spLocks noChangeArrowheads="1"/>
            </p:cNvSpPr>
            <p:nvPr/>
          </p:nvSpPr>
          <p:spPr bwMode="auto">
            <a:xfrm flipH="1">
              <a:off x="6883628" y="2430689"/>
              <a:ext cx="73025" cy="6826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2" name="Line 51"/>
            <p:cNvSpPr>
              <a:spLocks noChangeShapeType="1"/>
            </p:cNvSpPr>
            <p:nvPr/>
          </p:nvSpPr>
          <p:spPr bwMode="auto">
            <a:xfrm>
              <a:off x="7207478" y="2992664"/>
              <a:ext cx="1188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3" name="Oval 53"/>
            <p:cNvSpPr>
              <a:spLocks noChangeArrowheads="1"/>
            </p:cNvSpPr>
            <p:nvPr/>
          </p:nvSpPr>
          <p:spPr bwMode="auto">
            <a:xfrm flipH="1">
              <a:off x="6353403" y="2417989"/>
              <a:ext cx="93662" cy="8731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4" name="Oval 54"/>
            <p:cNvSpPr>
              <a:spLocks noChangeArrowheads="1"/>
            </p:cNvSpPr>
            <p:nvPr/>
          </p:nvSpPr>
          <p:spPr bwMode="auto">
            <a:xfrm flipH="1">
              <a:off x="6353403" y="3005364"/>
              <a:ext cx="93662" cy="8731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5" name="Text Box 59"/>
            <p:cNvSpPr txBox="1">
              <a:spLocks noChangeArrowheads="1"/>
            </p:cNvSpPr>
            <p:nvPr/>
          </p:nvSpPr>
          <p:spPr bwMode="auto">
            <a:xfrm>
              <a:off x="3303815" y="3614964"/>
              <a:ext cx="390525" cy="51593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en-US" altLang="zh-CN" sz="2400" b="1" i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u</a:t>
              </a:r>
              <a:r>
                <a:rPr kumimoji="0" lang="en-US" altLang="zh-CN" sz="2400" b="1" baseline="-25000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i1</a:t>
              </a:r>
              <a:endParaRPr kumimoji="0"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6" name="Text Box 60"/>
            <p:cNvSpPr txBox="1">
              <a:spLocks noChangeArrowheads="1"/>
            </p:cNvSpPr>
            <p:nvPr/>
          </p:nvSpPr>
          <p:spPr bwMode="auto">
            <a:xfrm>
              <a:off x="3342370" y="2988808"/>
              <a:ext cx="455613" cy="18542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sz="24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sz="2400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7" name="Text Box 62"/>
            <p:cNvSpPr txBox="1">
              <a:spLocks noChangeArrowheads="1"/>
            </p:cNvSpPr>
            <p:nvPr/>
          </p:nvSpPr>
          <p:spPr bwMode="auto">
            <a:xfrm>
              <a:off x="5281840" y="2471964"/>
              <a:ext cx="273050" cy="6096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b="1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8" name="Text Box 63"/>
            <p:cNvSpPr txBox="1">
              <a:spLocks noChangeArrowheads="1"/>
            </p:cNvSpPr>
            <p:nvPr/>
          </p:nvSpPr>
          <p:spPr bwMode="auto">
            <a:xfrm>
              <a:off x="6277203" y="2479584"/>
              <a:ext cx="223837" cy="62230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kumimoji="0" lang="zh-CN" altLang="en-US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59" name="Text Box 64"/>
            <p:cNvSpPr txBox="1">
              <a:spLocks noChangeArrowheads="1"/>
            </p:cNvSpPr>
            <p:nvPr/>
          </p:nvSpPr>
          <p:spPr bwMode="auto">
            <a:xfrm>
              <a:off x="5439003" y="2124301"/>
              <a:ext cx="1182688" cy="37306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defRPr/>
              </a:pPr>
              <a:r>
                <a:rPr kumimoji="0" lang="zh-CN" altLang="en-US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   </a:t>
              </a:r>
              <a:r>
                <a:rPr kumimoji="0" lang="zh-CN" altLang="en-US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 </a:t>
              </a:r>
              <a:r>
                <a:rPr kumimoji="0" lang="zh-CN" altLang="en-US" b="1" dirty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  －</a:t>
              </a:r>
              <a:endPara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0" name="Line 65"/>
            <p:cNvSpPr>
              <a:spLocks noChangeShapeType="1"/>
            </p:cNvSpPr>
            <p:nvPr/>
          </p:nvSpPr>
          <p:spPr bwMode="auto">
            <a:xfrm flipH="1">
              <a:off x="5218340" y="3251426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1" name="Line 66"/>
            <p:cNvSpPr>
              <a:spLocks noChangeShapeType="1"/>
            </p:cNvSpPr>
            <p:nvPr/>
          </p:nvSpPr>
          <p:spPr bwMode="auto">
            <a:xfrm rot="328642">
              <a:off x="5396140" y="3081564"/>
              <a:ext cx="22225" cy="193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2" name="Line 67"/>
            <p:cNvSpPr>
              <a:spLocks noChangeShapeType="1"/>
            </p:cNvSpPr>
            <p:nvPr/>
          </p:nvSpPr>
          <p:spPr bwMode="auto">
            <a:xfrm flipH="1">
              <a:off x="6216878" y="3251426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3" name="Line 68"/>
            <p:cNvSpPr>
              <a:spLocks noChangeShapeType="1"/>
            </p:cNvSpPr>
            <p:nvPr/>
          </p:nvSpPr>
          <p:spPr bwMode="auto">
            <a:xfrm rot="328642">
              <a:off x="6394678" y="3081564"/>
              <a:ext cx="22225" cy="1936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0" tIns="0" rIns="0" bIns="0"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4" name="Line 69"/>
            <p:cNvSpPr>
              <a:spLocks noChangeShapeType="1"/>
            </p:cNvSpPr>
            <p:nvPr/>
          </p:nvSpPr>
          <p:spPr bwMode="auto">
            <a:xfrm rot="10800000">
              <a:off x="5740628" y="4599214"/>
              <a:ext cx="457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5" name="Line 70"/>
            <p:cNvSpPr>
              <a:spLocks noChangeShapeType="1"/>
            </p:cNvSpPr>
            <p:nvPr/>
          </p:nvSpPr>
          <p:spPr bwMode="auto">
            <a:xfrm rot="10800000">
              <a:off x="5815090" y="4454751"/>
              <a:ext cx="32400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6" name="Rectangle 70"/>
            <p:cNvSpPr>
              <a:spLocks noChangeArrowheads="1"/>
            </p:cNvSpPr>
            <p:nvPr/>
          </p:nvSpPr>
          <p:spPr bwMode="auto">
            <a:xfrm>
              <a:off x="4743222" y="1774146"/>
              <a:ext cx="215900" cy="555625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7" name="Rectangle 70"/>
            <p:cNvSpPr>
              <a:spLocks noChangeArrowheads="1"/>
            </p:cNvSpPr>
            <p:nvPr/>
          </p:nvSpPr>
          <p:spPr bwMode="auto">
            <a:xfrm rot="5400000">
              <a:off x="3974420" y="2646366"/>
              <a:ext cx="215900" cy="555625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8" name="Rectangle 70"/>
            <p:cNvSpPr>
              <a:spLocks noChangeArrowheads="1"/>
            </p:cNvSpPr>
            <p:nvPr/>
          </p:nvSpPr>
          <p:spPr bwMode="auto">
            <a:xfrm>
              <a:off x="6822394" y="1752374"/>
              <a:ext cx="215900" cy="555625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9" name="Rectangle 70"/>
            <p:cNvSpPr>
              <a:spLocks noChangeArrowheads="1"/>
            </p:cNvSpPr>
            <p:nvPr/>
          </p:nvSpPr>
          <p:spPr bwMode="auto">
            <a:xfrm rot="5400000">
              <a:off x="7595283" y="2721203"/>
              <a:ext cx="215900" cy="555625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0" name="Rectangle 70"/>
            <p:cNvSpPr>
              <a:spLocks noChangeArrowheads="1"/>
            </p:cNvSpPr>
            <p:nvPr/>
          </p:nvSpPr>
          <p:spPr bwMode="auto">
            <a:xfrm>
              <a:off x="5895747" y="3966259"/>
              <a:ext cx="166235" cy="337682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 rot="5400000">
              <a:off x="5905955" y="3405648"/>
              <a:ext cx="166461" cy="451754"/>
            </a:xfrm>
            <a:prstGeom prst="rect">
              <a:avLst/>
            </a:prstGeom>
            <a:gradFill rotWithShape="1">
              <a:gsLst>
                <a:gs pos="0">
                  <a:srgbClr val="76633E"/>
                </a:gs>
                <a:gs pos="50000">
                  <a:srgbClr val="FFD785"/>
                </a:gs>
                <a:gs pos="100000">
                  <a:srgbClr val="76633E"/>
                </a:gs>
              </a:gsLst>
              <a:lin ang="0" scaled="1"/>
            </a:gradFill>
            <a:ln w="349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2800" b="1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2" name="Text Box 63"/>
            <p:cNvSpPr txBox="1">
              <a:spLocks noChangeArrowheads="1"/>
            </p:cNvSpPr>
            <p:nvPr/>
          </p:nvSpPr>
          <p:spPr bwMode="auto">
            <a:xfrm>
              <a:off x="6153377" y="4183289"/>
              <a:ext cx="223837" cy="68398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>
                <a:lnSpc>
                  <a:spcPct val="96000"/>
                </a:lnSpc>
                <a:spcBef>
                  <a:spcPts val="1200"/>
                </a:spcBef>
                <a:defRPr/>
              </a:pPr>
              <a:r>
                <a:rPr kumimoji="0" lang="zh-CN" altLang="en-US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－</a:t>
              </a:r>
              <a:endParaRPr kumimoji="0" lang="en-US" altLang="zh-CN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  <a:p>
              <a:pPr algn="just">
                <a:lnSpc>
                  <a:spcPct val="96000"/>
                </a:lnSpc>
                <a:spcBef>
                  <a:spcPts val="1200"/>
                </a:spcBef>
                <a:defRPr/>
              </a:pPr>
              <a:r>
                <a:rPr lang="zh-CN" altLang="en-US" b="1" dirty="0" smtClean="0">
                  <a:latin typeface="Times New Roman" pitchFamily="18" charset="0"/>
                  <a:ea typeface="华文中宋" pitchFamily="2" charset="-122"/>
                  <a:cs typeface="Times New Roman" pitchFamily="18" charset="0"/>
                </a:rPr>
                <a:t>＋</a:t>
              </a:r>
            </a:p>
            <a:p>
              <a:pPr algn="just">
                <a:lnSpc>
                  <a:spcPct val="96000"/>
                </a:lnSpc>
                <a:defRPr/>
              </a:pPr>
              <a:endParaRPr kumimoji="0"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</p:grpSp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734106" y="2949575"/>
          <a:ext cx="2651125" cy="1908175"/>
        </p:xfrm>
        <a:graphic>
          <a:graphicData uri="http://schemas.openxmlformats.org/presentationml/2006/ole">
            <p:oleObj spid="_x0000_s47108" name="Equation" r:id="rId3" imgW="1130040" imgH="81252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650876" y="517525"/>
            <a:ext cx="6696982" cy="584775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主要特点</a:t>
            </a:r>
            <a:r>
              <a:rPr lang="en-US" altLang="zh-CN" sz="32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:  </a:t>
            </a:r>
            <a:r>
              <a:rPr kumimoji="0" lang="zh-CN" altLang="en-US" sz="28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输入有差别，输出才变动</a:t>
            </a:r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1041854" y="1465035"/>
            <a:ext cx="6262461" cy="2062163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lang="en-US" altLang="zh-CN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1.</a:t>
            </a:r>
            <a:r>
              <a:rPr kumimoji="0"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电路</a:t>
            </a:r>
            <a:r>
              <a:rPr kumimoji="0" lang="zh-CN" altLang="en-US" sz="32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对称；</a:t>
            </a:r>
            <a:endParaRPr kumimoji="0" lang="zh-CN" altLang="en-US" sz="32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 algn="l">
              <a:spcBef>
                <a:spcPct val="50000"/>
              </a:spcBef>
              <a:defRPr/>
            </a:pPr>
            <a:r>
              <a:rPr kumimoji="0" lang="en-US" altLang="zh-CN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2.</a:t>
            </a:r>
            <a:r>
              <a:rPr kumimoji="0"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差</a:t>
            </a:r>
            <a:r>
              <a:rPr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模放大</a:t>
            </a:r>
            <a:r>
              <a:rPr kumimoji="0"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倍数</a:t>
            </a:r>
            <a:r>
              <a:rPr kumimoji="0" lang="en-US" altLang="zh-CN" sz="32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d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</a:t>
            </a:r>
            <a:r>
              <a:rPr kumimoji="0" lang="en-US" altLang="zh-CN" sz="3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32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od</a:t>
            </a:r>
            <a:r>
              <a:rPr kumimoji="0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/</a:t>
            </a:r>
            <a:r>
              <a:rPr kumimoji="0" lang="en-US" altLang="zh-CN" sz="3200" b="1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3200" b="1" baseline="-2500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id</a:t>
            </a:r>
            <a:r>
              <a:rPr kumimoji="0" lang="en-US" altLang="zh-CN" sz="3200" b="1" baseline="-2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,</a:t>
            </a:r>
            <a:r>
              <a:rPr kumimoji="0" lang="zh-CN" altLang="en-US" sz="3200" b="1" dirty="0" smtClean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较大；</a:t>
            </a:r>
            <a:endParaRPr kumimoji="0" lang="zh-CN" altLang="en-US" sz="3200" b="1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 algn="l">
              <a:spcBef>
                <a:spcPct val="50000"/>
              </a:spcBef>
              <a:defRPr/>
            </a:pPr>
            <a:r>
              <a:rPr kumimoji="0" lang="en-US" altLang="zh-CN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3.</a:t>
            </a:r>
            <a:r>
              <a:rPr kumimoji="0" lang="zh-CN" altLang="en-US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差动电路输出</a:t>
            </a:r>
            <a:r>
              <a:rPr kumimoji="0" lang="en-US" altLang="zh-CN" sz="3200" b="1" i="1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3200" b="1" baseline="-25000" dirty="0" err="1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o</a:t>
            </a:r>
            <a:r>
              <a:rPr kumimoji="0" lang="en-US" altLang="zh-CN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=</a:t>
            </a:r>
            <a:r>
              <a:rPr kumimoji="0"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A</a:t>
            </a:r>
            <a:r>
              <a:rPr kumimoji="0" lang="en-US" altLang="zh-CN" sz="32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(</a:t>
            </a:r>
            <a:r>
              <a:rPr kumimoji="0"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32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i1</a:t>
            </a:r>
            <a:r>
              <a:rPr kumimoji="0" lang="en-US" altLang="zh-CN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-</a:t>
            </a:r>
            <a:r>
              <a:rPr kumimoji="0" lang="en-US" altLang="zh-CN" sz="3200" b="1" i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u</a:t>
            </a:r>
            <a:r>
              <a:rPr kumimoji="0" lang="en-US" altLang="zh-CN" sz="3200" b="1" baseline="-250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i2</a:t>
            </a:r>
            <a:r>
              <a:rPr kumimoji="0" lang="en-US" altLang="zh-CN" sz="3200" b="1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)</a:t>
            </a:r>
            <a:endParaRPr kumimoji="0" lang="zh-CN" altLang="en-US" sz="3200" dirty="0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459798" y="3692208"/>
          <a:ext cx="1828800" cy="1157287"/>
        </p:xfrm>
        <a:graphic>
          <a:graphicData uri="http://schemas.openxmlformats.org/presentationml/2006/ole">
            <p:oleObj spid="_x0000_s73731" name="Equation" r:id="rId3" imgW="761760" imgH="4824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705214" y="339567"/>
            <a:ext cx="5695586" cy="546100"/>
          </a:xfrm>
          <a:prstGeom prst="rect">
            <a:avLst/>
          </a:prstGeo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 marL="228600" indent="-2286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</a:t>
            </a:r>
            <a:r>
              <a:rPr lang="zh-CN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、互补对称功率放大电路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864960" y="1497692"/>
            <a:ext cx="6069239" cy="1931307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功率放大电路的特点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:</a:t>
            </a:r>
          </a:p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3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     （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）输出功率大、效率高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              （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）易产生非线性失真</a:t>
            </a:r>
            <a:endParaRPr kumimoji="0" lang="zh-CN" altLang="en-US" sz="28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38389" y="343807"/>
            <a:ext cx="3837668" cy="570593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互补功率放大电路</a:t>
            </a:r>
          </a:p>
          <a:p>
            <a:pPr marL="228600" marR="0" lvl="0" indent="-22860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  </a:t>
            </a:r>
          </a:p>
        </p:txBody>
      </p:sp>
      <p:grpSp>
        <p:nvGrpSpPr>
          <p:cNvPr id="4" name="Group 78"/>
          <p:cNvGrpSpPr>
            <a:grpSpLocks/>
          </p:cNvGrpSpPr>
          <p:nvPr/>
        </p:nvGrpSpPr>
        <p:grpSpPr bwMode="auto">
          <a:xfrm>
            <a:off x="392115" y="1016454"/>
            <a:ext cx="8094663" cy="3876675"/>
            <a:chOff x="529" y="159"/>
            <a:chExt cx="5099" cy="2442"/>
          </a:xfrm>
        </p:grpSpPr>
        <p:sp>
          <p:nvSpPr>
            <p:cNvPr id="5" name="Line 13"/>
            <p:cNvSpPr>
              <a:spLocks noChangeShapeType="1"/>
            </p:cNvSpPr>
            <p:nvPr/>
          </p:nvSpPr>
          <p:spPr bwMode="auto">
            <a:xfrm>
              <a:off x="3804" y="159"/>
              <a:ext cx="0" cy="5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6" name="Line 24"/>
            <p:cNvSpPr>
              <a:spLocks noChangeShapeType="1"/>
            </p:cNvSpPr>
            <p:nvPr/>
          </p:nvSpPr>
          <p:spPr bwMode="auto">
            <a:xfrm>
              <a:off x="2753" y="159"/>
              <a:ext cx="0" cy="61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sp>
          <p:nvSpPr>
            <p:cNvPr id="7" name="Line 28"/>
            <p:cNvSpPr>
              <a:spLocks noChangeShapeType="1"/>
            </p:cNvSpPr>
            <p:nvPr/>
          </p:nvSpPr>
          <p:spPr bwMode="auto">
            <a:xfrm>
              <a:off x="2750" y="159"/>
              <a:ext cx="105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zh-CN" altLang="en-US">
                <a:latin typeface="Times New Roman" pitchFamily="18" charset="0"/>
                <a:ea typeface="华文中宋" pitchFamily="2" charset="-122"/>
                <a:cs typeface="Times New Roman" pitchFamily="18" charset="0"/>
              </a:endParaRPr>
            </a:p>
          </p:txBody>
        </p:sp>
        <p:grpSp>
          <p:nvGrpSpPr>
            <p:cNvPr id="8" name="Group 77"/>
            <p:cNvGrpSpPr>
              <a:grpSpLocks/>
            </p:cNvGrpSpPr>
            <p:nvPr/>
          </p:nvGrpSpPr>
          <p:grpSpPr bwMode="auto">
            <a:xfrm>
              <a:off x="529" y="175"/>
              <a:ext cx="5099" cy="2426"/>
              <a:chOff x="529" y="175"/>
              <a:chExt cx="5099" cy="2426"/>
            </a:xfrm>
          </p:grpSpPr>
          <p:sp>
            <p:nvSpPr>
              <p:cNvPr id="9" name="Text Box 5"/>
              <p:cNvSpPr txBox="1">
                <a:spLocks noChangeArrowheads="1"/>
              </p:cNvSpPr>
              <p:nvPr/>
            </p:nvSpPr>
            <p:spPr bwMode="auto">
              <a:xfrm>
                <a:off x="2354" y="1868"/>
                <a:ext cx="382" cy="326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T</a:t>
                </a:r>
                <a:r>
                  <a:rPr kumimoji="0"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2</a:t>
                </a:r>
                <a:endParaRPr kumimoji="0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0" name="Text Box 6"/>
              <p:cNvSpPr txBox="1">
                <a:spLocks noChangeArrowheads="1"/>
              </p:cNvSpPr>
              <p:nvPr/>
            </p:nvSpPr>
            <p:spPr bwMode="auto">
              <a:xfrm>
                <a:off x="2413" y="419"/>
                <a:ext cx="388" cy="576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T</a:t>
                </a:r>
                <a:r>
                  <a:rPr kumimoji="0"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endParaRPr kumimoji="0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 flipV="1">
                <a:off x="762" y="647"/>
                <a:ext cx="0" cy="127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2" name="Line 8"/>
              <p:cNvSpPr>
                <a:spLocks noChangeShapeType="1"/>
              </p:cNvSpPr>
              <p:nvPr/>
            </p:nvSpPr>
            <p:spPr bwMode="auto">
              <a:xfrm rot="5400000" flipV="1">
                <a:off x="1193" y="944"/>
                <a:ext cx="0" cy="8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3" name="Freeform 9"/>
              <p:cNvSpPr>
                <a:spLocks/>
              </p:cNvSpPr>
              <p:nvPr/>
            </p:nvSpPr>
            <p:spPr bwMode="auto">
              <a:xfrm>
                <a:off x="764" y="1054"/>
                <a:ext cx="655" cy="671"/>
              </a:xfrm>
              <a:custGeom>
                <a:avLst/>
                <a:gdLst>
                  <a:gd name="T0" fmla="*/ 0 w 840"/>
                  <a:gd name="T1" fmla="*/ 396 h 618"/>
                  <a:gd name="T2" fmla="*/ 78 w 840"/>
                  <a:gd name="T3" fmla="*/ 0 h 618"/>
                  <a:gd name="T4" fmla="*/ 156 w 840"/>
                  <a:gd name="T5" fmla="*/ 396 h 618"/>
                  <a:gd name="T6" fmla="*/ 238 w 840"/>
                  <a:gd name="T7" fmla="*/ 854 h 618"/>
                  <a:gd name="T8" fmla="*/ 310 w 840"/>
                  <a:gd name="T9" fmla="*/ 375 h 6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0"/>
                  <a:gd name="T16" fmla="*/ 0 h 618"/>
                  <a:gd name="T17" fmla="*/ 840 w 840"/>
                  <a:gd name="T18" fmla="*/ 618 h 6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0" h="618">
                    <a:moveTo>
                      <a:pt x="0" y="285"/>
                    </a:moveTo>
                    <a:cubicBezTo>
                      <a:pt x="70" y="142"/>
                      <a:pt x="140" y="0"/>
                      <a:pt x="210" y="0"/>
                    </a:cubicBezTo>
                    <a:cubicBezTo>
                      <a:pt x="280" y="0"/>
                      <a:pt x="348" y="183"/>
                      <a:pt x="420" y="285"/>
                    </a:cubicBezTo>
                    <a:cubicBezTo>
                      <a:pt x="492" y="387"/>
                      <a:pt x="574" y="618"/>
                      <a:pt x="644" y="615"/>
                    </a:cubicBezTo>
                    <a:cubicBezTo>
                      <a:pt x="714" y="612"/>
                      <a:pt x="777" y="441"/>
                      <a:pt x="840" y="27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4" name="Text Box 10"/>
              <p:cNvSpPr txBox="1">
                <a:spLocks noChangeArrowheads="1"/>
              </p:cNvSpPr>
              <p:nvPr/>
            </p:nvSpPr>
            <p:spPr bwMode="auto">
              <a:xfrm>
                <a:off x="529" y="452"/>
                <a:ext cx="298" cy="47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kumimoji="0"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endParaRPr kumimoji="0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5" name="Text Box 11"/>
              <p:cNvSpPr txBox="1">
                <a:spLocks noChangeArrowheads="1"/>
              </p:cNvSpPr>
              <p:nvPr/>
            </p:nvSpPr>
            <p:spPr bwMode="auto">
              <a:xfrm>
                <a:off x="1524" y="1338"/>
                <a:ext cx="363" cy="27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kumimoji="0"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ωt</a:t>
                </a:r>
                <a:endParaRPr kumimoji="0" lang="en-US" altLang="zh-CN" sz="2400" b="1" i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6" name="Text Box 12"/>
              <p:cNvSpPr txBox="1">
                <a:spLocks noChangeArrowheads="1"/>
              </p:cNvSpPr>
              <p:nvPr/>
            </p:nvSpPr>
            <p:spPr bwMode="auto">
              <a:xfrm>
                <a:off x="559" y="1233"/>
                <a:ext cx="298" cy="48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  <a:endParaRPr kumimoji="0"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17" name="Line 14"/>
              <p:cNvSpPr>
                <a:spLocks noChangeShapeType="1"/>
              </p:cNvSpPr>
              <p:nvPr/>
            </p:nvSpPr>
            <p:spPr bwMode="auto">
              <a:xfrm>
                <a:off x="2760" y="1396"/>
                <a:ext cx="131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18" name="Group 15"/>
              <p:cNvGrpSpPr>
                <a:grpSpLocks/>
              </p:cNvGrpSpPr>
              <p:nvPr/>
            </p:nvGrpSpPr>
            <p:grpSpPr bwMode="auto">
              <a:xfrm>
                <a:off x="2611" y="1688"/>
                <a:ext cx="160" cy="357"/>
                <a:chOff x="5208" y="3953"/>
                <a:chExt cx="235" cy="329"/>
              </a:xfrm>
            </p:grpSpPr>
            <p:sp>
              <p:nvSpPr>
                <p:cNvPr id="74" name="Line 16"/>
                <p:cNvSpPr>
                  <a:spLocks noChangeShapeType="1"/>
                </p:cNvSpPr>
                <p:nvPr/>
              </p:nvSpPr>
              <p:spPr bwMode="auto">
                <a:xfrm>
                  <a:off x="5208" y="4163"/>
                  <a:ext cx="235" cy="11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75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5208" y="3953"/>
                  <a:ext cx="0" cy="30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19" name="Group 18"/>
              <p:cNvGrpSpPr>
                <a:grpSpLocks/>
              </p:cNvGrpSpPr>
              <p:nvPr/>
            </p:nvGrpSpPr>
            <p:grpSpPr bwMode="auto">
              <a:xfrm>
                <a:off x="2595" y="758"/>
                <a:ext cx="174" cy="467"/>
                <a:chOff x="5184" y="3160"/>
                <a:chExt cx="255" cy="430"/>
              </a:xfrm>
            </p:grpSpPr>
            <p:sp>
              <p:nvSpPr>
                <p:cNvPr id="7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5192" y="3160"/>
                  <a:ext cx="220" cy="1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72" name="Line 20"/>
                <p:cNvSpPr>
                  <a:spLocks noChangeShapeType="1"/>
                </p:cNvSpPr>
                <p:nvPr/>
              </p:nvSpPr>
              <p:spPr bwMode="auto">
                <a:xfrm>
                  <a:off x="5184" y="3403"/>
                  <a:ext cx="255" cy="187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med" len="lg"/>
                </a:ln>
              </p:spPr>
              <p:txBody>
                <a:bodyPr/>
                <a:lstStyle/>
                <a:p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  <p:sp>
              <p:nvSpPr>
                <p:cNvPr id="73" name="Line 21"/>
                <p:cNvSpPr>
                  <a:spLocks noChangeShapeType="1"/>
                </p:cNvSpPr>
                <p:nvPr/>
              </p:nvSpPr>
              <p:spPr bwMode="auto">
                <a:xfrm>
                  <a:off x="5192" y="3179"/>
                  <a:ext cx="0" cy="36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zh-CN" altLang="en-US">
                    <a:latin typeface="Times New Roman" pitchFamily="18" charset="0"/>
                    <a:ea typeface="华文中宋" pitchFamily="2" charset="-122"/>
                    <a:cs typeface="Times New Roman" pitchFamily="18" charset="0"/>
                  </a:endParaRPr>
                </a:p>
              </p:txBody>
            </p:sp>
          </p:grpSp>
          <p:sp>
            <p:nvSpPr>
              <p:cNvPr id="20" name="Line 22"/>
              <p:cNvSpPr>
                <a:spLocks noChangeShapeType="1"/>
              </p:cNvSpPr>
              <p:nvPr/>
            </p:nvSpPr>
            <p:spPr bwMode="auto">
              <a:xfrm>
                <a:off x="2760" y="1201"/>
                <a:ext cx="0" cy="3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1" name="Line 23"/>
              <p:cNvSpPr>
                <a:spLocks noChangeShapeType="1"/>
              </p:cNvSpPr>
              <p:nvPr/>
            </p:nvSpPr>
            <p:spPr bwMode="auto">
              <a:xfrm>
                <a:off x="2773" y="2034"/>
                <a:ext cx="0" cy="5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2" name="Line 25"/>
              <p:cNvSpPr>
                <a:spLocks noChangeShapeType="1"/>
              </p:cNvSpPr>
              <p:nvPr/>
            </p:nvSpPr>
            <p:spPr bwMode="auto">
              <a:xfrm flipH="1">
                <a:off x="2320" y="957"/>
                <a:ext cx="2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3" name="Line 26"/>
              <p:cNvSpPr>
                <a:spLocks noChangeShapeType="1"/>
              </p:cNvSpPr>
              <p:nvPr/>
            </p:nvSpPr>
            <p:spPr bwMode="auto">
              <a:xfrm flipH="1">
                <a:off x="2320" y="1863"/>
                <a:ext cx="2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4" name="Line 27"/>
              <p:cNvSpPr>
                <a:spLocks noChangeShapeType="1"/>
              </p:cNvSpPr>
              <p:nvPr/>
            </p:nvSpPr>
            <p:spPr bwMode="auto">
              <a:xfrm>
                <a:off x="2321" y="962"/>
                <a:ext cx="0" cy="8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5" name="Line 29"/>
              <p:cNvSpPr>
                <a:spLocks noChangeShapeType="1"/>
              </p:cNvSpPr>
              <p:nvPr/>
            </p:nvSpPr>
            <p:spPr bwMode="auto">
              <a:xfrm>
                <a:off x="2771" y="2601"/>
                <a:ext cx="105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6" name="Line 30"/>
              <p:cNvSpPr>
                <a:spLocks noChangeShapeType="1"/>
              </p:cNvSpPr>
              <p:nvPr/>
            </p:nvSpPr>
            <p:spPr bwMode="auto">
              <a:xfrm>
                <a:off x="4070" y="1396"/>
                <a:ext cx="0" cy="358"/>
              </a:xfrm>
              <a:prstGeom prst="lin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7" name="Line 31"/>
              <p:cNvSpPr>
                <a:spLocks noChangeShapeType="1"/>
              </p:cNvSpPr>
              <p:nvPr/>
            </p:nvSpPr>
            <p:spPr bwMode="auto">
              <a:xfrm>
                <a:off x="3994" y="1754"/>
                <a:ext cx="164" cy="0"/>
              </a:xfrm>
              <a:prstGeom prst="lin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29" name="Line 33"/>
              <p:cNvSpPr>
                <a:spLocks noChangeShapeType="1"/>
              </p:cNvSpPr>
              <p:nvPr/>
            </p:nvSpPr>
            <p:spPr bwMode="auto">
              <a:xfrm rot="5400000" flipV="1">
                <a:off x="3391" y="656"/>
                <a:ext cx="0" cy="50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0" name="Line 34"/>
              <p:cNvSpPr>
                <a:spLocks noChangeShapeType="1"/>
              </p:cNvSpPr>
              <p:nvPr/>
            </p:nvSpPr>
            <p:spPr bwMode="auto">
              <a:xfrm flipH="1" flipV="1">
                <a:off x="3128" y="322"/>
                <a:ext cx="0" cy="5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1" name="Line 35"/>
              <p:cNvSpPr>
                <a:spLocks noChangeShapeType="1"/>
              </p:cNvSpPr>
              <p:nvPr/>
            </p:nvSpPr>
            <p:spPr bwMode="auto">
              <a:xfrm rot="-5400000">
                <a:off x="3380" y="1600"/>
                <a:ext cx="0" cy="503"/>
              </a:xfrm>
              <a:prstGeom prst="lin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2" name="Line 36"/>
              <p:cNvSpPr>
                <a:spLocks noChangeShapeType="1"/>
              </p:cNvSpPr>
              <p:nvPr/>
            </p:nvSpPr>
            <p:spPr bwMode="auto">
              <a:xfrm flipH="1">
                <a:off x="3127" y="1852"/>
                <a:ext cx="0" cy="58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3" name="Freeform 37"/>
              <p:cNvSpPr>
                <a:spLocks/>
              </p:cNvSpPr>
              <p:nvPr/>
            </p:nvSpPr>
            <p:spPr bwMode="auto">
              <a:xfrm>
                <a:off x="3128" y="466"/>
                <a:ext cx="318" cy="442"/>
              </a:xfrm>
              <a:custGeom>
                <a:avLst/>
                <a:gdLst>
                  <a:gd name="T0" fmla="*/ 0 w 466"/>
                  <a:gd name="T1" fmla="*/ 566 h 407"/>
                  <a:gd name="T2" fmla="*/ 39 w 466"/>
                  <a:gd name="T3" fmla="*/ 86 h 407"/>
                  <a:gd name="T4" fmla="*/ 68 w 466"/>
                  <a:gd name="T5" fmla="*/ 45 h 407"/>
                  <a:gd name="T6" fmla="*/ 81 w 466"/>
                  <a:gd name="T7" fmla="*/ 191 h 407"/>
                  <a:gd name="T8" fmla="*/ 101 w 466"/>
                  <a:gd name="T9" fmla="*/ 566 h 4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66"/>
                  <a:gd name="T16" fmla="*/ 0 h 407"/>
                  <a:gd name="T17" fmla="*/ 466 w 466"/>
                  <a:gd name="T18" fmla="*/ 407 h 4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66" h="407">
                    <a:moveTo>
                      <a:pt x="0" y="407"/>
                    </a:moveTo>
                    <a:cubicBezTo>
                      <a:pt x="63" y="265"/>
                      <a:pt x="127" y="124"/>
                      <a:pt x="180" y="62"/>
                    </a:cubicBezTo>
                    <a:cubicBezTo>
                      <a:pt x="233" y="0"/>
                      <a:pt x="283" y="20"/>
                      <a:pt x="316" y="32"/>
                    </a:cubicBezTo>
                    <a:cubicBezTo>
                      <a:pt x="349" y="44"/>
                      <a:pt x="351" y="74"/>
                      <a:pt x="376" y="137"/>
                    </a:cubicBezTo>
                    <a:cubicBezTo>
                      <a:pt x="401" y="200"/>
                      <a:pt x="449" y="362"/>
                      <a:pt x="466" y="407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4" name="Freeform 38"/>
              <p:cNvSpPr>
                <a:spLocks/>
              </p:cNvSpPr>
              <p:nvPr/>
            </p:nvSpPr>
            <p:spPr bwMode="auto">
              <a:xfrm flipV="1">
                <a:off x="3139" y="1865"/>
                <a:ext cx="318" cy="442"/>
              </a:xfrm>
              <a:custGeom>
                <a:avLst/>
                <a:gdLst>
                  <a:gd name="T0" fmla="*/ 0 w 466"/>
                  <a:gd name="T1" fmla="*/ 566 h 407"/>
                  <a:gd name="T2" fmla="*/ 39 w 466"/>
                  <a:gd name="T3" fmla="*/ 86 h 407"/>
                  <a:gd name="T4" fmla="*/ 68 w 466"/>
                  <a:gd name="T5" fmla="*/ 45 h 407"/>
                  <a:gd name="T6" fmla="*/ 81 w 466"/>
                  <a:gd name="T7" fmla="*/ 191 h 407"/>
                  <a:gd name="T8" fmla="*/ 101 w 466"/>
                  <a:gd name="T9" fmla="*/ 566 h 4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66"/>
                  <a:gd name="T16" fmla="*/ 0 h 407"/>
                  <a:gd name="T17" fmla="*/ 466 w 466"/>
                  <a:gd name="T18" fmla="*/ 407 h 4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66" h="407">
                    <a:moveTo>
                      <a:pt x="0" y="407"/>
                    </a:moveTo>
                    <a:cubicBezTo>
                      <a:pt x="63" y="265"/>
                      <a:pt x="127" y="124"/>
                      <a:pt x="180" y="62"/>
                    </a:cubicBezTo>
                    <a:cubicBezTo>
                      <a:pt x="233" y="0"/>
                      <a:pt x="283" y="20"/>
                      <a:pt x="316" y="32"/>
                    </a:cubicBezTo>
                    <a:cubicBezTo>
                      <a:pt x="349" y="44"/>
                      <a:pt x="351" y="74"/>
                      <a:pt x="376" y="137"/>
                    </a:cubicBezTo>
                    <a:cubicBezTo>
                      <a:pt x="401" y="200"/>
                      <a:pt x="449" y="362"/>
                      <a:pt x="466" y="407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5" name="Freeform 39"/>
              <p:cNvSpPr>
                <a:spLocks/>
              </p:cNvSpPr>
              <p:nvPr/>
            </p:nvSpPr>
            <p:spPr bwMode="auto">
              <a:xfrm>
                <a:off x="2789" y="486"/>
                <a:ext cx="669" cy="671"/>
              </a:xfrm>
              <a:custGeom>
                <a:avLst/>
                <a:gdLst>
                  <a:gd name="T0" fmla="*/ 27 w 950"/>
                  <a:gd name="T1" fmla="*/ 0 h 662"/>
                  <a:gd name="T2" fmla="*/ 35 w 950"/>
                  <a:gd name="T3" fmla="*/ 587 h 662"/>
                  <a:gd name="T4" fmla="*/ 234 w 950"/>
                  <a:gd name="T5" fmla="*/ 681 h 662"/>
                  <a:gd name="T6" fmla="*/ 0 60000 65536"/>
                  <a:gd name="T7" fmla="*/ 0 60000 65536"/>
                  <a:gd name="T8" fmla="*/ 0 60000 65536"/>
                  <a:gd name="T9" fmla="*/ 0 w 950"/>
                  <a:gd name="T10" fmla="*/ 0 h 662"/>
                  <a:gd name="T11" fmla="*/ 950 w 950"/>
                  <a:gd name="T12" fmla="*/ 662 h 6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50" h="662">
                    <a:moveTo>
                      <a:pt x="110" y="0"/>
                    </a:moveTo>
                    <a:cubicBezTo>
                      <a:pt x="55" y="224"/>
                      <a:pt x="0" y="448"/>
                      <a:pt x="140" y="555"/>
                    </a:cubicBezTo>
                    <a:cubicBezTo>
                      <a:pt x="280" y="662"/>
                      <a:pt x="615" y="653"/>
                      <a:pt x="950" y="645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6" name="Freeform 40"/>
              <p:cNvSpPr>
                <a:spLocks/>
              </p:cNvSpPr>
              <p:nvPr/>
            </p:nvSpPr>
            <p:spPr bwMode="auto">
              <a:xfrm>
                <a:off x="2896" y="1531"/>
                <a:ext cx="580" cy="726"/>
              </a:xfrm>
              <a:custGeom>
                <a:avLst/>
                <a:gdLst>
                  <a:gd name="T0" fmla="*/ 137 w 939"/>
                  <a:gd name="T1" fmla="*/ 116 h 700"/>
                  <a:gd name="T2" fmla="*/ 22 w 939"/>
                  <a:gd name="T3" fmla="*/ 116 h 700"/>
                  <a:gd name="T4" fmla="*/ 11 w 939"/>
                  <a:gd name="T5" fmla="*/ 810 h 700"/>
                  <a:gd name="T6" fmla="*/ 0 60000 65536"/>
                  <a:gd name="T7" fmla="*/ 0 60000 65536"/>
                  <a:gd name="T8" fmla="*/ 0 60000 65536"/>
                  <a:gd name="T9" fmla="*/ 0 w 939"/>
                  <a:gd name="T10" fmla="*/ 0 h 700"/>
                  <a:gd name="T11" fmla="*/ 939 w 939"/>
                  <a:gd name="T12" fmla="*/ 700 h 7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39" h="700">
                    <a:moveTo>
                      <a:pt x="939" y="100"/>
                    </a:moveTo>
                    <a:cubicBezTo>
                      <a:pt x="614" y="50"/>
                      <a:pt x="290" y="0"/>
                      <a:pt x="145" y="100"/>
                    </a:cubicBezTo>
                    <a:cubicBezTo>
                      <a:pt x="0" y="200"/>
                      <a:pt x="34" y="450"/>
                      <a:pt x="69" y="70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7" name="Text Box 41"/>
              <p:cNvSpPr txBox="1">
                <a:spLocks noChangeArrowheads="1"/>
              </p:cNvSpPr>
              <p:nvPr/>
            </p:nvSpPr>
            <p:spPr bwMode="auto">
              <a:xfrm>
                <a:off x="2843" y="586"/>
                <a:ext cx="297" cy="47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kumimoji="0"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endParaRPr kumimoji="0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8" name="Text Box 42"/>
              <p:cNvSpPr txBox="1">
                <a:spLocks noChangeArrowheads="1"/>
              </p:cNvSpPr>
              <p:nvPr/>
            </p:nvSpPr>
            <p:spPr bwMode="auto">
              <a:xfrm>
                <a:off x="2913" y="175"/>
                <a:ext cx="297" cy="47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kumimoji="0"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1</a:t>
                </a:r>
                <a:endParaRPr kumimoji="0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39" name="Text Box 43"/>
              <p:cNvSpPr txBox="1">
                <a:spLocks noChangeArrowheads="1"/>
              </p:cNvSpPr>
              <p:nvPr/>
            </p:nvSpPr>
            <p:spPr bwMode="auto">
              <a:xfrm>
                <a:off x="2708" y="1673"/>
                <a:ext cx="297" cy="47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kumimoji="0"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2</a:t>
                </a:r>
                <a:endParaRPr kumimoji="0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0" name="Text Box 44"/>
              <p:cNvSpPr txBox="1">
                <a:spLocks noChangeArrowheads="1"/>
              </p:cNvSpPr>
              <p:nvPr/>
            </p:nvSpPr>
            <p:spPr bwMode="auto">
              <a:xfrm>
                <a:off x="2913" y="2188"/>
                <a:ext cx="246" cy="34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i</a:t>
                </a:r>
                <a:r>
                  <a:rPr kumimoji="0"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2</a:t>
                </a:r>
                <a:endParaRPr kumimoji="0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1" name="Text Box 45"/>
              <p:cNvSpPr txBox="1">
                <a:spLocks noChangeArrowheads="1"/>
              </p:cNvSpPr>
              <p:nvPr/>
            </p:nvSpPr>
            <p:spPr bwMode="auto">
              <a:xfrm>
                <a:off x="3527" y="1772"/>
                <a:ext cx="211" cy="296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t</a:t>
                </a:r>
                <a:endParaRPr kumimoji="0" lang="en-US" altLang="zh-CN" sz="2400" b="1" i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2" name="Text Box 46"/>
              <p:cNvSpPr txBox="1">
                <a:spLocks noChangeArrowheads="1"/>
              </p:cNvSpPr>
              <p:nvPr/>
            </p:nvSpPr>
            <p:spPr bwMode="auto">
              <a:xfrm>
                <a:off x="3499" y="844"/>
                <a:ext cx="245" cy="29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t</a:t>
                </a:r>
                <a:endParaRPr kumimoji="0" lang="en-US" altLang="zh-CN" sz="2400" b="1" i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3" name="Line 47"/>
              <p:cNvSpPr>
                <a:spLocks noChangeShapeType="1"/>
              </p:cNvSpPr>
              <p:nvPr/>
            </p:nvSpPr>
            <p:spPr bwMode="auto">
              <a:xfrm flipH="1">
                <a:off x="1961" y="1380"/>
                <a:ext cx="35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grpSp>
            <p:nvGrpSpPr>
              <p:cNvPr id="44" name="Group 48"/>
              <p:cNvGrpSpPr>
                <a:grpSpLocks/>
              </p:cNvGrpSpPr>
              <p:nvPr/>
            </p:nvGrpSpPr>
            <p:grpSpPr bwMode="auto">
              <a:xfrm>
                <a:off x="3691" y="693"/>
                <a:ext cx="216" cy="1329"/>
                <a:chOff x="8068" y="1576"/>
                <a:chExt cx="317" cy="1231"/>
              </a:xfrm>
            </p:grpSpPr>
            <p:grpSp>
              <p:nvGrpSpPr>
                <p:cNvPr id="45" name="Group 49"/>
                <p:cNvGrpSpPr>
                  <a:grpSpLocks/>
                </p:cNvGrpSpPr>
                <p:nvPr/>
              </p:nvGrpSpPr>
              <p:grpSpPr bwMode="auto">
                <a:xfrm>
                  <a:off x="8089" y="1576"/>
                  <a:ext cx="284" cy="1103"/>
                  <a:chOff x="2940" y="2823"/>
                  <a:chExt cx="441" cy="1103"/>
                </a:xfrm>
              </p:grpSpPr>
              <p:sp>
                <p:nvSpPr>
                  <p:cNvPr id="69" name="Line 50"/>
                  <p:cNvSpPr>
                    <a:spLocks noChangeShapeType="1"/>
                  </p:cNvSpPr>
                  <p:nvPr/>
                </p:nvSpPr>
                <p:spPr bwMode="auto">
                  <a:xfrm>
                    <a:off x="2940" y="2823"/>
                    <a:ext cx="42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0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3014" y="2892"/>
                    <a:ext cx="22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6" name="Line 50"/>
                  <p:cNvSpPr>
                    <a:spLocks noChangeShapeType="1"/>
                  </p:cNvSpPr>
                  <p:nvPr/>
                </p:nvSpPr>
                <p:spPr bwMode="auto">
                  <a:xfrm>
                    <a:off x="2961" y="3857"/>
                    <a:ext cx="420" cy="0"/>
                  </a:xfrm>
                  <a:prstGeom prst="line">
                    <a:avLst/>
                  </a:prstGeom>
                  <a:solidFill>
                    <a:schemeClr val="tx1"/>
                  </a:solidFill>
                  <a:ln w="38100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7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3049" y="3926"/>
                    <a:ext cx="22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  <p:grpSp>
              <p:nvGrpSpPr>
                <p:cNvPr id="59" name="Group 52"/>
                <p:cNvGrpSpPr>
                  <a:grpSpLocks/>
                </p:cNvGrpSpPr>
                <p:nvPr/>
              </p:nvGrpSpPr>
              <p:grpSpPr bwMode="auto">
                <a:xfrm>
                  <a:off x="8068" y="1717"/>
                  <a:ext cx="317" cy="1090"/>
                  <a:chOff x="2899" y="2799"/>
                  <a:chExt cx="491" cy="1090"/>
                </a:xfrm>
              </p:grpSpPr>
              <p:sp>
                <p:nvSpPr>
                  <p:cNvPr id="67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2899" y="2799"/>
                    <a:ext cx="42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8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3022" y="2847"/>
                    <a:ext cx="225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8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2969" y="3833"/>
                    <a:ext cx="421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79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3056" y="3889"/>
                    <a:ext cx="22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</p:spPr>
                <p:txBody>
                  <a:bodyPr/>
                  <a:lstStyle/>
                  <a:p>
                    <a:endParaRPr lang="zh-CN" altLang="en-US">
                      <a:latin typeface="Times New Roman" pitchFamily="18" charset="0"/>
                      <a:ea typeface="华文中宋" pitchFamily="2" charset="-122"/>
                      <a:cs typeface="Times New Roman" pitchFamily="18" charset="0"/>
                    </a:endParaRPr>
                  </a:p>
                </p:txBody>
              </p:sp>
            </p:grpSp>
          </p:grpSp>
          <p:sp>
            <p:nvSpPr>
              <p:cNvPr id="46" name="Line 62"/>
              <p:cNvSpPr>
                <a:spLocks noChangeShapeType="1"/>
              </p:cNvSpPr>
              <p:nvPr/>
            </p:nvSpPr>
            <p:spPr bwMode="auto">
              <a:xfrm>
                <a:off x="3804" y="895"/>
                <a:ext cx="0" cy="9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7" name="Line 63"/>
              <p:cNvSpPr>
                <a:spLocks noChangeShapeType="1"/>
              </p:cNvSpPr>
              <p:nvPr/>
            </p:nvSpPr>
            <p:spPr bwMode="auto">
              <a:xfrm>
                <a:off x="3810" y="2023"/>
                <a:ext cx="0" cy="5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8" name="Text Box 64"/>
              <p:cNvSpPr txBox="1">
                <a:spLocks noChangeArrowheads="1"/>
              </p:cNvSpPr>
              <p:nvPr/>
            </p:nvSpPr>
            <p:spPr bwMode="auto">
              <a:xfrm>
                <a:off x="3885" y="560"/>
                <a:ext cx="405" cy="29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  <a:r>
                  <a:rPr kumimoji="0"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  <a:endParaRPr kumimoji="0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49" name="Text Box 65"/>
              <p:cNvSpPr txBox="1">
                <a:spLocks noChangeArrowheads="1"/>
              </p:cNvSpPr>
              <p:nvPr/>
            </p:nvSpPr>
            <p:spPr bwMode="auto">
              <a:xfrm>
                <a:off x="3861" y="1822"/>
                <a:ext cx="399" cy="336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E</a:t>
                </a:r>
                <a:r>
                  <a:rPr kumimoji="0"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C</a:t>
                </a:r>
                <a:endParaRPr kumimoji="0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0" name="Text Box 66"/>
              <p:cNvSpPr txBox="1">
                <a:spLocks noChangeArrowheads="1"/>
              </p:cNvSpPr>
              <p:nvPr/>
            </p:nvSpPr>
            <p:spPr bwMode="auto">
              <a:xfrm>
                <a:off x="3316" y="1340"/>
                <a:ext cx="380" cy="359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 i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R</a:t>
                </a:r>
                <a:r>
                  <a:rPr kumimoji="0" lang="en-US" altLang="zh-CN" sz="2400" b="1" baseline="-25000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L</a:t>
                </a:r>
                <a:endParaRPr kumimoji="0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1" name="Oval 67"/>
              <p:cNvSpPr>
                <a:spLocks noChangeArrowheads="1"/>
              </p:cNvSpPr>
              <p:nvPr/>
            </p:nvSpPr>
            <p:spPr bwMode="auto">
              <a:xfrm>
                <a:off x="1928" y="1357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2" name="Line 69"/>
              <p:cNvSpPr>
                <a:spLocks noChangeShapeType="1"/>
              </p:cNvSpPr>
              <p:nvPr/>
            </p:nvSpPr>
            <p:spPr bwMode="auto">
              <a:xfrm flipV="1">
                <a:off x="4608" y="676"/>
                <a:ext cx="0" cy="12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3" name="Line 70"/>
              <p:cNvSpPr>
                <a:spLocks noChangeShapeType="1"/>
              </p:cNvSpPr>
              <p:nvPr/>
            </p:nvSpPr>
            <p:spPr bwMode="auto">
              <a:xfrm rot="5400000" flipV="1">
                <a:off x="5039" y="972"/>
                <a:ext cx="0" cy="8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4" name="Freeform 71"/>
              <p:cNvSpPr>
                <a:spLocks/>
              </p:cNvSpPr>
              <p:nvPr/>
            </p:nvSpPr>
            <p:spPr bwMode="auto">
              <a:xfrm>
                <a:off x="4610" y="1083"/>
                <a:ext cx="655" cy="670"/>
              </a:xfrm>
              <a:custGeom>
                <a:avLst/>
                <a:gdLst>
                  <a:gd name="T0" fmla="*/ 0 w 840"/>
                  <a:gd name="T1" fmla="*/ 394 h 618"/>
                  <a:gd name="T2" fmla="*/ 78 w 840"/>
                  <a:gd name="T3" fmla="*/ 0 h 618"/>
                  <a:gd name="T4" fmla="*/ 156 w 840"/>
                  <a:gd name="T5" fmla="*/ 394 h 618"/>
                  <a:gd name="T6" fmla="*/ 238 w 840"/>
                  <a:gd name="T7" fmla="*/ 850 h 618"/>
                  <a:gd name="T8" fmla="*/ 310 w 840"/>
                  <a:gd name="T9" fmla="*/ 374 h 6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40"/>
                  <a:gd name="T16" fmla="*/ 0 h 618"/>
                  <a:gd name="T17" fmla="*/ 840 w 840"/>
                  <a:gd name="T18" fmla="*/ 618 h 61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40" h="618">
                    <a:moveTo>
                      <a:pt x="0" y="285"/>
                    </a:moveTo>
                    <a:cubicBezTo>
                      <a:pt x="70" y="142"/>
                      <a:pt x="140" y="0"/>
                      <a:pt x="210" y="0"/>
                    </a:cubicBezTo>
                    <a:cubicBezTo>
                      <a:pt x="280" y="0"/>
                      <a:pt x="348" y="183"/>
                      <a:pt x="420" y="285"/>
                    </a:cubicBezTo>
                    <a:cubicBezTo>
                      <a:pt x="492" y="387"/>
                      <a:pt x="574" y="618"/>
                      <a:pt x="644" y="615"/>
                    </a:cubicBezTo>
                    <a:cubicBezTo>
                      <a:pt x="714" y="612"/>
                      <a:pt x="777" y="441"/>
                      <a:pt x="840" y="270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5" name="Text Box 72"/>
              <p:cNvSpPr txBox="1">
                <a:spLocks noChangeArrowheads="1"/>
              </p:cNvSpPr>
              <p:nvPr/>
            </p:nvSpPr>
            <p:spPr bwMode="auto">
              <a:xfrm>
                <a:off x="4354" y="529"/>
                <a:ext cx="359" cy="423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u</a:t>
                </a:r>
                <a:r>
                  <a:rPr kumimoji="0" lang="en-US" altLang="zh-CN" sz="2400" b="1" baseline="-25000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o</a:t>
                </a:r>
                <a:endParaRPr kumimoji="0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6" name="Text Box 73"/>
              <p:cNvSpPr txBox="1">
                <a:spLocks noChangeArrowheads="1"/>
              </p:cNvSpPr>
              <p:nvPr/>
            </p:nvSpPr>
            <p:spPr bwMode="auto">
              <a:xfrm>
                <a:off x="5370" y="1366"/>
                <a:ext cx="258" cy="27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just">
                  <a:defRPr/>
                </a:pPr>
                <a:r>
                  <a:rPr kumimoji="0" lang="en-US" altLang="zh-CN" sz="2400" b="1" i="1" dirty="0" err="1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ωt</a:t>
                </a:r>
                <a:endParaRPr kumimoji="0" lang="en-US" altLang="zh-CN" sz="2400" b="1" i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7" name="Text Box 74"/>
              <p:cNvSpPr txBox="1">
                <a:spLocks noChangeArrowheads="1"/>
              </p:cNvSpPr>
              <p:nvPr/>
            </p:nvSpPr>
            <p:spPr bwMode="auto">
              <a:xfrm>
                <a:off x="4405" y="1262"/>
                <a:ext cx="298" cy="4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400" b="1" dirty="0">
                    <a:latin typeface="Times New Roman" pitchFamily="18" charset="0"/>
                    <a:ea typeface="华文中宋" pitchFamily="2" charset="-122"/>
                    <a:cs typeface="Times New Roman" pitchFamily="18" charset="0"/>
                  </a:rPr>
                  <a:t>0</a:t>
                </a:r>
                <a:endParaRPr kumimoji="0" lang="en-US" altLang="zh-CN" sz="2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58" name="Line 75"/>
              <p:cNvSpPr>
                <a:spLocks noChangeShapeType="1"/>
              </p:cNvSpPr>
              <p:nvPr/>
            </p:nvSpPr>
            <p:spPr bwMode="auto">
              <a:xfrm rot="5558062">
                <a:off x="2545" y="1610"/>
                <a:ext cx="277" cy="1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1" name="Oval 67"/>
              <p:cNvSpPr>
                <a:spLocks noChangeArrowheads="1"/>
              </p:cNvSpPr>
              <p:nvPr/>
            </p:nvSpPr>
            <p:spPr bwMode="auto">
              <a:xfrm>
                <a:off x="3785" y="1372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2" name="Oval 67"/>
              <p:cNvSpPr>
                <a:spLocks noChangeArrowheads="1"/>
              </p:cNvSpPr>
              <p:nvPr/>
            </p:nvSpPr>
            <p:spPr bwMode="auto">
              <a:xfrm>
                <a:off x="2738" y="1369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  <p:sp>
            <p:nvSpPr>
              <p:cNvPr id="83" name="Oval 67"/>
              <p:cNvSpPr>
                <a:spLocks noChangeArrowheads="1"/>
              </p:cNvSpPr>
              <p:nvPr/>
            </p:nvSpPr>
            <p:spPr bwMode="auto">
              <a:xfrm>
                <a:off x="2294" y="1360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>
                  <a:latin typeface="Times New Roman" pitchFamily="18" charset="0"/>
                  <a:ea typeface="华文中宋" pitchFamily="2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80" name="Rectangle 70"/>
          <p:cNvSpPr>
            <a:spLocks noChangeArrowheads="1"/>
          </p:cNvSpPr>
          <p:nvPr/>
        </p:nvSpPr>
        <p:spPr bwMode="auto">
          <a:xfrm rot="5400000">
            <a:off x="4355421" y="2711682"/>
            <a:ext cx="215900" cy="555625"/>
          </a:xfrm>
          <a:prstGeom prst="rect">
            <a:avLst/>
          </a:prstGeom>
          <a:gradFill rotWithShape="1">
            <a:gsLst>
              <a:gs pos="0">
                <a:srgbClr val="76633E"/>
              </a:gs>
              <a:gs pos="50000">
                <a:srgbClr val="FFD785"/>
              </a:gs>
              <a:gs pos="100000">
                <a:srgbClr val="76633E"/>
              </a:gs>
            </a:gsLst>
            <a:lin ang="0" scaled="1"/>
          </a:gradFill>
          <a:ln w="349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800" b="1">
              <a:latin typeface="Times New Roman" pitchFamily="18" charset="0"/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 descr="img200706121339341457副本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4163" y="2408238"/>
            <a:ext cx="3095625" cy="222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6469" name="Rectangle 5"/>
          <p:cNvSpPr>
            <a:spLocks noChangeArrowheads="1"/>
          </p:cNvSpPr>
          <p:nvPr/>
        </p:nvSpPr>
        <p:spPr bwMode="auto">
          <a:xfrm>
            <a:off x="2700338" y="1492250"/>
            <a:ext cx="32400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结    束</a:t>
            </a:r>
            <a:r>
              <a:rPr lang="zh-CN" altLang="en-US" sz="3600" dirty="0" smtClean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slow">
    <p:diamond/>
    <p:sndAc>
      <p:stSnd>
        <p:snd r:embed="rId2" name="结束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chemeClr val="tx1"/>
          </a:solidFill>
          <a:tailEnd type="triangl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28575">
          <a:noFill/>
          <a:miter lim="800000"/>
          <a:headEnd/>
          <a:tailEnd type="none" w="sm" len="lg"/>
        </a:ln>
      </a:spPr>
      <a:bodyPr anchor="ctr">
        <a:spAutoFit/>
      </a:bodyPr>
      <a:lstStyle>
        <a:defPPr algn="l">
          <a:defRPr sz="2800" b="1" dirty="0">
            <a:latin typeface="Times New Roman" pitchFamily="18" charset="0"/>
            <a:ea typeface="华文中宋" pitchFamily="2" charset="-122"/>
            <a:cs typeface="Times New Roman" pitchFamily="18" charset="0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3503</TotalTime>
  <Words>1090</Words>
  <Application>Microsoft Office PowerPoint</Application>
  <PresentationFormat>全屏显示(16:9)</PresentationFormat>
  <Paragraphs>640</Paragraphs>
  <Slides>26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Office 主题</vt:lpstr>
      <vt:lpstr>Equation</vt:lpstr>
      <vt:lpstr>CorelDRAW</vt:lpstr>
      <vt:lpstr>MathType 6.0 Equation</vt:lpstr>
      <vt:lpstr>9.2  射极输出器和差动放大电路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 电动机</dc:title>
  <dc:creator>wgz</dc:creator>
  <cp:lastModifiedBy>Administrator</cp:lastModifiedBy>
  <cp:revision>254</cp:revision>
  <dcterms:created xsi:type="dcterms:W3CDTF">2017-07-05T02:13:24Z</dcterms:created>
  <dcterms:modified xsi:type="dcterms:W3CDTF">2017-10-14T23:56:24Z</dcterms:modified>
</cp:coreProperties>
</file>